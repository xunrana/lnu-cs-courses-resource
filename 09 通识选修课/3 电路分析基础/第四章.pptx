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352" r:id="rId3"/>
    <p:sldId id="351" r:id="rId4"/>
    <p:sldId id="259" r:id="rId5"/>
    <p:sldId id="260" r:id="rId6"/>
    <p:sldId id="261" r:id="rId7"/>
    <p:sldId id="325" r:id="rId8"/>
    <p:sldId id="262" r:id="rId9"/>
    <p:sldId id="332" r:id="rId10"/>
    <p:sldId id="264" r:id="rId11"/>
    <p:sldId id="333" r:id="rId12"/>
    <p:sldId id="265" r:id="rId13"/>
    <p:sldId id="266" r:id="rId14"/>
    <p:sldId id="267" r:id="rId15"/>
    <p:sldId id="343" r:id="rId16"/>
    <p:sldId id="269" r:id="rId17"/>
    <p:sldId id="327" r:id="rId19"/>
    <p:sldId id="270" r:id="rId20"/>
    <p:sldId id="271" r:id="rId21"/>
    <p:sldId id="272" r:id="rId22"/>
    <p:sldId id="328" r:id="rId23"/>
    <p:sldId id="273" r:id="rId24"/>
    <p:sldId id="334" r:id="rId25"/>
    <p:sldId id="274" r:id="rId26"/>
    <p:sldId id="275" r:id="rId27"/>
    <p:sldId id="356" r:id="rId28"/>
    <p:sldId id="276" r:id="rId29"/>
    <p:sldId id="277" r:id="rId30"/>
    <p:sldId id="278" r:id="rId31"/>
    <p:sldId id="279" r:id="rId32"/>
    <p:sldId id="357" r:id="rId33"/>
    <p:sldId id="280" r:id="rId34"/>
    <p:sldId id="335" r:id="rId35"/>
    <p:sldId id="323" r:id="rId36"/>
    <p:sldId id="344" r:id="rId37"/>
    <p:sldId id="363" r:id="rId38"/>
    <p:sldId id="362" r:id="rId39"/>
    <p:sldId id="281" r:id="rId40"/>
    <p:sldId id="282" r:id="rId41"/>
    <p:sldId id="283" r:id="rId42"/>
    <p:sldId id="284" r:id="rId43"/>
    <p:sldId id="318" r:id="rId44"/>
    <p:sldId id="358" r:id="rId45"/>
    <p:sldId id="319" r:id="rId46"/>
    <p:sldId id="320" r:id="rId47"/>
    <p:sldId id="286" r:id="rId48"/>
    <p:sldId id="287" r:id="rId49"/>
    <p:sldId id="359" r:id="rId50"/>
    <p:sldId id="321" r:id="rId51"/>
    <p:sldId id="288" r:id="rId52"/>
    <p:sldId id="360" r:id="rId53"/>
    <p:sldId id="336" r:id="rId54"/>
    <p:sldId id="361" r:id="rId55"/>
    <p:sldId id="289" r:id="rId56"/>
    <p:sldId id="337" r:id="rId57"/>
    <p:sldId id="290" r:id="rId58"/>
    <p:sldId id="285" r:id="rId59"/>
    <p:sldId id="291" r:id="rId60"/>
    <p:sldId id="338" r:id="rId61"/>
    <p:sldId id="292" r:id="rId62"/>
  </p:sldIdLst>
  <p:sldSz cx="9144000" cy="6858000" type="screen4x3"/>
  <p:notesSz cx="6858000" cy="9144000"/>
  <p:custDataLst>
    <p:tags r:id="rId66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2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CCFF"/>
    <a:srgbClr val="FF9900"/>
    <a:srgbClr val="FFCC00"/>
    <a:srgbClr val="FF00FF"/>
    <a:srgbClr val="990033"/>
    <a:srgbClr val="CC0000"/>
    <a:srgbClr val="FFFF00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666"/>
    <p:restoredTop sz="94660"/>
  </p:normalViewPr>
  <p:slideViewPr>
    <p:cSldViewPr showGuides="1">
      <p:cViewPr varScale="1">
        <p:scale>
          <a:sx n="62" d="100"/>
          <a:sy n="62" d="100"/>
        </p:scale>
        <p:origin x="1352" y="36"/>
      </p:cViewPr>
      <p:guideLst>
        <p:guide orient="horz" pos="2166"/>
        <p:guide pos="29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6" Type="http://schemas.openxmlformats.org/officeDocument/2006/relationships/tags" Target="tags/tag10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.emf"/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.emf"/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26.emf"/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7" Type="http://schemas.openxmlformats.org/officeDocument/2006/relationships/image" Target="../media/image33.emf"/><Relationship Id="rId6" Type="http://schemas.openxmlformats.org/officeDocument/2006/relationships/image" Target="../media/image32.emf"/><Relationship Id="rId5" Type="http://schemas.openxmlformats.org/officeDocument/2006/relationships/image" Target="../media/image31.emf"/><Relationship Id="rId4" Type="http://schemas.openxmlformats.org/officeDocument/2006/relationships/image" Target="../media/image30.emf"/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7" Type="http://schemas.openxmlformats.org/officeDocument/2006/relationships/image" Target="../media/image41.emf"/><Relationship Id="rId6" Type="http://schemas.openxmlformats.org/officeDocument/2006/relationships/image" Target="../media/image40.emf"/><Relationship Id="rId5" Type="http://schemas.openxmlformats.org/officeDocument/2006/relationships/image" Target="../media/image39.emf"/><Relationship Id="rId4" Type="http://schemas.openxmlformats.org/officeDocument/2006/relationships/image" Target="../media/image38.emf"/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8.vml.rels><?xml version="1.0" encoding="UTF-8" standalone="yes"?>
<Relationships xmlns="http://schemas.openxmlformats.org/package/2006/relationships"><Relationship Id="rId6" Type="http://schemas.openxmlformats.org/officeDocument/2006/relationships/image" Target="../media/image49.emf"/><Relationship Id="rId5" Type="http://schemas.openxmlformats.org/officeDocument/2006/relationships/image" Target="../media/image48.emf"/><Relationship Id="rId4" Type="http://schemas.openxmlformats.org/officeDocument/2006/relationships/image" Target="../media/image47.emf"/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image" Target="../media/image50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image" Target="../media/image5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emf"/></Relationships>
</file>

<file path=ppt/drawings/_rels/vmlDrawing12.vml.rels><?xml version="1.0" encoding="UTF-8" standalone="yes"?>
<Relationships xmlns="http://schemas.openxmlformats.org/package/2006/relationships"><Relationship Id="rId7" Type="http://schemas.openxmlformats.org/officeDocument/2006/relationships/image" Target="../media/image63.emf"/><Relationship Id="rId6" Type="http://schemas.openxmlformats.org/officeDocument/2006/relationships/image" Target="../media/image62.emf"/><Relationship Id="rId5" Type="http://schemas.openxmlformats.org/officeDocument/2006/relationships/image" Target="../media/image61.emf"/><Relationship Id="rId4" Type="http://schemas.openxmlformats.org/officeDocument/2006/relationships/image" Target="../media/image60.emf"/><Relationship Id="rId3" Type="http://schemas.openxmlformats.org/officeDocument/2006/relationships/image" Target="../media/image59.emf"/><Relationship Id="rId2" Type="http://schemas.openxmlformats.org/officeDocument/2006/relationships/image" Target="../media/image58.emf"/><Relationship Id="rId1" Type="http://schemas.openxmlformats.org/officeDocument/2006/relationships/image" Target="../media/image57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7" Type="http://schemas.openxmlformats.org/officeDocument/2006/relationships/image" Target="../media/image70.emf"/><Relationship Id="rId6" Type="http://schemas.openxmlformats.org/officeDocument/2006/relationships/image" Target="../media/image69.emf"/><Relationship Id="rId5" Type="http://schemas.openxmlformats.org/officeDocument/2006/relationships/image" Target="../media/image68.emf"/><Relationship Id="rId4" Type="http://schemas.openxmlformats.org/officeDocument/2006/relationships/image" Target="../media/image67.emf"/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image" Target="../media/image64.emf"/></Relationships>
</file>

<file path=ppt/drawings/_rels/vmlDrawing14.vml.rels><?xml version="1.0" encoding="UTF-8" standalone="yes"?>
<Relationships xmlns="http://schemas.openxmlformats.org/package/2006/relationships"><Relationship Id="rId5" Type="http://schemas.openxmlformats.org/officeDocument/2006/relationships/image" Target="../media/image76.emf"/><Relationship Id="rId4" Type="http://schemas.openxmlformats.org/officeDocument/2006/relationships/image" Target="../media/image75.emf"/><Relationship Id="rId3" Type="http://schemas.openxmlformats.org/officeDocument/2006/relationships/image" Target="../media/image74.emf"/><Relationship Id="rId2" Type="http://schemas.openxmlformats.org/officeDocument/2006/relationships/image" Target="../media/image73.emf"/><Relationship Id="rId1" Type="http://schemas.openxmlformats.org/officeDocument/2006/relationships/image" Target="../media/image72.emf"/></Relationships>
</file>

<file path=ppt/drawings/_rels/vmlDrawing15.vml.rels><?xml version="1.0" encoding="UTF-8" standalone="yes"?>
<Relationships xmlns="http://schemas.openxmlformats.org/package/2006/relationships"><Relationship Id="rId6" Type="http://schemas.openxmlformats.org/officeDocument/2006/relationships/image" Target="../media/image82.emf"/><Relationship Id="rId5" Type="http://schemas.openxmlformats.org/officeDocument/2006/relationships/image" Target="../media/image81.emf"/><Relationship Id="rId4" Type="http://schemas.openxmlformats.org/officeDocument/2006/relationships/image" Target="../media/image80.emf"/><Relationship Id="rId3" Type="http://schemas.openxmlformats.org/officeDocument/2006/relationships/image" Target="../media/image79.emf"/><Relationship Id="rId2" Type="http://schemas.openxmlformats.org/officeDocument/2006/relationships/image" Target="../media/image78.emf"/><Relationship Id="rId1" Type="http://schemas.openxmlformats.org/officeDocument/2006/relationships/image" Target="../media/image77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86.emf"/><Relationship Id="rId1" Type="http://schemas.openxmlformats.org/officeDocument/2006/relationships/image" Target="../media/image85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2" Type="http://schemas.openxmlformats.org/officeDocument/2006/relationships/image" Target="../media/image89.emf"/><Relationship Id="rId1" Type="http://schemas.openxmlformats.org/officeDocument/2006/relationships/image" Target="../media/image88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94.emf"/><Relationship Id="rId1" Type="http://schemas.openxmlformats.org/officeDocument/2006/relationships/image" Target="../media/image93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emf"/></Relationships>
</file>

<file path=ppt/drawings/_rels/vmlDrawing21.vml.rels><?xml version="1.0" encoding="UTF-8" standalone="yes"?>
<Relationships xmlns="http://schemas.openxmlformats.org/package/2006/relationships"><Relationship Id="rId5" Type="http://schemas.openxmlformats.org/officeDocument/2006/relationships/image" Target="../media/image100.emf"/><Relationship Id="rId4" Type="http://schemas.openxmlformats.org/officeDocument/2006/relationships/image" Target="../media/image99.emf"/><Relationship Id="rId3" Type="http://schemas.openxmlformats.org/officeDocument/2006/relationships/image" Target="../media/image98.emf"/><Relationship Id="rId2" Type="http://schemas.openxmlformats.org/officeDocument/2006/relationships/image" Target="../media/image97.emf"/><Relationship Id="rId1" Type="http://schemas.openxmlformats.org/officeDocument/2006/relationships/image" Target="../media/image96.emf"/></Relationships>
</file>

<file path=ppt/drawings/_rels/vmlDrawing22.vml.rels><?xml version="1.0" encoding="UTF-8" standalone="yes"?>
<Relationships xmlns="http://schemas.openxmlformats.org/package/2006/relationships"><Relationship Id="rId5" Type="http://schemas.openxmlformats.org/officeDocument/2006/relationships/image" Target="../media/image106.emf"/><Relationship Id="rId4" Type="http://schemas.openxmlformats.org/officeDocument/2006/relationships/image" Target="../media/image105.emf"/><Relationship Id="rId3" Type="http://schemas.openxmlformats.org/officeDocument/2006/relationships/image" Target="../media/image104.emf"/><Relationship Id="rId2" Type="http://schemas.openxmlformats.org/officeDocument/2006/relationships/image" Target="../media/image103.emf"/><Relationship Id="rId1" Type="http://schemas.openxmlformats.org/officeDocument/2006/relationships/image" Target="../media/image102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image" Target="../media/image108.emf"/><Relationship Id="rId1" Type="http://schemas.openxmlformats.org/officeDocument/2006/relationships/image" Target="../media/image107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0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1.e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emf"/><Relationship Id="rId1" Type="http://schemas.openxmlformats.org/officeDocument/2006/relationships/image" Target="../media/image112.emf"/></Relationships>
</file>

<file path=ppt/drawings/_rels/vmlDrawing27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7.emf"/><Relationship Id="rId3" Type="http://schemas.openxmlformats.org/officeDocument/2006/relationships/image" Target="../media/image116.emf"/><Relationship Id="rId2" Type="http://schemas.openxmlformats.org/officeDocument/2006/relationships/image" Target="../media/image115.emf"/><Relationship Id="rId1" Type="http://schemas.openxmlformats.org/officeDocument/2006/relationships/image" Target="../media/image114.emf"/></Relationships>
</file>

<file path=ppt/drawings/_rels/vmlDrawing28.vml.rels><?xml version="1.0" encoding="UTF-8" standalone="yes"?>
<Relationships xmlns="http://schemas.openxmlformats.org/package/2006/relationships"><Relationship Id="rId6" Type="http://schemas.openxmlformats.org/officeDocument/2006/relationships/image" Target="../media/image123.emf"/><Relationship Id="rId5" Type="http://schemas.openxmlformats.org/officeDocument/2006/relationships/image" Target="../media/image122.emf"/><Relationship Id="rId4" Type="http://schemas.openxmlformats.org/officeDocument/2006/relationships/image" Target="../media/image121.emf"/><Relationship Id="rId3" Type="http://schemas.openxmlformats.org/officeDocument/2006/relationships/image" Target="../media/image120.emf"/><Relationship Id="rId2" Type="http://schemas.openxmlformats.org/officeDocument/2006/relationships/image" Target="../media/image119.emf"/><Relationship Id="rId1" Type="http://schemas.openxmlformats.org/officeDocument/2006/relationships/image" Target="../media/image118.emf"/></Relationships>
</file>

<file path=ppt/drawings/_rels/vmlDrawing29.vml.rels><?xml version="1.0" encoding="UTF-8" standalone="yes"?>
<Relationships xmlns="http://schemas.openxmlformats.org/package/2006/relationships"><Relationship Id="rId6" Type="http://schemas.openxmlformats.org/officeDocument/2006/relationships/image" Target="../media/image129.emf"/><Relationship Id="rId5" Type="http://schemas.openxmlformats.org/officeDocument/2006/relationships/image" Target="../media/image128.emf"/><Relationship Id="rId4" Type="http://schemas.openxmlformats.org/officeDocument/2006/relationships/image" Target="../media/image127.emf"/><Relationship Id="rId3" Type="http://schemas.openxmlformats.org/officeDocument/2006/relationships/image" Target="../media/image126.emf"/><Relationship Id="rId2" Type="http://schemas.openxmlformats.org/officeDocument/2006/relationships/image" Target="../media/image125.emf"/><Relationship Id="rId1" Type="http://schemas.openxmlformats.org/officeDocument/2006/relationships/image" Target="../media/image12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9EE1E74-634E-4C46-A283-84E9AB0F9AA6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2B63A6-2B3A-4F4A-8AA4-6521BF760D00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457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45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632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5632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33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80513" cy="6884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7" descr="333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9180513" cy="6884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WordArt 9"/>
          <p:cNvSpPr>
            <a:spLocks noTextEdit="1"/>
          </p:cNvSpPr>
          <p:nvPr userDrawn="1"/>
        </p:nvSpPr>
        <p:spPr>
          <a:xfrm>
            <a:off x="6300788" y="115888"/>
            <a:ext cx="1368425" cy="2889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37"/>
              </a:avLst>
            </a:prstTxWarp>
            <a:normAutofit/>
          </a:bodyPr>
          <a:p>
            <a:pPr algn="ctr"/>
            <a:r>
              <a:rPr lang="zh-CN" altLang="en-US" sz="2400" b="1" spc="480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电路定理</a:t>
            </a:r>
            <a:endParaRPr lang="zh-CN" altLang="en-US" sz="2400" b="1" spc="480">
              <a:gradFill rotWithShape="1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effectLst>
                <a:outerShdw dist="45791" dir="3378595" algn="ctr" rotWithShape="0">
                  <a:srgbClr val="4D4D4D">
                    <a:alpha val="79999"/>
                  </a:srgbClr>
                </a:outerShdw>
              </a:effectLst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" Target="slide55.xml"/><Relationship Id="rId8" Type="http://schemas.openxmlformats.org/officeDocument/2006/relationships/slide" Target="slide28.xml"/><Relationship Id="rId7" Type="http://schemas.openxmlformats.org/officeDocument/2006/relationships/slide" Target="slide1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" Target="slide3.xml"/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10.e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9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8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7.emf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emf"/><Relationship Id="rId8" Type="http://schemas.openxmlformats.org/officeDocument/2006/relationships/oleObject" Target="../embeddings/oleObject8.bin"/><Relationship Id="rId7" Type="http://schemas.openxmlformats.org/officeDocument/2006/relationships/image" Target="../media/image14.emf"/><Relationship Id="rId6" Type="http://schemas.openxmlformats.org/officeDocument/2006/relationships/oleObject" Target="../embeddings/oleObject7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6.bin"/><Relationship Id="rId3" Type="http://schemas.openxmlformats.org/officeDocument/2006/relationships/image" Target="../media/image12.emf"/><Relationship Id="rId2" Type="http://schemas.openxmlformats.org/officeDocument/2006/relationships/oleObject" Target="../embeddings/oleObject5.bin"/><Relationship Id="rId15" Type="http://schemas.openxmlformats.org/officeDocument/2006/relationships/vmlDrawing" Target="../drawings/vmlDrawing2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7.emf"/><Relationship Id="rId12" Type="http://schemas.openxmlformats.org/officeDocument/2006/relationships/oleObject" Target="../embeddings/oleObject10.bin"/><Relationship Id="rId11" Type="http://schemas.openxmlformats.org/officeDocument/2006/relationships/image" Target="../media/image16.emf"/><Relationship Id="rId10" Type="http://schemas.openxmlformats.org/officeDocument/2006/relationships/oleObject" Target="../embeddings/oleObject9.bin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.bin"/><Relationship Id="rId8" Type="http://schemas.openxmlformats.org/officeDocument/2006/relationships/image" Target="../media/image21.jpeg"/><Relationship Id="rId7" Type="http://schemas.openxmlformats.org/officeDocument/2006/relationships/image" Target="../media/image6.png"/><Relationship Id="rId6" Type="http://schemas.openxmlformats.org/officeDocument/2006/relationships/image" Target="../media/image20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9.e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8.emf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2.emf"/><Relationship Id="rId1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emf"/><Relationship Id="rId8" Type="http://schemas.openxmlformats.org/officeDocument/2006/relationships/oleObject" Target="../embeddings/oleObject18.bin"/><Relationship Id="rId7" Type="http://schemas.openxmlformats.org/officeDocument/2006/relationships/image" Target="../media/image25.emf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4.emf"/><Relationship Id="rId4" Type="http://schemas.openxmlformats.org/officeDocument/2006/relationships/oleObject" Target="../embeddings/oleObject16.bin"/><Relationship Id="rId3" Type="http://schemas.openxmlformats.org/officeDocument/2006/relationships/image" Target="../media/image23.emf"/><Relationship Id="rId2" Type="http://schemas.openxmlformats.org/officeDocument/2006/relationships/oleObject" Target="../embeddings/oleObject15.bin"/><Relationship Id="rId11" Type="http://schemas.openxmlformats.org/officeDocument/2006/relationships/vmlDrawing" Target="../drawings/vmlDrawing4.v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.jpeg"/><Relationship Id="rId2" Type="http://schemas.openxmlformats.org/officeDocument/2006/relationships/image" Target="../media/image11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emf"/><Relationship Id="rId8" Type="http://schemas.openxmlformats.org/officeDocument/2006/relationships/oleObject" Target="../embeddings/oleObject22.bin"/><Relationship Id="rId7" Type="http://schemas.openxmlformats.org/officeDocument/2006/relationships/image" Target="../media/image6.png"/><Relationship Id="rId6" Type="http://schemas.openxmlformats.org/officeDocument/2006/relationships/image" Target="../media/image29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8.e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27.emf"/><Relationship Id="rId19" Type="http://schemas.openxmlformats.org/officeDocument/2006/relationships/vmlDrawing" Target="../drawings/vmlDrawing5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34.emf"/><Relationship Id="rId16" Type="http://schemas.openxmlformats.org/officeDocument/2006/relationships/oleObject" Target="../embeddings/oleObject26.bin"/><Relationship Id="rId15" Type="http://schemas.openxmlformats.org/officeDocument/2006/relationships/image" Target="../media/image33.emf"/><Relationship Id="rId14" Type="http://schemas.openxmlformats.org/officeDocument/2006/relationships/oleObject" Target="../embeddings/oleObject25.bin"/><Relationship Id="rId13" Type="http://schemas.openxmlformats.org/officeDocument/2006/relationships/image" Target="../media/image32.emf"/><Relationship Id="rId12" Type="http://schemas.openxmlformats.org/officeDocument/2006/relationships/oleObject" Target="../embeddings/oleObject24.bin"/><Relationship Id="rId11" Type="http://schemas.openxmlformats.org/officeDocument/2006/relationships/image" Target="../media/image31.emf"/><Relationship Id="rId10" Type="http://schemas.openxmlformats.org/officeDocument/2006/relationships/oleObject" Target="../embeddings/oleObject23.bin"/><Relationship Id="rId1" Type="http://schemas.openxmlformats.org/officeDocument/2006/relationships/oleObject" Target="../embeddings/oleObject19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.bin"/><Relationship Id="rId8" Type="http://schemas.openxmlformats.org/officeDocument/2006/relationships/image" Target="../media/image37.emf"/><Relationship Id="rId7" Type="http://schemas.openxmlformats.org/officeDocument/2006/relationships/oleObject" Target="../embeddings/oleObject29.bin"/><Relationship Id="rId6" Type="http://schemas.openxmlformats.org/officeDocument/2006/relationships/image" Target="../media/image21.jpeg"/><Relationship Id="rId5" Type="http://schemas.openxmlformats.org/officeDocument/2006/relationships/image" Target="../media/image6.png"/><Relationship Id="rId4" Type="http://schemas.openxmlformats.org/officeDocument/2006/relationships/image" Target="../media/image36.emf"/><Relationship Id="rId3" Type="http://schemas.openxmlformats.org/officeDocument/2006/relationships/oleObject" Target="../embeddings/oleObject28.bin"/><Relationship Id="rId20" Type="http://schemas.openxmlformats.org/officeDocument/2006/relationships/vmlDrawing" Target="../drawings/vmlDrawing6.vml"/><Relationship Id="rId2" Type="http://schemas.openxmlformats.org/officeDocument/2006/relationships/image" Target="../media/image35.e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42.emf"/><Relationship Id="rId17" Type="http://schemas.openxmlformats.org/officeDocument/2006/relationships/oleObject" Target="../embeddings/oleObject34.bin"/><Relationship Id="rId16" Type="http://schemas.openxmlformats.org/officeDocument/2006/relationships/image" Target="../media/image41.emf"/><Relationship Id="rId15" Type="http://schemas.openxmlformats.org/officeDocument/2006/relationships/oleObject" Target="../embeddings/oleObject33.bin"/><Relationship Id="rId14" Type="http://schemas.openxmlformats.org/officeDocument/2006/relationships/image" Target="../media/image40.emf"/><Relationship Id="rId13" Type="http://schemas.openxmlformats.org/officeDocument/2006/relationships/oleObject" Target="../embeddings/oleObject32.bin"/><Relationship Id="rId12" Type="http://schemas.openxmlformats.org/officeDocument/2006/relationships/image" Target="../media/image39.emf"/><Relationship Id="rId11" Type="http://schemas.openxmlformats.org/officeDocument/2006/relationships/oleObject" Target="../embeddings/oleObject31.bin"/><Relationship Id="rId10" Type="http://schemas.openxmlformats.org/officeDocument/2006/relationships/image" Target="../media/image38.emf"/><Relationship Id="rId1" Type="http://schemas.openxmlformats.org/officeDocument/2006/relationships/oleObject" Target="../embeddings/oleObject27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43.emf"/><Relationship Id="rId1" Type="http://schemas.openxmlformats.org/officeDocument/2006/relationships/oleObject" Target="../embeddings/oleObject3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.bin"/><Relationship Id="rId8" Type="http://schemas.openxmlformats.org/officeDocument/2006/relationships/image" Target="../media/image47.e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46.e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5.e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44.emf"/><Relationship Id="rId16" Type="http://schemas.openxmlformats.org/officeDocument/2006/relationships/vmlDrawing" Target="../drawings/vmlDrawing8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1.png"/><Relationship Id="rId13" Type="http://schemas.openxmlformats.org/officeDocument/2006/relationships/image" Target="../media/image6.png"/><Relationship Id="rId12" Type="http://schemas.openxmlformats.org/officeDocument/2006/relationships/image" Target="../media/image49.emf"/><Relationship Id="rId11" Type="http://schemas.openxmlformats.org/officeDocument/2006/relationships/oleObject" Target="../embeddings/oleObject41.bin"/><Relationship Id="rId10" Type="http://schemas.openxmlformats.org/officeDocument/2006/relationships/image" Target="../media/image48.emf"/><Relationship Id="rId1" Type="http://schemas.openxmlformats.org/officeDocument/2006/relationships/oleObject" Target="../embeddings/oleObject36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9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52.emf"/><Relationship Id="rId6" Type="http://schemas.openxmlformats.org/officeDocument/2006/relationships/oleObject" Target="../embeddings/oleObject44.bin"/><Relationship Id="rId5" Type="http://schemas.openxmlformats.org/officeDocument/2006/relationships/image" Target="../media/image51.emf"/><Relationship Id="rId4" Type="http://schemas.openxmlformats.org/officeDocument/2006/relationships/oleObject" Target="../embeddings/oleObject43.bin"/><Relationship Id="rId3" Type="http://schemas.openxmlformats.org/officeDocument/2006/relationships/image" Target="../media/image6.png"/><Relationship Id="rId2" Type="http://schemas.openxmlformats.org/officeDocument/2006/relationships/image" Target="../media/image50.emf"/><Relationship Id="rId1" Type="http://schemas.openxmlformats.org/officeDocument/2006/relationships/oleObject" Target="../embeddings/oleObject42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0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55.emf"/><Relationship Id="rId6" Type="http://schemas.openxmlformats.org/officeDocument/2006/relationships/oleObject" Target="../embeddings/oleObject47.bin"/><Relationship Id="rId5" Type="http://schemas.openxmlformats.org/officeDocument/2006/relationships/image" Target="../media/image6.png"/><Relationship Id="rId4" Type="http://schemas.openxmlformats.org/officeDocument/2006/relationships/image" Target="../media/image54.e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53.emf"/><Relationship Id="rId1" Type="http://schemas.openxmlformats.org/officeDocument/2006/relationships/oleObject" Target="../embeddings/oleObject45.bin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6.emf"/><Relationship Id="rId1" Type="http://schemas.openxmlformats.org/officeDocument/2006/relationships/oleObject" Target="../embeddings/oleObject48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.bin"/><Relationship Id="rId8" Type="http://schemas.openxmlformats.org/officeDocument/2006/relationships/image" Target="../media/image60.emf"/><Relationship Id="rId7" Type="http://schemas.openxmlformats.org/officeDocument/2006/relationships/oleObject" Target="../embeddings/oleObject52.bin"/><Relationship Id="rId6" Type="http://schemas.openxmlformats.org/officeDocument/2006/relationships/image" Target="../media/image59.e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8.emf"/><Relationship Id="rId3" Type="http://schemas.openxmlformats.org/officeDocument/2006/relationships/oleObject" Target="../embeddings/oleObject50.bin"/><Relationship Id="rId2" Type="http://schemas.openxmlformats.org/officeDocument/2006/relationships/image" Target="../media/image57.emf"/><Relationship Id="rId17" Type="http://schemas.openxmlformats.org/officeDocument/2006/relationships/vmlDrawing" Target="../drawings/vmlDrawing12.v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6.png"/><Relationship Id="rId14" Type="http://schemas.openxmlformats.org/officeDocument/2006/relationships/image" Target="../media/image63.emf"/><Relationship Id="rId13" Type="http://schemas.openxmlformats.org/officeDocument/2006/relationships/oleObject" Target="../embeddings/oleObject55.bin"/><Relationship Id="rId12" Type="http://schemas.openxmlformats.org/officeDocument/2006/relationships/image" Target="../media/image62.emf"/><Relationship Id="rId11" Type="http://schemas.openxmlformats.org/officeDocument/2006/relationships/oleObject" Target="../embeddings/oleObject54.bin"/><Relationship Id="rId10" Type="http://schemas.openxmlformats.org/officeDocument/2006/relationships/image" Target="../media/image61.emf"/><Relationship Id="rId1" Type="http://schemas.openxmlformats.org/officeDocument/2006/relationships/oleObject" Target="../embeddings/oleObject49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67.e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66.e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65.emf"/><Relationship Id="rId3" Type="http://schemas.openxmlformats.org/officeDocument/2006/relationships/oleObject" Target="../embeddings/oleObject57.bin"/><Relationship Id="rId2" Type="http://schemas.openxmlformats.org/officeDocument/2006/relationships/image" Target="../media/image64.emf"/><Relationship Id="rId19" Type="http://schemas.openxmlformats.org/officeDocument/2006/relationships/vmlDrawing" Target="../drawings/vmlDrawing13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71.emf"/><Relationship Id="rId16" Type="http://schemas.openxmlformats.org/officeDocument/2006/relationships/oleObject" Target="../embeddings/oleObject63.bin"/><Relationship Id="rId15" Type="http://schemas.openxmlformats.org/officeDocument/2006/relationships/image" Target="../media/image6.png"/><Relationship Id="rId14" Type="http://schemas.openxmlformats.org/officeDocument/2006/relationships/image" Target="../media/image70.emf"/><Relationship Id="rId13" Type="http://schemas.openxmlformats.org/officeDocument/2006/relationships/oleObject" Target="../embeddings/oleObject62.bin"/><Relationship Id="rId12" Type="http://schemas.openxmlformats.org/officeDocument/2006/relationships/image" Target="../media/image69.emf"/><Relationship Id="rId11" Type="http://schemas.openxmlformats.org/officeDocument/2006/relationships/oleObject" Target="../embeddings/oleObject61.bin"/><Relationship Id="rId10" Type="http://schemas.openxmlformats.org/officeDocument/2006/relationships/image" Target="../media/image68.emf"/><Relationship Id="rId1" Type="http://schemas.openxmlformats.org/officeDocument/2006/relationships/oleObject" Target="../embeddings/oleObject56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8.bin"/><Relationship Id="rId8" Type="http://schemas.openxmlformats.org/officeDocument/2006/relationships/image" Target="../media/image75.emf"/><Relationship Id="rId7" Type="http://schemas.openxmlformats.org/officeDocument/2006/relationships/oleObject" Target="../embeddings/oleObject67.bin"/><Relationship Id="rId6" Type="http://schemas.openxmlformats.org/officeDocument/2006/relationships/image" Target="../media/image74.e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73.emf"/><Relationship Id="rId3" Type="http://schemas.openxmlformats.org/officeDocument/2006/relationships/oleObject" Target="../embeddings/oleObject65.bin"/><Relationship Id="rId2" Type="http://schemas.openxmlformats.org/officeDocument/2006/relationships/image" Target="../media/image72.emf"/><Relationship Id="rId13" Type="http://schemas.openxmlformats.org/officeDocument/2006/relationships/vmlDrawing" Target="../drawings/vmlDrawing14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6.png"/><Relationship Id="rId10" Type="http://schemas.openxmlformats.org/officeDocument/2006/relationships/image" Target="../media/image76.emf"/><Relationship Id="rId1" Type="http://schemas.openxmlformats.org/officeDocument/2006/relationships/oleObject" Target="../embeddings/oleObject64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3.bin"/><Relationship Id="rId8" Type="http://schemas.openxmlformats.org/officeDocument/2006/relationships/image" Target="../media/image80.emf"/><Relationship Id="rId7" Type="http://schemas.openxmlformats.org/officeDocument/2006/relationships/oleObject" Target="../embeddings/oleObject72.bin"/><Relationship Id="rId6" Type="http://schemas.openxmlformats.org/officeDocument/2006/relationships/image" Target="../media/image79.e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78.emf"/><Relationship Id="rId3" Type="http://schemas.openxmlformats.org/officeDocument/2006/relationships/oleObject" Target="../embeddings/oleObject70.bin"/><Relationship Id="rId2" Type="http://schemas.openxmlformats.org/officeDocument/2006/relationships/image" Target="../media/image77.emf"/><Relationship Id="rId15" Type="http://schemas.openxmlformats.org/officeDocument/2006/relationships/vmlDrawing" Target="../drawings/vmlDrawing15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6.png"/><Relationship Id="rId12" Type="http://schemas.openxmlformats.org/officeDocument/2006/relationships/image" Target="../media/image82.emf"/><Relationship Id="rId11" Type="http://schemas.openxmlformats.org/officeDocument/2006/relationships/oleObject" Target="../embeddings/oleObject74.bin"/><Relationship Id="rId10" Type="http://schemas.openxmlformats.org/officeDocument/2006/relationships/image" Target="../media/image81.emf"/><Relationship Id="rId1" Type="http://schemas.openxmlformats.org/officeDocument/2006/relationships/oleObject" Target="../embeddings/oleObject69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3.png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6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86.emf"/><Relationship Id="rId6" Type="http://schemas.openxmlformats.org/officeDocument/2006/relationships/oleObject" Target="../embeddings/oleObject76.bin"/><Relationship Id="rId5" Type="http://schemas.openxmlformats.org/officeDocument/2006/relationships/image" Target="../media/image85.emf"/><Relationship Id="rId4" Type="http://schemas.openxmlformats.org/officeDocument/2006/relationships/oleObject" Target="../embeddings/oleObject75.bin"/><Relationship Id="rId3" Type="http://schemas.openxmlformats.org/officeDocument/2006/relationships/image" Target="../media/image84.jpeg"/><Relationship Id="rId2" Type="http://schemas.openxmlformats.org/officeDocument/2006/relationships/image" Target="../media/image6.png"/><Relationship Id="rId1" Type="http://schemas.openxmlformats.org/officeDocument/2006/relationships/image" Target="../media/image21.jpe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4.jpeg"/><Relationship Id="rId3" Type="http://schemas.openxmlformats.org/officeDocument/2006/relationships/image" Target="../media/image6.png"/><Relationship Id="rId2" Type="http://schemas.openxmlformats.org/officeDocument/2006/relationships/image" Target="../media/image87.emf"/><Relationship Id="rId1" Type="http://schemas.openxmlformats.org/officeDocument/2006/relationships/oleObject" Target="../embeddings/oleObject77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1.png"/><Relationship Id="rId7" Type="http://schemas.openxmlformats.org/officeDocument/2006/relationships/image" Target="../media/image6.png"/><Relationship Id="rId6" Type="http://schemas.openxmlformats.org/officeDocument/2006/relationships/image" Target="../media/image90.e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89.emf"/><Relationship Id="rId3" Type="http://schemas.openxmlformats.org/officeDocument/2006/relationships/oleObject" Target="../embeddings/oleObject79.bin"/><Relationship Id="rId2" Type="http://schemas.openxmlformats.org/officeDocument/2006/relationships/image" Target="../media/image88.emf"/><Relationship Id="rId10" Type="http://schemas.openxmlformats.org/officeDocument/2006/relationships/vmlDrawing" Target="../drawings/vmlDrawing18.vml"/><Relationship Id="rId1" Type="http://schemas.openxmlformats.org/officeDocument/2006/relationships/oleObject" Target="../embeddings/oleObject78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9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94.emf"/><Relationship Id="rId4" Type="http://schemas.openxmlformats.org/officeDocument/2006/relationships/oleObject" Target="../embeddings/oleObject82.bin"/><Relationship Id="rId3" Type="http://schemas.openxmlformats.org/officeDocument/2006/relationships/image" Target="../media/image93.emf"/><Relationship Id="rId2" Type="http://schemas.openxmlformats.org/officeDocument/2006/relationships/oleObject" Target="../embeddings/oleObject81.bin"/><Relationship Id="rId1" Type="http://schemas.openxmlformats.org/officeDocument/2006/relationships/image" Target="../media/image92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jpeg"/><Relationship Id="rId2" Type="http://schemas.openxmlformats.org/officeDocument/2006/relationships/image" Target="../media/image6.png"/><Relationship Id="rId1" Type="http://schemas.openxmlformats.org/officeDocument/2006/relationships/image" Target="../media/image92.jpeg"/></Relationships>
</file>

<file path=ppt/slides/_rels/slide4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0.v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95.emf"/><Relationship Id="rId4" Type="http://schemas.openxmlformats.org/officeDocument/2006/relationships/oleObject" Target="../embeddings/oleObject83.bin"/><Relationship Id="rId3" Type="http://schemas.openxmlformats.org/officeDocument/2006/relationships/image" Target="../media/image6.png"/><Relationship Id="rId2" Type="http://schemas.openxmlformats.org/officeDocument/2006/relationships/image" Target="../media/image21.jpeg"/><Relationship Id="rId1" Type="http://schemas.openxmlformats.org/officeDocument/2006/relationships/image" Target="../media/image92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99.emf"/><Relationship Id="rId7" Type="http://schemas.openxmlformats.org/officeDocument/2006/relationships/oleObject" Target="../embeddings/oleObject87.bin"/><Relationship Id="rId6" Type="http://schemas.openxmlformats.org/officeDocument/2006/relationships/image" Target="../media/image98.e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97.emf"/><Relationship Id="rId3" Type="http://schemas.openxmlformats.org/officeDocument/2006/relationships/oleObject" Target="../embeddings/oleObject85.bin"/><Relationship Id="rId2" Type="http://schemas.openxmlformats.org/officeDocument/2006/relationships/image" Target="../media/image96.emf"/><Relationship Id="rId14" Type="http://schemas.openxmlformats.org/officeDocument/2006/relationships/notesSlide" Target="../notesSlides/notesSlide2.xml"/><Relationship Id="rId13" Type="http://schemas.openxmlformats.org/officeDocument/2006/relationships/vmlDrawing" Target="../drawings/vmlDrawing21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00.emf"/><Relationship Id="rId10" Type="http://schemas.openxmlformats.org/officeDocument/2006/relationships/oleObject" Target="../embeddings/oleObject88.bin"/><Relationship Id="rId1" Type="http://schemas.openxmlformats.org/officeDocument/2006/relationships/oleObject" Target="../embeddings/oleObject84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2.bin"/><Relationship Id="rId8" Type="http://schemas.openxmlformats.org/officeDocument/2006/relationships/image" Target="../media/image6.png"/><Relationship Id="rId7" Type="http://schemas.openxmlformats.org/officeDocument/2006/relationships/image" Target="../media/image104.emf"/><Relationship Id="rId6" Type="http://schemas.openxmlformats.org/officeDocument/2006/relationships/oleObject" Target="../embeddings/oleObject91.bin"/><Relationship Id="rId5" Type="http://schemas.openxmlformats.org/officeDocument/2006/relationships/image" Target="../media/image103.emf"/><Relationship Id="rId4" Type="http://schemas.openxmlformats.org/officeDocument/2006/relationships/oleObject" Target="../embeddings/oleObject90.bin"/><Relationship Id="rId3" Type="http://schemas.openxmlformats.org/officeDocument/2006/relationships/image" Target="../media/image102.emf"/><Relationship Id="rId2" Type="http://schemas.openxmlformats.org/officeDocument/2006/relationships/oleObject" Target="../embeddings/oleObject89.bin"/><Relationship Id="rId14" Type="http://schemas.openxmlformats.org/officeDocument/2006/relationships/vmlDrawing" Target="../drawings/vmlDrawing22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06.emf"/><Relationship Id="rId11" Type="http://schemas.openxmlformats.org/officeDocument/2006/relationships/oleObject" Target="../embeddings/oleObject93.bin"/><Relationship Id="rId10" Type="http://schemas.openxmlformats.org/officeDocument/2006/relationships/image" Target="../media/image105.emf"/><Relationship Id="rId1" Type="http://schemas.openxmlformats.org/officeDocument/2006/relationships/image" Target="../media/image101.jpeg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png"/><Relationship Id="rId7" Type="http://schemas.openxmlformats.org/officeDocument/2006/relationships/image" Target="../media/image109.emf"/><Relationship Id="rId6" Type="http://schemas.openxmlformats.org/officeDocument/2006/relationships/oleObject" Target="../embeddings/oleObject96.bin"/><Relationship Id="rId5" Type="http://schemas.openxmlformats.org/officeDocument/2006/relationships/image" Target="../media/image108.emf"/><Relationship Id="rId4" Type="http://schemas.openxmlformats.org/officeDocument/2006/relationships/oleObject" Target="../embeddings/oleObject95.bin"/><Relationship Id="rId3" Type="http://schemas.openxmlformats.org/officeDocument/2006/relationships/image" Target="../media/image107.emf"/><Relationship Id="rId2" Type="http://schemas.openxmlformats.org/officeDocument/2006/relationships/oleObject" Target="../embeddings/oleObject94.bin"/><Relationship Id="rId10" Type="http://schemas.openxmlformats.org/officeDocument/2006/relationships/vmlDrawing" Target="../drawings/vmlDrawing23.vml"/><Relationship Id="rId1" Type="http://schemas.openxmlformats.org/officeDocument/2006/relationships/image" Target="../media/image101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4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0.emf"/><Relationship Id="rId2" Type="http://schemas.openxmlformats.org/officeDocument/2006/relationships/oleObject" Target="../embeddings/oleObject97.bin"/><Relationship Id="rId1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5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1.emf"/><Relationship Id="rId2" Type="http://schemas.openxmlformats.org/officeDocument/2006/relationships/oleObject" Target="../embeddings/oleObject98.bin"/><Relationship Id="rId1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6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13.emf"/><Relationship Id="rId4" Type="http://schemas.openxmlformats.org/officeDocument/2006/relationships/oleObject" Target="../embeddings/oleObject100.bin"/><Relationship Id="rId3" Type="http://schemas.openxmlformats.org/officeDocument/2006/relationships/image" Target="../media/image6.png"/><Relationship Id="rId2" Type="http://schemas.openxmlformats.org/officeDocument/2006/relationships/image" Target="../media/image112.emf"/><Relationship Id="rId1" Type="http://schemas.openxmlformats.org/officeDocument/2006/relationships/oleObject" Target="../embeddings/oleObject99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6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jpeg"/><Relationship Id="rId8" Type="http://schemas.openxmlformats.org/officeDocument/2006/relationships/image" Target="../media/image117.emf"/><Relationship Id="rId7" Type="http://schemas.openxmlformats.org/officeDocument/2006/relationships/oleObject" Target="../embeddings/oleObject104.bin"/><Relationship Id="rId6" Type="http://schemas.openxmlformats.org/officeDocument/2006/relationships/image" Target="../media/image116.emf"/><Relationship Id="rId5" Type="http://schemas.openxmlformats.org/officeDocument/2006/relationships/oleObject" Target="../embeddings/oleObject103.bin"/><Relationship Id="rId4" Type="http://schemas.openxmlformats.org/officeDocument/2006/relationships/image" Target="../media/image115.emf"/><Relationship Id="rId3" Type="http://schemas.openxmlformats.org/officeDocument/2006/relationships/oleObject" Target="../embeddings/oleObject102.bin"/><Relationship Id="rId2" Type="http://schemas.openxmlformats.org/officeDocument/2006/relationships/image" Target="../media/image114.emf"/><Relationship Id="rId12" Type="http://schemas.openxmlformats.org/officeDocument/2006/relationships/vmlDrawing" Target="../drawings/vmlDrawing27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6.png"/><Relationship Id="rId1" Type="http://schemas.openxmlformats.org/officeDocument/2006/relationships/oleObject" Target="../embeddings/oleObject101.bin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121.emf"/><Relationship Id="rId7" Type="http://schemas.openxmlformats.org/officeDocument/2006/relationships/oleObject" Target="../embeddings/oleObject108.bin"/><Relationship Id="rId6" Type="http://schemas.openxmlformats.org/officeDocument/2006/relationships/image" Target="../media/image120.emf"/><Relationship Id="rId5" Type="http://schemas.openxmlformats.org/officeDocument/2006/relationships/oleObject" Target="../embeddings/oleObject107.bin"/><Relationship Id="rId4" Type="http://schemas.openxmlformats.org/officeDocument/2006/relationships/image" Target="../media/image119.emf"/><Relationship Id="rId3" Type="http://schemas.openxmlformats.org/officeDocument/2006/relationships/oleObject" Target="../embeddings/oleObject106.bin"/><Relationship Id="rId2" Type="http://schemas.openxmlformats.org/officeDocument/2006/relationships/image" Target="../media/image118.emf"/><Relationship Id="rId15" Type="http://schemas.openxmlformats.org/officeDocument/2006/relationships/vmlDrawing" Target="../drawings/vmlDrawing28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23.emf"/><Relationship Id="rId12" Type="http://schemas.openxmlformats.org/officeDocument/2006/relationships/oleObject" Target="../embeddings/oleObject110.bin"/><Relationship Id="rId11" Type="http://schemas.openxmlformats.org/officeDocument/2006/relationships/image" Target="../media/image122.emf"/><Relationship Id="rId10" Type="http://schemas.openxmlformats.org/officeDocument/2006/relationships/oleObject" Target="../embeddings/oleObject109.bin"/><Relationship Id="rId1" Type="http://schemas.openxmlformats.org/officeDocument/2006/relationships/oleObject" Target="../embeddings/oleObject105.bin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7.emf"/><Relationship Id="rId8" Type="http://schemas.openxmlformats.org/officeDocument/2006/relationships/oleObject" Target="../embeddings/oleObject114.bin"/><Relationship Id="rId7" Type="http://schemas.openxmlformats.org/officeDocument/2006/relationships/image" Target="../media/image6.png"/><Relationship Id="rId6" Type="http://schemas.openxmlformats.org/officeDocument/2006/relationships/image" Target="../media/image126.emf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125.emf"/><Relationship Id="rId3" Type="http://schemas.openxmlformats.org/officeDocument/2006/relationships/oleObject" Target="../embeddings/oleObject112.bin"/><Relationship Id="rId2" Type="http://schemas.openxmlformats.org/officeDocument/2006/relationships/image" Target="../media/image124.emf"/><Relationship Id="rId15" Type="http://schemas.openxmlformats.org/officeDocument/2006/relationships/vmlDrawing" Target="../drawings/vmlDrawing29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29.emf"/><Relationship Id="rId12" Type="http://schemas.openxmlformats.org/officeDocument/2006/relationships/oleObject" Target="../embeddings/oleObject116.bin"/><Relationship Id="rId11" Type="http://schemas.openxmlformats.org/officeDocument/2006/relationships/image" Target="../media/image128.emf"/><Relationship Id="rId10" Type="http://schemas.openxmlformats.org/officeDocument/2006/relationships/oleObject" Target="../embeddings/oleObject115.bin"/><Relationship Id="rId1" Type="http://schemas.openxmlformats.org/officeDocument/2006/relationships/oleObject" Target="../embeddings/oleObject111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32" name="Text Box 4" descr="蓝色砂纸"/>
          <p:cNvSpPr txBox="1"/>
          <p:nvPr/>
        </p:nvSpPr>
        <p:spPr>
          <a:xfrm>
            <a:off x="827088" y="282575"/>
            <a:ext cx="7507287" cy="914400"/>
          </a:xfrm>
          <a:prstGeom prst="rect">
            <a:avLst/>
          </a:prstGeom>
          <a:noFill/>
          <a:ln w="9525">
            <a:noFill/>
          </a:ln>
          <a:effectLst>
            <a:prstShdw prst="shdw17" dist="17961" dir="2699999">
              <a:srgbClr val="7A8E99"/>
            </a:prstShdw>
          </a:effectLst>
        </p:spPr>
        <p:txBody>
          <a:bodyPr anchor="t" anchorCtr="0">
            <a:spAutoFit/>
          </a:bodyPr>
          <a:p>
            <a:pPr algn="ctr"/>
            <a:r>
              <a:rPr lang="zh-CN" altLang="en-US" sz="540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540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</a:t>
            </a:r>
            <a:r>
              <a:rPr lang="zh-CN" altLang="en-US" sz="540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章</a:t>
            </a:r>
            <a:r>
              <a:rPr lang="zh-CN" altLang="en-US" sz="5400" i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sz="540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电路定理</a:t>
            </a:r>
            <a:endParaRPr lang="zh-CN" altLang="en-US" sz="4000" b="0" i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124933" name="Group 5"/>
          <p:cNvGrpSpPr/>
          <p:nvPr/>
        </p:nvGrpSpPr>
        <p:grpSpPr>
          <a:xfrm>
            <a:off x="7596188" y="5949950"/>
            <a:ext cx="1368425" cy="719138"/>
            <a:chOff x="2971" y="3113"/>
            <a:chExt cx="1043" cy="499"/>
          </a:xfrm>
        </p:grpSpPr>
        <p:sp>
          <p:nvSpPr>
            <p:cNvPr id="9219" name="Oval 6"/>
            <p:cNvSpPr/>
            <p:nvPr/>
          </p:nvSpPr>
          <p:spPr>
            <a:xfrm>
              <a:off x="2971" y="3113"/>
              <a:ext cx="1043" cy="499"/>
            </a:xfrm>
            <a:prstGeom prst="ellipse">
              <a:avLst/>
            </a:prstGeom>
            <a:gradFill rotWithShape="0">
              <a:gsLst>
                <a:gs pos="0">
                  <a:srgbClr val="3366FF"/>
                </a:gs>
                <a:gs pos="50000">
                  <a:srgbClr val="7799FF"/>
                </a:gs>
                <a:gs pos="100000">
                  <a:srgbClr val="3366FF"/>
                </a:gs>
              </a:gsLst>
              <a:lin ang="5400000" scaled="1"/>
              <a:tileRect/>
            </a:gradFill>
            <a:ln w="28575" cap="sq" cmpd="sng">
              <a:solidFill>
                <a:srgbClr val="0033CC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9220" name="Oval 7">
              <a:hlinkClick r:id="" action="ppaction://hlinkshowjump?jump=endshow"/>
            </p:cNvPr>
            <p:cNvSpPr/>
            <p:nvPr/>
          </p:nvSpPr>
          <p:spPr>
            <a:xfrm>
              <a:off x="3016" y="3158"/>
              <a:ext cx="953" cy="408"/>
            </a:xfrm>
            <a:prstGeom prst="ellipse">
              <a:avLst/>
            </a:prstGeom>
            <a:gradFill rotWithShape="0">
              <a:gsLst>
                <a:gs pos="0">
                  <a:srgbClr val="0033CC"/>
                </a:gs>
                <a:gs pos="50000">
                  <a:srgbClr val="87DAED"/>
                </a:gs>
                <a:gs pos="100000">
                  <a:srgbClr val="0033CC"/>
                </a:gs>
              </a:gsLst>
              <a:lin ang="5400000" scaled="1"/>
              <a:tileRect/>
            </a:gradFill>
            <a:ln w="28575" cap="sq" cmpd="sng">
              <a:solidFill>
                <a:srgbClr val="0033CC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  <p:txBody>
            <a:bodyPr wrap="none" anchor="ctr" anchorCtr="0"/>
            <a:p>
              <a:pPr algn="ctr"/>
              <a:r>
                <a:rPr lang="zh-CN" altLang="en-US" dirty="0">
                  <a:solidFill>
                    <a:srgbClr val="CC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首 页</a:t>
              </a:r>
              <a:endParaRPr lang="zh-CN" altLang="en-US" dirty="0">
                <a:solidFill>
                  <a:srgbClr val="CC0000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124936" name="Group 8"/>
          <p:cNvGrpSpPr/>
          <p:nvPr/>
        </p:nvGrpSpPr>
        <p:grpSpPr>
          <a:xfrm>
            <a:off x="3276600" y="1196975"/>
            <a:ext cx="3024188" cy="1079500"/>
            <a:chOff x="1928" y="890"/>
            <a:chExt cx="1905" cy="680"/>
          </a:xfrm>
        </p:grpSpPr>
        <p:pic>
          <p:nvPicPr>
            <p:cNvPr id="9222" name="Picture 9" descr="GEL Oval MS-blue"/>
            <p:cNvPicPr preferRelativeResize="0"/>
            <p:nvPr/>
          </p:nvPicPr>
          <p:blipFill>
            <a:blip r:embed="rId1"/>
            <a:stretch>
              <a:fillRect/>
            </a:stretch>
          </p:blipFill>
          <p:spPr>
            <a:xfrm>
              <a:off x="1928" y="890"/>
              <a:ext cx="1905" cy="68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23" name="Picture 10" descr="GEL Oval MS-yellow">
              <a:hlinkClick r:id="rId2" action="ppaction://hlinksldjump"/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2018" y="981"/>
              <a:ext cx="1715" cy="49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24" name="Text Box 11" descr="斜纹布">
              <a:hlinkClick r:id="rId2" action="ppaction://hlinksldjump"/>
            </p:cNvPr>
            <p:cNvSpPr txBox="1"/>
            <p:nvPr/>
          </p:nvSpPr>
          <p:spPr>
            <a:xfrm>
              <a:off x="2291" y="1062"/>
              <a:ext cx="1238" cy="365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chemeClr val="bg2"/>
              </a:prstShdw>
            </a:effectLst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32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本章重点</a:t>
              </a:r>
              <a:endPara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24940" name="Group 12"/>
          <p:cNvGrpSpPr/>
          <p:nvPr/>
        </p:nvGrpSpPr>
        <p:grpSpPr>
          <a:xfrm>
            <a:off x="1981200" y="2314575"/>
            <a:ext cx="5559425" cy="538163"/>
            <a:chOff x="1248" y="1458"/>
            <a:chExt cx="3502" cy="339"/>
          </a:xfrm>
        </p:grpSpPr>
        <p:pic>
          <p:nvPicPr>
            <p:cNvPr id="9226" name="Picture 13" descr="GEL Rounded Rectangle aquamarine">
              <a:hlinkClick r:id="rId4" action="ppaction://hlinksldjump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3" y="1468"/>
              <a:ext cx="2777" cy="3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27" name="Text Box 14">
              <a:hlinkClick r:id="rId4" action="ppaction://hlinksldjump"/>
            </p:cNvPr>
            <p:cNvSpPr txBox="1"/>
            <p:nvPr/>
          </p:nvSpPr>
          <p:spPr>
            <a:xfrm>
              <a:off x="2153" y="1458"/>
              <a:ext cx="24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叠加定理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9228" name="Picture 15" descr="GEL Rounded Rectangle aquamarine">
              <a:hlinkClick r:id="rId4" action="ppaction://hlinksldjump"/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48" y="1468"/>
              <a:ext cx="816" cy="3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29" name="Text Box 16">
              <a:hlinkClick r:id="rId4" action="ppaction://hlinksldjump"/>
            </p:cNvPr>
            <p:cNvSpPr txBox="1"/>
            <p:nvPr/>
          </p:nvSpPr>
          <p:spPr>
            <a:xfrm>
              <a:off x="1456" y="1458"/>
              <a:ext cx="4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4.1</a:t>
              </a:r>
              <a:endPara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24945" name="Group 17"/>
          <p:cNvGrpSpPr/>
          <p:nvPr/>
        </p:nvGrpSpPr>
        <p:grpSpPr>
          <a:xfrm>
            <a:off x="1981200" y="2852738"/>
            <a:ext cx="5559425" cy="538162"/>
            <a:chOff x="1248" y="1797"/>
            <a:chExt cx="3502" cy="339"/>
          </a:xfrm>
        </p:grpSpPr>
        <p:pic>
          <p:nvPicPr>
            <p:cNvPr id="9231" name="Picture 18" descr="GEL Rounded Rectangle aquamarine">
              <a:hlinkClick r:id="rId7" action="ppaction://hlinksldjump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3" y="1807"/>
              <a:ext cx="2777" cy="3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32" name="Text Box 19">
              <a:hlinkClick r:id="rId7" action="ppaction://hlinksldjump"/>
            </p:cNvPr>
            <p:cNvSpPr txBox="1"/>
            <p:nvPr/>
          </p:nvSpPr>
          <p:spPr>
            <a:xfrm>
              <a:off x="2153" y="1797"/>
              <a:ext cx="24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替代定理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9233" name="Picture 20" descr="GEL Rounded Rectangle aquamarine">
              <a:hlinkClick r:id="rId7" action="ppaction://hlinksldjump"/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48" y="1807"/>
              <a:ext cx="816" cy="3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34" name="Text Box 21">
              <a:hlinkClick r:id="rId7" action="ppaction://hlinksldjump"/>
            </p:cNvPr>
            <p:cNvSpPr txBox="1"/>
            <p:nvPr/>
          </p:nvSpPr>
          <p:spPr>
            <a:xfrm>
              <a:off x="1456" y="1797"/>
              <a:ext cx="4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4.2</a:t>
              </a:r>
              <a:endPara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24950" name="Group 22"/>
          <p:cNvGrpSpPr/>
          <p:nvPr/>
        </p:nvGrpSpPr>
        <p:grpSpPr>
          <a:xfrm>
            <a:off x="1981200" y="3395663"/>
            <a:ext cx="5557838" cy="538162"/>
            <a:chOff x="1248" y="2139"/>
            <a:chExt cx="3501" cy="339"/>
          </a:xfrm>
        </p:grpSpPr>
        <p:pic>
          <p:nvPicPr>
            <p:cNvPr id="9236" name="Picture 23" descr="GEL Rounded Rectangle aquamarine">
              <a:hlinkClick r:id="rId8" action="ppaction://hlinksldjump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3" y="2149"/>
              <a:ext cx="2776" cy="3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37" name="Text Box 24">
              <a:hlinkClick r:id="rId8" action="ppaction://hlinksldjump"/>
            </p:cNvPr>
            <p:cNvSpPr txBox="1"/>
            <p:nvPr/>
          </p:nvSpPr>
          <p:spPr>
            <a:xfrm>
              <a:off x="2153" y="2139"/>
              <a:ext cx="24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戴维宁定理和诺顿定理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9238" name="Picture 25" descr="GEL Rounded Rectangle aquamarine">
              <a:hlinkClick r:id="rId8" action="ppaction://hlinksldjump"/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48" y="2149"/>
              <a:ext cx="816" cy="3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39" name="Text Box 26">
              <a:hlinkClick r:id="rId8" action="ppaction://hlinksldjump"/>
            </p:cNvPr>
            <p:cNvSpPr txBox="1"/>
            <p:nvPr/>
          </p:nvSpPr>
          <p:spPr>
            <a:xfrm>
              <a:off x="1456" y="2139"/>
              <a:ext cx="4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4.3</a:t>
              </a:r>
              <a:endPara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24955" name="Group 27"/>
          <p:cNvGrpSpPr/>
          <p:nvPr/>
        </p:nvGrpSpPr>
        <p:grpSpPr>
          <a:xfrm>
            <a:off x="1981200" y="3933825"/>
            <a:ext cx="5559425" cy="538163"/>
            <a:chOff x="1248" y="2478"/>
            <a:chExt cx="3502" cy="339"/>
          </a:xfrm>
        </p:grpSpPr>
        <p:pic>
          <p:nvPicPr>
            <p:cNvPr id="9241" name="Picture 28" descr="GEL Rounded Rectangle aquamarine">
              <a:hlinkClick r:id="rId9" action="ppaction://hlinksldjump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3" y="2488"/>
              <a:ext cx="2777" cy="3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42" name="Text Box 29">
              <a:hlinkClick r:id="rId9" action="ppaction://hlinksldjump"/>
            </p:cNvPr>
            <p:cNvSpPr txBox="1"/>
            <p:nvPr/>
          </p:nvSpPr>
          <p:spPr>
            <a:xfrm>
              <a:off x="2153" y="2478"/>
              <a:ext cx="24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最大功率传输定理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9243" name="Picture 30" descr="GEL Rounded Rectangle aquamarine">
              <a:hlinkClick r:id="rId9" action="ppaction://hlinksldjump"/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48" y="2488"/>
              <a:ext cx="816" cy="3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44" name="Text Box 31">
              <a:hlinkClick r:id="rId9" action="ppaction://hlinksldjump"/>
            </p:cNvPr>
            <p:cNvSpPr txBox="1"/>
            <p:nvPr/>
          </p:nvSpPr>
          <p:spPr>
            <a:xfrm>
              <a:off x="1456" y="2478"/>
              <a:ext cx="4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4.4</a:t>
              </a:r>
              <a:endPara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24960" name="Group 32"/>
          <p:cNvGrpSpPr/>
          <p:nvPr/>
        </p:nvGrpSpPr>
        <p:grpSpPr>
          <a:xfrm>
            <a:off x="1981200" y="4475163"/>
            <a:ext cx="5559425" cy="538162"/>
            <a:chOff x="1248" y="2819"/>
            <a:chExt cx="3502" cy="339"/>
          </a:xfrm>
        </p:grpSpPr>
        <p:pic>
          <p:nvPicPr>
            <p:cNvPr id="9246" name="Picture 33" descr="GEL Rounded Rectangle aquamarin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3" y="2829"/>
              <a:ext cx="2777" cy="3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47" name="Text Box 34"/>
            <p:cNvSpPr txBox="1"/>
            <p:nvPr/>
          </p:nvSpPr>
          <p:spPr>
            <a:xfrm>
              <a:off x="2153" y="2819"/>
              <a:ext cx="24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特勒根定理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9248" name="Picture 35" descr="GEL Rounded Rectangle aquamarin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48" y="2829"/>
              <a:ext cx="816" cy="3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49" name="Text Box 36"/>
            <p:cNvSpPr txBox="1"/>
            <p:nvPr/>
          </p:nvSpPr>
          <p:spPr>
            <a:xfrm>
              <a:off x="1456" y="2819"/>
              <a:ext cx="6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4.5*</a:t>
              </a:r>
              <a:endPara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24965" name="Group 37"/>
          <p:cNvGrpSpPr/>
          <p:nvPr/>
        </p:nvGrpSpPr>
        <p:grpSpPr>
          <a:xfrm>
            <a:off x="1981200" y="5013325"/>
            <a:ext cx="5559425" cy="538163"/>
            <a:chOff x="1248" y="3158"/>
            <a:chExt cx="3502" cy="339"/>
          </a:xfrm>
        </p:grpSpPr>
        <p:pic>
          <p:nvPicPr>
            <p:cNvPr id="9251" name="Picture 38" descr="GEL Rounded Rectangle aquamarin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3" y="3168"/>
              <a:ext cx="2777" cy="3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52" name="Text Box 39"/>
            <p:cNvSpPr txBox="1"/>
            <p:nvPr/>
          </p:nvSpPr>
          <p:spPr>
            <a:xfrm>
              <a:off x="2153" y="3158"/>
              <a:ext cx="24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互易定理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9253" name="Picture 40" descr="GEL Rounded Rectangle aquamarin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48" y="3168"/>
              <a:ext cx="816" cy="3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54" name="Text Box 41"/>
            <p:cNvSpPr txBox="1"/>
            <p:nvPr/>
          </p:nvSpPr>
          <p:spPr>
            <a:xfrm>
              <a:off x="1451" y="3158"/>
              <a:ext cx="56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4.6*</a:t>
              </a:r>
              <a:endPara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24970" name="Group 42"/>
          <p:cNvGrpSpPr/>
          <p:nvPr/>
        </p:nvGrpSpPr>
        <p:grpSpPr>
          <a:xfrm>
            <a:off x="1981200" y="5554663"/>
            <a:ext cx="5559425" cy="538162"/>
            <a:chOff x="1248" y="3499"/>
            <a:chExt cx="3502" cy="339"/>
          </a:xfrm>
        </p:grpSpPr>
        <p:pic>
          <p:nvPicPr>
            <p:cNvPr id="9256" name="Picture 43" descr="GEL Rounded Rectangle aquamarin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3" y="3509"/>
              <a:ext cx="2777" cy="3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57" name="Text Box 44"/>
            <p:cNvSpPr txBox="1"/>
            <p:nvPr/>
          </p:nvSpPr>
          <p:spPr>
            <a:xfrm>
              <a:off x="2153" y="3499"/>
              <a:ext cx="24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对偶原理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9258" name="Picture 45" descr="GEL Rounded Rectangle aquamarin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48" y="3509"/>
              <a:ext cx="816" cy="3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59" name="Text Box 46"/>
            <p:cNvSpPr txBox="1"/>
            <p:nvPr/>
          </p:nvSpPr>
          <p:spPr>
            <a:xfrm>
              <a:off x="1448" y="3499"/>
              <a:ext cx="6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4.7*</a:t>
              </a:r>
              <a:endPara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4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24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4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4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4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4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9" presetClass="entr" presetSubtype="0" decel="10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6" name="Text Box 6"/>
          <p:cNvSpPr txBox="1"/>
          <p:nvPr/>
        </p:nvSpPr>
        <p:spPr>
          <a:xfrm>
            <a:off x="684213" y="1125538"/>
            <a:ext cx="1943100" cy="641350"/>
          </a:xfrm>
          <a:prstGeom prst="rect">
            <a:avLst/>
          </a:prstGeom>
          <a:solidFill>
            <a:srgbClr val="FF3300"/>
          </a:solidFill>
          <a:ln w="9525">
            <a:noFill/>
          </a:ln>
          <a:effectLst>
            <a:prstShdw prst="shdw17" dist="17961" dir="2699999">
              <a:srgbClr val="991F00"/>
            </a:prstShdw>
          </a:effectLst>
        </p:spPr>
        <p:txBody>
          <a:bodyPr lIns="90000" tIns="46800" rIns="90000" bIns="46800" anchor="t" anchorCtr="0">
            <a:spAutoFit/>
          </a:bodyPr>
          <a:p>
            <a:pPr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l"/>
            </a:pPr>
            <a:r>
              <a:rPr lang="en-US" altLang="zh-CN" sz="36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重点</a:t>
            </a:r>
            <a:r>
              <a:rPr lang="en-US" altLang="zh-CN" sz="36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36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2887" name="Text Box 7"/>
          <p:cNvSpPr txBox="1"/>
          <p:nvPr/>
        </p:nvSpPr>
        <p:spPr>
          <a:xfrm>
            <a:off x="684213" y="2565400"/>
            <a:ext cx="7200900" cy="1260475"/>
          </a:xfrm>
          <a:prstGeom prst="rect">
            <a:avLst/>
          </a:prstGeom>
          <a:noFill/>
          <a:ln w="9525">
            <a:noFill/>
          </a:ln>
          <a:effectLst>
            <a:prstShdw prst="shdw17" dist="17961" dir="2699999">
              <a:srgbClr val="99997A"/>
            </a:prstShdw>
          </a:effectLst>
        </p:spPr>
        <p:txBody>
          <a:bodyPr lIns="90000" tIns="46800" rIns="90000" bIns="46800" anchor="t" anchorCtr="0">
            <a:spAutoFit/>
          </a:bodyPr>
          <a:p>
            <a:pPr marL="342900" indent="-342900">
              <a:lnSpc>
                <a:spcPct val="120000"/>
              </a:lnSpc>
              <a:spcBef>
                <a:spcPct val="50000"/>
              </a:spcBef>
              <a:buClr>
                <a:srgbClr val="FFFF00"/>
              </a:buClr>
              <a:buFont typeface="Monotype Sorts" pitchFamily="2" charset="2"/>
            </a:pPr>
            <a:r>
              <a:rPr lang="en-US" altLang="zh-CN" sz="3200" dirty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熟练掌握各定理的内容、适用范围及如何应用。</a:t>
            </a:r>
            <a:endParaRPr lang="zh-CN" altLang="en-US" sz="3200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0243" name="Group 8"/>
          <p:cNvGrpSpPr/>
          <p:nvPr/>
        </p:nvGrpSpPr>
        <p:grpSpPr>
          <a:xfrm>
            <a:off x="8316913" y="6453188"/>
            <a:ext cx="792162" cy="366712"/>
            <a:chOff x="5193" y="4020"/>
            <a:chExt cx="499" cy="231"/>
          </a:xfrm>
        </p:grpSpPr>
        <p:pic>
          <p:nvPicPr>
            <p:cNvPr id="10244" name="Picture 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45" name="Text Box 10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6" grpId="0" animBg="1"/>
      <p:bldP spid="12288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Text Box 2"/>
          <p:cNvSpPr txBox="1"/>
          <p:nvPr/>
        </p:nvSpPr>
        <p:spPr>
          <a:xfrm>
            <a:off x="468313" y="1203325"/>
            <a:ext cx="2808287" cy="579438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ctr" anchorCtr="0">
            <a:spAutoFit/>
          </a:bodyPr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sz="3200" i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叠加定理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2467" name="Text Box 3"/>
          <p:cNvSpPr txBox="1"/>
          <p:nvPr/>
        </p:nvSpPr>
        <p:spPr>
          <a:xfrm>
            <a:off x="611188" y="1196975"/>
            <a:ext cx="7993062" cy="2143125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ctr" anchorCtr="0">
            <a:spAutoFit/>
          </a:bodyPr>
          <a:p>
            <a:pPr indent="571500" algn="just">
              <a:lnSpc>
                <a:spcPct val="120000"/>
              </a:lnSpc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           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在线性电路中，任一支路的电流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或电压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可以看成是电路中每一个独立电源单独作用于电路时，在该支路产生的电流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或电压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的代数和。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2468" name="Rectangle 4" descr="新闻纸"/>
          <p:cNvSpPr/>
          <p:nvPr/>
        </p:nvSpPr>
        <p:spPr>
          <a:xfrm>
            <a:off x="684213" y="476250"/>
            <a:ext cx="7543800" cy="677863"/>
          </a:xfrm>
          <a:prstGeom prst="rect">
            <a:avLst/>
          </a:prstGeom>
          <a:noFill/>
          <a:ln w="9525">
            <a:noFill/>
          </a:ln>
          <a:effectLst>
            <a:prstShdw prst="shdw17" dist="17961" dir="2699999">
              <a:srgbClr val="959595"/>
            </a:prstShdw>
          </a:effectLst>
        </p:spPr>
        <p:txBody>
          <a:bodyPr anchor="b" anchorCtr="0"/>
          <a:p>
            <a:pPr algn="ctr"/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4.1  </a:t>
            </a:r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叠加定理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2469" name="AutoShape 5"/>
          <p:cNvSpPr/>
          <p:nvPr/>
        </p:nvSpPr>
        <p:spPr>
          <a:xfrm>
            <a:off x="3059113" y="1484313"/>
            <a:ext cx="720725" cy="144462"/>
          </a:xfrm>
          <a:prstGeom prst="rightArrow">
            <a:avLst>
              <a:gd name="adj1" fmla="val 50000"/>
              <a:gd name="adj2" fmla="val 124702"/>
            </a:avLst>
          </a:prstGeom>
          <a:solidFill>
            <a:srgbClr val="00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2470" name="Rectangle 6"/>
          <p:cNvSpPr/>
          <p:nvPr/>
        </p:nvSpPr>
        <p:spPr>
          <a:xfrm>
            <a:off x="611188" y="3429000"/>
            <a:ext cx="3600450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2 .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定理的证明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2499" name="Text Box 35"/>
          <p:cNvSpPr txBox="1"/>
          <p:nvPr/>
        </p:nvSpPr>
        <p:spPr>
          <a:xfrm>
            <a:off x="755650" y="4149725"/>
            <a:ext cx="2808288" cy="51911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应用结点法：</a:t>
            </a:r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2500" name="Text Box 36"/>
          <p:cNvSpPr txBox="1"/>
          <p:nvPr/>
        </p:nvSpPr>
        <p:spPr>
          <a:xfrm>
            <a:off x="755650" y="5229225"/>
            <a:ext cx="5113338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>
            <a:spAutoFit/>
          </a:bodyPr>
          <a:p>
            <a:pPr algn="just"/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n1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s3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32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1272" name="Group 4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1273" name="Picture 4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274" name="Text Box 4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1275" name="Group 4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1276" name="Picture 44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277" name="Text Box 4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1278" name="Group 78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11279" name="Picture 7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280" name="Text Box 80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2571" name="Group 107"/>
          <p:cNvGrpSpPr/>
          <p:nvPr/>
        </p:nvGrpSpPr>
        <p:grpSpPr>
          <a:xfrm>
            <a:off x="4572000" y="2852738"/>
            <a:ext cx="4211638" cy="2593975"/>
            <a:chOff x="2880" y="1797"/>
            <a:chExt cx="2653" cy="1634"/>
          </a:xfrm>
        </p:grpSpPr>
        <p:sp>
          <p:nvSpPr>
            <p:cNvPr id="11282" name="Oval 50"/>
            <p:cNvSpPr/>
            <p:nvPr/>
          </p:nvSpPr>
          <p:spPr>
            <a:xfrm>
              <a:off x="4785" y="274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1283" name="Oval 51"/>
            <p:cNvSpPr/>
            <p:nvPr/>
          </p:nvSpPr>
          <p:spPr>
            <a:xfrm>
              <a:off x="3833" y="275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1284" name="Rectangle 52"/>
            <p:cNvSpPr/>
            <p:nvPr/>
          </p:nvSpPr>
          <p:spPr>
            <a:xfrm>
              <a:off x="3062" y="2023"/>
              <a:ext cx="1905" cy="1226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1285" name="Line 53"/>
            <p:cNvSpPr/>
            <p:nvPr/>
          </p:nvSpPr>
          <p:spPr>
            <a:xfrm>
              <a:off x="4014" y="2023"/>
              <a:ext cx="0" cy="12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11286" name="Text Box 54"/>
            <p:cNvSpPr txBox="1"/>
            <p:nvPr/>
          </p:nvSpPr>
          <p:spPr>
            <a:xfrm>
              <a:off x="3016" y="2115"/>
              <a:ext cx="47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7" name="Text Box 55"/>
            <p:cNvSpPr txBox="1"/>
            <p:nvPr/>
          </p:nvSpPr>
          <p:spPr>
            <a:xfrm>
              <a:off x="3152" y="2432"/>
              <a:ext cx="31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s1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8" name="Text Box 56"/>
            <p:cNvSpPr txBox="1"/>
            <p:nvPr/>
          </p:nvSpPr>
          <p:spPr>
            <a:xfrm>
              <a:off x="4014" y="2114"/>
              <a:ext cx="37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9" name="Text Box 57"/>
            <p:cNvSpPr txBox="1"/>
            <p:nvPr/>
          </p:nvSpPr>
          <p:spPr>
            <a:xfrm>
              <a:off x="4196" y="2704"/>
              <a:ext cx="36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s2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90" name="Text Box 58"/>
            <p:cNvSpPr txBox="1"/>
            <p:nvPr/>
          </p:nvSpPr>
          <p:spPr>
            <a:xfrm>
              <a:off x="4967" y="2114"/>
              <a:ext cx="4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91" name="Text Box 59"/>
            <p:cNvSpPr txBox="1"/>
            <p:nvPr/>
          </p:nvSpPr>
          <p:spPr>
            <a:xfrm>
              <a:off x="5103" y="2705"/>
              <a:ext cx="43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s3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92" name="Line 61"/>
            <p:cNvSpPr/>
            <p:nvPr/>
          </p:nvSpPr>
          <p:spPr>
            <a:xfrm>
              <a:off x="3878" y="2114"/>
              <a:ext cx="0" cy="23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293" name="Text Box 62"/>
            <p:cNvSpPr txBox="1"/>
            <p:nvPr/>
          </p:nvSpPr>
          <p:spPr>
            <a:xfrm>
              <a:off x="3606" y="2114"/>
              <a:ext cx="2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94" name="Line 63"/>
            <p:cNvSpPr/>
            <p:nvPr/>
          </p:nvSpPr>
          <p:spPr>
            <a:xfrm>
              <a:off x="4423" y="2069"/>
              <a:ext cx="322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295" name="Text Box 64"/>
            <p:cNvSpPr txBox="1"/>
            <p:nvPr/>
          </p:nvSpPr>
          <p:spPr>
            <a:xfrm>
              <a:off x="4468" y="2023"/>
              <a:ext cx="2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96" name="Text Box 65"/>
            <p:cNvSpPr txBox="1"/>
            <p:nvPr/>
          </p:nvSpPr>
          <p:spPr>
            <a:xfrm>
              <a:off x="4105" y="2478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97" name="Text Box 66"/>
            <p:cNvSpPr txBox="1"/>
            <p:nvPr/>
          </p:nvSpPr>
          <p:spPr>
            <a:xfrm>
              <a:off x="4105" y="2976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–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98" name="Text Box 67"/>
            <p:cNvSpPr txBox="1"/>
            <p:nvPr/>
          </p:nvSpPr>
          <p:spPr>
            <a:xfrm>
              <a:off x="5058" y="2478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99" name="Text Box 68"/>
            <p:cNvSpPr txBox="1"/>
            <p:nvPr/>
          </p:nvSpPr>
          <p:spPr>
            <a:xfrm>
              <a:off x="5058" y="2977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–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00" name="Line 69"/>
            <p:cNvSpPr/>
            <p:nvPr/>
          </p:nvSpPr>
          <p:spPr>
            <a:xfrm>
              <a:off x="4014" y="3249"/>
              <a:ext cx="1" cy="17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01" name="Line 70"/>
            <p:cNvSpPr/>
            <p:nvPr/>
          </p:nvSpPr>
          <p:spPr>
            <a:xfrm>
              <a:off x="3833" y="3431"/>
              <a:ext cx="31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02" name="Oval 71"/>
            <p:cNvSpPr/>
            <p:nvPr/>
          </p:nvSpPr>
          <p:spPr>
            <a:xfrm>
              <a:off x="3924" y="1797"/>
              <a:ext cx="181" cy="182"/>
            </a:xfrm>
            <a:prstGeom prst="ellipse">
              <a:avLst/>
            </a:prstGeom>
            <a:noFill/>
            <a:ln w="19050" cap="flat" cmpd="sng">
              <a:solidFill>
                <a:srgbClr val="66FF3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rgbClr val="66FF33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rgbClr val="66FF33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03" name="Rectangle 72"/>
            <p:cNvSpPr/>
            <p:nvPr/>
          </p:nvSpPr>
          <p:spPr>
            <a:xfrm>
              <a:off x="4885" y="216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1304" name="Rectangle 73"/>
            <p:cNvSpPr/>
            <p:nvPr/>
          </p:nvSpPr>
          <p:spPr>
            <a:xfrm>
              <a:off x="3924" y="216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1305" name="Rectangle 74"/>
            <p:cNvSpPr/>
            <p:nvPr/>
          </p:nvSpPr>
          <p:spPr>
            <a:xfrm>
              <a:off x="2971" y="216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11306" name="Group 87"/>
            <p:cNvGrpSpPr/>
            <p:nvPr/>
          </p:nvGrpSpPr>
          <p:grpSpPr>
            <a:xfrm>
              <a:off x="2880" y="2523"/>
              <a:ext cx="363" cy="590"/>
              <a:chOff x="2336" y="2568"/>
              <a:chExt cx="363" cy="590"/>
            </a:xfrm>
          </p:grpSpPr>
          <p:grpSp>
            <p:nvGrpSpPr>
              <p:cNvPr id="11307" name="Group 88"/>
              <p:cNvGrpSpPr/>
              <p:nvPr/>
            </p:nvGrpSpPr>
            <p:grpSpPr>
              <a:xfrm>
                <a:off x="2336" y="2795"/>
                <a:ext cx="363" cy="363"/>
                <a:chOff x="4785" y="709"/>
                <a:chExt cx="363" cy="363"/>
              </a:xfrm>
            </p:grpSpPr>
            <p:sp>
              <p:nvSpPr>
                <p:cNvPr id="11308" name="Oval 89"/>
                <p:cNvSpPr/>
                <p:nvPr/>
              </p:nvSpPr>
              <p:spPr>
                <a:xfrm>
                  <a:off x="4785" y="709"/>
                  <a:ext cx="363" cy="36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FF"/>
                    </a:gs>
                    <a:gs pos="100000">
                      <a:srgbClr val="004776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endParaRPr lang="zh-CN" altLang="zh-CN" sz="2400" b="0" dirty="0">
                    <a:latin typeface="Arial" panose="020B0604020202020204" pitchFamily="34" charset="0"/>
                    <a:ea typeface="仿宋_GB2312" pitchFamily="49" charset="-122"/>
                  </a:endParaRPr>
                </a:p>
              </p:txBody>
            </p:sp>
            <p:sp>
              <p:nvSpPr>
                <p:cNvPr id="11309" name="Line 90"/>
                <p:cNvSpPr/>
                <p:nvPr/>
              </p:nvSpPr>
              <p:spPr>
                <a:xfrm>
                  <a:off x="4785" y="890"/>
                  <a:ext cx="363" cy="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1310" name="Line 91"/>
              <p:cNvSpPr/>
              <p:nvPr/>
            </p:nvSpPr>
            <p:spPr>
              <a:xfrm flipV="1">
                <a:off x="2517" y="2568"/>
                <a:ext cx="0" cy="227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round/>
                <a:headEnd type="none" w="med" len="med"/>
                <a:tailEnd type="triangle" w="med" len="lg"/>
              </a:ln>
            </p:spPr>
          </p:sp>
        </p:grp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2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2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2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2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6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/>
      <p:bldP spid="62467" grpId="0"/>
      <p:bldP spid="62468" grpId="0"/>
      <p:bldP spid="62469" grpId="0" animBg="1"/>
      <p:bldP spid="62470" grpId="0"/>
      <p:bldP spid="62499" grpId="0"/>
      <p:bldP spid="6250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1495" name="Object 55"/>
          <p:cNvGraphicFramePr>
            <a:graphicFrameLocks noChangeAspect="1"/>
          </p:cNvGraphicFramePr>
          <p:nvPr/>
        </p:nvGraphicFramePr>
        <p:xfrm>
          <a:off x="395288" y="476250"/>
          <a:ext cx="4824412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152650" imgH="427990" progId="Equation.3">
                  <p:embed/>
                </p:oleObj>
              </mc:Choice>
              <mc:Fallback>
                <p:oleObj name="" r:id="rId1" imgW="2152650" imgH="427990" progId="Equation.3">
                  <p:embed/>
                  <p:pic>
                    <p:nvPicPr>
                      <p:cNvPr id="0" name="20 307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5288" y="476250"/>
                        <a:ext cx="4824412" cy="1001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6" name="Text Box 56"/>
          <p:cNvSpPr txBox="1"/>
          <p:nvPr/>
        </p:nvSpPr>
        <p:spPr>
          <a:xfrm>
            <a:off x="323850" y="1412875"/>
            <a:ext cx="2665413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或表示为：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61497" name="Object 57"/>
          <p:cNvGraphicFramePr>
            <a:graphicFrameLocks noChangeAspect="1"/>
          </p:cNvGraphicFramePr>
          <p:nvPr/>
        </p:nvGraphicFramePr>
        <p:xfrm>
          <a:off x="395288" y="1989138"/>
          <a:ext cx="403225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1504950" imgH="405130" progId="Equation.3">
                  <p:embed/>
                </p:oleObj>
              </mc:Choice>
              <mc:Fallback>
                <p:oleObj name="" r:id="rId3" imgW="1504950" imgH="405130" progId="Equation.3">
                  <p:embed/>
                  <p:pic>
                    <p:nvPicPr>
                      <p:cNvPr id="0" name="20 307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5288" y="1989138"/>
                        <a:ext cx="4032250" cy="1130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4" name="Text Box 64"/>
          <p:cNvSpPr txBox="1"/>
          <p:nvPr/>
        </p:nvSpPr>
        <p:spPr>
          <a:xfrm>
            <a:off x="395288" y="3141663"/>
            <a:ext cx="2808287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支路电流为：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61506" name="Object 66"/>
          <p:cNvGraphicFramePr>
            <a:graphicFrameLocks noChangeAspect="1"/>
          </p:cNvGraphicFramePr>
          <p:nvPr/>
        </p:nvGraphicFramePr>
        <p:xfrm>
          <a:off x="611188" y="5065713"/>
          <a:ext cx="7793037" cy="151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3680460" imgH="636905" progId="Equation.3">
                  <p:embed/>
                </p:oleObj>
              </mc:Choice>
              <mc:Fallback>
                <p:oleObj name="" r:id="rId5" imgW="3680460" imgH="636905" progId="Equation.3">
                  <p:embed/>
                  <p:pic>
                    <p:nvPicPr>
                      <p:cNvPr id="0" name="20 307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5065713"/>
                        <a:ext cx="7793037" cy="1519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7" name="Object 67"/>
          <p:cNvGraphicFramePr>
            <a:graphicFrameLocks noChangeAspect="1"/>
          </p:cNvGraphicFramePr>
          <p:nvPr/>
        </p:nvGraphicFramePr>
        <p:xfrm>
          <a:off x="611188" y="3429000"/>
          <a:ext cx="7762875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7" imgW="3414395" imgH="636905" progId="Equation.3">
                  <p:embed/>
                </p:oleObj>
              </mc:Choice>
              <mc:Fallback>
                <p:oleObj name="" r:id="rId7" imgW="3414395" imgH="636905" progId="Equation.3">
                  <p:embed/>
                  <p:pic>
                    <p:nvPicPr>
                      <p:cNvPr id="0" name="20 307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3429000"/>
                        <a:ext cx="7762875" cy="1584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95" name="Group 6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2296" name="Picture 70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297" name="Text Box 7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2298" name="Group 7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2299" name="Picture 73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300" name="Text Box 7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2301" name="Group 140"/>
          <p:cNvGrpSpPr/>
          <p:nvPr/>
        </p:nvGrpSpPr>
        <p:grpSpPr>
          <a:xfrm>
            <a:off x="5148263" y="620713"/>
            <a:ext cx="3816350" cy="2449512"/>
            <a:chOff x="3243" y="391"/>
            <a:chExt cx="2404" cy="1543"/>
          </a:xfrm>
        </p:grpSpPr>
        <p:sp>
          <p:nvSpPr>
            <p:cNvPr id="12302" name="Oval 111"/>
            <p:cNvSpPr/>
            <p:nvPr/>
          </p:nvSpPr>
          <p:spPr>
            <a:xfrm>
              <a:off x="4969" y="1281"/>
              <a:ext cx="329" cy="34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2303" name="Oval 112"/>
            <p:cNvSpPr/>
            <p:nvPr/>
          </p:nvSpPr>
          <p:spPr>
            <a:xfrm>
              <a:off x="4107" y="1291"/>
              <a:ext cx="328" cy="34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2304" name="Rectangle 113"/>
            <p:cNvSpPr/>
            <p:nvPr/>
          </p:nvSpPr>
          <p:spPr>
            <a:xfrm>
              <a:off x="3408" y="604"/>
              <a:ext cx="1726" cy="1158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2305" name="Line 114"/>
            <p:cNvSpPr/>
            <p:nvPr/>
          </p:nvSpPr>
          <p:spPr>
            <a:xfrm>
              <a:off x="4271" y="604"/>
              <a:ext cx="0" cy="115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12306" name="Text Box 115"/>
            <p:cNvSpPr txBox="1"/>
            <p:nvPr/>
          </p:nvSpPr>
          <p:spPr>
            <a:xfrm>
              <a:off x="3366" y="682"/>
              <a:ext cx="43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7" name="Text Box 116"/>
            <p:cNvSpPr txBox="1"/>
            <p:nvPr/>
          </p:nvSpPr>
          <p:spPr>
            <a:xfrm>
              <a:off x="3475" y="982"/>
              <a:ext cx="31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s1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8" name="Text Box 117"/>
            <p:cNvSpPr txBox="1"/>
            <p:nvPr/>
          </p:nvSpPr>
          <p:spPr>
            <a:xfrm>
              <a:off x="4271" y="681"/>
              <a:ext cx="37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9" name="Text Box 118"/>
            <p:cNvSpPr txBox="1"/>
            <p:nvPr/>
          </p:nvSpPr>
          <p:spPr>
            <a:xfrm>
              <a:off x="4419" y="1238"/>
              <a:ext cx="36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s2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10" name="Text Box 119"/>
            <p:cNvSpPr txBox="1"/>
            <p:nvPr/>
          </p:nvSpPr>
          <p:spPr>
            <a:xfrm>
              <a:off x="5134" y="681"/>
              <a:ext cx="37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11" name="Text Box 120"/>
            <p:cNvSpPr txBox="1"/>
            <p:nvPr/>
          </p:nvSpPr>
          <p:spPr>
            <a:xfrm>
              <a:off x="5257" y="1239"/>
              <a:ext cx="3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s3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12" name="Line 121"/>
            <p:cNvSpPr/>
            <p:nvPr/>
          </p:nvSpPr>
          <p:spPr>
            <a:xfrm>
              <a:off x="4147" y="690"/>
              <a:ext cx="0" cy="225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313" name="Text Box 122"/>
            <p:cNvSpPr txBox="1"/>
            <p:nvPr/>
          </p:nvSpPr>
          <p:spPr>
            <a:xfrm>
              <a:off x="3889" y="681"/>
              <a:ext cx="2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14" name="Line 123"/>
            <p:cNvSpPr/>
            <p:nvPr/>
          </p:nvSpPr>
          <p:spPr>
            <a:xfrm>
              <a:off x="4641" y="648"/>
              <a:ext cx="292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315" name="Text Box 124"/>
            <p:cNvSpPr txBox="1"/>
            <p:nvPr/>
          </p:nvSpPr>
          <p:spPr>
            <a:xfrm>
              <a:off x="4671" y="595"/>
              <a:ext cx="2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16" name="Text Box 125"/>
            <p:cNvSpPr txBox="1"/>
            <p:nvPr/>
          </p:nvSpPr>
          <p:spPr>
            <a:xfrm>
              <a:off x="4342" y="1025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17" name="Text Box 126"/>
            <p:cNvSpPr txBox="1"/>
            <p:nvPr/>
          </p:nvSpPr>
          <p:spPr>
            <a:xfrm>
              <a:off x="4343" y="1495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–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18" name="Text Box 127"/>
            <p:cNvSpPr txBox="1"/>
            <p:nvPr/>
          </p:nvSpPr>
          <p:spPr>
            <a:xfrm>
              <a:off x="5205" y="1025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19" name="Text Box 128"/>
            <p:cNvSpPr txBox="1"/>
            <p:nvPr/>
          </p:nvSpPr>
          <p:spPr>
            <a:xfrm>
              <a:off x="5206" y="1496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–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20" name="Line 129"/>
            <p:cNvSpPr/>
            <p:nvPr/>
          </p:nvSpPr>
          <p:spPr>
            <a:xfrm>
              <a:off x="4271" y="1762"/>
              <a:ext cx="0" cy="16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21" name="Line 130"/>
            <p:cNvSpPr/>
            <p:nvPr/>
          </p:nvSpPr>
          <p:spPr>
            <a:xfrm>
              <a:off x="4107" y="1934"/>
              <a:ext cx="2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22" name="Oval 131"/>
            <p:cNvSpPr/>
            <p:nvPr/>
          </p:nvSpPr>
          <p:spPr>
            <a:xfrm>
              <a:off x="4189" y="391"/>
              <a:ext cx="164" cy="172"/>
            </a:xfrm>
            <a:prstGeom prst="ellipse">
              <a:avLst/>
            </a:prstGeom>
            <a:noFill/>
            <a:ln w="19050" cap="flat" cmpd="sng">
              <a:solidFill>
                <a:srgbClr val="66FF3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rgbClr val="66FF33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rgbClr val="66FF33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23" name="Rectangle 132"/>
            <p:cNvSpPr/>
            <p:nvPr/>
          </p:nvSpPr>
          <p:spPr>
            <a:xfrm>
              <a:off x="5060" y="734"/>
              <a:ext cx="115" cy="3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2324" name="Rectangle 133"/>
            <p:cNvSpPr/>
            <p:nvPr/>
          </p:nvSpPr>
          <p:spPr>
            <a:xfrm>
              <a:off x="4189" y="734"/>
              <a:ext cx="115" cy="3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2325" name="Rectangle 134"/>
            <p:cNvSpPr/>
            <p:nvPr/>
          </p:nvSpPr>
          <p:spPr>
            <a:xfrm>
              <a:off x="3325" y="734"/>
              <a:ext cx="116" cy="3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12326" name="Group 135"/>
            <p:cNvGrpSpPr/>
            <p:nvPr/>
          </p:nvGrpSpPr>
          <p:grpSpPr>
            <a:xfrm>
              <a:off x="3243" y="1077"/>
              <a:ext cx="329" cy="557"/>
              <a:chOff x="2336" y="2568"/>
              <a:chExt cx="363" cy="590"/>
            </a:xfrm>
          </p:grpSpPr>
          <p:grpSp>
            <p:nvGrpSpPr>
              <p:cNvPr id="12327" name="Group 136"/>
              <p:cNvGrpSpPr/>
              <p:nvPr/>
            </p:nvGrpSpPr>
            <p:grpSpPr>
              <a:xfrm>
                <a:off x="2336" y="2795"/>
                <a:ext cx="363" cy="363"/>
                <a:chOff x="4785" y="709"/>
                <a:chExt cx="363" cy="363"/>
              </a:xfrm>
            </p:grpSpPr>
            <p:sp>
              <p:nvSpPr>
                <p:cNvPr id="12328" name="Oval 137"/>
                <p:cNvSpPr/>
                <p:nvPr/>
              </p:nvSpPr>
              <p:spPr>
                <a:xfrm>
                  <a:off x="4785" y="709"/>
                  <a:ext cx="363" cy="36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FF"/>
                    </a:gs>
                    <a:gs pos="100000">
                      <a:srgbClr val="004776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endParaRPr lang="zh-CN" altLang="zh-CN" sz="2400" b="0" dirty="0">
                    <a:latin typeface="Arial" panose="020B0604020202020204" pitchFamily="34" charset="0"/>
                    <a:ea typeface="仿宋_GB2312" pitchFamily="49" charset="-122"/>
                  </a:endParaRPr>
                </a:p>
              </p:txBody>
            </p:sp>
            <p:sp>
              <p:nvSpPr>
                <p:cNvPr id="12329" name="Line 138"/>
                <p:cNvSpPr/>
                <p:nvPr/>
              </p:nvSpPr>
              <p:spPr>
                <a:xfrm>
                  <a:off x="4785" y="890"/>
                  <a:ext cx="363" cy="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2330" name="Line 139"/>
              <p:cNvSpPr/>
              <p:nvPr/>
            </p:nvSpPr>
            <p:spPr>
              <a:xfrm flipV="1">
                <a:off x="2517" y="2568"/>
                <a:ext cx="0" cy="227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round/>
                <a:headEnd type="none" w="med" len="med"/>
                <a:tailEnd type="triangle" w="med" len="lg"/>
              </a:ln>
            </p:spPr>
          </p:sp>
        </p:grpSp>
      </p:grpSp>
      <p:grpSp>
        <p:nvGrpSpPr>
          <p:cNvPr id="12331" name="Group 144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12332" name="Picture 145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333" name="Text Box 146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3000"/>
                                        <p:tgtEl>
                                          <p:spTgt spid="61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3000"/>
                                        <p:tgtEl>
                                          <p:spTgt spid="6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1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1000"/>
                                        <p:tgtEl>
                                          <p:spTgt spid="6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3000"/>
                                        <p:tgtEl>
                                          <p:spTgt spid="6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6" grpId="0"/>
      <p:bldP spid="6150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9" name="Text Box 3"/>
          <p:cNvSpPr txBox="1"/>
          <p:nvPr/>
        </p:nvSpPr>
        <p:spPr>
          <a:xfrm>
            <a:off x="2124075" y="549275"/>
            <a:ext cx="6335713" cy="163036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>
            <a:spAutoFit/>
          </a:bodyPr>
          <a:p>
            <a:pPr>
              <a:lnSpc>
                <a:spcPct val="120000"/>
              </a:lnSpc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结点电压和支路电流均为各电源的一次函数，均可看成各独立电源单独作用时，产生的响应之叠加。                                  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0528" name="Text Box 112"/>
          <p:cNvSpPr txBox="1"/>
          <p:nvPr/>
        </p:nvSpPr>
        <p:spPr>
          <a:xfrm>
            <a:off x="539750" y="2319338"/>
            <a:ext cx="2736850" cy="579437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ctr" anchorCtr="0">
            <a:spAutoFit/>
          </a:bodyPr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3.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几点说明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0529" name="Text Box 113"/>
          <p:cNvSpPr txBox="1"/>
          <p:nvPr/>
        </p:nvSpPr>
        <p:spPr>
          <a:xfrm>
            <a:off x="971550" y="2997200"/>
            <a:ext cx="5184775" cy="519113"/>
          </a:xfrm>
          <a:prstGeom prst="rect">
            <a:avLst/>
          </a:prstGeom>
          <a:noFill/>
          <a:ln w="12700">
            <a:noFill/>
          </a:ln>
        </p:spPr>
        <p:txBody>
          <a:bodyPr wrap="none" lIns="92075" tIns="46038" rIns="92075" bIns="46038" anchor="ctr" anchorCtr="0">
            <a:spAutoFit/>
          </a:bodyPr>
          <a:p>
            <a:pPr marL="342900" indent="-342900" algn="ctr">
              <a:spcBef>
                <a:spcPct val="50000"/>
              </a:spcBef>
              <a:buClr>
                <a:srgbClr val="FFFF00"/>
              </a:buClr>
              <a:buFont typeface="Monotype Sorts" pitchFamily="2" charset="2"/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叠加定理只适用于线性电路。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0530" name="Text Box 114"/>
          <p:cNvSpPr txBox="1"/>
          <p:nvPr/>
        </p:nvSpPr>
        <p:spPr>
          <a:xfrm>
            <a:off x="971550" y="3573463"/>
            <a:ext cx="5184775" cy="519112"/>
          </a:xfrm>
          <a:prstGeom prst="rect">
            <a:avLst/>
          </a:prstGeom>
          <a:noFill/>
          <a:ln w="12700">
            <a:noFill/>
          </a:ln>
        </p:spPr>
        <p:txBody>
          <a:bodyPr wrap="none" lIns="92075" tIns="46038" rIns="92075" bIns="46038" anchor="ctr" anchorCtr="0">
            <a:spAutoFit/>
          </a:bodyPr>
          <a:p>
            <a:pPr marL="342900" indent="-342900" algn="ctr">
              <a:spcBef>
                <a:spcPct val="50000"/>
              </a:spcBef>
              <a:buClr>
                <a:srgbClr val="FFFF00"/>
              </a:buClr>
              <a:buFont typeface="Monotype Sorts" pitchFamily="2" charset="2"/>
              <a:buAutoNum type="circleNumDbPlain" startA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一个电源作用，其余电源为零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0531" name="Text Box 115"/>
          <p:cNvSpPr txBox="1"/>
          <p:nvPr/>
        </p:nvSpPr>
        <p:spPr>
          <a:xfrm>
            <a:off x="1476375" y="4221163"/>
            <a:ext cx="4537075" cy="519112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ctr" anchorCtr="0">
            <a:spAutoFit/>
          </a:bodyPr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电压源为零 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—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短路。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0532" name="Text Box 116"/>
          <p:cNvSpPr txBox="1"/>
          <p:nvPr/>
        </p:nvSpPr>
        <p:spPr>
          <a:xfrm>
            <a:off x="1476375" y="4797425"/>
            <a:ext cx="4319588" cy="519113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ctr" anchorCtr="0">
            <a:spAutoFit/>
          </a:bodyPr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电流源为零 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—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开路。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3319" name="Group 19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3320" name="Picture 19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21" name="Text Box 19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3322" name="Group 19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3323" name="Picture 194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24" name="Text Box 19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0615" name="Group 199"/>
          <p:cNvGrpSpPr/>
          <p:nvPr/>
        </p:nvGrpSpPr>
        <p:grpSpPr>
          <a:xfrm>
            <a:off x="395288" y="549275"/>
            <a:ext cx="1644650" cy="850900"/>
            <a:chOff x="385" y="3022"/>
            <a:chExt cx="1036" cy="536"/>
          </a:xfrm>
        </p:grpSpPr>
        <p:pic>
          <p:nvPicPr>
            <p:cNvPr id="13326" name="Picture 200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27" name="Text Box 201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结论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13328" name="Group 205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13329" name="Picture 20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30" name="Text Box 207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0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0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100"/>
                                        <p:tgtEl>
                                          <p:spTgt spid="60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6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6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6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/>
      <p:bldP spid="60528" grpId="0"/>
      <p:bldP spid="60529" grpId="0"/>
      <p:bldP spid="60530" grpId="0"/>
      <p:bldP spid="60531" grpId="0"/>
      <p:bldP spid="605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52" name="Text Box 36"/>
          <p:cNvSpPr txBox="1"/>
          <p:nvPr/>
        </p:nvSpPr>
        <p:spPr>
          <a:xfrm>
            <a:off x="754063" y="2773363"/>
            <a:ext cx="3057525" cy="547687"/>
          </a:xfrm>
          <a:prstGeom prst="rect">
            <a:avLst/>
          </a:prstGeom>
          <a:noFill/>
          <a:ln w="28575" cap="sq" cmpd="sng">
            <a:solidFill>
              <a:srgbClr val="66FFFF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lIns="92075" tIns="46038" rIns="92075" bIns="46038" anchor="ctr" anchorCtr="0">
            <a:spAutoFit/>
          </a:bodyPr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zh-CN" altLang="en-US" dirty="0">
                <a:latin typeface="Arial Black" panose="020B0A04020102020204" pitchFamily="34" charset="0"/>
                <a:ea typeface="楷体_GB2312" pitchFamily="49" charset="-122"/>
              </a:rPr>
              <a:t>三个电源共同作用</a:t>
            </a:r>
            <a:endParaRPr lang="zh-CN" altLang="en-US" dirty="0">
              <a:latin typeface="Arial Black" panose="020B0A04020102020204" pitchFamily="34" charset="0"/>
              <a:ea typeface="楷体_GB2312" pitchFamily="49" charset="-122"/>
            </a:endParaRPr>
          </a:p>
        </p:txBody>
      </p:sp>
      <p:sp>
        <p:nvSpPr>
          <p:cNvPr id="86073" name="Text Box 57"/>
          <p:cNvSpPr txBox="1"/>
          <p:nvPr/>
        </p:nvSpPr>
        <p:spPr>
          <a:xfrm>
            <a:off x="5791200" y="2773363"/>
            <a:ext cx="1947863" cy="547687"/>
          </a:xfrm>
          <a:prstGeom prst="rect">
            <a:avLst/>
          </a:prstGeom>
          <a:noFill/>
          <a:ln w="28575" cap="sq" cmpd="sng">
            <a:solidFill>
              <a:srgbClr val="66FFFF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lIns="92075" tIns="46038" rIns="92075" bIns="46038" anchor="ctr" anchorCtr="0">
            <a:spAutoFit/>
          </a:bodyPr>
          <a:p>
            <a:pPr algn="ctr"/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s1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单独作用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6074" name="Text Box 58"/>
          <p:cNvSpPr txBox="1"/>
          <p:nvPr/>
        </p:nvSpPr>
        <p:spPr>
          <a:xfrm>
            <a:off x="4427538" y="765175"/>
            <a:ext cx="503237" cy="914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540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=</a:t>
            </a:r>
            <a:endParaRPr lang="en-US" altLang="zh-CN" sz="5400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4340" name="Group 6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4341" name="Picture 6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42" name="Text Box 6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4343" name="Group 6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4344" name="Picture 6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45" name="Text Box 6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86142" name="Text Box 126"/>
          <p:cNvSpPr txBox="1"/>
          <p:nvPr/>
        </p:nvSpPr>
        <p:spPr>
          <a:xfrm>
            <a:off x="4140200" y="4221163"/>
            <a:ext cx="438150" cy="701675"/>
          </a:xfrm>
          <a:prstGeom prst="rect">
            <a:avLst/>
          </a:prstGeom>
          <a:noFill/>
          <a:ln w="12700">
            <a:noFill/>
          </a:ln>
        </p:spPr>
        <p:txBody>
          <a:bodyPr wrap="none" lIns="92075" tIns="46038" rIns="92075" bIns="46038" anchor="ctr" anchorCtr="0">
            <a:spAutoFit/>
          </a:bodyPr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en-US" altLang="zh-CN" sz="4000" b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+</a:t>
            </a:r>
            <a:endParaRPr lang="en-US" altLang="zh-CN" sz="4000" b="0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6143" name="Text Box 127"/>
          <p:cNvSpPr txBox="1"/>
          <p:nvPr/>
        </p:nvSpPr>
        <p:spPr>
          <a:xfrm>
            <a:off x="1335088" y="5589588"/>
            <a:ext cx="2027237" cy="547687"/>
          </a:xfrm>
          <a:prstGeom prst="rect">
            <a:avLst/>
          </a:prstGeom>
          <a:noFill/>
          <a:ln w="28575" cap="sq" cmpd="sng">
            <a:solidFill>
              <a:srgbClr val="66FFFF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lIns="92075" tIns="46038" rIns="92075" bIns="46038" anchor="ctr" anchorCtr="0">
            <a:spAutoFit/>
          </a:bodyPr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s2</a:t>
            </a:r>
            <a:r>
              <a:rPr lang="zh-CN" altLang="zh-CN" dirty="0">
                <a:latin typeface="楷体_GB2312" pitchFamily="49" charset="-122"/>
                <a:ea typeface="楷体_GB2312" pitchFamily="49" charset="-122"/>
              </a:rPr>
              <a:t>单独作用</a:t>
            </a:r>
            <a:endParaRPr lang="zh-CN" altLang="en-US" baseline="-250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6144" name="Text Box 128"/>
          <p:cNvSpPr txBox="1"/>
          <p:nvPr/>
        </p:nvSpPr>
        <p:spPr>
          <a:xfrm>
            <a:off x="5943600" y="5589588"/>
            <a:ext cx="2027238" cy="547687"/>
          </a:xfrm>
          <a:prstGeom prst="rect">
            <a:avLst/>
          </a:prstGeom>
          <a:noFill/>
          <a:ln w="28575" cap="sq" cmpd="sng">
            <a:solidFill>
              <a:srgbClr val="66FFFF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lIns="92075" tIns="46038" rIns="92075" bIns="46038" anchor="ctr" anchorCtr="0">
            <a:spAutoFit/>
          </a:bodyPr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s3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单独作用</a:t>
            </a:r>
            <a:endParaRPr lang="zh-CN" altLang="en-US" baseline="-250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6145" name="Text Box 129"/>
          <p:cNvSpPr txBox="1"/>
          <p:nvPr/>
        </p:nvSpPr>
        <p:spPr>
          <a:xfrm>
            <a:off x="323850" y="4221163"/>
            <a:ext cx="438150" cy="701675"/>
          </a:xfrm>
          <a:prstGeom prst="rect">
            <a:avLst/>
          </a:prstGeom>
          <a:noFill/>
          <a:ln w="12700">
            <a:noFill/>
          </a:ln>
        </p:spPr>
        <p:txBody>
          <a:bodyPr wrap="none" lIns="92075" tIns="46038" rIns="92075" bIns="46038" anchor="ctr" anchorCtr="0">
            <a:spAutoFit/>
          </a:bodyPr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en-US" altLang="zh-CN" sz="4000" b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+</a:t>
            </a:r>
            <a:endParaRPr lang="en-US" altLang="zh-CN" sz="4000" b="0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86305" name="Group 289"/>
          <p:cNvGrpSpPr/>
          <p:nvPr/>
        </p:nvGrpSpPr>
        <p:grpSpPr>
          <a:xfrm>
            <a:off x="5219700" y="3573463"/>
            <a:ext cx="3311525" cy="1846262"/>
            <a:chOff x="2971" y="644"/>
            <a:chExt cx="2086" cy="1163"/>
          </a:xfrm>
        </p:grpSpPr>
        <p:sp>
          <p:nvSpPr>
            <p:cNvPr id="14351" name="Oval 290"/>
            <p:cNvSpPr/>
            <p:nvPr/>
          </p:nvSpPr>
          <p:spPr>
            <a:xfrm>
              <a:off x="4694" y="129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4352" name="Line 291"/>
            <p:cNvSpPr/>
            <p:nvPr/>
          </p:nvSpPr>
          <p:spPr>
            <a:xfrm>
              <a:off x="4897" y="657"/>
              <a:ext cx="0" cy="114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53" name="Line 292"/>
            <p:cNvSpPr/>
            <p:nvPr/>
          </p:nvSpPr>
          <p:spPr>
            <a:xfrm>
              <a:off x="3969" y="644"/>
              <a:ext cx="0" cy="115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14354" name="Rectangle 293"/>
            <p:cNvSpPr/>
            <p:nvPr/>
          </p:nvSpPr>
          <p:spPr>
            <a:xfrm>
              <a:off x="3887" y="79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4355" name="Line 294"/>
            <p:cNvSpPr/>
            <p:nvPr/>
          </p:nvSpPr>
          <p:spPr>
            <a:xfrm>
              <a:off x="3037" y="657"/>
              <a:ext cx="0" cy="6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56" name="Text Box 295"/>
            <p:cNvSpPr txBox="1"/>
            <p:nvPr/>
          </p:nvSpPr>
          <p:spPr>
            <a:xfrm>
              <a:off x="3016" y="799"/>
              <a:ext cx="47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57" name="Text Box 296"/>
            <p:cNvSpPr txBox="1"/>
            <p:nvPr/>
          </p:nvSpPr>
          <p:spPr>
            <a:xfrm>
              <a:off x="4468" y="754"/>
              <a:ext cx="4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58" name="Rectangle 297"/>
            <p:cNvSpPr/>
            <p:nvPr/>
          </p:nvSpPr>
          <p:spPr>
            <a:xfrm>
              <a:off x="4840" y="79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4359" name="Rectangle 298"/>
            <p:cNvSpPr/>
            <p:nvPr/>
          </p:nvSpPr>
          <p:spPr>
            <a:xfrm>
              <a:off x="2971" y="79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4360" name="Line 299"/>
            <p:cNvSpPr/>
            <p:nvPr/>
          </p:nvSpPr>
          <p:spPr>
            <a:xfrm>
              <a:off x="3842" y="700"/>
              <a:ext cx="0" cy="23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4361" name="Line 300"/>
            <p:cNvSpPr/>
            <p:nvPr/>
          </p:nvSpPr>
          <p:spPr>
            <a:xfrm>
              <a:off x="4186" y="700"/>
              <a:ext cx="307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4362" name="Line 301"/>
            <p:cNvSpPr/>
            <p:nvPr/>
          </p:nvSpPr>
          <p:spPr>
            <a:xfrm>
              <a:off x="3037" y="657"/>
              <a:ext cx="186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63" name="Line 302"/>
            <p:cNvSpPr/>
            <p:nvPr/>
          </p:nvSpPr>
          <p:spPr>
            <a:xfrm>
              <a:off x="3037" y="1802"/>
              <a:ext cx="186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64" name="Line 303"/>
            <p:cNvSpPr/>
            <p:nvPr/>
          </p:nvSpPr>
          <p:spPr>
            <a:xfrm flipV="1">
              <a:off x="3037" y="1670"/>
              <a:ext cx="0" cy="13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65" name="Oval 304"/>
            <p:cNvSpPr/>
            <p:nvPr/>
          </p:nvSpPr>
          <p:spPr>
            <a:xfrm>
              <a:off x="2994" y="1583"/>
              <a:ext cx="87" cy="8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4366" name="Oval 305"/>
            <p:cNvSpPr/>
            <p:nvPr/>
          </p:nvSpPr>
          <p:spPr>
            <a:xfrm>
              <a:off x="2994" y="1274"/>
              <a:ext cx="87" cy="8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4367" name="Text Box 306"/>
            <p:cNvSpPr txBox="1"/>
            <p:nvPr/>
          </p:nvSpPr>
          <p:spPr>
            <a:xfrm>
              <a:off x="4332" y="1298"/>
              <a:ext cx="36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s3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4368" name="Text Box 307"/>
            <p:cNvSpPr txBox="1"/>
            <p:nvPr/>
          </p:nvSpPr>
          <p:spPr>
            <a:xfrm>
              <a:off x="4558" y="1071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4369" name="Text Box 308"/>
            <p:cNvSpPr txBox="1"/>
            <p:nvPr/>
          </p:nvSpPr>
          <p:spPr>
            <a:xfrm>
              <a:off x="4513" y="1480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–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aphicFrame>
          <p:nvGraphicFramePr>
            <p:cNvPr id="14370" name="Object 309"/>
            <p:cNvGraphicFramePr>
              <a:graphicFrameLocks noChangeAspect="1"/>
            </p:cNvGraphicFramePr>
            <p:nvPr/>
          </p:nvGraphicFramePr>
          <p:xfrm>
            <a:off x="3515" y="799"/>
            <a:ext cx="265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2" imgW="173355" imgH="208280" progId="Equation.3">
                    <p:embed/>
                  </p:oleObj>
                </mc:Choice>
                <mc:Fallback>
                  <p:oleObj name="" r:id="rId2" imgW="173355" imgH="208280" progId="Equation.3">
                    <p:embed/>
                    <p:pic>
                      <p:nvPicPr>
                        <p:cNvPr id="0" name="20 3079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15" y="799"/>
                          <a:ext cx="265" cy="3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1" name="Object 310"/>
            <p:cNvGraphicFramePr>
              <a:graphicFrameLocks noChangeAspect="1"/>
            </p:cNvGraphicFramePr>
            <p:nvPr/>
          </p:nvGraphicFramePr>
          <p:xfrm>
            <a:off x="4150" y="709"/>
            <a:ext cx="266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4" imgW="173355" imgH="208280" progId="Equation.3">
                    <p:embed/>
                  </p:oleObj>
                </mc:Choice>
                <mc:Fallback>
                  <p:oleObj name="" r:id="rId4" imgW="173355" imgH="208280" progId="Equation.3">
                    <p:embed/>
                    <p:pic>
                      <p:nvPicPr>
                        <p:cNvPr id="0" name="20 3080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50" y="709"/>
                          <a:ext cx="266" cy="3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6327" name="Group 311"/>
          <p:cNvGrpSpPr/>
          <p:nvPr/>
        </p:nvGrpSpPr>
        <p:grpSpPr>
          <a:xfrm>
            <a:off x="827088" y="3573463"/>
            <a:ext cx="3168650" cy="1838325"/>
            <a:chOff x="521" y="2251"/>
            <a:chExt cx="1996" cy="1158"/>
          </a:xfrm>
        </p:grpSpPr>
        <p:grpSp>
          <p:nvGrpSpPr>
            <p:cNvPr id="14373" name="Group 312"/>
            <p:cNvGrpSpPr/>
            <p:nvPr/>
          </p:nvGrpSpPr>
          <p:grpSpPr>
            <a:xfrm>
              <a:off x="521" y="2251"/>
              <a:ext cx="1996" cy="1158"/>
              <a:chOff x="2971" y="644"/>
              <a:chExt cx="1996" cy="1158"/>
            </a:xfrm>
          </p:grpSpPr>
          <p:sp>
            <p:nvSpPr>
              <p:cNvPr id="14374" name="Line 313"/>
              <p:cNvSpPr/>
              <p:nvPr/>
            </p:nvSpPr>
            <p:spPr>
              <a:xfrm>
                <a:off x="4897" y="657"/>
                <a:ext cx="0" cy="1145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75" name="Oval 314"/>
              <p:cNvSpPr/>
              <p:nvPr/>
            </p:nvSpPr>
            <p:spPr>
              <a:xfrm>
                <a:off x="3787" y="1298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4376" name="Line 315"/>
              <p:cNvSpPr/>
              <p:nvPr/>
            </p:nvSpPr>
            <p:spPr>
              <a:xfrm>
                <a:off x="3969" y="644"/>
                <a:ext cx="0" cy="115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4377" name="Rectangle 316"/>
              <p:cNvSpPr/>
              <p:nvPr/>
            </p:nvSpPr>
            <p:spPr>
              <a:xfrm>
                <a:off x="3887" y="799"/>
                <a:ext cx="127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14378" name="Line 317"/>
              <p:cNvSpPr/>
              <p:nvPr/>
            </p:nvSpPr>
            <p:spPr>
              <a:xfrm>
                <a:off x="3037" y="657"/>
                <a:ext cx="0" cy="617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79" name="Text Box 318"/>
              <p:cNvSpPr txBox="1"/>
              <p:nvPr/>
            </p:nvSpPr>
            <p:spPr>
              <a:xfrm>
                <a:off x="3016" y="799"/>
                <a:ext cx="478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92075" tIns="46038" rIns="92075" bIns="46038" anchor="ctr" anchorCtr="0">
                <a:spAutoFit/>
              </a:bodyPr>
              <a:p>
                <a:pPr algn="ctr"/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G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80" name="Text Box 319"/>
              <p:cNvSpPr txBox="1"/>
              <p:nvPr/>
            </p:nvSpPr>
            <p:spPr>
              <a:xfrm>
                <a:off x="4468" y="754"/>
                <a:ext cx="427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92075" tIns="46038" rIns="92075" bIns="46038" anchor="ctr" anchorCtr="0">
                <a:spAutoFit/>
              </a:bodyPr>
              <a:p>
                <a:pPr algn="ctr"/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G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3</a:t>
                </a:r>
                <a:endParaRPr lang="en-US" altLang="zh-CN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81" name="Rectangle 320"/>
              <p:cNvSpPr/>
              <p:nvPr/>
            </p:nvSpPr>
            <p:spPr>
              <a:xfrm>
                <a:off x="4840" y="799"/>
                <a:ext cx="127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14382" name="Rectangle 321"/>
              <p:cNvSpPr/>
              <p:nvPr/>
            </p:nvSpPr>
            <p:spPr>
              <a:xfrm>
                <a:off x="2971" y="799"/>
                <a:ext cx="127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14383" name="Line 322"/>
              <p:cNvSpPr/>
              <p:nvPr/>
            </p:nvSpPr>
            <p:spPr>
              <a:xfrm>
                <a:off x="3842" y="700"/>
                <a:ext cx="0" cy="232"/>
              </a:xfrm>
              <a:prstGeom prst="line">
                <a:avLst/>
              </a:prstGeom>
              <a:ln w="28575" cap="flat" cmpd="sng">
                <a:solidFill>
                  <a:srgbClr val="66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4384" name="Line 323"/>
              <p:cNvSpPr/>
              <p:nvPr/>
            </p:nvSpPr>
            <p:spPr>
              <a:xfrm>
                <a:off x="4186" y="700"/>
                <a:ext cx="307" cy="0"/>
              </a:xfrm>
              <a:prstGeom prst="line">
                <a:avLst/>
              </a:prstGeom>
              <a:ln w="28575" cap="flat" cmpd="sng">
                <a:solidFill>
                  <a:srgbClr val="66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4385" name="Line 324"/>
              <p:cNvSpPr/>
              <p:nvPr/>
            </p:nvSpPr>
            <p:spPr>
              <a:xfrm>
                <a:off x="3037" y="657"/>
                <a:ext cx="1860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86" name="Line 325"/>
              <p:cNvSpPr/>
              <p:nvPr/>
            </p:nvSpPr>
            <p:spPr>
              <a:xfrm>
                <a:off x="3037" y="1802"/>
                <a:ext cx="1860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87" name="Line 326"/>
              <p:cNvSpPr/>
              <p:nvPr/>
            </p:nvSpPr>
            <p:spPr>
              <a:xfrm flipV="1">
                <a:off x="3037" y="1670"/>
                <a:ext cx="0" cy="132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88" name="Oval 327"/>
              <p:cNvSpPr/>
              <p:nvPr/>
            </p:nvSpPr>
            <p:spPr>
              <a:xfrm>
                <a:off x="2994" y="1583"/>
                <a:ext cx="87" cy="88"/>
              </a:xfrm>
              <a:prstGeom prst="ellipse">
                <a:avLst/>
              </a:prstGeom>
              <a:noFill/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14389" name="Oval 328"/>
              <p:cNvSpPr/>
              <p:nvPr/>
            </p:nvSpPr>
            <p:spPr>
              <a:xfrm>
                <a:off x="2994" y="1274"/>
                <a:ext cx="87" cy="88"/>
              </a:xfrm>
              <a:prstGeom prst="ellipse">
                <a:avLst/>
              </a:prstGeom>
              <a:noFill/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graphicFrame>
            <p:nvGraphicFramePr>
              <p:cNvPr id="14390" name="Object 329"/>
              <p:cNvGraphicFramePr>
                <a:graphicFrameLocks noChangeAspect="1"/>
              </p:cNvGraphicFramePr>
              <p:nvPr/>
            </p:nvGraphicFramePr>
            <p:xfrm>
              <a:off x="4150" y="709"/>
              <a:ext cx="288" cy="3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3" name="" r:id="rId6" imgW="185420" imgH="208280" progId="Equation.3">
                      <p:embed/>
                    </p:oleObj>
                  </mc:Choice>
                  <mc:Fallback>
                    <p:oleObj name="" r:id="rId6" imgW="185420" imgH="208280" progId="Equation.3">
                      <p:embed/>
                      <p:pic>
                        <p:nvPicPr>
                          <p:cNvPr id="0" name="20 3082"/>
                          <p:cNvPicPr/>
                          <p:nvPr/>
                        </p:nvPicPr>
                        <p:blipFill>
                          <a:blip r:embed="rId7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150" y="709"/>
                            <a:ext cx="288" cy="32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91" name="Object 330"/>
              <p:cNvGraphicFramePr>
                <a:graphicFrameLocks noChangeAspect="1"/>
              </p:cNvGraphicFramePr>
              <p:nvPr/>
            </p:nvGraphicFramePr>
            <p:xfrm>
              <a:off x="3560" y="799"/>
              <a:ext cx="288" cy="3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2" name="" r:id="rId8" imgW="185420" imgH="208280" progId="Equation.3">
                      <p:embed/>
                    </p:oleObj>
                  </mc:Choice>
                  <mc:Fallback>
                    <p:oleObj name="" r:id="rId8" imgW="185420" imgH="208280" progId="Equation.3">
                      <p:embed/>
                      <p:pic>
                        <p:nvPicPr>
                          <p:cNvPr id="0" name="20 3081"/>
                          <p:cNvPicPr/>
                          <p:nvPr/>
                        </p:nvPicPr>
                        <p:blipFill>
                          <a:blip r:embed="rId9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560" y="799"/>
                            <a:ext cx="288" cy="32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4392" name="Text Box 331"/>
            <p:cNvSpPr txBox="1"/>
            <p:nvPr/>
          </p:nvSpPr>
          <p:spPr>
            <a:xfrm>
              <a:off x="1701" y="2886"/>
              <a:ext cx="36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s2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93" name="Text Box 332"/>
            <p:cNvSpPr txBox="1"/>
            <p:nvPr/>
          </p:nvSpPr>
          <p:spPr>
            <a:xfrm>
              <a:off x="1610" y="2659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94" name="Text Box 333"/>
            <p:cNvSpPr txBox="1"/>
            <p:nvPr/>
          </p:nvSpPr>
          <p:spPr>
            <a:xfrm>
              <a:off x="1655" y="3067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–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6419" name="Group 403"/>
          <p:cNvGrpSpPr/>
          <p:nvPr/>
        </p:nvGrpSpPr>
        <p:grpSpPr>
          <a:xfrm>
            <a:off x="468313" y="684213"/>
            <a:ext cx="4103687" cy="1997075"/>
            <a:chOff x="5375" y="1415"/>
            <a:chExt cx="2404" cy="1218"/>
          </a:xfrm>
        </p:grpSpPr>
        <p:sp>
          <p:nvSpPr>
            <p:cNvPr id="14396" name="Oval 373"/>
            <p:cNvSpPr/>
            <p:nvPr/>
          </p:nvSpPr>
          <p:spPr>
            <a:xfrm>
              <a:off x="7101" y="2097"/>
              <a:ext cx="329" cy="34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4397" name="Oval 374"/>
            <p:cNvSpPr/>
            <p:nvPr/>
          </p:nvSpPr>
          <p:spPr>
            <a:xfrm>
              <a:off x="6239" y="2107"/>
              <a:ext cx="328" cy="34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4398" name="Rectangle 375"/>
            <p:cNvSpPr/>
            <p:nvPr/>
          </p:nvSpPr>
          <p:spPr>
            <a:xfrm>
              <a:off x="5540" y="1420"/>
              <a:ext cx="1726" cy="1158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4399" name="Line 376"/>
            <p:cNvSpPr/>
            <p:nvPr/>
          </p:nvSpPr>
          <p:spPr>
            <a:xfrm>
              <a:off x="6403" y="1420"/>
              <a:ext cx="0" cy="115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14400" name="Text Box 377"/>
            <p:cNvSpPr txBox="1"/>
            <p:nvPr/>
          </p:nvSpPr>
          <p:spPr>
            <a:xfrm>
              <a:off x="5498" y="1502"/>
              <a:ext cx="433" cy="31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401" name="Text Box 378"/>
            <p:cNvSpPr txBox="1"/>
            <p:nvPr/>
          </p:nvSpPr>
          <p:spPr>
            <a:xfrm>
              <a:off x="5619" y="1803"/>
              <a:ext cx="291" cy="31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s1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402" name="Text Box 379"/>
            <p:cNvSpPr txBox="1"/>
            <p:nvPr/>
          </p:nvSpPr>
          <p:spPr>
            <a:xfrm>
              <a:off x="6403" y="1501"/>
              <a:ext cx="378" cy="31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403" name="Text Box 380"/>
            <p:cNvSpPr txBox="1"/>
            <p:nvPr/>
          </p:nvSpPr>
          <p:spPr>
            <a:xfrm>
              <a:off x="6564" y="2059"/>
              <a:ext cx="337" cy="316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s2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404" name="Text Box 381"/>
            <p:cNvSpPr txBox="1"/>
            <p:nvPr/>
          </p:nvSpPr>
          <p:spPr>
            <a:xfrm>
              <a:off x="7266" y="1501"/>
              <a:ext cx="377" cy="31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405" name="Text Box 382"/>
            <p:cNvSpPr txBox="1"/>
            <p:nvPr/>
          </p:nvSpPr>
          <p:spPr>
            <a:xfrm>
              <a:off x="7389" y="2060"/>
              <a:ext cx="390" cy="316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s3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406" name="Line 383"/>
            <p:cNvSpPr/>
            <p:nvPr/>
          </p:nvSpPr>
          <p:spPr>
            <a:xfrm>
              <a:off x="6279" y="1506"/>
              <a:ext cx="0" cy="225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4407" name="Text Box 384"/>
            <p:cNvSpPr txBox="1"/>
            <p:nvPr/>
          </p:nvSpPr>
          <p:spPr>
            <a:xfrm>
              <a:off x="6029" y="1501"/>
              <a:ext cx="236" cy="31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408" name="Line 385"/>
            <p:cNvSpPr/>
            <p:nvPr/>
          </p:nvSpPr>
          <p:spPr>
            <a:xfrm>
              <a:off x="6773" y="1464"/>
              <a:ext cx="292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4409" name="Text Box 386"/>
            <p:cNvSpPr txBox="1"/>
            <p:nvPr/>
          </p:nvSpPr>
          <p:spPr>
            <a:xfrm>
              <a:off x="6812" y="1415"/>
              <a:ext cx="236" cy="31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410" name="Text Box 387"/>
            <p:cNvSpPr txBox="1"/>
            <p:nvPr/>
          </p:nvSpPr>
          <p:spPr>
            <a:xfrm>
              <a:off x="6481" y="1845"/>
              <a:ext cx="227" cy="31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411" name="Text Box 388"/>
            <p:cNvSpPr txBox="1"/>
            <p:nvPr/>
          </p:nvSpPr>
          <p:spPr>
            <a:xfrm>
              <a:off x="6482" y="2315"/>
              <a:ext cx="212" cy="31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–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412" name="Text Box 389"/>
            <p:cNvSpPr txBox="1"/>
            <p:nvPr/>
          </p:nvSpPr>
          <p:spPr>
            <a:xfrm>
              <a:off x="7347" y="1846"/>
              <a:ext cx="226" cy="31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413" name="Text Box 390"/>
            <p:cNvSpPr txBox="1"/>
            <p:nvPr/>
          </p:nvSpPr>
          <p:spPr>
            <a:xfrm>
              <a:off x="7345" y="2316"/>
              <a:ext cx="212" cy="31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–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414" name="Rectangle 394"/>
            <p:cNvSpPr/>
            <p:nvPr/>
          </p:nvSpPr>
          <p:spPr>
            <a:xfrm>
              <a:off x="7192" y="1550"/>
              <a:ext cx="115" cy="3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4415" name="Rectangle 395"/>
            <p:cNvSpPr/>
            <p:nvPr/>
          </p:nvSpPr>
          <p:spPr>
            <a:xfrm>
              <a:off x="6321" y="1550"/>
              <a:ext cx="115" cy="3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4416" name="Rectangle 396"/>
            <p:cNvSpPr/>
            <p:nvPr/>
          </p:nvSpPr>
          <p:spPr>
            <a:xfrm>
              <a:off x="5457" y="1550"/>
              <a:ext cx="116" cy="3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14417" name="Group 397"/>
            <p:cNvGrpSpPr/>
            <p:nvPr/>
          </p:nvGrpSpPr>
          <p:grpSpPr>
            <a:xfrm>
              <a:off x="5375" y="1893"/>
              <a:ext cx="329" cy="557"/>
              <a:chOff x="2336" y="2568"/>
              <a:chExt cx="363" cy="590"/>
            </a:xfrm>
          </p:grpSpPr>
          <p:grpSp>
            <p:nvGrpSpPr>
              <p:cNvPr id="14418" name="Group 398"/>
              <p:cNvGrpSpPr/>
              <p:nvPr/>
            </p:nvGrpSpPr>
            <p:grpSpPr>
              <a:xfrm>
                <a:off x="2336" y="2795"/>
                <a:ext cx="363" cy="363"/>
                <a:chOff x="4785" y="709"/>
                <a:chExt cx="363" cy="363"/>
              </a:xfrm>
            </p:grpSpPr>
            <p:sp>
              <p:nvSpPr>
                <p:cNvPr id="14419" name="Oval 399"/>
                <p:cNvSpPr/>
                <p:nvPr/>
              </p:nvSpPr>
              <p:spPr>
                <a:xfrm>
                  <a:off x="4785" y="709"/>
                  <a:ext cx="363" cy="36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FF"/>
                    </a:gs>
                    <a:gs pos="100000">
                      <a:srgbClr val="004776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endParaRPr lang="zh-CN" altLang="zh-CN" sz="2400" b="0" dirty="0">
                    <a:latin typeface="Arial" panose="020B0604020202020204" pitchFamily="34" charset="0"/>
                    <a:ea typeface="仿宋_GB2312" pitchFamily="49" charset="-122"/>
                  </a:endParaRPr>
                </a:p>
              </p:txBody>
            </p:sp>
            <p:sp>
              <p:nvSpPr>
                <p:cNvPr id="14420" name="Line 400"/>
                <p:cNvSpPr/>
                <p:nvPr/>
              </p:nvSpPr>
              <p:spPr>
                <a:xfrm>
                  <a:off x="4785" y="890"/>
                  <a:ext cx="363" cy="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4421" name="Line 401"/>
              <p:cNvSpPr/>
              <p:nvPr/>
            </p:nvSpPr>
            <p:spPr>
              <a:xfrm flipV="1">
                <a:off x="2517" y="2568"/>
                <a:ext cx="0" cy="227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round/>
                <a:headEnd type="none" w="med" len="med"/>
                <a:tailEnd type="triangle" w="med" len="lg"/>
              </a:ln>
            </p:spPr>
          </p:sp>
        </p:grpSp>
      </p:grpSp>
      <p:grpSp>
        <p:nvGrpSpPr>
          <p:cNvPr id="86425" name="Group 409"/>
          <p:cNvGrpSpPr/>
          <p:nvPr/>
        </p:nvGrpSpPr>
        <p:grpSpPr>
          <a:xfrm>
            <a:off x="5003800" y="692150"/>
            <a:ext cx="3960813" cy="1879600"/>
            <a:chOff x="3152" y="436"/>
            <a:chExt cx="2495" cy="1184"/>
          </a:xfrm>
        </p:grpSpPr>
        <p:graphicFrame>
          <p:nvGraphicFramePr>
            <p:cNvPr id="14423" name="Object 241"/>
            <p:cNvGraphicFramePr>
              <a:graphicFrameLocks noChangeAspect="1"/>
            </p:cNvGraphicFramePr>
            <p:nvPr/>
          </p:nvGraphicFramePr>
          <p:xfrm>
            <a:off x="3858" y="527"/>
            <a:ext cx="246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10" imgW="161925" imgH="208280" progId="Equation.3">
                    <p:embed/>
                  </p:oleObj>
                </mc:Choice>
                <mc:Fallback>
                  <p:oleObj name="" r:id="rId10" imgW="161925" imgH="208280" progId="Equation.3">
                    <p:embed/>
                    <p:pic>
                      <p:nvPicPr>
                        <p:cNvPr id="0" name="20 3084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58" y="527"/>
                          <a:ext cx="246" cy="3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424" name="Object 242"/>
            <p:cNvGraphicFramePr>
              <a:graphicFrameLocks noChangeAspect="1"/>
            </p:cNvGraphicFramePr>
            <p:nvPr/>
          </p:nvGraphicFramePr>
          <p:xfrm>
            <a:off x="4765" y="482"/>
            <a:ext cx="245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12" imgW="161925" imgH="208280" progId="Equation.3">
                    <p:embed/>
                  </p:oleObj>
                </mc:Choice>
                <mc:Fallback>
                  <p:oleObj name="" r:id="rId12" imgW="161925" imgH="208280" progId="Equation.3">
                    <p:embed/>
                    <p:pic>
                      <p:nvPicPr>
                        <p:cNvPr id="0" name="20 3083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65" y="482"/>
                          <a:ext cx="245" cy="3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25" name="Rectangle 245"/>
            <p:cNvSpPr/>
            <p:nvPr/>
          </p:nvSpPr>
          <p:spPr>
            <a:xfrm>
              <a:off x="3334" y="436"/>
              <a:ext cx="1905" cy="1184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4426" name="Line 246"/>
            <p:cNvSpPr/>
            <p:nvPr/>
          </p:nvSpPr>
          <p:spPr>
            <a:xfrm>
              <a:off x="4267" y="436"/>
              <a:ext cx="0" cy="118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14427" name="Text Box 247"/>
            <p:cNvSpPr txBox="1"/>
            <p:nvPr/>
          </p:nvSpPr>
          <p:spPr>
            <a:xfrm>
              <a:off x="3315" y="527"/>
              <a:ext cx="47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428" name="Text Box 248"/>
            <p:cNvSpPr txBox="1"/>
            <p:nvPr/>
          </p:nvSpPr>
          <p:spPr>
            <a:xfrm>
              <a:off x="3379" y="845"/>
              <a:ext cx="31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s1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429" name="Text Box 249"/>
            <p:cNvSpPr txBox="1"/>
            <p:nvPr/>
          </p:nvSpPr>
          <p:spPr>
            <a:xfrm>
              <a:off x="4267" y="527"/>
              <a:ext cx="37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430" name="Text Box 251"/>
            <p:cNvSpPr txBox="1"/>
            <p:nvPr/>
          </p:nvSpPr>
          <p:spPr>
            <a:xfrm>
              <a:off x="5220" y="527"/>
              <a:ext cx="4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431" name="Line 254"/>
            <p:cNvSpPr/>
            <p:nvPr/>
          </p:nvSpPr>
          <p:spPr>
            <a:xfrm>
              <a:off x="4131" y="527"/>
              <a:ext cx="0" cy="23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4432" name="Line 255"/>
            <p:cNvSpPr/>
            <p:nvPr/>
          </p:nvSpPr>
          <p:spPr>
            <a:xfrm>
              <a:off x="4676" y="482"/>
              <a:ext cx="322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4433" name="Rectangle 262"/>
            <p:cNvSpPr/>
            <p:nvPr/>
          </p:nvSpPr>
          <p:spPr>
            <a:xfrm>
              <a:off x="5138" y="57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4434" name="Rectangle 263"/>
            <p:cNvSpPr/>
            <p:nvPr/>
          </p:nvSpPr>
          <p:spPr>
            <a:xfrm>
              <a:off x="4177" y="57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4435" name="Rectangle 264"/>
            <p:cNvSpPr/>
            <p:nvPr/>
          </p:nvSpPr>
          <p:spPr>
            <a:xfrm>
              <a:off x="3269" y="57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14436" name="Group 404"/>
            <p:cNvGrpSpPr/>
            <p:nvPr/>
          </p:nvGrpSpPr>
          <p:grpSpPr>
            <a:xfrm>
              <a:off x="3152" y="935"/>
              <a:ext cx="363" cy="590"/>
              <a:chOff x="2336" y="2568"/>
              <a:chExt cx="363" cy="590"/>
            </a:xfrm>
          </p:grpSpPr>
          <p:grpSp>
            <p:nvGrpSpPr>
              <p:cNvPr id="14437" name="Group 405"/>
              <p:cNvGrpSpPr/>
              <p:nvPr/>
            </p:nvGrpSpPr>
            <p:grpSpPr>
              <a:xfrm>
                <a:off x="2336" y="2795"/>
                <a:ext cx="363" cy="363"/>
                <a:chOff x="4785" y="709"/>
                <a:chExt cx="363" cy="363"/>
              </a:xfrm>
            </p:grpSpPr>
            <p:sp>
              <p:nvSpPr>
                <p:cNvPr id="14438" name="Oval 406"/>
                <p:cNvSpPr/>
                <p:nvPr/>
              </p:nvSpPr>
              <p:spPr>
                <a:xfrm>
                  <a:off x="4785" y="709"/>
                  <a:ext cx="363" cy="36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FF"/>
                    </a:gs>
                    <a:gs pos="100000">
                      <a:srgbClr val="004776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endParaRPr lang="zh-CN" altLang="zh-CN" sz="2400" b="0" dirty="0">
                    <a:latin typeface="Arial" panose="020B0604020202020204" pitchFamily="34" charset="0"/>
                    <a:ea typeface="仿宋_GB2312" pitchFamily="49" charset="-122"/>
                  </a:endParaRPr>
                </a:p>
              </p:txBody>
            </p:sp>
            <p:sp>
              <p:nvSpPr>
                <p:cNvPr id="14439" name="Line 407"/>
                <p:cNvSpPr/>
                <p:nvPr/>
              </p:nvSpPr>
              <p:spPr>
                <a:xfrm>
                  <a:off x="4785" y="890"/>
                  <a:ext cx="363" cy="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4440" name="Line 408"/>
              <p:cNvSpPr/>
              <p:nvPr/>
            </p:nvSpPr>
            <p:spPr>
              <a:xfrm flipV="1">
                <a:off x="2517" y="2568"/>
                <a:ext cx="0" cy="227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round/>
                <a:headEnd type="none" w="med" len="med"/>
                <a:tailEnd type="triangle" w="med" len="lg"/>
              </a:ln>
            </p:spPr>
          </p:sp>
        </p:grpSp>
      </p:grpSp>
      <p:grpSp>
        <p:nvGrpSpPr>
          <p:cNvPr id="14441" name="Group 410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14442" name="Picture 41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443" name="Text Box 412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6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6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70" decel="100000"/>
                                        <p:tgtEl>
                                          <p:spTgt spid="860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770" decel="100000"/>
                                        <p:tgtEl>
                                          <p:spTgt spid="8607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607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0" dur="770" fill="hold"/>
                                        <p:tgtEl>
                                          <p:spTgt spid="86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6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2" dur="770" fill="hold"/>
                                        <p:tgtEl>
                                          <p:spTgt spid="86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6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6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8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6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6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6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6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85" decel="100000"/>
                                        <p:tgtEl>
                                          <p:spTgt spid="861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385" decel="100000"/>
                                        <p:tgtEl>
                                          <p:spTgt spid="8614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3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8614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4" dur="385" fill="hold"/>
                                        <p:tgtEl>
                                          <p:spTgt spid="86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5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86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6" dur="385" fill="hold"/>
                                        <p:tgtEl>
                                          <p:spTgt spid="86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7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86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86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6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6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52" grpId="0" animBg="1"/>
      <p:bldP spid="86073" grpId="0" animBg="1"/>
      <p:bldP spid="86074" grpId="0"/>
      <p:bldP spid="86142" grpId="0"/>
      <p:bldP spid="86143" grpId="0" animBg="1"/>
      <p:bldP spid="86144" grpId="0" animBg="1"/>
      <p:bldP spid="861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567" name="Text Box 175"/>
          <p:cNvSpPr txBox="1"/>
          <p:nvPr/>
        </p:nvSpPr>
        <p:spPr>
          <a:xfrm>
            <a:off x="611188" y="476250"/>
            <a:ext cx="7704137" cy="1117600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ctr" anchorCtr="0">
            <a:spAutoFit/>
          </a:bodyPr>
          <a:p>
            <a:pPr marL="342900" indent="-342900">
              <a:lnSpc>
                <a:spcPct val="120000"/>
              </a:lnSpc>
              <a:buAutoNum type="circleNumDbPlain" startAt="3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功率不能叠加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功率为电压和电流的乘积，为电源的二次函数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9568" name="Text Box 176"/>
          <p:cNvSpPr txBox="1"/>
          <p:nvPr/>
        </p:nvSpPr>
        <p:spPr>
          <a:xfrm>
            <a:off x="611188" y="1557338"/>
            <a:ext cx="6530975" cy="519112"/>
          </a:xfrm>
          <a:prstGeom prst="rect">
            <a:avLst/>
          </a:prstGeom>
          <a:noFill/>
          <a:ln w="12700">
            <a:noFill/>
          </a:ln>
        </p:spPr>
        <p:txBody>
          <a:bodyPr wrap="none" lIns="92075" tIns="46038" rIns="92075" bIns="46038" anchor="ctr" anchorCtr="0">
            <a:spAutoFit/>
          </a:bodyPr>
          <a:p>
            <a:pPr marL="342900" indent="-342900" algn="ctr">
              <a:buAutoNum type="circleNumDbPlain" startAt="4"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b="0" i="1" dirty="0">
                <a:latin typeface="Times New Roman" panose="02020603050405020304" pitchFamily="18" charset="0"/>
                <a:ea typeface="楷体_GB2312" pitchFamily="49" charset="-122"/>
              </a:rPr>
              <a:t>u,  i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叠加时要注意各分量的参考方向。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9569" name="Text Box 177"/>
          <p:cNvSpPr txBox="1"/>
          <p:nvPr/>
        </p:nvSpPr>
        <p:spPr>
          <a:xfrm>
            <a:off x="611188" y="2060575"/>
            <a:ext cx="7696200" cy="1117600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ctr" anchorCtr="0">
            <a:spAutoFit/>
          </a:bodyPr>
          <a:p>
            <a:pPr marL="342900" indent="-342900" algn="just">
              <a:lnSpc>
                <a:spcPct val="120000"/>
              </a:lnSpc>
              <a:buAutoNum type="circleNumDbPlain" startAt="5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含受控源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线性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电路亦可用叠加，但受控源应始终保留。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5364" name="Group 18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5365" name="Picture 18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366" name="Text Box 18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5367" name="Group 18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5368" name="Picture 18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369" name="Text Box 18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59582" name="Text Box 190"/>
          <p:cNvSpPr txBox="1"/>
          <p:nvPr/>
        </p:nvSpPr>
        <p:spPr>
          <a:xfrm>
            <a:off x="611188" y="3213100"/>
            <a:ext cx="3744912" cy="579438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ctr" anchorCtr="0">
            <a:spAutoFit/>
          </a:bodyPr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4.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叠加定理的应用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9583" name="Text Box 191"/>
          <p:cNvSpPr txBox="1"/>
          <p:nvPr/>
        </p:nvSpPr>
        <p:spPr>
          <a:xfrm>
            <a:off x="1116013" y="3786188"/>
            <a:ext cx="3887787" cy="6048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求电压源的电流及功率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9584" name="Text Box 192"/>
          <p:cNvSpPr txBox="1"/>
          <p:nvPr/>
        </p:nvSpPr>
        <p:spPr>
          <a:xfrm>
            <a:off x="323850" y="3857625"/>
            <a:ext cx="863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9615" name="Group 223"/>
          <p:cNvGrpSpPr/>
          <p:nvPr/>
        </p:nvGrpSpPr>
        <p:grpSpPr>
          <a:xfrm>
            <a:off x="4714875" y="3997325"/>
            <a:ext cx="4321175" cy="1879600"/>
            <a:chOff x="3016" y="2564"/>
            <a:chExt cx="2722" cy="1184"/>
          </a:xfrm>
        </p:grpSpPr>
        <p:sp>
          <p:nvSpPr>
            <p:cNvPr id="15374" name="Oval 194"/>
            <p:cNvSpPr/>
            <p:nvPr/>
          </p:nvSpPr>
          <p:spPr>
            <a:xfrm>
              <a:off x="4468" y="297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5375" name="Rectangle 195"/>
            <p:cNvSpPr/>
            <p:nvPr/>
          </p:nvSpPr>
          <p:spPr>
            <a:xfrm>
              <a:off x="3198" y="2564"/>
              <a:ext cx="1950" cy="1184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pPr algn="ctr"/>
              <a:endParaRPr lang="zh-CN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5376" name="Line 196"/>
            <p:cNvSpPr/>
            <p:nvPr/>
          </p:nvSpPr>
          <p:spPr>
            <a:xfrm>
              <a:off x="4195" y="2564"/>
              <a:ext cx="0" cy="118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15377" name="Text Box 197"/>
            <p:cNvSpPr txBox="1"/>
            <p:nvPr/>
          </p:nvSpPr>
          <p:spPr>
            <a:xfrm>
              <a:off x="3718" y="2745"/>
              <a:ext cx="47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5378" name="Text Box 198"/>
            <p:cNvSpPr txBox="1"/>
            <p:nvPr/>
          </p:nvSpPr>
          <p:spPr>
            <a:xfrm>
              <a:off x="3216" y="2795"/>
              <a:ext cx="3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2A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5379" name="Line 199"/>
            <p:cNvSpPr/>
            <p:nvPr/>
          </p:nvSpPr>
          <p:spPr>
            <a:xfrm>
              <a:off x="4468" y="3380"/>
              <a:ext cx="40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5380" name="Text Box 200"/>
            <p:cNvSpPr txBox="1"/>
            <p:nvPr/>
          </p:nvSpPr>
          <p:spPr>
            <a:xfrm>
              <a:off x="4377" y="2700"/>
              <a:ext cx="50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70V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5381" name="Line 201"/>
            <p:cNvSpPr/>
            <p:nvPr/>
          </p:nvSpPr>
          <p:spPr>
            <a:xfrm>
              <a:off x="4196" y="3153"/>
              <a:ext cx="95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15382" name="Text Box 202"/>
            <p:cNvSpPr txBox="1"/>
            <p:nvPr/>
          </p:nvSpPr>
          <p:spPr>
            <a:xfrm>
              <a:off x="5081" y="2654"/>
              <a:ext cx="65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5383" name="Text Box 203"/>
            <p:cNvSpPr txBox="1"/>
            <p:nvPr/>
          </p:nvSpPr>
          <p:spPr>
            <a:xfrm>
              <a:off x="5124" y="3289"/>
              <a:ext cx="47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5384" name="Text Box 204"/>
            <p:cNvSpPr txBox="1"/>
            <p:nvPr/>
          </p:nvSpPr>
          <p:spPr>
            <a:xfrm>
              <a:off x="3697" y="3289"/>
              <a:ext cx="47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5385" name="Text Box 205"/>
            <p:cNvSpPr txBox="1"/>
            <p:nvPr/>
          </p:nvSpPr>
          <p:spPr>
            <a:xfrm>
              <a:off x="4286" y="2881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5386" name="Text Box 206"/>
            <p:cNvSpPr txBox="1"/>
            <p:nvPr/>
          </p:nvSpPr>
          <p:spPr>
            <a:xfrm>
              <a:off x="4831" y="2881"/>
              <a:ext cx="34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－</a:t>
              </a:r>
              <a:endParaRPr lang="zh-CN" altLang="en-US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5387" name="Text Box 207"/>
            <p:cNvSpPr txBox="1"/>
            <p:nvPr/>
          </p:nvSpPr>
          <p:spPr>
            <a:xfrm>
              <a:off x="4559" y="3380"/>
              <a:ext cx="19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lang="en-US" altLang="zh-CN" b="0" i="1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5388" name="Line 208"/>
            <p:cNvSpPr/>
            <p:nvPr/>
          </p:nvSpPr>
          <p:spPr>
            <a:xfrm flipV="1">
              <a:off x="3198" y="2795"/>
              <a:ext cx="0" cy="31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5389" name="Rectangle 209"/>
            <p:cNvSpPr/>
            <p:nvPr/>
          </p:nvSpPr>
          <p:spPr>
            <a:xfrm>
              <a:off x="5067" y="328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5390" name="Rectangle 210"/>
            <p:cNvSpPr/>
            <p:nvPr/>
          </p:nvSpPr>
          <p:spPr>
            <a:xfrm>
              <a:off x="5067" y="270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5391" name="Rectangle 211"/>
            <p:cNvSpPr/>
            <p:nvPr/>
          </p:nvSpPr>
          <p:spPr>
            <a:xfrm>
              <a:off x="4114" y="328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5392" name="Rectangle 212"/>
            <p:cNvSpPr/>
            <p:nvPr/>
          </p:nvSpPr>
          <p:spPr>
            <a:xfrm>
              <a:off x="4114" y="270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15393" name="Group 213"/>
            <p:cNvGrpSpPr/>
            <p:nvPr/>
          </p:nvGrpSpPr>
          <p:grpSpPr>
            <a:xfrm>
              <a:off x="3016" y="3112"/>
              <a:ext cx="363" cy="363"/>
              <a:chOff x="4785" y="709"/>
              <a:chExt cx="363" cy="363"/>
            </a:xfrm>
          </p:grpSpPr>
          <p:sp>
            <p:nvSpPr>
              <p:cNvPr id="15394" name="Oval 214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5395" name="Line 215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59608" name="Text Box 216"/>
          <p:cNvSpPr txBox="1"/>
          <p:nvPr/>
        </p:nvSpPr>
        <p:spPr>
          <a:xfrm>
            <a:off x="611188" y="4797425"/>
            <a:ext cx="576262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611" name="Text Box 219"/>
          <p:cNvSpPr txBox="1"/>
          <p:nvPr/>
        </p:nvSpPr>
        <p:spPr>
          <a:xfrm>
            <a:off x="1403350" y="4797425"/>
            <a:ext cx="295275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画出分电路图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15398" name="Group 224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15399" name="Picture 22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400" name="Text Box 226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59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9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"/>
                                        <p:tgtEl>
                                          <p:spTgt spid="59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9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9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9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9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9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59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59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9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9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9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9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9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67" grpId="0"/>
      <p:bldP spid="59568" grpId="0"/>
      <p:bldP spid="59569" grpId="0"/>
      <p:bldP spid="59582" grpId="0"/>
      <p:bldP spid="59583" grpId="0"/>
      <p:bldP spid="59584" grpId="0"/>
      <p:bldP spid="59608" grpId="0" animBg="1"/>
      <p:bldP spid="596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210" name="Text Box 26"/>
          <p:cNvSpPr txBox="1"/>
          <p:nvPr/>
        </p:nvSpPr>
        <p:spPr>
          <a:xfrm>
            <a:off x="4716463" y="1125538"/>
            <a:ext cx="720725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4400" b="0" dirty="0">
                <a:solidFill>
                  <a:srgbClr val="FF3300"/>
                </a:solidFill>
                <a:latin typeface="Arial" panose="020B0604020202020204" pitchFamily="34" charset="0"/>
                <a:ea typeface="仿宋_GB2312" pitchFamily="49" charset="-122"/>
              </a:rPr>
              <a:t>＋</a:t>
            </a:r>
            <a:endParaRPr lang="zh-CN" altLang="en-US" sz="4400" b="0" dirty="0">
              <a:solidFill>
                <a:srgbClr val="FF3300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93211" name="Text Box 27"/>
          <p:cNvSpPr txBox="1"/>
          <p:nvPr/>
        </p:nvSpPr>
        <p:spPr>
          <a:xfrm>
            <a:off x="684213" y="2781300"/>
            <a:ext cx="5183187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2A</a:t>
            </a: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电流源作用，电桥平衡：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93212" name="Object 28"/>
          <p:cNvGraphicFramePr>
            <a:graphicFrameLocks noChangeAspect="1"/>
          </p:cNvGraphicFramePr>
          <p:nvPr/>
        </p:nvGraphicFramePr>
        <p:xfrm>
          <a:off x="1331913" y="3357563"/>
          <a:ext cx="11795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451485" imgH="173355" progId="Equation.3">
                  <p:embed/>
                </p:oleObj>
              </mc:Choice>
              <mc:Fallback>
                <p:oleObj name="" r:id="rId1" imgW="451485" imgH="173355" progId="Equation.3">
                  <p:embed/>
                  <p:pic>
                    <p:nvPicPr>
                      <p:cNvPr id="0" name="20 307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3357563"/>
                        <a:ext cx="1179512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13" name="Text Box 29"/>
          <p:cNvSpPr txBox="1"/>
          <p:nvPr/>
        </p:nvSpPr>
        <p:spPr>
          <a:xfrm>
            <a:off x="682625" y="4005263"/>
            <a:ext cx="338455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70V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电压源作用：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3214" name="Object 30"/>
          <p:cNvGraphicFramePr>
            <a:graphicFrameLocks noChangeAspect="1"/>
          </p:cNvGraphicFramePr>
          <p:nvPr/>
        </p:nvGraphicFramePr>
        <p:xfrm>
          <a:off x="3563938" y="4005263"/>
          <a:ext cx="39608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1678305" imgH="173355" progId="Equation.3">
                  <p:embed/>
                </p:oleObj>
              </mc:Choice>
              <mc:Fallback>
                <p:oleObj name="" r:id="rId3" imgW="1678305" imgH="173355" progId="Equation.3">
                  <p:embed/>
                  <p:pic>
                    <p:nvPicPr>
                      <p:cNvPr id="0" name="20 307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63938" y="4005263"/>
                        <a:ext cx="3960812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56" name="Object 72"/>
          <p:cNvGraphicFramePr>
            <a:graphicFrameLocks noChangeAspect="1"/>
          </p:cNvGraphicFramePr>
          <p:nvPr/>
        </p:nvGraphicFramePr>
        <p:xfrm>
          <a:off x="755650" y="4652963"/>
          <a:ext cx="29527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1226820" imgH="173355" progId="Equation.3">
                  <p:embed/>
                </p:oleObj>
              </mc:Choice>
              <mc:Fallback>
                <p:oleObj name="" r:id="rId5" imgW="1226820" imgH="173355" progId="Equation.3">
                  <p:embed/>
                  <p:pic>
                    <p:nvPicPr>
                      <p:cNvPr id="0" name="20 308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5650" y="4652963"/>
                        <a:ext cx="2952750" cy="465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1" name="Group 7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6392" name="Picture 76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393" name="Text Box 7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6394" name="Group 78"/>
          <p:cNvGrpSpPr/>
          <p:nvPr/>
        </p:nvGrpSpPr>
        <p:grpSpPr>
          <a:xfrm>
            <a:off x="7451725" y="6446838"/>
            <a:ext cx="792163" cy="366712"/>
            <a:chOff x="4649" y="4020"/>
            <a:chExt cx="499" cy="231"/>
          </a:xfrm>
        </p:grpSpPr>
        <p:pic>
          <p:nvPicPr>
            <p:cNvPr id="16395" name="Picture 79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396" name="Text Box 8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93316" name="Group 132"/>
          <p:cNvGrpSpPr/>
          <p:nvPr/>
        </p:nvGrpSpPr>
        <p:grpSpPr>
          <a:xfrm>
            <a:off x="684213" y="692150"/>
            <a:ext cx="4248150" cy="1879600"/>
            <a:chOff x="431" y="436"/>
            <a:chExt cx="2676" cy="1184"/>
          </a:xfrm>
        </p:grpSpPr>
        <p:sp>
          <p:nvSpPr>
            <p:cNvPr id="16398" name="Text Box 82"/>
            <p:cNvSpPr txBox="1"/>
            <p:nvPr/>
          </p:nvSpPr>
          <p:spPr>
            <a:xfrm>
              <a:off x="1809" y="708"/>
              <a:ext cx="42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 </a:t>
              </a:r>
              <a:r>
                <a:rPr lang="en-US" altLang="zh-CN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(1)</a:t>
              </a:r>
              <a:endParaRPr lang="en-US" altLang="zh-CN" b="0" i="1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6399" name="Rectangle 83"/>
            <p:cNvSpPr/>
            <p:nvPr/>
          </p:nvSpPr>
          <p:spPr>
            <a:xfrm>
              <a:off x="612" y="436"/>
              <a:ext cx="1905" cy="1184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pPr algn="ctr"/>
              <a:endParaRPr lang="zh-CN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6400" name="Line 84"/>
            <p:cNvSpPr/>
            <p:nvPr/>
          </p:nvSpPr>
          <p:spPr>
            <a:xfrm>
              <a:off x="1564" y="436"/>
              <a:ext cx="0" cy="118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16401" name="Text Box 85"/>
            <p:cNvSpPr txBox="1"/>
            <p:nvPr/>
          </p:nvSpPr>
          <p:spPr>
            <a:xfrm>
              <a:off x="1087" y="617"/>
              <a:ext cx="47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6402" name="Text Box 86"/>
            <p:cNvSpPr txBox="1"/>
            <p:nvPr/>
          </p:nvSpPr>
          <p:spPr>
            <a:xfrm>
              <a:off x="630" y="563"/>
              <a:ext cx="3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2A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6403" name="Line 87"/>
            <p:cNvSpPr/>
            <p:nvPr/>
          </p:nvSpPr>
          <p:spPr>
            <a:xfrm>
              <a:off x="1837" y="1071"/>
              <a:ext cx="40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6404" name="Line 88"/>
            <p:cNvSpPr/>
            <p:nvPr/>
          </p:nvSpPr>
          <p:spPr>
            <a:xfrm>
              <a:off x="1565" y="1025"/>
              <a:ext cx="95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16405" name="Text Box 89"/>
            <p:cNvSpPr txBox="1"/>
            <p:nvPr/>
          </p:nvSpPr>
          <p:spPr>
            <a:xfrm>
              <a:off x="2450" y="526"/>
              <a:ext cx="65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6406" name="Text Box 90"/>
            <p:cNvSpPr txBox="1"/>
            <p:nvPr/>
          </p:nvSpPr>
          <p:spPr>
            <a:xfrm>
              <a:off x="2493" y="1161"/>
              <a:ext cx="47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6407" name="Text Box 91"/>
            <p:cNvSpPr txBox="1"/>
            <p:nvPr/>
          </p:nvSpPr>
          <p:spPr>
            <a:xfrm>
              <a:off x="1066" y="1161"/>
              <a:ext cx="47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6408" name="Line 92"/>
            <p:cNvSpPr/>
            <p:nvPr/>
          </p:nvSpPr>
          <p:spPr>
            <a:xfrm flipV="1">
              <a:off x="612" y="572"/>
              <a:ext cx="0" cy="31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6409" name="Rectangle 93"/>
            <p:cNvSpPr/>
            <p:nvPr/>
          </p:nvSpPr>
          <p:spPr>
            <a:xfrm>
              <a:off x="2436" y="116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6410" name="Rectangle 94"/>
            <p:cNvSpPr/>
            <p:nvPr/>
          </p:nvSpPr>
          <p:spPr>
            <a:xfrm>
              <a:off x="2436" y="57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6411" name="Rectangle 95"/>
            <p:cNvSpPr/>
            <p:nvPr/>
          </p:nvSpPr>
          <p:spPr>
            <a:xfrm>
              <a:off x="1483" y="116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6412" name="Rectangle 96"/>
            <p:cNvSpPr/>
            <p:nvPr/>
          </p:nvSpPr>
          <p:spPr>
            <a:xfrm>
              <a:off x="1483" y="57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16413" name="Group 97"/>
            <p:cNvGrpSpPr/>
            <p:nvPr/>
          </p:nvGrpSpPr>
          <p:grpSpPr>
            <a:xfrm>
              <a:off x="431" y="889"/>
              <a:ext cx="363" cy="363"/>
              <a:chOff x="4785" y="709"/>
              <a:chExt cx="363" cy="363"/>
            </a:xfrm>
          </p:grpSpPr>
          <p:sp>
            <p:nvSpPr>
              <p:cNvPr id="16414" name="Oval 98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6415" name="Line 99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93284" name="Group 100"/>
          <p:cNvGrpSpPr/>
          <p:nvPr/>
        </p:nvGrpSpPr>
        <p:grpSpPr>
          <a:xfrm>
            <a:off x="5364163" y="692150"/>
            <a:ext cx="3240087" cy="1879600"/>
            <a:chOff x="3561" y="2296"/>
            <a:chExt cx="2041" cy="1184"/>
          </a:xfrm>
        </p:grpSpPr>
        <p:sp>
          <p:nvSpPr>
            <p:cNvPr id="16417" name="Oval 101"/>
            <p:cNvSpPr/>
            <p:nvPr/>
          </p:nvSpPr>
          <p:spPr>
            <a:xfrm>
              <a:off x="4332" y="270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6418" name="Rectangle 102"/>
            <p:cNvSpPr/>
            <p:nvPr/>
          </p:nvSpPr>
          <p:spPr>
            <a:xfrm>
              <a:off x="4059" y="2296"/>
              <a:ext cx="953" cy="1184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pPr algn="ctr"/>
              <a:endParaRPr lang="zh-CN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6419" name="Text Box 103"/>
            <p:cNvSpPr txBox="1"/>
            <p:nvPr/>
          </p:nvSpPr>
          <p:spPr>
            <a:xfrm>
              <a:off x="3582" y="2477"/>
              <a:ext cx="47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6420" name="Line 104"/>
            <p:cNvSpPr/>
            <p:nvPr/>
          </p:nvSpPr>
          <p:spPr>
            <a:xfrm>
              <a:off x="4332" y="3112"/>
              <a:ext cx="40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6421" name="Text Box 105"/>
            <p:cNvSpPr txBox="1"/>
            <p:nvPr/>
          </p:nvSpPr>
          <p:spPr>
            <a:xfrm>
              <a:off x="4241" y="2432"/>
              <a:ext cx="50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70V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6422" name="Line 106"/>
            <p:cNvSpPr/>
            <p:nvPr/>
          </p:nvSpPr>
          <p:spPr>
            <a:xfrm>
              <a:off x="4060" y="2885"/>
              <a:ext cx="95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16423" name="Text Box 107"/>
            <p:cNvSpPr txBox="1"/>
            <p:nvPr/>
          </p:nvSpPr>
          <p:spPr>
            <a:xfrm>
              <a:off x="4945" y="2386"/>
              <a:ext cx="65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6424" name="Text Box 108"/>
            <p:cNvSpPr txBox="1"/>
            <p:nvPr/>
          </p:nvSpPr>
          <p:spPr>
            <a:xfrm>
              <a:off x="4988" y="3021"/>
              <a:ext cx="47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6425" name="Text Box 109"/>
            <p:cNvSpPr txBox="1"/>
            <p:nvPr/>
          </p:nvSpPr>
          <p:spPr>
            <a:xfrm>
              <a:off x="3561" y="3021"/>
              <a:ext cx="47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6426" name="Text Box 110"/>
            <p:cNvSpPr txBox="1"/>
            <p:nvPr/>
          </p:nvSpPr>
          <p:spPr>
            <a:xfrm>
              <a:off x="4150" y="2613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6427" name="Text Box 111"/>
            <p:cNvSpPr txBox="1"/>
            <p:nvPr/>
          </p:nvSpPr>
          <p:spPr>
            <a:xfrm>
              <a:off x="4695" y="2613"/>
              <a:ext cx="34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－</a:t>
              </a:r>
              <a:endParaRPr lang="zh-CN" altLang="en-US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6428" name="Rectangle 112"/>
            <p:cNvSpPr/>
            <p:nvPr/>
          </p:nvSpPr>
          <p:spPr>
            <a:xfrm>
              <a:off x="4931" y="302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6429" name="Rectangle 113"/>
            <p:cNvSpPr/>
            <p:nvPr/>
          </p:nvSpPr>
          <p:spPr>
            <a:xfrm>
              <a:off x="4931" y="243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6430" name="Rectangle 114"/>
            <p:cNvSpPr/>
            <p:nvPr/>
          </p:nvSpPr>
          <p:spPr>
            <a:xfrm>
              <a:off x="3978" y="302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6431" name="Rectangle 115"/>
            <p:cNvSpPr/>
            <p:nvPr/>
          </p:nvSpPr>
          <p:spPr>
            <a:xfrm>
              <a:off x="3978" y="243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6432" name="Text Box 116"/>
            <p:cNvSpPr txBox="1"/>
            <p:nvPr/>
          </p:nvSpPr>
          <p:spPr>
            <a:xfrm>
              <a:off x="4258" y="3067"/>
              <a:ext cx="52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 </a:t>
              </a:r>
              <a:r>
                <a:rPr lang="en-US" altLang="zh-CN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(2</a:t>
              </a:r>
              <a:r>
                <a:rPr lang="zh-CN" altLang="en-US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</a:t>
              </a:r>
              <a:endParaRPr lang="zh-CN" altLang="en-US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93301" name="AutoShape 117" descr="羊皮纸"/>
          <p:cNvSpPr/>
          <p:nvPr/>
        </p:nvSpPr>
        <p:spPr>
          <a:xfrm>
            <a:off x="6084888" y="2781300"/>
            <a:ext cx="2592387" cy="576263"/>
          </a:xfrm>
          <a:prstGeom prst="wedgeRoundRectCallout">
            <a:avLst>
              <a:gd name="adj1" fmla="val -59981"/>
              <a:gd name="adj2" fmla="val -107301"/>
              <a:gd name="adj3" fmla="val 16667"/>
            </a:avLst>
          </a:prstGeom>
          <a:blipFill rotWithShape="1">
            <a:blip r:embed="rId8"/>
          </a:blipFill>
          <a:ln w="9525">
            <a:noFill/>
          </a:ln>
        </p:spPr>
        <p:txBody>
          <a:bodyPr anchor="t" anchorCtr="0"/>
          <a:p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两个简单电路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93304" name="Object 120"/>
          <p:cNvGraphicFramePr>
            <a:graphicFrameLocks noChangeAspect="1"/>
          </p:cNvGraphicFramePr>
          <p:nvPr/>
        </p:nvGraphicFramePr>
        <p:xfrm>
          <a:off x="4211638" y="4652963"/>
          <a:ext cx="33131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9" imgW="1342390" imgH="150495" progId="Equation.3">
                  <p:embed/>
                </p:oleObj>
              </mc:Choice>
              <mc:Fallback>
                <p:oleObj name="" r:id="rId9" imgW="1342390" imgH="150495" progId="Equation.3">
                  <p:embed/>
                  <p:pic>
                    <p:nvPicPr>
                      <p:cNvPr id="0" name="20 3081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11638" y="4652963"/>
                        <a:ext cx="3313112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312" name="Text Box 128"/>
          <p:cNvSpPr txBox="1"/>
          <p:nvPr/>
        </p:nvSpPr>
        <p:spPr>
          <a:xfrm>
            <a:off x="684213" y="5300663"/>
            <a:ext cx="5183187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应用叠加定理使计算简化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16436" name="Group 133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16437" name="Picture 134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438" name="Text Box 135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70" decel="100000"/>
                                        <p:tgtEl>
                                          <p:spTgt spid="932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770" decel="100000"/>
                                        <p:tgtEl>
                                          <p:spTgt spid="9321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321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4" dur="770" fill="hold"/>
                                        <p:tgtEl>
                                          <p:spTgt spid="93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3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6" dur="770" fill="hold"/>
                                        <p:tgtEl>
                                          <p:spTgt spid="93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3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3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2000"/>
                                        <p:tgtEl>
                                          <p:spTgt spid="9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93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2000"/>
                                        <p:tgtEl>
                                          <p:spTgt spid="93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3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3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2000"/>
                                        <p:tgtEl>
                                          <p:spTgt spid="93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2000"/>
                                        <p:tgtEl>
                                          <p:spTgt spid="9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2000"/>
                                        <p:tgtEl>
                                          <p:spTgt spid="93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1" dur="500"/>
                                        <p:tgtEl>
                                          <p:spTgt spid="93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210" grpId="0"/>
      <p:bldP spid="93211" grpId="0"/>
      <p:bldP spid="93213" grpId="0"/>
      <p:bldP spid="93301" grpId="0" bldLvl="0" animBg="1"/>
      <p:bldP spid="933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9" name="Text Box 5"/>
          <p:cNvSpPr txBox="1"/>
          <p:nvPr/>
        </p:nvSpPr>
        <p:spPr>
          <a:xfrm>
            <a:off x="468313" y="476250"/>
            <a:ext cx="863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391" name="Text Box 47"/>
          <p:cNvSpPr txBox="1"/>
          <p:nvPr/>
        </p:nvSpPr>
        <p:spPr>
          <a:xfrm>
            <a:off x="1331913" y="549275"/>
            <a:ext cx="360045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计算电压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endParaRPr lang="en-US" altLang="zh-CN" i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7477" name="Text Box 133"/>
          <p:cNvSpPr txBox="1"/>
          <p:nvPr/>
        </p:nvSpPr>
        <p:spPr>
          <a:xfrm>
            <a:off x="684213" y="1844675"/>
            <a:ext cx="295116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3A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电流源作用：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7412" name="Group 13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7413" name="Picture 13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14" name="Text Box 14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7415" name="Group 14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7416" name="Picture 14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17" name="Text Box 14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57491" name="Text Box 147"/>
          <p:cNvSpPr txBox="1"/>
          <p:nvPr/>
        </p:nvSpPr>
        <p:spPr>
          <a:xfrm>
            <a:off x="395288" y="1196975"/>
            <a:ext cx="576262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57590" name="Group 246"/>
          <p:cNvGrpSpPr/>
          <p:nvPr/>
        </p:nvGrpSpPr>
        <p:grpSpPr>
          <a:xfrm>
            <a:off x="3851275" y="333375"/>
            <a:ext cx="4895850" cy="2535238"/>
            <a:chOff x="2426" y="210"/>
            <a:chExt cx="3084" cy="1597"/>
          </a:xfrm>
        </p:grpSpPr>
        <p:sp>
          <p:nvSpPr>
            <p:cNvPr id="17420" name="Oval 149"/>
            <p:cNvSpPr/>
            <p:nvPr/>
          </p:nvSpPr>
          <p:spPr>
            <a:xfrm>
              <a:off x="2789" y="116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7421" name="Oval 150"/>
            <p:cNvSpPr/>
            <p:nvPr/>
          </p:nvSpPr>
          <p:spPr>
            <a:xfrm>
              <a:off x="3379" y="116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7422" name="Rectangle 151"/>
            <p:cNvSpPr/>
            <p:nvPr/>
          </p:nvSpPr>
          <p:spPr>
            <a:xfrm>
              <a:off x="2970" y="528"/>
              <a:ext cx="2494" cy="1225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7423" name="Text Box 152"/>
            <p:cNvSpPr txBox="1"/>
            <p:nvPr/>
          </p:nvSpPr>
          <p:spPr>
            <a:xfrm>
              <a:off x="4195" y="619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endParaRPr lang="en-US" altLang="zh-CN" b="0" i="1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24" name="Text Box 153"/>
            <p:cNvSpPr txBox="1"/>
            <p:nvPr/>
          </p:nvSpPr>
          <p:spPr>
            <a:xfrm>
              <a:off x="2607" y="1435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25" name="Text Box 154"/>
            <p:cNvSpPr txBox="1"/>
            <p:nvPr/>
          </p:nvSpPr>
          <p:spPr>
            <a:xfrm>
              <a:off x="2562" y="927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26" name="Text Box 155"/>
            <p:cNvSpPr txBox="1"/>
            <p:nvPr/>
          </p:nvSpPr>
          <p:spPr>
            <a:xfrm>
              <a:off x="3696" y="1208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12V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27" name="Text Box 156"/>
            <p:cNvSpPr txBox="1"/>
            <p:nvPr/>
          </p:nvSpPr>
          <p:spPr>
            <a:xfrm>
              <a:off x="4830" y="1289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latin typeface="Times New Roman" panose="02020603050405020304" pitchFamily="18" charset="0"/>
                  <a:ea typeface="仿宋_GB2312" pitchFamily="49" charset="-122"/>
                </a:rPr>
                <a:t>2A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28" name="Text Box 157"/>
            <p:cNvSpPr txBox="1"/>
            <p:nvPr/>
          </p:nvSpPr>
          <p:spPr>
            <a:xfrm>
              <a:off x="3560" y="891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29" name="Text Box 158"/>
            <p:cNvSpPr txBox="1"/>
            <p:nvPr/>
          </p:nvSpPr>
          <p:spPr>
            <a:xfrm>
              <a:off x="3560" y="1480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30" name="Text Box 159"/>
            <p:cNvSpPr txBox="1"/>
            <p:nvPr/>
          </p:nvSpPr>
          <p:spPr>
            <a:xfrm>
              <a:off x="5011" y="936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7431" name="Text Box 160"/>
            <p:cNvSpPr txBox="1"/>
            <p:nvPr/>
          </p:nvSpPr>
          <p:spPr>
            <a:xfrm>
              <a:off x="3787" y="210"/>
              <a:ext cx="52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latin typeface="Times New Roman" panose="02020603050405020304" pitchFamily="18" charset="0"/>
                  <a:ea typeface="仿宋_GB2312" pitchFamily="49" charset="-122"/>
                </a:rPr>
                <a:t>3</a:t>
              </a:r>
              <a:r>
                <a:rPr lang="en-US" altLang="zh-CN" b="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A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32" name="Text Box 161"/>
            <p:cNvSpPr txBox="1"/>
            <p:nvPr/>
          </p:nvSpPr>
          <p:spPr>
            <a:xfrm>
              <a:off x="3107" y="664"/>
              <a:ext cx="4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33" name="Text Box 162"/>
            <p:cNvSpPr txBox="1"/>
            <p:nvPr/>
          </p:nvSpPr>
          <p:spPr>
            <a:xfrm>
              <a:off x="2516" y="619"/>
              <a:ext cx="5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34" name="Line 163"/>
            <p:cNvSpPr/>
            <p:nvPr/>
          </p:nvSpPr>
          <p:spPr>
            <a:xfrm>
              <a:off x="3560" y="528"/>
              <a:ext cx="0" cy="122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17435" name="Line 164"/>
            <p:cNvSpPr/>
            <p:nvPr/>
          </p:nvSpPr>
          <p:spPr>
            <a:xfrm>
              <a:off x="4829" y="528"/>
              <a:ext cx="0" cy="122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17436" name="Line 165"/>
            <p:cNvSpPr/>
            <p:nvPr/>
          </p:nvSpPr>
          <p:spPr>
            <a:xfrm rot="-5400000" flipV="1">
              <a:off x="3967" y="344"/>
              <a:ext cx="0" cy="363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7437" name="Line 166"/>
            <p:cNvSpPr/>
            <p:nvPr/>
          </p:nvSpPr>
          <p:spPr>
            <a:xfrm>
              <a:off x="4830" y="1297"/>
              <a:ext cx="0" cy="319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7438" name="Text Box 167"/>
            <p:cNvSpPr txBox="1"/>
            <p:nvPr/>
          </p:nvSpPr>
          <p:spPr>
            <a:xfrm>
              <a:off x="2426" y="1208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6V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39" name="Text Box 168"/>
            <p:cNvSpPr txBox="1"/>
            <p:nvPr/>
          </p:nvSpPr>
          <p:spPr>
            <a:xfrm>
              <a:off x="3878" y="437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40" name="Text Box 169"/>
            <p:cNvSpPr txBox="1"/>
            <p:nvPr/>
          </p:nvSpPr>
          <p:spPr>
            <a:xfrm>
              <a:off x="4422" y="437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41" name="Rectangle 170"/>
            <p:cNvSpPr/>
            <p:nvPr/>
          </p:nvSpPr>
          <p:spPr>
            <a:xfrm>
              <a:off x="3479" y="66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7442" name="Rectangle 171"/>
            <p:cNvSpPr/>
            <p:nvPr/>
          </p:nvSpPr>
          <p:spPr>
            <a:xfrm>
              <a:off x="2888" y="66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7443" name="Rectangle 172"/>
            <p:cNvSpPr/>
            <p:nvPr/>
          </p:nvSpPr>
          <p:spPr>
            <a:xfrm>
              <a:off x="5374" y="93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17444" name="Group 173"/>
            <p:cNvGrpSpPr/>
            <p:nvPr/>
          </p:nvGrpSpPr>
          <p:grpSpPr>
            <a:xfrm rot="5400000">
              <a:off x="4148" y="345"/>
              <a:ext cx="363" cy="363"/>
              <a:chOff x="4785" y="709"/>
              <a:chExt cx="363" cy="363"/>
            </a:xfrm>
          </p:grpSpPr>
          <p:sp>
            <p:nvSpPr>
              <p:cNvPr id="17445" name="Oval 174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rot="10800000" vert="eaVert"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7446" name="Line 175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7447" name="Group 176"/>
            <p:cNvGrpSpPr/>
            <p:nvPr/>
          </p:nvGrpSpPr>
          <p:grpSpPr>
            <a:xfrm>
              <a:off x="4648" y="936"/>
              <a:ext cx="363" cy="363"/>
              <a:chOff x="4785" y="709"/>
              <a:chExt cx="363" cy="363"/>
            </a:xfrm>
          </p:grpSpPr>
          <p:sp>
            <p:nvSpPr>
              <p:cNvPr id="17448" name="Oval 177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7449" name="Line 178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57523" name="Text Box 179"/>
          <p:cNvSpPr txBox="1"/>
          <p:nvPr/>
        </p:nvSpPr>
        <p:spPr>
          <a:xfrm>
            <a:off x="1116013" y="1196975"/>
            <a:ext cx="295275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画出分电路图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7541" name="Text Box 197"/>
          <p:cNvSpPr txBox="1"/>
          <p:nvPr/>
        </p:nvSpPr>
        <p:spPr>
          <a:xfrm>
            <a:off x="3492500" y="5013325"/>
            <a:ext cx="576263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4400" b="0" dirty="0">
                <a:solidFill>
                  <a:srgbClr val="FF3300"/>
                </a:solidFill>
                <a:latin typeface="Arial" panose="020B0604020202020204" pitchFamily="34" charset="0"/>
                <a:ea typeface="仿宋_GB2312" pitchFamily="49" charset="-122"/>
              </a:rPr>
              <a:t>＋</a:t>
            </a:r>
            <a:endParaRPr lang="zh-CN" altLang="en-US" sz="4400" b="0" dirty="0">
              <a:solidFill>
                <a:srgbClr val="FF3300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grpSp>
        <p:nvGrpSpPr>
          <p:cNvPr id="57592" name="Group 248"/>
          <p:cNvGrpSpPr/>
          <p:nvPr/>
        </p:nvGrpSpPr>
        <p:grpSpPr>
          <a:xfrm>
            <a:off x="3779838" y="4292600"/>
            <a:ext cx="4751387" cy="2103438"/>
            <a:chOff x="2381" y="2704"/>
            <a:chExt cx="2993" cy="1325"/>
          </a:xfrm>
        </p:grpSpPr>
        <p:sp>
          <p:nvSpPr>
            <p:cNvPr id="17453" name="Oval 199"/>
            <p:cNvSpPr/>
            <p:nvPr/>
          </p:nvSpPr>
          <p:spPr>
            <a:xfrm>
              <a:off x="2653" y="338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7454" name="Line 200"/>
            <p:cNvSpPr/>
            <p:nvPr/>
          </p:nvSpPr>
          <p:spPr>
            <a:xfrm>
              <a:off x="5284" y="2750"/>
              <a:ext cx="0" cy="122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55" name="Line 201"/>
            <p:cNvSpPr/>
            <p:nvPr/>
          </p:nvSpPr>
          <p:spPr>
            <a:xfrm>
              <a:off x="2835" y="3974"/>
              <a:ext cx="244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56" name="Line 202"/>
            <p:cNvSpPr/>
            <p:nvPr/>
          </p:nvSpPr>
          <p:spPr>
            <a:xfrm>
              <a:off x="2835" y="2750"/>
              <a:ext cx="0" cy="122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57" name="Line 203"/>
            <p:cNvSpPr/>
            <p:nvPr/>
          </p:nvSpPr>
          <p:spPr>
            <a:xfrm>
              <a:off x="4468" y="2750"/>
              <a:ext cx="81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58" name="Text Box 204"/>
            <p:cNvSpPr txBox="1"/>
            <p:nvPr/>
          </p:nvSpPr>
          <p:spPr>
            <a:xfrm>
              <a:off x="3969" y="2795"/>
              <a:ext cx="5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r>
                <a:rPr lang="en-US" altLang="zh-CN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(2)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7459" name="Line 205"/>
            <p:cNvSpPr/>
            <p:nvPr/>
          </p:nvSpPr>
          <p:spPr>
            <a:xfrm>
              <a:off x="3061" y="2795"/>
              <a:ext cx="363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7460" name="Text Box 206"/>
            <p:cNvSpPr txBox="1"/>
            <p:nvPr/>
          </p:nvSpPr>
          <p:spPr>
            <a:xfrm>
              <a:off x="2971" y="2759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 </a:t>
              </a:r>
              <a:r>
                <a:rPr lang="en-US" altLang="zh-CN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(2)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7461" name="Oval 207"/>
            <p:cNvSpPr/>
            <p:nvPr/>
          </p:nvSpPr>
          <p:spPr>
            <a:xfrm>
              <a:off x="3424" y="338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7462" name="Text Box 208"/>
            <p:cNvSpPr txBox="1"/>
            <p:nvPr/>
          </p:nvSpPr>
          <p:spPr>
            <a:xfrm>
              <a:off x="2834" y="3657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63" name="Text Box 209"/>
            <p:cNvSpPr txBox="1"/>
            <p:nvPr/>
          </p:nvSpPr>
          <p:spPr>
            <a:xfrm>
              <a:off x="2880" y="3158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64" name="Text Box 210"/>
            <p:cNvSpPr txBox="1"/>
            <p:nvPr/>
          </p:nvSpPr>
          <p:spPr>
            <a:xfrm>
              <a:off x="3741" y="3430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12V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65" name="Text Box 211"/>
            <p:cNvSpPr txBox="1"/>
            <p:nvPr/>
          </p:nvSpPr>
          <p:spPr>
            <a:xfrm>
              <a:off x="4694" y="3475"/>
              <a:ext cx="40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latin typeface="Times New Roman" panose="02020603050405020304" pitchFamily="18" charset="0"/>
                  <a:ea typeface="仿宋_GB2312" pitchFamily="49" charset="-122"/>
                </a:rPr>
                <a:t>2A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66" name="Text Box 212"/>
            <p:cNvSpPr txBox="1"/>
            <p:nvPr/>
          </p:nvSpPr>
          <p:spPr>
            <a:xfrm>
              <a:off x="3605" y="3113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67" name="Text Box 213"/>
            <p:cNvSpPr txBox="1"/>
            <p:nvPr/>
          </p:nvSpPr>
          <p:spPr>
            <a:xfrm>
              <a:off x="3605" y="3702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68" name="Text Box 214"/>
            <p:cNvSpPr txBox="1"/>
            <p:nvPr/>
          </p:nvSpPr>
          <p:spPr>
            <a:xfrm>
              <a:off x="4875" y="3158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7469" name="Text Box 215"/>
            <p:cNvSpPr txBox="1"/>
            <p:nvPr/>
          </p:nvSpPr>
          <p:spPr>
            <a:xfrm>
              <a:off x="3606" y="2850"/>
              <a:ext cx="4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70" name="Text Box 216"/>
            <p:cNvSpPr txBox="1"/>
            <p:nvPr/>
          </p:nvSpPr>
          <p:spPr>
            <a:xfrm>
              <a:off x="2381" y="2850"/>
              <a:ext cx="5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71" name="Line 217"/>
            <p:cNvSpPr/>
            <p:nvPr/>
          </p:nvSpPr>
          <p:spPr>
            <a:xfrm>
              <a:off x="3605" y="2750"/>
              <a:ext cx="0" cy="122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17472" name="Line 218"/>
            <p:cNvSpPr/>
            <p:nvPr/>
          </p:nvSpPr>
          <p:spPr>
            <a:xfrm>
              <a:off x="4693" y="2750"/>
              <a:ext cx="0" cy="122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17473" name="Line 219"/>
            <p:cNvSpPr/>
            <p:nvPr/>
          </p:nvSpPr>
          <p:spPr>
            <a:xfrm>
              <a:off x="4694" y="3521"/>
              <a:ext cx="0" cy="31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7474" name="Text Box 220"/>
            <p:cNvSpPr txBox="1"/>
            <p:nvPr/>
          </p:nvSpPr>
          <p:spPr>
            <a:xfrm>
              <a:off x="2971" y="3430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6V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75" name="Text Box 221"/>
            <p:cNvSpPr txBox="1"/>
            <p:nvPr/>
          </p:nvSpPr>
          <p:spPr>
            <a:xfrm>
              <a:off x="3787" y="2704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76" name="Text Box 222"/>
            <p:cNvSpPr txBox="1"/>
            <p:nvPr/>
          </p:nvSpPr>
          <p:spPr>
            <a:xfrm>
              <a:off x="4286" y="2704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77" name="Rectangle 223"/>
            <p:cNvSpPr/>
            <p:nvPr/>
          </p:nvSpPr>
          <p:spPr>
            <a:xfrm>
              <a:off x="3524" y="288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7478" name="Rectangle 224"/>
            <p:cNvSpPr/>
            <p:nvPr/>
          </p:nvSpPr>
          <p:spPr>
            <a:xfrm>
              <a:off x="2752" y="288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7479" name="Rectangle 225"/>
            <p:cNvSpPr/>
            <p:nvPr/>
          </p:nvSpPr>
          <p:spPr>
            <a:xfrm>
              <a:off x="5238" y="315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17480" name="Group 226"/>
            <p:cNvGrpSpPr/>
            <p:nvPr/>
          </p:nvGrpSpPr>
          <p:grpSpPr>
            <a:xfrm>
              <a:off x="4512" y="3158"/>
              <a:ext cx="363" cy="363"/>
              <a:chOff x="4785" y="709"/>
              <a:chExt cx="363" cy="363"/>
            </a:xfrm>
          </p:grpSpPr>
          <p:sp>
            <p:nvSpPr>
              <p:cNvPr id="17481" name="Oval 227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7482" name="Line 228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7483" name="Line 229"/>
            <p:cNvSpPr/>
            <p:nvPr/>
          </p:nvSpPr>
          <p:spPr>
            <a:xfrm>
              <a:off x="2835" y="2750"/>
              <a:ext cx="10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84" name="Oval 230"/>
            <p:cNvSpPr/>
            <p:nvPr/>
          </p:nvSpPr>
          <p:spPr>
            <a:xfrm>
              <a:off x="4377" y="2704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7485" name="Oval 231"/>
            <p:cNvSpPr/>
            <p:nvPr/>
          </p:nvSpPr>
          <p:spPr>
            <a:xfrm>
              <a:off x="3923" y="2704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57591" name="Group 247"/>
          <p:cNvGrpSpPr/>
          <p:nvPr/>
        </p:nvGrpSpPr>
        <p:grpSpPr>
          <a:xfrm>
            <a:off x="395288" y="4062413"/>
            <a:ext cx="3240087" cy="2247900"/>
            <a:chOff x="249" y="2559"/>
            <a:chExt cx="2041" cy="1416"/>
          </a:xfrm>
        </p:grpSpPr>
        <p:sp>
          <p:nvSpPr>
            <p:cNvPr id="17487" name="Rectangle 181"/>
            <p:cNvSpPr/>
            <p:nvPr/>
          </p:nvSpPr>
          <p:spPr>
            <a:xfrm>
              <a:off x="294" y="2841"/>
              <a:ext cx="1905" cy="1134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7488" name="Text Box 183"/>
            <p:cNvSpPr txBox="1"/>
            <p:nvPr/>
          </p:nvSpPr>
          <p:spPr>
            <a:xfrm>
              <a:off x="1791" y="3249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7489" name="Text Box 184"/>
            <p:cNvSpPr txBox="1"/>
            <p:nvPr/>
          </p:nvSpPr>
          <p:spPr>
            <a:xfrm>
              <a:off x="1111" y="2559"/>
              <a:ext cx="40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latin typeface="Times New Roman" panose="02020603050405020304" pitchFamily="18" charset="0"/>
                  <a:ea typeface="仿宋_GB2312" pitchFamily="49" charset="-122"/>
                </a:rPr>
                <a:t>3</a:t>
              </a:r>
              <a:r>
                <a:rPr lang="en-US" altLang="zh-CN" b="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A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90" name="Text Box 185"/>
            <p:cNvSpPr txBox="1"/>
            <p:nvPr/>
          </p:nvSpPr>
          <p:spPr>
            <a:xfrm>
              <a:off x="884" y="3294"/>
              <a:ext cx="4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91" name="Text Box 186"/>
            <p:cNvSpPr txBox="1"/>
            <p:nvPr/>
          </p:nvSpPr>
          <p:spPr>
            <a:xfrm>
              <a:off x="340" y="3249"/>
              <a:ext cx="5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92" name="Line 187"/>
            <p:cNvSpPr/>
            <p:nvPr/>
          </p:nvSpPr>
          <p:spPr>
            <a:xfrm>
              <a:off x="884" y="2841"/>
              <a:ext cx="0" cy="113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17493" name="Line 188"/>
            <p:cNvSpPr/>
            <p:nvPr/>
          </p:nvSpPr>
          <p:spPr>
            <a:xfrm rot="-5400000" flipV="1">
              <a:off x="1291" y="2657"/>
              <a:ext cx="0" cy="363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7494" name="Text Box 189"/>
            <p:cNvSpPr txBox="1"/>
            <p:nvPr/>
          </p:nvSpPr>
          <p:spPr>
            <a:xfrm>
              <a:off x="1202" y="2750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95" name="Text Box 190"/>
            <p:cNvSpPr txBox="1"/>
            <p:nvPr/>
          </p:nvSpPr>
          <p:spPr>
            <a:xfrm>
              <a:off x="1746" y="2750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496" name="Rectangle 191"/>
            <p:cNvSpPr/>
            <p:nvPr/>
          </p:nvSpPr>
          <p:spPr>
            <a:xfrm>
              <a:off x="793" y="329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7497" name="Rectangle 192"/>
            <p:cNvSpPr/>
            <p:nvPr/>
          </p:nvSpPr>
          <p:spPr>
            <a:xfrm>
              <a:off x="249" y="329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7498" name="Rectangle 193"/>
            <p:cNvSpPr/>
            <p:nvPr/>
          </p:nvSpPr>
          <p:spPr>
            <a:xfrm>
              <a:off x="2154" y="324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17499" name="Group 194"/>
            <p:cNvGrpSpPr/>
            <p:nvPr/>
          </p:nvGrpSpPr>
          <p:grpSpPr>
            <a:xfrm rot="5400000">
              <a:off x="1472" y="2658"/>
              <a:ext cx="363" cy="363"/>
              <a:chOff x="4785" y="709"/>
              <a:chExt cx="363" cy="363"/>
            </a:xfrm>
          </p:grpSpPr>
          <p:sp>
            <p:nvSpPr>
              <p:cNvPr id="17500" name="Oval 195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rot="10800000" vert="eaVert"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7501" name="Line 196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7502" name="Text Box 232"/>
            <p:cNvSpPr txBox="1"/>
            <p:nvPr/>
          </p:nvSpPr>
          <p:spPr>
            <a:xfrm>
              <a:off x="1383" y="3022"/>
              <a:ext cx="5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r>
                <a:rPr lang="en-US" altLang="zh-CN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(1)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graphicFrame>
        <p:nvGraphicFramePr>
          <p:cNvPr id="57579" name="Object 235"/>
          <p:cNvGraphicFramePr>
            <a:graphicFrameLocks noChangeAspect="1"/>
          </p:cNvGraphicFramePr>
          <p:nvPr/>
        </p:nvGraphicFramePr>
        <p:xfrm>
          <a:off x="323850" y="2420938"/>
          <a:ext cx="367188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2" imgW="1527810" imgH="208280" progId="Equation.3">
                  <p:embed/>
                </p:oleObj>
              </mc:Choice>
              <mc:Fallback>
                <p:oleObj name="" r:id="rId2" imgW="1527810" imgH="208280" progId="Equation.3">
                  <p:embed/>
                  <p:pic>
                    <p:nvPicPr>
                      <p:cNvPr id="0" name="20 3085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3850" y="2420938"/>
                        <a:ext cx="3671888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580" name="Text Box 236"/>
          <p:cNvSpPr txBox="1"/>
          <p:nvPr/>
        </p:nvSpPr>
        <p:spPr>
          <a:xfrm>
            <a:off x="611188" y="2997200"/>
            <a:ext cx="338296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其余电源作用：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57581" name="Object 237"/>
          <p:cNvGraphicFramePr>
            <a:graphicFrameLocks noChangeAspect="1"/>
          </p:cNvGraphicFramePr>
          <p:nvPr/>
        </p:nvGraphicFramePr>
        <p:xfrm>
          <a:off x="3665538" y="2997200"/>
          <a:ext cx="414655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4" imgW="1678305" imgH="208280" progId="Equation.3">
                  <p:embed/>
                </p:oleObj>
              </mc:Choice>
              <mc:Fallback>
                <p:oleObj name="" r:id="rId4" imgW="1678305" imgH="208280" progId="Equation.3">
                  <p:embed/>
                  <p:pic>
                    <p:nvPicPr>
                      <p:cNvPr id="0" name="20 3082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65538" y="2997200"/>
                        <a:ext cx="4146550" cy="563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582" name="Object 238"/>
          <p:cNvGraphicFramePr>
            <a:graphicFrameLocks noChangeAspect="1"/>
          </p:cNvGraphicFramePr>
          <p:nvPr/>
        </p:nvGraphicFramePr>
        <p:xfrm>
          <a:off x="323850" y="3644900"/>
          <a:ext cx="40322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6" imgW="1643380" imgH="173355" progId="Equation.3">
                  <p:embed/>
                </p:oleObj>
              </mc:Choice>
              <mc:Fallback>
                <p:oleObj name="" r:id="rId6" imgW="1643380" imgH="173355" progId="Equation.3">
                  <p:embed/>
                  <p:pic>
                    <p:nvPicPr>
                      <p:cNvPr id="0" name="20 3083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3850" y="3644900"/>
                        <a:ext cx="4032250" cy="48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583" name="Object 239"/>
          <p:cNvGraphicFramePr>
            <a:graphicFrameLocks noChangeAspect="1"/>
          </p:cNvGraphicFramePr>
          <p:nvPr/>
        </p:nvGraphicFramePr>
        <p:xfrm>
          <a:off x="4643438" y="3644900"/>
          <a:ext cx="366236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8" imgW="1701165" imgH="173355" progId="Equation.3">
                  <p:embed/>
                </p:oleObj>
              </mc:Choice>
              <mc:Fallback>
                <p:oleObj name="" r:id="rId8" imgW="1701165" imgH="173355" progId="Equation.3">
                  <p:embed/>
                  <p:pic>
                    <p:nvPicPr>
                      <p:cNvPr id="0" name="20 3084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43438" y="3644900"/>
                        <a:ext cx="3662362" cy="466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508" name="Group 249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17509" name="Picture 25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510" name="Text Box 251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7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1000"/>
                                        <p:tgtEl>
                                          <p:spTgt spid="5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74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74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7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7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7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7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3000"/>
                                        <p:tgtEl>
                                          <p:spTgt spid="57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7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7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85" decel="100000"/>
                                        <p:tgtEl>
                                          <p:spTgt spid="575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385" decel="100000"/>
                                        <p:tgtEl>
                                          <p:spTgt spid="57541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9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57541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0" dur="385" fill="hold"/>
                                        <p:tgtEl>
                                          <p:spTgt spid="57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1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57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2" dur="385" fill="hold"/>
                                        <p:tgtEl>
                                          <p:spTgt spid="57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3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57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3000"/>
                                        <p:tgtEl>
                                          <p:spTgt spid="57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8" dur="2000"/>
                                        <p:tgtEl>
                                          <p:spTgt spid="57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3" dur="3000"/>
                                        <p:tgtEl>
                                          <p:spTgt spid="57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9" grpId="0"/>
      <p:bldP spid="57391" grpId="0"/>
      <p:bldP spid="57477" grpId="0"/>
      <p:bldP spid="57491" grpId="0" animBg="1"/>
      <p:bldP spid="57523" grpId="0"/>
      <p:bldP spid="57541" grpId="0"/>
      <p:bldP spid="5758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73" name="Text Box 65"/>
          <p:cNvSpPr txBox="1"/>
          <p:nvPr/>
        </p:nvSpPr>
        <p:spPr>
          <a:xfrm>
            <a:off x="755650" y="620713"/>
            <a:ext cx="7848600" cy="16303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</a:rPr>
              <a:t>                </a:t>
            </a: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叠加方式是任意的，可以一次一个独立源单独作用，也可以一次几个独立源同时作用，取决于使分析计算简便。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18434" name="Group 6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8435" name="Picture 6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36" name="Text Box 7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8437" name="Group 7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8438" name="Picture 7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39" name="Text Box 7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94314" name="Group 106"/>
          <p:cNvGrpSpPr/>
          <p:nvPr/>
        </p:nvGrpSpPr>
        <p:grpSpPr>
          <a:xfrm>
            <a:off x="539750" y="549275"/>
            <a:ext cx="1644650" cy="850900"/>
            <a:chOff x="385" y="3022"/>
            <a:chExt cx="1036" cy="536"/>
          </a:xfrm>
        </p:grpSpPr>
        <p:pic>
          <p:nvPicPr>
            <p:cNvPr id="18441" name="Picture 107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42" name="Text Box 108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94317" name="Text Box 109"/>
          <p:cNvSpPr txBox="1"/>
          <p:nvPr/>
        </p:nvSpPr>
        <p:spPr>
          <a:xfrm>
            <a:off x="539750" y="2276475"/>
            <a:ext cx="863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sz="3200" b="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94318" name="Text Box 110"/>
          <p:cNvSpPr txBox="1"/>
          <p:nvPr/>
        </p:nvSpPr>
        <p:spPr>
          <a:xfrm>
            <a:off x="1403350" y="2276475"/>
            <a:ext cx="360045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计算电压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zh-CN" altLang="en-US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电流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en-US" i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4344" name="Text Box 136"/>
          <p:cNvSpPr txBox="1"/>
          <p:nvPr/>
        </p:nvSpPr>
        <p:spPr>
          <a:xfrm>
            <a:off x="684213" y="2997200"/>
            <a:ext cx="576262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4345" name="Text Box 137"/>
          <p:cNvSpPr txBox="1"/>
          <p:nvPr/>
        </p:nvSpPr>
        <p:spPr>
          <a:xfrm>
            <a:off x="1403350" y="2997200"/>
            <a:ext cx="295275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画出分电路图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94346" name="Group 138"/>
          <p:cNvGrpSpPr/>
          <p:nvPr/>
        </p:nvGrpSpPr>
        <p:grpSpPr>
          <a:xfrm>
            <a:off x="250825" y="3716338"/>
            <a:ext cx="4246563" cy="1944687"/>
            <a:chOff x="2835" y="2160"/>
            <a:chExt cx="2675" cy="1225"/>
          </a:xfrm>
        </p:grpSpPr>
        <p:sp>
          <p:nvSpPr>
            <p:cNvPr id="18448" name="Line 139"/>
            <p:cNvSpPr/>
            <p:nvPr/>
          </p:nvSpPr>
          <p:spPr>
            <a:xfrm>
              <a:off x="4150" y="2206"/>
              <a:ext cx="0" cy="113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18449" name="Oval 140"/>
            <p:cNvSpPr/>
            <p:nvPr/>
          </p:nvSpPr>
          <p:spPr>
            <a:xfrm>
              <a:off x="3288" y="270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8450" name="Rectangle 141"/>
            <p:cNvSpPr/>
            <p:nvPr/>
          </p:nvSpPr>
          <p:spPr>
            <a:xfrm>
              <a:off x="4105" y="234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8451" name="Text Box 142"/>
            <p:cNvSpPr txBox="1"/>
            <p:nvPr/>
          </p:nvSpPr>
          <p:spPr>
            <a:xfrm>
              <a:off x="4694" y="2478"/>
              <a:ext cx="8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r>
                <a:rPr lang="zh-CN" altLang="en-US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（</a:t>
              </a:r>
              <a:r>
                <a:rPr lang="en-US" altLang="zh-CN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r>
                <a:rPr lang="zh-CN" altLang="en-US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）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52" name="Text Box 143"/>
            <p:cNvSpPr txBox="1"/>
            <p:nvPr/>
          </p:nvSpPr>
          <p:spPr>
            <a:xfrm>
              <a:off x="3107" y="2342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53" name="Text Box 144"/>
            <p:cNvSpPr txBox="1"/>
            <p:nvPr/>
          </p:nvSpPr>
          <p:spPr>
            <a:xfrm>
              <a:off x="3107" y="3012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54" name="Text Box 145"/>
            <p:cNvSpPr txBox="1"/>
            <p:nvPr/>
          </p:nvSpPr>
          <p:spPr>
            <a:xfrm>
              <a:off x="2835" y="2704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10V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55" name="Text Box 146"/>
            <p:cNvSpPr txBox="1"/>
            <p:nvPr/>
          </p:nvSpPr>
          <p:spPr>
            <a:xfrm>
              <a:off x="4286" y="2840"/>
              <a:ext cx="7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(1)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56" name="Text Box 147"/>
            <p:cNvSpPr txBox="1"/>
            <p:nvPr/>
          </p:nvSpPr>
          <p:spPr>
            <a:xfrm>
              <a:off x="4150" y="2614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57" name="Text Box 148"/>
            <p:cNvSpPr txBox="1"/>
            <p:nvPr/>
          </p:nvSpPr>
          <p:spPr>
            <a:xfrm>
              <a:off x="4150" y="3022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58" name="Text Box 149"/>
            <p:cNvSpPr txBox="1"/>
            <p:nvPr/>
          </p:nvSpPr>
          <p:spPr>
            <a:xfrm>
              <a:off x="4195" y="2296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59" name="Text Box 150"/>
            <p:cNvSpPr txBox="1"/>
            <p:nvPr/>
          </p:nvSpPr>
          <p:spPr>
            <a:xfrm>
              <a:off x="3606" y="2251"/>
              <a:ext cx="4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60" name="Line 151"/>
            <p:cNvSpPr/>
            <p:nvPr/>
          </p:nvSpPr>
          <p:spPr>
            <a:xfrm>
              <a:off x="3470" y="2205"/>
              <a:ext cx="1451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61" name="Line 152"/>
            <p:cNvSpPr/>
            <p:nvPr/>
          </p:nvSpPr>
          <p:spPr>
            <a:xfrm>
              <a:off x="3470" y="3339"/>
              <a:ext cx="142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62" name="Line 153"/>
            <p:cNvSpPr/>
            <p:nvPr/>
          </p:nvSpPr>
          <p:spPr>
            <a:xfrm>
              <a:off x="3470" y="2206"/>
              <a:ext cx="0" cy="113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63" name="Line 154"/>
            <p:cNvSpPr/>
            <p:nvPr/>
          </p:nvSpPr>
          <p:spPr>
            <a:xfrm>
              <a:off x="3515" y="2251"/>
              <a:ext cx="0" cy="22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8464" name="Text Box 155"/>
            <p:cNvSpPr txBox="1"/>
            <p:nvPr/>
          </p:nvSpPr>
          <p:spPr>
            <a:xfrm>
              <a:off x="4739" y="2206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65" name="Text Box 156"/>
            <p:cNvSpPr txBox="1"/>
            <p:nvPr/>
          </p:nvSpPr>
          <p:spPr>
            <a:xfrm>
              <a:off x="4739" y="2841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66" name="Text Box 157"/>
            <p:cNvSpPr txBox="1"/>
            <p:nvPr/>
          </p:nvSpPr>
          <p:spPr>
            <a:xfrm>
              <a:off x="3017" y="2196"/>
              <a:ext cx="5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zh-CN" altLang="en-US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（</a:t>
              </a:r>
              <a:r>
                <a:rPr lang="en-US" altLang="zh-CN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r>
                <a:rPr lang="zh-CN" altLang="en-US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）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67" name="Oval 158"/>
            <p:cNvSpPr/>
            <p:nvPr/>
          </p:nvSpPr>
          <p:spPr>
            <a:xfrm>
              <a:off x="4876" y="3294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8468" name="Oval 159"/>
            <p:cNvSpPr/>
            <p:nvPr/>
          </p:nvSpPr>
          <p:spPr>
            <a:xfrm>
              <a:off x="4922" y="2160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8469" name="Rectangle 160"/>
            <p:cNvSpPr/>
            <p:nvPr/>
          </p:nvSpPr>
          <p:spPr>
            <a:xfrm>
              <a:off x="3651" y="216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8470" name="AutoShape 161"/>
            <p:cNvSpPr/>
            <p:nvPr/>
          </p:nvSpPr>
          <p:spPr>
            <a:xfrm rot="5400000">
              <a:off x="3945" y="2817"/>
              <a:ext cx="407" cy="362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94370" name="Text Box 162"/>
          <p:cNvSpPr txBox="1"/>
          <p:nvPr/>
        </p:nvSpPr>
        <p:spPr>
          <a:xfrm>
            <a:off x="4140200" y="4365625"/>
            <a:ext cx="576263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4400" b="0" dirty="0">
                <a:solidFill>
                  <a:srgbClr val="FF3300"/>
                </a:solidFill>
                <a:latin typeface="Arial" panose="020B0604020202020204" pitchFamily="34" charset="0"/>
                <a:ea typeface="仿宋_GB2312" pitchFamily="49" charset="-122"/>
              </a:rPr>
              <a:t>＋</a:t>
            </a:r>
            <a:endParaRPr lang="zh-CN" altLang="en-US" sz="4400" b="0" dirty="0">
              <a:solidFill>
                <a:srgbClr val="FF3300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94392" name="AutoShape 184" descr="羊皮纸"/>
          <p:cNvSpPr/>
          <p:nvPr/>
        </p:nvSpPr>
        <p:spPr>
          <a:xfrm>
            <a:off x="1692275" y="5876925"/>
            <a:ext cx="3095625" cy="576263"/>
          </a:xfrm>
          <a:prstGeom prst="wedgeRoundRectCallout">
            <a:avLst>
              <a:gd name="adj1" fmla="val 28870"/>
              <a:gd name="adj2" fmla="val -145593"/>
              <a:gd name="adj3" fmla="val 16667"/>
            </a:avLst>
          </a:prstGeom>
          <a:blipFill rotWithShape="1">
            <a:blip r:embed="rId3"/>
          </a:blipFill>
          <a:ln w="9525">
            <a:noFill/>
          </a:ln>
        </p:spPr>
        <p:txBody>
          <a:bodyPr anchor="t" anchorCtr="0"/>
          <a:p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受控源始终保留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94396" name="Group 188"/>
          <p:cNvGrpSpPr/>
          <p:nvPr/>
        </p:nvGrpSpPr>
        <p:grpSpPr>
          <a:xfrm>
            <a:off x="4643438" y="1989138"/>
            <a:ext cx="3890962" cy="1887537"/>
            <a:chOff x="2925" y="1253"/>
            <a:chExt cx="2451" cy="1189"/>
          </a:xfrm>
        </p:grpSpPr>
        <p:sp>
          <p:nvSpPr>
            <p:cNvPr id="18474" name="Oval 112"/>
            <p:cNvSpPr/>
            <p:nvPr/>
          </p:nvSpPr>
          <p:spPr>
            <a:xfrm>
              <a:off x="2925" y="175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8475" name="Text Box 113"/>
            <p:cNvSpPr txBox="1"/>
            <p:nvPr/>
          </p:nvSpPr>
          <p:spPr>
            <a:xfrm>
              <a:off x="4558" y="1706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endParaRPr lang="en-US" altLang="zh-CN" b="0" i="1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76" name="Text Box 114"/>
            <p:cNvSpPr txBox="1"/>
            <p:nvPr/>
          </p:nvSpPr>
          <p:spPr>
            <a:xfrm>
              <a:off x="3107" y="1525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77" name="Text Box 115"/>
            <p:cNvSpPr txBox="1"/>
            <p:nvPr/>
          </p:nvSpPr>
          <p:spPr>
            <a:xfrm>
              <a:off x="3107" y="2024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78" name="Text Box 116"/>
            <p:cNvSpPr txBox="1"/>
            <p:nvPr/>
          </p:nvSpPr>
          <p:spPr>
            <a:xfrm>
              <a:off x="3243" y="1797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79" name="Text Box 117"/>
            <p:cNvSpPr txBox="1"/>
            <p:nvPr/>
          </p:nvSpPr>
          <p:spPr>
            <a:xfrm>
              <a:off x="4150" y="1888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80" name="Text Box 118"/>
            <p:cNvSpPr txBox="1"/>
            <p:nvPr/>
          </p:nvSpPr>
          <p:spPr>
            <a:xfrm>
              <a:off x="4059" y="1616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81" name="Text Box 119"/>
            <p:cNvSpPr txBox="1"/>
            <p:nvPr/>
          </p:nvSpPr>
          <p:spPr>
            <a:xfrm>
              <a:off x="4059" y="2115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82" name="Text Box 120"/>
            <p:cNvSpPr txBox="1"/>
            <p:nvPr/>
          </p:nvSpPr>
          <p:spPr>
            <a:xfrm>
              <a:off x="4060" y="1389"/>
              <a:ext cx="63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8483" name="Text Box 121"/>
            <p:cNvSpPr txBox="1"/>
            <p:nvPr/>
          </p:nvSpPr>
          <p:spPr>
            <a:xfrm>
              <a:off x="2949" y="1334"/>
              <a:ext cx="24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endParaRPr lang="en-US" altLang="zh-CN" b="0" i="1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84" name="Text Box 122"/>
            <p:cNvSpPr txBox="1"/>
            <p:nvPr/>
          </p:nvSpPr>
          <p:spPr>
            <a:xfrm>
              <a:off x="3334" y="1334"/>
              <a:ext cx="4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85" name="Line 123"/>
            <p:cNvSpPr/>
            <p:nvPr/>
          </p:nvSpPr>
          <p:spPr>
            <a:xfrm>
              <a:off x="4014" y="1298"/>
              <a:ext cx="0" cy="113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18486" name="Line 124"/>
            <p:cNvSpPr/>
            <p:nvPr/>
          </p:nvSpPr>
          <p:spPr>
            <a:xfrm>
              <a:off x="3152" y="1344"/>
              <a:ext cx="0" cy="22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8487" name="Text Box 125"/>
            <p:cNvSpPr txBox="1"/>
            <p:nvPr/>
          </p:nvSpPr>
          <p:spPr>
            <a:xfrm>
              <a:off x="4604" y="1389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88" name="Text Box 126"/>
            <p:cNvSpPr txBox="1"/>
            <p:nvPr/>
          </p:nvSpPr>
          <p:spPr>
            <a:xfrm>
              <a:off x="4604" y="1979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89" name="Text Box 128"/>
            <p:cNvSpPr txBox="1"/>
            <p:nvPr/>
          </p:nvSpPr>
          <p:spPr>
            <a:xfrm>
              <a:off x="4967" y="1389"/>
              <a:ext cx="40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5A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90" name="Rectangle 129"/>
            <p:cNvSpPr/>
            <p:nvPr/>
          </p:nvSpPr>
          <p:spPr>
            <a:xfrm>
              <a:off x="3107" y="1298"/>
              <a:ext cx="1860" cy="1134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8491" name="Rectangle 130"/>
            <p:cNvSpPr/>
            <p:nvPr/>
          </p:nvSpPr>
          <p:spPr>
            <a:xfrm>
              <a:off x="3969" y="138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8492" name="Rectangle 131"/>
            <p:cNvSpPr/>
            <p:nvPr/>
          </p:nvSpPr>
          <p:spPr>
            <a:xfrm>
              <a:off x="3379" y="125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8493" name="AutoShape 132"/>
            <p:cNvSpPr/>
            <p:nvPr/>
          </p:nvSpPr>
          <p:spPr>
            <a:xfrm rot="5400000">
              <a:off x="3809" y="1864"/>
              <a:ext cx="407" cy="362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18494" name="Group 133"/>
            <p:cNvGrpSpPr/>
            <p:nvPr/>
          </p:nvGrpSpPr>
          <p:grpSpPr>
            <a:xfrm>
              <a:off x="4785" y="1706"/>
              <a:ext cx="363" cy="363"/>
              <a:chOff x="4785" y="709"/>
              <a:chExt cx="363" cy="363"/>
            </a:xfrm>
          </p:grpSpPr>
          <p:sp>
            <p:nvSpPr>
              <p:cNvPr id="18495" name="Oval 134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8496" name="Line 135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8497" name="Line 127"/>
            <p:cNvSpPr/>
            <p:nvPr/>
          </p:nvSpPr>
          <p:spPr>
            <a:xfrm flipV="1">
              <a:off x="4967" y="1389"/>
              <a:ext cx="0" cy="31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94397" name="Group 189"/>
          <p:cNvGrpSpPr/>
          <p:nvPr/>
        </p:nvGrpSpPr>
        <p:grpSpPr>
          <a:xfrm>
            <a:off x="4932363" y="4133850"/>
            <a:ext cx="3602037" cy="1887538"/>
            <a:chOff x="3107" y="2604"/>
            <a:chExt cx="2269" cy="1189"/>
          </a:xfrm>
        </p:grpSpPr>
        <p:sp>
          <p:nvSpPr>
            <p:cNvPr id="18499" name="Text Box 164"/>
            <p:cNvSpPr txBox="1"/>
            <p:nvPr/>
          </p:nvSpPr>
          <p:spPr>
            <a:xfrm>
              <a:off x="4377" y="3012"/>
              <a:ext cx="4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r>
                <a:rPr lang="en-US" altLang="zh-CN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(2)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500" name="Text Box 165"/>
            <p:cNvSpPr txBox="1"/>
            <p:nvPr/>
          </p:nvSpPr>
          <p:spPr>
            <a:xfrm>
              <a:off x="4013" y="3239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 (2)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501" name="Text Box 166"/>
            <p:cNvSpPr txBox="1"/>
            <p:nvPr/>
          </p:nvSpPr>
          <p:spPr>
            <a:xfrm>
              <a:off x="3152" y="2967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 (2)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502" name="Text Box 167"/>
            <p:cNvSpPr txBox="1"/>
            <p:nvPr/>
          </p:nvSpPr>
          <p:spPr>
            <a:xfrm>
              <a:off x="3922" y="2967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503" name="Text Box 168"/>
            <p:cNvSpPr txBox="1"/>
            <p:nvPr/>
          </p:nvSpPr>
          <p:spPr>
            <a:xfrm>
              <a:off x="3922" y="3466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504" name="Text Box 169"/>
            <p:cNvSpPr txBox="1"/>
            <p:nvPr/>
          </p:nvSpPr>
          <p:spPr>
            <a:xfrm>
              <a:off x="3923" y="2740"/>
              <a:ext cx="63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8505" name="Text Box 170"/>
            <p:cNvSpPr txBox="1"/>
            <p:nvPr/>
          </p:nvSpPr>
          <p:spPr>
            <a:xfrm>
              <a:off x="3334" y="2685"/>
              <a:ext cx="4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506" name="Line 171"/>
            <p:cNvSpPr/>
            <p:nvPr/>
          </p:nvSpPr>
          <p:spPr>
            <a:xfrm>
              <a:off x="3877" y="2649"/>
              <a:ext cx="0" cy="113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18507" name="Line 172"/>
            <p:cNvSpPr/>
            <p:nvPr/>
          </p:nvSpPr>
          <p:spPr>
            <a:xfrm>
              <a:off x="3152" y="3012"/>
              <a:ext cx="0" cy="22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8508" name="Text Box 173"/>
            <p:cNvSpPr txBox="1"/>
            <p:nvPr/>
          </p:nvSpPr>
          <p:spPr>
            <a:xfrm>
              <a:off x="4604" y="2740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509" name="Text Box 174"/>
            <p:cNvSpPr txBox="1"/>
            <p:nvPr/>
          </p:nvSpPr>
          <p:spPr>
            <a:xfrm>
              <a:off x="4604" y="3330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510" name="Text Box 176"/>
            <p:cNvSpPr txBox="1"/>
            <p:nvPr/>
          </p:nvSpPr>
          <p:spPr>
            <a:xfrm>
              <a:off x="4967" y="2740"/>
              <a:ext cx="40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5A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511" name="Rectangle 177"/>
            <p:cNvSpPr/>
            <p:nvPr/>
          </p:nvSpPr>
          <p:spPr>
            <a:xfrm>
              <a:off x="3107" y="2649"/>
              <a:ext cx="1860" cy="1134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8512" name="Rectangle 178"/>
            <p:cNvSpPr/>
            <p:nvPr/>
          </p:nvSpPr>
          <p:spPr>
            <a:xfrm>
              <a:off x="3832" y="274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8513" name="Rectangle 179"/>
            <p:cNvSpPr/>
            <p:nvPr/>
          </p:nvSpPr>
          <p:spPr>
            <a:xfrm>
              <a:off x="3379" y="260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8514" name="AutoShape 180"/>
            <p:cNvSpPr/>
            <p:nvPr/>
          </p:nvSpPr>
          <p:spPr>
            <a:xfrm rot="5400000">
              <a:off x="3672" y="3215"/>
              <a:ext cx="407" cy="362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8515" name="Line 175"/>
            <p:cNvSpPr/>
            <p:nvPr/>
          </p:nvSpPr>
          <p:spPr>
            <a:xfrm flipV="1">
              <a:off x="4967" y="2750"/>
              <a:ext cx="0" cy="31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18516" name="Group 181"/>
            <p:cNvGrpSpPr/>
            <p:nvPr/>
          </p:nvGrpSpPr>
          <p:grpSpPr>
            <a:xfrm>
              <a:off x="4785" y="3067"/>
              <a:ext cx="363" cy="363"/>
              <a:chOff x="4785" y="709"/>
              <a:chExt cx="363" cy="363"/>
            </a:xfrm>
          </p:grpSpPr>
          <p:sp>
            <p:nvSpPr>
              <p:cNvPr id="18517" name="Oval 182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8518" name="Line 183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8519" name="Group 190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18520" name="Picture 19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521" name="Text Box 192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"/>
                                        <p:tgtEl>
                                          <p:spTgt spid="94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4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4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4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4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94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4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4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4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85" decel="100000"/>
                                        <p:tgtEl>
                                          <p:spTgt spid="943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385" decel="100000"/>
                                        <p:tgtEl>
                                          <p:spTgt spid="9437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2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9437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3" dur="385" fill="hold"/>
                                        <p:tgtEl>
                                          <p:spTgt spid="94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4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94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5" dur="385" fill="hold"/>
                                        <p:tgtEl>
                                          <p:spTgt spid="94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6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94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4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4" dur="2000"/>
                                        <p:tgtEl>
                                          <p:spTgt spid="9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73" grpId="0"/>
      <p:bldP spid="94317" grpId="0"/>
      <p:bldP spid="94318" grpId="0"/>
      <p:bldP spid="94344" grpId="0" animBg="1"/>
      <p:bldP spid="94345" grpId="0"/>
      <p:bldP spid="94370" grpId="0"/>
      <p:bldP spid="94392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6443" name="Object 123"/>
          <p:cNvGraphicFramePr>
            <a:graphicFrameLocks noChangeAspect="1"/>
          </p:cNvGraphicFramePr>
          <p:nvPr/>
        </p:nvGraphicFramePr>
        <p:xfrm>
          <a:off x="3132138" y="2976563"/>
          <a:ext cx="3570287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481455" imgH="208280" progId="Equation.3">
                  <p:embed/>
                </p:oleObj>
              </mc:Choice>
              <mc:Fallback>
                <p:oleObj name="" r:id="rId1" imgW="1481455" imgH="208280" progId="Equation.3">
                  <p:embed/>
                  <p:pic>
                    <p:nvPicPr>
                      <p:cNvPr id="0" name="20 307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32138" y="2976563"/>
                        <a:ext cx="3570287" cy="550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44" name="Object 124"/>
          <p:cNvGraphicFramePr>
            <a:graphicFrameLocks noChangeAspect="1"/>
          </p:cNvGraphicFramePr>
          <p:nvPr/>
        </p:nvGraphicFramePr>
        <p:xfrm>
          <a:off x="1187450" y="3552825"/>
          <a:ext cx="502285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1863725" imgH="173355" progId="Equation.3">
                  <p:embed/>
                </p:oleObj>
              </mc:Choice>
              <mc:Fallback>
                <p:oleObj name="" r:id="rId3" imgW="1863725" imgH="173355" progId="Equation.3">
                  <p:embed/>
                  <p:pic>
                    <p:nvPicPr>
                      <p:cNvPr id="0" name="20 307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3552825"/>
                        <a:ext cx="5022850" cy="525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45" name="Object 125"/>
          <p:cNvGraphicFramePr>
            <a:graphicFrameLocks noChangeAspect="1"/>
          </p:cNvGraphicFramePr>
          <p:nvPr/>
        </p:nvGraphicFramePr>
        <p:xfrm>
          <a:off x="7092950" y="2976563"/>
          <a:ext cx="138271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5" imgW="544195" imgH="173355" progId="Equation.3">
                  <p:embed/>
                </p:oleObj>
              </mc:Choice>
              <mc:Fallback>
                <p:oleObj name="" r:id="rId5" imgW="544195" imgH="173355" progId="Equation.3">
                  <p:embed/>
                  <p:pic>
                    <p:nvPicPr>
                      <p:cNvPr id="0" name="20 307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092950" y="2976563"/>
                        <a:ext cx="1382713" cy="481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458" name="Text Box 138"/>
          <p:cNvSpPr txBox="1"/>
          <p:nvPr/>
        </p:nvSpPr>
        <p:spPr>
          <a:xfrm>
            <a:off x="539750" y="2976563"/>
            <a:ext cx="3313113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10V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电源作用：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9461" name="Group 14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9462" name="Picture 144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63" name="Text Box 14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9464" name="Group 14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9465" name="Picture 147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66" name="Text Box 14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9467" name="Group 153"/>
          <p:cNvGrpSpPr/>
          <p:nvPr/>
        </p:nvGrpSpPr>
        <p:grpSpPr>
          <a:xfrm>
            <a:off x="323850" y="815975"/>
            <a:ext cx="4246563" cy="1944688"/>
            <a:chOff x="2835" y="2160"/>
            <a:chExt cx="2675" cy="1225"/>
          </a:xfrm>
        </p:grpSpPr>
        <p:sp>
          <p:nvSpPr>
            <p:cNvPr id="19468" name="Line 154"/>
            <p:cNvSpPr/>
            <p:nvPr/>
          </p:nvSpPr>
          <p:spPr>
            <a:xfrm>
              <a:off x="4150" y="2206"/>
              <a:ext cx="0" cy="113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19469" name="Oval 155"/>
            <p:cNvSpPr/>
            <p:nvPr/>
          </p:nvSpPr>
          <p:spPr>
            <a:xfrm>
              <a:off x="3288" y="270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9470" name="Rectangle 156"/>
            <p:cNvSpPr/>
            <p:nvPr/>
          </p:nvSpPr>
          <p:spPr>
            <a:xfrm>
              <a:off x="4105" y="234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9471" name="Text Box 157"/>
            <p:cNvSpPr txBox="1"/>
            <p:nvPr/>
          </p:nvSpPr>
          <p:spPr>
            <a:xfrm>
              <a:off x="4694" y="2478"/>
              <a:ext cx="8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r>
                <a:rPr lang="zh-CN" altLang="en-US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（</a:t>
              </a:r>
              <a:r>
                <a:rPr lang="en-US" altLang="zh-CN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r>
                <a:rPr lang="zh-CN" altLang="en-US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）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472" name="Text Box 158"/>
            <p:cNvSpPr txBox="1"/>
            <p:nvPr/>
          </p:nvSpPr>
          <p:spPr>
            <a:xfrm>
              <a:off x="3107" y="2342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473" name="Text Box 159"/>
            <p:cNvSpPr txBox="1"/>
            <p:nvPr/>
          </p:nvSpPr>
          <p:spPr>
            <a:xfrm>
              <a:off x="3107" y="3012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474" name="Text Box 160"/>
            <p:cNvSpPr txBox="1"/>
            <p:nvPr/>
          </p:nvSpPr>
          <p:spPr>
            <a:xfrm>
              <a:off x="2835" y="2704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10V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475" name="Text Box 161"/>
            <p:cNvSpPr txBox="1"/>
            <p:nvPr/>
          </p:nvSpPr>
          <p:spPr>
            <a:xfrm>
              <a:off x="4286" y="2840"/>
              <a:ext cx="7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(1)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476" name="Text Box 162"/>
            <p:cNvSpPr txBox="1"/>
            <p:nvPr/>
          </p:nvSpPr>
          <p:spPr>
            <a:xfrm>
              <a:off x="4150" y="2614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477" name="Text Box 163"/>
            <p:cNvSpPr txBox="1"/>
            <p:nvPr/>
          </p:nvSpPr>
          <p:spPr>
            <a:xfrm>
              <a:off x="4150" y="3022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478" name="Text Box 164"/>
            <p:cNvSpPr txBox="1"/>
            <p:nvPr/>
          </p:nvSpPr>
          <p:spPr>
            <a:xfrm>
              <a:off x="4195" y="2296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479" name="Text Box 165"/>
            <p:cNvSpPr txBox="1"/>
            <p:nvPr/>
          </p:nvSpPr>
          <p:spPr>
            <a:xfrm>
              <a:off x="3606" y="2251"/>
              <a:ext cx="4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480" name="Line 166"/>
            <p:cNvSpPr/>
            <p:nvPr/>
          </p:nvSpPr>
          <p:spPr>
            <a:xfrm>
              <a:off x="3470" y="2205"/>
              <a:ext cx="1451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1" name="Line 167"/>
            <p:cNvSpPr/>
            <p:nvPr/>
          </p:nvSpPr>
          <p:spPr>
            <a:xfrm>
              <a:off x="3470" y="3339"/>
              <a:ext cx="142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2" name="Line 168"/>
            <p:cNvSpPr/>
            <p:nvPr/>
          </p:nvSpPr>
          <p:spPr>
            <a:xfrm>
              <a:off x="3470" y="2206"/>
              <a:ext cx="0" cy="113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3" name="Line 169"/>
            <p:cNvSpPr/>
            <p:nvPr/>
          </p:nvSpPr>
          <p:spPr>
            <a:xfrm>
              <a:off x="3515" y="2251"/>
              <a:ext cx="0" cy="22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9484" name="Text Box 170"/>
            <p:cNvSpPr txBox="1"/>
            <p:nvPr/>
          </p:nvSpPr>
          <p:spPr>
            <a:xfrm>
              <a:off x="4739" y="2206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485" name="Text Box 171"/>
            <p:cNvSpPr txBox="1"/>
            <p:nvPr/>
          </p:nvSpPr>
          <p:spPr>
            <a:xfrm>
              <a:off x="4739" y="2841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486" name="Text Box 172"/>
            <p:cNvSpPr txBox="1"/>
            <p:nvPr/>
          </p:nvSpPr>
          <p:spPr>
            <a:xfrm>
              <a:off x="3017" y="2196"/>
              <a:ext cx="5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zh-CN" altLang="en-US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（</a:t>
              </a:r>
              <a:r>
                <a:rPr lang="en-US" altLang="zh-CN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r>
                <a:rPr lang="zh-CN" altLang="en-US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）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487" name="Oval 173"/>
            <p:cNvSpPr/>
            <p:nvPr/>
          </p:nvSpPr>
          <p:spPr>
            <a:xfrm>
              <a:off x="4876" y="3294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9488" name="Oval 174"/>
            <p:cNvSpPr/>
            <p:nvPr/>
          </p:nvSpPr>
          <p:spPr>
            <a:xfrm>
              <a:off x="4922" y="2160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9489" name="Rectangle 175"/>
            <p:cNvSpPr/>
            <p:nvPr/>
          </p:nvSpPr>
          <p:spPr>
            <a:xfrm>
              <a:off x="3651" y="216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9490" name="AutoShape 176"/>
            <p:cNvSpPr/>
            <p:nvPr/>
          </p:nvSpPr>
          <p:spPr>
            <a:xfrm rot="5400000">
              <a:off x="3945" y="2817"/>
              <a:ext cx="407" cy="362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19491" name="Text Box 177"/>
          <p:cNvSpPr txBox="1"/>
          <p:nvPr/>
        </p:nvSpPr>
        <p:spPr>
          <a:xfrm>
            <a:off x="4067175" y="1463675"/>
            <a:ext cx="576263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4400" b="0" dirty="0">
                <a:solidFill>
                  <a:srgbClr val="FF3300"/>
                </a:solidFill>
                <a:latin typeface="Arial" panose="020B0604020202020204" pitchFamily="34" charset="0"/>
                <a:ea typeface="仿宋_GB2312" pitchFamily="49" charset="-122"/>
              </a:rPr>
              <a:t>＋</a:t>
            </a:r>
            <a:endParaRPr lang="zh-CN" altLang="en-US" sz="4400" b="0" dirty="0">
              <a:solidFill>
                <a:srgbClr val="FF3300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56519" name="Text Box 199"/>
          <p:cNvSpPr txBox="1"/>
          <p:nvPr/>
        </p:nvSpPr>
        <p:spPr>
          <a:xfrm>
            <a:off x="539750" y="4200525"/>
            <a:ext cx="3024188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5A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电源作用：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6520" name="Object 200"/>
          <p:cNvGraphicFramePr>
            <a:graphicFrameLocks noChangeAspect="1"/>
          </p:cNvGraphicFramePr>
          <p:nvPr/>
        </p:nvGraphicFramePr>
        <p:xfrm>
          <a:off x="2916238" y="4129088"/>
          <a:ext cx="4665662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8" imgW="1817370" imgH="208280" progId="Equation.3">
                  <p:embed/>
                </p:oleObj>
              </mc:Choice>
              <mc:Fallback>
                <p:oleObj name="" r:id="rId8" imgW="1817370" imgH="208280" progId="Equation.3">
                  <p:embed/>
                  <p:pic>
                    <p:nvPicPr>
                      <p:cNvPr id="0" name="20 3088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16238" y="4129088"/>
                        <a:ext cx="4665662" cy="587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521" name="Object 201"/>
          <p:cNvGraphicFramePr>
            <a:graphicFrameLocks noChangeAspect="1"/>
          </p:cNvGraphicFramePr>
          <p:nvPr/>
        </p:nvGraphicFramePr>
        <p:xfrm>
          <a:off x="900113" y="4776788"/>
          <a:ext cx="167322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0" imgW="636905" imgH="173355" progId="Equation.3">
                  <p:embed/>
                </p:oleObj>
              </mc:Choice>
              <mc:Fallback>
                <p:oleObj name="" r:id="rId10" imgW="636905" imgH="173355" progId="Equation.3">
                  <p:embed/>
                  <p:pic>
                    <p:nvPicPr>
                      <p:cNvPr id="0" name="20 3089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4776788"/>
                        <a:ext cx="1673225" cy="500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522" name="Object 202"/>
          <p:cNvGraphicFramePr>
            <a:graphicFrameLocks noChangeAspect="1"/>
          </p:cNvGraphicFramePr>
          <p:nvPr/>
        </p:nvGraphicFramePr>
        <p:xfrm>
          <a:off x="3132138" y="4703763"/>
          <a:ext cx="4592637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2" imgW="1828800" imgH="208280" progId="Equation.3">
                  <p:embed/>
                </p:oleObj>
              </mc:Choice>
              <mc:Fallback>
                <p:oleObj name="" r:id="rId12" imgW="1828800" imgH="208280" progId="Equation.3">
                  <p:embed/>
                  <p:pic>
                    <p:nvPicPr>
                      <p:cNvPr id="0" name="20 3090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32138" y="4703763"/>
                        <a:ext cx="4592637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523" name="Object 203"/>
          <p:cNvGraphicFramePr>
            <a:graphicFrameLocks noChangeAspect="1"/>
          </p:cNvGraphicFramePr>
          <p:nvPr/>
        </p:nvGraphicFramePr>
        <p:xfrm>
          <a:off x="900113" y="5495925"/>
          <a:ext cx="23050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4" imgW="925830" imgH="150495" progId="Equation.3">
                  <p:embed/>
                </p:oleObj>
              </mc:Choice>
              <mc:Fallback>
                <p:oleObj name="" r:id="rId14" imgW="925830" imgH="150495" progId="Equation.3">
                  <p:embed/>
                  <p:pic>
                    <p:nvPicPr>
                      <p:cNvPr id="0" name="20 3086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5495925"/>
                        <a:ext cx="2305050" cy="422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524" name="Object 204"/>
          <p:cNvGraphicFramePr>
            <a:graphicFrameLocks noChangeAspect="1"/>
          </p:cNvGraphicFramePr>
          <p:nvPr/>
        </p:nvGraphicFramePr>
        <p:xfrm>
          <a:off x="3708400" y="5424488"/>
          <a:ext cx="272097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6" imgW="1053465" imgH="185420" progId="Equation.3">
                  <p:embed/>
                </p:oleObj>
              </mc:Choice>
              <mc:Fallback>
                <p:oleObj name="" r:id="rId16" imgW="1053465" imgH="185420" progId="Equation.3">
                  <p:embed/>
                  <p:pic>
                    <p:nvPicPr>
                      <p:cNvPr id="0" name="20 3087"/>
                      <p:cNvPicPr/>
                      <p:nvPr/>
                    </p:nvPicPr>
                    <p:blipFill>
                      <a:blip r:embed="rId1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08400" y="5424488"/>
                        <a:ext cx="2720975" cy="525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98" name="Group 208"/>
          <p:cNvGrpSpPr/>
          <p:nvPr/>
        </p:nvGrpSpPr>
        <p:grpSpPr>
          <a:xfrm>
            <a:off x="4932363" y="820738"/>
            <a:ext cx="3602037" cy="1887537"/>
            <a:chOff x="3107" y="2604"/>
            <a:chExt cx="2269" cy="1189"/>
          </a:xfrm>
        </p:grpSpPr>
        <p:sp>
          <p:nvSpPr>
            <p:cNvPr id="19499" name="Text Box 209"/>
            <p:cNvSpPr txBox="1"/>
            <p:nvPr/>
          </p:nvSpPr>
          <p:spPr>
            <a:xfrm>
              <a:off x="4377" y="3012"/>
              <a:ext cx="4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r>
                <a:rPr lang="en-US" altLang="zh-CN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(2)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500" name="Text Box 210"/>
            <p:cNvSpPr txBox="1"/>
            <p:nvPr/>
          </p:nvSpPr>
          <p:spPr>
            <a:xfrm>
              <a:off x="4013" y="3239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 (2)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501" name="Text Box 211"/>
            <p:cNvSpPr txBox="1"/>
            <p:nvPr/>
          </p:nvSpPr>
          <p:spPr>
            <a:xfrm>
              <a:off x="3152" y="2967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 (2)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502" name="Text Box 212"/>
            <p:cNvSpPr txBox="1"/>
            <p:nvPr/>
          </p:nvSpPr>
          <p:spPr>
            <a:xfrm>
              <a:off x="3922" y="2967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503" name="Text Box 213"/>
            <p:cNvSpPr txBox="1"/>
            <p:nvPr/>
          </p:nvSpPr>
          <p:spPr>
            <a:xfrm>
              <a:off x="3922" y="3466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504" name="Text Box 214"/>
            <p:cNvSpPr txBox="1"/>
            <p:nvPr/>
          </p:nvSpPr>
          <p:spPr>
            <a:xfrm>
              <a:off x="3923" y="2740"/>
              <a:ext cx="63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9505" name="Text Box 215"/>
            <p:cNvSpPr txBox="1"/>
            <p:nvPr/>
          </p:nvSpPr>
          <p:spPr>
            <a:xfrm>
              <a:off x="3334" y="2685"/>
              <a:ext cx="4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506" name="Line 216"/>
            <p:cNvSpPr/>
            <p:nvPr/>
          </p:nvSpPr>
          <p:spPr>
            <a:xfrm>
              <a:off x="3877" y="2649"/>
              <a:ext cx="0" cy="113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19507" name="Line 217"/>
            <p:cNvSpPr/>
            <p:nvPr/>
          </p:nvSpPr>
          <p:spPr>
            <a:xfrm>
              <a:off x="3152" y="3012"/>
              <a:ext cx="0" cy="22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9508" name="Text Box 218"/>
            <p:cNvSpPr txBox="1"/>
            <p:nvPr/>
          </p:nvSpPr>
          <p:spPr>
            <a:xfrm>
              <a:off x="4604" y="2740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509" name="Text Box 219"/>
            <p:cNvSpPr txBox="1"/>
            <p:nvPr/>
          </p:nvSpPr>
          <p:spPr>
            <a:xfrm>
              <a:off x="4604" y="3330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510" name="Text Box 220"/>
            <p:cNvSpPr txBox="1"/>
            <p:nvPr/>
          </p:nvSpPr>
          <p:spPr>
            <a:xfrm>
              <a:off x="4967" y="2740"/>
              <a:ext cx="40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5A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511" name="Rectangle 221"/>
            <p:cNvSpPr/>
            <p:nvPr/>
          </p:nvSpPr>
          <p:spPr>
            <a:xfrm>
              <a:off x="3107" y="2649"/>
              <a:ext cx="1860" cy="1134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9512" name="Rectangle 222"/>
            <p:cNvSpPr/>
            <p:nvPr/>
          </p:nvSpPr>
          <p:spPr>
            <a:xfrm>
              <a:off x="3832" y="274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9513" name="Rectangle 223"/>
            <p:cNvSpPr/>
            <p:nvPr/>
          </p:nvSpPr>
          <p:spPr>
            <a:xfrm>
              <a:off x="3379" y="260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9514" name="AutoShape 224"/>
            <p:cNvSpPr/>
            <p:nvPr/>
          </p:nvSpPr>
          <p:spPr>
            <a:xfrm rot="5400000">
              <a:off x="3672" y="3215"/>
              <a:ext cx="407" cy="362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9515" name="Line 225"/>
            <p:cNvSpPr/>
            <p:nvPr/>
          </p:nvSpPr>
          <p:spPr>
            <a:xfrm flipV="1">
              <a:off x="4967" y="2750"/>
              <a:ext cx="0" cy="31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19516" name="Group 226"/>
            <p:cNvGrpSpPr/>
            <p:nvPr/>
          </p:nvGrpSpPr>
          <p:grpSpPr>
            <a:xfrm>
              <a:off x="4785" y="3067"/>
              <a:ext cx="363" cy="363"/>
              <a:chOff x="4785" y="709"/>
              <a:chExt cx="363" cy="363"/>
            </a:xfrm>
          </p:grpSpPr>
          <p:sp>
            <p:nvSpPr>
              <p:cNvPr id="19517" name="Oval 227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9518" name="Line 228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9519" name="Group 229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19520" name="Picture 230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521" name="Text Box 231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3000"/>
                                        <p:tgtEl>
                                          <p:spTgt spid="5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3000"/>
                                        <p:tgtEl>
                                          <p:spTgt spid="5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3000"/>
                                        <p:tgtEl>
                                          <p:spTgt spid="56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6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6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3000"/>
                                        <p:tgtEl>
                                          <p:spTgt spid="56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3000"/>
                                        <p:tgtEl>
                                          <p:spTgt spid="56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3000"/>
                                        <p:tgtEl>
                                          <p:spTgt spid="56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2000"/>
                                        <p:tgtEl>
                                          <p:spTgt spid="56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1000"/>
                                        <p:tgtEl>
                                          <p:spTgt spid="56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58" grpId="0"/>
      <p:bldP spid="565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Text Box 2"/>
          <p:cNvSpPr txBox="1"/>
          <p:nvPr/>
        </p:nvSpPr>
        <p:spPr>
          <a:xfrm>
            <a:off x="468313" y="476250"/>
            <a:ext cx="863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sz="3200" b="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55337" name="Text Box 41"/>
          <p:cNvSpPr txBox="1"/>
          <p:nvPr/>
        </p:nvSpPr>
        <p:spPr>
          <a:xfrm>
            <a:off x="1403350" y="549275"/>
            <a:ext cx="7416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封装好的电路如图，已知下列实验数据：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5338" name="Object 42"/>
          <p:cNvGraphicFramePr>
            <a:graphicFrameLocks noChangeAspect="1"/>
          </p:cNvGraphicFramePr>
          <p:nvPr/>
        </p:nvGraphicFramePr>
        <p:xfrm>
          <a:off x="1042988" y="1125538"/>
          <a:ext cx="57435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2488565" imgH="208280" progId="Equation.3">
                  <p:embed/>
                </p:oleObj>
              </mc:Choice>
              <mc:Fallback>
                <p:oleObj name="" r:id="rId1" imgW="2488565" imgH="208280" progId="Equation.3">
                  <p:embed/>
                  <p:pic>
                    <p:nvPicPr>
                      <p:cNvPr id="0" name="20 309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1125538"/>
                        <a:ext cx="5743575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40" name="Object 44"/>
          <p:cNvGraphicFramePr>
            <a:graphicFrameLocks noChangeAspect="1"/>
          </p:cNvGraphicFramePr>
          <p:nvPr/>
        </p:nvGraphicFramePr>
        <p:xfrm>
          <a:off x="1042988" y="2133600"/>
          <a:ext cx="557053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3" imgW="2523490" imgH="208280" progId="Equation.3">
                  <p:embed/>
                </p:oleObj>
              </mc:Choice>
              <mc:Fallback>
                <p:oleObj name="" r:id="rId3" imgW="2523490" imgH="208280" progId="Equation.3">
                  <p:embed/>
                  <p:pic>
                    <p:nvPicPr>
                      <p:cNvPr id="0" name="20 309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2133600"/>
                        <a:ext cx="5570537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5" name="Group 6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0486" name="Picture 61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487" name="Text Box 6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0488" name="Group 6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0489" name="Picture 64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490" name="Text Box 6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55352" name="AutoShape 56" descr="羊皮纸"/>
          <p:cNvSpPr/>
          <p:nvPr/>
        </p:nvSpPr>
        <p:spPr>
          <a:xfrm>
            <a:off x="7524750" y="1052513"/>
            <a:ext cx="1368425" cy="2016125"/>
          </a:xfrm>
          <a:prstGeom prst="wedgeRoundRectCallout">
            <a:avLst>
              <a:gd name="adj1" fmla="val -33759"/>
              <a:gd name="adj2" fmla="val 89449"/>
              <a:gd name="adj3" fmla="val 16667"/>
            </a:avLst>
          </a:prstGeom>
          <a:blipFill rotWithShape="1">
            <a:blip r:embed="rId6"/>
          </a:blipFill>
          <a:ln w="9525">
            <a:noFill/>
          </a:ln>
        </p:spPr>
        <p:txBody>
          <a:bodyPr anchor="t" anchorCtr="0"/>
          <a:p>
            <a:pPr algn="ctr"/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研究激励和响应关系的实验方法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55381" name="Object 85"/>
          <p:cNvGraphicFramePr>
            <a:graphicFrameLocks noChangeAspect="1"/>
          </p:cNvGraphicFramePr>
          <p:nvPr/>
        </p:nvGraphicFramePr>
        <p:xfrm>
          <a:off x="1042988" y="1628775"/>
          <a:ext cx="5821362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7" imgW="2523490" imgH="208280" progId="Equation.3">
                  <p:embed/>
                </p:oleObj>
              </mc:Choice>
              <mc:Fallback>
                <p:oleObj name="" r:id="rId7" imgW="2523490" imgH="208280" progId="Equation.3">
                  <p:embed/>
                  <p:pic>
                    <p:nvPicPr>
                      <p:cNvPr id="0" name="20 309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1628775"/>
                        <a:ext cx="5821362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82" name="Text Box 86"/>
          <p:cNvSpPr txBox="1"/>
          <p:nvPr/>
        </p:nvSpPr>
        <p:spPr>
          <a:xfrm>
            <a:off x="684213" y="2852738"/>
            <a:ext cx="647700" cy="519112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解</a:t>
            </a:r>
            <a:endParaRPr lang="zh-CN" altLang="en-US" sz="2400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55383" name="Text Box 87"/>
          <p:cNvSpPr txBox="1"/>
          <p:nvPr/>
        </p:nvSpPr>
        <p:spPr>
          <a:xfrm>
            <a:off x="1403350" y="2852738"/>
            <a:ext cx="266382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根据叠加定理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5384" name="Object 88"/>
          <p:cNvGraphicFramePr>
            <a:graphicFrameLocks noChangeAspect="1"/>
          </p:cNvGraphicFramePr>
          <p:nvPr/>
        </p:nvGraphicFramePr>
        <p:xfrm>
          <a:off x="3851275" y="2781300"/>
          <a:ext cx="244792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9" imgW="833120" imgH="196850" progId="Equation.3">
                  <p:embed/>
                </p:oleObj>
              </mc:Choice>
              <mc:Fallback>
                <p:oleObj name="" r:id="rId9" imgW="833120" imgH="196850" progId="Equation.3">
                  <p:embed/>
                  <p:pic>
                    <p:nvPicPr>
                      <p:cNvPr id="0" name="20 309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51275" y="2781300"/>
                        <a:ext cx="2447925" cy="631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85" name="Text Box 89"/>
          <p:cNvSpPr txBox="1"/>
          <p:nvPr/>
        </p:nvSpPr>
        <p:spPr>
          <a:xfrm>
            <a:off x="1403350" y="3429000"/>
            <a:ext cx="3240088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代入实验数据：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55386" name="Object 90"/>
          <p:cNvGraphicFramePr>
            <a:graphicFrameLocks noChangeAspect="1"/>
          </p:cNvGraphicFramePr>
          <p:nvPr/>
        </p:nvGraphicFramePr>
        <p:xfrm>
          <a:off x="1258888" y="4021138"/>
          <a:ext cx="187325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1" imgW="659765" imgH="196850" progId="Equation.3">
                  <p:embed/>
                </p:oleObj>
              </mc:Choice>
              <mc:Fallback>
                <p:oleObj name="" r:id="rId11" imgW="659765" imgH="196850" progId="Equation.3">
                  <p:embed/>
                  <p:pic>
                    <p:nvPicPr>
                      <p:cNvPr id="0" name="20 3094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4021138"/>
                        <a:ext cx="1873250" cy="606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87" name="Object 91"/>
          <p:cNvGraphicFramePr>
            <a:graphicFrameLocks noChangeAspect="1"/>
          </p:cNvGraphicFramePr>
          <p:nvPr/>
        </p:nvGraphicFramePr>
        <p:xfrm>
          <a:off x="1208088" y="4633913"/>
          <a:ext cx="2068512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3" imgW="706120" imgH="196850" progId="Equation.3">
                  <p:embed/>
                </p:oleObj>
              </mc:Choice>
              <mc:Fallback>
                <p:oleObj name="" r:id="rId13" imgW="706120" imgH="196850" progId="Equation.3">
                  <p:embed/>
                  <p:pic>
                    <p:nvPicPr>
                      <p:cNvPr id="0" name="20 3096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08088" y="4633913"/>
                        <a:ext cx="2068512" cy="627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88" name="AutoShape 92"/>
          <p:cNvSpPr/>
          <p:nvPr/>
        </p:nvSpPr>
        <p:spPr>
          <a:xfrm>
            <a:off x="1042988" y="4165600"/>
            <a:ext cx="144462" cy="936625"/>
          </a:xfrm>
          <a:prstGeom prst="leftBrace">
            <a:avLst>
              <a:gd name="adj1" fmla="val 53999"/>
              <a:gd name="adj2" fmla="val 50000"/>
            </a:avLst>
          </a:prstGeom>
          <a:noFill/>
          <a:ln w="2857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endParaRPr lang="zh-CN" altLang="zh-CN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5389" name="Group 93"/>
          <p:cNvGrpSpPr/>
          <p:nvPr/>
        </p:nvGrpSpPr>
        <p:grpSpPr>
          <a:xfrm>
            <a:off x="3995738" y="4060825"/>
            <a:ext cx="1223962" cy="1168400"/>
            <a:chOff x="4286" y="2921"/>
            <a:chExt cx="864" cy="792"/>
          </a:xfrm>
        </p:grpSpPr>
        <p:sp>
          <p:nvSpPr>
            <p:cNvPr id="20501" name="AutoShape 94"/>
            <p:cNvSpPr/>
            <p:nvPr/>
          </p:nvSpPr>
          <p:spPr>
            <a:xfrm>
              <a:off x="4286" y="3022"/>
              <a:ext cx="91" cy="590"/>
            </a:xfrm>
            <a:prstGeom prst="leftBrace">
              <a:avLst>
                <a:gd name="adj1" fmla="val 53999"/>
                <a:gd name="adj2" fmla="val 50000"/>
              </a:avLst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endParaRPr lang="zh-CN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20502" name="Object 95"/>
            <p:cNvGraphicFramePr>
              <a:graphicFrameLocks noChangeAspect="1"/>
            </p:cNvGraphicFramePr>
            <p:nvPr/>
          </p:nvGraphicFramePr>
          <p:xfrm>
            <a:off x="4448" y="2921"/>
            <a:ext cx="702" cy="7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15" imgW="358775" imgH="405130" progId="Equation.3">
                    <p:embed/>
                  </p:oleObj>
                </mc:Choice>
                <mc:Fallback>
                  <p:oleObj name="" r:id="rId15" imgW="358775" imgH="405130" progId="Equation.3">
                    <p:embed/>
                    <p:pic>
                      <p:nvPicPr>
                        <p:cNvPr id="0" name="20 3095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48" y="2921"/>
                          <a:ext cx="702" cy="7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5392" name="Object 96"/>
          <p:cNvGraphicFramePr>
            <a:graphicFrameLocks noChangeAspect="1"/>
          </p:cNvGraphicFramePr>
          <p:nvPr/>
        </p:nvGraphicFramePr>
        <p:xfrm>
          <a:off x="900113" y="5260975"/>
          <a:ext cx="40322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7" imgW="1527810" imgH="196850" progId="Equation.3">
                  <p:embed/>
                </p:oleObj>
              </mc:Choice>
              <mc:Fallback>
                <p:oleObj name="" r:id="rId17" imgW="1527810" imgH="196850" progId="Equation.3">
                  <p:embed/>
                  <p:pic>
                    <p:nvPicPr>
                      <p:cNvPr id="0" name="20 3097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5260975"/>
                        <a:ext cx="4032250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398" name="Group 102"/>
          <p:cNvGrpSpPr/>
          <p:nvPr/>
        </p:nvGrpSpPr>
        <p:grpSpPr>
          <a:xfrm>
            <a:off x="5651500" y="3284538"/>
            <a:ext cx="3313113" cy="2881312"/>
            <a:chOff x="3560" y="2069"/>
            <a:chExt cx="2087" cy="1815"/>
          </a:xfrm>
        </p:grpSpPr>
        <p:sp>
          <p:nvSpPr>
            <p:cNvPr id="20505" name="Oval 70"/>
            <p:cNvSpPr/>
            <p:nvPr/>
          </p:nvSpPr>
          <p:spPr>
            <a:xfrm>
              <a:off x="4462" y="2432"/>
              <a:ext cx="380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0506" name="Rectangle 71"/>
            <p:cNvSpPr/>
            <p:nvPr/>
          </p:nvSpPr>
          <p:spPr>
            <a:xfrm>
              <a:off x="3738" y="3113"/>
              <a:ext cx="639" cy="574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0507" name="Rectangle 72"/>
            <p:cNvSpPr/>
            <p:nvPr/>
          </p:nvSpPr>
          <p:spPr>
            <a:xfrm>
              <a:off x="4366" y="2631"/>
              <a:ext cx="588" cy="367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0508" name="Rectangle 73"/>
            <p:cNvSpPr/>
            <p:nvPr/>
          </p:nvSpPr>
          <p:spPr>
            <a:xfrm>
              <a:off x="4954" y="3102"/>
              <a:ext cx="640" cy="574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5370" name="Rectangle 74"/>
            <p:cNvSpPr>
              <a:spLocks noChangeArrowheads="1"/>
            </p:cNvSpPr>
            <p:nvPr/>
          </p:nvSpPr>
          <p:spPr bwMode="auto">
            <a:xfrm>
              <a:off x="4315" y="2945"/>
              <a:ext cx="692" cy="939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无源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线性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网络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20510" name="Line 75"/>
            <p:cNvSpPr/>
            <p:nvPr/>
          </p:nvSpPr>
          <p:spPr>
            <a:xfrm>
              <a:off x="5487" y="3207"/>
              <a:ext cx="0" cy="313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0511" name="Text Box 76"/>
            <p:cNvSpPr txBox="1"/>
            <p:nvPr/>
          </p:nvSpPr>
          <p:spPr>
            <a:xfrm>
              <a:off x="4415" y="2069"/>
              <a:ext cx="586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S</a:t>
              </a:r>
              <a:endParaRPr lang="en-US" altLang="zh-CN" b="0" baseline="-2500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0512" name="Text Box 77"/>
            <p:cNvSpPr txBox="1"/>
            <p:nvPr/>
          </p:nvSpPr>
          <p:spPr>
            <a:xfrm>
              <a:off x="5273" y="3207"/>
              <a:ext cx="374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0513" name="Text Box 78"/>
            <p:cNvSpPr txBox="1"/>
            <p:nvPr/>
          </p:nvSpPr>
          <p:spPr>
            <a:xfrm>
              <a:off x="4842" y="2342"/>
              <a:ext cx="4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－</a:t>
              </a:r>
              <a:endParaRPr lang="zh-CN" altLang="en-US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0514" name="Text Box 79"/>
            <p:cNvSpPr txBox="1"/>
            <p:nvPr/>
          </p:nvSpPr>
          <p:spPr>
            <a:xfrm>
              <a:off x="4036" y="2342"/>
              <a:ext cx="37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＋</a:t>
              </a:r>
              <a:endParaRPr lang="zh-CN" altLang="en-US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0515" name="Text Box 80"/>
            <p:cNvSpPr txBox="1"/>
            <p:nvPr/>
          </p:nvSpPr>
          <p:spPr>
            <a:xfrm>
              <a:off x="3787" y="2750"/>
              <a:ext cx="304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S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0516" name="Line 81"/>
            <p:cNvSpPr/>
            <p:nvPr/>
          </p:nvSpPr>
          <p:spPr>
            <a:xfrm>
              <a:off x="3739" y="3113"/>
              <a:ext cx="320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0517" name="Line 100"/>
            <p:cNvSpPr/>
            <p:nvPr/>
          </p:nvSpPr>
          <p:spPr>
            <a:xfrm flipV="1">
              <a:off x="3742" y="3113"/>
              <a:ext cx="0" cy="9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0518" name="Group 82"/>
            <p:cNvGrpSpPr/>
            <p:nvPr/>
          </p:nvGrpSpPr>
          <p:grpSpPr>
            <a:xfrm>
              <a:off x="3560" y="3203"/>
              <a:ext cx="379" cy="363"/>
              <a:chOff x="4785" y="709"/>
              <a:chExt cx="363" cy="363"/>
            </a:xfrm>
          </p:grpSpPr>
          <p:sp>
            <p:nvSpPr>
              <p:cNvPr id="20519" name="Oval 83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0520" name="Line 84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0521" name="Group 103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20522" name="Picture 104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23" name="Text Box 105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"/>
                                        <p:tgtEl>
                                          <p:spTgt spid="55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8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0"/>
                            </p:stCondLst>
                            <p:childTnLst>
                              <p:par>
                                <p:cTn id="2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1000"/>
                                        <p:tgtEl>
                                          <p:spTgt spid="5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300"/>
                            </p:stCondLst>
                            <p:childTnLst>
                              <p:par>
                                <p:cTn id="2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5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800"/>
                            </p:stCondLst>
                            <p:childTnLst>
                              <p:par>
                                <p:cTn id="2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5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300"/>
                            </p:stCondLst>
                            <p:childTnLst>
                              <p:par>
                                <p:cTn id="3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2000"/>
                                        <p:tgtEl>
                                          <p:spTgt spid="55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5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5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5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5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5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3000"/>
                                        <p:tgtEl>
                                          <p:spTgt spid="5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5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3000"/>
                                        <p:tgtEl>
                                          <p:spTgt spid="5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3000"/>
                                        <p:tgtEl>
                                          <p:spTgt spid="5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53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53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4" dur="3000"/>
                                        <p:tgtEl>
                                          <p:spTgt spid="5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/>
      <p:bldP spid="55337" grpId="0"/>
      <p:bldP spid="55352" grpId="0" bldLvl="0" animBg="1"/>
      <p:bldP spid="55382" grpId="0" animBg="1"/>
      <p:bldP spid="55383" grpId="0"/>
      <p:bldP spid="55385" grpId="0"/>
      <p:bldP spid="5538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359" name="Text Box 87"/>
          <p:cNvSpPr txBox="1"/>
          <p:nvPr/>
        </p:nvSpPr>
        <p:spPr>
          <a:xfrm>
            <a:off x="539750" y="549275"/>
            <a:ext cx="3455988" cy="579438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ctr" anchorCtr="0">
            <a:spAutoFit/>
          </a:bodyPr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5.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齐性原理</a:t>
            </a:r>
            <a:endParaRPr lang="zh-CN" altLang="en-US" sz="3200" b="0" dirty="0">
              <a:solidFill>
                <a:schemeClr val="bg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21506" name="Group 9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1507" name="Picture 9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08" name="Text Box 9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1509" name="Group 9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1510" name="Picture 9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11" name="Text Box 9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54399" name="Text Box 127"/>
          <p:cNvSpPr txBox="1"/>
          <p:nvPr/>
        </p:nvSpPr>
        <p:spPr>
          <a:xfrm>
            <a:off x="611188" y="1268413"/>
            <a:ext cx="7931150" cy="1630362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ctr" anchorCtr="0">
            <a:spAutoFit/>
          </a:bodyPr>
          <a:p>
            <a:pPr indent="666750" algn="just">
              <a:lnSpc>
                <a:spcPct val="120000"/>
              </a:lnSpc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线性电路中，所有激励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独立源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都增大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或减小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同样的倍数，则电路中响应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电压或电流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也增大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或减小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同样的倍数。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400" name="Text Box 128"/>
          <p:cNvSpPr txBox="1"/>
          <p:nvPr/>
        </p:nvSpPr>
        <p:spPr>
          <a:xfrm>
            <a:off x="1009650" y="3716338"/>
            <a:ext cx="7235825" cy="51911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46038" rIns="92075" bIns="46038" anchor="ctr" anchorCtr="0">
            <a:spAutoFit/>
          </a:bodyPr>
          <a:p>
            <a:pPr marL="342900" indent="-342900" algn="ctr">
              <a:spcBef>
                <a:spcPct val="50000"/>
              </a:spcBef>
              <a:buClr>
                <a:schemeClr val="bg1"/>
              </a:buClr>
              <a:buFont typeface="Monotype Sorts" pitchFamily="2" charset="2"/>
              <a:buAutoNum type="circleNumDbPlain"/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当激励只有一个时，则响应与激励成正比。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4401" name="Text Box 129"/>
          <p:cNvSpPr txBox="1"/>
          <p:nvPr/>
        </p:nvSpPr>
        <p:spPr>
          <a:xfrm>
            <a:off x="971550" y="4292600"/>
            <a:ext cx="5834063" cy="519113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ctr" anchorCtr="0">
            <a:spAutoFit/>
          </a:bodyPr>
          <a:p>
            <a:pPr marL="342900" indent="-342900">
              <a:spcBef>
                <a:spcPct val="50000"/>
              </a:spcBef>
              <a:buClr>
                <a:schemeClr val="bg1"/>
              </a:buClr>
              <a:buFont typeface="Monotype Sorts" pitchFamily="2" charset="2"/>
              <a:buAutoNum type="circleNumDbPlain" startAt="2"/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具有可加性</a:t>
            </a:r>
            <a:r>
              <a:rPr lang="zh-CN" altLang="en-US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b="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54402" name="Group 130"/>
          <p:cNvGrpSpPr/>
          <p:nvPr/>
        </p:nvGrpSpPr>
        <p:grpSpPr>
          <a:xfrm>
            <a:off x="755650" y="2924175"/>
            <a:ext cx="1644650" cy="850900"/>
            <a:chOff x="385" y="3022"/>
            <a:chExt cx="1036" cy="536"/>
          </a:xfrm>
        </p:grpSpPr>
        <p:pic>
          <p:nvPicPr>
            <p:cNvPr id="21516" name="Picture 131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17" name="Text Box 132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21518" name="Group 136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21519" name="Picture 13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20" name="Text Box 138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"/>
                                        <p:tgtEl>
                                          <p:spTgt spid="54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4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4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4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4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4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59" grpId="0"/>
      <p:bldP spid="54399" grpId="0"/>
      <p:bldP spid="54400" grpId="0"/>
      <p:bldP spid="5440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3666" name="Group 2"/>
          <p:cNvGrpSpPr/>
          <p:nvPr/>
        </p:nvGrpSpPr>
        <p:grpSpPr>
          <a:xfrm>
            <a:off x="611188" y="1557338"/>
            <a:ext cx="7272337" cy="2663825"/>
            <a:chOff x="295" y="1888"/>
            <a:chExt cx="4581" cy="1678"/>
          </a:xfrm>
        </p:grpSpPr>
        <p:sp>
          <p:nvSpPr>
            <p:cNvPr id="22530" name="Oval 3"/>
            <p:cNvSpPr/>
            <p:nvPr/>
          </p:nvSpPr>
          <p:spPr>
            <a:xfrm>
              <a:off x="567" y="265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2531" name="Text Box 4"/>
            <p:cNvSpPr txBox="1"/>
            <p:nvPr/>
          </p:nvSpPr>
          <p:spPr>
            <a:xfrm>
              <a:off x="4286" y="1924"/>
              <a:ext cx="17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32" name="Rectangle 5"/>
            <p:cNvSpPr/>
            <p:nvPr/>
          </p:nvSpPr>
          <p:spPr>
            <a:xfrm>
              <a:off x="748" y="2251"/>
              <a:ext cx="4082" cy="1315"/>
            </a:xfrm>
            <a:prstGeom prst="rect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lIns="92075" tIns="46038" rIns="92075" bIns="46038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2533" name="Line 6"/>
            <p:cNvSpPr/>
            <p:nvPr/>
          </p:nvSpPr>
          <p:spPr>
            <a:xfrm>
              <a:off x="1746" y="2251"/>
              <a:ext cx="0" cy="1315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22534" name="Text Box 7"/>
            <p:cNvSpPr txBox="1"/>
            <p:nvPr/>
          </p:nvSpPr>
          <p:spPr>
            <a:xfrm>
              <a:off x="1111" y="1888"/>
              <a:ext cx="3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35" name="Text Box 8"/>
            <p:cNvSpPr txBox="1"/>
            <p:nvPr/>
          </p:nvSpPr>
          <p:spPr>
            <a:xfrm>
              <a:off x="2109" y="1888"/>
              <a:ext cx="38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36" name="Text Box 9"/>
            <p:cNvSpPr txBox="1"/>
            <p:nvPr/>
          </p:nvSpPr>
          <p:spPr>
            <a:xfrm>
              <a:off x="3243" y="1888"/>
              <a:ext cx="33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37" name="Text Box 10"/>
            <p:cNvSpPr txBox="1"/>
            <p:nvPr/>
          </p:nvSpPr>
          <p:spPr>
            <a:xfrm>
              <a:off x="1338" y="2659"/>
              <a:ext cx="35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38" name="Text Box 11"/>
            <p:cNvSpPr txBox="1"/>
            <p:nvPr/>
          </p:nvSpPr>
          <p:spPr>
            <a:xfrm>
              <a:off x="4422" y="2659"/>
              <a:ext cx="38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39" name="Text Box 12"/>
            <p:cNvSpPr txBox="1"/>
            <p:nvPr/>
          </p:nvSpPr>
          <p:spPr>
            <a:xfrm>
              <a:off x="476" y="2341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40" name="Text Box 13"/>
            <p:cNvSpPr txBox="1"/>
            <p:nvPr/>
          </p:nvSpPr>
          <p:spPr>
            <a:xfrm>
              <a:off x="476" y="3022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41" name="Text Box 14"/>
            <p:cNvSpPr txBox="1"/>
            <p:nvPr/>
          </p:nvSpPr>
          <p:spPr>
            <a:xfrm>
              <a:off x="295" y="2659"/>
              <a:ext cx="28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42" name="Line 15"/>
            <p:cNvSpPr/>
            <p:nvPr/>
          </p:nvSpPr>
          <p:spPr>
            <a:xfrm>
              <a:off x="4150" y="2296"/>
              <a:ext cx="408" cy="0"/>
            </a:xfrm>
            <a:prstGeom prst="line">
              <a:avLst/>
            </a:prstGeom>
            <a:ln w="28575" cap="sq" cmpd="sng">
              <a:solidFill>
                <a:srgbClr val="66FFFF"/>
              </a:solidFill>
              <a:prstDash val="solid"/>
              <a:round/>
              <a:headEnd type="none" w="sm" len="sm"/>
              <a:tailEnd type="triangle" w="med" len="med"/>
            </a:ln>
          </p:spPr>
        </p:sp>
        <p:sp>
          <p:nvSpPr>
            <p:cNvPr id="22543" name="Text Box 16"/>
            <p:cNvSpPr txBox="1"/>
            <p:nvPr/>
          </p:nvSpPr>
          <p:spPr>
            <a:xfrm>
              <a:off x="3515" y="2659"/>
              <a:ext cx="3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44" name="Text Box 17"/>
            <p:cNvSpPr txBox="1"/>
            <p:nvPr/>
          </p:nvSpPr>
          <p:spPr>
            <a:xfrm>
              <a:off x="2426" y="2659"/>
              <a:ext cx="33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45" name="Line 18"/>
            <p:cNvSpPr/>
            <p:nvPr/>
          </p:nvSpPr>
          <p:spPr>
            <a:xfrm>
              <a:off x="3923" y="2251"/>
              <a:ext cx="0" cy="1315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22546" name="Line 19"/>
            <p:cNvSpPr/>
            <p:nvPr/>
          </p:nvSpPr>
          <p:spPr>
            <a:xfrm>
              <a:off x="2835" y="2251"/>
              <a:ext cx="0" cy="1315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22547" name="Rectangle 20"/>
            <p:cNvSpPr/>
            <p:nvPr/>
          </p:nvSpPr>
          <p:spPr>
            <a:xfrm>
              <a:off x="1664" y="27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2548" name="Rectangle 21"/>
            <p:cNvSpPr/>
            <p:nvPr/>
          </p:nvSpPr>
          <p:spPr>
            <a:xfrm>
              <a:off x="2753" y="27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2549" name="Rectangle 22"/>
            <p:cNvSpPr/>
            <p:nvPr/>
          </p:nvSpPr>
          <p:spPr>
            <a:xfrm>
              <a:off x="3842" y="27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2550" name="Rectangle 23"/>
            <p:cNvSpPr/>
            <p:nvPr/>
          </p:nvSpPr>
          <p:spPr>
            <a:xfrm>
              <a:off x="4749" y="27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2551" name="Rectangle 24"/>
            <p:cNvSpPr/>
            <p:nvPr/>
          </p:nvSpPr>
          <p:spPr>
            <a:xfrm>
              <a:off x="1111" y="220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2552" name="Rectangle 25"/>
            <p:cNvSpPr/>
            <p:nvPr/>
          </p:nvSpPr>
          <p:spPr>
            <a:xfrm>
              <a:off x="3243" y="220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2553" name="Rectangle 26"/>
            <p:cNvSpPr/>
            <p:nvPr/>
          </p:nvSpPr>
          <p:spPr>
            <a:xfrm>
              <a:off x="2109" y="220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113691" name="Text Box 27"/>
          <p:cNvSpPr txBox="1"/>
          <p:nvPr/>
        </p:nvSpPr>
        <p:spPr>
          <a:xfrm>
            <a:off x="641350" y="692150"/>
            <a:ext cx="592138" cy="579438"/>
          </a:xfrm>
          <a:prstGeom prst="rect">
            <a:avLst/>
          </a:prstGeom>
          <a:noFill/>
          <a:ln w="12700">
            <a:noFill/>
          </a:ln>
        </p:spPr>
        <p:txBody>
          <a:bodyPr wrap="none" lIns="92075" tIns="46038" rIns="92075" bIns="46038" anchor="ctr" anchorCtr="0">
            <a:spAutoFit/>
          </a:bodyPr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92" name="Text Box 28"/>
          <p:cNvSpPr txBox="1"/>
          <p:nvPr/>
        </p:nvSpPr>
        <p:spPr>
          <a:xfrm>
            <a:off x="1619250" y="4568825"/>
            <a:ext cx="4105275" cy="519113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ctr" anchorCtr="0">
            <a:spAutoFit/>
          </a:bodyPr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采用倒推法：设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i'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=1A</a:t>
            </a:r>
            <a:endParaRPr lang="en-US" altLang="zh-CN" baseline="300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3693" name="Text Box 29"/>
          <p:cNvSpPr txBox="1"/>
          <p:nvPr/>
        </p:nvSpPr>
        <p:spPr>
          <a:xfrm>
            <a:off x="660400" y="5289550"/>
            <a:ext cx="541338" cy="519113"/>
          </a:xfrm>
          <a:prstGeom prst="rect">
            <a:avLst/>
          </a:prstGeom>
          <a:noFill/>
          <a:ln w="12700">
            <a:noFill/>
          </a:ln>
        </p:spPr>
        <p:txBody>
          <a:bodyPr wrap="none" lIns="92075" tIns="46038" rIns="92075" bIns="46038" anchor="ctr" anchorCtr="0">
            <a:spAutoFit/>
          </a:bodyPr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3694" name="Text Box 30"/>
          <p:cNvSpPr txBox="1"/>
          <p:nvPr/>
        </p:nvSpPr>
        <p:spPr>
          <a:xfrm>
            <a:off x="6443663" y="677863"/>
            <a:ext cx="2232025" cy="519112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ctr" anchorCtr="0">
            <a:spAutoFit/>
          </a:bodyPr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求电流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endParaRPr lang="en-US" altLang="zh-CN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3695" name="Text Box 31"/>
          <p:cNvSpPr txBox="1"/>
          <p:nvPr/>
        </p:nvSpPr>
        <p:spPr>
          <a:xfrm>
            <a:off x="1258888" y="692150"/>
            <a:ext cx="5976937" cy="519113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ctr" anchorCtr="0">
            <a:spAutoFit/>
          </a:bodyPr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en-US" altLang="zh-CN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b="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   </a:t>
            </a:r>
            <a:r>
              <a:rPr lang="en-US" altLang="zh-CN" b="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="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rPr>
              <a:t>=1 </a:t>
            </a: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   </a:t>
            </a:r>
            <a:r>
              <a:rPr lang="en-US" altLang="zh-CN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b="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rPr>
              <a:t>=1 </a:t>
            </a: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  </a:t>
            </a:r>
            <a:r>
              <a:rPr lang="en-US" altLang="zh-CN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rPr>
              <a:t>=51V</a:t>
            </a:r>
            <a:r>
              <a:rPr lang="zh-CN" altLang="en-US" b="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zh-CN" altLang="en-US" b="0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13696" name="Group 32"/>
          <p:cNvGrpSpPr/>
          <p:nvPr/>
        </p:nvGrpSpPr>
        <p:grpSpPr>
          <a:xfrm>
            <a:off x="7885113" y="2492375"/>
            <a:ext cx="831850" cy="1281113"/>
            <a:chOff x="5328" y="2909"/>
            <a:chExt cx="524" cy="807"/>
          </a:xfrm>
        </p:grpSpPr>
        <p:sp>
          <p:nvSpPr>
            <p:cNvPr id="22560" name="Text Box 33"/>
            <p:cNvSpPr txBox="1"/>
            <p:nvPr/>
          </p:nvSpPr>
          <p:spPr>
            <a:xfrm>
              <a:off x="5367" y="2909"/>
              <a:ext cx="24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61" name="Text Box 34"/>
            <p:cNvSpPr txBox="1"/>
            <p:nvPr/>
          </p:nvSpPr>
          <p:spPr>
            <a:xfrm>
              <a:off x="5368" y="3389"/>
              <a:ext cx="22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62" name="Text Box 35"/>
            <p:cNvSpPr txBox="1"/>
            <p:nvPr/>
          </p:nvSpPr>
          <p:spPr>
            <a:xfrm>
              <a:off x="5328" y="3149"/>
              <a:ext cx="52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3700" name="Group 36"/>
          <p:cNvGrpSpPr/>
          <p:nvPr/>
        </p:nvGrpSpPr>
        <p:grpSpPr>
          <a:xfrm>
            <a:off x="6443663" y="3357563"/>
            <a:ext cx="863600" cy="519112"/>
            <a:chOff x="4689" y="3292"/>
            <a:chExt cx="351" cy="327"/>
          </a:xfrm>
        </p:grpSpPr>
        <p:sp>
          <p:nvSpPr>
            <p:cNvPr id="22564" name="Line 37"/>
            <p:cNvSpPr/>
            <p:nvPr/>
          </p:nvSpPr>
          <p:spPr>
            <a:xfrm>
              <a:off x="4704" y="3312"/>
              <a:ext cx="0" cy="288"/>
            </a:xfrm>
            <a:prstGeom prst="line">
              <a:avLst/>
            </a:prstGeom>
            <a:ln w="38100" cap="sq" cmpd="sng">
              <a:solidFill>
                <a:srgbClr val="66FFFF"/>
              </a:solidFill>
              <a:prstDash val="solid"/>
              <a:round/>
              <a:headEnd type="none" w="sm" len="sm"/>
              <a:tailEnd type="triangle" w="med" len="med"/>
            </a:ln>
          </p:spPr>
        </p:sp>
        <p:sp>
          <p:nvSpPr>
            <p:cNvPr id="22565" name="Text Box 38"/>
            <p:cNvSpPr txBox="1"/>
            <p:nvPr/>
          </p:nvSpPr>
          <p:spPr>
            <a:xfrm>
              <a:off x="4689" y="3292"/>
              <a:ext cx="35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3703" name="Group 39"/>
          <p:cNvGrpSpPr/>
          <p:nvPr/>
        </p:nvGrpSpPr>
        <p:grpSpPr>
          <a:xfrm>
            <a:off x="5003800" y="2133600"/>
            <a:ext cx="1177925" cy="595313"/>
            <a:chOff x="4215" y="3677"/>
            <a:chExt cx="742" cy="375"/>
          </a:xfrm>
        </p:grpSpPr>
        <p:sp>
          <p:nvSpPr>
            <p:cNvPr id="22567" name="Text Box 40"/>
            <p:cNvSpPr txBox="1"/>
            <p:nvPr/>
          </p:nvSpPr>
          <p:spPr>
            <a:xfrm>
              <a:off x="4215" y="3677"/>
              <a:ext cx="24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68" name="Text Box 41"/>
            <p:cNvSpPr txBox="1"/>
            <p:nvPr/>
          </p:nvSpPr>
          <p:spPr>
            <a:xfrm>
              <a:off x="4729" y="3677"/>
              <a:ext cx="22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69" name="Text Box 42"/>
            <p:cNvSpPr txBox="1"/>
            <p:nvPr/>
          </p:nvSpPr>
          <p:spPr>
            <a:xfrm>
              <a:off x="4387" y="3725"/>
              <a:ext cx="39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3707" name="Group 43"/>
          <p:cNvGrpSpPr/>
          <p:nvPr/>
        </p:nvGrpSpPr>
        <p:grpSpPr>
          <a:xfrm>
            <a:off x="3203575" y="2133600"/>
            <a:ext cx="1112838" cy="671513"/>
            <a:chOff x="2919" y="2429"/>
            <a:chExt cx="701" cy="423"/>
          </a:xfrm>
        </p:grpSpPr>
        <p:sp>
          <p:nvSpPr>
            <p:cNvPr id="22571" name="Text Box 44"/>
            <p:cNvSpPr txBox="1"/>
            <p:nvPr/>
          </p:nvSpPr>
          <p:spPr>
            <a:xfrm>
              <a:off x="2919" y="2429"/>
              <a:ext cx="24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72" name="Text Box 45"/>
            <p:cNvSpPr txBox="1"/>
            <p:nvPr/>
          </p:nvSpPr>
          <p:spPr>
            <a:xfrm>
              <a:off x="3392" y="2429"/>
              <a:ext cx="22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73" name="Text Box 46"/>
            <p:cNvSpPr txBox="1"/>
            <p:nvPr/>
          </p:nvSpPr>
          <p:spPr>
            <a:xfrm>
              <a:off x="3086" y="2525"/>
              <a:ext cx="39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3711" name="Group 47"/>
          <p:cNvGrpSpPr/>
          <p:nvPr/>
        </p:nvGrpSpPr>
        <p:grpSpPr>
          <a:xfrm>
            <a:off x="1547813" y="2060575"/>
            <a:ext cx="1125537" cy="661988"/>
            <a:chOff x="1329" y="463"/>
            <a:chExt cx="709" cy="417"/>
          </a:xfrm>
        </p:grpSpPr>
        <p:sp>
          <p:nvSpPr>
            <p:cNvPr id="22575" name="Text Box 48"/>
            <p:cNvSpPr txBox="1"/>
            <p:nvPr/>
          </p:nvSpPr>
          <p:spPr>
            <a:xfrm>
              <a:off x="1329" y="511"/>
              <a:ext cx="24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76" name="Text Box 49"/>
            <p:cNvSpPr txBox="1"/>
            <p:nvPr/>
          </p:nvSpPr>
          <p:spPr>
            <a:xfrm>
              <a:off x="1810" y="463"/>
              <a:ext cx="22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77" name="Text Box 50"/>
            <p:cNvSpPr txBox="1"/>
            <p:nvPr/>
          </p:nvSpPr>
          <p:spPr>
            <a:xfrm>
              <a:off x="1455" y="553"/>
              <a:ext cx="50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21V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3715" name="Group 51"/>
          <p:cNvGrpSpPr/>
          <p:nvPr/>
        </p:nvGrpSpPr>
        <p:grpSpPr>
          <a:xfrm>
            <a:off x="1331913" y="2492375"/>
            <a:ext cx="1555750" cy="1527175"/>
            <a:chOff x="839" y="1570"/>
            <a:chExt cx="980" cy="962"/>
          </a:xfrm>
        </p:grpSpPr>
        <p:grpSp>
          <p:nvGrpSpPr>
            <p:cNvPr id="22579" name="Group 52"/>
            <p:cNvGrpSpPr/>
            <p:nvPr/>
          </p:nvGrpSpPr>
          <p:grpSpPr>
            <a:xfrm>
              <a:off x="930" y="1570"/>
              <a:ext cx="255" cy="711"/>
              <a:chOff x="736" y="2333"/>
              <a:chExt cx="92" cy="711"/>
            </a:xfrm>
          </p:grpSpPr>
          <p:sp>
            <p:nvSpPr>
              <p:cNvPr id="22580" name="Text Box 53"/>
              <p:cNvSpPr txBox="1"/>
              <p:nvPr/>
            </p:nvSpPr>
            <p:spPr>
              <a:xfrm>
                <a:off x="741" y="2333"/>
                <a:ext cx="87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2075" tIns="46038" rIns="92075" bIns="46038" anchor="ctr" anchorCtr="0">
                <a:spAutoFit/>
              </a:bodyPr>
              <a:p>
                <a:pPr algn="ctr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581" name="Text Box 54"/>
              <p:cNvSpPr txBox="1"/>
              <p:nvPr/>
            </p:nvSpPr>
            <p:spPr>
              <a:xfrm>
                <a:off x="736" y="2717"/>
                <a:ext cx="82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2075" tIns="46038" rIns="92075" bIns="46038" anchor="ctr" anchorCtr="0">
                <a:spAutoFit/>
              </a:bodyPr>
              <a:p>
                <a:pPr algn="ctr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–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2582" name="Text Box 55"/>
            <p:cNvSpPr txBox="1"/>
            <p:nvPr/>
          </p:nvSpPr>
          <p:spPr>
            <a:xfrm>
              <a:off x="839" y="2205"/>
              <a:ext cx="98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r>
                <a:rPr lang="en-US" altLang="zh-CN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'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=34V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3720" name="Group 56"/>
          <p:cNvGrpSpPr/>
          <p:nvPr/>
        </p:nvGrpSpPr>
        <p:grpSpPr>
          <a:xfrm>
            <a:off x="4643438" y="1557338"/>
            <a:ext cx="619125" cy="519112"/>
            <a:chOff x="4290" y="1546"/>
            <a:chExt cx="390" cy="327"/>
          </a:xfrm>
        </p:grpSpPr>
        <p:sp>
          <p:nvSpPr>
            <p:cNvPr id="22584" name="Text Box 57"/>
            <p:cNvSpPr txBox="1"/>
            <p:nvPr/>
          </p:nvSpPr>
          <p:spPr>
            <a:xfrm>
              <a:off x="4290" y="1546"/>
              <a:ext cx="39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85" name="Line 58"/>
            <p:cNvSpPr/>
            <p:nvPr/>
          </p:nvSpPr>
          <p:spPr>
            <a:xfrm>
              <a:off x="4368" y="1834"/>
              <a:ext cx="240" cy="0"/>
            </a:xfrm>
            <a:prstGeom prst="line">
              <a:avLst/>
            </a:prstGeom>
            <a:ln w="28575" cap="sq" cmpd="sng">
              <a:solidFill>
                <a:srgbClr val="66FFFF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113723" name="Group 59"/>
          <p:cNvGrpSpPr/>
          <p:nvPr/>
        </p:nvGrpSpPr>
        <p:grpSpPr>
          <a:xfrm>
            <a:off x="2916238" y="1557338"/>
            <a:ext cx="619125" cy="519112"/>
            <a:chOff x="3426" y="1546"/>
            <a:chExt cx="390" cy="327"/>
          </a:xfrm>
        </p:grpSpPr>
        <p:sp>
          <p:nvSpPr>
            <p:cNvPr id="22587" name="Text Box 60"/>
            <p:cNvSpPr txBox="1"/>
            <p:nvPr/>
          </p:nvSpPr>
          <p:spPr>
            <a:xfrm>
              <a:off x="3426" y="1546"/>
              <a:ext cx="3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88" name="Line 61"/>
            <p:cNvSpPr/>
            <p:nvPr/>
          </p:nvSpPr>
          <p:spPr>
            <a:xfrm>
              <a:off x="3504" y="1834"/>
              <a:ext cx="240" cy="0"/>
            </a:xfrm>
            <a:prstGeom prst="line">
              <a:avLst/>
            </a:prstGeom>
            <a:ln w="28575" cap="sq" cmpd="sng">
              <a:solidFill>
                <a:srgbClr val="66FFFF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113726" name="Group 62"/>
          <p:cNvGrpSpPr/>
          <p:nvPr/>
        </p:nvGrpSpPr>
        <p:grpSpPr>
          <a:xfrm>
            <a:off x="1187450" y="1557338"/>
            <a:ext cx="796925" cy="519112"/>
            <a:chOff x="2482" y="1546"/>
            <a:chExt cx="502" cy="327"/>
          </a:xfrm>
        </p:grpSpPr>
        <p:sp>
          <p:nvSpPr>
            <p:cNvPr id="22590" name="Text Box 63"/>
            <p:cNvSpPr txBox="1"/>
            <p:nvPr/>
          </p:nvSpPr>
          <p:spPr>
            <a:xfrm>
              <a:off x="2482" y="1546"/>
              <a:ext cx="50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21A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91" name="Line 64"/>
            <p:cNvSpPr/>
            <p:nvPr/>
          </p:nvSpPr>
          <p:spPr>
            <a:xfrm>
              <a:off x="2592" y="1834"/>
              <a:ext cx="240" cy="0"/>
            </a:xfrm>
            <a:prstGeom prst="line">
              <a:avLst/>
            </a:prstGeom>
            <a:ln w="28575" cap="sq" cmpd="sng">
              <a:solidFill>
                <a:srgbClr val="66FFFF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113729" name="Group 65"/>
          <p:cNvGrpSpPr/>
          <p:nvPr/>
        </p:nvGrpSpPr>
        <p:grpSpPr>
          <a:xfrm>
            <a:off x="4716463" y="2852738"/>
            <a:ext cx="619125" cy="519112"/>
            <a:chOff x="3854" y="2228"/>
            <a:chExt cx="390" cy="327"/>
          </a:xfrm>
        </p:grpSpPr>
        <p:sp>
          <p:nvSpPr>
            <p:cNvPr id="22593" name="Text Box 66"/>
            <p:cNvSpPr txBox="1"/>
            <p:nvPr/>
          </p:nvSpPr>
          <p:spPr>
            <a:xfrm>
              <a:off x="3854" y="2228"/>
              <a:ext cx="3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94" name="Line 67"/>
            <p:cNvSpPr/>
            <p:nvPr/>
          </p:nvSpPr>
          <p:spPr>
            <a:xfrm>
              <a:off x="3888" y="2266"/>
              <a:ext cx="0" cy="288"/>
            </a:xfrm>
            <a:prstGeom prst="line">
              <a:avLst/>
            </a:prstGeom>
            <a:ln w="28575" cap="sq" cmpd="sng">
              <a:solidFill>
                <a:srgbClr val="66FFFF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113732" name="Group 68"/>
          <p:cNvGrpSpPr/>
          <p:nvPr/>
        </p:nvGrpSpPr>
        <p:grpSpPr>
          <a:xfrm>
            <a:off x="2987675" y="2781300"/>
            <a:ext cx="796925" cy="519113"/>
            <a:chOff x="2934" y="2228"/>
            <a:chExt cx="502" cy="327"/>
          </a:xfrm>
        </p:grpSpPr>
        <p:sp>
          <p:nvSpPr>
            <p:cNvPr id="22596" name="Text Box 69"/>
            <p:cNvSpPr txBox="1"/>
            <p:nvPr/>
          </p:nvSpPr>
          <p:spPr>
            <a:xfrm>
              <a:off x="2934" y="2228"/>
              <a:ext cx="50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13A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97" name="Line 70"/>
            <p:cNvSpPr/>
            <p:nvPr/>
          </p:nvSpPr>
          <p:spPr>
            <a:xfrm>
              <a:off x="2976" y="2266"/>
              <a:ext cx="0" cy="288"/>
            </a:xfrm>
            <a:prstGeom prst="line">
              <a:avLst/>
            </a:prstGeom>
            <a:ln w="38100" cap="sq" cmpd="sng">
              <a:solidFill>
                <a:srgbClr val="66FFFF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113735" name="Group 71"/>
          <p:cNvGrpSpPr/>
          <p:nvPr/>
        </p:nvGrpSpPr>
        <p:grpSpPr>
          <a:xfrm>
            <a:off x="7164388" y="1700213"/>
            <a:ext cx="1109662" cy="519112"/>
            <a:chOff x="5032" y="1517"/>
            <a:chExt cx="699" cy="327"/>
          </a:xfrm>
        </p:grpSpPr>
        <p:sp>
          <p:nvSpPr>
            <p:cNvPr id="22599" name="Line 72"/>
            <p:cNvSpPr/>
            <p:nvPr/>
          </p:nvSpPr>
          <p:spPr>
            <a:xfrm flipV="1">
              <a:off x="5184" y="1834"/>
              <a:ext cx="240" cy="0"/>
            </a:xfrm>
            <a:prstGeom prst="line">
              <a:avLst/>
            </a:prstGeom>
            <a:ln w="38100" cap="sq" cmpd="sng">
              <a:solidFill>
                <a:srgbClr val="66FFFF"/>
              </a:solidFill>
              <a:prstDash val="solid"/>
              <a:round/>
              <a:headEnd type="none" w="sm" len="sm"/>
              <a:tailEnd type="triangle" w="med" len="med"/>
            </a:ln>
          </p:spPr>
        </p:sp>
        <p:sp>
          <p:nvSpPr>
            <p:cNvPr id="22600" name="Text Box 73"/>
            <p:cNvSpPr txBox="1"/>
            <p:nvPr/>
          </p:nvSpPr>
          <p:spPr>
            <a:xfrm>
              <a:off x="5032" y="1517"/>
              <a:ext cx="69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2075" tIns="46038" rIns="92075" bIns="46038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'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13738" name="Object 74"/>
          <p:cNvGraphicFramePr>
            <a:graphicFrameLocks noChangeAspect="1"/>
          </p:cNvGraphicFramePr>
          <p:nvPr/>
        </p:nvGraphicFramePr>
        <p:xfrm>
          <a:off x="1403350" y="5103813"/>
          <a:ext cx="5891213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" imgW="2315210" imgH="427990" progId="Equation.3">
                  <p:embed/>
                </p:oleObj>
              </mc:Choice>
              <mc:Fallback>
                <p:oleObj name="" r:id="rId1" imgW="2315210" imgH="427990" progId="Equation.3">
                  <p:embed/>
                  <p:pic>
                    <p:nvPicPr>
                      <p:cNvPr id="0" name="20 309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3350" y="5103813"/>
                        <a:ext cx="5891213" cy="113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739" name="Text Box 75"/>
          <p:cNvSpPr txBox="1"/>
          <p:nvPr/>
        </p:nvSpPr>
        <p:spPr>
          <a:xfrm>
            <a:off x="860425" y="4527550"/>
            <a:ext cx="542925" cy="519113"/>
          </a:xfrm>
          <a:prstGeom prst="rect">
            <a:avLst/>
          </a:prstGeom>
          <a:solidFill>
            <a:srgbClr val="990033"/>
          </a:solidFill>
          <a:ln w="12700">
            <a:noFill/>
          </a:ln>
        </p:spPr>
        <p:txBody>
          <a:bodyPr wrap="none" lIns="92075" tIns="46038" rIns="92075" bIns="46038" anchor="ctr" anchorCtr="0">
            <a:spAutoFit/>
          </a:bodyPr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2603" name="Group 7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2604" name="Picture 78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605" name="Text Box 7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2606" name="Group 8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2607" name="Picture 81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608" name="Text Box 8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2609" name="Group 86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22610" name="Picture 87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611" name="Text Box 88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36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36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3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13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13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113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0"/>
                            </p:stCondLst>
                            <p:childTnLst>
                              <p:par>
                                <p:cTn id="2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113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37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37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3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3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113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70" decel="100000"/>
                                        <p:tgtEl>
                                          <p:spTgt spid="1137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770" decel="100000"/>
                                        <p:tgtEl>
                                          <p:spTgt spid="11373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373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3" dur="770" fill="hold"/>
                                        <p:tgtEl>
                                          <p:spTgt spid="113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3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5" dur="770" fill="hold"/>
                                        <p:tgtEl>
                                          <p:spTgt spid="113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3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13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13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1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13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1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1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13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1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13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96" dur="2000"/>
                                        <p:tgtEl>
                                          <p:spTgt spid="113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11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9" dur="3000"/>
                                        <p:tgtEl>
                                          <p:spTgt spid="11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91" grpId="0"/>
      <p:bldP spid="113692" grpId="0"/>
      <p:bldP spid="113693" grpId="0"/>
      <p:bldP spid="113694" grpId="0"/>
      <p:bldP spid="113695" grpId="0"/>
      <p:bldP spid="11373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Text Box 2" descr="新闻纸"/>
          <p:cNvSpPr txBox="1"/>
          <p:nvPr/>
        </p:nvSpPr>
        <p:spPr>
          <a:xfrm>
            <a:off x="2051050" y="404813"/>
            <a:ext cx="5472113" cy="823912"/>
          </a:xfrm>
          <a:prstGeom prst="rect">
            <a:avLst/>
          </a:prstGeom>
          <a:noFill/>
          <a:ln w="9525">
            <a:noFill/>
          </a:ln>
          <a:effectLst>
            <a:prstShdw prst="shdw17" dist="17961" dir="2699999">
              <a:srgbClr val="959595"/>
            </a:prstShdw>
          </a:effectLst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4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4.2 </a:t>
            </a:r>
            <a:r>
              <a:rPr lang="zh-CN" altLang="en-US" sz="4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替代定理</a:t>
            </a:r>
            <a:endParaRPr lang="zh-CN" altLang="en-US" sz="3200" b="0" dirty="0">
              <a:solidFill>
                <a:schemeClr val="bg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52227" name="Text Box 3"/>
          <p:cNvSpPr txBox="1"/>
          <p:nvPr/>
        </p:nvSpPr>
        <p:spPr>
          <a:xfrm>
            <a:off x="684213" y="1916113"/>
            <a:ext cx="7632700" cy="31686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571500" algn="just">
              <a:lnSpc>
                <a:spcPct val="120000"/>
              </a:lnSpc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对于给定的任意一个电路，若某一支路电压为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、电流为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，那么这条支路就可以用一个电压等于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的独立电压源，或者用一个电流等于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的独立电流源，或用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R=u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/i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的电阻来替代，替代后电路中全部电压和电流均保持原有值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解答唯一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2247" name="Text Box 23"/>
          <p:cNvSpPr txBox="1"/>
          <p:nvPr/>
        </p:nvSpPr>
        <p:spPr>
          <a:xfrm>
            <a:off x="539750" y="1341438"/>
            <a:ext cx="273685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1.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替代定理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3556" name="Group 6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3557" name="Picture 6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58" name="Text Box 6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3559" name="Group 6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3560" name="Picture 6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61" name="Text Box 7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3562" name="Group 77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23563" name="Picture 7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64" name="Text Box 79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/>
      <p:bldP spid="52227" grpId="0"/>
      <p:bldP spid="5224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8108" name="Group 44"/>
          <p:cNvGrpSpPr/>
          <p:nvPr/>
        </p:nvGrpSpPr>
        <p:grpSpPr>
          <a:xfrm>
            <a:off x="684213" y="2133600"/>
            <a:ext cx="1412875" cy="2376488"/>
            <a:chOff x="431" y="1344"/>
            <a:chExt cx="890" cy="1497"/>
          </a:xfrm>
        </p:grpSpPr>
        <p:sp>
          <p:nvSpPr>
            <p:cNvPr id="25602" name="Line 12"/>
            <p:cNvSpPr/>
            <p:nvPr/>
          </p:nvSpPr>
          <p:spPr>
            <a:xfrm>
              <a:off x="748" y="1344"/>
              <a:ext cx="0" cy="149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25603" name="Text Box 13"/>
            <p:cNvSpPr txBox="1"/>
            <p:nvPr/>
          </p:nvSpPr>
          <p:spPr>
            <a:xfrm>
              <a:off x="567" y="1797"/>
              <a:ext cx="408" cy="70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004747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anchor="t" anchorCtr="0">
              <a:spAutoFit/>
            </a:bodyPr>
            <a:p>
              <a:pPr algn="just">
                <a:lnSpc>
                  <a:spcPct val="80000"/>
                </a:lnSpc>
                <a:buClrTx/>
                <a:buFontTx/>
              </a:pPr>
              <a:r>
                <a:rPr lang="zh-CN" altLang="en-US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支</a:t>
              </a:r>
              <a:endPara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algn="just">
                <a:lnSpc>
                  <a:spcPct val="80000"/>
                </a:lnSpc>
                <a:buClrTx/>
                <a:buFontTx/>
              </a:pPr>
              <a:r>
                <a:rPr lang="zh-CN" altLang="en-US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路</a:t>
              </a:r>
              <a:endPara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algn="just">
                <a:lnSpc>
                  <a:spcPct val="80000"/>
                </a:lnSpc>
                <a:buClrTx/>
                <a:buFontTx/>
              </a:pPr>
              <a:r>
                <a:rPr lang="zh-CN" altLang="en-US" b="0" i="1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en-US" altLang="zh-CN" b="0" i="1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</a:t>
              </a:r>
              <a:r>
                <a:rPr lang="en-US" altLang="zh-CN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      </a:t>
              </a:r>
              <a:endParaRPr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5604" name="Line 14"/>
            <p:cNvSpPr/>
            <p:nvPr/>
          </p:nvSpPr>
          <p:spPr>
            <a:xfrm>
              <a:off x="839" y="1389"/>
              <a:ext cx="8" cy="296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05" name="Text Box 15"/>
            <p:cNvSpPr txBox="1"/>
            <p:nvPr/>
          </p:nvSpPr>
          <p:spPr>
            <a:xfrm>
              <a:off x="431" y="1389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06" name="Text Box 16"/>
            <p:cNvSpPr txBox="1"/>
            <p:nvPr/>
          </p:nvSpPr>
          <p:spPr>
            <a:xfrm>
              <a:off x="975" y="1525"/>
              <a:ext cx="1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07" name="Text Box 17"/>
            <p:cNvSpPr txBox="1"/>
            <p:nvPr/>
          </p:nvSpPr>
          <p:spPr>
            <a:xfrm>
              <a:off x="975" y="2387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08" name="Text Box 18"/>
            <p:cNvSpPr txBox="1"/>
            <p:nvPr/>
          </p:nvSpPr>
          <p:spPr>
            <a:xfrm>
              <a:off x="975" y="1923"/>
              <a:ext cx="34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8083" name="AutoShape 19"/>
          <p:cNvSpPr/>
          <p:nvPr/>
        </p:nvSpPr>
        <p:spPr>
          <a:xfrm>
            <a:off x="2195513" y="1341438"/>
            <a:ext cx="720725" cy="215900"/>
          </a:xfrm>
          <a:prstGeom prst="rightArrow">
            <a:avLst>
              <a:gd name="adj1" fmla="val 50000"/>
              <a:gd name="adj2" fmla="val 83440"/>
            </a:avLst>
          </a:prstGeom>
          <a:solidFill>
            <a:srgbClr val="00CCFF"/>
          </a:solidFill>
          <a:ln w="19050">
            <a:noFill/>
          </a:ln>
        </p:spPr>
        <p:txBody>
          <a:bodyPr lIns="90000" tIns="46800" rIns="90000" bIns="46800" anchor="ctr" anchorCtr="0">
            <a:spAutoFit/>
          </a:bodyPr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88084" name="AutoShape 20"/>
          <p:cNvSpPr/>
          <p:nvPr/>
        </p:nvSpPr>
        <p:spPr>
          <a:xfrm>
            <a:off x="3419475" y="3357563"/>
            <a:ext cx="792163" cy="215900"/>
          </a:xfrm>
          <a:prstGeom prst="rightArrow">
            <a:avLst>
              <a:gd name="adj1" fmla="val 50000"/>
              <a:gd name="adj2" fmla="val 91711"/>
            </a:avLst>
          </a:prstGeom>
          <a:solidFill>
            <a:srgbClr val="00CCFF"/>
          </a:solidFill>
          <a:ln w="19050">
            <a:noFill/>
          </a:ln>
        </p:spPr>
        <p:txBody>
          <a:bodyPr lIns="90000" tIns="46800" rIns="90000" bIns="46800" anchor="ctr" anchorCtr="0">
            <a:spAutoFit/>
          </a:bodyPr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88110" name="Group 46"/>
          <p:cNvGrpSpPr/>
          <p:nvPr/>
        </p:nvGrpSpPr>
        <p:grpSpPr>
          <a:xfrm>
            <a:off x="3276600" y="692150"/>
            <a:ext cx="1125538" cy="2160588"/>
            <a:chOff x="2064" y="436"/>
            <a:chExt cx="709" cy="1361"/>
          </a:xfrm>
        </p:grpSpPr>
        <p:sp>
          <p:nvSpPr>
            <p:cNvPr id="25612" name="Oval 45"/>
            <p:cNvSpPr/>
            <p:nvPr/>
          </p:nvSpPr>
          <p:spPr>
            <a:xfrm>
              <a:off x="2064" y="89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cxnSp>
          <p:nvCxnSpPr>
            <p:cNvPr id="25613" name="AutoShape 23"/>
            <p:cNvCxnSpPr/>
            <p:nvPr/>
          </p:nvCxnSpPr>
          <p:spPr>
            <a:xfrm>
              <a:off x="2253" y="923"/>
              <a:ext cx="0" cy="312"/>
            </a:xfrm>
            <a:prstGeom prst="straightConnector1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614" name="Text Box 24"/>
            <p:cNvSpPr txBox="1"/>
            <p:nvPr/>
          </p:nvSpPr>
          <p:spPr>
            <a:xfrm>
              <a:off x="2382" y="663"/>
              <a:ext cx="1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15" name="Text Box 25"/>
            <p:cNvSpPr txBox="1"/>
            <p:nvPr/>
          </p:nvSpPr>
          <p:spPr>
            <a:xfrm>
              <a:off x="2382" y="1253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16" name="Text Box 26"/>
            <p:cNvSpPr txBox="1"/>
            <p:nvPr/>
          </p:nvSpPr>
          <p:spPr>
            <a:xfrm>
              <a:off x="2427" y="935"/>
              <a:ext cx="34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17" name="Line 27"/>
            <p:cNvSpPr/>
            <p:nvPr/>
          </p:nvSpPr>
          <p:spPr>
            <a:xfrm>
              <a:off x="2246" y="436"/>
              <a:ext cx="0" cy="136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</p:grpSp>
      <p:sp>
        <p:nvSpPr>
          <p:cNvPr id="88101" name="AutoShape 37"/>
          <p:cNvSpPr/>
          <p:nvPr/>
        </p:nvSpPr>
        <p:spPr>
          <a:xfrm>
            <a:off x="4716463" y="5229225"/>
            <a:ext cx="863600" cy="2159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00CCFF"/>
          </a:solidFill>
          <a:ln w="19050">
            <a:noFill/>
          </a:ln>
        </p:spPr>
        <p:txBody>
          <a:bodyPr lIns="90000" tIns="46800" rIns="90000" bIns="46800" anchor="ctr" anchorCtr="0">
            <a:spAutoFit/>
          </a:bodyPr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25619" name="Group 3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5620" name="Picture 3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21" name="Text Box 4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5622" name="Group 4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5623" name="Picture 4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24" name="Text Box 4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8116" name="Group 52"/>
          <p:cNvGrpSpPr/>
          <p:nvPr/>
        </p:nvGrpSpPr>
        <p:grpSpPr>
          <a:xfrm>
            <a:off x="5867400" y="4005263"/>
            <a:ext cx="1947863" cy="2376487"/>
            <a:chOff x="3696" y="2523"/>
            <a:chExt cx="1227" cy="1497"/>
          </a:xfrm>
        </p:grpSpPr>
        <p:sp>
          <p:nvSpPr>
            <p:cNvPr id="25626" name="Line 29"/>
            <p:cNvSpPr/>
            <p:nvPr/>
          </p:nvSpPr>
          <p:spPr>
            <a:xfrm>
              <a:off x="4058" y="2523"/>
              <a:ext cx="0" cy="149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25627" name="Line 30"/>
            <p:cNvSpPr/>
            <p:nvPr/>
          </p:nvSpPr>
          <p:spPr>
            <a:xfrm>
              <a:off x="4149" y="2568"/>
              <a:ext cx="8" cy="296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28" name="Text Box 31"/>
            <p:cNvSpPr txBox="1"/>
            <p:nvPr/>
          </p:nvSpPr>
          <p:spPr>
            <a:xfrm>
              <a:off x="3741" y="2568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9" name="Text Box 32"/>
            <p:cNvSpPr txBox="1"/>
            <p:nvPr/>
          </p:nvSpPr>
          <p:spPr>
            <a:xfrm>
              <a:off x="3786" y="2840"/>
              <a:ext cx="1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0" name="Text Box 33"/>
            <p:cNvSpPr txBox="1"/>
            <p:nvPr/>
          </p:nvSpPr>
          <p:spPr>
            <a:xfrm>
              <a:off x="3786" y="3430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1" name="Text Box 34"/>
            <p:cNvSpPr txBox="1"/>
            <p:nvPr/>
          </p:nvSpPr>
          <p:spPr>
            <a:xfrm>
              <a:off x="3696" y="3158"/>
              <a:ext cx="34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2" name="Rectangle 36"/>
            <p:cNvSpPr/>
            <p:nvPr/>
          </p:nvSpPr>
          <p:spPr>
            <a:xfrm>
              <a:off x="4149" y="3036"/>
              <a:ext cx="77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R=u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k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/i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k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33" name="Rectangle 51"/>
            <p:cNvSpPr/>
            <p:nvPr/>
          </p:nvSpPr>
          <p:spPr>
            <a:xfrm>
              <a:off x="3978" y="306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88120" name="Group 56"/>
          <p:cNvGrpSpPr/>
          <p:nvPr/>
        </p:nvGrpSpPr>
        <p:grpSpPr>
          <a:xfrm>
            <a:off x="4572000" y="2420938"/>
            <a:ext cx="985838" cy="2089150"/>
            <a:chOff x="2880" y="1525"/>
            <a:chExt cx="621" cy="1316"/>
          </a:xfrm>
        </p:grpSpPr>
        <p:sp>
          <p:nvSpPr>
            <p:cNvPr id="25635" name="Line 5"/>
            <p:cNvSpPr/>
            <p:nvPr/>
          </p:nvSpPr>
          <p:spPr>
            <a:xfrm>
              <a:off x="3061" y="1525"/>
              <a:ext cx="0" cy="13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25636" name="Text Box 6"/>
            <p:cNvSpPr txBox="1"/>
            <p:nvPr/>
          </p:nvSpPr>
          <p:spPr>
            <a:xfrm>
              <a:off x="3107" y="2160"/>
              <a:ext cx="39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7" name="Line 9"/>
            <p:cNvSpPr/>
            <p:nvPr/>
          </p:nvSpPr>
          <p:spPr>
            <a:xfrm>
              <a:off x="3061" y="2251"/>
              <a:ext cx="0" cy="336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25638" name="Group 47"/>
            <p:cNvGrpSpPr/>
            <p:nvPr/>
          </p:nvGrpSpPr>
          <p:grpSpPr>
            <a:xfrm>
              <a:off x="2880" y="1888"/>
              <a:ext cx="363" cy="363"/>
              <a:chOff x="4785" y="709"/>
              <a:chExt cx="363" cy="363"/>
            </a:xfrm>
          </p:grpSpPr>
          <p:sp>
            <p:nvSpPr>
              <p:cNvPr id="25639" name="Oval 48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5640" name="Line 49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5641" name="Group 57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25642" name="Picture 5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43" name="Text Box 59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8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8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8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8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88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8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83" grpId="0" animBg="1"/>
      <p:bldP spid="88084" grpId="0" animBg="1"/>
      <p:bldP spid="8810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1287" name="Group 87"/>
          <p:cNvGrpSpPr/>
          <p:nvPr/>
        </p:nvGrpSpPr>
        <p:grpSpPr>
          <a:xfrm>
            <a:off x="1116013" y="1052513"/>
            <a:ext cx="2087562" cy="2160587"/>
            <a:chOff x="703" y="663"/>
            <a:chExt cx="1315" cy="1361"/>
          </a:xfrm>
        </p:grpSpPr>
        <p:sp>
          <p:nvSpPr>
            <p:cNvPr id="51216" name="Rectangle 16"/>
            <p:cNvSpPr>
              <a:spLocks noChangeArrowheads="1"/>
            </p:cNvSpPr>
            <p:nvPr/>
          </p:nvSpPr>
          <p:spPr bwMode="auto">
            <a:xfrm>
              <a:off x="703" y="893"/>
              <a:ext cx="515" cy="1131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chemeClr val="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26627" name="Text Box 17"/>
            <p:cNvSpPr txBox="1"/>
            <p:nvPr/>
          </p:nvSpPr>
          <p:spPr>
            <a:xfrm>
              <a:off x="760" y="1145"/>
              <a:ext cx="343" cy="480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4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4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6628" name="Group 18"/>
            <p:cNvGrpSpPr/>
            <p:nvPr/>
          </p:nvGrpSpPr>
          <p:grpSpPr>
            <a:xfrm>
              <a:off x="1218" y="1019"/>
              <a:ext cx="628" cy="189"/>
              <a:chOff x="1008" y="2400"/>
              <a:chExt cx="528" cy="144"/>
            </a:xfrm>
          </p:grpSpPr>
          <p:sp>
            <p:nvSpPr>
              <p:cNvPr id="26629" name="Line 19"/>
              <p:cNvSpPr/>
              <p:nvPr/>
            </p:nvSpPr>
            <p:spPr>
              <a:xfrm>
                <a:off x="1008" y="2400"/>
                <a:ext cx="528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30" name="Line 20"/>
              <p:cNvSpPr/>
              <p:nvPr/>
            </p:nvSpPr>
            <p:spPr>
              <a:xfrm>
                <a:off x="1536" y="2400"/>
                <a:ext cx="0" cy="144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6631" name="Group 21"/>
            <p:cNvGrpSpPr/>
            <p:nvPr/>
          </p:nvGrpSpPr>
          <p:grpSpPr>
            <a:xfrm>
              <a:off x="1218" y="1836"/>
              <a:ext cx="628" cy="125"/>
              <a:chOff x="1008" y="3024"/>
              <a:chExt cx="480" cy="96"/>
            </a:xfrm>
          </p:grpSpPr>
          <p:sp>
            <p:nvSpPr>
              <p:cNvPr id="26632" name="Line 22"/>
              <p:cNvSpPr/>
              <p:nvPr/>
            </p:nvSpPr>
            <p:spPr>
              <a:xfrm>
                <a:off x="1008" y="3120"/>
                <a:ext cx="480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33" name="Line 23"/>
              <p:cNvSpPr/>
              <p:nvPr/>
            </p:nvSpPr>
            <p:spPr>
              <a:xfrm flipV="1">
                <a:off x="1488" y="3024"/>
                <a:ext cx="0" cy="96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6634" name="Line 24"/>
            <p:cNvSpPr/>
            <p:nvPr/>
          </p:nvSpPr>
          <p:spPr>
            <a:xfrm>
              <a:off x="1503" y="1071"/>
              <a:ext cx="343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635" name="Text Box 25"/>
            <p:cNvSpPr txBox="1"/>
            <p:nvPr/>
          </p:nvSpPr>
          <p:spPr>
            <a:xfrm>
              <a:off x="1474" y="663"/>
              <a:ext cx="40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36" name="Text Box 26"/>
            <p:cNvSpPr txBox="1"/>
            <p:nvPr/>
          </p:nvSpPr>
          <p:spPr>
            <a:xfrm>
              <a:off x="1474" y="1026"/>
              <a:ext cx="18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37" name="Text Box 27"/>
            <p:cNvSpPr txBox="1"/>
            <p:nvPr/>
          </p:nvSpPr>
          <p:spPr>
            <a:xfrm>
              <a:off x="1429" y="1570"/>
              <a:ext cx="28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38" name="Text Box 28"/>
            <p:cNvSpPr txBox="1"/>
            <p:nvPr/>
          </p:nvSpPr>
          <p:spPr>
            <a:xfrm>
              <a:off x="1338" y="1298"/>
              <a:ext cx="4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39" name="Text Box 29"/>
            <p:cNvSpPr txBox="1"/>
            <p:nvPr/>
          </p:nvSpPr>
          <p:spPr>
            <a:xfrm>
              <a:off x="1655" y="1162"/>
              <a:ext cx="363" cy="703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28575">
              <a:noFill/>
            </a:ln>
          </p:spPr>
          <p:txBody>
            <a:bodyPr anchor="t" anchorCtr="0">
              <a:spAutoFit/>
            </a:bodyPr>
            <a:p>
              <a:pPr algn="just">
                <a:lnSpc>
                  <a:spcPct val="80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支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just">
                <a:lnSpc>
                  <a:spcPct val="80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路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just">
                <a:lnSpc>
                  <a:spcPct val="80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</a:t>
              </a:r>
              <a:endPara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1289" name="Group 89"/>
          <p:cNvGrpSpPr/>
          <p:nvPr/>
        </p:nvGrpSpPr>
        <p:grpSpPr>
          <a:xfrm>
            <a:off x="5292725" y="1412875"/>
            <a:ext cx="2376488" cy="1727200"/>
            <a:chOff x="3334" y="890"/>
            <a:chExt cx="1497" cy="1088"/>
          </a:xfrm>
        </p:grpSpPr>
        <p:sp>
          <p:nvSpPr>
            <p:cNvPr id="26641" name="Oval 88"/>
            <p:cNvSpPr/>
            <p:nvPr/>
          </p:nvSpPr>
          <p:spPr>
            <a:xfrm>
              <a:off x="4105" y="125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6642" name="Rectangle 33"/>
            <p:cNvSpPr/>
            <p:nvPr/>
          </p:nvSpPr>
          <p:spPr>
            <a:xfrm>
              <a:off x="3742" y="1071"/>
              <a:ext cx="547" cy="786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1232" name="Rectangle 32"/>
            <p:cNvSpPr>
              <a:spLocks noChangeArrowheads="1"/>
            </p:cNvSpPr>
            <p:nvPr/>
          </p:nvSpPr>
          <p:spPr bwMode="auto">
            <a:xfrm>
              <a:off x="3334" y="890"/>
              <a:ext cx="478" cy="1088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chemeClr val="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26644" name="Text Box 34"/>
            <p:cNvSpPr txBox="1"/>
            <p:nvPr/>
          </p:nvSpPr>
          <p:spPr>
            <a:xfrm>
              <a:off x="3387" y="1132"/>
              <a:ext cx="318" cy="480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4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4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45" name="Text Box 37"/>
            <p:cNvSpPr txBox="1"/>
            <p:nvPr/>
          </p:nvSpPr>
          <p:spPr>
            <a:xfrm>
              <a:off x="4278" y="1011"/>
              <a:ext cx="17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46" name="Text Box 38"/>
            <p:cNvSpPr txBox="1"/>
            <p:nvPr/>
          </p:nvSpPr>
          <p:spPr>
            <a:xfrm>
              <a:off x="4286" y="1570"/>
              <a:ext cx="26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47" name="Text Box 39"/>
            <p:cNvSpPr txBox="1"/>
            <p:nvPr/>
          </p:nvSpPr>
          <p:spPr>
            <a:xfrm>
              <a:off x="4448" y="1253"/>
              <a:ext cx="38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240" name="AutoShape 40"/>
          <p:cNvSpPr/>
          <p:nvPr/>
        </p:nvSpPr>
        <p:spPr>
          <a:xfrm>
            <a:off x="3851275" y="2133600"/>
            <a:ext cx="792163" cy="288925"/>
          </a:xfrm>
          <a:prstGeom prst="rightArrow">
            <a:avLst>
              <a:gd name="adj1" fmla="val 50000"/>
              <a:gd name="adj2" fmla="val 68531"/>
            </a:avLst>
          </a:prstGeom>
          <a:solidFill>
            <a:srgbClr val="00CCFF"/>
          </a:solidFill>
          <a:ln w="19050">
            <a:noFill/>
          </a:ln>
        </p:spPr>
        <p:txBody>
          <a:bodyPr lIns="90000" tIns="46800" rIns="90000" bIns="46800" anchor="ctr" anchorCtr="0">
            <a:spAutoFit/>
          </a:bodyPr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1262" name="Arc 62"/>
          <p:cNvSpPr/>
          <p:nvPr/>
        </p:nvSpPr>
        <p:spPr>
          <a:xfrm>
            <a:off x="5148263" y="3573463"/>
            <a:ext cx="1163637" cy="2232025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2147483646"/>
              </a:cxn>
              <a:cxn ang="0">
                <a:pos x="2147483646" y="2147483646"/>
              </a:cxn>
            </a:cxnLst>
            <a:pathLst>
              <a:path w="21959" h="43200" fill="none">
                <a:moveTo>
                  <a:pt x="359" y="0"/>
                </a:moveTo>
                <a:cubicBezTo>
                  <a:pt x="12288" y="0"/>
                  <a:pt x="21959" y="9670"/>
                  <a:pt x="21959" y="21600"/>
                </a:cubicBezTo>
                <a:cubicBezTo>
                  <a:pt x="21959" y="33529"/>
                  <a:pt x="12288" y="43200"/>
                  <a:pt x="359" y="43200"/>
                </a:cubicBezTo>
                <a:cubicBezTo>
                  <a:pt x="239" y="43200"/>
                  <a:pt x="119" y="43199"/>
                  <a:pt x="-1" y="43197"/>
                </a:cubicBezTo>
              </a:path>
              <a:path w="21959" h="43200" stroke="0">
                <a:moveTo>
                  <a:pt x="359" y="0"/>
                </a:moveTo>
                <a:cubicBezTo>
                  <a:pt x="12288" y="0"/>
                  <a:pt x="21959" y="9670"/>
                  <a:pt x="21959" y="21600"/>
                </a:cubicBezTo>
                <a:cubicBezTo>
                  <a:pt x="21959" y="33529"/>
                  <a:pt x="12288" y="43200"/>
                  <a:pt x="359" y="43200"/>
                </a:cubicBezTo>
                <a:cubicBezTo>
                  <a:pt x="239" y="43200"/>
                  <a:pt x="119" y="43199"/>
                  <a:pt x="-1" y="43197"/>
                </a:cubicBezTo>
                <a:lnTo>
                  <a:pt x="359" y="21600"/>
                </a:lnTo>
                <a:lnTo>
                  <a:pt x="359" y="0"/>
                </a:lnTo>
                <a:close/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65" name="Text Box 65"/>
          <p:cNvSpPr txBox="1"/>
          <p:nvPr/>
        </p:nvSpPr>
        <p:spPr>
          <a:xfrm>
            <a:off x="6732588" y="5084763"/>
            <a:ext cx="1011237" cy="519112"/>
          </a:xfrm>
          <a:prstGeom prst="rect">
            <a:avLst/>
          </a:prstGeom>
          <a:noFill/>
          <a:ln w="19050">
            <a:noFill/>
          </a:ln>
        </p:spPr>
        <p:txBody>
          <a:bodyPr wrap="none" lIns="90000" tIns="46800" rIns="90000" bIns="46800" anchor="ctr" anchorCtr="0">
            <a:spAutoFit/>
          </a:bodyPr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证毕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!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266" name="Text Box 66"/>
          <p:cNvSpPr txBox="1"/>
          <p:nvPr/>
        </p:nvSpPr>
        <p:spPr>
          <a:xfrm>
            <a:off x="539750" y="620713"/>
            <a:ext cx="3240088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2.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定理的证明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6652" name="Group 7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6653" name="Picture 7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54" name="Text Box 8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6655" name="Group 8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6656" name="Picture 8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57" name="Text Box 8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1290" name="Group 90"/>
          <p:cNvGrpSpPr/>
          <p:nvPr/>
        </p:nvGrpSpPr>
        <p:grpSpPr>
          <a:xfrm>
            <a:off x="2411413" y="2852738"/>
            <a:ext cx="3921125" cy="3616325"/>
            <a:chOff x="3107" y="482"/>
            <a:chExt cx="2470" cy="2278"/>
          </a:xfrm>
        </p:grpSpPr>
        <p:sp>
          <p:nvSpPr>
            <p:cNvPr id="26659" name="Oval 91"/>
            <p:cNvSpPr/>
            <p:nvPr/>
          </p:nvSpPr>
          <p:spPr>
            <a:xfrm>
              <a:off x="3969" y="216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6660" name="Oval 92"/>
            <p:cNvSpPr/>
            <p:nvPr/>
          </p:nvSpPr>
          <p:spPr>
            <a:xfrm>
              <a:off x="4649" y="184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6661" name="Rectangle 93"/>
            <p:cNvSpPr/>
            <p:nvPr/>
          </p:nvSpPr>
          <p:spPr>
            <a:xfrm>
              <a:off x="3560" y="935"/>
              <a:ext cx="1270" cy="1406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6662" name="Text Box 94"/>
            <p:cNvSpPr txBox="1"/>
            <p:nvPr/>
          </p:nvSpPr>
          <p:spPr>
            <a:xfrm>
              <a:off x="3969" y="2432"/>
              <a:ext cx="478" cy="32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63" name="Text Box 95"/>
            <p:cNvSpPr txBox="1"/>
            <p:nvPr/>
          </p:nvSpPr>
          <p:spPr>
            <a:xfrm>
              <a:off x="5012" y="1842"/>
              <a:ext cx="565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64" name="Text Box 96"/>
            <p:cNvSpPr txBox="1"/>
            <p:nvPr/>
          </p:nvSpPr>
          <p:spPr>
            <a:xfrm>
              <a:off x="3606" y="2296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6665" name="Text Box 97"/>
            <p:cNvSpPr txBox="1"/>
            <p:nvPr/>
          </p:nvSpPr>
          <p:spPr>
            <a:xfrm>
              <a:off x="5012" y="2160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6666" name="Text Box 98"/>
            <p:cNvSpPr txBox="1"/>
            <p:nvPr/>
          </p:nvSpPr>
          <p:spPr>
            <a:xfrm>
              <a:off x="4377" y="2296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6667" name="Text Box 99"/>
            <p:cNvSpPr txBox="1"/>
            <p:nvPr/>
          </p:nvSpPr>
          <p:spPr>
            <a:xfrm>
              <a:off x="5012" y="1616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1300" name="Rectangle 100"/>
            <p:cNvSpPr>
              <a:spLocks noChangeArrowheads="1"/>
            </p:cNvSpPr>
            <p:nvPr/>
          </p:nvSpPr>
          <p:spPr bwMode="auto">
            <a:xfrm>
              <a:off x="3107" y="890"/>
              <a:ext cx="544" cy="1542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chemeClr val="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A</a:t>
              </a:r>
              <a:endParaRPr kumimoji="0" lang="en-US" altLang="zh-CN" sz="4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grpSp>
          <p:nvGrpSpPr>
            <p:cNvPr id="26669" name="Group 101"/>
            <p:cNvGrpSpPr/>
            <p:nvPr/>
          </p:nvGrpSpPr>
          <p:grpSpPr>
            <a:xfrm>
              <a:off x="4150" y="482"/>
              <a:ext cx="336" cy="384"/>
              <a:chOff x="1392" y="2592"/>
              <a:chExt cx="336" cy="384"/>
            </a:xfrm>
          </p:grpSpPr>
          <p:sp>
            <p:nvSpPr>
              <p:cNvPr id="26670" name="Line 102"/>
              <p:cNvSpPr/>
              <p:nvPr/>
            </p:nvSpPr>
            <p:spPr>
              <a:xfrm>
                <a:off x="1392" y="2976"/>
                <a:ext cx="288" cy="0"/>
              </a:xfrm>
              <a:prstGeom prst="line">
                <a:avLst/>
              </a:prstGeom>
              <a:ln w="38100" cap="flat" cmpd="sng">
                <a:solidFill>
                  <a:srgbClr val="66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6671" name="Text Box 103"/>
              <p:cNvSpPr txBox="1"/>
              <p:nvPr/>
            </p:nvSpPr>
            <p:spPr>
              <a:xfrm>
                <a:off x="1392" y="2592"/>
                <a:ext cx="33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k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6672" name="Text Box 104"/>
            <p:cNvSpPr txBox="1"/>
            <p:nvPr/>
          </p:nvSpPr>
          <p:spPr>
            <a:xfrm>
              <a:off x="3723" y="1100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73" name="Text Box 105"/>
            <p:cNvSpPr txBox="1"/>
            <p:nvPr/>
          </p:nvSpPr>
          <p:spPr>
            <a:xfrm>
              <a:off x="3723" y="1724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74" name="Text Box 106"/>
            <p:cNvSpPr txBox="1"/>
            <p:nvPr/>
          </p:nvSpPr>
          <p:spPr>
            <a:xfrm>
              <a:off x="3723" y="1388"/>
              <a:ext cx="34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75" name="Rectangle 107"/>
            <p:cNvSpPr/>
            <p:nvPr/>
          </p:nvSpPr>
          <p:spPr>
            <a:xfrm>
              <a:off x="4649" y="1071"/>
              <a:ext cx="363" cy="681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28575">
              <a:noFill/>
            </a:ln>
          </p:spPr>
          <p:txBody>
            <a:bodyPr wrap="none" anchor="ctr" anchorCtr="0"/>
            <a:p>
              <a:pPr algn="ctr">
                <a:lnSpc>
                  <a:spcPct val="80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支</a:t>
              </a:r>
              <a:endPara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路</a:t>
              </a:r>
              <a:endPara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6676" name="Text Box 108"/>
            <p:cNvSpPr txBox="1"/>
            <p:nvPr/>
          </p:nvSpPr>
          <p:spPr>
            <a:xfrm>
              <a:off x="4422" y="935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77" name="Text Box 109"/>
            <p:cNvSpPr txBox="1"/>
            <p:nvPr/>
          </p:nvSpPr>
          <p:spPr>
            <a:xfrm>
              <a:off x="4422" y="1480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78" name="Text Box 110"/>
            <p:cNvSpPr txBox="1"/>
            <p:nvPr/>
          </p:nvSpPr>
          <p:spPr>
            <a:xfrm>
              <a:off x="4332" y="1207"/>
              <a:ext cx="34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311" name="AutoShape 111"/>
          <p:cNvSpPr/>
          <p:nvPr/>
        </p:nvSpPr>
        <p:spPr>
          <a:xfrm rot="5400000">
            <a:off x="1077913" y="3824288"/>
            <a:ext cx="1079500" cy="863600"/>
          </a:xfrm>
          <a:custGeom>
            <a:avLst/>
            <a:gdLst/>
            <a:ahLst/>
            <a:cxnLst>
              <a:cxn ang="17694720">
                <a:pos x="2147483646" y="0"/>
              </a:cxn>
              <a:cxn ang="11796480">
                <a:pos x="2147483646" y="2147483646"/>
              </a:cxn>
              <a:cxn ang="17694720">
                <a:pos x="2147483646" y="2147483646"/>
              </a:cxn>
              <a:cxn ang="11796480">
                <a:pos x="0" y="2147483646"/>
              </a:cxn>
              <a:cxn ang="5898240">
                <a:pos x="2147483646" y="2147483646"/>
              </a:cxn>
              <a:cxn ang="589824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1600" h="21600">
                <a:moveTo>
                  <a:pt x="16398" y="0"/>
                </a:moveTo>
                <a:lnTo>
                  <a:pt x="11196" y="5757"/>
                </a:lnTo>
                <a:lnTo>
                  <a:pt x="14083" y="5757"/>
                </a:lnTo>
                <a:lnTo>
                  <a:pt x="14083" y="14083"/>
                </a:lnTo>
                <a:lnTo>
                  <a:pt x="5757" y="14083"/>
                </a:lnTo>
                <a:lnTo>
                  <a:pt x="5757" y="11196"/>
                </a:lnTo>
                <a:lnTo>
                  <a:pt x="0" y="16398"/>
                </a:lnTo>
                <a:lnTo>
                  <a:pt x="5757" y="21600"/>
                </a:lnTo>
                <a:lnTo>
                  <a:pt x="5757" y="18713"/>
                </a:lnTo>
                <a:lnTo>
                  <a:pt x="18713" y="18713"/>
                </a:lnTo>
                <a:lnTo>
                  <a:pt x="18713" y="5757"/>
                </a:lnTo>
                <a:lnTo>
                  <a:pt x="21600" y="5757"/>
                </a:lnTo>
                <a:lnTo>
                  <a:pt x="16398" y="0"/>
                </a:lnTo>
                <a:close/>
              </a:path>
            </a:pathLst>
          </a:custGeom>
          <a:solidFill>
            <a:srgbClr val="00CCFF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51312" name="AutoShape 112"/>
          <p:cNvSpPr/>
          <p:nvPr/>
        </p:nvSpPr>
        <p:spPr>
          <a:xfrm rot="-4819880">
            <a:off x="6386513" y="3554413"/>
            <a:ext cx="1727200" cy="608012"/>
          </a:xfrm>
          <a:prstGeom prst="curvedUpArrow">
            <a:avLst>
              <a:gd name="adj1" fmla="val 49604"/>
              <a:gd name="adj2" fmla="val 113629"/>
              <a:gd name="adj3" fmla="val 28861"/>
            </a:avLst>
          </a:prstGeom>
          <a:solidFill>
            <a:srgbClr val="00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26681" name="Group 116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26682" name="Picture 11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83" name="Text Box 118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1" fill="hold"/>
                                        <p:tgtEl>
                                          <p:spTgt spid="5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1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1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1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0" grpId="0" animBg="1"/>
      <p:bldP spid="51265" grpId="0"/>
      <p:bldP spid="51266" grpId="0"/>
      <p:bldP spid="513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Text Box 2"/>
          <p:cNvSpPr txBox="1"/>
          <p:nvPr/>
        </p:nvSpPr>
        <p:spPr>
          <a:xfrm>
            <a:off x="323850" y="476250"/>
            <a:ext cx="6477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endParaRPr lang="zh-CN" altLang="en-US" sz="3200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50179" name="Text Box 3"/>
          <p:cNvSpPr txBox="1"/>
          <p:nvPr/>
        </p:nvSpPr>
        <p:spPr>
          <a:xfrm>
            <a:off x="971550" y="549275"/>
            <a:ext cx="6049963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求图示电路的支路电压和电流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0224" name="Text Box 48"/>
          <p:cNvSpPr txBox="1"/>
          <p:nvPr/>
        </p:nvSpPr>
        <p:spPr>
          <a:xfrm>
            <a:off x="395288" y="1196975"/>
            <a:ext cx="576262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解</a:t>
            </a:r>
            <a:endParaRPr lang="zh-CN" altLang="en-US" sz="2400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graphicFrame>
        <p:nvGraphicFramePr>
          <p:cNvPr id="50225" name="Object 49"/>
          <p:cNvGraphicFramePr>
            <a:graphicFrameLocks noChangeAspect="1"/>
          </p:cNvGraphicFramePr>
          <p:nvPr/>
        </p:nvGraphicFramePr>
        <p:xfrm>
          <a:off x="1189038" y="1196975"/>
          <a:ext cx="35274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1620520" imgH="358775" progId="Equation.3">
                  <p:embed/>
                </p:oleObj>
              </mc:Choice>
              <mc:Fallback>
                <p:oleObj name="" r:id="rId1" imgW="1620520" imgH="358775" progId="Equation.3">
                  <p:embed/>
                  <p:pic>
                    <p:nvPicPr>
                      <p:cNvPr id="0" name="20 310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9038" y="1196975"/>
                        <a:ext cx="3527425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27" name="Object 51"/>
          <p:cNvGraphicFramePr>
            <a:graphicFrameLocks noChangeAspect="1"/>
          </p:cNvGraphicFramePr>
          <p:nvPr/>
        </p:nvGraphicFramePr>
        <p:xfrm>
          <a:off x="1187450" y="2133600"/>
          <a:ext cx="25146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3" imgW="949325" imgH="196850" progId="Equation.3">
                  <p:embed/>
                </p:oleObj>
              </mc:Choice>
              <mc:Fallback>
                <p:oleObj name="" r:id="rId3" imgW="949325" imgH="196850" progId="Equation.3">
                  <p:embed/>
                  <p:pic>
                    <p:nvPicPr>
                      <p:cNvPr id="0" name="20 310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2133600"/>
                        <a:ext cx="2514600" cy="573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28" name="Object 52"/>
          <p:cNvGraphicFramePr>
            <a:graphicFrameLocks noChangeAspect="1"/>
          </p:cNvGraphicFramePr>
          <p:nvPr/>
        </p:nvGraphicFramePr>
        <p:xfrm>
          <a:off x="1187450" y="2708275"/>
          <a:ext cx="25146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5" imgW="949325" imgH="196850" progId="Equation.3">
                  <p:embed/>
                </p:oleObj>
              </mc:Choice>
              <mc:Fallback>
                <p:oleObj name="" r:id="rId5" imgW="949325" imgH="196850" progId="Equation.3">
                  <p:embed/>
                  <p:pic>
                    <p:nvPicPr>
                      <p:cNvPr id="0" name="20 310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2708275"/>
                        <a:ext cx="2514600" cy="573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29" name="Object 53"/>
          <p:cNvGraphicFramePr>
            <a:graphicFrameLocks noChangeAspect="1"/>
          </p:cNvGraphicFramePr>
          <p:nvPr/>
        </p:nvGraphicFramePr>
        <p:xfrm>
          <a:off x="1187450" y="3284538"/>
          <a:ext cx="2484438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7" imgW="937260" imgH="196850" progId="Equation.3">
                  <p:embed/>
                </p:oleObj>
              </mc:Choice>
              <mc:Fallback>
                <p:oleObj name="" r:id="rId7" imgW="937260" imgH="196850" progId="Equation.3">
                  <p:embed/>
                  <p:pic>
                    <p:nvPicPr>
                      <p:cNvPr id="0" name="20 310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3284538"/>
                        <a:ext cx="2484438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327" name="Group 151"/>
          <p:cNvGrpSpPr/>
          <p:nvPr/>
        </p:nvGrpSpPr>
        <p:grpSpPr>
          <a:xfrm>
            <a:off x="6516688" y="2852738"/>
            <a:ext cx="792162" cy="946150"/>
            <a:chOff x="4241" y="1842"/>
            <a:chExt cx="499" cy="596"/>
          </a:xfrm>
        </p:grpSpPr>
        <p:sp>
          <p:nvSpPr>
            <p:cNvPr id="27657" name="AutoShape 55"/>
            <p:cNvSpPr/>
            <p:nvPr/>
          </p:nvSpPr>
          <p:spPr>
            <a:xfrm>
              <a:off x="4241" y="1933"/>
              <a:ext cx="182" cy="454"/>
            </a:xfrm>
            <a:prstGeom prst="downArrow">
              <a:avLst>
                <a:gd name="adj1" fmla="val 50000"/>
                <a:gd name="adj2" fmla="val 62351"/>
              </a:avLst>
            </a:prstGeom>
            <a:solidFill>
              <a:srgbClr val="00CCFF"/>
            </a:solidFill>
            <a:ln w="9525">
              <a:noFill/>
            </a:ln>
          </p:spPr>
          <p:txBody>
            <a:bodyPr vert="eaVert"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7658" name="Text Box 56"/>
            <p:cNvSpPr txBox="1"/>
            <p:nvPr/>
          </p:nvSpPr>
          <p:spPr>
            <a:xfrm>
              <a:off x="4377" y="1842"/>
              <a:ext cx="363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楷体_GB2312" pitchFamily="49" charset="-122"/>
                </a:rPr>
                <a:t>替代</a:t>
              </a: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50263" name="Text Box 87"/>
          <p:cNvSpPr txBox="1"/>
          <p:nvPr/>
        </p:nvSpPr>
        <p:spPr>
          <a:xfrm>
            <a:off x="971550" y="3789363"/>
            <a:ext cx="3024188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替代以后有：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50264" name="Object 88"/>
          <p:cNvGraphicFramePr>
            <a:graphicFrameLocks noChangeAspect="1"/>
          </p:cNvGraphicFramePr>
          <p:nvPr/>
        </p:nvGraphicFramePr>
        <p:xfrm>
          <a:off x="755650" y="4292600"/>
          <a:ext cx="392112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9" imgW="1492885" imgH="196850" progId="Equation.3">
                  <p:embed/>
                </p:oleObj>
              </mc:Choice>
              <mc:Fallback>
                <p:oleObj name="" r:id="rId9" imgW="1492885" imgH="196850" progId="Equation.3">
                  <p:embed/>
                  <p:pic>
                    <p:nvPicPr>
                      <p:cNvPr id="0" name="20 3103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5650" y="4292600"/>
                        <a:ext cx="3921125" cy="573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65" name="Object 89"/>
          <p:cNvGraphicFramePr>
            <a:graphicFrameLocks noChangeAspect="1"/>
          </p:cNvGraphicFramePr>
          <p:nvPr/>
        </p:nvGraphicFramePr>
        <p:xfrm>
          <a:off x="684213" y="4868863"/>
          <a:ext cx="25923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1" imgW="1018540" imgH="196850" progId="Equation.3">
                  <p:embed/>
                </p:oleObj>
              </mc:Choice>
              <mc:Fallback>
                <p:oleObj name="" r:id="rId11" imgW="1018540" imgH="196850" progId="Equation.3">
                  <p:embed/>
                  <p:pic>
                    <p:nvPicPr>
                      <p:cNvPr id="0" name="20 3104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4868863"/>
                        <a:ext cx="2592387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66" name="Text Box 90"/>
          <p:cNvSpPr txBox="1"/>
          <p:nvPr/>
        </p:nvSpPr>
        <p:spPr>
          <a:xfrm>
            <a:off x="1908175" y="5734050"/>
            <a:ext cx="63373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替代后各支路电压和电流完全不变。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27663" name="Group 9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7664" name="Picture 95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665" name="Text Box 9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7666" name="Group 9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7667" name="Picture 98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668" name="Text Box 9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0303" name="Group 127"/>
          <p:cNvGrpSpPr/>
          <p:nvPr/>
        </p:nvGrpSpPr>
        <p:grpSpPr>
          <a:xfrm>
            <a:off x="5003800" y="620713"/>
            <a:ext cx="3816350" cy="2247900"/>
            <a:chOff x="2426" y="1480"/>
            <a:chExt cx="2404" cy="1416"/>
          </a:xfrm>
        </p:grpSpPr>
        <p:sp>
          <p:nvSpPr>
            <p:cNvPr id="27670" name="Oval 128"/>
            <p:cNvSpPr/>
            <p:nvPr/>
          </p:nvSpPr>
          <p:spPr>
            <a:xfrm>
              <a:off x="2517" y="216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671" name="Rectangle 129"/>
            <p:cNvSpPr/>
            <p:nvPr/>
          </p:nvSpPr>
          <p:spPr>
            <a:xfrm>
              <a:off x="2698" y="1843"/>
              <a:ext cx="2042" cy="1043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7672" name="Rectangle 130"/>
            <p:cNvSpPr/>
            <p:nvPr/>
          </p:nvSpPr>
          <p:spPr>
            <a:xfrm>
              <a:off x="3061" y="179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7673" name="Text Box 131"/>
            <p:cNvSpPr txBox="1"/>
            <p:nvPr/>
          </p:nvSpPr>
          <p:spPr>
            <a:xfrm>
              <a:off x="2698" y="1924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674" name="Text Box 132"/>
            <p:cNvSpPr txBox="1"/>
            <p:nvPr/>
          </p:nvSpPr>
          <p:spPr>
            <a:xfrm>
              <a:off x="2698" y="2432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675" name="Text Box 133"/>
            <p:cNvSpPr txBox="1"/>
            <p:nvPr/>
          </p:nvSpPr>
          <p:spPr>
            <a:xfrm>
              <a:off x="4467" y="1842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3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676" name="Text Box 134"/>
            <p:cNvSpPr txBox="1"/>
            <p:nvPr/>
          </p:nvSpPr>
          <p:spPr>
            <a:xfrm>
              <a:off x="4195" y="2160"/>
              <a:ext cx="61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7677" name="Text Box 135"/>
            <p:cNvSpPr txBox="1"/>
            <p:nvPr/>
          </p:nvSpPr>
          <p:spPr>
            <a:xfrm>
              <a:off x="3061" y="1480"/>
              <a:ext cx="56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678" name="Text Box 136"/>
            <p:cNvSpPr txBox="1"/>
            <p:nvPr/>
          </p:nvSpPr>
          <p:spPr>
            <a:xfrm>
              <a:off x="3923" y="1480"/>
              <a:ext cx="70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679" name="Line 137"/>
            <p:cNvSpPr/>
            <p:nvPr/>
          </p:nvSpPr>
          <p:spPr>
            <a:xfrm>
              <a:off x="3696" y="1843"/>
              <a:ext cx="0" cy="104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27680" name="Line 138"/>
            <p:cNvSpPr/>
            <p:nvPr/>
          </p:nvSpPr>
          <p:spPr>
            <a:xfrm>
              <a:off x="3741" y="1888"/>
              <a:ext cx="0" cy="22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81" name="Text Box 139"/>
            <p:cNvSpPr txBox="1"/>
            <p:nvPr/>
          </p:nvSpPr>
          <p:spPr>
            <a:xfrm>
              <a:off x="2834" y="2160"/>
              <a:ext cx="74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682" name="Text Box 140"/>
            <p:cNvSpPr txBox="1"/>
            <p:nvPr/>
          </p:nvSpPr>
          <p:spPr>
            <a:xfrm>
              <a:off x="3696" y="2160"/>
              <a:ext cx="61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7683" name="Line 141"/>
            <p:cNvSpPr/>
            <p:nvPr/>
          </p:nvSpPr>
          <p:spPr>
            <a:xfrm flipV="1">
              <a:off x="2653" y="1797"/>
              <a:ext cx="0" cy="31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84" name="Line 142"/>
            <p:cNvSpPr/>
            <p:nvPr/>
          </p:nvSpPr>
          <p:spPr>
            <a:xfrm>
              <a:off x="4694" y="1888"/>
              <a:ext cx="0" cy="27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85" name="Text Box 143"/>
            <p:cNvSpPr txBox="1"/>
            <p:nvPr/>
          </p:nvSpPr>
          <p:spPr>
            <a:xfrm>
              <a:off x="3741" y="1843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686" name="Text Box 144"/>
            <p:cNvSpPr txBox="1"/>
            <p:nvPr/>
          </p:nvSpPr>
          <p:spPr>
            <a:xfrm>
              <a:off x="2426" y="1797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687" name="Text Box 145"/>
            <p:cNvSpPr txBox="1"/>
            <p:nvPr/>
          </p:nvSpPr>
          <p:spPr>
            <a:xfrm>
              <a:off x="3424" y="1752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688" name="Text Box 146"/>
            <p:cNvSpPr txBox="1"/>
            <p:nvPr/>
          </p:nvSpPr>
          <p:spPr>
            <a:xfrm>
              <a:off x="3378" y="2569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689" name="Text Box 147"/>
            <p:cNvSpPr txBox="1"/>
            <p:nvPr/>
          </p:nvSpPr>
          <p:spPr>
            <a:xfrm>
              <a:off x="3412" y="2206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690" name="Rectangle 148"/>
            <p:cNvSpPr/>
            <p:nvPr/>
          </p:nvSpPr>
          <p:spPr>
            <a:xfrm>
              <a:off x="3605" y="216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7691" name="Rectangle 149"/>
            <p:cNvSpPr/>
            <p:nvPr/>
          </p:nvSpPr>
          <p:spPr>
            <a:xfrm>
              <a:off x="4694" y="220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7692" name="Rectangle 150"/>
            <p:cNvSpPr/>
            <p:nvPr/>
          </p:nvSpPr>
          <p:spPr>
            <a:xfrm>
              <a:off x="3968" y="179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50328" name="Group 152"/>
          <p:cNvGrpSpPr/>
          <p:nvPr/>
        </p:nvGrpSpPr>
        <p:grpSpPr>
          <a:xfrm>
            <a:off x="250825" y="5516563"/>
            <a:ext cx="1644650" cy="850900"/>
            <a:chOff x="385" y="3022"/>
            <a:chExt cx="1036" cy="536"/>
          </a:xfrm>
        </p:grpSpPr>
        <p:pic>
          <p:nvPicPr>
            <p:cNvPr id="27694" name="Picture 153" descr="123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695" name="Text Box 154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50355" name="Group 179"/>
          <p:cNvGrpSpPr/>
          <p:nvPr/>
        </p:nvGrpSpPr>
        <p:grpSpPr>
          <a:xfrm>
            <a:off x="4932363" y="3500438"/>
            <a:ext cx="3816350" cy="2103437"/>
            <a:chOff x="2381" y="2069"/>
            <a:chExt cx="2404" cy="1325"/>
          </a:xfrm>
        </p:grpSpPr>
        <p:sp>
          <p:nvSpPr>
            <p:cNvPr id="27697" name="Oval 180"/>
            <p:cNvSpPr/>
            <p:nvPr/>
          </p:nvSpPr>
          <p:spPr>
            <a:xfrm>
              <a:off x="3470" y="279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698" name="Oval 181"/>
            <p:cNvSpPr/>
            <p:nvPr/>
          </p:nvSpPr>
          <p:spPr>
            <a:xfrm>
              <a:off x="2472" y="274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699" name="Rectangle 182"/>
            <p:cNvSpPr/>
            <p:nvPr/>
          </p:nvSpPr>
          <p:spPr>
            <a:xfrm>
              <a:off x="2653" y="2432"/>
              <a:ext cx="2042" cy="907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7700" name="Rectangle 183"/>
            <p:cNvSpPr/>
            <p:nvPr/>
          </p:nvSpPr>
          <p:spPr>
            <a:xfrm>
              <a:off x="3016" y="238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7701" name="Text Box 184"/>
            <p:cNvSpPr txBox="1"/>
            <p:nvPr/>
          </p:nvSpPr>
          <p:spPr>
            <a:xfrm>
              <a:off x="2653" y="2513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702" name="Text Box 185"/>
            <p:cNvSpPr txBox="1"/>
            <p:nvPr/>
          </p:nvSpPr>
          <p:spPr>
            <a:xfrm>
              <a:off x="2653" y="3021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703" name="Text Box 186"/>
            <p:cNvSpPr txBox="1"/>
            <p:nvPr/>
          </p:nvSpPr>
          <p:spPr>
            <a:xfrm>
              <a:off x="4422" y="2431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3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704" name="Text Box 187"/>
            <p:cNvSpPr txBox="1"/>
            <p:nvPr/>
          </p:nvSpPr>
          <p:spPr>
            <a:xfrm>
              <a:off x="4150" y="2749"/>
              <a:ext cx="61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7705" name="Text Box 188"/>
            <p:cNvSpPr txBox="1"/>
            <p:nvPr/>
          </p:nvSpPr>
          <p:spPr>
            <a:xfrm>
              <a:off x="2971" y="2069"/>
              <a:ext cx="56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706" name="Text Box 189"/>
            <p:cNvSpPr txBox="1"/>
            <p:nvPr/>
          </p:nvSpPr>
          <p:spPr>
            <a:xfrm>
              <a:off x="3878" y="2069"/>
              <a:ext cx="70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707" name="Line 190"/>
            <p:cNvSpPr/>
            <p:nvPr/>
          </p:nvSpPr>
          <p:spPr>
            <a:xfrm>
              <a:off x="3651" y="2432"/>
              <a:ext cx="0" cy="90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27708" name="Line 191"/>
            <p:cNvSpPr/>
            <p:nvPr/>
          </p:nvSpPr>
          <p:spPr>
            <a:xfrm>
              <a:off x="3696" y="2477"/>
              <a:ext cx="0" cy="22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709" name="Text Box 192"/>
            <p:cNvSpPr txBox="1"/>
            <p:nvPr/>
          </p:nvSpPr>
          <p:spPr>
            <a:xfrm>
              <a:off x="2789" y="2749"/>
              <a:ext cx="74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710" name="Line 193"/>
            <p:cNvSpPr/>
            <p:nvPr/>
          </p:nvSpPr>
          <p:spPr>
            <a:xfrm flipV="1">
              <a:off x="2608" y="2386"/>
              <a:ext cx="0" cy="31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711" name="Line 194"/>
            <p:cNvSpPr/>
            <p:nvPr/>
          </p:nvSpPr>
          <p:spPr>
            <a:xfrm>
              <a:off x="4649" y="2477"/>
              <a:ext cx="0" cy="27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712" name="Text Box 195"/>
            <p:cNvSpPr txBox="1"/>
            <p:nvPr/>
          </p:nvSpPr>
          <p:spPr>
            <a:xfrm>
              <a:off x="3696" y="2432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713" name="Text Box 196"/>
            <p:cNvSpPr txBox="1"/>
            <p:nvPr/>
          </p:nvSpPr>
          <p:spPr>
            <a:xfrm>
              <a:off x="2381" y="2386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714" name="Text Box 197"/>
            <p:cNvSpPr txBox="1"/>
            <p:nvPr/>
          </p:nvSpPr>
          <p:spPr>
            <a:xfrm>
              <a:off x="3379" y="2341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715" name="Text Box 198"/>
            <p:cNvSpPr txBox="1"/>
            <p:nvPr/>
          </p:nvSpPr>
          <p:spPr>
            <a:xfrm>
              <a:off x="3334" y="3067"/>
              <a:ext cx="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716" name="Rectangle 199"/>
            <p:cNvSpPr/>
            <p:nvPr/>
          </p:nvSpPr>
          <p:spPr>
            <a:xfrm>
              <a:off x="4649" y="279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7717" name="Rectangle 200"/>
            <p:cNvSpPr/>
            <p:nvPr/>
          </p:nvSpPr>
          <p:spPr>
            <a:xfrm>
              <a:off x="3923" y="238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27718" name="Group 204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27719" name="Picture 205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720" name="Text Box 206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0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0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0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0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3000"/>
                                        <p:tgtEl>
                                          <p:spTgt spid="50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3000"/>
                                        <p:tgtEl>
                                          <p:spTgt spid="5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3000"/>
                                        <p:tgtEl>
                                          <p:spTgt spid="5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3000"/>
                                        <p:tgtEl>
                                          <p:spTgt spid="5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1" dur="500"/>
                                        <p:tgtEl>
                                          <p:spTgt spid="50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75"/>
                                        <p:tgtEl>
                                          <p:spTgt spid="5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3000"/>
                                        <p:tgtEl>
                                          <p:spTgt spid="5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3000"/>
                                        <p:tgtEl>
                                          <p:spTgt spid="5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50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75"/>
                                        <p:tgtEl>
                                          <p:spTgt spid="5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/>
      <p:bldP spid="50179" grpId="0"/>
      <p:bldP spid="50224" grpId="0" animBg="1"/>
      <p:bldP spid="50263" grpId="0"/>
      <p:bldP spid="5026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2"/>
          <p:cNvSpPr/>
          <p:nvPr/>
        </p:nvSpPr>
        <p:spPr>
          <a:xfrm>
            <a:off x="539750" y="476250"/>
            <a:ext cx="8064500" cy="31686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20000"/>
              </a:lnSpc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替代前后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KCL,KVL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关系相同，其余支路的</a:t>
            </a:r>
            <a:r>
              <a:rPr lang="en-US" altLang="zh-CN" b="0" i="1" dirty="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zh-CN" altLang="en-US" b="0" dirty="0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b="0" i="1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关系不变。用</a:t>
            </a:r>
            <a:r>
              <a:rPr lang="en-US" altLang="zh-CN" b="0" i="1" dirty="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="0" i="1" baseline="-25000" dirty="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替代后，其余支路电压不变</a:t>
            </a:r>
            <a:r>
              <a:rPr lang="en-US" altLang="zh-CN" b="0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KVL)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，其余支路电流也不变，故第</a:t>
            </a:r>
            <a:r>
              <a:rPr lang="en-US" altLang="zh-CN" b="0" i="1" dirty="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条支路</a:t>
            </a:r>
            <a:r>
              <a:rPr lang="en-US" altLang="zh-CN" b="0" i="1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b="0" i="1" baseline="-25000" dirty="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也不变</a:t>
            </a:r>
            <a:r>
              <a:rPr lang="en-US" altLang="zh-CN" b="0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KCL)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。用</a:t>
            </a:r>
            <a:r>
              <a:rPr lang="en-US" altLang="zh-CN" b="0" i="1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b="0" i="1" baseline="-25000" dirty="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替代后，其余支路电流不变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(KCL)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其余支路电压不变，故第</a:t>
            </a:r>
            <a:r>
              <a:rPr lang="en-US" altLang="zh-CN" i="1" dirty="0">
                <a:latin typeface="楷体_GB2312" pitchFamily="49" charset="-122"/>
                <a:ea typeface="楷体_GB2312" pitchFamily="49" charset="-122"/>
              </a:rPr>
              <a:t>k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条支路</a:t>
            </a:r>
            <a:r>
              <a:rPr lang="en-US" altLang="zh-CN" b="0" i="1" dirty="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="0" i="1" baseline="-25000" dirty="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也不变</a:t>
            </a:r>
            <a:r>
              <a:rPr lang="en-US" altLang="zh-CN" b="0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KVL)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9155" name="Text Box 3"/>
          <p:cNvSpPr txBox="1"/>
          <p:nvPr/>
        </p:nvSpPr>
        <p:spPr>
          <a:xfrm>
            <a:off x="755650" y="549275"/>
            <a:ext cx="936625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原因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9158" name="Text Box 6"/>
          <p:cNvSpPr txBox="1"/>
          <p:nvPr/>
        </p:nvSpPr>
        <p:spPr>
          <a:xfrm>
            <a:off x="898525" y="4256088"/>
            <a:ext cx="7345363" cy="111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lnSpc>
                <a:spcPct val="120000"/>
              </a:lnSpc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替代定理既适用于线性电路，也适用于非线性电路。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8676" name="Group 10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8677" name="Picture 10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678" name="Text Box 10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8679" name="Group 10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8680" name="Picture 11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681" name="Text Box 11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9267" name="Group 115"/>
          <p:cNvGrpSpPr/>
          <p:nvPr/>
        </p:nvGrpSpPr>
        <p:grpSpPr>
          <a:xfrm>
            <a:off x="395288" y="3586163"/>
            <a:ext cx="1644650" cy="850900"/>
            <a:chOff x="385" y="3022"/>
            <a:chExt cx="1036" cy="536"/>
          </a:xfrm>
        </p:grpSpPr>
        <p:pic>
          <p:nvPicPr>
            <p:cNvPr id="28683" name="Picture 116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684" name="Text Box 117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28685" name="Group 121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28686" name="Picture 12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687" name="Text Box 123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/>
      <p:bldP spid="49155" grpId="0" animBg="1"/>
      <p:bldP spid="4915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3" name="Text Box 5"/>
          <p:cNvSpPr txBox="1"/>
          <p:nvPr/>
        </p:nvSpPr>
        <p:spPr>
          <a:xfrm>
            <a:off x="1116013" y="5373688"/>
            <a:ext cx="63373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spcBef>
                <a:spcPct val="50000"/>
              </a:spcBef>
              <a:buAutoNum type="circleNumDbPlain" startAt="3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替代后其余支路及参数不能改变。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9094" name="Text Box 6"/>
          <p:cNvSpPr txBox="1"/>
          <p:nvPr/>
        </p:nvSpPr>
        <p:spPr>
          <a:xfrm>
            <a:off x="2195513" y="620713"/>
            <a:ext cx="540067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spcBef>
                <a:spcPct val="50000"/>
              </a:spcBef>
              <a:buAutoNum type="circleNumDbPlain" startA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替代后电路必须有唯一解。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9095" name="Text Box 7"/>
          <p:cNvSpPr txBox="1"/>
          <p:nvPr/>
        </p:nvSpPr>
        <p:spPr>
          <a:xfrm>
            <a:off x="2555875" y="1181100"/>
            <a:ext cx="345757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无电压源回路；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9096" name="Text Box 8"/>
          <p:cNvSpPr txBox="1"/>
          <p:nvPr/>
        </p:nvSpPr>
        <p:spPr>
          <a:xfrm>
            <a:off x="2555875" y="1773238"/>
            <a:ext cx="5329238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无电流源结点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含广义结点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9097" name="AutoShape 9"/>
          <p:cNvSpPr/>
          <p:nvPr/>
        </p:nvSpPr>
        <p:spPr>
          <a:xfrm>
            <a:off x="2124075" y="1268413"/>
            <a:ext cx="215900" cy="1008062"/>
          </a:xfrm>
          <a:prstGeom prst="leftBrace">
            <a:avLst>
              <a:gd name="adj1" fmla="val 38887"/>
              <a:gd name="adj2" fmla="val 50000"/>
            </a:avLst>
          </a:prstGeom>
          <a:noFill/>
          <a:ln w="2857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4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89098" name="Group 10"/>
          <p:cNvGrpSpPr/>
          <p:nvPr/>
        </p:nvGrpSpPr>
        <p:grpSpPr>
          <a:xfrm>
            <a:off x="2484438" y="4149725"/>
            <a:ext cx="1390650" cy="519113"/>
            <a:chOff x="3777" y="1594"/>
            <a:chExt cx="556" cy="327"/>
          </a:xfrm>
        </p:grpSpPr>
        <p:sp>
          <p:nvSpPr>
            <p:cNvPr id="29703" name="Line 11"/>
            <p:cNvSpPr/>
            <p:nvPr/>
          </p:nvSpPr>
          <p:spPr>
            <a:xfrm>
              <a:off x="3888" y="1680"/>
              <a:ext cx="0" cy="240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04" name="Text Box 12"/>
            <p:cNvSpPr txBox="1"/>
            <p:nvPr/>
          </p:nvSpPr>
          <p:spPr>
            <a:xfrm>
              <a:off x="3777" y="1594"/>
              <a:ext cx="55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0000" tIns="46800" rIns="90000" bIns="46800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1.5A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89116" name="Group 28"/>
          <p:cNvGrpSpPr/>
          <p:nvPr/>
        </p:nvGrpSpPr>
        <p:grpSpPr>
          <a:xfrm>
            <a:off x="611188" y="2492375"/>
            <a:ext cx="882650" cy="519113"/>
            <a:chOff x="3486" y="1827"/>
            <a:chExt cx="556" cy="327"/>
          </a:xfrm>
        </p:grpSpPr>
        <p:sp>
          <p:nvSpPr>
            <p:cNvPr id="29706" name="Line 29"/>
            <p:cNvSpPr/>
            <p:nvPr/>
          </p:nvSpPr>
          <p:spPr>
            <a:xfrm>
              <a:off x="3560" y="2115"/>
              <a:ext cx="454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07" name="Text Box 30"/>
            <p:cNvSpPr txBox="1"/>
            <p:nvPr/>
          </p:nvSpPr>
          <p:spPr>
            <a:xfrm>
              <a:off x="3486" y="1827"/>
              <a:ext cx="55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2.5A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89119" name="Group 31"/>
          <p:cNvGrpSpPr/>
          <p:nvPr/>
        </p:nvGrpSpPr>
        <p:grpSpPr>
          <a:xfrm>
            <a:off x="3203575" y="3141663"/>
            <a:ext cx="720725" cy="519112"/>
            <a:chOff x="4558" y="398"/>
            <a:chExt cx="454" cy="327"/>
          </a:xfrm>
        </p:grpSpPr>
        <p:sp>
          <p:nvSpPr>
            <p:cNvPr id="29709" name="Line 32"/>
            <p:cNvSpPr/>
            <p:nvPr/>
          </p:nvSpPr>
          <p:spPr>
            <a:xfrm>
              <a:off x="4558" y="436"/>
              <a:ext cx="454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10" name="Text Box 33"/>
            <p:cNvSpPr txBox="1"/>
            <p:nvPr/>
          </p:nvSpPr>
          <p:spPr>
            <a:xfrm>
              <a:off x="4568" y="398"/>
              <a:ext cx="38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1A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29711" name="Group 45"/>
          <p:cNvGrpSpPr/>
          <p:nvPr/>
        </p:nvGrpSpPr>
        <p:grpSpPr>
          <a:xfrm>
            <a:off x="8297863" y="6354763"/>
            <a:ext cx="792162" cy="366712"/>
            <a:chOff x="5193" y="4020"/>
            <a:chExt cx="499" cy="231"/>
          </a:xfrm>
        </p:grpSpPr>
        <p:pic>
          <p:nvPicPr>
            <p:cNvPr id="29712" name="Picture 4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13" name="Text Box 4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9714" name="Group 4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9715" name="Picture 4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16" name="Text Box 5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9717" name="Group 51"/>
          <p:cNvGrpSpPr/>
          <p:nvPr/>
        </p:nvGrpSpPr>
        <p:grpSpPr>
          <a:xfrm>
            <a:off x="611188" y="404813"/>
            <a:ext cx="1644650" cy="850900"/>
            <a:chOff x="385" y="3022"/>
            <a:chExt cx="1036" cy="536"/>
          </a:xfrm>
        </p:grpSpPr>
        <p:pic>
          <p:nvPicPr>
            <p:cNvPr id="29718" name="Picture 52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19" name="Text Box 53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89142" name="Group 54"/>
          <p:cNvGrpSpPr/>
          <p:nvPr/>
        </p:nvGrpSpPr>
        <p:grpSpPr>
          <a:xfrm>
            <a:off x="468313" y="2997200"/>
            <a:ext cx="3873500" cy="1944688"/>
            <a:chOff x="1338" y="2432"/>
            <a:chExt cx="2440" cy="1225"/>
          </a:xfrm>
        </p:grpSpPr>
        <p:sp>
          <p:nvSpPr>
            <p:cNvPr id="29721" name="Oval 55"/>
            <p:cNvSpPr/>
            <p:nvPr/>
          </p:nvSpPr>
          <p:spPr>
            <a:xfrm>
              <a:off x="1338" y="284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9722" name="Oval 56"/>
            <p:cNvSpPr/>
            <p:nvPr/>
          </p:nvSpPr>
          <p:spPr>
            <a:xfrm>
              <a:off x="2517" y="284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9723" name="Text Box 57"/>
            <p:cNvSpPr txBox="1"/>
            <p:nvPr/>
          </p:nvSpPr>
          <p:spPr>
            <a:xfrm>
              <a:off x="1701" y="2886"/>
              <a:ext cx="50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9724" name="Text Box 58"/>
            <p:cNvSpPr txBox="1"/>
            <p:nvPr/>
          </p:nvSpPr>
          <p:spPr>
            <a:xfrm>
              <a:off x="2154" y="2886"/>
              <a:ext cx="38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5V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9725" name="Text Box 59"/>
            <p:cNvSpPr txBox="1"/>
            <p:nvPr/>
          </p:nvSpPr>
          <p:spPr>
            <a:xfrm>
              <a:off x="1927" y="2523"/>
              <a:ext cx="39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9726" name="Text Box 60"/>
            <p:cNvSpPr txBox="1"/>
            <p:nvPr/>
          </p:nvSpPr>
          <p:spPr>
            <a:xfrm>
              <a:off x="3288" y="2886"/>
              <a:ext cx="39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9727" name="Rectangle 61"/>
            <p:cNvSpPr/>
            <p:nvPr/>
          </p:nvSpPr>
          <p:spPr>
            <a:xfrm>
              <a:off x="1519" y="2477"/>
              <a:ext cx="2223" cy="1180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9728" name="Line 62"/>
            <p:cNvSpPr/>
            <p:nvPr/>
          </p:nvSpPr>
          <p:spPr>
            <a:xfrm>
              <a:off x="2699" y="2478"/>
              <a:ext cx="0" cy="11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29729" name="Text Box 63"/>
            <p:cNvSpPr txBox="1"/>
            <p:nvPr/>
          </p:nvSpPr>
          <p:spPr>
            <a:xfrm>
              <a:off x="1519" y="2523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30" name="Text Box 64"/>
            <p:cNvSpPr txBox="1"/>
            <p:nvPr/>
          </p:nvSpPr>
          <p:spPr>
            <a:xfrm>
              <a:off x="1519" y="3249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31" name="Text Box 65"/>
            <p:cNvSpPr txBox="1"/>
            <p:nvPr/>
          </p:nvSpPr>
          <p:spPr>
            <a:xfrm>
              <a:off x="2336" y="3249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32" name="Text Box 66"/>
            <p:cNvSpPr txBox="1"/>
            <p:nvPr/>
          </p:nvSpPr>
          <p:spPr>
            <a:xfrm>
              <a:off x="2381" y="2478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33" name="Rectangle 67"/>
            <p:cNvSpPr/>
            <p:nvPr/>
          </p:nvSpPr>
          <p:spPr>
            <a:xfrm>
              <a:off x="3651" y="288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9734" name="Rectangle 68"/>
            <p:cNvSpPr/>
            <p:nvPr/>
          </p:nvSpPr>
          <p:spPr>
            <a:xfrm>
              <a:off x="2018" y="243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89157" name="Group 69"/>
          <p:cNvGrpSpPr/>
          <p:nvPr/>
        </p:nvGrpSpPr>
        <p:grpSpPr>
          <a:xfrm>
            <a:off x="4643438" y="2492375"/>
            <a:ext cx="4392612" cy="2736850"/>
            <a:chOff x="2154" y="1525"/>
            <a:chExt cx="2767" cy="1724"/>
          </a:xfrm>
        </p:grpSpPr>
        <p:sp>
          <p:nvSpPr>
            <p:cNvPr id="29736" name="Rectangle 70"/>
            <p:cNvSpPr/>
            <p:nvPr/>
          </p:nvSpPr>
          <p:spPr>
            <a:xfrm>
              <a:off x="2154" y="1570"/>
              <a:ext cx="2767" cy="1679"/>
            </a:xfrm>
            <a:prstGeom prst="rect">
              <a:avLst/>
            </a:prstGeom>
            <a:solidFill>
              <a:schemeClr val="bg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9737" name="Oval 71"/>
            <p:cNvSpPr/>
            <p:nvPr/>
          </p:nvSpPr>
          <p:spPr>
            <a:xfrm>
              <a:off x="4468" y="225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9738" name="Oval 72"/>
            <p:cNvSpPr/>
            <p:nvPr/>
          </p:nvSpPr>
          <p:spPr>
            <a:xfrm>
              <a:off x="2245" y="225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9739" name="Oval 73"/>
            <p:cNvSpPr/>
            <p:nvPr/>
          </p:nvSpPr>
          <p:spPr>
            <a:xfrm>
              <a:off x="3424" y="225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9740" name="Text Box 74"/>
            <p:cNvSpPr txBox="1"/>
            <p:nvPr/>
          </p:nvSpPr>
          <p:spPr>
            <a:xfrm>
              <a:off x="2608" y="2296"/>
              <a:ext cx="50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9741" name="Text Box 75"/>
            <p:cNvSpPr txBox="1"/>
            <p:nvPr/>
          </p:nvSpPr>
          <p:spPr>
            <a:xfrm>
              <a:off x="3061" y="2296"/>
              <a:ext cx="38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5V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9742" name="Text Box 76"/>
            <p:cNvSpPr txBox="1"/>
            <p:nvPr/>
          </p:nvSpPr>
          <p:spPr>
            <a:xfrm>
              <a:off x="2834" y="1933"/>
              <a:ext cx="39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9743" name="Rectangle 77"/>
            <p:cNvSpPr/>
            <p:nvPr/>
          </p:nvSpPr>
          <p:spPr>
            <a:xfrm>
              <a:off x="2426" y="1887"/>
              <a:ext cx="2223" cy="1180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9744" name="Line 78"/>
            <p:cNvSpPr/>
            <p:nvPr/>
          </p:nvSpPr>
          <p:spPr>
            <a:xfrm>
              <a:off x="3606" y="1888"/>
              <a:ext cx="0" cy="11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29745" name="Text Box 79"/>
            <p:cNvSpPr txBox="1"/>
            <p:nvPr/>
          </p:nvSpPr>
          <p:spPr>
            <a:xfrm>
              <a:off x="2426" y="1933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46" name="Text Box 80"/>
            <p:cNvSpPr txBox="1"/>
            <p:nvPr/>
          </p:nvSpPr>
          <p:spPr>
            <a:xfrm>
              <a:off x="2426" y="2659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47" name="Text Box 81"/>
            <p:cNvSpPr txBox="1"/>
            <p:nvPr/>
          </p:nvSpPr>
          <p:spPr>
            <a:xfrm>
              <a:off x="3243" y="2659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48" name="Text Box 82"/>
            <p:cNvSpPr txBox="1"/>
            <p:nvPr/>
          </p:nvSpPr>
          <p:spPr>
            <a:xfrm>
              <a:off x="3288" y="1888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49" name="Rectangle 83"/>
            <p:cNvSpPr/>
            <p:nvPr/>
          </p:nvSpPr>
          <p:spPr>
            <a:xfrm>
              <a:off x="2925" y="184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29750" name="Group 84"/>
            <p:cNvGrpSpPr/>
            <p:nvPr/>
          </p:nvGrpSpPr>
          <p:grpSpPr>
            <a:xfrm>
              <a:off x="2336" y="1525"/>
              <a:ext cx="556" cy="327"/>
              <a:chOff x="3486" y="1827"/>
              <a:chExt cx="556" cy="327"/>
            </a:xfrm>
          </p:grpSpPr>
          <p:sp>
            <p:nvSpPr>
              <p:cNvPr id="29751" name="Line 85"/>
              <p:cNvSpPr/>
              <p:nvPr/>
            </p:nvSpPr>
            <p:spPr>
              <a:xfrm>
                <a:off x="3560" y="2115"/>
                <a:ext cx="454" cy="0"/>
              </a:xfrm>
              <a:prstGeom prst="line">
                <a:avLst/>
              </a:prstGeom>
              <a:ln w="28575" cap="flat" cmpd="sng">
                <a:solidFill>
                  <a:srgbClr val="66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9752" name="Text Box 86"/>
              <p:cNvSpPr txBox="1"/>
              <p:nvPr/>
            </p:nvSpPr>
            <p:spPr>
              <a:xfrm>
                <a:off x="3486" y="1827"/>
                <a:ext cx="556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pPr algn="ctr"/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2.5A</a:t>
                </a:r>
                <a:endParaRPr lang="en-US" altLang="zh-CN" b="0" dirty="0"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</p:grpSp>
        <p:sp>
          <p:nvSpPr>
            <p:cNvPr id="29753" name="Text Box 87"/>
            <p:cNvSpPr txBox="1"/>
            <p:nvPr/>
          </p:nvSpPr>
          <p:spPr>
            <a:xfrm>
              <a:off x="4059" y="2296"/>
              <a:ext cx="38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5V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9754" name="Text Box 88"/>
            <p:cNvSpPr txBox="1"/>
            <p:nvPr/>
          </p:nvSpPr>
          <p:spPr>
            <a:xfrm>
              <a:off x="4377" y="1888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55" name="Text Box 89"/>
            <p:cNvSpPr txBox="1"/>
            <p:nvPr/>
          </p:nvSpPr>
          <p:spPr>
            <a:xfrm>
              <a:off x="4286" y="2614"/>
              <a:ext cx="46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89179" name="Group 91"/>
          <p:cNvGrpSpPr/>
          <p:nvPr/>
        </p:nvGrpSpPr>
        <p:grpSpPr>
          <a:xfrm>
            <a:off x="7526338" y="2532063"/>
            <a:ext cx="720725" cy="647700"/>
            <a:chOff x="4649" y="1933"/>
            <a:chExt cx="454" cy="408"/>
          </a:xfrm>
        </p:grpSpPr>
        <p:sp>
          <p:nvSpPr>
            <p:cNvPr id="29757" name="Text Box 43"/>
            <p:cNvSpPr txBox="1"/>
            <p:nvPr/>
          </p:nvSpPr>
          <p:spPr>
            <a:xfrm>
              <a:off x="4694" y="1933"/>
              <a:ext cx="409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6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？</a:t>
              </a:r>
              <a:endParaRPr lang="zh-CN" altLang="en-US" sz="36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58" name="Line 90"/>
            <p:cNvSpPr/>
            <p:nvPr/>
          </p:nvSpPr>
          <p:spPr>
            <a:xfrm>
              <a:off x="4649" y="2341"/>
              <a:ext cx="318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89181" name="Group 93"/>
          <p:cNvGrpSpPr/>
          <p:nvPr/>
        </p:nvGrpSpPr>
        <p:grpSpPr>
          <a:xfrm>
            <a:off x="7227888" y="4192588"/>
            <a:ext cx="649287" cy="649287"/>
            <a:chOff x="7320" y="3003"/>
            <a:chExt cx="409" cy="409"/>
          </a:xfrm>
        </p:grpSpPr>
        <p:sp>
          <p:nvSpPr>
            <p:cNvPr id="29760" name="Text Box 44"/>
            <p:cNvSpPr txBox="1"/>
            <p:nvPr/>
          </p:nvSpPr>
          <p:spPr>
            <a:xfrm>
              <a:off x="7320" y="3003"/>
              <a:ext cx="409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6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？</a:t>
              </a:r>
              <a:endParaRPr lang="zh-CN" altLang="en-US" sz="36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61" name="Line 92"/>
            <p:cNvSpPr/>
            <p:nvPr/>
          </p:nvSpPr>
          <p:spPr>
            <a:xfrm>
              <a:off x="7326" y="3003"/>
              <a:ext cx="0" cy="409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9762" name="Group 97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29763" name="Picture 9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64" name="Text Box 99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90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90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9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9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9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9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9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9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9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9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9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9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9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9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8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89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89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3" grpId="0"/>
      <p:bldP spid="89094" grpId="0"/>
      <p:bldP spid="89095" grpId="0"/>
      <p:bldP spid="89096" grpId="0"/>
      <p:bldP spid="8909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5" name="Text Box 7"/>
          <p:cNvSpPr txBox="1"/>
          <p:nvPr/>
        </p:nvSpPr>
        <p:spPr>
          <a:xfrm>
            <a:off x="250825" y="1125538"/>
            <a:ext cx="8636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36" name="Text Box 8"/>
          <p:cNvSpPr txBox="1"/>
          <p:nvPr/>
        </p:nvSpPr>
        <p:spPr>
          <a:xfrm>
            <a:off x="971550" y="1125538"/>
            <a:ext cx="12954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若使</a:t>
            </a:r>
            <a:endParaRPr lang="zh-CN" altLang="en-US" baseline="-250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8137" name="Text Box 9"/>
          <p:cNvSpPr txBox="1"/>
          <p:nvPr/>
        </p:nvSpPr>
        <p:spPr>
          <a:xfrm>
            <a:off x="3059113" y="1125538"/>
            <a:ext cx="1752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试求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8169" name="Object 41"/>
          <p:cNvGraphicFramePr>
            <a:graphicFrameLocks noChangeAspect="1"/>
          </p:cNvGraphicFramePr>
          <p:nvPr/>
        </p:nvGraphicFramePr>
        <p:xfrm>
          <a:off x="1835150" y="908050"/>
          <a:ext cx="1309688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" imgW="532130" imgH="393700" progId="Equation.3">
                  <p:embed/>
                </p:oleObj>
              </mc:Choice>
              <mc:Fallback>
                <p:oleObj name="" r:id="rId1" imgW="532130" imgH="393700" progId="Equation.3">
                  <p:embed/>
                  <p:pic>
                    <p:nvPicPr>
                      <p:cNvPr id="0" name="20 310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35150" y="908050"/>
                        <a:ext cx="1309688" cy="981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232" name="Text Box 104"/>
          <p:cNvSpPr txBox="1"/>
          <p:nvPr/>
        </p:nvSpPr>
        <p:spPr>
          <a:xfrm>
            <a:off x="395288" y="476250"/>
            <a:ext cx="3744912" cy="579438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ctr" anchorCtr="0">
            <a:spAutoFit/>
          </a:bodyPr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</a:pP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3.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替代定理的应用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8236" name="Text Box 108"/>
          <p:cNvSpPr txBox="1"/>
          <p:nvPr/>
        </p:nvSpPr>
        <p:spPr>
          <a:xfrm>
            <a:off x="395288" y="1844675"/>
            <a:ext cx="504825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237" name="Text Box 109"/>
          <p:cNvSpPr txBox="1"/>
          <p:nvPr/>
        </p:nvSpPr>
        <p:spPr>
          <a:xfrm>
            <a:off x="1176338" y="1690688"/>
            <a:ext cx="21590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用替代：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8242" name="Rectangle 114"/>
          <p:cNvSpPr/>
          <p:nvPr/>
        </p:nvSpPr>
        <p:spPr>
          <a:xfrm>
            <a:off x="468313" y="4652963"/>
            <a:ext cx="473075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4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endParaRPr lang="en-US" altLang="zh-CN" sz="40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243" name="Rectangle 115"/>
          <p:cNvSpPr/>
          <p:nvPr/>
        </p:nvSpPr>
        <p:spPr>
          <a:xfrm>
            <a:off x="4264025" y="5095875"/>
            <a:ext cx="473075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4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endParaRPr lang="en-US" altLang="zh-CN" sz="32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0730" name="Group 21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0731" name="Picture 212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732" name="Text Box 21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0733" name="Group 21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0734" name="Picture 215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735" name="Text Box 21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8472" name="Group 344"/>
          <p:cNvGrpSpPr/>
          <p:nvPr/>
        </p:nvGrpSpPr>
        <p:grpSpPr>
          <a:xfrm>
            <a:off x="1331913" y="4491038"/>
            <a:ext cx="2736850" cy="2016125"/>
            <a:chOff x="839" y="2387"/>
            <a:chExt cx="1724" cy="1270"/>
          </a:xfrm>
        </p:grpSpPr>
        <p:sp>
          <p:nvSpPr>
            <p:cNvPr id="30737" name="Freeform 270"/>
            <p:cNvSpPr/>
            <p:nvPr/>
          </p:nvSpPr>
          <p:spPr>
            <a:xfrm>
              <a:off x="2270" y="3022"/>
              <a:ext cx="248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3" y="0"/>
                </a:cxn>
              </a:cxnLst>
              <a:pathLst>
                <a:path w="240" h="1">
                  <a:moveTo>
                    <a:pt x="0" y="0"/>
                  </a:moveTo>
                  <a:lnTo>
                    <a:pt x="240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738" name="Text Box 271"/>
            <p:cNvSpPr txBox="1"/>
            <p:nvPr/>
          </p:nvSpPr>
          <p:spPr>
            <a:xfrm>
              <a:off x="1701" y="2931"/>
              <a:ext cx="1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9" name="Text Box 272"/>
            <p:cNvSpPr txBox="1"/>
            <p:nvPr/>
          </p:nvSpPr>
          <p:spPr>
            <a:xfrm>
              <a:off x="2200" y="2976"/>
              <a:ext cx="25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40" name="Text Box 273"/>
            <p:cNvSpPr txBox="1"/>
            <p:nvPr/>
          </p:nvSpPr>
          <p:spPr>
            <a:xfrm>
              <a:off x="1883" y="2976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U'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41" name="Freeform 274"/>
            <p:cNvSpPr/>
            <p:nvPr/>
          </p:nvSpPr>
          <p:spPr>
            <a:xfrm flipV="1">
              <a:off x="1701" y="2976"/>
              <a:ext cx="136" cy="4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0"/>
                </a:cxn>
              </a:cxnLst>
              <a:pathLst>
                <a:path w="222" h="1">
                  <a:moveTo>
                    <a:pt x="0" y="0"/>
                  </a:moveTo>
                  <a:lnTo>
                    <a:pt x="222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742" name="Oval 275"/>
            <p:cNvSpPr/>
            <p:nvPr/>
          </p:nvSpPr>
          <p:spPr>
            <a:xfrm>
              <a:off x="1837" y="2976"/>
              <a:ext cx="75" cy="73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0743" name="Oval 276"/>
            <p:cNvSpPr/>
            <p:nvPr/>
          </p:nvSpPr>
          <p:spPr>
            <a:xfrm>
              <a:off x="2200" y="2976"/>
              <a:ext cx="76" cy="73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0744" name="Text Box 277"/>
            <p:cNvSpPr txBox="1"/>
            <p:nvPr/>
          </p:nvSpPr>
          <p:spPr>
            <a:xfrm>
              <a:off x="1928" y="324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0745" name="Text Box 278"/>
            <p:cNvSpPr txBox="1"/>
            <p:nvPr/>
          </p:nvSpPr>
          <p:spPr>
            <a:xfrm>
              <a:off x="1883" y="2432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0746" name="Rectangle 279"/>
            <p:cNvSpPr/>
            <p:nvPr/>
          </p:nvSpPr>
          <p:spPr>
            <a:xfrm>
              <a:off x="1021" y="2387"/>
              <a:ext cx="1497" cy="1270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0747" name="Line 280"/>
            <p:cNvSpPr/>
            <p:nvPr/>
          </p:nvSpPr>
          <p:spPr>
            <a:xfrm>
              <a:off x="1692" y="2387"/>
              <a:ext cx="9" cy="127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0748" name="Text Box 281"/>
            <p:cNvSpPr txBox="1"/>
            <p:nvPr/>
          </p:nvSpPr>
          <p:spPr>
            <a:xfrm>
              <a:off x="1247" y="2523"/>
              <a:ext cx="6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0749" name="Line 282"/>
            <p:cNvSpPr/>
            <p:nvPr/>
          </p:nvSpPr>
          <p:spPr>
            <a:xfrm flipV="1">
              <a:off x="1020" y="2522"/>
              <a:ext cx="0" cy="31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0750" name="Text Box 283"/>
            <p:cNvSpPr txBox="1"/>
            <p:nvPr/>
          </p:nvSpPr>
          <p:spPr>
            <a:xfrm>
              <a:off x="1050" y="2523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51" name="Text Box 284"/>
            <p:cNvSpPr txBox="1"/>
            <p:nvPr/>
          </p:nvSpPr>
          <p:spPr>
            <a:xfrm>
              <a:off x="1066" y="3203"/>
              <a:ext cx="8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0752" name="Rectangle 285"/>
            <p:cNvSpPr/>
            <p:nvPr/>
          </p:nvSpPr>
          <p:spPr>
            <a:xfrm>
              <a:off x="2436" y="320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0753" name="Rectangle 286"/>
            <p:cNvSpPr/>
            <p:nvPr/>
          </p:nvSpPr>
          <p:spPr>
            <a:xfrm>
              <a:off x="1610" y="315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0754" name="Rectangle 287"/>
            <p:cNvSpPr/>
            <p:nvPr/>
          </p:nvSpPr>
          <p:spPr>
            <a:xfrm>
              <a:off x="2436" y="247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0755" name="Rectangle 288"/>
            <p:cNvSpPr/>
            <p:nvPr/>
          </p:nvSpPr>
          <p:spPr>
            <a:xfrm>
              <a:off x="1610" y="252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30756" name="Group 289"/>
            <p:cNvGrpSpPr/>
            <p:nvPr/>
          </p:nvGrpSpPr>
          <p:grpSpPr>
            <a:xfrm>
              <a:off x="839" y="2841"/>
              <a:ext cx="363" cy="363"/>
              <a:chOff x="4785" y="709"/>
              <a:chExt cx="363" cy="363"/>
            </a:xfrm>
          </p:grpSpPr>
          <p:sp>
            <p:nvSpPr>
              <p:cNvPr id="30757" name="Oval 290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30758" name="Line 291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48474" name="Group 346"/>
          <p:cNvGrpSpPr/>
          <p:nvPr/>
        </p:nvGrpSpPr>
        <p:grpSpPr>
          <a:xfrm>
            <a:off x="5119688" y="4411663"/>
            <a:ext cx="3829050" cy="2116137"/>
            <a:chOff x="2971" y="2341"/>
            <a:chExt cx="2412" cy="1333"/>
          </a:xfrm>
        </p:grpSpPr>
        <p:sp>
          <p:nvSpPr>
            <p:cNvPr id="30760" name="Text Box 327"/>
            <p:cNvSpPr txBox="1"/>
            <p:nvPr/>
          </p:nvSpPr>
          <p:spPr>
            <a:xfrm>
              <a:off x="2971" y="3201"/>
              <a:ext cx="84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30761" name="Group 345"/>
            <p:cNvGrpSpPr/>
            <p:nvPr/>
          </p:nvGrpSpPr>
          <p:grpSpPr>
            <a:xfrm>
              <a:off x="3094" y="2341"/>
              <a:ext cx="2289" cy="1333"/>
              <a:chOff x="3094" y="2341"/>
              <a:chExt cx="2289" cy="1333"/>
            </a:xfrm>
          </p:grpSpPr>
          <p:sp>
            <p:nvSpPr>
              <p:cNvPr id="30762" name="Line 317"/>
              <p:cNvSpPr/>
              <p:nvPr/>
            </p:nvSpPr>
            <p:spPr>
              <a:xfrm>
                <a:off x="3139" y="2386"/>
                <a:ext cx="514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63" name="Line 318"/>
              <p:cNvSpPr/>
              <p:nvPr/>
            </p:nvSpPr>
            <p:spPr>
              <a:xfrm>
                <a:off x="3185" y="3656"/>
                <a:ext cx="453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64" name="Oval 319"/>
              <p:cNvSpPr/>
              <p:nvPr/>
            </p:nvSpPr>
            <p:spPr>
              <a:xfrm>
                <a:off x="3139" y="3611"/>
                <a:ext cx="63" cy="63"/>
              </a:xfrm>
              <a:prstGeom prst="ellipse">
                <a:avLst/>
              </a:prstGeom>
              <a:noFill/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0765" name="Oval 320"/>
              <p:cNvSpPr/>
              <p:nvPr/>
            </p:nvSpPr>
            <p:spPr>
              <a:xfrm>
                <a:off x="3094" y="2341"/>
                <a:ext cx="63" cy="63"/>
              </a:xfrm>
              <a:prstGeom prst="ellipse">
                <a:avLst/>
              </a:prstGeom>
              <a:noFill/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0766" name="Text Box 321"/>
              <p:cNvSpPr txBox="1"/>
              <p:nvPr/>
            </p:nvSpPr>
            <p:spPr>
              <a:xfrm>
                <a:off x="4785" y="3203"/>
                <a:ext cx="59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0.5</a:t>
                </a: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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30767" name="Text Box 322"/>
              <p:cNvSpPr txBox="1"/>
              <p:nvPr/>
            </p:nvSpPr>
            <p:spPr>
              <a:xfrm>
                <a:off x="4785" y="2478"/>
                <a:ext cx="59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0.5</a:t>
                </a: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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30768" name="Rectangle 323"/>
              <p:cNvSpPr/>
              <p:nvPr/>
            </p:nvSpPr>
            <p:spPr>
              <a:xfrm>
                <a:off x="3638" y="2385"/>
                <a:ext cx="1074" cy="1270"/>
              </a:xfrm>
              <a:prstGeom prst="rect">
                <a:avLst/>
              </a:prstGeom>
              <a:noFill/>
              <a:ln w="28575" cap="flat" cmpd="sng">
                <a:solidFill>
                  <a:srgbClr val="FFCC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0769" name="Line 324"/>
              <p:cNvSpPr/>
              <p:nvPr/>
            </p:nvSpPr>
            <p:spPr>
              <a:xfrm flipV="1">
                <a:off x="3638" y="3020"/>
                <a:ext cx="1078" cy="1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30770" name="Text Box 325"/>
              <p:cNvSpPr txBox="1"/>
              <p:nvPr/>
            </p:nvSpPr>
            <p:spPr>
              <a:xfrm>
                <a:off x="3159" y="2521"/>
                <a:ext cx="70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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30771" name="Line 326"/>
              <p:cNvSpPr/>
              <p:nvPr/>
            </p:nvSpPr>
            <p:spPr>
              <a:xfrm flipH="1">
                <a:off x="3696" y="3022"/>
                <a:ext cx="318" cy="0"/>
              </a:xfrm>
              <a:prstGeom prst="line">
                <a:avLst/>
              </a:prstGeom>
              <a:ln w="28575" cap="flat" cmpd="sng">
                <a:solidFill>
                  <a:srgbClr val="66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30772" name="Rectangle 328"/>
              <p:cNvSpPr/>
              <p:nvPr/>
            </p:nvSpPr>
            <p:spPr>
              <a:xfrm>
                <a:off x="4655" y="3202"/>
                <a:ext cx="132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0773" name="Rectangle 329"/>
              <p:cNvSpPr/>
              <p:nvPr/>
            </p:nvSpPr>
            <p:spPr>
              <a:xfrm>
                <a:off x="3536" y="3156"/>
                <a:ext cx="132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0774" name="Rectangle 330"/>
              <p:cNvSpPr/>
              <p:nvPr/>
            </p:nvSpPr>
            <p:spPr>
              <a:xfrm>
                <a:off x="4655" y="2521"/>
                <a:ext cx="132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0775" name="Rectangle 331"/>
              <p:cNvSpPr/>
              <p:nvPr/>
            </p:nvSpPr>
            <p:spPr>
              <a:xfrm>
                <a:off x="3536" y="2521"/>
                <a:ext cx="132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graphicFrame>
            <p:nvGraphicFramePr>
              <p:cNvPr id="30776" name="Object 332"/>
              <p:cNvGraphicFramePr>
                <a:graphicFrameLocks noChangeAspect="1"/>
              </p:cNvGraphicFramePr>
              <p:nvPr/>
            </p:nvGraphicFramePr>
            <p:xfrm>
              <a:off x="3737" y="2478"/>
              <a:ext cx="322" cy="5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8" name="" r:id="rId4" imgW="208280" imgH="393700" progId="Equation.3">
                      <p:embed/>
                    </p:oleObj>
                  </mc:Choice>
                  <mc:Fallback>
                    <p:oleObj name="" r:id="rId4" imgW="208280" imgH="393700" progId="Equation.3">
                      <p:embed/>
                      <p:pic>
                        <p:nvPicPr>
                          <p:cNvPr id="0" name="20 3107"/>
                          <p:cNvPicPr/>
                          <p:nvPr/>
                        </p:nvPicPr>
                        <p:blipFill>
                          <a:blip r:embed="rId5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737" y="2478"/>
                            <a:ext cx="322" cy="56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0777" name="Group 333"/>
              <p:cNvGrpSpPr/>
              <p:nvPr/>
            </p:nvGrpSpPr>
            <p:grpSpPr>
              <a:xfrm rot="5400000">
                <a:off x="4002" y="2831"/>
                <a:ext cx="363" cy="377"/>
                <a:chOff x="4785" y="709"/>
                <a:chExt cx="363" cy="363"/>
              </a:xfrm>
            </p:grpSpPr>
            <p:sp>
              <p:nvSpPr>
                <p:cNvPr id="30778" name="Oval 334"/>
                <p:cNvSpPr/>
                <p:nvPr/>
              </p:nvSpPr>
              <p:spPr>
                <a:xfrm>
                  <a:off x="4785" y="709"/>
                  <a:ext cx="363" cy="36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FF"/>
                    </a:gs>
                    <a:gs pos="100000">
                      <a:srgbClr val="004776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rot="10800000" vert="eaVert" wrap="none" anchor="ctr" anchorCtr="0"/>
                <a:p>
                  <a:pPr algn="ctr"/>
                  <a:endParaRPr lang="zh-CN" altLang="zh-CN" sz="2400" b="0" dirty="0">
                    <a:latin typeface="Arial" panose="020B0604020202020204" pitchFamily="34" charset="0"/>
                    <a:ea typeface="仿宋_GB2312" pitchFamily="49" charset="-122"/>
                  </a:endParaRPr>
                </a:p>
              </p:txBody>
            </p:sp>
            <p:sp>
              <p:nvSpPr>
                <p:cNvPr id="30779" name="Line 335"/>
                <p:cNvSpPr/>
                <p:nvPr/>
              </p:nvSpPr>
              <p:spPr>
                <a:xfrm>
                  <a:off x="4785" y="890"/>
                  <a:ext cx="363" cy="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0780" name="Text Box 336"/>
              <p:cNvSpPr txBox="1"/>
              <p:nvPr/>
            </p:nvSpPr>
            <p:spPr>
              <a:xfrm>
                <a:off x="3969" y="3158"/>
                <a:ext cx="54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U''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81" name="Text Box 337"/>
              <p:cNvSpPr txBox="1"/>
              <p:nvPr/>
            </p:nvSpPr>
            <p:spPr>
              <a:xfrm>
                <a:off x="3787" y="3012"/>
                <a:ext cx="16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–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82" name="Text Box 338"/>
              <p:cNvSpPr txBox="1"/>
              <p:nvPr/>
            </p:nvSpPr>
            <p:spPr>
              <a:xfrm>
                <a:off x="4332" y="3022"/>
                <a:ext cx="24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48348" name="Group 220"/>
          <p:cNvGrpSpPr/>
          <p:nvPr/>
        </p:nvGrpSpPr>
        <p:grpSpPr>
          <a:xfrm>
            <a:off x="4500563" y="620713"/>
            <a:ext cx="4017962" cy="2232025"/>
            <a:chOff x="158" y="2296"/>
            <a:chExt cx="2531" cy="1406"/>
          </a:xfrm>
        </p:grpSpPr>
        <p:sp>
          <p:nvSpPr>
            <p:cNvPr id="30784" name="Oval 221"/>
            <p:cNvSpPr/>
            <p:nvPr/>
          </p:nvSpPr>
          <p:spPr>
            <a:xfrm>
              <a:off x="612" y="302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0785" name="Text Box 222"/>
            <p:cNvSpPr txBox="1"/>
            <p:nvPr/>
          </p:nvSpPr>
          <p:spPr>
            <a:xfrm>
              <a:off x="2018" y="3239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0786" name="Text Box 223"/>
            <p:cNvSpPr txBox="1"/>
            <p:nvPr/>
          </p:nvSpPr>
          <p:spPr>
            <a:xfrm>
              <a:off x="2018" y="2341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0787" name="Rectangle 224"/>
            <p:cNvSpPr/>
            <p:nvPr/>
          </p:nvSpPr>
          <p:spPr>
            <a:xfrm>
              <a:off x="793" y="2296"/>
              <a:ext cx="1824" cy="1344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0788" name="Line 225"/>
            <p:cNvSpPr/>
            <p:nvPr/>
          </p:nvSpPr>
          <p:spPr>
            <a:xfrm>
              <a:off x="1565" y="2296"/>
              <a:ext cx="0" cy="13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0789" name="Line 226"/>
            <p:cNvSpPr/>
            <p:nvPr/>
          </p:nvSpPr>
          <p:spPr>
            <a:xfrm>
              <a:off x="1565" y="2931"/>
              <a:ext cx="105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0790" name="Text Box 227"/>
            <p:cNvSpPr txBox="1"/>
            <p:nvPr/>
          </p:nvSpPr>
          <p:spPr>
            <a:xfrm>
              <a:off x="158" y="3067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91" name="Text Box 228"/>
            <p:cNvSpPr txBox="1"/>
            <p:nvPr/>
          </p:nvSpPr>
          <p:spPr>
            <a:xfrm>
              <a:off x="385" y="2523"/>
              <a:ext cx="58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92" name="Text Box 229"/>
            <p:cNvSpPr txBox="1"/>
            <p:nvPr/>
          </p:nvSpPr>
          <p:spPr>
            <a:xfrm>
              <a:off x="1116" y="2341"/>
              <a:ext cx="6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0793" name="Text Box 230"/>
            <p:cNvSpPr txBox="1"/>
            <p:nvPr/>
          </p:nvSpPr>
          <p:spPr>
            <a:xfrm>
              <a:off x="1882" y="2523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0794" name="Line 231"/>
            <p:cNvSpPr/>
            <p:nvPr/>
          </p:nvSpPr>
          <p:spPr>
            <a:xfrm flipH="1">
              <a:off x="1610" y="2886"/>
              <a:ext cx="28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0795" name="Text Box 232"/>
            <p:cNvSpPr txBox="1"/>
            <p:nvPr/>
          </p:nvSpPr>
          <p:spPr>
            <a:xfrm>
              <a:off x="1610" y="2523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96" name="Text Box 233"/>
            <p:cNvSpPr txBox="1"/>
            <p:nvPr/>
          </p:nvSpPr>
          <p:spPr>
            <a:xfrm>
              <a:off x="1701" y="2886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97" name="Text Box 234"/>
            <p:cNvSpPr txBox="1"/>
            <p:nvPr/>
          </p:nvSpPr>
          <p:spPr>
            <a:xfrm>
              <a:off x="2245" y="2886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98" name="Text Box 235"/>
            <p:cNvSpPr txBox="1"/>
            <p:nvPr/>
          </p:nvSpPr>
          <p:spPr>
            <a:xfrm>
              <a:off x="1973" y="2922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99" name="Line 236"/>
            <p:cNvSpPr/>
            <p:nvPr/>
          </p:nvSpPr>
          <p:spPr>
            <a:xfrm flipH="1">
              <a:off x="975" y="3702"/>
              <a:ext cx="336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0800" name="Text Box 237"/>
            <p:cNvSpPr txBox="1"/>
            <p:nvPr/>
          </p:nvSpPr>
          <p:spPr>
            <a:xfrm>
              <a:off x="1020" y="3339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01" name="Text Box 238"/>
            <p:cNvSpPr txBox="1"/>
            <p:nvPr/>
          </p:nvSpPr>
          <p:spPr>
            <a:xfrm>
              <a:off x="975" y="2976"/>
              <a:ext cx="8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0802" name="Text Box 239"/>
            <p:cNvSpPr txBox="1"/>
            <p:nvPr/>
          </p:nvSpPr>
          <p:spPr>
            <a:xfrm>
              <a:off x="431" y="2750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0803" name="Text Box 240"/>
            <p:cNvSpPr txBox="1"/>
            <p:nvPr/>
          </p:nvSpPr>
          <p:spPr>
            <a:xfrm>
              <a:off x="431" y="3339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0804" name="Rectangle 241"/>
            <p:cNvSpPr/>
            <p:nvPr/>
          </p:nvSpPr>
          <p:spPr>
            <a:xfrm>
              <a:off x="2562" y="311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0805" name="Rectangle 242"/>
            <p:cNvSpPr/>
            <p:nvPr/>
          </p:nvSpPr>
          <p:spPr>
            <a:xfrm>
              <a:off x="1483" y="311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0806" name="Rectangle 243"/>
            <p:cNvSpPr/>
            <p:nvPr/>
          </p:nvSpPr>
          <p:spPr>
            <a:xfrm>
              <a:off x="2562" y="243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0807" name="Rectangle 244"/>
            <p:cNvSpPr/>
            <p:nvPr/>
          </p:nvSpPr>
          <p:spPr>
            <a:xfrm>
              <a:off x="1483" y="243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0808" name="Rectangle 245"/>
            <p:cNvSpPr/>
            <p:nvPr/>
          </p:nvSpPr>
          <p:spPr>
            <a:xfrm>
              <a:off x="748" y="252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0809" name="Rectangle 246"/>
            <p:cNvSpPr/>
            <p:nvPr/>
          </p:nvSpPr>
          <p:spPr>
            <a:xfrm>
              <a:off x="1927" y="284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48477" name="Group 349"/>
          <p:cNvGrpSpPr/>
          <p:nvPr/>
        </p:nvGrpSpPr>
        <p:grpSpPr>
          <a:xfrm>
            <a:off x="1095375" y="2324100"/>
            <a:ext cx="3286125" cy="2016125"/>
            <a:chOff x="1278" y="844"/>
            <a:chExt cx="2070" cy="1270"/>
          </a:xfrm>
        </p:grpSpPr>
        <p:grpSp>
          <p:nvGrpSpPr>
            <p:cNvPr id="30811" name="Group 348"/>
            <p:cNvGrpSpPr/>
            <p:nvPr/>
          </p:nvGrpSpPr>
          <p:grpSpPr>
            <a:xfrm>
              <a:off x="1278" y="844"/>
              <a:ext cx="2070" cy="1270"/>
              <a:chOff x="3003" y="572"/>
              <a:chExt cx="2070" cy="1270"/>
            </a:xfrm>
          </p:grpSpPr>
          <p:sp>
            <p:nvSpPr>
              <p:cNvPr id="30812" name="Text Box 295"/>
              <p:cNvSpPr txBox="1"/>
              <p:nvPr/>
            </p:nvSpPr>
            <p:spPr>
              <a:xfrm>
                <a:off x="4387" y="1434"/>
                <a:ext cx="59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0.5</a:t>
                </a: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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30813" name="Text Box 296"/>
              <p:cNvSpPr txBox="1"/>
              <p:nvPr/>
            </p:nvSpPr>
            <p:spPr>
              <a:xfrm>
                <a:off x="4377" y="617"/>
                <a:ext cx="59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0.5</a:t>
                </a: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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30814" name="Rectangle 297"/>
              <p:cNvSpPr/>
              <p:nvPr/>
            </p:nvSpPr>
            <p:spPr>
              <a:xfrm>
                <a:off x="3198" y="572"/>
                <a:ext cx="1787" cy="1270"/>
              </a:xfrm>
              <a:prstGeom prst="rect">
                <a:avLst/>
              </a:prstGeom>
              <a:noFill/>
              <a:ln w="28575" cap="flat" cmpd="sng">
                <a:solidFill>
                  <a:srgbClr val="FFCC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0815" name="Line 298"/>
              <p:cNvSpPr/>
              <p:nvPr/>
            </p:nvSpPr>
            <p:spPr>
              <a:xfrm>
                <a:off x="3907" y="572"/>
                <a:ext cx="9" cy="127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30816" name="Line 299"/>
              <p:cNvSpPr/>
              <p:nvPr/>
            </p:nvSpPr>
            <p:spPr>
              <a:xfrm>
                <a:off x="3907" y="1207"/>
                <a:ext cx="1095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30817" name="Text Box 300"/>
              <p:cNvSpPr txBox="1"/>
              <p:nvPr/>
            </p:nvSpPr>
            <p:spPr>
              <a:xfrm>
                <a:off x="3445" y="708"/>
                <a:ext cx="70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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30818" name="Line 301"/>
              <p:cNvSpPr/>
              <p:nvPr/>
            </p:nvSpPr>
            <p:spPr>
              <a:xfrm flipH="1">
                <a:off x="4015" y="1207"/>
                <a:ext cx="272" cy="0"/>
              </a:xfrm>
              <a:prstGeom prst="line">
                <a:avLst/>
              </a:prstGeom>
              <a:ln w="28575" cap="flat" cmpd="sng">
                <a:solidFill>
                  <a:srgbClr val="66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30819" name="Text Box 303"/>
              <p:cNvSpPr txBox="1"/>
              <p:nvPr/>
            </p:nvSpPr>
            <p:spPr>
              <a:xfrm>
                <a:off x="3217" y="709"/>
                <a:ext cx="299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820" name="Text Box 304"/>
              <p:cNvSpPr txBox="1"/>
              <p:nvPr/>
            </p:nvSpPr>
            <p:spPr>
              <a:xfrm>
                <a:off x="3257" y="1388"/>
                <a:ext cx="84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0.5</a:t>
                </a: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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30821" name="Rectangle 305"/>
              <p:cNvSpPr/>
              <p:nvPr/>
            </p:nvSpPr>
            <p:spPr>
              <a:xfrm>
                <a:off x="4941" y="1389"/>
                <a:ext cx="132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0822" name="Rectangle 306"/>
              <p:cNvSpPr/>
              <p:nvPr/>
            </p:nvSpPr>
            <p:spPr>
              <a:xfrm>
                <a:off x="3822" y="1343"/>
                <a:ext cx="132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0823" name="Rectangle 307"/>
              <p:cNvSpPr/>
              <p:nvPr/>
            </p:nvSpPr>
            <p:spPr>
              <a:xfrm>
                <a:off x="4941" y="708"/>
                <a:ext cx="132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0824" name="Rectangle 308"/>
              <p:cNvSpPr/>
              <p:nvPr/>
            </p:nvSpPr>
            <p:spPr>
              <a:xfrm>
                <a:off x="3822" y="708"/>
                <a:ext cx="132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graphicFrame>
            <p:nvGraphicFramePr>
              <p:cNvPr id="30825" name="Object 309"/>
              <p:cNvGraphicFramePr>
                <a:graphicFrameLocks noChangeAspect="1"/>
              </p:cNvGraphicFramePr>
              <p:nvPr/>
            </p:nvGraphicFramePr>
            <p:xfrm>
              <a:off x="4076" y="685"/>
              <a:ext cx="290" cy="4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9" name="" r:id="rId6" imgW="185420" imgH="335915" progId="Equation.3">
                      <p:embed/>
                    </p:oleObj>
                  </mc:Choice>
                  <mc:Fallback>
                    <p:oleObj name="" r:id="rId6" imgW="185420" imgH="335915" progId="Equation.3">
                      <p:embed/>
                      <p:pic>
                        <p:nvPicPr>
                          <p:cNvPr id="0" name="20 3108"/>
                          <p:cNvPicPr/>
                          <p:nvPr/>
                        </p:nvPicPr>
                        <p:blipFill>
                          <a:blip r:embed="rId7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076" y="685"/>
                            <a:ext cx="290" cy="48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826" name="Line 302"/>
              <p:cNvSpPr/>
              <p:nvPr/>
            </p:nvSpPr>
            <p:spPr>
              <a:xfrm flipV="1">
                <a:off x="3198" y="708"/>
                <a:ext cx="0" cy="318"/>
              </a:xfrm>
              <a:prstGeom prst="line">
                <a:avLst/>
              </a:prstGeom>
              <a:ln w="28575" cap="flat" cmpd="sng">
                <a:solidFill>
                  <a:srgbClr val="66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grpSp>
            <p:nvGrpSpPr>
              <p:cNvPr id="30827" name="Group 313"/>
              <p:cNvGrpSpPr/>
              <p:nvPr/>
            </p:nvGrpSpPr>
            <p:grpSpPr>
              <a:xfrm>
                <a:off x="3003" y="1026"/>
                <a:ext cx="377" cy="363"/>
                <a:chOff x="4785" y="709"/>
                <a:chExt cx="363" cy="363"/>
              </a:xfrm>
            </p:grpSpPr>
            <p:sp>
              <p:nvSpPr>
                <p:cNvPr id="30828" name="Oval 314"/>
                <p:cNvSpPr/>
                <p:nvPr/>
              </p:nvSpPr>
              <p:spPr>
                <a:xfrm>
                  <a:off x="4785" y="709"/>
                  <a:ext cx="363" cy="36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FF"/>
                    </a:gs>
                    <a:gs pos="100000">
                      <a:srgbClr val="004776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endParaRPr lang="zh-CN" altLang="zh-CN" sz="2400" b="0" dirty="0">
                    <a:latin typeface="Arial" panose="020B0604020202020204" pitchFamily="34" charset="0"/>
                    <a:ea typeface="仿宋_GB2312" pitchFamily="49" charset="-122"/>
                  </a:endParaRPr>
                </a:p>
              </p:txBody>
            </p:sp>
            <p:sp>
              <p:nvSpPr>
                <p:cNvPr id="30829" name="Line 315"/>
                <p:cNvSpPr/>
                <p:nvPr/>
              </p:nvSpPr>
              <p:spPr>
                <a:xfrm>
                  <a:off x="4785" y="890"/>
                  <a:ext cx="363" cy="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30830" name="Group 310"/>
            <p:cNvGrpSpPr/>
            <p:nvPr/>
          </p:nvGrpSpPr>
          <p:grpSpPr>
            <a:xfrm rot="5400000">
              <a:off x="2568" y="1290"/>
              <a:ext cx="363" cy="377"/>
              <a:chOff x="4785" y="709"/>
              <a:chExt cx="363" cy="363"/>
            </a:xfrm>
          </p:grpSpPr>
          <p:sp>
            <p:nvSpPr>
              <p:cNvPr id="30831" name="Oval 311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rot="10800000" vert="eaVert"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30832" name="Line 312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30833" name="Group 350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30834" name="Picture 351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835" name="Text Box 352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8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48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8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8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8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8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48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8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8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8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5" grpId="0"/>
      <p:bldP spid="48136" grpId="0"/>
      <p:bldP spid="48137" grpId="0"/>
      <p:bldP spid="48232" grpId="0"/>
      <p:bldP spid="48236" grpId="0" animBg="1"/>
      <p:bldP spid="48237" grpId="0"/>
      <p:bldP spid="48242" grpId="0"/>
      <p:bldP spid="4824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7291" name="Object 11"/>
          <p:cNvGraphicFramePr>
            <a:graphicFrameLocks noChangeAspect="1"/>
          </p:cNvGraphicFramePr>
          <p:nvPr/>
        </p:nvGraphicFramePr>
        <p:xfrm>
          <a:off x="1509713" y="2997200"/>
          <a:ext cx="5297487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" imgW="2037080" imgH="393700" progId="Equation.3">
                  <p:embed/>
                </p:oleObj>
              </mc:Choice>
              <mc:Fallback>
                <p:oleObj name="" r:id="rId1" imgW="2037080" imgH="393700" progId="Equation.3">
                  <p:embed/>
                  <p:pic>
                    <p:nvPicPr>
                      <p:cNvPr id="0" name="20 311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09713" y="2997200"/>
                        <a:ext cx="5297487" cy="931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2" name="Object 12"/>
          <p:cNvGraphicFramePr>
            <a:graphicFrameLocks noChangeAspect="1"/>
          </p:cNvGraphicFramePr>
          <p:nvPr/>
        </p:nvGraphicFramePr>
        <p:xfrm>
          <a:off x="1476375" y="3933825"/>
          <a:ext cx="421322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3" imgW="1875155" imgH="393700" progId="Equation.3">
                  <p:embed/>
                </p:oleObj>
              </mc:Choice>
              <mc:Fallback>
                <p:oleObj name="" r:id="rId3" imgW="1875155" imgH="393700" progId="Equation.3">
                  <p:embed/>
                  <p:pic>
                    <p:nvPicPr>
                      <p:cNvPr id="0" name="20 310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76375" y="3933825"/>
                        <a:ext cx="4213225" cy="920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47" name="Group 1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1748" name="Picture 14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749" name="Text Box 1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1750" name="Group 1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1751" name="Picture 17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752" name="Text Box 1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97393" name="Text Box 113"/>
          <p:cNvSpPr txBox="1"/>
          <p:nvPr/>
        </p:nvSpPr>
        <p:spPr>
          <a:xfrm>
            <a:off x="1403350" y="4868863"/>
            <a:ext cx="5472113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i="1" baseline="30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'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i="1" baseline="30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=(0.1</a:t>
            </a:r>
            <a:r>
              <a: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0.075)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=0.025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394" name="Text Box 114"/>
          <p:cNvSpPr txBox="1"/>
          <p:nvPr/>
        </p:nvSpPr>
        <p:spPr>
          <a:xfrm>
            <a:off x="1404938" y="5516563"/>
            <a:ext cx="7127875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/0.125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=0.025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/0.125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=0.2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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1755" name="Group 141"/>
          <p:cNvGrpSpPr/>
          <p:nvPr/>
        </p:nvGrpSpPr>
        <p:grpSpPr>
          <a:xfrm>
            <a:off x="971550" y="738188"/>
            <a:ext cx="2736850" cy="2016125"/>
            <a:chOff x="839" y="2387"/>
            <a:chExt cx="1724" cy="1270"/>
          </a:xfrm>
        </p:grpSpPr>
        <p:sp>
          <p:nvSpPr>
            <p:cNvPr id="31756" name="Freeform 142"/>
            <p:cNvSpPr/>
            <p:nvPr/>
          </p:nvSpPr>
          <p:spPr>
            <a:xfrm>
              <a:off x="2270" y="3022"/>
              <a:ext cx="248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3" y="0"/>
                </a:cxn>
              </a:cxnLst>
              <a:pathLst>
                <a:path w="240" h="1">
                  <a:moveTo>
                    <a:pt x="0" y="0"/>
                  </a:moveTo>
                  <a:lnTo>
                    <a:pt x="240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757" name="Text Box 143"/>
            <p:cNvSpPr txBox="1"/>
            <p:nvPr/>
          </p:nvSpPr>
          <p:spPr>
            <a:xfrm>
              <a:off x="1701" y="2931"/>
              <a:ext cx="1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8" name="Text Box 144"/>
            <p:cNvSpPr txBox="1"/>
            <p:nvPr/>
          </p:nvSpPr>
          <p:spPr>
            <a:xfrm>
              <a:off x="2200" y="2976"/>
              <a:ext cx="25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9" name="Text Box 145"/>
            <p:cNvSpPr txBox="1"/>
            <p:nvPr/>
          </p:nvSpPr>
          <p:spPr>
            <a:xfrm>
              <a:off x="1883" y="2976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U'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60" name="Freeform 146"/>
            <p:cNvSpPr/>
            <p:nvPr/>
          </p:nvSpPr>
          <p:spPr>
            <a:xfrm flipV="1">
              <a:off x="1701" y="2976"/>
              <a:ext cx="136" cy="4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0"/>
                </a:cxn>
              </a:cxnLst>
              <a:pathLst>
                <a:path w="222" h="1">
                  <a:moveTo>
                    <a:pt x="0" y="0"/>
                  </a:moveTo>
                  <a:lnTo>
                    <a:pt x="222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761" name="Oval 147"/>
            <p:cNvSpPr/>
            <p:nvPr/>
          </p:nvSpPr>
          <p:spPr>
            <a:xfrm>
              <a:off x="1837" y="2976"/>
              <a:ext cx="75" cy="73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1762" name="Oval 148"/>
            <p:cNvSpPr/>
            <p:nvPr/>
          </p:nvSpPr>
          <p:spPr>
            <a:xfrm>
              <a:off x="2200" y="2976"/>
              <a:ext cx="76" cy="73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1763" name="Text Box 149"/>
            <p:cNvSpPr txBox="1"/>
            <p:nvPr/>
          </p:nvSpPr>
          <p:spPr>
            <a:xfrm>
              <a:off x="1928" y="324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1764" name="Text Box 150"/>
            <p:cNvSpPr txBox="1"/>
            <p:nvPr/>
          </p:nvSpPr>
          <p:spPr>
            <a:xfrm>
              <a:off x="1883" y="2432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1765" name="Rectangle 151"/>
            <p:cNvSpPr/>
            <p:nvPr/>
          </p:nvSpPr>
          <p:spPr>
            <a:xfrm>
              <a:off x="1021" y="2387"/>
              <a:ext cx="1497" cy="1270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1766" name="Line 152"/>
            <p:cNvSpPr/>
            <p:nvPr/>
          </p:nvSpPr>
          <p:spPr>
            <a:xfrm>
              <a:off x="1692" y="2387"/>
              <a:ext cx="9" cy="127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1767" name="Text Box 153"/>
            <p:cNvSpPr txBox="1"/>
            <p:nvPr/>
          </p:nvSpPr>
          <p:spPr>
            <a:xfrm>
              <a:off x="1247" y="2523"/>
              <a:ext cx="6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1768" name="Line 154"/>
            <p:cNvSpPr/>
            <p:nvPr/>
          </p:nvSpPr>
          <p:spPr>
            <a:xfrm flipV="1">
              <a:off x="1020" y="2522"/>
              <a:ext cx="0" cy="31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1769" name="Text Box 155"/>
            <p:cNvSpPr txBox="1"/>
            <p:nvPr/>
          </p:nvSpPr>
          <p:spPr>
            <a:xfrm>
              <a:off x="1050" y="2523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70" name="Text Box 156"/>
            <p:cNvSpPr txBox="1"/>
            <p:nvPr/>
          </p:nvSpPr>
          <p:spPr>
            <a:xfrm>
              <a:off x="1066" y="3203"/>
              <a:ext cx="8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1771" name="Rectangle 157"/>
            <p:cNvSpPr/>
            <p:nvPr/>
          </p:nvSpPr>
          <p:spPr>
            <a:xfrm>
              <a:off x="2436" y="320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1772" name="Rectangle 158"/>
            <p:cNvSpPr/>
            <p:nvPr/>
          </p:nvSpPr>
          <p:spPr>
            <a:xfrm>
              <a:off x="1610" y="315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1773" name="Rectangle 159"/>
            <p:cNvSpPr/>
            <p:nvPr/>
          </p:nvSpPr>
          <p:spPr>
            <a:xfrm>
              <a:off x="2436" y="247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1774" name="Rectangle 160"/>
            <p:cNvSpPr/>
            <p:nvPr/>
          </p:nvSpPr>
          <p:spPr>
            <a:xfrm>
              <a:off x="1610" y="252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31775" name="Group 161"/>
            <p:cNvGrpSpPr/>
            <p:nvPr/>
          </p:nvGrpSpPr>
          <p:grpSpPr>
            <a:xfrm>
              <a:off x="839" y="2841"/>
              <a:ext cx="363" cy="363"/>
              <a:chOff x="4785" y="709"/>
              <a:chExt cx="363" cy="363"/>
            </a:xfrm>
          </p:grpSpPr>
          <p:sp>
            <p:nvSpPr>
              <p:cNvPr id="31776" name="Oval 162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31777" name="Line 163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31778" name="Group 164"/>
          <p:cNvGrpSpPr/>
          <p:nvPr/>
        </p:nvGrpSpPr>
        <p:grpSpPr>
          <a:xfrm>
            <a:off x="4356100" y="665163"/>
            <a:ext cx="3829050" cy="2116137"/>
            <a:chOff x="2971" y="2341"/>
            <a:chExt cx="2412" cy="1333"/>
          </a:xfrm>
        </p:grpSpPr>
        <p:sp>
          <p:nvSpPr>
            <p:cNvPr id="31779" name="Text Box 165"/>
            <p:cNvSpPr txBox="1"/>
            <p:nvPr/>
          </p:nvSpPr>
          <p:spPr>
            <a:xfrm>
              <a:off x="2971" y="3201"/>
              <a:ext cx="84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31780" name="Group 166"/>
            <p:cNvGrpSpPr/>
            <p:nvPr/>
          </p:nvGrpSpPr>
          <p:grpSpPr>
            <a:xfrm>
              <a:off x="3094" y="2341"/>
              <a:ext cx="2289" cy="1333"/>
              <a:chOff x="3094" y="2341"/>
              <a:chExt cx="2289" cy="1333"/>
            </a:xfrm>
          </p:grpSpPr>
          <p:sp>
            <p:nvSpPr>
              <p:cNvPr id="31781" name="Line 167"/>
              <p:cNvSpPr/>
              <p:nvPr/>
            </p:nvSpPr>
            <p:spPr>
              <a:xfrm>
                <a:off x="3139" y="2386"/>
                <a:ext cx="514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82" name="Line 168"/>
              <p:cNvSpPr/>
              <p:nvPr/>
            </p:nvSpPr>
            <p:spPr>
              <a:xfrm>
                <a:off x="3185" y="3656"/>
                <a:ext cx="453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83" name="Oval 169"/>
              <p:cNvSpPr/>
              <p:nvPr/>
            </p:nvSpPr>
            <p:spPr>
              <a:xfrm>
                <a:off x="3139" y="3611"/>
                <a:ext cx="63" cy="63"/>
              </a:xfrm>
              <a:prstGeom prst="ellipse">
                <a:avLst/>
              </a:prstGeom>
              <a:noFill/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1784" name="Oval 170"/>
              <p:cNvSpPr/>
              <p:nvPr/>
            </p:nvSpPr>
            <p:spPr>
              <a:xfrm>
                <a:off x="3094" y="2341"/>
                <a:ext cx="63" cy="63"/>
              </a:xfrm>
              <a:prstGeom prst="ellipse">
                <a:avLst/>
              </a:prstGeom>
              <a:noFill/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1785" name="Text Box 171"/>
              <p:cNvSpPr txBox="1"/>
              <p:nvPr/>
            </p:nvSpPr>
            <p:spPr>
              <a:xfrm>
                <a:off x="4785" y="3203"/>
                <a:ext cx="59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0.5</a:t>
                </a: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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31786" name="Text Box 172"/>
              <p:cNvSpPr txBox="1"/>
              <p:nvPr/>
            </p:nvSpPr>
            <p:spPr>
              <a:xfrm>
                <a:off x="4785" y="2478"/>
                <a:ext cx="59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0.5</a:t>
                </a: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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31787" name="Rectangle 173"/>
              <p:cNvSpPr/>
              <p:nvPr/>
            </p:nvSpPr>
            <p:spPr>
              <a:xfrm>
                <a:off x="3638" y="2385"/>
                <a:ext cx="1074" cy="1270"/>
              </a:xfrm>
              <a:prstGeom prst="rect">
                <a:avLst/>
              </a:prstGeom>
              <a:noFill/>
              <a:ln w="28575" cap="flat" cmpd="sng">
                <a:solidFill>
                  <a:srgbClr val="FFCC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1788" name="Line 174"/>
              <p:cNvSpPr/>
              <p:nvPr/>
            </p:nvSpPr>
            <p:spPr>
              <a:xfrm flipV="1">
                <a:off x="3638" y="3020"/>
                <a:ext cx="1078" cy="1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31789" name="Text Box 175"/>
              <p:cNvSpPr txBox="1"/>
              <p:nvPr/>
            </p:nvSpPr>
            <p:spPr>
              <a:xfrm>
                <a:off x="3159" y="2521"/>
                <a:ext cx="70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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31790" name="Line 176"/>
              <p:cNvSpPr/>
              <p:nvPr/>
            </p:nvSpPr>
            <p:spPr>
              <a:xfrm flipH="1">
                <a:off x="3696" y="3022"/>
                <a:ext cx="318" cy="0"/>
              </a:xfrm>
              <a:prstGeom prst="line">
                <a:avLst/>
              </a:prstGeom>
              <a:ln w="28575" cap="flat" cmpd="sng">
                <a:solidFill>
                  <a:srgbClr val="66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31791" name="Rectangle 177"/>
              <p:cNvSpPr/>
              <p:nvPr/>
            </p:nvSpPr>
            <p:spPr>
              <a:xfrm>
                <a:off x="4655" y="3202"/>
                <a:ext cx="132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1792" name="Rectangle 178"/>
              <p:cNvSpPr/>
              <p:nvPr/>
            </p:nvSpPr>
            <p:spPr>
              <a:xfrm>
                <a:off x="3536" y="3156"/>
                <a:ext cx="132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1793" name="Rectangle 179"/>
              <p:cNvSpPr/>
              <p:nvPr/>
            </p:nvSpPr>
            <p:spPr>
              <a:xfrm>
                <a:off x="4655" y="2521"/>
                <a:ext cx="132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1794" name="Rectangle 180"/>
              <p:cNvSpPr/>
              <p:nvPr/>
            </p:nvSpPr>
            <p:spPr>
              <a:xfrm>
                <a:off x="3536" y="2521"/>
                <a:ext cx="132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graphicFrame>
            <p:nvGraphicFramePr>
              <p:cNvPr id="31795" name="Object 181"/>
              <p:cNvGraphicFramePr>
                <a:graphicFrameLocks noChangeAspect="1"/>
              </p:cNvGraphicFramePr>
              <p:nvPr/>
            </p:nvGraphicFramePr>
            <p:xfrm>
              <a:off x="3737" y="2478"/>
              <a:ext cx="322" cy="5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2" name="" r:id="rId6" imgW="208280" imgH="393700" progId="Equation.3">
                      <p:embed/>
                    </p:oleObj>
                  </mc:Choice>
                  <mc:Fallback>
                    <p:oleObj name="" r:id="rId6" imgW="208280" imgH="393700" progId="Equation.3">
                      <p:embed/>
                      <p:pic>
                        <p:nvPicPr>
                          <p:cNvPr id="0" name="20 3111"/>
                          <p:cNvPicPr/>
                          <p:nvPr/>
                        </p:nvPicPr>
                        <p:blipFill>
                          <a:blip r:embed="rId7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737" y="2478"/>
                            <a:ext cx="322" cy="56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1796" name="Group 182"/>
              <p:cNvGrpSpPr/>
              <p:nvPr/>
            </p:nvGrpSpPr>
            <p:grpSpPr>
              <a:xfrm rot="5400000">
                <a:off x="4002" y="2831"/>
                <a:ext cx="363" cy="377"/>
                <a:chOff x="4785" y="709"/>
                <a:chExt cx="363" cy="363"/>
              </a:xfrm>
            </p:grpSpPr>
            <p:sp>
              <p:nvSpPr>
                <p:cNvPr id="31797" name="Oval 183"/>
                <p:cNvSpPr/>
                <p:nvPr/>
              </p:nvSpPr>
              <p:spPr>
                <a:xfrm>
                  <a:off x="4785" y="709"/>
                  <a:ext cx="363" cy="36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FF"/>
                    </a:gs>
                    <a:gs pos="100000">
                      <a:srgbClr val="004776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rot="10800000" vert="eaVert" wrap="none" anchor="ctr" anchorCtr="0"/>
                <a:p>
                  <a:pPr algn="ctr"/>
                  <a:endParaRPr lang="zh-CN" altLang="zh-CN" sz="2400" b="0" dirty="0">
                    <a:latin typeface="Arial" panose="020B0604020202020204" pitchFamily="34" charset="0"/>
                    <a:ea typeface="仿宋_GB2312" pitchFamily="49" charset="-122"/>
                  </a:endParaRPr>
                </a:p>
              </p:txBody>
            </p:sp>
            <p:sp>
              <p:nvSpPr>
                <p:cNvPr id="31798" name="Line 184"/>
                <p:cNvSpPr/>
                <p:nvPr/>
              </p:nvSpPr>
              <p:spPr>
                <a:xfrm>
                  <a:off x="4785" y="890"/>
                  <a:ext cx="363" cy="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1799" name="Text Box 185"/>
              <p:cNvSpPr txBox="1"/>
              <p:nvPr/>
            </p:nvSpPr>
            <p:spPr>
              <a:xfrm>
                <a:off x="3969" y="3158"/>
                <a:ext cx="54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U''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800" name="Text Box 186"/>
              <p:cNvSpPr txBox="1"/>
              <p:nvPr/>
            </p:nvSpPr>
            <p:spPr>
              <a:xfrm>
                <a:off x="3787" y="3012"/>
                <a:ext cx="16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–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801" name="Text Box 187"/>
              <p:cNvSpPr txBox="1"/>
              <p:nvPr/>
            </p:nvSpPr>
            <p:spPr>
              <a:xfrm>
                <a:off x="4332" y="3022"/>
                <a:ext cx="24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31802" name="Group 188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31803" name="Picture 189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804" name="Text Box 190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9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97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7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7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9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93" grpId="0"/>
      <p:bldP spid="9739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8" name="Text Box 4"/>
          <p:cNvSpPr txBox="1"/>
          <p:nvPr/>
        </p:nvSpPr>
        <p:spPr>
          <a:xfrm>
            <a:off x="468313" y="620713"/>
            <a:ext cx="8636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10" name="Text Box 6"/>
          <p:cNvSpPr txBox="1"/>
          <p:nvPr/>
        </p:nvSpPr>
        <p:spPr>
          <a:xfrm>
            <a:off x="1331913" y="620713"/>
            <a:ext cx="2160587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求电流</a:t>
            </a:r>
            <a:r>
              <a:rPr lang="en-US" altLang="zh-CN" b="0" i="1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b="0" baseline="-25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7112" name="Text Box 8"/>
          <p:cNvSpPr txBox="1"/>
          <p:nvPr/>
        </p:nvSpPr>
        <p:spPr>
          <a:xfrm>
            <a:off x="611188" y="1268413"/>
            <a:ext cx="504825" cy="519112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13" name="Text Box 9"/>
          <p:cNvSpPr txBox="1"/>
          <p:nvPr/>
        </p:nvSpPr>
        <p:spPr>
          <a:xfrm>
            <a:off x="1187450" y="1268413"/>
            <a:ext cx="208915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用替代：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7212" name="Object 108"/>
          <p:cNvGraphicFramePr>
            <a:graphicFrameLocks noChangeAspect="1"/>
          </p:cNvGraphicFramePr>
          <p:nvPr/>
        </p:nvGraphicFramePr>
        <p:xfrm>
          <a:off x="4356100" y="4365625"/>
          <a:ext cx="4205288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" imgW="1689735" imgH="393700" progId="Equation.3">
                  <p:embed/>
                </p:oleObj>
              </mc:Choice>
              <mc:Fallback>
                <p:oleObj name="" r:id="rId1" imgW="1689735" imgH="393700" progId="Equation.3">
                  <p:embed/>
                  <p:pic>
                    <p:nvPicPr>
                      <p:cNvPr id="0" name="20 311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56100" y="4365625"/>
                        <a:ext cx="4205288" cy="1019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774" name="Group 11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2775" name="Picture 118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776" name="Text Box 11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2777" name="Group 12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2778" name="Picture 121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779" name="Text Box 12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7290" name="Group 186"/>
          <p:cNvGrpSpPr/>
          <p:nvPr/>
        </p:nvGrpSpPr>
        <p:grpSpPr>
          <a:xfrm>
            <a:off x="3779838" y="692150"/>
            <a:ext cx="4824412" cy="3184525"/>
            <a:chOff x="2381" y="436"/>
            <a:chExt cx="3039" cy="2006"/>
          </a:xfrm>
        </p:grpSpPr>
        <p:sp>
          <p:nvSpPr>
            <p:cNvPr id="32781" name="Oval 127"/>
            <p:cNvSpPr/>
            <p:nvPr/>
          </p:nvSpPr>
          <p:spPr>
            <a:xfrm>
              <a:off x="3424" y="166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2782" name="Oval 128"/>
            <p:cNvSpPr/>
            <p:nvPr/>
          </p:nvSpPr>
          <p:spPr>
            <a:xfrm>
              <a:off x="5057" y="142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2783" name="Oval 129"/>
            <p:cNvSpPr/>
            <p:nvPr/>
          </p:nvSpPr>
          <p:spPr>
            <a:xfrm>
              <a:off x="4377" y="142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2784" name="Text Box 130"/>
            <p:cNvSpPr txBox="1"/>
            <p:nvPr/>
          </p:nvSpPr>
          <p:spPr>
            <a:xfrm>
              <a:off x="4831" y="753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785" name="Text Box 131"/>
            <p:cNvSpPr txBox="1"/>
            <p:nvPr/>
          </p:nvSpPr>
          <p:spPr>
            <a:xfrm>
              <a:off x="3833" y="526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786" name="Rectangle 132"/>
            <p:cNvSpPr/>
            <p:nvPr/>
          </p:nvSpPr>
          <p:spPr>
            <a:xfrm>
              <a:off x="2835" y="481"/>
              <a:ext cx="2420" cy="1678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2787" name="Line 133"/>
            <p:cNvSpPr/>
            <p:nvPr/>
          </p:nvSpPr>
          <p:spPr>
            <a:xfrm flipH="1">
              <a:off x="3606" y="481"/>
              <a:ext cx="0" cy="167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2788" name="Line 134"/>
            <p:cNvSpPr/>
            <p:nvPr/>
          </p:nvSpPr>
          <p:spPr>
            <a:xfrm>
              <a:off x="2835" y="1116"/>
              <a:ext cx="77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2789" name="Text Box 135"/>
            <p:cNvSpPr txBox="1"/>
            <p:nvPr/>
          </p:nvSpPr>
          <p:spPr>
            <a:xfrm>
              <a:off x="3062" y="1660"/>
              <a:ext cx="4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90" name="Text Box 136"/>
            <p:cNvSpPr txBox="1"/>
            <p:nvPr/>
          </p:nvSpPr>
          <p:spPr>
            <a:xfrm>
              <a:off x="2381" y="617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91" name="Text Box 137"/>
            <p:cNvSpPr txBox="1"/>
            <p:nvPr/>
          </p:nvSpPr>
          <p:spPr>
            <a:xfrm>
              <a:off x="3153" y="617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792" name="Text Box 138"/>
            <p:cNvSpPr txBox="1"/>
            <p:nvPr/>
          </p:nvSpPr>
          <p:spPr>
            <a:xfrm>
              <a:off x="3182" y="1161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93" name="Text Box 139"/>
            <p:cNvSpPr txBox="1"/>
            <p:nvPr/>
          </p:nvSpPr>
          <p:spPr>
            <a:xfrm>
              <a:off x="4286" y="1742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94" name="Text Box 140"/>
            <p:cNvSpPr txBox="1"/>
            <p:nvPr/>
          </p:nvSpPr>
          <p:spPr>
            <a:xfrm>
              <a:off x="4241" y="1197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95" name="Line 141"/>
            <p:cNvSpPr/>
            <p:nvPr/>
          </p:nvSpPr>
          <p:spPr>
            <a:xfrm flipH="1" flipV="1">
              <a:off x="3424" y="1161"/>
              <a:ext cx="0" cy="31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796" name="Text Box 142"/>
            <p:cNvSpPr txBox="1"/>
            <p:nvPr/>
          </p:nvSpPr>
          <p:spPr>
            <a:xfrm>
              <a:off x="4121" y="753"/>
              <a:ext cx="5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797" name="Text Box 143"/>
            <p:cNvSpPr txBox="1"/>
            <p:nvPr/>
          </p:nvSpPr>
          <p:spPr>
            <a:xfrm>
              <a:off x="3198" y="1434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2798" name="Text Box 144"/>
            <p:cNvSpPr txBox="1"/>
            <p:nvPr/>
          </p:nvSpPr>
          <p:spPr>
            <a:xfrm>
              <a:off x="3198" y="1923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2799" name="Line 146"/>
            <p:cNvSpPr/>
            <p:nvPr/>
          </p:nvSpPr>
          <p:spPr>
            <a:xfrm flipH="1">
              <a:off x="3696" y="2160"/>
              <a:ext cx="31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800" name="Line 145"/>
            <p:cNvSpPr/>
            <p:nvPr/>
          </p:nvSpPr>
          <p:spPr>
            <a:xfrm>
              <a:off x="4558" y="481"/>
              <a:ext cx="0" cy="167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2801" name="Text Box 147"/>
            <p:cNvSpPr txBox="1"/>
            <p:nvPr/>
          </p:nvSpPr>
          <p:spPr>
            <a:xfrm>
              <a:off x="2381" y="1388"/>
              <a:ext cx="5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02" name="Text Box 148"/>
            <p:cNvSpPr txBox="1"/>
            <p:nvPr/>
          </p:nvSpPr>
          <p:spPr>
            <a:xfrm>
              <a:off x="4921" y="1152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03" name="Text Box 149"/>
            <p:cNvSpPr txBox="1"/>
            <p:nvPr/>
          </p:nvSpPr>
          <p:spPr>
            <a:xfrm>
              <a:off x="4921" y="1742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04" name="Text Box 150"/>
            <p:cNvSpPr txBox="1"/>
            <p:nvPr/>
          </p:nvSpPr>
          <p:spPr>
            <a:xfrm>
              <a:off x="4014" y="1470"/>
              <a:ext cx="4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05" name="Text Box 151"/>
            <p:cNvSpPr txBox="1"/>
            <p:nvPr/>
          </p:nvSpPr>
          <p:spPr>
            <a:xfrm>
              <a:off x="4694" y="1470"/>
              <a:ext cx="4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06" name="Text Box 152"/>
            <p:cNvSpPr txBox="1"/>
            <p:nvPr/>
          </p:nvSpPr>
          <p:spPr>
            <a:xfrm>
              <a:off x="3696" y="2115"/>
              <a:ext cx="43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07" name="Text Box 153"/>
            <p:cNvSpPr txBox="1"/>
            <p:nvPr/>
          </p:nvSpPr>
          <p:spPr>
            <a:xfrm>
              <a:off x="3606" y="1161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08" name="Rectangle 154"/>
            <p:cNvSpPr/>
            <p:nvPr/>
          </p:nvSpPr>
          <p:spPr>
            <a:xfrm>
              <a:off x="4468" y="75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2809" name="Rectangle 155"/>
            <p:cNvSpPr/>
            <p:nvPr/>
          </p:nvSpPr>
          <p:spPr>
            <a:xfrm>
              <a:off x="5193" y="75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2810" name="Rectangle 156"/>
            <p:cNvSpPr/>
            <p:nvPr/>
          </p:nvSpPr>
          <p:spPr>
            <a:xfrm>
              <a:off x="3878" y="43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2811" name="Rectangle 157"/>
            <p:cNvSpPr/>
            <p:nvPr/>
          </p:nvSpPr>
          <p:spPr>
            <a:xfrm>
              <a:off x="3515" y="120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2812" name="Rectangle 158"/>
            <p:cNvSpPr/>
            <p:nvPr/>
          </p:nvSpPr>
          <p:spPr>
            <a:xfrm>
              <a:off x="3524" y="61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2813" name="Rectangle 159"/>
            <p:cNvSpPr/>
            <p:nvPr/>
          </p:nvSpPr>
          <p:spPr>
            <a:xfrm>
              <a:off x="2753" y="61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2814" name="Rectangle 160"/>
            <p:cNvSpPr/>
            <p:nvPr/>
          </p:nvSpPr>
          <p:spPr>
            <a:xfrm>
              <a:off x="2789" y="143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32815" name="Group 161"/>
            <p:cNvGrpSpPr/>
            <p:nvPr/>
          </p:nvGrpSpPr>
          <p:grpSpPr>
            <a:xfrm rot="5400000">
              <a:off x="4013" y="1977"/>
              <a:ext cx="363" cy="363"/>
              <a:chOff x="4785" y="709"/>
              <a:chExt cx="363" cy="363"/>
            </a:xfrm>
          </p:grpSpPr>
          <p:sp>
            <p:nvSpPr>
              <p:cNvPr id="32816" name="Oval 162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rot="10800000" vert="eaVert"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32817" name="Line 163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47268" name="AutoShape 164"/>
          <p:cNvSpPr/>
          <p:nvPr/>
        </p:nvSpPr>
        <p:spPr>
          <a:xfrm rot="3875726">
            <a:off x="2324100" y="1211263"/>
            <a:ext cx="749300" cy="2159000"/>
          </a:xfrm>
          <a:prstGeom prst="curvedRightArrow">
            <a:avLst>
              <a:gd name="adj1" fmla="val 17607"/>
              <a:gd name="adj2" fmla="val 75235"/>
              <a:gd name="adj3" fmla="val 33328"/>
            </a:avLst>
          </a:prstGeom>
          <a:solidFill>
            <a:srgbClr val="00CCFF"/>
          </a:solidFill>
          <a:ln w="9525" cap="flat" cmpd="sng">
            <a:solidFill>
              <a:srgbClr val="00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47291" name="Group 187"/>
          <p:cNvGrpSpPr/>
          <p:nvPr/>
        </p:nvGrpSpPr>
        <p:grpSpPr>
          <a:xfrm>
            <a:off x="468313" y="3573463"/>
            <a:ext cx="3527425" cy="1905000"/>
            <a:chOff x="295" y="2251"/>
            <a:chExt cx="2222" cy="1200"/>
          </a:xfrm>
        </p:grpSpPr>
        <p:sp>
          <p:nvSpPr>
            <p:cNvPr id="32820" name="Oval 166"/>
            <p:cNvSpPr/>
            <p:nvPr/>
          </p:nvSpPr>
          <p:spPr>
            <a:xfrm>
              <a:off x="1337" y="288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2821" name="Text Box 167"/>
            <p:cNvSpPr txBox="1"/>
            <p:nvPr/>
          </p:nvSpPr>
          <p:spPr>
            <a:xfrm>
              <a:off x="295" y="2568"/>
              <a:ext cx="45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22" name="Rectangle 168"/>
            <p:cNvSpPr/>
            <p:nvPr/>
          </p:nvSpPr>
          <p:spPr>
            <a:xfrm>
              <a:off x="756" y="2251"/>
              <a:ext cx="1583" cy="1200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2823" name="Freeform 169"/>
            <p:cNvSpPr/>
            <p:nvPr/>
          </p:nvSpPr>
          <p:spPr>
            <a:xfrm>
              <a:off x="1509" y="2257"/>
              <a:ext cx="12" cy="11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1194"/>
                </a:cxn>
              </a:cxnLst>
              <a:pathLst>
                <a:path w="12" h="1194">
                  <a:moveTo>
                    <a:pt x="0" y="0"/>
                  </a:moveTo>
                  <a:lnTo>
                    <a:pt x="12" y="1194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824" name="Text Box 170"/>
            <p:cNvSpPr txBox="1"/>
            <p:nvPr/>
          </p:nvSpPr>
          <p:spPr>
            <a:xfrm>
              <a:off x="1020" y="2387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25" name="Line 171"/>
            <p:cNvSpPr/>
            <p:nvPr/>
          </p:nvSpPr>
          <p:spPr>
            <a:xfrm rot="-5400000" flipH="1" flipV="1">
              <a:off x="2177" y="2996"/>
              <a:ext cx="316" cy="1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826" name="Text Box 172"/>
            <p:cNvSpPr txBox="1"/>
            <p:nvPr/>
          </p:nvSpPr>
          <p:spPr>
            <a:xfrm>
              <a:off x="1927" y="2840"/>
              <a:ext cx="48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27" name="Text Box 173"/>
            <p:cNvSpPr txBox="1"/>
            <p:nvPr/>
          </p:nvSpPr>
          <p:spPr>
            <a:xfrm>
              <a:off x="1156" y="2659"/>
              <a:ext cx="45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endPara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28" name="Text Box 174"/>
            <p:cNvSpPr txBox="1"/>
            <p:nvPr/>
          </p:nvSpPr>
          <p:spPr>
            <a:xfrm>
              <a:off x="1156" y="3158"/>
              <a:ext cx="45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829" name="Text Box 175"/>
            <p:cNvSpPr txBox="1"/>
            <p:nvPr/>
          </p:nvSpPr>
          <p:spPr>
            <a:xfrm>
              <a:off x="975" y="2931"/>
              <a:ext cx="48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30" name="Line 176"/>
            <p:cNvSpPr/>
            <p:nvPr/>
          </p:nvSpPr>
          <p:spPr>
            <a:xfrm flipV="1">
              <a:off x="1609" y="2342"/>
              <a:ext cx="0" cy="27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831" name="Text Box 177"/>
            <p:cNvSpPr txBox="1"/>
            <p:nvPr/>
          </p:nvSpPr>
          <p:spPr>
            <a:xfrm>
              <a:off x="1610" y="2296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grpSp>
          <p:nvGrpSpPr>
            <p:cNvPr id="32832" name="Group 178"/>
            <p:cNvGrpSpPr/>
            <p:nvPr/>
          </p:nvGrpSpPr>
          <p:grpSpPr>
            <a:xfrm>
              <a:off x="2154" y="2477"/>
              <a:ext cx="363" cy="363"/>
              <a:chOff x="4785" y="709"/>
              <a:chExt cx="363" cy="363"/>
            </a:xfrm>
          </p:grpSpPr>
          <p:sp>
            <p:nvSpPr>
              <p:cNvPr id="32833" name="Oval 179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32834" name="Line 180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2835" name="Rectangle 181"/>
            <p:cNvSpPr/>
            <p:nvPr/>
          </p:nvSpPr>
          <p:spPr>
            <a:xfrm>
              <a:off x="703" y="261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2836" name="Rectangle 182"/>
            <p:cNvSpPr/>
            <p:nvPr/>
          </p:nvSpPr>
          <p:spPr>
            <a:xfrm>
              <a:off x="1428" y="243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32837" name="Group 188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32838" name="Picture 189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839" name="Text Box 190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" dur="500"/>
                                        <p:tgtEl>
                                          <p:spTgt spid="4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7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7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7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7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3000"/>
                                        <p:tgtEl>
                                          <p:spTgt spid="47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8" grpId="0"/>
      <p:bldP spid="47110" grpId="0"/>
      <p:bldP spid="47112" grpId="0" animBg="1"/>
      <p:bldP spid="47113" grpId="0"/>
      <p:bldP spid="4726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Text Box 2"/>
          <p:cNvSpPr txBox="1"/>
          <p:nvPr/>
        </p:nvSpPr>
        <p:spPr>
          <a:xfrm>
            <a:off x="468313" y="476250"/>
            <a:ext cx="863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3" name="Text Box 3"/>
          <p:cNvSpPr txBox="1"/>
          <p:nvPr/>
        </p:nvSpPr>
        <p:spPr>
          <a:xfrm>
            <a:off x="1258888" y="533400"/>
            <a:ext cx="460851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已知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ab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=0,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求电阻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endParaRPr lang="en-US" altLang="zh-CN" i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6167" name="Text Box 87"/>
          <p:cNvSpPr txBox="1"/>
          <p:nvPr/>
        </p:nvSpPr>
        <p:spPr>
          <a:xfrm>
            <a:off x="538163" y="1125538"/>
            <a:ext cx="504825" cy="519112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sz="2400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46168" name="Text Box 88"/>
          <p:cNvSpPr txBox="1"/>
          <p:nvPr/>
        </p:nvSpPr>
        <p:spPr>
          <a:xfrm>
            <a:off x="1116013" y="1125538"/>
            <a:ext cx="1944687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用替代：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46169" name="Object 89"/>
          <p:cNvGraphicFramePr>
            <a:graphicFrameLocks noChangeAspect="1"/>
          </p:cNvGraphicFramePr>
          <p:nvPr/>
        </p:nvGraphicFramePr>
        <p:xfrm>
          <a:off x="971550" y="1719263"/>
          <a:ext cx="252095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" imgW="1053465" imgH="405130" progId="Equation.3">
                  <p:embed/>
                </p:oleObj>
              </mc:Choice>
              <mc:Fallback>
                <p:oleObj name="" r:id="rId1" imgW="1053465" imgH="405130" progId="Equation.3">
                  <p:embed/>
                  <p:pic>
                    <p:nvPicPr>
                      <p:cNvPr id="0" name="20 311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1719263"/>
                        <a:ext cx="2520950" cy="1001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71" name="Text Box 91"/>
          <p:cNvSpPr txBox="1"/>
          <p:nvPr/>
        </p:nvSpPr>
        <p:spPr>
          <a:xfrm>
            <a:off x="468313" y="2781300"/>
            <a:ext cx="244792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用结点法：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46173" name="Object 93"/>
          <p:cNvGraphicFramePr>
            <a:graphicFrameLocks noChangeAspect="1"/>
          </p:cNvGraphicFramePr>
          <p:nvPr/>
        </p:nvGraphicFramePr>
        <p:xfrm>
          <a:off x="554038" y="3429000"/>
          <a:ext cx="4278312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3" imgW="1689735" imgH="382270" progId="Equation.3">
                  <p:embed/>
                </p:oleObj>
              </mc:Choice>
              <mc:Fallback>
                <p:oleObj name="" r:id="rId3" imgW="1689735" imgH="382270" progId="Equation.3">
                  <p:embed/>
                  <p:pic>
                    <p:nvPicPr>
                      <p:cNvPr id="0" name="20 311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4038" y="3429000"/>
                        <a:ext cx="4278312" cy="1006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74" name="Object 94"/>
          <p:cNvGraphicFramePr>
            <a:graphicFrameLocks noChangeAspect="1"/>
          </p:cNvGraphicFramePr>
          <p:nvPr/>
        </p:nvGraphicFramePr>
        <p:xfrm>
          <a:off x="1187450" y="4559300"/>
          <a:ext cx="224155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5" imgW="798830" imgH="196850" progId="Equation.3">
                  <p:embed/>
                </p:oleObj>
              </mc:Choice>
              <mc:Fallback>
                <p:oleObj name="" r:id="rId5" imgW="798830" imgH="196850" progId="Equation.3">
                  <p:embed/>
                  <p:pic>
                    <p:nvPicPr>
                      <p:cNvPr id="0" name="20 311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4559300"/>
                        <a:ext cx="2241550" cy="598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75" name="AutoShape 95"/>
          <p:cNvSpPr/>
          <p:nvPr/>
        </p:nvSpPr>
        <p:spPr>
          <a:xfrm>
            <a:off x="468313" y="4797425"/>
            <a:ext cx="647700" cy="2159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00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46176" name="Object 96"/>
          <p:cNvGraphicFramePr>
            <a:graphicFrameLocks noChangeAspect="1"/>
          </p:cNvGraphicFramePr>
          <p:nvPr/>
        </p:nvGraphicFramePr>
        <p:xfrm>
          <a:off x="3851275" y="4581525"/>
          <a:ext cx="12096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7" imgW="462915" imgH="196850" progId="Equation.3">
                  <p:embed/>
                </p:oleObj>
              </mc:Choice>
              <mc:Fallback>
                <p:oleObj name="" r:id="rId7" imgW="462915" imgH="196850" progId="Equation.3">
                  <p:embed/>
                  <p:pic>
                    <p:nvPicPr>
                      <p:cNvPr id="0" name="20 311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51275" y="4581525"/>
                        <a:ext cx="1209675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77" name="Object 97"/>
          <p:cNvGraphicFramePr>
            <a:graphicFrameLocks noChangeAspect="1"/>
          </p:cNvGraphicFramePr>
          <p:nvPr/>
        </p:nvGraphicFramePr>
        <p:xfrm>
          <a:off x="5580063" y="4591050"/>
          <a:ext cx="2627312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9" imgW="995680" imgH="196850" progId="Equation.3">
                  <p:embed/>
                </p:oleObj>
              </mc:Choice>
              <mc:Fallback>
                <p:oleObj name="" r:id="rId9" imgW="995680" imgH="196850" progId="Equation.3">
                  <p:embed/>
                  <p:pic>
                    <p:nvPicPr>
                      <p:cNvPr id="0" name="20 3119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80063" y="4591050"/>
                        <a:ext cx="2627312" cy="566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78" name="Object 98"/>
          <p:cNvGraphicFramePr>
            <a:graphicFrameLocks noChangeAspect="1"/>
          </p:cNvGraphicFramePr>
          <p:nvPr/>
        </p:nvGraphicFramePr>
        <p:xfrm>
          <a:off x="1173163" y="5299075"/>
          <a:ext cx="464185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11" imgW="1736090" imgH="196850" progId="Equation.3">
                  <p:embed/>
                </p:oleObj>
              </mc:Choice>
              <mc:Fallback>
                <p:oleObj name="" r:id="rId11" imgW="1736090" imgH="196850" progId="Equation.3">
                  <p:embed/>
                  <p:pic>
                    <p:nvPicPr>
                      <p:cNvPr id="0" name="20 3117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73163" y="5299075"/>
                        <a:ext cx="4641850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79" name="Object 99"/>
          <p:cNvGraphicFramePr>
            <a:graphicFrameLocks noChangeAspect="1"/>
          </p:cNvGraphicFramePr>
          <p:nvPr/>
        </p:nvGraphicFramePr>
        <p:xfrm>
          <a:off x="6154738" y="5043488"/>
          <a:ext cx="201771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3" imgW="810260" imgH="382270" progId="Equation.3">
                  <p:embed/>
                </p:oleObj>
              </mc:Choice>
              <mc:Fallback>
                <p:oleObj name="" r:id="rId13" imgW="810260" imgH="382270" progId="Equation.3">
                  <p:embed/>
                  <p:pic>
                    <p:nvPicPr>
                      <p:cNvPr id="0" name="20 3118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54738" y="5043488"/>
                        <a:ext cx="2017712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806" name="Group 11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3807" name="Picture 115" descr="7890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08" name="Text Box 11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3809" name="Group 11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3810" name="Picture 118" descr="7890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11" name="Text Box 11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6203" name="Group 123"/>
          <p:cNvGrpSpPr/>
          <p:nvPr/>
        </p:nvGrpSpPr>
        <p:grpSpPr>
          <a:xfrm>
            <a:off x="4716463" y="765175"/>
            <a:ext cx="4105275" cy="2665413"/>
            <a:chOff x="-68" y="2341"/>
            <a:chExt cx="2631" cy="1679"/>
          </a:xfrm>
        </p:grpSpPr>
        <p:sp>
          <p:nvSpPr>
            <p:cNvPr id="33813" name="Oval 124"/>
            <p:cNvSpPr/>
            <p:nvPr/>
          </p:nvSpPr>
          <p:spPr>
            <a:xfrm>
              <a:off x="884" y="297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3814" name="Oval 125"/>
            <p:cNvSpPr/>
            <p:nvPr/>
          </p:nvSpPr>
          <p:spPr>
            <a:xfrm>
              <a:off x="2200" y="288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3815" name="Text Box 126"/>
            <p:cNvSpPr txBox="1"/>
            <p:nvPr/>
          </p:nvSpPr>
          <p:spPr>
            <a:xfrm>
              <a:off x="1338" y="2523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b="0" i="1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3816" name="Text Box 127"/>
            <p:cNvSpPr txBox="1"/>
            <p:nvPr/>
          </p:nvSpPr>
          <p:spPr>
            <a:xfrm>
              <a:off x="1247" y="3475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3817" name="Rectangle 128"/>
            <p:cNvSpPr/>
            <p:nvPr/>
          </p:nvSpPr>
          <p:spPr>
            <a:xfrm>
              <a:off x="158" y="2341"/>
              <a:ext cx="2223" cy="1678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3818" name="Line 129"/>
            <p:cNvSpPr/>
            <p:nvPr/>
          </p:nvSpPr>
          <p:spPr>
            <a:xfrm>
              <a:off x="1655" y="2341"/>
              <a:ext cx="0" cy="16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3819" name="Line 130"/>
            <p:cNvSpPr/>
            <p:nvPr/>
          </p:nvSpPr>
          <p:spPr>
            <a:xfrm>
              <a:off x="158" y="3158"/>
              <a:ext cx="149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3820" name="Text Box 131"/>
            <p:cNvSpPr txBox="1"/>
            <p:nvPr/>
          </p:nvSpPr>
          <p:spPr>
            <a:xfrm>
              <a:off x="839" y="3294"/>
              <a:ext cx="4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3V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3821" name="Text Box 132"/>
            <p:cNvSpPr txBox="1"/>
            <p:nvPr/>
          </p:nvSpPr>
          <p:spPr>
            <a:xfrm>
              <a:off x="204" y="2523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3822" name="Text Box 133"/>
            <p:cNvSpPr txBox="1"/>
            <p:nvPr/>
          </p:nvSpPr>
          <p:spPr>
            <a:xfrm>
              <a:off x="1655" y="3022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3823" name="Text Box 134"/>
            <p:cNvSpPr txBox="1"/>
            <p:nvPr/>
          </p:nvSpPr>
          <p:spPr>
            <a:xfrm>
              <a:off x="612" y="3113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＋</a:t>
              </a:r>
              <a:endParaRPr lang="zh-CN" altLang="en-US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3824" name="Text Box 135"/>
            <p:cNvSpPr txBox="1"/>
            <p:nvPr/>
          </p:nvSpPr>
          <p:spPr>
            <a:xfrm>
              <a:off x="1156" y="3113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－</a:t>
              </a:r>
              <a:endParaRPr lang="zh-CN" altLang="en-US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3825" name="Text Box 136"/>
            <p:cNvSpPr txBox="1"/>
            <p:nvPr/>
          </p:nvSpPr>
          <p:spPr>
            <a:xfrm>
              <a:off x="204" y="3521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3826" name="Text Box 137"/>
            <p:cNvSpPr txBox="1"/>
            <p:nvPr/>
          </p:nvSpPr>
          <p:spPr>
            <a:xfrm>
              <a:off x="2109" y="2568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3827" name="Text Box 138"/>
            <p:cNvSpPr txBox="1"/>
            <p:nvPr/>
          </p:nvSpPr>
          <p:spPr>
            <a:xfrm>
              <a:off x="2064" y="3249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3828" name="Text Box 139"/>
            <p:cNvSpPr txBox="1"/>
            <p:nvPr/>
          </p:nvSpPr>
          <p:spPr>
            <a:xfrm>
              <a:off x="-68" y="2976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3829" name="Text Box 140"/>
            <p:cNvSpPr txBox="1"/>
            <p:nvPr/>
          </p:nvSpPr>
          <p:spPr>
            <a:xfrm>
              <a:off x="1746" y="2840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20V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3830" name="Text Box 141"/>
            <p:cNvSpPr txBox="1"/>
            <p:nvPr/>
          </p:nvSpPr>
          <p:spPr>
            <a:xfrm>
              <a:off x="295" y="3203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3831" name="Rectangle 142"/>
            <p:cNvSpPr/>
            <p:nvPr/>
          </p:nvSpPr>
          <p:spPr>
            <a:xfrm>
              <a:off x="113" y="252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3832" name="Rectangle 143"/>
            <p:cNvSpPr/>
            <p:nvPr/>
          </p:nvSpPr>
          <p:spPr>
            <a:xfrm>
              <a:off x="113" y="352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3833" name="Rectangle 144"/>
            <p:cNvSpPr/>
            <p:nvPr/>
          </p:nvSpPr>
          <p:spPr>
            <a:xfrm>
              <a:off x="1610" y="347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3834" name="Rectangle 145"/>
            <p:cNvSpPr/>
            <p:nvPr/>
          </p:nvSpPr>
          <p:spPr>
            <a:xfrm>
              <a:off x="1610" y="252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3835" name="Rectangle 146"/>
            <p:cNvSpPr/>
            <p:nvPr/>
          </p:nvSpPr>
          <p:spPr>
            <a:xfrm>
              <a:off x="340" y="311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46278" name="Group 198"/>
          <p:cNvGrpSpPr/>
          <p:nvPr/>
        </p:nvGrpSpPr>
        <p:grpSpPr>
          <a:xfrm>
            <a:off x="7019925" y="620713"/>
            <a:ext cx="647700" cy="3024187"/>
            <a:chOff x="4513" y="482"/>
            <a:chExt cx="408" cy="1905"/>
          </a:xfrm>
        </p:grpSpPr>
        <p:sp>
          <p:nvSpPr>
            <p:cNvPr id="33837" name="Text Box 22"/>
            <p:cNvSpPr txBox="1"/>
            <p:nvPr/>
          </p:nvSpPr>
          <p:spPr>
            <a:xfrm>
              <a:off x="4633" y="482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3838" name="Line 55"/>
            <p:cNvSpPr/>
            <p:nvPr/>
          </p:nvSpPr>
          <p:spPr>
            <a:xfrm>
              <a:off x="4513" y="2387"/>
              <a:ext cx="318" cy="0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39" name="Line 197"/>
            <p:cNvSpPr/>
            <p:nvPr/>
          </p:nvSpPr>
          <p:spPr>
            <a:xfrm>
              <a:off x="4649" y="2205"/>
              <a:ext cx="0" cy="1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3840" name="Group 203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33841" name="Picture 204" descr="7890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42" name="Text Box 205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6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6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6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6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6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1000"/>
                                        <p:tgtEl>
                                          <p:spTgt spid="4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46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6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46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4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000"/>
                                        <p:tgtEl>
                                          <p:spTgt spid="46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46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46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4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46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/>
      <p:bldP spid="46083" grpId="0"/>
      <p:bldP spid="46167" grpId="0" animBg="1"/>
      <p:bldP spid="46168" grpId="0"/>
      <p:bldP spid="46171" grpId="0"/>
      <p:bldP spid="4617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Text Box 2"/>
          <p:cNvSpPr txBox="1"/>
          <p:nvPr/>
        </p:nvSpPr>
        <p:spPr>
          <a:xfrm>
            <a:off x="468313" y="476250"/>
            <a:ext cx="863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3" name="Text Box 3"/>
          <p:cNvSpPr txBox="1"/>
          <p:nvPr/>
        </p:nvSpPr>
        <p:spPr>
          <a:xfrm>
            <a:off x="1258888" y="533400"/>
            <a:ext cx="460851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已知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ab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=0,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求电阻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endParaRPr lang="en-US" altLang="zh-CN" i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6167" name="Text Box 87"/>
          <p:cNvSpPr txBox="1"/>
          <p:nvPr/>
        </p:nvSpPr>
        <p:spPr>
          <a:xfrm>
            <a:off x="538163" y="1125538"/>
            <a:ext cx="504825" cy="519112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sz="2400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46168" name="Text Box 88"/>
          <p:cNvSpPr txBox="1"/>
          <p:nvPr/>
        </p:nvSpPr>
        <p:spPr>
          <a:xfrm>
            <a:off x="1116013" y="1125538"/>
            <a:ext cx="1944687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用替代：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46169" name="Object 89"/>
          <p:cNvGraphicFramePr>
            <a:graphicFrameLocks noChangeAspect="1"/>
          </p:cNvGraphicFramePr>
          <p:nvPr/>
        </p:nvGraphicFramePr>
        <p:xfrm>
          <a:off x="971550" y="1719263"/>
          <a:ext cx="252095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1" imgW="1053465" imgH="405130" progId="Equation.3">
                  <p:embed/>
                </p:oleObj>
              </mc:Choice>
              <mc:Fallback>
                <p:oleObj name="" r:id="rId1" imgW="1053465" imgH="405130" progId="Equation.3">
                  <p:embed/>
                  <p:pic>
                    <p:nvPicPr>
                      <p:cNvPr id="0" name="20 312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1719263"/>
                        <a:ext cx="2520950" cy="1001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71" name="Text Box 91"/>
          <p:cNvSpPr txBox="1"/>
          <p:nvPr/>
        </p:nvSpPr>
        <p:spPr>
          <a:xfrm>
            <a:off x="468313" y="2781300"/>
            <a:ext cx="244792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用结点法：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46173" name="Object 93"/>
          <p:cNvGraphicFramePr>
            <a:graphicFrameLocks noChangeAspect="1"/>
          </p:cNvGraphicFramePr>
          <p:nvPr/>
        </p:nvGraphicFramePr>
        <p:xfrm>
          <a:off x="554038" y="3429000"/>
          <a:ext cx="4278312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3" imgW="1689735" imgH="382270" progId="Equation.3">
                  <p:embed/>
                </p:oleObj>
              </mc:Choice>
              <mc:Fallback>
                <p:oleObj name="" r:id="rId3" imgW="1689735" imgH="382270" progId="Equation.3">
                  <p:embed/>
                  <p:pic>
                    <p:nvPicPr>
                      <p:cNvPr id="0" name="20 312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4038" y="3429000"/>
                        <a:ext cx="4278312" cy="1006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74" name="Object 94"/>
          <p:cNvGraphicFramePr>
            <a:graphicFrameLocks noChangeAspect="1"/>
          </p:cNvGraphicFramePr>
          <p:nvPr/>
        </p:nvGraphicFramePr>
        <p:xfrm>
          <a:off x="1187450" y="4559300"/>
          <a:ext cx="224155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5" imgW="798830" imgH="196850" progId="Equation.3">
                  <p:embed/>
                </p:oleObj>
              </mc:Choice>
              <mc:Fallback>
                <p:oleObj name="" r:id="rId5" imgW="798830" imgH="196850" progId="Equation.3">
                  <p:embed/>
                  <p:pic>
                    <p:nvPicPr>
                      <p:cNvPr id="0" name="20 312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4559300"/>
                        <a:ext cx="2241550" cy="598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75" name="AutoShape 95"/>
          <p:cNvSpPr/>
          <p:nvPr/>
        </p:nvSpPr>
        <p:spPr>
          <a:xfrm>
            <a:off x="468313" y="4797425"/>
            <a:ext cx="647700" cy="2159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00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46176" name="Object 96"/>
          <p:cNvGraphicFramePr>
            <a:graphicFrameLocks noChangeAspect="1"/>
          </p:cNvGraphicFramePr>
          <p:nvPr/>
        </p:nvGraphicFramePr>
        <p:xfrm>
          <a:off x="3851275" y="4581525"/>
          <a:ext cx="12096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7" imgW="462915" imgH="196850" progId="Equation.3">
                  <p:embed/>
                </p:oleObj>
              </mc:Choice>
              <mc:Fallback>
                <p:oleObj name="" r:id="rId7" imgW="462915" imgH="196850" progId="Equation.3">
                  <p:embed/>
                  <p:pic>
                    <p:nvPicPr>
                      <p:cNvPr id="0" name="20 312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51275" y="4581525"/>
                        <a:ext cx="1209675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77" name="Object 97"/>
          <p:cNvGraphicFramePr>
            <a:graphicFrameLocks noChangeAspect="1"/>
          </p:cNvGraphicFramePr>
          <p:nvPr/>
        </p:nvGraphicFramePr>
        <p:xfrm>
          <a:off x="5580063" y="4591050"/>
          <a:ext cx="2627312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9" imgW="995680" imgH="196850" progId="Equation.3">
                  <p:embed/>
                </p:oleObj>
              </mc:Choice>
              <mc:Fallback>
                <p:oleObj name="" r:id="rId9" imgW="995680" imgH="196850" progId="Equation.3">
                  <p:embed/>
                  <p:pic>
                    <p:nvPicPr>
                      <p:cNvPr id="0" name="20 3120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80063" y="4591050"/>
                        <a:ext cx="2627312" cy="566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78" name="Object 98"/>
          <p:cNvGraphicFramePr>
            <a:graphicFrameLocks noChangeAspect="1"/>
          </p:cNvGraphicFramePr>
          <p:nvPr/>
        </p:nvGraphicFramePr>
        <p:xfrm>
          <a:off x="1173163" y="5299075"/>
          <a:ext cx="464185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1" imgW="1736090" imgH="196850" progId="Equation.3">
                  <p:embed/>
                </p:oleObj>
              </mc:Choice>
              <mc:Fallback>
                <p:oleObj name="" r:id="rId11" imgW="1736090" imgH="196850" progId="Equation.3">
                  <p:embed/>
                  <p:pic>
                    <p:nvPicPr>
                      <p:cNvPr id="0" name="20 3123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73163" y="5299075"/>
                        <a:ext cx="4641850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79" name="Object 99"/>
          <p:cNvGraphicFramePr>
            <a:graphicFrameLocks noChangeAspect="1"/>
          </p:cNvGraphicFramePr>
          <p:nvPr/>
        </p:nvGraphicFramePr>
        <p:xfrm>
          <a:off x="6154738" y="5043488"/>
          <a:ext cx="201771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13" imgW="810260" imgH="382270" progId="Equation.3">
                  <p:embed/>
                </p:oleObj>
              </mc:Choice>
              <mc:Fallback>
                <p:oleObj name="" r:id="rId13" imgW="810260" imgH="382270" progId="Equation.3">
                  <p:embed/>
                  <p:pic>
                    <p:nvPicPr>
                      <p:cNvPr id="0" name="20 3122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54738" y="5043488"/>
                        <a:ext cx="2017712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30" name="Group 11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4831" name="Picture 115" descr="7890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32" name="Text Box 11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4833" name="Group 11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4834" name="Picture 118" descr="7890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35" name="Text Box 11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6203" name="Group 123"/>
          <p:cNvGrpSpPr/>
          <p:nvPr/>
        </p:nvGrpSpPr>
        <p:grpSpPr>
          <a:xfrm>
            <a:off x="4716463" y="765175"/>
            <a:ext cx="4105275" cy="2665413"/>
            <a:chOff x="-68" y="2341"/>
            <a:chExt cx="2631" cy="1679"/>
          </a:xfrm>
        </p:grpSpPr>
        <p:sp>
          <p:nvSpPr>
            <p:cNvPr id="34837" name="Oval 124"/>
            <p:cNvSpPr/>
            <p:nvPr/>
          </p:nvSpPr>
          <p:spPr>
            <a:xfrm>
              <a:off x="884" y="297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38" name="Oval 125"/>
            <p:cNvSpPr/>
            <p:nvPr/>
          </p:nvSpPr>
          <p:spPr>
            <a:xfrm>
              <a:off x="2200" y="288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39" name="Text Box 126"/>
            <p:cNvSpPr txBox="1"/>
            <p:nvPr/>
          </p:nvSpPr>
          <p:spPr>
            <a:xfrm>
              <a:off x="1338" y="2523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b="0" i="1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40" name="Text Box 127"/>
            <p:cNvSpPr txBox="1"/>
            <p:nvPr/>
          </p:nvSpPr>
          <p:spPr>
            <a:xfrm>
              <a:off x="1247" y="3475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41" name="Rectangle 128"/>
            <p:cNvSpPr/>
            <p:nvPr/>
          </p:nvSpPr>
          <p:spPr>
            <a:xfrm>
              <a:off x="158" y="2341"/>
              <a:ext cx="2223" cy="1678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4842" name="Line 129"/>
            <p:cNvSpPr/>
            <p:nvPr/>
          </p:nvSpPr>
          <p:spPr>
            <a:xfrm>
              <a:off x="1655" y="2341"/>
              <a:ext cx="0" cy="16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4843" name="Line 130"/>
            <p:cNvSpPr/>
            <p:nvPr/>
          </p:nvSpPr>
          <p:spPr>
            <a:xfrm>
              <a:off x="158" y="3158"/>
              <a:ext cx="149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4844" name="Text Box 131"/>
            <p:cNvSpPr txBox="1"/>
            <p:nvPr/>
          </p:nvSpPr>
          <p:spPr>
            <a:xfrm>
              <a:off x="839" y="3294"/>
              <a:ext cx="4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3V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45" name="Text Box 132"/>
            <p:cNvSpPr txBox="1"/>
            <p:nvPr/>
          </p:nvSpPr>
          <p:spPr>
            <a:xfrm>
              <a:off x="204" y="2523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46" name="Text Box 133"/>
            <p:cNvSpPr txBox="1"/>
            <p:nvPr/>
          </p:nvSpPr>
          <p:spPr>
            <a:xfrm>
              <a:off x="1655" y="3022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47" name="Text Box 134"/>
            <p:cNvSpPr txBox="1"/>
            <p:nvPr/>
          </p:nvSpPr>
          <p:spPr>
            <a:xfrm>
              <a:off x="612" y="3113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＋</a:t>
              </a:r>
              <a:endParaRPr lang="zh-CN" altLang="en-US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48" name="Text Box 135"/>
            <p:cNvSpPr txBox="1"/>
            <p:nvPr/>
          </p:nvSpPr>
          <p:spPr>
            <a:xfrm>
              <a:off x="1156" y="3113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－</a:t>
              </a:r>
              <a:endParaRPr lang="zh-CN" altLang="en-US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49" name="Text Box 136"/>
            <p:cNvSpPr txBox="1"/>
            <p:nvPr/>
          </p:nvSpPr>
          <p:spPr>
            <a:xfrm>
              <a:off x="204" y="3521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50" name="Text Box 137"/>
            <p:cNvSpPr txBox="1"/>
            <p:nvPr/>
          </p:nvSpPr>
          <p:spPr>
            <a:xfrm>
              <a:off x="2109" y="2568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51" name="Text Box 138"/>
            <p:cNvSpPr txBox="1"/>
            <p:nvPr/>
          </p:nvSpPr>
          <p:spPr>
            <a:xfrm>
              <a:off x="2064" y="3249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52" name="Text Box 139"/>
            <p:cNvSpPr txBox="1"/>
            <p:nvPr/>
          </p:nvSpPr>
          <p:spPr>
            <a:xfrm>
              <a:off x="-68" y="2976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53" name="Text Box 140"/>
            <p:cNvSpPr txBox="1"/>
            <p:nvPr/>
          </p:nvSpPr>
          <p:spPr>
            <a:xfrm>
              <a:off x="1746" y="2840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20V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54" name="Text Box 141"/>
            <p:cNvSpPr txBox="1"/>
            <p:nvPr/>
          </p:nvSpPr>
          <p:spPr>
            <a:xfrm>
              <a:off x="295" y="3203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55" name="Rectangle 142"/>
            <p:cNvSpPr/>
            <p:nvPr/>
          </p:nvSpPr>
          <p:spPr>
            <a:xfrm>
              <a:off x="113" y="252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4856" name="Rectangle 143"/>
            <p:cNvSpPr/>
            <p:nvPr/>
          </p:nvSpPr>
          <p:spPr>
            <a:xfrm>
              <a:off x="113" y="352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4857" name="Rectangle 144"/>
            <p:cNvSpPr/>
            <p:nvPr/>
          </p:nvSpPr>
          <p:spPr>
            <a:xfrm>
              <a:off x="1610" y="347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4858" name="Rectangle 145"/>
            <p:cNvSpPr/>
            <p:nvPr/>
          </p:nvSpPr>
          <p:spPr>
            <a:xfrm>
              <a:off x="1610" y="252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4859" name="Rectangle 146"/>
            <p:cNvSpPr/>
            <p:nvPr/>
          </p:nvSpPr>
          <p:spPr>
            <a:xfrm>
              <a:off x="340" y="311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46282" name="Group 202"/>
          <p:cNvGrpSpPr/>
          <p:nvPr/>
        </p:nvGrpSpPr>
        <p:grpSpPr>
          <a:xfrm>
            <a:off x="4751388" y="687388"/>
            <a:ext cx="4103687" cy="2879725"/>
            <a:chOff x="1565" y="754"/>
            <a:chExt cx="2631" cy="1814"/>
          </a:xfrm>
        </p:grpSpPr>
        <p:grpSp>
          <p:nvGrpSpPr>
            <p:cNvPr id="34861" name="Group 108"/>
            <p:cNvGrpSpPr/>
            <p:nvPr/>
          </p:nvGrpSpPr>
          <p:grpSpPr>
            <a:xfrm>
              <a:off x="3424" y="981"/>
              <a:ext cx="499" cy="288"/>
              <a:chOff x="3787" y="3249"/>
              <a:chExt cx="499" cy="288"/>
            </a:xfrm>
          </p:grpSpPr>
          <p:sp>
            <p:nvSpPr>
              <p:cNvPr id="34862" name="Line 105"/>
              <p:cNvSpPr/>
              <p:nvPr/>
            </p:nvSpPr>
            <p:spPr>
              <a:xfrm>
                <a:off x="3787" y="3521"/>
                <a:ext cx="363" cy="0"/>
              </a:xfrm>
              <a:prstGeom prst="line">
                <a:avLst/>
              </a:prstGeom>
              <a:ln w="28575" cap="flat" cmpd="sng">
                <a:solidFill>
                  <a:srgbClr val="66FFFF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34863" name="Text Box 106"/>
              <p:cNvSpPr txBox="1"/>
              <p:nvPr/>
            </p:nvSpPr>
            <p:spPr>
              <a:xfrm>
                <a:off x="3878" y="3249"/>
                <a:ext cx="408" cy="2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I</a:t>
                </a:r>
                <a:endPara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</p:grpSp>
        <p:graphicFrame>
          <p:nvGraphicFramePr>
            <p:cNvPr id="34864" name="Object 92"/>
            <p:cNvGraphicFramePr>
              <a:graphicFrameLocks noChangeAspect="1"/>
            </p:cNvGraphicFramePr>
            <p:nvPr/>
          </p:nvGraphicFramePr>
          <p:xfrm>
            <a:off x="1610" y="1797"/>
            <a:ext cx="952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8" name="" r:id="rId16" imgW="613410" imgH="196850" progId="Equation.3">
                    <p:embed/>
                  </p:oleObj>
                </mc:Choice>
                <mc:Fallback>
                  <p:oleObj name="" r:id="rId16" imgW="613410" imgH="196850" progId="Equation.3">
                    <p:embed/>
                    <p:pic>
                      <p:nvPicPr>
                        <p:cNvPr id="0" name="20 3127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10" y="1797"/>
                          <a:ext cx="952" cy="3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65" name="Rectangle 173"/>
            <p:cNvSpPr/>
            <p:nvPr/>
          </p:nvSpPr>
          <p:spPr>
            <a:xfrm>
              <a:off x="1565" y="754"/>
              <a:ext cx="2631" cy="1814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4866" name="Oval 175"/>
            <p:cNvSpPr/>
            <p:nvPr/>
          </p:nvSpPr>
          <p:spPr>
            <a:xfrm>
              <a:off x="3689" y="1390"/>
              <a:ext cx="369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67" name="Text Box 176"/>
            <p:cNvSpPr txBox="1"/>
            <p:nvPr/>
          </p:nvSpPr>
          <p:spPr>
            <a:xfrm>
              <a:off x="2812" y="1027"/>
              <a:ext cx="32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b="0" i="1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68" name="Text Box 177"/>
            <p:cNvSpPr txBox="1"/>
            <p:nvPr/>
          </p:nvSpPr>
          <p:spPr>
            <a:xfrm>
              <a:off x="2719" y="1979"/>
              <a:ext cx="5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69" name="Rectangle 178"/>
            <p:cNvSpPr/>
            <p:nvPr/>
          </p:nvSpPr>
          <p:spPr>
            <a:xfrm>
              <a:off x="1842" y="845"/>
              <a:ext cx="2031" cy="1678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4870" name="Line 179"/>
            <p:cNvSpPr/>
            <p:nvPr/>
          </p:nvSpPr>
          <p:spPr>
            <a:xfrm>
              <a:off x="3134" y="845"/>
              <a:ext cx="0" cy="16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4871" name="Line 180"/>
            <p:cNvSpPr/>
            <p:nvPr/>
          </p:nvSpPr>
          <p:spPr>
            <a:xfrm flipV="1">
              <a:off x="1842" y="1661"/>
              <a:ext cx="1293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4872" name="Text Box 181"/>
            <p:cNvSpPr txBox="1"/>
            <p:nvPr/>
          </p:nvSpPr>
          <p:spPr>
            <a:xfrm>
              <a:off x="1889" y="1027"/>
              <a:ext cx="55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73" name="Text Box 182"/>
            <p:cNvSpPr txBox="1"/>
            <p:nvPr/>
          </p:nvSpPr>
          <p:spPr>
            <a:xfrm>
              <a:off x="3134" y="1526"/>
              <a:ext cx="4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74" name="Text Box 183"/>
            <p:cNvSpPr txBox="1"/>
            <p:nvPr/>
          </p:nvSpPr>
          <p:spPr>
            <a:xfrm>
              <a:off x="1889" y="2025"/>
              <a:ext cx="55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75" name="Text Box 184"/>
            <p:cNvSpPr txBox="1"/>
            <p:nvPr/>
          </p:nvSpPr>
          <p:spPr>
            <a:xfrm>
              <a:off x="3596" y="1072"/>
              <a:ext cx="29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76" name="Text Box 185"/>
            <p:cNvSpPr txBox="1"/>
            <p:nvPr/>
          </p:nvSpPr>
          <p:spPr>
            <a:xfrm>
              <a:off x="3550" y="1753"/>
              <a:ext cx="29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77" name="Text Box 186"/>
            <p:cNvSpPr txBox="1"/>
            <p:nvPr/>
          </p:nvSpPr>
          <p:spPr>
            <a:xfrm>
              <a:off x="1612" y="1480"/>
              <a:ext cx="23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78" name="Text Box 187"/>
            <p:cNvSpPr txBox="1"/>
            <p:nvPr/>
          </p:nvSpPr>
          <p:spPr>
            <a:xfrm>
              <a:off x="3227" y="1344"/>
              <a:ext cx="64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20V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79" name="Rectangle 188"/>
            <p:cNvSpPr/>
            <p:nvPr/>
          </p:nvSpPr>
          <p:spPr>
            <a:xfrm>
              <a:off x="1796" y="1027"/>
              <a:ext cx="129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4880" name="Rectangle 189"/>
            <p:cNvSpPr/>
            <p:nvPr/>
          </p:nvSpPr>
          <p:spPr>
            <a:xfrm>
              <a:off x="1796" y="2025"/>
              <a:ext cx="129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4881" name="Rectangle 190"/>
            <p:cNvSpPr/>
            <p:nvPr/>
          </p:nvSpPr>
          <p:spPr>
            <a:xfrm>
              <a:off x="3088" y="1979"/>
              <a:ext cx="130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4882" name="Rectangle 191"/>
            <p:cNvSpPr/>
            <p:nvPr/>
          </p:nvSpPr>
          <p:spPr>
            <a:xfrm>
              <a:off x="3088" y="1027"/>
              <a:ext cx="130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34883" name="Group 192"/>
            <p:cNvGrpSpPr/>
            <p:nvPr/>
          </p:nvGrpSpPr>
          <p:grpSpPr>
            <a:xfrm rot="5400000">
              <a:off x="2306" y="1476"/>
              <a:ext cx="363" cy="369"/>
              <a:chOff x="4785" y="709"/>
              <a:chExt cx="363" cy="363"/>
            </a:xfrm>
          </p:grpSpPr>
          <p:sp>
            <p:nvSpPr>
              <p:cNvPr id="34884" name="Oval 193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rot="10800000" vert="eaVert"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34885" name="Line 194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4886" name="Line 195"/>
            <p:cNvSpPr/>
            <p:nvPr/>
          </p:nvSpPr>
          <p:spPr>
            <a:xfrm flipH="1">
              <a:off x="1927" y="1661"/>
              <a:ext cx="363" cy="0"/>
            </a:xfrm>
            <a:prstGeom prst="line">
              <a:avLst/>
            </a:prstGeom>
            <a:ln w="28575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4887" name="Text Box 196"/>
            <p:cNvSpPr txBox="1"/>
            <p:nvPr/>
          </p:nvSpPr>
          <p:spPr>
            <a:xfrm>
              <a:off x="1927" y="1379"/>
              <a:ext cx="50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1A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grpSp>
        <p:nvGrpSpPr>
          <p:cNvPr id="46278" name="Group 198"/>
          <p:cNvGrpSpPr/>
          <p:nvPr/>
        </p:nvGrpSpPr>
        <p:grpSpPr>
          <a:xfrm>
            <a:off x="7019925" y="620713"/>
            <a:ext cx="647700" cy="3024187"/>
            <a:chOff x="4513" y="482"/>
            <a:chExt cx="408" cy="1905"/>
          </a:xfrm>
        </p:grpSpPr>
        <p:sp>
          <p:nvSpPr>
            <p:cNvPr id="34889" name="Text Box 22"/>
            <p:cNvSpPr txBox="1"/>
            <p:nvPr/>
          </p:nvSpPr>
          <p:spPr>
            <a:xfrm>
              <a:off x="4633" y="482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4890" name="Line 55"/>
            <p:cNvSpPr/>
            <p:nvPr/>
          </p:nvSpPr>
          <p:spPr>
            <a:xfrm>
              <a:off x="4513" y="2387"/>
              <a:ext cx="318" cy="0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91" name="Line 197"/>
            <p:cNvSpPr/>
            <p:nvPr/>
          </p:nvSpPr>
          <p:spPr>
            <a:xfrm>
              <a:off x="4649" y="2205"/>
              <a:ext cx="0" cy="1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6131" name="Group 51"/>
          <p:cNvGrpSpPr/>
          <p:nvPr/>
        </p:nvGrpSpPr>
        <p:grpSpPr>
          <a:xfrm>
            <a:off x="7453313" y="2565400"/>
            <a:ext cx="504825" cy="503238"/>
            <a:chOff x="4241" y="3067"/>
            <a:chExt cx="318" cy="317"/>
          </a:xfrm>
        </p:grpSpPr>
        <p:sp>
          <p:nvSpPr>
            <p:cNvPr id="34893" name="Line 46"/>
            <p:cNvSpPr/>
            <p:nvPr/>
          </p:nvSpPr>
          <p:spPr>
            <a:xfrm>
              <a:off x="4241" y="3067"/>
              <a:ext cx="0" cy="317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4894" name="Text Box 48"/>
            <p:cNvSpPr txBox="1"/>
            <p:nvPr/>
          </p:nvSpPr>
          <p:spPr>
            <a:xfrm>
              <a:off x="4241" y="3067"/>
              <a:ext cx="318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sz="24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46130" name="Group 50"/>
          <p:cNvGrpSpPr/>
          <p:nvPr/>
        </p:nvGrpSpPr>
        <p:grpSpPr>
          <a:xfrm>
            <a:off x="7451725" y="1054100"/>
            <a:ext cx="577850" cy="574675"/>
            <a:chOff x="2653" y="1344"/>
            <a:chExt cx="364" cy="362"/>
          </a:xfrm>
        </p:grpSpPr>
        <p:sp>
          <p:nvSpPr>
            <p:cNvPr id="34896" name="Line 45"/>
            <p:cNvSpPr/>
            <p:nvPr/>
          </p:nvSpPr>
          <p:spPr>
            <a:xfrm>
              <a:off x="2653" y="1344"/>
              <a:ext cx="0" cy="36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4897" name="Text Box 49"/>
            <p:cNvSpPr txBox="1"/>
            <p:nvPr/>
          </p:nvSpPr>
          <p:spPr>
            <a:xfrm>
              <a:off x="2699" y="1344"/>
              <a:ext cx="31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R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grpSp>
        <p:nvGrpSpPr>
          <p:cNvPr id="34898" name="Group 203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34899" name="Picture 204" descr="7890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900" name="Text Box 205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6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6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6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6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6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1000"/>
                                        <p:tgtEl>
                                          <p:spTgt spid="4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46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6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6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46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4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0"/>
                                        <p:tgtEl>
                                          <p:spTgt spid="46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6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6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6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6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46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2000"/>
                                        <p:tgtEl>
                                          <p:spTgt spid="46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2000"/>
                                        <p:tgtEl>
                                          <p:spTgt spid="4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2000"/>
                                        <p:tgtEl>
                                          <p:spTgt spid="46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/>
      <p:bldP spid="46083" grpId="0"/>
      <p:bldP spid="46167" grpId="0" animBg="1"/>
      <p:bldP spid="46168" grpId="0"/>
      <p:bldP spid="46171" grpId="0"/>
      <p:bldP spid="4617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62" name="Text Box 6"/>
          <p:cNvSpPr txBox="1"/>
          <p:nvPr/>
        </p:nvSpPr>
        <p:spPr>
          <a:xfrm>
            <a:off x="250825" y="549275"/>
            <a:ext cx="863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63" name="Text Box 7"/>
          <p:cNvSpPr txBox="1"/>
          <p:nvPr/>
        </p:nvSpPr>
        <p:spPr>
          <a:xfrm>
            <a:off x="1042988" y="549275"/>
            <a:ext cx="7812087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用多大电阻替代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2V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电压源而不影响电路的工作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5100" name="Text Box 44"/>
          <p:cNvSpPr txBox="1"/>
          <p:nvPr/>
        </p:nvSpPr>
        <p:spPr>
          <a:xfrm>
            <a:off x="395288" y="3716338"/>
            <a:ext cx="504825" cy="519112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sz="2400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45101" name="AutoShape 45"/>
          <p:cNvSpPr/>
          <p:nvPr/>
        </p:nvSpPr>
        <p:spPr>
          <a:xfrm>
            <a:off x="4787900" y="1844675"/>
            <a:ext cx="504825" cy="215900"/>
          </a:xfrm>
          <a:prstGeom prst="rightArrow">
            <a:avLst>
              <a:gd name="adj1" fmla="val 50000"/>
              <a:gd name="adj2" fmla="val 58445"/>
            </a:avLst>
          </a:prstGeom>
          <a:solidFill>
            <a:srgbClr val="00CCFF"/>
          </a:solidFill>
          <a:ln w="9525" cap="flat" cmpd="sng">
            <a:solidFill>
              <a:srgbClr val="00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45141" name="Group 85"/>
          <p:cNvGrpSpPr/>
          <p:nvPr/>
        </p:nvGrpSpPr>
        <p:grpSpPr>
          <a:xfrm>
            <a:off x="4572000" y="1341438"/>
            <a:ext cx="936625" cy="519112"/>
            <a:chOff x="2835" y="709"/>
            <a:chExt cx="590" cy="327"/>
          </a:xfrm>
        </p:grpSpPr>
        <p:sp>
          <p:nvSpPr>
            <p:cNvPr id="35846" name="Line 83"/>
            <p:cNvSpPr/>
            <p:nvPr/>
          </p:nvSpPr>
          <p:spPr>
            <a:xfrm>
              <a:off x="2835" y="754"/>
              <a:ext cx="0" cy="227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847" name="Text Box 84"/>
            <p:cNvSpPr txBox="1"/>
            <p:nvPr/>
          </p:nvSpPr>
          <p:spPr>
            <a:xfrm>
              <a:off x="2835" y="709"/>
              <a:ext cx="5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0.5A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45145" name="Group 89"/>
          <p:cNvGrpSpPr/>
          <p:nvPr/>
        </p:nvGrpSpPr>
        <p:grpSpPr>
          <a:xfrm>
            <a:off x="3995738" y="1484313"/>
            <a:ext cx="431800" cy="457200"/>
            <a:chOff x="2472" y="754"/>
            <a:chExt cx="272" cy="288"/>
          </a:xfrm>
        </p:grpSpPr>
        <p:sp>
          <p:nvSpPr>
            <p:cNvPr id="35849" name="Line 86"/>
            <p:cNvSpPr/>
            <p:nvPr/>
          </p:nvSpPr>
          <p:spPr>
            <a:xfrm>
              <a:off x="2517" y="1026"/>
              <a:ext cx="182" cy="0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850" name="Text Box 87"/>
            <p:cNvSpPr txBox="1"/>
            <p:nvPr/>
          </p:nvSpPr>
          <p:spPr>
            <a:xfrm>
              <a:off x="2472" y="754"/>
              <a:ext cx="272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endPara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45144" name="Group 88"/>
          <p:cNvGrpSpPr/>
          <p:nvPr/>
        </p:nvGrpSpPr>
        <p:grpSpPr>
          <a:xfrm>
            <a:off x="7956550" y="1844675"/>
            <a:ext cx="647700" cy="504825"/>
            <a:chOff x="4241" y="2478"/>
            <a:chExt cx="408" cy="318"/>
          </a:xfrm>
        </p:grpSpPr>
        <p:sp>
          <p:nvSpPr>
            <p:cNvPr id="35852" name="Line 80"/>
            <p:cNvSpPr/>
            <p:nvPr/>
          </p:nvSpPr>
          <p:spPr>
            <a:xfrm>
              <a:off x="4513" y="2478"/>
              <a:ext cx="2" cy="31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853" name="Text Box 81"/>
            <p:cNvSpPr txBox="1"/>
            <p:nvPr/>
          </p:nvSpPr>
          <p:spPr>
            <a:xfrm>
              <a:off x="4241" y="2478"/>
              <a:ext cx="408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sz="24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sp>
        <p:nvSpPr>
          <p:cNvPr id="45152" name="Text Box 96"/>
          <p:cNvSpPr txBox="1"/>
          <p:nvPr/>
        </p:nvSpPr>
        <p:spPr>
          <a:xfrm>
            <a:off x="971550" y="3716338"/>
            <a:ext cx="518477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应求电流</a:t>
            </a:r>
            <a:r>
              <a:rPr lang="en-US" altLang="zh-CN" b="0" i="1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i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先化简电路。</a:t>
            </a:r>
            <a:endParaRPr lang="zh-CN" altLang="en-US" i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5153" name="Object 97"/>
          <p:cNvGraphicFramePr>
            <a:graphicFrameLocks noChangeAspect="1"/>
          </p:cNvGraphicFramePr>
          <p:nvPr/>
        </p:nvGraphicFramePr>
        <p:xfrm>
          <a:off x="304800" y="4308475"/>
          <a:ext cx="4425950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1" imgW="1724660" imgH="393700" progId="Equation.3">
                  <p:embed/>
                </p:oleObj>
              </mc:Choice>
              <mc:Fallback>
                <p:oleObj name="" r:id="rId1" imgW="1724660" imgH="393700" progId="Equation.3">
                  <p:embed/>
                  <p:pic>
                    <p:nvPicPr>
                      <p:cNvPr id="0" name="20 312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4800" y="4308475"/>
                        <a:ext cx="4425950" cy="1049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55" name="AutoShape 99"/>
          <p:cNvSpPr/>
          <p:nvPr/>
        </p:nvSpPr>
        <p:spPr>
          <a:xfrm>
            <a:off x="4859338" y="4724400"/>
            <a:ext cx="649287" cy="215900"/>
          </a:xfrm>
          <a:prstGeom prst="rightArrow">
            <a:avLst>
              <a:gd name="adj1" fmla="val 50000"/>
              <a:gd name="adj2" fmla="val 75169"/>
            </a:avLst>
          </a:prstGeom>
          <a:solidFill>
            <a:srgbClr val="00CCFF"/>
          </a:solidFill>
          <a:ln w="9525" cap="flat" cmpd="sng">
            <a:solidFill>
              <a:srgbClr val="00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45156" name="Object 100"/>
          <p:cNvGraphicFramePr>
            <a:graphicFrameLocks noChangeAspect="1"/>
          </p:cNvGraphicFramePr>
          <p:nvPr/>
        </p:nvGraphicFramePr>
        <p:xfrm>
          <a:off x="5607050" y="4552950"/>
          <a:ext cx="260667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3" imgW="1007110" imgH="196850" progId="Equation.3">
                  <p:embed/>
                </p:oleObj>
              </mc:Choice>
              <mc:Fallback>
                <p:oleObj name="" r:id="rId3" imgW="1007110" imgH="196850" progId="Equation.3">
                  <p:embed/>
                  <p:pic>
                    <p:nvPicPr>
                      <p:cNvPr id="0" name="20 313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07050" y="4552950"/>
                        <a:ext cx="2606675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57" name="Object 101"/>
          <p:cNvGraphicFramePr>
            <a:graphicFrameLocks noChangeAspect="1"/>
          </p:cNvGraphicFramePr>
          <p:nvPr/>
        </p:nvGraphicFramePr>
        <p:xfrm>
          <a:off x="611188" y="5373688"/>
          <a:ext cx="34290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5" imgW="1330960" imgH="196850" progId="Equation.3">
                  <p:embed/>
                </p:oleObj>
              </mc:Choice>
              <mc:Fallback>
                <p:oleObj name="" r:id="rId5" imgW="1330960" imgH="196850" progId="Equation.3">
                  <p:embed/>
                  <p:pic>
                    <p:nvPicPr>
                      <p:cNvPr id="0" name="20 312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5373688"/>
                        <a:ext cx="3429000" cy="55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58" name="Object 102"/>
          <p:cNvGraphicFramePr>
            <a:graphicFrameLocks noChangeAspect="1"/>
          </p:cNvGraphicFramePr>
          <p:nvPr/>
        </p:nvGraphicFramePr>
        <p:xfrm>
          <a:off x="5508625" y="5229225"/>
          <a:ext cx="2871788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7" imgW="1111250" imgH="150495" progId="Equation.3">
                  <p:embed/>
                </p:oleObj>
              </mc:Choice>
              <mc:Fallback>
                <p:oleObj name="" r:id="rId7" imgW="1111250" imgH="150495" progId="Equation.3">
                  <p:embed/>
                  <p:pic>
                    <p:nvPicPr>
                      <p:cNvPr id="0" name="20 313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08625" y="5229225"/>
                        <a:ext cx="2871788" cy="436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59" name="Object 103"/>
          <p:cNvGraphicFramePr>
            <a:graphicFrameLocks noChangeAspect="1"/>
          </p:cNvGraphicFramePr>
          <p:nvPr/>
        </p:nvGraphicFramePr>
        <p:xfrm>
          <a:off x="684213" y="6021388"/>
          <a:ext cx="225742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9" imgW="868045" imgH="150495" progId="Equation.3">
                  <p:embed/>
                </p:oleObj>
              </mc:Choice>
              <mc:Fallback>
                <p:oleObj name="" r:id="rId9" imgW="868045" imgH="150495" progId="Equation.3">
                  <p:embed/>
                  <p:pic>
                    <p:nvPicPr>
                      <p:cNvPr id="0" name="20 313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6021388"/>
                        <a:ext cx="2257425" cy="436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60" name="Text Box 104"/>
          <p:cNvSpPr txBox="1"/>
          <p:nvPr/>
        </p:nvSpPr>
        <p:spPr>
          <a:xfrm>
            <a:off x="5076825" y="3644900"/>
            <a:ext cx="2808288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应用结点法得：</a:t>
            </a:r>
            <a:endParaRPr lang="zh-CN" altLang="en-US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5862" name="Group 10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5863" name="Picture 109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864" name="Text Box 11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5865" name="Group 11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5866" name="Picture 112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867" name="Text Box 11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5226" name="Group 170"/>
          <p:cNvGrpSpPr/>
          <p:nvPr/>
        </p:nvGrpSpPr>
        <p:grpSpPr>
          <a:xfrm>
            <a:off x="5148263" y="981075"/>
            <a:ext cx="3513137" cy="2447925"/>
            <a:chOff x="3243" y="618"/>
            <a:chExt cx="2213" cy="1542"/>
          </a:xfrm>
        </p:grpSpPr>
        <p:sp>
          <p:nvSpPr>
            <p:cNvPr id="35869" name="Oval 151"/>
            <p:cNvSpPr/>
            <p:nvPr/>
          </p:nvSpPr>
          <p:spPr>
            <a:xfrm>
              <a:off x="4694" y="93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870" name="Oval 152"/>
            <p:cNvSpPr/>
            <p:nvPr/>
          </p:nvSpPr>
          <p:spPr>
            <a:xfrm>
              <a:off x="3243" y="138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871" name="Rectangle 153"/>
            <p:cNvSpPr/>
            <p:nvPr/>
          </p:nvSpPr>
          <p:spPr>
            <a:xfrm>
              <a:off x="3424" y="1117"/>
              <a:ext cx="1966" cy="862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5872" name="Line 154"/>
            <p:cNvSpPr/>
            <p:nvPr/>
          </p:nvSpPr>
          <p:spPr>
            <a:xfrm>
              <a:off x="4330" y="1117"/>
              <a:ext cx="0" cy="8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5873" name="Text Box 155"/>
            <p:cNvSpPr txBox="1"/>
            <p:nvPr/>
          </p:nvSpPr>
          <p:spPr>
            <a:xfrm>
              <a:off x="3560" y="1423"/>
              <a:ext cx="6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10V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874" name="Text Box 156"/>
            <p:cNvSpPr txBox="1"/>
            <p:nvPr/>
          </p:nvSpPr>
          <p:spPr>
            <a:xfrm>
              <a:off x="3424" y="1162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＋</a:t>
              </a:r>
              <a:endParaRPr lang="zh-CN" altLang="en-US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875" name="Text Box 157"/>
            <p:cNvSpPr txBox="1"/>
            <p:nvPr/>
          </p:nvSpPr>
          <p:spPr>
            <a:xfrm>
              <a:off x="3424" y="1661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－</a:t>
              </a:r>
              <a:endParaRPr lang="zh-CN" altLang="en-US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876" name="Text Box 158"/>
            <p:cNvSpPr txBox="1"/>
            <p:nvPr/>
          </p:nvSpPr>
          <p:spPr>
            <a:xfrm>
              <a:off x="3650" y="754"/>
              <a:ext cx="5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877" name="Text Box 159"/>
            <p:cNvSpPr txBox="1"/>
            <p:nvPr/>
          </p:nvSpPr>
          <p:spPr>
            <a:xfrm>
              <a:off x="4422" y="799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878" name="Text Box 160"/>
            <p:cNvSpPr txBox="1"/>
            <p:nvPr/>
          </p:nvSpPr>
          <p:spPr>
            <a:xfrm>
              <a:off x="5057" y="799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879" name="Text Box 161"/>
            <p:cNvSpPr txBox="1"/>
            <p:nvPr/>
          </p:nvSpPr>
          <p:spPr>
            <a:xfrm>
              <a:off x="4604" y="618"/>
              <a:ext cx="4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2V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880" name="Text Box 162"/>
            <p:cNvSpPr txBox="1"/>
            <p:nvPr/>
          </p:nvSpPr>
          <p:spPr>
            <a:xfrm>
              <a:off x="4966" y="1480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881" name="Text Box 163"/>
            <p:cNvSpPr txBox="1"/>
            <p:nvPr/>
          </p:nvSpPr>
          <p:spPr>
            <a:xfrm>
              <a:off x="4331" y="1389"/>
              <a:ext cx="5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882" name="Line 164"/>
            <p:cNvSpPr/>
            <p:nvPr/>
          </p:nvSpPr>
          <p:spPr>
            <a:xfrm>
              <a:off x="4331" y="1979"/>
              <a:ext cx="0" cy="181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83" name="Line 165"/>
            <p:cNvSpPr/>
            <p:nvPr/>
          </p:nvSpPr>
          <p:spPr>
            <a:xfrm>
              <a:off x="4149" y="2160"/>
              <a:ext cx="363" cy="0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84" name="Oval 166"/>
            <p:cNvSpPr/>
            <p:nvPr/>
          </p:nvSpPr>
          <p:spPr>
            <a:xfrm>
              <a:off x="4240" y="845"/>
              <a:ext cx="182" cy="181"/>
            </a:xfrm>
            <a:prstGeom prst="ellipse">
              <a:avLst/>
            </a:prstGeom>
            <a:noFill/>
            <a:ln w="28575" cap="flat" cmpd="sng">
              <a:solidFill>
                <a:srgbClr val="66FF3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rgbClr val="66FF33"/>
                  </a:solidFill>
                  <a:latin typeface="Arial" panose="020B0604020202020204" pitchFamily="34" charset="0"/>
                  <a:ea typeface="仿宋_GB2312" pitchFamily="49" charset="-122"/>
                </a:rPr>
                <a:t>1</a:t>
              </a:r>
              <a:endParaRPr lang="en-US" altLang="zh-CN" b="0" dirty="0">
                <a:solidFill>
                  <a:srgbClr val="66FF33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885" name="Rectangle 167"/>
            <p:cNvSpPr/>
            <p:nvPr/>
          </p:nvSpPr>
          <p:spPr>
            <a:xfrm>
              <a:off x="5329" y="138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5886" name="Rectangle 168"/>
            <p:cNvSpPr/>
            <p:nvPr/>
          </p:nvSpPr>
          <p:spPr>
            <a:xfrm>
              <a:off x="4250" y="143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5887" name="Rectangle 169"/>
            <p:cNvSpPr/>
            <p:nvPr/>
          </p:nvSpPr>
          <p:spPr>
            <a:xfrm>
              <a:off x="3696" y="107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45230" name="Group 174"/>
          <p:cNvGrpSpPr/>
          <p:nvPr/>
        </p:nvGrpSpPr>
        <p:grpSpPr>
          <a:xfrm>
            <a:off x="336550" y="946150"/>
            <a:ext cx="4306888" cy="2482850"/>
            <a:chOff x="-1021" y="572"/>
            <a:chExt cx="2713" cy="1564"/>
          </a:xfrm>
        </p:grpSpPr>
        <p:sp>
          <p:nvSpPr>
            <p:cNvPr id="35889" name="Oval 118"/>
            <p:cNvSpPr/>
            <p:nvPr/>
          </p:nvSpPr>
          <p:spPr>
            <a:xfrm>
              <a:off x="930" y="107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890" name="Oval 119"/>
            <p:cNvSpPr/>
            <p:nvPr/>
          </p:nvSpPr>
          <p:spPr>
            <a:xfrm>
              <a:off x="-1021" y="152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891" name="Line 120"/>
            <p:cNvSpPr/>
            <p:nvPr/>
          </p:nvSpPr>
          <p:spPr>
            <a:xfrm flipV="1">
              <a:off x="612" y="890"/>
              <a:ext cx="99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92" name="Text Box 121"/>
            <p:cNvSpPr txBox="1"/>
            <p:nvPr/>
          </p:nvSpPr>
          <p:spPr>
            <a:xfrm>
              <a:off x="930" y="572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893" name="Rectangle 122"/>
            <p:cNvSpPr/>
            <p:nvPr/>
          </p:nvSpPr>
          <p:spPr>
            <a:xfrm>
              <a:off x="-839" y="1265"/>
              <a:ext cx="2449" cy="862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5894" name="Line 123"/>
            <p:cNvSpPr/>
            <p:nvPr/>
          </p:nvSpPr>
          <p:spPr>
            <a:xfrm>
              <a:off x="612" y="1265"/>
              <a:ext cx="0" cy="8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5895" name="Line 124"/>
            <p:cNvSpPr/>
            <p:nvPr/>
          </p:nvSpPr>
          <p:spPr>
            <a:xfrm>
              <a:off x="113" y="1265"/>
              <a:ext cx="0" cy="8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5896" name="Text Box 125"/>
            <p:cNvSpPr txBox="1"/>
            <p:nvPr/>
          </p:nvSpPr>
          <p:spPr>
            <a:xfrm>
              <a:off x="-703" y="1582"/>
              <a:ext cx="4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4V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897" name="Text Box 126"/>
            <p:cNvSpPr txBox="1"/>
            <p:nvPr/>
          </p:nvSpPr>
          <p:spPr>
            <a:xfrm>
              <a:off x="612" y="1651"/>
              <a:ext cx="5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898" name="Text Box 127"/>
            <p:cNvSpPr txBox="1"/>
            <p:nvPr/>
          </p:nvSpPr>
          <p:spPr>
            <a:xfrm>
              <a:off x="-340" y="857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3A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899" name="Text Box 128"/>
            <p:cNvSpPr txBox="1"/>
            <p:nvPr/>
          </p:nvSpPr>
          <p:spPr>
            <a:xfrm>
              <a:off x="-839" y="1310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＋</a:t>
              </a:r>
              <a:endParaRPr lang="zh-CN" altLang="en-US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900" name="Text Box 129"/>
            <p:cNvSpPr txBox="1"/>
            <p:nvPr/>
          </p:nvSpPr>
          <p:spPr>
            <a:xfrm>
              <a:off x="-839" y="1809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－</a:t>
              </a:r>
              <a:endParaRPr lang="zh-CN" altLang="en-US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901" name="Text Box 130"/>
            <p:cNvSpPr txBox="1"/>
            <p:nvPr/>
          </p:nvSpPr>
          <p:spPr>
            <a:xfrm>
              <a:off x="-522" y="1298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902" name="Text Box 131"/>
            <p:cNvSpPr txBox="1"/>
            <p:nvPr/>
          </p:nvSpPr>
          <p:spPr>
            <a:xfrm>
              <a:off x="703" y="1265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903" name="Text Box 132"/>
            <p:cNvSpPr txBox="1"/>
            <p:nvPr/>
          </p:nvSpPr>
          <p:spPr>
            <a:xfrm>
              <a:off x="1247" y="1253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904" name="Text Box 133"/>
            <p:cNvSpPr txBox="1"/>
            <p:nvPr/>
          </p:nvSpPr>
          <p:spPr>
            <a:xfrm>
              <a:off x="885" y="1355"/>
              <a:ext cx="4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2V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905" name="Text Box 134"/>
            <p:cNvSpPr txBox="1"/>
            <p:nvPr/>
          </p:nvSpPr>
          <p:spPr>
            <a:xfrm>
              <a:off x="1202" y="1616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906" name="Line 135"/>
            <p:cNvSpPr/>
            <p:nvPr/>
          </p:nvSpPr>
          <p:spPr>
            <a:xfrm flipV="1">
              <a:off x="-839" y="890"/>
              <a:ext cx="0" cy="37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35907" name="Line 136"/>
            <p:cNvSpPr/>
            <p:nvPr/>
          </p:nvSpPr>
          <p:spPr>
            <a:xfrm>
              <a:off x="-839" y="890"/>
              <a:ext cx="95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08" name="Line 137"/>
            <p:cNvSpPr/>
            <p:nvPr/>
          </p:nvSpPr>
          <p:spPr>
            <a:xfrm>
              <a:off x="113" y="890"/>
              <a:ext cx="0" cy="37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09" name="Line 138"/>
            <p:cNvSpPr/>
            <p:nvPr/>
          </p:nvSpPr>
          <p:spPr>
            <a:xfrm flipV="1">
              <a:off x="612" y="902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10" name="Line 139"/>
            <p:cNvSpPr/>
            <p:nvPr/>
          </p:nvSpPr>
          <p:spPr>
            <a:xfrm>
              <a:off x="1610" y="890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35911" name="Text Box 140"/>
            <p:cNvSpPr txBox="1"/>
            <p:nvPr/>
          </p:nvSpPr>
          <p:spPr>
            <a:xfrm>
              <a:off x="113" y="1651"/>
              <a:ext cx="5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5912" name="Rectangle 142"/>
            <p:cNvSpPr/>
            <p:nvPr/>
          </p:nvSpPr>
          <p:spPr>
            <a:xfrm>
              <a:off x="-522" y="120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5913" name="Rectangle 146"/>
            <p:cNvSpPr/>
            <p:nvPr/>
          </p:nvSpPr>
          <p:spPr>
            <a:xfrm>
              <a:off x="567" y="161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5914" name="Rectangle 147"/>
            <p:cNvSpPr/>
            <p:nvPr/>
          </p:nvSpPr>
          <p:spPr>
            <a:xfrm>
              <a:off x="32" y="161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5915" name="Rectangle 148"/>
            <p:cNvSpPr/>
            <p:nvPr/>
          </p:nvSpPr>
          <p:spPr>
            <a:xfrm>
              <a:off x="975" y="84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5916" name="Rectangle 149"/>
            <p:cNvSpPr/>
            <p:nvPr/>
          </p:nvSpPr>
          <p:spPr>
            <a:xfrm>
              <a:off x="1565" y="157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5917" name="Line 141"/>
            <p:cNvSpPr/>
            <p:nvPr/>
          </p:nvSpPr>
          <p:spPr>
            <a:xfrm>
              <a:off x="-341" y="890"/>
              <a:ext cx="341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35918" name="Group 143"/>
            <p:cNvGrpSpPr/>
            <p:nvPr/>
          </p:nvGrpSpPr>
          <p:grpSpPr>
            <a:xfrm rot="5400000">
              <a:off x="-703" y="707"/>
              <a:ext cx="363" cy="363"/>
              <a:chOff x="4785" y="709"/>
              <a:chExt cx="363" cy="363"/>
            </a:xfrm>
          </p:grpSpPr>
          <p:sp>
            <p:nvSpPr>
              <p:cNvPr id="35919" name="Oval 144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rot="10800000" vert="eaVert"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35920" name="Line 145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35921" name="Group 175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35922" name="Picture 176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923" name="Text Box 177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5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5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5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5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5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5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5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5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45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5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5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5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000"/>
                                        <p:tgtEl>
                                          <p:spTgt spid="45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4" dur="500"/>
                                        <p:tgtEl>
                                          <p:spTgt spid="45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3000"/>
                                        <p:tgtEl>
                                          <p:spTgt spid="4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5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5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3000"/>
                                        <p:tgtEl>
                                          <p:spTgt spid="4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5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5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3000"/>
                                        <p:tgtEl>
                                          <p:spTgt spid="4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3000"/>
                                        <p:tgtEl>
                                          <p:spTgt spid="4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2" grpId="0"/>
      <p:bldP spid="45063" grpId="0"/>
      <p:bldP spid="45100" grpId="0" animBg="1"/>
      <p:bldP spid="45101" grpId="0" animBg="1"/>
      <p:bldP spid="45152" grpId="0"/>
      <p:bldP spid="45155" grpId="0" animBg="1"/>
      <p:bldP spid="4516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Text Box 2"/>
          <p:cNvSpPr txBox="1"/>
          <p:nvPr/>
        </p:nvSpPr>
        <p:spPr>
          <a:xfrm>
            <a:off x="395288" y="476250"/>
            <a:ext cx="863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035" name="Text Box 3"/>
          <p:cNvSpPr txBox="1"/>
          <p:nvPr/>
        </p:nvSpPr>
        <p:spPr>
          <a:xfrm>
            <a:off x="1116013" y="476250"/>
            <a:ext cx="460851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已知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: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ab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=0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求电阻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endParaRPr lang="en-US" altLang="zh-CN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085" name="Text Box 53"/>
          <p:cNvSpPr txBox="1"/>
          <p:nvPr/>
        </p:nvSpPr>
        <p:spPr>
          <a:xfrm>
            <a:off x="468313" y="1196975"/>
            <a:ext cx="504825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sz="2400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graphicFrame>
        <p:nvGraphicFramePr>
          <p:cNvPr id="44086" name="Object 54"/>
          <p:cNvGraphicFramePr>
            <a:graphicFrameLocks noChangeAspect="1"/>
          </p:cNvGraphicFramePr>
          <p:nvPr/>
        </p:nvGraphicFramePr>
        <p:xfrm>
          <a:off x="1130300" y="992188"/>
          <a:ext cx="2365375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1" imgW="868045" imgH="451485" progId="Equation.3">
                  <p:embed/>
                </p:oleObj>
              </mc:Choice>
              <mc:Fallback>
                <p:oleObj name="" r:id="rId1" imgW="868045" imgH="451485" progId="Equation.3">
                  <p:embed/>
                  <p:pic>
                    <p:nvPicPr>
                      <p:cNvPr id="0" name="20 313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30300" y="992188"/>
                        <a:ext cx="2365375" cy="1254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87" name="Text Box 55"/>
          <p:cNvSpPr txBox="1"/>
          <p:nvPr/>
        </p:nvSpPr>
        <p:spPr>
          <a:xfrm>
            <a:off x="539750" y="2276475"/>
            <a:ext cx="3167063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用开路替代，得：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44090" name="Object 58"/>
          <p:cNvGraphicFramePr>
            <a:graphicFrameLocks noChangeAspect="1"/>
          </p:cNvGraphicFramePr>
          <p:nvPr/>
        </p:nvGraphicFramePr>
        <p:xfrm>
          <a:off x="396875" y="2997200"/>
          <a:ext cx="35274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3" imgW="1319530" imgH="196850" progId="Equation.3">
                  <p:embed/>
                </p:oleObj>
              </mc:Choice>
              <mc:Fallback>
                <p:oleObj name="" r:id="rId3" imgW="1319530" imgH="196850" progId="Equation.3">
                  <p:embed/>
                  <p:pic>
                    <p:nvPicPr>
                      <p:cNvPr id="0" name="20 313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6875" y="2997200"/>
                        <a:ext cx="3527425" cy="576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120" name="Group 88"/>
          <p:cNvGrpSpPr/>
          <p:nvPr/>
        </p:nvGrpSpPr>
        <p:grpSpPr>
          <a:xfrm>
            <a:off x="468313" y="3573463"/>
            <a:ext cx="2232025" cy="576262"/>
            <a:chOff x="2744" y="2568"/>
            <a:chExt cx="1406" cy="363"/>
          </a:xfrm>
        </p:grpSpPr>
        <p:sp>
          <p:nvSpPr>
            <p:cNvPr id="36872" name="AutoShape 59"/>
            <p:cNvSpPr/>
            <p:nvPr/>
          </p:nvSpPr>
          <p:spPr>
            <a:xfrm>
              <a:off x="2789" y="2841"/>
              <a:ext cx="953" cy="90"/>
            </a:xfrm>
            <a:prstGeom prst="rightArrow">
              <a:avLst>
                <a:gd name="adj1" fmla="val 50000"/>
                <a:gd name="adj2" fmla="val 264673"/>
              </a:avLst>
            </a:prstGeom>
            <a:solidFill>
              <a:srgbClr val="00CCFF"/>
            </a:solidFill>
            <a:ln w="9525" cap="flat" cmpd="sng">
              <a:solidFill>
                <a:srgbClr val="00CC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6873" name="Text Box 60"/>
            <p:cNvSpPr txBox="1"/>
            <p:nvPr/>
          </p:nvSpPr>
          <p:spPr>
            <a:xfrm>
              <a:off x="2744" y="2568"/>
              <a:ext cx="140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  <a:ea typeface="楷体_GB2312" pitchFamily="49" charset="-122"/>
                </a:rPr>
                <a:t>短路替代</a:t>
              </a: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aphicFrame>
        <p:nvGraphicFramePr>
          <p:cNvPr id="44094" name="Object 62"/>
          <p:cNvGraphicFramePr>
            <a:graphicFrameLocks noChangeAspect="1"/>
          </p:cNvGraphicFramePr>
          <p:nvPr/>
        </p:nvGraphicFramePr>
        <p:xfrm>
          <a:off x="2065338" y="3644900"/>
          <a:ext cx="17113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5" imgW="648335" imgH="196850" progId="Equation.3">
                  <p:embed/>
                </p:oleObj>
              </mc:Choice>
              <mc:Fallback>
                <p:oleObj name="" r:id="rId5" imgW="648335" imgH="196850" progId="Equation.3">
                  <p:embed/>
                  <p:pic>
                    <p:nvPicPr>
                      <p:cNvPr id="0" name="20 313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65338" y="3644900"/>
                        <a:ext cx="1711325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97" name="Object 65"/>
          <p:cNvGraphicFramePr>
            <a:graphicFrameLocks noChangeAspect="1"/>
          </p:cNvGraphicFramePr>
          <p:nvPr/>
        </p:nvGraphicFramePr>
        <p:xfrm>
          <a:off x="454025" y="4365625"/>
          <a:ext cx="375126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7" imgW="1458595" imgH="196850" progId="Equation.3">
                  <p:embed/>
                </p:oleObj>
              </mc:Choice>
              <mc:Fallback>
                <p:oleObj name="" r:id="rId7" imgW="1458595" imgH="196850" progId="Equation.3">
                  <p:embed/>
                  <p:pic>
                    <p:nvPicPr>
                      <p:cNvPr id="0" name="20 313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4025" y="4365625"/>
                        <a:ext cx="3751263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01" name="Object 69"/>
          <p:cNvGraphicFramePr>
            <a:graphicFrameLocks noChangeAspect="1"/>
          </p:cNvGraphicFramePr>
          <p:nvPr/>
        </p:nvGraphicFramePr>
        <p:xfrm>
          <a:off x="4486275" y="4292600"/>
          <a:ext cx="422116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9" imgW="1643380" imgH="196850" progId="Equation.3">
                  <p:embed/>
                </p:oleObj>
              </mc:Choice>
              <mc:Fallback>
                <p:oleObj name="" r:id="rId9" imgW="1643380" imgH="196850" progId="Equation.3">
                  <p:embed/>
                  <p:pic>
                    <p:nvPicPr>
                      <p:cNvPr id="0" name="20 3134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86275" y="4292600"/>
                        <a:ext cx="4221163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03" name="Object 71"/>
          <p:cNvGraphicFramePr>
            <a:graphicFrameLocks noChangeAspect="1"/>
          </p:cNvGraphicFramePr>
          <p:nvPr/>
        </p:nvGraphicFramePr>
        <p:xfrm>
          <a:off x="539750" y="4868863"/>
          <a:ext cx="325437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11" imgW="1261745" imgH="427990" progId="Equation.3">
                  <p:embed/>
                </p:oleObj>
              </mc:Choice>
              <mc:Fallback>
                <p:oleObj name="" r:id="rId11" imgW="1261745" imgH="427990" progId="Equation.3">
                  <p:embed/>
                  <p:pic>
                    <p:nvPicPr>
                      <p:cNvPr id="0" name="20 3135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4868863"/>
                        <a:ext cx="3254375" cy="1136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878" name="Group 7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6879" name="Picture 80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880" name="Text Box 8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6881" name="Group 8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6882" name="Picture 83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883" name="Text Box 8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4162" name="Group 130"/>
          <p:cNvGrpSpPr/>
          <p:nvPr/>
        </p:nvGrpSpPr>
        <p:grpSpPr>
          <a:xfrm>
            <a:off x="4068763" y="620713"/>
            <a:ext cx="4895850" cy="3471862"/>
            <a:chOff x="2563" y="391"/>
            <a:chExt cx="3084" cy="2187"/>
          </a:xfrm>
        </p:grpSpPr>
        <p:grpSp>
          <p:nvGrpSpPr>
            <p:cNvPr id="36885" name="Group 126"/>
            <p:cNvGrpSpPr/>
            <p:nvPr/>
          </p:nvGrpSpPr>
          <p:grpSpPr>
            <a:xfrm>
              <a:off x="3560" y="1933"/>
              <a:ext cx="363" cy="288"/>
              <a:chOff x="4740" y="2840"/>
              <a:chExt cx="363" cy="288"/>
            </a:xfrm>
          </p:grpSpPr>
          <p:sp>
            <p:nvSpPr>
              <p:cNvPr id="36886" name="Line 66"/>
              <p:cNvSpPr/>
              <p:nvPr/>
            </p:nvSpPr>
            <p:spPr>
              <a:xfrm flipH="1">
                <a:off x="5057" y="2840"/>
                <a:ext cx="0" cy="273"/>
              </a:xfrm>
              <a:prstGeom prst="line">
                <a:avLst/>
              </a:prstGeom>
              <a:ln w="38100" cap="flat" cmpd="sng">
                <a:solidFill>
                  <a:srgbClr val="66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36887" name="Text Box 67"/>
              <p:cNvSpPr txBox="1"/>
              <p:nvPr/>
            </p:nvSpPr>
            <p:spPr>
              <a:xfrm>
                <a:off x="4740" y="2840"/>
                <a:ext cx="363" cy="2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1A</a:t>
                </a:r>
                <a:endPara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</p:grpSp>
        <p:sp>
          <p:nvSpPr>
            <p:cNvPr id="36888" name="Oval 90"/>
            <p:cNvSpPr/>
            <p:nvPr/>
          </p:nvSpPr>
          <p:spPr>
            <a:xfrm>
              <a:off x="2563" y="157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6889" name="Text Box 91"/>
            <p:cNvSpPr txBox="1"/>
            <p:nvPr/>
          </p:nvSpPr>
          <p:spPr>
            <a:xfrm>
              <a:off x="2744" y="935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6890" name="Line 92"/>
            <p:cNvSpPr/>
            <p:nvPr/>
          </p:nvSpPr>
          <p:spPr>
            <a:xfrm flipH="1">
              <a:off x="3470" y="1298"/>
              <a:ext cx="54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6891" name="Line 93"/>
            <p:cNvSpPr/>
            <p:nvPr/>
          </p:nvSpPr>
          <p:spPr>
            <a:xfrm>
              <a:off x="3479" y="708"/>
              <a:ext cx="0" cy="154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6892" name="Text Box 94"/>
            <p:cNvSpPr txBox="1"/>
            <p:nvPr/>
          </p:nvSpPr>
          <p:spPr>
            <a:xfrm>
              <a:off x="2925" y="1570"/>
              <a:ext cx="5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42V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6893" name="Text Box 95"/>
            <p:cNvSpPr txBox="1"/>
            <p:nvPr/>
          </p:nvSpPr>
          <p:spPr>
            <a:xfrm>
              <a:off x="3515" y="1334"/>
              <a:ext cx="5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6894" name="Text Box 96"/>
            <p:cNvSpPr txBox="1"/>
            <p:nvPr/>
          </p:nvSpPr>
          <p:spPr>
            <a:xfrm>
              <a:off x="2744" y="1253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＋</a:t>
              </a:r>
              <a:endParaRPr lang="zh-CN" altLang="en-US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6895" name="Text Box 97"/>
            <p:cNvSpPr txBox="1"/>
            <p:nvPr/>
          </p:nvSpPr>
          <p:spPr>
            <a:xfrm>
              <a:off x="2744" y="1842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－</a:t>
              </a:r>
              <a:endParaRPr lang="zh-CN" altLang="en-US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6896" name="Text Box 98"/>
            <p:cNvSpPr txBox="1"/>
            <p:nvPr/>
          </p:nvSpPr>
          <p:spPr>
            <a:xfrm>
              <a:off x="3515" y="754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6897" name="Text Box 99"/>
            <p:cNvSpPr txBox="1"/>
            <p:nvPr/>
          </p:nvSpPr>
          <p:spPr>
            <a:xfrm>
              <a:off x="4060" y="754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6898" name="Text Box 100"/>
            <p:cNvSpPr txBox="1"/>
            <p:nvPr/>
          </p:nvSpPr>
          <p:spPr>
            <a:xfrm>
              <a:off x="4014" y="1661"/>
              <a:ext cx="5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6899" name="Text Box 102"/>
            <p:cNvSpPr txBox="1"/>
            <p:nvPr/>
          </p:nvSpPr>
          <p:spPr>
            <a:xfrm>
              <a:off x="4105" y="1253"/>
              <a:ext cx="5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6900" name="Text Box 103"/>
            <p:cNvSpPr txBox="1"/>
            <p:nvPr/>
          </p:nvSpPr>
          <p:spPr>
            <a:xfrm>
              <a:off x="4105" y="1933"/>
              <a:ext cx="5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6901" name="Text Box 104"/>
            <p:cNvSpPr txBox="1"/>
            <p:nvPr/>
          </p:nvSpPr>
          <p:spPr>
            <a:xfrm>
              <a:off x="4559" y="391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6902" name="Text Box 105"/>
            <p:cNvSpPr txBox="1"/>
            <p:nvPr/>
          </p:nvSpPr>
          <p:spPr>
            <a:xfrm>
              <a:off x="3924" y="391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6903" name="Text Box 106"/>
            <p:cNvSpPr txBox="1"/>
            <p:nvPr/>
          </p:nvSpPr>
          <p:spPr>
            <a:xfrm>
              <a:off x="3515" y="1661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04" name="Rectangle 107"/>
            <p:cNvSpPr/>
            <p:nvPr/>
          </p:nvSpPr>
          <p:spPr>
            <a:xfrm>
              <a:off x="2744" y="708"/>
              <a:ext cx="2314" cy="1543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6905" name="Line 108"/>
            <p:cNvSpPr/>
            <p:nvPr/>
          </p:nvSpPr>
          <p:spPr>
            <a:xfrm>
              <a:off x="4649" y="708"/>
              <a:ext cx="0" cy="154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6906" name="Line 109"/>
            <p:cNvSpPr/>
            <p:nvPr/>
          </p:nvSpPr>
          <p:spPr>
            <a:xfrm>
              <a:off x="4014" y="708"/>
              <a:ext cx="0" cy="154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6907" name="Rectangle 110"/>
            <p:cNvSpPr/>
            <p:nvPr/>
          </p:nvSpPr>
          <p:spPr>
            <a:xfrm>
              <a:off x="4559" y="125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6908" name="Rectangle 111"/>
            <p:cNvSpPr/>
            <p:nvPr/>
          </p:nvSpPr>
          <p:spPr>
            <a:xfrm>
              <a:off x="3933" y="166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6909" name="Rectangle 112"/>
            <p:cNvSpPr/>
            <p:nvPr/>
          </p:nvSpPr>
          <p:spPr>
            <a:xfrm>
              <a:off x="3425" y="166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6910" name="Rectangle 113"/>
            <p:cNvSpPr/>
            <p:nvPr/>
          </p:nvSpPr>
          <p:spPr>
            <a:xfrm>
              <a:off x="2663" y="98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6911" name="Rectangle 114"/>
            <p:cNvSpPr/>
            <p:nvPr/>
          </p:nvSpPr>
          <p:spPr>
            <a:xfrm>
              <a:off x="3561" y="125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6912" name="Rectangle 115"/>
            <p:cNvSpPr/>
            <p:nvPr/>
          </p:nvSpPr>
          <p:spPr>
            <a:xfrm>
              <a:off x="3561" y="66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6913" name="Rectangle 116"/>
            <p:cNvSpPr/>
            <p:nvPr/>
          </p:nvSpPr>
          <p:spPr>
            <a:xfrm>
              <a:off x="4150" y="66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6914" name="Rectangle 120"/>
            <p:cNvSpPr/>
            <p:nvPr/>
          </p:nvSpPr>
          <p:spPr>
            <a:xfrm>
              <a:off x="4196" y="220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6915" name="Text Box 121"/>
            <p:cNvSpPr txBox="1"/>
            <p:nvPr/>
          </p:nvSpPr>
          <p:spPr>
            <a:xfrm>
              <a:off x="5057" y="935"/>
              <a:ext cx="5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0.5A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6916" name="Text Box 123"/>
            <p:cNvSpPr txBox="1"/>
            <p:nvPr/>
          </p:nvSpPr>
          <p:spPr>
            <a:xfrm>
              <a:off x="4513" y="2251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6917" name="Text Box 124"/>
            <p:cNvSpPr txBox="1"/>
            <p:nvPr/>
          </p:nvSpPr>
          <p:spPr>
            <a:xfrm>
              <a:off x="3923" y="2206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6918" name="Line 101"/>
            <p:cNvSpPr/>
            <p:nvPr/>
          </p:nvSpPr>
          <p:spPr>
            <a:xfrm flipH="1" flipV="1">
              <a:off x="5057" y="890"/>
              <a:ext cx="0" cy="40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36919" name="Group 117"/>
            <p:cNvGrpSpPr/>
            <p:nvPr/>
          </p:nvGrpSpPr>
          <p:grpSpPr>
            <a:xfrm>
              <a:off x="4876" y="1298"/>
              <a:ext cx="363" cy="363"/>
              <a:chOff x="4785" y="709"/>
              <a:chExt cx="363" cy="363"/>
            </a:xfrm>
          </p:grpSpPr>
          <p:sp>
            <p:nvSpPr>
              <p:cNvPr id="36920" name="Oval 118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36921" name="Line 119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36922" name="Group 131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36923" name="Picture 132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924" name="Text Box 133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4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4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4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4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4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1000"/>
                                        <p:tgtEl>
                                          <p:spTgt spid="4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4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0"/>
                                        <p:tgtEl>
                                          <p:spTgt spid="44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44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000"/>
                                        <p:tgtEl>
                                          <p:spTgt spid="44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3000"/>
                                        <p:tgtEl>
                                          <p:spTgt spid="4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3000"/>
                                        <p:tgtEl>
                                          <p:spTgt spid="4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3000"/>
                                        <p:tgtEl>
                                          <p:spTgt spid="4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/>
      <p:bldP spid="44035" grpId="0"/>
      <p:bldP spid="44085" grpId="0" animBg="1"/>
      <p:bldP spid="4408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Text Box 2" descr="新闻纸"/>
          <p:cNvSpPr txBox="1"/>
          <p:nvPr/>
        </p:nvSpPr>
        <p:spPr>
          <a:xfrm>
            <a:off x="684213" y="620713"/>
            <a:ext cx="7885112" cy="823912"/>
          </a:xfrm>
          <a:prstGeom prst="rect">
            <a:avLst/>
          </a:prstGeom>
          <a:noFill/>
          <a:ln w="9525">
            <a:noFill/>
          </a:ln>
          <a:effectLst>
            <a:prstShdw prst="shdw17" dist="17961" dir="2699999">
              <a:srgbClr val="959595"/>
            </a:prstShdw>
          </a:effectLst>
        </p:spPr>
        <p:txBody>
          <a:bodyPr lIns="90000" tIns="46800" rIns="90000" bIns="4680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4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4.3 </a:t>
            </a:r>
            <a:r>
              <a:rPr lang="zh-CN" altLang="en-US" sz="4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戴维宁定理和诺顿定理</a:t>
            </a:r>
            <a:endParaRPr lang="zh-CN" altLang="en-US" sz="3200" b="0" dirty="0">
              <a:solidFill>
                <a:schemeClr val="bg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43011" name="Text Box 3"/>
          <p:cNvSpPr txBox="1"/>
          <p:nvPr/>
        </p:nvSpPr>
        <p:spPr>
          <a:xfrm>
            <a:off x="539750" y="1412875"/>
            <a:ext cx="8135938" cy="3981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571500"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工程实际中，常常碰到只需研究某一支路的电压、电流或功率的问题。对所研究的支路来说，电路的其余部分就成为一个有源二端网络，可等效变换为较简单的含源支路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电压源与电阻串联或电流源与电阻并联支路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),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使分析和计算简化。戴维宁定理和诺顿定理正是给出了等效含源支路及其计算方法。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7891" name="Group 3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7892" name="Picture 3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893" name="Text Box 3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7894" name="Group 4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7895" name="Picture 4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896" name="Text Box 4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7897" name="Group 49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37898" name="Picture 5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899" name="Text Box 51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/>
      <p:bldP spid="430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Text Box 2"/>
          <p:cNvSpPr txBox="1"/>
          <p:nvPr/>
        </p:nvSpPr>
        <p:spPr>
          <a:xfrm>
            <a:off x="395288" y="476250"/>
            <a:ext cx="3671887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戴维宁定理</a:t>
            </a:r>
            <a:endParaRPr lang="zh-CN" altLang="en-US" sz="3200" i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987" name="Text Box 3"/>
          <p:cNvSpPr txBox="1"/>
          <p:nvPr/>
        </p:nvSpPr>
        <p:spPr>
          <a:xfrm>
            <a:off x="468313" y="981075"/>
            <a:ext cx="7921625" cy="26558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571500" algn="just">
              <a:lnSpc>
                <a:spcPct val="120000"/>
              </a:lnSpc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任何一个线性含源一端口网络，对外电路来说，总可以用一个电压源和电阻的串联组合来等效置换；此电压源的电压等于外电路断开时端口处的开路电压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oc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，而电阻等于一端口的输入电阻（或等效电阻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eq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）。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988" name="AutoShape 4"/>
          <p:cNvSpPr/>
          <p:nvPr/>
        </p:nvSpPr>
        <p:spPr>
          <a:xfrm>
            <a:off x="3708400" y="4797425"/>
            <a:ext cx="935038" cy="215900"/>
          </a:xfrm>
          <a:prstGeom prst="rightArrow">
            <a:avLst>
              <a:gd name="adj1" fmla="val 50000"/>
              <a:gd name="adj2" fmla="val 108252"/>
            </a:avLst>
          </a:prstGeom>
          <a:solidFill>
            <a:srgbClr val="00CCFF"/>
          </a:solidFill>
          <a:ln w="9525" cap="flat" cmpd="sng">
            <a:solidFill>
              <a:srgbClr val="00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38916" name="Group 4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8917" name="Picture 4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18" name="Text Box 4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8919" name="Group 4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8920" name="Picture 5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21" name="Text Box 5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2042" name="Group 58"/>
          <p:cNvGrpSpPr/>
          <p:nvPr/>
        </p:nvGrpSpPr>
        <p:grpSpPr>
          <a:xfrm>
            <a:off x="900113" y="3773488"/>
            <a:ext cx="2447925" cy="2114550"/>
            <a:chOff x="567" y="2377"/>
            <a:chExt cx="1542" cy="1332"/>
          </a:xfrm>
        </p:grpSpPr>
        <p:sp>
          <p:nvSpPr>
            <p:cNvPr id="38923" name="Freeform 10"/>
            <p:cNvSpPr/>
            <p:nvPr/>
          </p:nvSpPr>
          <p:spPr>
            <a:xfrm>
              <a:off x="1247" y="2783"/>
              <a:ext cx="543" cy="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607" y="0"/>
                </a:cxn>
              </a:cxnLst>
              <a:pathLst>
                <a:path w="528" h="1">
                  <a:moveTo>
                    <a:pt x="0" y="1"/>
                  </a:moveTo>
                  <a:lnTo>
                    <a:pt x="528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8924" name="Freeform 11"/>
            <p:cNvSpPr/>
            <p:nvPr/>
          </p:nvSpPr>
          <p:spPr>
            <a:xfrm>
              <a:off x="1251" y="3558"/>
              <a:ext cx="530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90" y="0"/>
                </a:cxn>
              </a:cxnLst>
              <a:pathLst>
                <a:path w="516" h="1">
                  <a:moveTo>
                    <a:pt x="0" y="0"/>
                  </a:moveTo>
                  <a:lnTo>
                    <a:pt x="516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8925" name="Line 12"/>
            <p:cNvSpPr/>
            <p:nvPr/>
          </p:nvSpPr>
          <p:spPr>
            <a:xfrm>
              <a:off x="1393" y="2704"/>
              <a:ext cx="345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8926" name="Oval 13"/>
            <p:cNvSpPr/>
            <p:nvPr/>
          </p:nvSpPr>
          <p:spPr>
            <a:xfrm>
              <a:off x="1788" y="2744"/>
              <a:ext cx="69" cy="76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8927" name="Oval 14"/>
            <p:cNvSpPr/>
            <p:nvPr/>
          </p:nvSpPr>
          <p:spPr>
            <a:xfrm>
              <a:off x="1788" y="3522"/>
              <a:ext cx="69" cy="76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8928" name="Text Box 15"/>
            <p:cNvSpPr txBox="1"/>
            <p:nvPr/>
          </p:nvSpPr>
          <p:spPr>
            <a:xfrm>
              <a:off x="1882" y="2581"/>
              <a:ext cx="2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9" name="Text Box 16"/>
            <p:cNvSpPr txBox="1"/>
            <p:nvPr/>
          </p:nvSpPr>
          <p:spPr>
            <a:xfrm>
              <a:off x="1881" y="3382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30" name="Text Box 17"/>
            <p:cNvSpPr txBox="1"/>
            <p:nvPr/>
          </p:nvSpPr>
          <p:spPr>
            <a:xfrm>
              <a:off x="1502" y="2377"/>
              <a:ext cx="1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31" name="Text Box 21"/>
            <p:cNvSpPr txBox="1"/>
            <p:nvPr/>
          </p:nvSpPr>
          <p:spPr>
            <a:xfrm>
              <a:off x="1607" y="3062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8932" name="Text Box 55"/>
            <p:cNvSpPr txBox="1"/>
            <p:nvPr/>
          </p:nvSpPr>
          <p:spPr>
            <a:xfrm>
              <a:off x="1655" y="2795"/>
              <a:ext cx="2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33" name="Text Box 57"/>
            <p:cNvSpPr txBox="1"/>
            <p:nvPr/>
          </p:nvSpPr>
          <p:spPr>
            <a:xfrm>
              <a:off x="1610" y="3249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992" name="Rectangle 8"/>
            <p:cNvSpPr>
              <a:spLocks noChangeArrowheads="1"/>
            </p:cNvSpPr>
            <p:nvPr/>
          </p:nvSpPr>
          <p:spPr bwMode="auto">
            <a:xfrm>
              <a:off x="567" y="2659"/>
              <a:ext cx="680" cy="1030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A</a:t>
              </a:r>
              <a:endPara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</p:grpSp>
      <p:grpSp>
        <p:nvGrpSpPr>
          <p:cNvPr id="42044" name="Group 60"/>
          <p:cNvGrpSpPr/>
          <p:nvPr/>
        </p:nvGrpSpPr>
        <p:grpSpPr>
          <a:xfrm>
            <a:off x="4787900" y="3429000"/>
            <a:ext cx="2944813" cy="2681288"/>
            <a:chOff x="2517" y="436"/>
            <a:chExt cx="1855" cy="1689"/>
          </a:xfrm>
        </p:grpSpPr>
        <p:sp>
          <p:nvSpPr>
            <p:cNvPr id="38936" name="Oval 61"/>
            <p:cNvSpPr/>
            <p:nvPr/>
          </p:nvSpPr>
          <p:spPr>
            <a:xfrm>
              <a:off x="2925" y="143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8937" name="Line 62"/>
            <p:cNvSpPr/>
            <p:nvPr/>
          </p:nvSpPr>
          <p:spPr>
            <a:xfrm>
              <a:off x="3288" y="799"/>
              <a:ext cx="449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8938" name="Text Box 63"/>
            <p:cNvSpPr txBox="1"/>
            <p:nvPr/>
          </p:nvSpPr>
          <p:spPr>
            <a:xfrm>
              <a:off x="3334" y="436"/>
              <a:ext cx="256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39" name="Line 64"/>
            <p:cNvSpPr/>
            <p:nvPr/>
          </p:nvSpPr>
          <p:spPr>
            <a:xfrm>
              <a:off x="3107" y="1979"/>
              <a:ext cx="72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40" name="Line 65"/>
            <p:cNvSpPr/>
            <p:nvPr/>
          </p:nvSpPr>
          <p:spPr>
            <a:xfrm>
              <a:off x="3107" y="754"/>
              <a:ext cx="0" cy="122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41" name="Line 66"/>
            <p:cNvSpPr/>
            <p:nvPr/>
          </p:nvSpPr>
          <p:spPr>
            <a:xfrm>
              <a:off x="3107" y="754"/>
              <a:ext cx="72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42" name="Text Box 67"/>
            <p:cNvSpPr txBox="1"/>
            <p:nvPr/>
          </p:nvSpPr>
          <p:spPr>
            <a:xfrm>
              <a:off x="3923" y="527"/>
              <a:ext cx="44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43" name="Text Box 68"/>
            <p:cNvSpPr txBox="1"/>
            <p:nvPr/>
          </p:nvSpPr>
          <p:spPr>
            <a:xfrm>
              <a:off x="3923" y="1797"/>
              <a:ext cx="321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44" name="Text Box 69"/>
            <p:cNvSpPr txBox="1"/>
            <p:nvPr/>
          </p:nvSpPr>
          <p:spPr>
            <a:xfrm>
              <a:off x="2653" y="845"/>
              <a:ext cx="44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eq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45" name="Text Box 70"/>
            <p:cNvSpPr txBox="1"/>
            <p:nvPr/>
          </p:nvSpPr>
          <p:spPr>
            <a:xfrm>
              <a:off x="2517" y="1480"/>
              <a:ext cx="577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46" name="Text Box 71"/>
            <p:cNvSpPr txBox="1"/>
            <p:nvPr/>
          </p:nvSpPr>
          <p:spPr>
            <a:xfrm>
              <a:off x="2835" y="1162"/>
              <a:ext cx="3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47" name="Text Box 72"/>
            <p:cNvSpPr txBox="1"/>
            <p:nvPr/>
          </p:nvSpPr>
          <p:spPr>
            <a:xfrm>
              <a:off x="2835" y="1752"/>
              <a:ext cx="228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48" name="Text Box 73"/>
            <p:cNvSpPr txBox="1"/>
            <p:nvPr/>
          </p:nvSpPr>
          <p:spPr>
            <a:xfrm>
              <a:off x="3787" y="1162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8949" name="Text Box 74"/>
            <p:cNvSpPr txBox="1"/>
            <p:nvPr/>
          </p:nvSpPr>
          <p:spPr>
            <a:xfrm>
              <a:off x="3787" y="799"/>
              <a:ext cx="2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50" name="Text Box 75"/>
            <p:cNvSpPr txBox="1"/>
            <p:nvPr/>
          </p:nvSpPr>
          <p:spPr>
            <a:xfrm>
              <a:off x="3742" y="1616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8951" name="Rectangle 76"/>
            <p:cNvSpPr/>
            <p:nvPr/>
          </p:nvSpPr>
          <p:spPr>
            <a:xfrm>
              <a:off x="3025" y="84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8952" name="Oval 77"/>
            <p:cNvSpPr/>
            <p:nvPr/>
          </p:nvSpPr>
          <p:spPr>
            <a:xfrm>
              <a:off x="3832" y="1933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8953" name="Oval 78"/>
            <p:cNvSpPr/>
            <p:nvPr/>
          </p:nvSpPr>
          <p:spPr>
            <a:xfrm>
              <a:off x="3832" y="709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38954" name="Group 82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38955" name="Picture 8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56" name="Text Box 84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1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/>
      <p:bldP spid="41987" grpId="0"/>
      <p:bldP spid="4198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文本框 2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hangingPunct="0"/>
            <a:r>
              <a:rPr lang="zh-CN" altLang="en-US" sz="2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应用电源等效变换，化简后电路电压为 </a:t>
            </a:r>
            <a:r>
              <a:rPr lang="en-US" altLang="zh-CN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1]</a:t>
            </a:r>
            <a:r>
              <a:rPr lang="en-US" altLang="zh-CN" sz="2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V</a:t>
            </a:r>
            <a:r>
              <a:rPr lang="zh-CN" altLang="en-US" sz="2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电阻为  </a:t>
            </a:r>
            <a:r>
              <a:rPr lang="en-US" altLang="zh-CN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2] </a:t>
            </a:r>
            <a:r>
              <a:rPr lang="en-US" altLang="zh-CN" sz="2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Ω</a:t>
            </a:r>
            <a:endParaRPr lang="zh-CN" altLang="en-US" sz="2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9938" name="圆角矩形 3"/>
          <p:cNvSpPr/>
          <p:nvPr>
            <p:custDataLst>
              <p:tags r:id="rId2"/>
            </p:custDataLst>
          </p:nvPr>
        </p:nvSpPr>
        <p:spPr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p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9939" name="矩形 9"/>
          <p:cNvSpPr/>
          <p:nvPr>
            <p:custDataLst>
              <p:tags r:id="rId3"/>
            </p:custDataLst>
          </p:nvPr>
        </p:nvSpPr>
        <p:spPr>
          <a:xfrm>
            <a:off x="0" y="5849938"/>
            <a:ext cx="9144000" cy="365125"/>
          </a:xfrm>
          <a:prstGeom prst="rect">
            <a:avLst/>
          </a:prstGeom>
          <a:solidFill>
            <a:srgbClr val="FBFAEF"/>
          </a:solidFill>
          <a:ln w="9525">
            <a:noFill/>
          </a:ln>
        </p:spPr>
        <p:txBody>
          <a:bodyPr wrap="none" anchor="ctr" anchorCtr="1"/>
          <a:p>
            <a:r>
              <a:rPr lang="zh-CN" altLang="en-US" sz="1200" dirty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200" dirty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 dirty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200" dirty="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2" name="Group 171"/>
          <p:cNvGrpSpPr/>
          <p:nvPr/>
        </p:nvGrpSpPr>
        <p:grpSpPr>
          <a:xfrm>
            <a:off x="2484438" y="2725738"/>
            <a:ext cx="3455987" cy="2463800"/>
            <a:chOff x="2336" y="1207"/>
            <a:chExt cx="2177" cy="1552"/>
          </a:xfrm>
        </p:grpSpPr>
        <p:sp>
          <p:nvSpPr>
            <p:cNvPr id="39941" name="Oval 172"/>
            <p:cNvSpPr/>
            <p:nvPr/>
          </p:nvSpPr>
          <p:spPr>
            <a:xfrm>
              <a:off x="2336" y="202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9942" name="Oval 173"/>
            <p:cNvSpPr/>
            <p:nvPr/>
          </p:nvSpPr>
          <p:spPr>
            <a:xfrm>
              <a:off x="3152" y="206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9943" name="Text Box 174"/>
            <p:cNvSpPr txBox="1"/>
            <p:nvPr/>
          </p:nvSpPr>
          <p:spPr>
            <a:xfrm>
              <a:off x="2563" y="1524"/>
              <a:ext cx="54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9944" name="Text Box 175"/>
            <p:cNvSpPr txBox="1"/>
            <p:nvPr/>
          </p:nvSpPr>
          <p:spPr>
            <a:xfrm>
              <a:off x="3380" y="1569"/>
              <a:ext cx="5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9945" name="Text Box 176"/>
            <p:cNvSpPr txBox="1"/>
            <p:nvPr/>
          </p:nvSpPr>
          <p:spPr>
            <a:xfrm>
              <a:off x="2525" y="1751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46" name="Text Box 177"/>
            <p:cNvSpPr txBox="1"/>
            <p:nvPr/>
          </p:nvSpPr>
          <p:spPr>
            <a:xfrm>
              <a:off x="2525" y="2279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47" name="Text Box 178"/>
            <p:cNvSpPr txBox="1"/>
            <p:nvPr/>
          </p:nvSpPr>
          <p:spPr>
            <a:xfrm>
              <a:off x="2669" y="2039"/>
              <a:ext cx="5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48" name="Text Box 179"/>
            <p:cNvSpPr txBox="1"/>
            <p:nvPr/>
          </p:nvSpPr>
          <p:spPr>
            <a:xfrm>
              <a:off x="4059" y="1434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49" name="Text Box 180"/>
            <p:cNvSpPr txBox="1"/>
            <p:nvPr/>
          </p:nvSpPr>
          <p:spPr>
            <a:xfrm>
              <a:off x="4014" y="2205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0" name="Text Box 181"/>
            <p:cNvSpPr txBox="1"/>
            <p:nvPr/>
          </p:nvSpPr>
          <p:spPr>
            <a:xfrm>
              <a:off x="4014" y="1797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1" name="Text Box 182"/>
            <p:cNvSpPr txBox="1"/>
            <p:nvPr/>
          </p:nvSpPr>
          <p:spPr>
            <a:xfrm>
              <a:off x="4150" y="1207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2" name="Text Box 183"/>
            <p:cNvSpPr txBox="1"/>
            <p:nvPr/>
          </p:nvSpPr>
          <p:spPr>
            <a:xfrm>
              <a:off x="4195" y="2432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3" name="Line 184"/>
            <p:cNvSpPr/>
            <p:nvPr/>
          </p:nvSpPr>
          <p:spPr>
            <a:xfrm>
              <a:off x="2517" y="2614"/>
              <a:ext cx="15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54" name="Line 185"/>
            <p:cNvSpPr/>
            <p:nvPr/>
          </p:nvSpPr>
          <p:spPr>
            <a:xfrm flipV="1">
              <a:off x="2518" y="1406"/>
              <a:ext cx="7" cy="120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55" name="Text Box 186"/>
            <p:cNvSpPr txBox="1"/>
            <p:nvPr/>
          </p:nvSpPr>
          <p:spPr>
            <a:xfrm>
              <a:off x="3380" y="1842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6" name="Text Box 187"/>
            <p:cNvSpPr txBox="1"/>
            <p:nvPr/>
          </p:nvSpPr>
          <p:spPr>
            <a:xfrm>
              <a:off x="3379" y="2341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7" name="Oval 188"/>
            <p:cNvSpPr/>
            <p:nvPr/>
          </p:nvSpPr>
          <p:spPr>
            <a:xfrm>
              <a:off x="4105" y="2568"/>
              <a:ext cx="91" cy="91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b="0" dirty="0">
                <a:solidFill>
                  <a:srgbClr val="FFCC00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9958" name="Oval 189"/>
            <p:cNvSpPr/>
            <p:nvPr/>
          </p:nvSpPr>
          <p:spPr>
            <a:xfrm>
              <a:off x="4059" y="1344"/>
              <a:ext cx="91" cy="91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9959" name="Line 190"/>
            <p:cNvSpPr/>
            <p:nvPr/>
          </p:nvSpPr>
          <p:spPr>
            <a:xfrm>
              <a:off x="3334" y="1388"/>
              <a:ext cx="0" cy="12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9960" name="Line 191"/>
            <p:cNvSpPr/>
            <p:nvPr/>
          </p:nvSpPr>
          <p:spPr>
            <a:xfrm>
              <a:off x="2518" y="1388"/>
              <a:ext cx="1541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61" name="Text Box 192"/>
            <p:cNvSpPr txBox="1"/>
            <p:nvPr/>
          </p:nvSpPr>
          <p:spPr>
            <a:xfrm>
              <a:off x="3516" y="2068"/>
              <a:ext cx="5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62" name="Rectangle 193"/>
            <p:cNvSpPr/>
            <p:nvPr/>
          </p:nvSpPr>
          <p:spPr>
            <a:xfrm>
              <a:off x="3288" y="157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9963" name="Rectangle 194"/>
            <p:cNvSpPr/>
            <p:nvPr/>
          </p:nvSpPr>
          <p:spPr>
            <a:xfrm>
              <a:off x="2472" y="157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39964" name="组合 8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39965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 anchor="t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9966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 anchor="t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996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0" hangingPunct="0"/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96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0" hangingPunct="0"/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9969" name="20 1"/>
          <p:cNvPicPr/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Text Box 2"/>
          <p:cNvSpPr txBox="1"/>
          <p:nvPr/>
        </p:nvSpPr>
        <p:spPr>
          <a:xfrm>
            <a:off x="395288" y="549275"/>
            <a:ext cx="2665412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定理的证明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969" name="Text Box 9"/>
          <p:cNvSpPr txBox="1"/>
          <p:nvPr/>
        </p:nvSpPr>
        <p:spPr>
          <a:xfrm>
            <a:off x="3995738" y="3860800"/>
            <a:ext cx="4572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endParaRPr lang="en-US" altLang="zh-CN" sz="3600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1074" name="Group 114"/>
          <p:cNvGrpSpPr/>
          <p:nvPr/>
        </p:nvGrpSpPr>
        <p:grpSpPr>
          <a:xfrm>
            <a:off x="3851275" y="1700213"/>
            <a:ext cx="1008063" cy="719137"/>
            <a:chOff x="2336" y="709"/>
            <a:chExt cx="635" cy="453"/>
          </a:xfrm>
        </p:grpSpPr>
        <p:sp>
          <p:nvSpPr>
            <p:cNvPr id="40964" name="AutoShape 5"/>
            <p:cNvSpPr/>
            <p:nvPr/>
          </p:nvSpPr>
          <p:spPr>
            <a:xfrm>
              <a:off x="2426" y="981"/>
              <a:ext cx="545" cy="181"/>
            </a:xfrm>
            <a:prstGeom prst="rightArrow">
              <a:avLst>
                <a:gd name="adj1" fmla="val 50000"/>
                <a:gd name="adj2" fmla="val 75262"/>
              </a:avLst>
            </a:prstGeom>
            <a:solidFill>
              <a:srgbClr val="00CCFF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0965" name="Text Box 113"/>
            <p:cNvSpPr txBox="1"/>
            <p:nvPr/>
          </p:nvSpPr>
          <p:spPr>
            <a:xfrm>
              <a:off x="2336" y="709"/>
              <a:ext cx="5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楷体_GB2312" pitchFamily="49" charset="-122"/>
                </a:rPr>
                <a:t>替代</a:t>
              </a: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41132" name="Group 172"/>
          <p:cNvGrpSpPr/>
          <p:nvPr/>
        </p:nvGrpSpPr>
        <p:grpSpPr>
          <a:xfrm>
            <a:off x="539750" y="3573463"/>
            <a:ext cx="1152525" cy="720725"/>
            <a:chOff x="385" y="2432"/>
            <a:chExt cx="726" cy="454"/>
          </a:xfrm>
        </p:grpSpPr>
        <p:grpSp>
          <p:nvGrpSpPr>
            <p:cNvPr id="40967" name="Group 120"/>
            <p:cNvGrpSpPr/>
            <p:nvPr/>
          </p:nvGrpSpPr>
          <p:grpSpPr>
            <a:xfrm>
              <a:off x="385" y="2750"/>
              <a:ext cx="590" cy="136"/>
              <a:chOff x="295" y="2432"/>
              <a:chExt cx="590" cy="136"/>
            </a:xfrm>
          </p:grpSpPr>
          <p:sp>
            <p:nvSpPr>
              <p:cNvPr id="40968" name="Line 117"/>
              <p:cNvSpPr/>
              <p:nvPr/>
            </p:nvSpPr>
            <p:spPr>
              <a:xfrm>
                <a:off x="295" y="2432"/>
                <a:ext cx="590" cy="0"/>
              </a:xfrm>
              <a:prstGeom prst="line">
                <a:avLst/>
              </a:prstGeom>
              <a:ln w="5715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" name="Line 118"/>
              <p:cNvSpPr/>
              <p:nvPr/>
            </p:nvSpPr>
            <p:spPr>
              <a:xfrm>
                <a:off x="295" y="2568"/>
                <a:ext cx="590" cy="0"/>
              </a:xfrm>
              <a:prstGeom prst="line">
                <a:avLst/>
              </a:prstGeom>
              <a:ln w="5715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0970" name="Text Box 121"/>
            <p:cNvSpPr txBox="1"/>
            <p:nvPr/>
          </p:nvSpPr>
          <p:spPr>
            <a:xfrm>
              <a:off x="385" y="2432"/>
              <a:ext cx="7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楷体_GB2312" pitchFamily="49" charset="-122"/>
                </a:rPr>
                <a:t>叠加</a:t>
              </a: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41083" name="AutoShape 123" descr="羊皮纸"/>
          <p:cNvSpPr/>
          <p:nvPr/>
        </p:nvSpPr>
        <p:spPr>
          <a:xfrm>
            <a:off x="7740650" y="2781300"/>
            <a:ext cx="863600" cy="2519363"/>
          </a:xfrm>
          <a:prstGeom prst="wedgeRoundRectCallout">
            <a:avLst>
              <a:gd name="adj1" fmla="val -182722"/>
              <a:gd name="adj2" fmla="val -47796"/>
              <a:gd name="adj3" fmla="val 16667"/>
            </a:avLst>
          </a:prstGeom>
          <a:blipFill rotWithShape="1">
            <a:blip r:embed="rId1"/>
          </a:blipFill>
          <a:ln w="9525">
            <a:noFill/>
          </a:ln>
        </p:spPr>
        <p:txBody>
          <a:bodyPr anchor="t" anchorCtr="0"/>
          <a:p>
            <a:pPr algn="ctr"/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中独立源置零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40972" name="Group 13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0973" name="Picture 133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974" name="Text Box 13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0975" name="Group 13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0976" name="Picture 136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977" name="Text Box 13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1101" name="Group 141"/>
          <p:cNvGrpSpPr/>
          <p:nvPr/>
        </p:nvGrpSpPr>
        <p:grpSpPr>
          <a:xfrm>
            <a:off x="900113" y="981075"/>
            <a:ext cx="2635250" cy="2174875"/>
            <a:chOff x="2154" y="1797"/>
            <a:chExt cx="1660" cy="1370"/>
          </a:xfrm>
        </p:grpSpPr>
        <p:sp>
          <p:nvSpPr>
            <p:cNvPr id="40979" name="Text Box 142"/>
            <p:cNvSpPr txBox="1"/>
            <p:nvPr/>
          </p:nvSpPr>
          <p:spPr>
            <a:xfrm>
              <a:off x="2880" y="1797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80" name="Text Box 143"/>
            <p:cNvSpPr txBox="1"/>
            <p:nvPr/>
          </p:nvSpPr>
          <p:spPr>
            <a:xfrm>
              <a:off x="2880" y="2840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81" name="Line 144"/>
            <p:cNvSpPr/>
            <p:nvPr/>
          </p:nvSpPr>
          <p:spPr>
            <a:xfrm>
              <a:off x="2562" y="2160"/>
              <a:ext cx="76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82" name="Line 145"/>
            <p:cNvSpPr/>
            <p:nvPr/>
          </p:nvSpPr>
          <p:spPr>
            <a:xfrm>
              <a:off x="2562" y="2840"/>
              <a:ext cx="76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83" name="Line 146"/>
            <p:cNvSpPr/>
            <p:nvPr/>
          </p:nvSpPr>
          <p:spPr>
            <a:xfrm>
              <a:off x="3061" y="2115"/>
              <a:ext cx="240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984" name="Text Box 147"/>
            <p:cNvSpPr txBox="1"/>
            <p:nvPr/>
          </p:nvSpPr>
          <p:spPr>
            <a:xfrm>
              <a:off x="3107" y="1797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85" name="Text Box 148"/>
            <p:cNvSpPr txBox="1"/>
            <p:nvPr/>
          </p:nvSpPr>
          <p:spPr>
            <a:xfrm>
              <a:off x="2835" y="2160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86" name="Text Box 149"/>
            <p:cNvSpPr txBox="1"/>
            <p:nvPr/>
          </p:nvSpPr>
          <p:spPr>
            <a:xfrm>
              <a:off x="2835" y="2523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87" name="Text Box 150"/>
            <p:cNvSpPr txBox="1"/>
            <p:nvPr/>
          </p:nvSpPr>
          <p:spPr>
            <a:xfrm>
              <a:off x="2835" y="2341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88" name="Rectangle 151" descr="再生纸"/>
            <p:cNvSpPr/>
            <p:nvPr/>
          </p:nvSpPr>
          <p:spPr>
            <a:xfrm>
              <a:off x="3334" y="2069"/>
              <a:ext cx="480" cy="953"/>
            </a:xfrm>
            <a:prstGeom prst="rect">
              <a:avLst/>
            </a:prstGeom>
            <a:blipFill rotWithShape="1">
              <a:blip r:embed="rId3"/>
            </a:blip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4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N</a:t>
              </a:r>
              <a:endParaRPr lang="en-US" altLang="zh-CN" sz="4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0989" name="Rectangle 152"/>
            <p:cNvSpPr/>
            <p:nvPr/>
          </p:nvSpPr>
          <p:spPr>
            <a:xfrm>
              <a:off x="2154" y="2069"/>
              <a:ext cx="499" cy="907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28575">
              <a:noFill/>
            </a:ln>
          </p:spPr>
          <p:txBody>
            <a:bodyPr wrap="none" anchor="ctr" anchorCtr="0"/>
            <a:p>
              <a:pPr algn="ctr"/>
              <a:r>
                <a:rPr lang="en-US" altLang="zh-CN" sz="4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A</a:t>
              </a:r>
              <a:endParaRPr lang="en-US" altLang="zh-CN" sz="44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0990" name="Oval 153"/>
            <p:cNvSpPr/>
            <p:nvPr/>
          </p:nvSpPr>
          <p:spPr>
            <a:xfrm>
              <a:off x="2925" y="2115"/>
              <a:ext cx="91" cy="91"/>
            </a:xfrm>
            <a:prstGeom prst="ellipse">
              <a:avLst/>
            </a:prstGeom>
            <a:solidFill>
              <a:srgbClr val="000099"/>
            </a:solidFill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0991" name="Oval 154"/>
            <p:cNvSpPr/>
            <p:nvPr/>
          </p:nvSpPr>
          <p:spPr>
            <a:xfrm>
              <a:off x="2925" y="2795"/>
              <a:ext cx="91" cy="91"/>
            </a:xfrm>
            <a:prstGeom prst="ellipse">
              <a:avLst/>
            </a:prstGeom>
            <a:solidFill>
              <a:srgbClr val="000099"/>
            </a:solidFill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41133" name="Group 173"/>
          <p:cNvGrpSpPr/>
          <p:nvPr/>
        </p:nvGrpSpPr>
        <p:grpSpPr>
          <a:xfrm>
            <a:off x="1692275" y="3141663"/>
            <a:ext cx="2322513" cy="2174875"/>
            <a:chOff x="3379" y="754"/>
            <a:chExt cx="1463" cy="1370"/>
          </a:xfrm>
        </p:grpSpPr>
        <p:sp>
          <p:nvSpPr>
            <p:cNvPr id="40993" name="Text Box 174"/>
            <p:cNvSpPr txBox="1"/>
            <p:nvPr/>
          </p:nvSpPr>
          <p:spPr>
            <a:xfrm>
              <a:off x="4468" y="1298"/>
              <a:ext cx="37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u'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94" name="Text Box 175"/>
            <p:cNvSpPr txBox="1"/>
            <p:nvPr/>
          </p:nvSpPr>
          <p:spPr>
            <a:xfrm>
              <a:off x="4468" y="754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95" name="Text Box 176"/>
            <p:cNvSpPr txBox="1"/>
            <p:nvPr/>
          </p:nvSpPr>
          <p:spPr>
            <a:xfrm>
              <a:off x="4513" y="1797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96" name="Line 177"/>
            <p:cNvSpPr/>
            <p:nvPr/>
          </p:nvSpPr>
          <p:spPr>
            <a:xfrm>
              <a:off x="3787" y="1117"/>
              <a:ext cx="76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97" name="Line 178"/>
            <p:cNvSpPr/>
            <p:nvPr/>
          </p:nvSpPr>
          <p:spPr>
            <a:xfrm>
              <a:off x="3787" y="1797"/>
              <a:ext cx="76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98" name="Text Box 179"/>
            <p:cNvSpPr txBox="1"/>
            <p:nvPr/>
          </p:nvSpPr>
          <p:spPr>
            <a:xfrm>
              <a:off x="4513" y="1117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99" name="Text Box 180"/>
            <p:cNvSpPr txBox="1"/>
            <p:nvPr/>
          </p:nvSpPr>
          <p:spPr>
            <a:xfrm>
              <a:off x="4468" y="1480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00" name="Rectangle 181"/>
            <p:cNvSpPr/>
            <p:nvPr/>
          </p:nvSpPr>
          <p:spPr>
            <a:xfrm>
              <a:off x="3379" y="1026"/>
              <a:ext cx="499" cy="907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28575">
              <a:noFill/>
            </a:ln>
          </p:spPr>
          <p:txBody>
            <a:bodyPr wrap="none" anchor="ctr" anchorCtr="0"/>
            <a:p>
              <a:pPr algn="ctr"/>
              <a:r>
                <a:rPr lang="en-US" altLang="zh-CN" sz="4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A</a:t>
              </a:r>
              <a:endParaRPr lang="en-US" altLang="zh-CN" sz="44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1001" name="Oval 182"/>
            <p:cNvSpPr/>
            <p:nvPr/>
          </p:nvSpPr>
          <p:spPr>
            <a:xfrm>
              <a:off x="4558" y="1071"/>
              <a:ext cx="91" cy="91"/>
            </a:xfrm>
            <a:prstGeom prst="ellipse">
              <a:avLst/>
            </a:prstGeom>
            <a:solidFill>
              <a:srgbClr val="000099"/>
            </a:solidFill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1002" name="Oval 183"/>
            <p:cNvSpPr/>
            <p:nvPr/>
          </p:nvSpPr>
          <p:spPr>
            <a:xfrm>
              <a:off x="4558" y="1752"/>
              <a:ext cx="91" cy="91"/>
            </a:xfrm>
            <a:prstGeom prst="ellipse">
              <a:avLst/>
            </a:prstGeom>
            <a:solidFill>
              <a:srgbClr val="000099"/>
            </a:solidFill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aphicFrame>
        <p:nvGraphicFramePr>
          <p:cNvPr id="41166" name="Object 206"/>
          <p:cNvGraphicFramePr>
            <a:graphicFrameLocks noChangeAspect="1"/>
          </p:cNvGraphicFramePr>
          <p:nvPr/>
        </p:nvGraphicFramePr>
        <p:xfrm>
          <a:off x="1763713" y="5300663"/>
          <a:ext cx="147637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4" imgW="497840" imgH="208280" progId="Equation.3">
                  <p:embed/>
                </p:oleObj>
              </mc:Choice>
              <mc:Fallback>
                <p:oleObj name="" r:id="rId4" imgW="497840" imgH="208280" progId="Equation.3">
                  <p:embed/>
                  <p:pic>
                    <p:nvPicPr>
                      <p:cNvPr id="0" name="20 3139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3713" y="5300663"/>
                        <a:ext cx="1476375" cy="654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7" name="Object 207"/>
          <p:cNvGraphicFramePr>
            <a:graphicFrameLocks noChangeAspect="1"/>
          </p:cNvGraphicFramePr>
          <p:nvPr/>
        </p:nvGraphicFramePr>
        <p:xfrm>
          <a:off x="4140200" y="5373688"/>
          <a:ext cx="1908175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6" imgW="671195" imgH="231775" progId="Equation.3">
                  <p:embed/>
                </p:oleObj>
              </mc:Choice>
              <mc:Fallback>
                <p:oleObj name="" r:id="rId6" imgW="671195" imgH="231775" progId="Equation.3">
                  <p:embed/>
                  <p:pic>
                    <p:nvPicPr>
                      <p:cNvPr id="0" name="20 3140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40200" y="5373688"/>
                        <a:ext cx="1908175" cy="696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172" name="Group 212"/>
          <p:cNvGrpSpPr/>
          <p:nvPr/>
        </p:nvGrpSpPr>
        <p:grpSpPr>
          <a:xfrm>
            <a:off x="5651500" y="1125538"/>
            <a:ext cx="2016125" cy="2174875"/>
            <a:chOff x="3560" y="709"/>
            <a:chExt cx="1270" cy="1370"/>
          </a:xfrm>
        </p:grpSpPr>
        <p:sp>
          <p:nvSpPr>
            <p:cNvPr id="41006" name="Text Box 156"/>
            <p:cNvSpPr txBox="1"/>
            <p:nvPr/>
          </p:nvSpPr>
          <p:spPr>
            <a:xfrm>
              <a:off x="3878" y="709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07" name="Text Box 157"/>
            <p:cNvSpPr txBox="1"/>
            <p:nvPr/>
          </p:nvSpPr>
          <p:spPr>
            <a:xfrm>
              <a:off x="3878" y="1752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08" name="Line 158"/>
            <p:cNvSpPr/>
            <p:nvPr/>
          </p:nvSpPr>
          <p:spPr>
            <a:xfrm>
              <a:off x="3560" y="1072"/>
              <a:ext cx="99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09" name="Line 159"/>
            <p:cNvSpPr/>
            <p:nvPr/>
          </p:nvSpPr>
          <p:spPr>
            <a:xfrm>
              <a:off x="3560" y="1752"/>
              <a:ext cx="99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10" name="Text Box 161"/>
            <p:cNvSpPr txBox="1"/>
            <p:nvPr/>
          </p:nvSpPr>
          <p:spPr>
            <a:xfrm>
              <a:off x="4590" y="1425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11" name="Text Box 162"/>
            <p:cNvSpPr txBox="1"/>
            <p:nvPr/>
          </p:nvSpPr>
          <p:spPr>
            <a:xfrm>
              <a:off x="3833" y="1072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12" name="Text Box 163"/>
            <p:cNvSpPr txBox="1"/>
            <p:nvPr/>
          </p:nvSpPr>
          <p:spPr>
            <a:xfrm>
              <a:off x="3833" y="1435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13" name="Text Box 164"/>
            <p:cNvSpPr txBox="1"/>
            <p:nvPr/>
          </p:nvSpPr>
          <p:spPr>
            <a:xfrm>
              <a:off x="3833" y="1253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14" name="Oval 166"/>
            <p:cNvSpPr/>
            <p:nvPr/>
          </p:nvSpPr>
          <p:spPr>
            <a:xfrm>
              <a:off x="3923" y="1027"/>
              <a:ext cx="91" cy="91"/>
            </a:xfrm>
            <a:prstGeom prst="ellipse">
              <a:avLst/>
            </a:prstGeom>
            <a:solidFill>
              <a:srgbClr val="000099"/>
            </a:solidFill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1015" name="Oval 167"/>
            <p:cNvSpPr/>
            <p:nvPr/>
          </p:nvSpPr>
          <p:spPr>
            <a:xfrm>
              <a:off x="3923" y="1707"/>
              <a:ext cx="91" cy="91"/>
            </a:xfrm>
            <a:prstGeom prst="ellipse">
              <a:avLst/>
            </a:prstGeom>
            <a:solidFill>
              <a:srgbClr val="000099"/>
            </a:solidFill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1016" name="Line 168"/>
            <p:cNvSpPr/>
            <p:nvPr/>
          </p:nvSpPr>
          <p:spPr>
            <a:xfrm>
              <a:off x="4558" y="1072"/>
              <a:ext cx="0" cy="68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17" name="Line 160"/>
            <p:cNvSpPr/>
            <p:nvPr/>
          </p:nvSpPr>
          <p:spPr>
            <a:xfrm>
              <a:off x="4558" y="1480"/>
              <a:ext cx="0" cy="22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41018" name="Group 169"/>
            <p:cNvGrpSpPr/>
            <p:nvPr/>
          </p:nvGrpSpPr>
          <p:grpSpPr>
            <a:xfrm>
              <a:off x="4377" y="1162"/>
              <a:ext cx="363" cy="363"/>
              <a:chOff x="4785" y="709"/>
              <a:chExt cx="363" cy="363"/>
            </a:xfrm>
          </p:grpSpPr>
          <p:sp>
            <p:nvSpPr>
              <p:cNvPr id="41019" name="Oval 170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41020" name="Line 171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41173" name="Group 213"/>
          <p:cNvGrpSpPr/>
          <p:nvPr/>
        </p:nvGrpSpPr>
        <p:grpSpPr>
          <a:xfrm>
            <a:off x="4500563" y="3213100"/>
            <a:ext cx="2663825" cy="2174875"/>
            <a:chOff x="2835" y="2024"/>
            <a:chExt cx="1678" cy="1370"/>
          </a:xfrm>
        </p:grpSpPr>
        <p:sp>
          <p:nvSpPr>
            <p:cNvPr id="41022" name="Line 188"/>
            <p:cNvSpPr/>
            <p:nvPr/>
          </p:nvSpPr>
          <p:spPr>
            <a:xfrm>
              <a:off x="3243" y="2387"/>
              <a:ext cx="99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23" name="Line 189"/>
            <p:cNvSpPr/>
            <p:nvPr/>
          </p:nvSpPr>
          <p:spPr>
            <a:xfrm>
              <a:off x="3243" y="3067"/>
              <a:ext cx="99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24" name="Rectangle 194"/>
            <p:cNvSpPr/>
            <p:nvPr/>
          </p:nvSpPr>
          <p:spPr>
            <a:xfrm>
              <a:off x="2835" y="2296"/>
              <a:ext cx="499" cy="907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28575">
              <a:noFill/>
            </a:ln>
          </p:spPr>
          <p:txBody>
            <a:bodyPr wrap="none" anchor="ctr" anchorCtr="0"/>
            <a:p>
              <a:pPr algn="ctr"/>
              <a:endParaRPr lang="zh-CN" altLang="zh-CN" sz="44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1025" name="Text Box 201"/>
            <p:cNvSpPr txBox="1"/>
            <p:nvPr/>
          </p:nvSpPr>
          <p:spPr>
            <a:xfrm>
              <a:off x="2835" y="2296"/>
              <a:ext cx="3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1026" name="Group 211"/>
            <p:cNvGrpSpPr/>
            <p:nvPr/>
          </p:nvGrpSpPr>
          <p:grpSpPr>
            <a:xfrm>
              <a:off x="3515" y="2024"/>
              <a:ext cx="998" cy="1370"/>
              <a:chOff x="3515" y="2024"/>
              <a:chExt cx="998" cy="1370"/>
            </a:xfrm>
          </p:grpSpPr>
          <p:sp>
            <p:nvSpPr>
              <p:cNvPr id="41027" name="Text Box 185"/>
              <p:cNvSpPr txBox="1"/>
              <p:nvPr/>
            </p:nvSpPr>
            <p:spPr>
              <a:xfrm>
                <a:off x="3515" y="2568"/>
                <a:ext cx="37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u''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028" name="Text Box 186"/>
              <p:cNvSpPr txBox="1"/>
              <p:nvPr/>
            </p:nvSpPr>
            <p:spPr>
              <a:xfrm>
                <a:off x="3561" y="2024"/>
                <a:ext cx="24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029" name="Text Box 187"/>
              <p:cNvSpPr txBox="1"/>
              <p:nvPr/>
            </p:nvSpPr>
            <p:spPr>
              <a:xfrm>
                <a:off x="3561" y="3067"/>
                <a:ext cx="24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030" name="Text Box 191"/>
              <p:cNvSpPr txBox="1"/>
              <p:nvPr/>
            </p:nvSpPr>
            <p:spPr>
              <a:xfrm>
                <a:off x="4287" y="2740"/>
                <a:ext cx="22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031" name="Text Box 192"/>
              <p:cNvSpPr txBox="1"/>
              <p:nvPr/>
            </p:nvSpPr>
            <p:spPr>
              <a:xfrm>
                <a:off x="3516" y="2387"/>
                <a:ext cx="22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032" name="Text Box 193"/>
              <p:cNvSpPr txBox="1"/>
              <p:nvPr/>
            </p:nvSpPr>
            <p:spPr>
              <a:xfrm>
                <a:off x="3516" y="2750"/>
                <a:ext cx="24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–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033" name="Oval 195"/>
              <p:cNvSpPr/>
              <p:nvPr/>
            </p:nvSpPr>
            <p:spPr>
              <a:xfrm>
                <a:off x="3606" y="2342"/>
                <a:ext cx="91" cy="91"/>
              </a:xfrm>
              <a:prstGeom prst="ellipse">
                <a:avLst/>
              </a:prstGeom>
              <a:solidFill>
                <a:srgbClr val="000099"/>
              </a:solidFill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41034" name="Oval 196"/>
              <p:cNvSpPr/>
              <p:nvPr/>
            </p:nvSpPr>
            <p:spPr>
              <a:xfrm>
                <a:off x="3606" y="3022"/>
                <a:ext cx="91" cy="91"/>
              </a:xfrm>
              <a:prstGeom prst="ellipse">
                <a:avLst/>
              </a:prstGeom>
              <a:solidFill>
                <a:srgbClr val="000099"/>
              </a:solidFill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41035" name="Line 197"/>
              <p:cNvSpPr/>
              <p:nvPr/>
            </p:nvSpPr>
            <p:spPr>
              <a:xfrm>
                <a:off x="4241" y="2387"/>
                <a:ext cx="0" cy="68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36" name="Line 190"/>
              <p:cNvSpPr/>
              <p:nvPr/>
            </p:nvSpPr>
            <p:spPr>
              <a:xfrm>
                <a:off x="4241" y="2750"/>
                <a:ext cx="0" cy="272"/>
              </a:xfrm>
              <a:prstGeom prst="line">
                <a:avLst/>
              </a:prstGeom>
              <a:ln w="28575" cap="flat" cmpd="sng">
                <a:solidFill>
                  <a:srgbClr val="66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grpSp>
            <p:nvGrpSpPr>
              <p:cNvPr id="41037" name="Group 198"/>
              <p:cNvGrpSpPr/>
              <p:nvPr/>
            </p:nvGrpSpPr>
            <p:grpSpPr>
              <a:xfrm>
                <a:off x="4059" y="2477"/>
                <a:ext cx="363" cy="363"/>
                <a:chOff x="4785" y="709"/>
                <a:chExt cx="363" cy="363"/>
              </a:xfrm>
            </p:grpSpPr>
            <p:sp>
              <p:nvSpPr>
                <p:cNvPr id="41038" name="Oval 199"/>
                <p:cNvSpPr/>
                <p:nvPr/>
              </p:nvSpPr>
              <p:spPr>
                <a:xfrm>
                  <a:off x="4785" y="709"/>
                  <a:ext cx="363" cy="36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FF"/>
                    </a:gs>
                    <a:gs pos="100000">
                      <a:srgbClr val="004776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endParaRPr lang="zh-CN" altLang="zh-CN" sz="2400" b="0" dirty="0">
                    <a:latin typeface="Arial" panose="020B0604020202020204" pitchFamily="34" charset="0"/>
                    <a:ea typeface="仿宋_GB2312" pitchFamily="49" charset="-122"/>
                  </a:endParaRPr>
                </a:p>
              </p:txBody>
            </p:sp>
            <p:sp>
              <p:nvSpPr>
                <p:cNvPr id="41039" name="Line 200"/>
                <p:cNvSpPr/>
                <p:nvPr/>
              </p:nvSpPr>
              <p:spPr>
                <a:xfrm>
                  <a:off x="4785" y="890"/>
                  <a:ext cx="363" cy="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</p:grpSp>
      <p:sp>
        <p:nvSpPr>
          <p:cNvPr id="41125" name="Rectangle 165"/>
          <p:cNvSpPr/>
          <p:nvPr/>
        </p:nvSpPr>
        <p:spPr>
          <a:xfrm>
            <a:off x="5003800" y="1557338"/>
            <a:ext cx="792163" cy="1439862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path path="shape">
              <a:fillToRect l="50000" t="50000" r="50000" b="50000"/>
            </a:path>
            <a:tileRect/>
          </a:gradFill>
          <a:ln w="28575">
            <a:noFill/>
          </a:ln>
        </p:spPr>
        <p:txBody>
          <a:bodyPr wrap="none" anchor="ctr" anchorCtr="0"/>
          <a:p>
            <a:pPr algn="ctr"/>
            <a:r>
              <a:rPr lang="en-US" altLang="zh-CN" sz="44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A</a:t>
            </a:r>
            <a:endParaRPr lang="en-US" altLang="zh-CN" sz="4400" b="0" dirty="0">
              <a:solidFill>
                <a:schemeClr val="bg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41165" name="Group 205"/>
          <p:cNvGrpSpPr/>
          <p:nvPr/>
        </p:nvGrpSpPr>
        <p:grpSpPr>
          <a:xfrm>
            <a:off x="4735513" y="3789363"/>
            <a:ext cx="844550" cy="1079500"/>
            <a:chOff x="3016" y="2387"/>
            <a:chExt cx="532" cy="680"/>
          </a:xfrm>
        </p:grpSpPr>
        <p:sp>
          <p:nvSpPr>
            <p:cNvPr id="41042" name="Line 202"/>
            <p:cNvSpPr/>
            <p:nvPr/>
          </p:nvSpPr>
          <p:spPr>
            <a:xfrm>
              <a:off x="3107" y="2387"/>
              <a:ext cx="0" cy="68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43" name="Text Box 104"/>
            <p:cNvSpPr txBox="1"/>
            <p:nvPr/>
          </p:nvSpPr>
          <p:spPr>
            <a:xfrm>
              <a:off x="3152" y="2568"/>
              <a:ext cx="39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eq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44" name="Line 203"/>
            <p:cNvSpPr/>
            <p:nvPr/>
          </p:nvSpPr>
          <p:spPr>
            <a:xfrm>
              <a:off x="3107" y="3067"/>
              <a:ext cx="27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45" name="Line 204"/>
            <p:cNvSpPr/>
            <p:nvPr/>
          </p:nvSpPr>
          <p:spPr>
            <a:xfrm>
              <a:off x="3107" y="2387"/>
              <a:ext cx="27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61" name="Rectangle 101"/>
            <p:cNvSpPr>
              <a:spLocks noChangeArrowheads="1"/>
            </p:cNvSpPr>
            <p:nvPr/>
          </p:nvSpPr>
          <p:spPr bwMode="auto">
            <a:xfrm>
              <a:off x="3016" y="2568"/>
              <a:ext cx="181" cy="363"/>
            </a:xfrm>
            <a:prstGeom prst="rect">
              <a:avLst/>
            </a:prstGeom>
            <a:gradFill rotWithShape="1">
              <a:gsLst>
                <a:gs pos="0">
                  <a:schemeClr val="bg2">
                    <a:gamma/>
                    <a:shade val="46275"/>
                    <a:invGamma/>
                  </a:schemeClr>
                </a:gs>
                <a:gs pos="50000">
                  <a:schemeClr val="bg2"/>
                </a:gs>
                <a:gs pos="100000">
                  <a:schemeClr val="bg2">
                    <a:gamma/>
                    <a:shade val="46275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66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</p:grpSp>
      <p:grpSp>
        <p:nvGrpSpPr>
          <p:cNvPr id="41047" name="Group 214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41048" name="Picture 215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049" name="Text Box 216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1" fill="hold"/>
                                        <p:tgtEl>
                                          <p:spTgt spid="4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41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1" dur="2000"/>
                                        <p:tgtEl>
                                          <p:spTgt spid="4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1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41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41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  <p:bldP spid="40969" grpId="0"/>
      <p:bldP spid="41083" grpId="0" bldLvl="0" animBg="1"/>
      <p:bldP spid="411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8412" name="Object 108"/>
          <p:cNvGraphicFramePr>
            <a:graphicFrameLocks noChangeAspect="1"/>
          </p:cNvGraphicFramePr>
          <p:nvPr/>
        </p:nvGraphicFramePr>
        <p:xfrm>
          <a:off x="1763713" y="692150"/>
          <a:ext cx="525621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1" imgW="1400810" imgH="231775" progId="Equation.3">
                  <p:embed/>
                </p:oleObj>
              </mc:Choice>
              <mc:Fallback>
                <p:oleObj name="" r:id="rId1" imgW="1400810" imgH="231775" progId="Equation.3">
                  <p:embed/>
                  <p:pic>
                    <p:nvPicPr>
                      <p:cNvPr id="0" name="20 314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3713" y="692150"/>
                        <a:ext cx="5256212" cy="9366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CCFF"/>
                          </a:gs>
                          <a:gs pos="50000">
                            <a:schemeClr val="bg1"/>
                          </a:gs>
                          <a:gs pos="100000">
                            <a:srgbClr val="00CCFF"/>
                          </a:gs>
                        </a:gsLst>
                        <a:lin ang="27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413" name="AutoShape 109"/>
          <p:cNvSpPr/>
          <p:nvPr/>
        </p:nvSpPr>
        <p:spPr>
          <a:xfrm>
            <a:off x="2339975" y="3429000"/>
            <a:ext cx="720725" cy="215900"/>
          </a:xfrm>
          <a:prstGeom prst="rightArrow">
            <a:avLst>
              <a:gd name="adj1" fmla="val 50000"/>
              <a:gd name="adj2" fmla="val 83440"/>
            </a:avLst>
          </a:prstGeom>
          <a:solidFill>
            <a:srgbClr val="00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41987" name="Group 11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1988" name="Picture 111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989" name="Text Box 11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1990" name="Group 11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1991" name="Picture 114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992" name="Text Box 11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98420" name="Group 116"/>
          <p:cNvGrpSpPr/>
          <p:nvPr/>
        </p:nvGrpSpPr>
        <p:grpSpPr>
          <a:xfrm>
            <a:off x="3348038" y="1916113"/>
            <a:ext cx="3032125" cy="3113087"/>
            <a:chOff x="340" y="1933"/>
            <a:chExt cx="1910" cy="1961"/>
          </a:xfrm>
        </p:grpSpPr>
        <p:sp>
          <p:nvSpPr>
            <p:cNvPr id="41994" name="Text Box 117"/>
            <p:cNvSpPr txBox="1"/>
            <p:nvPr/>
          </p:nvSpPr>
          <p:spPr>
            <a:xfrm>
              <a:off x="975" y="1933"/>
              <a:ext cx="29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995" name="Line 118"/>
            <p:cNvSpPr/>
            <p:nvPr/>
          </p:nvSpPr>
          <p:spPr>
            <a:xfrm>
              <a:off x="975" y="2296"/>
              <a:ext cx="317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1996" name="Text Box 119"/>
            <p:cNvSpPr txBox="1"/>
            <p:nvPr/>
          </p:nvSpPr>
          <p:spPr>
            <a:xfrm>
              <a:off x="1338" y="2387"/>
              <a:ext cx="23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997" name="Text Box 120"/>
            <p:cNvSpPr txBox="1"/>
            <p:nvPr/>
          </p:nvSpPr>
          <p:spPr>
            <a:xfrm>
              <a:off x="1292" y="3203"/>
              <a:ext cx="29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998" name="Text Box 121"/>
            <p:cNvSpPr txBox="1"/>
            <p:nvPr/>
          </p:nvSpPr>
          <p:spPr>
            <a:xfrm>
              <a:off x="1247" y="2750"/>
              <a:ext cx="35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999" name="Rectangle 122" descr="再生纸"/>
            <p:cNvSpPr/>
            <p:nvPr/>
          </p:nvSpPr>
          <p:spPr>
            <a:xfrm>
              <a:off x="1655" y="2205"/>
              <a:ext cx="595" cy="1497"/>
            </a:xfrm>
            <a:prstGeom prst="rect">
              <a:avLst/>
            </a:prstGeom>
            <a:blipFill rotWithShape="1">
              <a:blip r:embed="rId4"/>
            </a:blipFill>
            <a:ln w="28575">
              <a:noFill/>
            </a:ln>
          </p:spPr>
          <p:txBody>
            <a:bodyPr wrap="none" anchor="ctr" anchorCtr="0"/>
            <a:p>
              <a:pPr algn="ctr"/>
              <a:r>
                <a:rPr lang="en-US" altLang="zh-CN" sz="4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N</a:t>
              </a:r>
              <a:endParaRPr lang="en-US" altLang="zh-CN" sz="4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2000" name="Oval 123"/>
            <p:cNvSpPr/>
            <p:nvPr/>
          </p:nvSpPr>
          <p:spPr>
            <a:xfrm>
              <a:off x="748" y="302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2001" name="Line 124"/>
            <p:cNvSpPr/>
            <p:nvPr/>
          </p:nvSpPr>
          <p:spPr>
            <a:xfrm>
              <a:off x="930" y="3567"/>
              <a:ext cx="72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02" name="Line 125"/>
            <p:cNvSpPr/>
            <p:nvPr/>
          </p:nvSpPr>
          <p:spPr>
            <a:xfrm>
              <a:off x="930" y="2342"/>
              <a:ext cx="0" cy="122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03" name="Line 126"/>
            <p:cNvSpPr/>
            <p:nvPr/>
          </p:nvSpPr>
          <p:spPr>
            <a:xfrm>
              <a:off x="930" y="2342"/>
              <a:ext cx="72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04" name="Text Box 127"/>
            <p:cNvSpPr txBox="1"/>
            <p:nvPr/>
          </p:nvSpPr>
          <p:spPr>
            <a:xfrm>
              <a:off x="1338" y="1979"/>
              <a:ext cx="44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05" name="Text Box 128"/>
            <p:cNvSpPr txBox="1"/>
            <p:nvPr/>
          </p:nvSpPr>
          <p:spPr>
            <a:xfrm>
              <a:off x="1292" y="3566"/>
              <a:ext cx="321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06" name="Text Box 129"/>
            <p:cNvSpPr txBox="1"/>
            <p:nvPr/>
          </p:nvSpPr>
          <p:spPr>
            <a:xfrm>
              <a:off x="476" y="2433"/>
              <a:ext cx="44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eq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07" name="Text Box 130"/>
            <p:cNvSpPr txBox="1"/>
            <p:nvPr/>
          </p:nvSpPr>
          <p:spPr>
            <a:xfrm>
              <a:off x="340" y="3068"/>
              <a:ext cx="577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08" name="Text Box 131"/>
            <p:cNvSpPr txBox="1"/>
            <p:nvPr/>
          </p:nvSpPr>
          <p:spPr>
            <a:xfrm>
              <a:off x="658" y="2750"/>
              <a:ext cx="3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09" name="Text Box 132"/>
            <p:cNvSpPr txBox="1"/>
            <p:nvPr/>
          </p:nvSpPr>
          <p:spPr>
            <a:xfrm>
              <a:off x="658" y="3340"/>
              <a:ext cx="228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10" name="Rectangle 133"/>
            <p:cNvSpPr/>
            <p:nvPr/>
          </p:nvSpPr>
          <p:spPr>
            <a:xfrm>
              <a:off x="848" y="243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2011" name="Oval 134"/>
            <p:cNvSpPr/>
            <p:nvPr/>
          </p:nvSpPr>
          <p:spPr>
            <a:xfrm>
              <a:off x="1383" y="3521"/>
              <a:ext cx="91" cy="91"/>
            </a:xfrm>
            <a:prstGeom prst="ellipse">
              <a:avLst/>
            </a:prstGeom>
            <a:solidFill>
              <a:srgbClr val="000099"/>
            </a:solidFill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2012" name="Oval 135"/>
            <p:cNvSpPr/>
            <p:nvPr/>
          </p:nvSpPr>
          <p:spPr>
            <a:xfrm>
              <a:off x="1383" y="2296"/>
              <a:ext cx="91" cy="91"/>
            </a:xfrm>
            <a:prstGeom prst="ellipse">
              <a:avLst/>
            </a:prstGeom>
            <a:solidFill>
              <a:srgbClr val="000099"/>
            </a:solidFill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42013" name="Group 160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42014" name="Picture 161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2015" name="Text Box 162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8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8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98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4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94" name="Text Box 74"/>
          <p:cNvSpPr txBox="1"/>
          <p:nvPr/>
        </p:nvSpPr>
        <p:spPr>
          <a:xfrm>
            <a:off x="539750" y="549275"/>
            <a:ext cx="720725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95" name="AutoShape 75"/>
          <p:cNvSpPr/>
          <p:nvPr/>
        </p:nvSpPr>
        <p:spPr>
          <a:xfrm rot="5400000">
            <a:off x="1463675" y="3221038"/>
            <a:ext cx="595313" cy="142875"/>
          </a:xfrm>
          <a:prstGeom prst="rightArrow">
            <a:avLst>
              <a:gd name="adj1" fmla="val 50000"/>
              <a:gd name="adj2" fmla="val 104147"/>
            </a:avLst>
          </a:prstGeom>
          <a:solidFill>
            <a:srgbClr val="00CCFF"/>
          </a:solidFill>
          <a:ln w="9525" cap="flat" cmpd="sng">
            <a:solidFill>
              <a:srgbClr val="00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43011" name="Group 16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3012" name="Picture 16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13" name="Text Box 16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3014" name="Group 16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3015" name="Picture 16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16" name="Text Box 16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2091" name="Group 171"/>
          <p:cNvGrpSpPr/>
          <p:nvPr/>
        </p:nvGrpSpPr>
        <p:grpSpPr>
          <a:xfrm>
            <a:off x="1187450" y="549275"/>
            <a:ext cx="3455988" cy="2463800"/>
            <a:chOff x="2336" y="1207"/>
            <a:chExt cx="2177" cy="1552"/>
          </a:xfrm>
        </p:grpSpPr>
        <p:sp>
          <p:nvSpPr>
            <p:cNvPr id="43018" name="Oval 172"/>
            <p:cNvSpPr/>
            <p:nvPr/>
          </p:nvSpPr>
          <p:spPr>
            <a:xfrm>
              <a:off x="2336" y="202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3019" name="Oval 173"/>
            <p:cNvSpPr/>
            <p:nvPr/>
          </p:nvSpPr>
          <p:spPr>
            <a:xfrm>
              <a:off x="3152" y="206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3020" name="Text Box 174"/>
            <p:cNvSpPr txBox="1"/>
            <p:nvPr/>
          </p:nvSpPr>
          <p:spPr>
            <a:xfrm>
              <a:off x="2563" y="1524"/>
              <a:ext cx="54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3021" name="Text Box 175"/>
            <p:cNvSpPr txBox="1"/>
            <p:nvPr/>
          </p:nvSpPr>
          <p:spPr>
            <a:xfrm>
              <a:off x="3380" y="1569"/>
              <a:ext cx="5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3022" name="Text Box 176"/>
            <p:cNvSpPr txBox="1"/>
            <p:nvPr/>
          </p:nvSpPr>
          <p:spPr>
            <a:xfrm>
              <a:off x="2525" y="1751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23" name="Text Box 177"/>
            <p:cNvSpPr txBox="1"/>
            <p:nvPr/>
          </p:nvSpPr>
          <p:spPr>
            <a:xfrm>
              <a:off x="2525" y="2279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24" name="Text Box 178"/>
            <p:cNvSpPr txBox="1"/>
            <p:nvPr/>
          </p:nvSpPr>
          <p:spPr>
            <a:xfrm>
              <a:off x="2669" y="2039"/>
              <a:ext cx="5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25" name="Text Box 179"/>
            <p:cNvSpPr txBox="1"/>
            <p:nvPr/>
          </p:nvSpPr>
          <p:spPr>
            <a:xfrm>
              <a:off x="4059" y="1434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26" name="Text Box 180"/>
            <p:cNvSpPr txBox="1"/>
            <p:nvPr/>
          </p:nvSpPr>
          <p:spPr>
            <a:xfrm>
              <a:off x="4014" y="2205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27" name="Text Box 181"/>
            <p:cNvSpPr txBox="1"/>
            <p:nvPr/>
          </p:nvSpPr>
          <p:spPr>
            <a:xfrm>
              <a:off x="4014" y="1797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28" name="Text Box 182"/>
            <p:cNvSpPr txBox="1"/>
            <p:nvPr/>
          </p:nvSpPr>
          <p:spPr>
            <a:xfrm>
              <a:off x="4150" y="1207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29" name="Text Box 183"/>
            <p:cNvSpPr txBox="1"/>
            <p:nvPr/>
          </p:nvSpPr>
          <p:spPr>
            <a:xfrm>
              <a:off x="4195" y="2432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30" name="Line 184"/>
            <p:cNvSpPr/>
            <p:nvPr/>
          </p:nvSpPr>
          <p:spPr>
            <a:xfrm>
              <a:off x="2517" y="2614"/>
              <a:ext cx="15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31" name="Line 185"/>
            <p:cNvSpPr/>
            <p:nvPr/>
          </p:nvSpPr>
          <p:spPr>
            <a:xfrm flipV="1">
              <a:off x="2518" y="1406"/>
              <a:ext cx="7" cy="120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32" name="Text Box 186"/>
            <p:cNvSpPr txBox="1"/>
            <p:nvPr/>
          </p:nvSpPr>
          <p:spPr>
            <a:xfrm>
              <a:off x="3380" y="1842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33" name="Text Box 187"/>
            <p:cNvSpPr txBox="1"/>
            <p:nvPr/>
          </p:nvSpPr>
          <p:spPr>
            <a:xfrm>
              <a:off x="3379" y="2341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34" name="Oval 188"/>
            <p:cNvSpPr/>
            <p:nvPr/>
          </p:nvSpPr>
          <p:spPr>
            <a:xfrm>
              <a:off x="4105" y="2568"/>
              <a:ext cx="91" cy="91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b="0" dirty="0">
                <a:solidFill>
                  <a:srgbClr val="FFCC00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3035" name="Oval 189"/>
            <p:cNvSpPr/>
            <p:nvPr/>
          </p:nvSpPr>
          <p:spPr>
            <a:xfrm>
              <a:off x="4059" y="1344"/>
              <a:ext cx="91" cy="91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3036" name="Line 190"/>
            <p:cNvSpPr/>
            <p:nvPr/>
          </p:nvSpPr>
          <p:spPr>
            <a:xfrm>
              <a:off x="3334" y="1388"/>
              <a:ext cx="0" cy="12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43037" name="Line 191"/>
            <p:cNvSpPr/>
            <p:nvPr/>
          </p:nvSpPr>
          <p:spPr>
            <a:xfrm>
              <a:off x="2518" y="1388"/>
              <a:ext cx="1541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38" name="Text Box 192"/>
            <p:cNvSpPr txBox="1"/>
            <p:nvPr/>
          </p:nvSpPr>
          <p:spPr>
            <a:xfrm>
              <a:off x="3516" y="2068"/>
              <a:ext cx="5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39" name="Rectangle 193"/>
            <p:cNvSpPr/>
            <p:nvPr/>
          </p:nvSpPr>
          <p:spPr>
            <a:xfrm>
              <a:off x="3288" y="157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3040" name="Rectangle 194"/>
            <p:cNvSpPr/>
            <p:nvPr/>
          </p:nvSpPr>
          <p:spPr>
            <a:xfrm>
              <a:off x="2472" y="157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82162" name="Group 242"/>
          <p:cNvGrpSpPr/>
          <p:nvPr/>
        </p:nvGrpSpPr>
        <p:grpSpPr>
          <a:xfrm>
            <a:off x="1116013" y="3573463"/>
            <a:ext cx="3554412" cy="2462212"/>
            <a:chOff x="703" y="2251"/>
            <a:chExt cx="2239" cy="1551"/>
          </a:xfrm>
        </p:grpSpPr>
        <p:sp>
          <p:nvSpPr>
            <p:cNvPr id="43042" name="Text Box 197"/>
            <p:cNvSpPr txBox="1"/>
            <p:nvPr/>
          </p:nvSpPr>
          <p:spPr>
            <a:xfrm>
              <a:off x="1474" y="2568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3043" name="Text Box 198"/>
            <p:cNvSpPr txBox="1"/>
            <p:nvPr/>
          </p:nvSpPr>
          <p:spPr>
            <a:xfrm>
              <a:off x="1973" y="2840"/>
              <a:ext cx="5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3044" name="Text Box 199"/>
            <p:cNvSpPr txBox="1"/>
            <p:nvPr/>
          </p:nvSpPr>
          <p:spPr>
            <a:xfrm>
              <a:off x="884" y="2568"/>
              <a:ext cx="39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5" name="Text Box 200"/>
            <p:cNvSpPr txBox="1"/>
            <p:nvPr/>
          </p:nvSpPr>
          <p:spPr>
            <a:xfrm>
              <a:off x="2472" y="2478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6" name="Text Box 201"/>
            <p:cNvSpPr txBox="1"/>
            <p:nvPr/>
          </p:nvSpPr>
          <p:spPr>
            <a:xfrm>
              <a:off x="2473" y="3248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7" name="Text Box 202"/>
            <p:cNvSpPr txBox="1"/>
            <p:nvPr/>
          </p:nvSpPr>
          <p:spPr>
            <a:xfrm>
              <a:off x="2427" y="2840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8" name="Text Box 203"/>
            <p:cNvSpPr txBox="1"/>
            <p:nvPr/>
          </p:nvSpPr>
          <p:spPr>
            <a:xfrm>
              <a:off x="2654" y="2251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9" name="Text Box 204"/>
            <p:cNvSpPr txBox="1"/>
            <p:nvPr/>
          </p:nvSpPr>
          <p:spPr>
            <a:xfrm>
              <a:off x="2608" y="3475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50" name="Line 205"/>
            <p:cNvSpPr/>
            <p:nvPr/>
          </p:nvSpPr>
          <p:spPr>
            <a:xfrm>
              <a:off x="893" y="3611"/>
              <a:ext cx="162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51" name="Line 206"/>
            <p:cNvSpPr/>
            <p:nvPr/>
          </p:nvSpPr>
          <p:spPr>
            <a:xfrm flipV="1">
              <a:off x="885" y="2450"/>
              <a:ext cx="8" cy="11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52" name="Oval 207"/>
            <p:cNvSpPr/>
            <p:nvPr/>
          </p:nvSpPr>
          <p:spPr>
            <a:xfrm>
              <a:off x="2518" y="3566"/>
              <a:ext cx="91" cy="91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b="0" dirty="0">
                <a:solidFill>
                  <a:srgbClr val="FFCC00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3053" name="Oval 208"/>
            <p:cNvSpPr/>
            <p:nvPr/>
          </p:nvSpPr>
          <p:spPr>
            <a:xfrm>
              <a:off x="2563" y="2387"/>
              <a:ext cx="91" cy="91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3054" name="Line 209"/>
            <p:cNvSpPr/>
            <p:nvPr/>
          </p:nvSpPr>
          <p:spPr>
            <a:xfrm>
              <a:off x="1974" y="2432"/>
              <a:ext cx="0" cy="11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43055" name="Line 210"/>
            <p:cNvSpPr/>
            <p:nvPr/>
          </p:nvSpPr>
          <p:spPr>
            <a:xfrm>
              <a:off x="886" y="2432"/>
              <a:ext cx="167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56" name="Line 211"/>
            <p:cNvSpPr/>
            <p:nvPr/>
          </p:nvSpPr>
          <p:spPr>
            <a:xfrm>
              <a:off x="1475" y="2432"/>
              <a:ext cx="0" cy="11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43057" name="Line 212"/>
            <p:cNvSpPr/>
            <p:nvPr/>
          </p:nvSpPr>
          <p:spPr>
            <a:xfrm flipV="1">
              <a:off x="884" y="2568"/>
              <a:ext cx="0" cy="363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3058" name="Line 213"/>
            <p:cNvSpPr/>
            <p:nvPr/>
          </p:nvSpPr>
          <p:spPr>
            <a:xfrm flipV="1">
              <a:off x="1474" y="2568"/>
              <a:ext cx="0" cy="363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43059" name="Group 214"/>
            <p:cNvGrpSpPr/>
            <p:nvPr/>
          </p:nvGrpSpPr>
          <p:grpSpPr>
            <a:xfrm>
              <a:off x="703" y="2931"/>
              <a:ext cx="363" cy="363"/>
              <a:chOff x="4785" y="709"/>
              <a:chExt cx="363" cy="363"/>
            </a:xfrm>
          </p:grpSpPr>
          <p:sp>
            <p:nvSpPr>
              <p:cNvPr id="43060" name="Oval 215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43061" name="Line 216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3062" name="Group 217"/>
            <p:cNvGrpSpPr/>
            <p:nvPr/>
          </p:nvGrpSpPr>
          <p:grpSpPr>
            <a:xfrm>
              <a:off x="1293" y="2931"/>
              <a:ext cx="363" cy="363"/>
              <a:chOff x="4785" y="709"/>
              <a:chExt cx="363" cy="363"/>
            </a:xfrm>
          </p:grpSpPr>
          <p:sp>
            <p:nvSpPr>
              <p:cNvPr id="43063" name="Oval 218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43064" name="Line 219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3065" name="Rectangle 220"/>
            <p:cNvSpPr/>
            <p:nvPr/>
          </p:nvSpPr>
          <p:spPr>
            <a:xfrm>
              <a:off x="1883" y="288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82141" name="Group 221"/>
          <p:cNvGrpSpPr/>
          <p:nvPr/>
        </p:nvGrpSpPr>
        <p:grpSpPr>
          <a:xfrm>
            <a:off x="5580063" y="3573463"/>
            <a:ext cx="2944812" cy="2536825"/>
            <a:chOff x="3016" y="2251"/>
            <a:chExt cx="1855" cy="1598"/>
          </a:xfrm>
        </p:grpSpPr>
        <p:sp>
          <p:nvSpPr>
            <p:cNvPr id="43067" name="Text Box 222"/>
            <p:cNvSpPr txBox="1"/>
            <p:nvPr/>
          </p:nvSpPr>
          <p:spPr>
            <a:xfrm>
              <a:off x="3515" y="2568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3068" name="Text Box 223"/>
            <p:cNvSpPr txBox="1"/>
            <p:nvPr/>
          </p:nvSpPr>
          <p:spPr>
            <a:xfrm>
              <a:off x="3742" y="3203"/>
              <a:ext cx="5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15V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69" name="Oval 224"/>
            <p:cNvSpPr/>
            <p:nvPr/>
          </p:nvSpPr>
          <p:spPr>
            <a:xfrm>
              <a:off x="3424" y="315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3070" name="Line 225"/>
            <p:cNvSpPr/>
            <p:nvPr/>
          </p:nvSpPr>
          <p:spPr>
            <a:xfrm>
              <a:off x="3606" y="3703"/>
              <a:ext cx="72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71" name="Line 226"/>
            <p:cNvSpPr/>
            <p:nvPr/>
          </p:nvSpPr>
          <p:spPr>
            <a:xfrm>
              <a:off x="3606" y="2478"/>
              <a:ext cx="0" cy="122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72" name="Line 227"/>
            <p:cNvSpPr/>
            <p:nvPr/>
          </p:nvSpPr>
          <p:spPr>
            <a:xfrm>
              <a:off x="3606" y="2478"/>
              <a:ext cx="72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73" name="Text Box 228"/>
            <p:cNvSpPr txBox="1"/>
            <p:nvPr/>
          </p:nvSpPr>
          <p:spPr>
            <a:xfrm>
              <a:off x="4422" y="2251"/>
              <a:ext cx="44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74" name="Text Box 229"/>
            <p:cNvSpPr txBox="1"/>
            <p:nvPr/>
          </p:nvSpPr>
          <p:spPr>
            <a:xfrm>
              <a:off x="4422" y="3521"/>
              <a:ext cx="321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75" name="Text Box 230"/>
            <p:cNvSpPr txBox="1"/>
            <p:nvPr/>
          </p:nvSpPr>
          <p:spPr>
            <a:xfrm>
              <a:off x="3152" y="2569"/>
              <a:ext cx="44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eq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76" name="Text Box 231"/>
            <p:cNvSpPr txBox="1"/>
            <p:nvPr/>
          </p:nvSpPr>
          <p:spPr>
            <a:xfrm>
              <a:off x="3016" y="3204"/>
              <a:ext cx="577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77" name="Text Box 232"/>
            <p:cNvSpPr txBox="1"/>
            <p:nvPr/>
          </p:nvSpPr>
          <p:spPr>
            <a:xfrm>
              <a:off x="3334" y="2886"/>
              <a:ext cx="3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78" name="Text Box 233"/>
            <p:cNvSpPr txBox="1"/>
            <p:nvPr/>
          </p:nvSpPr>
          <p:spPr>
            <a:xfrm>
              <a:off x="3334" y="3476"/>
              <a:ext cx="228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79" name="Rectangle 234"/>
            <p:cNvSpPr/>
            <p:nvPr/>
          </p:nvSpPr>
          <p:spPr>
            <a:xfrm>
              <a:off x="3524" y="256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3080" name="Oval 235"/>
            <p:cNvSpPr/>
            <p:nvPr/>
          </p:nvSpPr>
          <p:spPr>
            <a:xfrm>
              <a:off x="4331" y="3657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3081" name="Oval 236"/>
            <p:cNvSpPr/>
            <p:nvPr/>
          </p:nvSpPr>
          <p:spPr>
            <a:xfrm>
              <a:off x="4331" y="2433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82157" name="AutoShape 237"/>
          <p:cNvSpPr/>
          <p:nvPr/>
        </p:nvSpPr>
        <p:spPr>
          <a:xfrm>
            <a:off x="4776788" y="4808538"/>
            <a:ext cx="595312" cy="142875"/>
          </a:xfrm>
          <a:prstGeom prst="rightArrow">
            <a:avLst>
              <a:gd name="adj1" fmla="val 50000"/>
              <a:gd name="adj2" fmla="val 104147"/>
            </a:avLst>
          </a:prstGeom>
          <a:solidFill>
            <a:srgbClr val="00CCFF"/>
          </a:solidFill>
          <a:ln w="9525" cap="flat" cmpd="sng">
            <a:solidFill>
              <a:srgbClr val="00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82158" name="Text Box 238"/>
          <p:cNvSpPr txBox="1"/>
          <p:nvPr/>
        </p:nvSpPr>
        <p:spPr>
          <a:xfrm>
            <a:off x="4932363" y="1341438"/>
            <a:ext cx="3276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应用电源等效变换</a:t>
            </a:r>
            <a:endParaRPr lang="zh-CN" altLang="en-US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3084" name="Group 243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43085" name="Picture 244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86" name="Text Box 245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19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1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82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9" dur="500"/>
                                        <p:tgtEl>
                                          <p:spTgt spid="82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4" dur="500"/>
                                        <p:tgtEl>
                                          <p:spTgt spid="8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3" dur="500"/>
                                        <p:tgtEl>
                                          <p:spTgt spid="82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2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94" grpId="0"/>
      <p:bldP spid="81995" grpId="0" animBg="1"/>
      <p:bldP spid="82157" grpId="0" animBg="1"/>
      <p:bldP spid="8215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4690" name="Group 2"/>
          <p:cNvGrpSpPr/>
          <p:nvPr/>
        </p:nvGrpSpPr>
        <p:grpSpPr>
          <a:xfrm>
            <a:off x="1979613" y="765175"/>
            <a:ext cx="576262" cy="519113"/>
            <a:chOff x="1247" y="482"/>
            <a:chExt cx="363" cy="327"/>
          </a:xfrm>
        </p:grpSpPr>
        <p:sp>
          <p:nvSpPr>
            <p:cNvPr id="44034" name="Line 3"/>
            <p:cNvSpPr/>
            <p:nvPr/>
          </p:nvSpPr>
          <p:spPr>
            <a:xfrm>
              <a:off x="1247" y="482"/>
              <a:ext cx="363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4035" name="Text Box 4"/>
            <p:cNvSpPr txBox="1"/>
            <p:nvPr/>
          </p:nvSpPr>
          <p:spPr>
            <a:xfrm>
              <a:off x="1292" y="482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4693" name="Text Box 5"/>
          <p:cNvSpPr txBox="1"/>
          <p:nvPr/>
        </p:nvSpPr>
        <p:spPr>
          <a:xfrm>
            <a:off x="539750" y="549275"/>
            <a:ext cx="720725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694" name="AutoShape 6"/>
          <p:cNvSpPr/>
          <p:nvPr/>
        </p:nvSpPr>
        <p:spPr>
          <a:xfrm rot="5400000">
            <a:off x="1790700" y="3041650"/>
            <a:ext cx="593725" cy="215900"/>
          </a:xfrm>
          <a:prstGeom prst="rightArrow">
            <a:avLst>
              <a:gd name="adj1" fmla="val 50000"/>
              <a:gd name="adj2" fmla="val 68737"/>
            </a:avLst>
          </a:prstGeom>
          <a:solidFill>
            <a:srgbClr val="00CCFF"/>
          </a:solidFill>
          <a:ln w="9525" cap="flat" cmpd="sng">
            <a:solidFill>
              <a:srgbClr val="00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14695" name="Text Box 7"/>
          <p:cNvSpPr txBox="1"/>
          <p:nvPr/>
        </p:nvSpPr>
        <p:spPr>
          <a:xfrm>
            <a:off x="4643438" y="1628775"/>
            <a:ext cx="3455987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0" dirty="0">
                <a:latin typeface="楷体_GB2312" pitchFamily="49" charset="-122"/>
                <a:ea typeface="楷体_GB2312" pitchFamily="49" charset="-122"/>
              </a:rPr>
              <a:t>(1)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求开路电压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oc</a:t>
            </a:r>
            <a:endParaRPr lang="en-US" altLang="zh-CN" baseline="-2500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4696" name="Text Box 8"/>
          <p:cNvSpPr txBox="1"/>
          <p:nvPr/>
        </p:nvSpPr>
        <p:spPr>
          <a:xfrm>
            <a:off x="4643438" y="3789363"/>
            <a:ext cx="3276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0" dirty="0">
                <a:latin typeface="楷体_GB2312" pitchFamily="49" charset="-122"/>
                <a:ea typeface="楷体_GB2312" pitchFamily="49" charset="-122"/>
              </a:rPr>
              <a:t>(2)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求输入电阻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eq</a:t>
            </a:r>
            <a:endParaRPr lang="en-US" altLang="zh-CN" b="0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4697" name="Object 9"/>
          <p:cNvGraphicFramePr>
            <a:graphicFrameLocks noChangeAspect="1"/>
          </p:cNvGraphicFramePr>
          <p:nvPr/>
        </p:nvGraphicFramePr>
        <p:xfrm>
          <a:off x="5148263" y="2276475"/>
          <a:ext cx="287972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1" imgW="1250315" imgH="393700" progId="Equation.3">
                  <p:embed/>
                </p:oleObj>
              </mc:Choice>
              <mc:Fallback>
                <p:oleObj name="" r:id="rId1" imgW="1250315" imgH="393700" progId="Equation.3">
                  <p:embed/>
                  <p:pic>
                    <p:nvPicPr>
                      <p:cNvPr id="0" name="20 314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148263" y="2276475"/>
                        <a:ext cx="2879725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8" name="Object 10"/>
          <p:cNvGraphicFramePr>
            <a:graphicFrameLocks noChangeAspect="1"/>
          </p:cNvGraphicFramePr>
          <p:nvPr/>
        </p:nvGraphicFramePr>
        <p:xfrm>
          <a:off x="4716463" y="4437063"/>
          <a:ext cx="295275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3" imgW="1191895" imgH="219710" progId="Equation.3">
                  <p:embed/>
                </p:oleObj>
              </mc:Choice>
              <mc:Fallback>
                <p:oleObj name="" r:id="rId3" imgW="1191895" imgH="219710" progId="Equation.3">
                  <p:embed/>
                  <p:pic>
                    <p:nvPicPr>
                      <p:cNvPr id="0" name="20 314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16463" y="4437063"/>
                        <a:ext cx="2952750" cy="587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9" name="Object 11"/>
          <p:cNvGraphicFramePr>
            <a:graphicFrameLocks noChangeAspect="1"/>
          </p:cNvGraphicFramePr>
          <p:nvPr/>
        </p:nvGraphicFramePr>
        <p:xfrm>
          <a:off x="4787900" y="3213100"/>
          <a:ext cx="3960813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5" imgW="1620520" imgH="196850" progId="Equation.3">
                  <p:embed/>
                </p:oleObj>
              </mc:Choice>
              <mc:Fallback>
                <p:oleObj name="" r:id="rId5" imgW="1620520" imgH="196850" progId="Equation.3">
                  <p:embed/>
                  <p:pic>
                    <p:nvPicPr>
                      <p:cNvPr id="0" name="20 314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87900" y="3213100"/>
                        <a:ext cx="3960813" cy="525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043" name="Group 1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4044" name="Picture 13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45" name="Text Box 1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4046" name="Group 1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4047" name="Picture 16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48" name="Text Box 1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14706" name="Group 18"/>
          <p:cNvGrpSpPr/>
          <p:nvPr/>
        </p:nvGrpSpPr>
        <p:grpSpPr>
          <a:xfrm>
            <a:off x="1042988" y="549275"/>
            <a:ext cx="3455987" cy="2463800"/>
            <a:chOff x="2336" y="1207"/>
            <a:chExt cx="2177" cy="1552"/>
          </a:xfrm>
        </p:grpSpPr>
        <p:sp>
          <p:nvSpPr>
            <p:cNvPr id="44050" name="Oval 19"/>
            <p:cNvSpPr/>
            <p:nvPr/>
          </p:nvSpPr>
          <p:spPr>
            <a:xfrm>
              <a:off x="2336" y="202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4051" name="Oval 20"/>
            <p:cNvSpPr/>
            <p:nvPr/>
          </p:nvSpPr>
          <p:spPr>
            <a:xfrm>
              <a:off x="3152" y="206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4052" name="Text Box 21"/>
            <p:cNvSpPr txBox="1"/>
            <p:nvPr/>
          </p:nvSpPr>
          <p:spPr>
            <a:xfrm>
              <a:off x="2563" y="1524"/>
              <a:ext cx="54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53" name="Text Box 22"/>
            <p:cNvSpPr txBox="1"/>
            <p:nvPr/>
          </p:nvSpPr>
          <p:spPr>
            <a:xfrm>
              <a:off x="3380" y="1569"/>
              <a:ext cx="5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54" name="Text Box 23"/>
            <p:cNvSpPr txBox="1"/>
            <p:nvPr/>
          </p:nvSpPr>
          <p:spPr>
            <a:xfrm>
              <a:off x="2525" y="1751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55" name="Text Box 24"/>
            <p:cNvSpPr txBox="1"/>
            <p:nvPr/>
          </p:nvSpPr>
          <p:spPr>
            <a:xfrm>
              <a:off x="2525" y="2279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56" name="Text Box 25"/>
            <p:cNvSpPr txBox="1"/>
            <p:nvPr/>
          </p:nvSpPr>
          <p:spPr>
            <a:xfrm>
              <a:off x="2669" y="2039"/>
              <a:ext cx="5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57" name="Text Box 26"/>
            <p:cNvSpPr txBox="1"/>
            <p:nvPr/>
          </p:nvSpPr>
          <p:spPr>
            <a:xfrm>
              <a:off x="4059" y="1434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58" name="Text Box 27"/>
            <p:cNvSpPr txBox="1"/>
            <p:nvPr/>
          </p:nvSpPr>
          <p:spPr>
            <a:xfrm>
              <a:off x="4014" y="2205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59" name="Text Box 28"/>
            <p:cNvSpPr txBox="1"/>
            <p:nvPr/>
          </p:nvSpPr>
          <p:spPr>
            <a:xfrm>
              <a:off x="4014" y="1797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60" name="Text Box 29"/>
            <p:cNvSpPr txBox="1"/>
            <p:nvPr/>
          </p:nvSpPr>
          <p:spPr>
            <a:xfrm>
              <a:off x="4150" y="1207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61" name="Text Box 30"/>
            <p:cNvSpPr txBox="1"/>
            <p:nvPr/>
          </p:nvSpPr>
          <p:spPr>
            <a:xfrm>
              <a:off x="4195" y="2432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62" name="Line 31"/>
            <p:cNvSpPr/>
            <p:nvPr/>
          </p:nvSpPr>
          <p:spPr>
            <a:xfrm>
              <a:off x="2517" y="2614"/>
              <a:ext cx="15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63" name="Line 32"/>
            <p:cNvSpPr/>
            <p:nvPr/>
          </p:nvSpPr>
          <p:spPr>
            <a:xfrm flipV="1">
              <a:off x="2518" y="1406"/>
              <a:ext cx="7" cy="120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64" name="Text Box 33"/>
            <p:cNvSpPr txBox="1"/>
            <p:nvPr/>
          </p:nvSpPr>
          <p:spPr>
            <a:xfrm>
              <a:off x="3380" y="1842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65" name="Text Box 34"/>
            <p:cNvSpPr txBox="1"/>
            <p:nvPr/>
          </p:nvSpPr>
          <p:spPr>
            <a:xfrm>
              <a:off x="3379" y="2341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66" name="Oval 35"/>
            <p:cNvSpPr/>
            <p:nvPr/>
          </p:nvSpPr>
          <p:spPr>
            <a:xfrm>
              <a:off x="4105" y="2568"/>
              <a:ext cx="91" cy="91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b="0" dirty="0">
                <a:solidFill>
                  <a:srgbClr val="FFCC00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4067" name="Oval 36"/>
            <p:cNvSpPr/>
            <p:nvPr/>
          </p:nvSpPr>
          <p:spPr>
            <a:xfrm>
              <a:off x="4059" y="1344"/>
              <a:ext cx="91" cy="91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4068" name="Line 37"/>
            <p:cNvSpPr/>
            <p:nvPr/>
          </p:nvSpPr>
          <p:spPr>
            <a:xfrm>
              <a:off x="3334" y="1388"/>
              <a:ext cx="0" cy="12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44069" name="Line 38"/>
            <p:cNvSpPr/>
            <p:nvPr/>
          </p:nvSpPr>
          <p:spPr>
            <a:xfrm>
              <a:off x="2518" y="1388"/>
              <a:ext cx="1541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70" name="Text Box 39"/>
            <p:cNvSpPr txBox="1"/>
            <p:nvPr/>
          </p:nvSpPr>
          <p:spPr>
            <a:xfrm>
              <a:off x="3516" y="2068"/>
              <a:ext cx="5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71" name="Rectangle 40"/>
            <p:cNvSpPr/>
            <p:nvPr/>
          </p:nvSpPr>
          <p:spPr>
            <a:xfrm>
              <a:off x="3288" y="157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4072" name="Rectangle 41"/>
            <p:cNvSpPr/>
            <p:nvPr/>
          </p:nvSpPr>
          <p:spPr>
            <a:xfrm>
              <a:off x="2472" y="157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114755" name="Group 67"/>
          <p:cNvGrpSpPr/>
          <p:nvPr/>
        </p:nvGrpSpPr>
        <p:grpSpPr>
          <a:xfrm>
            <a:off x="539750" y="3357563"/>
            <a:ext cx="2944813" cy="2536825"/>
            <a:chOff x="3016" y="2251"/>
            <a:chExt cx="1855" cy="1598"/>
          </a:xfrm>
        </p:grpSpPr>
        <p:sp>
          <p:nvSpPr>
            <p:cNvPr id="44074" name="Text Box 68"/>
            <p:cNvSpPr txBox="1"/>
            <p:nvPr/>
          </p:nvSpPr>
          <p:spPr>
            <a:xfrm>
              <a:off x="3515" y="2568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75" name="Text Box 69"/>
            <p:cNvSpPr txBox="1"/>
            <p:nvPr/>
          </p:nvSpPr>
          <p:spPr>
            <a:xfrm>
              <a:off x="3742" y="3203"/>
              <a:ext cx="5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15V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76" name="Oval 70"/>
            <p:cNvSpPr/>
            <p:nvPr/>
          </p:nvSpPr>
          <p:spPr>
            <a:xfrm>
              <a:off x="3424" y="315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4077" name="Line 71"/>
            <p:cNvSpPr/>
            <p:nvPr/>
          </p:nvSpPr>
          <p:spPr>
            <a:xfrm>
              <a:off x="3606" y="3703"/>
              <a:ext cx="72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78" name="Line 72"/>
            <p:cNvSpPr/>
            <p:nvPr/>
          </p:nvSpPr>
          <p:spPr>
            <a:xfrm>
              <a:off x="3606" y="2478"/>
              <a:ext cx="0" cy="122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79" name="Line 73"/>
            <p:cNvSpPr/>
            <p:nvPr/>
          </p:nvSpPr>
          <p:spPr>
            <a:xfrm>
              <a:off x="3606" y="2478"/>
              <a:ext cx="72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80" name="Text Box 74"/>
            <p:cNvSpPr txBox="1"/>
            <p:nvPr/>
          </p:nvSpPr>
          <p:spPr>
            <a:xfrm>
              <a:off x="4422" y="2251"/>
              <a:ext cx="44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81" name="Text Box 75"/>
            <p:cNvSpPr txBox="1"/>
            <p:nvPr/>
          </p:nvSpPr>
          <p:spPr>
            <a:xfrm>
              <a:off x="4422" y="3521"/>
              <a:ext cx="321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82" name="Text Box 76"/>
            <p:cNvSpPr txBox="1"/>
            <p:nvPr/>
          </p:nvSpPr>
          <p:spPr>
            <a:xfrm>
              <a:off x="3152" y="2569"/>
              <a:ext cx="44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eq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83" name="Text Box 77"/>
            <p:cNvSpPr txBox="1"/>
            <p:nvPr/>
          </p:nvSpPr>
          <p:spPr>
            <a:xfrm>
              <a:off x="3016" y="3204"/>
              <a:ext cx="577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84" name="Text Box 78"/>
            <p:cNvSpPr txBox="1"/>
            <p:nvPr/>
          </p:nvSpPr>
          <p:spPr>
            <a:xfrm>
              <a:off x="3334" y="2886"/>
              <a:ext cx="3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85" name="Text Box 79"/>
            <p:cNvSpPr txBox="1"/>
            <p:nvPr/>
          </p:nvSpPr>
          <p:spPr>
            <a:xfrm>
              <a:off x="3334" y="3476"/>
              <a:ext cx="228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86" name="Rectangle 80"/>
            <p:cNvSpPr/>
            <p:nvPr/>
          </p:nvSpPr>
          <p:spPr>
            <a:xfrm>
              <a:off x="3524" y="256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4087" name="Oval 81"/>
            <p:cNvSpPr/>
            <p:nvPr/>
          </p:nvSpPr>
          <p:spPr>
            <a:xfrm>
              <a:off x="4331" y="3657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4088" name="Oval 82"/>
            <p:cNvSpPr/>
            <p:nvPr/>
          </p:nvSpPr>
          <p:spPr>
            <a:xfrm>
              <a:off x="4331" y="2433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114771" name="Text Box 83"/>
          <p:cNvSpPr txBox="1"/>
          <p:nvPr/>
        </p:nvSpPr>
        <p:spPr>
          <a:xfrm>
            <a:off x="4787900" y="908050"/>
            <a:ext cx="367347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应用戴维宁定理</a:t>
            </a:r>
            <a:endParaRPr lang="zh-CN" altLang="en-US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772" name="Text Box 84"/>
          <p:cNvSpPr txBox="1"/>
          <p:nvPr/>
        </p:nvSpPr>
        <p:spPr>
          <a:xfrm>
            <a:off x="3708400" y="5013325"/>
            <a:ext cx="4968875" cy="111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两种解法结果一致，戴维宁定理更具普遍性。</a:t>
            </a:r>
            <a:endParaRPr lang="zh-CN" altLang="en-US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14773" name="Group 85"/>
          <p:cNvGrpSpPr/>
          <p:nvPr/>
        </p:nvGrpSpPr>
        <p:grpSpPr>
          <a:xfrm>
            <a:off x="3059113" y="4868863"/>
            <a:ext cx="1644650" cy="850900"/>
            <a:chOff x="385" y="3022"/>
            <a:chExt cx="1036" cy="536"/>
          </a:xfrm>
        </p:grpSpPr>
        <p:pic>
          <p:nvPicPr>
            <p:cNvPr id="44092" name="Picture 86" descr="12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93" name="Text Box 87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44094" name="Group 91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44095" name="Picture 92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96" name="Text Box 93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14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9" dur="500"/>
                                        <p:tgtEl>
                                          <p:spTgt spid="11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4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4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14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14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8" dur="500"/>
                                        <p:tgtEl>
                                          <p:spTgt spid="11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114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8" dur="500"/>
                                        <p:tgtEl>
                                          <p:spTgt spid="11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1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1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1" dur="500"/>
                                        <p:tgtEl>
                                          <p:spTgt spid="11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3" grpId="0"/>
      <p:bldP spid="114694" grpId="0" animBg="1"/>
      <p:bldP spid="114695" grpId="0"/>
      <p:bldP spid="114696" grpId="0"/>
      <p:bldP spid="114771" grpId="0"/>
      <p:bldP spid="11477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Text Box 2"/>
          <p:cNvSpPr txBox="1"/>
          <p:nvPr/>
        </p:nvSpPr>
        <p:spPr>
          <a:xfrm>
            <a:off x="395288" y="476250"/>
            <a:ext cx="3671887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戴维宁定理</a:t>
            </a:r>
            <a:endParaRPr lang="zh-CN" altLang="en-US" sz="3200" i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987" name="Text Box 3"/>
          <p:cNvSpPr txBox="1"/>
          <p:nvPr/>
        </p:nvSpPr>
        <p:spPr>
          <a:xfrm>
            <a:off x="468313" y="981075"/>
            <a:ext cx="7921625" cy="26558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571500" algn="just">
              <a:lnSpc>
                <a:spcPct val="120000"/>
              </a:lnSpc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任何一个线性含源一端口网络，对外电路来说，总可以用一个电压源和电阻的串联组合来等效置换；此电压源的电压等于外电路断开时端口处的开路电压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oc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，而电阻等于一端口的输入电阻（或等效电阻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eq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）。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988" name="AutoShape 4"/>
          <p:cNvSpPr/>
          <p:nvPr/>
        </p:nvSpPr>
        <p:spPr>
          <a:xfrm>
            <a:off x="3708400" y="4797425"/>
            <a:ext cx="935038" cy="215900"/>
          </a:xfrm>
          <a:prstGeom prst="rightArrow">
            <a:avLst>
              <a:gd name="adj1" fmla="val 50000"/>
              <a:gd name="adj2" fmla="val 108252"/>
            </a:avLst>
          </a:prstGeom>
          <a:solidFill>
            <a:srgbClr val="00CCFF"/>
          </a:solidFill>
          <a:ln w="9525" cap="flat" cmpd="sng">
            <a:solidFill>
              <a:srgbClr val="00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45060" name="Group 4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5061" name="Picture 4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5062" name="Text Box 4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5063" name="Group 4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5064" name="Picture 5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5065" name="Text Box 5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2042" name="Group 58"/>
          <p:cNvGrpSpPr/>
          <p:nvPr/>
        </p:nvGrpSpPr>
        <p:grpSpPr>
          <a:xfrm>
            <a:off x="900113" y="3773488"/>
            <a:ext cx="2447925" cy="2114550"/>
            <a:chOff x="567" y="2377"/>
            <a:chExt cx="1542" cy="1332"/>
          </a:xfrm>
        </p:grpSpPr>
        <p:sp>
          <p:nvSpPr>
            <p:cNvPr id="45067" name="Freeform 10"/>
            <p:cNvSpPr/>
            <p:nvPr/>
          </p:nvSpPr>
          <p:spPr>
            <a:xfrm>
              <a:off x="1247" y="2783"/>
              <a:ext cx="543" cy="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607" y="0"/>
                </a:cxn>
              </a:cxnLst>
              <a:pathLst>
                <a:path w="528" h="1">
                  <a:moveTo>
                    <a:pt x="0" y="1"/>
                  </a:moveTo>
                  <a:lnTo>
                    <a:pt x="528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68" name="Freeform 11"/>
            <p:cNvSpPr/>
            <p:nvPr/>
          </p:nvSpPr>
          <p:spPr>
            <a:xfrm>
              <a:off x="1251" y="3558"/>
              <a:ext cx="530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90" y="0"/>
                </a:cxn>
              </a:cxnLst>
              <a:pathLst>
                <a:path w="516" h="1">
                  <a:moveTo>
                    <a:pt x="0" y="0"/>
                  </a:moveTo>
                  <a:lnTo>
                    <a:pt x="516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69" name="Line 12"/>
            <p:cNvSpPr/>
            <p:nvPr/>
          </p:nvSpPr>
          <p:spPr>
            <a:xfrm>
              <a:off x="1393" y="2704"/>
              <a:ext cx="345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5070" name="Oval 13"/>
            <p:cNvSpPr/>
            <p:nvPr/>
          </p:nvSpPr>
          <p:spPr>
            <a:xfrm>
              <a:off x="1788" y="2744"/>
              <a:ext cx="69" cy="76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5071" name="Oval 14"/>
            <p:cNvSpPr/>
            <p:nvPr/>
          </p:nvSpPr>
          <p:spPr>
            <a:xfrm>
              <a:off x="1788" y="3522"/>
              <a:ext cx="69" cy="76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5072" name="Text Box 15"/>
            <p:cNvSpPr txBox="1"/>
            <p:nvPr/>
          </p:nvSpPr>
          <p:spPr>
            <a:xfrm>
              <a:off x="1882" y="2581"/>
              <a:ext cx="2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73" name="Text Box 16"/>
            <p:cNvSpPr txBox="1"/>
            <p:nvPr/>
          </p:nvSpPr>
          <p:spPr>
            <a:xfrm>
              <a:off x="1881" y="3382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74" name="Text Box 17"/>
            <p:cNvSpPr txBox="1"/>
            <p:nvPr/>
          </p:nvSpPr>
          <p:spPr>
            <a:xfrm>
              <a:off x="1502" y="2377"/>
              <a:ext cx="1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75" name="Text Box 21"/>
            <p:cNvSpPr txBox="1"/>
            <p:nvPr/>
          </p:nvSpPr>
          <p:spPr>
            <a:xfrm>
              <a:off x="1607" y="3062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76" name="Text Box 55"/>
            <p:cNvSpPr txBox="1"/>
            <p:nvPr/>
          </p:nvSpPr>
          <p:spPr>
            <a:xfrm>
              <a:off x="1655" y="2795"/>
              <a:ext cx="2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77" name="Text Box 57"/>
            <p:cNvSpPr txBox="1"/>
            <p:nvPr/>
          </p:nvSpPr>
          <p:spPr>
            <a:xfrm>
              <a:off x="1610" y="3249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992" name="Rectangle 8"/>
            <p:cNvSpPr>
              <a:spLocks noChangeArrowheads="1"/>
            </p:cNvSpPr>
            <p:nvPr/>
          </p:nvSpPr>
          <p:spPr bwMode="auto">
            <a:xfrm>
              <a:off x="567" y="2659"/>
              <a:ext cx="680" cy="1030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A</a:t>
              </a:r>
              <a:endPara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</p:grpSp>
      <p:grpSp>
        <p:nvGrpSpPr>
          <p:cNvPr id="42044" name="Group 60"/>
          <p:cNvGrpSpPr/>
          <p:nvPr/>
        </p:nvGrpSpPr>
        <p:grpSpPr>
          <a:xfrm>
            <a:off x="4787900" y="3429000"/>
            <a:ext cx="2944813" cy="2681288"/>
            <a:chOff x="2517" y="436"/>
            <a:chExt cx="1855" cy="1689"/>
          </a:xfrm>
        </p:grpSpPr>
        <p:sp>
          <p:nvSpPr>
            <p:cNvPr id="45080" name="Oval 61"/>
            <p:cNvSpPr/>
            <p:nvPr/>
          </p:nvSpPr>
          <p:spPr>
            <a:xfrm>
              <a:off x="2925" y="143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5081" name="Line 62"/>
            <p:cNvSpPr/>
            <p:nvPr/>
          </p:nvSpPr>
          <p:spPr>
            <a:xfrm>
              <a:off x="3288" y="799"/>
              <a:ext cx="449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5082" name="Text Box 63"/>
            <p:cNvSpPr txBox="1"/>
            <p:nvPr/>
          </p:nvSpPr>
          <p:spPr>
            <a:xfrm>
              <a:off x="3334" y="436"/>
              <a:ext cx="256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83" name="Line 64"/>
            <p:cNvSpPr/>
            <p:nvPr/>
          </p:nvSpPr>
          <p:spPr>
            <a:xfrm>
              <a:off x="3107" y="1979"/>
              <a:ext cx="72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84" name="Line 65"/>
            <p:cNvSpPr/>
            <p:nvPr/>
          </p:nvSpPr>
          <p:spPr>
            <a:xfrm>
              <a:off x="3107" y="754"/>
              <a:ext cx="0" cy="122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85" name="Line 66"/>
            <p:cNvSpPr/>
            <p:nvPr/>
          </p:nvSpPr>
          <p:spPr>
            <a:xfrm>
              <a:off x="3107" y="754"/>
              <a:ext cx="72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86" name="Text Box 67"/>
            <p:cNvSpPr txBox="1"/>
            <p:nvPr/>
          </p:nvSpPr>
          <p:spPr>
            <a:xfrm>
              <a:off x="3923" y="527"/>
              <a:ext cx="44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87" name="Text Box 68"/>
            <p:cNvSpPr txBox="1"/>
            <p:nvPr/>
          </p:nvSpPr>
          <p:spPr>
            <a:xfrm>
              <a:off x="3923" y="1797"/>
              <a:ext cx="321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88" name="Text Box 69"/>
            <p:cNvSpPr txBox="1"/>
            <p:nvPr/>
          </p:nvSpPr>
          <p:spPr>
            <a:xfrm>
              <a:off x="2653" y="845"/>
              <a:ext cx="44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eq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89" name="Text Box 70"/>
            <p:cNvSpPr txBox="1"/>
            <p:nvPr/>
          </p:nvSpPr>
          <p:spPr>
            <a:xfrm>
              <a:off x="2517" y="1480"/>
              <a:ext cx="577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90" name="Text Box 71"/>
            <p:cNvSpPr txBox="1"/>
            <p:nvPr/>
          </p:nvSpPr>
          <p:spPr>
            <a:xfrm>
              <a:off x="2835" y="1162"/>
              <a:ext cx="3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91" name="Text Box 72"/>
            <p:cNvSpPr txBox="1"/>
            <p:nvPr/>
          </p:nvSpPr>
          <p:spPr>
            <a:xfrm>
              <a:off x="2835" y="1752"/>
              <a:ext cx="228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92" name="Text Box 73"/>
            <p:cNvSpPr txBox="1"/>
            <p:nvPr/>
          </p:nvSpPr>
          <p:spPr>
            <a:xfrm>
              <a:off x="3787" y="1162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93" name="Text Box 74"/>
            <p:cNvSpPr txBox="1"/>
            <p:nvPr/>
          </p:nvSpPr>
          <p:spPr>
            <a:xfrm>
              <a:off x="3787" y="799"/>
              <a:ext cx="2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94" name="Text Box 75"/>
            <p:cNvSpPr txBox="1"/>
            <p:nvPr/>
          </p:nvSpPr>
          <p:spPr>
            <a:xfrm>
              <a:off x="3742" y="1616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5095" name="Rectangle 76"/>
            <p:cNvSpPr/>
            <p:nvPr/>
          </p:nvSpPr>
          <p:spPr>
            <a:xfrm>
              <a:off x="3025" y="84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5096" name="Oval 77"/>
            <p:cNvSpPr/>
            <p:nvPr/>
          </p:nvSpPr>
          <p:spPr>
            <a:xfrm>
              <a:off x="3832" y="1933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5097" name="Oval 78"/>
            <p:cNvSpPr/>
            <p:nvPr/>
          </p:nvSpPr>
          <p:spPr>
            <a:xfrm>
              <a:off x="3832" y="709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45098" name="Group 82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45099" name="Picture 8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5100" name="Text Box 84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1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/>
      <p:bldP spid="41987" grpId="0"/>
      <p:bldP spid="4198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6081" name="20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20115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Text Box 2"/>
          <p:cNvSpPr txBox="1"/>
          <p:nvPr/>
        </p:nvSpPr>
        <p:spPr>
          <a:xfrm>
            <a:off x="539750" y="476250"/>
            <a:ext cx="3167063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定理的应用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939" name="Text Box 3"/>
          <p:cNvSpPr txBox="1"/>
          <p:nvPr/>
        </p:nvSpPr>
        <p:spPr>
          <a:xfrm>
            <a:off x="612775" y="1052513"/>
            <a:ext cx="4679950" cy="6048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76250" indent="-476250"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）开路电压</a:t>
            </a:r>
            <a:r>
              <a:rPr lang="en-US" altLang="zh-CN" i="1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aseline="-25000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oc</a:t>
            </a:r>
            <a:r>
              <a:rPr lang="en-US" altLang="zh-CN" baseline="-25000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的计算</a:t>
            </a:r>
            <a:endParaRPr lang="zh-CN" altLang="en-US" dirty="0">
              <a:solidFill>
                <a:srgbClr val="FF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940" name="Text Box 4"/>
          <p:cNvSpPr txBox="1"/>
          <p:nvPr/>
        </p:nvSpPr>
        <p:spPr>
          <a:xfrm>
            <a:off x="323850" y="4221163"/>
            <a:ext cx="8229600" cy="16303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76250" indent="-476250" algn="just">
              <a:lnSpc>
                <a:spcPct val="120000"/>
              </a:lnSpc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等效电阻为将一端口网络内部独立电源全部置零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电压源短路，电流源开路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后，所得无源一端口网络的输入电阻。常用下列方法计算：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941" name="Text Box 5"/>
          <p:cNvSpPr txBox="1"/>
          <p:nvPr/>
        </p:nvSpPr>
        <p:spPr>
          <a:xfrm>
            <a:off x="612775" y="3789363"/>
            <a:ext cx="467995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）等效电阻的计算</a:t>
            </a:r>
            <a:endParaRPr lang="zh-CN" altLang="en-US" dirty="0">
              <a:solidFill>
                <a:srgbClr val="FF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968" name="Text Box 32"/>
          <p:cNvSpPr txBox="1"/>
          <p:nvPr/>
        </p:nvSpPr>
        <p:spPr>
          <a:xfrm>
            <a:off x="250825" y="1557338"/>
            <a:ext cx="8229600" cy="2143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76250" indent="-476250" algn="just">
              <a:lnSpc>
                <a:spcPct val="120000"/>
              </a:lnSpc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戴维宁等效电路中电压源电压等于将外电路断开时的开路电压</a:t>
            </a:r>
            <a:r>
              <a:rPr lang="en-US" altLang="zh-CN" b="0" i="1" dirty="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="0" baseline="-25000" dirty="0">
                <a:latin typeface="Times New Roman" panose="02020603050405020304" pitchFamily="18" charset="0"/>
                <a:ea typeface="楷体_GB2312" pitchFamily="49" charset="-122"/>
              </a:rPr>
              <a:t>oc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，电压源方向与所求开路电压方向有关。计算</a:t>
            </a:r>
            <a:r>
              <a:rPr lang="en-US" altLang="zh-CN" b="0" i="1" dirty="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="0" baseline="-25000" dirty="0">
                <a:latin typeface="Times New Roman" panose="02020603050405020304" pitchFamily="18" charset="0"/>
                <a:ea typeface="楷体_GB2312" pitchFamily="49" charset="-122"/>
              </a:rPr>
              <a:t>oc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的方法视电路形式选择前面学过的任意方法，使易于计算。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47110" name="Group 3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7111" name="Picture 3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12" name="Text Box 3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7113" name="Group 3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7114" name="Picture 4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15" name="Text Box 4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7116" name="Group 48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47117" name="Picture 4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18" name="Text Box 50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100"/>
                                        <p:tgtEl>
                                          <p:spTgt spid="39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99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99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/>
      <p:bldP spid="39939" grpId="0"/>
      <p:bldP spid="39940" grpId="0"/>
      <p:bldP spid="39941" grpId="0"/>
      <p:bldP spid="3996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9029" name="Group 117"/>
          <p:cNvGrpSpPr/>
          <p:nvPr/>
        </p:nvGrpSpPr>
        <p:grpSpPr>
          <a:xfrm>
            <a:off x="1258888" y="5805488"/>
            <a:ext cx="4608512" cy="590550"/>
            <a:chOff x="2064" y="3158"/>
            <a:chExt cx="2540" cy="372"/>
          </a:xfrm>
        </p:grpSpPr>
        <p:grpSp>
          <p:nvGrpSpPr>
            <p:cNvPr id="48130" name="Group 15"/>
            <p:cNvGrpSpPr/>
            <p:nvPr/>
          </p:nvGrpSpPr>
          <p:grpSpPr>
            <a:xfrm>
              <a:off x="2064" y="3158"/>
              <a:ext cx="272" cy="327"/>
              <a:chOff x="480" y="3408"/>
              <a:chExt cx="288" cy="315"/>
            </a:xfrm>
          </p:grpSpPr>
          <p:sp>
            <p:nvSpPr>
              <p:cNvPr id="48131" name="Oval 16"/>
              <p:cNvSpPr/>
              <p:nvPr/>
            </p:nvSpPr>
            <p:spPr>
              <a:xfrm>
                <a:off x="480" y="3456"/>
                <a:ext cx="240" cy="240"/>
              </a:xfrm>
              <a:prstGeom prst="ellipse">
                <a:avLst/>
              </a:prstGeom>
              <a:noFill/>
              <a:ln w="381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48132" name="Text Box 17"/>
              <p:cNvSpPr txBox="1"/>
              <p:nvPr/>
            </p:nvSpPr>
            <p:spPr>
              <a:xfrm>
                <a:off x="480" y="3408"/>
                <a:ext cx="288" cy="31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楷体_GB2312" pitchFamily="49" charset="-122"/>
                    <a:ea typeface="楷体_GB2312" pitchFamily="49" charset="-122"/>
                  </a:rPr>
                  <a:t>2</a:t>
                </a:r>
                <a:endParaRPr lang="en-US" altLang="zh-CN" dirty="0"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grpSp>
          <p:nvGrpSpPr>
            <p:cNvPr id="48133" name="Group 18"/>
            <p:cNvGrpSpPr/>
            <p:nvPr/>
          </p:nvGrpSpPr>
          <p:grpSpPr>
            <a:xfrm>
              <a:off x="2381" y="3158"/>
              <a:ext cx="288" cy="327"/>
              <a:chOff x="480" y="3408"/>
              <a:chExt cx="288" cy="327"/>
            </a:xfrm>
          </p:grpSpPr>
          <p:sp>
            <p:nvSpPr>
              <p:cNvPr id="48134" name="Oval 19"/>
              <p:cNvSpPr/>
              <p:nvPr/>
            </p:nvSpPr>
            <p:spPr>
              <a:xfrm>
                <a:off x="480" y="3456"/>
                <a:ext cx="240" cy="240"/>
              </a:xfrm>
              <a:prstGeom prst="ellipse">
                <a:avLst/>
              </a:prstGeom>
              <a:noFill/>
              <a:ln w="381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48135" name="Text Box 20"/>
              <p:cNvSpPr txBox="1"/>
              <p:nvPr/>
            </p:nvSpPr>
            <p:spPr>
              <a:xfrm>
                <a:off x="480" y="3408"/>
                <a:ext cx="2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楷体_GB2312" pitchFamily="49" charset="-122"/>
                    <a:ea typeface="楷体_GB2312" pitchFamily="49" charset="-122"/>
                  </a:rPr>
                  <a:t>3</a:t>
                </a:r>
                <a:endParaRPr lang="en-US" altLang="zh-CN" dirty="0"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sp>
          <p:nvSpPr>
            <p:cNvPr id="48136" name="Text Box 21" descr="绿色大理石"/>
            <p:cNvSpPr txBox="1"/>
            <p:nvPr/>
          </p:nvSpPr>
          <p:spPr>
            <a:xfrm>
              <a:off x="2744" y="3203"/>
              <a:ext cx="1860" cy="327"/>
            </a:xfrm>
            <a:prstGeom prst="rect">
              <a:avLst/>
            </a:prstGeom>
            <a:blipFill rotWithShape="1">
              <a:blip r:embed="rId1"/>
            </a:blipFill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方法更有一般性。</a:t>
              </a:r>
              <a:endPara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38914" name="Text Box 2"/>
          <p:cNvSpPr txBox="1"/>
          <p:nvPr/>
        </p:nvSpPr>
        <p:spPr>
          <a:xfrm>
            <a:off x="755650" y="404813"/>
            <a:ext cx="7885113" cy="1031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lnSpc>
                <a:spcPct val="110000"/>
              </a:lnSpc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当网络内部不含有受控源时可采用电阻串并联和</a:t>
            </a:r>
            <a:r>
              <a:rPr lang="zh-CN" altLang="en-US" b="0" dirty="0">
                <a:latin typeface="Times New Roman" panose="02020603050405020304" pitchFamily="18" charset="0"/>
                <a:ea typeface="楷体_GB2312" pitchFamily="49" charset="-122"/>
              </a:rPr>
              <a:t>△－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互换的方法计算等效电阻；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922" name="Text Box 10"/>
          <p:cNvSpPr txBox="1"/>
          <p:nvPr/>
        </p:nvSpPr>
        <p:spPr>
          <a:xfrm>
            <a:off x="827088" y="3860800"/>
            <a:ext cx="47117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buAutoNum type="circleNumDbPlain" startAt="3"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开路电压，短路电流法。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8921" name="Text Box 9"/>
          <p:cNvSpPr txBox="1"/>
          <p:nvPr/>
        </p:nvSpPr>
        <p:spPr>
          <a:xfrm>
            <a:off x="755650" y="1412875"/>
            <a:ext cx="838835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spcBef>
                <a:spcPct val="50000"/>
              </a:spcBef>
              <a:buAutoNum type="circleNumDbPlain" startAt="2"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外加电源法（加电压求电流或加电流求电压）；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9000" name="Object 88"/>
          <p:cNvGraphicFramePr>
            <a:graphicFrameLocks noChangeAspect="1"/>
          </p:cNvGraphicFramePr>
          <p:nvPr/>
        </p:nvGraphicFramePr>
        <p:xfrm>
          <a:off x="6948488" y="2276475"/>
          <a:ext cx="1536700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2" imgW="520700" imgH="393700" progId="Equation.3">
                  <p:embed/>
                </p:oleObj>
              </mc:Choice>
              <mc:Fallback>
                <p:oleObj name="" r:id="rId2" imgW="520700" imgH="393700" progId="Equation.3">
                  <p:embed/>
                  <p:pic>
                    <p:nvPicPr>
                      <p:cNvPr id="0" name="20 3149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948488" y="2276475"/>
                        <a:ext cx="1536700" cy="117475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chemeClr val="folHlink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028" name="Object 116"/>
          <p:cNvGraphicFramePr>
            <a:graphicFrameLocks noChangeAspect="1"/>
          </p:cNvGraphicFramePr>
          <p:nvPr/>
        </p:nvGraphicFramePr>
        <p:xfrm>
          <a:off x="1619250" y="4437063"/>
          <a:ext cx="1944688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4" imgW="601980" imgH="427990" progId="Equation.3">
                  <p:embed/>
                </p:oleObj>
              </mc:Choice>
              <mc:Fallback>
                <p:oleObj name="" r:id="rId4" imgW="601980" imgH="427990" progId="Equation.3">
                  <p:embed/>
                  <p:pic>
                    <p:nvPicPr>
                      <p:cNvPr id="0" name="20 3150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19250" y="4437063"/>
                        <a:ext cx="1944688" cy="127000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chemeClr val="folHlink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142" name="Group 12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8143" name="Picture 125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144" name="Text Box 12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8145" name="Group 12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8146" name="Picture 128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147" name="Text Box 12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9045" name="Group 133"/>
          <p:cNvGrpSpPr/>
          <p:nvPr/>
        </p:nvGrpSpPr>
        <p:grpSpPr>
          <a:xfrm>
            <a:off x="1187450" y="1700213"/>
            <a:ext cx="2519363" cy="2246312"/>
            <a:chOff x="2835" y="1979"/>
            <a:chExt cx="1587" cy="1415"/>
          </a:xfrm>
        </p:grpSpPr>
        <p:sp>
          <p:nvSpPr>
            <p:cNvPr id="48149" name="Oval 134"/>
            <p:cNvSpPr/>
            <p:nvPr/>
          </p:nvSpPr>
          <p:spPr>
            <a:xfrm>
              <a:off x="4059" y="252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8150" name="Text Box 135"/>
            <p:cNvSpPr txBox="1"/>
            <p:nvPr/>
          </p:nvSpPr>
          <p:spPr>
            <a:xfrm>
              <a:off x="3696" y="2523"/>
              <a:ext cx="416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8151" name="Text Box 136"/>
            <p:cNvSpPr txBox="1"/>
            <p:nvPr/>
          </p:nvSpPr>
          <p:spPr>
            <a:xfrm>
              <a:off x="3561" y="2024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52" name="Text Box 137"/>
            <p:cNvSpPr txBox="1"/>
            <p:nvPr/>
          </p:nvSpPr>
          <p:spPr>
            <a:xfrm>
              <a:off x="3561" y="3067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53" name="Line 138"/>
            <p:cNvSpPr/>
            <p:nvPr/>
          </p:nvSpPr>
          <p:spPr>
            <a:xfrm>
              <a:off x="3243" y="2387"/>
              <a:ext cx="99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54" name="Line 139"/>
            <p:cNvSpPr/>
            <p:nvPr/>
          </p:nvSpPr>
          <p:spPr>
            <a:xfrm>
              <a:off x="3243" y="3067"/>
              <a:ext cx="99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55" name="Line 140"/>
            <p:cNvSpPr/>
            <p:nvPr/>
          </p:nvSpPr>
          <p:spPr>
            <a:xfrm>
              <a:off x="3969" y="2341"/>
              <a:ext cx="240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48156" name="Text Box 141"/>
            <p:cNvSpPr txBox="1"/>
            <p:nvPr/>
          </p:nvSpPr>
          <p:spPr>
            <a:xfrm>
              <a:off x="3969" y="1979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57" name="Text Box 142"/>
            <p:cNvSpPr txBox="1"/>
            <p:nvPr/>
          </p:nvSpPr>
          <p:spPr>
            <a:xfrm>
              <a:off x="3833" y="2387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58" name="Text Box 143"/>
            <p:cNvSpPr txBox="1"/>
            <p:nvPr/>
          </p:nvSpPr>
          <p:spPr>
            <a:xfrm>
              <a:off x="3833" y="2750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59" name="Rectangle 144"/>
            <p:cNvSpPr/>
            <p:nvPr/>
          </p:nvSpPr>
          <p:spPr>
            <a:xfrm>
              <a:off x="2835" y="2296"/>
              <a:ext cx="499" cy="907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28575">
              <a:noFill/>
            </a:ln>
          </p:spPr>
          <p:txBody>
            <a:bodyPr wrap="none" anchor="ctr" anchorCtr="0"/>
            <a:p>
              <a:pPr algn="ctr"/>
              <a:endParaRPr lang="zh-CN" altLang="zh-CN" sz="44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8160" name="Oval 145"/>
            <p:cNvSpPr/>
            <p:nvPr/>
          </p:nvSpPr>
          <p:spPr>
            <a:xfrm>
              <a:off x="3606" y="2342"/>
              <a:ext cx="91" cy="91"/>
            </a:xfrm>
            <a:prstGeom prst="ellipse">
              <a:avLst/>
            </a:prstGeom>
            <a:solidFill>
              <a:srgbClr val="000099"/>
            </a:solidFill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8161" name="Oval 146"/>
            <p:cNvSpPr/>
            <p:nvPr/>
          </p:nvSpPr>
          <p:spPr>
            <a:xfrm>
              <a:off x="3606" y="3022"/>
              <a:ext cx="91" cy="91"/>
            </a:xfrm>
            <a:prstGeom prst="ellipse">
              <a:avLst/>
            </a:prstGeom>
            <a:solidFill>
              <a:srgbClr val="000099"/>
            </a:solidFill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8162" name="Line 147"/>
            <p:cNvSpPr/>
            <p:nvPr/>
          </p:nvSpPr>
          <p:spPr>
            <a:xfrm>
              <a:off x="4241" y="2387"/>
              <a:ext cx="0" cy="68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63" name="Text Box 148"/>
            <p:cNvSpPr txBox="1"/>
            <p:nvPr/>
          </p:nvSpPr>
          <p:spPr>
            <a:xfrm>
              <a:off x="2835" y="2296"/>
              <a:ext cx="3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8164" name="Group 149"/>
            <p:cNvGrpSpPr/>
            <p:nvPr/>
          </p:nvGrpSpPr>
          <p:grpSpPr>
            <a:xfrm>
              <a:off x="3016" y="2387"/>
              <a:ext cx="532" cy="680"/>
              <a:chOff x="3016" y="2387"/>
              <a:chExt cx="532" cy="680"/>
            </a:xfrm>
          </p:grpSpPr>
          <p:sp>
            <p:nvSpPr>
              <p:cNvPr id="48165" name="Line 150"/>
              <p:cNvSpPr/>
              <p:nvPr/>
            </p:nvSpPr>
            <p:spPr>
              <a:xfrm>
                <a:off x="3107" y="2387"/>
                <a:ext cx="0" cy="68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8166" name="Text Box 151"/>
              <p:cNvSpPr txBox="1"/>
              <p:nvPr/>
            </p:nvSpPr>
            <p:spPr>
              <a:xfrm>
                <a:off x="3152" y="2568"/>
                <a:ext cx="39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eq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167" name="Line 152"/>
              <p:cNvSpPr/>
              <p:nvPr/>
            </p:nvSpPr>
            <p:spPr>
              <a:xfrm>
                <a:off x="3107" y="3067"/>
                <a:ext cx="272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8168" name="Line 153"/>
              <p:cNvSpPr/>
              <p:nvPr/>
            </p:nvSpPr>
            <p:spPr>
              <a:xfrm>
                <a:off x="3107" y="2387"/>
                <a:ext cx="272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066" name="Rectangle 154"/>
              <p:cNvSpPr>
                <a:spLocks noChangeArrowheads="1"/>
              </p:cNvSpPr>
              <p:nvPr/>
            </p:nvSpPr>
            <p:spPr bwMode="auto">
              <a:xfrm>
                <a:off x="3016" y="2568"/>
                <a:ext cx="181" cy="363"/>
              </a:xfrm>
              <a:prstGeom prst="rect">
                <a:avLst/>
              </a:prstGeom>
              <a:gradFill rotWithShape="1">
                <a:gsLst>
                  <a:gs pos="0">
                    <a:schemeClr val="bg2">
                      <a:gamma/>
                      <a:shade val="46275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rgbClr val="66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endParaRPr>
              </a:p>
            </p:txBody>
          </p:sp>
        </p:grpSp>
      </p:grpSp>
      <p:grpSp>
        <p:nvGrpSpPr>
          <p:cNvPr id="39113" name="Group 201"/>
          <p:cNvGrpSpPr/>
          <p:nvPr/>
        </p:nvGrpSpPr>
        <p:grpSpPr>
          <a:xfrm>
            <a:off x="5435600" y="3716338"/>
            <a:ext cx="2881313" cy="2176462"/>
            <a:chOff x="3424" y="2478"/>
            <a:chExt cx="1815" cy="1371"/>
          </a:xfrm>
        </p:grpSpPr>
        <p:sp>
          <p:nvSpPr>
            <p:cNvPr id="48171" name="Oval 180"/>
            <p:cNvSpPr/>
            <p:nvPr/>
          </p:nvSpPr>
          <p:spPr>
            <a:xfrm>
              <a:off x="3832" y="320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8172" name="Line 181"/>
            <p:cNvSpPr/>
            <p:nvPr/>
          </p:nvSpPr>
          <p:spPr>
            <a:xfrm>
              <a:off x="4195" y="2568"/>
              <a:ext cx="449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8173" name="Text Box 182"/>
            <p:cNvSpPr txBox="1"/>
            <p:nvPr/>
          </p:nvSpPr>
          <p:spPr>
            <a:xfrm>
              <a:off x="4241" y="2568"/>
              <a:ext cx="256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74" name="Line 183"/>
            <p:cNvSpPr/>
            <p:nvPr/>
          </p:nvSpPr>
          <p:spPr>
            <a:xfrm>
              <a:off x="4014" y="3748"/>
              <a:ext cx="72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75" name="Line 184"/>
            <p:cNvSpPr/>
            <p:nvPr/>
          </p:nvSpPr>
          <p:spPr>
            <a:xfrm>
              <a:off x="4014" y="2523"/>
              <a:ext cx="0" cy="122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76" name="Line 185"/>
            <p:cNvSpPr/>
            <p:nvPr/>
          </p:nvSpPr>
          <p:spPr>
            <a:xfrm>
              <a:off x="4014" y="2523"/>
              <a:ext cx="72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77" name="Text Box 186"/>
            <p:cNvSpPr txBox="1"/>
            <p:nvPr/>
          </p:nvSpPr>
          <p:spPr>
            <a:xfrm>
              <a:off x="4740" y="2478"/>
              <a:ext cx="44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78" name="Text Box 187"/>
            <p:cNvSpPr txBox="1"/>
            <p:nvPr/>
          </p:nvSpPr>
          <p:spPr>
            <a:xfrm>
              <a:off x="4740" y="3430"/>
              <a:ext cx="321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79" name="Text Box 188"/>
            <p:cNvSpPr txBox="1"/>
            <p:nvPr/>
          </p:nvSpPr>
          <p:spPr>
            <a:xfrm>
              <a:off x="3560" y="2614"/>
              <a:ext cx="44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eq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80" name="Text Box 189"/>
            <p:cNvSpPr txBox="1"/>
            <p:nvPr/>
          </p:nvSpPr>
          <p:spPr>
            <a:xfrm>
              <a:off x="3424" y="3249"/>
              <a:ext cx="577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81" name="Text Box 190"/>
            <p:cNvSpPr txBox="1"/>
            <p:nvPr/>
          </p:nvSpPr>
          <p:spPr>
            <a:xfrm>
              <a:off x="3742" y="2931"/>
              <a:ext cx="3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82" name="Text Box 191"/>
            <p:cNvSpPr txBox="1"/>
            <p:nvPr/>
          </p:nvSpPr>
          <p:spPr>
            <a:xfrm>
              <a:off x="3742" y="3521"/>
              <a:ext cx="228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83" name="Text Box 192"/>
            <p:cNvSpPr txBox="1"/>
            <p:nvPr/>
          </p:nvSpPr>
          <p:spPr>
            <a:xfrm>
              <a:off x="4694" y="2931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8184" name="Text Box 193"/>
            <p:cNvSpPr txBox="1"/>
            <p:nvPr/>
          </p:nvSpPr>
          <p:spPr>
            <a:xfrm>
              <a:off x="4694" y="2704"/>
              <a:ext cx="2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85" name="Text Box 194"/>
            <p:cNvSpPr txBox="1"/>
            <p:nvPr/>
          </p:nvSpPr>
          <p:spPr>
            <a:xfrm>
              <a:off x="4649" y="3294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8186" name="Rectangle 195"/>
            <p:cNvSpPr/>
            <p:nvPr/>
          </p:nvSpPr>
          <p:spPr>
            <a:xfrm>
              <a:off x="3932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8187" name="Oval 196"/>
            <p:cNvSpPr/>
            <p:nvPr/>
          </p:nvSpPr>
          <p:spPr>
            <a:xfrm>
              <a:off x="4739" y="3702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8188" name="Oval 197"/>
            <p:cNvSpPr/>
            <p:nvPr/>
          </p:nvSpPr>
          <p:spPr>
            <a:xfrm>
              <a:off x="4739" y="2478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8189" name="Line 198"/>
            <p:cNvSpPr/>
            <p:nvPr/>
          </p:nvSpPr>
          <p:spPr>
            <a:xfrm>
              <a:off x="4830" y="2523"/>
              <a:ext cx="408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90" name="Line 199"/>
            <p:cNvSpPr/>
            <p:nvPr/>
          </p:nvSpPr>
          <p:spPr>
            <a:xfrm>
              <a:off x="5239" y="2523"/>
              <a:ext cx="0" cy="1225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91" name="Line 200"/>
            <p:cNvSpPr/>
            <p:nvPr/>
          </p:nvSpPr>
          <p:spPr>
            <a:xfrm>
              <a:off x="4830" y="3748"/>
              <a:ext cx="408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9118" name="Group 206"/>
          <p:cNvGrpSpPr/>
          <p:nvPr/>
        </p:nvGrpSpPr>
        <p:grpSpPr>
          <a:xfrm>
            <a:off x="4140200" y="1773238"/>
            <a:ext cx="2663825" cy="2174875"/>
            <a:chOff x="2608" y="1117"/>
            <a:chExt cx="1678" cy="1370"/>
          </a:xfrm>
        </p:grpSpPr>
        <p:sp>
          <p:nvSpPr>
            <p:cNvPr id="48193" name="Text Box 157"/>
            <p:cNvSpPr txBox="1"/>
            <p:nvPr/>
          </p:nvSpPr>
          <p:spPr>
            <a:xfrm>
              <a:off x="3334" y="1117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94" name="Text Box 158"/>
            <p:cNvSpPr txBox="1"/>
            <p:nvPr/>
          </p:nvSpPr>
          <p:spPr>
            <a:xfrm>
              <a:off x="3334" y="2160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8195" name="Group 205"/>
            <p:cNvGrpSpPr/>
            <p:nvPr/>
          </p:nvGrpSpPr>
          <p:grpSpPr>
            <a:xfrm>
              <a:off x="2608" y="1389"/>
              <a:ext cx="1678" cy="907"/>
              <a:chOff x="2608" y="1389"/>
              <a:chExt cx="1678" cy="907"/>
            </a:xfrm>
          </p:grpSpPr>
          <p:sp>
            <p:nvSpPr>
              <p:cNvPr id="48196" name="Text Box 156"/>
              <p:cNvSpPr txBox="1"/>
              <p:nvPr/>
            </p:nvSpPr>
            <p:spPr>
              <a:xfrm>
                <a:off x="3469" y="1662"/>
                <a:ext cx="37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197" name="Line 159"/>
              <p:cNvSpPr/>
              <p:nvPr/>
            </p:nvSpPr>
            <p:spPr>
              <a:xfrm>
                <a:off x="3016" y="1480"/>
                <a:ext cx="998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8198" name="Line 160"/>
              <p:cNvSpPr/>
              <p:nvPr/>
            </p:nvSpPr>
            <p:spPr>
              <a:xfrm>
                <a:off x="3016" y="2160"/>
                <a:ext cx="998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8199" name="Text Box 162"/>
              <p:cNvSpPr txBox="1"/>
              <p:nvPr/>
            </p:nvSpPr>
            <p:spPr>
              <a:xfrm>
                <a:off x="4046" y="1425"/>
                <a:ext cx="24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200" name="Text Box 163"/>
              <p:cNvSpPr txBox="1"/>
              <p:nvPr/>
            </p:nvSpPr>
            <p:spPr>
              <a:xfrm>
                <a:off x="3515" y="1480"/>
                <a:ext cx="22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201" name="Text Box 164"/>
              <p:cNvSpPr txBox="1"/>
              <p:nvPr/>
            </p:nvSpPr>
            <p:spPr>
              <a:xfrm>
                <a:off x="3515" y="1843"/>
                <a:ext cx="24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–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202" name="Rectangle 165"/>
              <p:cNvSpPr/>
              <p:nvPr/>
            </p:nvSpPr>
            <p:spPr>
              <a:xfrm>
                <a:off x="2608" y="1389"/>
                <a:ext cx="499" cy="907"/>
              </a:xfrm>
              <a:prstGeom prst="rect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path path="shape">
                  <a:fillToRect l="50000" t="50000" r="50000" b="50000"/>
                </a:path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pPr algn="ctr"/>
                <a:endParaRPr lang="zh-CN" altLang="zh-CN" sz="4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48203" name="Oval 166"/>
              <p:cNvSpPr/>
              <p:nvPr/>
            </p:nvSpPr>
            <p:spPr>
              <a:xfrm>
                <a:off x="3379" y="1435"/>
                <a:ext cx="91" cy="91"/>
              </a:xfrm>
              <a:prstGeom prst="ellipse">
                <a:avLst/>
              </a:prstGeom>
              <a:solidFill>
                <a:srgbClr val="000099"/>
              </a:solidFill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48204" name="Oval 167"/>
              <p:cNvSpPr/>
              <p:nvPr/>
            </p:nvSpPr>
            <p:spPr>
              <a:xfrm>
                <a:off x="3379" y="2115"/>
                <a:ext cx="91" cy="91"/>
              </a:xfrm>
              <a:prstGeom prst="ellipse">
                <a:avLst/>
              </a:prstGeom>
              <a:solidFill>
                <a:srgbClr val="000099"/>
              </a:solidFill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48205" name="Line 168"/>
              <p:cNvSpPr/>
              <p:nvPr/>
            </p:nvSpPr>
            <p:spPr>
              <a:xfrm>
                <a:off x="4014" y="1480"/>
                <a:ext cx="0" cy="68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8206" name="Text Box 172"/>
              <p:cNvSpPr txBox="1"/>
              <p:nvPr/>
            </p:nvSpPr>
            <p:spPr>
              <a:xfrm>
                <a:off x="2608" y="1389"/>
                <a:ext cx="37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8207" name="Group 173"/>
              <p:cNvGrpSpPr/>
              <p:nvPr/>
            </p:nvGrpSpPr>
            <p:grpSpPr>
              <a:xfrm>
                <a:off x="2789" y="1480"/>
                <a:ext cx="532" cy="680"/>
                <a:chOff x="3016" y="2387"/>
                <a:chExt cx="532" cy="680"/>
              </a:xfrm>
            </p:grpSpPr>
            <p:sp>
              <p:nvSpPr>
                <p:cNvPr id="48208" name="Line 174"/>
                <p:cNvSpPr/>
                <p:nvPr/>
              </p:nvSpPr>
              <p:spPr>
                <a:xfrm>
                  <a:off x="3107" y="2387"/>
                  <a:ext cx="0" cy="680"/>
                </a:xfrm>
                <a:prstGeom prst="line">
                  <a:avLst/>
                </a:prstGeom>
                <a:ln w="28575" cap="flat" cmpd="sng">
                  <a:solidFill>
                    <a:srgbClr val="FFCC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8209" name="Text Box 175"/>
                <p:cNvSpPr txBox="1"/>
                <p:nvPr/>
              </p:nvSpPr>
              <p:spPr>
                <a:xfrm>
                  <a:off x="3152" y="2568"/>
                  <a:ext cx="396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 i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R</a:t>
                  </a:r>
                  <a:r>
                    <a:rPr lang="en-US" altLang="zh-CN" b="0" baseline="-25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eq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210" name="Line 176"/>
                <p:cNvSpPr/>
                <p:nvPr/>
              </p:nvSpPr>
              <p:spPr>
                <a:xfrm>
                  <a:off x="3107" y="3067"/>
                  <a:ext cx="272" cy="0"/>
                </a:xfrm>
                <a:prstGeom prst="line">
                  <a:avLst/>
                </a:prstGeom>
                <a:ln w="28575" cap="flat" cmpd="sng">
                  <a:solidFill>
                    <a:srgbClr val="FFCC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8211" name="Line 177"/>
                <p:cNvSpPr/>
                <p:nvPr/>
              </p:nvSpPr>
              <p:spPr>
                <a:xfrm>
                  <a:off x="3107" y="2387"/>
                  <a:ext cx="272" cy="0"/>
                </a:xfrm>
                <a:prstGeom prst="line">
                  <a:avLst/>
                </a:prstGeom>
                <a:ln w="28575" cap="flat" cmpd="sng">
                  <a:solidFill>
                    <a:srgbClr val="FFCC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9090" name="Rectangle 178"/>
                <p:cNvSpPr>
                  <a:spLocks noChangeArrowheads="1"/>
                </p:cNvSpPr>
                <p:nvPr/>
              </p:nvSpPr>
              <p:spPr bwMode="auto">
                <a:xfrm>
                  <a:off x="3016" y="2568"/>
                  <a:ext cx="181" cy="36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bg2">
                        <a:gamma/>
                        <a:shade val="46275"/>
                        <a:invGamma/>
                      </a:schemeClr>
                    </a:gs>
                    <a:gs pos="50000">
                      <a:schemeClr val="bg2"/>
                    </a:gs>
                    <a:gs pos="100000">
                      <a:schemeClr val="bg2">
                        <a:gamma/>
                        <a:shade val="46275"/>
                        <a:invGamma/>
                      </a:scheme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66FFFF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楷体_GB2312" pitchFamily="49" charset="-122"/>
                    <a:cs typeface="+mn-cs"/>
                  </a:endParaRPr>
                </a:p>
              </p:txBody>
            </p:sp>
          </p:grpSp>
          <p:sp>
            <p:nvSpPr>
              <p:cNvPr id="48213" name="Line 161"/>
              <p:cNvSpPr/>
              <p:nvPr/>
            </p:nvSpPr>
            <p:spPr>
              <a:xfrm flipH="1">
                <a:off x="4014" y="1525"/>
                <a:ext cx="0" cy="317"/>
              </a:xfrm>
              <a:prstGeom prst="line">
                <a:avLst/>
              </a:prstGeom>
              <a:ln w="28575" cap="flat" cmpd="sng">
                <a:solidFill>
                  <a:srgbClr val="66FFFF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grpSp>
            <p:nvGrpSpPr>
              <p:cNvPr id="48214" name="Group 169"/>
              <p:cNvGrpSpPr/>
              <p:nvPr/>
            </p:nvGrpSpPr>
            <p:grpSpPr>
              <a:xfrm>
                <a:off x="3832" y="1706"/>
                <a:ext cx="363" cy="363"/>
                <a:chOff x="4785" y="709"/>
                <a:chExt cx="363" cy="363"/>
              </a:xfrm>
            </p:grpSpPr>
            <p:sp>
              <p:nvSpPr>
                <p:cNvPr id="48215" name="Oval 170"/>
                <p:cNvSpPr/>
                <p:nvPr/>
              </p:nvSpPr>
              <p:spPr>
                <a:xfrm>
                  <a:off x="4785" y="709"/>
                  <a:ext cx="363" cy="36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FF"/>
                    </a:gs>
                    <a:gs pos="100000">
                      <a:srgbClr val="004776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endParaRPr lang="zh-CN" altLang="zh-CN" sz="2400" b="0" dirty="0">
                    <a:latin typeface="Arial" panose="020B0604020202020204" pitchFamily="34" charset="0"/>
                    <a:ea typeface="仿宋_GB2312" pitchFamily="49" charset="-122"/>
                  </a:endParaRPr>
                </a:p>
              </p:txBody>
            </p:sp>
            <p:sp>
              <p:nvSpPr>
                <p:cNvPr id="48216" name="Line 171"/>
                <p:cNvSpPr/>
                <p:nvPr/>
              </p:nvSpPr>
              <p:spPr>
                <a:xfrm>
                  <a:off x="4785" y="890"/>
                  <a:ext cx="363" cy="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</p:grpSp>
      <p:grpSp>
        <p:nvGrpSpPr>
          <p:cNvPr id="48217" name="Group 207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48218" name="Picture 208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219" name="Text Box 209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1000"/>
                                        <p:tgtEl>
                                          <p:spTgt spid="39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9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1000"/>
                                        <p:tgtEl>
                                          <p:spTgt spid="39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9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9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/>
      <p:bldP spid="38922" grpId="0"/>
      <p:bldP spid="389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Text Box 2"/>
          <p:cNvSpPr txBox="1"/>
          <p:nvPr/>
        </p:nvSpPr>
        <p:spPr>
          <a:xfrm>
            <a:off x="539750" y="1052513"/>
            <a:ext cx="8280400" cy="16303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76250" indent="-476250" algn="just">
              <a:lnSpc>
                <a:spcPct val="120000"/>
              </a:lnSpc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外电路可以是任意的线性或非线性电路，外电路发生改变时，含源一端口网络的等效电路不变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伏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安特性等效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7891" name="Text Box 3"/>
          <p:cNvSpPr txBox="1"/>
          <p:nvPr/>
        </p:nvSpPr>
        <p:spPr>
          <a:xfrm>
            <a:off x="539750" y="2636838"/>
            <a:ext cx="7848600" cy="111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76250" indent="-476250" algn="just">
              <a:lnSpc>
                <a:spcPct val="120000"/>
              </a:lnSpc>
              <a:buAutoNum type="circleNumDbPlain" startA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当一端口内部含有受控源时，控制电路与受控源必须包含在被化简的同一部分电路中。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49155" name="Group 3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9156" name="Picture 3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157" name="Text Box 4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9158" name="Group 4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9159" name="Picture 4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160" name="Text Box 4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7935" name="Group 47"/>
          <p:cNvGrpSpPr/>
          <p:nvPr/>
        </p:nvGrpSpPr>
        <p:grpSpPr>
          <a:xfrm>
            <a:off x="395288" y="404813"/>
            <a:ext cx="1644650" cy="850900"/>
            <a:chOff x="385" y="3022"/>
            <a:chExt cx="1036" cy="536"/>
          </a:xfrm>
        </p:grpSpPr>
        <p:pic>
          <p:nvPicPr>
            <p:cNvPr id="49162" name="Picture 48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163" name="Text Box 49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37938" name="Text Box 50"/>
          <p:cNvSpPr txBox="1"/>
          <p:nvPr/>
        </p:nvSpPr>
        <p:spPr>
          <a:xfrm>
            <a:off x="539750" y="3860800"/>
            <a:ext cx="863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939" name="Text Box 51"/>
          <p:cNvSpPr txBox="1"/>
          <p:nvPr/>
        </p:nvSpPr>
        <p:spPr>
          <a:xfrm>
            <a:off x="971550" y="3789363"/>
            <a:ext cx="4392613" cy="111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计算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分别为</a:t>
            </a: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.2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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5.2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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时的电流</a:t>
            </a:r>
            <a:r>
              <a:rPr lang="en-US" altLang="zh-CN" b="0" i="1" dirty="0">
                <a:latin typeface="楷体_GB2312" pitchFamily="49" charset="-122"/>
                <a:ea typeface="楷体_GB2312" pitchFamily="49" charset="-122"/>
              </a:rPr>
              <a:t>I</a:t>
            </a:r>
            <a:endParaRPr lang="en-US" altLang="zh-CN" i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7940" name="Group 52"/>
          <p:cNvGrpSpPr/>
          <p:nvPr/>
        </p:nvGrpSpPr>
        <p:grpSpPr>
          <a:xfrm>
            <a:off x="5435600" y="3429000"/>
            <a:ext cx="3098800" cy="2952750"/>
            <a:chOff x="3243" y="618"/>
            <a:chExt cx="1952" cy="1860"/>
          </a:xfrm>
        </p:grpSpPr>
        <p:sp>
          <p:nvSpPr>
            <p:cNvPr id="49167" name="Oval 53"/>
            <p:cNvSpPr/>
            <p:nvPr/>
          </p:nvSpPr>
          <p:spPr>
            <a:xfrm>
              <a:off x="4014" y="211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9168" name="Rectangle 54"/>
            <p:cNvSpPr/>
            <p:nvPr/>
          </p:nvSpPr>
          <p:spPr>
            <a:xfrm>
              <a:off x="3243" y="918"/>
              <a:ext cx="1952" cy="1386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9169" name="Line 55"/>
            <p:cNvSpPr/>
            <p:nvPr/>
          </p:nvSpPr>
          <p:spPr>
            <a:xfrm>
              <a:off x="3243" y="1611"/>
              <a:ext cx="195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70" name="Line 56"/>
            <p:cNvSpPr/>
            <p:nvPr/>
          </p:nvSpPr>
          <p:spPr>
            <a:xfrm>
              <a:off x="4188" y="918"/>
              <a:ext cx="0" cy="69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71" name="Line 57"/>
            <p:cNvSpPr/>
            <p:nvPr/>
          </p:nvSpPr>
          <p:spPr>
            <a:xfrm>
              <a:off x="4332" y="1117"/>
              <a:ext cx="0" cy="346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172" name="Text Box 58"/>
            <p:cNvSpPr txBox="1"/>
            <p:nvPr/>
          </p:nvSpPr>
          <p:spPr>
            <a:xfrm>
              <a:off x="4313" y="1034"/>
              <a:ext cx="31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73" name="Text Box 59"/>
            <p:cNvSpPr txBox="1"/>
            <p:nvPr/>
          </p:nvSpPr>
          <p:spPr>
            <a:xfrm>
              <a:off x="3833" y="1071"/>
              <a:ext cx="4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74" name="Text Box 60"/>
            <p:cNvSpPr txBox="1"/>
            <p:nvPr/>
          </p:nvSpPr>
          <p:spPr>
            <a:xfrm>
              <a:off x="4059" y="618"/>
              <a:ext cx="31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75" name="Text Box 61"/>
            <p:cNvSpPr txBox="1"/>
            <p:nvPr/>
          </p:nvSpPr>
          <p:spPr>
            <a:xfrm>
              <a:off x="4062" y="1553"/>
              <a:ext cx="31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76" name="Text Box 62"/>
            <p:cNvSpPr txBox="1"/>
            <p:nvPr/>
          </p:nvSpPr>
          <p:spPr>
            <a:xfrm>
              <a:off x="3747" y="2015"/>
              <a:ext cx="31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77" name="Text Box 63"/>
            <p:cNvSpPr txBox="1"/>
            <p:nvPr/>
          </p:nvSpPr>
          <p:spPr>
            <a:xfrm>
              <a:off x="4439" y="2015"/>
              <a:ext cx="37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78" name="Text Box 64"/>
            <p:cNvSpPr txBox="1"/>
            <p:nvPr/>
          </p:nvSpPr>
          <p:spPr>
            <a:xfrm>
              <a:off x="3999" y="1842"/>
              <a:ext cx="69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79" name="Text Box 65"/>
            <p:cNvSpPr txBox="1"/>
            <p:nvPr/>
          </p:nvSpPr>
          <p:spPr>
            <a:xfrm>
              <a:off x="4558" y="1661"/>
              <a:ext cx="5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80" name="Text Box 66"/>
            <p:cNvSpPr txBox="1"/>
            <p:nvPr/>
          </p:nvSpPr>
          <p:spPr>
            <a:xfrm>
              <a:off x="4558" y="935"/>
              <a:ext cx="5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9181" name="Text Box 67"/>
            <p:cNvSpPr txBox="1"/>
            <p:nvPr/>
          </p:nvSpPr>
          <p:spPr>
            <a:xfrm>
              <a:off x="3334" y="1616"/>
              <a:ext cx="63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9182" name="Text Box 68"/>
            <p:cNvSpPr txBox="1"/>
            <p:nvPr/>
          </p:nvSpPr>
          <p:spPr>
            <a:xfrm>
              <a:off x="3379" y="935"/>
              <a:ext cx="56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9183" name="Rectangle 69"/>
            <p:cNvSpPr/>
            <p:nvPr/>
          </p:nvSpPr>
          <p:spPr>
            <a:xfrm>
              <a:off x="4558" y="84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9184" name="Rectangle 70"/>
            <p:cNvSpPr/>
            <p:nvPr/>
          </p:nvSpPr>
          <p:spPr>
            <a:xfrm>
              <a:off x="3424" y="84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9185" name="Rectangle 71"/>
            <p:cNvSpPr/>
            <p:nvPr/>
          </p:nvSpPr>
          <p:spPr>
            <a:xfrm>
              <a:off x="4558" y="157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9186" name="Rectangle 72"/>
            <p:cNvSpPr/>
            <p:nvPr/>
          </p:nvSpPr>
          <p:spPr>
            <a:xfrm>
              <a:off x="3424" y="152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9187" name="Rectangle 73"/>
            <p:cNvSpPr/>
            <p:nvPr/>
          </p:nvSpPr>
          <p:spPr>
            <a:xfrm>
              <a:off x="4150" y="107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37962" name="Text Box 74"/>
          <p:cNvSpPr txBox="1"/>
          <p:nvPr/>
        </p:nvSpPr>
        <p:spPr>
          <a:xfrm>
            <a:off x="684213" y="5013325"/>
            <a:ext cx="604837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963" name="Text Box 75"/>
          <p:cNvSpPr txBox="1"/>
          <p:nvPr/>
        </p:nvSpPr>
        <p:spPr>
          <a:xfrm>
            <a:off x="1403350" y="4941888"/>
            <a:ext cx="3673475" cy="13731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断开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支路，将剩余一端口网络化为戴维宁等效电路：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49190" name="Group 79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49191" name="Picture 8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192" name="Text Box 81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1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7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7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7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7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7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7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7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" fill="hold"/>
                                        <p:tgtEl>
                                          <p:spTgt spid="37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fill="hold"/>
                                        <p:tgtEl>
                                          <p:spTgt spid="37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fill="hold"/>
                                        <p:tgtEl>
                                          <p:spTgt spid="379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fill="hold"/>
                                        <p:tgtEl>
                                          <p:spTgt spid="379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  <p:bldP spid="37891" grpId="0"/>
      <p:bldP spid="37938" grpId="0"/>
      <p:bldP spid="37939" grpId="0"/>
      <p:bldP spid="37962" grpId="0" animBg="1"/>
      <p:bldP spid="3796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997" name="Text Box 133"/>
          <p:cNvSpPr txBox="1"/>
          <p:nvPr/>
        </p:nvSpPr>
        <p:spPr>
          <a:xfrm>
            <a:off x="3924300" y="2781300"/>
            <a:ext cx="3744913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spcBef>
                <a:spcPct val="50000"/>
              </a:spcBef>
              <a:buAutoNum type="circleNumDbPlain" startA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求等效电阻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eq</a:t>
            </a:r>
            <a:endParaRPr lang="en-US" altLang="zh-CN" b="0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998" name="Text Box 134"/>
          <p:cNvSpPr txBox="1"/>
          <p:nvPr/>
        </p:nvSpPr>
        <p:spPr>
          <a:xfrm>
            <a:off x="4140200" y="3357563"/>
            <a:ext cx="381635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eq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=4//6+6//4=4.8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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002" name="Text Box 138"/>
          <p:cNvSpPr txBox="1"/>
          <p:nvPr/>
        </p:nvSpPr>
        <p:spPr>
          <a:xfrm>
            <a:off x="3995738" y="4005263"/>
            <a:ext cx="3455987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buAutoNum type="circleNumDbPlain" startAt="3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b="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rPr>
              <a:t>=1.2</a:t>
            </a: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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时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zh-CN" altLang="en-US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37003" name="Text Box 139"/>
          <p:cNvSpPr txBox="1"/>
          <p:nvPr/>
        </p:nvSpPr>
        <p:spPr>
          <a:xfrm>
            <a:off x="4067175" y="4652963"/>
            <a:ext cx="4859338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oc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/(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eq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+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=0.333A</a:t>
            </a:r>
            <a:endParaRPr lang="en-US" altLang="zh-CN" sz="3200" b="0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37004" name="Text Box 140"/>
          <p:cNvSpPr txBox="1"/>
          <p:nvPr/>
        </p:nvSpPr>
        <p:spPr>
          <a:xfrm>
            <a:off x="4211638" y="5300663"/>
            <a:ext cx="287972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b="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rPr>
              <a:t> =5.2</a:t>
            </a: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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时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zh-CN" altLang="en-US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37005" name="Text Box 141"/>
          <p:cNvSpPr txBox="1"/>
          <p:nvPr/>
        </p:nvSpPr>
        <p:spPr>
          <a:xfrm>
            <a:off x="3995738" y="5805488"/>
            <a:ext cx="4321175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oc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/(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eq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+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=0.2A</a:t>
            </a:r>
            <a:endParaRPr lang="en-US" altLang="zh-CN" sz="3200" b="0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grpSp>
        <p:nvGrpSpPr>
          <p:cNvPr id="50183" name="Group 14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0184" name="Picture 14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0185" name="Text Box 14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0186" name="Group 14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0187" name="Picture 15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0188" name="Text Box 15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36962" name="Text Box 98"/>
          <p:cNvSpPr txBox="1"/>
          <p:nvPr/>
        </p:nvSpPr>
        <p:spPr>
          <a:xfrm>
            <a:off x="3933825" y="1155700"/>
            <a:ext cx="5089525" cy="17176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just">
              <a:spcBef>
                <a:spcPct val="15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oc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15000"/>
              </a:spcBef>
            </a:pP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10  6/(4+6)</a:t>
            </a:r>
            <a:r>
              <a: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4/(4+6)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15000"/>
              </a:spcBef>
            </a:pP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6</a:t>
            </a:r>
            <a:r>
              <a: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4=2V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961" name="Text Box 97"/>
          <p:cNvSpPr txBox="1"/>
          <p:nvPr/>
        </p:nvSpPr>
        <p:spPr>
          <a:xfrm>
            <a:off x="3924300" y="549275"/>
            <a:ext cx="360045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求开路电压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7019" name="Group 155"/>
          <p:cNvGrpSpPr/>
          <p:nvPr/>
        </p:nvGrpSpPr>
        <p:grpSpPr>
          <a:xfrm>
            <a:off x="468313" y="534988"/>
            <a:ext cx="2954337" cy="2390775"/>
            <a:chOff x="521" y="2251"/>
            <a:chExt cx="1952" cy="1633"/>
          </a:xfrm>
        </p:grpSpPr>
        <p:sp>
          <p:nvSpPr>
            <p:cNvPr id="50192" name="Oval 156"/>
            <p:cNvSpPr/>
            <p:nvPr/>
          </p:nvSpPr>
          <p:spPr>
            <a:xfrm>
              <a:off x="1429" y="2478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0193" name="Oval 157"/>
            <p:cNvSpPr/>
            <p:nvPr/>
          </p:nvSpPr>
          <p:spPr>
            <a:xfrm>
              <a:off x="1429" y="2795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0194" name="Oval 158"/>
            <p:cNvSpPr/>
            <p:nvPr/>
          </p:nvSpPr>
          <p:spPr>
            <a:xfrm>
              <a:off x="1292" y="352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0195" name="Rectangle 159"/>
            <p:cNvSpPr/>
            <p:nvPr/>
          </p:nvSpPr>
          <p:spPr>
            <a:xfrm>
              <a:off x="521" y="2341"/>
              <a:ext cx="1952" cy="1369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0196" name="Line 160"/>
            <p:cNvSpPr/>
            <p:nvPr/>
          </p:nvSpPr>
          <p:spPr>
            <a:xfrm>
              <a:off x="521" y="3017"/>
              <a:ext cx="195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197" name="Line 161"/>
            <p:cNvSpPr/>
            <p:nvPr/>
          </p:nvSpPr>
          <p:spPr>
            <a:xfrm>
              <a:off x="1474" y="2341"/>
              <a:ext cx="0" cy="13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50198" name="Text Box 162"/>
            <p:cNvSpPr txBox="1"/>
            <p:nvPr/>
          </p:nvSpPr>
          <p:spPr>
            <a:xfrm>
              <a:off x="1340" y="2959"/>
              <a:ext cx="31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199" name="Text Box 163"/>
            <p:cNvSpPr txBox="1"/>
            <p:nvPr/>
          </p:nvSpPr>
          <p:spPr>
            <a:xfrm>
              <a:off x="1025" y="3421"/>
              <a:ext cx="31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00" name="Text Box 164"/>
            <p:cNvSpPr txBox="1"/>
            <p:nvPr/>
          </p:nvSpPr>
          <p:spPr>
            <a:xfrm>
              <a:off x="1717" y="3421"/>
              <a:ext cx="37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01" name="Text Box 165"/>
            <p:cNvSpPr txBox="1"/>
            <p:nvPr/>
          </p:nvSpPr>
          <p:spPr>
            <a:xfrm>
              <a:off x="1277" y="3248"/>
              <a:ext cx="69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02" name="Text Box 166"/>
            <p:cNvSpPr txBox="1"/>
            <p:nvPr/>
          </p:nvSpPr>
          <p:spPr>
            <a:xfrm>
              <a:off x="1836" y="3067"/>
              <a:ext cx="5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03" name="Text Box 167"/>
            <p:cNvSpPr txBox="1"/>
            <p:nvPr/>
          </p:nvSpPr>
          <p:spPr>
            <a:xfrm>
              <a:off x="1836" y="2341"/>
              <a:ext cx="5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0204" name="Text Box 168"/>
            <p:cNvSpPr txBox="1"/>
            <p:nvPr/>
          </p:nvSpPr>
          <p:spPr>
            <a:xfrm>
              <a:off x="612" y="3022"/>
              <a:ext cx="63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0205" name="Text Box 169"/>
            <p:cNvSpPr txBox="1"/>
            <p:nvPr/>
          </p:nvSpPr>
          <p:spPr>
            <a:xfrm>
              <a:off x="657" y="2341"/>
              <a:ext cx="56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0206" name="Rectangle 170"/>
            <p:cNvSpPr/>
            <p:nvPr/>
          </p:nvSpPr>
          <p:spPr>
            <a:xfrm>
              <a:off x="1836" y="225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0207" name="Rectangle 171"/>
            <p:cNvSpPr/>
            <p:nvPr/>
          </p:nvSpPr>
          <p:spPr>
            <a:xfrm>
              <a:off x="702" y="225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0208" name="Rectangle 172"/>
            <p:cNvSpPr/>
            <p:nvPr/>
          </p:nvSpPr>
          <p:spPr>
            <a:xfrm>
              <a:off x="1836" y="297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0209" name="Rectangle 173"/>
            <p:cNvSpPr/>
            <p:nvPr/>
          </p:nvSpPr>
          <p:spPr>
            <a:xfrm>
              <a:off x="702" y="293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0210" name="Line 174"/>
            <p:cNvSpPr/>
            <p:nvPr/>
          </p:nvSpPr>
          <p:spPr>
            <a:xfrm>
              <a:off x="1474" y="2886"/>
              <a:ext cx="0" cy="13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50211" name="Text Box 175"/>
            <p:cNvSpPr txBox="1"/>
            <p:nvPr/>
          </p:nvSpPr>
          <p:spPr>
            <a:xfrm>
              <a:off x="1202" y="2341"/>
              <a:ext cx="44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+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0212" name="Text Box 176"/>
            <p:cNvSpPr txBox="1"/>
            <p:nvPr/>
          </p:nvSpPr>
          <p:spPr>
            <a:xfrm>
              <a:off x="1202" y="2659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0213" name="Text Box 177"/>
            <p:cNvSpPr txBox="1"/>
            <p:nvPr/>
          </p:nvSpPr>
          <p:spPr>
            <a:xfrm>
              <a:off x="1338" y="2523"/>
              <a:ext cx="44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oc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37042" name="Group 178"/>
          <p:cNvGrpSpPr/>
          <p:nvPr/>
        </p:nvGrpSpPr>
        <p:grpSpPr>
          <a:xfrm>
            <a:off x="468313" y="4791075"/>
            <a:ext cx="3302000" cy="2166938"/>
            <a:chOff x="1610" y="2296"/>
            <a:chExt cx="2126" cy="1552"/>
          </a:xfrm>
        </p:grpSpPr>
        <p:sp>
          <p:nvSpPr>
            <p:cNvPr id="50215" name="Oval 179"/>
            <p:cNvSpPr/>
            <p:nvPr/>
          </p:nvSpPr>
          <p:spPr>
            <a:xfrm>
              <a:off x="1610" y="297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0216" name="Line 180"/>
            <p:cNvSpPr/>
            <p:nvPr/>
          </p:nvSpPr>
          <p:spPr>
            <a:xfrm>
              <a:off x="2699" y="2704"/>
              <a:ext cx="446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0217" name="Text Box 181"/>
            <p:cNvSpPr txBox="1"/>
            <p:nvPr/>
          </p:nvSpPr>
          <p:spPr>
            <a:xfrm>
              <a:off x="2835" y="2296"/>
              <a:ext cx="319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18" name="Text Box 182"/>
            <p:cNvSpPr txBox="1"/>
            <p:nvPr/>
          </p:nvSpPr>
          <p:spPr>
            <a:xfrm>
              <a:off x="3188" y="2458"/>
              <a:ext cx="319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19" name="Text Box 183"/>
            <p:cNvSpPr txBox="1"/>
            <p:nvPr/>
          </p:nvSpPr>
          <p:spPr>
            <a:xfrm>
              <a:off x="3198" y="3521"/>
              <a:ext cx="319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20" name="Text Box 184"/>
            <p:cNvSpPr txBox="1"/>
            <p:nvPr/>
          </p:nvSpPr>
          <p:spPr>
            <a:xfrm>
              <a:off x="1973" y="3022"/>
              <a:ext cx="486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21" name="Text Box 185"/>
            <p:cNvSpPr txBox="1"/>
            <p:nvPr/>
          </p:nvSpPr>
          <p:spPr>
            <a:xfrm>
              <a:off x="1837" y="2704"/>
              <a:ext cx="256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22" name="Text Box 186"/>
            <p:cNvSpPr txBox="1"/>
            <p:nvPr/>
          </p:nvSpPr>
          <p:spPr>
            <a:xfrm>
              <a:off x="1837" y="3339"/>
              <a:ext cx="319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23" name="Text Box 187"/>
            <p:cNvSpPr txBox="1"/>
            <p:nvPr/>
          </p:nvSpPr>
          <p:spPr>
            <a:xfrm>
              <a:off x="3288" y="2976"/>
              <a:ext cx="44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24" name="Text Box 188"/>
            <p:cNvSpPr txBox="1"/>
            <p:nvPr/>
          </p:nvSpPr>
          <p:spPr>
            <a:xfrm>
              <a:off x="2200" y="2659"/>
              <a:ext cx="447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eq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25" name="Rectangle 189"/>
            <p:cNvSpPr/>
            <p:nvPr/>
          </p:nvSpPr>
          <p:spPr>
            <a:xfrm>
              <a:off x="1791" y="2614"/>
              <a:ext cx="1407" cy="1088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0226" name="Rectangle 190"/>
            <p:cNvSpPr/>
            <p:nvPr/>
          </p:nvSpPr>
          <p:spPr>
            <a:xfrm>
              <a:off x="2200" y="256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0227" name="Rectangle 191"/>
            <p:cNvSpPr/>
            <p:nvPr/>
          </p:nvSpPr>
          <p:spPr>
            <a:xfrm>
              <a:off x="3152" y="297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37100" name="Group 236"/>
          <p:cNvGrpSpPr/>
          <p:nvPr/>
        </p:nvGrpSpPr>
        <p:grpSpPr>
          <a:xfrm>
            <a:off x="539750" y="115888"/>
            <a:ext cx="992188" cy="1538287"/>
            <a:chOff x="340" y="300"/>
            <a:chExt cx="625" cy="969"/>
          </a:xfrm>
        </p:grpSpPr>
        <p:sp>
          <p:nvSpPr>
            <p:cNvPr id="50229" name="Text Box 234"/>
            <p:cNvSpPr txBox="1"/>
            <p:nvPr/>
          </p:nvSpPr>
          <p:spPr>
            <a:xfrm>
              <a:off x="340" y="981"/>
              <a:ext cx="62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just">
                <a:spcBef>
                  <a:spcPct val="15000"/>
                </a:spcBef>
              </a:pPr>
              <a:r>
                <a:rPr lang="en-US" altLang="zh-CN" sz="2400" b="0" i="1" dirty="0">
                  <a:solidFill>
                    <a:srgbClr val="00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 U</a:t>
              </a:r>
              <a:r>
                <a:rPr lang="en-US" altLang="zh-CN" sz="2400" b="0" baseline="-25000" dirty="0">
                  <a:solidFill>
                    <a:srgbClr val="00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</a:t>
              </a:r>
              <a:r>
                <a:rPr lang="en-US" altLang="zh-CN" sz="2400" b="0" i="1" dirty="0">
                  <a:solidFill>
                    <a:srgbClr val="00FF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400" b="0" i="1" dirty="0">
                <a:solidFill>
                  <a:srgbClr val="00FF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0230" name="Text Box 235"/>
            <p:cNvSpPr txBox="1"/>
            <p:nvPr/>
          </p:nvSpPr>
          <p:spPr>
            <a:xfrm>
              <a:off x="340" y="300"/>
              <a:ext cx="59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just">
                <a:spcBef>
                  <a:spcPct val="15000"/>
                </a:spcBef>
              </a:pPr>
              <a:r>
                <a:rPr lang="en-US" altLang="zh-CN" sz="2400" b="0" i="1" dirty="0">
                  <a:solidFill>
                    <a:srgbClr val="00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 U</a:t>
              </a:r>
              <a:r>
                <a:rPr lang="en-US" altLang="zh-CN" sz="2400" b="0" baseline="-25000" dirty="0">
                  <a:solidFill>
                    <a:srgbClr val="00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400" b="0" i="1" dirty="0">
                  <a:solidFill>
                    <a:srgbClr val="00FF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400" b="0" i="1" dirty="0">
                <a:solidFill>
                  <a:srgbClr val="00FF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37101" name="Group 237"/>
          <p:cNvGrpSpPr/>
          <p:nvPr/>
        </p:nvGrpSpPr>
        <p:grpSpPr>
          <a:xfrm>
            <a:off x="323850" y="3016250"/>
            <a:ext cx="3114675" cy="1974850"/>
            <a:chOff x="386" y="2478"/>
            <a:chExt cx="1952" cy="1316"/>
          </a:xfrm>
        </p:grpSpPr>
        <p:sp>
          <p:nvSpPr>
            <p:cNvPr id="50232" name="Oval 239"/>
            <p:cNvSpPr/>
            <p:nvPr/>
          </p:nvSpPr>
          <p:spPr>
            <a:xfrm>
              <a:off x="1294" y="2705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0233" name="Oval 240"/>
            <p:cNvSpPr/>
            <p:nvPr/>
          </p:nvSpPr>
          <p:spPr>
            <a:xfrm>
              <a:off x="1294" y="3022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0234" name="Rectangle 241"/>
            <p:cNvSpPr/>
            <p:nvPr/>
          </p:nvSpPr>
          <p:spPr>
            <a:xfrm>
              <a:off x="386" y="2568"/>
              <a:ext cx="1952" cy="1226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0235" name="Line 242"/>
            <p:cNvSpPr/>
            <p:nvPr/>
          </p:nvSpPr>
          <p:spPr>
            <a:xfrm>
              <a:off x="386" y="3244"/>
              <a:ext cx="195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236" name="Line 243"/>
            <p:cNvSpPr/>
            <p:nvPr/>
          </p:nvSpPr>
          <p:spPr>
            <a:xfrm>
              <a:off x="1339" y="2568"/>
              <a:ext cx="0" cy="13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50237" name="Text Box 244"/>
            <p:cNvSpPr txBox="1"/>
            <p:nvPr/>
          </p:nvSpPr>
          <p:spPr>
            <a:xfrm>
              <a:off x="1205" y="3186"/>
              <a:ext cx="314" cy="320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38" name="Text Box 245"/>
            <p:cNvSpPr txBox="1"/>
            <p:nvPr/>
          </p:nvSpPr>
          <p:spPr>
            <a:xfrm>
              <a:off x="1701" y="3294"/>
              <a:ext cx="504" cy="31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39" name="Text Box 246"/>
            <p:cNvSpPr txBox="1"/>
            <p:nvPr/>
          </p:nvSpPr>
          <p:spPr>
            <a:xfrm>
              <a:off x="1701" y="2568"/>
              <a:ext cx="504" cy="31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0240" name="Text Box 247"/>
            <p:cNvSpPr txBox="1"/>
            <p:nvPr/>
          </p:nvSpPr>
          <p:spPr>
            <a:xfrm>
              <a:off x="477" y="3249"/>
              <a:ext cx="630" cy="31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0241" name="Text Box 248"/>
            <p:cNvSpPr txBox="1"/>
            <p:nvPr/>
          </p:nvSpPr>
          <p:spPr>
            <a:xfrm>
              <a:off x="522" y="2568"/>
              <a:ext cx="567" cy="31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0242" name="Rectangle 249"/>
            <p:cNvSpPr/>
            <p:nvPr/>
          </p:nvSpPr>
          <p:spPr>
            <a:xfrm>
              <a:off x="1701" y="247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0243" name="Rectangle 250"/>
            <p:cNvSpPr/>
            <p:nvPr/>
          </p:nvSpPr>
          <p:spPr>
            <a:xfrm>
              <a:off x="567" y="247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0244" name="Rectangle 251"/>
            <p:cNvSpPr/>
            <p:nvPr/>
          </p:nvSpPr>
          <p:spPr>
            <a:xfrm>
              <a:off x="1701" y="320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0245" name="Rectangle 252"/>
            <p:cNvSpPr/>
            <p:nvPr/>
          </p:nvSpPr>
          <p:spPr>
            <a:xfrm>
              <a:off x="567" y="315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0246" name="Line 253"/>
            <p:cNvSpPr/>
            <p:nvPr/>
          </p:nvSpPr>
          <p:spPr>
            <a:xfrm>
              <a:off x="1339" y="3113"/>
              <a:ext cx="0" cy="13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50247" name="Text Box 254"/>
            <p:cNvSpPr txBox="1"/>
            <p:nvPr/>
          </p:nvSpPr>
          <p:spPr>
            <a:xfrm>
              <a:off x="1067" y="2568"/>
              <a:ext cx="449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+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0248" name="Text Box 255"/>
            <p:cNvSpPr txBox="1"/>
            <p:nvPr/>
          </p:nvSpPr>
          <p:spPr>
            <a:xfrm>
              <a:off x="1067" y="2886"/>
              <a:ext cx="317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0249" name="Text Box 256"/>
            <p:cNvSpPr txBox="1"/>
            <p:nvPr/>
          </p:nvSpPr>
          <p:spPr>
            <a:xfrm>
              <a:off x="1203" y="2750"/>
              <a:ext cx="449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oc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50250" name="Group 260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50251" name="Picture 26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0252" name="Text Box 262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6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6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69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69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3000"/>
                                        <p:tgtEl>
                                          <p:spTgt spid="36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7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36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37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37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000"/>
                                        <p:tgtEl>
                                          <p:spTgt spid="37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3000"/>
                                        <p:tgtEl>
                                          <p:spTgt spid="37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97" grpId="0"/>
      <p:bldP spid="36998" grpId="0"/>
      <p:bldP spid="37002" grpId="0"/>
      <p:bldP spid="37003" grpId="0"/>
      <p:bldP spid="37004" grpId="0"/>
      <p:bldP spid="37005" grpId="0"/>
      <p:bldP spid="36962" grpId="0"/>
      <p:bldP spid="3696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40" name="Text Box 4"/>
          <p:cNvSpPr txBox="1"/>
          <p:nvPr/>
        </p:nvSpPr>
        <p:spPr>
          <a:xfrm>
            <a:off x="1331913" y="620713"/>
            <a:ext cx="352742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zh-CN" dirty="0">
                <a:latin typeface="Times New Roman" panose="02020603050405020304" pitchFamily="18" charset="0"/>
                <a:ea typeface="楷体_GB2312" pitchFamily="49" charset="-122"/>
              </a:rPr>
              <a:t>求电压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71" name="Text Box 35"/>
          <p:cNvSpPr txBox="1"/>
          <p:nvPr/>
        </p:nvSpPr>
        <p:spPr>
          <a:xfrm>
            <a:off x="395288" y="549275"/>
            <a:ext cx="863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96" name="Text Box 60"/>
          <p:cNvSpPr txBox="1"/>
          <p:nvPr/>
        </p:nvSpPr>
        <p:spPr>
          <a:xfrm>
            <a:off x="468313" y="1196975"/>
            <a:ext cx="647700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97" name="Text Box 61"/>
          <p:cNvSpPr txBox="1"/>
          <p:nvPr/>
        </p:nvSpPr>
        <p:spPr>
          <a:xfrm>
            <a:off x="1116013" y="1196975"/>
            <a:ext cx="331311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求开路电压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oc</a:t>
            </a:r>
            <a:endParaRPr lang="en-US" altLang="zh-CN" b="0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98" name="Text Box 62"/>
          <p:cNvSpPr txBox="1"/>
          <p:nvPr/>
        </p:nvSpPr>
        <p:spPr>
          <a:xfrm>
            <a:off x="1331913" y="1844675"/>
            <a:ext cx="208915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oc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=6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+3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lang="en-US" altLang="zh-CN" sz="3200" b="0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99" name="Text Box 63"/>
          <p:cNvSpPr txBox="1"/>
          <p:nvPr/>
        </p:nvSpPr>
        <p:spPr>
          <a:xfrm>
            <a:off x="1403350" y="2492375"/>
            <a:ext cx="208915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=9/9=1A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600" name="AutoShape 64"/>
          <p:cNvSpPr/>
          <p:nvPr/>
        </p:nvSpPr>
        <p:spPr>
          <a:xfrm>
            <a:off x="1042988" y="1916113"/>
            <a:ext cx="287337" cy="1223962"/>
          </a:xfrm>
          <a:prstGeom prst="leftBrace">
            <a:avLst>
              <a:gd name="adj1" fmla="val 35477"/>
              <a:gd name="adj2" fmla="val 50079"/>
            </a:avLst>
          </a:prstGeom>
          <a:noFill/>
          <a:ln w="2857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5601" name="AutoShape 65"/>
          <p:cNvSpPr/>
          <p:nvPr/>
        </p:nvSpPr>
        <p:spPr>
          <a:xfrm>
            <a:off x="971550" y="3429000"/>
            <a:ext cx="790575" cy="215900"/>
          </a:xfrm>
          <a:prstGeom prst="rightArrow">
            <a:avLst>
              <a:gd name="adj1" fmla="val 50000"/>
              <a:gd name="adj2" fmla="val 91527"/>
            </a:avLst>
          </a:prstGeom>
          <a:solidFill>
            <a:srgbClr val="00CCFF"/>
          </a:solidFill>
          <a:ln w="9525" cap="flat" cmpd="sng">
            <a:solidFill>
              <a:srgbClr val="00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5602" name="Text Box 66"/>
          <p:cNvSpPr txBox="1"/>
          <p:nvPr/>
        </p:nvSpPr>
        <p:spPr>
          <a:xfrm>
            <a:off x="1835150" y="3213100"/>
            <a:ext cx="1728788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oc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=9V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1210" name="Group 10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1211" name="Picture 10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12" name="Text Box 10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1213" name="Group 10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1214" name="Picture 11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15" name="Text Box 11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5651" name="Group 115"/>
          <p:cNvGrpSpPr/>
          <p:nvPr/>
        </p:nvGrpSpPr>
        <p:grpSpPr>
          <a:xfrm>
            <a:off x="4356100" y="549275"/>
            <a:ext cx="4354513" cy="2406650"/>
            <a:chOff x="2426" y="1525"/>
            <a:chExt cx="2743" cy="1516"/>
          </a:xfrm>
        </p:grpSpPr>
        <p:sp>
          <p:nvSpPr>
            <p:cNvPr id="51217" name="Line 116"/>
            <p:cNvSpPr/>
            <p:nvPr/>
          </p:nvSpPr>
          <p:spPr>
            <a:xfrm flipH="1">
              <a:off x="4740" y="2024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18" name="Rectangle 117"/>
            <p:cNvSpPr/>
            <p:nvPr/>
          </p:nvSpPr>
          <p:spPr>
            <a:xfrm>
              <a:off x="4658" y="234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1219" name="Oval 118"/>
            <p:cNvSpPr/>
            <p:nvPr/>
          </p:nvSpPr>
          <p:spPr>
            <a:xfrm>
              <a:off x="2426" y="234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1220" name="Line 119"/>
            <p:cNvSpPr/>
            <p:nvPr/>
          </p:nvSpPr>
          <p:spPr>
            <a:xfrm flipH="1">
              <a:off x="3696" y="2024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51221" name="Text Box 120"/>
            <p:cNvSpPr txBox="1"/>
            <p:nvPr/>
          </p:nvSpPr>
          <p:spPr>
            <a:xfrm>
              <a:off x="3240" y="2378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1222" name="Text Box 121"/>
            <p:cNvSpPr txBox="1"/>
            <p:nvPr/>
          </p:nvSpPr>
          <p:spPr>
            <a:xfrm>
              <a:off x="4299" y="2341"/>
              <a:ext cx="48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1223" name="Text Box 122"/>
            <p:cNvSpPr txBox="1"/>
            <p:nvPr/>
          </p:nvSpPr>
          <p:spPr>
            <a:xfrm>
              <a:off x="2971" y="1661"/>
              <a:ext cx="47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1224" name="Line 123"/>
            <p:cNvSpPr/>
            <p:nvPr/>
          </p:nvSpPr>
          <p:spPr>
            <a:xfrm>
              <a:off x="3816" y="2138"/>
              <a:ext cx="0" cy="384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1225" name="Text Box 124"/>
            <p:cNvSpPr txBox="1"/>
            <p:nvPr/>
          </p:nvSpPr>
          <p:spPr>
            <a:xfrm>
              <a:off x="3816" y="2186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26" name="Text Box 125"/>
            <p:cNvSpPr txBox="1"/>
            <p:nvPr/>
          </p:nvSpPr>
          <p:spPr>
            <a:xfrm>
              <a:off x="2616" y="2090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27" name="Text Box 126"/>
            <p:cNvSpPr txBox="1"/>
            <p:nvPr/>
          </p:nvSpPr>
          <p:spPr>
            <a:xfrm>
              <a:off x="2616" y="2618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28" name="Text Box 127"/>
            <p:cNvSpPr txBox="1"/>
            <p:nvPr/>
          </p:nvSpPr>
          <p:spPr>
            <a:xfrm>
              <a:off x="2760" y="2378"/>
              <a:ext cx="43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9V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29" name="Text Box 128"/>
            <p:cNvSpPr txBox="1"/>
            <p:nvPr/>
          </p:nvSpPr>
          <p:spPr>
            <a:xfrm>
              <a:off x="4824" y="2042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30" name="Text Box 129"/>
            <p:cNvSpPr txBox="1"/>
            <p:nvPr/>
          </p:nvSpPr>
          <p:spPr>
            <a:xfrm>
              <a:off x="4824" y="2714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31" name="Text Box 130"/>
            <p:cNvSpPr txBox="1"/>
            <p:nvPr/>
          </p:nvSpPr>
          <p:spPr>
            <a:xfrm>
              <a:off x="4785" y="2341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32" name="Line 131"/>
            <p:cNvSpPr/>
            <p:nvPr/>
          </p:nvSpPr>
          <p:spPr>
            <a:xfrm>
              <a:off x="4056" y="2042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33" name="Text Box 132"/>
            <p:cNvSpPr txBox="1"/>
            <p:nvPr/>
          </p:nvSpPr>
          <p:spPr>
            <a:xfrm>
              <a:off x="4332" y="1706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34" name="Text Box 133"/>
            <p:cNvSpPr txBox="1"/>
            <p:nvPr/>
          </p:nvSpPr>
          <p:spPr>
            <a:xfrm>
              <a:off x="3833" y="1706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35" name="Text Box 134"/>
            <p:cNvSpPr txBox="1"/>
            <p:nvPr/>
          </p:nvSpPr>
          <p:spPr>
            <a:xfrm>
              <a:off x="4059" y="1525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36" name="Line 135"/>
            <p:cNvSpPr/>
            <p:nvPr/>
          </p:nvSpPr>
          <p:spPr>
            <a:xfrm flipV="1">
              <a:off x="2608" y="2024"/>
              <a:ext cx="213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37" name="Line 136"/>
            <p:cNvSpPr/>
            <p:nvPr/>
          </p:nvSpPr>
          <p:spPr>
            <a:xfrm>
              <a:off x="2608" y="3022"/>
              <a:ext cx="213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38" name="Line 137"/>
            <p:cNvSpPr/>
            <p:nvPr/>
          </p:nvSpPr>
          <p:spPr>
            <a:xfrm flipH="1" flipV="1">
              <a:off x="2608" y="2024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39" name="Rectangle 138"/>
            <p:cNvSpPr/>
            <p:nvPr/>
          </p:nvSpPr>
          <p:spPr>
            <a:xfrm>
              <a:off x="3615" y="238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1240" name="AutoShape 139"/>
            <p:cNvSpPr/>
            <p:nvPr/>
          </p:nvSpPr>
          <p:spPr>
            <a:xfrm rot="10800000">
              <a:off x="4014" y="1842"/>
              <a:ext cx="407" cy="363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1241" name="Rectangle 140"/>
            <p:cNvSpPr/>
            <p:nvPr/>
          </p:nvSpPr>
          <p:spPr>
            <a:xfrm>
              <a:off x="3016" y="197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65703" name="Group 167"/>
          <p:cNvGrpSpPr/>
          <p:nvPr/>
        </p:nvGrpSpPr>
        <p:grpSpPr>
          <a:xfrm>
            <a:off x="503238" y="4127500"/>
            <a:ext cx="4392612" cy="2592388"/>
            <a:chOff x="2608" y="1979"/>
            <a:chExt cx="2767" cy="1633"/>
          </a:xfrm>
        </p:grpSpPr>
        <p:sp>
          <p:nvSpPr>
            <p:cNvPr id="51243" name="Rectangle 168"/>
            <p:cNvSpPr/>
            <p:nvPr/>
          </p:nvSpPr>
          <p:spPr>
            <a:xfrm>
              <a:off x="2608" y="2024"/>
              <a:ext cx="2767" cy="1588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1244" name="Oval 169"/>
            <p:cNvSpPr/>
            <p:nvPr/>
          </p:nvSpPr>
          <p:spPr>
            <a:xfrm>
              <a:off x="2744" y="279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1245" name="Line 170"/>
            <p:cNvSpPr/>
            <p:nvPr/>
          </p:nvSpPr>
          <p:spPr>
            <a:xfrm flipH="1">
              <a:off x="4014" y="2478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51246" name="Text Box 171"/>
            <p:cNvSpPr txBox="1"/>
            <p:nvPr/>
          </p:nvSpPr>
          <p:spPr>
            <a:xfrm>
              <a:off x="3558" y="2832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1247" name="Text Box 172"/>
            <p:cNvSpPr txBox="1"/>
            <p:nvPr/>
          </p:nvSpPr>
          <p:spPr>
            <a:xfrm>
              <a:off x="3289" y="2115"/>
              <a:ext cx="47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1248" name="Line 173"/>
            <p:cNvSpPr/>
            <p:nvPr/>
          </p:nvSpPr>
          <p:spPr>
            <a:xfrm>
              <a:off x="4134" y="2592"/>
              <a:ext cx="0" cy="384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1249" name="Text Box 174"/>
            <p:cNvSpPr txBox="1"/>
            <p:nvPr/>
          </p:nvSpPr>
          <p:spPr>
            <a:xfrm>
              <a:off x="4134" y="2640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50" name="Text Box 175"/>
            <p:cNvSpPr txBox="1"/>
            <p:nvPr/>
          </p:nvSpPr>
          <p:spPr>
            <a:xfrm>
              <a:off x="2934" y="2544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51" name="Text Box 176"/>
            <p:cNvSpPr txBox="1"/>
            <p:nvPr/>
          </p:nvSpPr>
          <p:spPr>
            <a:xfrm>
              <a:off x="2934" y="3072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52" name="Text Box 177"/>
            <p:cNvSpPr txBox="1"/>
            <p:nvPr/>
          </p:nvSpPr>
          <p:spPr>
            <a:xfrm>
              <a:off x="3078" y="2832"/>
              <a:ext cx="43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9V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53" name="Text Box 178"/>
            <p:cNvSpPr txBox="1"/>
            <p:nvPr/>
          </p:nvSpPr>
          <p:spPr>
            <a:xfrm>
              <a:off x="4921" y="2523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54" name="Text Box 179"/>
            <p:cNvSpPr txBox="1"/>
            <p:nvPr/>
          </p:nvSpPr>
          <p:spPr>
            <a:xfrm>
              <a:off x="4967" y="3158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55" name="Text Box 180"/>
            <p:cNvSpPr txBox="1"/>
            <p:nvPr/>
          </p:nvSpPr>
          <p:spPr>
            <a:xfrm>
              <a:off x="4785" y="2841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56" name="Line 181"/>
            <p:cNvSpPr/>
            <p:nvPr/>
          </p:nvSpPr>
          <p:spPr>
            <a:xfrm>
              <a:off x="4374" y="2496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57" name="Text Box 182"/>
            <p:cNvSpPr txBox="1"/>
            <p:nvPr/>
          </p:nvSpPr>
          <p:spPr>
            <a:xfrm>
              <a:off x="4650" y="2160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58" name="Text Box 183"/>
            <p:cNvSpPr txBox="1"/>
            <p:nvPr/>
          </p:nvSpPr>
          <p:spPr>
            <a:xfrm>
              <a:off x="4151" y="2160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59" name="Text Box 184"/>
            <p:cNvSpPr txBox="1"/>
            <p:nvPr/>
          </p:nvSpPr>
          <p:spPr>
            <a:xfrm>
              <a:off x="4377" y="1979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60" name="Line 185"/>
            <p:cNvSpPr/>
            <p:nvPr/>
          </p:nvSpPr>
          <p:spPr>
            <a:xfrm flipV="1">
              <a:off x="2926" y="2478"/>
              <a:ext cx="213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61" name="Line 186"/>
            <p:cNvSpPr/>
            <p:nvPr/>
          </p:nvSpPr>
          <p:spPr>
            <a:xfrm>
              <a:off x="2926" y="3476"/>
              <a:ext cx="213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62" name="Line 187"/>
            <p:cNvSpPr/>
            <p:nvPr/>
          </p:nvSpPr>
          <p:spPr>
            <a:xfrm flipH="1" flipV="1">
              <a:off x="2926" y="2478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63" name="Rectangle 188"/>
            <p:cNvSpPr/>
            <p:nvPr/>
          </p:nvSpPr>
          <p:spPr>
            <a:xfrm>
              <a:off x="3933" y="284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1264" name="AutoShape 189"/>
            <p:cNvSpPr/>
            <p:nvPr/>
          </p:nvSpPr>
          <p:spPr>
            <a:xfrm rot="10800000">
              <a:off x="4332" y="2296"/>
              <a:ext cx="407" cy="363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1265" name="Rectangle 190"/>
            <p:cNvSpPr/>
            <p:nvPr/>
          </p:nvSpPr>
          <p:spPr>
            <a:xfrm>
              <a:off x="3334" y="243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1266" name="Oval 191"/>
            <p:cNvSpPr/>
            <p:nvPr/>
          </p:nvSpPr>
          <p:spPr>
            <a:xfrm>
              <a:off x="5057" y="3430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1267" name="Oval 192"/>
            <p:cNvSpPr/>
            <p:nvPr/>
          </p:nvSpPr>
          <p:spPr>
            <a:xfrm>
              <a:off x="5057" y="2432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51268" name="Group 227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51269" name="Picture 22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70" name="Text Box 229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5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5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5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5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5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5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5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5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5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5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5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5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5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5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5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5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5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5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5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500"/>
                                        <p:tgtEl>
                                          <p:spTgt spid="65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/>
      <p:bldP spid="65571" grpId="0"/>
      <p:bldP spid="65596" grpId="0" animBg="1"/>
      <p:bldP spid="65597" grpId="0"/>
      <p:bldP spid="65598" grpId="0"/>
      <p:bldP spid="65599" grpId="0"/>
      <p:bldP spid="65600" grpId="0" animBg="1"/>
      <p:bldP spid="65601" grpId="0" animBg="1"/>
      <p:bldP spid="6560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40" name="Text Box 4"/>
          <p:cNvSpPr txBox="1"/>
          <p:nvPr/>
        </p:nvSpPr>
        <p:spPr>
          <a:xfrm>
            <a:off x="1331913" y="620713"/>
            <a:ext cx="352742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zh-CN" dirty="0">
                <a:latin typeface="Times New Roman" panose="02020603050405020304" pitchFamily="18" charset="0"/>
                <a:ea typeface="楷体_GB2312" pitchFamily="49" charset="-122"/>
              </a:rPr>
              <a:t>求电压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71" name="Text Box 35"/>
          <p:cNvSpPr txBox="1"/>
          <p:nvPr/>
        </p:nvSpPr>
        <p:spPr>
          <a:xfrm>
            <a:off x="395288" y="549275"/>
            <a:ext cx="863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96" name="Text Box 60"/>
          <p:cNvSpPr txBox="1"/>
          <p:nvPr/>
        </p:nvSpPr>
        <p:spPr>
          <a:xfrm>
            <a:off x="468313" y="1196975"/>
            <a:ext cx="647700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601" name="AutoShape 65"/>
          <p:cNvSpPr/>
          <p:nvPr/>
        </p:nvSpPr>
        <p:spPr>
          <a:xfrm>
            <a:off x="971550" y="3429000"/>
            <a:ext cx="790575" cy="215900"/>
          </a:xfrm>
          <a:prstGeom prst="rightArrow">
            <a:avLst>
              <a:gd name="adj1" fmla="val 50000"/>
              <a:gd name="adj2" fmla="val 91527"/>
            </a:avLst>
          </a:prstGeom>
          <a:solidFill>
            <a:srgbClr val="00CCFF"/>
          </a:solidFill>
          <a:ln w="9525" cap="flat" cmpd="sng">
            <a:solidFill>
              <a:srgbClr val="00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5602" name="Text Box 66"/>
          <p:cNvSpPr txBox="1"/>
          <p:nvPr/>
        </p:nvSpPr>
        <p:spPr>
          <a:xfrm>
            <a:off x="1835150" y="3213100"/>
            <a:ext cx="1728788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oc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=9V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634" name="Text Box 98"/>
          <p:cNvSpPr txBox="1"/>
          <p:nvPr/>
        </p:nvSpPr>
        <p:spPr>
          <a:xfrm>
            <a:off x="468313" y="3860800"/>
            <a:ext cx="3276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spcBef>
                <a:spcPct val="50000"/>
              </a:spcBef>
              <a:buAutoNum type="circleNumDbPlain" startA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求等效电阻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eq</a:t>
            </a:r>
            <a:endParaRPr lang="en-US" altLang="zh-CN" b="0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635" name="Text Box 99" descr="绿色大理石"/>
          <p:cNvSpPr txBox="1"/>
          <p:nvPr/>
        </p:nvSpPr>
        <p:spPr>
          <a:xfrm>
            <a:off x="3276600" y="3789363"/>
            <a:ext cx="3095625" cy="519112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方法</a:t>
            </a: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：加压求流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52232" name="Group 10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2233" name="Picture 107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234" name="Text Box 10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2235" name="Group 10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2236" name="Picture 110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237" name="Text Box 11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5651" name="Group 115"/>
          <p:cNvGrpSpPr/>
          <p:nvPr/>
        </p:nvGrpSpPr>
        <p:grpSpPr>
          <a:xfrm>
            <a:off x="4356100" y="549275"/>
            <a:ext cx="4354513" cy="2406650"/>
            <a:chOff x="2426" y="1525"/>
            <a:chExt cx="2743" cy="1516"/>
          </a:xfrm>
        </p:grpSpPr>
        <p:sp>
          <p:nvSpPr>
            <p:cNvPr id="52239" name="Line 116"/>
            <p:cNvSpPr/>
            <p:nvPr/>
          </p:nvSpPr>
          <p:spPr>
            <a:xfrm flipH="1">
              <a:off x="4740" y="2024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40" name="Rectangle 117"/>
            <p:cNvSpPr/>
            <p:nvPr/>
          </p:nvSpPr>
          <p:spPr>
            <a:xfrm>
              <a:off x="4658" y="234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2241" name="Oval 118"/>
            <p:cNvSpPr/>
            <p:nvPr/>
          </p:nvSpPr>
          <p:spPr>
            <a:xfrm>
              <a:off x="2426" y="234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2242" name="Line 119"/>
            <p:cNvSpPr/>
            <p:nvPr/>
          </p:nvSpPr>
          <p:spPr>
            <a:xfrm flipH="1">
              <a:off x="3696" y="2024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52243" name="Text Box 120"/>
            <p:cNvSpPr txBox="1"/>
            <p:nvPr/>
          </p:nvSpPr>
          <p:spPr>
            <a:xfrm>
              <a:off x="3240" y="2378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2244" name="Text Box 121"/>
            <p:cNvSpPr txBox="1"/>
            <p:nvPr/>
          </p:nvSpPr>
          <p:spPr>
            <a:xfrm>
              <a:off x="4299" y="2341"/>
              <a:ext cx="48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2245" name="Text Box 122"/>
            <p:cNvSpPr txBox="1"/>
            <p:nvPr/>
          </p:nvSpPr>
          <p:spPr>
            <a:xfrm>
              <a:off x="2971" y="1661"/>
              <a:ext cx="47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2246" name="Line 123"/>
            <p:cNvSpPr/>
            <p:nvPr/>
          </p:nvSpPr>
          <p:spPr>
            <a:xfrm>
              <a:off x="3816" y="2138"/>
              <a:ext cx="0" cy="384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247" name="Text Box 124"/>
            <p:cNvSpPr txBox="1"/>
            <p:nvPr/>
          </p:nvSpPr>
          <p:spPr>
            <a:xfrm>
              <a:off x="3816" y="2186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48" name="Text Box 125"/>
            <p:cNvSpPr txBox="1"/>
            <p:nvPr/>
          </p:nvSpPr>
          <p:spPr>
            <a:xfrm>
              <a:off x="2616" y="2090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49" name="Text Box 126"/>
            <p:cNvSpPr txBox="1"/>
            <p:nvPr/>
          </p:nvSpPr>
          <p:spPr>
            <a:xfrm>
              <a:off x="2616" y="2618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50" name="Text Box 127"/>
            <p:cNvSpPr txBox="1"/>
            <p:nvPr/>
          </p:nvSpPr>
          <p:spPr>
            <a:xfrm>
              <a:off x="2760" y="2378"/>
              <a:ext cx="43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9V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51" name="Text Box 128"/>
            <p:cNvSpPr txBox="1"/>
            <p:nvPr/>
          </p:nvSpPr>
          <p:spPr>
            <a:xfrm>
              <a:off x="4824" y="2042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52" name="Text Box 129"/>
            <p:cNvSpPr txBox="1"/>
            <p:nvPr/>
          </p:nvSpPr>
          <p:spPr>
            <a:xfrm>
              <a:off x="4824" y="2714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53" name="Text Box 130"/>
            <p:cNvSpPr txBox="1"/>
            <p:nvPr/>
          </p:nvSpPr>
          <p:spPr>
            <a:xfrm>
              <a:off x="4785" y="2341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54" name="Line 131"/>
            <p:cNvSpPr/>
            <p:nvPr/>
          </p:nvSpPr>
          <p:spPr>
            <a:xfrm>
              <a:off x="4056" y="2042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55" name="Text Box 132"/>
            <p:cNvSpPr txBox="1"/>
            <p:nvPr/>
          </p:nvSpPr>
          <p:spPr>
            <a:xfrm>
              <a:off x="4332" y="1706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56" name="Text Box 133"/>
            <p:cNvSpPr txBox="1"/>
            <p:nvPr/>
          </p:nvSpPr>
          <p:spPr>
            <a:xfrm>
              <a:off x="3833" y="1706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57" name="Text Box 134"/>
            <p:cNvSpPr txBox="1"/>
            <p:nvPr/>
          </p:nvSpPr>
          <p:spPr>
            <a:xfrm>
              <a:off x="4059" y="1525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58" name="Line 135"/>
            <p:cNvSpPr/>
            <p:nvPr/>
          </p:nvSpPr>
          <p:spPr>
            <a:xfrm flipV="1">
              <a:off x="2608" y="2024"/>
              <a:ext cx="213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59" name="Line 136"/>
            <p:cNvSpPr/>
            <p:nvPr/>
          </p:nvSpPr>
          <p:spPr>
            <a:xfrm>
              <a:off x="2608" y="3022"/>
              <a:ext cx="213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60" name="Line 137"/>
            <p:cNvSpPr/>
            <p:nvPr/>
          </p:nvSpPr>
          <p:spPr>
            <a:xfrm flipH="1" flipV="1">
              <a:off x="2608" y="2024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61" name="Rectangle 138"/>
            <p:cNvSpPr/>
            <p:nvPr/>
          </p:nvSpPr>
          <p:spPr>
            <a:xfrm>
              <a:off x="3615" y="238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2262" name="AutoShape 139"/>
            <p:cNvSpPr/>
            <p:nvPr/>
          </p:nvSpPr>
          <p:spPr>
            <a:xfrm rot="10800000">
              <a:off x="4014" y="1842"/>
              <a:ext cx="407" cy="363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2263" name="Rectangle 140"/>
            <p:cNvSpPr/>
            <p:nvPr/>
          </p:nvSpPr>
          <p:spPr>
            <a:xfrm>
              <a:off x="3016" y="197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65729" name="Group 193"/>
          <p:cNvGrpSpPr/>
          <p:nvPr/>
        </p:nvGrpSpPr>
        <p:grpSpPr>
          <a:xfrm>
            <a:off x="198438" y="576263"/>
            <a:ext cx="3898900" cy="2535237"/>
            <a:chOff x="2426" y="1979"/>
            <a:chExt cx="2813" cy="1633"/>
          </a:xfrm>
        </p:grpSpPr>
        <p:sp>
          <p:nvSpPr>
            <p:cNvPr id="52265" name="Rectangle 194"/>
            <p:cNvSpPr/>
            <p:nvPr/>
          </p:nvSpPr>
          <p:spPr>
            <a:xfrm>
              <a:off x="2426" y="2024"/>
              <a:ext cx="2767" cy="1588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2266" name="Oval 195"/>
            <p:cNvSpPr/>
            <p:nvPr/>
          </p:nvSpPr>
          <p:spPr>
            <a:xfrm>
              <a:off x="4694" y="279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2267" name="Line 196"/>
            <p:cNvSpPr/>
            <p:nvPr/>
          </p:nvSpPr>
          <p:spPr>
            <a:xfrm flipH="1">
              <a:off x="4876" y="2478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68" name="Line 197"/>
            <p:cNvSpPr/>
            <p:nvPr/>
          </p:nvSpPr>
          <p:spPr>
            <a:xfrm flipH="1">
              <a:off x="3832" y="2478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52269" name="Text Box 198"/>
            <p:cNvSpPr txBox="1"/>
            <p:nvPr/>
          </p:nvSpPr>
          <p:spPr>
            <a:xfrm>
              <a:off x="3376" y="2832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2270" name="Text Box 199"/>
            <p:cNvSpPr txBox="1"/>
            <p:nvPr/>
          </p:nvSpPr>
          <p:spPr>
            <a:xfrm>
              <a:off x="3107" y="2115"/>
              <a:ext cx="47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2271" name="Line 200"/>
            <p:cNvSpPr/>
            <p:nvPr/>
          </p:nvSpPr>
          <p:spPr>
            <a:xfrm>
              <a:off x="3952" y="2592"/>
              <a:ext cx="0" cy="384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272" name="Text Box 201"/>
            <p:cNvSpPr txBox="1"/>
            <p:nvPr/>
          </p:nvSpPr>
          <p:spPr>
            <a:xfrm>
              <a:off x="3952" y="2640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73" name="Text Box 202"/>
            <p:cNvSpPr txBox="1"/>
            <p:nvPr/>
          </p:nvSpPr>
          <p:spPr>
            <a:xfrm>
              <a:off x="4513" y="2523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74" name="Text Box 203"/>
            <p:cNvSpPr txBox="1"/>
            <p:nvPr/>
          </p:nvSpPr>
          <p:spPr>
            <a:xfrm>
              <a:off x="4558" y="3158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75" name="Text Box 204"/>
            <p:cNvSpPr txBox="1"/>
            <p:nvPr/>
          </p:nvSpPr>
          <p:spPr>
            <a:xfrm>
              <a:off x="4422" y="2841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76" name="Line 205"/>
            <p:cNvSpPr/>
            <p:nvPr/>
          </p:nvSpPr>
          <p:spPr>
            <a:xfrm>
              <a:off x="4192" y="2496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77" name="Text Box 206"/>
            <p:cNvSpPr txBox="1"/>
            <p:nvPr/>
          </p:nvSpPr>
          <p:spPr>
            <a:xfrm>
              <a:off x="4468" y="2160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78" name="Text Box 207"/>
            <p:cNvSpPr txBox="1"/>
            <p:nvPr/>
          </p:nvSpPr>
          <p:spPr>
            <a:xfrm>
              <a:off x="3969" y="2160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79" name="Text Box 208"/>
            <p:cNvSpPr txBox="1"/>
            <p:nvPr/>
          </p:nvSpPr>
          <p:spPr>
            <a:xfrm>
              <a:off x="4195" y="1979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80" name="Line 209"/>
            <p:cNvSpPr/>
            <p:nvPr/>
          </p:nvSpPr>
          <p:spPr>
            <a:xfrm flipV="1">
              <a:off x="2744" y="2478"/>
              <a:ext cx="213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81" name="Line 210"/>
            <p:cNvSpPr/>
            <p:nvPr/>
          </p:nvSpPr>
          <p:spPr>
            <a:xfrm>
              <a:off x="2744" y="3476"/>
              <a:ext cx="213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82" name="Line 211"/>
            <p:cNvSpPr/>
            <p:nvPr/>
          </p:nvSpPr>
          <p:spPr>
            <a:xfrm flipH="1" flipV="1">
              <a:off x="2744" y="2478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83" name="Rectangle 212"/>
            <p:cNvSpPr/>
            <p:nvPr/>
          </p:nvSpPr>
          <p:spPr>
            <a:xfrm>
              <a:off x="3751" y="284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2284" name="AutoShape 213"/>
            <p:cNvSpPr/>
            <p:nvPr/>
          </p:nvSpPr>
          <p:spPr>
            <a:xfrm rot="10800000">
              <a:off x="4150" y="2296"/>
              <a:ext cx="407" cy="363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2285" name="Rectangle 214"/>
            <p:cNvSpPr/>
            <p:nvPr/>
          </p:nvSpPr>
          <p:spPr>
            <a:xfrm>
              <a:off x="3152" y="243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2286" name="Line 215"/>
            <p:cNvSpPr/>
            <p:nvPr/>
          </p:nvSpPr>
          <p:spPr>
            <a:xfrm flipH="1" flipV="1">
              <a:off x="4967" y="2432"/>
              <a:ext cx="0" cy="27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287" name="Text Box 216"/>
            <p:cNvSpPr txBox="1"/>
            <p:nvPr/>
          </p:nvSpPr>
          <p:spPr>
            <a:xfrm>
              <a:off x="4785" y="2115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5753" name="AutoShape 217" descr="羊皮纸"/>
          <p:cNvSpPr/>
          <p:nvPr/>
        </p:nvSpPr>
        <p:spPr>
          <a:xfrm>
            <a:off x="6588125" y="3357563"/>
            <a:ext cx="2266950" cy="576262"/>
          </a:xfrm>
          <a:prstGeom prst="wedgeRoundRectCallout">
            <a:avLst>
              <a:gd name="adj1" fmla="val -128713"/>
              <a:gd name="adj2" fmla="val -184435"/>
              <a:gd name="adj3" fmla="val 16667"/>
            </a:avLst>
          </a:prstGeom>
          <a:blipFill rotWithShape="1">
            <a:blip r:embed="rId3"/>
          </a:blipFill>
          <a:ln w="9525">
            <a:noFill/>
          </a:ln>
        </p:spPr>
        <p:txBody>
          <a:bodyPr anchor="t" anchorCtr="0"/>
          <a:p>
            <a:pPr algn="ctr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独立源置零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5754" name="Text Box 218"/>
          <p:cNvSpPr txBox="1"/>
          <p:nvPr/>
        </p:nvSpPr>
        <p:spPr>
          <a:xfrm>
            <a:off x="755650" y="4508500"/>
            <a:ext cx="2447925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=6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+3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=9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55" name="Text Box 219"/>
          <p:cNvSpPr txBox="1"/>
          <p:nvPr/>
        </p:nvSpPr>
        <p:spPr>
          <a:xfrm>
            <a:off x="827088" y="5156200"/>
            <a:ext cx="3635375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6/(6+3)=(2/3)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56" name="AutoShape 220"/>
          <p:cNvSpPr/>
          <p:nvPr/>
        </p:nvSpPr>
        <p:spPr>
          <a:xfrm>
            <a:off x="684213" y="4651375"/>
            <a:ext cx="71437" cy="1008063"/>
          </a:xfrm>
          <a:prstGeom prst="leftBrace">
            <a:avLst>
              <a:gd name="adj1" fmla="val 117528"/>
              <a:gd name="adj2" fmla="val 50000"/>
            </a:avLst>
          </a:prstGeom>
          <a:noFill/>
          <a:ln w="2857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5757" name="AutoShape 221"/>
          <p:cNvSpPr/>
          <p:nvPr/>
        </p:nvSpPr>
        <p:spPr>
          <a:xfrm>
            <a:off x="3563938" y="4652963"/>
            <a:ext cx="720725" cy="215900"/>
          </a:xfrm>
          <a:prstGeom prst="rightArrow">
            <a:avLst>
              <a:gd name="adj1" fmla="val 50000"/>
              <a:gd name="adj2" fmla="val 83440"/>
            </a:avLst>
          </a:prstGeom>
          <a:solidFill>
            <a:srgbClr val="00CCFF"/>
          </a:solidFill>
          <a:ln w="9525" cap="flat" cmpd="sng">
            <a:solidFill>
              <a:srgbClr val="00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5758" name="Text Box 222"/>
          <p:cNvSpPr txBox="1"/>
          <p:nvPr/>
        </p:nvSpPr>
        <p:spPr>
          <a:xfrm>
            <a:off x="4427538" y="4508500"/>
            <a:ext cx="37084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=9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(2/3)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=6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endParaRPr lang="en-US" altLang="zh-CN" sz="3200" b="0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59" name="Text Box 223"/>
          <p:cNvSpPr txBox="1"/>
          <p:nvPr/>
        </p:nvSpPr>
        <p:spPr>
          <a:xfrm>
            <a:off x="4716463" y="5157788"/>
            <a:ext cx="3240087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eq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/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=6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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52295" name="Group 227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52296" name="Picture 228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297" name="Text Box 229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5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5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5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5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5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5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5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5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65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2" dur="500"/>
                                        <p:tgtEl>
                                          <p:spTgt spid="6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7" dur="500"/>
                                        <p:tgtEl>
                                          <p:spTgt spid="6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5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6" dur="2000"/>
                                        <p:tgtEl>
                                          <p:spTgt spid="65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5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5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6" presetClass="entr" presetSubtype="4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6" dur="500"/>
                                        <p:tgtEl>
                                          <p:spTgt spid="65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1" dur="500"/>
                                        <p:tgtEl>
                                          <p:spTgt spid="65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6" dur="500"/>
                                        <p:tgtEl>
                                          <p:spTgt spid="65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5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5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57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57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5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5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57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57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/>
      <p:bldP spid="65571" grpId="0"/>
      <p:bldP spid="65596" grpId="0" animBg="1"/>
      <p:bldP spid="65601" grpId="0" animBg="1"/>
      <p:bldP spid="65602" grpId="0"/>
      <p:bldP spid="65634" grpId="0"/>
      <p:bldP spid="65635" grpId="0" bldLvl="0" animBg="1"/>
      <p:bldP spid="65753" grpId="0" bldLvl="0" animBg="1"/>
      <p:bldP spid="65754" grpId="0"/>
      <p:bldP spid="65755" grpId="0"/>
      <p:bldP spid="65756" grpId="0" animBg="1"/>
      <p:bldP spid="65757" grpId="0" animBg="1"/>
      <p:bldP spid="65758" grpId="0"/>
      <p:bldP spid="6575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49" name="Text Box 41" descr="绿色大理石"/>
          <p:cNvSpPr txBox="1"/>
          <p:nvPr/>
        </p:nvSpPr>
        <p:spPr>
          <a:xfrm>
            <a:off x="539750" y="620713"/>
            <a:ext cx="4751388" cy="519112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方法</a:t>
            </a: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：开路电压、短路电流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8650" name="Text Box 42"/>
          <p:cNvSpPr txBox="1"/>
          <p:nvPr/>
        </p:nvSpPr>
        <p:spPr>
          <a:xfrm>
            <a:off x="1187450" y="1196975"/>
            <a:ext cx="1828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oc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=9V)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51" name="Text Box 43"/>
          <p:cNvSpPr txBox="1"/>
          <p:nvPr/>
        </p:nvSpPr>
        <p:spPr>
          <a:xfrm>
            <a:off x="1044575" y="1700213"/>
            <a:ext cx="2232025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+3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=9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52" name="Text Box 44"/>
          <p:cNvSpPr txBox="1"/>
          <p:nvPr/>
        </p:nvSpPr>
        <p:spPr>
          <a:xfrm>
            <a:off x="1042988" y="2276475"/>
            <a:ext cx="2592387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+3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lang="en-US" altLang="zh-CN" sz="3200" b="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53" name="Text Box 45"/>
          <p:cNvSpPr txBox="1"/>
          <p:nvPr/>
        </p:nvSpPr>
        <p:spPr>
          <a:xfrm>
            <a:off x="1835150" y="27813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54" name="AutoShape 46"/>
          <p:cNvSpPr/>
          <p:nvPr/>
        </p:nvSpPr>
        <p:spPr>
          <a:xfrm>
            <a:off x="1116013" y="2924175"/>
            <a:ext cx="504825" cy="215900"/>
          </a:xfrm>
          <a:prstGeom prst="rightArrow">
            <a:avLst>
              <a:gd name="adj1" fmla="val 50000"/>
              <a:gd name="adj2" fmla="val 58445"/>
            </a:avLst>
          </a:prstGeom>
          <a:solidFill>
            <a:srgbClr val="00CCFF"/>
          </a:solidFill>
          <a:ln w="9525" cap="flat" cmpd="sng">
            <a:solidFill>
              <a:srgbClr val="00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8655" name="Text Box 47"/>
          <p:cNvSpPr txBox="1"/>
          <p:nvPr/>
        </p:nvSpPr>
        <p:spPr>
          <a:xfrm>
            <a:off x="900113" y="3284538"/>
            <a:ext cx="2951162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=9/6=1.5A</a:t>
            </a:r>
            <a:endParaRPr lang="en-US" altLang="zh-CN" sz="3200" b="0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56" name="Text Box 48"/>
          <p:cNvSpPr txBox="1"/>
          <p:nvPr/>
        </p:nvSpPr>
        <p:spPr>
          <a:xfrm>
            <a:off x="827088" y="3933825"/>
            <a:ext cx="4427537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eq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oc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/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=9/1.5=6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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8688" name="AutoShape 80" descr="羊皮纸"/>
          <p:cNvSpPr/>
          <p:nvPr/>
        </p:nvSpPr>
        <p:spPr>
          <a:xfrm>
            <a:off x="5580063" y="3213100"/>
            <a:ext cx="2305050" cy="792163"/>
          </a:xfrm>
          <a:prstGeom prst="wedgeRoundRectCallout">
            <a:avLst>
              <a:gd name="adj1" fmla="val -57852"/>
              <a:gd name="adj2" fmla="val -130560"/>
              <a:gd name="adj3" fmla="val 16667"/>
            </a:avLst>
          </a:prstGeom>
          <a:blipFill rotWithShape="1">
            <a:blip r:embed="rId2"/>
          </a:blipFill>
          <a:ln w="9525">
            <a:noFill/>
          </a:ln>
        </p:spPr>
        <p:txBody>
          <a:bodyPr anchor="t" anchorCtr="0"/>
          <a:p>
            <a:pPr algn="ctr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独立源保留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53258" name="Group 8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3259" name="Picture 85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3260" name="Text Box 8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3261" name="Group 8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3262" name="Picture 88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3263" name="Text Box 8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8701" name="Group 93"/>
          <p:cNvGrpSpPr/>
          <p:nvPr/>
        </p:nvGrpSpPr>
        <p:grpSpPr>
          <a:xfrm>
            <a:off x="4284663" y="692150"/>
            <a:ext cx="4570412" cy="2376488"/>
            <a:chOff x="2381" y="2070"/>
            <a:chExt cx="2879" cy="1497"/>
          </a:xfrm>
        </p:grpSpPr>
        <p:sp>
          <p:nvSpPr>
            <p:cNvPr id="53265" name="Line 94"/>
            <p:cNvSpPr/>
            <p:nvPr/>
          </p:nvSpPr>
          <p:spPr>
            <a:xfrm flipH="1">
              <a:off x="4876" y="2569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66" name="Oval 95"/>
            <p:cNvSpPr/>
            <p:nvPr/>
          </p:nvSpPr>
          <p:spPr>
            <a:xfrm>
              <a:off x="2562" y="288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3267" name="Line 96"/>
            <p:cNvSpPr/>
            <p:nvPr/>
          </p:nvSpPr>
          <p:spPr>
            <a:xfrm flipH="1">
              <a:off x="3832" y="2569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53268" name="Text Box 97"/>
            <p:cNvSpPr txBox="1"/>
            <p:nvPr/>
          </p:nvSpPr>
          <p:spPr>
            <a:xfrm>
              <a:off x="3376" y="2923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3269" name="Text Box 98"/>
            <p:cNvSpPr txBox="1"/>
            <p:nvPr/>
          </p:nvSpPr>
          <p:spPr>
            <a:xfrm>
              <a:off x="3107" y="2206"/>
              <a:ext cx="47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3270" name="Line 99"/>
            <p:cNvSpPr/>
            <p:nvPr/>
          </p:nvSpPr>
          <p:spPr>
            <a:xfrm>
              <a:off x="3952" y="2683"/>
              <a:ext cx="0" cy="384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3271" name="Text Box 100"/>
            <p:cNvSpPr txBox="1"/>
            <p:nvPr/>
          </p:nvSpPr>
          <p:spPr>
            <a:xfrm>
              <a:off x="3952" y="2731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72" name="Text Box 101"/>
            <p:cNvSpPr txBox="1"/>
            <p:nvPr/>
          </p:nvSpPr>
          <p:spPr>
            <a:xfrm>
              <a:off x="2752" y="2635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73" name="Text Box 102"/>
            <p:cNvSpPr txBox="1"/>
            <p:nvPr/>
          </p:nvSpPr>
          <p:spPr>
            <a:xfrm>
              <a:off x="2752" y="3163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74" name="Text Box 103"/>
            <p:cNvSpPr txBox="1"/>
            <p:nvPr/>
          </p:nvSpPr>
          <p:spPr>
            <a:xfrm>
              <a:off x="2896" y="2923"/>
              <a:ext cx="43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9V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75" name="Line 104"/>
            <p:cNvSpPr/>
            <p:nvPr/>
          </p:nvSpPr>
          <p:spPr>
            <a:xfrm>
              <a:off x="4192" y="2587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76" name="Text Box 105"/>
            <p:cNvSpPr txBox="1"/>
            <p:nvPr/>
          </p:nvSpPr>
          <p:spPr>
            <a:xfrm>
              <a:off x="4468" y="2251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77" name="Text Box 106"/>
            <p:cNvSpPr txBox="1"/>
            <p:nvPr/>
          </p:nvSpPr>
          <p:spPr>
            <a:xfrm>
              <a:off x="3969" y="2251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78" name="Text Box 107"/>
            <p:cNvSpPr txBox="1"/>
            <p:nvPr/>
          </p:nvSpPr>
          <p:spPr>
            <a:xfrm>
              <a:off x="4195" y="2070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79" name="Line 108"/>
            <p:cNvSpPr/>
            <p:nvPr/>
          </p:nvSpPr>
          <p:spPr>
            <a:xfrm flipV="1">
              <a:off x="2744" y="2569"/>
              <a:ext cx="213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80" name="Line 109"/>
            <p:cNvSpPr/>
            <p:nvPr/>
          </p:nvSpPr>
          <p:spPr>
            <a:xfrm>
              <a:off x="2744" y="3567"/>
              <a:ext cx="213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81" name="Line 110"/>
            <p:cNvSpPr/>
            <p:nvPr/>
          </p:nvSpPr>
          <p:spPr>
            <a:xfrm flipH="1" flipV="1">
              <a:off x="2744" y="2569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82" name="Rectangle 111"/>
            <p:cNvSpPr/>
            <p:nvPr/>
          </p:nvSpPr>
          <p:spPr>
            <a:xfrm>
              <a:off x="3751" y="293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3283" name="AutoShape 112"/>
            <p:cNvSpPr/>
            <p:nvPr/>
          </p:nvSpPr>
          <p:spPr>
            <a:xfrm rot="10800000">
              <a:off x="4150" y="2387"/>
              <a:ext cx="407" cy="363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3284" name="Rectangle 113"/>
            <p:cNvSpPr/>
            <p:nvPr/>
          </p:nvSpPr>
          <p:spPr>
            <a:xfrm>
              <a:off x="3152" y="252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3285" name="Text Box 114"/>
            <p:cNvSpPr txBox="1"/>
            <p:nvPr/>
          </p:nvSpPr>
          <p:spPr>
            <a:xfrm>
              <a:off x="4876" y="2614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86" name="Line 115"/>
            <p:cNvSpPr/>
            <p:nvPr/>
          </p:nvSpPr>
          <p:spPr>
            <a:xfrm>
              <a:off x="4785" y="2659"/>
              <a:ext cx="0" cy="336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3287" name="Line 116"/>
            <p:cNvSpPr/>
            <p:nvPr/>
          </p:nvSpPr>
          <p:spPr>
            <a:xfrm flipV="1">
              <a:off x="2653" y="2568"/>
              <a:ext cx="0" cy="24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3288" name="Text Box 117"/>
            <p:cNvSpPr txBox="1"/>
            <p:nvPr/>
          </p:nvSpPr>
          <p:spPr>
            <a:xfrm>
              <a:off x="2381" y="2568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8747" name="Group 139"/>
          <p:cNvGrpSpPr/>
          <p:nvPr/>
        </p:nvGrpSpPr>
        <p:grpSpPr>
          <a:xfrm>
            <a:off x="5435600" y="4076700"/>
            <a:ext cx="3167063" cy="2087563"/>
            <a:chOff x="3424" y="2568"/>
            <a:chExt cx="1995" cy="1315"/>
          </a:xfrm>
        </p:grpSpPr>
        <p:grpSp>
          <p:nvGrpSpPr>
            <p:cNvPr id="53290" name="Group 118"/>
            <p:cNvGrpSpPr/>
            <p:nvPr/>
          </p:nvGrpSpPr>
          <p:grpSpPr>
            <a:xfrm>
              <a:off x="3424" y="2568"/>
              <a:ext cx="1488" cy="1315"/>
              <a:chOff x="3832" y="2341"/>
              <a:chExt cx="1488" cy="1315"/>
            </a:xfrm>
          </p:grpSpPr>
          <p:sp>
            <p:nvSpPr>
              <p:cNvPr id="53291" name="Text Box 119"/>
              <p:cNvSpPr txBox="1"/>
              <p:nvPr/>
            </p:nvSpPr>
            <p:spPr>
              <a:xfrm>
                <a:off x="4649" y="2795"/>
                <a:ext cx="423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292" name="Oval 120"/>
              <p:cNvSpPr/>
              <p:nvPr/>
            </p:nvSpPr>
            <p:spPr>
              <a:xfrm>
                <a:off x="3832" y="3066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3293" name="Line 121"/>
              <p:cNvSpPr/>
              <p:nvPr/>
            </p:nvSpPr>
            <p:spPr>
              <a:xfrm>
                <a:off x="4014" y="3611"/>
                <a:ext cx="726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3294" name="Line 122"/>
              <p:cNvSpPr/>
              <p:nvPr/>
            </p:nvSpPr>
            <p:spPr>
              <a:xfrm>
                <a:off x="4014" y="2386"/>
                <a:ext cx="0" cy="1225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3295" name="Line 123"/>
              <p:cNvSpPr/>
              <p:nvPr/>
            </p:nvSpPr>
            <p:spPr>
              <a:xfrm>
                <a:off x="4014" y="2386"/>
                <a:ext cx="726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3296" name="Text Box 124"/>
              <p:cNvSpPr txBox="1"/>
              <p:nvPr/>
            </p:nvSpPr>
            <p:spPr>
              <a:xfrm>
                <a:off x="4059" y="2750"/>
                <a:ext cx="303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297" name="Text Box 125"/>
              <p:cNvSpPr txBox="1"/>
              <p:nvPr/>
            </p:nvSpPr>
            <p:spPr>
              <a:xfrm>
                <a:off x="4150" y="3294"/>
                <a:ext cx="228" cy="32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-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298" name="Text Box 126"/>
              <p:cNvSpPr txBox="1"/>
              <p:nvPr/>
            </p:nvSpPr>
            <p:spPr>
              <a:xfrm>
                <a:off x="4785" y="2432"/>
                <a:ext cx="24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299" name="Text Box 127"/>
              <p:cNvSpPr txBox="1"/>
              <p:nvPr/>
            </p:nvSpPr>
            <p:spPr>
              <a:xfrm>
                <a:off x="4785" y="3294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-</a:t>
                </a:r>
                <a:endPara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3300" name="Rectangle 128"/>
              <p:cNvSpPr/>
              <p:nvPr/>
            </p:nvSpPr>
            <p:spPr>
              <a:xfrm>
                <a:off x="3932" y="2477"/>
                <a:ext cx="127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53301" name="Oval 129"/>
              <p:cNvSpPr/>
              <p:nvPr/>
            </p:nvSpPr>
            <p:spPr>
              <a:xfrm>
                <a:off x="4739" y="3565"/>
                <a:ext cx="91" cy="91"/>
              </a:xfrm>
              <a:prstGeom prst="ellipse">
                <a:avLst/>
              </a:prstGeom>
              <a:noFill/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53302" name="Oval 130"/>
              <p:cNvSpPr/>
              <p:nvPr/>
            </p:nvSpPr>
            <p:spPr>
              <a:xfrm>
                <a:off x="4739" y="2341"/>
                <a:ext cx="91" cy="91"/>
              </a:xfrm>
              <a:prstGeom prst="ellipse">
                <a:avLst/>
              </a:prstGeom>
              <a:noFill/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53303" name="Line 131"/>
              <p:cNvSpPr/>
              <p:nvPr/>
            </p:nvSpPr>
            <p:spPr>
              <a:xfrm>
                <a:off x="4830" y="2386"/>
                <a:ext cx="408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3304" name="Line 132"/>
              <p:cNvSpPr/>
              <p:nvPr/>
            </p:nvSpPr>
            <p:spPr>
              <a:xfrm>
                <a:off x="5239" y="2386"/>
                <a:ext cx="0" cy="1225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3305" name="Line 133"/>
              <p:cNvSpPr/>
              <p:nvPr/>
            </p:nvSpPr>
            <p:spPr>
              <a:xfrm>
                <a:off x="4830" y="3611"/>
                <a:ext cx="408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3306" name="Rectangle 134"/>
              <p:cNvSpPr/>
              <p:nvPr/>
            </p:nvSpPr>
            <p:spPr>
              <a:xfrm>
                <a:off x="5193" y="2795"/>
                <a:ext cx="127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53307" name="Text Box 135"/>
              <p:cNvSpPr txBox="1"/>
              <p:nvPr/>
            </p:nvSpPr>
            <p:spPr>
              <a:xfrm>
                <a:off x="3923" y="2432"/>
                <a:ext cx="679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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3308" name="Text Box 136"/>
              <p:cNvSpPr txBox="1"/>
              <p:nvPr/>
            </p:nvSpPr>
            <p:spPr>
              <a:xfrm>
                <a:off x="4059" y="3067"/>
                <a:ext cx="679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9V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</p:grpSp>
        <p:sp>
          <p:nvSpPr>
            <p:cNvPr id="53309" name="Text Box 138"/>
            <p:cNvSpPr txBox="1"/>
            <p:nvPr/>
          </p:nvSpPr>
          <p:spPr>
            <a:xfrm>
              <a:off x="4740" y="3022"/>
              <a:ext cx="67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68748" name="Text Box 140"/>
          <p:cNvSpPr txBox="1"/>
          <p:nvPr/>
        </p:nvSpPr>
        <p:spPr>
          <a:xfrm>
            <a:off x="684213" y="4581525"/>
            <a:ext cx="2514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spcBef>
                <a:spcPct val="50000"/>
              </a:spcBef>
              <a:buAutoNum type="circleNumDbPlain" startAt="3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等效电路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68749" name="Object 141"/>
          <p:cNvGraphicFramePr>
            <a:graphicFrameLocks noGrp="1" noChangeAspect="1"/>
          </p:cNvGraphicFramePr>
          <p:nvPr>
            <p:ph/>
          </p:nvPr>
        </p:nvGraphicFramePr>
        <p:xfrm>
          <a:off x="984250" y="5084763"/>
          <a:ext cx="2867025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4" imgW="1226820" imgH="393700" progId="Equation.3">
                  <p:embed/>
                </p:oleObj>
              </mc:Choice>
              <mc:Fallback>
                <p:oleObj name="" r:id="rId4" imgW="1226820" imgH="393700" progId="Equation.3">
                  <p:embed/>
                  <p:pic>
                    <p:nvPicPr>
                      <p:cNvPr id="0" name="20 3152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84250" y="5084763"/>
                        <a:ext cx="2867025" cy="955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312" name="Group 146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53313" name="Picture 147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3314" name="Text Box 148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6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8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8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68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6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68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68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68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8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8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8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68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49" grpId="0" bldLvl="0" animBg="1"/>
      <p:bldP spid="68650" grpId="0"/>
      <p:bldP spid="68651" grpId="0"/>
      <p:bldP spid="68652" grpId="0"/>
      <p:bldP spid="68653" grpId="0"/>
      <p:bldP spid="68654" grpId="0" animBg="1"/>
      <p:bldP spid="68655" grpId="0"/>
      <p:bldP spid="68656" grpId="0"/>
      <p:bldP spid="68688" grpId="0" bldLvl="0" animBg="1"/>
      <p:bldP spid="6874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64" name="Text Box 32"/>
          <p:cNvSpPr txBox="1"/>
          <p:nvPr/>
        </p:nvSpPr>
        <p:spPr>
          <a:xfrm>
            <a:off x="684213" y="620713"/>
            <a:ext cx="7991475" cy="16303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计算含受控源电路的等效电阻是用外加电源法还是开路、短路法，要具体问题具体分析，以计算简便为好。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9665" name="Text Box 33"/>
          <p:cNvSpPr txBox="1"/>
          <p:nvPr/>
        </p:nvSpPr>
        <p:spPr>
          <a:xfrm>
            <a:off x="1331913" y="2349500"/>
            <a:ext cx="424815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zh-CN" dirty="0">
                <a:latin typeface="楷体_GB2312" pitchFamily="49" charset="-122"/>
                <a:ea typeface="楷体_GB2312" pitchFamily="49" charset="-122"/>
              </a:rPr>
              <a:t>求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负载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消耗的功率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9666" name="Text Box 34"/>
          <p:cNvSpPr txBox="1"/>
          <p:nvPr/>
        </p:nvSpPr>
        <p:spPr>
          <a:xfrm>
            <a:off x="539750" y="2349500"/>
            <a:ext cx="863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9706" name="Text Box 74"/>
          <p:cNvSpPr txBox="1"/>
          <p:nvPr/>
        </p:nvSpPr>
        <p:spPr>
          <a:xfrm>
            <a:off x="539750" y="3068638"/>
            <a:ext cx="647700" cy="519112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9707" name="Text Box 75"/>
          <p:cNvSpPr txBox="1"/>
          <p:nvPr/>
        </p:nvSpPr>
        <p:spPr>
          <a:xfrm>
            <a:off x="1258888" y="3068638"/>
            <a:ext cx="3313112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求开路电压</a:t>
            </a:r>
            <a:r>
              <a:rPr lang="en-US" altLang="zh-CN" b="0" i="1" dirty="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="0" baseline="-25000" dirty="0">
                <a:latin typeface="Times New Roman" panose="02020603050405020304" pitchFamily="18" charset="0"/>
                <a:ea typeface="楷体_GB2312" pitchFamily="49" charset="-122"/>
              </a:rPr>
              <a:t>oc</a:t>
            </a:r>
            <a:endParaRPr lang="en-US" altLang="zh-CN" b="0" baseline="-250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4278" name="Group 8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4279" name="Picture 8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4280" name="Text Box 8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4281" name="Group 8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4282" name="Picture 8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4283" name="Text Box 8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9722" name="Group 90"/>
          <p:cNvGrpSpPr/>
          <p:nvPr/>
        </p:nvGrpSpPr>
        <p:grpSpPr>
          <a:xfrm>
            <a:off x="395288" y="476250"/>
            <a:ext cx="1644650" cy="850900"/>
            <a:chOff x="385" y="3022"/>
            <a:chExt cx="1036" cy="536"/>
          </a:xfrm>
        </p:grpSpPr>
        <p:pic>
          <p:nvPicPr>
            <p:cNvPr id="54285" name="Picture 91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4286" name="Text Box 92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69780" name="Group 148"/>
          <p:cNvGrpSpPr/>
          <p:nvPr/>
        </p:nvGrpSpPr>
        <p:grpSpPr>
          <a:xfrm>
            <a:off x="4860925" y="1989138"/>
            <a:ext cx="4283075" cy="3141662"/>
            <a:chOff x="3062" y="1253"/>
            <a:chExt cx="2698" cy="1979"/>
          </a:xfrm>
        </p:grpSpPr>
        <p:sp>
          <p:nvSpPr>
            <p:cNvPr id="54288" name="Oval 94"/>
            <p:cNvSpPr/>
            <p:nvPr/>
          </p:nvSpPr>
          <p:spPr>
            <a:xfrm>
              <a:off x="4604" y="286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4289" name="Oval 95"/>
            <p:cNvSpPr/>
            <p:nvPr/>
          </p:nvSpPr>
          <p:spPr>
            <a:xfrm>
              <a:off x="3062" y="247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4290" name="Line 96"/>
            <p:cNvSpPr/>
            <p:nvPr/>
          </p:nvSpPr>
          <p:spPr>
            <a:xfrm>
              <a:off x="4423" y="1843"/>
              <a:ext cx="0" cy="122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54291" name="Text Box 97"/>
            <p:cNvSpPr txBox="1"/>
            <p:nvPr/>
          </p:nvSpPr>
          <p:spPr>
            <a:xfrm>
              <a:off x="3788" y="2251"/>
              <a:ext cx="62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4292" name="Text Box 98"/>
            <p:cNvSpPr txBox="1"/>
            <p:nvPr/>
          </p:nvSpPr>
          <p:spPr>
            <a:xfrm>
              <a:off x="3697" y="1888"/>
              <a:ext cx="5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4293" name="Line 99"/>
            <p:cNvSpPr/>
            <p:nvPr/>
          </p:nvSpPr>
          <p:spPr>
            <a:xfrm>
              <a:off x="4559" y="1934"/>
              <a:ext cx="0" cy="384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294" name="Text Box 100"/>
            <p:cNvSpPr txBox="1"/>
            <p:nvPr/>
          </p:nvSpPr>
          <p:spPr>
            <a:xfrm>
              <a:off x="3334" y="2251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295" name="Text Box 101"/>
            <p:cNvSpPr txBox="1"/>
            <p:nvPr/>
          </p:nvSpPr>
          <p:spPr>
            <a:xfrm>
              <a:off x="3289" y="2750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296" name="Text Box 102"/>
            <p:cNvSpPr txBox="1"/>
            <p:nvPr/>
          </p:nvSpPr>
          <p:spPr>
            <a:xfrm>
              <a:off x="3425" y="2478"/>
              <a:ext cx="5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297" name="Text Box 103"/>
            <p:cNvSpPr txBox="1"/>
            <p:nvPr/>
          </p:nvSpPr>
          <p:spPr>
            <a:xfrm>
              <a:off x="4786" y="2251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298" name="Text Box 104"/>
            <p:cNvSpPr txBox="1"/>
            <p:nvPr/>
          </p:nvSpPr>
          <p:spPr>
            <a:xfrm>
              <a:off x="4377" y="2705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299" name="Text Box 105"/>
            <p:cNvSpPr txBox="1"/>
            <p:nvPr/>
          </p:nvSpPr>
          <p:spPr>
            <a:xfrm>
              <a:off x="4922" y="2705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300" name="Text Box 106"/>
            <p:cNvSpPr txBox="1"/>
            <p:nvPr/>
          </p:nvSpPr>
          <p:spPr>
            <a:xfrm>
              <a:off x="4559" y="2569"/>
              <a:ext cx="53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301" name="Text Box 108"/>
            <p:cNvSpPr txBox="1"/>
            <p:nvPr/>
          </p:nvSpPr>
          <p:spPr>
            <a:xfrm>
              <a:off x="4559" y="1934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302" name="Line 109"/>
            <p:cNvSpPr/>
            <p:nvPr/>
          </p:nvSpPr>
          <p:spPr>
            <a:xfrm>
              <a:off x="3243" y="1435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54303" name="Line 110"/>
            <p:cNvSpPr/>
            <p:nvPr/>
          </p:nvSpPr>
          <p:spPr>
            <a:xfrm>
              <a:off x="4423" y="1435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304" name="Text Box 111"/>
            <p:cNvSpPr txBox="1"/>
            <p:nvPr/>
          </p:nvSpPr>
          <p:spPr>
            <a:xfrm>
              <a:off x="3379" y="1425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4305" name="Line 112"/>
            <p:cNvSpPr/>
            <p:nvPr/>
          </p:nvSpPr>
          <p:spPr>
            <a:xfrm>
              <a:off x="3243" y="1435"/>
              <a:ext cx="11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306" name="Text Box 113"/>
            <p:cNvSpPr txBox="1"/>
            <p:nvPr/>
          </p:nvSpPr>
          <p:spPr>
            <a:xfrm>
              <a:off x="3243" y="1979"/>
              <a:ext cx="5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4307" name="Text Box 114"/>
            <p:cNvSpPr txBox="1"/>
            <p:nvPr/>
          </p:nvSpPr>
          <p:spPr>
            <a:xfrm>
              <a:off x="5194" y="2251"/>
              <a:ext cx="5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4308" name="Rectangle 115"/>
            <p:cNvSpPr/>
            <p:nvPr/>
          </p:nvSpPr>
          <p:spPr>
            <a:xfrm>
              <a:off x="3243" y="1843"/>
              <a:ext cx="1951" cy="1225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4309" name="Rectangle 116"/>
            <p:cNvSpPr/>
            <p:nvPr/>
          </p:nvSpPr>
          <p:spPr>
            <a:xfrm>
              <a:off x="3162" y="197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4310" name="Rectangle 117"/>
            <p:cNvSpPr/>
            <p:nvPr/>
          </p:nvSpPr>
          <p:spPr>
            <a:xfrm>
              <a:off x="4377" y="225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4311" name="Rectangle 118"/>
            <p:cNvSpPr/>
            <p:nvPr/>
          </p:nvSpPr>
          <p:spPr>
            <a:xfrm>
              <a:off x="5103" y="225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4312" name="Rectangle 119"/>
            <p:cNvSpPr/>
            <p:nvPr/>
          </p:nvSpPr>
          <p:spPr>
            <a:xfrm>
              <a:off x="3788" y="179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4313" name="Line 107"/>
            <p:cNvSpPr/>
            <p:nvPr/>
          </p:nvSpPr>
          <p:spPr>
            <a:xfrm flipH="1" flipV="1">
              <a:off x="3379" y="1434"/>
              <a:ext cx="363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314" name="AutoShape 120"/>
            <p:cNvSpPr/>
            <p:nvPr/>
          </p:nvSpPr>
          <p:spPr>
            <a:xfrm rot="5400000">
              <a:off x="3763" y="1229"/>
              <a:ext cx="363" cy="409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69781" name="Group 149"/>
          <p:cNvGrpSpPr/>
          <p:nvPr/>
        </p:nvGrpSpPr>
        <p:grpSpPr>
          <a:xfrm>
            <a:off x="1042988" y="3573463"/>
            <a:ext cx="3168650" cy="2952750"/>
            <a:chOff x="657" y="2251"/>
            <a:chExt cx="1996" cy="1860"/>
          </a:xfrm>
        </p:grpSpPr>
        <p:sp>
          <p:nvSpPr>
            <p:cNvPr id="54316" name="Oval 122"/>
            <p:cNvSpPr/>
            <p:nvPr/>
          </p:nvSpPr>
          <p:spPr>
            <a:xfrm>
              <a:off x="657" y="347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4317" name="Line 123"/>
            <p:cNvSpPr/>
            <p:nvPr/>
          </p:nvSpPr>
          <p:spPr>
            <a:xfrm>
              <a:off x="2017" y="2840"/>
              <a:ext cx="54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54318" name="Text Box 124"/>
            <p:cNvSpPr txBox="1"/>
            <p:nvPr/>
          </p:nvSpPr>
          <p:spPr>
            <a:xfrm>
              <a:off x="1383" y="3249"/>
              <a:ext cx="62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4319" name="Text Box 125"/>
            <p:cNvSpPr txBox="1"/>
            <p:nvPr/>
          </p:nvSpPr>
          <p:spPr>
            <a:xfrm>
              <a:off x="1292" y="2886"/>
              <a:ext cx="5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4320" name="Line 126"/>
            <p:cNvSpPr/>
            <p:nvPr/>
          </p:nvSpPr>
          <p:spPr>
            <a:xfrm>
              <a:off x="2154" y="2932"/>
              <a:ext cx="0" cy="384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321" name="Text Box 127"/>
            <p:cNvSpPr txBox="1"/>
            <p:nvPr/>
          </p:nvSpPr>
          <p:spPr>
            <a:xfrm>
              <a:off x="929" y="3249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322" name="Text Box 128"/>
            <p:cNvSpPr txBox="1"/>
            <p:nvPr/>
          </p:nvSpPr>
          <p:spPr>
            <a:xfrm>
              <a:off x="884" y="3748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323" name="Text Box 129"/>
            <p:cNvSpPr txBox="1"/>
            <p:nvPr/>
          </p:nvSpPr>
          <p:spPr>
            <a:xfrm>
              <a:off x="1020" y="3476"/>
              <a:ext cx="5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324" name="Text Box 131"/>
            <p:cNvSpPr txBox="1"/>
            <p:nvPr/>
          </p:nvSpPr>
          <p:spPr>
            <a:xfrm>
              <a:off x="2154" y="2932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325" name="Line 132"/>
            <p:cNvSpPr/>
            <p:nvPr/>
          </p:nvSpPr>
          <p:spPr>
            <a:xfrm>
              <a:off x="838" y="2433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54326" name="Line 133"/>
            <p:cNvSpPr/>
            <p:nvPr/>
          </p:nvSpPr>
          <p:spPr>
            <a:xfrm>
              <a:off x="2018" y="2433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327" name="Text Box 134"/>
            <p:cNvSpPr txBox="1"/>
            <p:nvPr/>
          </p:nvSpPr>
          <p:spPr>
            <a:xfrm>
              <a:off x="999" y="2423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4328" name="Line 135"/>
            <p:cNvSpPr/>
            <p:nvPr/>
          </p:nvSpPr>
          <p:spPr>
            <a:xfrm>
              <a:off x="838" y="2433"/>
              <a:ext cx="11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329" name="Text Box 136"/>
            <p:cNvSpPr txBox="1"/>
            <p:nvPr/>
          </p:nvSpPr>
          <p:spPr>
            <a:xfrm>
              <a:off x="838" y="2977"/>
              <a:ext cx="5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4330" name="Rectangle 137"/>
            <p:cNvSpPr/>
            <p:nvPr/>
          </p:nvSpPr>
          <p:spPr>
            <a:xfrm>
              <a:off x="838" y="2841"/>
              <a:ext cx="1179" cy="1225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4331" name="Rectangle 138"/>
            <p:cNvSpPr/>
            <p:nvPr/>
          </p:nvSpPr>
          <p:spPr>
            <a:xfrm>
              <a:off x="757" y="297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4332" name="Rectangle 139"/>
            <p:cNvSpPr/>
            <p:nvPr/>
          </p:nvSpPr>
          <p:spPr>
            <a:xfrm>
              <a:off x="1972" y="329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4333" name="Rectangle 140"/>
            <p:cNvSpPr/>
            <p:nvPr/>
          </p:nvSpPr>
          <p:spPr>
            <a:xfrm>
              <a:off x="1383" y="279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4334" name="Line 142"/>
            <p:cNvSpPr/>
            <p:nvPr/>
          </p:nvSpPr>
          <p:spPr>
            <a:xfrm>
              <a:off x="2017" y="4065"/>
              <a:ext cx="54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54335" name="Oval 143"/>
            <p:cNvSpPr/>
            <p:nvPr/>
          </p:nvSpPr>
          <p:spPr>
            <a:xfrm>
              <a:off x="2562" y="4020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4336" name="Oval 144"/>
            <p:cNvSpPr/>
            <p:nvPr/>
          </p:nvSpPr>
          <p:spPr>
            <a:xfrm>
              <a:off x="2562" y="2795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4337" name="Line 130"/>
            <p:cNvSpPr/>
            <p:nvPr/>
          </p:nvSpPr>
          <p:spPr>
            <a:xfrm flipH="1" flipV="1">
              <a:off x="975" y="2432"/>
              <a:ext cx="40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338" name="AutoShape 141"/>
            <p:cNvSpPr/>
            <p:nvPr/>
          </p:nvSpPr>
          <p:spPr>
            <a:xfrm rot="5400000">
              <a:off x="1359" y="2227"/>
              <a:ext cx="363" cy="409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54339" name="Group 150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54340" name="Picture 15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4341" name="Text Box 152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69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96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96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9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9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9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9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9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97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97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9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9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6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69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64" grpId="0"/>
      <p:bldP spid="69665" grpId="0"/>
      <p:bldP spid="69666" grpId="0"/>
      <p:bldP spid="69706" grpId="0" animBg="1"/>
      <p:bldP spid="6970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4974" name="Object 158"/>
          <p:cNvGraphicFramePr>
            <a:graphicFrameLocks noChangeAspect="1"/>
          </p:cNvGraphicFramePr>
          <p:nvPr/>
        </p:nvGraphicFramePr>
        <p:xfrm>
          <a:off x="1763713" y="1628775"/>
          <a:ext cx="15240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1" imgW="601980" imgH="196850" progId="Equation.3">
                  <p:embed/>
                </p:oleObj>
              </mc:Choice>
              <mc:Fallback>
                <p:oleObj name="" r:id="rId1" imgW="601980" imgH="196850" progId="Equation.3">
                  <p:embed/>
                  <p:pic>
                    <p:nvPicPr>
                      <p:cNvPr id="0" name="20 315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3713" y="1628775"/>
                        <a:ext cx="1524000" cy="534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975" name="AutoShape 159"/>
          <p:cNvSpPr/>
          <p:nvPr/>
        </p:nvSpPr>
        <p:spPr>
          <a:xfrm>
            <a:off x="827088" y="1714500"/>
            <a:ext cx="649287" cy="215900"/>
          </a:xfrm>
          <a:prstGeom prst="rightArrow">
            <a:avLst>
              <a:gd name="adj1" fmla="val 50000"/>
              <a:gd name="adj2" fmla="val 75169"/>
            </a:avLst>
          </a:prstGeom>
          <a:solidFill>
            <a:srgbClr val="00CCFF"/>
          </a:solidFill>
          <a:ln w="9525" cap="flat" cmpd="sng">
            <a:solidFill>
              <a:srgbClr val="00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34976" name="Object 160"/>
          <p:cNvGraphicFramePr>
            <a:graphicFrameLocks noChangeAspect="1"/>
          </p:cNvGraphicFramePr>
          <p:nvPr/>
        </p:nvGraphicFramePr>
        <p:xfrm>
          <a:off x="684213" y="2349500"/>
          <a:ext cx="26638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3" imgW="1146175" imgH="196850" progId="Equation.3">
                  <p:embed/>
                </p:oleObj>
              </mc:Choice>
              <mc:Fallback>
                <p:oleObj name="" r:id="rId3" imgW="1146175" imgH="196850" progId="Equation.3">
                  <p:embed/>
                  <p:pic>
                    <p:nvPicPr>
                      <p:cNvPr id="0" name="20 315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2349500"/>
                        <a:ext cx="2663825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977" name="Text Box 161"/>
          <p:cNvSpPr txBox="1"/>
          <p:nvPr/>
        </p:nvSpPr>
        <p:spPr>
          <a:xfrm>
            <a:off x="468313" y="2997200"/>
            <a:ext cx="3276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spcBef>
                <a:spcPct val="50000"/>
              </a:spcBef>
              <a:buAutoNum type="circleNumDbPlain" startA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求等效电阻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eq</a:t>
            </a:r>
            <a:endParaRPr lang="en-US" altLang="zh-CN" b="0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978" name="Text Box 162"/>
          <p:cNvSpPr txBox="1"/>
          <p:nvPr/>
        </p:nvSpPr>
        <p:spPr>
          <a:xfrm>
            <a:off x="395288" y="3573463"/>
            <a:ext cx="446405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用开路电压、短路电流法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4985" name="AutoShape 169"/>
          <p:cNvSpPr/>
          <p:nvPr/>
        </p:nvSpPr>
        <p:spPr>
          <a:xfrm>
            <a:off x="6443663" y="3573463"/>
            <a:ext cx="215900" cy="504825"/>
          </a:xfrm>
          <a:prstGeom prst="downArrow">
            <a:avLst>
              <a:gd name="adj1" fmla="val 50000"/>
              <a:gd name="adj2" fmla="val 58445"/>
            </a:avLst>
          </a:prstGeom>
          <a:solidFill>
            <a:srgbClr val="00CCFF"/>
          </a:solidFill>
          <a:ln w="9525" cap="flat" cmpd="sng">
            <a:solidFill>
              <a:srgbClr val="00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35015" name="Object 199"/>
          <p:cNvGraphicFramePr>
            <a:graphicFrameLocks noChangeAspect="1"/>
          </p:cNvGraphicFramePr>
          <p:nvPr/>
        </p:nvGraphicFramePr>
        <p:xfrm>
          <a:off x="539750" y="4221163"/>
          <a:ext cx="331152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5" imgW="1284605" imgH="196850" progId="Equation.3">
                  <p:embed/>
                </p:oleObj>
              </mc:Choice>
              <mc:Fallback>
                <p:oleObj name="" r:id="rId5" imgW="1284605" imgH="196850" progId="Equation.3">
                  <p:embed/>
                  <p:pic>
                    <p:nvPicPr>
                      <p:cNvPr id="0" name="20 315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4221163"/>
                        <a:ext cx="3311525" cy="557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16" name="Object 200"/>
          <p:cNvGraphicFramePr>
            <a:graphicFrameLocks noChangeAspect="1"/>
          </p:cNvGraphicFramePr>
          <p:nvPr/>
        </p:nvGraphicFramePr>
        <p:xfrm>
          <a:off x="539750" y="4797425"/>
          <a:ext cx="3911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7" imgW="1631950" imgH="427990" progId="Equation.3">
                  <p:embed/>
                </p:oleObj>
              </mc:Choice>
              <mc:Fallback>
                <p:oleObj name="" r:id="rId7" imgW="1631950" imgH="427990" progId="Equation.3">
                  <p:embed/>
                  <p:pic>
                    <p:nvPicPr>
                      <p:cNvPr id="0" name="20 315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4797425"/>
                        <a:ext cx="39116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305" name="Group 20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5306" name="Picture 207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07" name="Text Box 20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5308" name="Group 20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5309" name="Picture 210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10" name="Text Box 21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5055" name="Group 239"/>
          <p:cNvGrpSpPr/>
          <p:nvPr/>
        </p:nvGrpSpPr>
        <p:grpSpPr>
          <a:xfrm>
            <a:off x="4643438" y="549275"/>
            <a:ext cx="4103687" cy="2736850"/>
            <a:chOff x="975" y="2160"/>
            <a:chExt cx="2585" cy="1724"/>
          </a:xfrm>
        </p:grpSpPr>
        <p:sp>
          <p:nvSpPr>
            <p:cNvPr id="55312" name="Oval 240"/>
            <p:cNvSpPr/>
            <p:nvPr/>
          </p:nvSpPr>
          <p:spPr>
            <a:xfrm>
              <a:off x="975" y="324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5313" name="Line 241"/>
            <p:cNvSpPr/>
            <p:nvPr/>
          </p:nvSpPr>
          <p:spPr>
            <a:xfrm>
              <a:off x="2744" y="2614"/>
              <a:ext cx="54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55314" name="Text Box 242"/>
            <p:cNvSpPr txBox="1"/>
            <p:nvPr/>
          </p:nvSpPr>
          <p:spPr>
            <a:xfrm>
              <a:off x="2064" y="3022"/>
              <a:ext cx="62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5315" name="Text Box 243"/>
            <p:cNvSpPr txBox="1"/>
            <p:nvPr/>
          </p:nvSpPr>
          <p:spPr>
            <a:xfrm>
              <a:off x="1338" y="2205"/>
              <a:ext cx="5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5316" name="Line 244"/>
            <p:cNvSpPr/>
            <p:nvPr/>
          </p:nvSpPr>
          <p:spPr>
            <a:xfrm>
              <a:off x="2653" y="2659"/>
              <a:ext cx="0" cy="384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5317" name="Text Box 245"/>
            <p:cNvSpPr txBox="1"/>
            <p:nvPr/>
          </p:nvSpPr>
          <p:spPr>
            <a:xfrm>
              <a:off x="1247" y="3022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18" name="Text Box 246"/>
            <p:cNvSpPr txBox="1"/>
            <p:nvPr/>
          </p:nvSpPr>
          <p:spPr>
            <a:xfrm>
              <a:off x="1202" y="3521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19" name="Text Box 247"/>
            <p:cNvSpPr txBox="1"/>
            <p:nvPr/>
          </p:nvSpPr>
          <p:spPr>
            <a:xfrm>
              <a:off x="1338" y="3249"/>
              <a:ext cx="5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20" name="Text Box 248"/>
            <p:cNvSpPr txBox="1"/>
            <p:nvPr/>
          </p:nvSpPr>
          <p:spPr>
            <a:xfrm>
              <a:off x="2789" y="2659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21" name="Text Box 249"/>
            <p:cNvSpPr txBox="1"/>
            <p:nvPr/>
          </p:nvSpPr>
          <p:spPr>
            <a:xfrm>
              <a:off x="1156" y="2750"/>
              <a:ext cx="5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5322" name="Rectangle 250"/>
            <p:cNvSpPr/>
            <p:nvPr/>
          </p:nvSpPr>
          <p:spPr>
            <a:xfrm>
              <a:off x="1156" y="2614"/>
              <a:ext cx="1588" cy="1225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5323" name="Rectangle 251"/>
            <p:cNvSpPr/>
            <p:nvPr/>
          </p:nvSpPr>
          <p:spPr>
            <a:xfrm>
              <a:off x="1075" y="275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5324" name="Rectangle 252"/>
            <p:cNvSpPr/>
            <p:nvPr/>
          </p:nvSpPr>
          <p:spPr>
            <a:xfrm>
              <a:off x="2699" y="306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5325" name="Rectangle 253"/>
            <p:cNvSpPr/>
            <p:nvPr/>
          </p:nvSpPr>
          <p:spPr>
            <a:xfrm>
              <a:off x="1474" y="252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5326" name="AutoShape 254"/>
            <p:cNvSpPr/>
            <p:nvPr/>
          </p:nvSpPr>
          <p:spPr>
            <a:xfrm>
              <a:off x="2064" y="2431"/>
              <a:ext cx="430" cy="364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5327" name="Line 255"/>
            <p:cNvSpPr/>
            <p:nvPr/>
          </p:nvSpPr>
          <p:spPr>
            <a:xfrm>
              <a:off x="2744" y="3838"/>
              <a:ext cx="54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55328" name="Oval 256"/>
            <p:cNvSpPr/>
            <p:nvPr/>
          </p:nvSpPr>
          <p:spPr>
            <a:xfrm>
              <a:off x="3288" y="3793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5329" name="Oval 257"/>
            <p:cNvSpPr/>
            <p:nvPr/>
          </p:nvSpPr>
          <p:spPr>
            <a:xfrm>
              <a:off x="3288" y="2568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5330" name="Text Box 258"/>
            <p:cNvSpPr txBox="1"/>
            <p:nvPr/>
          </p:nvSpPr>
          <p:spPr>
            <a:xfrm>
              <a:off x="1973" y="2160"/>
              <a:ext cx="7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200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5331" name="Text Box 259"/>
            <p:cNvSpPr txBox="1"/>
            <p:nvPr/>
          </p:nvSpPr>
          <p:spPr>
            <a:xfrm>
              <a:off x="3198" y="2659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5332" name="Text Box 260"/>
            <p:cNvSpPr txBox="1"/>
            <p:nvPr/>
          </p:nvSpPr>
          <p:spPr>
            <a:xfrm>
              <a:off x="3152" y="3430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5333" name="Text Box 261"/>
            <p:cNvSpPr txBox="1"/>
            <p:nvPr/>
          </p:nvSpPr>
          <p:spPr>
            <a:xfrm>
              <a:off x="3107" y="3067"/>
              <a:ext cx="45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oc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5334" name="Text Box 262"/>
            <p:cNvSpPr txBox="1"/>
            <p:nvPr/>
          </p:nvSpPr>
          <p:spPr>
            <a:xfrm>
              <a:off x="2517" y="2296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5335" name="Text Box 263"/>
            <p:cNvSpPr txBox="1"/>
            <p:nvPr/>
          </p:nvSpPr>
          <p:spPr>
            <a:xfrm>
              <a:off x="1882" y="2332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graphicFrame>
        <p:nvGraphicFramePr>
          <p:cNvPr id="34973" name="Object 157"/>
          <p:cNvGraphicFramePr>
            <a:graphicFrameLocks noChangeAspect="1"/>
          </p:cNvGraphicFramePr>
          <p:nvPr/>
        </p:nvGraphicFramePr>
        <p:xfrm>
          <a:off x="539750" y="908050"/>
          <a:ext cx="403225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10" imgW="1678305" imgH="196850" progId="Equation.3">
                  <p:embed/>
                </p:oleObj>
              </mc:Choice>
              <mc:Fallback>
                <p:oleObj name="" r:id="rId10" imgW="1678305" imgH="196850" progId="Equation.3">
                  <p:embed/>
                  <p:pic>
                    <p:nvPicPr>
                      <p:cNvPr id="0" name="20 3157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908050"/>
                        <a:ext cx="4032250" cy="522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107" name="Group 291"/>
          <p:cNvGrpSpPr/>
          <p:nvPr/>
        </p:nvGrpSpPr>
        <p:grpSpPr>
          <a:xfrm>
            <a:off x="5003800" y="4221163"/>
            <a:ext cx="3455988" cy="2030412"/>
            <a:chOff x="1882" y="2478"/>
            <a:chExt cx="2177" cy="1279"/>
          </a:xfrm>
        </p:grpSpPr>
        <p:grpSp>
          <p:nvGrpSpPr>
            <p:cNvPr id="55338" name="Group 292"/>
            <p:cNvGrpSpPr/>
            <p:nvPr/>
          </p:nvGrpSpPr>
          <p:grpSpPr>
            <a:xfrm>
              <a:off x="3605" y="2795"/>
              <a:ext cx="454" cy="408"/>
              <a:chOff x="4014" y="3158"/>
              <a:chExt cx="454" cy="408"/>
            </a:xfrm>
          </p:grpSpPr>
          <p:sp>
            <p:nvSpPr>
              <p:cNvPr id="55339" name="Line 293"/>
              <p:cNvSpPr/>
              <p:nvPr/>
            </p:nvSpPr>
            <p:spPr>
              <a:xfrm>
                <a:off x="4014" y="3158"/>
                <a:ext cx="0" cy="408"/>
              </a:xfrm>
              <a:prstGeom prst="line">
                <a:avLst/>
              </a:prstGeom>
              <a:ln w="28575" cap="flat" cmpd="sng">
                <a:solidFill>
                  <a:srgbClr val="66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55340" name="Text Box 294"/>
              <p:cNvSpPr txBox="1"/>
              <p:nvPr/>
            </p:nvSpPr>
            <p:spPr>
              <a:xfrm>
                <a:off x="4014" y="3203"/>
                <a:ext cx="454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I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sc</a:t>
                </a:r>
                <a:endPara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</p:grpSp>
        <p:sp>
          <p:nvSpPr>
            <p:cNvPr id="55341" name="Oval 295"/>
            <p:cNvSpPr/>
            <p:nvPr/>
          </p:nvSpPr>
          <p:spPr>
            <a:xfrm>
              <a:off x="1882" y="315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5342" name="Text Box 296"/>
            <p:cNvSpPr txBox="1"/>
            <p:nvPr/>
          </p:nvSpPr>
          <p:spPr>
            <a:xfrm>
              <a:off x="2653" y="2568"/>
              <a:ext cx="5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5343" name="Text Box 297"/>
            <p:cNvSpPr txBox="1"/>
            <p:nvPr/>
          </p:nvSpPr>
          <p:spPr>
            <a:xfrm>
              <a:off x="2154" y="2931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44" name="Text Box 298"/>
            <p:cNvSpPr txBox="1"/>
            <p:nvPr/>
          </p:nvSpPr>
          <p:spPr>
            <a:xfrm>
              <a:off x="2109" y="3430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45" name="Text Box 299"/>
            <p:cNvSpPr txBox="1"/>
            <p:nvPr/>
          </p:nvSpPr>
          <p:spPr>
            <a:xfrm>
              <a:off x="2245" y="3158"/>
              <a:ext cx="5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46" name="Text Box 300"/>
            <p:cNvSpPr txBox="1"/>
            <p:nvPr/>
          </p:nvSpPr>
          <p:spPr>
            <a:xfrm>
              <a:off x="2063" y="2659"/>
              <a:ext cx="5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5347" name="Rectangle 301"/>
            <p:cNvSpPr/>
            <p:nvPr/>
          </p:nvSpPr>
          <p:spPr>
            <a:xfrm>
              <a:off x="2063" y="2523"/>
              <a:ext cx="1588" cy="1225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5348" name="Rectangle 302"/>
            <p:cNvSpPr/>
            <p:nvPr/>
          </p:nvSpPr>
          <p:spPr>
            <a:xfrm>
              <a:off x="1982" y="265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5349" name="Rectangle 303"/>
            <p:cNvSpPr/>
            <p:nvPr/>
          </p:nvSpPr>
          <p:spPr>
            <a:xfrm>
              <a:off x="2744" y="247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55350" name="Group 308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55351" name="Picture 309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52" name="Text Box 310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4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34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34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4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1" dur="500"/>
                                        <p:tgtEl>
                                          <p:spTgt spid="34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34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35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35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75" grpId="0" animBg="1"/>
      <p:bldP spid="34977" grpId="0"/>
      <p:bldP spid="34978" grpId="0"/>
      <p:bldP spid="3498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833" name="Text Box 41"/>
          <p:cNvSpPr txBox="1"/>
          <p:nvPr/>
        </p:nvSpPr>
        <p:spPr>
          <a:xfrm>
            <a:off x="1403350" y="3068638"/>
            <a:ext cx="223202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已知开关</a:t>
            </a: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endParaRPr lang="en-US" altLang="zh-CN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834" name="Text Box 42"/>
          <p:cNvSpPr txBox="1"/>
          <p:nvPr/>
        </p:nvSpPr>
        <p:spPr>
          <a:xfrm>
            <a:off x="468313" y="3068638"/>
            <a:ext cx="8636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852" name="Line 60"/>
          <p:cNvSpPr/>
          <p:nvPr/>
        </p:nvSpPr>
        <p:spPr>
          <a:xfrm>
            <a:off x="5219700" y="2709863"/>
            <a:ext cx="431800" cy="287337"/>
          </a:xfrm>
          <a:prstGeom prst="line">
            <a:avLst/>
          </a:prstGeom>
          <a:ln w="28575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3858" name="Line 66"/>
          <p:cNvSpPr/>
          <p:nvPr/>
        </p:nvSpPr>
        <p:spPr>
          <a:xfrm>
            <a:off x="827088" y="3917950"/>
            <a:ext cx="576262" cy="1588"/>
          </a:xfrm>
          <a:prstGeom prst="line">
            <a:avLst/>
          </a:prstGeom>
          <a:ln w="57150" cap="flat" cmpd="sng">
            <a:solidFill>
              <a:srgbClr val="00CCFF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33862" name="Group 70"/>
          <p:cNvGrpSpPr/>
          <p:nvPr/>
        </p:nvGrpSpPr>
        <p:grpSpPr>
          <a:xfrm>
            <a:off x="1403350" y="3629025"/>
            <a:ext cx="2017713" cy="519113"/>
            <a:chOff x="1610" y="2205"/>
            <a:chExt cx="1271" cy="327"/>
          </a:xfrm>
        </p:grpSpPr>
        <p:sp>
          <p:nvSpPr>
            <p:cNvPr id="57350" name="Text Box 67"/>
            <p:cNvSpPr txBox="1"/>
            <p:nvPr/>
          </p:nvSpPr>
          <p:spPr>
            <a:xfrm>
              <a:off x="1610" y="2205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  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351" name="Oval 68" descr="花束"/>
            <p:cNvSpPr/>
            <p:nvPr/>
          </p:nvSpPr>
          <p:spPr>
            <a:xfrm>
              <a:off x="1927" y="2205"/>
              <a:ext cx="318" cy="318"/>
            </a:xfrm>
            <a:prstGeom prst="ellipse">
              <a:avLst/>
            </a:prstGeom>
            <a:blipFill rotWithShape="1">
              <a:blip r:embed="rId1"/>
            </a:blip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A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352" name="Text Box 69"/>
            <p:cNvSpPr txBox="1"/>
            <p:nvPr/>
          </p:nvSpPr>
          <p:spPr>
            <a:xfrm>
              <a:off x="2200" y="2205"/>
              <a:ext cx="68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＝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sp>
        <p:nvSpPr>
          <p:cNvPr id="33863" name="Line 71"/>
          <p:cNvSpPr/>
          <p:nvPr/>
        </p:nvSpPr>
        <p:spPr>
          <a:xfrm>
            <a:off x="755650" y="4565650"/>
            <a:ext cx="504825" cy="0"/>
          </a:xfrm>
          <a:prstGeom prst="line">
            <a:avLst/>
          </a:prstGeom>
          <a:ln w="57150" cap="flat" cmpd="sng">
            <a:solidFill>
              <a:srgbClr val="00CCFF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33864" name="Group 72"/>
          <p:cNvGrpSpPr/>
          <p:nvPr/>
        </p:nvGrpSpPr>
        <p:grpSpPr>
          <a:xfrm>
            <a:off x="1403350" y="4278313"/>
            <a:ext cx="2017713" cy="519112"/>
            <a:chOff x="1610" y="2205"/>
            <a:chExt cx="1271" cy="327"/>
          </a:xfrm>
        </p:grpSpPr>
        <p:sp>
          <p:nvSpPr>
            <p:cNvPr id="57355" name="Text Box 73"/>
            <p:cNvSpPr txBox="1"/>
            <p:nvPr/>
          </p:nvSpPr>
          <p:spPr>
            <a:xfrm>
              <a:off x="1610" y="2205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 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356" name="Oval 74" descr="花束"/>
            <p:cNvSpPr/>
            <p:nvPr/>
          </p:nvSpPr>
          <p:spPr>
            <a:xfrm>
              <a:off x="1927" y="2205"/>
              <a:ext cx="318" cy="318"/>
            </a:xfrm>
            <a:prstGeom prst="ellipse">
              <a:avLst/>
            </a:prstGeom>
            <a:blipFill rotWithShape="1">
              <a:blip r:embed="rId1"/>
            </a:blip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V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357" name="Text Box 75"/>
            <p:cNvSpPr txBox="1"/>
            <p:nvPr/>
          </p:nvSpPr>
          <p:spPr>
            <a:xfrm>
              <a:off x="2200" y="2205"/>
              <a:ext cx="68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＝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4V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sp>
        <p:nvSpPr>
          <p:cNvPr id="33868" name="Text Box 76"/>
          <p:cNvSpPr txBox="1"/>
          <p:nvPr/>
        </p:nvSpPr>
        <p:spPr>
          <a:xfrm>
            <a:off x="3348038" y="4292600"/>
            <a:ext cx="579596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求开关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打向</a:t>
            </a:r>
            <a:r>
              <a:rPr lang="en-US" altLang="zh-CN" b="0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，电压</a:t>
            </a:r>
            <a:r>
              <a:rPr lang="en-US" altLang="zh-CN" b="0" i="1" dirty="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等于多少。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3870" name="Line 78"/>
          <p:cNvSpPr/>
          <p:nvPr/>
        </p:nvSpPr>
        <p:spPr>
          <a:xfrm flipH="1" flipV="1">
            <a:off x="5219700" y="2709863"/>
            <a:ext cx="1296988" cy="287337"/>
          </a:xfrm>
          <a:prstGeom prst="line">
            <a:avLst/>
          </a:prstGeom>
          <a:ln w="28575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3871" name="Line 79"/>
          <p:cNvSpPr/>
          <p:nvPr/>
        </p:nvSpPr>
        <p:spPr>
          <a:xfrm>
            <a:off x="5219700" y="2709863"/>
            <a:ext cx="2952750" cy="87312"/>
          </a:xfrm>
          <a:prstGeom prst="line">
            <a:avLst/>
          </a:prstGeom>
          <a:ln w="28575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3872" name="Text Box 80"/>
          <p:cNvSpPr txBox="1"/>
          <p:nvPr/>
        </p:nvSpPr>
        <p:spPr>
          <a:xfrm>
            <a:off x="468313" y="5013325"/>
            <a:ext cx="666750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3873" name="Object 81"/>
          <p:cNvGraphicFramePr>
            <a:graphicFrameLocks noChangeAspect="1"/>
          </p:cNvGraphicFramePr>
          <p:nvPr/>
        </p:nvGraphicFramePr>
        <p:xfrm>
          <a:off x="1331913" y="5084763"/>
          <a:ext cx="318452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2" imgW="1238250" imgH="196850" progId="Equation.3">
                  <p:embed/>
                </p:oleObj>
              </mc:Choice>
              <mc:Fallback>
                <p:oleObj name="" r:id="rId2" imgW="1238250" imgH="196850" progId="Equation.3">
                  <p:embed/>
                  <p:pic>
                    <p:nvPicPr>
                      <p:cNvPr id="0" name="20 3158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5084763"/>
                        <a:ext cx="3184525" cy="554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74" name="Object 82"/>
          <p:cNvGraphicFramePr>
            <a:graphicFrameLocks noChangeAspect="1"/>
          </p:cNvGraphicFramePr>
          <p:nvPr/>
        </p:nvGraphicFramePr>
        <p:xfrm>
          <a:off x="5651500" y="5084763"/>
          <a:ext cx="156845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4" imgW="578485" imgH="219710" progId="Equation.3">
                  <p:embed/>
                </p:oleObj>
              </mc:Choice>
              <mc:Fallback>
                <p:oleObj name="" r:id="rId4" imgW="578485" imgH="219710" progId="Equation.3">
                  <p:embed/>
                  <p:pic>
                    <p:nvPicPr>
                      <p:cNvPr id="0" name="20 3159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51500" y="5084763"/>
                        <a:ext cx="1568450" cy="633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75" name="Line 83"/>
          <p:cNvSpPr/>
          <p:nvPr/>
        </p:nvSpPr>
        <p:spPr>
          <a:xfrm>
            <a:off x="4716463" y="5373688"/>
            <a:ext cx="792162" cy="0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33876" name="Object 84"/>
          <p:cNvGraphicFramePr>
            <a:graphicFrameLocks noChangeAspect="1"/>
          </p:cNvGraphicFramePr>
          <p:nvPr/>
        </p:nvGraphicFramePr>
        <p:xfrm>
          <a:off x="1331913" y="5805488"/>
          <a:ext cx="3586162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6" imgW="1551305" imgH="185420" progId="Equation.3">
                  <p:embed/>
                </p:oleObj>
              </mc:Choice>
              <mc:Fallback>
                <p:oleObj name="" r:id="rId6" imgW="1551305" imgH="185420" progId="Equation.3">
                  <p:embed/>
                  <p:pic>
                    <p:nvPicPr>
                      <p:cNvPr id="0" name="20 3160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5805488"/>
                        <a:ext cx="3586162" cy="474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7366" name="Group 10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7367" name="Picture 101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7368" name="Text Box 10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7369" name="Group 10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7370" name="Picture 104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7371" name="Text Box 10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3944" name="Group 152"/>
          <p:cNvGrpSpPr/>
          <p:nvPr/>
        </p:nvGrpSpPr>
        <p:grpSpPr>
          <a:xfrm>
            <a:off x="250825" y="692150"/>
            <a:ext cx="4032250" cy="2041525"/>
            <a:chOff x="158" y="436"/>
            <a:chExt cx="2540" cy="1286"/>
          </a:xfrm>
        </p:grpSpPr>
        <p:sp>
          <p:nvSpPr>
            <p:cNvPr id="57373" name="Oval 110"/>
            <p:cNvSpPr/>
            <p:nvPr/>
          </p:nvSpPr>
          <p:spPr>
            <a:xfrm>
              <a:off x="1746" y="107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7374" name="Text Box 112"/>
            <p:cNvSpPr txBox="1"/>
            <p:nvPr/>
          </p:nvSpPr>
          <p:spPr>
            <a:xfrm>
              <a:off x="158" y="1071"/>
              <a:ext cx="45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375" name="Text Box 113"/>
            <p:cNvSpPr txBox="1"/>
            <p:nvPr/>
          </p:nvSpPr>
          <p:spPr>
            <a:xfrm>
              <a:off x="249" y="572"/>
              <a:ext cx="42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eq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376" name="Text Box 114"/>
            <p:cNvSpPr txBox="1"/>
            <p:nvPr/>
          </p:nvSpPr>
          <p:spPr>
            <a:xfrm>
              <a:off x="1882" y="527"/>
              <a:ext cx="5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7377" name="Text Box 115"/>
            <p:cNvSpPr txBox="1"/>
            <p:nvPr/>
          </p:nvSpPr>
          <p:spPr>
            <a:xfrm>
              <a:off x="1882" y="1434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endParaRPr lang="zh-CN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7378" name="Text Box 116"/>
            <p:cNvSpPr txBox="1"/>
            <p:nvPr/>
          </p:nvSpPr>
          <p:spPr>
            <a:xfrm>
              <a:off x="1928" y="799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7379" name="Text Box 117"/>
            <p:cNvSpPr txBox="1"/>
            <p:nvPr/>
          </p:nvSpPr>
          <p:spPr>
            <a:xfrm>
              <a:off x="2018" y="1117"/>
              <a:ext cx="6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50V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7380" name="Line 118"/>
            <p:cNvSpPr/>
            <p:nvPr/>
          </p:nvSpPr>
          <p:spPr>
            <a:xfrm>
              <a:off x="1746" y="527"/>
              <a:ext cx="0" cy="499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7381" name="Text Box 119"/>
            <p:cNvSpPr txBox="1"/>
            <p:nvPr/>
          </p:nvSpPr>
          <p:spPr>
            <a:xfrm>
              <a:off x="1474" y="572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L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382" name="Oval 120"/>
            <p:cNvSpPr/>
            <p:nvPr/>
          </p:nvSpPr>
          <p:spPr>
            <a:xfrm>
              <a:off x="567" y="107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7383" name="Text Box 121"/>
            <p:cNvSpPr txBox="1"/>
            <p:nvPr/>
          </p:nvSpPr>
          <p:spPr>
            <a:xfrm>
              <a:off x="839" y="844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384" name="Text Box 122"/>
            <p:cNvSpPr txBox="1"/>
            <p:nvPr/>
          </p:nvSpPr>
          <p:spPr>
            <a:xfrm>
              <a:off x="794" y="1343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385" name="Text Box 123"/>
            <p:cNvSpPr txBox="1"/>
            <p:nvPr/>
          </p:nvSpPr>
          <p:spPr>
            <a:xfrm>
              <a:off x="930" y="1071"/>
              <a:ext cx="5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386" name="Text Box 124"/>
            <p:cNvSpPr txBox="1"/>
            <p:nvPr/>
          </p:nvSpPr>
          <p:spPr>
            <a:xfrm>
              <a:off x="748" y="572"/>
              <a:ext cx="5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7387" name="Rectangle 125"/>
            <p:cNvSpPr/>
            <p:nvPr/>
          </p:nvSpPr>
          <p:spPr>
            <a:xfrm>
              <a:off x="748" y="436"/>
              <a:ext cx="1180" cy="1225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7388" name="Rectangle 126"/>
            <p:cNvSpPr/>
            <p:nvPr/>
          </p:nvSpPr>
          <p:spPr>
            <a:xfrm>
              <a:off x="667" y="57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7389" name="Rectangle 127"/>
            <p:cNvSpPr/>
            <p:nvPr/>
          </p:nvSpPr>
          <p:spPr>
            <a:xfrm>
              <a:off x="1846" y="57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aphicFrame>
        <p:nvGraphicFramePr>
          <p:cNvPr id="33829" name="Object 37"/>
          <p:cNvGraphicFramePr>
            <a:graphicFrameLocks noChangeAspect="1"/>
          </p:cNvGraphicFramePr>
          <p:nvPr/>
        </p:nvGraphicFramePr>
        <p:xfrm>
          <a:off x="4140200" y="620713"/>
          <a:ext cx="3722688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9" imgW="1551305" imgH="393700" progId="Equation.3">
                  <p:embed/>
                </p:oleObj>
              </mc:Choice>
              <mc:Fallback>
                <p:oleObj name="" r:id="rId9" imgW="1551305" imgH="393700" progId="Equation.3">
                  <p:embed/>
                  <p:pic>
                    <p:nvPicPr>
                      <p:cNvPr id="0" name="20 3145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40200" y="620713"/>
                        <a:ext cx="3722688" cy="984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30" name="Object 38"/>
          <p:cNvGraphicFramePr>
            <a:graphicFrameLocks noChangeAspect="1"/>
          </p:cNvGraphicFramePr>
          <p:nvPr/>
        </p:nvGraphicFramePr>
        <p:xfrm>
          <a:off x="4284663" y="1628775"/>
          <a:ext cx="3890962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11" imgW="1470025" imgH="208280" progId="Equation.3">
                  <p:embed/>
                </p:oleObj>
              </mc:Choice>
              <mc:Fallback>
                <p:oleObj name="" r:id="rId11" imgW="1470025" imgH="208280" progId="Equation.3">
                  <p:embed/>
                  <p:pic>
                    <p:nvPicPr>
                      <p:cNvPr id="0" name="20 3146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84663" y="1628775"/>
                        <a:ext cx="3890962" cy="603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040" name="Group 248"/>
          <p:cNvGrpSpPr/>
          <p:nvPr/>
        </p:nvGrpSpPr>
        <p:grpSpPr>
          <a:xfrm>
            <a:off x="3708400" y="2420938"/>
            <a:ext cx="5149850" cy="1655762"/>
            <a:chOff x="2336" y="1525"/>
            <a:chExt cx="3244" cy="1043"/>
          </a:xfrm>
        </p:grpSpPr>
        <p:sp>
          <p:nvSpPr>
            <p:cNvPr id="57393" name="Line 129"/>
            <p:cNvSpPr/>
            <p:nvPr/>
          </p:nvSpPr>
          <p:spPr>
            <a:xfrm>
              <a:off x="5148" y="1752"/>
              <a:ext cx="0" cy="7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57394" name="Line 130"/>
            <p:cNvSpPr/>
            <p:nvPr/>
          </p:nvSpPr>
          <p:spPr>
            <a:xfrm>
              <a:off x="3559" y="1879"/>
              <a:ext cx="0" cy="59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57395" name="Line 131"/>
            <p:cNvSpPr/>
            <p:nvPr/>
          </p:nvSpPr>
          <p:spPr>
            <a:xfrm>
              <a:off x="2971" y="1697"/>
              <a:ext cx="3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57396" name="Line 132"/>
            <p:cNvSpPr/>
            <p:nvPr/>
          </p:nvSpPr>
          <p:spPr>
            <a:xfrm>
              <a:off x="2926" y="2468"/>
              <a:ext cx="222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7397" name="Oval 133" descr="花束"/>
            <p:cNvSpPr/>
            <p:nvPr/>
          </p:nvSpPr>
          <p:spPr>
            <a:xfrm>
              <a:off x="3379" y="2014"/>
              <a:ext cx="318" cy="318"/>
            </a:xfrm>
            <a:prstGeom prst="ellipse">
              <a:avLst/>
            </a:prstGeom>
            <a:blipFill rotWithShape="1">
              <a:blip r:embed="rId1"/>
            </a:blip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A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398" name="Line 134"/>
            <p:cNvSpPr/>
            <p:nvPr/>
          </p:nvSpPr>
          <p:spPr>
            <a:xfrm>
              <a:off x="4104" y="1878"/>
              <a:ext cx="0" cy="59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57399" name="Oval 135" descr="花束"/>
            <p:cNvSpPr/>
            <p:nvPr/>
          </p:nvSpPr>
          <p:spPr>
            <a:xfrm>
              <a:off x="3923" y="2014"/>
              <a:ext cx="318" cy="318"/>
            </a:xfrm>
            <a:prstGeom prst="ellipse">
              <a:avLst/>
            </a:prstGeom>
            <a:blipFill rotWithShape="1">
              <a:blip r:embed="rId1"/>
            </a:blip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V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00" name="Text Box 136"/>
            <p:cNvSpPr txBox="1"/>
            <p:nvPr/>
          </p:nvSpPr>
          <p:spPr>
            <a:xfrm>
              <a:off x="4377" y="2060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7401" name="Text Box 137"/>
            <p:cNvSpPr txBox="1"/>
            <p:nvPr/>
          </p:nvSpPr>
          <p:spPr>
            <a:xfrm>
              <a:off x="5330" y="1969"/>
              <a:ext cx="25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02" name="Text Box 138"/>
            <p:cNvSpPr txBox="1"/>
            <p:nvPr/>
          </p:nvSpPr>
          <p:spPr>
            <a:xfrm>
              <a:off x="5239" y="1697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03" name="Text Box 139"/>
            <p:cNvSpPr txBox="1"/>
            <p:nvPr/>
          </p:nvSpPr>
          <p:spPr>
            <a:xfrm>
              <a:off x="5194" y="2241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04" name="Text Box 140"/>
            <p:cNvSpPr txBox="1"/>
            <p:nvPr/>
          </p:nvSpPr>
          <p:spPr>
            <a:xfrm>
              <a:off x="3016" y="1651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05" name="Text Box 141"/>
            <p:cNvSpPr txBox="1"/>
            <p:nvPr/>
          </p:nvSpPr>
          <p:spPr>
            <a:xfrm>
              <a:off x="3334" y="1742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06" name="Text Box 142"/>
            <p:cNvSpPr txBox="1"/>
            <p:nvPr/>
          </p:nvSpPr>
          <p:spPr>
            <a:xfrm>
              <a:off x="5148" y="1525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3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07" name="Text Box 143"/>
            <p:cNvSpPr txBox="1"/>
            <p:nvPr/>
          </p:nvSpPr>
          <p:spPr>
            <a:xfrm>
              <a:off x="3877" y="1742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08" name="Line 144"/>
            <p:cNvSpPr/>
            <p:nvPr/>
          </p:nvSpPr>
          <p:spPr>
            <a:xfrm flipV="1">
              <a:off x="5148" y="1842"/>
              <a:ext cx="0" cy="27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7409" name="Text Box 145"/>
            <p:cNvSpPr txBox="1"/>
            <p:nvPr/>
          </p:nvSpPr>
          <p:spPr>
            <a:xfrm>
              <a:off x="4784" y="1742"/>
              <a:ext cx="40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10" name="Rectangle 146"/>
            <p:cNvSpPr/>
            <p:nvPr/>
          </p:nvSpPr>
          <p:spPr>
            <a:xfrm>
              <a:off x="2336" y="1606"/>
              <a:ext cx="635" cy="953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rPr>
                <a:t>线性</a:t>
              </a:r>
              <a:endPara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rPr>
                <a:t>含源</a:t>
              </a:r>
              <a:endPara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rPr>
                <a:t>网络</a:t>
              </a:r>
              <a:endPara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7411" name="Rectangle 147"/>
            <p:cNvSpPr/>
            <p:nvPr/>
          </p:nvSpPr>
          <p:spPr>
            <a:xfrm>
              <a:off x="4422" y="237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57412" name="Group 148"/>
            <p:cNvGrpSpPr/>
            <p:nvPr/>
          </p:nvGrpSpPr>
          <p:grpSpPr>
            <a:xfrm>
              <a:off x="4967" y="2024"/>
              <a:ext cx="363" cy="363"/>
              <a:chOff x="4785" y="709"/>
              <a:chExt cx="363" cy="363"/>
            </a:xfrm>
          </p:grpSpPr>
          <p:sp>
            <p:nvSpPr>
              <p:cNvPr id="57413" name="Oval 149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7414" name="Line 150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57415" name="Group 221"/>
            <p:cNvGrpSpPr/>
            <p:nvPr/>
          </p:nvGrpSpPr>
          <p:grpSpPr>
            <a:xfrm>
              <a:off x="4105" y="1752"/>
              <a:ext cx="317" cy="780"/>
              <a:chOff x="4105" y="1752"/>
              <a:chExt cx="317" cy="780"/>
            </a:xfrm>
          </p:grpSpPr>
          <p:sp>
            <p:nvSpPr>
              <p:cNvPr id="57416" name="Text Box 219"/>
              <p:cNvSpPr txBox="1"/>
              <p:nvPr/>
            </p:nvSpPr>
            <p:spPr>
              <a:xfrm>
                <a:off x="4105" y="1752"/>
                <a:ext cx="31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+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57417" name="Text Box 220"/>
              <p:cNvSpPr txBox="1"/>
              <p:nvPr/>
            </p:nvSpPr>
            <p:spPr>
              <a:xfrm>
                <a:off x="4105" y="2205"/>
                <a:ext cx="31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-</a:t>
                </a:r>
                <a:endPara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57418" name="Group 251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57419" name="Picture 252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7420" name="Text Box 253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38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38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3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3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3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33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33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33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33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38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38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3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3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33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3" dur="500"/>
                                        <p:tgtEl>
                                          <p:spTgt spid="3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000"/>
                                        <p:tgtEl>
                                          <p:spTgt spid="3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2000"/>
                                        <p:tgtEl>
                                          <p:spTgt spid="3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33" grpId="0"/>
      <p:bldP spid="33834" grpId="0"/>
      <p:bldP spid="33868" grpId="0"/>
      <p:bldP spid="3387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833" name="Text Box 41"/>
          <p:cNvSpPr txBox="1"/>
          <p:nvPr/>
        </p:nvSpPr>
        <p:spPr>
          <a:xfrm>
            <a:off x="1403350" y="3068638"/>
            <a:ext cx="223202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已知开关</a:t>
            </a: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endParaRPr lang="en-US" altLang="zh-CN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834" name="Text Box 42"/>
          <p:cNvSpPr txBox="1"/>
          <p:nvPr/>
        </p:nvSpPr>
        <p:spPr>
          <a:xfrm>
            <a:off x="468313" y="3068638"/>
            <a:ext cx="8636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sz="32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852" name="Line 60"/>
          <p:cNvSpPr/>
          <p:nvPr/>
        </p:nvSpPr>
        <p:spPr>
          <a:xfrm>
            <a:off x="5219700" y="2709863"/>
            <a:ext cx="431800" cy="287337"/>
          </a:xfrm>
          <a:prstGeom prst="line">
            <a:avLst/>
          </a:prstGeom>
          <a:ln w="28575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3858" name="Line 66"/>
          <p:cNvSpPr/>
          <p:nvPr/>
        </p:nvSpPr>
        <p:spPr>
          <a:xfrm>
            <a:off x="827088" y="3917950"/>
            <a:ext cx="576262" cy="1588"/>
          </a:xfrm>
          <a:prstGeom prst="line">
            <a:avLst/>
          </a:prstGeom>
          <a:ln w="57150" cap="flat" cmpd="sng">
            <a:solidFill>
              <a:srgbClr val="00CCFF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33862" name="Group 70"/>
          <p:cNvGrpSpPr/>
          <p:nvPr/>
        </p:nvGrpSpPr>
        <p:grpSpPr>
          <a:xfrm>
            <a:off x="1403350" y="3629025"/>
            <a:ext cx="2017713" cy="519113"/>
            <a:chOff x="1610" y="2205"/>
            <a:chExt cx="1271" cy="327"/>
          </a:xfrm>
        </p:grpSpPr>
        <p:sp>
          <p:nvSpPr>
            <p:cNvPr id="58374" name="Text Box 67"/>
            <p:cNvSpPr txBox="1"/>
            <p:nvPr/>
          </p:nvSpPr>
          <p:spPr>
            <a:xfrm>
              <a:off x="1610" y="2205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  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8375" name="Oval 68" descr="花束"/>
            <p:cNvSpPr/>
            <p:nvPr/>
          </p:nvSpPr>
          <p:spPr>
            <a:xfrm>
              <a:off x="1927" y="2205"/>
              <a:ext cx="318" cy="318"/>
            </a:xfrm>
            <a:prstGeom prst="ellipse">
              <a:avLst/>
            </a:prstGeom>
            <a:blipFill rotWithShape="1">
              <a:blip r:embed="rId1"/>
            </a:blip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A</a:t>
              </a:r>
              <a:endPara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8376" name="Text Box 69"/>
            <p:cNvSpPr txBox="1"/>
            <p:nvPr/>
          </p:nvSpPr>
          <p:spPr>
            <a:xfrm>
              <a:off x="2200" y="2205"/>
              <a:ext cx="68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rgbClr val="FFFFFF"/>
                  </a:solidFill>
                  <a:latin typeface="Arial" panose="020B0604020202020204" pitchFamily="34" charset="0"/>
                  <a:ea typeface="仿宋_GB2312" pitchFamily="49" charset="-122"/>
                </a:rPr>
                <a:t>＝</a:t>
              </a: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2A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sp>
        <p:nvSpPr>
          <p:cNvPr id="33863" name="Line 71"/>
          <p:cNvSpPr/>
          <p:nvPr/>
        </p:nvSpPr>
        <p:spPr>
          <a:xfrm>
            <a:off x="755650" y="4565650"/>
            <a:ext cx="504825" cy="0"/>
          </a:xfrm>
          <a:prstGeom prst="line">
            <a:avLst/>
          </a:prstGeom>
          <a:ln w="57150" cap="flat" cmpd="sng">
            <a:solidFill>
              <a:srgbClr val="00CCFF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33864" name="Group 72"/>
          <p:cNvGrpSpPr/>
          <p:nvPr/>
        </p:nvGrpSpPr>
        <p:grpSpPr>
          <a:xfrm>
            <a:off x="1403350" y="4278313"/>
            <a:ext cx="2017713" cy="519112"/>
            <a:chOff x="1610" y="2205"/>
            <a:chExt cx="1271" cy="327"/>
          </a:xfrm>
        </p:grpSpPr>
        <p:sp>
          <p:nvSpPr>
            <p:cNvPr id="58379" name="Text Box 73"/>
            <p:cNvSpPr txBox="1"/>
            <p:nvPr/>
          </p:nvSpPr>
          <p:spPr>
            <a:xfrm>
              <a:off x="1610" y="2205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 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8380" name="Oval 74" descr="花束"/>
            <p:cNvSpPr/>
            <p:nvPr/>
          </p:nvSpPr>
          <p:spPr>
            <a:xfrm>
              <a:off x="1927" y="2205"/>
              <a:ext cx="318" cy="318"/>
            </a:xfrm>
            <a:prstGeom prst="ellipse">
              <a:avLst/>
            </a:prstGeom>
            <a:blipFill rotWithShape="1">
              <a:blip r:embed="rId1"/>
            </a:blip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V</a:t>
              </a:r>
              <a:endPara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8381" name="Text Box 75"/>
            <p:cNvSpPr txBox="1"/>
            <p:nvPr/>
          </p:nvSpPr>
          <p:spPr>
            <a:xfrm>
              <a:off x="2200" y="2205"/>
              <a:ext cx="68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rgbClr val="FFFFFF"/>
                  </a:solidFill>
                  <a:latin typeface="Arial" panose="020B0604020202020204" pitchFamily="34" charset="0"/>
                  <a:ea typeface="仿宋_GB2312" pitchFamily="49" charset="-122"/>
                </a:rPr>
                <a:t>＝</a:t>
              </a: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4V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sp>
        <p:nvSpPr>
          <p:cNvPr id="33868" name="Text Box 76"/>
          <p:cNvSpPr txBox="1"/>
          <p:nvPr/>
        </p:nvSpPr>
        <p:spPr>
          <a:xfrm>
            <a:off x="3348038" y="4292600"/>
            <a:ext cx="579596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求开关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打向</a:t>
            </a:r>
            <a:r>
              <a:rPr lang="en-US" altLang="zh-CN" b="0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，电压</a:t>
            </a:r>
            <a:r>
              <a:rPr lang="en-US" altLang="zh-CN" b="0" i="1" dirty="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等于多少。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3870" name="Line 78"/>
          <p:cNvSpPr/>
          <p:nvPr/>
        </p:nvSpPr>
        <p:spPr>
          <a:xfrm flipH="1" flipV="1">
            <a:off x="5219700" y="2709863"/>
            <a:ext cx="1296988" cy="287337"/>
          </a:xfrm>
          <a:prstGeom prst="line">
            <a:avLst/>
          </a:prstGeom>
          <a:ln w="28575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3871" name="Line 79"/>
          <p:cNvSpPr/>
          <p:nvPr/>
        </p:nvSpPr>
        <p:spPr>
          <a:xfrm>
            <a:off x="5219700" y="2709863"/>
            <a:ext cx="2952750" cy="87312"/>
          </a:xfrm>
          <a:prstGeom prst="line">
            <a:avLst/>
          </a:prstGeom>
          <a:ln w="28575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3872" name="Text Box 80"/>
          <p:cNvSpPr txBox="1"/>
          <p:nvPr/>
        </p:nvSpPr>
        <p:spPr>
          <a:xfrm>
            <a:off x="468313" y="5013325"/>
            <a:ext cx="666750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3873" name="Object 81"/>
          <p:cNvGraphicFramePr>
            <a:graphicFrameLocks noChangeAspect="1"/>
          </p:cNvGraphicFramePr>
          <p:nvPr/>
        </p:nvGraphicFramePr>
        <p:xfrm>
          <a:off x="1331913" y="5084763"/>
          <a:ext cx="318452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2" imgW="1238250" imgH="196850" progId="Equation.3">
                  <p:embed/>
                </p:oleObj>
              </mc:Choice>
              <mc:Fallback>
                <p:oleObj name="" r:id="rId2" imgW="1238250" imgH="196850" progId="Equation.3">
                  <p:embed/>
                  <p:pic>
                    <p:nvPicPr>
                      <p:cNvPr id="0" name="20 3148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5084763"/>
                        <a:ext cx="3184525" cy="554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74" name="Object 82"/>
          <p:cNvGraphicFramePr>
            <a:graphicFrameLocks noChangeAspect="1"/>
          </p:cNvGraphicFramePr>
          <p:nvPr/>
        </p:nvGraphicFramePr>
        <p:xfrm>
          <a:off x="5651500" y="5084763"/>
          <a:ext cx="156845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4" imgW="578485" imgH="219710" progId="Equation.3">
                  <p:embed/>
                </p:oleObj>
              </mc:Choice>
              <mc:Fallback>
                <p:oleObj name="" r:id="rId4" imgW="578485" imgH="219710" progId="Equation.3">
                  <p:embed/>
                  <p:pic>
                    <p:nvPicPr>
                      <p:cNvPr id="0" name="20 3147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51500" y="5084763"/>
                        <a:ext cx="1568450" cy="633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75" name="Line 83"/>
          <p:cNvSpPr/>
          <p:nvPr/>
        </p:nvSpPr>
        <p:spPr>
          <a:xfrm>
            <a:off x="4716463" y="5373688"/>
            <a:ext cx="792162" cy="0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33876" name="Object 84"/>
          <p:cNvGraphicFramePr>
            <a:graphicFrameLocks noChangeAspect="1"/>
          </p:cNvGraphicFramePr>
          <p:nvPr/>
        </p:nvGraphicFramePr>
        <p:xfrm>
          <a:off x="1331913" y="5805488"/>
          <a:ext cx="3586162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6" imgW="1551305" imgH="185420" progId="Equation.3">
                  <p:embed/>
                </p:oleObj>
              </mc:Choice>
              <mc:Fallback>
                <p:oleObj name="" r:id="rId6" imgW="1551305" imgH="185420" progId="Equation.3">
                  <p:embed/>
                  <p:pic>
                    <p:nvPicPr>
                      <p:cNvPr id="0" name="20 3151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5805488"/>
                        <a:ext cx="3586162" cy="474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90" name="Group 10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8391" name="Picture 101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8392" name="Text Box 10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rgbClr val="FFFFFF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rgbClr val="FFFFFF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8393" name="Group 10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8394" name="Picture 104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8395" name="Text Box 10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rgbClr val="FFFFFF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rgbClr val="FFFFFF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4040" name="Group 248"/>
          <p:cNvGrpSpPr/>
          <p:nvPr/>
        </p:nvGrpSpPr>
        <p:grpSpPr>
          <a:xfrm>
            <a:off x="3708400" y="2420938"/>
            <a:ext cx="5149850" cy="1655762"/>
            <a:chOff x="2336" y="1525"/>
            <a:chExt cx="3244" cy="1043"/>
          </a:xfrm>
        </p:grpSpPr>
        <p:sp>
          <p:nvSpPr>
            <p:cNvPr id="58397" name="Line 129"/>
            <p:cNvSpPr/>
            <p:nvPr/>
          </p:nvSpPr>
          <p:spPr>
            <a:xfrm>
              <a:off x="5148" y="1752"/>
              <a:ext cx="0" cy="7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58398" name="Line 130"/>
            <p:cNvSpPr/>
            <p:nvPr/>
          </p:nvSpPr>
          <p:spPr>
            <a:xfrm>
              <a:off x="3559" y="1879"/>
              <a:ext cx="0" cy="59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58399" name="Line 131"/>
            <p:cNvSpPr/>
            <p:nvPr/>
          </p:nvSpPr>
          <p:spPr>
            <a:xfrm>
              <a:off x="2971" y="1697"/>
              <a:ext cx="3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58400" name="Line 132"/>
            <p:cNvSpPr/>
            <p:nvPr/>
          </p:nvSpPr>
          <p:spPr>
            <a:xfrm>
              <a:off x="2926" y="2468"/>
              <a:ext cx="222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401" name="Oval 133" descr="花束"/>
            <p:cNvSpPr/>
            <p:nvPr/>
          </p:nvSpPr>
          <p:spPr>
            <a:xfrm>
              <a:off x="3379" y="2014"/>
              <a:ext cx="318" cy="318"/>
            </a:xfrm>
            <a:prstGeom prst="ellipse">
              <a:avLst/>
            </a:prstGeom>
            <a:blipFill rotWithShape="1">
              <a:blip r:embed="rId1"/>
            </a:blip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A</a:t>
              </a:r>
              <a:endPara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8402" name="Line 134"/>
            <p:cNvSpPr/>
            <p:nvPr/>
          </p:nvSpPr>
          <p:spPr>
            <a:xfrm>
              <a:off x="4104" y="1878"/>
              <a:ext cx="0" cy="59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58403" name="Oval 135" descr="花束"/>
            <p:cNvSpPr/>
            <p:nvPr/>
          </p:nvSpPr>
          <p:spPr>
            <a:xfrm>
              <a:off x="3923" y="2014"/>
              <a:ext cx="318" cy="318"/>
            </a:xfrm>
            <a:prstGeom prst="ellipse">
              <a:avLst/>
            </a:prstGeom>
            <a:blipFill rotWithShape="1">
              <a:blip r:embed="rId1"/>
            </a:blip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V</a:t>
              </a:r>
              <a:endPara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8404" name="Text Box 136"/>
            <p:cNvSpPr txBox="1"/>
            <p:nvPr/>
          </p:nvSpPr>
          <p:spPr>
            <a:xfrm>
              <a:off x="4377" y="2060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5</a:t>
              </a: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8405" name="Text Box 137"/>
            <p:cNvSpPr txBox="1"/>
            <p:nvPr/>
          </p:nvSpPr>
          <p:spPr>
            <a:xfrm>
              <a:off x="5330" y="1969"/>
              <a:ext cx="25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endParaRPr lang="en-US" altLang="zh-CN" b="0" i="1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8406" name="Text Box 138"/>
            <p:cNvSpPr txBox="1"/>
            <p:nvPr/>
          </p:nvSpPr>
          <p:spPr>
            <a:xfrm>
              <a:off x="5239" y="1697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+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8407" name="Text Box 139"/>
            <p:cNvSpPr txBox="1"/>
            <p:nvPr/>
          </p:nvSpPr>
          <p:spPr>
            <a:xfrm>
              <a:off x="5194" y="2241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8408" name="Text Box 140"/>
            <p:cNvSpPr txBox="1"/>
            <p:nvPr/>
          </p:nvSpPr>
          <p:spPr>
            <a:xfrm>
              <a:off x="3016" y="1651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S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8409" name="Text Box 141"/>
            <p:cNvSpPr txBox="1"/>
            <p:nvPr/>
          </p:nvSpPr>
          <p:spPr>
            <a:xfrm>
              <a:off x="3334" y="1742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8410" name="Text Box 142"/>
            <p:cNvSpPr txBox="1"/>
            <p:nvPr/>
          </p:nvSpPr>
          <p:spPr>
            <a:xfrm>
              <a:off x="5148" y="1525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3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8411" name="Text Box 143"/>
            <p:cNvSpPr txBox="1"/>
            <p:nvPr/>
          </p:nvSpPr>
          <p:spPr>
            <a:xfrm>
              <a:off x="3877" y="1742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8412" name="Line 144"/>
            <p:cNvSpPr/>
            <p:nvPr/>
          </p:nvSpPr>
          <p:spPr>
            <a:xfrm flipV="1">
              <a:off x="5148" y="1842"/>
              <a:ext cx="0" cy="27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8413" name="Text Box 145"/>
            <p:cNvSpPr txBox="1"/>
            <p:nvPr/>
          </p:nvSpPr>
          <p:spPr>
            <a:xfrm>
              <a:off x="4784" y="1742"/>
              <a:ext cx="40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1A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8414" name="Rectangle 146"/>
            <p:cNvSpPr/>
            <p:nvPr/>
          </p:nvSpPr>
          <p:spPr>
            <a:xfrm>
              <a:off x="2336" y="1606"/>
              <a:ext cx="635" cy="953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r>
                <a:rPr lang="zh-CN" altLang="en-US" sz="2400" dirty="0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49" charset="-122"/>
                </a:rPr>
                <a:t>线性</a:t>
              </a:r>
              <a:endParaRPr lang="zh-CN" altLang="en-US" sz="2400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algn="ctr"/>
              <a:r>
                <a:rPr lang="zh-CN" altLang="en-US" sz="2400" dirty="0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49" charset="-122"/>
                </a:rPr>
                <a:t>含源</a:t>
              </a:r>
              <a:endParaRPr lang="zh-CN" altLang="en-US" sz="2400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algn="ctr"/>
              <a:r>
                <a:rPr lang="zh-CN" altLang="en-US" sz="2400" dirty="0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49" charset="-122"/>
                </a:rPr>
                <a:t>网络</a:t>
              </a:r>
              <a:endParaRPr lang="zh-CN" altLang="en-US" sz="2400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8415" name="Rectangle 147"/>
            <p:cNvSpPr/>
            <p:nvPr/>
          </p:nvSpPr>
          <p:spPr>
            <a:xfrm>
              <a:off x="4422" y="237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58416" name="Group 148"/>
            <p:cNvGrpSpPr/>
            <p:nvPr/>
          </p:nvGrpSpPr>
          <p:grpSpPr>
            <a:xfrm>
              <a:off x="4967" y="2024"/>
              <a:ext cx="363" cy="363"/>
              <a:chOff x="4785" y="709"/>
              <a:chExt cx="363" cy="363"/>
            </a:xfrm>
          </p:grpSpPr>
          <p:sp>
            <p:nvSpPr>
              <p:cNvPr id="58417" name="Oval 149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8418" name="Line 150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58419" name="Group 221"/>
            <p:cNvGrpSpPr/>
            <p:nvPr/>
          </p:nvGrpSpPr>
          <p:grpSpPr>
            <a:xfrm>
              <a:off x="4105" y="1752"/>
              <a:ext cx="317" cy="780"/>
              <a:chOff x="4105" y="1752"/>
              <a:chExt cx="317" cy="780"/>
            </a:xfrm>
          </p:grpSpPr>
          <p:sp>
            <p:nvSpPr>
              <p:cNvPr id="58420" name="Text Box 219"/>
              <p:cNvSpPr txBox="1"/>
              <p:nvPr/>
            </p:nvSpPr>
            <p:spPr>
              <a:xfrm>
                <a:off x="4105" y="1752"/>
                <a:ext cx="31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+</a:t>
                </a:r>
                <a:endPara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58421" name="Text Box 220"/>
              <p:cNvSpPr txBox="1"/>
              <p:nvPr/>
            </p:nvSpPr>
            <p:spPr>
              <a:xfrm>
                <a:off x="4105" y="2205"/>
                <a:ext cx="31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-</a:t>
                </a:r>
                <a:endParaRPr lang="en-US" altLang="zh-CN" b="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34042" name="Group 250"/>
          <p:cNvGrpSpPr/>
          <p:nvPr/>
        </p:nvGrpSpPr>
        <p:grpSpPr>
          <a:xfrm>
            <a:off x="2230438" y="523875"/>
            <a:ext cx="5184775" cy="1800225"/>
            <a:chOff x="2835" y="300"/>
            <a:chExt cx="3266" cy="1134"/>
          </a:xfrm>
        </p:grpSpPr>
        <p:sp>
          <p:nvSpPr>
            <p:cNvPr id="58423" name="Rectangle 198"/>
            <p:cNvSpPr/>
            <p:nvPr/>
          </p:nvSpPr>
          <p:spPr>
            <a:xfrm>
              <a:off x="2835" y="300"/>
              <a:ext cx="3266" cy="1134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8424" name="Oval 199"/>
            <p:cNvSpPr/>
            <p:nvPr/>
          </p:nvSpPr>
          <p:spPr>
            <a:xfrm>
              <a:off x="3107" y="66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8425" name="Line 200"/>
            <p:cNvSpPr/>
            <p:nvPr/>
          </p:nvSpPr>
          <p:spPr>
            <a:xfrm>
              <a:off x="5193" y="481"/>
              <a:ext cx="0" cy="7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426" name="Line 201"/>
            <p:cNvSpPr/>
            <p:nvPr/>
          </p:nvSpPr>
          <p:spPr>
            <a:xfrm>
              <a:off x="3288" y="493"/>
              <a:ext cx="190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427" name="Line 202"/>
            <p:cNvSpPr/>
            <p:nvPr/>
          </p:nvSpPr>
          <p:spPr>
            <a:xfrm>
              <a:off x="3288" y="1252"/>
              <a:ext cx="190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428" name="Text Box 203"/>
            <p:cNvSpPr txBox="1"/>
            <p:nvPr/>
          </p:nvSpPr>
          <p:spPr>
            <a:xfrm>
              <a:off x="4105" y="844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5</a:t>
              </a: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8429" name="Text Box 204"/>
            <p:cNvSpPr txBox="1"/>
            <p:nvPr/>
          </p:nvSpPr>
          <p:spPr>
            <a:xfrm>
              <a:off x="5375" y="753"/>
              <a:ext cx="25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endParaRPr lang="en-US" altLang="zh-CN" b="0" i="1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8430" name="Text Box 205"/>
            <p:cNvSpPr txBox="1"/>
            <p:nvPr/>
          </p:nvSpPr>
          <p:spPr>
            <a:xfrm>
              <a:off x="5239" y="481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+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8431" name="Text Box 206"/>
            <p:cNvSpPr txBox="1"/>
            <p:nvPr/>
          </p:nvSpPr>
          <p:spPr>
            <a:xfrm>
              <a:off x="5239" y="1025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8432" name="Line 207"/>
            <p:cNvSpPr/>
            <p:nvPr/>
          </p:nvSpPr>
          <p:spPr>
            <a:xfrm flipV="1">
              <a:off x="5193" y="527"/>
              <a:ext cx="0" cy="27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8433" name="Text Box 208"/>
            <p:cNvSpPr txBox="1"/>
            <p:nvPr/>
          </p:nvSpPr>
          <p:spPr>
            <a:xfrm>
              <a:off x="4830" y="436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1A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8434" name="Rectangle 209"/>
            <p:cNvSpPr/>
            <p:nvPr/>
          </p:nvSpPr>
          <p:spPr>
            <a:xfrm>
              <a:off x="4150" y="116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58435" name="Group 210"/>
            <p:cNvGrpSpPr/>
            <p:nvPr/>
          </p:nvGrpSpPr>
          <p:grpSpPr>
            <a:xfrm>
              <a:off x="5012" y="754"/>
              <a:ext cx="363" cy="363"/>
              <a:chOff x="4785" y="709"/>
              <a:chExt cx="363" cy="363"/>
            </a:xfrm>
          </p:grpSpPr>
          <p:sp>
            <p:nvSpPr>
              <p:cNvPr id="58436" name="Oval 211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8437" name="Line 212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58438" name="Line 213"/>
            <p:cNvSpPr/>
            <p:nvPr/>
          </p:nvSpPr>
          <p:spPr>
            <a:xfrm>
              <a:off x="3288" y="481"/>
              <a:ext cx="0" cy="77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439" name="Rectangle 214"/>
            <p:cNvSpPr/>
            <p:nvPr/>
          </p:nvSpPr>
          <p:spPr>
            <a:xfrm>
              <a:off x="4059" y="43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8440" name="Text Box 215"/>
            <p:cNvSpPr txBox="1"/>
            <p:nvPr/>
          </p:nvSpPr>
          <p:spPr>
            <a:xfrm>
              <a:off x="4014" y="481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8441" name="Text Box 216"/>
            <p:cNvSpPr txBox="1"/>
            <p:nvPr/>
          </p:nvSpPr>
          <p:spPr>
            <a:xfrm>
              <a:off x="3470" y="708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4V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8442" name="Text Box 217"/>
            <p:cNvSpPr txBox="1"/>
            <p:nvPr/>
          </p:nvSpPr>
          <p:spPr>
            <a:xfrm>
              <a:off x="3379" y="436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+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8443" name="Text Box 218"/>
            <p:cNvSpPr txBox="1"/>
            <p:nvPr/>
          </p:nvSpPr>
          <p:spPr>
            <a:xfrm>
              <a:off x="3288" y="980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58444" name="Group 251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58445" name="Picture 252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8446" name="Text Box 253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rgbClr val="FFFFFF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rgbClr val="FFFFFF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38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8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3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3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3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33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3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33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38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8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3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33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8" dur="500"/>
                                        <p:tgtEl>
                                          <p:spTgt spid="3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3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3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33" grpId="0"/>
      <p:bldP spid="33834" grpId="0"/>
      <p:bldP spid="33868" grpId="0"/>
      <p:bldP spid="3387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60" name="Text Box 4"/>
          <p:cNvSpPr txBox="1"/>
          <p:nvPr/>
        </p:nvSpPr>
        <p:spPr>
          <a:xfrm>
            <a:off x="539750" y="981075"/>
            <a:ext cx="7910513" cy="1971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571500" algn="just">
              <a:lnSpc>
                <a:spcPct val="110000"/>
              </a:lnSpc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任何一个含源线性一端口电路，对外电路来说，可以用一个电流源和电阻的并联组合来等效置换；电流源的电流等于该一端口的短路电流，电阻等于该一端口的输入电阻。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0661" name="Text Box 5"/>
          <p:cNvSpPr txBox="1"/>
          <p:nvPr/>
        </p:nvSpPr>
        <p:spPr>
          <a:xfrm>
            <a:off x="684213" y="476250"/>
            <a:ext cx="2665412" cy="5794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4.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诺顿定理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0662" name="Text Box 6"/>
          <p:cNvSpPr txBox="1"/>
          <p:nvPr/>
        </p:nvSpPr>
        <p:spPr>
          <a:xfrm>
            <a:off x="539750" y="4806950"/>
            <a:ext cx="8077200" cy="15017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indent="666750"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一般情况，诺顿等效电路可由戴维宁等效电路经电源等效变换得到。诺顿等效电路可采用与戴维宁定理类似的方法证明。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0663" name="AutoShape 7"/>
          <p:cNvSpPr/>
          <p:nvPr/>
        </p:nvSpPr>
        <p:spPr>
          <a:xfrm>
            <a:off x="4716463" y="3789363"/>
            <a:ext cx="719137" cy="215900"/>
          </a:xfrm>
          <a:prstGeom prst="rightArrow">
            <a:avLst>
              <a:gd name="adj1" fmla="val 50000"/>
              <a:gd name="adj2" fmla="val 83256"/>
            </a:avLst>
          </a:prstGeom>
          <a:solidFill>
            <a:srgbClr val="00CCFF"/>
          </a:solidFill>
          <a:ln w="9525" cap="flat" cmpd="sng">
            <a:solidFill>
              <a:srgbClr val="00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59397" name="Group 3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9398" name="Picture 4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9399" name="Text Box 4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9400" name="Group 4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9401" name="Picture 4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9402" name="Text Box 4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0736" name="Group 80"/>
          <p:cNvGrpSpPr/>
          <p:nvPr/>
        </p:nvGrpSpPr>
        <p:grpSpPr>
          <a:xfrm>
            <a:off x="2268538" y="3032125"/>
            <a:ext cx="2447925" cy="1790700"/>
            <a:chOff x="1429" y="1910"/>
            <a:chExt cx="1542" cy="1128"/>
          </a:xfrm>
        </p:grpSpPr>
        <p:sp>
          <p:nvSpPr>
            <p:cNvPr id="59404" name="Freeform 49"/>
            <p:cNvSpPr/>
            <p:nvPr/>
          </p:nvSpPr>
          <p:spPr>
            <a:xfrm>
              <a:off x="2109" y="2112"/>
              <a:ext cx="543" cy="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607" y="0"/>
                </a:cxn>
              </a:cxnLst>
              <a:pathLst>
                <a:path w="528" h="1">
                  <a:moveTo>
                    <a:pt x="0" y="1"/>
                  </a:moveTo>
                  <a:lnTo>
                    <a:pt x="528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9405" name="Freeform 50"/>
            <p:cNvSpPr/>
            <p:nvPr/>
          </p:nvSpPr>
          <p:spPr>
            <a:xfrm>
              <a:off x="2113" y="2887"/>
              <a:ext cx="530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90" y="0"/>
                </a:cxn>
              </a:cxnLst>
              <a:pathLst>
                <a:path w="516" h="1">
                  <a:moveTo>
                    <a:pt x="0" y="0"/>
                  </a:moveTo>
                  <a:lnTo>
                    <a:pt x="516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9406" name="Line 51"/>
            <p:cNvSpPr/>
            <p:nvPr/>
          </p:nvSpPr>
          <p:spPr>
            <a:xfrm>
              <a:off x="2200" y="2069"/>
              <a:ext cx="345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9407" name="Oval 52"/>
            <p:cNvSpPr/>
            <p:nvPr/>
          </p:nvSpPr>
          <p:spPr>
            <a:xfrm>
              <a:off x="2650" y="2073"/>
              <a:ext cx="69" cy="76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9408" name="Oval 53"/>
            <p:cNvSpPr/>
            <p:nvPr/>
          </p:nvSpPr>
          <p:spPr>
            <a:xfrm>
              <a:off x="2650" y="2851"/>
              <a:ext cx="69" cy="76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9409" name="Text Box 54"/>
            <p:cNvSpPr txBox="1"/>
            <p:nvPr/>
          </p:nvSpPr>
          <p:spPr>
            <a:xfrm>
              <a:off x="2744" y="1910"/>
              <a:ext cx="2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10" name="Text Box 55"/>
            <p:cNvSpPr txBox="1"/>
            <p:nvPr/>
          </p:nvSpPr>
          <p:spPr>
            <a:xfrm>
              <a:off x="2743" y="2711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11" name="Text Box 56"/>
            <p:cNvSpPr txBox="1"/>
            <p:nvPr/>
          </p:nvSpPr>
          <p:spPr>
            <a:xfrm>
              <a:off x="2245" y="2069"/>
              <a:ext cx="1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12" name="Text Box 57"/>
            <p:cNvSpPr txBox="1"/>
            <p:nvPr/>
          </p:nvSpPr>
          <p:spPr>
            <a:xfrm>
              <a:off x="2469" y="2391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9413" name="Text Box 58"/>
            <p:cNvSpPr txBox="1"/>
            <p:nvPr/>
          </p:nvSpPr>
          <p:spPr>
            <a:xfrm>
              <a:off x="2517" y="2124"/>
              <a:ext cx="2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14" name="Text Box 59"/>
            <p:cNvSpPr txBox="1"/>
            <p:nvPr/>
          </p:nvSpPr>
          <p:spPr>
            <a:xfrm>
              <a:off x="2472" y="2578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0716" name="Rectangle 60"/>
            <p:cNvSpPr>
              <a:spLocks noChangeArrowheads="1"/>
            </p:cNvSpPr>
            <p:nvPr/>
          </p:nvSpPr>
          <p:spPr bwMode="auto">
            <a:xfrm>
              <a:off x="1429" y="1988"/>
              <a:ext cx="680" cy="1030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A</a:t>
              </a:r>
              <a:endPara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</p:grpSp>
      <p:grpSp>
        <p:nvGrpSpPr>
          <p:cNvPr id="70740" name="Group 84"/>
          <p:cNvGrpSpPr/>
          <p:nvPr/>
        </p:nvGrpSpPr>
        <p:grpSpPr>
          <a:xfrm>
            <a:off x="5508625" y="2997200"/>
            <a:ext cx="3040063" cy="1743075"/>
            <a:chOff x="3470" y="1888"/>
            <a:chExt cx="1915" cy="1098"/>
          </a:xfrm>
        </p:grpSpPr>
        <p:sp>
          <p:nvSpPr>
            <p:cNvPr id="59417" name="Line 69"/>
            <p:cNvSpPr/>
            <p:nvPr/>
          </p:nvSpPr>
          <p:spPr>
            <a:xfrm>
              <a:off x="3787" y="2024"/>
              <a:ext cx="0" cy="8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9418" name="Text Box 62"/>
            <p:cNvSpPr txBox="1"/>
            <p:nvPr/>
          </p:nvSpPr>
          <p:spPr>
            <a:xfrm>
              <a:off x="4984" y="1888"/>
              <a:ext cx="40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19" name="Text Box 63"/>
            <p:cNvSpPr txBox="1"/>
            <p:nvPr/>
          </p:nvSpPr>
          <p:spPr>
            <a:xfrm>
              <a:off x="4984" y="2659"/>
              <a:ext cx="28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20" name="Text Box 64"/>
            <p:cNvSpPr txBox="1"/>
            <p:nvPr/>
          </p:nvSpPr>
          <p:spPr>
            <a:xfrm>
              <a:off x="4348" y="2251"/>
              <a:ext cx="85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eq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21" name="Text Box 65"/>
            <p:cNvSpPr txBox="1"/>
            <p:nvPr/>
          </p:nvSpPr>
          <p:spPr>
            <a:xfrm>
              <a:off x="3470" y="1969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22" name="Line 66"/>
            <p:cNvSpPr/>
            <p:nvPr/>
          </p:nvSpPr>
          <p:spPr>
            <a:xfrm flipV="1">
              <a:off x="3787" y="2051"/>
              <a:ext cx="0" cy="29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9423" name="Line 67"/>
            <p:cNvSpPr/>
            <p:nvPr/>
          </p:nvSpPr>
          <p:spPr>
            <a:xfrm>
              <a:off x="3787" y="2024"/>
              <a:ext cx="110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9424" name="Line 68"/>
            <p:cNvSpPr/>
            <p:nvPr/>
          </p:nvSpPr>
          <p:spPr>
            <a:xfrm>
              <a:off x="4348" y="2024"/>
              <a:ext cx="0" cy="8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9425" name="Line 70"/>
            <p:cNvSpPr/>
            <p:nvPr/>
          </p:nvSpPr>
          <p:spPr>
            <a:xfrm>
              <a:off x="3787" y="2840"/>
              <a:ext cx="1106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9426" name="Group 71"/>
            <p:cNvGrpSpPr/>
            <p:nvPr/>
          </p:nvGrpSpPr>
          <p:grpSpPr>
            <a:xfrm>
              <a:off x="3606" y="2341"/>
              <a:ext cx="363" cy="363"/>
              <a:chOff x="4785" y="709"/>
              <a:chExt cx="363" cy="363"/>
            </a:xfrm>
          </p:grpSpPr>
          <p:sp>
            <p:nvSpPr>
              <p:cNvPr id="59427" name="Oval 72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9428" name="Line 73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59429" name="Rectangle 74"/>
            <p:cNvSpPr/>
            <p:nvPr/>
          </p:nvSpPr>
          <p:spPr>
            <a:xfrm>
              <a:off x="4258" y="225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9430" name="Oval 75"/>
            <p:cNvSpPr/>
            <p:nvPr/>
          </p:nvSpPr>
          <p:spPr>
            <a:xfrm>
              <a:off x="4893" y="2796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9431" name="Oval 76"/>
            <p:cNvSpPr/>
            <p:nvPr/>
          </p:nvSpPr>
          <p:spPr>
            <a:xfrm>
              <a:off x="4893" y="1979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70733" name="Group 77"/>
          <p:cNvGrpSpPr/>
          <p:nvPr/>
        </p:nvGrpSpPr>
        <p:grpSpPr>
          <a:xfrm>
            <a:off x="395288" y="4162425"/>
            <a:ext cx="1644650" cy="850900"/>
            <a:chOff x="385" y="3022"/>
            <a:chExt cx="1036" cy="536"/>
          </a:xfrm>
        </p:grpSpPr>
        <p:pic>
          <p:nvPicPr>
            <p:cNvPr id="59433" name="Picture 78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9434" name="Text Box 79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59435" name="Group 85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59436" name="Picture 8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9437" name="Text Box 87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0" grpId="0"/>
      <p:bldP spid="70661" grpId="0"/>
      <p:bldP spid="70662" grpId="0"/>
      <p:bldP spid="7066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Text Box 2"/>
          <p:cNvSpPr txBox="1"/>
          <p:nvPr/>
        </p:nvSpPr>
        <p:spPr>
          <a:xfrm>
            <a:off x="395288" y="519113"/>
            <a:ext cx="863600" cy="5794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2" name="Text Box 4"/>
          <p:cNvSpPr txBox="1"/>
          <p:nvPr/>
        </p:nvSpPr>
        <p:spPr>
          <a:xfrm>
            <a:off x="971550" y="549275"/>
            <a:ext cx="2217738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求电流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I</a:t>
            </a:r>
            <a:endParaRPr lang="en-US" altLang="zh-CN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2829" name="Text Box 61"/>
          <p:cNvSpPr txBox="1"/>
          <p:nvPr/>
        </p:nvSpPr>
        <p:spPr>
          <a:xfrm>
            <a:off x="1116013" y="1125538"/>
            <a:ext cx="3095625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求短路电流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830" name="Text Box 62"/>
          <p:cNvSpPr txBox="1"/>
          <p:nvPr/>
        </p:nvSpPr>
        <p:spPr>
          <a:xfrm>
            <a:off x="971550" y="1628775"/>
            <a:ext cx="2230438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=12/2=6A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831" name="Text Box 63"/>
          <p:cNvSpPr txBox="1"/>
          <p:nvPr/>
        </p:nvSpPr>
        <p:spPr>
          <a:xfrm>
            <a:off x="684213" y="2205038"/>
            <a:ext cx="3643312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=(24+12)/10=3.6A</a:t>
            </a:r>
            <a:endParaRPr lang="en-US" altLang="zh-CN" sz="3200" b="0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832" name="Text Box 64"/>
          <p:cNvSpPr txBox="1"/>
          <p:nvPr/>
        </p:nvSpPr>
        <p:spPr>
          <a:xfrm>
            <a:off x="539750" y="2852738"/>
            <a:ext cx="4751388" cy="5794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3.6</a:t>
            </a:r>
            <a:r>
              <a: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6=</a:t>
            </a:r>
            <a:r>
              <a: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9.6A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833" name="Text Box 65"/>
          <p:cNvSpPr txBox="1"/>
          <p:nvPr/>
        </p:nvSpPr>
        <p:spPr>
          <a:xfrm>
            <a:off x="323850" y="1196975"/>
            <a:ext cx="666750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882" name="Text Box 114"/>
          <p:cNvSpPr txBox="1"/>
          <p:nvPr/>
        </p:nvSpPr>
        <p:spPr>
          <a:xfrm>
            <a:off x="684213" y="3500438"/>
            <a:ext cx="27717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marL="342900" indent="-342900" algn="ctr">
              <a:spcBef>
                <a:spcPct val="50000"/>
              </a:spcBef>
              <a:buAutoNum type="circleNumDbPlain" startA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求等效电阻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eq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883" name="Text Box 115"/>
          <p:cNvSpPr txBox="1"/>
          <p:nvPr/>
        </p:nvSpPr>
        <p:spPr>
          <a:xfrm>
            <a:off x="5364163" y="2852738"/>
            <a:ext cx="3203575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eq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=10//2=1.67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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2884" name="Text Box 116"/>
          <p:cNvSpPr txBox="1"/>
          <p:nvPr/>
        </p:nvSpPr>
        <p:spPr>
          <a:xfrm>
            <a:off x="5076825" y="3500438"/>
            <a:ext cx="28638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marL="342900" indent="-342900" algn="ctr">
              <a:spcBef>
                <a:spcPct val="50000"/>
              </a:spcBef>
              <a:buAutoNum type="circleNumDbPlain" startAt="3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诺顿等效电路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906" name="Text Box 138"/>
          <p:cNvSpPr txBox="1"/>
          <p:nvPr/>
        </p:nvSpPr>
        <p:spPr>
          <a:xfrm>
            <a:off x="3851275" y="4365625"/>
            <a:ext cx="1296988" cy="9461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just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应用分流公式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909" name="Text Box 141"/>
          <p:cNvSpPr txBox="1"/>
          <p:nvPr/>
        </p:nvSpPr>
        <p:spPr>
          <a:xfrm>
            <a:off x="4716463" y="5805488"/>
            <a:ext cx="2735262" cy="5794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just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=2.83A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0429" name="Group 14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0430" name="Picture 14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0431" name="Text Box 14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0432" name="Group 15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0433" name="Picture 15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0434" name="Text Box 15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2924" name="Group 156"/>
          <p:cNvGrpSpPr/>
          <p:nvPr/>
        </p:nvGrpSpPr>
        <p:grpSpPr>
          <a:xfrm>
            <a:off x="4356100" y="620713"/>
            <a:ext cx="4392613" cy="2016125"/>
            <a:chOff x="2925" y="482"/>
            <a:chExt cx="2767" cy="1270"/>
          </a:xfrm>
        </p:grpSpPr>
        <p:sp>
          <p:nvSpPr>
            <p:cNvPr id="60436" name="Oval 157"/>
            <p:cNvSpPr/>
            <p:nvPr/>
          </p:nvSpPr>
          <p:spPr>
            <a:xfrm>
              <a:off x="3515" y="138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0437" name="Oval 158"/>
            <p:cNvSpPr/>
            <p:nvPr/>
          </p:nvSpPr>
          <p:spPr>
            <a:xfrm>
              <a:off x="4830" y="84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0438" name="Text Box 159"/>
            <p:cNvSpPr txBox="1"/>
            <p:nvPr/>
          </p:nvSpPr>
          <p:spPr>
            <a:xfrm>
              <a:off x="3379" y="1117"/>
              <a:ext cx="6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12V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39" name="Text Box 160"/>
            <p:cNvSpPr txBox="1"/>
            <p:nvPr/>
          </p:nvSpPr>
          <p:spPr>
            <a:xfrm>
              <a:off x="3742" y="754"/>
              <a:ext cx="62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0440" name="Text Box 161"/>
            <p:cNvSpPr txBox="1"/>
            <p:nvPr/>
          </p:nvSpPr>
          <p:spPr>
            <a:xfrm>
              <a:off x="4332" y="572"/>
              <a:ext cx="67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0441" name="Text Box 162"/>
            <p:cNvSpPr txBox="1"/>
            <p:nvPr/>
          </p:nvSpPr>
          <p:spPr>
            <a:xfrm>
              <a:off x="5057" y="1207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42" name="Text Box 163"/>
            <p:cNvSpPr txBox="1"/>
            <p:nvPr/>
          </p:nvSpPr>
          <p:spPr>
            <a:xfrm>
              <a:off x="5012" y="527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43" name="Text Box 164"/>
            <p:cNvSpPr txBox="1"/>
            <p:nvPr/>
          </p:nvSpPr>
          <p:spPr>
            <a:xfrm>
              <a:off x="5157" y="845"/>
              <a:ext cx="5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24V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44" name="Text Box 165"/>
            <p:cNvSpPr txBox="1"/>
            <p:nvPr/>
          </p:nvSpPr>
          <p:spPr>
            <a:xfrm>
              <a:off x="3152" y="754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0445" name="Text Box 166"/>
            <p:cNvSpPr txBox="1"/>
            <p:nvPr/>
          </p:nvSpPr>
          <p:spPr>
            <a:xfrm>
              <a:off x="2925" y="1117"/>
              <a:ext cx="1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46" name="Text Box 167"/>
            <p:cNvSpPr txBox="1"/>
            <p:nvPr/>
          </p:nvSpPr>
          <p:spPr>
            <a:xfrm>
              <a:off x="3288" y="1298"/>
              <a:ext cx="1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47" name="Line 168"/>
            <p:cNvSpPr/>
            <p:nvPr/>
          </p:nvSpPr>
          <p:spPr>
            <a:xfrm flipV="1">
              <a:off x="3198" y="1117"/>
              <a:ext cx="0" cy="336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0448" name="Text Box 169"/>
            <p:cNvSpPr txBox="1"/>
            <p:nvPr/>
          </p:nvSpPr>
          <p:spPr>
            <a:xfrm>
              <a:off x="3878" y="1253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49" name="Line 170"/>
            <p:cNvSpPr/>
            <p:nvPr/>
          </p:nvSpPr>
          <p:spPr>
            <a:xfrm>
              <a:off x="4195" y="527"/>
              <a:ext cx="0" cy="104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60450" name="Rectangle 171"/>
            <p:cNvSpPr/>
            <p:nvPr/>
          </p:nvSpPr>
          <p:spPr>
            <a:xfrm>
              <a:off x="3152" y="527"/>
              <a:ext cx="1860" cy="1043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0451" name="Rectangle 172"/>
            <p:cNvSpPr/>
            <p:nvPr/>
          </p:nvSpPr>
          <p:spPr>
            <a:xfrm>
              <a:off x="4468" y="48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0452" name="Rectangle 173"/>
            <p:cNvSpPr/>
            <p:nvPr/>
          </p:nvSpPr>
          <p:spPr>
            <a:xfrm>
              <a:off x="3061" y="75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0453" name="Rectangle 174"/>
            <p:cNvSpPr/>
            <p:nvPr/>
          </p:nvSpPr>
          <p:spPr>
            <a:xfrm>
              <a:off x="4114" y="75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32961" name="Group 193"/>
          <p:cNvGrpSpPr/>
          <p:nvPr/>
        </p:nvGrpSpPr>
        <p:grpSpPr>
          <a:xfrm>
            <a:off x="827088" y="4149725"/>
            <a:ext cx="2303462" cy="1801813"/>
            <a:chOff x="3334" y="436"/>
            <a:chExt cx="1451" cy="1135"/>
          </a:xfrm>
        </p:grpSpPr>
        <p:sp>
          <p:nvSpPr>
            <p:cNvPr id="60455" name="AutoShape 194"/>
            <p:cNvSpPr/>
            <p:nvPr/>
          </p:nvSpPr>
          <p:spPr>
            <a:xfrm>
              <a:off x="3334" y="1071"/>
              <a:ext cx="419" cy="90"/>
            </a:xfrm>
            <a:prstGeom prst="rightArrow">
              <a:avLst>
                <a:gd name="adj1" fmla="val 50000"/>
                <a:gd name="adj2" fmla="val 116367"/>
              </a:avLst>
            </a:prstGeom>
            <a:solidFill>
              <a:srgbClr val="00CCFF"/>
            </a:solidFill>
            <a:ln w="28575" cap="flat" cmpd="sng">
              <a:solidFill>
                <a:srgbClr val="00CC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0456" name="Text Box 195"/>
            <p:cNvSpPr txBox="1"/>
            <p:nvPr/>
          </p:nvSpPr>
          <p:spPr>
            <a:xfrm>
              <a:off x="3334" y="709"/>
              <a:ext cx="39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eq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57" name="Line 196"/>
            <p:cNvSpPr/>
            <p:nvPr/>
          </p:nvSpPr>
          <p:spPr>
            <a:xfrm>
              <a:off x="3606" y="482"/>
              <a:ext cx="36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58" name="Line 197"/>
            <p:cNvSpPr/>
            <p:nvPr/>
          </p:nvSpPr>
          <p:spPr>
            <a:xfrm flipV="1">
              <a:off x="3651" y="1525"/>
              <a:ext cx="31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59" name="Text Box 198"/>
            <p:cNvSpPr txBox="1"/>
            <p:nvPr/>
          </p:nvSpPr>
          <p:spPr>
            <a:xfrm>
              <a:off x="4014" y="799"/>
              <a:ext cx="62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0460" name="Text Box 199"/>
            <p:cNvSpPr txBox="1"/>
            <p:nvPr/>
          </p:nvSpPr>
          <p:spPr>
            <a:xfrm>
              <a:off x="4105" y="527"/>
              <a:ext cx="67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0461" name="Rectangle 200"/>
            <p:cNvSpPr/>
            <p:nvPr/>
          </p:nvSpPr>
          <p:spPr>
            <a:xfrm>
              <a:off x="3969" y="482"/>
              <a:ext cx="816" cy="1043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0462" name="Rectangle 201"/>
            <p:cNvSpPr/>
            <p:nvPr/>
          </p:nvSpPr>
          <p:spPr>
            <a:xfrm>
              <a:off x="4241" y="43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0463" name="Rectangle 202"/>
            <p:cNvSpPr/>
            <p:nvPr/>
          </p:nvSpPr>
          <p:spPr>
            <a:xfrm>
              <a:off x="3923" y="79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0464" name="Oval 203"/>
            <p:cNvSpPr/>
            <p:nvPr/>
          </p:nvSpPr>
          <p:spPr>
            <a:xfrm>
              <a:off x="3515" y="436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0465" name="Oval 204"/>
            <p:cNvSpPr/>
            <p:nvPr/>
          </p:nvSpPr>
          <p:spPr>
            <a:xfrm>
              <a:off x="3560" y="1480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32987" name="Group 219"/>
          <p:cNvGrpSpPr/>
          <p:nvPr/>
        </p:nvGrpSpPr>
        <p:grpSpPr>
          <a:xfrm>
            <a:off x="6372225" y="1773238"/>
            <a:ext cx="485775" cy="519112"/>
            <a:chOff x="1746" y="780"/>
            <a:chExt cx="306" cy="327"/>
          </a:xfrm>
        </p:grpSpPr>
        <p:sp>
          <p:nvSpPr>
            <p:cNvPr id="60467" name="Line 220"/>
            <p:cNvSpPr/>
            <p:nvPr/>
          </p:nvSpPr>
          <p:spPr>
            <a:xfrm>
              <a:off x="1746" y="799"/>
              <a:ext cx="0" cy="22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0468" name="Text Box 221"/>
            <p:cNvSpPr txBox="1"/>
            <p:nvPr/>
          </p:nvSpPr>
          <p:spPr>
            <a:xfrm>
              <a:off x="1785" y="780"/>
              <a:ext cx="26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2990" name="Group 222"/>
          <p:cNvGrpSpPr/>
          <p:nvPr/>
        </p:nvGrpSpPr>
        <p:grpSpPr>
          <a:xfrm>
            <a:off x="6877050" y="1844675"/>
            <a:ext cx="512763" cy="519113"/>
            <a:chOff x="4331" y="1661"/>
            <a:chExt cx="323" cy="327"/>
          </a:xfrm>
        </p:grpSpPr>
        <p:sp>
          <p:nvSpPr>
            <p:cNvPr id="60470" name="Text Box 223"/>
            <p:cNvSpPr txBox="1"/>
            <p:nvPr/>
          </p:nvSpPr>
          <p:spPr>
            <a:xfrm>
              <a:off x="4331" y="1661"/>
              <a:ext cx="32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71" name="Line 224"/>
            <p:cNvSpPr/>
            <p:nvPr/>
          </p:nvSpPr>
          <p:spPr>
            <a:xfrm flipH="1">
              <a:off x="4332" y="1979"/>
              <a:ext cx="317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32996" name="Group 228"/>
          <p:cNvGrpSpPr/>
          <p:nvPr/>
        </p:nvGrpSpPr>
        <p:grpSpPr>
          <a:xfrm>
            <a:off x="5364163" y="4149725"/>
            <a:ext cx="3095625" cy="1439863"/>
            <a:chOff x="3379" y="2614"/>
            <a:chExt cx="1950" cy="907"/>
          </a:xfrm>
        </p:grpSpPr>
        <p:sp>
          <p:nvSpPr>
            <p:cNvPr id="60473" name="Line 206"/>
            <p:cNvSpPr/>
            <p:nvPr/>
          </p:nvSpPr>
          <p:spPr>
            <a:xfrm>
              <a:off x="4286" y="2614"/>
              <a:ext cx="0" cy="90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60474" name="Rectangle 207"/>
            <p:cNvSpPr/>
            <p:nvPr/>
          </p:nvSpPr>
          <p:spPr>
            <a:xfrm>
              <a:off x="4204" y="288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0475" name="Text Box 208"/>
            <p:cNvSpPr txBox="1"/>
            <p:nvPr/>
          </p:nvSpPr>
          <p:spPr>
            <a:xfrm>
              <a:off x="3469" y="2841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0476" name="Text Box 209"/>
            <p:cNvSpPr txBox="1"/>
            <p:nvPr/>
          </p:nvSpPr>
          <p:spPr>
            <a:xfrm>
              <a:off x="3515" y="3158"/>
              <a:ext cx="25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77" name="Line 210"/>
            <p:cNvSpPr/>
            <p:nvPr/>
          </p:nvSpPr>
          <p:spPr>
            <a:xfrm flipV="1">
              <a:off x="3515" y="3204"/>
              <a:ext cx="0" cy="23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0478" name="Text Box 211"/>
            <p:cNvSpPr txBox="1"/>
            <p:nvPr/>
          </p:nvSpPr>
          <p:spPr>
            <a:xfrm flipH="1">
              <a:off x="4513" y="2614"/>
              <a:ext cx="68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9.6A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79" name="Text Box 213"/>
            <p:cNvSpPr txBox="1"/>
            <p:nvPr/>
          </p:nvSpPr>
          <p:spPr>
            <a:xfrm>
              <a:off x="4286" y="2932"/>
              <a:ext cx="77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1.67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0480" name="Rectangle 214"/>
            <p:cNvSpPr/>
            <p:nvPr/>
          </p:nvSpPr>
          <p:spPr>
            <a:xfrm>
              <a:off x="3469" y="2614"/>
              <a:ext cx="1679" cy="907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0481" name="Rectangle 218"/>
            <p:cNvSpPr/>
            <p:nvPr/>
          </p:nvSpPr>
          <p:spPr>
            <a:xfrm>
              <a:off x="3379" y="288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0482" name="Line 212"/>
            <p:cNvSpPr/>
            <p:nvPr/>
          </p:nvSpPr>
          <p:spPr>
            <a:xfrm flipH="1" flipV="1">
              <a:off x="5148" y="2671"/>
              <a:ext cx="0" cy="305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60483" name="Group 215"/>
            <p:cNvGrpSpPr/>
            <p:nvPr/>
          </p:nvGrpSpPr>
          <p:grpSpPr>
            <a:xfrm>
              <a:off x="4966" y="2976"/>
              <a:ext cx="363" cy="363"/>
              <a:chOff x="4785" y="709"/>
              <a:chExt cx="363" cy="363"/>
            </a:xfrm>
          </p:grpSpPr>
          <p:sp>
            <p:nvSpPr>
              <p:cNvPr id="60484" name="Oval 216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60485" name="Line 217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0486" name="Group 229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60487" name="Picture 23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0488" name="Text Box 231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8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8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2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32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2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2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2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2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3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2000"/>
                                        <p:tgtEl>
                                          <p:spTgt spid="32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3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2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2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2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3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2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2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300" fill="hold"/>
                                        <p:tgtEl>
                                          <p:spTgt spid="32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00" fill="hold"/>
                                        <p:tgtEl>
                                          <p:spTgt spid="32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300" fill="hold"/>
                                        <p:tgtEl>
                                          <p:spTgt spid="329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300" fill="hold"/>
                                        <p:tgtEl>
                                          <p:spTgt spid="329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  <p:bldP spid="32772" grpId="0"/>
      <p:bldP spid="32829" grpId="0"/>
      <p:bldP spid="32830" grpId="0"/>
      <p:bldP spid="32831" grpId="0"/>
      <p:bldP spid="32832" grpId="0"/>
      <p:bldP spid="32833" grpId="0" animBg="1"/>
      <p:bldP spid="32882" grpId="0"/>
      <p:bldP spid="32883" grpId="0"/>
      <p:bldP spid="32884" grpId="0"/>
      <p:bldP spid="32906" grpId="0"/>
      <p:bldP spid="3290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Text Box 2"/>
          <p:cNvSpPr txBox="1"/>
          <p:nvPr/>
        </p:nvSpPr>
        <p:spPr>
          <a:xfrm>
            <a:off x="395288" y="519113"/>
            <a:ext cx="863600" cy="5794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3200" b="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2" name="Text Box 4"/>
          <p:cNvSpPr txBox="1"/>
          <p:nvPr/>
        </p:nvSpPr>
        <p:spPr>
          <a:xfrm>
            <a:off x="971550" y="549275"/>
            <a:ext cx="2217738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求电流</a:t>
            </a:r>
            <a:r>
              <a:rPr lang="en-US" altLang="zh-CN" b="0" i="1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rPr>
              <a:t>I</a:t>
            </a:r>
            <a:endParaRPr lang="en-US" altLang="zh-CN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2829" name="Text Box 61"/>
          <p:cNvSpPr txBox="1"/>
          <p:nvPr/>
        </p:nvSpPr>
        <p:spPr>
          <a:xfrm>
            <a:off x="1116013" y="1125538"/>
            <a:ext cx="3095625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求短路电流</a:t>
            </a:r>
            <a:r>
              <a:rPr lang="en-US" altLang="zh-CN" b="0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b="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</a:t>
            </a:r>
            <a:endParaRPr lang="en-US" altLang="zh-CN" b="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830" name="Text Box 62"/>
          <p:cNvSpPr txBox="1"/>
          <p:nvPr/>
        </p:nvSpPr>
        <p:spPr>
          <a:xfrm>
            <a:off x="971550" y="1628775"/>
            <a:ext cx="2230438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0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200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=12/2=6A</a:t>
            </a:r>
            <a:endParaRPr lang="en-US" altLang="zh-CN" sz="3200" b="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831" name="Text Box 63"/>
          <p:cNvSpPr txBox="1"/>
          <p:nvPr/>
        </p:nvSpPr>
        <p:spPr>
          <a:xfrm>
            <a:off x="684213" y="2205038"/>
            <a:ext cx="3643312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0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200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=(24+12)/10=3.6A</a:t>
            </a:r>
            <a:endParaRPr lang="en-US" altLang="zh-CN" sz="3200" b="0" baseline="-250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832" name="Text Box 64"/>
          <p:cNvSpPr txBox="1"/>
          <p:nvPr/>
        </p:nvSpPr>
        <p:spPr>
          <a:xfrm>
            <a:off x="539750" y="2852738"/>
            <a:ext cx="4751388" cy="5794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0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</a:t>
            </a:r>
            <a:r>
              <a:rPr lang="en-US" altLang="zh-CN" sz="3200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200" b="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200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3.6</a:t>
            </a:r>
            <a:r>
              <a:rPr lang="en-US" altLang="zh-CN" sz="3200" b="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6=</a:t>
            </a:r>
            <a:r>
              <a:rPr lang="en-US" altLang="zh-CN" sz="3200" b="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9.6A</a:t>
            </a:r>
            <a:endParaRPr lang="en-US" altLang="zh-CN" sz="3200" b="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833" name="Text Box 65"/>
          <p:cNvSpPr txBox="1"/>
          <p:nvPr/>
        </p:nvSpPr>
        <p:spPr>
          <a:xfrm>
            <a:off x="323850" y="1196975"/>
            <a:ext cx="666750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882" name="Text Box 114"/>
          <p:cNvSpPr txBox="1"/>
          <p:nvPr/>
        </p:nvSpPr>
        <p:spPr>
          <a:xfrm>
            <a:off x="684213" y="3500438"/>
            <a:ext cx="27717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marL="342900" indent="-342900" algn="ctr">
              <a:spcBef>
                <a:spcPct val="50000"/>
              </a:spcBef>
              <a:buAutoNum type="circleNumDbPlain" startA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求等效电阻</a:t>
            </a:r>
            <a:r>
              <a:rPr lang="en-US" altLang="zh-CN" b="0" i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b="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eq</a:t>
            </a:r>
            <a:endParaRPr lang="en-US" altLang="zh-CN" b="0" dirty="0">
              <a:solidFill>
                <a:srgbClr val="FFFF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883" name="Text Box 115"/>
          <p:cNvSpPr txBox="1"/>
          <p:nvPr/>
        </p:nvSpPr>
        <p:spPr>
          <a:xfrm>
            <a:off x="5364163" y="2852738"/>
            <a:ext cx="3203575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0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eq</a:t>
            </a:r>
            <a:r>
              <a:rPr lang="en-US" altLang="zh-CN" sz="3200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=10//2=1.67 </a:t>
            </a:r>
            <a:r>
              <a:rPr lang="en-US" altLang="zh-CN" sz="3200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</a:t>
            </a:r>
            <a:endParaRPr lang="en-US" altLang="zh-CN" sz="3200" b="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2884" name="Text Box 116"/>
          <p:cNvSpPr txBox="1"/>
          <p:nvPr/>
        </p:nvSpPr>
        <p:spPr>
          <a:xfrm>
            <a:off x="5076825" y="3500438"/>
            <a:ext cx="28638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marL="342900" indent="-342900" algn="ctr">
              <a:spcBef>
                <a:spcPct val="50000"/>
              </a:spcBef>
              <a:buAutoNum type="circleNumDbPlain" startAt="3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诺顿等效电路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906" name="Text Box 138"/>
          <p:cNvSpPr txBox="1"/>
          <p:nvPr/>
        </p:nvSpPr>
        <p:spPr>
          <a:xfrm>
            <a:off x="3851275" y="4365625"/>
            <a:ext cx="1296988" cy="9461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just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应用分流公式</a:t>
            </a: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909" name="Text Box 141"/>
          <p:cNvSpPr txBox="1"/>
          <p:nvPr/>
        </p:nvSpPr>
        <p:spPr>
          <a:xfrm>
            <a:off x="4716463" y="5805488"/>
            <a:ext cx="2735262" cy="5794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just">
              <a:spcBef>
                <a:spcPct val="50000"/>
              </a:spcBef>
            </a:pPr>
            <a:r>
              <a:rPr lang="en-US" altLang="zh-CN" sz="3200" b="0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=2.83A</a:t>
            </a:r>
            <a:endParaRPr lang="en-US" altLang="zh-CN" sz="3200" b="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1453" name="Group 14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1454" name="Picture 14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455" name="Text Box 14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rgbClr val="FFFFFF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rgbClr val="FFFFFF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1456" name="Group 15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1457" name="Picture 15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458" name="Text Box 15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rgbClr val="FFFFFF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rgbClr val="FFFFFF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2924" name="Group 156"/>
          <p:cNvGrpSpPr/>
          <p:nvPr/>
        </p:nvGrpSpPr>
        <p:grpSpPr>
          <a:xfrm>
            <a:off x="4356100" y="620713"/>
            <a:ext cx="4392613" cy="2016125"/>
            <a:chOff x="2925" y="482"/>
            <a:chExt cx="2767" cy="1270"/>
          </a:xfrm>
        </p:grpSpPr>
        <p:sp>
          <p:nvSpPr>
            <p:cNvPr id="61460" name="Oval 157"/>
            <p:cNvSpPr/>
            <p:nvPr/>
          </p:nvSpPr>
          <p:spPr>
            <a:xfrm>
              <a:off x="3515" y="138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1461" name="Oval 158"/>
            <p:cNvSpPr/>
            <p:nvPr/>
          </p:nvSpPr>
          <p:spPr>
            <a:xfrm>
              <a:off x="4830" y="84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1462" name="Text Box 159"/>
            <p:cNvSpPr txBox="1"/>
            <p:nvPr/>
          </p:nvSpPr>
          <p:spPr>
            <a:xfrm>
              <a:off x="3379" y="1117"/>
              <a:ext cx="6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12V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63" name="Text Box 160"/>
            <p:cNvSpPr txBox="1"/>
            <p:nvPr/>
          </p:nvSpPr>
          <p:spPr>
            <a:xfrm>
              <a:off x="3742" y="754"/>
              <a:ext cx="62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1464" name="Text Box 161"/>
            <p:cNvSpPr txBox="1"/>
            <p:nvPr/>
          </p:nvSpPr>
          <p:spPr>
            <a:xfrm>
              <a:off x="4332" y="572"/>
              <a:ext cx="67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1465" name="Text Box 162"/>
            <p:cNvSpPr txBox="1"/>
            <p:nvPr/>
          </p:nvSpPr>
          <p:spPr>
            <a:xfrm>
              <a:off x="5057" y="1207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66" name="Text Box 163"/>
            <p:cNvSpPr txBox="1"/>
            <p:nvPr/>
          </p:nvSpPr>
          <p:spPr>
            <a:xfrm>
              <a:off x="5012" y="527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67" name="Text Box 164"/>
            <p:cNvSpPr txBox="1"/>
            <p:nvPr/>
          </p:nvSpPr>
          <p:spPr>
            <a:xfrm>
              <a:off x="5157" y="845"/>
              <a:ext cx="5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24V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68" name="Text Box 165"/>
            <p:cNvSpPr txBox="1"/>
            <p:nvPr/>
          </p:nvSpPr>
          <p:spPr>
            <a:xfrm>
              <a:off x="3152" y="754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1469" name="Text Box 166"/>
            <p:cNvSpPr txBox="1"/>
            <p:nvPr/>
          </p:nvSpPr>
          <p:spPr>
            <a:xfrm>
              <a:off x="2925" y="1117"/>
              <a:ext cx="1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70" name="Text Box 167"/>
            <p:cNvSpPr txBox="1"/>
            <p:nvPr/>
          </p:nvSpPr>
          <p:spPr>
            <a:xfrm>
              <a:off x="3288" y="1298"/>
              <a:ext cx="1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71" name="Line 168"/>
            <p:cNvSpPr/>
            <p:nvPr/>
          </p:nvSpPr>
          <p:spPr>
            <a:xfrm flipV="1">
              <a:off x="3198" y="1117"/>
              <a:ext cx="0" cy="336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1472" name="Text Box 169"/>
            <p:cNvSpPr txBox="1"/>
            <p:nvPr/>
          </p:nvSpPr>
          <p:spPr>
            <a:xfrm>
              <a:off x="3878" y="1253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73" name="Line 170"/>
            <p:cNvSpPr/>
            <p:nvPr/>
          </p:nvSpPr>
          <p:spPr>
            <a:xfrm>
              <a:off x="4195" y="527"/>
              <a:ext cx="0" cy="104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61474" name="Rectangle 171"/>
            <p:cNvSpPr/>
            <p:nvPr/>
          </p:nvSpPr>
          <p:spPr>
            <a:xfrm>
              <a:off x="3152" y="527"/>
              <a:ext cx="1860" cy="1043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1475" name="Rectangle 172"/>
            <p:cNvSpPr/>
            <p:nvPr/>
          </p:nvSpPr>
          <p:spPr>
            <a:xfrm>
              <a:off x="4468" y="48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1476" name="Rectangle 173"/>
            <p:cNvSpPr/>
            <p:nvPr/>
          </p:nvSpPr>
          <p:spPr>
            <a:xfrm>
              <a:off x="3061" y="75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1477" name="Rectangle 174"/>
            <p:cNvSpPr/>
            <p:nvPr/>
          </p:nvSpPr>
          <p:spPr>
            <a:xfrm>
              <a:off x="4114" y="75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32943" name="Group 175"/>
          <p:cNvGrpSpPr/>
          <p:nvPr/>
        </p:nvGrpSpPr>
        <p:grpSpPr>
          <a:xfrm>
            <a:off x="4441825" y="469900"/>
            <a:ext cx="4248150" cy="2232025"/>
            <a:chOff x="3016" y="391"/>
            <a:chExt cx="2676" cy="1406"/>
          </a:xfrm>
        </p:grpSpPr>
        <p:sp>
          <p:nvSpPr>
            <p:cNvPr id="61479" name="Rectangle 176"/>
            <p:cNvSpPr/>
            <p:nvPr/>
          </p:nvSpPr>
          <p:spPr>
            <a:xfrm>
              <a:off x="3016" y="391"/>
              <a:ext cx="2631" cy="1406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1480" name="Text Box 177"/>
            <p:cNvSpPr txBox="1"/>
            <p:nvPr/>
          </p:nvSpPr>
          <p:spPr>
            <a:xfrm>
              <a:off x="3198" y="709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sc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81" name="Oval 178"/>
            <p:cNvSpPr/>
            <p:nvPr/>
          </p:nvSpPr>
          <p:spPr>
            <a:xfrm>
              <a:off x="3515" y="138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1482" name="Oval 179"/>
            <p:cNvSpPr/>
            <p:nvPr/>
          </p:nvSpPr>
          <p:spPr>
            <a:xfrm>
              <a:off x="4830" y="84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1483" name="Text Box 180"/>
            <p:cNvSpPr txBox="1"/>
            <p:nvPr/>
          </p:nvSpPr>
          <p:spPr>
            <a:xfrm>
              <a:off x="3379" y="1117"/>
              <a:ext cx="6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12V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84" name="Text Box 181"/>
            <p:cNvSpPr txBox="1"/>
            <p:nvPr/>
          </p:nvSpPr>
          <p:spPr>
            <a:xfrm>
              <a:off x="3742" y="754"/>
              <a:ext cx="62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1485" name="Text Box 182"/>
            <p:cNvSpPr txBox="1"/>
            <p:nvPr/>
          </p:nvSpPr>
          <p:spPr>
            <a:xfrm>
              <a:off x="4332" y="572"/>
              <a:ext cx="67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1486" name="Text Box 183"/>
            <p:cNvSpPr txBox="1"/>
            <p:nvPr/>
          </p:nvSpPr>
          <p:spPr>
            <a:xfrm>
              <a:off x="5057" y="1207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87" name="Text Box 184"/>
            <p:cNvSpPr txBox="1"/>
            <p:nvPr/>
          </p:nvSpPr>
          <p:spPr>
            <a:xfrm>
              <a:off x="5012" y="527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88" name="Text Box 185"/>
            <p:cNvSpPr txBox="1"/>
            <p:nvPr/>
          </p:nvSpPr>
          <p:spPr>
            <a:xfrm>
              <a:off x="5157" y="845"/>
              <a:ext cx="5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24V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89" name="Text Box 186"/>
            <p:cNvSpPr txBox="1"/>
            <p:nvPr/>
          </p:nvSpPr>
          <p:spPr>
            <a:xfrm>
              <a:off x="3288" y="1298"/>
              <a:ext cx="1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90" name="Line 187"/>
            <p:cNvSpPr/>
            <p:nvPr/>
          </p:nvSpPr>
          <p:spPr>
            <a:xfrm flipV="1">
              <a:off x="3198" y="709"/>
              <a:ext cx="0" cy="336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61491" name="Text Box 188"/>
            <p:cNvSpPr txBox="1"/>
            <p:nvPr/>
          </p:nvSpPr>
          <p:spPr>
            <a:xfrm>
              <a:off x="3878" y="1253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92" name="Line 189"/>
            <p:cNvSpPr/>
            <p:nvPr/>
          </p:nvSpPr>
          <p:spPr>
            <a:xfrm>
              <a:off x="4195" y="527"/>
              <a:ext cx="0" cy="104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61493" name="Rectangle 190"/>
            <p:cNvSpPr/>
            <p:nvPr/>
          </p:nvSpPr>
          <p:spPr>
            <a:xfrm>
              <a:off x="3152" y="527"/>
              <a:ext cx="1860" cy="1043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1494" name="Rectangle 191"/>
            <p:cNvSpPr/>
            <p:nvPr/>
          </p:nvSpPr>
          <p:spPr>
            <a:xfrm>
              <a:off x="4468" y="48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1495" name="Rectangle 192"/>
            <p:cNvSpPr/>
            <p:nvPr/>
          </p:nvSpPr>
          <p:spPr>
            <a:xfrm>
              <a:off x="4114" y="75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32961" name="Group 193"/>
          <p:cNvGrpSpPr/>
          <p:nvPr/>
        </p:nvGrpSpPr>
        <p:grpSpPr>
          <a:xfrm>
            <a:off x="827088" y="4149725"/>
            <a:ext cx="2303462" cy="1801813"/>
            <a:chOff x="3334" y="436"/>
            <a:chExt cx="1451" cy="1135"/>
          </a:xfrm>
        </p:grpSpPr>
        <p:sp>
          <p:nvSpPr>
            <p:cNvPr id="61497" name="AutoShape 194"/>
            <p:cNvSpPr/>
            <p:nvPr/>
          </p:nvSpPr>
          <p:spPr>
            <a:xfrm>
              <a:off x="3334" y="1071"/>
              <a:ext cx="419" cy="90"/>
            </a:xfrm>
            <a:prstGeom prst="rightArrow">
              <a:avLst>
                <a:gd name="adj1" fmla="val 50000"/>
                <a:gd name="adj2" fmla="val 116367"/>
              </a:avLst>
            </a:prstGeom>
            <a:solidFill>
              <a:srgbClr val="00CCFF"/>
            </a:solidFill>
            <a:ln w="28575" cap="flat" cmpd="sng">
              <a:solidFill>
                <a:srgbClr val="00CC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1498" name="Text Box 195"/>
            <p:cNvSpPr txBox="1"/>
            <p:nvPr/>
          </p:nvSpPr>
          <p:spPr>
            <a:xfrm>
              <a:off x="3334" y="709"/>
              <a:ext cx="39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eq</a:t>
              </a:r>
              <a:endParaRPr lang="en-US" altLang="zh-CN" b="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99" name="Line 196"/>
            <p:cNvSpPr/>
            <p:nvPr/>
          </p:nvSpPr>
          <p:spPr>
            <a:xfrm>
              <a:off x="3606" y="482"/>
              <a:ext cx="36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500" name="Line 197"/>
            <p:cNvSpPr/>
            <p:nvPr/>
          </p:nvSpPr>
          <p:spPr>
            <a:xfrm flipV="1">
              <a:off x="3651" y="1525"/>
              <a:ext cx="31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501" name="Text Box 198"/>
            <p:cNvSpPr txBox="1"/>
            <p:nvPr/>
          </p:nvSpPr>
          <p:spPr>
            <a:xfrm>
              <a:off x="4014" y="799"/>
              <a:ext cx="62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1502" name="Text Box 199"/>
            <p:cNvSpPr txBox="1"/>
            <p:nvPr/>
          </p:nvSpPr>
          <p:spPr>
            <a:xfrm>
              <a:off x="4105" y="527"/>
              <a:ext cx="67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1503" name="Rectangle 200"/>
            <p:cNvSpPr/>
            <p:nvPr/>
          </p:nvSpPr>
          <p:spPr>
            <a:xfrm>
              <a:off x="3969" y="482"/>
              <a:ext cx="816" cy="1043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1504" name="Rectangle 201"/>
            <p:cNvSpPr/>
            <p:nvPr/>
          </p:nvSpPr>
          <p:spPr>
            <a:xfrm>
              <a:off x="4241" y="43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1505" name="Rectangle 202"/>
            <p:cNvSpPr/>
            <p:nvPr/>
          </p:nvSpPr>
          <p:spPr>
            <a:xfrm>
              <a:off x="3923" y="79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1506" name="Oval 203"/>
            <p:cNvSpPr/>
            <p:nvPr/>
          </p:nvSpPr>
          <p:spPr>
            <a:xfrm>
              <a:off x="3515" y="436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1507" name="Oval 204"/>
            <p:cNvSpPr/>
            <p:nvPr/>
          </p:nvSpPr>
          <p:spPr>
            <a:xfrm>
              <a:off x="3560" y="1480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32987" name="Group 219"/>
          <p:cNvGrpSpPr/>
          <p:nvPr/>
        </p:nvGrpSpPr>
        <p:grpSpPr>
          <a:xfrm>
            <a:off x="6372225" y="1773238"/>
            <a:ext cx="485775" cy="519112"/>
            <a:chOff x="1746" y="780"/>
            <a:chExt cx="306" cy="327"/>
          </a:xfrm>
        </p:grpSpPr>
        <p:sp>
          <p:nvSpPr>
            <p:cNvPr id="61509" name="Line 220"/>
            <p:cNvSpPr/>
            <p:nvPr/>
          </p:nvSpPr>
          <p:spPr>
            <a:xfrm>
              <a:off x="1746" y="799"/>
              <a:ext cx="0" cy="22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1510" name="Text Box 221"/>
            <p:cNvSpPr txBox="1"/>
            <p:nvPr/>
          </p:nvSpPr>
          <p:spPr>
            <a:xfrm>
              <a:off x="1785" y="780"/>
              <a:ext cx="26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2990" name="Group 222"/>
          <p:cNvGrpSpPr/>
          <p:nvPr/>
        </p:nvGrpSpPr>
        <p:grpSpPr>
          <a:xfrm>
            <a:off x="6877050" y="1844675"/>
            <a:ext cx="512763" cy="519113"/>
            <a:chOff x="4331" y="1661"/>
            <a:chExt cx="323" cy="327"/>
          </a:xfrm>
        </p:grpSpPr>
        <p:sp>
          <p:nvSpPr>
            <p:cNvPr id="61512" name="Text Box 223"/>
            <p:cNvSpPr txBox="1"/>
            <p:nvPr/>
          </p:nvSpPr>
          <p:spPr>
            <a:xfrm>
              <a:off x="4331" y="1661"/>
              <a:ext cx="32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b="0" i="1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513" name="Line 224"/>
            <p:cNvSpPr/>
            <p:nvPr/>
          </p:nvSpPr>
          <p:spPr>
            <a:xfrm flipH="1">
              <a:off x="4332" y="1979"/>
              <a:ext cx="317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32996" name="Group 228"/>
          <p:cNvGrpSpPr/>
          <p:nvPr/>
        </p:nvGrpSpPr>
        <p:grpSpPr>
          <a:xfrm>
            <a:off x="5364163" y="4149725"/>
            <a:ext cx="3095625" cy="1439863"/>
            <a:chOff x="3379" y="2614"/>
            <a:chExt cx="1950" cy="907"/>
          </a:xfrm>
        </p:grpSpPr>
        <p:sp>
          <p:nvSpPr>
            <p:cNvPr id="61515" name="Line 206"/>
            <p:cNvSpPr/>
            <p:nvPr/>
          </p:nvSpPr>
          <p:spPr>
            <a:xfrm>
              <a:off x="4286" y="2614"/>
              <a:ext cx="0" cy="90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61516" name="Rectangle 207"/>
            <p:cNvSpPr/>
            <p:nvPr/>
          </p:nvSpPr>
          <p:spPr>
            <a:xfrm>
              <a:off x="4204" y="288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1517" name="Text Box 208"/>
            <p:cNvSpPr txBox="1"/>
            <p:nvPr/>
          </p:nvSpPr>
          <p:spPr>
            <a:xfrm>
              <a:off x="3469" y="2841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1518" name="Text Box 209"/>
            <p:cNvSpPr txBox="1"/>
            <p:nvPr/>
          </p:nvSpPr>
          <p:spPr>
            <a:xfrm>
              <a:off x="3515" y="3158"/>
              <a:ext cx="25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519" name="Line 210"/>
            <p:cNvSpPr/>
            <p:nvPr/>
          </p:nvSpPr>
          <p:spPr>
            <a:xfrm flipV="1">
              <a:off x="3515" y="3204"/>
              <a:ext cx="0" cy="23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1520" name="Text Box 211"/>
            <p:cNvSpPr txBox="1"/>
            <p:nvPr/>
          </p:nvSpPr>
          <p:spPr>
            <a:xfrm flipH="1">
              <a:off x="4513" y="2614"/>
              <a:ext cx="68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9.6A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521" name="Text Box 213"/>
            <p:cNvSpPr txBox="1"/>
            <p:nvPr/>
          </p:nvSpPr>
          <p:spPr>
            <a:xfrm>
              <a:off x="4286" y="2932"/>
              <a:ext cx="77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1.67</a:t>
              </a:r>
              <a:r>
                <a:rPr lang="en-US" altLang="zh-CN" b="0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1522" name="Rectangle 214"/>
            <p:cNvSpPr/>
            <p:nvPr/>
          </p:nvSpPr>
          <p:spPr>
            <a:xfrm>
              <a:off x="3469" y="2614"/>
              <a:ext cx="1679" cy="907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1523" name="Rectangle 218"/>
            <p:cNvSpPr/>
            <p:nvPr/>
          </p:nvSpPr>
          <p:spPr>
            <a:xfrm>
              <a:off x="3379" y="288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1524" name="Line 212"/>
            <p:cNvSpPr/>
            <p:nvPr/>
          </p:nvSpPr>
          <p:spPr>
            <a:xfrm flipH="1" flipV="1">
              <a:off x="5148" y="2671"/>
              <a:ext cx="0" cy="305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61525" name="Group 215"/>
            <p:cNvGrpSpPr/>
            <p:nvPr/>
          </p:nvGrpSpPr>
          <p:grpSpPr>
            <a:xfrm>
              <a:off x="4966" y="2976"/>
              <a:ext cx="363" cy="363"/>
              <a:chOff x="4785" y="709"/>
              <a:chExt cx="363" cy="363"/>
            </a:xfrm>
          </p:grpSpPr>
          <p:sp>
            <p:nvSpPr>
              <p:cNvPr id="61526" name="Oval 216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61527" name="Line 217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1528" name="Group 229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61529" name="Picture 23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530" name="Text Box 231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rgbClr val="FFFFFF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rgbClr val="FFFFFF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8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8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2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32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2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2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2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2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2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3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2000"/>
                                        <p:tgtEl>
                                          <p:spTgt spid="32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2000"/>
                                        <p:tgtEl>
                                          <p:spTgt spid="3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2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3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2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2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300" fill="hold"/>
                                        <p:tgtEl>
                                          <p:spTgt spid="32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00" fill="hold"/>
                                        <p:tgtEl>
                                          <p:spTgt spid="32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300" fill="hold"/>
                                        <p:tgtEl>
                                          <p:spTgt spid="329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00" fill="hold"/>
                                        <p:tgtEl>
                                          <p:spTgt spid="329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  <p:bldP spid="32772" grpId="0"/>
      <p:bldP spid="32829" grpId="0"/>
      <p:bldP spid="32830" grpId="0"/>
      <p:bldP spid="32831" grpId="0"/>
      <p:bldP spid="32832" grpId="0"/>
      <p:bldP spid="32833" grpId="0" animBg="1"/>
      <p:bldP spid="32882" grpId="0"/>
      <p:bldP spid="32883" grpId="0"/>
      <p:bldP spid="32884" grpId="0"/>
      <p:bldP spid="32906" grpId="0"/>
      <p:bldP spid="3290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6" name="Text Box 2"/>
          <p:cNvSpPr txBox="1"/>
          <p:nvPr/>
        </p:nvSpPr>
        <p:spPr>
          <a:xfrm>
            <a:off x="250825" y="446088"/>
            <a:ext cx="863600" cy="5794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427" name="Text Box 3"/>
          <p:cNvSpPr txBox="1"/>
          <p:nvPr/>
        </p:nvSpPr>
        <p:spPr>
          <a:xfrm>
            <a:off x="1042988" y="476250"/>
            <a:ext cx="1871662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求电压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endParaRPr lang="en-US" altLang="zh-CN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3428" name="Text Box 4"/>
          <p:cNvSpPr txBox="1"/>
          <p:nvPr/>
        </p:nvSpPr>
        <p:spPr>
          <a:xfrm>
            <a:off x="611188" y="4868863"/>
            <a:ext cx="3673475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求短路电流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sc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3429" name="Text Box 5"/>
          <p:cNvSpPr txBox="1"/>
          <p:nvPr/>
        </p:nvSpPr>
        <p:spPr>
          <a:xfrm>
            <a:off x="539750" y="3716338"/>
            <a:ext cx="666750" cy="519112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430" name="Text Box 6"/>
          <p:cNvSpPr txBox="1"/>
          <p:nvPr/>
        </p:nvSpPr>
        <p:spPr>
          <a:xfrm>
            <a:off x="755650" y="3716338"/>
            <a:ext cx="7705725" cy="1117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本题用诺顿定理求比较方便。因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b="0" dirty="0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处的短路电流比开路电压容易求。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62470" name="Group 1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2471" name="Picture 1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2472" name="Text Box 1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2473" name="Group 1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2474" name="Picture 1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2475" name="Text Box 1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03532" name="Group 108"/>
          <p:cNvGrpSpPr/>
          <p:nvPr/>
        </p:nvGrpSpPr>
        <p:grpSpPr>
          <a:xfrm>
            <a:off x="3132138" y="533400"/>
            <a:ext cx="5186362" cy="3255963"/>
            <a:chOff x="-3199" y="527"/>
            <a:chExt cx="3267" cy="2051"/>
          </a:xfrm>
        </p:grpSpPr>
        <p:sp>
          <p:nvSpPr>
            <p:cNvPr id="62477" name="Text Box 19"/>
            <p:cNvSpPr txBox="1"/>
            <p:nvPr/>
          </p:nvSpPr>
          <p:spPr>
            <a:xfrm>
              <a:off x="-410" y="1162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2478" name="Text Box 20"/>
            <p:cNvSpPr txBox="1"/>
            <p:nvPr/>
          </p:nvSpPr>
          <p:spPr>
            <a:xfrm>
              <a:off x="-410" y="2251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2479" name="Oval 22"/>
            <p:cNvSpPr/>
            <p:nvPr/>
          </p:nvSpPr>
          <p:spPr>
            <a:xfrm>
              <a:off x="-3199" y="175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2480" name="Rectangle 23"/>
            <p:cNvSpPr/>
            <p:nvPr/>
          </p:nvSpPr>
          <p:spPr>
            <a:xfrm>
              <a:off x="-3017" y="936"/>
              <a:ext cx="2631" cy="1406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2481" name="Line 24"/>
            <p:cNvSpPr/>
            <p:nvPr/>
          </p:nvSpPr>
          <p:spPr>
            <a:xfrm>
              <a:off x="-3017" y="1389"/>
              <a:ext cx="263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62482" name="Line 25"/>
            <p:cNvSpPr/>
            <p:nvPr/>
          </p:nvSpPr>
          <p:spPr>
            <a:xfrm>
              <a:off x="-1816" y="1389"/>
              <a:ext cx="0" cy="9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62483" name="Line 26"/>
            <p:cNvSpPr/>
            <p:nvPr/>
          </p:nvSpPr>
          <p:spPr>
            <a:xfrm>
              <a:off x="-1266" y="936"/>
              <a:ext cx="0" cy="140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62484" name="Text Box 27"/>
            <p:cNvSpPr txBox="1"/>
            <p:nvPr/>
          </p:nvSpPr>
          <p:spPr>
            <a:xfrm>
              <a:off x="-1680" y="1752"/>
              <a:ext cx="41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2485" name="Text Box 28"/>
            <p:cNvSpPr txBox="1"/>
            <p:nvPr/>
          </p:nvSpPr>
          <p:spPr>
            <a:xfrm>
              <a:off x="-2632" y="527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2486" name="Line 29"/>
            <p:cNvSpPr/>
            <p:nvPr/>
          </p:nvSpPr>
          <p:spPr>
            <a:xfrm>
              <a:off x="-386" y="1480"/>
              <a:ext cx="0" cy="27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62487" name="Text Box 30"/>
            <p:cNvSpPr txBox="1"/>
            <p:nvPr/>
          </p:nvSpPr>
          <p:spPr>
            <a:xfrm>
              <a:off x="-2950" y="1525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2488" name="Text Box 31"/>
            <p:cNvSpPr txBox="1"/>
            <p:nvPr/>
          </p:nvSpPr>
          <p:spPr>
            <a:xfrm>
              <a:off x="-2950" y="2024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2489" name="Text Box 32"/>
            <p:cNvSpPr txBox="1"/>
            <p:nvPr/>
          </p:nvSpPr>
          <p:spPr>
            <a:xfrm>
              <a:off x="-2836" y="1797"/>
              <a:ext cx="5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24V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2490" name="Text Box 33"/>
            <p:cNvSpPr txBox="1"/>
            <p:nvPr/>
          </p:nvSpPr>
          <p:spPr>
            <a:xfrm>
              <a:off x="-772" y="1434"/>
              <a:ext cx="47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1A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2491" name="Text Box 34"/>
            <p:cNvSpPr txBox="1"/>
            <p:nvPr/>
          </p:nvSpPr>
          <p:spPr>
            <a:xfrm>
              <a:off x="-2632" y="1026"/>
              <a:ext cx="41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2492" name="Text Box 35"/>
            <p:cNvSpPr txBox="1"/>
            <p:nvPr/>
          </p:nvSpPr>
          <p:spPr>
            <a:xfrm>
              <a:off x="-341" y="1425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2493" name="Text Box 36"/>
            <p:cNvSpPr txBox="1"/>
            <p:nvPr/>
          </p:nvSpPr>
          <p:spPr>
            <a:xfrm>
              <a:off x="-308" y="2024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2494" name="Text Box 37"/>
            <p:cNvSpPr txBox="1"/>
            <p:nvPr/>
          </p:nvSpPr>
          <p:spPr>
            <a:xfrm>
              <a:off x="-205" y="1752"/>
              <a:ext cx="27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2495" name="Text Box 38"/>
            <p:cNvSpPr txBox="1"/>
            <p:nvPr/>
          </p:nvSpPr>
          <p:spPr>
            <a:xfrm>
              <a:off x="-1045" y="572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2496" name="Text Box 39"/>
            <p:cNvSpPr txBox="1"/>
            <p:nvPr/>
          </p:nvSpPr>
          <p:spPr>
            <a:xfrm>
              <a:off x="-1045" y="1026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2497" name="Text Box 40"/>
            <p:cNvSpPr txBox="1"/>
            <p:nvPr/>
          </p:nvSpPr>
          <p:spPr>
            <a:xfrm>
              <a:off x="-2269" y="1706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2498" name="Rectangle 41"/>
            <p:cNvSpPr/>
            <p:nvPr/>
          </p:nvSpPr>
          <p:spPr>
            <a:xfrm>
              <a:off x="-999" y="89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2499" name="Rectangle 42"/>
            <p:cNvSpPr/>
            <p:nvPr/>
          </p:nvSpPr>
          <p:spPr>
            <a:xfrm>
              <a:off x="-1045" y="134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2500" name="Rectangle 43"/>
            <p:cNvSpPr/>
            <p:nvPr/>
          </p:nvSpPr>
          <p:spPr>
            <a:xfrm>
              <a:off x="-2587" y="134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2501" name="Rectangle 44"/>
            <p:cNvSpPr/>
            <p:nvPr/>
          </p:nvSpPr>
          <p:spPr>
            <a:xfrm>
              <a:off x="-2587" y="84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2502" name="Rectangle 45"/>
            <p:cNvSpPr/>
            <p:nvPr/>
          </p:nvSpPr>
          <p:spPr>
            <a:xfrm>
              <a:off x="-1317" y="175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2503" name="Rectangle 46"/>
            <p:cNvSpPr/>
            <p:nvPr/>
          </p:nvSpPr>
          <p:spPr>
            <a:xfrm>
              <a:off x="-1874" y="175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62504" name="Group 47"/>
            <p:cNvGrpSpPr/>
            <p:nvPr/>
          </p:nvGrpSpPr>
          <p:grpSpPr>
            <a:xfrm>
              <a:off x="-567" y="1752"/>
              <a:ext cx="363" cy="363"/>
              <a:chOff x="4785" y="709"/>
              <a:chExt cx="363" cy="363"/>
            </a:xfrm>
          </p:grpSpPr>
          <p:sp>
            <p:nvSpPr>
              <p:cNvPr id="62505" name="Oval 48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62506" name="Line 49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aphicFrame>
        <p:nvGraphicFramePr>
          <p:cNvPr id="103474" name="Object 50"/>
          <p:cNvGraphicFramePr>
            <a:graphicFrameLocks noChangeAspect="1"/>
          </p:cNvGraphicFramePr>
          <p:nvPr/>
        </p:nvGraphicFramePr>
        <p:xfrm>
          <a:off x="1116013" y="5373688"/>
          <a:ext cx="6192837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" r:id="rId2" imgW="2604135" imgH="393700" progId="Equation.3">
                  <p:embed/>
                </p:oleObj>
              </mc:Choice>
              <mc:Fallback>
                <p:oleObj name="" r:id="rId2" imgW="2604135" imgH="393700" progId="Equation.3">
                  <p:embed/>
                  <p:pic>
                    <p:nvPicPr>
                      <p:cNvPr id="0" name="20 3161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5373688"/>
                        <a:ext cx="6192837" cy="958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508" name="Group 109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62509" name="Picture 11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2510" name="Text Box 111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3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2000"/>
                                        <p:tgtEl>
                                          <p:spTgt spid="10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3000"/>
                                        <p:tgtEl>
                                          <p:spTgt spid="103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6" grpId="0"/>
      <p:bldP spid="103427" grpId="0"/>
      <p:bldP spid="103428" grpId="0"/>
      <p:bldP spid="103429" grpId="0" animBg="1"/>
      <p:bldP spid="10343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6" name="Text Box 2"/>
          <p:cNvSpPr txBox="1"/>
          <p:nvPr/>
        </p:nvSpPr>
        <p:spPr>
          <a:xfrm>
            <a:off x="250825" y="446088"/>
            <a:ext cx="863600" cy="5794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427" name="Text Box 3"/>
          <p:cNvSpPr txBox="1"/>
          <p:nvPr/>
        </p:nvSpPr>
        <p:spPr>
          <a:xfrm>
            <a:off x="1042988" y="476250"/>
            <a:ext cx="1871662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求电压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endParaRPr lang="en-US" altLang="zh-CN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3428" name="Text Box 4"/>
          <p:cNvSpPr txBox="1"/>
          <p:nvPr/>
        </p:nvSpPr>
        <p:spPr>
          <a:xfrm>
            <a:off x="611188" y="4868863"/>
            <a:ext cx="3673475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求短路电流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sc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3429" name="Text Box 5"/>
          <p:cNvSpPr txBox="1"/>
          <p:nvPr/>
        </p:nvSpPr>
        <p:spPr>
          <a:xfrm>
            <a:off x="539750" y="3716338"/>
            <a:ext cx="666750" cy="519112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430" name="Text Box 6"/>
          <p:cNvSpPr txBox="1"/>
          <p:nvPr/>
        </p:nvSpPr>
        <p:spPr>
          <a:xfrm>
            <a:off x="755650" y="3716338"/>
            <a:ext cx="7705725" cy="1117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本题用诺顿定理求比较方便。因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b="0" dirty="0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处的短路电流比开路电压容易求。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63494" name="Group 1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3495" name="Picture 1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3496" name="Text Box 1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3497" name="Group 1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3498" name="Picture 1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3499" name="Text Box 1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03532" name="Group 108"/>
          <p:cNvGrpSpPr/>
          <p:nvPr/>
        </p:nvGrpSpPr>
        <p:grpSpPr>
          <a:xfrm>
            <a:off x="3132138" y="533400"/>
            <a:ext cx="5186362" cy="3255963"/>
            <a:chOff x="-3199" y="527"/>
            <a:chExt cx="3267" cy="2051"/>
          </a:xfrm>
        </p:grpSpPr>
        <p:sp>
          <p:nvSpPr>
            <p:cNvPr id="63501" name="Text Box 19"/>
            <p:cNvSpPr txBox="1"/>
            <p:nvPr/>
          </p:nvSpPr>
          <p:spPr>
            <a:xfrm>
              <a:off x="-410" y="1162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02" name="Text Box 20"/>
            <p:cNvSpPr txBox="1"/>
            <p:nvPr/>
          </p:nvSpPr>
          <p:spPr>
            <a:xfrm>
              <a:off x="-410" y="2251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03" name="Oval 22"/>
            <p:cNvSpPr/>
            <p:nvPr/>
          </p:nvSpPr>
          <p:spPr>
            <a:xfrm>
              <a:off x="-3199" y="175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04" name="Rectangle 23"/>
            <p:cNvSpPr/>
            <p:nvPr/>
          </p:nvSpPr>
          <p:spPr>
            <a:xfrm>
              <a:off x="-3017" y="936"/>
              <a:ext cx="2631" cy="1406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3505" name="Line 24"/>
            <p:cNvSpPr/>
            <p:nvPr/>
          </p:nvSpPr>
          <p:spPr>
            <a:xfrm>
              <a:off x="-3017" y="1389"/>
              <a:ext cx="263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63506" name="Line 25"/>
            <p:cNvSpPr/>
            <p:nvPr/>
          </p:nvSpPr>
          <p:spPr>
            <a:xfrm>
              <a:off x="-1816" y="1389"/>
              <a:ext cx="0" cy="9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63507" name="Line 26"/>
            <p:cNvSpPr/>
            <p:nvPr/>
          </p:nvSpPr>
          <p:spPr>
            <a:xfrm>
              <a:off x="-1266" y="936"/>
              <a:ext cx="0" cy="140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63508" name="Text Box 27"/>
            <p:cNvSpPr txBox="1"/>
            <p:nvPr/>
          </p:nvSpPr>
          <p:spPr>
            <a:xfrm>
              <a:off x="-1680" y="1752"/>
              <a:ext cx="41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09" name="Text Box 28"/>
            <p:cNvSpPr txBox="1"/>
            <p:nvPr/>
          </p:nvSpPr>
          <p:spPr>
            <a:xfrm>
              <a:off x="-2632" y="527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10" name="Line 29"/>
            <p:cNvSpPr/>
            <p:nvPr/>
          </p:nvSpPr>
          <p:spPr>
            <a:xfrm>
              <a:off x="-386" y="1480"/>
              <a:ext cx="0" cy="27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63511" name="Text Box 30"/>
            <p:cNvSpPr txBox="1"/>
            <p:nvPr/>
          </p:nvSpPr>
          <p:spPr>
            <a:xfrm>
              <a:off x="-2950" y="1525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12" name="Text Box 31"/>
            <p:cNvSpPr txBox="1"/>
            <p:nvPr/>
          </p:nvSpPr>
          <p:spPr>
            <a:xfrm>
              <a:off x="-2950" y="2024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13" name="Text Box 32"/>
            <p:cNvSpPr txBox="1"/>
            <p:nvPr/>
          </p:nvSpPr>
          <p:spPr>
            <a:xfrm>
              <a:off x="-2836" y="1797"/>
              <a:ext cx="5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24V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14" name="Text Box 33"/>
            <p:cNvSpPr txBox="1"/>
            <p:nvPr/>
          </p:nvSpPr>
          <p:spPr>
            <a:xfrm>
              <a:off x="-772" y="1434"/>
              <a:ext cx="47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1A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15" name="Text Box 34"/>
            <p:cNvSpPr txBox="1"/>
            <p:nvPr/>
          </p:nvSpPr>
          <p:spPr>
            <a:xfrm>
              <a:off x="-2632" y="1026"/>
              <a:ext cx="41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16" name="Text Box 35"/>
            <p:cNvSpPr txBox="1"/>
            <p:nvPr/>
          </p:nvSpPr>
          <p:spPr>
            <a:xfrm>
              <a:off x="-341" y="1425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17" name="Text Box 36"/>
            <p:cNvSpPr txBox="1"/>
            <p:nvPr/>
          </p:nvSpPr>
          <p:spPr>
            <a:xfrm>
              <a:off x="-308" y="2024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18" name="Text Box 37"/>
            <p:cNvSpPr txBox="1"/>
            <p:nvPr/>
          </p:nvSpPr>
          <p:spPr>
            <a:xfrm>
              <a:off x="-205" y="1752"/>
              <a:ext cx="27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19" name="Text Box 38"/>
            <p:cNvSpPr txBox="1"/>
            <p:nvPr/>
          </p:nvSpPr>
          <p:spPr>
            <a:xfrm>
              <a:off x="-1045" y="572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20" name="Text Box 39"/>
            <p:cNvSpPr txBox="1"/>
            <p:nvPr/>
          </p:nvSpPr>
          <p:spPr>
            <a:xfrm>
              <a:off x="-1045" y="1026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21" name="Text Box 40"/>
            <p:cNvSpPr txBox="1"/>
            <p:nvPr/>
          </p:nvSpPr>
          <p:spPr>
            <a:xfrm>
              <a:off x="-2269" y="1706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22" name="Rectangle 41"/>
            <p:cNvSpPr/>
            <p:nvPr/>
          </p:nvSpPr>
          <p:spPr>
            <a:xfrm>
              <a:off x="-999" y="89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3523" name="Rectangle 42"/>
            <p:cNvSpPr/>
            <p:nvPr/>
          </p:nvSpPr>
          <p:spPr>
            <a:xfrm>
              <a:off x="-1045" y="134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3524" name="Rectangle 43"/>
            <p:cNvSpPr/>
            <p:nvPr/>
          </p:nvSpPr>
          <p:spPr>
            <a:xfrm>
              <a:off x="-2587" y="134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3525" name="Rectangle 44"/>
            <p:cNvSpPr/>
            <p:nvPr/>
          </p:nvSpPr>
          <p:spPr>
            <a:xfrm>
              <a:off x="-2587" y="84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3526" name="Rectangle 45"/>
            <p:cNvSpPr/>
            <p:nvPr/>
          </p:nvSpPr>
          <p:spPr>
            <a:xfrm>
              <a:off x="-1317" y="175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3527" name="Rectangle 46"/>
            <p:cNvSpPr/>
            <p:nvPr/>
          </p:nvSpPr>
          <p:spPr>
            <a:xfrm>
              <a:off x="-1874" y="175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63528" name="Group 47"/>
            <p:cNvGrpSpPr/>
            <p:nvPr/>
          </p:nvGrpSpPr>
          <p:grpSpPr>
            <a:xfrm>
              <a:off x="-567" y="1752"/>
              <a:ext cx="363" cy="363"/>
              <a:chOff x="4785" y="709"/>
              <a:chExt cx="363" cy="363"/>
            </a:xfrm>
          </p:grpSpPr>
          <p:sp>
            <p:nvSpPr>
              <p:cNvPr id="63529" name="Oval 48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63530" name="Line 49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aphicFrame>
        <p:nvGraphicFramePr>
          <p:cNvPr id="103474" name="Object 50"/>
          <p:cNvGraphicFramePr>
            <a:graphicFrameLocks noChangeAspect="1"/>
          </p:cNvGraphicFramePr>
          <p:nvPr/>
        </p:nvGraphicFramePr>
        <p:xfrm>
          <a:off x="1116013" y="5373688"/>
          <a:ext cx="6192837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2" imgW="2604135" imgH="393700" progId="Equation.3">
                  <p:embed/>
                </p:oleObj>
              </mc:Choice>
              <mc:Fallback>
                <p:oleObj name="" r:id="rId2" imgW="2604135" imgH="393700" progId="Equation.3">
                  <p:embed/>
                  <p:pic>
                    <p:nvPicPr>
                      <p:cNvPr id="0" name="20 3162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5373688"/>
                        <a:ext cx="6192837" cy="958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3501" name="Group 77"/>
          <p:cNvGrpSpPr/>
          <p:nvPr/>
        </p:nvGrpSpPr>
        <p:grpSpPr>
          <a:xfrm>
            <a:off x="3024188" y="512763"/>
            <a:ext cx="5329237" cy="3167062"/>
            <a:chOff x="1837" y="1752"/>
            <a:chExt cx="3266" cy="1951"/>
          </a:xfrm>
        </p:grpSpPr>
        <p:sp>
          <p:nvSpPr>
            <p:cNvPr id="63533" name="Rectangle 78"/>
            <p:cNvSpPr/>
            <p:nvPr/>
          </p:nvSpPr>
          <p:spPr>
            <a:xfrm>
              <a:off x="1837" y="1798"/>
              <a:ext cx="3266" cy="1905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3534" name="Text Box 79"/>
            <p:cNvSpPr txBox="1"/>
            <p:nvPr/>
          </p:nvSpPr>
          <p:spPr>
            <a:xfrm>
              <a:off x="4286" y="2890"/>
              <a:ext cx="409" cy="3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35" name="Text Box 80"/>
            <p:cNvSpPr txBox="1"/>
            <p:nvPr/>
          </p:nvSpPr>
          <p:spPr>
            <a:xfrm>
              <a:off x="4739" y="2387"/>
              <a:ext cx="288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36" name="Text Box 81"/>
            <p:cNvSpPr txBox="1"/>
            <p:nvPr/>
          </p:nvSpPr>
          <p:spPr>
            <a:xfrm>
              <a:off x="4740" y="3340"/>
              <a:ext cx="192" cy="3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37" name="Oval 82"/>
            <p:cNvSpPr/>
            <p:nvPr/>
          </p:nvSpPr>
          <p:spPr>
            <a:xfrm>
              <a:off x="1927" y="297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38" name="Rectangle 83"/>
            <p:cNvSpPr/>
            <p:nvPr/>
          </p:nvSpPr>
          <p:spPr>
            <a:xfrm>
              <a:off x="2109" y="2161"/>
              <a:ext cx="2631" cy="1406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3539" name="Line 84"/>
            <p:cNvSpPr/>
            <p:nvPr/>
          </p:nvSpPr>
          <p:spPr>
            <a:xfrm>
              <a:off x="2109" y="2614"/>
              <a:ext cx="263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63540" name="Line 85"/>
            <p:cNvSpPr/>
            <p:nvPr/>
          </p:nvSpPr>
          <p:spPr>
            <a:xfrm>
              <a:off x="3333" y="2614"/>
              <a:ext cx="0" cy="9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63541" name="Line 86"/>
            <p:cNvSpPr/>
            <p:nvPr/>
          </p:nvSpPr>
          <p:spPr>
            <a:xfrm>
              <a:off x="3883" y="2161"/>
              <a:ext cx="0" cy="140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63542" name="Text Box 87"/>
            <p:cNvSpPr txBox="1"/>
            <p:nvPr/>
          </p:nvSpPr>
          <p:spPr>
            <a:xfrm>
              <a:off x="3469" y="2977"/>
              <a:ext cx="410" cy="3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43" name="Text Box 88"/>
            <p:cNvSpPr txBox="1"/>
            <p:nvPr/>
          </p:nvSpPr>
          <p:spPr>
            <a:xfrm>
              <a:off x="2517" y="1752"/>
              <a:ext cx="454" cy="3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44" name="Line 89"/>
            <p:cNvSpPr/>
            <p:nvPr/>
          </p:nvSpPr>
          <p:spPr>
            <a:xfrm>
              <a:off x="4649" y="2931"/>
              <a:ext cx="0" cy="27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3545" name="Text Box 90"/>
            <p:cNvSpPr txBox="1"/>
            <p:nvPr/>
          </p:nvSpPr>
          <p:spPr>
            <a:xfrm>
              <a:off x="2199" y="2750"/>
              <a:ext cx="192" cy="3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46" name="Text Box 91"/>
            <p:cNvSpPr txBox="1"/>
            <p:nvPr/>
          </p:nvSpPr>
          <p:spPr>
            <a:xfrm>
              <a:off x="2199" y="3249"/>
              <a:ext cx="240" cy="3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47" name="Text Box 92"/>
            <p:cNvSpPr txBox="1"/>
            <p:nvPr/>
          </p:nvSpPr>
          <p:spPr>
            <a:xfrm>
              <a:off x="2245" y="3022"/>
              <a:ext cx="590" cy="3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24V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48" name="Text Box 93"/>
            <p:cNvSpPr txBox="1"/>
            <p:nvPr/>
          </p:nvSpPr>
          <p:spPr>
            <a:xfrm>
              <a:off x="2517" y="2251"/>
              <a:ext cx="410" cy="3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49" name="Text Box 94"/>
            <p:cNvSpPr txBox="1"/>
            <p:nvPr/>
          </p:nvSpPr>
          <p:spPr>
            <a:xfrm>
              <a:off x="4104" y="1797"/>
              <a:ext cx="454" cy="3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50" name="Text Box 95"/>
            <p:cNvSpPr txBox="1"/>
            <p:nvPr/>
          </p:nvSpPr>
          <p:spPr>
            <a:xfrm>
              <a:off x="4104" y="2251"/>
              <a:ext cx="454" cy="3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51" name="Text Box 96"/>
            <p:cNvSpPr txBox="1"/>
            <p:nvPr/>
          </p:nvSpPr>
          <p:spPr>
            <a:xfrm>
              <a:off x="2880" y="2931"/>
              <a:ext cx="454" cy="3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52" name="Rectangle 97"/>
            <p:cNvSpPr/>
            <p:nvPr/>
          </p:nvSpPr>
          <p:spPr>
            <a:xfrm>
              <a:off x="4150" y="211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3553" name="Rectangle 98"/>
            <p:cNvSpPr/>
            <p:nvPr/>
          </p:nvSpPr>
          <p:spPr>
            <a:xfrm>
              <a:off x="4104" y="256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3554" name="Rectangle 99"/>
            <p:cNvSpPr/>
            <p:nvPr/>
          </p:nvSpPr>
          <p:spPr>
            <a:xfrm>
              <a:off x="2562" y="256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3555" name="Rectangle 100"/>
            <p:cNvSpPr/>
            <p:nvPr/>
          </p:nvSpPr>
          <p:spPr>
            <a:xfrm>
              <a:off x="2562" y="207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3556" name="Rectangle 101"/>
            <p:cNvSpPr/>
            <p:nvPr/>
          </p:nvSpPr>
          <p:spPr>
            <a:xfrm>
              <a:off x="3832" y="297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3557" name="Rectangle 102"/>
            <p:cNvSpPr/>
            <p:nvPr/>
          </p:nvSpPr>
          <p:spPr>
            <a:xfrm>
              <a:off x="3242" y="297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103527" name="Line 103"/>
          <p:cNvSpPr/>
          <p:nvPr/>
        </p:nvSpPr>
        <p:spPr>
          <a:xfrm>
            <a:off x="7667625" y="1341438"/>
            <a:ext cx="0" cy="503237"/>
          </a:xfrm>
          <a:prstGeom prst="line">
            <a:avLst/>
          </a:prstGeom>
          <a:ln w="28575" cap="flat" cmpd="sng">
            <a:solidFill>
              <a:srgbClr val="00FFFF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3528" name="Line 104"/>
          <p:cNvSpPr/>
          <p:nvPr/>
        </p:nvSpPr>
        <p:spPr>
          <a:xfrm>
            <a:off x="7308850" y="2060575"/>
            <a:ext cx="431800" cy="0"/>
          </a:xfrm>
          <a:prstGeom prst="line">
            <a:avLst/>
          </a:prstGeom>
          <a:ln w="28575" cap="flat" cmpd="sng">
            <a:solidFill>
              <a:srgbClr val="00FFFF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63560" name="Group 109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63561" name="Picture 11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3562" name="Text Box 111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3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2000"/>
                                        <p:tgtEl>
                                          <p:spTgt spid="10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03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03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03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03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3000"/>
                                        <p:tgtEl>
                                          <p:spTgt spid="103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6" grpId="0"/>
      <p:bldP spid="103427" grpId="0"/>
      <p:bldP spid="103428" grpId="0"/>
      <p:bldP spid="103429" grpId="0" animBg="1"/>
      <p:bldP spid="10343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1814" name="Object 70"/>
          <p:cNvGraphicFramePr>
            <a:graphicFrameLocks noChangeAspect="1"/>
          </p:cNvGraphicFramePr>
          <p:nvPr/>
        </p:nvGraphicFramePr>
        <p:xfrm>
          <a:off x="900113" y="3933825"/>
          <a:ext cx="52800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1" imgW="2037080" imgH="219710" progId="Equation.3">
                  <p:embed/>
                </p:oleObj>
              </mc:Choice>
              <mc:Fallback>
                <p:oleObj name="" r:id="rId1" imgW="2037080" imgH="219710" progId="Equation.3">
                  <p:embed/>
                  <p:pic>
                    <p:nvPicPr>
                      <p:cNvPr id="0" name="20 316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3933825"/>
                        <a:ext cx="5280025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4514" name="Group 10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4515" name="Picture 11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4516" name="Text Box 11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4517" name="Group 11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4518" name="Picture 113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4519" name="Text Box 11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31862" name="Text Box 118"/>
          <p:cNvSpPr txBox="1"/>
          <p:nvPr/>
        </p:nvSpPr>
        <p:spPr>
          <a:xfrm>
            <a:off x="539750" y="692150"/>
            <a:ext cx="3455988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>
              <a:spcBef>
                <a:spcPct val="50000"/>
              </a:spcBef>
              <a:buAutoNum type="circleNumDbPlain" startA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求等效电阻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eq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1902" name="Group 158"/>
          <p:cNvGrpSpPr/>
          <p:nvPr/>
        </p:nvGrpSpPr>
        <p:grpSpPr>
          <a:xfrm>
            <a:off x="4211638" y="692150"/>
            <a:ext cx="4632325" cy="3255963"/>
            <a:chOff x="2246" y="482"/>
            <a:chExt cx="2918" cy="2051"/>
          </a:xfrm>
        </p:grpSpPr>
        <p:sp>
          <p:nvSpPr>
            <p:cNvPr id="64522" name="Text Box 120"/>
            <p:cNvSpPr txBox="1"/>
            <p:nvPr/>
          </p:nvSpPr>
          <p:spPr>
            <a:xfrm>
              <a:off x="4876" y="1117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4523" name="Text Box 121"/>
            <p:cNvSpPr txBox="1"/>
            <p:nvPr/>
          </p:nvSpPr>
          <p:spPr>
            <a:xfrm>
              <a:off x="4876" y="2206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4524" name="Rectangle 124"/>
            <p:cNvSpPr/>
            <p:nvPr/>
          </p:nvSpPr>
          <p:spPr>
            <a:xfrm>
              <a:off x="2246" y="891"/>
              <a:ext cx="2631" cy="1406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4525" name="Line 125"/>
            <p:cNvSpPr/>
            <p:nvPr/>
          </p:nvSpPr>
          <p:spPr>
            <a:xfrm>
              <a:off x="2246" y="1344"/>
              <a:ext cx="263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64526" name="Line 126"/>
            <p:cNvSpPr/>
            <p:nvPr/>
          </p:nvSpPr>
          <p:spPr>
            <a:xfrm>
              <a:off x="3470" y="1344"/>
              <a:ext cx="0" cy="9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64527" name="Line 127"/>
            <p:cNvSpPr/>
            <p:nvPr/>
          </p:nvSpPr>
          <p:spPr>
            <a:xfrm>
              <a:off x="4020" y="891"/>
              <a:ext cx="0" cy="140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64528" name="Text Box 128"/>
            <p:cNvSpPr txBox="1"/>
            <p:nvPr/>
          </p:nvSpPr>
          <p:spPr>
            <a:xfrm>
              <a:off x="3606" y="1707"/>
              <a:ext cx="41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4529" name="Text Box 129"/>
            <p:cNvSpPr txBox="1"/>
            <p:nvPr/>
          </p:nvSpPr>
          <p:spPr>
            <a:xfrm>
              <a:off x="2654" y="482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4530" name="Text Box 135"/>
            <p:cNvSpPr txBox="1"/>
            <p:nvPr/>
          </p:nvSpPr>
          <p:spPr>
            <a:xfrm>
              <a:off x="2654" y="981"/>
              <a:ext cx="41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4531" name="Text Box 139"/>
            <p:cNvSpPr txBox="1"/>
            <p:nvPr/>
          </p:nvSpPr>
          <p:spPr>
            <a:xfrm>
              <a:off x="4241" y="527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4532" name="Text Box 140"/>
            <p:cNvSpPr txBox="1"/>
            <p:nvPr/>
          </p:nvSpPr>
          <p:spPr>
            <a:xfrm>
              <a:off x="4241" y="981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4533" name="Text Box 141"/>
            <p:cNvSpPr txBox="1"/>
            <p:nvPr/>
          </p:nvSpPr>
          <p:spPr>
            <a:xfrm>
              <a:off x="3017" y="1661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4534" name="Rectangle 142"/>
            <p:cNvSpPr/>
            <p:nvPr/>
          </p:nvSpPr>
          <p:spPr>
            <a:xfrm>
              <a:off x="4287" y="84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4535" name="Rectangle 143"/>
            <p:cNvSpPr/>
            <p:nvPr/>
          </p:nvSpPr>
          <p:spPr>
            <a:xfrm>
              <a:off x="4241" y="129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4536" name="Rectangle 144"/>
            <p:cNvSpPr/>
            <p:nvPr/>
          </p:nvSpPr>
          <p:spPr>
            <a:xfrm>
              <a:off x="2699" y="129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4537" name="Rectangle 145"/>
            <p:cNvSpPr/>
            <p:nvPr/>
          </p:nvSpPr>
          <p:spPr>
            <a:xfrm>
              <a:off x="2699" y="80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4538" name="Rectangle 146"/>
            <p:cNvSpPr/>
            <p:nvPr/>
          </p:nvSpPr>
          <p:spPr>
            <a:xfrm>
              <a:off x="3969" y="170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4539" name="Rectangle 147"/>
            <p:cNvSpPr/>
            <p:nvPr/>
          </p:nvSpPr>
          <p:spPr>
            <a:xfrm>
              <a:off x="3379" y="170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4540" name="Rectangle 152"/>
            <p:cNvSpPr/>
            <p:nvPr/>
          </p:nvSpPr>
          <p:spPr>
            <a:xfrm>
              <a:off x="4830" y="1616"/>
              <a:ext cx="91" cy="453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4541" name="AutoShape 154"/>
            <p:cNvSpPr/>
            <p:nvPr/>
          </p:nvSpPr>
          <p:spPr>
            <a:xfrm>
              <a:off x="4422" y="1842"/>
              <a:ext cx="454" cy="105"/>
            </a:xfrm>
            <a:prstGeom prst="leftArrow">
              <a:avLst>
                <a:gd name="adj1" fmla="val 50000"/>
                <a:gd name="adj2" fmla="val 108075"/>
              </a:avLst>
            </a:prstGeom>
            <a:solidFill>
              <a:srgbClr val="00CCFF"/>
            </a:solidFill>
            <a:ln w="9525" cap="flat" cmpd="sng">
              <a:solidFill>
                <a:srgbClr val="00CC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4542" name="Text Box 155"/>
            <p:cNvSpPr txBox="1"/>
            <p:nvPr/>
          </p:nvSpPr>
          <p:spPr>
            <a:xfrm>
              <a:off x="4422" y="1525"/>
              <a:ext cx="39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eq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543" name="Oval 156"/>
            <p:cNvSpPr/>
            <p:nvPr/>
          </p:nvSpPr>
          <p:spPr>
            <a:xfrm>
              <a:off x="4830" y="1979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4544" name="Oval 157"/>
            <p:cNvSpPr/>
            <p:nvPr/>
          </p:nvSpPr>
          <p:spPr>
            <a:xfrm>
              <a:off x="4830" y="1616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31903" name="Text Box 159"/>
          <p:cNvSpPr txBox="1"/>
          <p:nvPr/>
        </p:nvSpPr>
        <p:spPr>
          <a:xfrm>
            <a:off x="900113" y="4652963"/>
            <a:ext cx="28638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marL="342900" indent="-342900" algn="ctr">
              <a:spcBef>
                <a:spcPct val="50000"/>
              </a:spcBef>
              <a:buAutoNum type="circleNumDbPlain" startAt="3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诺顿等效电路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1925" name="Object 181"/>
          <p:cNvGraphicFramePr>
            <a:graphicFrameLocks noChangeAspect="1"/>
          </p:cNvGraphicFramePr>
          <p:nvPr/>
        </p:nvGraphicFramePr>
        <p:xfrm>
          <a:off x="900113" y="5373688"/>
          <a:ext cx="33845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4" imgW="1330960" imgH="185420" progId="Equation.3">
                  <p:embed/>
                </p:oleObj>
              </mc:Choice>
              <mc:Fallback>
                <p:oleObj name="" r:id="rId4" imgW="1330960" imgH="185420" progId="Equation.3">
                  <p:embed/>
                  <p:pic>
                    <p:nvPicPr>
                      <p:cNvPr id="0" name="20 3164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5373688"/>
                        <a:ext cx="338455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929" name="Group 185"/>
          <p:cNvGrpSpPr/>
          <p:nvPr/>
        </p:nvGrpSpPr>
        <p:grpSpPr>
          <a:xfrm>
            <a:off x="395288" y="1557338"/>
            <a:ext cx="3767137" cy="2103437"/>
            <a:chOff x="249" y="981"/>
            <a:chExt cx="2373" cy="1325"/>
          </a:xfrm>
        </p:grpSpPr>
        <p:sp>
          <p:nvSpPr>
            <p:cNvPr id="64548" name="Text Box 161"/>
            <p:cNvSpPr txBox="1"/>
            <p:nvPr/>
          </p:nvSpPr>
          <p:spPr>
            <a:xfrm>
              <a:off x="413" y="1198"/>
              <a:ext cx="42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sc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549" name="Text Box 162"/>
            <p:cNvSpPr txBox="1"/>
            <p:nvPr/>
          </p:nvSpPr>
          <p:spPr>
            <a:xfrm flipH="1">
              <a:off x="2200" y="981"/>
              <a:ext cx="33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550" name="Text Box 163"/>
            <p:cNvSpPr txBox="1"/>
            <p:nvPr/>
          </p:nvSpPr>
          <p:spPr>
            <a:xfrm flipH="1">
              <a:off x="2109" y="1979"/>
              <a:ext cx="28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551" name="Text Box 164"/>
            <p:cNvSpPr txBox="1"/>
            <p:nvPr/>
          </p:nvSpPr>
          <p:spPr>
            <a:xfrm flipH="1">
              <a:off x="1610" y="1162"/>
              <a:ext cx="47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552" name="Text Box 165"/>
            <p:cNvSpPr txBox="1"/>
            <p:nvPr/>
          </p:nvSpPr>
          <p:spPr>
            <a:xfrm>
              <a:off x="1293" y="1389"/>
              <a:ext cx="4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4553" name="Text Box 166"/>
            <p:cNvSpPr txBox="1"/>
            <p:nvPr/>
          </p:nvSpPr>
          <p:spPr>
            <a:xfrm>
              <a:off x="2200" y="1208"/>
              <a:ext cx="2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4554" name="Text Box 167"/>
            <p:cNvSpPr txBox="1"/>
            <p:nvPr/>
          </p:nvSpPr>
          <p:spPr>
            <a:xfrm>
              <a:off x="2200" y="1706"/>
              <a:ext cx="37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4555" name="Text Box 168"/>
            <p:cNvSpPr txBox="1"/>
            <p:nvPr/>
          </p:nvSpPr>
          <p:spPr>
            <a:xfrm>
              <a:off x="2291" y="1434"/>
              <a:ext cx="33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64556" name="Line 169"/>
            <p:cNvSpPr/>
            <p:nvPr/>
          </p:nvSpPr>
          <p:spPr>
            <a:xfrm>
              <a:off x="1247" y="1162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64557" name="Rectangle 170"/>
            <p:cNvSpPr/>
            <p:nvPr/>
          </p:nvSpPr>
          <p:spPr>
            <a:xfrm>
              <a:off x="1165" y="143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4558" name="Text Box 172"/>
            <p:cNvSpPr txBox="1"/>
            <p:nvPr/>
          </p:nvSpPr>
          <p:spPr>
            <a:xfrm flipH="1">
              <a:off x="567" y="1525"/>
              <a:ext cx="68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559" name="Line 173"/>
            <p:cNvSpPr/>
            <p:nvPr/>
          </p:nvSpPr>
          <p:spPr>
            <a:xfrm flipH="1" flipV="1">
              <a:off x="2154" y="1162"/>
              <a:ext cx="0" cy="215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4560" name="Rectangle 174"/>
            <p:cNvSpPr/>
            <p:nvPr/>
          </p:nvSpPr>
          <p:spPr>
            <a:xfrm>
              <a:off x="430" y="1162"/>
              <a:ext cx="1679" cy="998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64561" name="Group 175"/>
            <p:cNvGrpSpPr/>
            <p:nvPr/>
          </p:nvGrpSpPr>
          <p:grpSpPr>
            <a:xfrm>
              <a:off x="1927" y="1434"/>
              <a:ext cx="363" cy="363"/>
              <a:chOff x="4785" y="709"/>
              <a:chExt cx="363" cy="363"/>
            </a:xfrm>
          </p:grpSpPr>
          <p:sp>
            <p:nvSpPr>
              <p:cNvPr id="64562" name="Oval 176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64563" name="Line 177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4564" name="Line 171"/>
            <p:cNvSpPr/>
            <p:nvPr/>
          </p:nvSpPr>
          <p:spPr>
            <a:xfrm flipV="1">
              <a:off x="431" y="1241"/>
              <a:ext cx="0" cy="284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64565" name="Group 178"/>
            <p:cNvGrpSpPr/>
            <p:nvPr/>
          </p:nvGrpSpPr>
          <p:grpSpPr>
            <a:xfrm>
              <a:off x="249" y="1525"/>
              <a:ext cx="363" cy="363"/>
              <a:chOff x="4785" y="709"/>
              <a:chExt cx="363" cy="363"/>
            </a:xfrm>
          </p:grpSpPr>
          <p:sp>
            <p:nvSpPr>
              <p:cNvPr id="64566" name="Oval 179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64567" name="Line 180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4568" name="Group 186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64569" name="Picture 187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4570" name="Text Box 188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1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3000"/>
                                        <p:tgtEl>
                                          <p:spTgt spid="3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3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62" grpId="0"/>
      <p:bldP spid="3190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5537" name="Group 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5538" name="Picture 4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5539" name="Text Box 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5540" name="Group 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5541" name="Picture 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5542" name="Text Box 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104457" name="Text Box 9"/>
          <p:cNvSpPr txBox="1"/>
          <p:nvPr/>
        </p:nvSpPr>
        <p:spPr>
          <a:xfrm>
            <a:off x="900113" y="1412875"/>
            <a:ext cx="7777162" cy="9461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若一端口网络的等效电阻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eq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= 0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该</a:t>
            </a: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一端口网络只有戴维宁等效电路，无诺顿等效电路。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104505" name="Group 57"/>
          <p:cNvGrpSpPr/>
          <p:nvPr/>
        </p:nvGrpSpPr>
        <p:grpSpPr>
          <a:xfrm>
            <a:off x="684213" y="549275"/>
            <a:ext cx="1644650" cy="850900"/>
            <a:chOff x="385" y="3022"/>
            <a:chExt cx="1036" cy="536"/>
          </a:xfrm>
        </p:grpSpPr>
        <p:pic>
          <p:nvPicPr>
            <p:cNvPr id="65545" name="Picture 58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5546" name="Text Box 59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104508" name="Text Box 60"/>
          <p:cNvSpPr txBox="1"/>
          <p:nvPr/>
        </p:nvSpPr>
        <p:spPr>
          <a:xfrm>
            <a:off x="900113" y="2420938"/>
            <a:ext cx="7777162" cy="9461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>
              <a:spcBef>
                <a:spcPct val="50000"/>
              </a:spcBef>
              <a:buAutoNum type="circleNumDbPlain" startA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若一端口网络的等效电阻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eq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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该</a:t>
            </a: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一端口网络只有诺顿等效电路，无戴维宁等效电路。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104538" name="Group 90"/>
          <p:cNvGrpSpPr/>
          <p:nvPr/>
        </p:nvGrpSpPr>
        <p:grpSpPr>
          <a:xfrm>
            <a:off x="684213" y="3429000"/>
            <a:ext cx="2301875" cy="1790700"/>
            <a:chOff x="703" y="2136"/>
            <a:chExt cx="1450" cy="1128"/>
          </a:xfrm>
        </p:grpSpPr>
        <p:sp>
          <p:nvSpPr>
            <p:cNvPr id="65549" name="Freeform 62"/>
            <p:cNvSpPr/>
            <p:nvPr/>
          </p:nvSpPr>
          <p:spPr>
            <a:xfrm>
              <a:off x="1201" y="2338"/>
              <a:ext cx="543" cy="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607" y="0"/>
                </a:cxn>
              </a:cxnLst>
              <a:pathLst>
                <a:path w="528" h="1">
                  <a:moveTo>
                    <a:pt x="0" y="1"/>
                  </a:moveTo>
                  <a:lnTo>
                    <a:pt x="528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5550" name="Freeform 63"/>
            <p:cNvSpPr/>
            <p:nvPr/>
          </p:nvSpPr>
          <p:spPr>
            <a:xfrm>
              <a:off x="1205" y="3113"/>
              <a:ext cx="530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90" y="0"/>
                </a:cxn>
              </a:cxnLst>
              <a:pathLst>
                <a:path w="516" h="1">
                  <a:moveTo>
                    <a:pt x="0" y="0"/>
                  </a:moveTo>
                  <a:lnTo>
                    <a:pt x="516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5551" name="Oval 65"/>
            <p:cNvSpPr/>
            <p:nvPr/>
          </p:nvSpPr>
          <p:spPr>
            <a:xfrm>
              <a:off x="1742" y="2299"/>
              <a:ext cx="69" cy="76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5552" name="Oval 66"/>
            <p:cNvSpPr/>
            <p:nvPr/>
          </p:nvSpPr>
          <p:spPr>
            <a:xfrm>
              <a:off x="1742" y="3077"/>
              <a:ext cx="69" cy="76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5553" name="Text Box 67"/>
            <p:cNvSpPr txBox="1"/>
            <p:nvPr/>
          </p:nvSpPr>
          <p:spPr>
            <a:xfrm>
              <a:off x="1836" y="2136"/>
              <a:ext cx="2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554" name="Text Box 68"/>
            <p:cNvSpPr txBox="1"/>
            <p:nvPr/>
          </p:nvSpPr>
          <p:spPr>
            <a:xfrm>
              <a:off x="1835" y="2937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4521" name="Rectangle 73"/>
            <p:cNvSpPr>
              <a:spLocks noChangeArrowheads="1"/>
            </p:cNvSpPr>
            <p:nvPr/>
          </p:nvSpPr>
          <p:spPr bwMode="auto">
            <a:xfrm>
              <a:off x="703" y="2214"/>
              <a:ext cx="498" cy="1030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A</a:t>
              </a:r>
              <a:endPara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65556" name="AutoShape 75"/>
            <p:cNvSpPr/>
            <p:nvPr/>
          </p:nvSpPr>
          <p:spPr>
            <a:xfrm>
              <a:off x="1474" y="2795"/>
              <a:ext cx="454" cy="91"/>
            </a:xfrm>
            <a:prstGeom prst="leftArrow">
              <a:avLst>
                <a:gd name="adj1" fmla="val 50000"/>
                <a:gd name="adj2" fmla="val 124702"/>
              </a:avLst>
            </a:prstGeom>
            <a:solidFill>
              <a:srgbClr val="00CCFF"/>
            </a:solidFill>
            <a:ln w="9525" cap="flat" cmpd="sng">
              <a:solidFill>
                <a:srgbClr val="00CC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5557" name="Text Box 76"/>
            <p:cNvSpPr txBox="1"/>
            <p:nvPr/>
          </p:nvSpPr>
          <p:spPr>
            <a:xfrm>
              <a:off x="1292" y="2478"/>
              <a:ext cx="86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eq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4528" name="Group 80"/>
          <p:cNvGrpSpPr/>
          <p:nvPr/>
        </p:nvGrpSpPr>
        <p:grpSpPr>
          <a:xfrm>
            <a:off x="3132138" y="3573463"/>
            <a:ext cx="1366837" cy="1657350"/>
            <a:chOff x="3198" y="2795"/>
            <a:chExt cx="861" cy="1044"/>
          </a:xfrm>
        </p:grpSpPr>
        <p:sp>
          <p:nvSpPr>
            <p:cNvPr id="65559" name="Oval 81"/>
            <p:cNvSpPr/>
            <p:nvPr/>
          </p:nvSpPr>
          <p:spPr>
            <a:xfrm>
              <a:off x="3198" y="311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5560" name="Text Box 82"/>
            <p:cNvSpPr txBox="1"/>
            <p:nvPr/>
          </p:nvSpPr>
          <p:spPr>
            <a:xfrm>
              <a:off x="3379" y="2840"/>
              <a:ext cx="2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5561" name="Text Box 83"/>
            <p:cNvSpPr txBox="1"/>
            <p:nvPr/>
          </p:nvSpPr>
          <p:spPr>
            <a:xfrm>
              <a:off x="3379" y="3430"/>
              <a:ext cx="37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5562" name="Text Box 84"/>
            <p:cNvSpPr txBox="1"/>
            <p:nvPr/>
          </p:nvSpPr>
          <p:spPr>
            <a:xfrm>
              <a:off x="3560" y="3113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oc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65563" name="Line 85"/>
            <p:cNvSpPr/>
            <p:nvPr/>
          </p:nvSpPr>
          <p:spPr>
            <a:xfrm>
              <a:off x="3379" y="2840"/>
              <a:ext cx="49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64" name="Line 86"/>
            <p:cNvSpPr/>
            <p:nvPr/>
          </p:nvSpPr>
          <p:spPr>
            <a:xfrm>
              <a:off x="3379" y="2840"/>
              <a:ext cx="0" cy="9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65" name="Line 87"/>
            <p:cNvSpPr/>
            <p:nvPr/>
          </p:nvSpPr>
          <p:spPr>
            <a:xfrm>
              <a:off x="3379" y="3793"/>
              <a:ext cx="49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66" name="Oval 88"/>
            <p:cNvSpPr/>
            <p:nvPr/>
          </p:nvSpPr>
          <p:spPr>
            <a:xfrm>
              <a:off x="3878" y="3748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5567" name="Oval 89"/>
            <p:cNvSpPr/>
            <p:nvPr/>
          </p:nvSpPr>
          <p:spPr>
            <a:xfrm>
              <a:off x="3878" y="2795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104539" name="Group 91"/>
          <p:cNvGrpSpPr/>
          <p:nvPr/>
        </p:nvGrpSpPr>
        <p:grpSpPr>
          <a:xfrm>
            <a:off x="4859338" y="3500438"/>
            <a:ext cx="2301875" cy="1790700"/>
            <a:chOff x="703" y="2136"/>
            <a:chExt cx="1450" cy="1128"/>
          </a:xfrm>
        </p:grpSpPr>
        <p:sp>
          <p:nvSpPr>
            <p:cNvPr id="65569" name="Freeform 92"/>
            <p:cNvSpPr/>
            <p:nvPr/>
          </p:nvSpPr>
          <p:spPr>
            <a:xfrm>
              <a:off x="1201" y="2338"/>
              <a:ext cx="543" cy="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607" y="0"/>
                </a:cxn>
              </a:cxnLst>
              <a:pathLst>
                <a:path w="528" h="1">
                  <a:moveTo>
                    <a:pt x="0" y="1"/>
                  </a:moveTo>
                  <a:lnTo>
                    <a:pt x="528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5570" name="Freeform 93"/>
            <p:cNvSpPr/>
            <p:nvPr/>
          </p:nvSpPr>
          <p:spPr>
            <a:xfrm>
              <a:off x="1205" y="3113"/>
              <a:ext cx="530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90" y="0"/>
                </a:cxn>
              </a:cxnLst>
              <a:pathLst>
                <a:path w="516" h="1">
                  <a:moveTo>
                    <a:pt x="0" y="0"/>
                  </a:moveTo>
                  <a:lnTo>
                    <a:pt x="516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5571" name="Oval 94"/>
            <p:cNvSpPr/>
            <p:nvPr/>
          </p:nvSpPr>
          <p:spPr>
            <a:xfrm>
              <a:off x="1742" y="2299"/>
              <a:ext cx="69" cy="76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5572" name="Oval 95"/>
            <p:cNvSpPr/>
            <p:nvPr/>
          </p:nvSpPr>
          <p:spPr>
            <a:xfrm>
              <a:off x="1742" y="3077"/>
              <a:ext cx="69" cy="76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5573" name="Text Box 96"/>
            <p:cNvSpPr txBox="1"/>
            <p:nvPr/>
          </p:nvSpPr>
          <p:spPr>
            <a:xfrm>
              <a:off x="1836" y="2136"/>
              <a:ext cx="2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574" name="Text Box 97"/>
            <p:cNvSpPr txBox="1"/>
            <p:nvPr/>
          </p:nvSpPr>
          <p:spPr>
            <a:xfrm>
              <a:off x="1835" y="2937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4546" name="Rectangle 98"/>
            <p:cNvSpPr>
              <a:spLocks noChangeArrowheads="1"/>
            </p:cNvSpPr>
            <p:nvPr/>
          </p:nvSpPr>
          <p:spPr bwMode="auto">
            <a:xfrm>
              <a:off x="703" y="2214"/>
              <a:ext cx="498" cy="1030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A</a:t>
              </a:r>
              <a:endPara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65576" name="AutoShape 99"/>
            <p:cNvSpPr/>
            <p:nvPr/>
          </p:nvSpPr>
          <p:spPr>
            <a:xfrm>
              <a:off x="1474" y="2795"/>
              <a:ext cx="454" cy="91"/>
            </a:xfrm>
            <a:prstGeom prst="leftArrow">
              <a:avLst>
                <a:gd name="adj1" fmla="val 50000"/>
                <a:gd name="adj2" fmla="val 124702"/>
              </a:avLst>
            </a:prstGeom>
            <a:solidFill>
              <a:srgbClr val="00CCFF"/>
            </a:solidFill>
            <a:ln w="9525" cap="flat" cmpd="sng">
              <a:solidFill>
                <a:srgbClr val="00CC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5577" name="Text Box 100"/>
            <p:cNvSpPr txBox="1"/>
            <p:nvPr/>
          </p:nvSpPr>
          <p:spPr>
            <a:xfrm>
              <a:off x="1292" y="2478"/>
              <a:ext cx="86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eq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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104563" name="Group 115"/>
          <p:cNvGrpSpPr/>
          <p:nvPr/>
        </p:nvGrpSpPr>
        <p:grpSpPr>
          <a:xfrm>
            <a:off x="7164388" y="3573463"/>
            <a:ext cx="1223962" cy="1657350"/>
            <a:chOff x="4513" y="2251"/>
            <a:chExt cx="771" cy="1044"/>
          </a:xfrm>
        </p:grpSpPr>
        <p:sp>
          <p:nvSpPr>
            <p:cNvPr id="65579" name="Text Box 103"/>
            <p:cNvSpPr txBox="1"/>
            <p:nvPr/>
          </p:nvSpPr>
          <p:spPr>
            <a:xfrm>
              <a:off x="4739" y="2332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sc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65580" name="Line 104"/>
            <p:cNvSpPr/>
            <p:nvPr/>
          </p:nvSpPr>
          <p:spPr>
            <a:xfrm>
              <a:off x="4694" y="2296"/>
              <a:ext cx="49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81" name="Line 105"/>
            <p:cNvSpPr/>
            <p:nvPr/>
          </p:nvSpPr>
          <p:spPr>
            <a:xfrm>
              <a:off x="4694" y="2296"/>
              <a:ext cx="0" cy="9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82" name="Line 106"/>
            <p:cNvSpPr/>
            <p:nvPr/>
          </p:nvSpPr>
          <p:spPr>
            <a:xfrm>
              <a:off x="4694" y="3249"/>
              <a:ext cx="49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83" name="Oval 107"/>
            <p:cNvSpPr/>
            <p:nvPr/>
          </p:nvSpPr>
          <p:spPr>
            <a:xfrm>
              <a:off x="5193" y="3204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5584" name="Oval 108"/>
            <p:cNvSpPr/>
            <p:nvPr/>
          </p:nvSpPr>
          <p:spPr>
            <a:xfrm>
              <a:off x="5193" y="2251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5585" name="Line 102"/>
            <p:cNvSpPr/>
            <p:nvPr/>
          </p:nvSpPr>
          <p:spPr>
            <a:xfrm flipH="1" flipV="1">
              <a:off x="4694" y="2341"/>
              <a:ext cx="0" cy="31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65586" name="Group 109"/>
            <p:cNvGrpSpPr/>
            <p:nvPr/>
          </p:nvGrpSpPr>
          <p:grpSpPr>
            <a:xfrm>
              <a:off x="4513" y="2659"/>
              <a:ext cx="363" cy="363"/>
              <a:chOff x="4785" y="709"/>
              <a:chExt cx="363" cy="363"/>
            </a:xfrm>
          </p:grpSpPr>
          <p:sp>
            <p:nvSpPr>
              <p:cNvPr id="65587" name="Oval 110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65588" name="Line 111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5589" name="Group 116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65590" name="Picture 11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5591" name="Text Box 118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4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4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4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4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7" grpId="0"/>
      <p:bldP spid="10450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Text Box 2" descr="新闻纸"/>
          <p:cNvSpPr txBox="1"/>
          <p:nvPr/>
        </p:nvSpPr>
        <p:spPr>
          <a:xfrm>
            <a:off x="1403350" y="404813"/>
            <a:ext cx="6408738" cy="762000"/>
          </a:xfrm>
          <a:prstGeom prst="rect">
            <a:avLst/>
          </a:prstGeom>
          <a:noFill/>
          <a:ln w="9525">
            <a:noFill/>
          </a:ln>
          <a:effectLst>
            <a:prstShdw prst="shdw17" dist="17961" dir="2699999">
              <a:srgbClr val="959595"/>
            </a:prstShdw>
          </a:effectLst>
        </p:spPr>
        <p:txBody>
          <a:bodyPr lIns="90000" tIns="46800" rIns="90000" bIns="4680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44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4.4 </a:t>
            </a:r>
            <a:r>
              <a:rPr lang="zh-CN" altLang="en-US" sz="44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最大功率传输定理</a:t>
            </a:r>
            <a:endParaRPr lang="zh-CN" altLang="en-US" sz="44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723" name="Text Box 3"/>
          <p:cNvSpPr txBox="1"/>
          <p:nvPr/>
        </p:nvSpPr>
        <p:spPr>
          <a:xfrm>
            <a:off x="755650" y="1125538"/>
            <a:ext cx="7910513" cy="2143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571500" algn="just">
              <a:lnSpc>
                <a:spcPct val="120000"/>
              </a:lnSpc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一个含源线性一端口电路，当所接负载不同时，一端口电路传输给负载的功率就不同，讨论负载为何值时能从电路获取最大功率，及最大功率的值是多少的问题是有工程意义的。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66563" name="Group 6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6564" name="Picture 6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6565" name="Text Box 6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6566" name="Group 6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6567" name="Picture 6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6568" name="Text Box 6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0805" name="Group 85"/>
          <p:cNvGrpSpPr/>
          <p:nvPr/>
        </p:nvGrpSpPr>
        <p:grpSpPr>
          <a:xfrm>
            <a:off x="755650" y="3644900"/>
            <a:ext cx="3168650" cy="1635125"/>
            <a:chOff x="476" y="2296"/>
            <a:chExt cx="1996" cy="1030"/>
          </a:xfrm>
        </p:grpSpPr>
        <p:sp>
          <p:nvSpPr>
            <p:cNvPr id="66570" name="Freeform 74"/>
            <p:cNvSpPr/>
            <p:nvPr/>
          </p:nvSpPr>
          <p:spPr>
            <a:xfrm flipV="1">
              <a:off x="1020" y="2399"/>
              <a:ext cx="904" cy="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518" y="0"/>
                </a:cxn>
              </a:cxnLst>
              <a:pathLst>
                <a:path w="516" h="1">
                  <a:moveTo>
                    <a:pt x="0" y="0"/>
                  </a:moveTo>
                  <a:lnTo>
                    <a:pt x="516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6571" name="Line 75"/>
            <p:cNvSpPr/>
            <p:nvPr/>
          </p:nvSpPr>
          <p:spPr>
            <a:xfrm>
              <a:off x="1201" y="2354"/>
              <a:ext cx="40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6572" name="Text Box 76"/>
            <p:cNvSpPr txBox="1"/>
            <p:nvPr/>
          </p:nvSpPr>
          <p:spPr>
            <a:xfrm>
              <a:off x="1247" y="2399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573" name="Text Box 77"/>
            <p:cNvSpPr txBox="1"/>
            <p:nvPr/>
          </p:nvSpPr>
          <p:spPr>
            <a:xfrm>
              <a:off x="1610" y="2445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574" name="Text Box 78"/>
            <p:cNvSpPr txBox="1"/>
            <p:nvPr/>
          </p:nvSpPr>
          <p:spPr>
            <a:xfrm>
              <a:off x="1610" y="2853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575" name="Text Box 79"/>
            <p:cNvSpPr txBox="1"/>
            <p:nvPr/>
          </p:nvSpPr>
          <p:spPr>
            <a:xfrm>
              <a:off x="1610" y="2626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576" name="Freeform 81"/>
            <p:cNvSpPr/>
            <p:nvPr/>
          </p:nvSpPr>
          <p:spPr>
            <a:xfrm flipV="1">
              <a:off x="975" y="3125"/>
              <a:ext cx="952" cy="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029" y="0"/>
                </a:cxn>
              </a:cxnLst>
              <a:pathLst>
                <a:path w="516" h="1">
                  <a:moveTo>
                    <a:pt x="0" y="0"/>
                  </a:moveTo>
                  <a:lnTo>
                    <a:pt x="516" y="0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6577" name="Oval 82"/>
            <p:cNvSpPr/>
            <p:nvPr/>
          </p:nvSpPr>
          <p:spPr>
            <a:xfrm>
              <a:off x="1473" y="2414"/>
              <a:ext cx="69" cy="76"/>
            </a:xfrm>
            <a:prstGeom prst="ellipse">
              <a:avLst/>
            </a:prstGeom>
            <a:solidFill>
              <a:srgbClr val="000066"/>
            </a:solidFill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6578" name="Oval 83"/>
            <p:cNvSpPr/>
            <p:nvPr/>
          </p:nvSpPr>
          <p:spPr>
            <a:xfrm>
              <a:off x="1473" y="3125"/>
              <a:ext cx="69" cy="76"/>
            </a:xfrm>
            <a:prstGeom prst="ellipse">
              <a:avLst/>
            </a:prstGeom>
            <a:solidFill>
              <a:srgbClr val="000066"/>
            </a:solidFill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0804" name="Rectangle 84"/>
            <p:cNvSpPr>
              <a:spLocks noChangeArrowheads="1"/>
            </p:cNvSpPr>
            <p:nvPr/>
          </p:nvSpPr>
          <p:spPr bwMode="auto">
            <a:xfrm>
              <a:off x="476" y="2296"/>
              <a:ext cx="634" cy="1030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A</a:t>
              </a:r>
              <a:endPara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66580" name="Rectangle 80"/>
            <p:cNvSpPr/>
            <p:nvPr/>
          </p:nvSpPr>
          <p:spPr>
            <a:xfrm>
              <a:off x="1882" y="2354"/>
              <a:ext cx="590" cy="953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rPr>
                <a:t>负</a:t>
              </a:r>
              <a:endPara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rPr>
                <a:t>载</a:t>
              </a:r>
              <a:endPara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30807" name="Group 87"/>
          <p:cNvGrpSpPr/>
          <p:nvPr/>
        </p:nvGrpSpPr>
        <p:grpSpPr>
          <a:xfrm>
            <a:off x="2411413" y="5445125"/>
            <a:ext cx="4826000" cy="647700"/>
            <a:chOff x="1519" y="3430"/>
            <a:chExt cx="3040" cy="408"/>
          </a:xfrm>
        </p:grpSpPr>
        <p:sp>
          <p:nvSpPr>
            <p:cNvPr id="66582" name="AutoShape 86"/>
            <p:cNvSpPr/>
            <p:nvPr/>
          </p:nvSpPr>
          <p:spPr>
            <a:xfrm>
              <a:off x="1519" y="3566"/>
              <a:ext cx="3040" cy="272"/>
            </a:xfrm>
            <a:prstGeom prst="curvedUpArrow">
              <a:avLst>
                <a:gd name="adj1" fmla="val 91166"/>
                <a:gd name="adj2" fmla="val 314695"/>
                <a:gd name="adj3" fmla="val 38990"/>
              </a:avLst>
            </a:prstGeom>
            <a:solidFill>
              <a:srgbClr val="00CCFF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6583" name="Text Box 57"/>
            <p:cNvSpPr txBox="1"/>
            <p:nvPr/>
          </p:nvSpPr>
          <p:spPr>
            <a:xfrm>
              <a:off x="2018" y="3430"/>
              <a:ext cx="190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rPr>
                <a:t>应用戴维宁定理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30808" name="Group 88"/>
          <p:cNvGrpSpPr/>
          <p:nvPr/>
        </p:nvGrpSpPr>
        <p:grpSpPr>
          <a:xfrm>
            <a:off x="5494338" y="3141663"/>
            <a:ext cx="2894012" cy="2160587"/>
            <a:chOff x="1202" y="1888"/>
            <a:chExt cx="1823" cy="1361"/>
          </a:xfrm>
        </p:grpSpPr>
        <p:sp>
          <p:nvSpPr>
            <p:cNvPr id="66585" name="Oval 89"/>
            <p:cNvSpPr/>
            <p:nvPr/>
          </p:nvSpPr>
          <p:spPr>
            <a:xfrm>
              <a:off x="1202" y="252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6586" name="Text Box 90"/>
            <p:cNvSpPr txBox="1"/>
            <p:nvPr/>
          </p:nvSpPr>
          <p:spPr>
            <a:xfrm>
              <a:off x="2154" y="1888"/>
              <a:ext cx="29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587" name="Text Box 91"/>
            <p:cNvSpPr txBox="1"/>
            <p:nvPr/>
          </p:nvSpPr>
          <p:spPr>
            <a:xfrm>
              <a:off x="1565" y="2568"/>
              <a:ext cx="5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588" name="Line 92"/>
            <p:cNvSpPr/>
            <p:nvPr/>
          </p:nvSpPr>
          <p:spPr>
            <a:xfrm>
              <a:off x="2109" y="2296"/>
              <a:ext cx="416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6589" name="Text Box 93"/>
            <p:cNvSpPr txBox="1"/>
            <p:nvPr/>
          </p:nvSpPr>
          <p:spPr>
            <a:xfrm>
              <a:off x="1519" y="2296"/>
              <a:ext cx="23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590" name="Text Box 94"/>
            <p:cNvSpPr txBox="1"/>
            <p:nvPr/>
          </p:nvSpPr>
          <p:spPr>
            <a:xfrm>
              <a:off x="1519" y="2840"/>
              <a:ext cx="2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591" name="Text Box 95"/>
            <p:cNvSpPr txBox="1"/>
            <p:nvPr/>
          </p:nvSpPr>
          <p:spPr>
            <a:xfrm>
              <a:off x="1655" y="1888"/>
              <a:ext cx="4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eq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592" name="Text Box 96"/>
            <p:cNvSpPr txBox="1"/>
            <p:nvPr/>
          </p:nvSpPr>
          <p:spPr>
            <a:xfrm>
              <a:off x="2608" y="2523"/>
              <a:ext cx="4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593" name="Rectangle 97"/>
            <p:cNvSpPr/>
            <p:nvPr/>
          </p:nvSpPr>
          <p:spPr>
            <a:xfrm>
              <a:off x="1383" y="2251"/>
              <a:ext cx="1179" cy="998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6594" name="Rectangle 98"/>
            <p:cNvSpPr/>
            <p:nvPr/>
          </p:nvSpPr>
          <p:spPr>
            <a:xfrm>
              <a:off x="1655" y="220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6595" name="Rectangle 99"/>
            <p:cNvSpPr/>
            <p:nvPr/>
          </p:nvSpPr>
          <p:spPr>
            <a:xfrm>
              <a:off x="2481" y="252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6596" name="Line 100"/>
            <p:cNvSpPr/>
            <p:nvPr/>
          </p:nvSpPr>
          <p:spPr>
            <a:xfrm flipV="1">
              <a:off x="2336" y="2478"/>
              <a:ext cx="454" cy="27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66597" name="Group 104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66598" name="Picture 10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6599" name="Text Box 106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20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0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0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2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5874" name="Object 34"/>
          <p:cNvGraphicFramePr>
            <a:graphicFrameLocks noChangeAspect="1"/>
          </p:cNvGraphicFramePr>
          <p:nvPr/>
        </p:nvGraphicFramePr>
        <p:xfrm>
          <a:off x="323850" y="549275"/>
          <a:ext cx="3509963" cy="121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1" imgW="1191895" imgH="440055" progId="Equation.3">
                  <p:embed/>
                </p:oleObj>
              </mc:Choice>
              <mc:Fallback>
                <p:oleObj name="" r:id="rId1" imgW="1191895" imgH="440055" progId="Equation.3">
                  <p:embed/>
                  <p:pic>
                    <p:nvPicPr>
                      <p:cNvPr id="0" name="20 316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3850" y="549275"/>
                        <a:ext cx="3509963" cy="1211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884" name="Group 44"/>
          <p:cNvGrpSpPr/>
          <p:nvPr/>
        </p:nvGrpSpPr>
        <p:grpSpPr>
          <a:xfrm>
            <a:off x="5076825" y="476250"/>
            <a:ext cx="3600450" cy="2103438"/>
            <a:chOff x="3107" y="164"/>
            <a:chExt cx="2268" cy="1325"/>
          </a:xfrm>
        </p:grpSpPr>
        <p:sp>
          <p:nvSpPr>
            <p:cNvPr id="67587" name="Line 35"/>
            <p:cNvSpPr/>
            <p:nvPr/>
          </p:nvSpPr>
          <p:spPr>
            <a:xfrm>
              <a:off x="3424" y="255"/>
              <a:ext cx="0" cy="1207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67588" name="Line 36"/>
            <p:cNvSpPr/>
            <p:nvPr/>
          </p:nvSpPr>
          <p:spPr>
            <a:xfrm>
              <a:off x="3107" y="1207"/>
              <a:ext cx="1860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7589" name="Text Box 37"/>
            <p:cNvSpPr txBox="1"/>
            <p:nvPr/>
          </p:nvSpPr>
          <p:spPr>
            <a:xfrm>
              <a:off x="5012" y="1071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7590" name="Text Box 38"/>
            <p:cNvSpPr txBox="1"/>
            <p:nvPr/>
          </p:nvSpPr>
          <p:spPr>
            <a:xfrm>
              <a:off x="3470" y="164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en-US" altLang="zh-CN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7591" name="Text Box 39"/>
            <p:cNvSpPr txBox="1"/>
            <p:nvPr/>
          </p:nvSpPr>
          <p:spPr>
            <a:xfrm>
              <a:off x="3198" y="1162"/>
              <a:ext cx="19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67592" name="Freeform 40"/>
            <p:cNvSpPr/>
            <p:nvPr/>
          </p:nvSpPr>
          <p:spPr>
            <a:xfrm>
              <a:off x="3424" y="549"/>
              <a:ext cx="1361" cy="658"/>
            </a:xfrm>
            <a:custGeom>
              <a:avLst/>
              <a:gdLst/>
              <a:ahLst/>
              <a:cxnLst>
                <a:cxn ang="0">
                  <a:pos x="0" y="658"/>
                </a:cxn>
                <a:cxn ang="0">
                  <a:pos x="545" y="23"/>
                </a:cxn>
                <a:cxn ang="0">
                  <a:pos x="1044" y="522"/>
                </a:cxn>
                <a:cxn ang="0">
                  <a:pos x="1361" y="568"/>
                </a:cxn>
              </a:cxnLst>
              <a:pathLst>
                <a:path w="1361" h="658">
                  <a:moveTo>
                    <a:pt x="0" y="658"/>
                  </a:moveTo>
                  <a:cubicBezTo>
                    <a:pt x="185" y="352"/>
                    <a:pt x="371" y="46"/>
                    <a:pt x="545" y="23"/>
                  </a:cubicBezTo>
                  <a:cubicBezTo>
                    <a:pt x="719" y="0"/>
                    <a:pt x="908" y="431"/>
                    <a:pt x="1044" y="522"/>
                  </a:cubicBezTo>
                  <a:cubicBezTo>
                    <a:pt x="1180" y="613"/>
                    <a:pt x="1308" y="553"/>
                    <a:pt x="1361" y="568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7593" name="Text Box 42"/>
            <p:cNvSpPr txBox="1"/>
            <p:nvPr/>
          </p:nvSpPr>
          <p:spPr>
            <a:xfrm>
              <a:off x="4377" y="164"/>
              <a:ext cx="7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 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max</a:t>
              </a:r>
              <a:endParaRPr lang="en-US" altLang="zh-CN" b="0" baseline="-2500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7594" name="Line 43"/>
            <p:cNvSpPr/>
            <p:nvPr/>
          </p:nvSpPr>
          <p:spPr>
            <a:xfrm flipH="1">
              <a:off x="4150" y="346"/>
              <a:ext cx="227" cy="13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aphicFrame>
        <p:nvGraphicFramePr>
          <p:cNvPr id="35885" name="Object 45"/>
          <p:cNvGraphicFramePr>
            <a:graphicFrameLocks noChangeAspect="1"/>
          </p:cNvGraphicFramePr>
          <p:nvPr/>
        </p:nvGraphicFramePr>
        <p:xfrm>
          <a:off x="539750" y="2636838"/>
          <a:ext cx="7164388" cy="124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3" imgW="2511425" imgH="462915" progId="Equation.3">
                  <p:embed/>
                </p:oleObj>
              </mc:Choice>
              <mc:Fallback>
                <p:oleObj name="" r:id="rId3" imgW="2511425" imgH="462915" progId="Equation.3">
                  <p:embed/>
                  <p:pic>
                    <p:nvPicPr>
                      <p:cNvPr id="0" name="20 316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2636838"/>
                        <a:ext cx="7164388" cy="1246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86" name="AutoShape 46"/>
          <p:cNvSpPr/>
          <p:nvPr/>
        </p:nvSpPr>
        <p:spPr>
          <a:xfrm>
            <a:off x="684213" y="4292600"/>
            <a:ext cx="792162" cy="144463"/>
          </a:xfrm>
          <a:prstGeom prst="rightArrow">
            <a:avLst>
              <a:gd name="adj1" fmla="val 50000"/>
              <a:gd name="adj2" fmla="val 137061"/>
            </a:avLst>
          </a:prstGeom>
          <a:solidFill>
            <a:srgbClr val="00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35889" name="Object 49"/>
          <p:cNvGraphicFramePr>
            <a:graphicFrameLocks noChangeAspect="1"/>
          </p:cNvGraphicFramePr>
          <p:nvPr/>
        </p:nvGraphicFramePr>
        <p:xfrm>
          <a:off x="1647825" y="4035425"/>
          <a:ext cx="2335213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5" imgW="567055" imgH="219710" progId="Equation.3">
                  <p:embed/>
                </p:oleObj>
              </mc:Choice>
              <mc:Fallback>
                <p:oleObj name="" r:id="rId5" imgW="567055" imgH="219710" progId="Equation.3">
                  <p:embed/>
                  <p:pic>
                    <p:nvPicPr>
                      <p:cNvPr id="0" name="20 316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47825" y="4035425"/>
                        <a:ext cx="2335213" cy="87153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chemeClr val="folHlink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90" name="AutoShape 50"/>
          <p:cNvSpPr/>
          <p:nvPr/>
        </p:nvSpPr>
        <p:spPr>
          <a:xfrm>
            <a:off x="4140200" y="1052513"/>
            <a:ext cx="792163" cy="144462"/>
          </a:xfrm>
          <a:prstGeom prst="rightArrow">
            <a:avLst>
              <a:gd name="adj1" fmla="val 50000"/>
              <a:gd name="adj2" fmla="val 137063"/>
            </a:avLst>
          </a:prstGeom>
          <a:solidFill>
            <a:srgbClr val="00CCFF"/>
          </a:solidFill>
          <a:ln w="9525" cap="flat" cmpd="sng">
            <a:solidFill>
              <a:srgbClr val="00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35892" name="Object 52"/>
          <p:cNvGraphicFramePr>
            <a:graphicFrameLocks noChangeAspect="1"/>
          </p:cNvGraphicFramePr>
          <p:nvPr/>
        </p:nvGraphicFramePr>
        <p:xfrm>
          <a:off x="5376863" y="3717925"/>
          <a:ext cx="2676525" cy="148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7" imgW="752475" imgH="451485" progId="Equation.3">
                  <p:embed/>
                </p:oleObj>
              </mc:Choice>
              <mc:Fallback>
                <p:oleObj name="" r:id="rId7" imgW="752475" imgH="451485" progId="Equation.3">
                  <p:embed/>
                  <p:pic>
                    <p:nvPicPr>
                      <p:cNvPr id="0" name="20 316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76863" y="3717925"/>
                        <a:ext cx="2676525" cy="148431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chemeClr val="folHlink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93" name="AutoShape 53"/>
          <p:cNvSpPr/>
          <p:nvPr/>
        </p:nvSpPr>
        <p:spPr>
          <a:xfrm>
            <a:off x="4284663" y="4292600"/>
            <a:ext cx="935037" cy="144463"/>
          </a:xfrm>
          <a:prstGeom prst="rightArrow">
            <a:avLst>
              <a:gd name="adj1" fmla="val 50000"/>
              <a:gd name="adj2" fmla="val 161782"/>
            </a:avLst>
          </a:prstGeom>
          <a:solidFill>
            <a:srgbClr val="00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5894" name="AutoShape 54" descr="羊皮纸"/>
          <p:cNvSpPr/>
          <p:nvPr/>
        </p:nvSpPr>
        <p:spPr>
          <a:xfrm>
            <a:off x="2700338" y="5516563"/>
            <a:ext cx="3311525" cy="649287"/>
          </a:xfrm>
          <a:prstGeom prst="wedgeRoundRectCallout">
            <a:avLst>
              <a:gd name="adj1" fmla="val -47028"/>
              <a:gd name="adj2" fmla="val -172981"/>
              <a:gd name="adj3" fmla="val 16667"/>
            </a:avLst>
          </a:prstGeom>
          <a:blipFill rotWithShape="1">
            <a:blip r:embed="rId9"/>
          </a:blipFill>
          <a:ln w="9525">
            <a:noFill/>
          </a:ln>
        </p:spPr>
        <p:txBody>
          <a:bodyPr anchor="t" anchorCtr="0"/>
          <a:p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最大功率匹配条件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5896" name="Text Box 56"/>
          <p:cNvSpPr txBox="1"/>
          <p:nvPr/>
        </p:nvSpPr>
        <p:spPr>
          <a:xfrm>
            <a:off x="468313" y="1844675"/>
            <a:ext cx="201612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对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P</a:t>
            </a: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求导：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67603" name="Group 6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7604" name="Picture 63" descr="789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7605" name="Text Box 6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7606" name="Group 6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7607" name="Picture 66" descr="789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7608" name="Text Box 6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7609" name="Group 74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67610" name="Picture 75" descr="789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7611" name="Text Box 76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3000"/>
                                        <p:tgtEl>
                                          <p:spTgt spid="35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5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5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3000"/>
                                        <p:tgtEl>
                                          <p:spTgt spid="35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35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3000"/>
                                        <p:tgtEl>
                                          <p:spTgt spid="35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9" dur="2000"/>
                                        <p:tgtEl>
                                          <p:spTgt spid="3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35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3000"/>
                                        <p:tgtEl>
                                          <p:spTgt spid="3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86" grpId="0" animBg="1"/>
      <p:bldP spid="35890" grpId="0" animBg="1"/>
      <p:bldP spid="35893" grpId="0" animBg="1"/>
      <p:bldP spid="35894" grpId="0" bldLvl="0" animBg="1"/>
      <p:bldP spid="3589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Text Box 2"/>
          <p:cNvSpPr txBox="1"/>
          <p:nvPr/>
        </p:nvSpPr>
        <p:spPr>
          <a:xfrm>
            <a:off x="250825" y="446088"/>
            <a:ext cx="649288" cy="5794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699" name="Text Box 3"/>
          <p:cNvSpPr txBox="1"/>
          <p:nvPr/>
        </p:nvSpPr>
        <p:spPr>
          <a:xfrm>
            <a:off x="971550" y="476250"/>
            <a:ext cx="69500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为何值时能获得最大功率，并求最大功率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42" name="Text Box 46"/>
          <p:cNvSpPr txBox="1"/>
          <p:nvPr/>
        </p:nvSpPr>
        <p:spPr>
          <a:xfrm>
            <a:off x="1331913" y="1196975"/>
            <a:ext cx="381635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求开路电压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oc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9789" name="Object 93"/>
          <p:cNvGraphicFramePr>
            <a:graphicFrameLocks noChangeAspect="1"/>
          </p:cNvGraphicFramePr>
          <p:nvPr/>
        </p:nvGraphicFramePr>
        <p:xfrm>
          <a:off x="1403350" y="1916113"/>
          <a:ext cx="201612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1" imgW="995680" imgH="196850" progId="Equation.3">
                  <p:embed/>
                </p:oleObj>
              </mc:Choice>
              <mc:Fallback>
                <p:oleObj name="" r:id="rId1" imgW="995680" imgH="196850" progId="Equation.3">
                  <p:embed/>
                  <p:pic>
                    <p:nvPicPr>
                      <p:cNvPr id="0" name="20 316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3350" y="1916113"/>
                        <a:ext cx="2016125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90" name="Object 94"/>
          <p:cNvGraphicFramePr>
            <a:graphicFrameLocks noChangeAspect="1"/>
          </p:cNvGraphicFramePr>
          <p:nvPr/>
        </p:nvGraphicFramePr>
        <p:xfrm>
          <a:off x="1476375" y="2492375"/>
          <a:ext cx="18002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3" imgW="775335" imgH="196850" progId="Equation.3">
                  <p:embed/>
                </p:oleObj>
              </mc:Choice>
              <mc:Fallback>
                <p:oleObj name="" r:id="rId3" imgW="775335" imgH="196850" progId="Equation.3">
                  <p:embed/>
                  <p:pic>
                    <p:nvPicPr>
                      <p:cNvPr id="0" name="20 317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76375" y="2492375"/>
                        <a:ext cx="1800225" cy="547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91" name="AutoShape 95"/>
          <p:cNvSpPr/>
          <p:nvPr/>
        </p:nvSpPr>
        <p:spPr>
          <a:xfrm>
            <a:off x="755650" y="3213100"/>
            <a:ext cx="719138" cy="144463"/>
          </a:xfrm>
          <a:prstGeom prst="rightArrow">
            <a:avLst>
              <a:gd name="adj1" fmla="val 50000"/>
              <a:gd name="adj2" fmla="val 124427"/>
            </a:avLst>
          </a:prstGeom>
          <a:solidFill>
            <a:srgbClr val="00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29793" name="Object 97"/>
          <p:cNvGraphicFramePr>
            <a:graphicFrameLocks noChangeAspect="1"/>
          </p:cNvGraphicFramePr>
          <p:nvPr/>
        </p:nvGraphicFramePr>
        <p:xfrm>
          <a:off x="42863" y="4984750"/>
          <a:ext cx="4449762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5" imgW="1944370" imgH="196850" progId="Equation.3">
                  <p:embed/>
                </p:oleObj>
              </mc:Choice>
              <mc:Fallback>
                <p:oleObj name="" r:id="rId5" imgW="1944370" imgH="196850" progId="Equation.3">
                  <p:embed/>
                  <p:pic>
                    <p:nvPicPr>
                      <p:cNvPr id="0" name="20 317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863" y="4984750"/>
                        <a:ext cx="4449762" cy="554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837" name="Object 141"/>
          <p:cNvGraphicFramePr>
            <a:graphicFrameLocks noChangeAspect="1"/>
          </p:cNvGraphicFramePr>
          <p:nvPr/>
        </p:nvGraphicFramePr>
        <p:xfrm>
          <a:off x="1692275" y="3141663"/>
          <a:ext cx="188753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7" imgW="741045" imgH="196850" progId="Equation.3">
                  <p:embed/>
                </p:oleObj>
              </mc:Choice>
              <mc:Fallback>
                <p:oleObj name="" r:id="rId7" imgW="741045" imgH="196850" progId="Equation.3">
                  <p:embed/>
                  <p:pic>
                    <p:nvPicPr>
                      <p:cNvPr id="0" name="20 317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92275" y="3141663"/>
                        <a:ext cx="1887538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8617" name="Group 14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8618" name="Picture 148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8619" name="Text Box 14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8620" name="Group 15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8621" name="Picture 151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8622" name="Text Box 15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29852" name="Text Box 156"/>
          <p:cNvSpPr txBox="1"/>
          <p:nvPr/>
        </p:nvSpPr>
        <p:spPr>
          <a:xfrm>
            <a:off x="611188" y="1268413"/>
            <a:ext cx="666750" cy="519112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9949" name="Group 253"/>
          <p:cNvGrpSpPr/>
          <p:nvPr/>
        </p:nvGrpSpPr>
        <p:grpSpPr>
          <a:xfrm>
            <a:off x="4535488" y="858838"/>
            <a:ext cx="4105275" cy="2895600"/>
            <a:chOff x="2744" y="799"/>
            <a:chExt cx="2585" cy="1824"/>
          </a:xfrm>
        </p:grpSpPr>
        <p:sp>
          <p:nvSpPr>
            <p:cNvPr id="68625" name="Oval 158"/>
            <p:cNvSpPr/>
            <p:nvPr/>
          </p:nvSpPr>
          <p:spPr>
            <a:xfrm>
              <a:off x="4004" y="206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26" name="Rectangle 159"/>
            <p:cNvSpPr/>
            <p:nvPr/>
          </p:nvSpPr>
          <p:spPr>
            <a:xfrm>
              <a:off x="2929" y="889"/>
              <a:ext cx="1856" cy="1678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8627" name="Rectangle 160"/>
            <p:cNvSpPr/>
            <p:nvPr/>
          </p:nvSpPr>
          <p:spPr>
            <a:xfrm>
              <a:off x="3470" y="1524"/>
              <a:ext cx="698" cy="1044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8628" name="Line 161"/>
            <p:cNvSpPr/>
            <p:nvPr/>
          </p:nvSpPr>
          <p:spPr>
            <a:xfrm>
              <a:off x="3822" y="889"/>
              <a:ext cx="0" cy="63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68629" name="Text Box 162"/>
            <p:cNvSpPr txBox="1"/>
            <p:nvPr/>
          </p:nvSpPr>
          <p:spPr>
            <a:xfrm>
              <a:off x="4231" y="1615"/>
              <a:ext cx="6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30" name="Text Box 164"/>
            <p:cNvSpPr txBox="1"/>
            <p:nvPr/>
          </p:nvSpPr>
          <p:spPr>
            <a:xfrm>
              <a:off x="4276" y="1842"/>
              <a:ext cx="19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31" name="Text Box 165"/>
            <p:cNvSpPr txBox="1"/>
            <p:nvPr/>
          </p:nvSpPr>
          <p:spPr>
            <a:xfrm>
              <a:off x="4321" y="2296"/>
              <a:ext cx="2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32" name="Text Box 166"/>
            <p:cNvSpPr txBox="1"/>
            <p:nvPr/>
          </p:nvSpPr>
          <p:spPr>
            <a:xfrm>
              <a:off x="4321" y="2114"/>
              <a:ext cx="60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20V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33" name="Text Box 167"/>
            <p:cNvSpPr txBox="1"/>
            <p:nvPr/>
          </p:nvSpPr>
          <p:spPr>
            <a:xfrm>
              <a:off x="4775" y="799"/>
              <a:ext cx="29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34" name="Text Box 168"/>
            <p:cNvSpPr txBox="1"/>
            <p:nvPr/>
          </p:nvSpPr>
          <p:spPr>
            <a:xfrm>
              <a:off x="4775" y="2296"/>
              <a:ext cx="19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35" name="Text Box 169"/>
            <p:cNvSpPr txBox="1"/>
            <p:nvPr/>
          </p:nvSpPr>
          <p:spPr>
            <a:xfrm>
              <a:off x="2961" y="1107"/>
              <a:ext cx="4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2A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36" name="Text Box 170"/>
            <p:cNvSpPr txBox="1"/>
            <p:nvPr/>
          </p:nvSpPr>
          <p:spPr>
            <a:xfrm>
              <a:off x="3958" y="1434"/>
              <a:ext cx="19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37" name="Text Box 171"/>
            <p:cNvSpPr txBox="1"/>
            <p:nvPr/>
          </p:nvSpPr>
          <p:spPr>
            <a:xfrm>
              <a:off x="3958" y="1797"/>
              <a:ext cx="2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38" name="Text Box 172"/>
            <p:cNvSpPr txBox="1"/>
            <p:nvPr/>
          </p:nvSpPr>
          <p:spPr>
            <a:xfrm>
              <a:off x="3732" y="1615"/>
              <a:ext cx="48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39" name="Text Box 173"/>
            <p:cNvSpPr txBox="1"/>
            <p:nvPr/>
          </p:nvSpPr>
          <p:spPr>
            <a:xfrm>
              <a:off x="4866" y="1343"/>
              <a:ext cx="4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40" name="Text Box 174"/>
            <p:cNvSpPr txBox="1"/>
            <p:nvPr/>
          </p:nvSpPr>
          <p:spPr>
            <a:xfrm>
              <a:off x="3822" y="980"/>
              <a:ext cx="55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41" name="Line 175"/>
            <p:cNvSpPr/>
            <p:nvPr/>
          </p:nvSpPr>
          <p:spPr>
            <a:xfrm>
              <a:off x="3470" y="2115"/>
              <a:ext cx="0" cy="363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68642" name="Object 176"/>
            <p:cNvGraphicFramePr>
              <a:graphicFrameLocks noChangeAspect="1"/>
            </p:cNvGraphicFramePr>
            <p:nvPr/>
          </p:nvGraphicFramePr>
          <p:xfrm>
            <a:off x="3107" y="1978"/>
            <a:ext cx="317" cy="5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4" name="" r:id="rId10" imgW="231775" imgH="393700" progId="Equation.3">
                    <p:embed/>
                  </p:oleObj>
                </mc:Choice>
                <mc:Fallback>
                  <p:oleObj name="" r:id="rId10" imgW="231775" imgH="393700" progId="Equation.3">
                    <p:embed/>
                    <p:pic>
                      <p:nvPicPr>
                        <p:cNvPr id="0" name="20 3173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107" y="1978"/>
                          <a:ext cx="317" cy="51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8643" name="AutoShape 180"/>
            <p:cNvSpPr/>
            <p:nvPr/>
          </p:nvSpPr>
          <p:spPr>
            <a:xfrm rot="10800000">
              <a:off x="3288" y="1706"/>
              <a:ext cx="362" cy="409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8644" name="Rectangle 181"/>
            <p:cNvSpPr/>
            <p:nvPr/>
          </p:nvSpPr>
          <p:spPr>
            <a:xfrm>
              <a:off x="4140" y="161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8645" name="Rectangle 182"/>
            <p:cNvSpPr/>
            <p:nvPr/>
          </p:nvSpPr>
          <p:spPr>
            <a:xfrm>
              <a:off x="3741" y="102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8646" name="Rectangle 183"/>
            <p:cNvSpPr/>
            <p:nvPr/>
          </p:nvSpPr>
          <p:spPr>
            <a:xfrm>
              <a:off x="4693" y="134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8647" name="Line 184"/>
            <p:cNvSpPr/>
            <p:nvPr/>
          </p:nvSpPr>
          <p:spPr>
            <a:xfrm flipV="1">
              <a:off x="4594" y="1343"/>
              <a:ext cx="325" cy="226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8648" name="Line 163"/>
            <p:cNvSpPr/>
            <p:nvPr/>
          </p:nvSpPr>
          <p:spPr>
            <a:xfrm>
              <a:off x="2925" y="1071"/>
              <a:ext cx="0" cy="409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triangle" w="med" len="lg"/>
              <a:tailEnd type="none" w="med" len="med"/>
            </a:ln>
          </p:spPr>
        </p:sp>
        <p:grpSp>
          <p:nvGrpSpPr>
            <p:cNvPr id="68649" name="Group 177"/>
            <p:cNvGrpSpPr/>
            <p:nvPr/>
          </p:nvGrpSpPr>
          <p:grpSpPr>
            <a:xfrm>
              <a:off x="2744" y="1479"/>
              <a:ext cx="363" cy="363"/>
              <a:chOff x="4785" y="709"/>
              <a:chExt cx="363" cy="363"/>
            </a:xfrm>
          </p:grpSpPr>
          <p:sp>
            <p:nvSpPr>
              <p:cNvPr id="68650" name="Oval 178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68651" name="Line 179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9950" name="Group 254"/>
          <p:cNvGrpSpPr/>
          <p:nvPr/>
        </p:nvGrpSpPr>
        <p:grpSpPr>
          <a:xfrm>
            <a:off x="4464050" y="3810000"/>
            <a:ext cx="4105275" cy="3024188"/>
            <a:chOff x="5329" y="663"/>
            <a:chExt cx="2586" cy="1905"/>
          </a:xfrm>
        </p:grpSpPr>
        <p:sp>
          <p:nvSpPr>
            <p:cNvPr id="68653" name="Rectangle 187"/>
            <p:cNvSpPr/>
            <p:nvPr/>
          </p:nvSpPr>
          <p:spPr>
            <a:xfrm>
              <a:off x="5329" y="663"/>
              <a:ext cx="2449" cy="1905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8654" name="Oval 188"/>
            <p:cNvSpPr/>
            <p:nvPr/>
          </p:nvSpPr>
          <p:spPr>
            <a:xfrm>
              <a:off x="6690" y="193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55" name="Rectangle 189"/>
            <p:cNvSpPr/>
            <p:nvPr/>
          </p:nvSpPr>
          <p:spPr>
            <a:xfrm>
              <a:off x="5601" y="753"/>
              <a:ext cx="1856" cy="1678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8656" name="Rectangle 190"/>
            <p:cNvSpPr/>
            <p:nvPr/>
          </p:nvSpPr>
          <p:spPr>
            <a:xfrm>
              <a:off x="6191" y="1388"/>
              <a:ext cx="698" cy="1044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8657" name="Line 191"/>
            <p:cNvSpPr/>
            <p:nvPr/>
          </p:nvSpPr>
          <p:spPr>
            <a:xfrm>
              <a:off x="6508" y="753"/>
              <a:ext cx="0" cy="63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68658" name="Text Box 192"/>
            <p:cNvSpPr txBox="1"/>
            <p:nvPr/>
          </p:nvSpPr>
          <p:spPr>
            <a:xfrm>
              <a:off x="6917" y="1479"/>
              <a:ext cx="6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59" name="Line 193"/>
            <p:cNvSpPr/>
            <p:nvPr/>
          </p:nvSpPr>
          <p:spPr>
            <a:xfrm>
              <a:off x="5602" y="890"/>
              <a:ext cx="0" cy="454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68660" name="Text Box 194"/>
            <p:cNvSpPr txBox="1"/>
            <p:nvPr/>
          </p:nvSpPr>
          <p:spPr>
            <a:xfrm>
              <a:off x="6962" y="1706"/>
              <a:ext cx="19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61" name="Text Box 195"/>
            <p:cNvSpPr txBox="1"/>
            <p:nvPr/>
          </p:nvSpPr>
          <p:spPr>
            <a:xfrm>
              <a:off x="7007" y="2160"/>
              <a:ext cx="2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62" name="Text Box 196"/>
            <p:cNvSpPr txBox="1"/>
            <p:nvPr/>
          </p:nvSpPr>
          <p:spPr>
            <a:xfrm>
              <a:off x="7007" y="1978"/>
              <a:ext cx="60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20V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63" name="Text Box 197"/>
            <p:cNvSpPr txBox="1"/>
            <p:nvPr/>
          </p:nvSpPr>
          <p:spPr>
            <a:xfrm>
              <a:off x="7461" y="663"/>
              <a:ext cx="29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64" name="Text Box 198"/>
            <p:cNvSpPr txBox="1"/>
            <p:nvPr/>
          </p:nvSpPr>
          <p:spPr>
            <a:xfrm>
              <a:off x="7461" y="2160"/>
              <a:ext cx="19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65" name="Text Box 199"/>
            <p:cNvSpPr txBox="1"/>
            <p:nvPr/>
          </p:nvSpPr>
          <p:spPr>
            <a:xfrm>
              <a:off x="5647" y="935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2A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66" name="Text Box 200"/>
            <p:cNvSpPr txBox="1"/>
            <p:nvPr/>
          </p:nvSpPr>
          <p:spPr>
            <a:xfrm>
              <a:off x="6644" y="1298"/>
              <a:ext cx="19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67" name="Text Box 201"/>
            <p:cNvSpPr txBox="1"/>
            <p:nvPr/>
          </p:nvSpPr>
          <p:spPr>
            <a:xfrm>
              <a:off x="6644" y="1661"/>
              <a:ext cx="2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68" name="Text Box 202"/>
            <p:cNvSpPr txBox="1"/>
            <p:nvPr/>
          </p:nvSpPr>
          <p:spPr>
            <a:xfrm>
              <a:off x="6418" y="1479"/>
              <a:ext cx="48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69" name="Text Box 203"/>
            <p:cNvSpPr txBox="1"/>
            <p:nvPr/>
          </p:nvSpPr>
          <p:spPr>
            <a:xfrm>
              <a:off x="6508" y="844"/>
              <a:ext cx="55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70" name="Line 204"/>
            <p:cNvSpPr/>
            <p:nvPr/>
          </p:nvSpPr>
          <p:spPr>
            <a:xfrm>
              <a:off x="6191" y="1979"/>
              <a:ext cx="0" cy="363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68671" name="Object 205"/>
            <p:cNvGraphicFramePr>
              <a:graphicFrameLocks noChangeAspect="1"/>
            </p:cNvGraphicFramePr>
            <p:nvPr/>
          </p:nvGraphicFramePr>
          <p:xfrm>
            <a:off x="5828" y="1842"/>
            <a:ext cx="317" cy="5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" name="" r:id="rId12" imgW="231775" imgH="393700" progId="Equation.3">
                    <p:embed/>
                  </p:oleObj>
                </mc:Choice>
                <mc:Fallback>
                  <p:oleObj name="" r:id="rId12" imgW="231775" imgH="393700" progId="Equation.3">
                    <p:embed/>
                    <p:pic>
                      <p:nvPicPr>
                        <p:cNvPr id="0" name="20 3174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828" y="1842"/>
                          <a:ext cx="317" cy="51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8672" name="Group 206"/>
            <p:cNvGrpSpPr/>
            <p:nvPr/>
          </p:nvGrpSpPr>
          <p:grpSpPr>
            <a:xfrm>
              <a:off x="5420" y="1343"/>
              <a:ext cx="363" cy="363"/>
              <a:chOff x="4785" y="709"/>
              <a:chExt cx="363" cy="363"/>
            </a:xfrm>
          </p:grpSpPr>
          <p:sp>
            <p:nvSpPr>
              <p:cNvPr id="68673" name="Oval 207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68674" name="Line 208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8675" name="AutoShape 209"/>
            <p:cNvSpPr/>
            <p:nvPr/>
          </p:nvSpPr>
          <p:spPr>
            <a:xfrm rot="10800000">
              <a:off x="6009" y="1570"/>
              <a:ext cx="362" cy="409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8676" name="Rectangle 210"/>
            <p:cNvSpPr/>
            <p:nvPr/>
          </p:nvSpPr>
          <p:spPr>
            <a:xfrm>
              <a:off x="6826" y="147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8677" name="Rectangle 211"/>
            <p:cNvSpPr/>
            <p:nvPr/>
          </p:nvSpPr>
          <p:spPr>
            <a:xfrm>
              <a:off x="6427" y="88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8678" name="Rectangle 212"/>
            <p:cNvSpPr/>
            <p:nvPr/>
          </p:nvSpPr>
          <p:spPr>
            <a:xfrm>
              <a:off x="7415" y="1253"/>
              <a:ext cx="91" cy="499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8679" name="Oval 213"/>
            <p:cNvSpPr/>
            <p:nvPr/>
          </p:nvSpPr>
          <p:spPr>
            <a:xfrm>
              <a:off x="7415" y="1661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8680" name="Oval 214"/>
            <p:cNvSpPr/>
            <p:nvPr/>
          </p:nvSpPr>
          <p:spPr>
            <a:xfrm>
              <a:off x="7415" y="1253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8681" name="Text Box 215"/>
            <p:cNvSpPr txBox="1"/>
            <p:nvPr/>
          </p:nvSpPr>
          <p:spPr>
            <a:xfrm>
              <a:off x="7461" y="1026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＋</a:t>
              </a:r>
              <a:endParaRPr lang="zh-CN" altLang="en-US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82" name="Text Box 216"/>
            <p:cNvSpPr txBox="1"/>
            <p:nvPr/>
          </p:nvSpPr>
          <p:spPr>
            <a:xfrm>
              <a:off x="7461" y="1707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8683" name="Text Box 217"/>
            <p:cNvSpPr txBox="1"/>
            <p:nvPr/>
          </p:nvSpPr>
          <p:spPr>
            <a:xfrm>
              <a:off x="7234" y="1344"/>
              <a:ext cx="68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9785" name="Group 89"/>
          <p:cNvGrpSpPr/>
          <p:nvPr/>
        </p:nvGrpSpPr>
        <p:grpSpPr>
          <a:xfrm>
            <a:off x="5664200" y="4352925"/>
            <a:ext cx="676275" cy="519113"/>
            <a:chOff x="884" y="1173"/>
            <a:chExt cx="426" cy="327"/>
          </a:xfrm>
        </p:grpSpPr>
        <p:sp>
          <p:nvSpPr>
            <p:cNvPr id="68685" name="Text Box 52"/>
            <p:cNvSpPr txBox="1"/>
            <p:nvPr/>
          </p:nvSpPr>
          <p:spPr>
            <a:xfrm>
              <a:off x="884" y="1173"/>
              <a:ext cx="42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86" name="Line 86"/>
            <p:cNvSpPr/>
            <p:nvPr/>
          </p:nvSpPr>
          <p:spPr>
            <a:xfrm flipH="1">
              <a:off x="930" y="1480"/>
              <a:ext cx="272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9786" name="Group 90"/>
          <p:cNvGrpSpPr/>
          <p:nvPr/>
        </p:nvGrpSpPr>
        <p:grpSpPr>
          <a:xfrm>
            <a:off x="6503988" y="4360863"/>
            <a:ext cx="676275" cy="519112"/>
            <a:chOff x="884" y="1173"/>
            <a:chExt cx="426" cy="327"/>
          </a:xfrm>
        </p:grpSpPr>
        <p:sp>
          <p:nvSpPr>
            <p:cNvPr id="68688" name="Text Box 91"/>
            <p:cNvSpPr txBox="1"/>
            <p:nvPr/>
          </p:nvSpPr>
          <p:spPr>
            <a:xfrm>
              <a:off x="884" y="1173"/>
              <a:ext cx="42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89" name="Line 92"/>
            <p:cNvSpPr/>
            <p:nvPr/>
          </p:nvSpPr>
          <p:spPr>
            <a:xfrm flipH="1">
              <a:off x="930" y="1480"/>
              <a:ext cx="272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98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8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9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9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500"/>
                                        <p:tgtEl>
                                          <p:spTgt spid="29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9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9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97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3000"/>
                                        <p:tgtEl>
                                          <p:spTgt spid="29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29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29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3000"/>
                                        <p:tgtEl>
                                          <p:spTgt spid="29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3000"/>
                                        <p:tgtEl>
                                          <p:spTgt spid="29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  <p:bldP spid="29699" grpId="0"/>
      <p:bldP spid="29742" grpId="0"/>
      <p:bldP spid="29791" grpId="0" animBg="1"/>
      <p:bldP spid="2985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501" name="Text Box 5"/>
          <p:cNvSpPr txBox="1"/>
          <p:nvPr/>
        </p:nvSpPr>
        <p:spPr>
          <a:xfrm>
            <a:off x="611188" y="620713"/>
            <a:ext cx="3268662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>
              <a:spcBef>
                <a:spcPct val="50000"/>
              </a:spcBef>
              <a:buAutoNum type="circleNumDbPlain" startA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求等效电阻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eq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6502" name="Object 6"/>
          <p:cNvGraphicFramePr>
            <a:graphicFrameLocks noChangeAspect="1"/>
          </p:cNvGraphicFramePr>
          <p:nvPr/>
        </p:nvGraphicFramePr>
        <p:xfrm>
          <a:off x="1042988" y="2492375"/>
          <a:ext cx="264795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1" imgW="960755" imgH="382270" progId="Equation.3">
                  <p:embed/>
                </p:oleObj>
              </mc:Choice>
              <mc:Fallback>
                <p:oleObj name="" r:id="rId1" imgW="960755" imgH="382270" progId="Equation.3">
                  <p:embed/>
                  <p:pic>
                    <p:nvPicPr>
                      <p:cNvPr id="0" name="20 317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2492375"/>
                        <a:ext cx="2647950" cy="1009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6" name="Object 10"/>
          <p:cNvGraphicFramePr>
            <a:graphicFrameLocks noChangeAspect="1"/>
          </p:cNvGraphicFramePr>
          <p:nvPr/>
        </p:nvGraphicFramePr>
        <p:xfrm>
          <a:off x="611188" y="2060575"/>
          <a:ext cx="43926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3" imgW="1620520" imgH="150495" progId="Equation.3">
                  <p:embed/>
                </p:oleObj>
              </mc:Choice>
              <mc:Fallback>
                <p:oleObj name="" r:id="rId3" imgW="1620520" imgH="150495" progId="Equation.3">
                  <p:embed/>
                  <p:pic>
                    <p:nvPicPr>
                      <p:cNvPr id="0" name="20 317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2060575"/>
                        <a:ext cx="4392612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8" name="Object 12"/>
          <p:cNvGraphicFramePr>
            <a:graphicFrameLocks noChangeAspect="1"/>
          </p:cNvGraphicFramePr>
          <p:nvPr/>
        </p:nvGraphicFramePr>
        <p:xfrm>
          <a:off x="1258888" y="1341438"/>
          <a:ext cx="22098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5" imgW="786765" imgH="196850" progId="Equation.3">
                  <p:embed/>
                </p:oleObj>
              </mc:Choice>
              <mc:Fallback>
                <p:oleObj name="" r:id="rId5" imgW="786765" imgH="196850" progId="Equation.3">
                  <p:embed/>
                  <p:pic>
                    <p:nvPicPr>
                      <p:cNvPr id="0" name="20 318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1341438"/>
                        <a:ext cx="2209800" cy="55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9637" name="Group 1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9638" name="Picture 15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9639" name="Text Box 1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9640" name="Group 1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9641" name="Picture 18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9642" name="Text Box 1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106616" name="Text Box 120"/>
          <p:cNvSpPr txBox="1"/>
          <p:nvPr/>
        </p:nvSpPr>
        <p:spPr>
          <a:xfrm>
            <a:off x="611188" y="3500438"/>
            <a:ext cx="4967287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>
              <a:spcBef>
                <a:spcPct val="50000"/>
              </a:spcBef>
              <a:buAutoNum type="circleNumDbPlain" startAt="3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由最大功率传输定理得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06617" name="Group 121"/>
          <p:cNvGrpSpPr/>
          <p:nvPr/>
        </p:nvGrpSpPr>
        <p:grpSpPr>
          <a:xfrm>
            <a:off x="755650" y="4076700"/>
            <a:ext cx="7243763" cy="677863"/>
            <a:chOff x="540" y="572"/>
            <a:chExt cx="4563" cy="427"/>
          </a:xfrm>
        </p:grpSpPr>
        <p:graphicFrame>
          <p:nvGraphicFramePr>
            <p:cNvPr id="69645" name="Object 122"/>
            <p:cNvGraphicFramePr>
              <a:graphicFrameLocks noChangeAspect="1"/>
            </p:cNvGraphicFramePr>
            <p:nvPr/>
          </p:nvGraphicFramePr>
          <p:xfrm>
            <a:off x="540" y="599"/>
            <a:ext cx="1814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9" name="" r:id="rId8" imgW="995680" imgH="219710" progId="Equation.3">
                    <p:embed/>
                  </p:oleObj>
                </mc:Choice>
                <mc:Fallback>
                  <p:oleObj name="" r:id="rId8" imgW="995680" imgH="219710" progId="Equation.3">
                    <p:embed/>
                    <p:pic>
                      <p:nvPicPr>
                        <p:cNvPr id="0" name="20 3178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40" y="599"/>
                          <a:ext cx="1814" cy="4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646" name="Text Box 123"/>
            <p:cNvSpPr txBox="1"/>
            <p:nvPr/>
          </p:nvSpPr>
          <p:spPr>
            <a:xfrm>
              <a:off x="2517" y="572"/>
              <a:ext cx="258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rPr>
                <a:t>时其上可获得最大功率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aphicFrame>
        <p:nvGraphicFramePr>
          <p:cNvPr id="106620" name="Object 124"/>
          <p:cNvGraphicFramePr>
            <a:graphicFrameLocks noChangeAspect="1"/>
          </p:cNvGraphicFramePr>
          <p:nvPr/>
        </p:nvGraphicFramePr>
        <p:xfrm>
          <a:off x="827088" y="4797425"/>
          <a:ext cx="4756150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10" imgW="1747520" imgH="451485" progId="Equation.3">
                  <p:embed/>
                </p:oleObj>
              </mc:Choice>
              <mc:Fallback>
                <p:oleObj name="" r:id="rId10" imgW="1747520" imgH="451485" progId="Equation.3">
                  <p:embed/>
                  <p:pic>
                    <p:nvPicPr>
                      <p:cNvPr id="0" name="20 3179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4797425"/>
                        <a:ext cx="4756150" cy="1182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6624" name="Group 128"/>
          <p:cNvGrpSpPr/>
          <p:nvPr/>
        </p:nvGrpSpPr>
        <p:grpSpPr>
          <a:xfrm>
            <a:off x="5364163" y="836613"/>
            <a:ext cx="3313112" cy="2751137"/>
            <a:chOff x="3379" y="527"/>
            <a:chExt cx="2087" cy="1733"/>
          </a:xfrm>
        </p:grpSpPr>
        <p:sp>
          <p:nvSpPr>
            <p:cNvPr id="69649" name="Line 89"/>
            <p:cNvSpPr/>
            <p:nvPr/>
          </p:nvSpPr>
          <p:spPr>
            <a:xfrm flipH="1">
              <a:off x="5058" y="663"/>
              <a:ext cx="0" cy="145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9650" name="Text Box 90"/>
            <p:cNvSpPr txBox="1"/>
            <p:nvPr/>
          </p:nvSpPr>
          <p:spPr>
            <a:xfrm>
              <a:off x="4468" y="1479"/>
              <a:ext cx="6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9651" name="Text Box 91"/>
            <p:cNvSpPr txBox="1"/>
            <p:nvPr/>
          </p:nvSpPr>
          <p:spPr>
            <a:xfrm>
              <a:off x="5103" y="799"/>
              <a:ext cx="19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9652" name="Text Box 92"/>
            <p:cNvSpPr txBox="1"/>
            <p:nvPr/>
          </p:nvSpPr>
          <p:spPr>
            <a:xfrm>
              <a:off x="5103" y="1615"/>
              <a:ext cx="2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9653" name="Text Box 93"/>
            <p:cNvSpPr txBox="1"/>
            <p:nvPr/>
          </p:nvSpPr>
          <p:spPr>
            <a:xfrm>
              <a:off x="4785" y="844"/>
              <a:ext cx="30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i="1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9654" name="Text Box 94"/>
            <p:cNvSpPr txBox="1"/>
            <p:nvPr/>
          </p:nvSpPr>
          <p:spPr>
            <a:xfrm>
              <a:off x="5103" y="527"/>
              <a:ext cx="29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9655" name="Text Box 95"/>
            <p:cNvSpPr txBox="1"/>
            <p:nvPr/>
          </p:nvSpPr>
          <p:spPr>
            <a:xfrm>
              <a:off x="5103" y="1933"/>
              <a:ext cx="19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9656" name="Text Box 96"/>
            <p:cNvSpPr txBox="1"/>
            <p:nvPr/>
          </p:nvSpPr>
          <p:spPr>
            <a:xfrm>
              <a:off x="3969" y="1525"/>
              <a:ext cx="48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9657" name="Text Box 97"/>
            <p:cNvSpPr txBox="1"/>
            <p:nvPr/>
          </p:nvSpPr>
          <p:spPr>
            <a:xfrm>
              <a:off x="4105" y="708"/>
              <a:ext cx="55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aphicFrame>
          <p:nvGraphicFramePr>
            <p:cNvPr id="69658" name="Object 98"/>
            <p:cNvGraphicFramePr>
              <a:graphicFrameLocks noChangeAspect="1"/>
            </p:cNvGraphicFramePr>
            <p:nvPr/>
          </p:nvGraphicFramePr>
          <p:xfrm>
            <a:off x="3379" y="1696"/>
            <a:ext cx="317" cy="5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" name="" r:id="rId12" imgW="231775" imgH="393700" progId="Equation.3">
                    <p:embed/>
                  </p:oleObj>
                </mc:Choice>
                <mc:Fallback>
                  <p:oleObj name="" r:id="rId12" imgW="231775" imgH="393700" progId="Equation.3">
                    <p:embed/>
                    <p:pic>
                      <p:nvPicPr>
                        <p:cNvPr id="0" name="20 3177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379" y="1696"/>
                          <a:ext cx="317" cy="5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659" name="Line 99"/>
            <p:cNvSpPr/>
            <p:nvPr/>
          </p:nvSpPr>
          <p:spPr>
            <a:xfrm flipV="1">
              <a:off x="5057" y="845"/>
              <a:ext cx="0" cy="36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60" name="Text Box 100"/>
            <p:cNvSpPr txBox="1"/>
            <p:nvPr/>
          </p:nvSpPr>
          <p:spPr>
            <a:xfrm>
              <a:off x="5239" y="1207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grpSp>
          <p:nvGrpSpPr>
            <p:cNvPr id="69661" name="Group 101"/>
            <p:cNvGrpSpPr/>
            <p:nvPr/>
          </p:nvGrpSpPr>
          <p:grpSpPr>
            <a:xfrm>
              <a:off x="4150" y="980"/>
              <a:ext cx="426" cy="327"/>
              <a:chOff x="884" y="1173"/>
              <a:chExt cx="426" cy="327"/>
            </a:xfrm>
          </p:grpSpPr>
          <p:sp>
            <p:nvSpPr>
              <p:cNvPr id="69662" name="Text Box 102"/>
              <p:cNvSpPr txBox="1"/>
              <p:nvPr/>
            </p:nvSpPr>
            <p:spPr>
              <a:xfrm>
                <a:off x="884" y="1173"/>
                <a:ext cx="426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63" name="Line 103"/>
              <p:cNvSpPr/>
              <p:nvPr/>
            </p:nvSpPr>
            <p:spPr>
              <a:xfrm flipH="1">
                <a:off x="930" y="1480"/>
                <a:ext cx="272" cy="0"/>
              </a:xfrm>
              <a:prstGeom prst="line">
                <a:avLst/>
              </a:prstGeom>
              <a:ln w="38100" cap="flat" cmpd="sng">
                <a:solidFill>
                  <a:srgbClr val="66FFFF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</p:grpSp>
        <p:grpSp>
          <p:nvGrpSpPr>
            <p:cNvPr id="69664" name="Group 104"/>
            <p:cNvGrpSpPr/>
            <p:nvPr/>
          </p:nvGrpSpPr>
          <p:grpSpPr>
            <a:xfrm>
              <a:off x="3651" y="980"/>
              <a:ext cx="426" cy="327"/>
              <a:chOff x="884" y="1173"/>
              <a:chExt cx="426" cy="327"/>
            </a:xfrm>
          </p:grpSpPr>
          <p:sp>
            <p:nvSpPr>
              <p:cNvPr id="69665" name="Text Box 105"/>
              <p:cNvSpPr txBox="1"/>
              <p:nvPr/>
            </p:nvSpPr>
            <p:spPr>
              <a:xfrm>
                <a:off x="884" y="1173"/>
                <a:ext cx="426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p>
                <a:pPr algn="ctr"/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69666" name="Line 106"/>
              <p:cNvSpPr/>
              <p:nvPr/>
            </p:nvSpPr>
            <p:spPr>
              <a:xfrm flipH="1">
                <a:off x="930" y="1480"/>
                <a:ext cx="272" cy="0"/>
              </a:xfrm>
              <a:prstGeom prst="line">
                <a:avLst/>
              </a:prstGeom>
              <a:ln w="28575" cap="flat" cmpd="sng">
                <a:solidFill>
                  <a:srgbClr val="66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69667" name="Rectangle 107"/>
            <p:cNvSpPr/>
            <p:nvPr/>
          </p:nvSpPr>
          <p:spPr>
            <a:xfrm>
              <a:off x="3742" y="1347"/>
              <a:ext cx="680" cy="767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9668" name="Text Box 108"/>
            <p:cNvSpPr txBox="1"/>
            <p:nvPr/>
          </p:nvSpPr>
          <p:spPr>
            <a:xfrm>
              <a:off x="3901" y="1304"/>
              <a:ext cx="40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9669" name="Text Box 109"/>
            <p:cNvSpPr txBox="1"/>
            <p:nvPr/>
          </p:nvSpPr>
          <p:spPr>
            <a:xfrm>
              <a:off x="3992" y="1687"/>
              <a:ext cx="249" cy="326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9670" name="Line 110"/>
            <p:cNvSpPr/>
            <p:nvPr/>
          </p:nvSpPr>
          <p:spPr>
            <a:xfrm>
              <a:off x="4422" y="2114"/>
              <a:ext cx="63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69671" name="Line 111"/>
            <p:cNvSpPr/>
            <p:nvPr/>
          </p:nvSpPr>
          <p:spPr>
            <a:xfrm flipH="1">
              <a:off x="4082" y="663"/>
              <a:ext cx="23" cy="68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69672" name="Line 112"/>
            <p:cNvSpPr/>
            <p:nvPr/>
          </p:nvSpPr>
          <p:spPr>
            <a:xfrm>
              <a:off x="4105" y="663"/>
              <a:ext cx="954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9673" name="Line 113"/>
            <p:cNvSpPr/>
            <p:nvPr/>
          </p:nvSpPr>
          <p:spPr>
            <a:xfrm>
              <a:off x="3742" y="1706"/>
              <a:ext cx="0" cy="363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74" name="Rectangle 114"/>
            <p:cNvSpPr/>
            <p:nvPr/>
          </p:nvSpPr>
          <p:spPr>
            <a:xfrm>
              <a:off x="4014" y="84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9675" name="Rectangle 115"/>
            <p:cNvSpPr/>
            <p:nvPr/>
          </p:nvSpPr>
          <p:spPr>
            <a:xfrm>
              <a:off x="4377" y="152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9676" name="AutoShape 116"/>
            <p:cNvSpPr/>
            <p:nvPr/>
          </p:nvSpPr>
          <p:spPr>
            <a:xfrm rot="10800000">
              <a:off x="3561" y="1434"/>
              <a:ext cx="362" cy="363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69677" name="Group 117"/>
            <p:cNvGrpSpPr/>
            <p:nvPr/>
          </p:nvGrpSpPr>
          <p:grpSpPr>
            <a:xfrm>
              <a:off x="4876" y="1207"/>
              <a:ext cx="363" cy="363"/>
              <a:chOff x="4785" y="709"/>
              <a:chExt cx="363" cy="363"/>
            </a:xfrm>
          </p:grpSpPr>
          <p:sp>
            <p:nvSpPr>
              <p:cNvPr id="69678" name="Oval 118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69679" name="Line 119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9680" name="Group 129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69681" name="Picture 130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9682" name="Text Box 131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06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3000"/>
                                        <p:tgtEl>
                                          <p:spTgt spid="106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2000"/>
                                        <p:tgtEl>
                                          <p:spTgt spid="106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30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6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6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0"/>
                                        <p:tgtEl>
                                          <p:spTgt spid="106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3000"/>
                                        <p:tgtEl>
                                          <p:spTgt spid="106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1" grpId="0"/>
      <p:bldP spid="10661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80" name="Text Box 8"/>
          <p:cNvSpPr txBox="1"/>
          <p:nvPr/>
        </p:nvSpPr>
        <p:spPr>
          <a:xfrm>
            <a:off x="971550" y="1268413"/>
            <a:ext cx="7272338" cy="111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lnSpc>
                <a:spcPct val="120000"/>
              </a:lnSpc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最大功率传输定理用于一端口电路给定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负载电阻可调的情况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;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681" name="Text Box 9"/>
          <p:cNvSpPr txBox="1"/>
          <p:nvPr/>
        </p:nvSpPr>
        <p:spPr>
          <a:xfrm>
            <a:off x="900113" y="2420938"/>
            <a:ext cx="7416800" cy="16303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lnSpc>
                <a:spcPct val="120000"/>
              </a:lnSpc>
              <a:buAutoNum type="circleNumDbPlain" startA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一端口等效电阻消耗的功率一般并不等于端口内部消耗的功率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因此当负载获取最大功率时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电路的传输效率并不一定是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50%;</a:t>
            </a:r>
            <a:endParaRPr lang="en-US" altLang="zh-CN" b="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682" name="Text Box 10"/>
          <p:cNvSpPr txBox="1"/>
          <p:nvPr/>
        </p:nvSpPr>
        <p:spPr>
          <a:xfrm>
            <a:off x="900113" y="4076700"/>
            <a:ext cx="7416800" cy="111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lnSpc>
                <a:spcPct val="120000"/>
              </a:lnSpc>
              <a:buAutoNum type="circleNumDbPlain" startAt="3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计算最大功率问题结合应用戴维宁定理或诺顿定理最方便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70660" name="Group 1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0661" name="Picture 1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0662" name="Text Box 1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0663" name="Group 1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0664" name="Picture 2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0665" name="Text Box 2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8697" name="Group 25"/>
          <p:cNvGrpSpPr/>
          <p:nvPr/>
        </p:nvGrpSpPr>
        <p:grpSpPr>
          <a:xfrm>
            <a:off x="684213" y="549275"/>
            <a:ext cx="1644650" cy="850900"/>
            <a:chOff x="385" y="3022"/>
            <a:chExt cx="1036" cy="536"/>
          </a:xfrm>
        </p:grpSpPr>
        <p:pic>
          <p:nvPicPr>
            <p:cNvPr id="70667" name="Picture 26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0668" name="Text Box 27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70669" name="Group 31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70670" name="Picture 3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0671" name="Text Box 33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0" grpId="0"/>
      <p:bldP spid="28681" grpId="0"/>
      <p:bldP spid="28682" grpId="0"/>
    </p:bldLst>
  </p:timing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Submit"/>
  <p:tag name="RAINPROBLEMTYPE" val="FillBlank"/>
</p:tagLst>
</file>

<file path=ppt/tags/tag3.xml><?xml version="1.0" encoding="utf-8"?>
<p:tagLst xmlns:p="http://schemas.openxmlformats.org/presentationml/2006/main">
  <p:tag name="PRODUCTVERSIONTIP3" val="PRODUCTVERSIONTIP3"/>
</p:tagLst>
</file>

<file path=ppt/tags/tag4.xml><?xml version="1.0" encoding="utf-8"?>
<p:tagLst xmlns:p="http://schemas.openxmlformats.org/presentationml/2006/main">
  <p:tag name="RAINPROBLEMTYPE" val="ProblemTypeMarker"/>
</p:tagLst>
</file>

<file path=ppt/tags/tag5.xml><?xml version="1.0" encoding="utf-8"?>
<p:tagLst xmlns:p="http://schemas.openxmlformats.org/presentationml/2006/main">
  <p:tag name="RAINPROBLEMTYPE" val="ProblemTypeMarker"/>
</p:tagLst>
</file>

<file path=ppt/tags/tag6.xml><?xml version="1.0" encoding="utf-8"?>
<p:tagLst xmlns:p="http://schemas.openxmlformats.org/presentationml/2006/main">
  <p:tag name="RAINPROBLEMTYPE" val="ProblemTypeMarker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" val="ProblemSetting"/>
  <p:tag name="RAINPROBLEMTYPE" val="FillBlank"/>
</p:tagLst>
</file>

<file path=ppt/tags/tag9.xml><?xml version="1.0" encoding="utf-8"?>
<p:tagLst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15&quot;],&quot;CaseSensitive&quot;:false,&quot;FuzzyMatch&quot;:false},{&quot;Num&quot;:2,&quot;Score&quot;:1.0,&quot;Answers&quot;:[&quot;5&quot;],&quot;CaseSensitive&quot;:false,&quot;FuzzyMatch&quot;:false}]"/>
</p:tagLst>
</file>

<file path=ppt/tags/tag10.xml><?xml version="1.0" encoding="utf-8"?>
<p:tagLst xmlns:p="http://schemas.openxmlformats.org/presentationml/2006/main">
  <p:tag name="KSO_WPP_MARK_KEY" val="55e82151-eefc-439e-bd4a-7aba0b1d7078"/>
  <p:tag name="COMMONDATA" val="eyJoZGlkIjoiOGU3NWY5ODU4NzI2NzNlZjYxODI4YjhmYmVlMDhlNGM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6124</Words>
  <Application>WPS 演示</Application>
  <PresentationFormat>全屏显示(4:3)</PresentationFormat>
  <Paragraphs>2953</Paragraphs>
  <Slides>59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116</vt:i4>
      </vt:variant>
      <vt:variant>
        <vt:lpstr>幻灯片标题</vt:lpstr>
      </vt:variant>
      <vt:variant>
        <vt:i4>59</vt:i4>
      </vt:variant>
    </vt:vector>
  </HeadingPairs>
  <TitlesOfParts>
    <vt:vector size="193" baseType="lpstr">
      <vt:lpstr>Arial</vt:lpstr>
      <vt:lpstr>宋体</vt:lpstr>
      <vt:lpstr>Wingdings</vt:lpstr>
      <vt:lpstr>楷体_GB2312</vt:lpstr>
      <vt:lpstr>新宋体</vt:lpstr>
      <vt:lpstr>华文行楷</vt:lpstr>
      <vt:lpstr>微软雅黑</vt:lpstr>
      <vt:lpstr>Times New Roman</vt:lpstr>
      <vt:lpstr>隶书</vt:lpstr>
      <vt:lpstr>Symbol</vt:lpstr>
      <vt:lpstr>Monotype Sorts</vt:lpstr>
      <vt:lpstr>Wingdings</vt:lpstr>
      <vt:lpstr>仿宋_GB2312</vt:lpstr>
      <vt:lpstr>Arial Black</vt:lpstr>
      <vt:lpstr>Arial Unicode MS</vt:lpstr>
      <vt:lpstr>Calibri</vt:lpstr>
      <vt:lpstr>仿宋</vt:lpstr>
      <vt:lpstr>默认设计模板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wzy</dc:creator>
  <cp:lastModifiedBy>Brina徐</cp:lastModifiedBy>
  <cp:revision>296</cp:revision>
  <dcterms:created xsi:type="dcterms:W3CDTF">2002-08-01T02:57:00Z</dcterms:created>
  <dcterms:modified xsi:type="dcterms:W3CDTF">2023-04-02T02:08:51Z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80015C6B596B448FBAB2D6B981994EC9</vt:lpwstr>
  </property>
  <property fmtid="{D5CDD505-2E9C-101B-9397-08002B2CF9AE}" pid="3" name="KSOProductBuildVer">
    <vt:lpwstr>2052-11.1.0.13703</vt:lpwstr>
  </property>
</Properties>
</file>