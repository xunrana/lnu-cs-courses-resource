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5" r:id="rId60"/>
    <p:sldId id="316" r:id="rId61"/>
    <p:sldId id="317" r:id="rId62"/>
    <p:sldId id="318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1" Type="http://schemas.openxmlformats.org/officeDocument/2006/relationships/tableStyles" Target="tableStyles.xml"/><Relationship Id="rId130" Type="http://schemas.openxmlformats.org/officeDocument/2006/relationships/viewProps" Target="viewProps.xml"/><Relationship Id="rId13" Type="http://schemas.openxmlformats.org/officeDocument/2006/relationships/slide" Target="slides/slide11.xml"/><Relationship Id="rId129" Type="http://schemas.openxmlformats.org/officeDocument/2006/relationships/presProps" Target="presProps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0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oleObject" Target="../embeddings/oleObject2.bin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oleObject" Target="../embeddings/oleObject3.bin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oleObject" Target="../embeddings/oleObject4.bin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5.bin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6.bin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oleObject" Target="../embeddings/oleObject8.bin"/><Relationship Id="rId2" Type="http://schemas.openxmlformats.org/officeDocument/2006/relationships/image" Target="../media/image15.png"/><Relationship Id="rId1" Type="http://schemas.openxmlformats.org/officeDocument/2006/relationships/oleObject" Target="../embeddings/oleObject7.bin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3954" name="Rectangle 2"/>
          <p:cNvSpPr>
            <a:spLocks noGrp="1"/>
          </p:cNvSpPr>
          <p:nvPr>
            <p:ph type="title"/>
          </p:nvPr>
        </p:nvSpPr>
        <p:spPr>
          <a:xfrm>
            <a:off x="2133600" y="6096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第</a:t>
            </a:r>
            <a:r>
              <a:rPr lang="zh-CN" altLang="en-US" b="1" dirty="0">
                <a:latin typeface="Times New Roman" panose="02020603050405020304" pitchFamily="18" charset="0"/>
              </a:rPr>
              <a:t>４</a:t>
            </a:r>
            <a:r>
              <a:rPr lang="zh-CN" altLang="en-US" b="1" dirty="0"/>
              <a:t>章  存 储 器</a:t>
            </a:r>
            <a:endParaRPr lang="zh-CN" altLang="en-US" b="1" dirty="0"/>
          </a:p>
        </p:txBody>
      </p:sp>
      <p:sp>
        <p:nvSpPr>
          <p:cNvPr id="253955" name="Text Box 3"/>
          <p:cNvSpPr txBox="1"/>
          <p:nvPr/>
        </p:nvSpPr>
        <p:spPr>
          <a:xfrm>
            <a:off x="4425950" y="2022475"/>
            <a:ext cx="257333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  <a:hlinkClick r:id="" action="ppaction://noaction"/>
              </a:rPr>
              <a:t>4.1  </a:t>
            </a:r>
            <a:r>
              <a:rPr lang="zh-CN" altLang="en-US" sz="3200" b="1" dirty="0">
                <a:latin typeface="Times New Roman" panose="02020603050405020304" pitchFamily="18" charset="0"/>
                <a:hlinkClick r:id="" action="ppaction://noaction"/>
              </a:rPr>
              <a:t>概述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3956" name="Text Box 4"/>
          <p:cNvSpPr txBox="1"/>
          <p:nvPr/>
        </p:nvSpPr>
        <p:spPr>
          <a:xfrm>
            <a:off x="4425950" y="3201988"/>
            <a:ext cx="38036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3200" b="1" dirty="0">
                <a:latin typeface="Times New Roman" panose="02020603050405020304" pitchFamily="18" charset="0"/>
                <a:hlinkClick r:id="" action="ppaction://noaction"/>
              </a:rPr>
              <a:t>4.2  </a:t>
            </a:r>
            <a:r>
              <a:rPr lang="zh-CN" altLang="en-US" sz="3200" b="1" dirty="0">
                <a:latin typeface="Times New Roman" panose="02020603050405020304" pitchFamily="18" charset="0"/>
                <a:hlinkClick r:id="" action="ppaction://noaction"/>
              </a:rPr>
              <a:t>主存储器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3957" name="Text Box 5"/>
          <p:cNvSpPr txBox="1"/>
          <p:nvPr/>
        </p:nvSpPr>
        <p:spPr>
          <a:xfrm>
            <a:off x="4425950" y="4381500"/>
            <a:ext cx="56483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  <a:hlinkClick r:id="" action="ppaction://noaction"/>
              </a:rPr>
              <a:t>4.3  </a:t>
            </a:r>
            <a:r>
              <a:rPr lang="zh-CN" altLang="en-US" sz="3200" b="1" dirty="0">
                <a:latin typeface="Times New Roman" panose="02020603050405020304" pitchFamily="18" charset="0"/>
                <a:hlinkClick r:id="" action="ppaction://noaction"/>
              </a:rPr>
              <a:t>高速缓冲存储器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3958" name="Text Box 6"/>
          <p:cNvSpPr txBox="1"/>
          <p:nvPr/>
        </p:nvSpPr>
        <p:spPr>
          <a:xfrm>
            <a:off x="4425950" y="5561013"/>
            <a:ext cx="44180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  <a:hlinkClick r:id="" action="ppaction://noaction"/>
              </a:rPr>
              <a:t>4.4  </a:t>
            </a:r>
            <a:r>
              <a:rPr lang="zh-CN" altLang="en-US" sz="3200" b="1" dirty="0">
                <a:latin typeface="Times New Roman" panose="02020603050405020304" pitchFamily="18" charset="0"/>
                <a:hlinkClick r:id="" action="ppaction://noaction"/>
              </a:rPr>
              <a:t>辅助存储器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3959" name="AutoShape 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396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4978" name="Rectangle 2"/>
          <p:cNvSpPr>
            <a:spLocks noGrp="1"/>
          </p:cNvSpPr>
          <p:nvPr>
            <p:ph type="title"/>
          </p:nvPr>
        </p:nvSpPr>
        <p:spPr>
          <a:xfrm>
            <a:off x="2209800" y="1270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4.1  </a:t>
            </a:r>
            <a:r>
              <a:rPr lang="zh-CN" altLang="en-US" b="1" dirty="0"/>
              <a:t>概  述</a:t>
            </a:r>
            <a:endParaRPr lang="zh-CN" altLang="en-US" b="1" dirty="0"/>
          </a:p>
        </p:txBody>
      </p:sp>
      <p:sp>
        <p:nvSpPr>
          <p:cNvPr id="254979" name="Text Box 3"/>
          <p:cNvSpPr txBox="1"/>
          <p:nvPr/>
        </p:nvSpPr>
        <p:spPr>
          <a:xfrm>
            <a:off x="1970088" y="1227138"/>
            <a:ext cx="3383280" cy="5892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zh-CN" altLang="en-US" sz="3600" b="1" dirty="0">
                <a:latin typeface="Times New Roman" panose="02020603050405020304" pitchFamily="18" charset="0"/>
              </a:rPr>
              <a:t>一、存储器分类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54980" name="Text Box 4"/>
          <p:cNvSpPr txBox="1"/>
          <p:nvPr/>
        </p:nvSpPr>
        <p:spPr>
          <a:xfrm>
            <a:off x="2241550" y="2073275"/>
            <a:ext cx="3535680" cy="53403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3200" b="1" dirty="0">
                <a:latin typeface="Times New Roman" panose="02020603050405020304" pitchFamily="18" charset="0"/>
              </a:rPr>
              <a:t>1.  </a:t>
            </a:r>
            <a:r>
              <a:rPr lang="zh-CN" altLang="en-US" sz="3200" b="1" dirty="0">
                <a:latin typeface="Times New Roman" panose="02020603050405020304" pitchFamily="18" charset="0"/>
              </a:rPr>
              <a:t>按存储介质分类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4981" name="Text Box 5"/>
          <p:cNvSpPr txBox="1"/>
          <p:nvPr/>
        </p:nvSpPr>
        <p:spPr>
          <a:xfrm>
            <a:off x="2241550" y="3035300"/>
            <a:ext cx="28194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半导体存储器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54982" name="Text Box 6"/>
          <p:cNvSpPr txBox="1"/>
          <p:nvPr/>
        </p:nvSpPr>
        <p:spPr>
          <a:xfrm>
            <a:off x="2241550" y="3965575"/>
            <a:ext cx="31686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磁表面存储器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54983" name="Text Box 7"/>
          <p:cNvSpPr txBox="1"/>
          <p:nvPr/>
        </p:nvSpPr>
        <p:spPr>
          <a:xfrm>
            <a:off x="2241550" y="4897438"/>
            <a:ext cx="24638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800" b="1" dirty="0">
                <a:latin typeface="Times New Roman" panose="02020603050405020304" pitchFamily="18" charset="0"/>
              </a:rPr>
              <a:t>(3) </a:t>
            </a:r>
            <a:r>
              <a:rPr lang="zh-CN" altLang="en-US" sz="2800" b="1" dirty="0">
                <a:latin typeface="Times New Roman" panose="02020603050405020304" pitchFamily="18" charset="0"/>
              </a:rPr>
              <a:t>磁芯存储器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54984" name="Text Box 8"/>
          <p:cNvSpPr txBox="1"/>
          <p:nvPr/>
        </p:nvSpPr>
        <p:spPr>
          <a:xfrm>
            <a:off x="2241550" y="5829300"/>
            <a:ext cx="24638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en-US" altLang="zh-CN" sz="2800" b="1" dirty="0">
                <a:latin typeface="Times New Roman" panose="02020603050405020304" pitchFamily="18" charset="0"/>
              </a:rPr>
              <a:t>(4) </a:t>
            </a:r>
            <a:r>
              <a:rPr lang="zh-CN" altLang="en-US" sz="2800" b="1" dirty="0">
                <a:latin typeface="Times New Roman" panose="02020603050405020304" pitchFamily="18" charset="0"/>
              </a:rPr>
              <a:t>光盘存储器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54985" name="Text Box 9"/>
          <p:cNvSpPr txBox="1"/>
          <p:nvPr/>
        </p:nvSpPr>
        <p:spPr>
          <a:xfrm>
            <a:off x="9067800" y="297815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易失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4986" name="Text Box 10"/>
          <p:cNvSpPr txBox="1"/>
          <p:nvPr/>
        </p:nvSpPr>
        <p:spPr>
          <a:xfrm>
            <a:off x="5632450" y="3035300"/>
            <a:ext cx="213042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TTL 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</a:rPr>
              <a:t>MOS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54987" name="Text Box 11"/>
          <p:cNvSpPr txBox="1"/>
          <p:nvPr/>
        </p:nvSpPr>
        <p:spPr>
          <a:xfrm>
            <a:off x="5632450" y="3965575"/>
            <a:ext cx="26733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磁头、载磁体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54988" name="Text Box 12"/>
          <p:cNvSpPr txBox="1"/>
          <p:nvPr/>
        </p:nvSpPr>
        <p:spPr>
          <a:xfrm>
            <a:off x="5632450" y="4902200"/>
            <a:ext cx="3383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zh-CN" altLang="en-US" sz="2800" b="1" dirty="0">
                <a:latin typeface="Times New Roman" panose="02020603050405020304" pitchFamily="18" charset="0"/>
              </a:rPr>
              <a:t>硬磁材料、环状元件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54989" name="Text Box 13"/>
          <p:cNvSpPr txBox="1"/>
          <p:nvPr/>
        </p:nvSpPr>
        <p:spPr>
          <a:xfrm>
            <a:off x="5632450" y="5834063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</a:pPr>
            <a:r>
              <a:rPr lang="zh-CN" altLang="en-US" sz="2800" b="1" dirty="0">
                <a:latin typeface="Times New Roman" panose="02020603050405020304" pitchFamily="18" charset="0"/>
              </a:rPr>
              <a:t>激光、磁光材料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54990" name="Group 14"/>
          <p:cNvGrpSpPr/>
          <p:nvPr/>
        </p:nvGrpSpPr>
        <p:grpSpPr>
          <a:xfrm>
            <a:off x="9067800" y="4191000"/>
            <a:ext cx="957263" cy="2057400"/>
            <a:chOff x="4944" y="2640"/>
            <a:chExt cx="603" cy="1296"/>
          </a:xfrm>
        </p:grpSpPr>
        <p:sp>
          <p:nvSpPr>
            <p:cNvPr id="254993" name="Text Box 15"/>
            <p:cNvSpPr txBox="1"/>
            <p:nvPr/>
          </p:nvSpPr>
          <p:spPr>
            <a:xfrm>
              <a:off x="5176" y="2809"/>
              <a:ext cx="371" cy="9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非</a:t>
              </a:r>
              <a:endPara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r>
                <a:rPr lang="zh-CN" altLang="en-US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易</a:t>
              </a:r>
              <a:endPara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  <a:p>
              <a:r>
                <a:rPr lang="zh-CN" altLang="en-US" sz="32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失</a:t>
              </a:r>
              <a:endPara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4994" name="AutoShape 16"/>
            <p:cNvSpPr/>
            <p:nvPr/>
          </p:nvSpPr>
          <p:spPr>
            <a:xfrm>
              <a:off x="4944" y="2640"/>
              <a:ext cx="242" cy="1296"/>
            </a:xfrm>
            <a:prstGeom prst="rightBrace">
              <a:avLst>
                <a:gd name="adj1" fmla="val 44206"/>
                <a:gd name="adj2" fmla="val 51681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54991" name="AutoShape 1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499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02" name="Text Box 2"/>
          <p:cNvSpPr txBox="1"/>
          <p:nvPr/>
        </p:nvSpPr>
        <p:spPr>
          <a:xfrm>
            <a:off x="1906588" y="1482725"/>
            <a:ext cx="76669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存取时间与物理地址无关（随机访问）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6003" name="Text Box 3"/>
          <p:cNvSpPr txBox="1"/>
          <p:nvPr/>
        </p:nvSpPr>
        <p:spPr>
          <a:xfrm>
            <a:off x="2387600" y="4740275"/>
            <a:ext cx="40411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顺序存取存储器    磁带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9629775" y="152400"/>
            <a:ext cx="958850" cy="768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1" lang="en-US" altLang="zh-CN" sz="4400" b="1" kern="1200" cap="none" spc="0" normalizeH="0" baseline="0" noProof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4.1</a:t>
            </a:r>
            <a:endParaRPr kumimoji="1" lang="en-US" altLang="zh-CN" sz="4400" b="1" kern="1200" cap="none" spc="0" normalizeH="0" baseline="0" noProof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05" name="Text Box 5"/>
          <p:cNvSpPr txBox="1"/>
          <p:nvPr/>
        </p:nvSpPr>
        <p:spPr>
          <a:xfrm>
            <a:off x="1893888" y="476250"/>
            <a:ext cx="39547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 </a:t>
            </a:r>
            <a:r>
              <a:rPr lang="zh-CN" altLang="en-US" sz="3600" b="1" dirty="0">
                <a:latin typeface="Times New Roman" panose="02020603050405020304" pitchFamily="18" charset="0"/>
              </a:rPr>
              <a:t>按存取方式分类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56006" name="Text Box 6"/>
          <p:cNvSpPr txBox="1"/>
          <p:nvPr/>
        </p:nvSpPr>
        <p:spPr>
          <a:xfrm>
            <a:off x="1892300" y="3917950"/>
            <a:ext cx="76669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存取时间与物理地址有关（串行访问）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6007" name="Text Box 7"/>
          <p:cNvSpPr txBox="1"/>
          <p:nvPr/>
        </p:nvSpPr>
        <p:spPr>
          <a:xfrm>
            <a:off x="2387600" y="2362200"/>
            <a:ext cx="3403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随机存储器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08" name="Text Box 8"/>
          <p:cNvSpPr txBox="1"/>
          <p:nvPr/>
        </p:nvSpPr>
        <p:spPr>
          <a:xfrm>
            <a:off x="2387600" y="3165475"/>
            <a:ext cx="3022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只读存储器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09" name="Text Box 9"/>
          <p:cNvSpPr txBox="1"/>
          <p:nvPr/>
        </p:nvSpPr>
        <p:spPr>
          <a:xfrm>
            <a:off x="2387600" y="5495925"/>
            <a:ext cx="40411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直接存取存储器    磁盘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56010" name="Text Box 10"/>
          <p:cNvSpPr txBox="1"/>
          <p:nvPr/>
        </p:nvSpPr>
        <p:spPr>
          <a:xfrm>
            <a:off x="5105400" y="2362200"/>
            <a:ext cx="6477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在程序的执行过程中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可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读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可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写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1" name="Text Box 11"/>
          <p:cNvSpPr txBox="1"/>
          <p:nvPr/>
        </p:nvSpPr>
        <p:spPr>
          <a:xfrm>
            <a:off x="5105400" y="3165475"/>
            <a:ext cx="6477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在程序的执行过程中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只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读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12" name="AutoShape 1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01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7026" name="Text Box 2"/>
          <p:cNvSpPr txBox="1"/>
          <p:nvPr/>
        </p:nvSpPr>
        <p:spPr>
          <a:xfrm>
            <a:off x="5657850" y="5897563"/>
            <a:ext cx="35623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磁盘、磁带、光盘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7027" name="Text Box 3"/>
          <p:cNvSpPr txBox="1"/>
          <p:nvPr/>
        </p:nvSpPr>
        <p:spPr>
          <a:xfrm>
            <a:off x="3100388" y="4983163"/>
            <a:ext cx="566261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高速缓冲存储器（</a:t>
            </a:r>
            <a:r>
              <a:rPr lang="en-US" altLang="zh-CN" sz="3200" b="1" dirty="0">
                <a:latin typeface="Times New Roman" panose="02020603050405020304" pitchFamily="18" charset="0"/>
              </a:rPr>
              <a:t>Cache</a:t>
            </a:r>
            <a:r>
              <a:rPr lang="zh-CN" altLang="en-US" sz="3200" b="1" dirty="0">
                <a:latin typeface="Times New Roman" panose="02020603050405020304" pitchFamily="18" charset="0"/>
              </a:rPr>
              <a:t>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7028" name="Text Box 4"/>
          <p:cNvSpPr txBox="1"/>
          <p:nvPr/>
        </p:nvSpPr>
        <p:spPr>
          <a:xfrm>
            <a:off x="3100388" y="4090988"/>
            <a:ext cx="375761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Flash  Memory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57029" name="Text Box 5"/>
          <p:cNvSpPr txBox="1"/>
          <p:nvPr/>
        </p:nvSpPr>
        <p:spPr>
          <a:xfrm>
            <a:off x="1873250" y="3500438"/>
            <a:ext cx="589280" cy="1568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存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</a:rPr>
              <a:t>储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</a:rPr>
              <a:t>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57030" name="Group 6"/>
          <p:cNvGrpSpPr/>
          <p:nvPr/>
        </p:nvGrpSpPr>
        <p:grpSpPr>
          <a:xfrm>
            <a:off x="3100388" y="2195513"/>
            <a:ext cx="2214563" cy="4286249"/>
            <a:chOff x="993" y="1383"/>
            <a:chExt cx="1395" cy="2700"/>
          </a:xfrm>
        </p:grpSpPr>
        <p:sp>
          <p:nvSpPr>
            <p:cNvPr id="257050" name="Text Box 7"/>
            <p:cNvSpPr txBox="1"/>
            <p:nvPr/>
          </p:nvSpPr>
          <p:spPr>
            <a:xfrm>
              <a:off x="993" y="1383"/>
              <a:ext cx="115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主存储器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7051" name="Text Box 8"/>
            <p:cNvSpPr txBox="1"/>
            <p:nvPr/>
          </p:nvSpPr>
          <p:spPr>
            <a:xfrm>
              <a:off x="993" y="3715"/>
              <a:ext cx="139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辅助存储器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7031" name="AutoShape 9"/>
          <p:cNvSpPr/>
          <p:nvPr/>
        </p:nvSpPr>
        <p:spPr>
          <a:xfrm>
            <a:off x="2616200" y="2460625"/>
            <a:ext cx="431800" cy="3833813"/>
          </a:xfrm>
          <a:prstGeom prst="leftBrace">
            <a:avLst>
              <a:gd name="adj1" fmla="val 7329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57032" name="Group 10"/>
          <p:cNvGrpSpPr/>
          <p:nvPr/>
        </p:nvGrpSpPr>
        <p:grpSpPr>
          <a:xfrm>
            <a:off x="6842125" y="2379663"/>
            <a:ext cx="3455988" cy="1920875"/>
            <a:chOff x="3350" y="1499"/>
            <a:chExt cx="2177" cy="1210"/>
          </a:xfrm>
        </p:grpSpPr>
        <p:sp>
          <p:nvSpPr>
            <p:cNvPr id="257046" name="Text Box 11"/>
            <p:cNvSpPr txBox="1"/>
            <p:nvPr/>
          </p:nvSpPr>
          <p:spPr>
            <a:xfrm>
              <a:off x="3350" y="1499"/>
              <a:ext cx="121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MROM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7047" name="Text Box 12"/>
            <p:cNvSpPr txBox="1"/>
            <p:nvPr/>
          </p:nvSpPr>
          <p:spPr>
            <a:xfrm>
              <a:off x="3350" y="1805"/>
              <a:ext cx="110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PROM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7048" name="Text Box 13"/>
            <p:cNvSpPr txBox="1"/>
            <p:nvPr/>
          </p:nvSpPr>
          <p:spPr>
            <a:xfrm>
              <a:off x="3350" y="2112"/>
              <a:ext cx="13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EPROM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7049" name="Text Box 14"/>
            <p:cNvSpPr txBox="1"/>
            <p:nvPr/>
          </p:nvSpPr>
          <p:spPr>
            <a:xfrm>
              <a:off x="3350" y="2419"/>
              <a:ext cx="217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EEPROM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7033" name="AutoShape 15"/>
          <p:cNvSpPr/>
          <p:nvPr/>
        </p:nvSpPr>
        <p:spPr>
          <a:xfrm>
            <a:off x="6565900" y="2590800"/>
            <a:ext cx="292100" cy="1484313"/>
          </a:xfrm>
          <a:prstGeom prst="leftBrace">
            <a:avLst>
              <a:gd name="adj1" fmla="val 41946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57034" name="Group 16"/>
          <p:cNvGrpSpPr/>
          <p:nvPr/>
        </p:nvGrpSpPr>
        <p:grpSpPr>
          <a:xfrm>
            <a:off x="5300663" y="1296988"/>
            <a:ext cx="1052512" cy="2351087"/>
            <a:chOff x="2379" y="817"/>
            <a:chExt cx="663" cy="1481"/>
          </a:xfrm>
        </p:grpSpPr>
        <p:sp>
          <p:nvSpPr>
            <p:cNvPr id="257044" name="Text Box 17"/>
            <p:cNvSpPr txBox="1"/>
            <p:nvPr/>
          </p:nvSpPr>
          <p:spPr>
            <a:xfrm>
              <a:off x="2379" y="817"/>
              <a:ext cx="65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RAM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7045" name="Text Box 18"/>
            <p:cNvSpPr txBox="1"/>
            <p:nvPr/>
          </p:nvSpPr>
          <p:spPr>
            <a:xfrm>
              <a:off x="2379" y="1969"/>
              <a:ext cx="6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ROM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7035" name="AutoShape 19"/>
          <p:cNvSpPr/>
          <p:nvPr/>
        </p:nvSpPr>
        <p:spPr>
          <a:xfrm>
            <a:off x="4986338" y="1535113"/>
            <a:ext cx="271462" cy="1893887"/>
          </a:xfrm>
          <a:prstGeom prst="leftBrace">
            <a:avLst>
              <a:gd name="adj1" fmla="val 57589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57036" name="Group 20"/>
          <p:cNvGrpSpPr/>
          <p:nvPr/>
        </p:nvGrpSpPr>
        <p:grpSpPr>
          <a:xfrm>
            <a:off x="6778625" y="990600"/>
            <a:ext cx="2311400" cy="1122363"/>
            <a:chOff x="3310" y="624"/>
            <a:chExt cx="1456" cy="707"/>
          </a:xfrm>
        </p:grpSpPr>
        <p:sp>
          <p:nvSpPr>
            <p:cNvPr id="257042" name="Text Box 21"/>
            <p:cNvSpPr txBox="1"/>
            <p:nvPr/>
          </p:nvSpPr>
          <p:spPr>
            <a:xfrm>
              <a:off x="3310" y="624"/>
              <a:ext cx="145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静态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RAM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7043" name="Text Box 22"/>
            <p:cNvSpPr txBox="1"/>
            <p:nvPr/>
          </p:nvSpPr>
          <p:spPr>
            <a:xfrm>
              <a:off x="3310" y="1041"/>
              <a:ext cx="100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动态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RAM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7037" name="AutoShape 23"/>
          <p:cNvSpPr/>
          <p:nvPr/>
        </p:nvSpPr>
        <p:spPr>
          <a:xfrm>
            <a:off x="6565900" y="1143000"/>
            <a:ext cx="207963" cy="784225"/>
          </a:xfrm>
          <a:prstGeom prst="leftBrace">
            <a:avLst>
              <a:gd name="adj1" fmla="val 31128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7038" name="Text Box 24"/>
          <p:cNvSpPr txBox="1"/>
          <p:nvPr/>
        </p:nvSpPr>
        <p:spPr>
          <a:xfrm>
            <a:off x="1893888" y="273050"/>
            <a:ext cx="57835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  </a:t>
            </a:r>
            <a:r>
              <a:rPr lang="zh-CN" altLang="en-US" sz="3600" b="1" dirty="0">
                <a:latin typeface="Times New Roman" panose="02020603050405020304" pitchFamily="18" charset="0"/>
              </a:rPr>
              <a:t>按在计算机中的作用分类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92537" name="Rectangle 2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7040" name="AutoShape 2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704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8050" name="Text Box 2"/>
          <p:cNvSpPr txBox="1"/>
          <p:nvPr/>
        </p:nvSpPr>
        <p:spPr>
          <a:xfrm>
            <a:off x="9525000" y="2693988"/>
            <a:ext cx="487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高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58051" name="Group 3"/>
          <p:cNvGrpSpPr/>
          <p:nvPr/>
        </p:nvGrpSpPr>
        <p:grpSpPr>
          <a:xfrm>
            <a:off x="9525000" y="3346450"/>
            <a:ext cx="487363" cy="2570163"/>
            <a:chOff x="5040" y="2108"/>
            <a:chExt cx="307" cy="1619"/>
          </a:xfrm>
        </p:grpSpPr>
        <p:sp>
          <p:nvSpPr>
            <p:cNvPr id="258111" name="Text Box 4"/>
            <p:cNvSpPr txBox="1"/>
            <p:nvPr/>
          </p:nvSpPr>
          <p:spPr>
            <a:xfrm>
              <a:off x="5040" y="3437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低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112" name="Line 5"/>
            <p:cNvSpPr/>
            <p:nvPr/>
          </p:nvSpPr>
          <p:spPr>
            <a:xfrm>
              <a:off x="5220" y="2108"/>
              <a:ext cx="0" cy="12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58052" name="Text Box 6"/>
          <p:cNvSpPr txBox="1"/>
          <p:nvPr/>
        </p:nvSpPr>
        <p:spPr>
          <a:xfrm>
            <a:off x="733425" y="5253038"/>
            <a:ext cx="309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58053" name="Text Box 7"/>
          <p:cNvSpPr txBox="1"/>
          <p:nvPr/>
        </p:nvSpPr>
        <p:spPr>
          <a:xfrm>
            <a:off x="8469313" y="2693988"/>
            <a:ext cx="487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小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58054" name="Group 8"/>
          <p:cNvGrpSpPr/>
          <p:nvPr/>
        </p:nvGrpSpPr>
        <p:grpSpPr>
          <a:xfrm>
            <a:off x="8469313" y="3346450"/>
            <a:ext cx="490537" cy="2570163"/>
            <a:chOff x="4375" y="2108"/>
            <a:chExt cx="309" cy="1619"/>
          </a:xfrm>
        </p:grpSpPr>
        <p:sp>
          <p:nvSpPr>
            <p:cNvPr id="258109" name="Text Box 9"/>
            <p:cNvSpPr txBox="1"/>
            <p:nvPr/>
          </p:nvSpPr>
          <p:spPr>
            <a:xfrm>
              <a:off x="4375" y="3437"/>
              <a:ext cx="30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大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110" name="Line 10"/>
            <p:cNvSpPr/>
            <p:nvPr/>
          </p:nvSpPr>
          <p:spPr>
            <a:xfrm>
              <a:off x="4548" y="2108"/>
              <a:ext cx="0" cy="12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58055" name="Text Box 11"/>
          <p:cNvSpPr txBox="1"/>
          <p:nvPr/>
        </p:nvSpPr>
        <p:spPr>
          <a:xfrm>
            <a:off x="7413625" y="2693988"/>
            <a:ext cx="4905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快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58056" name="Group 12"/>
          <p:cNvGrpSpPr/>
          <p:nvPr/>
        </p:nvGrpSpPr>
        <p:grpSpPr>
          <a:xfrm>
            <a:off x="7413625" y="3346450"/>
            <a:ext cx="487363" cy="2570163"/>
            <a:chOff x="3710" y="2108"/>
            <a:chExt cx="307" cy="1619"/>
          </a:xfrm>
        </p:grpSpPr>
        <p:sp>
          <p:nvSpPr>
            <p:cNvPr id="258107" name="Text Box 13"/>
            <p:cNvSpPr txBox="1"/>
            <p:nvPr/>
          </p:nvSpPr>
          <p:spPr>
            <a:xfrm>
              <a:off x="3710" y="3437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慢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108" name="Line 14"/>
            <p:cNvSpPr/>
            <p:nvPr/>
          </p:nvSpPr>
          <p:spPr>
            <a:xfrm>
              <a:off x="3852" y="2108"/>
              <a:ext cx="0" cy="12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58057" name="Group 15"/>
          <p:cNvGrpSpPr/>
          <p:nvPr/>
        </p:nvGrpSpPr>
        <p:grpSpPr>
          <a:xfrm>
            <a:off x="5759450" y="4543425"/>
            <a:ext cx="1284288" cy="1287463"/>
            <a:chOff x="2668" y="2862"/>
            <a:chExt cx="809" cy="811"/>
          </a:xfrm>
        </p:grpSpPr>
        <p:sp>
          <p:nvSpPr>
            <p:cNvPr id="258103" name="Text Box 16"/>
            <p:cNvSpPr txBox="1"/>
            <p:nvPr/>
          </p:nvSpPr>
          <p:spPr>
            <a:xfrm>
              <a:off x="3024" y="3063"/>
              <a:ext cx="348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辅存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104" name="Line 17"/>
            <p:cNvSpPr/>
            <p:nvPr/>
          </p:nvSpPr>
          <p:spPr>
            <a:xfrm rot="10800000">
              <a:off x="3180" y="2862"/>
              <a:ext cx="0" cy="20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58105" name="Line 18"/>
            <p:cNvSpPr/>
            <p:nvPr/>
          </p:nvSpPr>
          <p:spPr>
            <a:xfrm>
              <a:off x="3180" y="3483"/>
              <a:ext cx="0" cy="179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58106" name="Freeform 19"/>
            <p:cNvSpPr/>
            <p:nvPr/>
          </p:nvSpPr>
          <p:spPr>
            <a:xfrm>
              <a:off x="2668" y="3672"/>
              <a:ext cx="809" cy="1"/>
            </a:xfrm>
            <a:custGeom>
              <a:avLst/>
              <a:gdLst>
                <a:gd name="txL" fmla="*/ 0 w 809"/>
                <a:gd name="txT" fmla="*/ 0 h 1"/>
                <a:gd name="txR" fmla="*/ 809 w 80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809" y="0"/>
                </a:cxn>
              </a:cxnLst>
              <a:rect l="txL" t="txT" r="txR" b="txB"/>
              <a:pathLst>
                <a:path w="809" h="1">
                  <a:moveTo>
                    <a:pt x="0" y="0"/>
                  </a:moveTo>
                  <a:lnTo>
                    <a:pt x="809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58058" name="Group 20"/>
          <p:cNvGrpSpPr/>
          <p:nvPr/>
        </p:nvGrpSpPr>
        <p:grpSpPr>
          <a:xfrm>
            <a:off x="2014538" y="2519363"/>
            <a:ext cx="3810000" cy="3333750"/>
            <a:chOff x="309" y="1587"/>
            <a:chExt cx="2400" cy="2100"/>
          </a:xfrm>
        </p:grpSpPr>
        <p:sp>
          <p:nvSpPr>
            <p:cNvPr id="258087" name="Freeform 21"/>
            <p:cNvSpPr/>
            <p:nvPr/>
          </p:nvSpPr>
          <p:spPr>
            <a:xfrm>
              <a:off x="618" y="3141"/>
              <a:ext cx="1785" cy="1"/>
            </a:xfrm>
            <a:custGeom>
              <a:avLst/>
              <a:gdLst>
                <a:gd name="txL" fmla="*/ 0 w 1785"/>
                <a:gd name="txT" fmla="*/ 0 h 1"/>
                <a:gd name="txR" fmla="*/ 1785 w 178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785" y="0"/>
                </a:cxn>
              </a:cxnLst>
              <a:rect l="txL" t="txT" r="txR" b="txB"/>
              <a:pathLst>
                <a:path w="1785" h="1">
                  <a:moveTo>
                    <a:pt x="0" y="0"/>
                  </a:moveTo>
                  <a:lnTo>
                    <a:pt x="178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088" name="Freeform 22"/>
            <p:cNvSpPr/>
            <p:nvPr/>
          </p:nvSpPr>
          <p:spPr>
            <a:xfrm>
              <a:off x="777" y="2871"/>
              <a:ext cx="1464" cy="1"/>
            </a:xfrm>
            <a:custGeom>
              <a:avLst/>
              <a:gdLst>
                <a:gd name="txL" fmla="*/ 0 w 1464"/>
                <a:gd name="txT" fmla="*/ 0 h 1"/>
                <a:gd name="txR" fmla="*/ 1464 w 146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464" y="0"/>
                </a:cxn>
              </a:cxnLst>
              <a:rect l="txL" t="txT" r="txR" b="txB"/>
              <a:pathLst>
                <a:path w="1464" h="1">
                  <a:moveTo>
                    <a:pt x="0" y="0"/>
                  </a:moveTo>
                  <a:lnTo>
                    <a:pt x="146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089" name="Freeform 23"/>
            <p:cNvSpPr/>
            <p:nvPr/>
          </p:nvSpPr>
          <p:spPr>
            <a:xfrm>
              <a:off x="1065" y="2352"/>
              <a:ext cx="876" cy="3"/>
            </a:xfrm>
            <a:custGeom>
              <a:avLst/>
              <a:gdLst>
                <a:gd name="txL" fmla="*/ 0 w 876"/>
                <a:gd name="txT" fmla="*/ 0 h 3"/>
                <a:gd name="txR" fmla="*/ 876 w 876"/>
                <a:gd name="txB" fmla="*/ 3 h 3"/>
              </a:gdLst>
              <a:ahLst/>
              <a:cxnLst>
                <a:cxn ang="0">
                  <a:pos x="0" y="0"/>
                </a:cxn>
                <a:cxn ang="0">
                  <a:pos x="876" y="3"/>
                </a:cxn>
              </a:cxnLst>
              <a:rect l="txL" t="txT" r="txR" b="txB"/>
              <a:pathLst>
                <a:path w="876" h="3">
                  <a:moveTo>
                    <a:pt x="0" y="0"/>
                  </a:moveTo>
                  <a:lnTo>
                    <a:pt x="876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090" name="Text Box 24"/>
            <p:cNvSpPr txBox="1"/>
            <p:nvPr/>
          </p:nvSpPr>
          <p:spPr>
            <a:xfrm>
              <a:off x="1148" y="2081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寄存器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091" name="Text Box 25"/>
            <p:cNvSpPr txBox="1"/>
            <p:nvPr/>
          </p:nvSpPr>
          <p:spPr>
            <a:xfrm>
              <a:off x="1244" y="2333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缓存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092" name="Text Box 26"/>
            <p:cNvSpPr txBox="1"/>
            <p:nvPr/>
          </p:nvSpPr>
          <p:spPr>
            <a:xfrm>
              <a:off x="1244" y="2593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主存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093" name="Text Box 27"/>
            <p:cNvSpPr txBox="1"/>
            <p:nvPr/>
          </p:nvSpPr>
          <p:spPr>
            <a:xfrm>
              <a:off x="1244" y="2861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磁盘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094" name="Text Box 28"/>
            <p:cNvSpPr txBox="1"/>
            <p:nvPr/>
          </p:nvSpPr>
          <p:spPr>
            <a:xfrm>
              <a:off x="1244" y="3141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光盘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095" name="Text Box 29"/>
            <p:cNvSpPr txBox="1"/>
            <p:nvPr/>
          </p:nvSpPr>
          <p:spPr>
            <a:xfrm>
              <a:off x="1244" y="3397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磁带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096" name="Freeform 30"/>
            <p:cNvSpPr/>
            <p:nvPr/>
          </p:nvSpPr>
          <p:spPr>
            <a:xfrm>
              <a:off x="309" y="3672"/>
              <a:ext cx="2397" cy="1"/>
            </a:xfrm>
            <a:custGeom>
              <a:avLst/>
              <a:gdLst>
                <a:gd name="txL" fmla="*/ 0 w 2397"/>
                <a:gd name="txT" fmla="*/ 0 h 1"/>
                <a:gd name="txR" fmla="*/ 2397 w 239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397" y="0"/>
                </a:cxn>
              </a:cxnLst>
              <a:rect l="txL" t="txT" r="txR" b="txB"/>
              <a:pathLst>
                <a:path w="2397" h="1">
                  <a:moveTo>
                    <a:pt x="0" y="0"/>
                  </a:moveTo>
                  <a:lnTo>
                    <a:pt x="239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097" name="Freeform 31"/>
            <p:cNvSpPr/>
            <p:nvPr/>
          </p:nvSpPr>
          <p:spPr>
            <a:xfrm>
              <a:off x="1512" y="1599"/>
              <a:ext cx="1197" cy="2073"/>
            </a:xfrm>
            <a:custGeom>
              <a:avLst/>
              <a:gdLst>
                <a:gd name="txL" fmla="*/ 0 w 1197"/>
                <a:gd name="txT" fmla="*/ 0 h 2073"/>
                <a:gd name="txR" fmla="*/ 1197 w 1197"/>
                <a:gd name="txB" fmla="*/ 2073 h 2073"/>
              </a:gdLst>
              <a:ahLst/>
              <a:cxnLst>
                <a:cxn ang="0">
                  <a:pos x="0" y="0"/>
                </a:cxn>
                <a:cxn ang="0">
                  <a:pos x="1197" y="2073"/>
                </a:cxn>
              </a:cxnLst>
              <a:rect l="txL" t="txT" r="txR" b="txB"/>
              <a:pathLst>
                <a:path w="1197" h="2073">
                  <a:moveTo>
                    <a:pt x="0" y="0"/>
                  </a:moveTo>
                  <a:lnTo>
                    <a:pt x="1197" y="207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098" name="Freeform 32"/>
            <p:cNvSpPr/>
            <p:nvPr/>
          </p:nvSpPr>
          <p:spPr>
            <a:xfrm>
              <a:off x="456" y="3417"/>
              <a:ext cx="2103" cy="3"/>
            </a:xfrm>
            <a:custGeom>
              <a:avLst/>
              <a:gdLst>
                <a:gd name="txL" fmla="*/ 0 w 2103"/>
                <a:gd name="txT" fmla="*/ 0 h 3"/>
                <a:gd name="txR" fmla="*/ 2103 w 2103"/>
                <a:gd name="txB" fmla="*/ 3 h 3"/>
              </a:gdLst>
              <a:ahLst/>
              <a:cxnLst>
                <a:cxn ang="0">
                  <a:pos x="0" y="0"/>
                </a:cxn>
                <a:cxn ang="0">
                  <a:pos x="2103" y="3"/>
                </a:cxn>
              </a:cxnLst>
              <a:rect l="txL" t="txT" r="txR" b="txB"/>
              <a:pathLst>
                <a:path w="2103" h="3">
                  <a:moveTo>
                    <a:pt x="0" y="0"/>
                  </a:moveTo>
                  <a:lnTo>
                    <a:pt x="2103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099" name="Freeform 33"/>
            <p:cNvSpPr/>
            <p:nvPr/>
          </p:nvSpPr>
          <p:spPr>
            <a:xfrm>
              <a:off x="912" y="2625"/>
              <a:ext cx="1191" cy="1"/>
            </a:xfrm>
            <a:custGeom>
              <a:avLst/>
              <a:gdLst>
                <a:gd name="txL" fmla="*/ 0 w 1191"/>
                <a:gd name="txT" fmla="*/ 0 h 1"/>
                <a:gd name="txR" fmla="*/ 1191 w 119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91" y="0"/>
                </a:cxn>
              </a:cxnLst>
              <a:rect l="txL" t="txT" r="txR" b="txB"/>
              <a:pathLst>
                <a:path w="1191" h="1">
                  <a:moveTo>
                    <a:pt x="0" y="0"/>
                  </a:moveTo>
                  <a:lnTo>
                    <a:pt x="119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100" name="Text Box 34"/>
            <p:cNvSpPr txBox="1"/>
            <p:nvPr/>
          </p:nvSpPr>
          <p:spPr>
            <a:xfrm>
              <a:off x="1244" y="3141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光盘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101" name="Text Box 35"/>
            <p:cNvSpPr txBox="1"/>
            <p:nvPr/>
          </p:nvSpPr>
          <p:spPr>
            <a:xfrm>
              <a:off x="1244" y="3397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磁带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102" name="Freeform 36"/>
            <p:cNvSpPr/>
            <p:nvPr/>
          </p:nvSpPr>
          <p:spPr>
            <a:xfrm>
              <a:off x="309" y="1587"/>
              <a:ext cx="1203" cy="2085"/>
            </a:xfrm>
            <a:custGeom>
              <a:avLst/>
              <a:gdLst>
                <a:gd name="txL" fmla="*/ 0 w 1203"/>
                <a:gd name="txT" fmla="*/ 0 h 2085"/>
                <a:gd name="txR" fmla="*/ 1203 w 1203"/>
                <a:gd name="txB" fmla="*/ 2085 h 2085"/>
              </a:gdLst>
              <a:ahLst/>
              <a:cxnLst>
                <a:cxn ang="0">
                  <a:pos x="1203" y="0"/>
                </a:cxn>
                <a:cxn ang="0">
                  <a:pos x="0" y="2085"/>
                </a:cxn>
              </a:cxnLst>
              <a:rect l="txL" t="txT" r="txR" b="txB"/>
              <a:pathLst>
                <a:path w="1203" h="2085">
                  <a:moveTo>
                    <a:pt x="1203" y="0"/>
                  </a:moveTo>
                  <a:lnTo>
                    <a:pt x="0" y="208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58059" name="Group 37"/>
          <p:cNvGrpSpPr/>
          <p:nvPr/>
        </p:nvGrpSpPr>
        <p:grpSpPr>
          <a:xfrm>
            <a:off x="7178675" y="1981200"/>
            <a:ext cx="3386138" cy="544513"/>
            <a:chOff x="3562" y="1248"/>
            <a:chExt cx="2133" cy="343"/>
          </a:xfrm>
        </p:grpSpPr>
        <p:sp>
          <p:nvSpPr>
            <p:cNvPr id="258083" name="Text Box 38"/>
            <p:cNvSpPr txBox="1"/>
            <p:nvPr/>
          </p:nvSpPr>
          <p:spPr>
            <a:xfrm>
              <a:off x="3562" y="1261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速度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8084" name="Text Box 39"/>
            <p:cNvSpPr txBox="1"/>
            <p:nvPr/>
          </p:nvSpPr>
          <p:spPr>
            <a:xfrm>
              <a:off x="4206" y="1261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容量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8085" name="Text Box 40"/>
            <p:cNvSpPr txBox="1"/>
            <p:nvPr/>
          </p:nvSpPr>
          <p:spPr>
            <a:xfrm>
              <a:off x="4796" y="1262"/>
              <a:ext cx="8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价格  位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8086" name="Text Box 41"/>
            <p:cNvSpPr txBox="1"/>
            <p:nvPr/>
          </p:nvSpPr>
          <p:spPr>
            <a:xfrm>
              <a:off x="5199" y="1248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／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58060" name="Text Box 42"/>
          <p:cNvSpPr txBox="1"/>
          <p:nvPr/>
        </p:nvSpPr>
        <p:spPr>
          <a:xfrm>
            <a:off x="2443163" y="1274763"/>
            <a:ext cx="5567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3200" b="1" dirty="0">
                <a:latin typeface="Times New Roman" panose="02020603050405020304" pitchFamily="18" charset="0"/>
              </a:rPr>
              <a:t>1.  </a:t>
            </a:r>
            <a:r>
              <a:rPr lang="zh-CN" altLang="en-US" sz="3200" b="1" dirty="0">
                <a:latin typeface="Times New Roman" panose="02020603050405020304" pitchFamily="18" charset="0"/>
              </a:rPr>
              <a:t>存储器三个主要特性的关系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8061" name="Text Box 43"/>
          <p:cNvSpPr txBox="1"/>
          <p:nvPr/>
        </p:nvSpPr>
        <p:spPr>
          <a:xfrm>
            <a:off x="1892300" y="427038"/>
            <a:ext cx="4869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</a:rPr>
              <a:t>二、存储器的层次结构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258062" name="Group 44"/>
          <p:cNvGrpSpPr/>
          <p:nvPr/>
        </p:nvGrpSpPr>
        <p:grpSpPr>
          <a:xfrm>
            <a:off x="3937000" y="2527300"/>
            <a:ext cx="1466850" cy="1208088"/>
            <a:chOff x="1520" y="1592"/>
            <a:chExt cx="924" cy="761"/>
          </a:xfrm>
        </p:grpSpPr>
        <p:sp>
          <p:nvSpPr>
            <p:cNvPr id="258078" name="Freeform 45"/>
            <p:cNvSpPr/>
            <p:nvPr/>
          </p:nvSpPr>
          <p:spPr>
            <a:xfrm>
              <a:off x="1944" y="2352"/>
              <a:ext cx="468" cy="1"/>
            </a:xfrm>
            <a:custGeom>
              <a:avLst/>
              <a:gdLst>
                <a:gd name="txL" fmla="*/ 0 w 468"/>
                <a:gd name="txT" fmla="*/ 0 h 1"/>
                <a:gd name="txR" fmla="*/ 468 w 46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68" y="1"/>
                </a:cxn>
              </a:cxnLst>
              <a:rect l="txL" t="txT" r="txR" b="txB"/>
              <a:pathLst>
                <a:path w="468" h="1">
                  <a:moveTo>
                    <a:pt x="0" y="0"/>
                  </a:moveTo>
                  <a:lnTo>
                    <a:pt x="468" y="1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079" name="Freeform 46"/>
            <p:cNvSpPr/>
            <p:nvPr/>
          </p:nvSpPr>
          <p:spPr>
            <a:xfrm>
              <a:off x="2172" y="1592"/>
              <a:ext cx="1" cy="217"/>
            </a:xfrm>
            <a:custGeom>
              <a:avLst/>
              <a:gdLst>
                <a:gd name="txL" fmla="*/ 0 w 1"/>
                <a:gd name="txT" fmla="*/ 0 h 217"/>
                <a:gd name="txR" fmla="*/ 1 w 1"/>
                <a:gd name="txB" fmla="*/ 217 h 217"/>
              </a:gdLst>
              <a:ahLst/>
              <a:cxnLst>
                <a:cxn ang="0">
                  <a:pos x="0" y="217"/>
                </a:cxn>
                <a:cxn ang="0">
                  <a:pos x="0" y="0"/>
                </a:cxn>
              </a:cxnLst>
              <a:rect l="txL" t="txT" r="txR" b="txB"/>
              <a:pathLst>
                <a:path w="1" h="217">
                  <a:moveTo>
                    <a:pt x="0" y="217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080" name="Freeform 47"/>
            <p:cNvSpPr/>
            <p:nvPr/>
          </p:nvSpPr>
          <p:spPr>
            <a:xfrm>
              <a:off x="2184" y="2142"/>
              <a:ext cx="1" cy="201"/>
            </a:xfrm>
            <a:custGeom>
              <a:avLst/>
              <a:gdLst>
                <a:gd name="txL" fmla="*/ 0 w 1"/>
                <a:gd name="txT" fmla="*/ 0 h 201"/>
                <a:gd name="txR" fmla="*/ 1 w 1"/>
                <a:gd name="txB" fmla="*/ 201 h 201"/>
              </a:gdLst>
              <a:ahLst/>
              <a:cxnLst>
                <a:cxn ang="0">
                  <a:pos x="0" y="0"/>
                </a:cxn>
                <a:cxn ang="0">
                  <a:pos x="1" y="201"/>
                </a:cxn>
              </a:cxnLst>
              <a:rect l="txL" t="txT" r="txR" b="txB"/>
              <a:pathLst>
                <a:path w="1" h="201">
                  <a:moveTo>
                    <a:pt x="0" y="0"/>
                  </a:moveTo>
                  <a:lnTo>
                    <a:pt x="1" y="201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081" name="Text Box 48"/>
            <p:cNvSpPr txBox="1"/>
            <p:nvPr/>
          </p:nvSpPr>
          <p:spPr>
            <a:xfrm>
              <a:off x="1934" y="1826"/>
              <a:ext cx="51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CPU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082" name="Line 49"/>
            <p:cNvSpPr/>
            <p:nvPr/>
          </p:nvSpPr>
          <p:spPr>
            <a:xfrm>
              <a:off x="1520" y="1593"/>
              <a:ext cx="87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8063" name="Group 50"/>
          <p:cNvGrpSpPr/>
          <p:nvPr/>
        </p:nvGrpSpPr>
        <p:grpSpPr>
          <a:xfrm>
            <a:off x="4808538" y="2509838"/>
            <a:ext cx="1414463" cy="1662112"/>
            <a:chOff x="2069" y="1581"/>
            <a:chExt cx="891" cy="1047"/>
          </a:xfrm>
        </p:grpSpPr>
        <p:sp>
          <p:nvSpPr>
            <p:cNvPr id="258073" name="Freeform 51"/>
            <p:cNvSpPr/>
            <p:nvPr/>
          </p:nvSpPr>
          <p:spPr>
            <a:xfrm>
              <a:off x="2069" y="2627"/>
              <a:ext cx="882" cy="1"/>
            </a:xfrm>
            <a:custGeom>
              <a:avLst/>
              <a:gdLst>
                <a:gd name="txL" fmla="*/ 0 w 882"/>
                <a:gd name="txT" fmla="*/ 0 h 1"/>
                <a:gd name="txR" fmla="*/ 882 w 882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882" y="0"/>
                </a:cxn>
              </a:cxnLst>
              <a:rect l="txL" t="txT" r="txR" b="txB"/>
              <a:pathLst>
                <a:path w="882" h="1">
                  <a:moveTo>
                    <a:pt x="0" y="1"/>
                  </a:moveTo>
                  <a:lnTo>
                    <a:pt x="882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8074" name="Line 52"/>
            <p:cNvSpPr/>
            <p:nvPr/>
          </p:nvSpPr>
          <p:spPr>
            <a:xfrm rot="10800000">
              <a:off x="2664" y="1581"/>
              <a:ext cx="0" cy="30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58075" name="Line 53"/>
            <p:cNvSpPr/>
            <p:nvPr/>
          </p:nvSpPr>
          <p:spPr>
            <a:xfrm>
              <a:off x="2676" y="2321"/>
              <a:ext cx="0" cy="30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58076" name="Text Box 54"/>
            <p:cNvSpPr txBox="1"/>
            <p:nvPr/>
          </p:nvSpPr>
          <p:spPr>
            <a:xfrm>
              <a:off x="2450" y="1982"/>
              <a:ext cx="51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CPU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077" name="Line 55"/>
            <p:cNvSpPr/>
            <p:nvPr/>
          </p:nvSpPr>
          <p:spPr>
            <a:xfrm>
              <a:off x="2390" y="1593"/>
              <a:ext cx="539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58064" name="Group 56"/>
          <p:cNvGrpSpPr/>
          <p:nvPr/>
        </p:nvGrpSpPr>
        <p:grpSpPr>
          <a:xfrm>
            <a:off x="5097463" y="2514600"/>
            <a:ext cx="1960562" cy="2044700"/>
            <a:chOff x="2251" y="1584"/>
            <a:chExt cx="1235" cy="1288"/>
          </a:xfrm>
        </p:grpSpPr>
        <p:sp>
          <p:nvSpPr>
            <p:cNvPr id="258068" name="Text Box 57"/>
            <p:cNvSpPr txBox="1"/>
            <p:nvPr/>
          </p:nvSpPr>
          <p:spPr>
            <a:xfrm>
              <a:off x="3024" y="2011"/>
              <a:ext cx="34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主机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8069" name="Line 58"/>
            <p:cNvSpPr/>
            <p:nvPr/>
          </p:nvSpPr>
          <p:spPr>
            <a:xfrm>
              <a:off x="2251" y="2872"/>
              <a:ext cx="1235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8070" name="Line 59"/>
            <p:cNvSpPr/>
            <p:nvPr/>
          </p:nvSpPr>
          <p:spPr>
            <a:xfrm rot="10800000">
              <a:off x="3180" y="1584"/>
              <a:ext cx="0" cy="30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58071" name="Line 60"/>
            <p:cNvSpPr/>
            <p:nvPr/>
          </p:nvSpPr>
          <p:spPr>
            <a:xfrm>
              <a:off x="3180" y="2566"/>
              <a:ext cx="0" cy="30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58072" name="Line 61"/>
            <p:cNvSpPr/>
            <p:nvPr/>
          </p:nvSpPr>
          <p:spPr>
            <a:xfrm>
              <a:off x="2917" y="1593"/>
              <a:ext cx="539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93598" name="Rectangle 6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8066" name="AutoShape 63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806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4324350" y="2187575"/>
            <a:ext cx="1433513" cy="860425"/>
            <a:chOff x="1908" y="1378"/>
            <a:chExt cx="903" cy="603"/>
          </a:xfrm>
        </p:grpSpPr>
        <p:sp>
          <p:nvSpPr>
            <p:cNvPr id="259124" name="Text Box 3"/>
            <p:cNvSpPr txBox="1"/>
            <p:nvPr/>
          </p:nvSpPr>
          <p:spPr>
            <a:xfrm>
              <a:off x="2055" y="1478"/>
              <a:ext cx="756" cy="4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缓存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9125" name="Rectangle 4"/>
            <p:cNvSpPr/>
            <p:nvPr/>
          </p:nvSpPr>
          <p:spPr>
            <a:xfrm>
              <a:off x="1908" y="1378"/>
              <a:ext cx="893" cy="603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2089150" y="2187575"/>
            <a:ext cx="5888038" cy="860425"/>
            <a:chOff x="500" y="1378"/>
            <a:chExt cx="3709" cy="603"/>
          </a:xfrm>
        </p:grpSpPr>
        <p:grpSp>
          <p:nvGrpSpPr>
            <p:cNvPr id="259118" name="Group 6"/>
            <p:cNvGrpSpPr/>
            <p:nvPr/>
          </p:nvGrpSpPr>
          <p:grpSpPr>
            <a:xfrm>
              <a:off x="500" y="1378"/>
              <a:ext cx="893" cy="602"/>
              <a:chOff x="500" y="1378"/>
              <a:chExt cx="893" cy="602"/>
            </a:xfrm>
          </p:grpSpPr>
          <p:sp>
            <p:nvSpPr>
              <p:cNvPr id="259122" name="Text Box 7"/>
              <p:cNvSpPr txBox="1"/>
              <p:nvPr/>
            </p:nvSpPr>
            <p:spPr>
              <a:xfrm>
                <a:off x="622" y="1478"/>
                <a:ext cx="770" cy="4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CPU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9123" name="Rectangle 8"/>
              <p:cNvSpPr/>
              <p:nvPr/>
            </p:nvSpPr>
            <p:spPr>
              <a:xfrm>
                <a:off x="500" y="1378"/>
                <a:ext cx="893" cy="602"/>
              </a:xfrm>
              <a:prstGeom prst="rect">
                <a:avLst/>
              </a:prstGeom>
              <a:noFill/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59119" name="Group 9"/>
            <p:cNvGrpSpPr/>
            <p:nvPr/>
          </p:nvGrpSpPr>
          <p:grpSpPr>
            <a:xfrm>
              <a:off x="3316" y="1378"/>
              <a:ext cx="893" cy="603"/>
              <a:chOff x="3316" y="1378"/>
              <a:chExt cx="893" cy="603"/>
            </a:xfrm>
          </p:grpSpPr>
          <p:sp>
            <p:nvSpPr>
              <p:cNvPr id="259120" name="Text Box 10"/>
              <p:cNvSpPr txBox="1"/>
              <p:nvPr/>
            </p:nvSpPr>
            <p:spPr>
              <a:xfrm>
                <a:off x="3453" y="1478"/>
                <a:ext cx="660" cy="40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3200" b="1" dirty="0">
                    <a:latin typeface="Times New Roman" panose="02020603050405020304" pitchFamily="18" charset="0"/>
                  </a:rPr>
                  <a:t>主存</a:t>
                </a:r>
                <a:endParaRPr lang="zh-CN" altLang="en-US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9121" name="Rectangle 11"/>
              <p:cNvSpPr/>
              <p:nvPr/>
            </p:nvSpPr>
            <p:spPr>
              <a:xfrm>
                <a:off x="3316" y="1378"/>
                <a:ext cx="893" cy="603"/>
              </a:xfrm>
              <a:prstGeom prst="rect">
                <a:avLst/>
              </a:prstGeom>
              <a:noFill/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6" name="Group 12"/>
          <p:cNvGrpSpPr/>
          <p:nvPr/>
        </p:nvGrpSpPr>
        <p:grpSpPr>
          <a:xfrm>
            <a:off x="8794750" y="2187575"/>
            <a:ext cx="1417638" cy="860425"/>
            <a:chOff x="4724" y="1378"/>
            <a:chExt cx="893" cy="603"/>
          </a:xfrm>
        </p:grpSpPr>
        <p:sp>
          <p:nvSpPr>
            <p:cNvPr id="259116" name="Text Box 13"/>
            <p:cNvSpPr txBox="1"/>
            <p:nvPr/>
          </p:nvSpPr>
          <p:spPr>
            <a:xfrm>
              <a:off x="4827" y="1478"/>
              <a:ext cx="756" cy="4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辅存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9117" name="Rectangle 14"/>
            <p:cNvSpPr/>
            <p:nvPr/>
          </p:nvSpPr>
          <p:spPr>
            <a:xfrm>
              <a:off x="4724" y="1378"/>
              <a:ext cx="893" cy="603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94575" name="Freeform 15"/>
          <p:cNvSpPr/>
          <p:nvPr/>
        </p:nvSpPr>
        <p:spPr>
          <a:xfrm>
            <a:off x="2792413" y="3048000"/>
            <a:ext cx="4513262" cy="446088"/>
          </a:xfrm>
          <a:custGeom>
            <a:avLst/>
            <a:gdLst>
              <a:gd name="txL" fmla="*/ 0 w 2610"/>
              <a:gd name="txT" fmla="*/ 0 h 282"/>
              <a:gd name="txR" fmla="*/ 2610 w 2610"/>
              <a:gd name="txB" fmla="*/ 282 h 282"/>
            </a:gdLst>
            <a:ahLst/>
            <a:cxnLst>
              <a:cxn ang="0">
                <a:pos x="0" y="0"/>
              </a:cxn>
              <a:cxn ang="0">
                <a:pos x="0" y="282"/>
              </a:cxn>
              <a:cxn ang="0">
                <a:pos x="2610" y="282"/>
              </a:cxn>
              <a:cxn ang="0">
                <a:pos x="2610" y="0"/>
              </a:cxn>
            </a:cxnLst>
            <a:rect l="txL" t="txT" r="txR" b="txB"/>
            <a:pathLst>
              <a:path w="2610" h="282">
                <a:moveTo>
                  <a:pt x="0" y="0"/>
                </a:moveTo>
                <a:lnTo>
                  <a:pt x="0" y="282"/>
                </a:lnTo>
                <a:lnTo>
                  <a:pt x="2610" y="282"/>
                </a:lnTo>
                <a:lnTo>
                  <a:pt x="2610" y="0"/>
                </a:ln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576" name="Freeform 16"/>
          <p:cNvSpPr/>
          <p:nvPr/>
        </p:nvSpPr>
        <p:spPr>
          <a:xfrm rot="10800000">
            <a:off x="2774950" y="1719263"/>
            <a:ext cx="4511675" cy="447675"/>
          </a:xfrm>
          <a:custGeom>
            <a:avLst/>
            <a:gdLst>
              <a:gd name="txL" fmla="*/ 0 w 2610"/>
              <a:gd name="txT" fmla="*/ 0 h 282"/>
              <a:gd name="txR" fmla="*/ 2610 w 2610"/>
              <a:gd name="txB" fmla="*/ 282 h 282"/>
            </a:gdLst>
            <a:ahLst/>
            <a:cxnLst>
              <a:cxn ang="0">
                <a:pos x="0" y="0"/>
              </a:cxn>
              <a:cxn ang="0">
                <a:pos x="0" y="282"/>
              </a:cxn>
              <a:cxn ang="0">
                <a:pos x="2610" y="282"/>
              </a:cxn>
              <a:cxn ang="0">
                <a:pos x="2610" y="0"/>
              </a:cxn>
            </a:cxnLst>
            <a:rect l="txL" t="txT" r="txR" b="txB"/>
            <a:pathLst>
              <a:path w="2610" h="282">
                <a:moveTo>
                  <a:pt x="0" y="0"/>
                </a:moveTo>
                <a:lnTo>
                  <a:pt x="0" y="282"/>
                </a:lnTo>
                <a:lnTo>
                  <a:pt x="2610" y="282"/>
                </a:lnTo>
                <a:lnTo>
                  <a:pt x="2610" y="0"/>
                </a:ln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577" name="Line 17"/>
          <p:cNvSpPr/>
          <p:nvPr/>
        </p:nvSpPr>
        <p:spPr>
          <a:xfrm>
            <a:off x="3513138" y="2490788"/>
            <a:ext cx="817562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94578" name="Line 18"/>
          <p:cNvSpPr/>
          <p:nvPr/>
        </p:nvSpPr>
        <p:spPr>
          <a:xfrm>
            <a:off x="5741988" y="2509838"/>
            <a:ext cx="817562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94579" name="Line 19"/>
          <p:cNvSpPr/>
          <p:nvPr/>
        </p:nvSpPr>
        <p:spPr>
          <a:xfrm>
            <a:off x="7989888" y="2509838"/>
            <a:ext cx="817562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94580" name="Line 20"/>
          <p:cNvSpPr/>
          <p:nvPr/>
        </p:nvSpPr>
        <p:spPr>
          <a:xfrm rot="10800000">
            <a:off x="7970838" y="2795588"/>
            <a:ext cx="817562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94581" name="Line 21"/>
          <p:cNvSpPr/>
          <p:nvPr/>
        </p:nvSpPr>
        <p:spPr>
          <a:xfrm rot="10800000">
            <a:off x="5741988" y="2795588"/>
            <a:ext cx="817562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194582" name="Line 22"/>
          <p:cNvSpPr/>
          <p:nvPr/>
        </p:nvSpPr>
        <p:spPr>
          <a:xfrm rot="10800000">
            <a:off x="3494088" y="2795588"/>
            <a:ext cx="817562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259085" name="Group 23"/>
          <p:cNvGrpSpPr/>
          <p:nvPr/>
        </p:nvGrpSpPr>
        <p:grpSpPr>
          <a:xfrm>
            <a:off x="1676400" y="463550"/>
            <a:ext cx="7497763" cy="644525"/>
            <a:chOff x="170" y="292"/>
            <a:chExt cx="4723" cy="406"/>
          </a:xfrm>
        </p:grpSpPr>
        <p:sp>
          <p:nvSpPr>
            <p:cNvPr id="259113" name="Text Box 24"/>
            <p:cNvSpPr txBox="1"/>
            <p:nvPr/>
          </p:nvSpPr>
          <p:spPr>
            <a:xfrm>
              <a:off x="170" y="292"/>
              <a:ext cx="4723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3600" b="1" dirty="0">
                  <a:latin typeface="Times New Roman" panose="02020603050405020304" pitchFamily="18" charset="0"/>
                </a:rPr>
                <a:t>2.  </a:t>
              </a:r>
              <a:r>
                <a:rPr lang="zh-CN" altLang="en-US" sz="3600" b="1" dirty="0">
                  <a:latin typeface="Times New Roman" panose="02020603050405020304" pitchFamily="18" charset="0"/>
                </a:rPr>
                <a:t>缓存   主存层次和主存    辅存层次</a:t>
              </a:r>
              <a:endParaRPr lang="zh-CN" altLang="en-US" sz="3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9114" name="Line 25"/>
            <p:cNvSpPr/>
            <p:nvPr/>
          </p:nvSpPr>
          <p:spPr>
            <a:xfrm>
              <a:off x="1188" y="503"/>
              <a:ext cx="20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9115" name="Line 26"/>
            <p:cNvSpPr/>
            <p:nvPr/>
          </p:nvSpPr>
          <p:spPr>
            <a:xfrm>
              <a:off x="3438" y="503"/>
              <a:ext cx="20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27"/>
          <p:cNvGrpSpPr/>
          <p:nvPr/>
        </p:nvGrpSpPr>
        <p:grpSpPr>
          <a:xfrm>
            <a:off x="5259388" y="4129088"/>
            <a:ext cx="1973263" cy="522287"/>
            <a:chOff x="2353" y="2553"/>
            <a:chExt cx="1243" cy="329"/>
          </a:xfrm>
        </p:grpSpPr>
        <p:sp>
          <p:nvSpPr>
            <p:cNvPr id="259110" name="Text Box 28"/>
            <p:cNvSpPr txBox="1"/>
            <p:nvPr/>
          </p:nvSpPr>
          <p:spPr>
            <a:xfrm>
              <a:off x="2353" y="2553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缓存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9111" name="Text Box 29"/>
            <p:cNvSpPr txBox="1"/>
            <p:nvPr/>
          </p:nvSpPr>
          <p:spPr>
            <a:xfrm>
              <a:off x="3033" y="2553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主存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9112" name="Line 30"/>
            <p:cNvSpPr/>
            <p:nvPr/>
          </p:nvSpPr>
          <p:spPr>
            <a:xfrm>
              <a:off x="2905" y="2717"/>
              <a:ext cx="1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31"/>
          <p:cNvGrpSpPr/>
          <p:nvPr/>
        </p:nvGrpSpPr>
        <p:grpSpPr>
          <a:xfrm>
            <a:off x="7431088" y="4129088"/>
            <a:ext cx="2028825" cy="522287"/>
            <a:chOff x="3721" y="2553"/>
            <a:chExt cx="1278" cy="329"/>
          </a:xfrm>
        </p:grpSpPr>
        <p:sp>
          <p:nvSpPr>
            <p:cNvPr id="259107" name="Text Box 32"/>
            <p:cNvSpPr txBox="1"/>
            <p:nvPr/>
          </p:nvSpPr>
          <p:spPr>
            <a:xfrm>
              <a:off x="4436" y="2553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辅存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9108" name="Text Box 33"/>
            <p:cNvSpPr txBox="1"/>
            <p:nvPr/>
          </p:nvSpPr>
          <p:spPr>
            <a:xfrm>
              <a:off x="3721" y="2553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主存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9109" name="Line 34"/>
            <p:cNvSpPr/>
            <p:nvPr/>
          </p:nvSpPr>
          <p:spPr>
            <a:xfrm>
              <a:off x="4275" y="2717"/>
              <a:ext cx="1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35"/>
          <p:cNvGrpSpPr/>
          <p:nvPr/>
        </p:nvGrpSpPr>
        <p:grpSpPr>
          <a:xfrm>
            <a:off x="7718425" y="4611688"/>
            <a:ext cx="815975" cy="844550"/>
            <a:chOff x="4021" y="2905"/>
            <a:chExt cx="514" cy="532"/>
          </a:xfrm>
        </p:grpSpPr>
        <p:sp>
          <p:nvSpPr>
            <p:cNvPr id="259105" name="Rectangle 36"/>
            <p:cNvSpPr/>
            <p:nvPr/>
          </p:nvSpPr>
          <p:spPr>
            <a:xfrm>
              <a:off x="4412" y="2905"/>
              <a:ext cx="122" cy="343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59106" name="AutoShape 37"/>
            <p:cNvSpPr/>
            <p:nvPr/>
          </p:nvSpPr>
          <p:spPr>
            <a:xfrm>
              <a:off x="4021" y="3190"/>
              <a:ext cx="514" cy="247"/>
            </a:xfrm>
            <a:prstGeom prst="leftArrow">
              <a:avLst>
                <a:gd name="adj1" fmla="val 50120"/>
                <a:gd name="adj2" fmla="val 41783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94598" name="Text Box 38"/>
          <p:cNvSpPr txBox="1"/>
          <p:nvPr/>
        </p:nvSpPr>
        <p:spPr>
          <a:xfrm>
            <a:off x="5903913" y="5029200"/>
            <a:ext cx="1706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虚拟存储器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11" name="Group 39"/>
          <p:cNvGrpSpPr/>
          <p:nvPr/>
        </p:nvGrpSpPr>
        <p:grpSpPr>
          <a:xfrm>
            <a:off x="2057400" y="1808163"/>
            <a:ext cx="7232650" cy="398463"/>
            <a:chOff x="445" y="1139"/>
            <a:chExt cx="4556" cy="251"/>
          </a:xfrm>
        </p:grpSpPr>
        <p:sp>
          <p:nvSpPr>
            <p:cNvPr id="259101" name="Text Box 40"/>
            <p:cNvSpPr txBox="1"/>
            <p:nvPr/>
          </p:nvSpPr>
          <p:spPr>
            <a:xfrm>
              <a:off x="445" y="1139"/>
              <a:ext cx="4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10 ns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9102" name="Text Box 41"/>
            <p:cNvSpPr txBox="1"/>
            <p:nvPr/>
          </p:nvSpPr>
          <p:spPr>
            <a:xfrm>
              <a:off x="1834" y="1139"/>
              <a:ext cx="4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20 ns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9103" name="Text Box 42"/>
            <p:cNvSpPr txBox="1"/>
            <p:nvPr/>
          </p:nvSpPr>
          <p:spPr>
            <a:xfrm>
              <a:off x="3203" y="1139"/>
              <a:ext cx="5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200 ns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9104" name="Text Box 43"/>
            <p:cNvSpPr txBox="1"/>
            <p:nvPr/>
          </p:nvSpPr>
          <p:spPr>
            <a:xfrm>
              <a:off x="4690" y="1139"/>
              <a:ext cx="31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ms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94604" name="AutoShape 44"/>
          <p:cNvSpPr/>
          <p:nvPr/>
        </p:nvSpPr>
        <p:spPr>
          <a:xfrm>
            <a:off x="5903913" y="5576888"/>
            <a:ext cx="1145016" cy="508111"/>
          </a:xfrm>
          <a:prstGeom prst="flowChartAlternateProcess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虚地址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94605" name="Text Box 45"/>
          <p:cNvSpPr txBox="1"/>
          <p:nvPr/>
        </p:nvSpPr>
        <p:spPr>
          <a:xfrm>
            <a:off x="5903913" y="6157913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逻辑地址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94606" name="Text Box 46"/>
          <p:cNvSpPr txBox="1"/>
          <p:nvPr/>
        </p:nvSpPr>
        <p:spPr>
          <a:xfrm>
            <a:off x="4068763" y="5592763"/>
            <a:ext cx="1097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实地址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94607" name="Text Box 47"/>
          <p:cNvSpPr txBox="1"/>
          <p:nvPr/>
        </p:nvSpPr>
        <p:spPr>
          <a:xfrm>
            <a:off x="4068763" y="6157913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物理地址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94608" name="Text Box 48"/>
          <p:cNvSpPr txBox="1"/>
          <p:nvPr/>
        </p:nvSpPr>
        <p:spPr>
          <a:xfrm>
            <a:off x="4068763" y="5029200"/>
            <a:ext cx="1402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主存储器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94609" name="Rectangle 4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610" name="Text Box 50"/>
          <p:cNvSpPr txBox="1"/>
          <p:nvPr/>
        </p:nvSpPr>
        <p:spPr>
          <a:xfrm>
            <a:off x="5445125" y="36576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（速度）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94611" name="Text Box 51"/>
          <p:cNvSpPr txBox="1"/>
          <p:nvPr/>
        </p:nvSpPr>
        <p:spPr>
          <a:xfrm>
            <a:off x="7589838" y="36576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（容量）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59099" name="AutoShape 5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9100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94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19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6" dur="500"/>
                                        <p:tgtEl>
                                          <p:spTgt spid="19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19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0" dur="500"/>
                                        <p:tgtEl>
                                          <p:spTgt spid="19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4" dur="500"/>
                                        <p:tgtEl>
                                          <p:spTgt spid="19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19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3" dur="500"/>
                                        <p:tgtEl>
                                          <p:spTgt spid="19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9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9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9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9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9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9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9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75" grpId="0" bldLvl="0" animBg="1"/>
      <p:bldP spid="194576" grpId="0" bldLvl="0" animBg="1"/>
      <p:bldP spid="194598" grpId="0"/>
      <p:bldP spid="194604" grpId="0"/>
      <p:bldP spid="194605" grpId="0"/>
      <p:bldP spid="194606" grpId="0"/>
      <p:bldP spid="194607" grpId="0"/>
      <p:bldP spid="194608" grpId="0"/>
      <p:bldP spid="194610" grpId="0"/>
      <p:bldP spid="1946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0098" name="Rectangle 2"/>
          <p:cNvSpPr>
            <a:spLocks noGrp="1"/>
          </p:cNvSpPr>
          <p:nvPr>
            <p:ph type="title"/>
          </p:nvPr>
        </p:nvSpPr>
        <p:spPr>
          <a:xfrm>
            <a:off x="2286000" y="762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4.2 </a:t>
            </a:r>
            <a:r>
              <a:rPr lang="zh-CN" altLang="en-US" b="1" dirty="0"/>
              <a:t>主存储器</a:t>
            </a:r>
            <a:endParaRPr lang="zh-CN" altLang="en-US" b="1" dirty="0"/>
          </a:p>
        </p:txBody>
      </p:sp>
      <p:sp>
        <p:nvSpPr>
          <p:cNvPr id="260099" name="Text Box 3"/>
          <p:cNvSpPr txBox="1"/>
          <p:nvPr/>
        </p:nvSpPr>
        <p:spPr>
          <a:xfrm>
            <a:off x="1984375" y="835025"/>
            <a:ext cx="20116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600" b="1" dirty="0">
                <a:latin typeface="Times New Roman" panose="02020603050405020304" pitchFamily="18" charset="0"/>
              </a:rPr>
              <a:t>一、概述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0100" name="Text Box 4"/>
          <p:cNvSpPr txBox="1"/>
          <p:nvPr/>
        </p:nvSpPr>
        <p:spPr>
          <a:xfrm>
            <a:off x="2422525" y="1543050"/>
            <a:ext cx="353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 </a:t>
            </a:r>
            <a:r>
              <a:rPr lang="zh-CN" altLang="en-US" sz="3200" b="1" dirty="0">
                <a:latin typeface="Times New Roman" panose="02020603050405020304" pitchFamily="18" charset="0"/>
              </a:rPr>
              <a:t>主存的基本组成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0101" name="AutoShape 5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60102" name="Group 6"/>
          <p:cNvGrpSpPr/>
          <p:nvPr/>
        </p:nvGrpSpPr>
        <p:grpSpPr>
          <a:xfrm>
            <a:off x="2982913" y="2225675"/>
            <a:ext cx="6630987" cy="4470400"/>
            <a:chOff x="919" y="1402"/>
            <a:chExt cx="4177" cy="2816"/>
          </a:xfrm>
        </p:grpSpPr>
        <p:grpSp>
          <p:nvGrpSpPr>
            <p:cNvPr id="260104" name="Group 7"/>
            <p:cNvGrpSpPr/>
            <p:nvPr/>
          </p:nvGrpSpPr>
          <p:grpSpPr>
            <a:xfrm>
              <a:off x="919" y="1402"/>
              <a:ext cx="4177" cy="2816"/>
              <a:chOff x="919" y="1402"/>
              <a:chExt cx="4177" cy="2816"/>
            </a:xfrm>
          </p:grpSpPr>
          <p:grpSp>
            <p:nvGrpSpPr>
              <p:cNvPr id="260110" name="Group 8"/>
              <p:cNvGrpSpPr/>
              <p:nvPr/>
            </p:nvGrpSpPr>
            <p:grpSpPr>
              <a:xfrm>
                <a:off x="919" y="1402"/>
                <a:ext cx="4177" cy="2816"/>
                <a:chOff x="919" y="1402"/>
                <a:chExt cx="4177" cy="2816"/>
              </a:xfrm>
            </p:grpSpPr>
            <p:sp>
              <p:nvSpPr>
                <p:cNvPr id="260112" name="Rectangle 9"/>
                <p:cNvSpPr/>
                <p:nvPr/>
              </p:nvSpPr>
              <p:spPr>
                <a:xfrm>
                  <a:off x="919" y="2609"/>
                  <a:ext cx="1089" cy="27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0113" name="Freeform 10"/>
                <p:cNvSpPr/>
                <p:nvPr/>
              </p:nvSpPr>
              <p:spPr>
                <a:xfrm>
                  <a:off x="1392" y="3912"/>
                  <a:ext cx="190" cy="220"/>
                </a:xfrm>
                <a:custGeom>
                  <a:avLst/>
                  <a:gdLst>
                    <a:gd name="txL" fmla="*/ 0 w 178"/>
                    <a:gd name="txT" fmla="*/ 0 h 328"/>
                    <a:gd name="txR" fmla="*/ 178 w 178"/>
                    <a:gd name="txB" fmla="*/ 328 h 328"/>
                  </a:gdLst>
                  <a:ahLst/>
                  <a:cxnLst>
                    <a:cxn ang="0">
                      <a:pos x="0" y="80"/>
                    </a:cxn>
                    <a:cxn ang="0">
                      <a:pos x="43" y="80"/>
                    </a:cxn>
                    <a:cxn ang="0">
                      <a:pos x="43" y="328"/>
                    </a:cxn>
                    <a:cxn ang="0">
                      <a:pos x="134" y="328"/>
                    </a:cxn>
                    <a:cxn ang="0">
                      <a:pos x="134" y="80"/>
                    </a:cxn>
                    <a:cxn ang="0">
                      <a:pos x="178" y="80"/>
                    </a:cxn>
                    <a:cxn ang="0">
                      <a:pos x="86" y="0"/>
                    </a:cxn>
                    <a:cxn ang="0">
                      <a:pos x="0" y="80"/>
                    </a:cxn>
                  </a:cxnLst>
                  <a:rect l="txL" t="txT" r="txR" b="txB"/>
                  <a:pathLst>
                    <a:path w="178" h="328">
                      <a:moveTo>
                        <a:pt x="0" y="80"/>
                      </a:moveTo>
                      <a:lnTo>
                        <a:pt x="43" y="80"/>
                      </a:lnTo>
                      <a:lnTo>
                        <a:pt x="43" y="328"/>
                      </a:lnTo>
                      <a:lnTo>
                        <a:pt x="134" y="328"/>
                      </a:lnTo>
                      <a:lnTo>
                        <a:pt x="134" y="80"/>
                      </a:lnTo>
                      <a:lnTo>
                        <a:pt x="178" y="80"/>
                      </a:lnTo>
                      <a:lnTo>
                        <a:pt x="8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0114" name="Freeform 11"/>
                <p:cNvSpPr/>
                <p:nvPr/>
              </p:nvSpPr>
              <p:spPr>
                <a:xfrm>
                  <a:off x="4198" y="1792"/>
                  <a:ext cx="898" cy="164"/>
                </a:xfrm>
                <a:custGeom>
                  <a:avLst/>
                  <a:gdLst>
                    <a:gd name="txL" fmla="*/ 0 w 898"/>
                    <a:gd name="txT" fmla="*/ 0 h 164"/>
                    <a:gd name="txR" fmla="*/ 898 w 898"/>
                    <a:gd name="txB" fmla="*/ 164 h 164"/>
                  </a:gdLst>
                  <a:ahLst/>
                  <a:cxnLst>
                    <a:cxn ang="0">
                      <a:pos x="0" y="80"/>
                    </a:cxn>
                    <a:cxn ang="0">
                      <a:pos x="178" y="164"/>
                    </a:cxn>
                    <a:cxn ang="0">
                      <a:pos x="178" y="120"/>
                    </a:cxn>
                    <a:cxn ang="0">
                      <a:pos x="720" y="120"/>
                    </a:cxn>
                    <a:cxn ang="0">
                      <a:pos x="720" y="164"/>
                    </a:cxn>
                    <a:cxn ang="0">
                      <a:pos x="898" y="80"/>
                    </a:cxn>
                    <a:cxn ang="0">
                      <a:pos x="720" y="0"/>
                    </a:cxn>
                    <a:cxn ang="0">
                      <a:pos x="720" y="40"/>
                    </a:cxn>
                    <a:cxn ang="0">
                      <a:pos x="178" y="40"/>
                    </a:cxn>
                    <a:cxn ang="0">
                      <a:pos x="178" y="0"/>
                    </a:cxn>
                    <a:cxn ang="0">
                      <a:pos x="0" y="80"/>
                    </a:cxn>
                  </a:cxnLst>
                  <a:rect l="txL" t="txT" r="txR" b="txB"/>
                  <a:pathLst>
                    <a:path w="898" h="164">
                      <a:moveTo>
                        <a:pt x="0" y="80"/>
                      </a:moveTo>
                      <a:lnTo>
                        <a:pt x="178" y="164"/>
                      </a:lnTo>
                      <a:lnTo>
                        <a:pt x="178" y="120"/>
                      </a:lnTo>
                      <a:lnTo>
                        <a:pt x="720" y="120"/>
                      </a:lnTo>
                      <a:lnTo>
                        <a:pt x="720" y="164"/>
                      </a:lnTo>
                      <a:lnTo>
                        <a:pt x="898" y="80"/>
                      </a:lnTo>
                      <a:lnTo>
                        <a:pt x="720" y="0"/>
                      </a:lnTo>
                      <a:lnTo>
                        <a:pt x="720" y="40"/>
                      </a:lnTo>
                      <a:lnTo>
                        <a:pt x="178" y="40"/>
                      </a:lnTo>
                      <a:lnTo>
                        <a:pt x="178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0115" name="Rectangle 12"/>
                <p:cNvSpPr/>
                <p:nvPr/>
              </p:nvSpPr>
              <p:spPr>
                <a:xfrm>
                  <a:off x="2208" y="2828"/>
                  <a:ext cx="1267" cy="300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0116" name="Freeform 13"/>
                <p:cNvSpPr/>
                <p:nvPr/>
              </p:nvSpPr>
              <p:spPr>
                <a:xfrm>
                  <a:off x="2731" y="2383"/>
                  <a:ext cx="240" cy="445"/>
                </a:xfrm>
                <a:custGeom>
                  <a:avLst/>
                  <a:gdLst>
                    <a:gd name="txL" fmla="*/ 0 w 240"/>
                    <a:gd name="txT" fmla="*/ 0 h 445"/>
                    <a:gd name="txR" fmla="*/ 240 w 240"/>
                    <a:gd name="txB" fmla="*/ 445 h 445"/>
                  </a:gdLst>
                  <a:ahLst/>
                  <a:cxnLst>
                    <a:cxn ang="0">
                      <a:pos x="0" y="147"/>
                    </a:cxn>
                    <a:cxn ang="0">
                      <a:pos x="58" y="147"/>
                    </a:cxn>
                    <a:cxn ang="0">
                      <a:pos x="58" y="445"/>
                    </a:cxn>
                    <a:cxn ang="0">
                      <a:pos x="178" y="445"/>
                    </a:cxn>
                    <a:cxn ang="0">
                      <a:pos x="178" y="147"/>
                    </a:cxn>
                    <a:cxn ang="0">
                      <a:pos x="240" y="147"/>
                    </a:cxn>
                    <a:cxn ang="0">
                      <a:pos x="120" y="0"/>
                    </a:cxn>
                    <a:cxn ang="0">
                      <a:pos x="0" y="147"/>
                    </a:cxn>
                  </a:cxnLst>
                  <a:rect l="txL" t="txT" r="txR" b="txB"/>
                  <a:pathLst>
                    <a:path w="240" h="445">
                      <a:moveTo>
                        <a:pt x="0" y="147"/>
                      </a:moveTo>
                      <a:lnTo>
                        <a:pt x="58" y="147"/>
                      </a:lnTo>
                      <a:lnTo>
                        <a:pt x="58" y="445"/>
                      </a:lnTo>
                      <a:lnTo>
                        <a:pt x="178" y="445"/>
                      </a:lnTo>
                      <a:lnTo>
                        <a:pt x="178" y="147"/>
                      </a:lnTo>
                      <a:lnTo>
                        <a:pt x="240" y="147"/>
                      </a:lnTo>
                      <a:lnTo>
                        <a:pt x="120" y="0"/>
                      </a:lnTo>
                      <a:lnTo>
                        <a:pt x="0" y="147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60117" name="Group 14"/>
                <p:cNvGrpSpPr/>
                <p:nvPr/>
              </p:nvGrpSpPr>
              <p:grpSpPr>
                <a:xfrm>
                  <a:off x="931" y="1410"/>
                  <a:ext cx="1085" cy="943"/>
                  <a:chOff x="931" y="1410"/>
                  <a:chExt cx="1085" cy="943"/>
                </a:xfrm>
              </p:grpSpPr>
              <p:sp>
                <p:nvSpPr>
                  <p:cNvPr id="260148" name="Rectangle 15"/>
                  <p:cNvSpPr/>
                  <p:nvPr/>
                </p:nvSpPr>
                <p:spPr>
                  <a:xfrm>
                    <a:off x="931" y="1410"/>
                    <a:ext cx="1085" cy="943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0149" name="Text Box 16"/>
                  <p:cNvSpPr txBox="1"/>
                  <p:nvPr/>
                </p:nvSpPr>
                <p:spPr>
                  <a:xfrm>
                    <a:off x="1054" y="1709"/>
                    <a:ext cx="835" cy="34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zh-CN" altLang="en-US" sz="3000" b="1" dirty="0">
                        <a:latin typeface="Times New Roman" panose="02020603050405020304" pitchFamily="18" charset="0"/>
                      </a:rPr>
                      <a:t>存储体</a:t>
                    </a:r>
                    <a:endParaRPr lang="zh-CN" altLang="en-US" sz="30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60118" name="Text Box 17"/>
                <p:cNvSpPr txBox="1"/>
                <p:nvPr/>
              </p:nvSpPr>
              <p:spPr>
                <a:xfrm>
                  <a:off x="1140" y="2610"/>
                  <a:ext cx="643" cy="2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200" b="1" dirty="0">
                      <a:latin typeface="Times New Roman" panose="02020603050405020304" pitchFamily="18" charset="0"/>
                    </a:rPr>
                    <a:t>驱动器</a:t>
                  </a:r>
                  <a:endParaRPr lang="zh-CN" altLang="en-US" sz="2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0119" name="Rectangle 18"/>
                <p:cNvSpPr/>
                <p:nvPr/>
              </p:nvSpPr>
              <p:spPr>
                <a:xfrm>
                  <a:off x="919" y="3113"/>
                  <a:ext cx="1089" cy="27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0120" name="Text Box 19"/>
                <p:cNvSpPr txBox="1"/>
                <p:nvPr/>
              </p:nvSpPr>
              <p:spPr>
                <a:xfrm>
                  <a:off x="1140" y="3114"/>
                  <a:ext cx="643" cy="2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200" b="1" dirty="0">
                      <a:latin typeface="Times New Roman" panose="02020603050405020304" pitchFamily="18" charset="0"/>
                    </a:rPr>
                    <a:t>译码器</a:t>
                  </a:r>
                  <a:endParaRPr lang="zh-CN" altLang="en-US" sz="2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0121" name="Rectangle 20"/>
                <p:cNvSpPr/>
                <p:nvPr/>
              </p:nvSpPr>
              <p:spPr>
                <a:xfrm>
                  <a:off x="919" y="3628"/>
                  <a:ext cx="1089" cy="27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0122" name="Text Box 21"/>
                <p:cNvSpPr txBox="1"/>
                <p:nvPr/>
              </p:nvSpPr>
              <p:spPr>
                <a:xfrm>
                  <a:off x="1195" y="3630"/>
                  <a:ext cx="536" cy="2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200" b="1" dirty="0">
                      <a:latin typeface="Times New Roman" panose="02020603050405020304" pitchFamily="18" charset="0"/>
                    </a:rPr>
                    <a:t>MAR</a:t>
                  </a:r>
                  <a:endParaRPr lang="en-US" altLang="zh-CN" sz="2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0123" name="Text Box 22"/>
                <p:cNvSpPr txBox="1"/>
                <p:nvPr/>
              </p:nvSpPr>
              <p:spPr>
                <a:xfrm>
                  <a:off x="2429" y="2843"/>
                  <a:ext cx="819" cy="2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200" b="1" dirty="0">
                      <a:latin typeface="Times New Roman" panose="02020603050405020304" pitchFamily="18" charset="0"/>
                    </a:rPr>
                    <a:t>控制电路</a:t>
                  </a:r>
                  <a:endParaRPr lang="zh-CN" altLang="en-US" sz="22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60124" name="Group 23"/>
                <p:cNvGrpSpPr/>
                <p:nvPr/>
              </p:nvGrpSpPr>
              <p:grpSpPr>
                <a:xfrm>
                  <a:off x="2568" y="1402"/>
                  <a:ext cx="547" cy="942"/>
                  <a:chOff x="2568" y="1402"/>
                  <a:chExt cx="547" cy="942"/>
                </a:xfrm>
              </p:grpSpPr>
              <p:sp>
                <p:nvSpPr>
                  <p:cNvPr id="260146" name="Rectangle 24"/>
                  <p:cNvSpPr/>
                  <p:nvPr/>
                </p:nvSpPr>
                <p:spPr>
                  <a:xfrm>
                    <a:off x="2568" y="1402"/>
                    <a:ext cx="547" cy="94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0147" name="Text Box 25"/>
                  <p:cNvSpPr txBox="1"/>
                  <p:nvPr/>
                </p:nvSpPr>
                <p:spPr>
                  <a:xfrm>
                    <a:off x="2687" y="1421"/>
                    <a:ext cx="309" cy="91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r>
                      <a:rPr lang="zh-CN" altLang="en-US" sz="2200" b="1" dirty="0">
                        <a:latin typeface="Times New Roman" panose="02020603050405020304" pitchFamily="18" charset="0"/>
                      </a:rPr>
                      <a:t>读</a:t>
                    </a:r>
                    <a:endParaRPr lang="zh-CN" altLang="en-US" sz="2200" b="1" dirty="0">
                      <a:latin typeface="Times New Roman" panose="02020603050405020304" pitchFamily="18" charset="0"/>
                    </a:endParaRPr>
                  </a:p>
                  <a:p>
                    <a:r>
                      <a:rPr lang="zh-CN" altLang="en-US" sz="2200" b="1" dirty="0">
                        <a:latin typeface="Times New Roman" panose="02020603050405020304" pitchFamily="18" charset="0"/>
                      </a:rPr>
                      <a:t>写</a:t>
                    </a:r>
                    <a:endParaRPr lang="zh-CN" altLang="en-US" sz="2200" b="1" dirty="0">
                      <a:latin typeface="Times New Roman" panose="02020603050405020304" pitchFamily="18" charset="0"/>
                    </a:endParaRPr>
                  </a:p>
                  <a:p>
                    <a:r>
                      <a:rPr lang="zh-CN" altLang="en-US" sz="2200" b="1" dirty="0">
                        <a:latin typeface="Times New Roman" panose="02020603050405020304" pitchFamily="18" charset="0"/>
                      </a:rPr>
                      <a:t>电</a:t>
                    </a:r>
                    <a:endParaRPr lang="zh-CN" altLang="en-US" sz="2200" b="1" dirty="0">
                      <a:latin typeface="Times New Roman" panose="02020603050405020304" pitchFamily="18" charset="0"/>
                    </a:endParaRPr>
                  </a:p>
                  <a:p>
                    <a:r>
                      <a:rPr lang="zh-CN" altLang="en-US" sz="2200" b="1" dirty="0">
                        <a:latin typeface="Times New Roman" panose="02020603050405020304" pitchFamily="18" charset="0"/>
                      </a:rPr>
                      <a:t>路</a:t>
                    </a:r>
                    <a:endParaRPr lang="zh-CN" altLang="en-US" sz="22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60125" name="Group 26"/>
                <p:cNvGrpSpPr/>
                <p:nvPr/>
              </p:nvGrpSpPr>
              <p:grpSpPr>
                <a:xfrm>
                  <a:off x="3652" y="1410"/>
                  <a:ext cx="553" cy="943"/>
                  <a:chOff x="3652" y="1410"/>
                  <a:chExt cx="553" cy="943"/>
                </a:xfrm>
              </p:grpSpPr>
              <p:sp>
                <p:nvSpPr>
                  <p:cNvPr id="260144" name="Rectangle 27"/>
                  <p:cNvSpPr/>
                  <p:nvPr/>
                </p:nvSpPr>
                <p:spPr>
                  <a:xfrm>
                    <a:off x="3652" y="1410"/>
                    <a:ext cx="547" cy="943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60145" name="Text Box 28"/>
                  <p:cNvSpPr txBox="1"/>
                  <p:nvPr/>
                </p:nvSpPr>
                <p:spPr>
                  <a:xfrm>
                    <a:off x="3669" y="1747"/>
                    <a:ext cx="536" cy="27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en-US" altLang="zh-CN" sz="2200" b="1" dirty="0">
                        <a:latin typeface="Times New Roman" panose="02020603050405020304" pitchFamily="18" charset="0"/>
                      </a:rPr>
                      <a:t>MDR</a:t>
                    </a:r>
                    <a:endParaRPr lang="en-US" altLang="zh-CN" sz="22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60126" name="Line 29"/>
                <p:cNvSpPr/>
                <p:nvPr/>
              </p:nvSpPr>
              <p:spPr>
                <a:xfrm>
                  <a:off x="3114" y="1623"/>
                  <a:ext cx="540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med" len="med"/>
                  <a:tailEnd type="stealth" w="med" len="med"/>
                </a:ln>
              </p:spPr>
            </p:sp>
            <p:sp>
              <p:nvSpPr>
                <p:cNvPr id="260127" name="Line 30"/>
                <p:cNvSpPr/>
                <p:nvPr/>
              </p:nvSpPr>
              <p:spPr>
                <a:xfrm>
                  <a:off x="3114" y="2163"/>
                  <a:ext cx="540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med" len="med"/>
                  <a:tailEnd type="stealth" w="med" len="med"/>
                </a:ln>
              </p:spPr>
            </p:sp>
            <p:sp>
              <p:nvSpPr>
                <p:cNvPr id="260128" name="Line 31"/>
                <p:cNvSpPr/>
                <p:nvPr/>
              </p:nvSpPr>
              <p:spPr>
                <a:xfrm>
                  <a:off x="2034" y="1635"/>
                  <a:ext cx="540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med" len="med"/>
                  <a:tailEnd type="stealth" w="med" len="med"/>
                </a:ln>
              </p:spPr>
            </p:sp>
            <p:sp>
              <p:nvSpPr>
                <p:cNvPr id="260129" name="Line 32"/>
                <p:cNvSpPr/>
                <p:nvPr/>
              </p:nvSpPr>
              <p:spPr>
                <a:xfrm>
                  <a:off x="2034" y="2175"/>
                  <a:ext cx="540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med" len="med"/>
                  <a:tailEnd type="stealth" w="med" len="med"/>
                </a:ln>
              </p:spPr>
            </p:sp>
            <p:sp>
              <p:nvSpPr>
                <p:cNvPr id="260130" name="Line 33"/>
                <p:cNvSpPr/>
                <p:nvPr/>
              </p:nvSpPr>
              <p:spPr>
                <a:xfrm flipV="1">
                  <a:off x="1110" y="2355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60131" name="Line 34"/>
                <p:cNvSpPr/>
                <p:nvPr/>
              </p:nvSpPr>
              <p:spPr>
                <a:xfrm flipV="1">
                  <a:off x="1782" y="2367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60132" name="Line 35"/>
                <p:cNvSpPr/>
                <p:nvPr/>
              </p:nvSpPr>
              <p:spPr>
                <a:xfrm flipV="1">
                  <a:off x="1110" y="2859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60133" name="Line 36"/>
                <p:cNvSpPr/>
                <p:nvPr/>
              </p:nvSpPr>
              <p:spPr>
                <a:xfrm flipV="1">
                  <a:off x="1782" y="2871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60134" name="Line 37"/>
                <p:cNvSpPr/>
                <p:nvPr/>
              </p:nvSpPr>
              <p:spPr>
                <a:xfrm flipV="1">
                  <a:off x="1110" y="3375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60135" name="Line 38"/>
                <p:cNvSpPr/>
                <p:nvPr/>
              </p:nvSpPr>
              <p:spPr>
                <a:xfrm flipV="1">
                  <a:off x="1782" y="3387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60136" name="Text Box 39"/>
                <p:cNvSpPr txBox="1"/>
                <p:nvPr/>
              </p:nvSpPr>
              <p:spPr>
                <a:xfrm>
                  <a:off x="1605" y="3928"/>
                  <a:ext cx="883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地址总线</a:t>
                  </a:r>
                  <a:endParaRPr lang="zh-CN" altLang="en-US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0137" name="Text Box 40"/>
                <p:cNvSpPr txBox="1"/>
                <p:nvPr/>
              </p:nvSpPr>
              <p:spPr>
                <a:xfrm>
                  <a:off x="4224" y="1536"/>
                  <a:ext cx="819" cy="2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200" b="1" dirty="0">
                      <a:latin typeface="Times New Roman" panose="02020603050405020304" pitchFamily="18" charset="0"/>
                    </a:rPr>
                    <a:t>数据总线</a:t>
                  </a:r>
                  <a:endParaRPr lang="zh-CN" altLang="en-US" sz="22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60138" name="Group 41"/>
                <p:cNvGrpSpPr/>
                <p:nvPr/>
              </p:nvGrpSpPr>
              <p:grpSpPr>
                <a:xfrm>
                  <a:off x="2331" y="3116"/>
                  <a:ext cx="307" cy="672"/>
                  <a:chOff x="2315" y="3116"/>
                  <a:chExt cx="307" cy="672"/>
                </a:xfrm>
              </p:grpSpPr>
              <p:sp>
                <p:nvSpPr>
                  <p:cNvPr id="260142" name="Line 42"/>
                  <p:cNvSpPr/>
                  <p:nvPr/>
                </p:nvSpPr>
                <p:spPr>
                  <a:xfrm flipV="1">
                    <a:off x="2470" y="3116"/>
                    <a:ext cx="0" cy="397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stealth" w="med" len="med"/>
                  </a:ln>
                </p:spPr>
              </p:sp>
              <p:sp>
                <p:nvSpPr>
                  <p:cNvPr id="260143" name="Text Box 43"/>
                  <p:cNvSpPr txBox="1"/>
                  <p:nvPr/>
                </p:nvSpPr>
                <p:spPr>
                  <a:xfrm>
                    <a:off x="2315" y="3498"/>
                    <a:ext cx="307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zh-CN" altLang="en-US" sz="2400" b="1" dirty="0">
                        <a:latin typeface="Times New Roman" panose="02020603050405020304" pitchFamily="18" charset="0"/>
                      </a:rPr>
                      <a:t>读</a:t>
                    </a:r>
                    <a:endParaRPr lang="zh-CN" altLang="en-US" sz="24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60139" name="Group 44"/>
                <p:cNvGrpSpPr/>
                <p:nvPr/>
              </p:nvGrpSpPr>
              <p:grpSpPr>
                <a:xfrm>
                  <a:off x="3024" y="3116"/>
                  <a:ext cx="307" cy="672"/>
                  <a:chOff x="2999" y="3116"/>
                  <a:chExt cx="307" cy="672"/>
                </a:xfrm>
              </p:grpSpPr>
              <p:sp>
                <p:nvSpPr>
                  <p:cNvPr id="260140" name="Line 45"/>
                  <p:cNvSpPr/>
                  <p:nvPr/>
                </p:nvSpPr>
                <p:spPr>
                  <a:xfrm flipV="1">
                    <a:off x="3154" y="3116"/>
                    <a:ext cx="0" cy="397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stealth" w="med" len="med"/>
                  </a:ln>
                </p:spPr>
              </p:sp>
              <p:sp>
                <p:nvSpPr>
                  <p:cNvPr id="260141" name="Text Box 46"/>
                  <p:cNvSpPr txBox="1"/>
                  <p:nvPr/>
                </p:nvSpPr>
                <p:spPr>
                  <a:xfrm>
                    <a:off x="2999" y="3498"/>
                    <a:ext cx="307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zh-CN" altLang="en-US" sz="2400" b="1" dirty="0">
                        <a:latin typeface="Times New Roman" panose="02020603050405020304" pitchFamily="18" charset="0"/>
                      </a:rPr>
                      <a:t>写</a:t>
                    </a:r>
                    <a:endParaRPr lang="zh-CN" altLang="en-US" sz="24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260111" name="Line 47"/>
              <p:cNvSpPr/>
              <p:nvPr/>
            </p:nvSpPr>
            <p:spPr>
              <a:xfrm>
                <a:off x="1455" y="4128"/>
                <a:ext cx="66" cy="0"/>
              </a:xfrm>
              <a:prstGeom prst="line">
                <a:avLst/>
              </a:prstGeom>
              <a:ln w="57150" cap="flat" cmpd="sng">
                <a:solidFill>
                  <a:srgbClr val="000099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60105" name="Text Box 48"/>
            <p:cNvSpPr txBox="1"/>
            <p:nvPr/>
          </p:nvSpPr>
          <p:spPr>
            <a:xfrm>
              <a:off x="1292" y="2840"/>
              <a:ext cx="36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0106" name="Text Box 49"/>
            <p:cNvSpPr txBox="1"/>
            <p:nvPr/>
          </p:nvSpPr>
          <p:spPr>
            <a:xfrm>
              <a:off x="1292" y="3353"/>
              <a:ext cx="36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0107" name="Text Box 50"/>
            <p:cNvSpPr txBox="1"/>
            <p:nvPr/>
          </p:nvSpPr>
          <p:spPr>
            <a:xfrm>
              <a:off x="1292" y="2333"/>
              <a:ext cx="36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0108" name="Text Box 51"/>
            <p:cNvSpPr txBox="1"/>
            <p:nvPr/>
          </p:nvSpPr>
          <p:spPr>
            <a:xfrm rot="-5400000">
              <a:off x="2039" y="1708"/>
              <a:ext cx="36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60109" name="Text Box 52"/>
            <p:cNvSpPr txBox="1"/>
            <p:nvPr/>
          </p:nvSpPr>
          <p:spPr>
            <a:xfrm rot="-5400000">
              <a:off x="3127" y="1708"/>
              <a:ext cx="36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6010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1122" name="Text Box 2"/>
          <p:cNvSpPr txBox="1"/>
          <p:nvPr/>
        </p:nvSpPr>
        <p:spPr>
          <a:xfrm>
            <a:off x="2003425" y="463550"/>
            <a:ext cx="46659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 </a:t>
            </a:r>
            <a:r>
              <a:rPr lang="zh-CN" altLang="en-US" sz="3600" b="1" dirty="0">
                <a:latin typeface="Times New Roman" panose="02020603050405020304" pitchFamily="18" charset="0"/>
              </a:rPr>
              <a:t>主存和 </a:t>
            </a:r>
            <a:r>
              <a:rPr lang="en-US" altLang="zh-CN" sz="3600" b="1" dirty="0">
                <a:latin typeface="Times New Roman" panose="02020603050405020304" pitchFamily="18" charset="0"/>
              </a:rPr>
              <a:t>CPU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的联系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261123" name="Group 3"/>
          <p:cNvGrpSpPr/>
          <p:nvPr/>
        </p:nvGrpSpPr>
        <p:grpSpPr>
          <a:xfrm>
            <a:off x="2590800" y="1854200"/>
            <a:ext cx="6934200" cy="3556000"/>
            <a:chOff x="672" y="1168"/>
            <a:chExt cx="4368" cy="2240"/>
          </a:xfrm>
        </p:grpSpPr>
        <p:sp>
          <p:nvSpPr>
            <p:cNvPr id="261127" name="Rectangle 4"/>
            <p:cNvSpPr/>
            <p:nvPr/>
          </p:nvSpPr>
          <p:spPr>
            <a:xfrm>
              <a:off x="672" y="1168"/>
              <a:ext cx="1464" cy="2240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61128" name="Group 5"/>
            <p:cNvGrpSpPr/>
            <p:nvPr/>
          </p:nvGrpSpPr>
          <p:grpSpPr>
            <a:xfrm>
              <a:off x="889" y="1433"/>
              <a:ext cx="1031" cy="370"/>
              <a:chOff x="930" y="1433"/>
              <a:chExt cx="1031" cy="370"/>
            </a:xfrm>
          </p:grpSpPr>
          <p:sp>
            <p:nvSpPr>
              <p:cNvPr id="261148" name="Rectangle 6"/>
              <p:cNvSpPr/>
              <p:nvPr/>
            </p:nvSpPr>
            <p:spPr>
              <a:xfrm>
                <a:off x="930" y="1433"/>
                <a:ext cx="1031" cy="370"/>
              </a:xfrm>
              <a:prstGeom prst="rect">
                <a:avLst/>
              </a:prstGeom>
              <a:noFill/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1149" name="Rectangle 7"/>
              <p:cNvSpPr/>
              <p:nvPr/>
            </p:nvSpPr>
            <p:spPr>
              <a:xfrm>
                <a:off x="1191" y="1471"/>
                <a:ext cx="51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800" dirty="0">
                    <a:latin typeface="Times New Roman" panose="02020603050405020304" pitchFamily="18" charset="0"/>
                  </a:rPr>
                  <a:t>MDR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1129" name="Group 8"/>
            <p:cNvGrpSpPr/>
            <p:nvPr/>
          </p:nvGrpSpPr>
          <p:grpSpPr>
            <a:xfrm>
              <a:off x="889" y="2736"/>
              <a:ext cx="1031" cy="370"/>
              <a:chOff x="930" y="2938"/>
              <a:chExt cx="1031" cy="370"/>
            </a:xfrm>
          </p:grpSpPr>
          <p:sp>
            <p:nvSpPr>
              <p:cNvPr id="261146" name="Rectangle 9"/>
              <p:cNvSpPr/>
              <p:nvPr/>
            </p:nvSpPr>
            <p:spPr>
              <a:xfrm>
                <a:off x="930" y="2938"/>
                <a:ext cx="1031" cy="370"/>
              </a:xfrm>
              <a:prstGeom prst="rect">
                <a:avLst/>
              </a:prstGeom>
              <a:noFill/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1147" name="Rectangle 10"/>
              <p:cNvSpPr/>
              <p:nvPr/>
            </p:nvSpPr>
            <p:spPr>
              <a:xfrm>
                <a:off x="1191" y="2975"/>
                <a:ext cx="51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800" dirty="0">
                    <a:latin typeface="Times New Roman" panose="02020603050405020304" pitchFamily="18" charset="0"/>
                  </a:rPr>
                  <a:t>MAR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1130" name="Rectangle 11"/>
            <p:cNvSpPr/>
            <p:nvPr/>
          </p:nvSpPr>
          <p:spPr>
            <a:xfrm>
              <a:off x="1155" y="2135"/>
              <a:ext cx="49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3200" dirty="0">
                  <a:latin typeface="Times New Roman" panose="02020603050405020304" pitchFamily="18" charset="0"/>
                </a:rPr>
                <a:t>CPU</a:t>
              </a:r>
              <a:endParaRPr lang="en-US" altLang="zh-CN" sz="32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61131" name="Group 12"/>
            <p:cNvGrpSpPr/>
            <p:nvPr/>
          </p:nvGrpSpPr>
          <p:grpSpPr>
            <a:xfrm>
              <a:off x="3891" y="1168"/>
              <a:ext cx="1149" cy="2240"/>
              <a:chOff x="3891" y="1168"/>
              <a:chExt cx="1149" cy="2240"/>
            </a:xfrm>
          </p:grpSpPr>
          <p:sp>
            <p:nvSpPr>
              <p:cNvPr id="261144" name="Rectangle 13"/>
              <p:cNvSpPr/>
              <p:nvPr/>
            </p:nvSpPr>
            <p:spPr>
              <a:xfrm>
                <a:off x="3891" y="1168"/>
                <a:ext cx="1149" cy="2240"/>
              </a:xfrm>
              <a:prstGeom prst="rect">
                <a:avLst/>
              </a:prstGeom>
              <a:noFill/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1145" name="Text Box 14"/>
              <p:cNvSpPr txBox="1"/>
              <p:nvPr/>
            </p:nvSpPr>
            <p:spPr>
              <a:xfrm>
                <a:off x="4087" y="2095"/>
                <a:ext cx="755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3200" b="1" dirty="0">
                    <a:latin typeface="Times New Roman" panose="02020603050405020304" pitchFamily="18" charset="0"/>
                  </a:rPr>
                  <a:t>主  存</a:t>
                </a:r>
                <a:endParaRPr lang="zh-CN" altLang="en-US" sz="32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1132" name="Group 15"/>
            <p:cNvGrpSpPr/>
            <p:nvPr/>
          </p:nvGrpSpPr>
          <p:grpSpPr>
            <a:xfrm>
              <a:off x="2143" y="1806"/>
              <a:ext cx="1737" cy="262"/>
              <a:chOff x="2143" y="1806"/>
              <a:chExt cx="1737" cy="262"/>
            </a:xfrm>
          </p:grpSpPr>
          <p:sp>
            <p:nvSpPr>
              <p:cNvPr id="261142" name="Rectangle 16"/>
              <p:cNvSpPr/>
              <p:nvPr/>
            </p:nvSpPr>
            <p:spPr>
              <a:xfrm>
                <a:off x="2915" y="1806"/>
                <a:ext cx="19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400" b="1" dirty="0">
                    <a:latin typeface="宋体" panose="02010600030101010101" pitchFamily="2" charset="-122"/>
                  </a:rPr>
                  <a:t>读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143" name="Freeform 17"/>
              <p:cNvSpPr/>
              <p:nvPr/>
            </p:nvSpPr>
            <p:spPr>
              <a:xfrm>
                <a:off x="2143" y="2067"/>
                <a:ext cx="1737" cy="1"/>
              </a:xfrm>
              <a:custGeom>
                <a:avLst/>
                <a:gdLst>
                  <a:gd name="txL" fmla="*/ 0 w 1737"/>
                  <a:gd name="txT" fmla="*/ 0 h 1"/>
                  <a:gd name="txR" fmla="*/ 1737 w 173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737" y="0"/>
                  </a:cxn>
                </a:cxnLst>
                <a:rect l="txL" t="txT" r="txR" b="txB"/>
                <a:pathLst>
                  <a:path w="1737" h="1">
                    <a:moveTo>
                      <a:pt x="0" y="0"/>
                    </a:moveTo>
                    <a:lnTo>
                      <a:pt x="1737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61133" name="Group 18"/>
            <p:cNvGrpSpPr/>
            <p:nvPr/>
          </p:nvGrpSpPr>
          <p:grpSpPr>
            <a:xfrm>
              <a:off x="1920" y="1310"/>
              <a:ext cx="1968" cy="370"/>
              <a:chOff x="1920" y="1310"/>
              <a:chExt cx="1968" cy="370"/>
            </a:xfrm>
          </p:grpSpPr>
          <p:sp>
            <p:nvSpPr>
              <p:cNvPr id="261140" name="Rectangle 19"/>
              <p:cNvSpPr/>
              <p:nvPr/>
            </p:nvSpPr>
            <p:spPr>
              <a:xfrm>
                <a:off x="2626" y="1310"/>
                <a:ext cx="768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400" b="1" dirty="0">
                    <a:latin typeface="宋体" panose="02010600030101010101" pitchFamily="2" charset="-122"/>
                  </a:rPr>
                  <a:t>数据总线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141" name="AutoShape 20"/>
              <p:cNvSpPr/>
              <p:nvPr/>
            </p:nvSpPr>
            <p:spPr>
              <a:xfrm>
                <a:off x="1920" y="1536"/>
                <a:ext cx="1968" cy="144"/>
              </a:xfrm>
              <a:prstGeom prst="leftRightArrow">
                <a:avLst>
                  <a:gd name="adj1" fmla="val 50000"/>
                  <a:gd name="adj2" fmla="val 130529"/>
                </a:avLst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61134" name="Group 21"/>
            <p:cNvGrpSpPr/>
            <p:nvPr/>
          </p:nvGrpSpPr>
          <p:grpSpPr>
            <a:xfrm>
              <a:off x="1920" y="2640"/>
              <a:ext cx="1968" cy="348"/>
              <a:chOff x="1920" y="2640"/>
              <a:chExt cx="1968" cy="348"/>
            </a:xfrm>
          </p:grpSpPr>
          <p:sp>
            <p:nvSpPr>
              <p:cNvPr id="261138" name="Rectangle 22"/>
              <p:cNvSpPr/>
              <p:nvPr/>
            </p:nvSpPr>
            <p:spPr>
              <a:xfrm>
                <a:off x="2626" y="2640"/>
                <a:ext cx="768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400" b="1" dirty="0">
                    <a:latin typeface="宋体" panose="02010600030101010101" pitchFamily="2" charset="-122"/>
                  </a:rPr>
                  <a:t>地址总线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139" name="AutoShape 23"/>
              <p:cNvSpPr/>
              <p:nvPr/>
            </p:nvSpPr>
            <p:spPr>
              <a:xfrm>
                <a:off x="1920" y="2844"/>
                <a:ext cx="1968" cy="144"/>
              </a:xfrm>
              <a:prstGeom prst="rightArrow">
                <a:avLst>
                  <a:gd name="adj1" fmla="val 50000"/>
                  <a:gd name="adj2" fmla="val 128125"/>
                </a:avLst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61135" name="Group 24"/>
            <p:cNvGrpSpPr/>
            <p:nvPr/>
          </p:nvGrpSpPr>
          <p:grpSpPr>
            <a:xfrm>
              <a:off x="2144" y="2196"/>
              <a:ext cx="1737" cy="260"/>
              <a:chOff x="2144" y="2196"/>
              <a:chExt cx="1737" cy="260"/>
            </a:xfrm>
          </p:grpSpPr>
          <p:sp>
            <p:nvSpPr>
              <p:cNvPr id="261136" name="Rectangle 25"/>
              <p:cNvSpPr/>
              <p:nvPr/>
            </p:nvSpPr>
            <p:spPr>
              <a:xfrm>
                <a:off x="2915" y="2196"/>
                <a:ext cx="19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400" b="1" dirty="0">
                    <a:latin typeface="宋体" panose="02010600030101010101" pitchFamily="2" charset="-122"/>
                  </a:rPr>
                  <a:t>写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1137" name="Freeform 26"/>
              <p:cNvSpPr/>
              <p:nvPr/>
            </p:nvSpPr>
            <p:spPr>
              <a:xfrm>
                <a:off x="2144" y="2455"/>
                <a:ext cx="1737" cy="1"/>
              </a:xfrm>
              <a:custGeom>
                <a:avLst/>
                <a:gdLst>
                  <a:gd name="txL" fmla="*/ 0 w 1737"/>
                  <a:gd name="txT" fmla="*/ 0 h 1"/>
                  <a:gd name="txR" fmla="*/ 1737 w 173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737" y="0"/>
                  </a:cxn>
                </a:cxnLst>
                <a:rect l="txL" t="txT" r="txR" b="txB"/>
                <a:pathLst>
                  <a:path w="1737" h="1">
                    <a:moveTo>
                      <a:pt x="0" y="0"/>
                    </a:moveTo>
                    <a:lnTo>
                      <a:pt x="1737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6635" name="Rectangle 2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1125" name="AutoShape 2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112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62146" name="Text Box 2"/>
          <p:cNvSpPr txBox="1"/>
          <p:nvPr/>
        </p:nvSpPr>
        <p:spPr>
          <a:xfrm>
            <a:off x="1828800" y="1524000"/>
            <a:ext cx="3840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     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高位字节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地址为字地址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2147" name="Text Box 3"/>
          <p:cNvSpPr txBox="1"/>
          <p:nvPr/>
        </p:nvSpPr>
        <p:spPr>
          <a:xfrm>
            <a:off x="6450013" y="1524000"/>
            <a:ext cx="3535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低位字节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地址为字地址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2148" name="Text Box 4"/>
          <p:cNvSpPr txBox="1"/>
          <p:nvPr/>
        </p:nvSpPr>
        <p:spPr>
          <a:xfrm>
            <a:off x="2976563" y="4854575"/>
            <a:ext cx="350043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设地址线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24 </a:t>
            </a:r>
            <a:r>
              <a:rPr lang="zh-CN" altLang="en-US" sz="2400" b="1" dirty="0">
                <a:latin typeface="Times New Roman" panose="02020603050405020304" pitchFamily="18" charset="0"/>
              </a:rPr>
              <a:t>根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2149" name="Text Box 5"/>
          <p:cNvSpPr txBox="1"/>
          <p:nvPr/>
        </p:nvSpPr>
        <p:spPr>
          <a:xfrm>
            <a:off x="5722938" y="4854575"/>
            <a:ext cx="235426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按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字节 </a:t>
            </a:r>
            <a:r>
              <a:rPr lang="zh-CN" altLang="en-US" sz="2400" b="1" dirty="0">
                <a:latin typeface="Times New Roman" panose="02020603050405020304" pitchFamily="18" charset="0"/>
              </a:rPr>
              <a:t>寻址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2150" name="Text Box 6"/>
          <p:cNvSpPr txBox="1"/>
          <p:nvPr/>
        </p:nvSpPr>
        <p:spPr>
          <a:xfrm>
            <a:off x="5730875" y="5387975"/>
            <a:ext cx="27273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按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字</a:t>
            </a:r>
            <a:r>
              <a:rPr lang="zh-CN" altLang="en-US" sz="2400" b="1" dirty="0">
                <a:latin typeface="Times New Roman" panose="02020603050405020304" pitchFamily="18" charset="0"/>
              </a:rPr>
              <a:t>   寻址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2151" name="Text Box 7"/>
          <p:cNvSpPr txBox="1"/>
          <p:nvPr/>
        </p:nvSpPr>
        <p:spPr>
          <a:xfrm>
            <a:off x="2984500" y="5387975"/>
            <a:ext cx="28829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若字长为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16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2152" name="Text Box 8"/>
          <p:cNvSpPr txBox="1"/>
          <p:nvPr/>
        </p:nvSpPr>
        <p:spPr>
          <a:xfrm>
            <a:off x="5718175" y="5919788"/>
            <a:ext cx="40354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按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字</a:t>
            </a:r>
            <a:r>
              <a:rPr lang="zh-CN" altLang="en-US" sz="2400" b="1" dirty="0">
                <a:latin typeface="Times New Roman" panose="02020603050405020304" pitchFamily="18" charset="0"/>
              </a:rPr>
              <a:t>   寻址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2153" name="Text Box 9"/>
          <p:cNvSpPr txBox="1"/>
          <p:nvPr/>
        </p:nvSpPr>
        <p:spPr>
          <a:xfrm>
            <a:off x="2971800" y="5919788"/>
            <a:ext cx="365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若字长为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32 </a:t>
            </a:r>
            <a:r>
              <a:rPr lang="zh-CN" altLang="en-US" sz="2400" b="1" dirty="0">
                <a:latin typeface="Times New Roman" panose="02020603050405020304" pitchFamily="18" charset="0"/>
              </a:rPr>
              <a:t>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62154" name="Group 10"/>
          <p:cNvGrpSpPr/>
          <p:nvPr/>
        </p:nvGrpSpPr>
        <p:grpSpPr>
          <a:xfrm>
            <a:off x="2014538" y="2163763"/>
            <a:ext cx="3852862" cy="2027237"/>
            <a:chOff x="309" y="1296"/>
            <a:chExt cx="2427" cy="1277"/>
          </a:xfrm>
        </p:grpSpPr>
        <p:sp>
          <p:nvSpPr>
            <p:cNvPr id="262183" name="Text Box 11"/>
            <p:cNvSpPr txBox="1"/>
            <p:nvPr/>
          </p:nvSpPr>
          <p:spPr>
            <a:xfrm>
              <a:off x="309" y="1392"/>
              <a:ext cx="791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字地址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2184" name="Text Box 12"/>
            <p:cNvSpPr txBox="1"/>
            <p:nvPr/>
          </p:nvSpPr>
          <p:spPr>
            <a:xfrm>
              <a:off x="1440" y="1296"/>
              <a:ext cx="81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字节地址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2185" name="AutoShape 13"/>
            <p:cNvSpPr/>
            <p:nvPr/>
          </p:nvSpPr>
          <p:spPr>
            <a:xfrm rot="5400000">
              <a:off x="1746" y="719"/>
              <a:ext cx="144" cy="1836"/>
            </a:xfrm>
            <a:prstGeom prst="leftBrace">
              <a:avLst>
                <a:gd name="adj1" fmla="val 10625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62186" name="Group 14"/>
            <p:cNvGrpSpPr/>
            <p:nvPr/>
          </p:nvGrpSpPr>
          <p:grpSpPr>
            <a:xfrm>
              <a:off x="912" y="1705"/>
              <a:ext cx="1824" cy="868"/>
              <a:chOff x="912" y="1961"/>
              <a:chExt cx="1824" cy="868"/>
            </a:xfrm>
          </p:grpSpPr>
          <p:sp>
            <p:nvSpPr>
              <p:cNvPr id="262190" name="Rectangle 15"/>
              <p:cNvSpPr/>
              <p:nvPr/>
            </p:nvSpPr>
            <p:spPr>
              <a:xfrm>
                <a:off x="2280" y="2542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11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91" name="Rectangle 16"/>
              <p:cNvSpPr/>
              <p:nvPr/>
            </p:nvSpPr>
            <p:spPr>
              <a:xfrm>
                <a:off x="1824" y="2542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10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92" name="Rectangle 17"/>
              <p:cNvSpPr/>
              <p:nvPr/>
            </p:nvSpPr>
            <p:spPr>
              <a:xfrm>
                <a:off x="1368" y="2542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9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93" name="Rectangle 18"/>
              <p:cNvSpPr/>
              <p:nvPr/>
            </p:nvSpPr>
            <p:spPr>
              <a:xfrm>
                <a:off x="912" y="2542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8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94" name="Rectangle 19"/>
              <p:cNvSpPr/>
              <p:nvPr/>
            </p:nvSpPr>
            <p:spPr>
              <a:xfrm>
                <a:off x="2280" y="2255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7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95" name="Rectangle 20"/>
              <p:cNvSpPr/>
              <p:nvPr/>
            </p:nvSpPr>
            <p:spPr>
              <a:xfrm>
                <a:off x="1824" y="2255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6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96" name="Rectangle 21"/>
              <p:cNvSpPr/>
              <p:nvPr/>
            </p:nvSpPr>
            <p:spPr>
              <a:xfrm>
                <a:off x="1368" y="2255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5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97" name="Rectangle 22"/>
              <p:cNvSpPr/>
              <p:nvPr/>
            </p:nvSpPr>
            <p:spPr>
              <a:xfrm>
                <a:off x="912" y="2255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4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98" name="Rectangle 23"/>
              <p:cNvSpPr/>
              <p:nvPr/>
            </p:nvSpPr>
            <p:spPr>
              <a:xfrm>
                <a:off x="2280" y="1968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3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99" name="Rectangle 24"/>
              <p:cNvSpPr/>
              <p:nvPr/>
            </p:nvSpPr>
            <p:spPr>
              <a:xfrm>
                <a:off x="1824" y="1968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2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200" name="Rectangle 25"/>
              <p:cNvSpPr/>
              <p:nvPr/>
            </p:nvSpPr>
            <p:spPr>
              <a:xfrm>
                <a:off x="1368" y="1968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1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201" name="Rectangle 26"/>
              <p:cNvSpPr/>
              <p:nvPr/>
            </p:nvSpPr>
            <p:spPr>
              <a:xfrm>
                <a:off x="912" y="1968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0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202" name="Line 27"/>
              <p:cNvSpPr/>
              <p:nvPr/>
            </p:nvSpPr>
            <p:spPr>
              <a:xfrm>
                <a:off x="912" y="2255"/>
                <a:ext cx="18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203" name="Line 28"/>
              <p:cNvSpPr/>
              <p:nvPr/>
            </p:nvSpPr>
            <p:spPr>
              <a:xfrm>
                <a:off x="912" y="2542"/>
                <a:ext cx="182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204" name="Line 29"/>
              <p:cNvSpPr/>
              <p:nvPr/>
            </p:nvSpPr>
            <p:spPr>
              <a:xfrm>
                <a:off x="912" y="2829"/>
                <a:ext cx="182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205" name="Line 30"/>
              <p:cNvSpPr/>
              <p:nvPr/>
            </p:nvSpPr>
            <p:spPr>
              <a:xfrm>
                <a:off x="912" y="1968"/>
                <a:ext cx="0" cy="861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206" name="Line 31"/>
              <p:cNvSpPr/>
              <p:nvPr/>
            </p:nvSpPr>
            <p:spPr>
              <a:xfrm>
                <a:off x="1368" y="1968"/>
                <a:ext cx="0" cy="86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207" name="Line 32"/>
              <p:cNvSpPr/>
              <p:nvPr/>
            </p:nvSpPr>
            <p:spPr>
              <a:xfrm>
                <a:off x="1824" y="1968"/>
                <a:ext cx="0" cy="86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208" name="Line 33"/>
              <p:cNvSpPr/>
              <p:nvPr/>
            </p:nvSpPr>
            <p:spPr>
              <a:xfrm>
                <a:off x="2280" y="1968"/>
                <a:ext cx="0" cy="86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209" name="Line 34"/>
              <p:cNvSpPr/>
              <p:nvPr/>
            </p:nvSpPr>
            <p:spPr>
              <a:xfrm>
                <a:off x="2736" y="1968"/>
                <a:ext cx="0" cy="861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210" name="Freeform 35"/>
              <p:cNvSpPr/>
              <p:nvPr/>
            </p:nvSpPr>
            <p:spPr>
              <a:xfrm>
                <a:off x="912" y="1961"/>
                <a:ext cx="1821" cy="5"/>
              </a:xfrm>
              <a:custGeom>
                <a:avLst/>
                <a:gdLst>
                  <a:gd name="txL" fmla="*/ 0 w 1821"/>
                  <a:gd name="txT" fmla="*/ 0 h 5"/>
                  <a:gd name="txR" fmla="*/ 1821 w 1821"/>
                  <a:gd name="txB" fmla="*/ 5 h 5"/>
                </a:gdLst>
                <a:ahLst/>
                <a:cxnLst>
                  <a:cxn ang="0">
                    <a:pos x="0" y="5"/>
                  </a:cxn>
                  <a:cxn ang="0">
                    <a:pos x="1821" y="0"/>
                  </a:cxn>
                </a:cxnLst>
                <a:rect l="txL" t="txT" r="txR" b="txB"/>
                <a:pathLst>
                  <a:path w="1821" h="5">
                    <a:moveTo>
                      <a:pt x="0" y="5"/>
                    </a:moveTo>
                    <a:lnTo>
                      <a:pt x="1821" y="0"/>
                    </a:lnTo>
                  </a:path>
                </a:pathLst>
              </a:cu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62187" name="Rectangle 36"/>
            <p:cNvSpPr/>
            <p:nvPr/>
          </p:nvSpPr>
          <p:spPr>
            <a:xfrm>
              <a:off x="384" y="2286"/>
              <a:ext cx="4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8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62188" name="Rectangle 37"/>
            <p:cNvSpPr/>
            <p:nvPr/>
          </p:nvSpPr>
          <p:spPr>
            <a:xfrm>
              <a:off x="384" y="1999"/>
              <a:ext cx="4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4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62189" name="Rectangle 38"/>
            <p:cNvSpPr/>
            <p:nvPr/>
          </p:nvSpPr>
          <p:spPr>
            <a:xfrm>
              <a:off x="384" y="1712"/>
              <a:ext cx="4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0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62155" name="Group 39"/>
          <p:cNvGrpSpPr/>
          <p:nvPr/>
        </p:nvGrpSpPr>
        <p:grpSpPr>
          <a:xfrm>
            <a:off x="7086600" y="2163763"/>
            <a:ext cx="2514600" cy="2027237"/>
            <a:chOff x="3504" y="1363"/>
            <a:chExt cx="1584" cy="1277"/>
          </a:xfrm>
        </p:grpSpPr>
        <p:sp>
          <p:nvSpPr>
            <p:cNvPr id="262163" name="Text Box 40"/>
            <p:cNvSpPr txBox="1"/>
            <p:nvPr/>
          </p:nvSpPr>
          <p:spPr>
            <a:xfrm>
              <a:off x="4264" y="1363"/>
              <a:ext cx="819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字节地址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2164" name="Text Box 41"/>
            <p:cNvSpPr txBox="1"/>
            <p:nvPr/>
          </p:nvSpPr>
          <p:spPr>
            <a:xfrm>
              <a:off x="3504" y="1459"/>
              <a:ext cx="791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200" b="1" dirty="0">
                  <a:latin typeface="Times New Roman" panose="02020603050405020304" pitchFamily="18" charset="0"/>
                </a:rPr>
                <a:t>字地址</a:t>
              </a:r>
              <a:endParaRPr lang="zh-CN" altLang="en-US" sz="22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62165" name="Group 42"/>
            <p:cNvGrpSpPr/>
            <p:nvPr/>
          </p:nvGrpSpPr>
          <p:grpSpPr>
            <a:xfrm>
              <a:off x="4176" y="1776"/>
              <a:ext cx="912" cy="864"/>
              <a:chOff x="4368" y="1968"/>
              <a:chExt cx="912" cy="864"/>
            </a:xfrm>
          </p:grpSpPr>
          <p:sp>
            <p:nvSpPr>
              <p:cNvPr id="262170" name="Rectangle 43"/>
              <p:cNvSpPr/>
              <p:nvPr/>
            </p:nvSpPr>
            <p:spPr>
              <a:xfrm>
                <a:off x="4824" y="2545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4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71" name="Rectangle 44"/>
              <p:cNvSpPr/>
              <p:nvPr/>
            </p:nvSpPr>
            <p:spPr>
              <a:xfrm>
                <a:off x="4368" y="2545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5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72" name="Rectangle 45"/>
              <p:cNvSpPr/>
              <p:nvPr/>
            </p:nvSpPr>
            <p:spPr>
              <a:xfrm>
                <a:off x="4824" y="2258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2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73" name="Rectangle 46"/>
              <p:cNvSpPr/>
              <p:nvPr/>
            </p:nvSpPr>
            <p:spPr>
              <a:xfrm>
                <a:off x="4368" y="2258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3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74" name="Rectangle 47"/>
              <p:cNvSpPr/>
              <p:nvPr/>
            </p:nvSpPr>
            <p:spPr>
              <a:xfrm>
                <a:off x="4824" y="1971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0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75" name="Rectangle 48"/>
              <p:cNvSpPr/>
              <p:nvPr/>
            </p:nvSpPr>
            <p:spPr>
              <a:xfrm>
                <a:off x="4368" y="1971"/>
                <a:ext cx="456" cy="2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400" b="1" dirty="0">
                    <a:latin typeface="Arial" panose="020B0604020202020204" pitchFamily="34" charset="0"/>
                  </a:rPr>
                  <a:t>1</a:t>
                </a:r>
                <a:endParaRPr lang="en-US" altLang="zh-CN" sz="24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76" name="Line 49"/>
              <p:cNvSpPr/>
              <p:nvPr/>
            </p:nvSpPr>
            <p:spPr>
              <a:xfrm>
                <a:off x="4368" y="2258"/>
                <a:ext cx="91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177" name="Line 50"/>
              <p:cNvSpPr/>
              <p:nvPr/>
            </p:nvSpPr>
            <p:spPr>
              <a:xfrm>
                <a:off x="4368" y="2545"/>
                <a:ext cx="91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178" name="Freeform 51"/>
              <p:cNvSpPr/>
              <p:nvPr/>
            </p:nvSpPr>
            <p:spPr>
              <a:xfrm>
                <a:off x="4368" y="2829"/>
                <a:ext cx="912" cy="3"/>
              </a:xfrm>
              <a:custGeom>
                <a:avLst/>
                <a:gdLst>
                  <a:gd name="txL" fmla="*/ 0 w 912"/>
                  <a:gd name="txT" fmla="*/ 0 h 3"/>
                  <a:gd name="txR" fmla="*/ 912 w 912"/>
                  <a:gd name="txB" fmla="*/ 3 h 3"/>
                </a:gdLst>
                <a:ahLst/>
                <a:cxnLst>
                  <a:cxn ang="0">
                    <a:pos x="0" y="3"/>
                  </a:cxn>
                  <a:cxn ang="0">
                    <a:pos x="912" y="0"/>
                  </a:cxn>
                </a:cxnLst>
                <a:rect l="txL" t="txT" r="txR" b="txB"/>
                <a:pathLst>
                  <a:path w="912" h="3">
                    <a:moveTo>
                      <a:pt x="0" y="3"/>
                    </a:moveTo>
                    <a:lnTo>
                      <a:pt x="912" y="0"/>
                    </a:lnTo>
                  </a:path>
                </a:pathLst>
              </a:cu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2179" name="Line 52"/>
              <p:cNvSpPr/>
              <p:nvPr/>
            </p:nvSpPr>
            <p:spPr>
              <a:xfrm>
                <a:off x="4368" y="1971"/>
                <a:ext cx="0" cy="861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180" name="Line 53"/>
              <p:cNvSpPr/>
              <p:nvPr/>
            </p:nvSpPr>
            <p:spPr>
              <a:xfrm>
                <a:off x="4824" y="1971"/>
                <a:ext cx="0" cy="861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181" name="Line 54"/>
              <p:cNvSpPr/>
              <p:nvPr/>
            </p:nvSpPr>
            <p:spPr>
              <a:xfrm>
                <a:off x="5280" y="1971"/>
                <a:ext cx="0" cy="861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2182" name="Freeform 55"/>
              <p:cNvSpPr/>
              <p:nvPr/>
            </p:nvSpPr>
            <p:spPr>
              <a:xfrm>
                <a:off x="4368" y="1968"/>
                <a:ext cx="912" cy="3"/>
              </a:xfrm>
              <a:custGeom>
                <a:avLst/>
                <a:gdLst>
                  <a:gd name="txL" fmla="*/ 0 w 912"/>
                  <a:gd name="txT" fmla="*/ 0 h 3"/>
                  <a:gd name="txR" fmla="*/ 912 w 912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912" y="3"/>
                  </a:cxn>
                </a:cxnLst>
                <a:rect l="txL" t="txT" r="txR" b="txB"/>
                <a:pathLst>
                  <a:path w="912" h="3">
                    <a:moveTo>
                      <a:pt x="0" y="0"/>
                    </a:moveTo>
                    <a:lnTo>
                      <a:pt x="912" y="3"/>
                    </a:lnTo>
                  </a:path>
                </a:pathLst>
              </a:custGeom>
              <a:noFill/>
              <a:ln w="28575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62166" name="Rectangle 56"/>
            <p:cNvSpPr/>
            <p:nvPr/>
          </p:nvSpPr>
          <p:spPr>
            <a:xfrm>
              <a:off x="3600" y="2350"/>
              <a:ext cx="4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4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62167" name="Rectangle 57"/>
            <p:cNvSpPr/>
            <p:nvPr/>
          </p:nvSpPr>
          <p:spPr>
            <a:xfrm>
              <a:off x="3600" y="2063"/>
              <a:ext cx="4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2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62168" name="Rectangle 58"/>
            <p:cNvSpPr/>
            <p:nvPr/>
          </p:nvSpPr>
          <p:spPr>
            <a:xfrm>
              <a:off x="3600" y="1776"/>
              <a:ext cx="456" cy="28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en-US" altLang="zh-CN" sz="2400" b="1" dirty="0">
                  <a:latin typeface="Arial" panose="020B0604020202020204" pitchFamily="34" charset="0"/>
                </a:rPr>
                <a:t>0</a:t>
              </a:r>
              <a:endParaRPr lang="en-US" altLang="zh-CN" sz="2400" b="1" dirty="0">
                <a:latin typeface="Arial" panose="020B0604020202020204" pitchFamily="34" charset="0"/>
              </a:endParaRPr>
            </a:p>
          </p:txBody>
        </p:sp>
        <p:sp>
          <p:nvSpPr>
            <p:cNvPr id="262169" name="AutoShape 59"/>
            <p:cNvSpPr/>
            <p:nvPr/>
          </p:nvSpPr>
          <p:spPr>
            <a:xfrm rot="5400000">
              <a:off x="4560" y="1248"/>
              <a:ext cx="144" cy="912"/>
            </a:xfrm>
            <a:prstGeom prst="leftBrace">
              <a:avLst>
                <a:gd name="adj1" fmla="val 52279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62156" name="Text Box 60"/>
          <p:cNvSpPr txBox="1"/>
          <p:nvPr/>
        </p:nvSpPr>
        <p:spPr>
          <a:xfrm>
            <a:off x="1828800" y="444500"/>
            <a:ext cx="62407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3600" b="1" dirty="0">
                <a:latin typeface="Times New Roman" panose="02020603050405020304" pitchFamily="18" charset="0"/>
              </a:rPr>
              <a:t>3.  </a:t>
            </a:r>
            <a:r>
              <a:rPr lang="zh-CN" altLang="en-US" sz="3600" b="1" dirty="0">
                <a:latin typeface="Times New Roman" panose="02020603050405020304" pitchFamily="18" charset="0"/>
              </a:rPr>
              <a:t>主存中存储单元地址的分配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197693" name="Rectangle 6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2158" name="Text Box 62"/>
          <p:cNvSpPr txBox="1"/>
          <p:nvPr/>
        </p:nvSpPr>
        <p:spPr>
          <a:xfrm>
            <a:off x="7696200" y="4854575"/>
            <a:ext cx="2209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baseline="45000" dirty="0">
                <a:solidFill>
                  <a:srgbClr val="0000CC"/>
                </a:solidFill>
                <a:latin typeface="Times New Roman" panose="02020603050405020304" pitchFamily="18" charset="0"/>
              </a:rPr>
              <a:t>24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16 M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2159" name="Text Box 63"/>
          <p:cNvSpPr txBox="1"/>
          <p:nvPr/>
        </p:nvSpPr>
        <p:spPr>
          <a:xfrm>
            <a:off x="8534400" y="5387975"/>
            <a:ext cx="2057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8 M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2160" name="Text Box 64"/>
          <p:cNvSpPr txBox="1"/>
          <p:nvPr/>
        </p:nvSpPr>
        <p:spPr>
          <a:xfrm>
            <a:off x="8534400" y="5919788"/>
            <a:ext cx="2057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4 M</a:t>
            </a:r>
            <a:endParaRPr lang="en-US" altLang="zh-CN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2161" name="AutoShape 65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216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3170" name="Text Box 2"/>
          <p:cNvSpPr txBox="1"/>
          <p:nvPr/>
        </p:nvSpPr>
        <p:spPr>
          <a:xfrm>
            <a:off x="2395538" y="2022475"/>
            <a:ext cx="31670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存储速度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3171" name="Text Box 3"/>
          <p:cNvSpPr txBox="1"/>
          <p:nvPr/>
        </p:nvSpPr>
        <p:spPr>
          <a:xfrm>
            <a:off x="1900238" y="336550"/>
            <a:ext cx="39547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4.  </a:t>
            </a:r>
            <a:r>
              <a:rPr lang="zh-CN" altLang="en-US" sz="3600" b="1" dirty="0">
                <a:latin typeface="Times New Roman" panose="02020603050405020304" pitchFamily="18" charset="0"/>
              </a:rPr>
              <a:t>主存的技术指标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63172" name="Text Box 4"/>
          <p:cNvSpPr txBox="1"/>
          <p:nvPr/>
        </p:nvSpPr>
        <p:spPr>
          <a:xfrm>
            <a:off x="2395538" y="1273175"/>
            <a:ext cx="30908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存储容量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3173" name="Text Box 5"/>
          <p:cNvSpPr txBox="1"/>
          <p:nvPr/>
        </p:nvSpPr>
        <p:spPr>
          <a:xfrm>
            <a:off x="2395538" y="5791200"/>
            <a:ext cx="41576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(3) </a:t>
            </a:r>
            <a:r>
              <a:rPr lang="zh-CN" altLang="en-US" sz="3200" b="1" dirty="0">
                <a:latin typeface="Times New Roman" panose="02020603050405020304" pitchFamily="18" charset="0"/>
              </a:rPr>
              <a:t>存储器的带宽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3174" name="Text Box 6"/>
          <p:cNvSpPr txBox="1"/>
          <p:nvPr/>
        </p:nvSpPr>
        <p:spPr>
          <a:xfrm>
            <a:off x="5099050" y="1301750"/>
            <a:ext cx="52641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主存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存放二进制代码的总位数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3175" name="Text Box 7"/>
          <p:cNvSpPr txBox="1"/>
          <p:nvPr/>
        </p:nvSpPr>
        <p:spPr>
          <a:xfrm>
            <a:off x="5099050" y="3282950"/>
            <a:ext cx="35845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读出时间   写入时间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3176" name="Text Box 8"/>
          <p:cNvSpPr txBox="1"/>
          <p:nvPr/>
        </p:nvSpPr>
        <p:spPr>
          <a:xfrm>
            <a:off x="5099050" y="2692400"/>
            <a:ext cx="32943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存储器的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访问时间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63177" name="Group 9"/>
          <p:cNvGrpSpPr/>
          <p:nvPr/>
        </p:nvGrpSpPr>
        <p:grpSpPr>
          <a:xfrm>
            <a:off x="3014663" y="2692400"/>
            <a:ext cx="1908175" cy="1817688"/>
            <a:chOff x="939" y="1696"/>
            <a:chExt cx="1202" cy="1145"/>
          </a:xfrm>
        </p:grpSpPr>
        <p:sp>
          <p:nvSpPr>
            <p:cNvPr id="263186" name="Text Box 10"/>
            <p:cNvSpPr txBox="1"/>
            <p:nvPr/>
          </p:nvSpPr>
          <p:spPr>
            <a:xfrm>
              <a:off x="939" y="1696"/>
              <a:ext cx="114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buChar char="•"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存取时间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3187" name="Text Box 11"/>
            <p:cNvSpPr txBox="1"/>
            <p:nvPr/>
          </p:nvSpPr>
          <p:spPr>
            <a:xfrm>
              <a:off x="939" y="2512"/>
              <a:ext cx="1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buChar char="•"/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存取周期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3178" name="Text Box 12"/>
          <p:cNvSpPr txBox="1"/>
          <p:nvPr/>
        </p:nvSpPr>
        <p:spPr>
          <a:xfrm>
            <a:off x="5099050" y="5187950"/>
            <a:ext cx="39179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读周期   写周期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63179" name="Group 13"/>
          <p:cNvGrpSpPr/>
          <p:nvPr/>
        </p:nvGrpSpPr>
        <p:grpSpPr>
          <a:xfrm>
            <a:off x="5099050" y="3987800"/>
            <a:ext cx="5568950" cy="1122363"/>
            <a:chOff x="2252" y="2512"/>
            <a:chExt cx="3508" cy="707"/>
          </a:xfrm>
        </p:grpSpPr>
        <p:sp>
          <p:nvSpPr>
            <p:cNvPr id="263184" name="Text Box 14"/>
            <p:cNvSpPr txBox="1"/>
            <p:nvPr/>
          </p:nvSpPr>
          <p:spPr>
            <a:xfrm>
              <a:off x="2252" y="2512"/>
              <a:ext cx="35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连续两次独立的存储器操作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3185" name="Text Box 15"/>
            <p:cNvSpPr txBox="1"/>
            <p:nvPr/>
          </p:nvSpPr>
          <p:spPr>
            <a:xfrm>
              <a:off x="2252" y="2890"/>
              <a:ext cx="350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（读或写）所需的 </a:t>
              </a:r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最小间隔时间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3180" name="Text Box 16"/>
          <p:cNvSpPr txBox="1"/>
          <p:nvPr/>
        </p:nvSpPr>
        <p:spPr>
          <a:xfrm>
            <a:off x="5830888" y="5821363"/>
            <a:ext cx="186531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秒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8673" name="Rectangle 1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3182" name="AutoShape 1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318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4194" name="Text Box 2"/>
          <p:cNvSpPr txBox="1"/>
          <p:nvPr/>
        </p:nvSpPr>
        <p:spPr>
          <a:xfrm>
            <a:off x="7712075" y="4821238"/>
            <a:ext cx="23463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芯片容量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4195" name="Text Box 3"/>
          <p:cNvSpPr txBox="1"/>
          <p:nvPr/>
        </p:nvSpPr>
        <p:spPr>
          <a:xfrm>
            <a:off x="1638300" y="381000"/>
            <a:ext cx="5212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二、半导体存储芯片简介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64196" name="Text Box 4"/>
          <p:cNvSpPr txBox="1"/>
          <p:nvPr/>
        </p:nvSpPr>
        <p:spPr>
          <a:xfrm>
            <a:off x="2098675" y="1276350"/>
            <a:ext cx="5567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 </a:t>
            </a:r>
            <a:r>
              <a:rPr lang="zh-CN" altLang="en-US" sz="3200" b="1" dirty="0">
                <a:latin typeface="Times New Roman" panose="02020603050405020304" pitchFamily="18" charset="0"/>
              </a:rPr>
              <a:t>半导体存储芯片的基本结构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64197" name="Group 5"/>
          <p:cNvGrpSpPr/>
          <p:nvPr/>
        </p:nvGrpSpPr>
        <p:grpSpPr>
          <a:xfrm>
            <a:off x="3792538" y="2063750"/>
            <a:ext cx="4624387" cy="2471738"/>
            <a:chOff x="1429" y="1300"/>
            <a:chExt cx="2913" cy="1557"/>
          </a:xfrm>
        </p:grpSpPr>
        <p:sp>
          <p:nvSpPr>
            <p:cNvPr id="264238" name="Rectangle 6"/>
            <p:cNvSpPr/>
            <p:nvPr/>
          </p:nvSpPr>
          <p:spPr>
            <a:xfrm>
              <a:off x="1429" y="1300"/>
              <a:ext cx="2913" cy="1557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4239" name="Rectangle 7"/>
            <p:cNvSpPr/>
            <p:nvPr/>
          </p:nvSpPr>
          <p:spPr>
            <a:xfrm>
              <a:off x="1584" y="1513"/>
              <a:ext cx="461" cy="1130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4240" name="Rectangle 8"/>
            <p:cNvSpPr/>
            <p:nvPr/>
          </p:nvSpPr>
          <p:spPr>
            <a:xfrm>
              <a:off x="2196" y="1512"/>
              <a:ext cx="1379" cy="1130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4241" name="Rectangle 9"/>
            <p:cNvSpPr/>
            <p:nvPr/>
          </p:nvSpPr>
          <p:spPr>
            <a:xfrm>
              <a:off x="3726" y="1502"/>
              <a:ext cx="461" cy="1129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4242" name="Text Box 10"/>
            <p:cNvSpPr txBox="1"/>
            <p:nvPr/>
          </p:nvSpPr>
          <p:spPr>
            <a:xfrm>
              <a:off x="1652" y="1549"/>
              <a:ext cx="323" cy="1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译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码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驱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动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4243" name="Text Box 11"/>
            <p:cNvSpPr txBox="1"/>
            <p:nvPr/>
          </p:nvSpPr>
          <p:spPr>
            <a:xfrm>
              <a:off x="2715" y="1548"/>
              <a:ext cx="341" cy="10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存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储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矩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阵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4244" name="Text Box 12"/>
            <p:cNvSpPr txBox="1"/>
            <p:nvPr/>
          </p:nvSpPr>
          <p:spPr>
            <a:xfrm>
              <a:off x="3794" y="1537"/>
              <a:ext cx="323" cy="10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读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写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电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路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4198" name="Text Box 13"/>
          <p:cNvSpPr txBox="1"/>
          <p:nvPr/>
        </p:nvSpPr>
        <p:spPr>
          <a:xfrm>
            <a:off x="7772400" y="5299075"/>
            <a:ext cx="1676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1K×4</a:t>
            </a:r>
            <a:r>
              <a:rPr lang="zh-CN" altLang="en-US" sz="2400" b="1" dirty="0">
                <a:latin typeface="Times New Roman" panose="02020603050405020304" pitchFamily="18" charset="0"/>
              </a:rPr>
              <a:t>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4199" name="Text Box 14"/>
          <p:cNvSpPr txBox="1"/>
          <p:nvPr/>
        </p:nvSpPr>
        <p:spPr>
          <a:xfrm>
            <a:off x="7620000" y="5770563"/>
            <a:ext cx="1981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16K×1</a:t>
            </a:r>
            <a:r>
              <a:rPr lang="zh-CN" altLang="en-US" sz="2400" b="1" dirty="0">
                <a:latin typeface="Times New Roman" panose="02020603050405020304" pitchFamily="18" charset="0"/>
              </a:rPr>
              <a:t>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4200" name="Text Box 15"/>
          <p:cNvSpPr txBox="1"/>
          <p:nvPr/>
        </p:nvSpPr>
        <p:spPr>
          <a:xfrm>
            <a:off x="7772400" y="6270625"/>
            <a:ext cx="1905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8K×8</a:t>
            </a:r>
            <a:r>
              <a:rPr lang="zh-CN" altLang="en-US" sz="2400" b="1" dirty="0">
                <a:latin typeface="Times New Roman" panose="02020603050405020304" pitchFamily="18" charset="0"/>
              </a:rPr>
              <a:t>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64201" name="Group 16"/>
          <p:cNvGrpSpPr/>
          <p:nvPr/>
        </p:nvGrpSpPr>
        <p:grpSpPr>
          <a:xfrm>
            <a:off x="1946275" y="4010025"/>
            <a:ext cx="1863725" cy="492125"/>
            <a:chOff x="266" y="2526"/>
            <a:chExt cx="1174" cy="310"/>
          </a:xfrm>
        </p:grpSpPr>
        <p:sp>
          <p:nvSpPr>
            <p:cNvPr id="264236" name="Text Box 17"/>
            <p:cNvSpPr txBox="1"/>
            <p:nvPr/>
          </p:nvSpPr>
          <p:spPr>
            <a:xfrm>
              <a:off x="266" y="2526"/>
              <a:ext cx="739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片选线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4237" name="Line 18"/>
            <p:cNvSpPr/>
            <p:nvPr/>
          </p:nvSpPr>
          <p:spPr>
            <a:xfrm>
              <a:off x="960" y="2688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64202" name="Group 19"/>
          <p:cNvGrpSpPr/>
          <p:nvPr/>
        </p:nvGrpSpPr>
        <p:grpSpPr>
          <a:xfrm>
            <a:off x="8401050" y="4235450"/>
            <a:ext cx="2058988" cy="492125"/>
            <a:chOff x="4332" y="2668"/>
            <a:chExt cx="1297" cy="310"/>
          </a:xfrm>
        </p:grpSpPr>
        <p:sp>
          <p:nvSpPr>
            <p:cNvPr id="264234" name="Text Box 20"/>
            <p:cNvSpPr txBox="1"/>
            <p:nvPr/>
          </p:nvSpPr>
          <p:spPr>
            <a:xfrm>
              <a:off x="4416" y="2668"/>
              <a:ext cx="1213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读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/</a:t>
              </a:r>
              <a:r>
                <a:rPr lang="zh-CN" altLang="en-US" sz="2600" b="1" dirty="0">
                  <a:latin typeface="Times New Roman" panose="02020603050405020304" pitchFamily="18" charset="0"/>
                </a:rPr>
                <a:t>写控制线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4235" name="Line 21"/>
            <p:cNvSpPr/>
            <p:nvPr/>
          </p:nvSpPr>
          <p:spPr>
            <a:xfrm rot="10800000">
              <a:off x="4332" y="2688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64203" name="Group 22"/>
          <p:cNvGrpSpPr/>
          <p:nvPr/>
        </p:nvGrpSpPr>
        <p:grpSpPr>
          <a:xfrm>
            <a:off x="2212975" y="2338388"/>
            <a:ext cx="1597025" cy="1547812"/>
            <a:chOff x="434" y="1473"/>
            <a:chExt cx="1006" cy="975"/>
          </a:xfrm>
        </p:grpSpPr>
        <p:sp>
          <p:nvSpPr>
            <p:cNvPr id="264227" name="Freeform 23"/>
            <p:cNvSpPr/>
            <p:nvPr/>
          </p:nvSpPr>
          <p:spPr>
            <a:xfrm>
              <a:off x="790" y="1473"/>
              <a:ext cx="133" cy="954"/>
            </a:xfrm>
            <a:custGeom>
              <a:avLst/>
              <a:gdLst>
                <a:gd name="txL" fmla="*/ 0 w 61"/>
                <a:gd name="txT" fmla="*/ 0 h 930"/>
                <a:gd name="txR" fmla="*/ 61 w 61"/>
                <a:gd name="txB" fmla="*/ 930 h 930"/>
              </a:gdLst>
              <a:ahLst/>
              <a:cxnLst>
                <a:cxn ang="0">
                  <a:pos x="61" y="0"/>
                </a:cxn>
                <a:cxn ang="0">
                  <a:pos x="49" y="9"/>
                </a:cxn>
                <a:cxn ang="0">
                  <a:pos x="41" y="25"/>
                </a:cxn>
                <a:cxn ang="0">
                  <a:pos x="33" y="49"/>
                </a:cxn>
                <a:cxn ang="0">
                  <a:pos x="29" y="78"/>
                </a:cxn>
                <a:cxn ang="0">
                  <a:pos x="29" y="388"/>
                </a:cxn>
                <a:cxn ang="0">
                  <a:pos x="29" y="417"/>
                </a:cxn>
                <a:cxn ang="0">
                  <a:pos x="21" y="441"/>
                </a:cxn>
                <a:cxn ang="0">
                  <a:pos x="12" y="457"/>
                </a:cxn>
                <a:cxn ang="0">
                  <a:pos x="0" y="465"/>
                </a:cxn>
                <a:cxn ang="0">
                  <a:pos x="12" y="470"/>
                </a:cxn>
                <a:cxn ang="0">
                  <a:pos x="21" y="486"/>
                </a:cxn>
                <a:cxn ang="0">
                  <a:pos x="29" y="510"/>
                </a:cxn>
                <a:cxn ang="0">
                  <a:pos x="29" y="543"/>
                </a:cxn>
                <a:cxn ang="0">
                  <a:pos x="29" y="853"/>
                </a:cxn>
                <a:cxn ang="0">
                  <a:pos x="33" y="881"/>
                </a:cxn>
                <a:cxn ang="0">
                  <a:pos x="41" y="906"/>
                </a:cxn>
                <a:cxn ang="0">
                  <a:pos x="49" y="922"/>
                </a:cxn>
                <a:cxn ang="0">
                  <a:pos x="61" y="930"/>
                </a:cxn>
              </a:cxnLst>
              <a:rect l="txL" t="txT" r="txR" b="txB"/>
              <a:pathLst>
                <a:path w="61" h="930">
                  <a:moveTo>
                    <a:pt x="61" y="0"/>
                  </a:moveTo>
                  <a:lnTo>
                    <a:pt x="49" y="9"/>
                  </a:lnTo>
                  <a:lnTo>
                    <a:pt x="41" y="25"/>
                  </a:lnTo>
                  <a:lnTo>
                    <a:pt x="33" y="49"/>
                  </a:lnTo>
                  <a:lnTo>
                    <a:pt x="29" y="78"/>
                  </a:lnTo>
                  <a:lnTo>
                    <a:pt x="29" y="388"/>
                  </a:lnTo>
                  <a:lnTo>
                    <a:pt x="29" y="417"/>
                  </a:lnTo>
                  <a:lnTo>
                    <a:pt x="21" y="441"/>
                  </a:lnTo>
                  <a:lnTo>
                    <a:pt x="12" y="457"/>
                  </a:lnTo>
                  <a:lnTo>
                    <a:pt x="0" y="465"/>
                  </a:lnTo>
                  <a:lnTo>
                    <a:pt x="12" y="470"/>
                  </a:lnTo>
                  <a:lnTo>
                    <a:pt x="21" y="486"/>
                  </a:lnTo>
                  <a:lnTo>
                    <a:pt x="29" y="510"/>
                  </a:lnTo>
                  <a:lnTo>
                    <a:pt x="29" y="543"/>
                  </a:lnTo>
                  <a:lnTo>
                    <a:pt x="29" y="853"/>
                  </a:lnTo>
                  <a:lnTo>
                    <a:pt x="33" y="881"/>
                  </a:lnTo>
                  <a:lnTo>
                    <a:pt x="41" y="906"/>
                  </a:lnTo>
                  <a:lnTo>
                    <a:pt x="49" y="922"/>
                  </a:lnTo>
                  <a:lnTo>
                    <a:pt x="61" y="93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4228" name="Text Box 24"/>
            <p:cNvSpPr txBox="1"/>
            <p:nvPr/>
          </p:nvSpPr>
          <p:spPr>
            <a:xfrm>
              <a:off x="434" y="1544"/>
              <a:ext cx="309" cy="8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地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址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线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4229" name="Line 25"/>
            <p:cNvSpPr/>
            <p:nvPr/>
          </p:nvSpPr>
          <p:spPr>
            <a:xfrm>
              <a:off x="960" y="1488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4230" name="Line 26"/>
            <p:cNvSpPr/>
            <p:nvPr/>
          </p:nvSpPr>
          <p:spPr>
            <a:xfrm>
              <a:off x="960" y="1632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4231" name="Line 27"/>
            <p:cNvSpPr/>
            <p:nvPr/>
          </p:nvSpPr>
          <p:spPr>
            <a:xfrm>
              <a:off x="960" y="2304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4232" name="Line 28"/>
            <p:cNvSpPr/>
            <p:nvPr/>
          </p:nvSpPr>
          <p:spPr>
            <a:xfrm>
              <a:off x="960" y="2448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4233" name="Text Box 29"/>
            <p:cNvSpPr txBox="1"/>
            <p:nvPr/>
          </p:nvSpPr>
          <p:spPr>
            <a:xfrm>
              <a:off x="1015" y="1791"/>
              <a:ext cx="425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4204" name="Group 30"/>
          <p:cNvGrpSpPr/>
          <p:nvPr/>
        </p:nvGrpSpPr>
        <p:grpSpPr>
          <a:xfrm>
            <a:off x="8401050" y="2362200"/>
            <a:ext cx="1544638" cy="1528763"/>
            <a:chOff x="4332" y="1488"/>
            <a:chExt cx="973" cy="963"/>
          </a:xfrm>
        </p:grpSpPr>
        <p:sp>
          <p:nvSpPr>
            <p:cNvPr id="264220" name="Freeform 31"/>
            <p:cNvSpPr/>
            <p:nvPr/>
          </p:nvSpPr>
          <p:spPr>
            <a:xfrm>
              <a:off x="4852" y="1525"/>
              <a:ext cx="101" cy="926"/>
            </a:xfrm>
            <a:custGeom>
              <a:avLst/>
              <a:gdLst>
                <a:gd name="txL" fmla="*/ 0 w 53"/>
                <a:gd name="txT" fmla="*/ 0 h 926"/>
                <a:gd name="txR" fmla="*/ 53 w 53"/>
                <a:gd name="txB" fmla="*/ 926 h 926"/>
              </a:gdLst>
              <a:ahLst/>
              <a:cxnLst>
                <a:cxn ang="0">
                  <a:pos x="0" y="0"/>
                </a:cxn>
                <a:cxn ang="0">
                  <a:pos x="12" y="4"/>
                </a:cxn>
                <a:cxn ang="0">
                  <a:pos x="20" y="20"/>
                </a:cxn>
                <a:cxn ang="0">
                  <a:pos x="29" y="45"/>
                </a:cxn>
                <a:cxn ang="0">
                  <a:pos x="29" y="78"/>
                </a:cxn>
                <a:cxn ang="0">
                  <a:pos x="29" y="388"/>
                </a:cxn>
                <a:cxn ang="0">
                  <a:pos x="29" y="416"/>
                </a:cxn>
                <a:cxn ang="0">
                  <a:pos x="37" y="441"/>
                </a:cxn>
                <a:cxn ang="0">
                  <a:pos x="41" y="457"/>
                </a:cxn>
                <a:cxn ang="0">
                  <a:pos x="53" y="465"/>
                </a:cxn>
                <a:cxn ang="0">
                  <a:pos x="41" y="469"/>
                </a:cxn>
                <a:cxn ang="0">
                  <a:pos x="37" y="485"/>
                </a:cxn>
                <a:cxn ang="0">
                  <a:pos x="29" y="510"/>
                </a:cxn>
                <a:cxn ang="0">
                  <a:pos x="29" y="543"/>
                </a:cxn>
                <a:cxn ang="0">
                  <a:pos x="29" y="848"/>
                </a:cxn>
                <a:cxn ang="0">
                  <a:pos x="29" y="881"/>
                </a:cxn>
                <a:cxn ang="0">
                  <a:pos x="20" y="906"/>
                </a:cxn>
                <a:cxn ang="0">
                  <a:pos x="12" y="922"/>
                </a:cxn>
                <a:cxn ang="0">
                  <a:pos x="0" y="926"/>
                </a:cxn>
              </a:cxnLst>
              <a:rect l="txL" t="txT" r="txR" b="txB"/>
              <a:pathLst>
                <a:path w="53" h="926">
                  <a:moveTo>
                    <a:pt x="0" y="0"/>
                  </a:moveTo>
                  <a:lnTo>
                    <a:pt x="12" y="4"/>
                  </a:lnTo>
                  <a:lnTo>
                    <a:pt x="20" y="20"/>
                  </a:lnTo>
                  <a:lnTo>
                    <a:pt x="29" y="45"/>
                  </a:lnTo>
                  <a:lnTo>
                    <a:pt x="29" y="78"/>
                  </a:lnTo>
                  <a:lnTo>
                    <a:pt x="29" y="388"/>
                  </a:lnTo>
                  <a:lnTo>
                    <a:pt x="29" y="416"/>
                  </a:lnTo>
                  <a:lnTo>
                    <a:pt x="37" y="441"/>
                  </a:lnTo>
                  <a:lnTo>
                    <a:pt x="41" y="457"/>
                  </a:lnTo>
                  <a:lnTo>
                    <a:pt x="53" y="465"/>
                  </a:lnTo>
                  <a:lnTo>
                    <a:pt x="41" y="469"/>
                  </a:lnTo>
                  <a:lnTo>
                    <a:pt x="37" y="485"/>
                  </a:lnTo>
                  <a:lnTo>
                    <a:pt x="29" y="510"/>
                  </a:lnTo>
                  <a:lnTo>
                    <a:pt x="29" y="543"/>
                  </a:lnTo>
                  <a:lnTo>
                    <a:pt x="29" y="848"/>
                  </a:lnTo>
                  <a:lnTo>
                    <a:pt x="29" y="881"/>
                  </a:lnTo>
                  <a:lnTo>
                    <a:pt x="20" y="906"/>
                  </a:lnTo>
                  <a:lnTo>
                    <a:pt x="12" y="922"/>
                  </a:lnTo>
                  <a:lnTo>
                    <a:pt x="0" y="926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4221" name="Text Box 32"/>
            <p:cNvSpPr txBox="1"/>
            <p:nvPr/>
          </p:nvSpPr>
          <p:spPr>
            <a:xfrm>
              <a:off x="4982" y="1592"/>
              <a:ext cx="323" cy="81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数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据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  <a:p>
              <a:r>
                <a:rPr lang="zh-CN" altLang="en-US" sz="2600" b="1" dirty="0">
                  <a:latin typeface="Times New Roman" panose="02020603050405020304" pitchFamily="18" charset="0"/>
                </a:rPr>
                <a:t>线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4222" name="Line 33"/>
            <p:cNvSpPr/>
            <p:nvPr/>
          </p:nvSpPr>
          <p:spPr>
            <a:xfrm rot="10800000">
              <a:off x="4332" y="2448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264223" name="Line 34"/>
            <p:cNvSpPr/>
            <p:nvPr/>
          </p:nvSpPr>
          <p:spPr>
            <a:xfrm rot="10800000">
              <a:off x="4332" y="2304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264224" name="Line 35"/>
            <p:cNvSpPr/>
            <p:nvPr/>
          </p:nvSpPr>
          <p:spPr>
            <a:xfrm rot="10800000">
              <a:off x="4332" y="1632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264225" name="Line 36"/>
            <p:cNvSpPr/>
            <p:nvPr/>
          </p:nvSpPr>
          <p:spPr>
            <a:xfrm rot="10800000">
              <a:off x="4332" y="1488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264226" name="Text Box 37"/>
            <p:cNvSpPr txBox="1"/>
            <p:nvPr/>
          </p:nvSpPr>
          <p:spPr>
            <a:xfrm>
              <a:off x="4423" y="1791"/>
              <a:ext cx="425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4205" name="Group 38"/>
          <p:cNvGrpSpPr/>
          <p:nvPr/>
        </p:nvGrpSpPr>
        <p:grpSpPr>
          <a:xfrm>
            <a:off x="2895600" y="4821238"/>
            <a:ext cx="2270125" cy="460375"/>
            <a:chOff x="864" y="3037"/>
            <a:chExt cx="1430" cy="290"/>
          </a:xfrm>
        </p:grpSpPr>
        <p:sp>
          <p:nvSpPr>
            <p:cNvPr id="264218" name="Text Box 39"/>
            <p:cNvSpPr txBox="1"/>
            <p:nvPr/>
          </p:nvSpPr>
          <p:spPr>
            <a:xfrm>
              <a:off x="864" y="3037"/>
              <a:ext cx="115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地址线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4219" name="Text Box 40"/>
            <p:cNvSpPr txBox="1"/>
            <p:nvPr/>
          </p:nvSpPr>
          <p:spPr>
            <a:xfrm>
              <a:off x="1411" y="3037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（单向）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4206" name="Group 41"/>
          <p:cNvGrpSpPr/>
          <p:nvPr/>
        </p:nvGrpSpPr>
        <p:grpSpPr>
          <a:xfrm>
            <a:off x="5270500" y="4821238"/>
            <a:ext cx="2654300" cy="460375"/>
            <a:chOff x="2360" y="3037"/>
            <a:chExt cx="1672" cy="290"/>
          </a:xfrm>
        </p:grpSpPr>
        <p:sp>
          <p:nvSpPr>
            <p:cNvPr id="264216" name="Text Box 42"/>
            <p:cNvSpPr txBox="1"/>
            <p:nvPr/>
          </p:nvSpPr>
          <p:spPr>
            <a:xfrm>
              <a:off x="2360" y="3037"/>
              <a:ext cx="114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数据线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4217" name="Text Box 43"/>
            <p:cNvSpPr txBox="1"/>
            <p:nvPr/>
          </p:nvSpPr>
          <p:spPr>
            <a:xfrm>
              <a:off x="2908" y="3037"/>
              <a:ext cx="112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（双向）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4207" name="Text Box 44"/>
          <p:cNvSpPr txBox="1"/>
          <p:nvPr/>
        </p:nvSpPr>
        <p:spPr>
          <a:xfrm>
            <a:off x="3565525" y="5299075"/>
            <a:ext cx="487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64208" name="Text Box 45"/>
          <p:cNvSpPr txBox="1"/>
          <p:nvPr/>
        </p:nvSpPr>
        <p:spPr>
          <a:xfrm>
            <a:off x="5911850" y="5299075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64209" name="Text Box 46"/>
          <p:cNvSpPr txBox="1"/>
          <p:nvPr/>
        </p:nvSpPr>
        <p:spPr>
          <a:xfrm>
            <a:off x="3565525" y="5770563"/>
            <a:ext cx="487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14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64210" name="Text Box 47"/>
          <p:cNvSpPr txBox="1"/>
          <p:nvPr/>
        </p:nvSpPr>
        <p:spPr>
          <a:xfrm>
            <a:off x="5911850" y="5770563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64211" name="Text Box 48"/>
          <p:cNvSpPr txBox="1"/>
          <p:nvPr/>
        </p:nvSpPr>
        <p:spPr>
          <a:xfrm>
            <a:off x="3565525" y="6270625"/>
            <a:ext cx="487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13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64212" name="Text Box 49"/>
          <p:cNvSpPr txBox="1"/>
          <p:nvPr/>
        </p:nvSpPr>
        <p:spPr>
          <a:xfrm>
            <a:off x="5911850" y="6270625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8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199730" name="Rectangle 5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4214" name="AutoShape 5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421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5218" name="Group 2"/>
          <p:cNvGrpSpPr/>
          <p:nvPr/>
        </p:nvGrpSpPr>
        <p:grpSpPr>
          <a:xfrm>
            <a:off x="2943225" y="3370263"/>
            <a:ext cx="7267575" cy="1974850"/>
            <a:chOff x="894" y="2123"/>
            <a:chExt cx="4578" cy="1244"/>
          </a:xfrm>
        </p:grpSpPr>
        <p:grpSp>
          <p:nvGrpSpPr>
            <p:cNvPr id="265308" name="Group 3"/>
            <p:cNvGrpSpPr/>
            <p:nvPr/>
          </p:nvGrpSpPr>
          <p:grpSpPr>
            <a:xfrm>
              <a:off x="4206" y="2130"/>
              <a:ext cx="1266" cy="1237"/>
              <a:chOff x="3860" y="2130"/>
              <a:chExt cx="1266" cy="1237"/>
            </a:xfrm>
          </p:grpSpPr>
          <p:sp>
            <p:nvSpPr>
              <p:cNvPr id="265339" name="Line 4"/>
              <p:cNvSpPr/>
              <p:nvPr/>
            </p:nvSpPr>
            <p:spPr>
              <a:xfrm flipH="1">
                <a:off x="3888" y="2130"/>
                <a:ext cx="1238" cy="123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5340" name="Line 5"/>
              <p:cNvSpPr/>
              <p:nvPr/>
            </p:nvSpPr>
            <p:spPr>
              <a:xfrm>
                <a:off x="3860" y="3175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41" name="Line 6"/>
              <p:cNvSpPr/>
              <p:nvPr/>
            </p:nvSpPr>
            <p:spPr>
              <a:xfrm>
                <a:off x="4875" y="2174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42" name="Line 7"/>
              <p:cNvSpPr/>
              <p:nvPr/>
            </p:nvSpPr>
            <p:spPr>
              <a:xfrm>
                <a:off x="4713" y="2317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43" name="Line 8"/>
              <p:cNvSpPr/>
              <p:nvPr/>
            </p:nvSpPr>
            <p:spPr>
              <a:xfrm>
                <a:off x="4593" y="2460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44" name="Line 9"/>
              <p:cNvSpPr/>
              <p:nvPr/>
            </p:nvSpPr>
            <p:spPr>
              <a:xfrm>
                <a:off x="4449" y="2603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45" name="Line 10"/>
              <p:cNvSpPr/>
              <p:nvPr/>
            </p:nvSpPr>
            <p:spPr>
              <a:xfrm>
                <a:off x="4305" y="2746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46" name="Line 11"/>
              <p:cNvSpPr/>
              <p:nvPr/>
            </p:nvSpPr>
            <p:spPr>
              <a:xfrm>
                <a:off x="4149" y="2889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47" name="Line 12"/>
              <p:cNvSpPr/>
              <p:nvPr/>
            </p:nvSpPr>
            <p:spPr>
              <a:xfrm>
                <a:off x="4005" y="3032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</p:grpSp>
        <p:grpSp>
          <p:nvGrpSpPr>
            <p:cNvPr id="265309" name="Group 13"/>
            <p:cNvGrpSpPr/>
            <p:nvPr/>
          </p:nvGrpSpPr>
          <p:grpSpPr>
            <a:xfrm>
              <a:off x="3102" y="2123"/>
              <a:ext cx="1266" cy="1237"/>
              <a:chOff x="3860" y="2130"/>
              <a:chExt cx="1266" cy="1237"/>
            </a:xfrm>
          </p:grpSpPr>
          <p:sp>
            <p:nvSpPr>
              <p:cNvPr id="265330" name="Line 14"/>
              <p:cNvSpPr/>
              <p:nvPr/>
            </p:nvSpPr>
            <p:spPr>
              <a:xfrm flipH="1">
                <a:off x="3888" y="2130"/>
                <a:ext cx="1238" cy="123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5331" name="Line 15"/>
              <p:cNvSpPr/>
              <p:nvPr/>
            </p:nvSpPr>
            <p:spPr>
              <a:xfrm>
                <a:off x="3860" y="3175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32" name="Line 16"/>
              <p:cNvSpPr/>
              <p:nvPr/>
            </p:nvSpPr>
            <p:spPr>
              <a:xfrm>
                <a:off x="4875" y="2174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33" name="Line 17"/>
              <p:cNvSpPr/>
              <p:nvPr/>
            </p:nvSpPr>
            <p:spPr>
              <a:xfrm>
                <a:off x="4713" y="2317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34" name="Line 18"/>
              <p:cNvSpPr/>
              <p:nvPr/>
            </p:nvSpPr>
            <p:spPr>
              <a:xfrm>
                <a:off x="4593" y="2460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35" name="Line 19"/>
              <p:cNvSpPr/>
              <p:nvPr/>
            </p:nvSpPr>
            <p:spPr>
              <a:xfrm>
                <a:off x="4449" y="2603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36" name="Line 20"/>
              <p:cNvSpPr/>
              <p:nvPr/>
            </p:nvSpPr>
            <p:spPr>
              <a:xfrm>
                <a:off x="4305" y="2746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37" name="Line 21"/>
              <p:cNvSpPr/>
              <p:nvPr/>
            </p:nvSpPr>
            <p:spPr>
              <a:xfrm>
                <a:off x="4149" y="2889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38" name="Line 22"/>
              <p:cNvSpPr/>
              <p:nvPr/>
            </p:nvSpPr>
            <p:spPr>
              <a:xfrm>
                <a:off x="4005" y="3032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</p:grpSp>
        <p:grpSp>
          <p:nvGrpSpPr>
            <p:cNvPr id="265310" name="Group 23"/>
            <p:cNvGrpSpPr/>
            <p:nvPr/>
          </p:nvGrpSpPr>
          <p:grpSpPr>
            <a:xfrm>
              <a:off x="2016" y="2123"/>
              <a:ext cx="1266" cy="1237"/>
              <a:chOff x="3860" y="2130"/>
              <a:chExt cx="1266" cy="1237"/>
            </a:xfrm>
          </p:grpSpPr>
          <p:sp>
            <p:nvSpPr>
              <p:cNvPr id="265321" name="Line 24"/>
              <p:cNvSpPr/>
              <p:nvPr/>
            </p:nvSpPr>
            <p:spPr>
              <a:xfrm flipH="1">
                <a:off x="3888" y="2130"/>
                <a:ext cx="1238" cy="123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5322" name="Line 25"/>
              <p:cNvSpPr/>
              <p:nvPr/>
            </p:nvSpPr>
            <p:spPr>
              <a:xfrm>
                <a:off x="3860" y="3175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23" name="Line 26"/>
              <p:cNvSpPr/>
              <p:nvPr/>
            </p:nvSpPr>
            <p:spPr>
              <a:xfrm>
                <a:off x="4875" y="2174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24" name="Line 27"/>
              <p:cNvSpPr/>
              <p:nvPr/>
            </p:nvSpPr>
            <p:spPr>
              <a:xfrm>
                <a:off x="4713" y="2317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25" name="Line 28"/>
              <p:cNvSpPr/>
              <p:nvPr/>
            </p:nvSpPr>
            <p:spPr>
              <a:xfrm>
                <a:off x="4593" y="2460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26" name="Line 29"/>
              <p:cNvSpPr/>
              <p:nvPr/>
            </p:nvSpPr>
            <p:spPr>
              <a:xfrm>
                <a:off x="4449" y="2603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27" name="Line 30"/>
              <p:cNvSpPr/>
              <p:nvPr/>
            </p:nvSpPr>
            <p:spPr>
              <a:xfrm>
                <a:off x="4305" y="2746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28" name="Line 31"/>
              <p:cNvSpPr/>
              <p:nvPr/>
            </p:nvSpPr>
            <p:spPr>
              <a:xfrm>
                <a:off x="4149" y="2889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29" name="Line 32"/>
              <p:cNvSpPr/>
              <p:nvPr/>
            </p:nvSpPr>
            <p:spPr>
              <a:xfrm>
                <a:off x="4005" y="3032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</p:grpSp>
        <p:grpSp>
          <p:nvGrpSpPr>
            <p:cNvPr id="265311" name="Group 33"/>
            <p:cNvGrpSpPr/>
            <p:nvPr/>
          </p:nvGrpSpPr>
          <p:grpSpPr>
            <a:xfrm>
              <a:off x="894" y="2123"/>
              <a:ext cx="1266" cy="1237"/>
              <a:chOff x="3860" y="2130"/>
              <a:chExt cx="1266" cy="1237"/>
            </a:xfrm>
          </p:grpSpPr>
          <p:sp>
            <p:nvSpPr>
              <p:cNvPr id="265312" name="Line 34"/>
              <p:cNvSpPr/>
              <p:nvPr/>
            </p:nvSpPr>
            <p:spPr>
              <a:xfrm flipH="1">
                <a:off x="3888" y="2130"/>
                <a:ext cx="1238" cy="1237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5313" name="Line 35"/>
              <p:cNvSpPr/>
              <p:nvPr/>
            </p:nvSpPr>
            <p:spPr>
              <a:xfrm>
                <a:off x="3860" y="3175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14" name="Line 36"/>
              <p:cNvSpPr/>
              <p:nvPr/>
            </p:nvSpPr>
            <p:spPr>
              <a:xfrm>
                <a:off x="4875" y="2174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15" name="Line 37"/>
              <p:cNvSpPr/>
              <p:nvPr/>
            </p:nvSpPr>
            <p:spPr>
              <a:xfrm>
                <a:off x="4713" y="2317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16" name="Line 38"/>
              <p:cNvSpPr/>
              <p:nvPr/>
            </p:nvSpPr>
            <p:spPr>
              <a:xfrm>
                <a:off x="4593" y="2460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17" name="Line 39"/>
              <p:cNvSpPr/>
              <p:nvPr/>
            </p:nvSpPr>
            <p:spPr>
              <a:xfrm>
                <a:off x="4449" y="2603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18" name="Line 40"/>
              <p:cNvSpPr/>
              <p:nvPr/>
            </p:nvSpPr>
            <p:spPr>
              <a:xfrm>
                <a:off x="4305" y="2746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19" name="Line 41"/>
              <p:cNvSpPr/>
              <p:nvPr/>
            </p:nvSpPr>
            <p:spPr>
              <a:xfrm>
                <a:off x="4149" y="2889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65320" name="Line 42"/>
              <p:cNvSpPr/>
              <p:nvPr/>
            </p:nvSpPr>
            <p:spPr>
              <a:xfrm>
                <a:off x="4005" y="3032"/>
                <a:ext cx="184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oval" w="sm" len="sm"/>
              </a:ln>
            </p:spPr>
          </p:sp>
        </p:grpSp>
      </p:grpSp>
      <p:sp>
        <p:nvSpPr>
          <p:cNvPr id="265219" name="Text Box 43"/>
          <p:cNvSpPr txBox="1"/>
          <p:nvPr/>
        </p:nvSpPr>
        <p:spPr>
          <a:xfrm>
            <a:off x="1879600" y="454025"/>
            <a:ext cx="4754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存储芯片片选线的作用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65220" name="Text Box 44"/>
          <p:cNvSpPr txBox="1"/>
          <p:nvPr/>
        </p:nvSpPr>
        <p:spPr>
          <a:xfrm>
            <a:off x="2501900" y="1311275"/>
            <a:ext cx="7785100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600" b="1" dirty="0">
                <a:latin typeface="Times New Roman" panose="02020603050405020304" pitchFamily="18" charset="0"/>
              </a:rPr>
              <a:t>用 </a:t>
            </a:r>
            <a:r>
              <a:rPr lang="en-US" altLang="zh-CN" sz="2600" b="1" dirty="0">
                <a:latin typeface="Times New Roman" panose="02020603050405020304" pitchFamily="18" charset="0"/>
              </a:rPr>
              <a:t>16K × 1</a:t>
            </a:r>
            <a:r>
              <a:rPr lang="zh-CN" altLang="en-US" sz="2600" b="1" dirty="0">
                <a:latin typeface="Times New Roman" panose="02020603050405020304" pitchFamily="18" charset="0"/>
              </a:rPr>
              <a:t>位 的存储芯片组成 </a:t>
            </a:r>
            <a:r>
              <a:rPr lang="en-US" altLang="zh-CN" sz="2600" b="1" dirty="0">
                <a:latin typeface="Times New Roman" panose="02020603050405020304" pitchFamily="18" charset="0"/>
              </a:rPr>
              <a:t>64K × 8</a:t>
            </a:r>
            <a:r>
              <a:rPr lang="zh-CN" altLang="en-US" sz="2600" b="1" dirty="0">
                <a:latin typeface="Times New Roman" panose="02020603050405020304" pitchFamily="18" charset="0"/>
              </a:rPr>
              <a:t>位 的存储器</a:t>
            </a:r>
            <a:endParaRPr lang="zh-CN" altLang="en-US" sz="2600" b="1" dirty="0">
              <a:latin typeface="Times New Roman" panose="02020603050405020304" pitchFamily="18" charset="0"/>
            </a:endParaRPr>
          </a:p>
        </p:txBody>
      </p:sp>
      <p:sp>
        <p:nvSpPr>
          <p:cNvPr id="265221" name="Rectangle 45"/>
          <p:cNvSpPr/>
          <p:nvPr/>
        </p:nvSpPr>
        <p:spPr>
          <a:xfrm>
            <a:off x="3848100" y="2990850"/>
            <a:ext cx="838200" cy="495300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5222" name="Rectangle 46"/>
          <p:cNvSpPr/>
          <p:nvPr/>
        </p:nvSpPr>
        <p:spPr>
          <a:xfrm>
            <a:off x="3619500" y="3222625"/>
            <a:ext cx="838200" cy="495300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5223" name="Rectangle 47"/>
          <p:cNvSpPr/>
          <p:nvPr/>
        </p:nvSpPr>
        <p:spPr>
          <a:xfrm>
            <a:off x="3390900" y="3454400"/>
            <a:ext cx="838200" cy="495300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5224" name="Rectangle 48"/>
          <p:cNvSpPr/>
          <p:nvPr/>
        </p:nvSpPr>
        <p:spPr>
          <a:xfrm>
            <a:off x="3162300" y="3686175"/>
            <a:ext cx="838200" cy="495300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5225" name="Rectangle 49"/>
          <p:cNvSpPr/>
          <p:nvPr/>
        </p:nvSpPr>
        <p:spPr>
          <a:xfrm>
            <a:off x="2933700" y="3916363"/>
            <a:ext cx="838200" cy="495300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5226" name="Rectangle 50"/>
          <p:cNvSpPr/>
          <p:nvPr/>
        </p:nvSpPr>
        <p:spPr>
          <a:xfrm>
            <a:off x="2686050" y="4148138"/>
            <a:ext cx="838200" cy="495300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5227" name="Rectangle 51"/>
          <p:cNvSpPr/>
          <p:nvPr/>
        </p:nvSpPr>
        <p:spPr>
          <a:xfrm>
            <a:off x="2438400" y="4379913"/>
            <a:ext cx="838200" cy="495300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65228" name="Rectangle 52"/>
          <p:cNvSpPr/>
          <p:nvPr/>
        </p:nvSpPr>
        <p:spPr>
          <a:xfrm>
            <a:off x="2209800" y="4610100"/>
            <a:ext cx="838200" cy="495300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bg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65229" name="Group 53"/>
          <p:cNvGrpSpPr/>
          <p:nvPr/>
        </p:nvGrpSpPr>
        <p:grpSpPr>
          <a:xfrm>
            <a:off x="3886200" y="3009900"/>
            <a:ext cx="2476500" cy="2114550"/>
            <a:chOff x="1344" y="1896"/>
            <a:chExt cx="1560" cy="1332"/>
          </a:xfrm>
        </p:grpSpPr>
        <p:sp>
          <p:nvSpPr>
            <p:cNvPr id="265300" name="Rectangle 54"/>
            <p:cNvSpPr/>
            <p:nvPr/>
          </p:nvSpPr>
          <p:spPr>
            <a:xfrm>
              <a:off x="2376" y="1896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301" name="Rectangle 55"/>
            <p:cNvSpPr/>
            <p:nvPr/>
          </p:nvSpPr>
          <p:spPr>
            <a:xfrm>
              <a:off x="2232" y="2042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302" name="Rectangle 56"/>
            <p:cNvSpPr/>
            <p:nvPr/>
          </p:nvSpPr>
          <p:spPr>
            <a:xfrm>
              <a:off x="2088" y="2188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303" name="Rectangle 57"/>
            <p:cNvSpPr/>
            <p:nvPr/>
          </p:nvSpPr>
          <p:spPr>
            <a:xfrm>
              <a:off x="1944" y="2334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304" name="Rectangle 58"/>
            <p:cNvSpPr/>
            <p:nvPr/>
          </p:nvSpPr>
          <p:spPr>
            <a:xfrm>
              <a:off x="1800" y="2479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305" name="Rectangle 59"/>
            <p:cNvSpPr/>
            <p:nvPr/>
          </p:nvSpPr>
          <p:spPr>
            <a:xfrm>
              <a:off x="1644" y="2625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306" name="Rectangle 60"/>
            <p:cNvSpPr/>
            <p:nvPr/>
          </p:nvSpPr>
          <p:spPr>
            <a:xfrm>
              <a:off x="1488" y="2771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5307" name="Rectangle 61"/>
            <p:cNvSpPr/>
            <p:nvPr/>
          </p:nvSpPr>
          <p:spPr>
            <a:xfrm>
              <a:off x="1344" y="2916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5230" name="Group 62"/>
          <p:cNvGrpSpPr/>
          <p:nvPr/>
        </p:nvGrpSpPr>
        <p:grpSpPr>
          <a:xfrm>
            <a:off x="5686425" y="3009900"/>
            <a:ext cx="2476500" cy="2114550"/>
            <a:chOff x="2220" y="1896"/>
            <a:chExt cx="1560" cy="1332"/>
          </a:xfrm>
        </p:grpSpPr>
        <p:sp>
          <p:nvSpPr>
            <p:cNvPr id="265292" name="Rectangle 63"/>
            <p:cNvSpPr/>
            <p:nvPr/>
          </p:nvSpPr>
          <p:spPr>
            <a:xfrm>
              <a:off x="3252" y="1896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93" name="Rectangle 64"/>
            <p:cNvSpPr/>
            <p:nvPr/>
          </p:nvSpPr>
          <p:spPr>
            <a:xfrm>
              <a:off x="3108" y="2042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94" name="Rectangle 65"/>
            <p:cNvSpPr/>
            <p:nvPr/>
          </p:nvSpPr>
          <p:spPr>
            <a:xfrm>
              <a:off x="2964" y="2188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95" name="Rectangle 66"/>
            <p:cNvSpPr/>
            <p:nvPr/>
          </p:nvSpPr>
          <p:spPr>
            <a:xfrm>
              <a:off x="2820" y="2334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96" name="Rectangle 67"/>
            <p:cNvSpPr/>
            <p:nvPr/>
          </p:nvSpPr>
          <p:spPr>
            <a:xfrm>
              <a:off x="2676" y="2479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97" name="Rectangle 68"/>
            <p:cNvSpPr/>
            <p:nvPr/>
          </p:nvSpPr>
          <p:spPr>
            <a:xfrm>
              <a:off x="2520" y="2625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98" name="Rectangle 69"/>
            <p:cNvSpPr/>
            <p:nvPr/>
          </p:nvSpPr>
          <p:spPr>
            <a:xfrm>
              <a:off x="2364" y="2771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5299" name="Rectangle 70"/>
            <p:cNvSpPr/>
            <p:nvPr/>
          </p:nvSpPr>
          <p:spPr>
            <a:xfrm>
              <a:off x="2220" y="2916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5231" name="Group 71"/>
          <p:cNvGrpSpPr/>
          <p:nvPr/>
        </p:nvGrpSpPr>
        <p:grpSpPr>
          <a:xfrm>
            <a:off x="7369175" y="3048000"/>
            <a:ext cx="2476500" cy="2114550"/>
            <a:chOff x="3228" y="1920"/>
            <a:chExt cx="1560" cy="1332"/>
          </a:xfrm>
        </p:grpSpPr>
        <p:sp>
          <p:nvSpPr>
            <p:cNvPr id="265284" name="Rectangle 72"/>
            <p:cNvSpPr/>
            <p:nvPr/>
          </p:nvSpPr>
          <p:spPr>
            <a:xfrm>
              <a:off x="4260" y="1920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85" name="Rectangle 73"/>
            <p:cNvSpPr/>
            <p:nvPr/>
          </p:nvSpPr>
          <p:spPr>
            <a:xfrm>
              <a:off x="4116" y="2066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86" name="Rectangle 74"/>
            <p:cNvSpPr/>
            <p:nvPr/>
          </p:nvSpPr>
          <p:spPr>
            <a:xfrm>
              <a:off x="3972" y="2212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87" name="Rectangle 75"/>
            <p:cNvSpPr/>
            <p:nvPr/>
          </p:nvSpPr>
          <p:spPr>
            <a:xfrm>
              <a:off x="3828" y="2358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88" name="Rectangle 76"/>
            <p:cNvSpPr/>
            <p:nvPr/>
          </p:nvSpPr>
          <p:spPr>
            <a:xfrm>
              <a:off x="3684" y="2503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89" name="Rectangle 77"/>
            <p:cNvSpPr/>
            <p:nvPr/>
          </p:nvSpPr>
          <p:spPr>
            <a:xfrm>
              <a:off x="3528" y="2649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5290" name="Rectangle 78"/>
            <p:cNvSpPr/>
            <p:nvPr/>
          </p:nvSpPr>
          <p:spPr>
            <a:xfrm>
              <a:off x="3372" y="2795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5291" name="Rectangle 79"/>
            <p:cNvSpPr/>
            <p:nvPr/>
          </p:nvSpPr>
          <p:spPr>
            <a:xfrm>
              <a:off x="3228" y="2940"/>
              <a:ext cx="528" cy="31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5232" name="AutoShape 80"/>
          <p:cNvSpPr/>
          <p:nvPr/>
        </p:nvSpPr>
        <p:spPr>
          <a:xfrm>
            <a:off x="2114550" y="2295525"/>
            <a:ext cx="1085850" cy="579778"/>
          </a:xfrm>
          <a:prstGeom prst="wedgeRoundRectCallout">
            <a:avLst>
              <a:gd name="adj1" fmla="val 26606"/>
              <a:gd name="adj2" fmla="val -156435"/>
              <a:gd name="adj3" fmla="val 16667"/>
            </a:avLst>
          </a:prstGeom>
          <a:noFill/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26000" rIns="0">
            <a:spAutoFit/>
          </a:bodyPr>
          <a:p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32</a:t>
            </a:r>
            <a:r>
              <a:rPr lang="zh-CN" altLang="en-US" sz="2800" b="1" dirty="0">
                <a:latin typeface="Times New Roman" panose="02020603050405020304" pitchFamily="18" charset="0"/>
              </a:rPr>
              <a:t>片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65233" name="Group 81"/>
          <p:cNvGrpSpPr/>
          <p:nvPr/>
        </p:nvGrpSpPr>
        <p:grpSpPr>
          <a:xfrm>
            <a:off x="8201025" y="3381375"/>
            <a:ext cx="2009775" cy="1963738"/>
            <a:chOff x="3860" y="2130"/>
            <a:chExt cx="1266" cy="1237"/>
          </a:xfrm>
        </p:grpSpPr>
        <p:sp>
          <p:nvSpPr>
            <p:cNvPr id="265275" name="Line 82"/>
            <p:cNvSpPr/>
            <p:nvPr/>
          </p:nvSpPr>
          <p:spPr>
            <a:xfrm flipH="1">
              <a:off x="3888" y="2130"/>
              <a:ext cx="1238" cy="1237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5276" name="Line 83"/>
            <p:cNvSpPr/>
            <p:nvPr/>
          </p:nvSpPr>
          <p:spPr>
            <a:xfrm>
              <a:off x="3860" y="3175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77" name="Line 84"/>
            <p:cNvSpPr/>
            <p:nvPr/>
          </p:nvSpPr>
          <p:spPr>
            <a:xfrm>
              <a:off x="4875" y="2174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78" name="Line 85"/>
            <p:cNvSpPr/>
            <p:nvPr/>
          </p:nvSpPr>
          <p:spPr>
            <a:xfrm>
              <a:off x="4713" y="2317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79" name="Line 86"/>
            <p:cNvSpPr/>
            <p:nvPr/>
          </p:nvSpPr>
          <p:spPr>
            <a:xfrm>
              <a:off x="4593" y="2460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80" name="Line 87"/>
            <p:cNvSpPr/>
            <p:nvPr/>
          </p:nvSpPr>
          <p:spPr>
            <a:xfrm>
              <a:off x="4449" y="2603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81" name="Line 88"/>
            <p:cNvSpPr/>
            <p:nvPr/>
          </p:nvSpPr>
          <p:spPr>
            <a:xfrm>
              <a:off x="4305" y="2746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82" name="Line 89"/>
            <p:cNvSpPr/>
            <p:nvPr/>
          </p:nvSpPr>
          <p:spPr>
            <a:xfrm>
              <a:off x="4149" y="2889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83" name="Line 90"/>
            <p:cNvSpPr/>
            <p:nvPr/>
          </p:nvSpPr>
          <p:spPr>
            <a:xfrm>
              <a:off x="4005" y="3032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</p:grpSp>
      <p:grpSp>
        <p:nvGrpSpPr>
          <p:cNvPr id="265234" name="Group 91"/>
          <p:cNvGrpSpPr/>
          <p:nvPr/>
        </p:nvGrpSpPr>
        <p:grpSpPr>
          <a:xfrm>
            <a:off x="8201025" y="3381375"/>
            <a:ext cx="2009775" cy="1963738"/>
            <a:chOff x="3860" y="2130"/>
            <a:chExt cx="1266" cy="1237"/>
          </a:xfrm>
        </p:grpSpPr>
        <p:sp>
          <p:nvSpPr>
            <p:cNvPr id="265266" name="Line 92"/>
            <p:cNvSpPr/>
            <p:nvPr/>
          </p:nvSpPr>
          <p:spPr>
            <a:xfrm flipH="1">
              <a:off x="3888" y="2130"/>
              <a:ext cx="1238" cy="1237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5267" name="Line 93"/>
            <p:cNvSpPr/>
            <p:nvPr/>
          </p:nvSpPr>
          <p:spPr>
            <a:xfrm>
              <a:off x="3860" y="3175"/>
              <a:ext cx="184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68" name="Line 94"/>
            <p:cNvSpPr/>
            <p:nvPr/>
          </p:nvSpPr>
          <p:spPr>
            <a:xfrm>
              <a:off x="4875" y="2174"/>
              <a:ext cx="184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69" name="Line 95"/>
            <p:cNvSpPr/>
            <p:nvPr/>
          </p:nvSpPr>
          <p:spPr>
            <a:xfrm>
              <a:off x="4713" y="2317"/>
              <a:ext cx="184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70" name="Line 96"/>
            <p:cNvSpPr/>
            <p:nvPr/>
          </p:nvSpPr>
          <p:spPr>
            <a:xfrm>
              <a:off x="4593" y="2460"/>
              <a:ext cx="184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71" name="Line 97"/>
            <p:cNvSpPr/>
            <p:nvPr/>
          </p:nvSpPr>
          <p:spPr>
            <a:xfrm>
              <a:off x="4449" y="2603"/>
              <a:ext cx="184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72" name="Line 98"/>
            <p:cNvSpPr/>
            <p:nvPr/>
          </p:nvSpPr>
          <p:spPr>
            <a:xfrm>
              <a:off x="4305" y="2746"/>
              <a:ext cx="184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73" name="Line 99"/>
            <p:cNvSpPr/>
            <p:nvPr/>
          </p:nvSpPr>
          <p:spPr>
            <a:xfrm>
              <a:off x="4149" y="2889"/>
              <a:ext cx="184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74" name="Line 100"/>
            <p:cNvSpPr/>
            <p:nvPr/>
          </p:nvSpPr>
          <p:spPr>
            <a:xfrm>
              <a:off x="4005" y="3032"/>
              <a:ext cx="184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oval" w="sm" len="sm"/>
            </a:ln>
          </p:spPr>
        </p:sp>
      </p:grpSp>
      <p:grpSp>
        <p:nvGrpSpPr>
          <p:cNvPr id="265235" name="Group 101"/>
          <p:cNvGrpSpPr/>
          <p:nvPr/>
        </p:nvGrpSpPr>
        <p:grpSpPr>
          <a:xfrm>
            <a:off x="8201025" y="3381375"/>
            <a:ext cx="2009775" cy="1963738"/>
            <a:chOff x="3860" y="2130"/>
            <a:chExt cx="1266" cy="1237"/>
          </a:xfrm>
        </p:grpSpPr>
        <p:sp>
          <p:nvSpPr>
            <p:cNvPr id="265257" name="Line 102"/>
            <p:cNvSpPr/>
            <p:nvPr/>
          </p:nvSpPr>
          <p:spPr>
            <a:xfrm flipH="1">
              <a:off x="3888" y="2130"/>
              <a:ext cx="1238" cy="1237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5258" name="Line 103"/>
            <p:cNvSpPr/>
            <p:nvPr/>
          </p:nvSpPr>
          <p:spPr>
            <a:xfrm>
              <a:off x="3860" y="3175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59" name="Line 104"/>
            <p:cNvSpPr/>
            <p:nvPr/>
          </p:nvSpPr>
          <p:spPr>
            <a:xfrm>
              <a:off x="4875" y="2174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60" name="Line 105"/>
            <p:cNvSpPr/>
            <p:nvPr/>
          </p:nvSpPr>
          <p:spPr>
            <a:xfrm>
              <a:off x="4713" y="2317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61" name="Line 106"/>
            <p:cNvSpPr/>
            <p:nvPr/>
          </p:nvSpPr>
          <p:spPr>
            <a:xfrm>
              <a:off x="4593" y="2460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62" name="Line 107"/>
            <p:cNvSpPr/>
            <p:nvPr/>
          </p:nvSpPr>
          <p:spPr>
            <a:xfrm>
              <a:off x="4449" y="2603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63" name="Line 108"/>
            <p:cNvSpPr/>
            <p:nvPr/>
          </p:nvSpPr>
          <p:spPr>
            <a:xfrm>
              <a:off x="4305" y="2746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64" name="Line 109"/>
            <p:cNvSpPr/>
            <p:nvPr/>
          </p:nvSpPr>
          <p:spPr>
            <a:xfrm>
              <a:off x="4149" y="2889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65" name="Line 110"/>
            <p:cNvSpPr/>
            <p:nvPr/>
          </p:nvSpPr>
          <p:spPr>
            <a:xfrm>
              <a:off x="4005" y="3032"/>
              <a:ext cx="184" cy="0"/>
            </a:xfrm>
            <a:prstGeom prst="line">
              <a:avLst/>
            </a:prstGeom>
            <a:ln w="38100" cap="flat" cmpd="sng">
              <a:solidFill>
                <a:srgbClr val="AA7D00"/>
              </a:solidFill>
              <a:prstDash val="solid"/>
              <a:headEnd type="none" w="med" len="med"/>
              <a:tailEnd type="oval" w="sm" len="sm"/>
            </a:ln>
          </p:spPr>
        </p:sp>
      </p:grpSp>
      <p:grpSp>
        <p:nvGrpSpPr>
          <p:cNvPr id="265236" name="Group 111"/>
          <p:cNvGrpSpPr/>
          <p:nvPr/>
        </p:nvGrpSpPr>
        <p:grpSpPr>
          <a:xfrm>
            <a:off x="8201025" y="3381375"/>
            <a:ext cx="2009775" cy="1963738"/>
            <a:chOff x="3860" y="2130"/>
            <a:chExt cx="1266" cy="1237"/>
          </a:xfrm>
        </p:grpSpPr>
        <p:sp>
          <p:nvSpPr>
            <p:cNvPr id="265248" name="Line 112"/>
            <p:cNvSpPr/>
            <p:nvPr/>
          </p:nvSpPr>
          <p:spPr>
            <a:xfrm flipH="1">
              <a:off x="3888" y="2130"/>
              <a:ext cx="1238" cy="1237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5249" name="Line 113"/>
            <p:cNvSpPr/>
            <p:nvPr/>
          </p:nvSpPr>
          <p:spPr>
            <a:xfrm>
              <a:off x="3860" y="3175"/>
              <a:ext cx="184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50" name="Line 114"/>
            <p:cNvSpPr/>
            <p:nvPr/>
          </p:nvSpPr>
          <p:spPr>
            <a:xfrm>
              <a:off x="4875" y="2174"/>
              <a:ext cx="184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51" name="Line 115"/>
            <p:cNvSpPr/>
            <p:nvPr/>
          </p:nvSpPr>
          <p:spPr>
            <a:xfrm>
              <a:off x="4713" y="2317"/>
              <a:ext cx="184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52" name="Line 116"/>
            <p:cNvSpPr/>
            <p:nvPr/>
          </p:nvSpPr>
          <p:spPr>
            <a:xfrm>
              <a:off x="4593" y="2460"/>
              <a:ext cx="184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53" name="Line 117"/>
            <p:cNvSpPr/>
            <p:nvPr/>
          </p:nvSpPr>
          <p:spPr>
            <a:xfrm>
              <a:off x="4449" y="2603"/>
              <a:ext cx="184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54" name="Line 118"/>
            <p:cNvSpPr/>
            <p:nvPr/>
          </p:nvSpPr>
          <p:spPr>
            <a:xfrm>
              <a:off x="4305" y="2746"/>
              <a:ext cx="184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55" name="Line 119"/>
            <p:cNvSpPr/>
            <p:nvPr/>
          </p:nvSpPr>
          <p:spPr>
            <a:xfrm>
              <a:off x="4149" y="2889"/>
              <a:ext cx="184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5256" name="Line 120"/>
            <p:cNvSpPr/>
            <p:nvPr/>
          </p:nvSpPr>
          <p:spPr>
            <a:xfrm>
              <a:off x="4005" y="3032"/>
              <a:ext cx="184" cy="0"/>
            </a:xfrm>
            <a:prstGeom prst="line">
              <a:avLst/>
            </a:prstGeom>
            <a:ln w="38100" cap="flat" cmpd="sng">
              <a:solidFill>
                <a:srgbClr val="FFFF00"/>
              </a:solidFill>
              <a:prstDash val="solid"/>
              <a:headEnd type="none" w="med" len="med"/>
              <a:tailEnd type="oval" w="sm" len="sm"/>
            </a:ln>
          </p:spPr>
        </p:sp>
      </p:grpSp>
      <p:grpSp>
        <p:nvGrpSpPr>
          <p:cNvPr id="265237" name="Group 121"/>
          <p:cNvGrpSpPr/>
          <p:nvPr/>
        </p:nvGrpSpPr>
        <p:grpSpPr>
          <a:xfrm>
            <a:off x="2944813" y="5334000"/>
            <a:ext cx="6580187" cy="1009650"/>
            <a:chOff x="895" y="3360"/>
            <a:chExt cx="4145" cy="636"/>
          </a:xfrm>
        </p:grpSpPr>
        <p:sp>
          <p:nvSpPr>
            <p:cNvPr id="265246" name="Text Box 122"/>
            <p:cNvSpPr txBox="1"/>
            <p:nvPr/>
          </p:nvSpPr>
          <p:spPr>
            <a:xfrm>
              <a:off x="895" y="3667"/>
              <a:ext cx="414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当地址为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65 535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时，此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8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片的片选有效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5247" name="Freeform 123"/>
            <p:cNvSpPr/>
            <p:nvPr/>
          </p:nvSpPr>
          <p:spPr>
            <a:xfrm>
              <a:off x="3466" y="3360"/>
              <a:ext cx="564" cy="284"/>
            </a:xfrm>
            <a:custGeom>
              <a:avLst/>
              <a:gdLst>
                <a:gd name="txL" fmla="*/ 0 w 564"/>
                <a:gd name="txT" fmla="*/ 0 h 284"/>
                <a:gd name="txR" fmla="*/ 564 w 564"/>
                <a:gd name="txB" fmla="*/ 284 h 284"/>
              </a:gdLst>
              <a:ahLst/>
              <a:cxnLst>
                <a:cxn ang="0">
                  <a:pos x="0" y="284"/>
                </a:cxn>
                <a:cxn ang="0">
                  <a:pos x="564" y="0"/>
                </a:cxn>
              </a:cxnLst>
              <a:rect l="txL" t="txT" r="txR" b="txB"/>
              <a:pathLst>
                <a:path w="564" h="284">
                  <a:moveTo>
                    <a:pt x="0" y="284"/>
                  </a:moveTo>
                  <a:lnTo>
                    <a:pt x="564" y="0"/>
                  </a:lnTo>
                </a:path>
              </a:pathLst>
            </a:custGeom>
            <a:noFill/>
            <a:ln w="9525" cap="flat" cmpd="sng">
              <a:solidFill>
                <a:srgbClr val="FFFF00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65238" name="Group 124"/>
          <p:cNvGrpSpPr/>
          <p:nvPr/>
        </p:nvGrpSpPr>
        <p:grpSpPr>
          <a:xfrm>
            <a:off x="3768725" y="2076450"/>
            <a:ext cx="6899275" cy="860425"/>
            <a:chOff x="1414" y="1308"/>
            <a:chExt cx="4346" cy="542"/>
          </a:xfrm>
        </p:grpSpPr>
        <p:sp>
          <p:nvSpPr>
            <p:cNvPr id="265242" name="Text Box 125"/>
            <p:cNvSpPr txBox="1"/>
            <p:nvPr/>
          </p:nvSpPr>
          <p:spPr>
            <a:xfrm>
              <a:off x="1414" y="1308"/>
              <a:ext cx="1274" cy="5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   8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片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16K 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5243" name="Text Box 126"/>
            <p:cNvSpPr txBox="1"/>
            <p:nvPr/>
          </p:nvSpPr>
          <p:spPr>
            <a:xfrm>
              <a:off x="2486" y="1308"/>
              <a:ext cx="1210" cy="5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  8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片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16K 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5244" name="Text Box 127"/>
            <p:cNvSpPr txBox="1"/>
            <p:nvPr/>
          </p:nvSpPr>
          <p:spPr>
            <a:xfrm>
              <a:off x="3558" y="1308"/>
              <a:ext cx="1050" cy="5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  8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片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16K 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5245" name="Text Box 128"/>
            <p:cNvSpPr txBox="1"/>
            <p:nvPr/>
          </p:nvSpPr>
          <p:spPr>
            <a:xfrm>
              <a:off x="4630" y="1308"/>
              <a:ext cx="1130" cy="5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  8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片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16K </a:t>
              </a:r>
              <a:r>
                <a:rPr lang="en-US" altLang="zh-CN" sz="26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1857" name="Rectangle 12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5240" name="AutoShape 13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524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6242" name="Group 2"/>
          <p:cNvGrpSpPr/>
          <p:nvPr/>
        </p:nvGrpSpPr>
        <p:grpSpPr>
          <a:xfrm>
            <a:off x="2325688" y="1906588"/>
            <a:ext cx="6567487" cy="4864099"/>
            <a:chOff x="505" y="1201"/>
            <a:chExt cx="4137" cy="3064"/>
          </a:xfrm>
        </p:grpSpPr>
        <p:grpSp>
          <p:nvGrpSpPr>
            <p:cNvPr id="266283" name="Group 3"/>
            <p:cNvGrpSpPr/>
            <p:nvPr/>
          </p:nvGrpSpPr>
          <p:grpSpPr>
            <a:xfrm>
              <a:off x="505" y="1201"/>
              <a:ext cx="4137" cy="3064"/>
              <a:chOff x="505" y="1201"/>
              <a:chExt cx="4137" cy="3064"/>
            </a:xfrm>
          </p:grpSpPr>
          <p:sp>
            <p:nvSpPr>
              <p:cNvPr id="266286" name="Rectangle 4"/>
              <p:cNvSpPr/>
              <p:nvPr/>
            </p:nvSpPr>
            <p:spPr>
              <a:xfrm>
                <a:off x="2445" y="1392"/>
                <a:ext cx="585" cy="3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latin typeface="Times New Roman" panose="02020603050405020304" pitchFamily="18" charset="0"/>
                  </a:rPr>
                  <a:t>0,0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287" name="Rectangle 5"/>
              <p:cNvSpPr/>
              <p:nvPr/>
            </p:nvSpPr>
            <p:spPr>
              <a:xfrm>
                <a:off x="2445" y="2585"/>
                <a:ext cx="585" cy="3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latin typeface="Times New Roman" panose="02020603050405020304" pitchFamily="18" charset="0"/>
                  </a:rPr>
                  <a:t>15,0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288" name="Rectangle 6"/>
              <p:cNvSpPr/>
              <p:nvPr/>
            </p:nvSpPr>
            <p:spPr>
              <a:xfrm>
                <a:off x="3776" y="2585"/>
                <a:ext cx="585" cy="3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latin typeface="Times New Roman" panose="02020603050405020304" pitchFamily="18" charset="0"/>
                  </a:rPr>
                  <a:t>15,7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289" name="Rectangle 7"/>
              <p:cNvSpPr/>
              <p:nvPr/>
            </p:nvSpPr>
            <p:spPr>
              <a:xfrm>
                <a:off x="3776" y="1392"/>
                <a:ext cx="585" cy="3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latin typeface="Times New Roman" panose="02020603050405020304" pitchFamily="18" charset="0"/>
                  </a:rPr>
                  <a:t>0,7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66290" name="Group 8"/>
              <p:cNvGrpSpPr/>
              <p:nvPr/>
            </p:nvGrpSpPr>
            <p:grpSpPr>
              <a:xfrm>
                <a:off x="2267" y="3523"/>
                <a:ext cx="2226" cy="404"/>
                <a:chOff x="2267" y="3523"/>
                <a:chExt cx="2226" cy="404"/>
              </a:xfrm>
            </p:grpSpPr>
            <p:sp>
              <p:nvSpPr>
                <p:cNvPr id="266336" name="Rectangle 9"/>
                <p:cNvSpPr/>
                <p:nvPr/>
              </p:nvSpPr>
              <p:spPr>
                <a:xfrm rot="5400000">
                  <a:off x="3188" y="2622"/>
                  <a:ext cx="384" cy="222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6337" name="Text Box 10"/>
                <p:cNvSpPr txBox="1"/>
                <p:nvPr/>
              </p:nvSpPr>
              <p:spPr>
                <a:xfrm>
                  <a:off x="2449" y="3523"/>
                  <a:ext cx="1768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    </a:t>
                  </a: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读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/</a:t>
                  </a:r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写控制电路</a:t>
                  </a:r>
                  <a:r>
                    <a:rPr lang="zh-CN" altLang="en-US" sz="3200" b="1" dirty="0">
                      <a:latin typeface="Times New Roman" panose="02020603050405020304" pitchFamily="18" charset="0"/>
                    </a:rPr>
                    <a:t>   </a:t>
                  </a:r>
                  <a:endParaRPr lang="zh-CN" altLang="en-US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66291" name="Rectangle 11"/>
              <p:cNvSpPr/>
              <p:nvPr/>
            </p:nvSpPr>
            <p:spPr>
              <a:xfrm>
                <a:off x="1236" y="1203"/>
                <a:ext cx="384" cy="2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292" name="Rectangle 12"/>
              <p:cNvSpPr/>
              <p:nvPr/>
            </p:nvSpPr>
            <p:spPr>
              <a:xfrm>
                <a:off x="2160" y="1201"/>
                <a:ext cx="2482" cy="205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lgDashDot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293" name="Text Box 13"/>
              <p:cNvSpPr txBox="1"/>
              <p:nvPr/>
            </p:nvSpPr>
            <p:spPr>
              <a:xfrm>
                <a:off x="1275" y="1680"/>
                <a:ext cx="307" cy="1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294" name="Freeform 14"/>
              <p:cNvSpPr/>
              <p:nvPr/>
            </p:nvSpPr>
            <p:spPr>
              <a:xfrm>
                <a:off x="1626" y="1715"/>
                <a:ext cx="2406" cy="243"/>
              </a:xfrm>
              <a:custGeom>
                <a:avLst/>
                <a:gdLst>
                  <a:gd name="txL" fmla="*/ 0 w 2406"/>
                  <a:gd name="txT" fmla="*/ 0 h 243"/>
                  <a:gd name="txR" fmla="*/ 2406 w 2406"/>
                  <a:gd name="txB" fmla="*/ 243 h 243"/>
                </a:gdLst>
                <a:ahLst/>
                <a:cxnLst>
                  <a:cxn ang="0">
                    <a:pos x="0" y="243"/>
                  </a:cxn>
                  <a:cxn ang="0">
                    <a:pos x="2406" y="243"/>
                  </a:cxn>
                  <a:cxn ang="0">
                    <a:pos x="2406" y="0"/>
                  </a:cxn>
                </a:cxnLst>
                <a:rect l="txL" t="txT" r="txR" b="txB"/>
                <a:pathLst>
                  <a:path w="2406" h="243">
                    <a:moveTo>
                      <a:pt x="0" y="243"/>
                    </a:moveTo>
                    <a:lnTo>
                      <a:pt x="2406" y="243"/>
                    </a:lnTo>
                    <a:lnTo>
                      <a:pt x="240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295" name="Freeform 15"/>
              <p:cNvSpPr/>
              <p:nvPr/>
            </p:nvSpPr>
            <p:spPr>
              <a:xfrm>
                <a:off x="2748" y="1728"/>
                <a:ext cx="1" cy="221"/>
              </a:xfrm>
              <a:custGeom>
                <a:avLst/>
                <a:gdLst>
                  <a:gd name="txL" fmla="*/ 0 w 1"/>
                  <a:gd name="txT" fmla="*/ 0 h 221"/>
                  <a:gd name="txR" fmla="*/ 1 w 1"/>
                  <a:gd name="txB" fmla="*/ 221 h 221"/>
                </a:gdLst>
                <a:ahLst/>
                <a:cxnLst>
                  <a:cxn ang="0">
                    <a:pos x="0" y="0"/>
                  </a:cxn>
                  <a:cxn ang="0">
                    <a:pos x="0" y="221"/>
                  </a:cxn>
                </a:cxnLst>
                <a:rect l="txL" t="txT" r="txR" b="txB"/>
                <a:pathLst>
                  <a:path w="1" h="221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296" name="Freeform 16"/>
              <p:cNvSpPr/>
              <p:nvPr/>
            </p:nvSpPr>
            <p:spPr>
              <a:xfrm>
                <a:off x="1631" y="2916"/>
                <a:ext cx="2406" cy="243"/>
              </a:xfrm>
              <a:custGeom>
                <a:avLst/>
                <a:gdLst>
                  <a:gd name="txL" fmla="*/ 0 w 2406"/>
                  <a:gd name="txT" fmla="*/ 0 h 243"/>
                  <a:gd name="txR" fmla="*/ 2406 w 2406"/>
                  <a:gd name="txB" fmla="*/ 243 h 243"/>
                </a:gdLst>
                <a:ahLst/>
                <a:cxnLst>
                  <a:cxn ang="0">
                    <a:pos x="0" y="243"/>
                  </a:cxn>
                  <a:cxn ang="0">
                    <a:pos x="2406" y="243"/>
                  </a:cxn>
                  <a:cxn ang="0">
                    <a:pos x="2406" y="0"/>
                  </a:cxn>
                </a:cxnLst>
                <a:rect l="txL" t="txT" r="txR" b="txB"/>
                <a:pathLst>
                  <a:path w="2406" h="243">
                    <a:moveTo>
                      <a:pt x="0" y="243"/>
                    </a:moveTo>
                    <a:lnTo>
                      <a:pt x="2406" y="243"/>
                    </a:lnTo>
                    <a:lnTo>
                      <a:pt x="240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297" name="Freeform 17"/>
              <p:cNvSpPr/>
              <p:nvPr/>
            </p:nvSpPr>
            <p:spPr>
              <a:xfrm>
                <a:off x="2748" y="2929"/>
                <a:ext cx="1" cy="221"/>
              </a:xfrm>
              <a:custGeom>
                <a:avLst/>
                <a:gdLst>
                  <a:gd name="txL" fmla="*/ 0 w 1"/>
                  <a:gd name="txT" fmla="*/ 0 h 221"/>
                  <a:gd name="txR" fmla="*/ 1 w 1"/>
                  <a:gd name="txB" fmla="*/ 221 h 221"/>
                </a:gdLst>
                <a:ahLst/>
                <a:cxnLst>
                  <a:cxn ang="0">
                    <a:pos x="0" y="0"/>
                  </a:cxn>
                  <a:cxn ang="0">
                    <a:pos x="0" y="221"/>
                  </a:cxn>
                </a:cxnLst>
                <a:rect l="txL" t="txT" r="txR" b="txB"/>
                <a:pathLst>
                  <a:path w="1" h="221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298" name="Text Box 18"/>
              <p:cNvSpPr txBox="1"/>
              <p:nvPr/>
            </p:nvSpPr>
            <p:spPr>
              <a:xfrm>
                <a:off x="1599" y="1472"/>
                <a:ext cx="51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200" b="1" dirty="0">
                    <a:latin typeface="Times New Roman" panose="02020603050405020304" pitchFamily="18" charset="0"/>
                  </a:rPr>
                  <a:t>字线</a:t>
                </a:r>
                <a:endParaRPr lang="zh-CN" altLang="en-US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299" name="Text Box 19"/>
              <p:cNvSpPr txBox="1"/>
              <p:nvPr/>
            </p:nvSpPr>
            <p:spPr>
              <a:xfrm>
                <a:off x="1779" y="1722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00" name="Text Box 20"/>
              <p:cNvSpPr txBox="1"/>
              <p:nvPr/>
            </p:nvSpPr>
            <p:spPr>
              <a:xfrm>
                <a:off x="1743" y="289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01" name="Freeform 21"/>
              <p:cNvSpPr/>
              <p:nvPr/>
            </p:nvSpPr>
            <p:spPr>
              <a:xfrm>
                <a:off x="2740" y="3248"/>
                <a:ext cx="1" cy="295"/>
              </a:xfrm>
              <a:custGeom>
                <a:avLst/>
                <a:gdLst>
                  <a:gd name="txL" fmla="*/ 0 w 1"/>
                  <a:gd name="txT" fmla="*/ 0 h 295"/>
                  <a:gd name="txR" fmla="*/ 1 w 1"/>
                  <a:gd name="txB" fmla="*/ 295 h 295"/>
                </a:gdLst>
                <a:ahLst/>
                <a:cxnLst>
                  <a:cxn ang="0">
                    <a:pos x="0" y="0"/>
                  </a:cxn>
                  <a:cxn ang="0">
                    <a:pos x="0" y="295"/>
                  </a:cxn>
                </a:cxnLst>
                <a:rect l="txL" t="txT" r="txR" b="txB"/>
                <a:pathLst>
                  <a:path w="1" h="295">
                    <a:moveTo>
                      <a:pt x="0" y="0"/>
                    </a:moveTo>
                    <a:lnTo>
                      <a:pt x="0" y="29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302" name="Freeform 22"/>
              <p:cNvSpPr/>
              <p:nvPr/>
            </p:nvSpPr>
            <p:spPr>
              <a:xfrm>
                <a:off x="4032" y="3254"/>
                <a:ext cx="1" cy="295"/>
              </a:xfrm>
              <a:custGeom>
                <a:avLst/>
                <a:gdLst>
                  <a:gd name="txL" fmla="*/ 0 w 1"/>
                  <a:gd name="txT" fmla="*/ 0 h 295"/>
                  <a:gd name="txR" fmla="*/ 1 w 1"/>
                  <a:gd name="txB" fmla="*/ 295 h 295"/>
                </a:gdLst>
                <a:ahLst/>
                <a:cxnLst>
                  <a:cxn ang="0">
                    <a:pos x="0" y="0"/>
                  </a:cxn>
                  <a:cxn ang="0">
                    <a:pos x="0" y="295"/>
                  </a:cxn>
                </a:cxnLst>
                <a:rect l="txL" t="txT" r="txR" b="txB"/>
                <a:pathLst>
                  <a:path w="1" h="295">
                    <a:moveTo>
                      <a:pt x="0" y="0"/>
                    </a:moveTo>
                    <a:lnTo>
                      <a:pt x="0" y="29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303" name="Text Box 23"/>
              <p:cNvSpPr txBox="1"/>
              <p:nvPr/>
            </p:nvSpPr>
            <p:spPr>
              <a:xfrm>
                <a:off x="3080" y="316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04" name="Text Box 24"/>
              <p:cNvSpPr txBox="1"/>
              <p:nvPr/>
            </p:nvSpPr>
            <p:spPr>
              <a:xfrm rot="5400000">
                <a:off x="1729" y="2246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05" name="Freeform 25"/>
              <p:cNvSpPr/>
              <p:nvPr/>
            </p:nvSpPr>
            <p:spPr>
              <a:xfrm>
                <a:off x="2740" y="3917"/>
                <a:ext cx="1" cy="295"/>
              </a:xfrm>
              <a:custGeom>
                <a:avLst/>
                <a:gdLst>
                  <a:gd name="txL" fmla="*/ 0 w 1"/>
                  <a:gd name="txT" fmla="*/ 0 h 295"/>
                  <a:gd name="txR" fmla="*/ 1 w 1"/>
                  <a:gd name="txB" fmla="*/ 295 h 295"/>
                </a:gdLst>
                <a:ahLst/>
                <a:cxnLst>
                  <a:cxn ang="0">
                    <a:pos x="0" y="0"/>
                  </a:cxn>
                  <a:cxn ang="0">
                    <a:pos x="0" y="295"/>
                  </a:cxn>
                </a:cxnLst>
                <a:rect l="txL" t="txT" r="txR" b="txB"/>
                <a:pathLst>
                  <a:path w="1" h="295">
                    <a:moveTo>
                      <a:pt x="0" y="0"/>
                    </a:moveTo>
                    <a:lnTo>
                      <a:pt x="0" y="29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306" name="Freeform 26"/>
              <p:cNvSpPr/>
              <p:nvPr/>
            </p:nvSpPr>
            <p:spPr>
              <a:xfrm>
                <a:off x="4032" y="3917"/>
                <a:ext cx="1" cy="295"/>
              </a:xfrm>
              <a:custGeom>
                <a:avLst/>
                <a:gdLst>
                  <a:gd name="txL" fmla="*/ 0 w 1"/>
                  <a:gd name="txT" fmla="*/ 0 h 295"/>
                  <a:gd name="txR" fmla="*/ 1 w 1"/>
                  <a:gd name="txB" fmla="*/ 295 h 295"/>
                </a:gdLst>
                <a:ahLst/>
                <a:cxnLst>
                  <a:cxn ang="0">
                    <a:pos x="0" y="0"/>
                  </a:cxn>
                  <a:cxn ang="0">
                    <a:pos x="0" y="295"/>
                  </a:cxn>
                </a:cxnLst>
                <a:rect l="txL" t="txT" r="txR" b="txB"/>
                <a:pathLst>
                  <a:path w="1" h="295">
                    <a:moveTo>
                      <a:pt x="0" y="0"/>
                    </a:moveTo>
                    <a:lnTo>
                      <a:pt x="0" y="29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307" name="Text Box 27"/>
              <p:cNvSpPr txBox="1"/>
              <p:nvPr/>
            </p:nvSpPr>
            <p:spPr>
              <a:xfrm>
                <a:off x="2960" y="1996"/>
                <a:ext cx="865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16×8</a:t>
                </a:r>
                <a:r>
                  <a:rPr lang="zh-CN" altLang="en-US" sz="2200" b="1" dirty="0">
                    <a:latin typeface="Times New Roman" panose="02020603050405020304" pitchFamily="18" charset="0"/>
                  </a:rPr>
                  <a:t>矩阵</a:t>
                </a:r>
                <a:endParaRPr lang="zh-CN" altLang="en-US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08" name="Text Box 28"/>
              <p:cNvSpPr txBox="1"/>
              <p:nvPr/>
            </p:nvSpPr>
            <p:spPr>
              <a:xfrm rot="5400000">
                <a:off x="2619" y="206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09" name="Text Box 29"/>
              <p:cNvSpPr txBox="1"/>
              <p:nvPr/>
            </p:nvSpPr>
            <p:spPr>
              <a:xfrm rot="5400000">
                <a:off x="3914" y="206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10" name="Text Box 30"/>
              <p:cNvSpPr txBox="1"/>
              <p:nvPr/>
            </p:nvSpPr>
            <p:spPr>
              <a:xfrm>
                <a:off x="3080" y="3819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11" name="Text Box 31"/>
              <p:cNvSpPr txBox="1"/>
              <p:nvPr/>
            </p:nvSpPr>
            <p:spPr>
              <a:xfrm>
                <a:off x="2501" y="3255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12" name="Text Box 32"/>
              <p:cNvSpPr txBox="1"/>
              <p:nvPr/>
            </p:nvSpPr>
            <p:spPr>
              <a:xfrm>
                <a:off x="3797" y="3266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13" name="Text Box 33"/>
              <p:cNvSpPr txBox="1"/>
              <p:nvPr/>
            </p:nvSpPr>
            <p:spPr>
              <a:xfrm>
                <a:off x="2369" y="3953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14" name="Text Box 34"/>
              <p:cNvSpPr txBox="1"/>
              <p:nvPr/>
            </p:nvSpPr>
            <p:spPr>
              <a:xfrm>
                <a:off x="2528" y="4072"/>
                <a:ext cx="171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1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15" name="Text Box 35"/>
              <p:cNvSpPr txBox="1"/>
              <p:nvPr/>
            </p:nvSpPr>
            <p:spPr>
              <a:xfrm>
                <a:off x="3837" y="4064"/>
                <a:ext cx="171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4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1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16" name="Text Box 36"/>
              <p:cNvSpPr txBox="1"/>
              <p:nvPr/>
            </p:nvSpPr>
            <p:spPr>
              <a:xfrm>
                <a:off x="3665" y="3953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17" name="Text Box 37"/>
              <p:cNvSpPr txBox="1"/>
              <p:nvPr/>
            </p:nvSpPr>
            <p:spPr>
              <a:xfrm>
                <a:off x="4075" y="3293"/>
                <a:ext cx="511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200" b="1" dirty="0">
                    <a:latin typeface="Times New Roman" panose="02020603050405020304" pitchFamily="18" charset="0"/>
                  </a:rPr>
                  <a:t>位线</a:t>
                </a:r>
                <a:endParaRPr lang="zh-CN" altLang="en-US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18" name="Line 38"/>
              <p:cNvSpPr/>
              <p:nvPr/>
            </p:nvSpPr>
            <p:spPr>
              <a:xfrm>
                <a:off x="1740" y="3727"/>
                <a:ext cx="52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66319" name="Text Box 39"/>
              <p:cNvSpPr txBox="1"/>
              <p:nvPr/>
            </p:nvSpPr>
            <p:spPr>
              <a:xfrm>
                <a:off x="673" y="3625"/>
                <a:ext cx="1088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   </a:t>
                </a:r>
                <a:r>
                  <a:rPr lang="zh-CN" altLang="en-US" sz="2200" b="1" dirty="0">
                    <a:latin typeface="Times New Roman" panose="02020603050405020304" pitchFamily="18" charset="0"/>
                  </a:rPr>
                  <a:t>读 </a:t>
                </a:r>
                <a:r>
                  <a:rPr lang="en-US" altLang="zh-CN" sz="2200" b="1" dirty="0">
                    <a:latin typeface="Times New Roman" panose="02020603050405020304" pitchFamily="18" charset="0"/>
                  </a:rPr>
                  <a:t>/ </a:t>
                </a:r>
                <a:r>
                  <a:rPr lang="zh-CN" altLang="en-US" sz="2200" b="1" dirty="0">
                    <a:latin typeface="Times New Roman" panose="02020603050405020304" pitchFamily="18" charset="0"/>
                  </a:rPr>
                  <a:t>写选通</a:t>
                </a:r>
                <a:endParaRPr lang="zh-CN" altLang="en-US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320" name="Line 40"/>
              <p:cNvSpPr/>
              <p:nvPr/>
            </p:nvSpPr>
            <p:spPr>
              <a:xfrm>
                <a:off x="835" y="1593"/>
                <a:ext cx="39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66321" name="Line 41"/>
              <p:cNvSpPr/>
              <p:nvPr/>
            </p:nvSpPr>
            <p:spPr>
              <a:xfrm>
                <a:off x="833" y="2093"/>
                <a:ext cx="39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66322" name="Line 42"/>
              <p:cNvSpPr/>
              <p:nvPr/>
            </p:nvSpPr>
            <p:spPr>
              <a:xfrm>
                <a:off x="831" y="2593"/>
                <a:ext cx="39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66323" name="Line 43"/>
              <p:cNvSpPr/>
              <p:nvPr/>
            </p:nvSpPr>
            <p:spPr>
              <a:xfrm>
                <a:off x="842" y="3094"/>
                <a:ext cx="39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66324" name="Group 44"/>
              <p:cNvGrpSpPr/>
              <p:nvPr/>
            </p:nvGrpSpPr>
            <p:grpSpPr>
              <a:xfrm>
                <a:off x="505" y="1440"/>
                <a:ext cx="355" cy="296"/>
                <a:chOff x="457" y="1440"/>
                <a:chExt cx="355" cy="296"/>
              </a:xfrm>
            </p:grpSpPr>
            <p:sp>
              <p:nvSpPr>
                <p:cNvPr id="266334" name="Text Box 45"/>
                <p:cNvSpPr txBox="1"/>
                <p:nvPr/>
              </p:nvSpPr>
              <p:spPr>
                <a:xfrm>
                  <a:off x="457" y="1440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335" name="Text Box 46"/>
                <p:cNvSpPr txBox="1"/>
                <p:nvPr/>
              </p:nvSpPr>
              <p:spPr>
                <a:xfrm>
                  <a:off x="641" y="1543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6325" name="Group 47"/>
              <p:cNvGrpSpPr/>
              <p:nvPr/>
            </p:nvGrpSpPr>
            <p:grpSpPr>
              <a:xfrm>
                <a:off x="505" y="1936"/>
                <a:ext cx="355" cy="296"/>
                <a:chOff x="445" y="1968"/>
                <a:chExt cx="355" cy="296"/>
              </a:xfrm>
            </p:grpSpPr>
            <p:sp>
              <p:nvSpPr>
                <p:cNvPr id="266332" name="Text Box 48"/>
                <p:cNvSpPr txBox="1"/>
                <p:nvPr/>
              </p:nvSpPr>
              <p:spPr>
                <a:xfrm>
                  <a:off x="445" y="1968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333" name="Text Box 49"/>
                <p:cNvSpPr txBox="1"/>
                <p:nvPr/>
              </p:nvSpPr>
              <p:spPr>
                <a:xfrm>
                  <a:off x="629" y="2071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6326" name="Group 50"/>
              <p:cNvGrpSpPr/>
              <p:nvPr/>
            </p:nvGrpSpPr>
            <p:grpSpPr>
              <a:xfrm>
                <a:off x="505" y="2432"/>
                <a:ext cx="355" cy="296"/>
                <a:chOff x="481" y="2460"/>
                <a:chExt cx="355" cy="296"/>
              </a:xfrm>
            </p:grpSpPr>
            <p:sp>
              <p:nvSpPr>
                <p:cNvPr id="266330" name="Text Box 51"/>
                <p:cNvSpPr txBox="1"/>
                <p:nvPr/>
              </p:nvSpPr>
              <p:spPr>
                <a:xfrm>
                  <a:off x="481" y="2460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331" name="Text Box 52"/>
                <p:cNvSpPr txBox="1"/>
                <p:nvPr/>
              </p:nvSpPr>
              <p:spPr>
                <a:xfrm>
                  <a:off x="665" y="2563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6327" name="Group 53"/>
              <p:cNvGrpSpPr/>
              <p:nvPr/>
            </p:nvGrpSpPr>
            <p:grpSpPr>
              <a:xfrm>
                <a:off x="505" y="2928"/>
                <a:ext cx="355" cy="296"/>
                <a:chOff x="409" y="2928"/>
                <a:chExt cx="355" cy="296"/>
              </a:xfrm>
            </p:grpSpPr>
            <p:sp>
              <p:nvSpPr>
                <p:cNvPr id="266328" name="Text Box 54"/>
                <p:cNvSpPr txBox="1"/>
                <p:nvPr/>
              </p:nvSpPr>
              <p:spPr>
                <a:xfrm>
                  <a:off x="409" y="2928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6329" name="Text Box 55"/>
                <p:cNvSpPr txBox="1"/>
                <p:nvPr/>
              </p:nvSpPr>
              <p:spPr>
                <a:xfrm>
                  <a:off x="593" y="3031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66284" name="Text Box 56"/>
            <p:cNvSpPr txBox="1"/>
            <p:nvPr/>
          </p:nvSpPr>
          <p:spPr>
            <a:xfrm>
              <a:off x="3216" y="1392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6285" name="Text Box 57"/>
            <p:cNvSpPr txBox="1"/>
            <p:nvPr/>
          </p:nvSpPr>
          <p:spPr>
            <a:xfrm>
              <a:off x="3216" y="2544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6243" name="Text Box 58"/>
          <p:cNvSpPr txBox="1"/>
          <p:nvPr/>
        </p:nvSpPr>
        <p:spPr>
          <a:xfrm>
            <a:off x="2035175" y="354013"/>
            <a:ext cx="733742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半导体存储芯片的译码驱动方式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66244" name="Text Box 59"/>
          <p:cNvSpPr txBox="1"/>
          <p:nvPr/>
        </p:nvSpPr>
        <p:spPr>
          <a:xfrm>
            <a:off x="2420938" y="1063625"/>
            <a:ext cx="197739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线选法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02812" name="Rectangle 6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9" name="Group 61"/>
          <p:cNvGrpSpPr/>
          <p:nvPr/>
        </p:nvGrpSpPr>
        <p:grpSpPr>
          <a:xfrm>
            <a:off x="3116263" y="2154238"/>
            <a:ext cx="334963" cy="2835275"/>
            <a:chOff x="367" y="1429"/>
            <a:chExt cx="211" cy="1786"/>
          </a:xfrm>
        </p:grpSpPr>
        <p:sp>
          <p:nvSpPr>
            <p:cNvPr id="266279" name="Text Box 62"/>
            <p:cNvSpPr txBox="1"/>
            <p:nvPr/>
          </p:nvSpPr>
          <p:spPr>
            <a:xfrm>
              <a:off x="367" y="1429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280" name="Text Box 63"/>
            <p:cNvSpPr txBox="1"/>
            <p:nvPr/>
          </p:nvSpPr>
          <p:spPr>
            <a:xfrm>
              <a:off x="367" y="1927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281" name="Text Box 64"/>
            <p:cNvSpPr txBox="1"/>
            <p:nvPr/>
          </p:nvSpPr>
          <p:spPr>
            <a:xfrm>
              <a:off x="367" y="2426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282" name="Text Box 65"/>
            <p:cNvSpPr txBox="1"/>
            <p:nvPr/>
          </p:nvSpPr>
          <p:spPr>
            <a:xfrm>
              <a:off x="367" y="2925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66"/>
          <p:cNvGrpSpPr/>
          <p:nvPr/>
        </p:nvGrpSpPr>
        <p:grpSpPr>
          <a:xfrm>
            <a:off x="5405438" y="2208213"/>
            <a:ext cx="3041650" cy="528637"/>
            <a:chOff x="2445" y="1391"/>
            <a:chExt cx="1916" cy="333"/>
          </a:xfrm>
        </p:grpSpPr>
        <p:grpSp>
          <p:nvGrpSpPr>
            <p:cNvPr id="266275" name="Group 67"/>
            <p:cNvGrpSpPr/>
            <p:nvPr/>
          </p:nvGrpSpPr>
          <p:grpSpPr>
            <a:xfrm>
              <a:off x="2445" y="1392"/>
              <a:ext cx="1916" cy="332"/>
              <a:chOff x="2445" y="1392"/>
              <a:chExt cx="1916" cy="332"/>
            </a:xfrm>
          </p:grpSpPr>
          <p:sp>
            <p:nvSpPr>
              <p:cNvPr id="266277" name="Rectangle 68"/>
              <p:cNvSpPr/>
              <p:nvPr/>
            </p:nvSpPr>
            <p:spPr>
              <a:xfrm>
                <a:off x="2445" y="1392"/>
                <a:ext cx="585" cy="3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0,0</a:t>
                </a:r>
                <a:endPara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278" name="Rectangle 69"/>
              <p:cNvSpPr/>
              <p:nvPr/>
            </p:nvSpPr>
            <p:spPr>
              <a:xfrm>
                <a:off x="3776" y="1392"/>
                <a:ext cx="585" cy="3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0,7</a:t>
                </a:r>
                <a:endPara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6276" name="Text Box 70"/>
            <p:cNvSpPr txBox="1"/>
            <p:nvPr/>
          </p:nvSpPr>
          <p:spPr>
            <a:xfrm>
              <a:off x="3216" y="1391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71"/>
          <p:cNvGrpSpPr/>
          <p:nvPr/>
        </p:nvGrpSpPr>
        <p:grpSpPr>
          <a:xfrm>
            <a:off x="4105275" y="2722563"/>
            <a:ext cx="3819525" cy="469900"/>
            <a:chOff x="1626" y="1715"/>
            <a:chExt cx="2406" cy="296"/>
          </a:xfrm>
        </p:grpSpPr>
        <p:grpSp>
          <p:nvGrpSpPr>
            <p:cNvPr id="266271" name="Group 72"/>
            <p:cNvGrpSpPr/>
            <p:nvPr/>
          </p:nvGrpSpPr>
          <p:grpSpPr>
            <a:xfrm>
              <a:off x="1626" y="1715"/>
              <a:ext cx="2406" cy="243"/>
              <a:chOff x="1626" y="1715"/>
              <a:chExt cx="2406" cy="243"/>
            </a:xfrm>
          </p:grpSpPr>
          <p:sp>
            <p:nvSpPr>
              <p:cNvPr id="266273" name="Freeform 73"/>
              <p:cNvSpPr/>
              <p:nvPr/>
            </p:nvSpPr>
            <p:spPr>
              <a:xfrm>
                <a:off x="1626" y="1715"/>
                <a:ext cx="2406" cy="243"/>
              </a:xfrm>
              <a:custGeom>
                <a:avLst/>
                <a:gdLst>
                  <a:gd name="txL" fmla="*/ 0 w 2406"/>
                  <a:gd name="txT" fmla="*/ 0 h 243"/>
                  <a:gd name="txR" fmla="*/ 2406 w 2406"/>
                  <a:gd name="txB" fmla="*/ 243 h 243"/>
                </a:gdLst>
                <a:ahLst/>
                <a:cxnLst>
                  <a:cxn ang="0">
                    <a:pos x="0" y="243"/>
                  </a:cxn>
                  <a:cxn ang="0">
                    <a:pos x="2406" y="243"/>
                  </a:cxn>
                  <a:cxn ang="0">
                    <a:pos x="2406" y="0"/>
                  </a:cxn>
                </a:cxnLst>
                <a:rect l="txL" t="txT" r="txR" b="txB"/>
                <a:pathLst>
                  <a:path w="2406" h="243">
                    <a:moveTo>
                      <a:pt x="0" y="243"/>
                    </a:moveTo>
                    <a:lnTo>
                      <a:pt x="2406" y="243"/>
                    </a:lnTo>
                    <a:lnTo>
                      <a:pt x="2406" y="0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6274" name="Freeform 74"/>
              <p:cNvSpPr/>
              <p:nvPr/>
            </p:nvSpPr>
            <p:spPr>
              <a:xfrm>
                <a:off x="2748" y="1728"/>
                <a:ext cx="1" cy="221"/>
              </a:xfrm>
              <a:custGeom>
                <a:avLst/>
                <a:gdLst>
                  <a:gd name="txL" fmla="*/ 0 w 1"/>
                  <a:gd name="txT" fmla="*/ 0 h 221"/>
                  <a:gd name="txR" fmla="*/ 1 w 1"/>
                  <a:gd name="txB" fmla="*/ 221 h 221"/>
                </a:gdLst>
                <a:ahLst/>
                <a:cxnLst>
                  <a:cxn ang="0">
                    <a:pos x="0" y="0"/>
                  </a:cxn>
                  <a:cxn ang="0">
                    <a:pos x="0" y="221"/>
                  </a:cxn>
                </a:cxnLst>
                <a:rect l="txL" t="txT" r="txR" b="txB"/>
                <a:pathLst>
                  <a:path w="1" h="221">
                    <a:moveTo>
                      <a:pt x="0" y="0"/>
                    </a:moveTo>
                    <a:lnTo>
                      <a:pt x="0" y="221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66272" name="Text Box 75"/>
            <p:cNvSpPr txBox="1"/>
            <p:nvPr/>
          </p:nvSpPr>
          <p:spPr>
            <a:xfrm>
              <a:off x="1779" y="1721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4" name="Group 76"/>
          <p:cNvGrpSpPr/>
          <p:nvPr/>
        </p:nvGrpSpPr>
        <p:grpSpPr>
          <a:xfrm>
            <a:off x="5494338" y="5018088"/>
            <a:ext cx="2432050" cy="627062"/>
            <a:chOff x="2501" y="3161"/>
            <a:chExt cx="1532" cy="395"/>
          </a:xfrm>
        </p:grpSpPr>
        <p:sp>
          <p:nvSpPr>
            <p:cNvPr id="266266" name="Freeform 77"/>
            <p:cNvSpPr/>
            <p:nvPr/>
          </p:nvSpPr>
          <p:spPr>
            <a:xfrm>
              <a:off x="2740" y="3248"/>
              <a:ext cx="1" cy="295"/>
            </a:xfrm>
            <a:custGeom>
              <a:avLst/>
              <a:gdLst>
                <a:gd name="txL" fmla="*/ 0 w 1"/>
                <a:gd name="txT" fmla="*/ 0 h 295"/>
                <a:gd name="txR" fmla="*/ 1 w 1"/>
                <a:gd name="txB" fmla="*/ 295 h 295"/>
              </a:gdLst>
              <a:ahLst/>
              <a:cxnLst>
                <a:cxn ang="0">
                  <a:pos x="0" y="0"/>
                </a:cxn>
                <a:cxn ang="0">
                  <a:pos x="0" y="295"/>
                </a:cxn>
              </a:cxnLst>
              <a:rect l="txL" t="txT" r="txR" b="txB"/>
              <a:pathLst>
                <a:path w="1" h="295">
                  <a:moveTo>
                    <a:pt x="0" y="0"/>
                  </a:moveTo>
                  <a:lnTo>
                    <a:pt x="0" y="295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267" name="Freeform 78"/>
            <p:cNvSpPr/>
            <p:nvPr/>
          </p:nvSpPr>
          <p:spPr>
            <a:xfrm>
              <a:off x="4032" y="3254"/>
              <a:ext cx="1" cy="295"/>
            </a:xfrm>
            <a:custGeom>
              <a:avLst/>
              <a:gdLst>
                <a:gd name="txL" fmla="*/ 0 w 1"/>
                <a:gd name="txT" fmla="*/ 0 h 295"/>
                <a:gd name="txR" fmla="*/ 1 w 1"/>
                <a:gd name="txB" fmla="*/ 295 h 295"/>
              </a:gdLst>
              <a:ahLst/>
              <a:cxnLst>
                <a:cxn ang="0">
                  <a:pos x="0" y="0"/>
                </a:cxn>
                <a:cxn ang="0">
                  <a:pos x="0" y="295"/>
                </a:cxn>
              </a:cxnLst>
              <a:rect l="txL" t="txT" r="txR" b="txB"/>
              <a:pathLst>
                <a:path w="1" h="295">
                  <a:moveTo>
                    <a:pt x="0" y="0"/>
                  </a:moveTo>
                  <a:lnTo>
                    <a:pt x="0" y="295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268" name="Text Box 79"/>
            <p:cNvSpPr txBox="1"/>
            <p:nvPr/>
          </p:nvSpPr>
          <p:spPr>
            <a:xfrm>
              <a:off x="3080" y="316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269" name="Text Box 80"/>
            <p:cNvSpPr txBox="1"/>
            <p:nvPr/>
          </p:nvSpPr>
          <p:spPr>
            <a:xfrm>
              <a:off x="2501" y="3255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270" name="Text Box 81"/>
            <p:cNvSpPr txBox="1"/>
            <p:nvPr/>
          </p:nvSpPr>
          <p:spPr>
            <a:xfrm>
              <a:off x="3797" y="3266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5" name="Group 82"/>
          <p:cNvGrpSpPr/>
          <p:nvPr/>
        </p:nvGrpSpPr>
        <p:grpSpPr>
          <a:xfrm>
            <a:off x="5284788" y="6062663"/>
            <a:ext cx="2641600" cy="708024"/>
            <a:chOff x="2369" y="3819"/>
            <a:chExt cx="1664" cy="446"/>
          </a:xfrm>
        </p:grpSpPr>
        <p:sp>
          <p:nvSpPr>
            <p:cNvPr id="266259" name="Freeform 83"/>
            <p:cNvSpPr/>
            <p:nvPr/>
          </p:nvSpPr>
          <p:spPr>
            <a:xfrm>
              <a:off x="2740" y="3917"/>
              <a:ext cx="1" cy="295"/>
            </a:xfrm>
            <a:custGeom>
              <a:avLst/>
              <a:gdLst>
                <a:gd name="txL" fmla="*/ 0 w 1"/>
                <a:gd name="txT" fmla="*/ 0 h 295"/>
                <a:gd name="txR" fmla="*/ 1 w 1"/>
                <a:gd name="txB" fmla="*/ 295 h 295"/>
              </a:gdLst>
              <a:ahLst/>
              <a:cxnLst>
                <a:cxn ang="0">
                  <a:pos x="0" y="0"/>
                </a:cxn>
                <a:cxn ang="0">
                  <a:pos x="0" y="295"/>
                </a:cxn>
              </a:cxnLst>
              <a:rect l="txL" t="txT" r="txR" b="txB"/>
              <a:pathLst>
                <a:path w="1" h="295">
                  <a:moveTo>
                    <a:pt x="0" y="0"/>
                  </a:moveTo>
                  <a:lnTo>
                    <a:pt x="0" y="295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260" name="Freeform 84"/>
            <p:cNvSpPr/>
            <p:nvPr/>
          </p:nvSpPr>
          <p:spPr>
            <a:xfrm>
              <a:off x="4032" y="3917"/>
              <a:ext cx="1" cy="295"/>
            </a:xfrm>
            <a:custGeom>
              <a:avLst/>
              <a:gdLst>
                <a:gd name="txL" fmla="*/ 0 w 1"/>
                <a:gd name="txT" fmla="*/ 0 h 295"/>
                <a:gd name="txR" fmla="*/ 1 w 1"/>
                <a:gd name="txB" fmla="*/ 295 h 295"/>
              </a:gdLst>
              <a:ahLst/>
              <a:cxnLst>
                <a:cxn ang="0">
                  <a:pos x="0" y="0"/>
                </a:cxn>
                <a:cxn ang="0">
                  <a:pos x="0" y="295"/>
                </a:cxn>
              </a:cxnLst>
              <a:rect l="txL" t="txT" r="txR" b="txB"/>
              <a:pathLst>
                <a:path w="1" h="295">
                  <a:moveTo>
                    <a:pt x="0" y="0"/>
                  </a:moveTo>
                  <a:lnTo>
                    <a:pt x="0" y="295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261" name="Text Box 85"/>
            <p:cNvSpPr txBox="1"/>
            <p:nvPr/>
          </p:nvSpPr>
          <p:spPr>
            <a:xfrm>
              <a:off x="3080" y="381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262" name="Text Box 86"/>
            <p:cNvSpPr txBox="1"/>
            <p:nvPr/>
          </p:nvSpPr>
          <p:spPr>
            <a:xfrm>
              <a:off x="2369" y="3953"/>
              <a:ext cx="2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263" name="Text Box 87"/>
            <p:cNvSpPr txBox="1"/>
            <p:nvPr/>
          </p:nvSpPr>
          <p:spPr>
            <a:xfrm>
              <a:off x="2528" y="4072"/>
              <a:ext cx="171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264" name="Text Box 88"/>
            <p:cNvSpPr txBox="1"/>
            <p:nvPr/>
          </p:nvSpPr>
          <p:spPr>
            <a:xfrm>
              <a:off x="3837" y="4064"/>
              <a:ext cx="171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7</a:t>
              </a:r>
              <a:endParaRPr lang="en-US" altLang="zh-CN" sz="1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6265" name="Text Box 89"/>
            <p:cNvSpPr txBox="1"/>
            <p:nvPr/>
          </p:nvSpPr>
          <p:spPr>
            <a:xfrm>
              <a:off x="3665" y="3953"/>
              <a:ext cx="2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90"/>
          <p:cNvGrpSpPr/>
          <p:nvPr/>
        </p:nvGrpSpPr>
        <p:grpSpPr>
          <a:xfrm>
            <a:off x="2592388" y="5754688"/>
            <a:ext cx="2530475" cy="430212"/>
            <a:chOff x="673" y="3625"/>
            <a:chExt cx="1594" cy="271"/>
          </a:xfrm>
        </p:grpSpPr>
        <p:sp>
          <p:nvSpPr>
            <p:cNvPr id="266257" name="Line 91"/>
            <p:cNvSpPr/>
            <p:nvPr/>
          </p:nvSpPr>
          <p:spPr>
            <a:xfrm>
              <a:off x="1740" y="3727"/>
              <a:ext cx="527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6258" name="Text Box 92"/>
            <p:cNvSpPr txBox="1"/>
            <p:nvPr/>
          </p:nvSpPr>
          <p:spPr>
            <a:xfrm>
              <a:off x="673" y="3625"/>
              <a:ext cx="1391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</a:t>
              </a:r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读 </a:t>
              </a:r>
              <a:r>
                <a:rPr lang="en-US" altLang="zh-CN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/ </a:t>
              </a:r>
              <a:r>
                <a:rPr lang="zh-CN" altLang="en-US" sz="2200" b="1" dirty="0">
                  <a:latin typeface="Times New Roman" panose="02020603050405020304" pitchFamily="18" charset="0"/>
                </a:rPr>
                <a:t>写</a:t>
              </a:r>
              <a:r>
                <a:rPr lang="zh-CN" altLang="en-US" sz="2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选通</a:t>
              </a:r>
              <a:endParaRPr lang="zh-CN" altLang="en-US" sz="2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93"/>
          <p:cNvGrpSpPr/>
          <p:nvPr/>
        </p:nvGrpSpPr>
        <p:grpSpPr>
          <a:xfrm>
            <a:off x="5122863" y="5589588"/>
            <a:ext cx="3533775" cy="641350"/>
            <a:chOff x="2267" y="3706"/>
            <a:chExt cx="2226" cy="404"/>
          </a:xfrm>
        </p:grpSpPr>
        <p:sp>
          <p:nvSpPr>
            <p:cNvPr id="266255" name="Rectangle 94"/>
            <p:cNvSpPr/>
            <p:nvPr/>
          </p:nvSpPr>
          <p:spPr>
            <a:xfrm rot="5400000">
              <a:off x="3188" y="2805"/>
              <a:ext cx="384" cy="2226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6256" name="Text Box 95"/>
            <p:cNvSpPr txBox="1"/>
            <p:nvPr/>
          </p:nvSpPr>
          <p:spPr>
            <a:xfrm>
              <a:off x="2449" y="3706"/>
              <a:ext cx="176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</a:t>
              </a:r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读</a:t>
              </a:r>
              <a:r>
                <a: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/</a:t>
              </a:r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写控制电路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  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6253" name="AutoShape 9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625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7266" name="Group 2"/>
          <p:cNvGrpSpPr/>
          <p:nvPr/>
        </p:nvGrpSpPr>
        <p:grpSpPr>
          <a:xfrm>
            <a:off x="1524000" y="1295400"/>
            <a:ext cx="9047163" cy="5453063"/>
            <a:chOff x="0" y="816"/>
            <a:chExt cx="5699" cy="3435"/>
          </a:xfrm>
        </p:grpSpPr>
        <p:grpSp>
          <p:nvGrpSpPr>
            <p:cNvPr id="267317" name="Group 3"/>
            <p:cNvGrpSpPr/>
            <p:nvPr/>
          </p:nvGrpSpPr>
          <p:grpSpPr>
            <a:xfrm>
              <a:off x="0" y="1513"/>
              <a:ext cx="729" cy="296"/>
              <a:chOff x="0" y="1513"/>
              <a:chExt cx="729" cy="296"/>
            </a:xfrm>
          </p:grpSpPr>
          <p:sp>
            <p:nvSpPr>
              <p:cNvPr id="267423" name="Line 4"/>
              <p:cNvSpPr/>
              <p:nvPr/>
            </p:nvSpPr>
            <p:spPr>
              <a:xfrm>
                <a:off x="331" y="1666"/>
                <a:ext cx="39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67424" name="Group 5"/>
              <p:cNvGrpSpPr/>
              <p:nvPr/>
            </p:nvGrpSpPr>
            <p:grpSpPr>
              <a:xfrm>
                <a:off x="0" y="1513"/>
                <a:ext cx="356" cy="296"/>
                <a:chOff x="457" y="1440"/>
                <a:chExt cx="355" cy="296"/>
              </a:xfrm>
            </p:grpSpPr>
            <p:sp>
              <p:nvSpPr>
                <p:cNvPr id="267425" name="Text Box 6"/>
                <p:cNvSpPr txBox="1"/>
                <p:nvPr/>
              </p:nvSpPr>
              <p:spPr>
                <a:xfrm>
                  <a:off x="457" y="1440"/>
                  <a:ext cx="253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426" name="Text Box 7"/>
                <p:cNvSpPr txBox="1"/>
                <p:nvPr/>
              </p:nvSpPr>
              <p:spPr>
                <a:xfrm>
                  <a:off x="641" y="1543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67318" name="Group 8"/>
            <p:cNvGrpSpPr/>
            <p:nvPr/>
          </p:nvGrpSpPr>
          <p:grpSpPr>
            <a:xfrm>
              <a:off x="0" y="1969"/>
              <a:ext cx="727" cy="296"/>
              <a:chOff x="0" y="1969"/>
              <a:chExt cx="727" cy="296"/>
            </a:xfrm>
          </p:grpSpPr>
          <p:sp>
            <p:nvSpPr>
              <p:cNvPr id="267419" name="Line 9"/>
              <p:cNvSpPr/>
              <p:nvPr/>
            </p:nvSpPr>
            <p:spPr>
              <a:xfrm>
                <a:off x="329" y="2126"/>
                <a:ext cx="39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67420" name="Group 10"/>
              <p:cNvGrpSpPr/>
              <p:nvPr/>
            </p:nvGrpSpPr>
            <p:grpSpPr>
              <a:xfrm>
                <a:off x="0" y="1969"/>
                <a:ext cx="356" cy="296"/>
                <a:chOff x="445" y="1968"/>
                <a:chExt cx="355" cy="296"/>
              </a:xfrm>
            </p:grpSpPr>
            <p:sp>
              <p:nvSpPr>
                <p:cNvPr id="267421" name="Text Box 11"/>
                <p:cNvSpPr txBox="1"/>
                <p:nvPr/>
              </p:nvSpPr>
              <p:spPr>
                <a:xfrm>
                  <a:off x="445" y="1968"/>
                  <a:ext cx="253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422" name="Text Box 12"/>
                <p:cNvSpPr txBox="1"/>
                <p:nvPr/>
              </p:nvSpPr>
              <p:spPr>
                <a:xfrm>
                  <a:off x="629" y="2071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67319" name="Group 13"/>
            <p:cNvGrpSpPr/>
            <p:nvPr/>
          </p:nvGrpSpPr>
          <p:grpSpPr>
            <a:xfrm>
              <a:off x="0" y="2425"/>
              <a:ext cx="725" cy="297"/>
              <a:chOff x="0" y="2425"/>
              <a:chExt cx="725" cy="297"/>
            </a:xfrm>
          </p:grpSpPr>
          <p:sp>
            <p:nvSpPr>
              <p:cNvPr id="267415" name="Line 14"/>
              <p:cNvSpPr/>
              <p:nvPr/>
            </p:nvSpPr>
            <p:spPr>
              <a:xfrm>
                <a:off x="327" y="2587"/>
                <a:ext cx="39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67416" name="Group 15"/>
              <p:cNvGrpSpPr/>
              <p:nvPr/>
            </p:nvGrpSpPr>
            <p:grpSpPr>
              <a:xfrm>
                <a:off x="0" y="2425"/>
                <a:ext cx="356" cy="297"/>
                <a:chOff x="481" y="2460"/>
                <a:chExt cx="355" cy="296"/>
              </a:xfrm>
            </p:grpSpPr>
            <p:sp>
              <p:nvSpPr>
                <p:cNvPr id="267417" name="Text Box 16"/>
                <p:cNvSpPr txBox="1"/>
                <p:nvPr/>
              </p:nvSpPr>
              <p:spPr>
                <a:xfrm>
                  <a:off x="481" y="2460"/>
                  <a:ext cx="253" cy="28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418" name="Text Box 17"/>
                <p:cNvSpPr txBox="1"/>
                <p:nvPr/>
              </p:nvSpPr>
              <p:spPr>
                <a:xfrm>
                  <a:off x="665" y="2563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67320" name="Group 18"/>
            <p:cNvGrpSpPr/>
            <p:nvPr/>
          </p:nvGrpSpPr>
          <p:grpSpPr>
            <a:xfrm>
              <a:off x="0" y="2882"/>
              <a:ext cx="736" cy="296"/>
              <a:chOff x="0" y="2882"/>
              <a:chExt cx="736" cy="296"/>
            </a:xfrm>
          </p:grpSpPr>
          <p:sp>
            <p:nvSpPr>
              <p:cNvPr id="267411" name="Line 19"/>
              <p:cNvSpPr/>
              <p:nvPr/>
            </p:nvSpPr>
            <p:spPr>
              <a:xfrm>
                <a:off x="338" y="3048"/>
                <a:ext cx="39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67412" name="Group 20"/>
              <p:cNvGrpSpPr/>
              <p:nvPr/>
            </p:nvGrpSpPr>
            <p:grpSpPr>
              <a:xfrm>
                <a:off x="0" y="2882"/>
                <a:ext cx="356" cy="296"/>
                <a:chOff x="409" y="2928"/>
                <a:chExt cx="355" cy="296"/>
              </a:xfrm>
            </p:grpSpPr>
            <p:sp>
              <p:nvSpPr>
                <p:cNvPr id="267413" name="Text Box 21"/>
                <p:cNvSpPr txBox="1"/>
                <p:nvPr/>
              </p:nvSpPr>
              <p:spPr>
                <a:xfrm>
                  <a:off x="409" y="2928"/>
                  <a:ext cx="253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414" name="Text Box 22"/>
                <p:cNvSpPr txBox="1"/>
                <p:nvPr/>
              </p:nvSpPr>
              <p:spPr>
                <a:xfrm>
                  <a:off x="593" y="3031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67321" name="Group 23"/>
            <p:cNvGrpSpPr/>
            <p:nvPr/>
          </p:nvGrpSpPr>
          <p:grpSpPr>
            <a:xfrm>
              <a:off x="24" y="1057"/>
              <a:ext cx="714" cy="296"/>
              <a:chOff x="24" y="1057"/>
              <a:chExt cx="714" cy="296"/>
            </a:xfrm>
          </p:grpSpPr>
          <p:sp>
            <p:nvSpPr>
              <p:cNvPr id="267407" name="Line 24"/>
              <p:cNvSpPr/>
              <p:nvPr/>
            </p:nvSpPr>
            <p:spPr>
              <a:xfrm>
                <a:off x="340" y="1210"/>
                <a:ext cx="39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grpSp>
            <p:nvGrpSpPr>
              <p:cNvPr id="267408" name="Group 25"/>
              <p:cNvGrpSpPr/>
              <p:nvPr/>
            </p:nvGrpSpPr>
            <p:grpSpPr>
              <a:xfrm>
                <a:off x="24" y="1057"/>
                <a:ext cx="356" cy="296"/>
                <a:chOff x="457" y="1440"/>
                <a:chExt cx="355" cy="296"/>
              </a:xfrm>
            </p:grpSpPr>
            <p:sp>
              <p:nvSpPr>
                <p:cNvPr id="267409" name="Text Box 26"/>
                <p:cNvSpPr txBox="1"/>
                <p:nvPr/>
              </p:nvSpPr>
              <p:spPr>
                <a:xfrm>
                  <a:off x="457" y="1440"/>
                  <a:ext cx="253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410" name="Text Box 27"/>
                <p:cNvSpPr txBox="1"/>
                <p:nvPr/>
              </p:nvSpPr>
              <p:spPr>
                <a:xfrm>
                  <a:off x="641" y="1543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67322" name="Group 28"/>
            <p:cNvGrpSpPr/>
            <p:nvPr/>
          </p:nvGrpSpPr>
          <p:grpSpPr>
            <a:xfrm>
              <a:off x="733" y="816"/>
              <a:ext cx="4966" cy="3435"/>
              <a:chOff x="733" y="816"/>
              <a:chExt cx="4966" cy="3435"/>
            </a:xfrm>
          </p:grpSpPr>
          <p:sp>
            <p:nvSpPr>
              <p:cNvPr id="267323" name="Rectangle 29"/>
              <p:cNvSpPr/>
              <p:nvPr/>
            </p:nvSpPr>
            <p:spPr>
              <a:xfrm>
                <a:off x="3732" y="1019"/>
                <a:ext cx="587" cy="3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latin typeface="Times New Roman" panose="02020603050405020304" pitchFamily="18" charset="0"/>
                  </a:rPr>
                  <a:t>0,31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24" name="Rectangle 30"/>
              <p:cNvSpPr/>
              <p:nvPr/>
            </p:nvSpPr>
            <p:spPr>
              <a:xfrm>
                <a:off x="1944" y="1007"/>
                <a:ext cx="587" cy="3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latin typeface="Times New Roman" panose="02020603050405020304" pitchFamily="18" charset="0"/>
                  </a:rPr>
                  <a:t>0,0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25" name="Rectangle 31"/>
              <p:cNvSpPr/>
              <p:nvPr/>
            </p:nvSpPr>
            <p:spPr>
              <a:xfrm>
                <a:off x="1944" y="2200"/>
                <a:ext cx="587" cy="3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latin typeface="Times New Roman" panose="02020603050405020304" pitchFamily="18" charset="0"/>
                  </a:rPr>
                  <a:t>31,0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26" name="Rectangle 32"/>
              <p:cNvSpPr/>
              <p:nvPr/>
            </p:nvSpPr>
            <p:spPr>
              <a:xfrm>
                <a:off x="1769" y="816"/>
                <a:ext cx="3077" cy="2059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lgDashDot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27" name="Freeform 33"/>
              <p:cNvSpPr/>
              <p:nvPr/>
            </p:nvSpPr>
            <p:spPr>
              <a:xfrm rot="10800000">
                <a:off x="2539" y="2368"/>
                <a:ext cx="334" cy="1"/>
              </a:xfrm>
              <a:custGeom>
                <a:avLst/>
                <a:gdLst>
                  <a:gd name="txL" fmla="*/ 0 w 333"/>
                  <a:gd name="txT" fmla="*/ 0 h 1"/>
                  <a:gd name="txR" fmla="*/ 333 w 333"/>
                  <a:gd name="txB" fmla="*/ 1 h 1"/>
                </a:gdLst>
                <a:ahLst/>
                <a:cxnLst>
                  <a:cxn ang="0">
                    <a:pos x="333" y="0"/>
                  </a:cxn>
                  <a:cxn ang="0">
                    <a:pos x="0" y="1"/>
                  </a:cxn>
                </a:cxnLst>
                <a:rect l="txL" t="txT" r="txR" b="txB"/>
                <a:pathLst>
                  <a:path w="333" h="1">
                    <a:moveTo>
                      <a:pt x="333" y="0"/>
                    </a:moveTo>
                    <a:lnTo>
                      <a:pt x="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28" name="Rectangle 34"/>
              <p:cNvSpPr/>
              <p:nvPr/>
            </p:nvSpPr>
            <p:spPr>
              <a:xfrm>
                <a:off x="3732" y="2200"/>
                <a:ext cx="587" cy="3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latin typeface="Times New Roman" panose="02020603050405020304" pitchFamily="18" charset="0"/>
                  </a:rPr>
                  <a:t>31,31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29" name="Rectangle 35"/>
              <p:cNvSpPr/>
              <p:nvPr/>
            </p:nvSpPr>
            <p:spPr>
              <a:xfrm rot="5400000">
                <a:off x="2850" y="2276"/>
                <a:ext cx="384" cy="293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30" name="Text Box 36"/>
              <p:cNvSpPr txBox="1"/>
              <p:nvPr/>
            </p:nvSpPr>
            <p:spPr>
              <a:xfrm>
                <a:off x="1836" y="3559"/>
                <a:ext cx="1895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         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Y 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地址译码器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31" name="Rectangle 37"/>
              <p:cNvSpPr/>
              <p:nvPr/>
            </p:nvSpPr>
            <p:spPr>
              <a:xfrm>
                <a:off x="733" y="1036"/>
                <a:ext cx="385" cy="222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32" name="Text Box 38"/>
              <p:cNvSpPr txBox="1"/>
              <p:nvPr/>
            </p:nvSpPr>
            <p:spPr>
              <a:xfrm>
                <a:off x="768" y="1394"/>
                <a:ext cx="309" cy="145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800" b="1" dirty="0"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33" name="Freeform 39"/>
              <p:cNvSpPr/>
              <p:nvPr/>
            </p:nvSpPr>
            <p:spPr>
              <a:xfrm>
                <a:off x="1125" y="1347"/>
                <a:ext cx="2907" cy="237"/>
              </a:xfrm>
              <a:custGeom>
                <a:avLst/>
                <a:gdLst>
                  <a:gd name="txL" fmla="*/ 0 w 2907"/>
                  <a:gd name="txT" fmla="*/ 0 h 237"/>
                  <a:gd name="txR" fmla="*/ 2907 w 2907"/>
                  <a:gd name="txB" fmla="*/ 237 h 237"/>
                </a:gdLst>
                <a:ahLst/>
                <a:cxnLst>
                  <a:cxn ang="0">
                    <a:pos x="0" y="237"/>
                  </a:cxn>
                  <a:cxn ang="0">
                    <a:pos x="2904" y="237"/>
                  </a:cxn>
                  <a:cxn ang="0">
                    <a:pos x="2907" y="0"/>
                  </a:cxn>
                </a:cxnLst>
                <a:rect l="txL" t="txT" r="txR" b="txB"/>
                <a:pathLst>
                  <a:path w="2907" h="237">
                    <a:moveTo>
                      <a:pt x="0" y="237"/>
                    </a:moveTo>
                    <a:lnTo>
                      <a:pt x="2904" y="237"/>
                    </a:lnTo>
                    <a:lnTo>
                      <a:pt x="290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34" name="Freeform 40"/>
              <p:cNvSpPr/>
              <p:nvPr/>
            </p:nvSpPr>
            <p:spPr>
              <a:xfrm>
                <a:off x="2229" y="1344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35" name="Freeform 41"/>
              <p:cNvSpPr/>
              <p:nvPr/>
            </p:nvSpPr>
            <p:spPr>
              <a:xfrm>
                <a:off x="1129" y="2531"/>
                <a:ext cx="2963" cy="256"/>
              </a:xfrm>
              <a:custGeom>
                <a:avLst/>
                <a:gdLst>
                  <a:gd name="txL" fmla="*/ 0 w 2406"/>
                  <a:gd name="txT" fmla="*/ 0 h 243"/>
                  <a:gd name="txR" fmla="*/ 2406 w 2406"/>
                  <a:gd name="txB" fmla="*/ 243 h 243"/>
                </a:gdLst>
                <a:ahLst/>
                <a:cxnLst>
                  <a:cxn ang="0">
                    <a:pos x="0" y="243"/>
                  </a:cxn>
                  <a:cxn ang="0">
                    <a:pos x="2406" y="243"/>
                  </a:cxn>
                  <a:cxn ang="0">
                    <a:pos x="2406" y="0"/>
                  </a:cxn>
                </a:cxnLst>
                <a:rect l="txL" t="txT" r="txR" b="txB"/>
                <a:pathLst>
                  <a:path w="2406" h="243">
                    <a:moveTo>
                      <a:pt x="0" y="243"/>
                    </a:moveTo>
                    <a:lnTo>
                      <a:pt x="2406" y="243"/>
                    </a:lnTo>
                    <a:lnTo>
                      <a:pt x="240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36" name="Freeform 42"/>
              <p:cNvSpPr/>
              <p:nvPr/>
            </p:nvSpPr>
            <p:spPr>
              <a:xfrm>
                <a:off x="2248" y="2545"/>
                <a:ext cx="1" cy="239"/>
              </a:xfrm>
              <a:custGeom>
                <a:avLst/>
                <a:gdLst>
                  <a:gd name="txL" fmla="*/ 0 w 1"/>
                  <a:gd name="txT" fmla="*/ 0 h 239"/>
                  <a:gd name="txR" fmla="*/ 1 w 1"/>
                  <a:gd name="txB" fmla="*/ 239 h 239"/>
                </a:gdLst>
                <a:ahLst/>
                <a:cxnLst>
                  <a:cxn ang="0">
                    <a:pos x="0" y="0"/>
                  </a:cxn>
                  <a:cxn ang="0">
                    <a:pos x="0" y="239"/>
                  </a:cxn>
                </a:cxnLst>
                <a:rect l="txL" t="txT" r="txR" b="txB"/>
                <a:pathLst>
                  <a:path w="1" h="239">
                    <a:moveTo>
                      <a:pt x="0" y="0"/>
                    </a:moveTo>
                    <a:lnTo>
                      <a:pt x="0" y="23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37" name="Freeform 43"/>
              <p:cNvSpPr/>
              <p:nvPr/>
            </p:nvSpPr>
            <p:spPr>
              <a:xfrm>
                <a:off x="2132" y="3941"/>
                <a:ext cx="1" cy="295"/>
              </a:xfrm>
              <a:custGeom>
                <a:avLst/>
                <a:gdLst>
                  <a:gd name="txL" fmla="*/ 0 w 1"/>
                  <a:gd name="txT" fmla="*/ 0 h 295"/>
                  <a:gd name="txR" fmla="*/ 1 w 1"/>
                  <a:gd name="txB" fmla="*/ 295 h 295"/>
                </a:gdLst>
                <a:ahLst/>
                <a:cxnLst>
                  <a:cxn ang="0">
                    <a:pos x="0" y="0"/>
                  </a:cxn>
                  <a:cxn ang="0">
                    <a:pos x="0" y="295"/>
                  </a:cxn>
                </a:cxnLst>
                <a:rect l="txL" t="txT" r="txR" b="txB"/>
                <a:pathLst>
                  <a:path w="1" h="295">
                    <a:moveTo>
                      <a:pt x="0" y="0"/>
                    </a:moveTo>
                    <a:lnTo>
                      <a:pt x="0" y="29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38" name="Freeform 44"/>
              <p:cNvSpPr/>
              <p:nvPr/>
            </p:nvSpPr>
            <p:spPr>
              <a:xfrm>
                <a:off x="4088" y="3941"/>
                <a:ext cx="1" cy="295"/>
              </a:xfrm>
              <a:custGeom>
                <a:avLst/>
                <a:gdLst>
                  <a:gd name="txL" fmla="*/ 0 w 1"/>
                  <a:gd name="txT" fmla="*/ 0 h 295"/>
                  <a:gd name="txR" fmla="*/ 1 w 1"/>
                  <a:gd name="txB" fmla="*/ 295 h 295"/>
                </a:gdLst>
                <a:ahLst/>
                <a:cxnLst>
                  <a:cxn ang="0">
                    <a:pos x="0" y="0"/>
                  </a:cxn>
                  <a:cxn ang="0">
                    <a:pos x="0" y="295"/>
                  </a:cxn>
                </a:cxnLst>
                <a:rect l="txL" t="txT" r="txR" b="txB"/>
                <a:pathLst>
                  <a:path w="1" h="295">
                    <a:moveTo>
                      <a:pt x="0" y="0"/>
                    </a:moveTo>
                    <a:lnTo>
                      <a:pt x="0" y="29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39" name="Text Box 45"/>
              <p:cNvSpPr txBox="1"/>
              <p:nvPr/>
            </p:nvSpPr>
            <p:spPr>
              <a:xfrm>
                <a:off x="2461" y="1564"/>
                <a:ext cx="1029" cy="5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      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32×32  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           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矩阵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40" name="Text Box 46"/>
              <p:cNvSpPr txBox="1"/>
              <p:nvPr/>
            </p:nvSpPr>
            <p:spPr>
              <a:xfrm rot="5400000">
                <a:off x="2137" y="1692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41" name="Text Box 47"/>
              <p:cNvSpPr txBox="1"/>
              <p:nvPr/>
            </p:nvSpPr>
            <p:spPr>
              <a:xfrm rot="5400000">
                <a:off x="3928" y="1704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67342" name="Group 48"/>
              <p:cNvGrpSpPr/>
              <p:nvPr/>
            </p:nvGrpSpPr>
            <p:grpSpPr>
              <a:xfrm>
                <a:off x="1808" y="3939"/>
                <a:ext cx="355" cy="312"/>
                <a:chOff x="1808" y="3939"/>
                <a:chExt cx="355" cy="312"/>
              </a:xfrm>
            </p:grpSpPr>
            <p:sp>
              <p:nvSpPr>
                <p:cNvPr id="267405" name="Text Box 49"/>
                <p:cNvSpPr txBox="1"/>
                <p:nvPr/>
              </p:nvSpPr>
              <p:spPr>
                <a:xfrm>
                  <a:off x="1808" y="3939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406" name="Text Box 50"/>
                <p:cNvSpPr txBox="1"/>
                <p:nvPr/>
              </p:nvSpPr>
              <p:spPr>
                <a:xfrm>
                  <a:off x="1992" y="4058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9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7343" name="Group 51"/>
              <p:cNvGrpSpPr/>
              <p:nvPr/>
            </p:nvGrpSpPr>
            <p:grpSpPr>
              <a:xfrm>
                <a:off x="2031" y="2949"/>
                <a:ext cx="48" cy="243"/>
                <a:chOff x="2031" y="2949"/>
                <a:chExt cx="48" cy="243"/>
              </a:xfrm>
            </p:grpSpPr>
            <p:sp>
              <p:nvSpPr>
                <p:cNvPr id="267403" name="Line 52"/>
                <p:cNvSpPr/>
                <p:nvPr/>
              </p:nvSpPr>
              <p:spPr>
                <a:xfrm rot="-5400000">
                  <a:off x="1892" y="3053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67404" name="Line 53"/>
                <p:cNvSpPr/>
                <p:nvPr/>
              </p:nvSpPr>
              <p:spPr>
                <a:xfrm rot="-5400000">
                  <a:off x="1988" y="3056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67344" name="Group 54"/>
              <p:cNvGrpSpPr/>
              <p:nvPr/>
            </p:nvGrpSpPr>
            <p:grpSpPr>
              <a:xfrm>
                <a:off x="2416" y="2949"/>
                <a:ext cx="49" cy="243"/>
                <a:chOff x="2416" y="2949"/>
                <a:chExt cx="49" cy="243"/>
              </a:xfrm>
            </p:grpSpPr>
            <p:sp>
              <p:nvSpPr>
                <p:cNvPr id="267401" name="Line 55"/>
                <p:cNvSpPr/>
                <p:nvPr/>
              </p:nvSpPr>
              <p:spPr>
                <a:xfrm rot="5400000">
                  <a:off x="2326" y="3053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67402" name="Line 56"/>
                <p:cNvSpPr/>
                <p:nvPr/>
              </p:nvSpPr>
              <p:spPr>
                <a:xfrm rot="5400000">
                  <a:off x="2325" y="3050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67345" name="Group 57"/>
              <p:cNvGrpSpPr/>
              <p:nvPr/>
            </p:nvGrpSpPr>
            <p:grpSpPr>
              <a:xfrm>
                <a:off x="3832" y="2961"/>
                <a:ext cx="48" cy="243"/>
                <a:chOff x="3832" y="2961"/>
                <a:chExt cx="48" cy="243"/>
              </a:xfrm>
            </p:grpSpPr>
            <p:sp>
              <p:nvSpPr>
                <p:cNvPr id="267399" name="Line 58"/>
                <p:cNvSpPr/>
                <p:nvPr/>
              </p:nvSpPr>
              <p:spPr>
                <a:xfrm rot="-5400000">
                  <a:off x="3693" y="3065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67400" name="Line 59"/>
                <p:cNvSpPr/>
                <p:nvPr/>
              </p:nvSpPr>
              <p:spPr>
                <a:xfrm rot="-5400000">
                  <a:off x="3789" y="3068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67346" name="Group 60"/>
              <p:cNvGrpSpPr/>
              <p:nvPr/>
            </p:nvGrpSpPr>
            <p:grpSpPr>
              <a:xfrm>
                <a:off x="4217" y="2961"/>
                <a:ext cx="48" cy="243"/>
                <a:chOff x="4217" y="2961"/>
                <a:chExt cx="48" cy="243"/>
              </a:xfrm>
            </p:grpSpPr>
            <p:sp>
              <p:nvSpPr>
                <p:cNvPr id="267397" name="Line 61"/>
                <p:cNvSpPr/>
                <p:nvPr/>
              </p:nvSpPr>
              <p:spPr>
                <a:xfrm rot="5400000">
                  <a:off x="4126" y="3065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67398" name="Line 62"/>
                <p:cNvSpPr/>
                <p:nvPr/>
              </p:nvSpPr>
              <p:spPr>
                <a:xfrm rot="5400000">
                  <a:off x="4126" y="3062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67347" name="Rectangle 63"/>
              <p:cNvSpPr/>
              <p:nvPr/>
            </p:nvSpPr>
            <p:spPr>
              <a:xfrm>
                <a:off x="4834" y="3088"/>
                <a:ext cx="589" cy="36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r>
                  <a:rPr lang="en-US" altLang="zh-CN" sz="2400" b="1" dirty="0">
                    <a:latin typeface="Times New Roman" panose="02020603050405020304" pitchFamily="18" charset="0"/>
                  </a:rPr>
                  <a:t>I/O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48" name="Freeform 64"/>
              <p:cNvSpPr/>
              <p:nvPr/>
            </p:nvSpPr>
            <p:spPr>
              <a:xfrm>
                <a:off x="2465" y="3120"/>
                <a:ext cx="2366" cy="168"/>
              </a:xfrm>
              <a:custGeom>
                <a:avLst/>
                <a:gdLst>
                  <a:gd name="txL" fmla="*/ 0 w 2361"/>
                  <a:gd name="txT" fmla="*/ 0 h 168"/>
                  <a:gd name="txR" fmla="*/ 2361 w 2361"/>
                  <a:gd name="txB" fmla="*/ 168 h 168"/>
                </a:gdLst>
                <a:ahLst/>
                <a:cxnLst>
                  <a:cxn ang="0">
                    <a:pos x="0" y="0"/>
                  </a:cxn>
                  <a:cxn ang="0">
                    <a:pos x="416" y="0"/>
                  </a:cxn>
                  <a:cxn ang="0">
                    <a:pos x="417" y="168"/>
                  </a:cxn>
                  <a:cxn ang="0">
                    <a:pos x="2361" y="167"/>
                  </a:cxn>
                </a:cxnLst>
                <a:rect l="txL" t="txT" r="txR" b="txB"/>
                <a:pathLst>
                  <a:path w="2361" h="168">
                    <a:moveTo>
                      <a:pt x="0" y="0"/>
                    </a:moveTo>
                    <a:lnTo>
                      <a:pt x="416" y="0"/>
                    </a:lnTo>
                    <a:lnTo>
                      <a:pt x="417" y="168"/>
                    </a:lnTo>
                    <a:lnTo>
                      <a:pt x="2361" y="16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49" name="Freeform 65"/>
              <p:cNvSpPr/>
              <p:nvPr/>
            </p:nvSpPr>
            <p:spPr>
              <a:xfrm>
                <a:off x="1625" y="3123"/>
                <a:ext cx="3207" cy="284"/>
              </a:xfrm>
              <a:custGeom>
                <a:avLst/>
                <a:gdLst>
                  <a:gd name="txL" fmla="*/ 0 w 3200"/>
                  <a:gd name="txT" fmla="*/ 0 h 284"/>
                  <a:gd name="txR" fmla="*/ 3200 w 3200"/>
                  <a:gd name="txB" fmla="*/ 284 h 284"/>
                </a:gdLst>
                <a:ahLst/>
                <a:cxnLst>
                  <a:cxn ang="0">
                    <a:pos x="403" y="0"/>
                  </a:cxn>
                  <a:cxn ang="0">
                    <a:pos x="0" y="0"/>
                  </a:cxn>
                  <a:cxn ang="0">
                    <a:pos x="1" y="284"/>
                  </a:cxn>
                  <a:cxn ang="0">
                    <a:pos x="3200" y="284"/>
                  </a:cxn>
                </a:cxnLst>
                <a:rect l="txL" t="txT" r="txR" b="txB"/>
                <a:pathLst>
                  <a:path w="3200" h="284">
                    <a:moveTo>
                      <a:pt x="403" y="0"/>
                    </a:moveTo>
                    <a:lnTo>
                      <a:pt x="0" y="0"/>
                    </a:lnTo>
                    <a:lnTo>
                      <a:pt x="1" y="284"/>
                    </a:lnTo>
                    <a:lnTo>
                      <a:pt x="3200" y="28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50" name="Freeform 66"/>
              <p:cNvSpPr/>
              <p:nvPr/>
            </p:nvSpPr>
            <p:spPr>
              <a:xfrm>
                <a:off x="1584" y="1172"/>
                <a:ext cx="445" cy="1852"/>
              </a:xfrm>
              <a:custGeom>
                <a:avLst/>
                <a:gdLst>
                  <a:gd name="txL" fmla="*/ 0 w 445"/>
                  <a:gd name="txT" fmla="*/ 0 h 1852"/>
                  <a:gd name="txR" fmla="*/ 445 w 445"/>
                  <a:gd name="txB" fmla="*/ 1852 h 1852"/>
                </a:gdLst>
                <a:ahLst/>
                <a:cxnLst>
                  <a:cxn ang="0">
                    <a:pos x="445" y="1852"/>
                  </a:cxn>
                  <a:cxn ang="0">
                    <a:pos x="1" y="1852"/>
                  </a:cxn>
                  <a:cxn ang="0">
                    <a:pos x="0" y="0"/>
                  </a:cxn>
                  <a:cxn ang="0">
                    <a:pos x="357" y="1"/>
                  </a:cxn>
                </a:cxnLst>
                <a:rect l="txL" t="txT" r="txR" b="txB"/>
                <a:pathLst>
                  <a:path w="445" h="1852">
                    <a:moveTo>
                      <a:pt x="445" y="1852"/>
                    </a:moveTo>
                    <a:lnTo>
                      <a:pt x="1" y="1852"/>
                    </a:lnTo>
                    <a:lnTo>
                      <a:pt x="0" y="0"/>
                    </a:lnTo>
                    <a:lnTo>
                      <a:pt x="35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51" name="Freeform 67"/>
              <p:cNvSpPr/>
              <p:nvPr/>
            </p:nvSpPr>
            <p:spPr>
              <a:xfrm>
                <a:off x="2465" y="1178"/>
                <a:ext cx="417" cy="1849"/>
              </a:xfrm>
              <a:custGeom>
                <a:avLst/>
                <a:gdLst>
                  <a:gd name="txL" fmla="*/ 0 w 416"/>
                  <a:gd name="txT" fmla="*/ 0 h 1848"/>
                  <a:gd name="txR" fmla="*/ 416 w 416"/>
                  <a:gd name="txB" fmla="*/ 1848 h 1848"/>
                </a:gdLst>
                <a:ahLst/>
                <a:cxnLst>
                  <a:cxn ang="0">
                    <a:pos x="66" y="0"/>
                  </a:cxn>
                  <a:cxn ang="0">
                    <a:pos x="414" y="0"/>
                  </a:cxn>
                  <a:cxn ang="0">
                    <a:pos x="416" y="1847"/>
                  </a:cxn>
                  <a:cxn ang="0">
                    <a:pos x="0" y="1848"/>
                  </a:cxn>
                </a:cxnLst>
                <a:rect l="txL" t="txT" r="txR" b="txB"/>
                <a:pathLst>
                  <a:path w="416" h="1848">
                    <a:moveTo>
                      <a:pt x="66" y="0"/>
                    </a:moveTo>
                    <a:lnTo>
                      <a:pt x="414" y="0"/>
                    </a:lnTo>
                    <a:lnTo>
                      <a:pt x="416" y="1847"/>
                    </a:lnTo>
                    <a:lnTo>
                      <a:pt x="0" y="1848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52" name="Freeform 68"/>
              <p:cNvSpPr/>
              <p:nvPr/>
            </p:nvSpPr>
            <p:spPr>
              <a:xfrm>
                <a:off x="2081" y="3073"/>
                <a:ext cx="329" cy="1"/>
              </a:xfrm>
              <a:custGeom>
                <a:avLst/>
                <a:gdLst>
                  <a:gd name="txL" fmla="*/ 0 w 329"/>
                  <a:gd name="txT" fmla="*/ 0 h 1"/>
                  <a:gd name="txR" fmla="*/ 329 w 32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29" y="1"/>
                  </a:cxn>
                </a:cxnLst>
                <a:rect l="txL" t="txT" r="txR" b="txB"/>
                <a:pathLst>
                  <a:path w="329" h="1">
                    <a:moveTo>
                      <a:pt x="0" y="0"/>
                    </a:moveTo>
                    <a:lnTo>
                      <a:pt x="329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53" name="Freeform 69"/>
              <p:cNvSpPr/>
              <p:nvPr/>
            </p:nvSpPr>
            <p:spPr>
              <a:xfrm>
                <a:off x="4263" y="1172"/>
                <a:ext cx="412" cy="1855"/>
              </a:xfrm>
              <a:custGeom>
                <a:avLst/>
                <a:gdLst>
                  <a:gd name="txL" fmla="*/ 0 w 412"/>
                  <a:gd name="txT" fmla="*/ 0 h 1855"/>
                  <a:gd name="txR" fmla="*/ 412 w 412"/>
                  <a:gd name="txB" fmla="*/ 1855 h 1855"/>
                </a:gdLst>
                <a:ahLst/>
                <a:cxnLst>
                  <a:cxn ang="0">
                    <a:pos x="63" y="3"/>
                  </a:cxn>
                  <a:cxn ang="0">
                    <a:pos x="412" y="0"/>
                  </a:cxn>
                  <a:cxn ang="0">
                    <a:pos x="411" y="1852"/>
                  </a:cxn>
                  <a:cxn ang="0">
                    <a:pos x="0" y="1855"/>
                  </a:cxn>
                </a:cxnLst>
                <a:rect l="txL" t="txT" r="txR" b="txB"/>
                <a:pathLst>
                  <a:path w="412" h="1855">
                    <a:moveTo>
                      <a:pt x="63" y="3"/>
                    </a:moveTo>
                    <a:lnTo>
                      <a:pt x="412" y="0"/>
                    </a:lnTo>
                    <a:lnTo>
                      <a:pt x="411" y="1852"/>
                    </a:lnTo>
                    <a:lnTo>
                      <a:pt x="0" y="185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54" name="Freeform 70"/>
              <p:cNvSpPr/>
              <p:nvPr/>
            </p:nvSpPr>
            <p:spPr>
              <a:xfrm>
                <a:off x="3406" y="1172"/>
                <a:ext cx="415" cy="1852"/>
              </a:xfrm>
              <a:custGeom>
                <a:avLst/>
                <a:gdLst>
                  <a:gd name="txL" fmla="*/ 0 w 414"/>
                  <a:gd name="txT" fmla="*/ 0 h 1851"/>
                  <a:gd name="txR" fmla="*/ 414 w 414"/>
                  <a:gd name="txB" fmla="*/ 1851 h 1851"/>
                </a:gdLst>
                <a:ahLst/>
                <a:cxnLst>
                  <a:cxn ang="0">
                    <a:pos x="414" y="1851"/>
                  </a:cxn>
                  <a:cxn ang="0">
                    <a:pos x="3" y="1851"/>
                  </a:cxn>
                  <a:cxn ang="0">
                    <a:pos x="0" y="3"/>
                  </a:cxn>
                  <a:cxn ang="0">
                    <a:pos x="318" y="0"/>
                  </a:cxn>
                </a:cxnLst>
                <a:rect l="txL" t="txT" r="txR" b="txB"/>
                <a:pathLst>
                  <a:path w="414" h="1851">
                    <a:moveTo>
                      <a:pt x="414" y="1851"/>
                    </a:moveTo>
                    <a:lnTo>
                      <a:pt x="3" y="1851"/>
                    </a:lnTo>
                    <a:lnTo>
                      <a:pt x="0" y="3"/>
                    </a:lnTo>
                    <a:lnTo>
                      <a:pt x="3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55" name="Freeform 71"/>
              <p:cNvSpPr/>
              <p:nvPr/>
            </p:nvSpPr>
            <p:spPr>
              <a:xfrm>
                <a:off x="2253" y="3069"/>
                <a:ext cx="3" cy="489"/>
              </a:xfrm>
              <a:custGeom>
                <a:avLst/>
                <a:gdLst>
                  <a:gd name="txL" fmla="*/ 0 w 3"/>
                  <a:gd name="txT" fmla="*/ 0 h 489"/>
                  <a:gd name="txR" fmla="*/ 3 w 3"/>
                  <a:gd name="txB" fmla="*/ 489 h 489"/>
                </a:gdLst>
                <a:ahLst/>
                <a:cxnLst>
                  <a:cxn ang="0">
                    <a:pos x="3" y="0"/>
                  </a:cxn>
                  <a:cxn ang="0">
                    <a:pos x="0" y="489"/>
                  </a:cxn>
                </a:cxnLst>
                <a:rect l="txL" t="txT" r="txR" b="txB"/>
                <a:pathLst>
                  <a:path w="3" h="489">
                    <a:moveTo>
                      <a:pt x="3" y="0"/>
                    </a:moveTo>
                    <a:lnTo>
                      <a:pt x="0" y="48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56" name="Freeform 72"/>
              <p:cNvSpPr/>
              <p:nvPr/>
            </p:nvSpPr>
            <p:spPr>
              <a:xfrm>
                <a:off x="4043" y="3071"/>
                <a:ext cx="2" cy="490"/>
              </a:xfrm>
              <a:custGeom>
                <a:avLst/>
                <a:gdLst>
                  <a:gd name="txL" fmla="*/ 0 w 2"/>
                  <a:gd name="txT" fmla="*/ 0 h 490"/>
                  <a:gd name="txR" fmla="*/ 2 w 2"/>
                  <a:gd name="txB" fmla="*/ 490 h 490"/>
                </a:gdLst>
                <a:ahLst/>
                <a:cxnLst>
                  <a:cxn ang="0">
                    <a:pos x="0" y="0"/>
                  </a:cxn>
                  <a:cxn ang="0">
                    <a:pos x="2" y="490"/>
                  </a:cxn>
                </a:cxnLst>
                <a:rect l="txL" t="txT" r="txR" b="txB"/>
                <a:pathLst>
                  <a:path w="2" h="490">
                    <a:moveTo>
                      <a:pt x="0" y="0"/>
                    </a:moveTo>
                    <a:lnTo>
                      <a:pt x="2" y="49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57" name="Freeform 73"/>
              <p:cNvSpPr/>
              <p:nvPr/>
            </p:nvSpPr>
            <p:spPr>
              <a:xfrm>
                <a:off x="3885" y="3073"/>
                <a:ext cx="330" cy="1"/>
              </a:xfrm>
              <a:custGeom>
                <a:avLst/>
                <a:gdLst>
                  <a:gd name="txL" fmla="*/ 0 w 329"/>
                  <a:gd name="txT" fmla="*/ 0 h 1"/>
                  <a:gd name="txR" fmla="*/ 329 w 32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29" y="1"/>
                  </a:cxn>
                </a:cxnLst>
                <a:rect l="txL" t="txT" r="txR" b="txB"/>
                <a:pathLst>
                  <a:path w="329" h="1">
                    <a:moveTo>
                      <a:pt x="0" y="0"/>
                    </a:moveTo>
                    <a:lnTo>
                      <a:pt x="329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58" name="Freeform 74"/>
              <p:cNvSpPr/>
              <p:nvPr/>
            </p:nvSpPr>
            <p:spPr>
              <a:xfrm>
                <a:off x="3395" y="3125"/>
                <a:ext cx="430" cy="283"/>
              </a:xfrm>
              <a:custGeom>
                <a:avLst/>
                <a:gdLst>
                  <a:gd name="txL" fmla="*/ 0 w 430"/>
                  <a:gd name="txT" fmla="*/ 0 h 283"/>
                  <a:gd name="txR" fmla="*/ 430 w 430"/>
                  <a:gd name="txB" fmla="*/ 283 h 283"/>
                </a:gdLst>
                <a:ahLst/>
                <a:cxnLst>
                  <a:cxn ang="0">
                    <a:pos x="430" y="0"/>
                  </a:cxn>
                  <a:cxn ang="0">
                    <a:pos x="0" y="0"/>
                  </a:cxn>
                  <a:cxn ang="0">
                    <a:pos x="4" y="283"/>
                  </a:cxn>
                </a:cxnLst>
                <a:rect l="txL" t="txT" r="txR" b="txB"/>
                <a:pathLst>
                  <a:path w="430" h="283">
                    <a:moveTo>
                      <a:pt x="430" y="0"/>
                    </a:moveTo>
                    <a:lnTo>
                      <a:pt x="0" y="0"/>
                    </a:lnTo>
                    <a:lnTo>
                      <a:pt x="4" y="28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59" name="Freeform 75"/>
              <p:cNvSpPr/>
              <p:nvPr/>
            </p:nvSpPr>
            <p:spPr>
              <a:xfrm>
                <a:off x="4266" y="3122"/>
                <a:ext cx="418" cy="163"/>
              </a:xfrm>
              <a:custGeom>
                <a:avLst/>
                <a:gdLst>
                  <a:gd name="txL" fmla="*/ 0 w 417"/>
                  <a:gd name="txT" fmla="*/ 0 h 163"/>
                  <a:gd name="txR" fmla="*/ 417 w 417"/>
                  <a:gd name="txB" fmla="*/ 163 h 163"/>
                </a:gdLst>
                <a:ahLst/>
                <a:cxnLst>
                  <a:cxn ang="0">
                    <a:pos x="0" y="1"/>
                  </a:cxn>
                  <a:cxn ang="0">
                    <a:pos x="417" y="0"/>
                  </a:cxn>
                  <a:cxn ang="0">
                    <a:pos x="417" y="163"/>
                  </a:cxn>
                </a:cxnLst>
                <a:rect l="txL" t="txT" r="txR" b="txB"/>
                <a:pathLst>
                  <a:path w="417" h="163">
                    <a:moveTo>
                      <a:pt x="0" y="1"/>
                    </a:moveTo>
                    <a:lnTo>
                      <a:pt x="417" y="0"/>
                    </a:lnTo>
                    <a:lnTo>
                      <a:pt x="417" y="16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60" name="Freeform 76"/>
              <p:cNvSpPr/>
              <p:nvPr/>
            </p:nvSpPr>
            <p:spPr>
              <a:xfrm>
                <a:off x="2621" y="3941"/>
                <a:ext cx="1" cy="295"/>
              </a:xfrm>
              <a:custGeom>
                <a:avLst/>
                <a:gdLst>
                  <a:gd name="txL" fmla="*/ 0 w 1"/>
                  <a:gd name="txT" fmla="*/ 0 h 295"/>
                  <a:gd name="txR" fmla="*/ 1 w 1"/>
                  <a:gd name="txB" fmla="*/ 295 h 295"/>
                </a:gdLst>
                <a:ahLst/>
                <a:cxnLst>
                  <a:cxn ang="0">
                    <a:pos x="0" y="0"/>
                  </a:cxn>
                  <a:cxn ang="0">
                    <a:pos x="0" y="295"/>
                  </a:cxn>
                </a:cxnLst>
                <a:rect l="txL" t="txT" r="txR" b="txB"/>
                <a:pathLst>
                  <a:path w="1" h="295">
                    <a:moveTo>
                      <a:pt x="0" y="0"/>
                    </a:moveTo>
                    <a:lnTo>
                      <a:pt x="0" y="29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61" name="Freeform 77"/>
              <p:cNvSpPr/>
              <p:nvPr/>
            </p:nvSpPr>
            <p:spPr>
              <a:xfrm>
                <a:off x="3110" y="3941"/>
                <a:ext cx="1" cy="295"/>
              </a:xfrm>
              <a:custGeom>
                <a:avLst/>
                <a:gdLst>
                  <a:gd name="txL" fmla="*/ 0 w 1"/>
                  <a:gd name="txT" fmla="*/ 0 h 295"/>
                  <a:gd name="txR" fmla="*/ 1 w 1"/>
                  <a:gd name="txB" fmla="*/ 295 h 295"/>
                </a:gdLst>
                <a:ahLst/>
                <a:cxnLst>
                  <a:cxn ang="0">
                    <a:pos x="0" y="0"/>
                  </a:cxn>
                  <a:cxn ang="0">
                    <a:pos x="0" y="295"/>
                  </a:cxn>
                </a:cxnLst>
                <a:rect l="txL" t="txT" r="txR" b="txB"/>
                <a:pathLst>
                  <a:path w="1" h="295">
                    <a:moveTo>
                      <a:pt x="0" y="0"/>
                    </a:moveTo>
                    <a:lnTo>
                      <a:pt x="0" y="29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62" name="Freeform 78"/>
              <p:cNvSpPr/>
              <p:nvPr/>
            </p:nvSpPr>
            <p:spPr>
              <a:xfrm>
                <a:off x="3599" y="3941"/>
                <a:ext cx="1" cy="295"/>
              </a:xfrm>
              <a:custGeom>
                <a:avLst/>
                <a:gdLst>
                  <a:gd name="txL" fmla="*/ 0 w 1"/>
                  <a:gd name="txT" fmla="*/ 0 h 295"/>
                  <a:gd name="txR" fmla="*/ 1 w 1"/>
                  <a:gd name="txB" fmla="*/ 295 h 295"/>
                </a:gdLst>
                <a:ahLst/>
                <a:cxnLst>
                  <a:cxn ang="0">
                    <a:pos x="0" y="0"/>
                  </a:cxn>
                  <a:cxn ang="0">
                    <a:pos x="0" y="295"/>
                  </a:cxn>
                </a:cxnLst>
                <a:rect l="txL" t="txT" r="txR" b="txB"/>
                <a:pathLst>
                  <a:path w="1" h="295">
                    <a:moveTo>
                      <a:pt x="0" y="0"/>
                    </a:moveTo>
                    <a:lnTo>
                      <a:pt x="0" y="29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67363" name="Group 79"/>
              <p:cNvGrpSpPr/>
              <p:nvPr/>
            </p:nvGrpSpPr>
            <p:grpSpPr>
              <a:xfrm>
                <a:off x="2289" y="3939"/>
                <a:ext cx="355" cy="312"/>
                <a:chOff x="2289" y="3939"/>
                <a:chExt cx="355" cy="312"/>
              </a:xfrm>
            </p:grpSpPr>
            <p:sp>
              <p:nvSpPr>
                <p:cNvPr id="267395" name="Text Box 80"/>
                <p:cNvSpPr txBox="1"/>
                <p:nvPr/>
              </p:nvSpPr>
              <p:spPr>
                <a:xfrm>
                  <a:off x="2289" y="3939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96" name="Text Box 81"/>
                <p:cNvSpPr txBox="1"/>
                <p:nvPr/>
              </p:nvSpPr>
              <p:spPr>
                <a:xfrm>
                  <a:off x="2473" y="4058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8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7364" name="Group 82"/>
              <p:cNvGrpSpPr/>
              <p:nvPr/>
            </p:nvGrpSpPr>
            <p:grpSpPr>
              <a:xfrm>
                <a:off x="2782" y="3939"/>
                <a:ext cx="355" cy="312"/>
                <a:chOff x="2782" y="3939"/>
                <a:chExt cx="355" cy="312"/>
              </a:xfrm>
            </p:grpSpPr>
            <p:sp>
              <p:nvSpPr>
                <p:cNvPr id="267393" name="Text Box 83"/>
                <p:cNvSpPr txBox="1"/>
                <p:nvPr/>
              </p:nvSpPr>
              <p:spPr>
                <a:xfrm>
                  <a:off x="2782" y="3939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94" name="Text Box 84"/>
                <p:cNvSpPr txBox="1"/>
                <p:nvPr/>
              </p:nvSpPr>
              <p:spPr>
                <a:xfrm>
                  <a:off x="2966" y="4058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7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7365" name="Group 85"/>
              <p:cNvGrpSpPr/>
              <p:nvPr/>
            </p:nvGrpSpPr>
            <p:grpSpPr>
              <a:xfrm>
                <a:off x="3757" y="3939"/>
                <a:ext cx="354" cy="312"/>
                <a:chOff x="3757" y="3939"/>
                <a:chExt cx="354" cy="312"/>
              </a:xfrm>
            </p:grpSpPr>
            <p:sp>
              <p:nvSpPr>
                <p:cNvPr id="267391" name="Text Box 86"/>
                <p:cNvSpPr txBox="1"/>
                <p:nvPr/>
              </p:nvSpPr>
              <p:spPr>
                <a:xfrm>
                  <a:off x="3757" y="3939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92" name="Text Box 87"/>
                <p:cNvSpPr txBox="1"/>
                <p:nvPr/>
              </p:nvSpPr>
              <p:spPr>
                <a:xfrm>
                  <a:off x="3940" y="4058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7366" name="Group 88"/>
              <p:cNvGrpSpPr/>
              <p:nvPr/>
            </p:nvGrpSpPr>
            <p:grpSpPr>
              <a:xfrm>
                <a:off x="3275" y="3939"/>
                <a:ext cx="343" cy="304"/>
                <a:chOff x="3275" y="3939"/>
                <a:chExt cx="343" cy="304"/>
              </a:xfrm>
            </p:grpSpPr>
            <p:sp>
              <p:nvSpPr>
                <p:cNvPr id="267389" name="Text Box 89"/>
                <p:cNvSpPr txBox="1"/>
                <p:nvPr/>
              </p:nvSpPr>
              <p:spPr>
                <a:xfrm>
                  <a:off x="3447" y="4050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6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90" name="Text Box 90"/>
                <p:cNvSpPr txBox="1"/>
                <p:nvPr/>
              </p:nvSpPr>
              <p:spPr>
                <a:xfrm>
                  <a:off x="3275" y="3939"/>
                  <a:ext cx="253" cy="2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7367" name="Group 91"/>
              <p:cNvGrpSpPr/>
              <p:nvPr/>
            </p:nvGrpSpPr>
            <p:grpSpPr>
              <a:xfrm>
                <a:off x="2025" y="3531"/>
                <a:ext cx="306" cy="312"/>
                <a:chOff x="2025" y="3531"/>
                <a:chExt cx="306" cy="312"/>
              </a:xfrm>
            </p:grpSpPr>
            <p:sp>
              <p:nvSpPr>
                <p:cNvPr id="267387" name="Text Box 92"/>
                <p:cNvSpPr txBox="1"/>
                <p:nvPr/>
              </p:nvSpPr>
              <p:spPr>
                <a:xfrm>
                  <a:off x="2025" y="3531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88" name="Text Box 93"/>
                <p:cNvSpPr txBox="1"/>
                <p:nvPr/>
              </p:nvSpPr>
              <p:spPr>
                <a:xfrm>
                  <a:off x="2160" y="3650"/>
                  <a:ext cx="171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7368" name="Group 94"/>
              <p:cNvGrpSpPr/>
              <p:nvPr/>
            </p:nvGrpSpPr>
            <p:grpSpPr>
              <a:xfrm>
                <a:off x="3853" y="3531"/>
                <a:ext cx="358" cy="312"/>
                <a:chOff x="3853" y="3531"/>
                <a:chExt cx="358" cy="312"/>
              </a:xfrm>
            </p:grpSpPr>
            <p:sp>
              <p:nvSpPr>
                <p:cNvPr id="267385" name="Text Box 95"/>
                <p:cNvSpPr txBox="1"/>
                <p:nvPr/>
              </p:nvSpPr>
              <p:spPr>
                <a:xfrm>
                  <a:off x="3853" y="3531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Y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86" name="Text Box 96"/>
                <p:cNvSpPr txBox="1"/>
                <p:nvPr/>
              </p:nvSpPr>
              <p:spPr>
                <a:xfrm>
                  <a:off x="3984" y="3650"/>
                  <a:ext cx="227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31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7369" name="Group 97"/>
              <p:cNvGrpSpPr/>
              <p:nvPr/>
            </p:nvGrpSpPr>
            <p:grpSpPr>
              <a:xfrm>
                <a:off x="1203" y="1296"/>
                <a:ext cx="364" cy="299"/>
                <a:chOff x="1203" y="1296"/>
                <a:chExt cx="364" cy="299"/>
              </a:xfrm>
            </p:grpSpPr>
            <p:sp>
              <p:nvSpPr>
                <p:cNvPr id="267383" name="Text Box 98"/>
                <p:cNvSpPr txBox="1"/>
                <p:nvPr/>
              </p:nvSpPr>
              <p:spPr>
                <a:xfrm>
                  <a:off x="1203" y="1296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84" name="Text Box 99"/>
                <p:cNvSpPr txBox="1"/>
                <p:nvPr/>
              </p:nvSpPr>
              <p:spPr>
                <a:xfrm>
                  <a:off x="1388" y="1383"/>
                  <a:ext cx="179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16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67370" name="Group 100"/>
              <p:cNvGrpSpPr/>
              <p:nvPr/>
            </p:nvGrpSpPr>
            <p:grpSpPr>
              <a:xfrm>
                <a:off x="1203" y="2496"/>
                <a:ext cx="411" cy="296"/>
                <a:chOff x="1203" y="2496"/>
                <a:chExt cx="411" cy="296"/>
              </a:xfrm>
            </p:grpSpPr>
            <p:sp>
              <p:nvSpPr>
                <p:cNvPr id="267381" name="Text Box 101"/>
                <p:cNvSpPr txBox="1"/>
                <p:nvPr/>
              </p:nvSpPr>
              <p:spPr>
                <a:xfrm>
                  <a:off x="1203" y="2496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X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82" name="Text Box 102"/>
                <p:cNvSpPr txBox="1"/>
                <p:nvPr/>
              </p:nvSpPr>
              <p:spPr>
                <a:xfrm>
                  <a:off x="1387" y="2599"/>
                  <a:ext cx="227" cy="19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31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67371" name="Text Box 103"/>
              <p:cNvSpPr txBox="1"/>
              <p:nvPr/>
            </p:nvSpPr>
            <p:spPr>
              <a:xfrm>
                <a:off x="1388" y="1392"/>
                <a:ext cx="195" cy="19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endParaRPr lang="zh-CN" altLang="zh-CN" sz="1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72" name="Text Box 104"/>
              <p:cNvSpPr txBox="1"/>
              <p:nvPr/>
            </p:nvSpPr>
            <p:spPr>
              <a:xfrm>
                <a:off x="5444" y="2992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73" name="Freeform 105"/>
              <p:cNvSpPr/>
              <p:nvPr/>
            </p:nvSpPr>
            <p:spPr>
              <a:xfrm>
                <a:off x="1581" y="2367"/>
                <a:ext cx="365" cy="1"/>
              </a:xfrm>
              <a:custGeom>
                <a:avLst/>
                <a:gdLst>
                  <a:gd name="txL" fmla="*/ 0 w 365"/>
                  <a:gd name="txT" fmla="*/ 0 h 1"/>
                  <a:gd name="txR" fmla="*/ 365 w 365"/>
                  <a:gd name="txB" fmla="*/ 1 h 1"/>
                </a:gdLst>
                <a:ahLst/>
                <a:cxnLst>
                  <a:cxn ang="0">
                    <a:pos x="365" y="1"/>
                  </a:cxn>
                  <a:cxn ang="0">
                    <a:pos x="0" y="0"/>
                  </a:cxn>
                </a:cxnLst>
                <a:rect l="txL" t="txT" r="txR" b="txB"/>
                <a:pathLst>
                  <a:path w="365" h="1">
                    <a:moveTo>
                      <a:pt x="365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74" name="Freeform 106"/>
              <p:cNvSpPr/>
              <p:nvPr/>
            </p:nvSpPr>
            <p:spPr>
              <a:xfrm>
                <a:off x="5440" y="3306"/>
                <a:ext cx="259" cy="1"/>
              </a:xfrm>
              <a:custGeom>
                <a:avLst/>
                <a:gdLst>
                  <a:gd name="txL" fmla="*/ 0 w 258"/>
                  <a:gd name="txT" fmla="*/ 0 h 1"/>
                  <a:gd name="txR" fmla="*/ 258 w 25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258" y="0"/>
                  </a:cxn>
                </a:cxnLst>
                <a:rect l="txL" t="txT" r="txR" b="txB"/>
                <a:pathLst>
                  <a:path w="258" h="1">
                    <a:moveTo>
                      <a:pt x="0" y="1"/>
                    </a:moveTo>
                    <a:lnTo>
                      <a:pt x="25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75" name="Freeform 107"/>
              <p:cNvSpPr/>
              <p:nvPr/>
            </p:nvSpPr>
            <p:spPr>
              <a:xfrm rot="10800000">
                <a:off x="4331" y="2368"/>
                <a:ext cx="334" cy="1"/>
              </a:xfrm>
              <a:custGeom>
                <a:avLst/>
                <a:gdLst>
                  <a:gd name="txL" fmla="*/ 0 w 333"/>
                  <a:gd name="txT" fmla="*/ 0 h 1"/>
                  <a:gd name="txR" fmla="*/ 333 w 333"/>
                  <a:gd name="txB" fmla="*/ 1 h 1"/>
                </a:gdLst>
                <a:ahLst/>
                <a:cxnLst>
                  <a:cxn ang="0">
                    <a:pos x="333" y="0"/>
                  </a:cxn>
                  <a:cxn ang="0">
                    <a:pos x="0" y="1"/>
                  </a:cxn>
                </a:cxnLst>
                <a:rect l="txL" t="txT" r="txR" b="txB"/>
                <a:pathLst>
                  <a:path w="333" h="1">
                    <a:moveTo>
                      <a:pt x="333" y="0"/>
                    </a:moveTo>
                    <a:lnTo>
                      <a:pt x="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76" name="Freeform 108"/>
              <p:cNvSpPr/>
              <p:nvPr/>
            </p:nvSpPr>
            <p:spPr>
              <a:xfrm>
                <a:off x="3405" y="2367"/>
                <a:ext cx="321" cy="1"/>
              </a:xfrm>
              <a:custGeom>
                <a:avLst/>
                <a:gdLst>
                  <a:gd name="txL" fmla="*/ 0 w 321"/>
                  <a:gd name="txT" fmla="*/ 0 h 1"/>
                  <a:gd name="txR" fmla="*/ 321 w 321"/>
                  <a:gd name="txB" fmla="*/ 1 h 1"/>
                </a:gdLst>
                <a:ahLst/>
                <a:cxnLst>
                  <a:cxn ang="0">
                    <a:pos x="321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321" h="1">
                    <a:moveTo>
                      <a:pt x="321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377" name="Line 109"/>
              <p:cNvSpPr/>
              <p:nvPr/>
            </p:nvSpPr>
            <p:spPr>
              <a:xfrm flipV="1">
                <a:off x="5109" y="3444"/>
                <a:ext cx="0" cy="33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67378" name="Text Box 110"/>
              <p:cNvSpPr txBox="1"/>
              <p:nvPr/>
            </p:nvSpPr>
            <p:spPr>
              <a:xfrm>
                <a:off x="4821" y="3772"/>
                <a:ext cx="74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读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/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写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79" name="Text Box 111"/>
              <p:cNvSpPr txBox="1"/>
              <p:nvPr/>
            </p:nvSpPr>
            <p:spPr>
              <a:xfrm>
                <a:off x="3024" y="1034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80" name="Text Box 112"/>
              <p:cNvSpPr txBox="1"/>
              <p:nvPr/>
            </p:nvSpPr>
            <p:spPr>
              <a:xfrm>
                <a:off x="3024" y="2160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67267" name="Text Box 113"/>
          <p:cNvSpPr txBox="1"/>
          <p:nvPr/>
        </p:nvSpPr>
        <p:spPr>
          <a:xfrm>
            <a:off x="2090738" y="314325"/>
            <a:ext cx="2202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重合法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03890" name="Rectangle 11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7" name="Group 115"/>
          <p:cNvGrpSpPr/>
          <p:nvPr/>
        </p:nvGrpSpPr>
        <p:grpSpPr>
          <a:xfrm>
            <a:off x="2220913" y="1470025"/>
            <a:ext cx="6227763" cy="5380038"/>
            <a:chOff x="439" y="945"/>
            <a:chExt cx="3923" cy="3389"/>
          </a:xfrm>
        </p:grpSpPr>
        <p:grpSp>
          <p:nvGrpSpPr>
            <p:cNvPr id="267304" name="Group 116"/>
            <p:cNvGrpSpPr/>
            <p:nvPr/>
          </p:nvGrpSpPr>
          <p:grpSpPr>
            <a:xfrm>
              <a:off x="2195" y="4044"/>
              <a:ext cx="2167" cy="290"/>
              <a:chOff x="2147" y="3989"/>
              <a:chExt cx="2167" cy="290"/>
            </a:xfrm>
          </p:grpSpPr>
          <p:sp>
            <p:nvSpPr>
              <p:cNvPr id="267312" name="Text Box 117"/>
              <p:cNvSpPr txBox="1"/>
              <p:nvPr/>
            </p:nvSpPr>
            <p:spPr>
              <a:xfrm>
                <a:off x="2147" y="398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13" name="Text Box 118"/>
              <p:cNvSpPr txBox="1"/>
              <p:nvPr/>
            </p:nvSpPr>
            <p:spPr>
              <a:xfrm>
                <a:off x="2642" y="398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14" name="Text Box 119"/>
              <p:cNvSpPr txBox="1"/>
              <p:nvPr/>
            </p:nvSpPr>
            <p:spPr>
              <a:xfrm>
                <a:off x="3125" y="398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15" name="Text Box 120"/>
              <p:cNvSpPr txBox="1"/>
              <p:nvPr/>
            </p:nvSpPr>
            <p:spPr>
              <a:xfrm>
                <a:off x="3620" y="398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7316" name="Text Box 121"/>
              <p:cNvSpPr txBox="1"/>
              <p:nvPr/>
            </p:nvSpPr>
            <p:spPr>
              <a:xfrm>
                <a:off x="4103" y="398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7305" name="Group 122"/>
            <p:cNvGrpSpPr/>
            <p:nvPr/>
          </p:nvGrpSpPr>
          <p:grpSpPr>
            <a:xfrm>
              <a:off x="439" y="945"/>
              <a:ext cx="223" cy="2122"/>
              <a:chOff x="439" y="757"/>
              <a:chExt cx="223" cy="2122"/>
            </a:xfrm>
          </p:grpSpPr>
          <p:grpSp>
            <p:nvGrpSpPr>
              <p:cNvPr id="267306" name="Group 123"/>
              <p:cNvGrpSpPr/>
              <p:nvPr/>
            </p:nvGrpSpPr>
            <p:grpSpPr>
              <a:xfrm>
                <a:off x="439" y="1203"/>
                <a:ext cx="211" cy="1676"/>
                <a:chOff x="439" y="1203"/>
                <a:chExt cx="211" cy="1676"/>
              </a:xfrm>
            </p:grpSpPr>
            <p:sp>
              <p:nvSpPr>
                <p:cNvPr id="267308" name="Text Box 124"/>
                <p:cNvSpPr txBox="1"/>
                <p:nvPr/>
              </p:nvSpPr>
              <p:spPr>
                <a:xfrm>
                  <a:off x="439" y="1203"/>
                  <a:ext cx="211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09" name="Text Box 125"/>
                <p:cNvSpPr txBox="1"/>
                <p:nvPr/>
              </p:nvSpPr>
              <p:spPr>
                <a:xfrm>
                  <a:off x="439" y="1673"/>
                  <a:ext cx="211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10" name="Text Box 126"/>
                <p:cNvSpPr txBox="1"/>
                <p:nvPr/>
              </p:nvSpPr>
              <p:spPr>
                <a:xfrm>
                  <a:off x="439" y="2119"/>
                  <a:ext cx="211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11" name="Text Box 127"/>
                <p:cNvSpPr txBox="1"/>
                <p:nvPr/>
              </p:nvSpPr>
              <p:spPr>
                <a:xfrm>
                  <a:off x="439" y="2589"/>
                  <a:ext cx="211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67307" name="Text Box 128"/>
              <p:cNvSpPr txBox="1"/>
              <p:nvPr/>
            </p:nvSpPr>
            <p:spPr>
              <a:xfrm>
                <a:off x="451" y="757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3905" name="Freeform 129"/>
          <p:cNvSpPr/>
          <p:nvPr/>
        </p:nvSpPr>
        <p:spPr>
          <a:xfrm>
            <a:off x="5448300" y="1862138"/>
            <a:ext cx="660400" cy="2935287"/>
          </a:xfrm>
          <a:custGeom>
            <a:avLst/>
            <a:gdLst>
              <a:gd name="txL" fmla="*/ 0 w 416"/>
              <a:gd name="txT" fmla="*/ 0 h 1849"/>
              <a:gd name="txR" fmla="*/ 416 w 416"/>
              <a:gd name="txB" fmla="*/ 1849 h 1849"/>
            </a:gdLst>
            <a:ahLst/>
            <a:cxnLst>
              <a:cxn ang="0">
                <a:pos x="414" y="0"/>
              </a:cxn>
              <a:cxn ang="0">
                <a:pos x="414" y="1"/>
              </a:cxn>
              <a:cxn ang="0">
                <a:pos x="416" y="1848"/>
              </a:cxn>
              <a:cxn ang="0">
                <a:pos x="0" y="1849"/>
              </a:cxn>
            </a:cxnLst>
            <a:rect l="txL" t="txT" r="txR" b="txB"/>
            <a:pathLst>
              <a:path w="416" h="1849">
                <a:moveTo>
                  <a:pt x="414" y="0"/>
                </a:moveTo>
                <a:lnTo>
                  <a:pt x="414" y="1"/>
                </a:lnTo>
                <a:lnTo>
                  <a:pt x="416" y="1848"/>
                </a:lnTo>
                <a:lnTo>
                  <a:pt x="0" y="1849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1" name="Group 130"/>
          <p:cNvGrpSpPr/>
          <p:nvPr/>
        </p:nvGrpSpPr>
        <p:grpSpPr>
          <a:xfrm>
            <a:off x="4614863" y="1600200"/>
            <a:ext cx="3760787" cy="2420938"/>
            <a:chOff x="1947" y="1008"/>
            <a:chExt cx="2369" cy="1525"/>
          </a:xfrm>
        </p:grpSpPr>
        <p:grpSp>
          <p:nvGrpSpPr>
            <p:cNvPr id="267297" name="Group 131"/>
            <p:cNvGrpSpPr/>
            <p:nvPr/>
          </p:nvGrpSpPr>
          <p:grpSpPr>
            <a:xfrm>
              <a:off x="1947" y="1008"/>
              <a:ext cx="2369" cy="1525"/>
              <a:chOff x="1953" y="1008"/>
              <a:chExt cx="2369" cy="1525"/>
            </a:xfrm>
          </p:grpSpPr>
          <p:grpSp>
            <p:nvGrpSpPr>
              <p:cNvPr id="267299" name="Group 132"/>
              <p:cNvGrpSpPr/>
              <p:nvPr/>
            </p:nvGrpSpPr>
            <p:grpSpPr>
              <a:xfrm>
                <a:off x="1953" y="1008"/>
                <a:ext cx="2369" cy="1525"/>
                <a:chOff x="1953" y="1008"/>
                <a:chExt cx="2369" cy="1525"/>
              </a:xfrm>
            </p:grpSpPr>
            <p:sp>
              <p:nvSpPr>
                <p:cNvPr id="267301" name="Rectangle 133"/>
                <p:cNvSpPr/>
                <p:nvPr/>
              </p:nvSpPr>
              <p:spPr>
                <a:xfrm>
                  <a:off x="1953" y="1008"/>
                  <a:ext cx="585" cy="332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8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0,0</a:t>
                  </a:r>
                  <a:endParaRPr lang="en-US" altLang="zh-CN" sz="28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02" name="Rectangle 134"/>
                <p:cNvSpPr/>
                <p:nvPr/>
              </p:nvSpPr>
              <p:spPr>
                <a:xfrm>
                  <a:off x="1953" y="2201"/>
                  <a:ext cx="585" cy="332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31,0</a:t>
                  </a:r>
                  <a:endParaRPr lang="en-US" altLang="zh-CN" sz="24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7303" name="Rectangle 135"/>
                <p:cNvSpPr/>
                <p:nvPr/>
              </p:nvSpPr>
              <p:spPr>
                <a:xfrm>
                  <a:off x="3737" y="1020"/>
                  <a:ext cx="585" cy="332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algn="ctr"/>
                  <a:r>
                    <a:rPr lang="en-US" altLang="zh-CN" sz="24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0,31</a:t>
                  </a:r>
                  <a:endParaRPr lang="en-US" altLang="zh-CN" sz="24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67300" name="Text Box 136"/>
              <p:cNvSpPr txBox="1"/>
              <p:nvPr/>
            </p:nvSpPr>
            <p:spPr>
              <a:xfrm rot="5400000">
                <a:off x="2127" y="1676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7298" name="Text Box 137"/>
            <p:cNvSpPr txBox="1"/>
            <p:nvPr/>
          </p:nvSpPr>
          <p:spPr>
            <a:xfrm>
              <a:off x="3024" y="1033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9074" name="Group 138"/>
          <p:cNvGrpSpPr/>
          <p:nvPr/>
        </p:nvGrpSpPr>
        <p:grpSpPr>
          <a:xfrm>
            <a:off x="9201150" y="4749800"/>
            <a:ext cx="1370013" cy="728663"/>
            <a:chOff x="4836" y="2997"/>
            <a:chExt cx="863" cy="459"/>
          </a:xfrm>
        </p:grpSpPr>
        <p:sp>
          <p:nvSpPr>
            <p:cNvPr id="267293" name="Rectangle 139"/>
            <p:cNvSpPr/>
            <p:nvPr/>
          </p:nvSpPr>
          <p:spPr>
            <a:xfrm>
              <a:off x="4836" y="3088"/>
              <a:ext cx="588" cy="368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I/O</a:t>
              </a:r>
              <a:endPara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67294" name="Group 140"/>
            <p:cNvGrpSpPr/>
            <p:nvPr/>
          </p:nvGrpSpPr>
          <p:grpSpPr>
            <a:xfrm>
              <a:off x="5441" y="2997"/>
              <a:ext cx="258" cy="315"/>
              <a:chOff x="5441" y="2983"/>
              <a:chExt cx="258" cy="315"/>
            </a:xfrm>
          </p:grpSpPr>
          <p:sp>
            <p:nvSpPr>
              <p:cNvPr id="267295" name="Freeform 141"/>
              <p:cNvSpPr/>
              <p:nvPr/>
            </p:nvSpPr>
            <p:spPr>
              <a:xfrm>
                <a:off x="5441" y="3297"/>
                <a:ext cx="258" cy="1"/>
              </a:xfrm>
              <a:custGeom>
                <a:avLst/>
                <a:gdLst>
                  <a:gd name="txL" fmla="*/ 0 w 258"/>
                  <a:gd name="txT" fmla="*/ 0 h 1"/>
                  <a:gd name="txR" fmla="*/ 258 w 25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258" y="0"/>
                  </a:cxn>
                </a:cxnLst>
                <a:rect l="txL" t="txT" r="txR" b="txB"/>
                <a:pathLst>
                  <a:path w="258" h="1">
                    <a:moveTo>
                      <a:pt x="0" y="1"/>
                    </a:moveTo>
                    <a:lnTo>
                      <a:pt x="258" y="0"/>
                    </a:lnTo>
                  </a:path>
                </a:pathLst>
              </a:cu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296" name="Text Box 142"/>
              <p:cNvSpPr txBox="1"/>
              <p:nvPr/>
            </p:nvSpPr>
            <p:spPr>
              <a:xfrm>
                <a:off x="5445" y="2983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3919" name="Freeform 143"/>
          <p:cNvSpPr/>
          <p:nvPr/>
        </p:nvSpPr>
        <p:spPr>
          <a:xfrm>
            <a:off x="5448300" y="4945063"/>
            <a:ext cx="3746500" cy="268287"/>
          </a:xfrm>
          <a:custGeom>
            <a:avLst/>
            <a:gdLst>
              <a:gd name="txL" fmla="*/ 0 w 2360"/>
              <a:gd name="txT" fmla="*/ 0 h 169"/>
              <a:gd name="txR" fmla="*/ 2360 w 2360"/>
              <a:gd name="txB" fmla="*/ 169 h 169"/>
            </a:gdLst>
            <a:ahLst/>
            <a:cxnLst>
              <a:cxn ang="0">
                <a:pos x="0" y="0"/>
              </a:cxn>
              <a:cxn ang="0">
                <a:pos x="419" y="2"/>
              </a:cxn>
              <a:cxn ang="0">
                <a:pos x="417" y="168"/>
              </a:cxn>
              <a:cxn ang="0">
                <a:pos x="2360" y="169"/>
              </a:cxn>
            </a:cxnLst>
            <a:rect l="txL" t="txT" r="txR" b="txB"/>
            <a:pathLst>
              <a:path w="2360" h="169">
                <a:moveTo>
                  <a:pt x="0" y="0"/>
                </a:moveTo>
                <a:lnTo>
                  <a:pt x="419" y="2"/>
                </a:lnTo>
                <a:lnTo>
                  <a:pt x="417" y="168"/>
                </a:lnTo>
                <a:lnTo>
                  <a:pt x="2360" y="169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59079" name="Group 144"/>
          <p:cNvGrpSpPr/>
          <p:nvPr/>
        </p:nvGrpSpPr>
        <p:grpSpPr>
          <a:xfrm>
            <a:off x="3289300" y="2125663"/>
            <a:ext cx="4635500" cy="3522662"/>
            <a:chOff x="1112" y="1339"/>
            <a:chExt cx="2920" cy="2219"/>
          </a:xfrm>
        </p:grpSpPr>
        <p:grpSp>
          <p:nvGrpSpPr>
            <p:cNvPr id="267282" name="Group 145"/>
            <p:cNvGrpSpPr/>
            <p:nvPr/>
          </p:nvGrpSpPr>
          <p:grpSpPr>
            <a:xfrm>
              <a:off x="1112" y="1339"/>
              <a:ext cx="2920" cy="2219"/>
              <a:chOff x="1112" y="1339"/>
              <a:chExt cx="2920" cy="2219"/>
            </a:xfrm>
          </p:grpSpPr>
          <p:sp>
            <p:nvSpPr>
              <p:cNvPr id="267286" name="Freeform 146"/>
              <p:cNvSpPr/>
              <p:nvPr/>
            </p:nvSpPr>
            <p:spPr>
              <a:xfrm>
                <a:off x="1112" y="1348"/>
                <a:ext cx="2920" cy="232"/>
              </a:xfrm>
              <a:custGeom>
                <a:avLst/>
                <a:gdLst>
                  <a:gd name="txL" fmla="*/ 0 w 2920"/>
                  <a:gd name="txT" fmla="*/ 0 h 232"/>
                  <a:gd name="txR" fmla="*/ 2920 w 2920"/>
                  <a:gd name="txB" fmla="*/ 232 h 232"/>
                </a:gdLst>
                <a:ahLst/>
                <a:cxnLst>
                  <a:cxn ang="0">
                    <a:pos x="0" y="232"/>
                  </a:cxn>
                  <a:cxn ang="0">
                    <a:pos x="2920" y="232"/>
                  </a:cxn>
                  <a:cxn ang="0">
                    <a:pos x="2920" y="0"/>
                  </a:cxn>
                </a:cxnLst>
                <a:rect l="txL" t="txT" r="txR" b="txB"/>
                <a:pathLst>
                  <a:path w="2920" h="232">
                    <a:moveTo>
                      <a:pt x="0" y="232"/>
                    </a:moveTo>
                    <a:lnTo>
                      <a:pt x="2920" y="232"/>
                    </a:lnTo>
                    <a:lnTo>
                      <a:pt x="2920" y="0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287" name="Freeform 147"/>
              <p:cNvSpPr/>
              <p:nvPr/>
            </p:nvSpPr>
            <p:spPr>
              <a:xfrm>
                <a:off x="2233" y="1339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67288" name="Group 148"/>
              <p:cNvGrpSpPr/>
              <p:nvPr/>
            </p:nvGrpSpPr>
            <p:grpSpPr>
              <a:xfrm>
                <a:off x="2025" y="2943"/>
                <a:ext cx="49" cy="252"/>
                <a:chOff x="2025" y="2943"/>
                <a:chExt cx="49" cy="252"/>
              </a:xfrm>
            </p:grpSpPr>
            <p:sp>
              <p:nvSpPr>
                <p:cNvPr id="267291" name="Freeform 149"/>
                <p:cNvSpPr/>
                <p:nvPr/>
              </p:nvSpPr>
              <p:spPr>
                <a:xfrm>
                  <a:off x="2025" y="2943"/>
                  <a:ext cx="1" cy="252"/>
                </a:xfrm>
                <a:custGeom>
                  <a:avLst/>
                  <a:gdLst>
                    <a:gd name="txL" fmla="*/ 0 w 1"/>
                    <a:gd name="txT" fmla="*/ 0 h 252"/>
                    <a:gd name="txR" fmla="*/ 1 w 1"/>
                    <a:gd name="txB" fmla="*/ 252 h 252"/>
                  </a:gdLst>
                  <a:ahLst/>
                  <a:cxnLst>
                    <a:cxn ang="0">
                      <a:pos x="0" y="252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" h="252">
                      <a:moveTo>
                        <a:pt x="0" y="25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7292" name="Freeform 150"/>
                <p:cNvSpPr/>
                <p:nvPr/>
              </p:nvSpPr>
              <p:spPr>
                <a:xfrm>
                  <a:off x="2073" y="2985"/>
                  <a:ext cx="1" cy="162"/>
                </a:xfrm>
                <a:custGeom>
                  <a:avLst/>
                  <a:gdLst>
                    <a:gd name="txL" fmla="*/ 0 w 1"/>
                    <a:gd name="txT" fmla="*/ 0 h 162"/>
                    <a:gd name="txR" fmla="*/ 1 w 1"/>
                    <a:gd name="txB" fmla="*/ 162 h 162"/>
                  </a:gdLst>
                  <a:ahLst/>
                  <a:cxnLst>
                    <a:cxn ang="0">
                      <a:pos x="0" y="162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" h="162">
                      <a:moveTo>
                        <a:pt x="0" y="1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67289" name="Freeform 151"/>
              <p:cNvSpPr/>
              <p:nvPr/>
            </p:nvSpPr>
            <p:spPr>
              <a:xfrm>
                <a:off x="2066" y="3068"/>
                <a:ext cx="329" cy="1"/>
              </a:xfrm>
              <a:custGeom>
                <a:avLst/>
                <a:gdLst>
                  <a:gd name="txL" fmla="*/ 0 w 329"/>
                  <a:gd name="txT" fmla="*/ 0 h 1"/>
                  <a:gd name="txR" fmla="*/ 329 w 32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29" y="1"/>
                  </a:cxn>
                </a:cxnLst>
                <a:rect l="txL" t="txT" r="txR" b="txB"/>
                <a:pathLst>
                  <a:path w="329" h="1">
                    <a:moveTo>
                      <a:pt x="0" y="0"/>
                    </a:moveTo>
                    <a:lnTo>
                      <a:pt x="329" y="1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290" name="Freeform 152"/>
              <p:cNvSpPr/>
              <p:nvPr/>
            </p:nvSpPr>
            <p:spPr>
              <a:xfrm>
                <a:off x="2255" y="3063"/>
                <a:ext cx="1" cy="495"/>
              </a:xfrm>
              <a:custGeom>
                <a:avLst/>
                <a:gdLst>
                  <a:gd name="txL" fmla="*/ 0 w 1"/>
                  <a:gd name="txT" fmla="*/ 0 h 495"/>
                  <a:gd name="txR" fmla="*/ 1 w 1"/>
                  <a:gd name="txB" fmla="*/ 495 h 495"/>
                </a:gdLst>
                <a:ahLst/>
                <a:cxnLst>
                  <a:cxn ang="0">
                    <a:pos x="0" y="0"/>
                  </a:cxn>
                  <a:cxn ang="0">
                    <a:pos x="0" y="495"/>
                  </a:cxn>
                </a:cxnLst>
                <a:rect l="txL" t="txT" r="txR" b="txB"/>
                <a:pathLst>
                  <a:path w="1" h="495">
                    <a:moveTo>
                      <a:pt x="0" y="0"/>
                    </a:moveTo>
                    <a:lnTo>
                      <a:pt x="0" y="495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67283" name="Group 153"/>
            <p:cNvGrpSpPr/>
            <p:nvPr/>
          </p:nvGrpSpPr>
          <p:grpSpPr>
            <a:xfrm>
              <a:off x="2412" y="2946"/>
              <a:ext cx="49" cy="246"/>
              <a:chOff x="2412" y="2946"/>
              <a:chExt cx="49" cy="246"/>
            </a:xfrm>
          </p:grpSpPr>
          <p:sp>
            <p:nvSpPr>
              <p:cNvPr id="267284" name="Freeform 154"/>
              <p:cNvSpPr/>
              <p:nvPr/>
            </p:nvSpPr>
            <p:spPr>
              <a:xfrm>
                <a:off x="2460" y="2946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7285" name="Freeform 155"/>
              <p:cNvSpPr/>
              <p:nvPr/>
            </p:nvSpPr>
            <p:spPr>
              <a:xfrm>
                <a:off x="2412" y="2988"/>
                <a:ext cx="1" cy="156"/>
              </a:xfrm>
              <a:custGeom>
                <a:avLst/>
                <a:gdLst>
                  <a:gd name="txL" fmla="*/ 0 w 1"/>
                  <a:gd name="txT" fmla="*/ 0 h 156"/>
                  <a:gd name="txR" fmla="*/ 1 w 1"/>
                  <a:gd name="txB" fmla="*/ 156 h 156"/>
                </a:gdLst>
                <a:ahLst/>
                <a:cxnLst>
                  <a:cxn ang="0">
                    <a:pos x="0" y="0"/>
                  </a:cxn>
                  <a:cxn ang="0">
                    <a:pos x="0" y="156"/>
                  </a:cxn>
                </a:cxnLst>
                <a:rect l="txL" t="txT" r="txR" b="txB"/>
                <a:pathLst>
                  <a:path w="1" h="156">
                    <a:moveTo>
                      <a:pt x="0" y="0"/>
                    </a:moveTo>
                    <a:lnTo>
                      <a:pt x="0" y="156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03932" name="Freeform 156"/>
          <p:cNvSpPr/>
          <p:nvPr/>
        </p:nvSpPr>
        <p:spPr>
          <a:xfrm>
            <a:off x="5554663" y="1860550"/>
            <a:ext cx="593725" cy="1588"/>
          </a:xfrm>
          <a:custGeom>
            <a:avLst/>
            <a:gdLst>
              <a:gd name="txL" fmla="*/ 0 w 367"/>
              <a:gd name="txT" fmla="*/ 0 h 1"/>
              <a:gd name="txR" fmla="*/ 367 w 367"/>
              <a:gd name="txB" fmla="*/ 1 h 1"/>
            </a:gdLst>
            <a:ahLst/>
            <a:cxnLst>
              <a:cxn ang="0">
                <a:pos x="0" y="0"/>
              </a:cxn>
              <a:cxn ang="0">
                <a:pos x="367" y="0"/>
              </a:cxn>
            </a:cxnLst>
            <a:rect l="txL" t="txT" r="txR" b="txB"/>
            <a:pathLst>
              <a:path w="367" h="1">
                <a:moveTo>
                  <a:pt x="0" y="0"/>
                </a:moveTo>
                <a:lnTo>
                  <a:pt x="367" y="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3933" name="Rectangle 157"/>
          <p:cNvSpPr/>
          <p:nvPr/>
        </p:nvSpPr>
        <p:spPr>
          <a:xfrm>
            <a:off x="4610100" y="1600200"/>
            <a:ext cx="931863" cy="527050"/>
          </a:xfrm>
          <a:prstGeom prst="rect">
            <a:avLst/>
          </a:prstGeom>
          <a:solidFill>
            <a:srgbClr val="AA7D00"/>
          </a:solidFill>
          <a:ln w="38100" cap="flat" cmpd="sng">
            <a:solidFill>
              <a:srgbClr val="AA7D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0,0</a:t>
            </a:r>
            <a:endParaRPr lang="en-US" altLang="zh-CN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59089" name="Group 158"/>
          <p:cNvGrpSpPr/>
          <p:nvPr/>
        </p:nvGrpSpPr>
        <p:grpSpPr>
          <a:xfrm>
            <a:off x="9177338" y="5467350"/>
            <a:ext cx="1185862" cy="955675"/>
            <a:chOff x="4821" y="3444"/>
            <a:chExt cx="747" cy="602"/>
          </a:xfrm>
        </p:grpSpPr>
        <p:sp>
          <p:nvSpPr>
            <p:cNvPr id="267280" name="Text Box 159"/>
            <p:cNvSpPr txBox="1"/>
            <p:nvPr/>
          </p:nvSpPr>
          <p:spPr>
            <a:xfrm>
              <a:off x="4821" y="3756"/>
              <a:ext cx="74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读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7281" name="Line 160"/>
            <p:cNvSpPr/>
            <p:nvPr/>
          </p:nvSpPr>
          <p:spPr>
            <a:xfrm flipV="1">
              <a:off x="5109" y="3444"/>
              <a:ext cx="0" cy="331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67278" name="AutoShape 16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727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5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3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259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0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0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03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5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905" grpId="0" bldLvl="0" animBg="1"/>
      <p:bldP spid="203919" grpId="0" bldLvl="0" animBg="1"/>
      <p:bldP spid="203932" grpId="0" bldLvl="0" animBg="1"/>
      <p:bldP spid="20393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8290" name="Text Box 2"/>
          <p:cNvSpPr txBox="1"/>
          <p:nvPr/>
        </p:nvSpPr>
        <p:spPr>
          <a:xfrm>
            <a:off x="1981200" y="304800"/>
            <a:ext cx="6266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</a:rPr>
              <a:t>三、随机存取存储器 </a:t>
            </a:r>
            <a:r>
              <a:rPr lang="en-US" altLang="zh-CN" sz="3600" b="1" dirty="0">
                <a:latin typeface="Times New Roman" panose="02020603050405020304" pitchFamily="18" charset="0"/>
              </a:rPr>
              <a:t>( RAM ) 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268291" name="Text Box 3"/>
          <p:cNvSpPr txBox="1"/>
          <p:nvPr/>
        </p:nvSpPr>
        <p:spPr>
          <a:xfrm>
            <a:off x="2279650" y="1066800"/>
            <a:ext cx="74739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1. </a:t>
            </a:r>
            <a:r>
              <a:rPr lang="zh-CN" altLang="en-US" sz="3200" b="1" dirty="0">
                <a:latin typeface="Times New Roman" panose="02020603050405020304" pitchFamily="18" charset="0"/>
              </a:rPr>
              <a:t>静态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(SRAM)  </a:t>
            </a:r>
            <a:r>
              <a:rPr lang="zh-CN" altLang="en-US" sz="3200" b="1" dirty="0">
                <a:latin typeface="Times New Roman" panose="02020603050405020304" pitchFamily="18" charset="0"/>
              </a:rPr>
              <a:t>　　</a:t>
            </a:r>
            <a:r>
              <a:rPr lang="zh-CN" altLang="en-US" sz="32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书</a:t>
            </a:r>
            <a:r>
              <a:rPr lang="en-US" altLang="zh-CN" sz="32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77</a:t>
            </a:r>
            <a:r>
              <a:rPr lang="zh-CN" altLang="en-US" sz="32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页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8292" name="Text Box 4"/>
          <p:cNvSpPr txBox="1"/>
          <p:nvPr/>
        </p:nvSpPr>
        <p:spPr>
          <a:xfrm>
            <a:off x="2743200" y="1752600"/>
            <a:ext cx="5105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 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静态 </a:t>
            </a:r>
            <a:r>
              <a:rPr lang="en-US" altLang="zh-CN" sz="2800" b="1" dirty="0">
                <a:latin typeface="Times New Roman" panose="02020603050405020304" pitchFamily="18" charset="0"/>
              </a:rPr>
              <a:t>RAM </a:t>
            </a:r>
            <a:r>
              <a:rPr lang="zh-CN" altLang="en-US" sz="2800" b="1" dirty="0">
                <a:latin typeface="Times New Roman" panose="02020603050405020304" pitchFamily="18" charset="0"/>
              </a:rPr>
              <a:t>基本电路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8293" name="Text Box 5"/>
          <p:cNvSpPr txBox="1"/>
          <p:nvPr/>
        </p:nvSpPr>
        <p:spPr>
          <a:xfrm>
            <a:off x="7985125" y="6208713"/>
            <a:ext cx="210248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A´ </a:t>
            </a:r>
            <a:r>
              <a:rPr lang="zh-CN" altLang="en-US" sz="2400" b="1" dirty="0">
                <a:latin typeface="Times New Roman" panose="02020603050405020304" pitchFamily="18" charset="0"/>
              </a:rPr>
              <a:t>触发器非端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68294" name="Group 6"/>
          <p:cNvGrpSpPr/>
          <p:nvPr/>
        </p:nvGrpSpPr>
        <p:grpSpPr>
          <a:xfrm>
            <a:off x="7848600" y="2332038"/>
            <a:ext cx="2295525" cy="481012"/>
            <a:chOff x="4070" y="1034"/>
            <a:chExt cx="1446" cy="303"/>
          </a:xfrm>
        </p:grpSpPr>
        <p:grpSp>
          <p:nvGrpSpPr>
            <p:cNvPr id="268387" name="Group 7"/>
            <p:cNvGrpSpPr/>
            <p:nvPr/>
          </p:nvGrpSpPr>
          <p:grpSpPr>
            <a:xfrm>
              <a:off x="4070" y="1034"/>
              <a:ext cx="337" cy="297"/>
              <a:chOff x="4070" y="1034"/>
              <a:chExt cx="337" cy="297"/>
            </a:xfrm>
          </p:grpSpPr>
          <p:sp>
            <p:nvSpPr>
              <p:cNvPr id="268393" name="Rectangle 8"/>
              <p:cNvSpPr/>
              <p:nvPr/>
            </p:nvSpPr>
            <p:spPr>
              <a:xfrm>
                <a:off x="4228" y="1119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394" name="Text Box 9"/>
              <p:cNvSpPr txBox="1"/>
              <p:nvPr/>
            </p:nvSpPr>
            <p:spPr>
              <a:xfrm>
                <a:off x="4070" y="1034"/>
                <a:ext cx="24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8388" name="Group 10"/>
            <p:cNvGrpSpPr/>
            <p:nvPr/>
          </p:nvGrpSpPr>
          <p:grpSpPr>
            <a:xfrm>
              <a:off x="4502" y="1040"/>
              <a:ext cx="337" cy="297"/>
              <a:chOff x="4070" y="1034"/>
              <a:chExt cx="337" cy="297"/>
            </a:xfrm>
          </p:grpSpPr>
          <p:sp>
            <p:nvSpPr>
              <p:cNvPr id="268391" name="Rectangle 11"/>
              <p:cNvSpPr/>
              <p:nvPr/>
            </p:nvSpPr>
            <p:spPr>
              <a:xfrm>
                <a:off x="4228" y="1119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392" name="Text Box 12"/>
              <p:cNvSpPr txBox="1"/>
              <p:nvPr/>
            </p:nvSpPr>
            <p:spPr>
              <a:xfrm>
                <a:off x="4070" y="1034"/>
                <a:ext cx="24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8389" name="Text Box 13"/>
            <p:cNvSpPr txBox="1"/>
            <p:nvPr/>
          </p:nvSpPr>
          <p:spPr>
            <a:xfrm>
              <a:off x="4358" y="1034"/>
              <a:ext cx="21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dirty="0">
                  <a:latin typeface="Times New Roman" panose="02020603050405020304" pitchFamily="18" charset="0"/>
                </a:rPr>
                <a:t>~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68390" name="Text Box 14"/>
            <p:cNvSpPr txBox="1"/>
            <p:nvPr/>
          </p:nvSpPr>
          <p:spPr>
            <a:xfrm>
              <a:off x="4825" y="1041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触发器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8295" name="Group 15"/>
          <p:cNvGrpSpPr/>
          <p:nvPr/>
        </p:nvGrpSpPr>
        <p:grpSpPr>
          <a:xfrm>
            <a:off x="7848600" y="3076575"/>
            <a:ext cx="2316163" cy="474663"/>
            <a:chOff x="5881" y="1761"/>
            <a:chExt cx="1459" cy="299"/>
          </a:xfrm>
        </p:grpSpPr>
        <p:grpSp>
          <p:nvGrpSpPr>
            <p:cNvPr id="268379" name="Group 16"/>
            <p:cNvGrpSpPr/>
            <p:nvPr/>
          </p:nvGrpSpPr>
          <p:grpSpPr>
            <a:xfrm>
              <a:off x="5881" y="1769"/>
              <a:ext cx="337" cy="290"/>
              <a:chOff x="4032" y="1337"/>
              <a:chExt cx="337" cy="290"/>
            </a:xfrm>
          </p:grpSpPr>
          <p:sp>
            <p:nvSpPr>
              <p:cNvPr id="268385" name="Rectangle 17"/>
              <p:cNvSpPr/>
              <p:nvPr/>
            </p:nvSpPr>
            <p:spPr>
              <a:xfrm>
                <a:off x="4190" y="1413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386" name="Text Box 18"/>
              <p:cNvSpPr txBox="1"/>
              <p:nvPr/>
            </p:nvSpPr>
            <p:spPr>
              <a:xfrm>
                <a:off x="4032" y="1337"/>
                <a:ext cx="24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8380" name="Group 19"/>
            <p:cNvGrpSpPr/>
            <p:nvPr/>
          </p:nvGrpSpPr>
          <p:grpSpPr>
            <a:xfrm>
              <a:off x="6323" y="1769"/>
              <a:ext cx="337" cy="291"/>
              <a:chOff x="4464" y="1337"/>
              <a:chExt cx="337" cy="291"/>
            </a:xfrm>
          </p:grpSpPr>
          <p:sp>
            <p:nvSpPr>
              <p:cNvPr id="268383" name="Text Box 20"/>
              <p:cNvSpPr txBox="1"/>
              <p:nvPr/>
            </p:nvSpPr>
            <p:spPr>
              <a:xfrm>
                <a:off x="4464" y="1337"/>
                <a:ext cx="24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384" name="Rectangle 21"/>
              <p:cNvSpPr/>
              <p:nvPr/>
            </p:nvSpPr>
            <p:spPr>
              <a:xfrm>
                <a:off x="4622" y="1416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6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8381" name="Text Box 22"/>
            <p:cNvSpPr txBox="1"/>
            <p:nvPr/>
          </p:nvSpPr>
          <p:spPr>
            <a:xfrm>
              <a:off x="6169" y="1770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dirty="0">
                  <a:latin typeface="Times New Roman" panose="02020603050405020304" pitchFamily="18" charset="0"/>
                </a:rPr>
                <a:t>、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68382" name="Text Box 23"/>
            <p:cNvSpPr txBox="1"/>
            <p:nvPr/>
          </p:nvSpPr>
          <p:spPr>
            <a:xfrm>
              <a:off x="6649" y="1761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行开关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8296" name="Group 24"/>
          <p:cNvGrpSpPr/>
          <p:nvPr/>
        </p:nvGrpSpPr>
        <p:grpSpPr>
          <a:xfrm>
            <a:off x="7848600" y="3790950"/>
            <a:ext cx="2316163" cy="474663"/>
            <a:chOff x="4201" y="1857"/>
            <a:chExt cx="1459" cy="299"/>
          </a:xfrm>
        </p:grpSpPr>
        <p:grpSp>
          <p:nvGrpSpPr>
            <p:cNvPr id="268371" name="Group 25"/>
            <p:cNvGrpSpPr/>
            <p:nvPr/>
          </p:nvGrpSpPr>
          <p:grpSpPr>
            <a:xfrm>
              <a:off x="4201" y="1865"/>
              <a:ext cx="337" cy="290"/>
              <a:chOff x="4032" y="1337"/>
              <a:chExt cx="337" cy="290"/>
            </a:xfrm>
          </p:grpSpPr>
          <p:sp>
            <p:nvSpPr>
              <p:cNvPr id="268377" name="Rectangle 26"/>
              <p:cNvSpPr/>
              <p:nvPr/>
            </p:nvSpPr>
            <p:spPr>
              <a:xfrm>
                <a:off x="4190" y="1413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378" name="Text Box 27"/>
              <p:cNvSpPr txBox="1"/>
              <p:nvPr/>
            </p:nvSpPr>
            <p:spPr>
              <a:xfrm>
                <a:off x="4032" y="1337"/>
                <a:ext cx="24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8372" name="Group 28"/>
            <p:cNvGrpSpPr/>
            <p:nvPr/>
          </p:nvGrpSpPr>
          <p:grpSpPr>
            <a:xfrm>
              <a:off x="4643" y="1865"/>
              <a:ext cx="337" cy="291"/>
              <a:chOff x="4464" y="1337"/>
              <a:chExt cx="337" cy="291"/>
            </a:xfrm>
          </p:grpSpPr>
          <p:sp>
            <p:nvSpPr>
              <p:cNvPr id="268375" name="Text Box 29"/>
              <p:cNvSpPr txBox="1"/>
              <p:nvPr/>
            </p:nvSpPr>
            <p:spPr>
              <a:xfrm>
                <a:off x="4464" y="1337"/>
                <a:ext cx="24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376" name="Rectangle 30"/>
              <p:cNvSpPr/>
              <p:nvPr/>
            </p:nvSpPr>
            <p:spPr>
              <a:xfrm>
                <a:off x="4622" y="1416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8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8373" name="Text Box 31"/>
            <p:cNvSpPr txBox="1"/>
            <p:nvPr/>
          </p:nvSpPr>
          <p:spPr>
            <a:xfrm>
              <a:off x="4489" y="1866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dirty="0">
                  <a:latin typeface="Times New Roman" panose="02020603050405020304" pitchFamily="18" charset="0"/>
                </a:rPr>
                <a:t>、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68374" name="Text Box 32"/>
            <p:cNvSpPr txBox="1"/>
            <p:nvPr/>
          </p:nvSpPr>
          <p:spPr>
            <a:xfrm>
              <a:off x="4969" y="1857"/>
              <a:ext cx="69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列开关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8297" name="Group 33"/>
          <p:cNvGrpSpPr/>
          <p:nvPr/>
        </p:nvGrpSpPr>
        <p:grpSpPr>
          <a:xfrm>
            <a:off x="7848600" y="4505325"/>
            <a:ext cx="2620963" cy="474663"/>
            <a:chOff x="4176" y="2193"/>
            <a:chExt cx="1651" cy="299"/>
          </a:xfrm>
        </p:grpSpPr>
        <p:grpSp>
          <p:nvGrpSpPr>
            <p:cNvPr id="268363" name="Group 34"/>
            <p:cNvGrpSpPr/>
            <p:nvPr/>
          </p:nvGrpSpPr>
          <p:grpSpPr>
            <a:xfrm>
              <a:off x="4176" y="2201"/>
              <a:ext cx="337" cy="290"/>
              <a:chOff x="4032" y="1337"/>
              <a:chExt cx="337" cy="290"/>
            </a:xfrm>
          </p:grpSpPr>
          <p:sp>
            <p:nvSpPr>
              <p:cNvPr id="268369" name="Rectangle 35"/>
              <p:cNvSpPr/>
              <p:nvPr/>
            </p:nvSpPr>
            <p:spPr>
              <a:xfrm>
                <a:off x="4190" y="1413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370" name="Text Box 36"/>
              <p:cNvSpPr txBox="1"/>
              <p:nvPr/>
            </p:nvSpPr>
            <p:spPr>
              <a:xfrm>
                <a:off x="4032" y="1337"/>
                <a:ext cx="24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8364" name="Group 37"/>
            <p:cNvGrpSpPr/>
            <p:nvPr/>
          </p:nvGrpSpPr>
          <p:grpSpPr>
            <a:xfrm>
              <a:off x="4618" y="2201"/>
              <a:ext cx="337" cy="291"/>
              <a:chOff x="4464" y="1337"/>
              <a:chExt cx="337" cy="291"/>
            </a:xfrm>
          </p:grpSpPr>
          <p:sp>
            <p:nvSpPr>
              <p:cNvPr id="268367" name="Text Box 38"/>
              <p:cNvSpPr txBox="1"/>
              <p:nvPr/>
            </p:nvSpPr>
            <p:spPr>
              <a:xfrm>
                <a:off x="4464" y="1337"/>
                <a:ext cx="24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8368" name="Rectangle 39"/>
              <p:cNvSpPr/>
              <p:nvPr/>
            </p:nvSpPr>
            <p:spPr>
              <a:xfrm>
                <a:off x="4622" y="1416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8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8365" name="Text Box 40"/>
            <p:cNvSpPr txBox="1"/>
            <p:nvPr/>
          </p:nvSpPr>
          <p:spPr>
            <a:xfrm>
              <a:off x="4464" y="2202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dirty="0">
                  <a:latin typeface="Times New Roman" panose="02020603050405020304" pitchFamily="18" charset="0"/>
                </a:rPr>
                <a:t>、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68366" name="Text Box 41"/>
            <p:cNvSpPr txBox="1"/>
            <p:nvPr/>
          </p:nvSpPr>
          <p:spPr>
            <a:xfrm>
              <a:off x="4944" y="2193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一列共用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8298" name="Text Box 42"/>
          <p:cNvSpPr txBox="1"/>
          <p:nvPr/>
        </p:nvSpPr>
        <p:spPr>
          <a:xfrm>
            <a:off x="7985125" y="5461000"/>
            <a:ext cx="206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A 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触发器原端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268299" name="Group 43"/>
          <p:cNvGrpSpPr/>
          <p:nvPr/>
        </p:nvGrpSpPr>
        <p:grpSpPr>
          <a:xfrm>
            <a:off x="1570038" y="2457450"/>
            <a:ext cx="6591300" cy="4279901"/>
            <a:chOff x="29" y="1548"/>
            <a:chExt cx="4152" cy="2696"/>
          </a:xfrm>
        </p:grpSpPr>
        <p:sp>
          <p:nvSpPr>
            <p:cNvPr id="268304" name="Rectangle 44"/>
            <p:cNvSpPr/>
            <p:nvPr/>
          </p:nvSpPr>
          <p:spPr>
            <a:xfrm>
              <a:off x="1431" y="1728"/>
              <a:ext cx="960" cy="38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05" name="Text Box 45"/>
            <p:cNvSpPr txBox="1"/>
            <p:nvPr/>
          </p:nvSpPr>
          <p:spPr>
            <a:xfrm>
              <a:off x="1526" y="1776"/>
              <a:ext cx="777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~  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8306" name="Freeform 46"/>
            <p:cNvSpPr/>
            <p:nvPr/>
          </p:nvSpPr>
          <p:spPr>
            <a:xfrm>
              <a:off x="2391" y="1920"/>
              <a:ext cx="318" cy="141"/>
            </a:xfrm>
            <a:custGeom>
              <a:avLst/>
              <a:gdLst>
                <a:gd name="txL" fmla="*/ 0 w 318"/>
                <a:gd name="txT" fmla="*/ 0 h 141"/>
                <a:gd name="txR" fmla="*/ 318 w 318"/>
                <a:gd name="txB" fmla="*/ 141 h 141"/>
              </a:gdLst>
              <a:ahLst/>
              <a:cxnLst>
                <a:cxn ang="0">
                  <a:pos x="0" y="0"/>
                </a:cxn>
                <a:cxn ang="0">
                  <a:pos x="315" y="0"/>
                </a:cxn>
                <a:cxn ang="0">
                  <a:pos x="318" y="141"/>
                </a:cxn>
              </a:cxnLst>
              <a:rect l="txL" t="txT" r="txR" b="txB"/>
              <a:pathLst>
                <a:path w="318" h="141">
                  <a:moveTo>
                    <a:pt x="0" y="0"/>
                  </a:moveTo>
                  <a:lnTo>
                    <a:pt x="315" y="0"/>
                  </a:lnTo>
                  <a:lnTo>
                    <a:pt x="318" y="14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07" name="Freeform 47"/>
            <p:cNvSpPr/>
            <p:nvPr/>
          </p:nvSpPr>
          <p:spPr>
            <a:xfrm>
              <a:off x="1104" y="1920"/>
              <a:ext cx="327" cy="144"/>
            </a:xfrm>
            <a:custGeom>
              <a:avLst/>
              <a:gdLst>
                <a:gd name="txL" fmla="*/ 0 w 327"/>
                <a:gd name="txT" fmla="*/ 0 h 144"/>
                <a:gd name="txR" fmla="*/ 327 w 327"/>
                <a:gd name="txB" fmla="*/ 144 h 144"/>
              </a:gdLst>
              <a:ahLst/>
              <a:cxnLst>
                <a:cxn ang="0">
                  <a:pos x="327" y="0"/>
                </a:cxn>
                <a:cxn ang="0">
                  <a:pos x="0" y="0"/>
                </a:cxn>
                <a:cxn ang="0">
                  <a:pos x="0" y="144"/>
                </a:cxn>
              </a:cxnLst>
              <a:rect l="txL" t="txT" r="txR" b="txB"/>
              <a:pathLst>
                <a:path w="327" h="144">
                  <a:moveTo>
                    <a:pt x="327" y="0"/>
                  </a:moveTo>
                  <a:lnTo>
                    <a:pt x="0" y="0"/>
                  </a:lnTo>
                  <a:lnTo>
                    <a:pt x="0" y="14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68308" name="Group 48"/>
            <p:cNvGrpSpPr/>
            <p:nvPr/>
          </p:nvGrpSpPr>
          <p:grpSpPr>
            <a:xfrm>
              <a:off x="2634" y="2064"/>
              <a:ext cx="243" cy="48"/>
              <a:chOff x="3459" y="1296"/>
              <a:chExt cx="243" cy="48"/>
            </a:xfrm>
          </p:grpSpPr>
          <p:sp>
            <p:nvSpPr>
              <p:cNvPr id="268361" name="Line 49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8362" name="Line 50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68309" name="Group 51"/>
            <p:cNvGrpSpPr/>
            <p:nvPr/>
          </p:nvGrpSpPr>
          <p:grpSpPr>
            <a:xfrm>
              <a:off x="948" y="2064"/>
              <a:ext cx="243" cy="48"/>
              <a:chOff x="3459" y="1296"/>
              <a:chExt cx="243" cy="48"/>
            </a:xfrm>
          </p:grpSpPr>
          <p:sp>
            <p:nvSpPr>
              <p:cNvPr id="268359" name="Line 52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8360" name="Line 53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68310" name="Group 54"/>
            <p:cNvGrpSpPr/>
            <p:nvPr/>
          </p:nvGrpSpPr>
          <p:grpSpPr>
            <a:xfrm rot="5400000">
              <a:off x="2900" y="2754"/>
              <a:ext cx="243" cy="48"/>
              <a:chOff x="3459" y="1296"/>
              <a:chExt cx="243" cy="48"/>
            </a:xfrm>
          </p:grpSpPr>
          <p:sp>
            <p:nvSpPr>
              <p:cNvPr id="268357" name="Line 55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8358" name="Line 56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68311" name="Group 57"/>
            <p:cNvGrpSpPr/>
            <p:nvPr/>
          </p:nvGrpSpPr>
          <p:grpSpPr>
            <a:xfrm rot="-5400000">
              <a:off x="692" y="2754"/>
              <a:ext cx="243" cy="48"/>
              <a:chOff x="3459" y="1296"/>
              <a:chExt cx="243" cy="48"/>
            </a:xfrm>
          </p:grpSpPr>
          <p:sp>
            <p:nvSpPr>
              <p:cNvPr id="268355" name="Line 58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8356" name="Line 59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68312" name="Line 60"/>
            <p:cNvSpPr/>
            <p:nvPr/>
          </p:nvSpPr>
          <p:spPr>
            <a:xfrm>
              <a:off x="855" y="2784"/>
              <a:ext cx="216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8313" name="Freeform 61"/>
            <p:cNvSpPr/>
            <p:nvPr/>
          </p:nvSpPr>
          <p:spPr>
            <a:xfrm>
              <a:off x="3063" y="2832"/>
              <a:ext cx="192" cy="672"/>
            </a:xfrm>
            <a:custGeom>
              <a:avLst/>
              <a:gdLst>
                <a:gd name="txL" fmla="*/ 0 w 192"/>
                <a:gd name="txT" fmla="*/ 0 h 672"/>
                <a:gd name="txR" fmla="*/ 192 w 192"/>
                <a:gd name="txB" fmla="*/ 672 h 672"/>
              </a:gdLst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672"/>
                </a:cxn>
              </a:cxnLst>
              <a:rect l="txL" t="txT" r="txR" b="txB"/>
              <a:pathLst>
                <a:path w="192" h="672">
                  <a:moveTo>
                    <a:pt x="0" y="0"/>
                  </a:moveTo>
                  <a:lnTo>
                    <a:pt x="192" y="0"/>
                  </a:lnTo>
                  <a:lnTo>
                    <a:pt x="192" y="67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14" name="AutoShape 62"/>
            <p:cNvSpPr/>
            <p:nvPr/>
          </p:nvSpPr>
          <p:spPr>
            <a:xfrm rot="5400000">
              <a:off x="2055" y="3360"/>
              <a:ext cx="288" cy="288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68315" name="Group 63"/>
            <p:cNvGrpSpPr/>
            <p:nvPr/>
          </p:nvGrpSpPr>
          <p:grpSpPr>
            <a:xfrm rot="10800000">
              <a:off x="1335" y="3360"/>
              <a:ext cx="384" cy="288"/>
              <a:chOff x="1248" y="3648"/>
              <a:chExt cx="384" cy="288"/>
            </a:xfrm>
          </p:grpSpPr>
          <p:sp>
            <p:nvSpPr>
              <p:cNvPr id="268353" name="AutoShape 64"/>
              <p:cNvSpPr/>
              <p:nvPr/>
            </p:nvSpPr>
            <p:spPr>
              <a:xfrm rot="5400000">
                <a:off x="1248" y="3648"/>
                <a:ext cx="288" cy="288"/>
              </a:xfrm>
              <a:prstGeom prst="triangle">
                <a:avLst>
                  <a:gd name="adj" fmla="val 50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68354" name="Oval 65"/>
              <p:cNvSpPr/>
              <p:nvPr/>
            </p:nvSpPr>
            <p:spPr>
              <a:xfrm>
                <a:off x="1536" y="3744"/>
                <a:ext cx="96" cy="96"/>
              </a:xfrm>
              <a:prstGeom prst="ellipse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68316" name="Line 66"/>
            <p:cNvSpPr/>
            <p:nvPr/>
          </p:nvSpPr>
          <p:spPr>
            <a:xfrm>
              <a:off x="2343" y="3504"/>
              <a:ext cx="110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8317" name="AutoShape 67"/>
            <p:cNvSpPr/>
            <p:nvPr/>
          </p:nvSpPr>
          <p:spPr>
            <a:xfrm rot="5400000">
              <a:off x="3447" y="3360"/>
              <a:ext cx="288" cy="288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18" name="Line 68"/>
            <p:cNvSpPr/>
            <p:nvPr/>
          </p:nvSpPr>
          <p:spPr>
            <a:xfrm>
              <a:off x="3735" y="3504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8319" name="Line 69"/>
            <p:cNvSpPr/>
            <p:nvPr/>
          </p:nvSpPr>
          <p:spPr>
            <a:xfrm>
              <a:off x="1719" y="3504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8320" name="Line 70"/>
            <p:cNvSpPr/>
            <p:nvPr/>
          </p:nvSpPr>
          <p:spPr>
            <a:xfrm>
              <a:off x="1888" y="3504"/>
              <a:ext cx="0" cy="5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68321" name="Line 71"/>
            <p:cNvSpPr/>
            <p:nvPr/>
          </p:nvSpPr>
          <p:spPr>
            <a:xfrm flipV="1">
              <a:off x="2199" y="3576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8322" name="Freeform 72"/>
            <p:cNvSpPr/>
            <p:nvPr/>
          </p:nvSpPr>
          <p:spPr>
            <a:xfrm>
              <a:off x="1575" y="3586"/>
              <a:ext cx="624" cy="314"/>
            </a:xfrm>
            <a:custGeom>
              <a:avLst/>
              <a:gdLst>
                <a:gd name="txL" fmla="*/ 0 w 576"/>
                <a:gd name="txT" fmla="*/ 0 h 314"/>
                <a:gd name="txR" fmla="*/ 576 w 576"/>
                <a:gd name="txB" fmla="*/ 314 h 314"/>
              </a:gdLst>
              <a:ahLst/>
              <a:cxnLst>
                <a:cxn ang="0">
                  <a:pos x="2" y="0"/>
                </a:cxn>
                <a:cxn ang="0">
                  <a:pos x="0" y="314"/>
                </a:cxn>
                <a:cxn ang="0">
                  <a:pos x="576" y="314"/>
                </a:cxn>
              </a:cxnLst>
              <a:rect l="txL" t="txT" r="txR" b="txB"/>
              <a:pathLst>
                <a:path w="576" h="314">
                  <a:moveTo>
                    <a:pt x="2" y="0"/>
                  </a:moveTo>
                  <a:lnTo>
                    <a:pt x="0" y="314"/>
                  </a:lnTo>
                  <a:lnTo>
                    <a:pt x="576" y="31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23" name="Freeform 73"/>
            <p:cNvSpPr/>
            <p:nvPr/>
          </p:nvSpPr>
          <p:spPr>
            <a:xfrm>
              <a:off x="567" y="2832"/>
              <a:ext cx="768" cy="672"/>
            </a:xfrm>
            <a:custGeom>
              <a:avLst/>
              <a:gdLst>
                <a:gd name="txL" fmla="*/ 0 w 768"/>
                <a:gd name="txT" fmla="*/ 0 h 720"/>
                <a:gd name="txR" fmla="*/ 768 w 768"/>
                <a:gd name="txB" fmla="*/ 720 h 720"/>
              </a:gdLst>
              <a:ahLst/>
              <a:cxnLst>
                <a:cxn ang="0">
                  <a:pos x="240" y="0"/>
                </a:cxn>
                <a:cxn ang="0">
                  <a:pos x="0" y="0"/>
                </a:cxn>
                <a:cxn ang="0">
                  <a:pos x="0" y="720"/>
                </a:cxn>
                <a:cxn ang="0">
                  <a:pos x="768" y="720"/>
                </a:cxn>
              </a:cxnLst>
              <a:rect l="txL" t="txT" r="txR" b="txB"/>
              <a:pathLst>
                <a:path w="768" h="720">
                  <a:moveTo>
                    <a:pt x="240" y="0"/>
                  </a:moveTo>
                  <a:lnTo>
                    <a:pt x="0" y="0"/>
                  </a:lnTo>
                  <a:lnTo>
                    <a:pt x="0" y="720"/>
                  </a:lnTo>
                  <a:lnTo>
                    <a:pt x="768" y="7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24" name="Freeform 74"/>
            <p:cNvSpPr/>
            <p:nvPr/>
          </p:nvSpPr>
          <p:spPr>
            <a:xfrm>
              <a:off x="327" y="2112"/>
              <a:ext cx="2425" cy="384"/>
            </a:xfrm>
            <a:custGeom>
              <a:avLst/>
              <a:gdLst>
                <a:gd name="txL" fmla="*/ 0 w 2736"/>
                <a:gd name="txT" fmla="*/ 0 h 240"/>
                <a:gd name="txR" fmla="*/ 2736 w 2736"/>
                <a:gd name="txB" fmla="*/ 240 h 240"/>
              </a:gdLst>
              <a:ahLst/>
              <a:cxnLst>
                <a:cxn ang="0">
                  <a:pos x="2736" y="0"/>
                </a:cxn>
                <a:cxn ang="0">
                  <a:pos x="2736" y="240"/>
                </a:cxn>
                <a:cxn ang="0">
                  <a:pos x="0" y="240"/>
                </a:cxn>
              </a:cxnLst>
              <a:rect l="txL" t="txT" r="txR" b="txB"/>
              <a:pathLst>
                <a:path w="2736" h="240">
                  <a:moveTo>
                    <a:pt x="2736" y="0"/>
                  </a:moveTo>
                  <a:lnTo>
                    <a:pt x="2736" y="240"/>
                  </a:lnTo>
                  <a:lnTo>
                    <a:pt x="0" y="24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25" name="Freeform 75"/>
            <p:cNvSpPr/>
            <p:nvPr/>
          </p:nvSpPr>
          <p:spPr>
            <a:xfrm>
              <a:off x="1059" y="2112"/>
              <a:ext cx="2" cy="383"/>
            </a:xfrm>
            <a:custGeom>
              <a:avLst/>
              <a:gdLst>
                <a:gd name="txL" fmla="*/ 0 w 2"/>
                <a:gd name="txT" fmla="*/ 0 h 383"/>
                <a:gd name="txR" fmla="*/ 2 w 2"/>
                <a:gd name="txB" fmla="*/ 383 h 383"/>
              </a:gdLst>
              <a:ahLst/>
              <a:cxnLst>
                <a:cxn ang="0">
                  <a:pos x="0" y="0"/>
                </a:cxn>
                <a:cxn ang="0">
                  <a:pos x="2" y="383"/>
                </a:cxn>
              </a:cxnLst>
              <a:rect l="txL" t="txT" r="txR" b="txB"/>
              <a:pathLst>
                <a:path w="2" h="383">
                  <a:moveTo>
                    <a:pt x="0" y="0"/>
                  </a:moveTo>
                  <a:lnTo>
                    <a:pt x="2" y="38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26" name="Freeform 76"/>
            <p:cNvSpPr/>
            <p:nvPr/>
          </p:nvSpPr>
          <p:spPr>
            <a:xfrm>
              <a:off x="375" y="2784"/>
              <a:ext cx="1536" cy="384"/>
            </a:xfrm>
            <a:custGeom>
              <a:avLst/>
              <a:gdLst>
                <a:gd name="txL" fmla="*/ 0 w 1872"/>
                <a:gd name="txT" fmla="*/ 0 h 384"/>
                <a:gd name="txR" fmla="*/ 1872 w 1872"/>
                <a:gd name="txB" fmla="*/ 384 h 384"/>
              </a:gdLst>
              <a:ahLst/>
              <a:cxnLst>
                <a:cxn ang="0">
                  <a:pos x="1872" y="0"/>
                </a:cxn>
                <a:cxn ang="0">
                  <a:pos x="1872" y="384"/>
                </a:cxn>
                <a:cxn ang="0">
                  <a:pos x="0" y="384"/>
                </a:cxn>
              </a:cxnLst>
              <a:rect l="txL" t="txT" r="txR" b="txB"/>
              <a:pathLst>
                <a:path w="1872" h="384">
                  <a:moveTo>
                    <a:pt x="1872" y="0"/>
                  </a:moveTo>
                  <a:lnTo>
                    <a:pt x="1872" y="384"/>
                  </a:lnTo>
                  <a:lnTo>
                    <a:pt x="0" y="38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27" name="Line 77"/>
            <p:cNvSpPr/>
            <p:nvPr/>
          </p:nvSpPr>
          <p:spPr>
            <a:xfrm flipV="1">
              <a:off x="3591" y="3588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8328" name="Freeform 78"/>
            <p:cNvSpPr/>
            <p:nvPr/>
          </p:nvSpPr>
          <p:spPr>
            <a:xfrm>
              <a:off x="567" y="1920"/>
              <a:ext cx="459" cy="816"/>
            </a:xfrm>
            <a:custGeom>
              <a:avLst/>
              <a:gdLst>
                <a:gd name="txL" fmla="*/ 0 w 459"/>
                <a:gd name="txT" fmla="*/ 0 h 816"/>
                <a:gd name="txR" fmla="*/ 459 w 459"/>
                <a:gd name="txB" fmla="*/ 816 h 816"/>
              </a:gdLst>
              <a:ahLst/>
              <a:cxnLst>
                <a:cxn ang="0">
                  <a:pos x="459" y="144"/>
                </a:cxn>
                <a:cxn ang="0">
                  <a:pos x="459" y="0"/>
                </a:cxn>
                <a:cxn ang="0">
                  <a:pos x="0" y="0"/>
                </a:cxn>
                <a:cxn ang="0">
                  <a:pos x="0" y="816"/>
                </a:cxn>
                <a:cxn ang="0">
                  <a:pos x="240" y="816"/>
                </a:cxn>
              </a:cxnLst>
              <a:rect l="txL" t="txT" r="txR" b="txB"/>
              <a:pathLst>
                <a:path w="459" h="816">
                  <a:moveTo>
                    <a:pt x="459" y="144"/>
                  </a:moveTo>
                  <a:lnTo>
                    <a:pt x="459" y="0"/>
                  </a:lnTo>
                  <a:lnTo>
                    <a:pt x="0" y="0"/>
                  </a:lnTo>
                  <a:lnTo>
                    <a:pt x="0" y="816"/>
                  </a:lnTo>
                  <a:lnTo>
                    <a:pt x="240" y="81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29" name="Freeform 79"/>
            <p:cNvSpPr/>
            <p:nvPr/>
          </p:nvSpPr>
          <p:spPr>
            <a:xfrm>
              <a:off x="2793" y="1920"/>
              <a:ext cx="462" cy="818"/>
            </a:xfrm>
            <a:custGeom>
              <a:avLst/>
              <a:gdLst>
                <a:gd name="txL" fmla="*/ 0 w 462"/>
                <a:gd name="txT" fmla="*/ 0 h 818"/>
                <a:gd name="txR" fmla="*/ 462 w 462"/>
                <a:gd name="txB" fmla="*/ 818 h 818"/>
              </a:gdLst>
              <a:ahLst/>
              <a:cxnLst>
                <a:cxn ang="0">
                  <a:pos x="3" y="144"/>
                </a:cxn>
                <a:cxn ang="0">
                  <a:pos x="0" y="0"/>
                </a:cxn>
                <a:cxn ang="0">
                  <a:pos x="462" y="0"/>
                </a:cxn>
                <a:cxn ang="0">
                  <a:pos x="462" y="816"/>
                </a:cxn>
                <a:cxn ang="0">
                  <a:pos x="272" y="818"/>
                </a:cxn>
              </a:cxnLst>
              <a:rect l="txL" t="txT" r="txR" b="txB"/>
              <a:pathLst>
                <a:path w="462" h="818">
                  <a:moveTo>
                    <a:pt x="3" y="144"/>
                  </a:moveTo>
                  <a:lnTo>
                    <a:pt x="0" y="0"/>
                  </a:lnTo>
                  <a:lnTo>
                    <a:pt x="462" y="0"/>
                  </a:lnTo>
                  <a:lnTo>
                    <a:pt x="462" y="816"/>
                  </a:lnTo>
                  <a:lnTo>
                    <a:pt x="272" y="81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30" name="Text Box 80"/>
            <p:cNvSpPr txBox="1"/>
            <p:nvPr/>
          </p:nvSpPr>
          <p:spPr>
            <a:xfrm>
              <a:off x="733" y="191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8331" name="Text Box 81"/>
            <p:cNvSpPr txBox="1"/>
            <p:nvPr/>
          </p:nvSpPr>
          <p:spPr>
            <a:xfrm>
              <a:off x="2825" y="191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1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baseline="-1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8332" name="Text Box 82"/>
            <p:cNvSpPr txBox="1"/>
            <p:nvPr/>
          </p:nvSpPr>
          <p:spPr>
            <a:xfrm>
              <a:off x="816" y="2544"/>
              <a:ext cx="22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33" name="Text Box 83"/>
            <p:cNvSpPr txBox="1"/>
            <p:nvPr/>
          </p:nvSpPr>
          <p:spPr>
            <a:xfrm>
              <a:off x="912" y="2624"/>
              <a:ext cx="171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400" b="1" dirty="0">
                  <a:latin typeface="Times New Roman" panose="02020603050405020304" pitchFamily="18" charset="0"/>
                </a:rPr>
                <a:t>7</a:t>
              </a:r>
              <a:endParaRPr lang="en-US" altLang="zh-CN" sz="1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34" name="Text Box 84"/>
            <p:cNvSpPr txBox="1"/>
            <p:nvPr/>
          </p:nvSpPr>
          <p:spPr>
            <a:xfrm>
              <a:off x="2753" y="2544"/>
              <a:ext cx="22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35" name="Text Box 85"/>
            <p:cNvSpPr txBox="1"/>
            <p:nvPr/>
          </p:nvSpPr>
          <p:spPr>
            <a:xfrm>
              <a:off x="2875" y="2624"/>
              <a:ext cx="171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400" b="1" dirty="0">
                  <a:latin typeface="Times New Roman" panose="02020603050405020304" pitchFamily="18" charset="0"/>
                </a:rPr>
                <a:t>8</a:t>
              </a:r>
              <a:endParaRPr lang="en-US" altLang="zh-CN" sz="1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36" name="Text Box 86"/>
            <p:cNvSpPr txBox="1"/>
            <p:nvPr/>
          </p:nvSpPr>
          <p:spPr>
            <a:xfrm>
              <a:off x="1200" y="1680"/>
              <a:ext cx="28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A´</a:t>
              </a:r>
              <a:endPara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68337" name="Text Box 87"/>
            <p:cNvSpPr txBox="1"/>
            <p:nvPr/>
          </p:nvSpPr>
          <p:spPr>
            <a:xfrm>
              <a:off x="2360" y="1680"/>
              <a:ext cx="23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A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38" name="Text Box 88"/>
            <p:cNvSpPr txBox="1"/>
            <p:nvPr/>
          </p:nvSpPr>
          <p:spPr>
            <a:xfrm>
              <a:off x="927" y="3225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写放大器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39" name="Text Box 89"/>
            <p:cNvSpPr txBox="1"/>
            <p:nvPr/>
          </p:nvSpPr>
          <p:spPr>
            <a:xfrm>
              <a:off x="2151" y="3225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写放大器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40" name="Text Box 90"/>
            <p:cNvSpPr txBox="1"/>
            <p:nvPr/>
          </p:nvSpPr>
          <p:spPr>
            <a:xfrm>
              <a:off x="1726" y="3993"/>
              <a:ext cx="3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IN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8341" name="Text Box 91"/>
            <p:cNvSpPr txBox="1"/>
            <p:nvPr/>
          </p:nvSpPr>
          <p:spPr>
            <a:xfrm>
              <a:off x="2176" y="3936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写选择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42" name="Text Box 92"/>
            <p:cNvSpPr txBox="1"/>
            <p:nvPr/>
          </p:nvSpPr>
          <p:spPr>
            <a:xfrm>
              <a:off x="3040" y="3945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读选择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43" name="Text Box 93"/>
            <p:cNvSpPr txBox="1"/>
            <p:nvPr/>
          </p:nvSpPr>
          <p:spPr>
            <a:xfrm>
              <a:off x="3725" y="3177"/>
              <a:ext cx="45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OUT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8344" name="Text Box 94"/>
            <p:cNvSpPr txBox="1"/>
            <p:nvPr/>
          </p:nvSpPr>
          <p:spPr>
            <a:xfrm>
              <a:off x="3377" y="3129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读放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45" name="Text Box 95"/>
            <p:cNvSpPr txBox="1"/>
            <p:nvPr/>
          </p:nvSpPr>
          <p:spPr>
            <a:xfrm>
              <a:off x="3351" y="1680"/>
              <a:ext cx="50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位线</a:t>
              </a:r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46" name="Freeform 96"/>
            <p:cNvSpPr/>
            <p:nvPr/>
          </p:nvSpPr>
          <p:spPr>
            <a:xfrm>
              <a:off x="3284" y="1900"/>
              <a:ext cx="259" cy="260"/>
            </a:xfrm>
            <a:custGeom>
              <a:avLst/>
              <a:gdLst>
                <a:gd name="txL" fmla="*/ 0 w 259"/>
                <a:gd name="txT" fmla="*/ 0 h 260"/>
                <a:gd name="txR" fmla="*/ 259 w 259"/>
                <a:gd name="txB" fmla="*/ 260 h 260"/>
              </a:gdLst>
              <a:ahLst/>
              <a:cxnLst>
                <a:cxn ang="0">
                  <a:pos x="259" y="0"/>
                </a:cxn>
                <a:cxn ang="0">
                  <a:pos x="0" y="260"/>
                </a:cxn>
              </a:cxnLst>
              <a:rect l="txL" t="txT" r="txR" b="txB"/>
              <a:pathLst>
                <a:path w="259" h="260">
                  <a:moveTo>
                    <a:pt x="259" y="0"/>
                  </a:moveTo>
                  <a:lnTo>
                    <a:pt x="0" y="26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8347" name="Text Box 97"/>
            <p:cNvSpPr txBox="1"/>
            <p:nvPr/>
          </p:nvSpPr>
          <p:spPr>
            <a:xfrm>
              <a:off x="29" y="1680"/>
              <a:ext cx="50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位线</a:t>
              </a:r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48" name="Text Box 98"/>
            <p:cNvSpPr txBox="1"/>
            <p:nvPr/>
          </p:nvSpPr>
          <p:spPr>
            <a:xfrm>
              <a:off x="413" y="1603"/>
              <a:ext cx="19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´</a:t>
              </a:r>
              <a:endParaRPr lang="en-US" altLang="zh-CN" sz="32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68349" name="Line 99"/>
            <p:cNvSpPr/>
            <p:nvPr/>
          </p:nvSpPr>
          <p:spPr>
            <a:xfrm>
              <a:off x="279" y="1920"/>
              <a:ext cx="24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8350" name="Text Box 100"/>
            <p:cNvSpPr txBox="1"/>
            <p:nvPr/>
          </p:nvSpPr>
          <p:spPr>
            <a:xfrm>
              <a:off x="734" y="2937"/>
              <a:ext cx="8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列地址选择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51" name="Text Box 101"/>
            <p:cNvSpPr txBox="1"/>
            <p:nvPr/>
          </p:nvSpPr>
          <p:spPr>
            <a:xfrm>
              <a:off x="1325" y="2256"/>
              <a:ext cx="8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行地址选择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8352" name="Rectangle 102"/>
            <p:cNvSpPr/>
            <p:nvPr/>
          </p:nvSpPr>
          <p:spPr>
            <a:xfrm>
              <a:off x="708" y="1548"/>
              <a:ext cx="2400" cy="72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lgDashDot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04903" name="Rectangle 10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8301" name="Text Box 104"/>
          <p:cNvSpPr txBox="1"/>
          <p:nvPr/>
        </p:nvSpPr>
        <p:spPr>
          <a:xfrm>
            <a:off x="3946525" y="2819400"/>
            <a:ext cx="1233170" cy="460375"/>
          </a:xfrm>
          <a:prstGeom prst="rect">
            <a:avLst/>
          </a:prstGeom>
          <a:noFill/>
          <a:ln w="38100">
            <a:noFill/>
          </a:ln>
        </p:spPr>
        <p:txBody>
          <a:bodyPr wrap="none">
            <a:spAutoFit/>
          </a:bodyPr>
          <a:p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~  </a:t>
            </a: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endParaRPr lang="en-US" altLang="zh-CN" sz="20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8302" name="AutoShape 105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830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69314" name="Group 2"/>
          <p:cNvGrpSpPr/>
          <p:nvPr/>
        </p:nvGrpSpPr>
        <p:grpSpPr>
          <a:xfrm>
            <a:off x="1524000" y="1066800"/>
            <a:ext cx="7375525" cy="5872163"/>
            <a:chOff x="0" y="672"/>
            <a:chExt cx="4646" cy="3699"/>
          </a:xfrm>
        </p:grpSpPr>
        <p:sp>
          <p:nvSpPr>
            <p:cNvPr id="269368" name="Text Box 3"/>
            <p:cNvSpPr txBox="1"/>
            <p:nvPr/>
          </p:nvSpPr>
          <p:spPr>
            <a:xfrm>
              <a:off x="1148" y="739"/>
              <a:ext cx="33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´</a:t>
              </a:r>
              <a:endParaRPr lang="en-US" altLang="zh-CN" sz="32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69369" name="Rectangle 4"/>
            <p:cNvSpPr/>
            <p:nvPr/>
          </p:nvSpPr>
          <p:spPr>
            <a:xfrm>
              <a:off x="1452" y="866"/>
              <a:ext cx="1046" cy="43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70" name="Text Box 5"/>
            <p:cNvSpPr txBox="1"/>
            <p:nvPr/>
          </p:nvSpPr>
          <p:spPr>
            <a:xfrm>
              <a:off x="1536" y="906"/>
              <a:ext cx="114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 ~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9371" name="Freeform 6"/>
            <p:cNvSpPr/>
            <p:nvPr/>
          </p:nvSpPr>
          <p:spPr>
            <a:xfrm>
              <a:off x="2498" y="1109"/>
              <a:ext cx="343" cy="213"/>
            </a:xfrm>
            <a:custGeom>
              <a:avLst/>
              <a:gdLst>
                <a:gd name="txL" fmla="*/ 0 w 336"/>
                <a:gd name="txT" fmla="*/ 0 h 144"/>
                <a:gd name="txR" fmla="*/ 336 w 336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336" y="0"/>
                </a:cxn>
                <a:cxn ang="0">
                  <a:pos x="336" y="144"/>
                </a:cxn>
              </a:cxnLst>
              <a:rect l="txL" t="txT" r="txR" b="txB"/>
              <a:pathLst>
                <a:path w="336" h="144">
                  <a:moveTo>
                    <a:pt x="0" y="0"/>
                  </a:moveTo>
                  <a:lnTo>
                    <a:pt x="336" y="0"/>
                  </a:lnTo>
                  <a:lnTo>
                    <a:pt x="336" y="14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72" name="Freeform 7"/>
            <p:cNvSpPr/>
            <p:nvPr/>
          </p:nvSpPr>
          <p:spPr>
            <a:xfrm>
              <a:off x="1105" y="1102"/>
              <a:ext cx="331" cy="226"/>
            </a:xfrm>
            <a:custGeom>
              <a:avLst/>
              <a:gdLst>
                <a:gd name="txL" fmla="*/ 0 w 319"/>
                <a:gd name="txT" fmla="*/ 0 h 184"/>
                <a:gd name="txR" fmla="*/ 319 w 319"/>
                <a:gd name="txB" fmla="*/ 184 h 184"/>
              </a:gdLst>
              <a:ahLst/>
              <a:cxnLst>
                <a:cxn ang="0">
                  <a:pos x="319" y="0"/>
                </a:cxn>
                <a:cxn ang="0">
                  <a:pos x="0" y="0"/>
                </a:cxn>
                <a:cxn ang="0">
                  <a:pos x="0" y="184"/>
                </a:cxn>
              </a:cxnLst>
              <a:rect l="txL" t="txT" r="txR" b="txB"/>
              <a:pathLst>
                <a:path w="319" h="184">
                  <a:moveTo>
                    <a:pt x="319" y="0"/>
                  </a:moveTo>
                  <a:lnTo>
                    <a:pt x="0" y="0"/>
                  </a:lnTo>
                  <a:lnTo>
                    <a:pt x="0" y="18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69373" name="Group 8"/>
            <p:cNvGrpSpPr/>
            <p:nvPr/>
          </p:nvGrpSpPr>
          <p:grpSpPr>
            <a:xfrm>
              <a:off x="2770" y="1328"/>
              <a:ext cx="265" cy="74"/>
              <a:chOff x="3459" y="1296"/>
              <a:chExt cx="243" cy="48"/>
            </a:xfrm>
          </p:grpSpPr>
          <p:sp>
            <p:nvSpPr>
              <p:cNvPr id="269422" name="Line 9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9423" name="Line 10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69374" name="Group 11"/>
            <p:cNvGrpSpPr/>
            <p:nvPr/>
          </p:nvGrpSpPr>
          <p:grpSpPr>
            <a:xfrm>
              <a:off x="933" y="1328"/>
              <a:ext cx="264" cy="74"/>
              <a:chOff x="3459" y="1296"/>
              <a:chExt cx="243" cy="48"/>
            </a:xfrm>
          </p:grpSpPr>
          <p:sp>
            <p:nvSpPr>
              <p:cNvPr id="269420" name="Line 12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9421" name="Line 13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69375" name="Group 14"/>
            <p:cNvGrpSpPr/>
            <p:nvPr/>
          </p:nvGrpSpPr>
          <p:grpSpPr>
            <a:xfrm>
              <a:off x="3143" y="2256"/>
              <a:ext cx="76" cy="369"/>
              <a:chOff x="3143" y="2256"/>
              <a:chExt cx="76" cy="369"/>
            </a:xfrm>
          </p:grpSpPr>
          <p:sp>
            <p:nvSpPr>
              <p:cNvPr id="269418" name="Line 15"/>
              <p:cNvSpPr/>
              <p:nvPr/>
            </p:nvSpPr>
            <p:spPr>
              <a:xfrm rot="5400000">
                <a:off x="3017" y="2423"/>
                <a:ext cx="369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9419" name="Line 16"/>
              <p:cNvSpPr/>
              <p:nvPr/>
            </p:nvSpPr>
            <p:spPr>
              <a:xfrm rot="5400000">
                <a:off x="3031" y="2436"/>
                <a:ext cx="22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69376" name="Group 17"/>
            <p:cNvGrpSpPr/>
            <p:nvPr/>
          </p:nvGrpSpPr>
          <p:grpSpPr>
            <a:xfrm>
              <a:off x="771" y="2256"/>
              <a:ext cx="76" cy="369"/>
              <a:chOff x="771" y="2256"/>
              <a:chExt cx="76" cy="369"/>
            </a:xfrm>
          </p:grpSpPr>
          <p:sp>
            <p:nvSpPr>
              <p:cNvPr id="269416" name="Line 18"/>
              <p:cNvSpPr/>
              <p:nvPr/>
            </p:nvSpPr>
            <p:spPr>
              <a:xfrm rot="-5400000">
                <a:off x="569" y="2423"/>
                <a:ext cx="369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9417" name="Line 19"/>
              <p:cNvSpPr/>
              <p:nvPr/>
            </p:nvSpPr>
            <p:spPr>
              <a:xfrm rot="-5400000">
                <a:off x="735" y="2446"/>
                <a:ext cx="22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69377" name="Freeform 20"/>
            <p:cNvSpPr/>
            <p:nvPr/>
          </p:nvSpPr>
          <p:spPr>
            <a:xfrm>
              <a:off x="860" y="2423"/>
              <a:ext cx="2272" cy="1"/>
            </a:xfrm>
            <a:custGeom>
              <a:avLst/>
              <a:gdLst>
                <a:gd name="txL" fmla="*/ 0 w 2272"/>
                <a:gd name="txT" fmla="*/ 0 h 1"/>
                <a:gd name="txR" fmla="*/ 2272 w 227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272" y="1"/>
                </a:cxn>
              </a:cxnLst>
              <a:rect l="txL" t="txT" r="txR" b="txB"/>
              <a:pathLst>
                <a:path w="2272" h="1">
                  <a:moveTo>
                    <a:pt x="0" y="0"/>
                  </a:moveTo>
                  <a:lnTo>
                    <a:pt x="2272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78" name="Freeform 21"/>
            <p:cNvSpPr/>
            <p:nvPr/>
          </p:nvSpPr>
          <p:spPr>
            <a:xfrm>
              <a:off x="3230" y="2495"/>
              <a:ext cx="210" cy="1023"/>
            </a:xfrm>
            <a:custGeom>
              <a:avLst/>
              <a:gdLst>
                <a:gd name="txL" fmla="*/ 0 w 192"/>
                <a:gd name="txT" fmla="*/ 0 h 672"/>
                <a:gd name="txR" fmla="*/ 192 w 192"/>
                <a:gd name="txB" fmla="*/ 672 h 672"/>
              </a:gdLst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672"/>
                </a:cxn>
              </a:cxnLst>
              <a:rect l="txL" t="txT" r="txR" b="txB"/>
              <a:pathLst>
                <a:path w="192" h="672">
                  <a:moveTo>
                    <a:pt x="0" y="0"/>
                  </a:moveTo>
                  <a:lnTo>
                    <a:pt x="192" y="0"/>
                  </a:lnTo>
                  <a:lnTo>
                    <a:pt x="192" y="67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79" name="AutoShape 22"/>
            <p:cNvSpPr/>
            <p:nvPr/>
          </p:nvSpPr>
          <p:spPr>
            <a:xfrm rot="5400000">
              <a:off x="2053" y="3343"/>
              <a:ext cx="437" cy="314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80" name="AutoShape 23"/>
            <p:cNvSpPr/>
            <p:nvPr/>
          </p:nvSpPr>
          <p:spPr>
            <a:xfrm rot="-5400000">
              <a:off x="1372" y="3342"/>
              <a:ext cx="437" cy="314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81" name="Oval 24"/>
            <p:cNvSpPr/>
            <p:nvPr/>
          </p:nvSpPr>
          <p:spPr>
            <a:xfrm rot="10800000">
              <a:off x="1380" y="3484"/>
              <a:ext cx="68" cy="6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82" name="Line 25"/>
            <p:cNvSpPr/>
            <p:nvPr/>
          </p:nvSpPr>
          <p:spPr>
            <a:xfrm>
              <a:off x="2446" y="3518"/>
              <a:ext cx="120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9383" name="AutoShape 26"/>
            <p:cNvSpPr/>
            <p:nvPr/>
          </p:nvSpPr>
          <p:spPr>
            <a:xfrm rot="5400000">
              <a:off x="3570" y="3343"/>
              <a:ext cx="437" cy="314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84" name="Line 27"/>
            <p:cNvSpPr/>
            <p:nvPr/>
          </p:nvSpPr>
          <p:spPr>
            <a:xfrm>
              <a:off x="3963" y="3518"/>
              <a:ext cx="3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69385" name="Line 28"/>
            <p:cNvSpPr/>
            <p:nvPr/>
          </p:nvSpPr>
          <p:spPr>
            <a:xfrm>
              <a:off x="1766" y="3518"/>
              <a:ext cx="36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9386" name="Freeform 29"/>
            <p:cNvSpPr/>
            <p:nvPr/>
          </p:nvSpPr>
          <p:spPr>
            <a:xfrm>
              <a:off x="1951" y="3518"/>
              <a:ext cx="1" cy="622"/>
            </a:xfrm>
            <a:custGeom>
              <a:avLst/>
              <a:gdLst>
                <a:gd name="txL" fmla="*/ 0 w 1"/>
                <a:gd name="txT" fmla="*/ 0 h 622"/>
                <a:gd name="txR" fmla="*/ 1 w 1"/>
                <a:gd name="txB" fmla="*/ 622 h 622"/>
              </a:gdLst>
              <a:ahLst/>
              <a:cxnLst>
                <a:cxn ang="0">
                  <a:pos x="0" y="0"/>
                </a:cxn>
                <a:cxn ang="0">
                  <a:pos x="1" y="622"/>
                </a:cxn>
              </a:cxnLst>
              <a:rect l="txL" t="txT" r="txR" b="txB"/>
              <a:pathLst>
                <a:path w="1" h="622">
                  <a:moveTo>
                    <a:pt x="0" y="0"/>
                  </a:moveTo>
                  <a:lnTo>
                    <a:pt x="1" y="62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87" name="Freeform 30"/>
            <p:cNvSpPr/>
            <p:nvPr/>
          </p:nvSpPr>
          <p:spPr>
            <a:xfrm>
              <a:off x="2267" y="3639"/>
              <a:ext cx="6" cy="498"/>
            </a:xfrm>
            <a:custGeom>
              <a:avLst/>
              <a:gdLst>
                <a:gd name="txL" fmla="*/ 0 w 6"/>
                <a:gd name="txT" fmla="*/ 0 h 498"/>
                <a:gd name="txR" fmla="*/ 6 w 6"/>
                <a:gd name="txB" fmla="*/ 498 h 498"/>
              </a:gdLst>
              <a:ahLst/>
              <a:cxnLst>
                <a:cxn ang="0">
                  <a:pos x="4" y="498"/>
                </a:cxn>
                <a:cxn ang="0">
                  <a:pos x="0" y="9"/>
                </a:cxn>
                <a:cxn ang="0">
                  <a:pos x="6" y="0"/>
                </a:cxn>
                <a:cxn ang="0">
                  <a:pos x="6" y="2"/>
                </a:cxn>
              </a:cxnLst>
              <a:rect l="txL" t="txT" r="txR" b="txB"/>
              <a:pathLst>
                <a:path w="6" h="498">
                  <a:moveTo>
                    <a:pt x="4" y="498"/>
                  </a:moveTo>
                  <a:lnTo>
                    <a:pt x="0" y="9"/>
                  </a:lnTo>
                  <a:lnTo>
                    <a:pt x="6" y="0"/>
                  </a:lnTo>
                  <a:lnTo>
                    <a:pt x="6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88" name="Freeform 31"/>
            <p:cNvSpPr/>
            <p:nvPr/>
          </p:nvSpPr>
          <p:spPr>
            <a:xfrm>
              <a:off x="1596" y="3624"/>
              <a:ext cx="677" cy="312"/>
            </a:xfrm>
            <a:custGeom>
              <a:avLst/>
              <a:gdLst>
                <a:gd name="txL" fmla="*/ 0 w 677"/>
                <a:gd name="txT" fmla="*/ 0 h 312"/>
                <a:gd name="txR" fmla="*/ 677 w 677"/>
                <a:gd name="txB" fmla="*/ 312 h 312"/>
              </a:gdLst>
              <a:ahLst/>
              <a:cxnLst>
                <a:cxn ang="0">
                  <a:pos x="0" y="0"/>
                </a:cxn>
                <a:cxn ang="0">
                  <a:pos x="0" y="306"/>
                </a:cxn>
                <a:cxn ang="0">
                  <a:pos x="677" y="312"/>
                </a:cxn>
              </a:cxnLst>
              <a:rect l="txL" t="txT" r="txR" b="txB"/>
              <a:pathLst>
                <a:path w="677" h="312">
                  <a:moveTo>
                    <a:pt x="0" y="0"/>
                  </a:moveTo>
                  <a:lnTo>
                    <a:pt x="0" y="306"/>
                  </a:lnTo>
                  <a:lnTo>
                    <a:pt x="677" y="31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stealth" w="med" len="lg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89" name="Freeform 32"/>
            <p:cNvSpPr/>
            <p:nvPr/>
          </p:nvSpPr>
          <p:spPr>
            <a:xfrm>
              <a:off x="510" y="2495"/>
              <a:ext cx="862" cy="1023"/>
            </a:xfrm>
            <a:custGeom>
              <a:avLst/>
              <a:gdLst>
                <a:gd name="txL" fmla="*/ 0 w 862"/>
                <a:gd name="txT" fmla="*/ 0 h 1023"/>
                <a:gd name="txR" fmla="*/ 862 w 862"/>
                <a:gd name="txB" fmla="*/ 1023 h 1023"/>
              </a:gdLst>
              <a:ahLst/>
              <a:cxnLst>
                <a:cxn ang="0">
                  <a:pos x="262" y="0"/>
                </a:cxn>
                <a:cxn ang="0">
                  <a:pos x="0" y="0"/>
                </a:cxn>
                <a:cxn ang="0">
                  <a:pos x="0" y="1023"/>
                </a:cxn>
                <a:cxn ang="0">
                  <a:pos x="862" y="1023"/>
                </a:cxn>
                <a:cxn ang="0">
                  <a:pos x="838" y="1023"/>
                </a:cxn>
              </a:cxnLst>
              <a:rect l="txL" t="txT" r="txR" b="txB"/>
              <a:pathLst>
                <a:path w="862" h="1023">
                  <a:moveTo>
                    <a:pt x="262" y="0"/>
                  </a:moveTo>
                  <a:lnTo>
                    <a:pt x="0" y="0"/>
                  </a:lnTo>
                  <a:lnTo>
                    <a:pt x="0" y="1023"/>
                  </a:lnTo>
                  <a:lnTo>
                    <a:pt x="862" y="1023"/>
                  </a:lnTo>
                  <a:lnTo>
                    <a:pt x="838" y="102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90" name="Freeform 33"/>
            <p:cNvSpPr/>
            <p:nvPr/>
          </p:nvSpPr>
          <p:spPr>
            <a:xfrm>
              <a:off x="301" y="2423"/>
              <a:ext cx="1674" cy="583"/>
            </a:xfrm>
            <a:custGeom>
              <a:avLst/>
              <a:gdLst>
                <a:gd name="txL" fmla="*/ 0 w 1872"/>
                <a:gd name="txT" fmla="*/ 0 h 384"/>
                <a:gd name="txR" fmla="*/ 1872 w 1872"/>
                <a:gd name="txB" fmla="*/ 384 h 384"/>
              </a:gdLst>
              <a:ahLst/>
              <a:cxnLst>
                <a:cxn ang="0">
                  <a:pos x="1872" y="0"/>
                </a:cxn>
                <a:cxn ang="0">
                  <a:pos x="1872" y="384"/>
                </a:cxn>
                <a:cxn ang="0">
                  <a:pos x="0" y="384"/>
                </a:cxn>
              </a:cxnLst>
              <a:rect l="txL" t="txT" r="txR" b="txB"/>
              <a:pathLst>
                <a:path w="1872" h="384">
                  <a:moveTo>
                    <a:pt x="1872" y="0"/>
                  </a:moveTo>
                  <a:lnTo>
                    <a:pt x="1872" y="384"/>
                  </a:lnTo>
                  <a:lnTo>
                    <a:pt x="0" y="38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91" name="Line 34"/>
            <p:cNvSpPr/>
            <p:nvPr/>
          </p:nvSpPr>
          <p:spPr>
            <a:xfrm flipV="1">
              <a:off x="3806" y="3641"/>
              <a:ext cx="0" cy="73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69392" name="Freeform 35"/>
            <p:cNvSpPr/>
            <p:nvPr/>
          </p:nvSpPr>
          <p:spPr>
            <a:xfrm>
              <a:off x="510" y="1091"/>
              <a:ext cx="492" cy="1259"/>
            </a:xfrm>
            <a:custGeom>
              <a:avLst/>
              <a:gdLst>
                <a:gd name="txL" fmla="*/ 0 w 492"/>
                <a:gd name="txT" fmla="*/ 0 h 1259"/>
                <a:gd name="txR" fmla="*/ 492 w 492"/>
                <a:gd name="txB" fmla="*/ 1259 h 1259"/>
              </a:gdLst>
              <a:ahLst/>
              <a:cxnLst>
                <a:cxn ang="0">
                  <a:pos x="492" y="233"/>
                </a:cxn>
                <a:cxn ang="0">
                  <a:pos x="492" y="0"/>
                </a:cxn>
                <a:cxn ang="0">
                  <a:pos x="1" y="0"/>
                </a:cxn>
                <a:cxn ang="0">
                  <a:pos x="0" y="1259"/>
                </a:cxn>
                <a:cxn ang="0">
                  <a:pos x="262" y="1259"/>
                </a:cxn>
              </a:cxnLst>
              <a:rect l="txL" t="txT" r="txR" b="txB"/>
              <a:pathLst>
                <a:path w="492" h="1259">
                  <a:moveTo>
                    <a:pt x="492" y="233"/>
                  </a:moveTo>
                  <a:lnTo>
                    <a:pt x="492" y="0"/>
                  </a:lnTo>
                  <a:lnTo>
                    <a:pt x="1" y="0"/>
                  </a:lnTo>
                  <a:lnTo>
                    <a:pt x="0" y="1259"/>
                  </a:lnTo>
                  <a:lnTo>
                    <a:pt x="262" y="125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93" name="Freeform 36"/>
            <p:cNvSpPr/>
            <p:nvPr/>
          </p:nvSpPr>
          <p:spPr>
            <a:xfrm>
              <a:off x="2942" y="1109"/>
              <a:ext cx="523" cy="1244"/>
            </a:xfrm>
            <a:custGeom>
              <a:avLst/>
              <a:gdLst>
                <a:gd name="txL" fmla="*/ 0 w 523"/>
                <a:gd name="txT" fmla="*/ 0 h 1244"/>
                <a:gd name="txR" fmla="*/ 523 w 523"/>
                <a:gd name="txB" fmla="*/ 1244 h 1244"/>
              </a:gdLst>
              <a:ahLst/>
              <a:cxnLst>
                <a:cxn ang="0">
                  <a:pos x="0" y="219"/>
                </a:cxn>
                <a:cxn ang="0">
                  <a:pos x="0" y="0"/>
                </a:cxn>
                <a:cxn ang="0">
                  <a:pos x="523" y="0"/>
                </a:cxn>
                <a:cxn ang="0">
                  <a:pos x="523" y="1244"/>
                </a:cxn>
                <a:cxn ang="0">
                  <a:pos x="278" y="1244"/>
                </a:cxn>
              </a:cxnLst>
              <a:rect l="txL" t="txT" r="txR" b="txB"/>
              <a:pathLst>
                <a:path w="523" h="1244">
                  <a:moveTo>
                    <a:pt x="0" y="219"/>
                  </a:moveTo>
                  <a:lnTo>
                    <a:pt x="0" y="0"/>
                  </a:lnTo>
                  <a:lnTo>
                    <a:pt x="523" y="0"/>
                  </a:lnTo>
                  <a:lnTo>
                    <a:pt x="523" y="1244"/>
                  </a:lnTo>
                  <a:lnTo>
                    <a:pt x="278" y="124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94" name="Text Box 37"/>
            <p:cNvSpPr txBox="1"/>
            <p:nvPr/>
          </p:nvSpPr>
          <p:spPr>
            <a:xfrm>
              <a:off x="685" y="1231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9395" name="Text Box 38"/>
            <p:cNvSpPr txBox="1"/>
            <p:nvPr/>
          </p:nvSpPr>
          <p:spPr>
            <a:xfrm>
              <a:off x="3037" y="1231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9396" name="Text Box 39"/>
            <p:cNvSpPr txBox="1"/>
            <p:nvPr/>
          </p:nvSpPr>
          <p:spPr>
            <a:xfrm>
              <a:off x="824" y="215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9397" name="Text Box 40"/>
            <p:cNvSpPr txBox="1"/>
            <p:nvPr/>
          </p:nvSpPr>
          <p:spPr>
            <a:xfrm>
              <a:off x="2864" y="2150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9398" name="Text Box 41"/>
            <p:cNvSpPr txBox="1"/>
            <p:nvPr/>
          </p:nvSpPr>
          <p:spPr>
            <a:xfrm>
              <a:off x="2540" y="816"/>
              <a:ext cx="2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399" name="Freeform 42"/>
            <p:cNvSpPr/>
            <p:nvPr/>
          </p:nvSpPr>
          <p:spPr>
            <a:xfrm>
              <a:off x="249" y="1402"/>
              <a:ext cx="2642" cy="365"/>
            </a:xfrm>
            <a:custGeom>
              <a:avLst/>
              <a:gdLst>
                <a:gd name="txL" fmla="*/ 0 w 2736"/>
                <a:gd name="txT" fmla="*/ 0 h 240"/>
                <a:gd name="txR" fmla="*/ 2736 w 2736"/>
                <a:gd name="txB" fmla="*/ 240 h 240"/>
              </a:gdLst>
              <a:ahLst/>
              <a:cxnLst>
                <a:cxn ang="0">
                  <a:pos x="2736" y="0"/>
                </a:cxn>
                <a:cxn ang="0">
                  <a:pos x="2736" y="240"/>
                </a:cxn>
                <a:cxn ang="0">
                  <a:pos x="0" y="240"/>
                </a:cxn>
              </a:cxnLst>
              <a:rect l="txL" t="txT" r="txR" b="txB"/>
              <a:pathLst>
                <a:path w="2736" h="240">
                  <a:moveTo>
                    <a:pt x="2736" y="0"/>
                  </a:moveTo>
                  <a:lnTo>
                    <a:pt x="2736" y="240"/>
                  </a:lnTo>
                  <a:lnTo>
                    <a:pt x="0" y="24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400" name="Line 43"/>
            <p:cNvSpPr/>
            <p:nvPr/>
          </p:nvSpPr>
          <p:spPr>
            <a:xfrm>
              <a:off x="1045" y="1402"/>
              <a:ext cx="0" cy="36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69401" name="Text Box 44"/>
            <p:cNvSpPr txBox="1"/>
            <p:nvPr/>
          </p:nvSpPr>
          <p:spPr>
            <a:xfrm>
              <a:off x="907" y="3230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写放大器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402" name="Text Box 45"/>
            <p:cNvSpPr txBox="1"/>
            <p:nvPr/>
          </p:nvSpPr>
          <p:spPr>
            <a:xfrm>
              <a:off x="2289" y="3225"/>
              <a:ext cx="69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写放大器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403" name="Text Box 46"/>
            <p:cNvSpPr txBox="1"/>
            <p:nvPr/>
          </p:nvSpPr>
          <p:spPr>
            <a:xfrm>
              <a:off x="1449" y="3993"/>
              <a:ext cx="3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IN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9404" name="Text Box 47"/>
            <p:cNvSpPr txBox="1"/>
            <p:nvPr/>
          </p:nvSpPr>
          <p:spPr>
            <a:xfrm>
              <a:off x="2290" y="3984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写选择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405" name="Text Box 48"/>
            <p:cNvSpPr txBox="1"/>
            <p:nvPr/>
          </p:nvSpPr>
          <p:spPr>
            <a:xfrm>
              <a:off x="3262" y="3993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读选择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406" name="Text Box 49"/>
            <p:cNvSpPr txBox="1"/>
            <p:nvPr/>
          </p:nvSpPr>
          <p:spPr>
            <a:xfrm>
              <a:off x="3539" y="2976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读放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407" name="Text Box 50"/>
            <p:cNvSpPr txBox="1"/>
            <p:nvPr/>
          </p:nvSpPr>
          <p:spPr>
            <a:xfrm>
              <a:off x="3657" y="729"/>
              <a:ext cx="50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位线</a:t>
              </a:r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408" name="Line 51"/>
            <p:cNvSpPr/>
            <p:nvPr/>
          </p:nvSpPr>
          <p:spPr>
            <a:xfrm flipH="1">
              <a:off x="3513" y="912"/>
              <a:ext cx="288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269409" name="Group 52"/>
            <p:cNvGrpSpPr/>
            <p:nvPr/>
          </p:nvGrpSpPr>
          <p:grpSpPr>
            <a:xfrm>
              <a:off x="0" y="672"/>
              <a:ext cx="582" cy="368"/>
              <a:chOff x="-58" y="1603"/>
              <a:chExt cx="582" cy="368"/>
            </a:xfrm>
          </p:grpSpPr>
          <p:sp>
            <p:nvSpPr>
              <p:cNvPr id="269414" name="Text Box 53"/>
              <p:cNvSpPr txBox="1"/>
              <p:nvPr/>
            </p:nvSpPr>
            <p:spPr>
              <a:xfrm>
                <a:off x="-58" y="1680"/>
                <a:ext cx="50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</a:rPr>
                  <a:t>位线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A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415" name="Text Box 54"/>
              <p:cNvSpPr txBox="1"/>
              <p:nvPr/>
            </p:nvSpPr>
            <p:spPr>
              <a:xfrm>
                <a:off x="326" y="1603"/>
                <a:ext cx="198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´</a:t>
                </a:r>
                <a:endParaRPr lang="en-US" altLang="zh-CN" sz="3200" b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269410" name="Line 55"/>
            <p:cNvSpPr/>
            <p:nvPr/>
          </p:nvSpPr>
          <p:spPr>
            <a:xfrm>
              <a:off x="249" y="960"/>
              <a:ext cx="24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269411" name="Text Box 56"/>
            <p:cNvSpPr txBox="1"/>
            <p:nvPr/>
          </p:nvSpPr>
          <p:spPr>
            <a:xfrm>
              <a:off x="825" y="2736"/>
              <a:ext cx="8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列地址选择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412" name="Text Box 57"/>
            <p:cNvSpPr txBox="1"/>
            <p:nvPr/>
          </p:nvSpPr>
          <p:spPr>
            <a:xfrm>
              <a:off x="1497" y="1488"/>
              <a:ext cx="8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行地址选择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413" name="Text Box 58"/>
            <p:cNvSpPr txBox="1"/>
            <p:nvPr/>
          </p:nvSpPr>
          <p:spPr>
            <a:xfrm>
              <a:off x="4122" y="3216"/>
              <a:ext cx="52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OUT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9315" name="Text Box 59"/>
          <p:cNvSpPr txBox="1"/>
          <p:nvPr/>
        </p:nvSpPr>
        <p:spPr>
          <a:xfrm>
            <a:off x="2057400" y="381000"/>
            <a:ext cx="7010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① </a:t>
            </a:r>
            <a:r>
              <a:rPr lang="zh-CN" altLang="en-US" sz="3200" b="1" dirty="0">
                <a:latin typeface="Times New Roman" panose="02020603050405020304" pitchFamily="18" charset="0"/>
              </a:rPr>
              <a:t>静态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基本电路的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读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操作 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05884" name="Freeform 60"/>
          <p:cNvSpPr/>
          <p:nvPr/>
        </p:nvSpPr>
        <p:spPr>
          <a:xfrm>
            <a:off x="1998663" y="3862388"/>
            <a:ext cx="2657475" cy="925512"/>
          </a:xfrm>
          <a:custGeom>
            <a:avLst/>
            <a:gdLst>
              <a:gd name="txL" fmla="*/ 0 w 1872"/>
              <a:gd name="txT" fmla="*/ 0 h 384"/>
              <a:gd name="txR" fmla="*/ 1872 w 1872"/>
              <a:gd name="txB" fmla="*/ 384 h 384"/>
            </a:gdLst>
            <a:ahLst/>
            <a:cxnLst>
              <a:cxn ang="0">
                <a:pos x="1872" y="0"/>
              </a:cxn>
              <a:cxn ang="0">
                <a:pos x="1872" y="384"/>
              </a:cxn>
              <a:cxn ang="0">
                <a:pos x="0" y="384"/>
              </a:cxn>
            </a:cxnLst>
            <a:rect l="txL" t="txT" r="txR" b="txB"/>
            <a:pathLst>
              <a:path w="1872" h="384">
                <a:moveTo>
                  <a:pt x="1872" y="0"/>
                </a:moveTo>
                <a:lnTo>
                  <a:pt x="1872" y="384"/>
                </a:lnTo>
                <a:lnTo>
                  <a:pt x="0" y="384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885" name="Freeform 61"/>
          <p:cNvSpPr/>
          <p:nvPr/>
        </p:nvSpPr>
        <p:spPr>
          <a:xfrm>
            <a:off x="2855913" y="3867150"/>
            <a:ext cx="3640137" cy="3175"/>
          </a:xfrm>
          <a:custGeom>
            <a:avLst/>
            <a:gdLst>
              <a:gd name="txL" fmla="*/ 0 w 2293"/>
              <a:gd name="txT" fmla="*/ 0 h 2"/>
              <a:gd name="txR" fmla="*/ 2293 w 2293"/>
              <a:gd name="txB" fmla="*/ 2 h 2"/>
            </a:gdLst>
            <a:ahLst/>
            <a:cxnLst>
              <a:cxn ang="0">
                <a:pos x="0" y="2"/>
              </a:cxn>
              <a:cxn ang="0">
                <a:pos x="2293" y="0"/>
              </a:cxn>
            </a:cxnLst>
            <a:rect l="txL" t="txT" r="txR" b="txB"/>
            <a:pathLst>
              <a:path w="2293" h="2">
                <a:moveTo>
                  <a:pt x="0" y="2"/>
                </a:moveTo>
                <a:lnTo>
                  <a:pt x="2293" y="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886" name="Freeform 62"/>
          <p:cNvSpPr/>
          <p:nvPr/>
        </p:nvSpPr>
        <p:spPr>
          <a:xfrm>
            <a:off x="5476875" y="1752600"/>
            <a:ext cx="542925" cy="347663"/>
          </a:xfrm>
          <a:custGeom>
            <a:avLst/>
            <a:gdLst>
              <a:gd name="txL" fmla="*/ 0 w 342"/>
              <a:gd name="txT" fmla="*/ 0 h 219"/>
              <a:gd name="txR" fmla="*/ 342 w 342"/>
              <a:gd name="txB" fmla="*/ 219 h 219"/>
            </a:gdLst>
            <a:ahLst/>
            <a:cxnLst>
              <a:cxn ang="0">
                <a:pos x="0" y="0"/>
              </a:cxn>
              <a:cxn ang="0">
                <a:pos x="342" y="0"/>
              </a:cxn>
              <a:cxn ang="0">
                <a:pos x="342" y="219"/>
              </a:cxn>
            </a:cxnLst>
            <a:rect l="txL" t="txT" r="txR" b="txB"/>
            <a:pathLst>
              <a:path w="342" h="219">
                <a:moveTo>
                  <a:pt x="0" y="0"/>
                </a:moveTo>
                <a:lnTo>
                  <a:pt x="342" y="0"/>
                </a:lnTo>
                <a:lnTo>
                  <a:pt x="342" y="219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8" name="Group 63"/>
          <p:cNvGrpSpPr/>
          <p:nvPr/>
        </p:nvGrpSpPr>
        <p:grpSpPr>
          <a:xfrm>
            <a:off x="2743200" y="3581400"/>
            <a:ext cx="3886200" cy="585788"/>
            <a:chOff x="768" y="2256"/>
            <a:chExt cx="2448" cy="369"/>
          </a:xfrm>
        </p:grpSpPr>
        <p:grpSp>
          <p:nvGrpSpPr>
            <p:cNvPr id="269362" name="Group 64"/>
            <p:cNvGrpSpPr/>
            <p:nvPr/>
          </p:nvGrpSpPr>
          <p:grpSpPr>
            <a:xfrm>
              <a:off x="768" y="2256"/>
              <a:ext cx="76" cy="369"/>
              <a:chOff x="768" y="2256"/>
              <a:chExt cx="76" cy="369"/>
            </a:xfrm>
          </p:grpSpPr>
          <p:sp>
            <p:nvSpPr>
              <p:cNvPr id="269366" name="Line 65"/>
              <p:cNvSpPr/>
              <p:nvPr/>
            </p:nvSpPr>
            <p:spPr>
              <a:xfrm rot="-5400000">
                <a:off x="566" y="2423"/>
                <a:ext cx="369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9367" name="Line 66"/>
              <p:cNvSpPr/>
              <p:nvPr/>
            </p:nvSpPr>
            <p:spPr>
              <a:xfrm rot="-5400000">
                <a:off x="732" y="2446"/>
                <a:ext cx="224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69363" name="Group 67"/>
            <p:cNvGrpSpPr/>
            <p:nvPr/>
          </p:nvGrpSpPr>
          <p:grpSpPr>
            <a:xfrm>
              <a:off x="3140" y="2256"/>
              <a:ext cx="76" cy="369"/>
              <a:chOff x="3140" y="2256"/>
              <a:chExt cx="76" cy="369"/>
            </a:xfrm>
          </p:grpSpPr>
          <p:sp>
            <p:nvSpPr>
              <p:cNvPr id="269364" name="Line 68"/>
              <p:cNvSpPr/>
              <p:nvPr/>
            </p:nvSpPr>
            <p:spPr>
              <a:xfrm rot="5400000">
                <a:off x="3014" y="2423"/>
                <a:ext cx="369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9365" name="Line 69"/>
              <p:cNvSpPr/>
              <p:nvPr/>
            </p:nvSpPr>
            <p:spPr>
              <a:xfrm rot="5400000">
                <a:off x="3028" y="2436"/>
                <a:ext cx="224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205894" name="Freeform 70"/>
          <p:cNvSpPr/>
          <p:nvPr/>
        </p:nvSpPr>
        <p:spPr>
          <a:xfrm>
            <a:off x="6629400" y="3956050"/>
            <a:ext cx="333375" cy="1622425"/>
          </a:xfrm>
          <a:custGeom>
            <a:avLst/>
            <a:gdLst>
              <a:gd name="txL" fmla="*/ 0 w 192"/>
              <a:gd name="txT" fmla="*/ 0 h 672"/>
              <a:gd name="txR" fmla="*/ 192 w 192"/>
              <a:gd name="txB" fmla="*/ 672 h 672"/>
            </a:gdLst>
            <a:ahLst/>
            <a:cxnLst>
              <a:cxn ang="0">
                <a:pos x="0" y="0"/>
              </a:cxn>
              <a:cxn ang="0">
                <a:pos x="192" y="0"/>
              </a:cxn>
              <a:cxn ang="0">
                <a:pos x="192" y="672"/>
              </a:cxn>
            </a:cxnLst>
            <a:rect l="txL" t="txT" r="txR" b="txB"/>
            <a:pathLst>
              <a:path w="192" h="672">
                <a:moveTo>
                  <a:pt x="0" y="0"/>
                </a:moveTo>
                <a:lnTo>
                  <a:pt x="192" y="0"/>
                </a:lnTo>
                <a:lnTo>
                  <a:pt x="192" y="672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895" name="Line 71"/>
          <p:cNvSpPr/>
          <p:nvPr/>
        </p:nvSpPr>
        <p:spPr>
          <a:xfrm>
            <a:off x="6973888" y="5562600"/>
            <a:ext cx="354012" cy="0"/>
          </a:xfrm>
          <a:prstGeom prst="line">
            <a:avLst/>
          </a:prstGeom>
          <a:ln w="762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05896" name="Freeform 72"/>
          <p:cNvSpPr/>
          <p:nvPr/>
        </p:nvSpPr>
        <p:spPr>
          <a:xfrm>
            <a:off x="7566025" y="5738813"/>
            <a:ext cx="3175" cy="1138237"/>
          </a:xfrm>
          <a:custGeom>
            <a:avLst/>
            <a:gdLst>
              <a:gd name="txL" fmla="*/ 0 w 2"/>
              <a:gd name="txT" fmla="*/ 0 h 717"/>
              <a:gd name="txR" fmla="*/ 2 w 2"/>
              <a:gd name="txB" fmla="*/ 717 h 717"/>
            </a:gdLst>
            <a:ahLst/>
            <a:cxnLst>
              <a:cxn ang="0">
                <a:pos x="2" y="717"/>
              </a:cxn>
              <a:cxn ang="0">
                <a:pos x="0" y="0"/>
              </a:cxn>
            </a:cxnLst>
            <a:rect l="txL" t="txT" r="txR" b="txB"/>
            <a:pathLst>
              <a:path w="2" h="717">
                <a:moveTo>
                  <a:pt x="2" y="717"/>
                </a:move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stealth" w="med" len="lg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897" name="AutoShape 73"/>
          <p:cNvSpPr/>
          <p:nvPr/>
        </p:nvSpPr>
        <p:spPr>
          <a:xfrm rot="5400000">
            <a:off x="7200900" y="5372100"/>
            <a:ext cx="685800" cy="457200"/>
          </a:xfrm>
          <a:prstGeom prst="triangle">
            <a:avLst>
              <a:gd name="adj" fmla="val 47912"/>
            </a:avLst>
          </a:prstGeom>
          <a:noFill/>
          <a:ln w="762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898" name="Freeform 74"/>
          <p:cNvSpPr/>
          <p:nvPr/>
        </p:nvSpPr>
        <p:spPr>
          <a:xfrm>
            <a:off x="6172200" y="1743075"/>
            <a:ext cx="830263" cy="1984375"/>
          </a:xfrm>
          <a:custGeom>
            <a:avLst/>
            <a:gdLst>
              <a:gd name="txL" fmla="*/ 0 w 523"/>
              <a:gd name="txT" fmla="*/ 0 h 1250"/>
              <a:gd name="txR" fmla="*/ 523 w 523"/>
              <a:gd name="txB" fmla="*/ 1250 h 1250"/>
            </a:gdLst>
            <a:ahLst/>
            <a:cxnLst>
              <a:cxn ang="0">
                <a:pos x="3" y="0"/>
              </a:cxn>
              <a:cxn ang="0">
                <a:pos x="0" y="6"/>
              </a:cxn>
              <a:cxn ang="0">
                <a:pos x="523" y="6"/>
              </a:cxn>
              <a:cxn ang="0">
                <a:pos x="523" y="1250"/>
              </a:cxn>
              <a:cxn ang="0">
                <a:pos x="278" y="1250"/>
              </a:cxn>
            </a:cxnLst>
            <a:rect l="txL" t="txT" r="txR" b="txB"/>
            <a:pathLst>
              <a:path w="523" h="1250">
                <a:moveTo>
                  <a:pt x="3" y="0"/>
                </a:moveTo>
                <a:lnTo>
                  <a:pt x="0" y="6"/>
                </a:lnTo>
                <a:lnTo>
                  <a:pt x="523" y="6"/>
                </a:lnTo>
                <a:lnTo>
                  <a:pt x="523" y="1250"/>
                </a:lnTo>
                <a:lnTo>
                  <a:pt x="278" y="125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1" name="Group 75"/>
          <p:cNvGrpSpPr/>
          <p:nvPr/>
        </p:nvGrpSpPr>
        <p:grpSpPr>
          <a:xfrm>
            <a:off x="7192963" y="2060575"/>
            <a:ext cx="3155950" cy="584201"/>
            <a:chOff x="3552" y="1344"/>
            <a:chExt cx="1988" cy="368"/>
          </a:xfrm>
        </p:grpSpPr>
        <p:sp>
          <p:nvSpPr>
            <p:cNvPr id="269359" name="Text Box 76"/>
            <p:cNvSpPr txBox="1"/>
            <p:nvPr/>
          </p:nvSpPr>
          <p:spPr>
            <a:xfrm>
              <a:off x="3552" y="1344"/>
              <a:ext cx="128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rIns="5400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行选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     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360" name="Text Box 77"/>
            <p:cNvSpPr txBox="1"/>
            <p:nvPr/>
          </p:nvSpPr>
          <p:spPr>
            <a:xfrm>
              <a:off x="4427" y="1382"/>
              <a:ext cx="111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5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6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361" name="Line 78"/>
            <p:cNvSpPr/>
            <p:nvPr/>
          </p:nvSpPr>
          <p:spPr>
            <a:xfrm>
              <a:off x="4032" y="1536"/>
              <a:ext cx="30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05903" name="Freeform 79"/>
          <p:cNvSpPr/>
          <p:nvPr/>
        </p:nvSpPr>
        <p:spPr>
          <a:xfrm>
            <a:off x="6167438" y="1714500"/>
            <a:ext cx="1587" cy="376238"/>
          </a:xfrm>
          <a:custGeom>
            <a:avLst/>
            <a:gdLst>
              <a:gd name="txL" fmla="*/ 0 w 1"/>
              <a:gd name="txT" fmla="*/ 0 h 237"/>
              <a:gd name="txR" fmla="*/ 1 w 1"/>
              <a:gd name="txB" fmla="*/ 237 h 237"/>
            </a:gdLst>
            <a:ahLst/>
            <a:cxnLst>
              <a:cxn ang="0">
                <a:pos x="0" y="237"/>
              </a:cxn>
              <a:cxn ang="0">
                <a:pos x="0" y="0"/>
              </a:cxn>
            </a:cxnLst>
            <a:rect l="txL" t="txT" r="txR" b="txB"/>
            <a:pathLst>
              <a:path w="1" h="237">
                <a:moveTo>
                  <a:pt x="0" y="237"/>
                </a:moveTo>
                <a:lnTo>
                  <a:pt x="0" y="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5904" name="Rectangle 8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2" name="Group 81"/>
          <p:cNvGrpSpPr/>
          <p:nvPr/>
        </p:nvGrpSpPr>
        <p:grpSpPr>
          <a:xfrm>
            <a:off x="1919288" y="2225675"/>
            <a:ext cx="4194175" cy="579438"/>
            <a:chOff x="249" y="1402"/>
            <a:chExt cx="2642" cy="365"/>
          </a:xfrm>
        </p:grpSpPr>
        <p:sp>
          <p:nvSpPr>
            <p:cNvPr id="269357" name="Freeform 82"/>
            <p:cNvSpPr/>
            <p:nvPr/>
          </p:nvSpPr>
          <p:spPr>
            <a:xfrm>
              <a:off x="249" y="1402"/>
              <a:ext cx="2642" cy="365"/>
            </a:xfrm>
            <a:custGeom>
              <a:avLst/>
              <a:gdLst>
                <a:gd name="txL" fmla="*/ 0 w 2736"/>
                <a:gd name="txT" fmla="*/ 0 h 240"/>
                <a:gd name="txR" fmla="*/ 2736 w 2736"/>
                <a:gd name="txB" fmla="*/ 240 h 240"/>
              </a:gdLst>
              <a:ahLst/>
              <a:cxnLst>
                <a:cxn ang="0">
                  <a:pos x="2736" y="0"/>
                </a:cxn>
                <a:cxn ang="0">
                  <a:pos x="2736" y="240"/>
                </a:cxn>
                <a:cxn ang="0">
                  <a:pos x="0" y="240"/>
                </a:cxn>
              </a:cxnLst>
              <a:rect l="txL" t="txT" r="txR" b="txB"/>
              <a:pathLst>
                <a:path w="2736" h="240">
                  <a:moveTo>
                    <a:pt x="2736" y="0"/>
                  </a:moveTo>
                  <a:lnTo>
                    <a:pt x="2736" y="240"/>
                  </a:lnTo>
                  <a:lnTo>
                    <a:pt x="0" y="240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58" name="Line 83"/>
            <p:cNvSpPr/>
            <p:nvPr/>
          </p:nvSpPr>
          <p:spPr>
            <a:xfrm>
              <a:off x="1056" y="1402"/>
              <a:ext cx="0" cy="365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oval" w="sm" len="sm"/>
            </a:ln>
          </p:spPr>
        </p:sp>
      </p:grpSp>
      <p:grpSp>
        <p:nvGrpSpPr>
          <p:cNvPr id="13" name="Group 84"/>
          <p:cNvGrpSpPr/>
          <p:nvPr/>
        </p:nvGrpSpPr>
        <p:grpSpPr>
          <a:xfrm>
            <a:off x="3005138" y="2108200"/>
            <a:ext cx="3336925" cy="117475"/>
            <a:chOff x="933" y="1328"/>
            <a:chExt cx="2102" cy="74"/>
          </a:xfrm>
        </p:grpSpPr>
        <p:grpSp>
          <p:nvGrpSpPr>
            <p:cNvPr id="269351" name="Group 85"/>
            <p:cNvGrpSpPr/>
            <p:nvPr/>
          </p:nvGrpSpPr>
          <p:grpSpPr>
            <a:xfrm>
              <a:off x="933" y="1328"/>
              <a:ext cx="264" cy="74"/>
              <a:chOff x="3459" y="1296"/>
              <a:chExt cx="243" cy="48"/>
            </a:xfrm>
          </p:grpSpPr>
          <p:sp>
            <p:nvSpPr>
              <p:cNvPr id="269355" name="Line 86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9356" name="Line 87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69352" name="Group 88"/>
            <p:cNvGrpSpPr/>
            <p:nvPr/>
          </p:nvGrpSpPr>
          <p:grpSpPr>
            <a:xfrm>
              <a:off x="2770" y="1328"/>
              <a:ext cx="265" cy="74"/>
              <a:chOff x="3459" y="1296"/>
              <a:chExt cx="243" cy="48"/>
            </a:xfrm>
          </p:grpSpPr>
          <p:sp>
            <p:nvSpPr>
              <p:cNvPr id="269353" name="Line 89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69354" name="Line 90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6" name="Group 91"/>
          <p:cNvGrpSpPr/>
          <p:nvPr/>
        </p:nvGrpSpPr>
        <p:grpSpPr>
          <a:xfrm>
            <a:off x="7269163" y="2746375"/>
            <a:ext cx="3079750" cy="460375"/>
            <a:chOff x="3600" y="1776"/>
            <a:chExt cx="1940" cy="290"/>
          </a:xfrm>
        </p:grpSpPr>
        <p:sp>
          <p:nvSpPr>
            <p:cNvPr id="269348" name="Text Box 92"/>
            <p:cNvSpPr txBox="1"/>
            <p:nvPr/>
          </p:nvSpPr>
          <p:spPr>
            <a:xfrm>
              <a:off x="4427" y="1776"/>
              <a:ext cx="111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7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8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349" name="Text Box 93"/>
            <p:cNvSpPr txBox="1"/>
            <p:nvPr/>
          </p:nvSpPr>
          <p:spPr>
            <a:xfrm>
              <a:off x="3600" y="1776"/>
              <a:ext cx="48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列选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350" name="Line 94"/>
            <p:cNvSpPr/>
            <p:nvPr/>
          </p:nvSpPr>
          <p:spPr>
            <a:xfrm>
              <a:off x="4032" y="1929"/>
              <a:ext cx="30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7" name="Group 95"/>
          <p:cNvGrpSpPr/>
          <p:nvPr/>
        </p:nvGrpSpPr>
        <p:grpSpPr>
          <a:xfrm>
            <a:off x="7258050" y="3871913"/>
            <a:ext cx="4132263" cy="1087437"/>
            <a:chOff x="3612" y="2149"/>
            <a:chExt cx="2603" cy="685"/>
          </a:xfrm>
        </p:grpSpPr>
        <p:sp>
          <p:nvSpPr>
            <p:cNvPr id="269338" name="Text Box 96"/>
            <p:cNvSpPr txBox="1"/>
            <p:nvPr/>
          </p:nvSpPr>
          <p:spPr>
            <a:xfrm>
              <a:off x="4416" y="2544"/>
              <a:ext cx="5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读放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69339" name="Text Box 97"/>
            <p:cNvSpPr txBox="1"/>
            <p:nvPr/>
          </p:nvSpPr>
          <p:spPr>
            <a:xfrm>
              <a:off x="5136" y="2544"/>
              <a:ext cx="107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OUT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69340" name="Line 98"/>
            <p:cNvSpPr/>
            <p:nvPr/>
          </p:nvSpPr>
          <p:spPr>
            <a:xfrm>
              <a:off x="4051" y="2688"/>
              <a:ext cx="30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69341" name="Line 99"/>
            <p:cNvSpPr/>
            <p:nvPr/>
          </p:nvSpPr>
          <p:spPr>
            <a:xfrm>
              <a:off x="4850" y="2688"/>
              <a:ext cx="30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grpSp>
          <p:nvGrpSpPr>
            <p:cNvPr id="269342" name="Group 100"/>
            <p:cNvGrpSpPr/>
            <p:nvPr/>
          </p:nvGrpSpPr>
          <p:grpSpPr>
            <a:xfrm>
              <a:off x="3612" y="2149"/>
              <a:ext cx="1830" cy="294"/>
              <a:chOff x="3612" y="2149"/>
              <a:chExt cx="1830" cy="294"/>
            </a:xfrm>
          </p:grpSpPr>
          <p:sp>
            <p:nvSpPr>
              <p:cNvPr id="269343" name="Text Box 101"/>
              <p:cNvSpPr txBox="1"/>
              <p:nvPr/>
            </p:nvSpPr>
            <p:spPr>
              <a:xfrm>
                <a:off x="3612" y="2149"/>
                <a:ext cx="87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A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344" name="Line 102"/>
              <p:cNvSpPr/>
              <p:nvPr/>
            </p:nvSpPr>
            <p:spPr>
              <a:xfrm>
                <a:off x="4051" y="2304"/>
                <a:ext cx="30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69345" name="Line 103"/>
              <p:cNvSpPr/>
              <p:nvPr/>
            </p:nvSpPr>
            <p:spPr>
              <a:xfrm>
                <a:off x="4850" y="2304"/>
                <a:ext cx="30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69346" name="Rectangle 104"/>
              <p:cNvSpPr/>
              <p:nvPr/>
            </p:nvSpPr>
            <p:spPr>
              <a:xfrm>
                <a:off x="4446" y="2149"/>
                <a:ext cx="306" cy="2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347" name="Rectangle 105"/>
              <p:cNvSpPr/>
              <p:nvPr/>
            </p:nvSpPr>
            <p:spPr>
              <a:xfrm>
                <a:off x="5136" y="2149"/>
                <a:ext cx="306" cy="2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9" name="Group 106"/>
          <p:cNvGrpSpPr/>
          <p:nvPr/>
        </p:nvGrpSpPr>
        <p:grpSpPr>
          <a:xfrm>
            <a:off x="7753350" y="5105400"/>
            <a:ext cx="1146175" cy="482600"/>
            <a:chOff x="3924" y="3216"/>
            <a:chExt cx="722" cy="304"/>
          </a:xfrm>
        </p:grpSpPr>
        <p:sp>
          <p:nvSpPr>
            <p:cNvPr id="269336" name="Freeform 107"/>
            <p:cNvSpPr/>
            <p:nvPr/>
          </p:nvSpPr>
          <p:spPr>
            <a:xfrm>
              <a:off x="3924" y="3519"/>
              <a:ext cx="398" cy="1"/>
            </a:xfrm>
            <a:custGeom>
              <a:avLst/>
              <a:gdLst>
                <a:gd name="txL" fmla="*/ 0 w 398"/>
                <a:gd name="txT" fmla="*/ 0 h 1"/>
                <a:gd name="txR" fmla="*/ 398 w 39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98" y="0"/>
                </a:cxn>
              </a:cxnLst>
              <a:rect l="txL" t="txT" r="txR" b="txB"/>
              <a:pathLst>
                <a:path w="398" h="1">
                  <a:moveTo>
                    <a:pt x="0" y="0"/>
                  </a:moveTo>
                  <a:lnTo>
                    <a:pt x="398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69337" name="Text Box 108"/>
            <p:cNvSpPr txBox="1"/>
            <p:nvPr/>
          </p:nvSpPr>
          <p:spPr>
            <a:xfrm>
              <a:off x="4122" y="3216"/>
              <a:ext cx="52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OUT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5933" name="Text Box 109"/>
          <p:cNvSpPr txBox="1"/>
          <p:nvPr/>
        </p:nvSpPr>
        <p:spPr>
          <a:xfrm>
            <a:off x="7200900" y="3322638"/>
            <a:ext cx="26654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读选择有效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9334" name="AutoShape 11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6933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20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20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05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4" dur="500"/>
                                        <p:tgtEl>
                                          <p:spTgt spid="20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205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20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20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20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20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20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84" grpId="0" bldLvl="0" animBg="1"/>
      <p:bldP spid="205885" grpId="0" bldLvl="0" animBg="1"/>
      <p:bldP spid="205886" grpId="0" bldLvl="0" animBg="1"/>
      <p:bldP spid="205894" grpId="0" bldLvl="0" animBg="1"/>
      <p:bldP spid="205896" grpId="0" bldLvl="0" animBg="1"/>
      <p:bldP spid="205897" grpId="0" bldLvl="0" animBg="1"/>
      <p:bldP spid="205898" grpId="0" bldLvl="0" animBg="1"/>
      <p:bldP spid="205903" grpId="0" bldLvl="0" animBg="1"/>
      <p:bldP spid="2059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70338" name="Group 2"/>
          <p:cNvGrpSpPr/>
          <p:nvPr/>
        </p:nvGrpSpPr>
        <p:grpSpPr>
          <a:xfrm>
            <a:off x="1736725" y="1020763"/>
            <a:ext cx="7200900" cy="5259388"/>
            <a:chOff x="134" y="643"/>
            <a:chExt cx="4536" cy="3313"/>
          </a:xfrm>
        </p:grpSpPr>
        <p:sp>
          <p:nvSpPr>
            <p:cNvPr id="270423" name="Rectangle 3"/>
            <p:cNvSpPr/>
            <p:nvPr/>
          </p:nvSpPr>
          <p:spPr>
            <a:xfrm>
              <a:off x="1413" y="798"/>
              <a:ext cx="1009" cy="40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24" name="Text Box 4"/>
            <p:cNvSpPr txBox="1"/>
            <p:nvPr/>
          </p:nvSpPr>
          <p:spPr>
            <a:xfrm>
              <a:off x="1451" y="801"/>
              <a:ext cx="89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  ~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0425" name="Freeform 5"/>
            <p:cNvSpPr/>
            <p:nvPr/>
          </p:nvSpPr>
          <p:spPr>
            <a:xfrm>
              <a:off x="2422" y="1034"/>
              <a:ext cx="310" cy="171"/>
            </a:xfrm>
            <a:custGeom>
              <a:avLst/>
              <a:gdLst>
                <a:gd name="txL" fmla="*/ 0 w 310"/>
                <a:gd name="txT" fmla="*/ 0 h 171"/>
                <a:gd name="txR" fmla="*/ 310 w 310"/>
                <a:gd name="txB" fmla="*/ 171 h 171"/>
              </a:gdLst>
              <a:ahLst/>
              <a:cxnLst>
                <a:cxn ang="0">
                  <a:pos x="0" y="1"/>
                </a:cxn>
                <a:cxn ang="0">
                  <a:pos x="308" y="0"/>
                </a:cxn>
                <a:cxn ang="0">
                  <a:pos x="310" y="171"/>
                </a:cxn>
              </a:cxnLst>
              <a:rect l="txL" t="txT" r="txR" b="txB"/>
              <a:pathLst>
                <a:path w="310" h="171">
                  <a:moveTo>
                    <a:pt x="0" y="1"/>
                  </a:moveTo>
                  <a:lnTo>
                    <a:pt x="308" y="0"/>
                  </a:lnTo>
                  <a:lnTo>
                    <a:pt x="310" y="17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26" name="Freeform 6"/>
            <p:cNvSpPr/>
            <p:nvPr/>
          </p:nvSpPr>
          <p:spPr>
            <a:xfrm>
              <a:off x="1106" y="1029"/>
              <a:ext cx="291" cy="179"/>
            </a:xfrm>
            <a:custGeom>
              <a:avLst/>
              <a:gdLst>
                <a:gd name="txL" fmla="*/ 0 w 291"/>
                <a:gd name="txT" fmla="*/ 0 h 179"/>
                <a:gd name="txR" fmla="*/ 291 w 291"/>
                <a:gd name="txB" fmla="*/ 179 h 179"/>
              </a:gdLst>
              <a:ahLst/>
              <a:cxnLst>
                <a:cxn ang="0">
                  <a:pos x="291" y="0"/>
                </a:cxn>
                <a:cxn ang="0">
                  <a:pos x="0" y="2"/>
                </a:cxn>
                <a:cxn ang="0">
                  <a:pos x="0" y="179"/>
                </a:cxn>
              </a:cxnLst>
              <a:rect l="txL" t="txT" r="txR" b="txB"/>
              <a:pathLst>
                <a:path w="291" h="179">
                  <a:moveTo>
                    <a:pt x="291" y="0"/>
                  </a:moveTo>
                  <a:lnTo>
                    <a:pt x="0" y="2"/>
                  </a:lnTo>
                  <a:lnTo>
                    <a:pt x="0" y="17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0427" name="Group 7"/>
            <p:cNvGrpSpPr/>
            <p:nvPr/>
          </p:nvGrpSpPr>
          <p:grpSpPr>
            <a:xfrm>
              <a:off x="2673" y="1213"/>
              <a:ext cx="256" cy="60"/>
              <a:chOff x="2673" y="1213"/>
              <a:chExt cx="256" cy="60"/>
            </a:xfrm>
          </p:grpSpPr>
          <p:sp>
            <p:nvSpPr>
              <p:cNvPr id="270475" name="Line 8"/>
              <p:cNvSpPr/>
              <p:nvPr/>
            </p:nvSpPr>
            <p:spPr>
              <a:xfrm>
                <a:off x="2673" y="1213"/>
                <a:ext cx="25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0476" name="Line 9"/>
              <p:cNvSpPr/>
              <p:nvPr/>
            </p:nvSpPr>
            <p:spPr>
              <a:xfrm>
                <a:off x="2720" y="1273"/>
                <a:ext cx="15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0428" name="Group 10"/>
            <p:cNvGrpSpPr/>
            <p:nvPr/>
          </p:nvGrpSpPr>
          <p:grpSpPr>
            <a:xfrm>
              <a:off x="941" y="1212"/>
              <a:ext cx="244" cy="62"/>
              <a:chOff x="941" y="1212"/>
              <a:chExt cx="244" cy="62"/>
            </a:xfrm>
          </p:grpSpPr>
          <p:sp>
            <p:nvSpPr>
              <p:cNvPr id="270473" name="Freeform 11"/>
              <p:cNvSpPr/>
              <p:nvPr/>
            </p:nvSpPr>
            <p:spPr>
              <a:xfrm>
                <a:off x="941" y="1212"/>
                <a:ext cx="244" cy="1"/>
              </a:xfrm>
              <a:custGeom>
                <a:avLst/>
                <a:gdLst>
                  <a:gd name="txL" fmla="*/ 0 w 244"/>
                  <a:gd name="txT" fmla="*/ 0 h 1"/>
                  <a:gd name="txR" fmla="*/ 244 w 244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244" y="0"/>
                  </a:cxn>
                </a:cxnLst>
                <a:rect l="txL" t="txT" r="txR" b="txB"/>
                <a:pathLst>
                  <a:path w="244" h="1">
                    <a:moveTo>
                      <a:pt x="0" y="1"/>
                    </a:moveTo>
                    <a:lnTo>
                      <a:pt x="24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0474" name="Freeform 12"/>
              <p:cNvSpPr/>
              <p:nvPr/>
            </p:nvSpPr>
            <p:spPr>
              <a:xfrm>
                <a:off x="988" y="1273"/>
                <a:ext cx="149" cy="1"/>
              </a:xfrm>
              <a:custGeom>
                <a:avLst/>
                <a:gdLst>
                  <a:gd name="txL" fmla="*/ 0 w 149"/>
                  <a:gd name="txT" fmla="*/ 0 h 1"/>
                  <a:gd name="txR" fmla="*/ 149 w 14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49" y="1"/>
                  </a:cxn>
                </a:cxnLst>
                <a:rect l="txL" t="txT" r="txR" b="txB"/>
                <a:pathLst>
                  <a:path w="149" h="1">
                    <a:moveTo>
                      <a:pt x="0" y="0"/>
                    </a:moveTo>
                    <a:lnTo>
                      <a:pt x="149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70429" name="Group 13"/>
            <p:cNvGrpSpPr/>
            <p:nvPr/>
          </p:nvGrpSpPr>
          <p:grpSpPr>
            <a:xfrm>
              <a:off x="3045" y="1965"/>
              <a:ext cx="75" cy="303"/>
              <a:chOff x="3045" y="1965"/>
              <a:chExt cx="75" cy="303"/>
            </a:xfrm>
          </p:grpSpPr>
          <p:sp>
            <p:nvSpPr>
              <p:cNvPr id="270471" name="Freeform 14"/>
              <p:cNvSpPr/>
              <p:nvPr/>
            </p:nvSpPr>
            <p:spPr>
              <a:xfrm>
                <a:off x="3119" y="1965"/>
                <a:ext cx="1" cy="303"/>
              </a:xfrm>
              <a:custGeom>
                <a:avLst/>
                <a:gdLst>
                  <a:gd name="txL" fmla="*/ 0 w 1"/>
                  <a:gd name="txT" fmla="*/ 0 h 303"/>
                  <a:gd name="txR" fmla="*/ 1 w 1"/>
                  <a:gd name="txB" fmla="*/ 303 h 303"/>
                </a:gdLst>
                <a:ahLst/>
                <a:cxnLst>
                  <a:cxn ang="0">
                    <a:pos x="0" y="0"/>
                  </a:cxn>
                  <a:cxn ang="0">
                    <a:pos x="0" y="303"/>
                  </a:cxn>
                </a:cxnLst>
                <a:rect l="txL" t="txT" r="txR" b="txB"/>
                <a:pathLst>
                  <a:path w="1" h="303">
                    <a:moveTo>
                      <a:pt x="0" y="0"/>
                    </a:moveTo>
                    <a:lnTo>
                      <a:pt x="0" y="30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0472" name="Freeform 15"/>
              <p:cNvSpPr/>
              <p:nvPr/>
            </p:nvSpPr>
            <p:spPr>
              <a:xfrm>
                <a:off x="3045" y="2025"/>
                <a:ext cx="1" cy="179"/>
              </a:xfrm>
              <a:custGeom>
                <a:avLst/>
                <a:gdLst>
                  <a:gd name="txL" fmla="*/ 0 w 1"/>
                  <a:gd name="txT" fmla="*/ 0 h 179"/>
                  <a:gd name="txR" fmla="*/ 1 w 1"/>
                  <a:gd name="txB" fmla="*/ 179 h 179"/>
                </a:gdLst>
                <a:ahLst/>
                <a:cxnLst>
                  <a:cxn ang="0">
                    <a:pos x="0" y="0"/>
                  </a:cxn>
                  <a:cxn ang="0">
                    <a:pos x="0" y="179"/>
                  </a:cxn>
                </a:cxnLst>
                <a:rect l="txL" t="txT" r="txR" b="txB"/>
                <a:pathLst>
                  <a:path w="1" h="179">
                    <a:moveTo>
                      <a:pt x="0" y="0"/>
                    </a:moveTo>
                    <a:lnTo>
                      <a:pt x="0" y="17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70430" name="Group 16"/>
            <p:cNvGrpSpPr/>
            <p:nvPr/>
          </p:nvGrpSpPr>
          <p:grpSpPr>
            <a:xfrm>
              <a:off x="747" y="1968"/>
              <a:ext cx="75" cy="297"/>
              <a:chOff x="747" y="1968"/>
              <a:chExt cx="75" cy="297"/>
            </a:xfrm>
          </p:grpSpPr>
          <p:sp>
            <p:nvSpPr>
              <p:cNvPr id="270469" name="Freeform 17"/>
              <p:cNvSpPr/>
              <p:nvPr/>
            </p:nvSpPr>
            <p:spPr>
              <a:xfrm>
                <a:off x="747" y="1968"/>
                <a:ext cx="1" cy="297"/>
              </a:xfrm>
              <a:custGeom>
                <a:avLst/>
                <a:gdLst>
                  <a:gd name="txL" fmla="*/ 0 w 1"/>
                  <a:gd name="txT" fmla="*/ 0 h 297"/>
                  <a:gd name="txR" fmla="*/ 1 w 1"/>
                  <a:gd name="txB" fmla="*/ 297 h 297"/>
                </a:gdLst>
                <a:ahLst/>
                <a:cxnLst>
                  <a:cxn ang="0">
                    <a:pos x="0" y="297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297">
                    <a:moveTo>
                      <a:pt x="0" y="297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0470" name="Freeform 18"/>
              <p:cNvSpPr/>
              <p:nvPr/>
            </p:nvSpPr>
            <p:spPr>
              <a:xfrm>
                <a:off x="821" y="2033"/>
                <a:ext cx="1" cy="180"/>
              </a:xfrm>
              <a:custGeom>
                <a:avLst/>
                <a:gdLst>
                  <a:gd name="txL" fmla="*/ 0 w 1"/>
                  <a:gd name="txT" fmla="*/ 0 h 180"/>
                  <a:gd name="txR" fmla="*/ 1 w 1"/>
                  <a:gd name="txB" fmla="*/ 180 h 180"/>
                </a:gdLst>
                <a:ahLst/>
                <a:cxnLst>
                  <a:cxn ang="0">
                    <a:pos x="0" y="180"/>
                  </a:cxn>
                  <a:cxn ang="0">
                    <a:pos x="1" y="0"/>
                  </a:cxn>
                </a:cxnLst>
                <a:rect l="txL" t="txT" r="txR" b="txB"/>
                <a:pathLst>
                  <a:path w="1" h="180">
                    <a:moveTo>
                      <a:pt x="0" y="180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0431" name="Freeform 19"/>
            <p:cNvSpPr/>
            <p:nvPr/>
          </p:nvSpPr>
          <p:spPr>
            <a:xfrm>
              <a:off x="816" y="2112"/>
              <a:ext cx="2217" cy="3"/>
            </a:xfrm>
            <a:custGeom>
              <a:avLst/>
              <a:gdLst>
                <a:gd name="txL" fmla="*/ 0 w 2225"/>
                <a:gd name="txT" fmla="*/ 0 h 3"/>
                <a:gd name="txR" fmla="*/ 2225 w 2225"/>
                <a:gd name="txB" fmla="*/ 3 h 3"/>
              </a:gdLst>
              <a:ahLst/>
              <a:cxnLst>
                <a:cxn ang="0">
                  <a:pos x="0" y="0"/>
                </a:cxn>
                <a:cxn ang="0">
                  <a:pos x="2225" y="3"/>
                </a:cxn>
              </a:cxnLst>
              <a:rect l="txL" t="txT" r="txR" b="txB"/>
              <a:pathLst>
                <a:path w="2225" h="3">
                  <a:moveTo>
                    <a:pt x="0" y="0"/>
                  </a:moveTo>
                  <a:lnTo>
                    <a:pt x="2225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32" name="Freeform 20"/>
            <p:cNvSpPr/>
            <p:nvPr/>
          </p:nvSpPr>
          <p:spPr>
            <a:xfrm>
              <a:off x="3128" y="2163"/>
              <a:ext cx="202" cy="832"/>
            </a:xfrm>
            <a:custGeom>
              <a:avLst/>
              <a:gdLst>
                <a:gd name="txL" fmla="*/ 0 w 192"/>
                <a:gd name="txT" fmla="*/ 0 h 672"/>
                <a:gd name="txR" fmla="*/ 192 w 192"/>
                <a:gd name="txB" fmla="*/ 672 h 672"/>
              </a:gdLst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672"/>
                </a:cxn>
              </a:cxnLst>
              <a:rect l="txL" t="txT" r="txR" b="txB"/>
              <a:pathLst>
                <a:path w="192" h="672">
                  <a:moveTo>
                    <a:pt x="0" y="0"/>
                  </a:moveTo>
                  <a:lnTo>
                    <a:pt x="192" y="0"/>
                  </a:lnTo>
                  <a:lnTo>
                    <a:pt x="192" y="67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33" name="AutoShape 21"/>
            <p:cNvSpPr/>
            <p:nvPr/>
          </p:nvSpPr>
          <p:spPr>
            <a:xfrm rot="5400000">
              <a:off x="2024" y="2840"/>
              <a:ext cx="356" cy="302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34" name="AutoShape 22"/>
            <p:cNvSpPr/>
            <p:nvPr/>
          </p:nvSpPr>
          <p:spPr>
            <a:xfrm rot="-5400000">
              <a:off x="1404" y="2837"/>
              <a:ext cx="356" cy="302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35" name="Oval 23"/>
            <p:cNvSpPr/>
            <p:nvPr/>
          </p:nvSpPr>
          <p:spPr>
            <a:xfrm rot="10800000">
              <a:off x="1343" y="2956"/>
              <a:ext cx="68" cy="6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36" name="Freeform 24"/>
            <p:cNvSpPr/>
            <p:nvPr/>
          </p:nvSpPr>
          <p:spPr>
            <a:xfrm>
              <a:off x="2352" y="2987"/>
              <a:ext cx="1181" cy="1"/>
            </a:xfrm>
            <a:custGeom>
              <a:avLst/>
              <a:gdLst>
                <a:gd name="txL" fmla="*/ 0 w 1181"/>
                <a:gd name="txT" fmla="*/ 0 h 1"/>
                <a:gd name="txR" fmla="*/ 1181 w 118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81" y="1"/>
                </a:cxn>
              </a:cxnLst>
              <a:rect l="txL" t="txT" r="txR" b="txB"/>
              <a:pathLst>
                <a:path w="1181" h="1">
                  <a:moveTo>
                    <a:pt x="0" y="0"/>
                  </a:moveTo>
                  <a:lnTo>
                    <a:pt x="1181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37" name="AutoShape 25"/>
            <p:cNvSpPr/>
            <p:nvPr/>
          </p:nvSpPr>
          <p:spPr>
            <a:xfrm rot="5400000">
              <a:off x="3488" y="2826"/>
              <a:ext cx="356" cy="303"/>
            </a:xfrm>
            <a:prstGeom prst="triangle">
              <a:avLst>
                <a:gd name="adj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38" name="Line 26"/>
            <p:cNvSpPr/>
            <p:nvPr/>
          </p:nvSpPr>
          <p:spPr>
            <a:xfrm>
              <a:off x="3835" y="2995"/>
              <a:ext cx="35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lg"/>
            </a:ln>
          </p:spPr>
        </p:sp>
        <p:sp>
          <p:nvSpPr>
            <p:cNvPr id="270439" name="Freeform 27"/>
            <p:cNvSpPr/>
            <p:nvPr/>
          </p:nvSpPr>
          <p:spPr>
            <a:xfrm>
              <a:off x="1731" y="2994"/>
              <a:ext cx="320" cy="2"/>
            </a:xfrm>
            <a:custGeom>
              <a:avLst/>
              <a:gdLst>
                <a:gd name="txL" fmla="*/ 0 w 320"/>
                <a:gd name="txT" fmla="*/ 0 h 2"/>
                <a:gd name="txR" fmla="*/ 320 w 320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320" y="2"/>
                </a:cxn>
              </a:cxnLst>
              <a:rect l="txL" t="txT" r="txR" b="txB"/>
              <a:pathLst>
                <a:path w="320" h="2">
                  <a:moveTo>
                    <a:pt x="0" y="0"/>
                  </a:moveTo>
                  <a:lnTo>
                    <a:pt x="320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40" name="Freeform 28"/>
            <p:cNvSpPr/>
            <p:nvPr/>
          </p:nvSpPr>
          <p:spPr>
            <a:xfrm>
              <a:off x="1880" y="2996"/>
              <a:ext cx="1" cy="649"/>
            </a:xfrm>
            <a:custGeom>
              <a:avLst/>
              <a:gdLst>
                <a:gd name="txL" fmla="*/ 0 w 1"/>
                <a:gd name="txT" fmla="*/ 0 h 649"/>
                <a:gd name="txR" fmla="*/ 1 w 1"/>
                <a:gd name="txB" fmla="*/ 649 h 649"/>
              </a:gdLst>
              <a:ahLst/>
              <a:cxnLst>
                <a:cxn ang="0">
                  <a:pos x="0" y="0"/>
                </a:cxn>
                <a:cxn ang="0">
                  <a:pos x="0" y="649"/>
                </a:cxn>
              </a:cxnLst>
              <a:rect l="txL" t="txT" r="txR" b="txB"/>
              <a:pathLst>
                <a:path w="1" h="649">
                  <a:moveTo>
                    <a:pt x="0" y="0"/>
                  </a:moveTo>
                  <a:lnTo>
                    <a:pt x="0" y="64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41" name="Freeform 29"/>
            <p:cNvSpPr/>
            <p:nvPr/>
          </p:nvSpPr>
          <p:spPr>
            <a:xfrm>
              <a:off x="2202" y="3074"/>
              <a:ext cx="2" cy="571"/>
            </a:xfrm>
            <a:custGeom>
              <a:avLst/>
              <a:gdLst>
                <a:gd name="txL" fmla="*/ 0 w 2"/>
                <a:gd name="txT" fmla="*/ 0 h 571"/>
                <a:gd name="txR" fmla="*/ 2 w 2"/>
                <a:gd name="txB" fmla="*/ 571 h 571"/>
              </a:gdLst>
              <a:ahLst/>
              <a:cxnLst>
                <a:cxn ang="0">
                  <a:pos x="0" y="571"/>
                </a:cxn>
                <a:cxn ang="0">
                  <a:pos x="2" y="0"/>
                </a:cxn>
              </a:cxnLst>
              <a:rect l="txL" t="txT" r="txR" b="txB"/>
              <a:pathLst>
                <a:path w="2" h="571">
                  <a:moveTo>
                    <a:pt x="0" y="571"/>
                  </a:moveTo>
                  <a:lnTo>
                    <a:pt x="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42" name="Freeform 30"/>
            <p:cNvSpPr/>
            <p:nvPr/>
          </p:nvSpPr>
          <p:spPr>
            <a:xfrm>
              <a:off x="1553" y="3043"/>
              <a:ext cx="652" cy="377"/>
            </a:xfrm>
            <a:custGeom>
              <a:avLst/>
              <a:gdLst>
                <a:gd name="txL" fmla="*/ 0 w 652"/>
                <a:gd name="txT" fmla="*/ 0 h 377"/>
                <a:gd name="txR" fmla="*/ 652 w 652"/>
                <a:gd name="txB" fmla="*/ 377 h 377"/>
              </a:gdLst>
              <a:ahLst/>
              <a:cxnLst>
                <a:cxn ang="0">
                  <a:pos x="0" y="0"/>
                </a:cxn>
                <a:cxn ang="0">
                  <a:pos x="1" y="377"/>
                </a:cxn>
                <a:cxn ang="0">
                  <a:pos x="652" y="374"/>
                </a:cxn>
              </a:cxnLst>
              <a:rect l="txL" t="txT" r="txR" b="txB"/>
              <a:pathLst>
                <a:path w="652" h="377">
                  <a:moveTo>
                    <a:pt x="0" y="0"/>
                  </a:moveTo>
                  <a:lnTo>
                    <a:pt x="1" y="377"/>
                  </a:lnTo>
                  <a:lnTo>
                    <a:pt x="652" y="37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stealth" w="med" len="lg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43" name="Freeform 31"/>
            <p:cNvSpPr/>
            <p:nvPr/>
          </p:nvSpPr>
          <p:spPr>
            <a:xfrm>
              <a:off x="492" y="2159"/>
              <a:ext cx="858" cy="829"/>
            </a:xfrm>
            <a:custGeom>
              <a:avLst/>
              <a:gdLst>
                <a:gd name="txL" fmla="*/ 0 w 858"/>
                <a:gd name="txT" fmla="*/ 0 h 829"/>
                <a:gd name="txR" fmla="*/ 858 w 858"/>
                <a:gd name="txB" fmla="*/ 829 h 829"/>
              </a:gdLst>
              <a:ahLst/>
              <a:cxnLst>
                <a:cxn ang="0">
                  <a:pos x="266" y="0"/>
                </a:cxn>
                <a:cxn ang="0">
                  <a:pos x="0" y="0"/>
                </a:cxn>
                <a:cxn ang="0">
                  <a:pos x="0" y="828"/>
                </a:cxn>
                <a:cxn ang="0">
                  <a:pos x="858" y="829"/>
                </a:cxn>
              </a:cxnLst>
              <a:rect l="txL" t="txT" r="txR" b="txB"/>
              <a:pathLst>
                <a:path w="858" h="829">
                  <a:moveTo>
                    <a:pt x="266" y="0"/>
                  </a:moveTo>
                  <a:lnTo>
                    <a:pt x="0" y="0"/>
                  </a:lnTo>
                  <a:lnTo>
                    <a:pt x="0" y="828"/>
                  </a:lnTo>
                  <a:lnTo>
                    <a:pt x="858" y="82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44" name="Freeform 32"/>
            <p:cNvSpPr/>
            <p:nvPr/>
          </p:nvSpPr>
          <p:spPr>
            <a:xfrm>
              <a:off x="302" y="2104"/>
              <a:ext cx="1615" cy="475"/>
            </a:xfrm>
            <a:custGeom>
              <a:avLst/>
              <a:gdLst>
                <a:gd name="txL" fmla="*/ 0 w 1872"/>
                <a:gd name="txT" fmla="*/ 0 h 384"/>
                <a:gd name="txR" fmla="*/ 1872 w 1872"/>
                <a:gd name="txB" fmla="*/ 384 h 384"/>
              </a:gdLst>
              <a:ahLst/>
              <a:cxnLst>
                <a:cxn ang="0">
                  <a:pos x="1872" y="0"/>
                </a:cxn>
                <a:cxn ang="0">
                  <a:pos x="1872" y="384"/>
                </a:cxn>
                <a:cxn ang="0">
                  <a:pos x="0" y="384"/>
                </a:cxn>
              </a:cxnLst>
              <a:rect l="txL" t="txT" r="txR" b="txB"/>
              <a:pathLst>
                <a:path w="1872" h="384">
                  <a:moveTo>
                    <a:pt x="1872" y="0"/>
                  </a:moveTo>
                  <a:lnTo>
                    <a:pt x="1872" y="384"/>
                  </a:lnTo>
                  <a:lnTo>
                    <a:pt x="0" y="38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45" name="Freeform 33"/>
            <p:cNvSpPr/>
            <p:nvPr/>
          </p:nvSpPr>
          <p:spPr>
            <a:xfrm>
              <a:off x="3684" y="3072"/>
              <a:ext cx="1" cy="456"/>
            </a:xfrm>
            <a:custGeom>
              <a:avLst/>
              <a:gdLst>
                <a:gd name="txL" fmla="*/ 0 w 1"/>
                <a:gd name="txT" fmla="*/ 0 h 456"/>
                <a:gd name="txR" fmla="*/ 1 w 1"/>
                <a:gd name="txB" fmla="*/ 456 h 456"/>
              </a:gdLst>
              <a:ahLst/>
              <a:cxnLst>
                <a:cxn ang="0">
                  <a:pos x="0" y="456"/>
                </a:cxn>
                <a:cxn ang="0">
                  <a:pos x="0" y="0"/>
                </a:cxn>
              </a:cxnLst>
              <a:rect l="txL" t="txT" r="txR" b="txB"/>
              <a:pathLst>
                <a:path w="1" h="456">
                  <a:moveTo>
                    <a:pt x="0" y="45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46" name="Freeform 34"/>
            <p:cNvSpPr/>
            <p:nvPr/>
          </p:nvSpPr>
          <p:spPr>
            <a:xfrm>
              <a:off x="491" y="1040"/>
              <a:ext cx="526" cy="1017"/>
            </a:xfrm>
            <a:custGeom>
              <a:avLst/>
              <a:gdLst>
                <a:gd name="txL" fmla="*/ 0 w 526"/>
                <a:gd name="txT" fmla="*/ 0 h 1017"/>
                <a:gd name="txR" fmla="*/ 526 w 526"/>
                <a:gd name="txB" fmla="*/ 1017 h 1017"/>
              </a:gdLst>
              <a:ahLst/>
              <a:cxnLst>
                <a:cxn ang="0">
                  <a:pos x="526" y="173"/>
                </a:cxn>
                <a:cxn ang="0">
                  <a:pos x="526" y="0"/>
                </a:cxn>
                <a:cxn ang="0">
                  <a:pos x="1" y="0"/>
                </a:cxn>
                <a:cxn ang="0">
                  <a:pos x="0" y="1017"/>
                </a:cxn>
                <a:cxn ang="0">
                  <a:pos x="264" y="1017"/>
                </a:cxn>
              </a:cxnLst>
              <a:rect l="txL" t="txT" r="txR" b="txB"/>
              <a:pathLst>
                <a:path w="526" h="1017">
                  <a:moveTo>
                    <a:pt x="526" y="173"/>
                  </a:moveTo>
                  <a:lnTo>
                    <a:pt x="526" y="0"/>
                  </a:lnTo>
                  <a:lnTo>
                    <a:pt x="1" y="0"/>
                  </a:lnTo>
                  <a:lnTo>
                    <a:pt x="0" y="1017"/>
                  </a:lnTo>
                  <a:lnTo>
                    <a:pt x="264" y="101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47" name="Text Box 35"/>
            <p:cNvSpPr txBox="1"/>
            <p:nvPr/>
          </p:nvSpPr>
          <p:spPr>
            <a:xfrm>
              <a:off x="685" y="1094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5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0448" name="Text Box 36"/>
            <p:cNvSpPr txBox="1"/>
            <p:nvPr/>
          </p:nvSpPr>
          <p:spPr>
            <a:xfrm>
              <a:off x="2941" y="1094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6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0449" name="Text Box 37"/>
            <p:cNvSpPr txBox="1"/>
            <p:nvPr/>
          </p:nvSpPr>
          <p:spPr>
            <a:xfrm>
              <a:off x="807" y="183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0450" name="Text Box 38"/>
            <p:cNvSpPr txBox="1"/>
            <p:nvPr/>
          </p:nvSpPr>
          <p:spPr>
            <a:xfrm>
              <a:off x="2775" y="183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0451" name="Text Box 39"/>
            <p:cNvSpPr txBox="1"/>
            <p:nvPr/>
          </p:nvSpPr>
          <p:spPr>
            <a:xfrm>
              <a:off x="1104" y="643"/>
              <a:ext cx="33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´</a:t>
              </a:r>
              <a:endParaRPr lang="en-US" altLang="zh-CN" sz="32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70452" name="Text Box 40"/>
            <p:cNvSpPr txBox="1"/>
            <p:nvPr/>
          </p:nvSpPr>
          <p:spPr>
            <a:xfrm>
              <a:off x="2462" y="711"/>
              <a:ext cx="2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453" name="Freeform 41"/>
            <p:cNvSpPr/>
            <p:nvPr/>
          </p:nvSpPr>
          <p:spPr>
            <a:xfrm>
              <a:off x="240" y="1273"/>
              <a:ext cx="2549" cy="297"/>
            </a:xfrm>
            <a:custGeom>
              <a:avLst/>
              <a:gdLst>
                <a:gd name="txL" fmla="*/ 0 w 2736"/>
                <a:gd name="txT" fmla="*/ 0 h 240"/>
                <a:gd name="txR" fmla="*/ 2736 w 2736"/>
                <a:gd name="txB" fmla="*/ 240 h 240"/>
              </a:gdLst>
              <a:ahLst/>
              <a:cxnLst>
                <a:cxn ang="0">
                  <a:pos x="2736" y="0"/>
                </a:cxn>
                <a:cxn ang="0">
                  <a:pos x="2736" y="240"/>
                </a:cxn>
                <a:cxn ang="0">
                  <a:pos x="0" y="240"/>
                </a:cxn>
              </a:cxnLst>
              <a:rect l="txL" t="txT" r="txR" b="txB"/>
              <a:pathLst>
                <a:path w="2736" h="240">
                  <a:moveTo>
                    <a:pt x="2736" y="0"/>
                  </a:moveTo>
                  <a:lnTo>
                    <a:pt x="2736" y="240"/>
                  </a:lnTo>
                  <a:lnTo>
                    <a:pt x="0" y="24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54" name="Line 42"/>
            <p:cNvSpPr/>
            <p:nvPr/>
          </p:nvSpPr>
          <p:spPr>
            <a:xfrm>
              <a:off x="1068" y="1285"/>
              <a:ext cx="0" cy="28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70455" name="Freeform 43"/>
            <p:cNvSpPr/>
            <p:nvPr/>
          </p:nvSpPr>
          <p:spPr>
            <a:xfrm>
              <a:off x="2844" y="1031"/>
              <a:ext cx="480" cy="1008"/>
            </a:xfrm>
            <a:custGeom>
              <a:avLst/>
              <a:gdLst>
                <a:gd name="txL" fmla="*/ 0 w 480"/>
                <a:gd name="txT" fmla="*/ 0 h 1008"/>
                <a:gd name="txR" fmla="*/ 480 w 480"/>
                <a:gd name="txB" fmla="*/ 1008 h 1008"/>
              </a:gdLst>
              <a:ahLst/>
              <a:cxnLst>
                <a:cxn ang="0">
                  <a:pos x="0" y="192"/>
                </a:cxn>
                <a:cxn ang="0">
                  <a:pos x="0" y="0"/>
                </a:cxn>
                <a:cxn ang="0">
                  <a:pos x="480" y="0"/>
                </a:cxn>
                <a:cxn ang="0">
                  <a:pos x="480" y="1008"/>
                </a:cxn>
                <a:cxn ang="0">
                  <a:pos x="288" y="1008"/>
                </a:cxn>
              </a:cxnLst>
              <a:rect l="txL" t="txT" r="txR" b="txB"/>
              <a:pathLst>
                <a:path w="480" h="1008">
                  <a:moveTo>
                    <a:pt x="0" y="192"/>
                  </a:moveTo>
                  <a:lnTo>
                    <a:pt x="0" y="0"/>
                  </a:lnTo>
                  <a:lnTo>
                    <a:pt x="480" y="0"/>
                  </a:lnTo>
                  <a:lnTo>
                    <a:pt x="480" y="1008"/>
                  </a:lnTo>
                  <a:lnTo>
                    <a:pt x="288" y="100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56" name="Text Box 44"/>
            <p:cNvSpPr txBox="1"/>
            <p:nvPr/>
          </p:nvSpPr>
          <p:spPr>
            <a:xfrm>
              <a:off x="1670" y="3705"/>
              <a:ext cx="34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IN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0457" name="Text Box 45"/>
            <p:cNvSpPr txBox="1"/>
            <p:nvPr/>
          </p:nvSpPr>
          <p:spPr>
            <a:xfrm>
              <a:off x="3312" y="681"/>
              <a:ext cx="50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位线</a:t>
              </a:r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458" name="Freeform 46"/>
            <p:cNvSpPr/>
            <p:nvPr/>
          </p:nvSpPr>
          <p:spPr>
            <a:xfrm>
              <a:off x="3360" y="927"/>
              <a:ext cx="221" cy="321"/>
            </a:xfrm>
            <a:custGeom>
              <a:avLst/>
              <a:gdLst>
                <a:gd name="txL" fmla="*/ 0 w 221"/>
                <a:gd name="txT" fmla="*/ 0 h 321"/>
                <a:gd name="txR" fmla="*/ 221 w 221"/>
                <a:gd name="txB" fmla="*/ 321 h 321"/>
              </a:gdLst>
              <a:ahLst/>
              <a:cxnLst>
                <a:cxn ang="0">
                  <a:pos x="221" y="0"/>
                </a:cxn>
                <a:cxn ang="0">
                  <a:pos x="0" y="321"/>
                </a:cxn>
              </a:cxnLst>
              <a:rect l="txL" t="txT" r="txR" b="txB"/>
              <a:pathLst>
                <a:path w="221" h="321">
                  <a:moveTo>
                    <a:pt x="221" y="0"/>
                  </a:moveTo>
                  <a:lnTo>
                    <a:pt x="0" y="32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59" name="Text Box 47"/>
            <p:cNvSpPr txBox="1"/>
            <p:nvPr/>
          </p:nvSpPr>
          <p:spPr>
            <a:xfrm>
              <a:off x="134" y="666"/>
              <a:ext cx="60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位线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A ´</a:t>
              </a:r>
              <a:endParaRPr lang="en-US" altLang="zh-CN" sz="20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270460" name="Freeform 48"/>
            <p:cNvSpPr/>
            <p:nvPr/>
          </p:nvSpPr>
          <p:spPr>
            <a:xfrm>
              <a:off x="297" y="900"/>
              <a:ext cx="176" cy="299"/>
            </a:xfrm>
            <a:custGeom>
              <a:avLst/>
              <a:gdLst>
                <a:gd name="txL" fmla="*/ 0 w 176"/>
                <a:gd name="txT" fmla="*/ 0 h 299"/>
                <a:gd name="txR" fmla="*/ 176 w 176"/>
                <a:gd name="txB" fmla="*/ 299 h 299"/>
              </a:gdLst>
              <a:ahLst/>
              <a:cxnLst>
                <a:cxn ang="0">
                  <a:pos x="0" y="0"/>
                </a:cxn>
                <a:cxn ang="0">
                  <a:pos x="176" y="299"/>
                </a:cxn>
              </a:cxnLst>
              <a:rect l="txL" t="txT" r="txR" b="txB"/>
              <a:pathLst>
                <a:path w="176" h="299">
                  <a:moveTo>
                    <a:pt x="0" y="0"/>
                  </a:moveTo>
                  <a:lnTo>
                    <a:pt x="176" y="29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61" name="Text Box 49"/>
            <p:cNvSpPr txBox="1"/>
            <p:nvPr/>
          </p:nvSpPr>
          <p:spPr>
            <a:xfrm>
              <a:off x="902" y="2361"/>
              <a:ext cx="8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列地址选择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462" name="Text Box 50"/>
            <p:cNvSpPr txBox="1"/>
            <p:nvPr/>
          </p:nvSpPr>
          <p:spPr>
            <a:xfrm>
              <a:off x="1574" y="1353"/>
              <a:ext cx="83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行地址选择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463" name="Text Box 51"/>
            <p:cNvSpPr txBox="1"/>
            <p:nvPr/>
          </p:nvSpPr>
          <p:spPr>
            <a:xfrm>
              <a:off x="1200" y="2697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写放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464" name="Text Box 52"/>
            <p:cNvSpPr txBox="1"/>
            <p:nvPr/>
          </p:nvSpPr>
          <p:spPr>
            <a:xfrm>
              <a:off x="2138" y="2697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写放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465" name="Text Box 53"/>
            <p:cNvSpPr txBox="1"/>
            <p:nvPr/>
          </p:nvSpPr>
          <p:spPr>
            <a:xfrm>
              <a:off x="3578" y="2649"/>
              <a:ext cx="4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读放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466" name="Text Box 54"/>
            <p:cNvSpPr txBox="1"/>
            <p:nvPr/>
          </p:nvSpPr>
          <p:spPr>
            <a:xfrm>
              <a:off x="4214" y="3033"/>
              <a:ext cx="45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OUT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0467" name="Text Box 55"/>
            <p:cNvSpPr txBox="1"/>
            <p:nvPr/>
          </p:nvSpPr>
          <p:spPr>
            <a:xfrm>
              <a:off x="2208" y="3312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写选择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468" name="Text Box 56"/>
            <p:cNvSpPr txBox="1"/>
            <p:nvPr/>
          </p:nvSpPr>
          <p:spPr>
            <a:xfrm>
              <a:off x="3696" y="3326"/>
              <a:ext cx="54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</a:rPr>
                <a:t>读选择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70339" name="Text Box 57"/>
          <p:cNvSpPr txBox="1"/>
          <p:nvPr/>
        </p:nvSpPr>
        <p:spPr>
          <a:xfrm>
            <a:off x="1981200" y="381000"/>
            <a:ext cx="7010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静态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基本电路的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操作 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7" name="Group 58"/>
          <p:cNvGrpSpPr/>
          <p:nvPr/>
        </p:nvGrpSpPr>
        <p:grpSpPr>
          <a:xfrm>
            <a:off x="1905000" y="2039938"/>
            <a:ext cx="4046538" cy="474662"/>
            <a:chOff x="240" y="1285"/>
            <a:chExt cx="2549" cy="299"/>
          </a:xfrm>
        </p:grpSpPr>
        <p:sp>
          <p:nvSpPr>
            <p:cNvPr id="270421" name="Freeform 59"/>
            <p:cNvSpPr/>
            <p:nvPr/>
          </p:nvSpPr>
          <p:spPr>
            <a:xfrm>
              <a:off x="240" y="1287"/>
              <a:ext cx="2549" cy="297"/>
            </a:xfrm>
            <a:custGeom>
              <a:avLst/>
              <a:gdLst>
                <a:gd name="txL" fmla="*/ 0 w 2736"/>
                <a:gd name="txT" fmla="*/ 0 h 240"/>
                <a:gd name="txR" fmla="*/ 2736 w 2736"/>
                <a:gd name="txB" fmla="*/ 240 h 240"/>
              </a:gdLst>
              <a:ahLst/>
              <a:cxnLst>
                <a:cxn ang="0">
                  <a:pos x="2736" y="0"/>
                </a:cxn>
                <a:cxn ang="0">
                  <a:pos x="2736" y="240"/>
                </a:cxn>
                <a:cxn ang="0">
                  <a:pos x="0" y="240"/>
                </a:cxn>
              </a:cxnLst>
              <a:rect l="txL" t="txT" r="txR" b="txB"/>
              <a:pathLst>
                <a:path w="2736" h="240">
                  <a:moveTo>
                    <a:pt x="2736" y="0"/>
                  </a:moveTo>
                  <a:lnTo>
                    <a:pt x="2736" y="240"/>
                  </a:lnTo>
                  <a:lnTo>
                    <a:pt x="0" y="24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22" name="Line 60"/>
            <p:cNvSpPr/>
            <p:nvPr/>
          </p:nvSpPr>
          <p:spPr>
            <a:xfrm>
              <a:off x="1056" y="1285"/>
              <a:ext cx="0" cy="286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none" w="med" len="med"/>
              <a:tailEnd type="oval" w="sm" len="sm"/>
            </a:ln>
          </p:spPr>
        </p:sp>
      </p:grpSp>
      <p:sp>
        <p:nvSpPr>
          <p:cNvPr id="206909" name="Freeform 61"/>
          <p:cNvSpPr/>
          <p:nvPr/>
        </p:nvSpPr>
        <p:spPr>
          <a:xfrm>
            <a:off x="2008188" y="3352800"/>
            <a:ext cx="2563812" cy="754063"/>
          </a:xfrm>
          <a:custGeom>
            <a:avLst/>
            <a:gdLst>
              <a:gd name="txL" fmla="*/ 0 w 1872"/>
              <a:gd name="txT" fmla="*/ 0 h 384"/>
              <a:gd name="txR" fmla="*/ 1872 w 1872"/>
              <a:gd name="txB" fmla="*/ 384 h 384"/>
            </a:gdLst>
            <a:ahLst/>
            <a:cxnLst>
              <a:cxn ang="0">
                <a:pos x="1872" y="0"/>
              </a:cxn>
              <a:cxn ang="0">
                <a:pos x="1872" y="384"/>
              </a:cxn>
              <a:cxn ang="0">
                <a:pos x="0" y="384"/>
              </a:cxn>
            </a:cxnLst>
            <a:rect l="txL" t="txT" r="txR" b="txB"/>
            <a:pathLst>
              <a:path w="1872" h="384">
                <a:moveTo>
                  <a:pt x="1872" y="0"/>
                </a:moveTo>
                <a:lnTo>
                  <a:pt x="1872" y="384"/>
                </a:lnTo>
                <a:lnTo>
                  <a:pt x="0" y="384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6910" name="Freeform 62"/>
          <p:cNvSpPr/>
          <p:nvPr/>
        </p:nvSpPr>
        <p:spPr>
          <a:xfrm>
            <a:off x="2838450" y="3371850"/>
            <a:ext cx="3524250" cy="1588"/>
          </a:xfrm>
          <a:custGeom>
            <a:avLst/>
            <a:gdLst>
              <a:gd name="txL" fmla="*/ 0 w 2220"/>
              <a:gd name="txT" fmla="*/ 0 h 1"/>
              <a:gd name="txR" fmla="*/ 2220 w 2220"/>
              <a:gd name="txB" fmla="*/ 1 h 1"/>
            </a:gdLst>
            <a:ahLst/>
            <a:cxnLst>
              <a:cxn ang="0">
                <a:pos x="0" y="0"/>
              </a:cxn>
              <a:cxn ang="0">
                <a:pos x="2220" y="0"/>
              </a:cxn>
            </a:cxnLst>
            <a:rect l="txL" t="txT" r="txR" b="txB"/>
            <a:pathLst>
              <a:path w="2220" h="1">
                <a:moveTo>
                  <a:pt x="0" y="0"/>
                </a:moveTo>
                <a:lnTo>
                  <a:pt x="2220" y="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06911" name="Line 63"/>
          <p:cNvSpPr/>
          <p:nvPr/>
        </p:nvSpPr>
        <p:spPr>
          <a:xfrm>
            <a:off x="4508500" y="4752975"/>
            <a:ext cx="0" cy="1036638"/>
          </a:xfrm>
          <a:prstGeom prst="line">
            <a:avLst/>
          </a:prstGeom>
          <a:ln w="76200" cap="flat" cmpd="sng">
            <a:solidFill>
              <a:schemeClr val="folHlink"/>
            </a:solidFill>
            <a:prstDash val="solid"/>
            <a:headEnd type="oval" w="sm" len="sm"/>
            <a:tailEnd type="none" w="med" len="med"/>
          </a:ln>
        </p:spPr>
      </p:sp>
      <p:grpSp>
        <p:nvGrpSpPr>
          <p:cNvPr id="8" name="Group 64"/>
          <p:cNvGrpSpPr/>
          <p:nvPr/>
        </p:nvGrpSpPr>
        <p:grpSpPr>
          <a:xfrm>
            <a:off x="3638550" y="4462463"/>
            <a:ext cx="1619250" cy="566737"/>
            <a:chOff x="1332" y="2811"/>
            <a:chExt cx="1020" cy="357"/>
          </a:xfrm>
        </p:grpSpPr>
        <p:grpSp>
          <p:nvGrpSpPr>
            <p:cNvPr id="270417" name="Group 65"/>
            <p:cNvGrpSpPr/>
            <p:nvPr/>
          </p:nvGrpSpPr>
          <p:grpSpPr>
            <a:xfrm>
              <a:off x="1332" y="2811"/>
              <a:ext cx="396" cy="356"/>
              <a:chOff x="1332" y="2811"/>
              <a:chExt cx="396" cy="356"/>
            </a:xfrm>
          </p:grpSpPr>
          <p:sp>
            <p:nvSpPr>
              <p:cNvPr id="270419" name="AutoShape 66"/>
              <p:cNvSpPr/>
              <p:nvPr/>
            </p:nvSpPr>
            <p:spPr>
              <a:xfrm rot="-5400000">
                <a:off x="1399" y="2838"/>
                <a:ext cx="356" cy="302"/>
              </a:xfrm>
              <a:prstGeom prst="triangle">
                <a:avLst>
                  <a:gd name="adj" fmla="val 50000"/>
                </a:avLst>
              </a:prstGeom>
              <a:noFill/>
              <a:ln w="762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0420" name="Oval 67"/>
              <p:cNvSpPr/>
              <p:nvPr/>
            </p:nvSpPr>
            <p:spPr>
              <a:xfrm rot="10800000">
                <a:off x="1332" y="2958"/>
                <a:ext cx="79" cy="79"/>
              </a:xfrm>
              <a:prstGeom prst="ellipse">
                <a:avLst/>
              </a:prstGeom>
              <a:noFill/>
              <a:ln w="762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70418" name="AutoShape 68"/>
            <p:cNvSpPr/>
            <p:nvPr/>
          </p:nvSpPr>
          <p:spPr>
            <a:xfrm rot="5400000">
              <a:off x="2023" y="2839"/>
              <a:ext cx="356" cy="302"/>
            </a:xfrm>
            <a:prstGeom prst="triangle">
              <a:avLst>
                <a:gd name="adj" fmla="val 50000"/>
              </a:avLst>
            </a:prstGeom>
            <a:noFill/>
            <a:ln w="762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69"/>
          <p:cNvGrpSpPr/>
          <p:nvPr/>
        </p:nvGrpSpPr>
        <p:grpSpPr>
          <a:xfrm>
            <a:off x="2266950" y="4741863"/>
            <a:ext cx="4522788" cy="1587"/>
            <a:chOff x="462" y="2987"/>
            <a:chExt cx="2849" cy="1"/>
          </a:xfrm>
        </p:grpSpPr>
        <p:sp>
          <p:nvSpPr>
            <p:cNvPr id="270415" name="Line 70"/>
            <p:cNvSpPr/>
            <p:nvPr/>
          </p:nvSpPr>
          <p:spPr>
            <a:xfrm>
              <a:off x="2351" y="2987"/>
              <a:ext cx="960" cy="0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0416" name="Freeform 71"/>
            <p:cNvSpPr/>
            <p:nvPr/>
          </p:nvSpPr>
          <p:spPr>
            <a:xfrm>
              <a:off x="462" y="2987"/>
              <a:ext cx="845" cy="1"/>
            </a:xfrm>
            <a:custGeom>
              <a:avLst/>
              <a:gdLst>
                <a:gd name="txL" fmla="*/ 0 w 845"/>
                <a:gd name="txT" fmla="*/ 0 h 1"/>
                <a:gd name="txR" fmla="*/ 845 w 845"/>
                <a:gd name="txB" fmla="*/ 1 h 1"/>
              </a:gdLst>
              <a:ahLst/>
              <a:cxnLst>
                <a:cxn ang="0">
                  <a:pos x="833" y="0"/>
                </a:cxn>
                <a:cxn ang="0">
                  <a:pos x="845" y="1"/>
                </a:cxn>
                <a:cxn ang="0">
                  <a:pos x="0" y="1"/>
                </a:cxn>
              </a:cxnLst>
              <a:rect l="txL" t="txT" r="txR" b="txB"/>
              <a:pathLst>
                <a:path w="845" h="1">
                  <a:moveTo>
                    <a:pt x="833" y="0"/>
                  </a:moveTo>
                  <a:lnTo>
                    <a:pt x="845" y="1"/>
                  </a:lnTo>
                  <a:lnTo>
                    <a:pt x="0" y="1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72"/>
          <p:cNvGrpSpPr/>
          <p:nvPr/>
        </p:nvGrpSpPr>
        <p:grpSpPr>
          <a:xfrm>
            <a:off x="2308225" y="1619250"/>
            <a:ext cx="4481513" cy="1685925"/>
            <a:chOff x="494" y="1020"/>
            <a:chExt cx="2823" cy="1062"/>
          </a:xfrm>
        </p:grpSpPr>
        <p:sp>
          <p:nvSpPr>
            <p:cNvPr id="270413" name="Freeform 73"/>
            <p:cNvSpPr/>
            <p:nvPr/>
          </p:nvSpPr>
          <p:spPr>
            <a:xfrm>
              <a:off x="494" y="1043"/>
              <a:ext cx="515" cy="1039"/>
            </a:xfrm>
            <a:custGeom>
              <a:avLst/>
              <a:gdLst>
                <a:gd name="txL" fmla="*/ 0 w 515"/>
                <a:gd name="txT" fmla="*/ 0 h 1039"/>
                <a:gd name="txR" fmla="*/ 515 w 515"/>
                <a:gd name="txB" fmla="*/ 1039 h 1039"/>
              </a:gdLst>
              <a:ahLst/>
              <a:cxnLst>
                <a:cxn ang="0">
                  <a:pos x="1" y="1039"/>
                </a:cxn>
                <a:cxn ang="0">
                  <a:pos x="0" y="0"/>
                </a:cxn>
                <a:cxn ang="0">
                  <a:pos x="515" y="0"/>
                </a:cxn>
                <a:cxn ang="0">
                  <a:pos x="515" y="164"/>
                </a:cxn>
              </a:cxnLst>
              <a:rect l="txL" t="txT" r="txR" b="txB"/>
              <a:pathLst>
                <a:path w="515" h="1039">
                  <a:moveTo>
                    <a:pt x="1" y="1039"/>
                  </a:moveTo>
                  <a:lnTo>
                    <a:pt x="0" y="0"/>
                  </a:lnTo>
                  <a:lnTo>
                    <a:pt x="515" y="0"/>
                  </a:lnTo>
                  <a:lnTo>
                    <a:pt x="515" y="164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14" name="Freeform 74"/>
            <p:cNvSpPr/>
            <p:nvPr/>
          </p:nvSpPr>
          <p:spPr>
            <a:xfrm>
              <a:off x="2835" y="1020"/>
              <a:ext cx="482" cy="1043"/>
            </a:xfrm>
            <a:custGeom>
              <a:avLst/>
              <a:gdLst>
                <a:gd name="txL" fmla="*/ 0 w 482"/>
                <a:gd name="txT" fmla="*/ 0 h 1043"/>
                <a:gd name="txR" fmla="*/ 482 w 482"/>
                <a:gd name="txB" fmla="*/ 1043 h 1043"/>
              </a:gdLst>
              <a:ahLst/>
              <a:cxnLst>
                <a:cxn ang="0">
                  <a:pos x="482" y="1043"/>
                </a:cxn>
                <a:cxn ang="0">
                  <a:pos x="482" y="0"/>
                </a:cxn>
                <a:cxn ang="0">
                  <a:pos x="0" y="0"/>
                </a:cxn>
                <a:cxn ang="0">
                  <a:pos x="0" y="198"/>
                </a:cxn>
              </a:cxnLst>
              <a:rect l="txL" t="txT" r="txR" b="txB"/>
              <a:pathLst>
                <a:path w="482" h="1043">
                  <a:moveTo>
                    <a:pt x="482" y="1043"/>
                  </a:moveTo>
                  <a:lnTo>
                    <a:pt x="482" y="0"/>
                  </a:lnTo>
                  <a:lnTo>
                    <a:pt x="0" y="0"/>
                  </a:lnTo>
                  <a:lnTo>
                    <a:pt x="0" y="198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Group 75"/>
          <p:cNvGrpSpPr/>
          <p:nvPr/>
        </p:nvGrpSpPr>
        <p:grpSpPr>
          <a:xfrm>
            <a:off x="3276600" y="1633538"/>
            <a:ext cx="2590800" cy="273050"/>
            <a:chOff x="924" y="1029"/>
            <a:chExt cx="1632" cy="172"/>
          </a:xfrm>
        </p:grpSpPr>
        <p:sp>
          <p:nvSpPr>
            <p:cNvPr id="270411" name="Freeform 76"/>
            <p:cNvSpPr/>
            <p:nvPr/>
          </p:nvSpPr>
          <p:spPr>
            <a:xfrm>
              <a:off x="924" y="1029"/>
              <a:ext cx="281" cy="171"/>
            </a:xfrm>
            <a:custGeom>
              <a:avLst/>
              <a:gdLst>
                <a:gd name="txL" fmla="*/ 0 w 319"/>
                <a:gd name="txT" fmla="*/ 0 h 184"/>
                <a:gd name="txR" fmla="*/ 319 w 319"/>
                <a:gd name="txB" fmla="*/ 184 h 184"/>
              </a:gdLst>
              <a:ahLst/>
              <a:cxnLst>
                <a:cxn ang="0">
                  <a:pos x="319" y="0"/>
                </a:cxn>
                <a:cxn ang="0">
                  <a:pos x="0" y="0"/>
                </a:cxn>
                <a:cxn ang="0">
                  <a:pos x="0" y="184"/>
                </a:cxn>
              </a:cxnLst>
              <a:rect l="txL" t="txT" r="txR" b="txB"/>
              <a:pathLst>
                <a:path w="319" h="184">
                  <a:moveTo>
                    <a:pt x="319" y="0"/>
                  </a:moveTo>
                  <a:lnTo>
                    <a:pt x="0" y="0"/>
                  </a:lnTo>
                  <a:lnTo>
                    <a:pt x="0" y="184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12" name="Freeform 77"/>
            <p:cNvSpPr/>
            <p:nvPr/>
          </p:nvSpPr>
          <p:spPr>
            <a:xfrm>
              <a:off x="2230" y="1036"/>
              <a:ext cx="326" cy="165"/>
            </a:xfrm>
            <a:custGeom>
              <a:avLst/>
              <a:gdLst>
                <a:gd name="txL" fmla="*/ 0 w 336"/>
                <a:gd name="txT" fmla="*/ 0 h 144"/>
                <a:gd name="txR" fmla="*/ 336 w 336"/>
                <a:gd name="txB" fmla="*/ 144 h 144"/>
              </a:gdLst>
              <a:ahLst/>
              <a:cxnLst>
                <a:cxn ang="0">
                  <a:pos x="0" y="0"/>
                </a:cxn>
                <a:cxn ang="0">
                  <a:pos x="336" y="0"/>
                </a:cxn>
                <a:cxn ang="0">
                  <a:pos x="336" y="144"/>
                </a:cxn>
              </a:cxnLst>
              <a:rect l="txL" t="txT" r="txR" b="txB"/>
              <a:pathLst>
                <a:path w="336" h="144">
                  <a:moveTo>
                    <a:pt x="0" y="0"/>
                  </a:moveTo>
                  <a:lnTo>
                    <a:pt x="336" y="0"/>
                  </a:lnTo>
                  <a:lnTo>
                    <a:pt x="336" y="144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06926" name="Line 78"/>
          <p:cNvSpPr/>
          <p:nvPr/>
        </p:nvSpPr>
        <p:spPr>
          <a:xfrm flipV="1">
            <a:off x="5018088" y="4879975"/>
            <a:ext cx="0" cy="942975"/>
          </a:xfrm>
          <a:prstGeom prst="line">
            <a:avLst/>
          </a:prstGeom>
          <a:ln w="76200" cap="flat" cmpd="sng">
            <a:solidFill>
              <a:schemeClr val="folHlink"/>
            </a:solidFill>
            <a:prstDash val="solid"/>
            <a:headEnd type="none" w="med" len="med"/>
            <a:tailEnd type="stealth" w="med" len="lg"/>
          </a:ln>
        </p:spPr>
      </p:sp>
      <p:sp>
        <p:nvSpPr>
          <p:cNvPr id="206927" name="Freeform 79"/>
          <p:cNvSpPr/>
          <p:nvPr/>
        </p:nvSpPr>
        <p:spPr>
          <a:xfrm>
            <a:off x="4271963" y="4748213"/>
            <a:ext cx="528637" cy="6350"/>
          </a:xfrm>
          <a:custGeom>
            <a:avLst/>
            <a:gdLst>
              <a:gd name="txL" fmla="*/ 0 w 333"/>
              <a:gd name="txT" fmla="*/ 0 h 4"/>
              <a:gd name="txR" fmla="*/ 333 w 333"/>
              <a:gd name="txB" fmla="*/ 4 h 4"/>
            </a:gdLst>
            <a:ahLst/>
            <a:cxnLst>
              <a:cxn ang="0">
                <a:pos x="0" y="0"/>
              </a:cxn>
              <a:cxn ang="0">
                <a:pos x="333" y="4"/>
              </a:cxn>
            </a:cxnLst>
            <a:rect l="txL" t="txT" r="txR" b="txB"/>
            <a:pathLst>
              <a:path w="333" h="4">
                <a:moveTo>
                  <a:pt x="0" y="0"/>
                </a:moveTo>
                <a:lnTo>
                  <a:pt x="333" y="4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Group 80"/>
          <p:cNvGrpSpPr/>
          <p:nvPr/>
        </p:nvGrpSpPr>
        <p:grpSpPr>
          <a:xfrm>
            <a:off x="2286000" y="3236913"/>
            <a:ext cx="4514850" cy="31750"/>
            <a:chOff x="288" y="2039"/>
            <a:chExt cx="2844" cy="20"/>
          </a:xfrm>
        </p:grpSpPr>
        <p:sp>
          <p:nvSpPr>
            <p:cNvPr id="270409" name="Freeform 81"/>
            <p:cNvSpPr/>
            <p:nvPr/>
          </p:nvSpPr>
          <p:spPr>
            <a:xfrm>
              <a:off x="288" y="2058"/>
              <a:ext cx="276" cy="1"/>
            </a:xfrm>
            <a:custGeom>
              <a:avLst/>
              <a:gdLst>
                <a:gd name="txL" fmla="*/ 0 w 276"/>
                <a:gd name="txT" fmla="*/ 0 h 1"/>
                <a:gd name="txR" fmla="*/ 276 w 276"/>
                <a:gd name="txB" fmla="*/ 1 h 1"/>
              </a:gdLst>
              <a:ahLst/>
              <a:cxnLst>
                <a:cxn ang="0">
                  <a:pos x="276" y="0"/>
                </a:cxn>
                <a:cxn ang="0">
                  <a:pos x="0" y="0"/>
                </a:cxn>
              </a:cxnLst>
              <a:rect l="txL" t="txT" r="txR" b="txB"/>
              <a:pathLst>
                <a:path w="276" h="1">
                  <a:moveTo>
                    <a:pt x="276" y="0"/>
                  </a:moveTo>
                  <a:lnTo>
                    <a:pt x="0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410" name="Line 82"/>
            <p:cNvSpPr/>
            <p:nvPr/>
          </p:nvSpPr>
          <p:spPr>
            <a:xfrm>
              <a:off x="2940" y="2039"/>
              <a:ext cx="192" cy="0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4" name="Group 83"/>
          <p:cNvGrpSpPr/>
          <p:nvPr/>
        </p:nvGrpSpPr>
        <p:grpSpPr>
          <a:xfrm>
            <a:off x="2714625" y="3124200"/>
            <a:ext cx="3762375" cy="477838"/>
            <a:chOff x="750" y="1968"/>
            <a:chExt cx="2370" cy="301"/>
          </a:xfrm>
        </p:grpSpPr>
        <p:grpSp>
          <p:nvGrpSpPr>
            <p:cNvPr id="270403" name="Group 84"/>
            <p:cNvGrpSpPr/>
            <p:nvPr/>
          </p:nvGrpSpPr>
          <p:grpSpPr>
            <a:xfrm>
              <a:off x="750" y="1968"/>
              <a:ext cx="74" cy="301"/>
              <a:chOff x="750" y="1968"/>
              <a:chExt cx="74" cy="301"/>
            </a:xfrm>
          </p:grpSpPr>
          <p:sp>
            <p:nvSpPr>
              <p:cNvPr id="270407" name="Line 85"/>
              <p:cNvSpPr/>
              <p:nvPr/>
            </p:nvSpPr>
            <p:spPr>
              <a:xfrm rot="-5400000">
                <a:off x="582" y="2101"/>
                <a:ext cx="301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0408" name="Line 86"/>
              <p:cNvSpPr/>
              <p:nvPr/>
            </p:nvSpPr>
            <p:spPr>
              <a:xfrm rot="-5400000">
                <a:off x="733" y="2123"/>
                <a:ext cx="182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0404" name="Group 87"/>
            <p:cNvGrpSpPr/>
            <p:nvPr/>
          </p:nvGrpSpPr>
          <p:grpSpPr>
            <a:xfrm>
              <a:off x="3046" y="1968"/>
              <a:ext cx="74" cy="301"/>
              <a:chOff x="3046" y="1968"/>
              <a:chExt cx="74" cy="301"/>
            </a:xfrm>
          </p:grpSpPr>
          <p:sp>
            <p:nvSpPr>
              <p:cNvPr id="270405" name="Line 88"/>
              <p:cNvSpPr/>
              <p:nvPr/>
            </p:nvSpPr>
            <p:spPr>
              <a:xfrm rot="5400000">
                <a:off x="2952" y="2101"/>
                <a:ext cx="301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0406" name="Line 89"/>
              <p:cNvSpPr/>
              <p:nvPr/>
            </p:nvSpPr>
            <p:spPr>
              <a:xfrm rot="5400000">
                <a:off x="2955" y="2115"/>
                <a:ext cx="182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7" name="Group 90"/>
          <p:cNvGrpSpPr/>
          <p:nvPr/>
        </p:nvGrpSpPr>
        <p:grpSpPr>
          <a:xfrm>
            <a:off x="3013075" y="1920875"/>
            <a:ext cx="3159125" cy="95250"/>
            <a:chOff x="929" y="1212"/>
            <a:chExt cx="1988" cy="60"/>
          </a:xfrm>
        </p:grpSpPr>
        <p:grpSp>
          <p:nvGrpSpPr>
            <p:cNvPr id="270397" name="Group 91"/>
            <p:cNvGrpSpPr/>
            <p:nvPr/>
          </p:nvGrpSpPr>
          <p:grpSpPr>
            <a:xfrm>
              <a:off x="929" y="1212"/>
              <a:ext cx="255" cy="60"/>
              <a:chOff x="3459" y="1296"/>
              <a:chExt cx="243" cy="48"/>
            </a:xfrm>
          </p:grpSpPr>
          <p:sp>
            <p:nvSpPr>
              <p:cNvPr id="270401" name="Line 92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0402" name="Line 93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0398" name="Group 94"/>
            <p:cNvGrpSpPr/>
            <p:nvPr/>
          </p:nvGrpSpPr>
          <p:grpSpPr>
            <a:xfrm>
              <a:off x="2661" y="1212"/>
              <a:ext cx="256" cy="60"/>
              <a:chOff x="3459" y="1296"/>
              <a:chExt cx="243" cy="48"/>
            </a:xfrm>
          </p:grpSpPr>
          <p:sp>
            <p:nvSpPr>
              <p:cNvPr id="270399" name="Line 95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0400" name="Line 96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0" name="Group 97"/>
          <p:cNvGrpSpPr/>
          <p:nvPr/>
        </p:nvGrpSpPr>
        <p:grpSpPr>
          <a:xfrm>
            <a:off x="2305050" y="3424238"/>
            <a:ext cx="4492625" cy="1341437"/>
            <a:chOff x="492" y="2157"/>
            <a:chExt cx="2830" cy="845"/>
          </a:xfrm>
        </p:grpSpPr>
        <p:sp>
          <p:nvSpPr>
            <p:cNvPr id="270395" name="Freeform 98"/>
            <p:cNvSpPr/>
            <p:nvPr/>
          </p:nvSpPr>
          <p:spPr>
            <a:xfrm>
              <a:off x="492" y="2157"/>
              <a:ext cx="251" cy="845"/>
            </a:xfrm>
            <a:custGeom>
              <a:avLst/>
              <a:gdLst>
                <a:gd name="txL" fmla="*/ 0 w 251"/>
                <a:gd name="txT" fmla="*/ 0 h 845"/>
                <a:gd name="txR" fmla="*/ 251 w 251"/>
                <a:gd name="txB" fmla="*/ 845 h 845"/>
              </a:gdLst>
              <a:ahLst/>
              <a:cxnLst>
                <a:cxn ang="0">
                  <a:pos x="251" y="0"/>
                </a:cxn>
                <a:cxn ang="0">
                  <a:pos x="0" y="0"/>
                </a:cxn>
                <a:cxn ang="0">
                  <a:pos x="0" y="845"/>
                </a:cxn>
              </a:cxnLst>
              <a:rect l="txL" t="txT" r="txR" b="txB"/>
              <a:pathLst>
                <a:path w="251" h="845">
                  <a:moveTo>
                    <a:pt x="251" y="0"/>
                  </a:moveTo>
                  <a:lnTo>
                    <a:pt x="0" y="0"/>
                  </a:lnTo>
                  <a:lnTo>
                    <a:pt x="0" y="845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0396" name="Freeform 99"/>
            <p:cNvSpPr/>
            <p:nvPr/>
          </p:nvSpPr>
          <p:spPr>
            <a:xfrm>
              <a:off x="3120" y="2160"/>
              <a:ext cx="202" cy="832"/>
            </a:xfrm>
            <a:custGeom>
              <a:avLst/>
              <a:gdLst>
                <a:gd name="txL" fmla="*/ 0 w 192"/>
                <a:gd name="txT" fmla="*/ 0 h 672"/>
                <a:gd name="txR" fmla="*/ 192 w 192"/>
                <a:gd name="txB" fmla="*/ 672 h 672"/>
              </a:gdLst>
              <a:ahLst/>
              <a:cxnLst>
                <a:cxn ang="0">
                  <a:pos x="0" y="0"/>
                </a:cxn>
                <a:cxn ang="0">
                  <a:pos x="192" y="0"/>
                </a:cxn>
                <a:cxn ang="0">
                  <a:pos x="192" y="672"/>
                </a:cxn>
              </a:cxnLst>
              <a:rect l="txL" t="txT" r="txR" b="txB"/>
              <a:pathLst>
                <a:path w="192" h="672">
                  <a:moveTo>
                    <a:pt x="0" y="0"/>
                  </a:moveTo>
                  <a:lnTo>
                    <a:pt x="192" y="0"/>
                  </a:lnTo>
                  <a:lnTo>
                    <a:pt x="192" y="672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100"/>
          <p:cNvGrpSpPr/>
          <p:nvPr/>
        </p:nvGrpSpPr>
        <p:grpSpPr>
          <a:xfrm>
            <a:off x="7299325" y="1949450"/>
            <a:ext cx="3368675" cy="460375"/>
            <a:chOff x="3638" y="1228"/>
            <a:chExt cx="2122" cy="290"/>
          </a:xfrm>
        </p:grpSpPr>
        <p:sp>
          <p:nvSpPr>
            <p:cNvPr id="270392" name="Text Box 101"/>
            <p:cNvSpPr txBox="1"/>
            <p:nvPr/>
          </p:nvSpPr>
          <p:spPr>
            <a:xfrm>
              <a:off x="3638" y="1228"/>
              <a:ext cx="57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 rIns="5400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行选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393" name="Text Box 102"/>
            <p:cNvSpPr txBox="1"/>
            <p:nvPr/>
          </p:nvSpPr>
          <p:spPr>
            <a:xfrm>
              <a:off x="4416" y="1228"/>
              <a:ext cx="13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5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6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394" name="Line 103"/>
            <p:cNvSpPr/>
            <p:nvPr/>
          </p:nvSpPr>
          <p:spPr>
            <a:xfrm>
              <a:off x="4128" y="1373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2" name="Group 104"/>
          <p:cNvGrpSpPr/>
          <p:nvPr/>
        </p:nvGrpSpPr>
        <p:grpSpPr>
          <a:xfrm>
            <a:off x="7299325" y="3692525"/>
            <a:ext cx="2759075" cy="460375"/>
            <a:chOff x="3638" y="2038"/>
            <a:chExt cx="1738" cy="290"/>
          </a:xfrm>
        </p:grpSpPr>
        <p:sp>
          <p:nvSpPr>
            <p:cNvPr id="270389" name="Text Box 105"/>
            <p:cNvSpPr txBox="1"/>
            <p:nvPr/>
          </p:nvSpPr>
          <p:spPr>
            <a:xfrm>
              <a:off x="4368" y="2038"/>
              <a:ext cx="100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两个写放 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0390" name="Line 106"/>
            <p:cNvSpPr/>
            <p:nvPr/>
          </p:nvSpPr>
          <p:spPr>
            <a:xfrm>
              <a:off x="4128" y="2208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0391" name="Text Box 107"/>
            <p:cNvSpPr txBox="1"/>
            <p:nvPr/>
          </p:nvSpPr>
          <p:spPr>
            <a:xfrm>
              <a:off x="3638" y="2038"/>
              <a:ext cx="39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IN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6956" name="Rectangle 10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6957" name="Freeform 109"/>
          <p:cNvSpPr/>
          <p:nvPr/>
        </p:nvSpPr>
        <p:spPr>
          <a:xfrm>
            <a:off x="3989388" y="4830763"/>
            <a:ext cx="1035050" cy="598487"/>
          </a:xfrm>
          <a:custGeom>
            <a:avLst/>
            <a:gdLst>
              <a:gd name="txL" fmla="*/ 0 w 652"/>
              <a:gd name="txT" fmla="*/ 0 h 377"/>
              <a:gd name="txR" fmla="*/ 652 w 652"/>
              <a:gd name="txB" fmla="*/ 377 h 377"/>
            </a:gdLst>
            <a:ahLst/>
            <a:cxnLst>
              <a:cxn ang="0">
                <a:pos x="0" y="0"/>
              </a:cxn>
              <a:cxn ang="0">
                <a:pos x="1" y="377"/>
              </a:cxn>
              <a:cxn ang="0">
                <a:pos x="652" y="374"/>
              </a:cxn>
            </a:cxnLst>
            <a:rect l="txL" t="txT" r="txR" b="txB"/>
            <a:pathLst>
              <a:path w="652" h="377">
                <a:moveTo>
                  <a:pt x="0" y="0"/>
                </a:moveTo>
                <a:lnTo>
                  <a:pt x="1" y="377"/>
                </a:lnTo>
                <a:lnTo>
                  <a:pt x="652" y="374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stealth" w="med" len="lg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3" name="Group 110"/>
          <p:cNvGrpSpPr/>
          <p:nvPr/>
        </p:nvGrpSpPr>
        <p:grpSpPr>
          <a:xfrm>
            <a:off x="7299325" y="2571750"/>
            <a:ext cx="3368675" cy="460375"/>
            <a:chOff x="3638" y="1620"/>
            <a:chExt cx="2122" cy="290"/>
          </a:xfrm>
        </p:grpSpPr>
        <p:grpSp>
          <p:nvGrpSpPr>
            <p:cNvPr id="270385" name="Group 111"/>
            <p:cNvGrpSpPr/>
            <p:nvPr/>
          </p:nvGrpSpPr>
          <p:grpSpPr>
            <a:xfrm>
              <a:off x="3638" y="1620"/>
              <a:ext cx="720" cy="290"/>
              <a:chOff x="3638" y="1620"/>
              <a:chExt cx="720" cy="290"/>
            </a:xfrm>
          </p:grpSpPr>
          <p:sp>
            <p:nvSpPr>
              <p:cNvPr id="270387" name="Text Box 112"/>
              <p:cNvSpPr txBox="1"/>
              <p:nvPr/>
            </p:nvSpPr>
            <p:spPr>
              <a:xfrm>
                <a:off x="3638" y="1620"/>
                <a:ext cx="48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8000" rIns="1800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列选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388" name="Line 113"/>
              <p:cNvSpPr/>
              <p:nvPr/>
            </p:nvSpPr>
            <p:spPr>
              <a:xfrm>
                <a:off x="4118" y="1764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270386" name="Text Box 114"/>
            <p:cNvSpPr txBox="1"/>
            <p:nvPr/>
          </p:nvSpPr>
          <p:spPr>
            <a:xfrm>
              <a:off x="4416" y="1620"/>
              <a:ext cx="13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7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、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8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" name="Group 115"/>
          <p:cNvGrpSpPr/>
          <p:nvPr/>
        </p:nvGrpSpPr>
        <p:grpSpPr>
          <a:xfrm>
            <a:off x="4876800" y="5646738"/>
            <a:ext cx="5638800" cy="1041400"/>
            <a:chOff x="2112" y="3609"/>
            <a:chExt cx="3552" cy="656"/>
          </a:xfrm>
        </p:grpSpPr>
        <p:grpSp>
          <p:nvGrpSpPr>
            <p:cNvPr id="270366" name="Group 116"/>
            <p:cNvGrpSpPr/>
            <p:nvPr/>
          </p:nvGrpSpPr>
          <p:grpSpPr>
            <a:xfrm>
              <a:off x="2112" y="3609"/>
              <a:ext cx="3552" cy="656"/>
              <a:chOff x="2112" y="3609"/>
              <a:chExt cx="3552" cy="656"/>
            </a:xfrm>
          </p:grpSpPr>
          <p:sp>
            <p:nvSpPr>
              <p:cNvPr id="270368" name="Text Box 117"/>
              <p:cNvSpPr txBox="1"/>
              <p:nvPr/>
            </p:nvSpPr>
            <p:spPr>
              <a:xfrm>
                <a:off x="2112" y="3609"/>
                <a:ext cx="912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（左）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 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369" name="Text Box 118"/>
              <p:cNvSpPr txBox="1"/>
              <p:nvPr/>
            </p:nvSpPr>
            <p:spPr>
              <a:xfrm>
                <a:off x="3360" y="3628"/>
                <a:ext cx="62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反相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370" name="Line 119"/>
              <p:cNvSpPr/>
              <p:nvPr/>
            </p:nvSpPr>
            <p:spPr>
              <a:xfrm>
                <a:off x="3120" y="3773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70371" name="Line 120"/>
              <p:cNvSpPr/>
              <p:nvPr/>
            </p:nvSpPr>
            <p:spPr>
              <a:xfrm>
                <a:off x="3888" y="3773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70372" name="Line 121"/>
              <p:cNvSpPr/>
              <p:nvPr/>
            </p:nvSpPr>
            <p:spPr>
              <a:xfrm>
                <a:off x="4464" y="3773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70373" name="Rectangle 122"/>
              <p:cNvSpPr/>
              <p:nvPr/>
            </p:nvSpPr>
            <p:spPr>
              <a:xfrm>
                <a:off x="4700" y="3641"/>
                <a:ext cx="30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374" name="Line 123"/>
              <p:cNvSpPr/>
              <p:nvPr/>
            </p:nvSpPr>
            <p:spPr>
              <a:xfrm>
                <a:off x="5036" y="3773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70375" name="Text Box 124"/>
              <p:cNvSpPr txBox="1"/>
              <p:nvPr/>
            </p:nvSpPr>
            <p:spPr>
              <a:xfrm>
                <a:off x="5324" y="3609"/>
                <a:ext cx="33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8000" rIns="1800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´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376" name="Text Box 125"/>
              <p:cNvSpPr txBox="1"/>
              <p:nvPr/>
            </p:nvSpPr>
            <p:spPr>
              <a:xfrm>
                <a:off x="2112" y="3936"/>
                <a:ext cx="86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（右）</a:t>
                </a:r>
                <a:r>
                  <a:rPr lang="zh-CN" altLang="en-US" sz="2800" b="1" dirty="0">
                    <a:latin typeface="Times New Roman" panose="02020603050405020304" pitchFamily="18" charset="0"/>
                  </a:rPr>
                  <a:t> 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377" name="Freeform 126"/>
              <p:cNvSpPr/>
              <p:nvPr/>
            </p:nvSpPr>
            <p:spPr>
              <a:xfrm>
                <a:off x="3120" y="4101"/>
                <a:ext cx="1014" cy="1"/>
              </a:xfrm>
              <a:custGeom>
                <a:avLst/>
                <a:gdLst>
                  <a:gd name="txL" fmla="*/ 0 w 1014"/>
                  <a:gd name="txT" fmla="*/ 0 h 1"/>
                  <a:gd name="txR" fmla="*/ 1014 w 101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14" y="0"/>
                  </a:cxn>
                </a:cxnLst>
                <a:rect l="txL" t="txT" r="txR" b="txB"/>
                <a:pathLst>
                  <a:path w="1014" h="1">
                    <a:moveTo>
                      <a:pt x="0" y="0"/>
                    </a:moveTo>
                    <a:lnTo>
                      <a:pt x="1014" y="0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0378" name="Rectangle 127"/>
              <p:cNvSpPr/>
              <p:nvPr/>
            </p:nvSpPr>
            <p:spPr>
              <a:xfrm>
                <a:off x="4132" y="3936"/>
                <a:ext cx="30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379" name="Line 128"/>
              <p:cNvSpPr/>
              <p:nvPr/>
            </p:nvSpPr>
            <p:spPr>
              <a:xfrm>
                <a:off x="4468" y="4108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70380" name="Rectangle 129"/>
              <p:cNvSpPr/>
              <p:nvPr/>
            </p:nvSpPr>
            <p:spPr>
              <a:xfrm>
                <a:off x="4704" y="3936"/>
                <a:ext cx="30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381" name="Line 130"/>
              <p:cNvSpPr/>
              <p:nvPr/>
            </p:nvSpPr>
            <p:spPr>
              <a:xfrm>
                <a:off x="5040" y="4108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70382" name="Text Box 131"/>
              <p:cNvSpPr txBox="1"/>
              <p:nvPr/>
            </p:nvSpPr>
            <p:spPr>
              <a:xfrm>
                <a:off x="5328" y="3936"/>
                <a:ext cx="33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8000" rIns="1800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A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383" name="Text Box 132"/>
              <p:cNvSpPr txBox="1"/>
              <p:nvPr/>
            </p:nvSpPr>
            <p:spPr>
              <a:xfrm>
                <a:off x="2736" y="3629"/>
                <a:ext cx="39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IN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0384" name="Text Box 133"/>
              <p:cNvSpPr txBox="1"/>
              <p:nvPr/>
            </p:nvSpPr>
            <p:spPr>
              <a:xfrm>
                <a:off x="2736" y="3964"/>
                <a:ext cx="39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IN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70367" name="Rectangle 134"/>
            <p:cNvSpPr/>
            <p:nvPr/>
          </p:nvSpPr>
          <p:spPr>
            <a:xfrm>
              <a:off x="4156" y="3641"/>
              <a:ext cx="30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06983" name="Text Box 135"/>
          <p:cNvSpPr txBox="1"/>
          <p:nvPr/>
        </p:nvSpPr>
        <p:spPr>
          <a:xfrm>
            <a:off x="7200900" y="3141663"/>
            <a:ext cx="26654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写选择有效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7" name="Group 136"/>
          <p:cNvGrpSpPr/>
          <p:nvPr/>
        </p:nvGrpSpPr>
        <p:grpSpPr>
          <a:xfrm>
            <a:off x="3767138" y="1266825"/>
            <a:ext cx="1601787" cy="638175"/>
            <a:chOff x="1413" y="798"/>
            <a:chExt cx="1009" cy="402"/>
          </a:xfrm>
        </p:grpSpPr>
        <p:sp>
          <p:nvSpPr>
            <p:cNvPr id="270364" name="Rectangle 137"/>
            <p:cNvSpPr/>
            <p:nvPr/>
          </p:nvSpPr>
          <p:spPr>
            <a:xfrm>
              <a:off x="1413" y="798"/>
              <a:ext cx="1009" cy="402"/>
            </a:xfrm>
            <a:prstGeom prst="rect">
              <a:avLst/>
            </a:prstGeom>
            <a:noFill/>
            <a:ln w="762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0365" name="Text Box 138"/>
            <p:cNvSpPr txBox="1"/>
            <p:nvPr/>
          </p:nvSpPr>
          <p:spPr>
            <a:xfrm>
              <a:off x="1451" y="801"/>
              <a:ext cx="89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~  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0362" name="AutoShape 13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036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206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20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0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4" dur="500"/>
                                        <p:tgtEl>
                                          <p:spTgt spid="20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8" dur="500"/>
                                        <p:tgtEl>
                                          <p:spTgt spid="206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8" dur="500"/>
                                        <p:tgtEl>
                                          <p:spTgt spid="206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20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909" grpId="0" bldLvl="0" animBg="1"/>
      <p:bldP spid="206910" grpId="0" bldLvl="0" animBg="1"/>
      <p:bldP spid="206927" grpId="0" bldLvl="0" animBg="1"/>
      <p:bldP spid="206957" grpId="0" bldLvl="0" animBg="1"/>
      <p:bldP spid="20698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1362" name="Text Box 2"/>
          <p:cNvSpPr txBox="1"/>
          <p:nvPr/>
        </p:nvSpPr>
        <p:spPr>
          <a:xfrm>
            <a:off x="2057400" y="487363"/>
            <a:ext cx="7924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静态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芯片举例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71363" name="Text Box 3"/>
          <p:cNvSpPr txBox="1"/>
          <p:nvPr/>
        </p:nvSpPr>
        <p:spPr>
          <a:xfrm>
            <a:off x="2743200" y="1173163"/>
            <a:ext cx="6934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① Intel 2114 </a:t>
            </a:r>
            <a:r>
              <a:rPr lang="zh-CN" altLang="en-US" sz="3200" b="1" dirty="0">
                <a:latin typeface="Times New Roman" panose="02020603050405020304" pitchFamily="18" charset="0"/>
              </a:rPr>
              <a:t>外特性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71364" name="Text Box 4"/>
          <p:cNvSpPr txBox="1"/>
          <p:nvPr/>
        </p:nvSpPr>
        <p:spPr>
          <a:xfrm>
            <a:off x="8137525" y="4953000"/>
            <a:ext cx="1402080" cy="898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05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存储容量</a:t>
            </a:r>
            <a:endParaRPr lang="zh-CN" altLang="en-US" sz="24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400" b="1" dirty="0">
                <a:latin typeface="Times New Roman" panose="02020603050405020304" pitchFamily="18" charset="0"/>
              </a:rPr>
              <a:t>1K</a:t>
            </a:r>
            <a:r>
              <a:rPr lang="en-US" altLang="zh-CN" sz="2600" b="1" dirty="0">
                <a:latin typeface="Times New Roman" panose="02020603050405020304" pitchFamily="18" charset="0"/>
              </a:rPr>
              <a:t>×</a:t>
            </a:r>
            <a:r>
              <a:rPr lang="en-US" altLang="zh-CN" sz="2400" b="1" dirty="0">
                <a:latin typeface="Times New Roman" panose="02020603050405020304" pitchFamily="18" charset="0"/>
              </a:rPr>
              <a:t>4</a:t>
            </a:r>
            <a:r>
              <a:rPr lang="en-US" altLang="zh-CN" sz="8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</a:rPr>
              <a:t>位</a:t>
            </a:r>
            <a:endParaRPr lang="zh-CN" altLang="en-US" sz="2400" b="1" dirty="0">
              <a:latin typeface="宋体" panose="02010600030101010101" pitchFamily="2" charset="-122"/>
            </a:endParaRPr>
          </a:p>
        </p:txBody>
      </p:sp>
      <p:sp>
        <p:nvSpPr>
          <p:cNvPr id="207877" name="Rectangle 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1366" name="Rectangle 6"/>
          <p:cNvSpPr/>
          <p:nvPr/>
        </p:nvSpPr>
        <p:spPr>
          <a:xfrm>
            <a:off x="8500110" y="4729163"/>
            <a:ext cx="309880" cy="4781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lnSpc>
                <a:spcPct val="105000"/>
              </a:lnSpc>
            </a:pPr>
            <a:endParaRPr lang="zh-CN" altLang="zh-CN" sz="2400" b="1" dirty="0">
              <a:latin typeface="宋体" panose="02010600030101010101" pitchFamily="2" charset="-122"/>
            </a:endParaRPr>
          </a:p>
        </p:txBody>
      </p:sp>
      <p:sp>
        <p:nvSpPr>
          <p:cNvPr id="271367" name="AutoShape 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71368" name="Group 8"/>
          <p:cNvGrpSpPr/>
          <p:nvPr/>
        </p:nvGrpSpPr>
        <p:grpSpPr>
          <a:xfrm>
            <a:off x="2038350" y="2286000"/>
            <a:ext cx="7405688" cy="4098925"/>
            <a:chOff x="324" y="1440"/>
            <a:chExt cx="4665" cy="2582"/>
          </a:xfrm>
        </p:grpSpPr>
        <p:sp>
          <p:nvSpPr>
            <p:cNvPr id="271370" name="Line 9"/>
            <p:cNvSpPr/>
            <p:nvPr/>
          </p:nvSpPr>
          <p:spPr>
            <a:xfrm>
              <a:off x="3792" y="2023"/>
              <a:ext cx="72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271371" name="Line 10"/>
            <p:cNvSpPr/>
            <p:nvPr/>
          </p:nvSpPr>
          <p:spPr>
            <a:xfrm>
              <a:off x="3792" y="2263"/>
              <a:ext cx="72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271372" name="Line 11"/>
            <p:cNvSpPr/>
            <p:nvPr/>
          </p:nvSpPr>
          <p:spPr>
            <a:xfrm>
              <a:off x="3792" y="2503"/>
              <a:ext cx="72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271373" name="Line 12"/>
            <p:cNvSpPr/>
            <p:nvPr/>
          </p:nvSpPr>
          <p:spPr>
            <a:xfrm>
              <a:off x="3792" y="2743"/>
              <a:ext cx="72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grpSp>
          <p:nvGrpSpPr>
            <p:cNvPr id="271374" name="Group 13"/>
            <p:cNvGrpSpPr/>
            <p:nvPr/>
          </p:nvGrpSpPr>
          <p:grpSpPr>
            <a:xfrm>
              <a:off x="324" y="1440"/>
              <a:ext cx="4665" cy="2582"/>
              <a:chOff x="324" y="1440"/>
              <a:chExt cx="4665" cy="2582"/>
            </a:xfrm>
          </p:grpSpPr>
          <p:sp>
            <p:nvSpPr>
              <p:cNvPr id="271375" name="Text Box 14"/>
              <p:cNvSpPr txBox="1"/>
              <p:nvPr/>
            </p:nvSpPr>
            <p:spPr>
              <a:xfrm>
                <a:off x="4512" y="1856"/>
                <a:ext cx="39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I/O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1376" name="Text Box 15"/>
              <p:cNvSpPr txBox="1"/>
              <p:nvPr/>
            </p:nvSpPr>
            <p:spPr>
              <a:xfrm>
                <a:off x="4800" y="1941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1377" name="Text Box 16"/>
              <p:cNvSpPr txBox="1"/>
              <p:nvPr/>
            </p:nvSpPr>
            <p:spPr>
              <a:xfrm>
                <a:off x="4522" y="2096"/>
                <a:ext cx="39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I/O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1378" name="Text Box 17"/>
              <p:cNvSpPr txBox="1"/>
              <p:nvPr/>
            </p:nvSpPr>
            <p:spPr>
              <a:xfrm>
                <a:off x="4810" y="2181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1379" name="Text Box 18"/>
              <p:cNvSpPr txBox="1"/>
              <p:nvPr/>
            </p:nvSpPr>
            <p:spPr>
              <a:xfrm>
                <a:off x="4522" y="2336"/>
                <a:ext cx="39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I/O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1380" name="Text Box 19"/>
              <p:cNvSpPr txBox="1"/>
              <p:nvPr/>
            </p:nvSpPr>
            <p:spPr>
              <a:xfrm>
                <a:off x="4810" y="2421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1381" name="Text Box 20"/>
              <p:cNvSpPr txBox="1"/>
              <p:nvPr/>
            </p:nvSpPr>
            <p:spPr>
              <a:xfrm>
                <a:off x="4522" y="2576"/>
                <a:ext cx="39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I/O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1382" name="Text Box 21"/>
              <p:cNvSpPr txBox="1"/>
              <p:nvPr/>
            </p:nvSpPr>
            <p:spPr>
              <a:xfrm>
                <a:off x="4810" y="2661"/>
                <a:ext cx="179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71383" name="Group 22"/>
              <p:cNvGrpSpPr/>
              <p:nvPr/>
            </p:nvGrpSpPr>
            <p:grpSpPr>
              <a:xfrm>
                <a:off x="324" y="1440"/>
                <a:ext cx="3468" cy="2582"/>
                <a:chOff x="324" y="1440"/>
                <a:chExt cx="3468" cy="2582"/>
              </a:xfrm>
            </p:grpSpPr>
            <p:sp>
              <p:nvSpPr>
                <p:cNvPr id="271384" name="Line 23"/>
                <p:cNvSpPr/>
                <p:nvPr/>
              </p:nvSpPr>
              <p:spPr>
                <a:xfrm>
                  <a:off x="660" y="2023"/>
                  <a:ext cx="720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71385" name="Line 24"/>
                <p:cNvSpPr/>
                <p:nvPr/>
              </p:nvSpPr>
              <p:spPr>
                <a:xfrm>
                  <a:off x="660" y="2263"/>
                  <a:ext cx="720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71386" name="Line 25"/>
                <p:cNvSpPr/>
                <p:nvPr/>
              </p:nvSpPr>
              <p:spPr>
                <a:xfrm>
                  <a:off x="660" y="3127"/>
                  <a:ext cx="720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grpSp>
              <p:nvGrpSpPr>
                <p:cNvPr id="271387" name="Group 26"/>
                <p:cNvGrpSpPr/>
                <p:nvPr/>
              </p:nvGrpSpPr>
              <p:grpSpPr>
                <a:xfrm>
                  <a:off x="1872" y="1536"/>
                  <a:ext cx="209" cy="435"/>
                  <a:chOff x="1872" y="1462"/>
                  <a:chExt cx="209" cy="435"/>
                </a:xfrm>
              </p:grpSpPr>
              <p:sp>
                <p:nvSpPr>
                  <p:cNvPr id="271412" name="Oval 27"/>
                  <p:cNvSpPr/>
                  <p:nvPr/>
                </p:nvSpPr>
                <p:spPr>
                  <a:xfrm>
                    <a:off x="1872" y="1651"/>
                    <a:ext cx="209" cy="246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1413" name="Line 28"/>
                  <p:cNvSpPr/>
                  <p:nvPr/>
                </p:nvSpPr>
                <p:spPr>
                  <a:xfrm flipV="1">
                    <a:off x="1897" y="1462"/>
                    <a:ext cx="0" cy="288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71388" name="Group 29"/>
                <p:cNvGrpSpPr/>
                <p:nvPr/>
              </p:nvGrpSpPr>
              <p:grpSpPr>
                <a:xfrm>
                  <a:off x="3312" y="1536"/>
                  <a:ext cx="209" cy="435"/>
                  <a:chOff x="3312" y="1488"/>
                  <a:chExt cx="209" cy="435"/>
                </a:xfrm>
              </p:grpSpPr>
              <p:sp>
                <p:nvSpPr>
                  <p:cNvPr id="271410" name="Oval 30"/>
                  <p:cNvSpPr/>
                  <p:nvPr/>
                </p:nvSpPr>
                <p:spPr>
                  <a:xfrm>
                    <a:off x="3312" y="1677"/>
                    <a:ext cx="209" cy="246"/>
                  </a:xfrm>
                  <a:prstGeom prst="ellipse">
                    <a:avLst/>
                  </a:pr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1411" name="Line 31"/>
                  <p:cNvSpPr/>
                  <p:nvPr/>
                </p:nvSpPr>
                <p:spPr>
                  <a:xfrm flipV="1">
                    <a:off x="3337" y="1488"/>
                    <a:ext cx="0" cy="288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1389" name="Text Box 32"/>
                <p:cNvSpPr txBox="1"/>
                <p:nvPr/>
              </p:nvSpPr>
              <p:spPr>
                <a:xfrm>
                  <a:off x="324" y="1809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1390" name="Text Box 33"/>
                <p:cNvSpPr txBox="1"/>
                <p:nvPr/>
              </p:nvSpPr>
              <p:spPr>
                <a:xfrm>
                  <a:off x="480" y="3094"/>
                  <a:ext cx="179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16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1391" name="Text Box 34"/>
                <p:cNvSpPr txBox="1"/>
                <p:nvPr/>
              </p:nvSpPr>
              <p:spPr>
                <a:xfrm>
                  <a:off x="324" y="2085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1392" name="Text Box 35"/>
                <p:cNvSpPr txBox="1"/>
                <p:nvPr/>
              </p:nvSpPr>
              <p:spPr>
                <a:xfrm>
                  <a:off x="484" y="2179"/>
                  <a:ext cx="179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8</a:t>
                  </a:r>
                  <a:endParaRPr lang="en-US" altLang="zh-CN" sz="16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1393" name="Text Box 36"/>
                <p:cNvSpPr txBox="1"/>
                <p:nvPr/>
              </p:nvSpPr>
              <p:spPr>
                <a:xfrm>
                  <a:off x="324" y="2961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1394" name="Text Box 37"/>
                <p:cNvSpPr txBox="1"/>
                <p:nvPr/>
              </p:nvSpPr>
              <p:spPr>
                <a:xfrm>
                  <a:off x="480" y="1894"/>
                  <a:ext cx="179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9</a:t>
                  </a:r>
                  <a:endParaRPr lang="en-US" altLang="zh-CN" sz="16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71395" name="Group 38"/>
                <p:cNvGrpSpPr/>
                <p:nvPr/>
              </p:nvGrpSpPr>
              <p:grpSpPr>
                <a:xfrm>
                  <a:off x="1436" y="1440"/>
                  <a:ext cx="435" cy="290"/>
                  <a:chOff x="1436" y="1440"/>
                  <a:chExt cx="435" cy="290"/>
                </a:xfrm>
              </p:grpSpPr>
              <p:sp>
                <p:nvSpPr>
                  <p:cNvPr id="271408" name="Text Box 39"/>
                  <p:cNvSpPr txBox="1"/>
                  <p:nvPr/>
                </p:nvSpPr>
                <p:spPr>
                  <a:xfrm>
                    <a:off x="1436" y="1440"/>
                    <a:ext cx="435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WE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1409" name="Freeform 40"/>
                  <p:cNvSpPr/>
                  <p:nvPr/>
                </p:nvSpPr>
                <p:spPr>
                  <a:xfrm>
                    <a:off x="1484" y="1487"/>
                    <a:ext cx="348" cy="1"/>
                  </a:xfrm>
                  <a:custGeom>
                    <a:avLst/>
                    <a:gdLst>
                      <a:gd name="txL" fmla="*/ 0 w 348"/>
                      <a:gd name="txT" fmla="*/ 0 h 1"/>
                      <a:gd name="txR" fmla="*/ 348 w 348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348" y="0"/>
                      </a:cxn>
                    </a:cxnLst>
                    <a:rect l="txL" t="txT" r="txR" b="txB"/>
                    <a:pathLst>
                      <a:path w="348" h="1">
                        <a:moveTo>
                          <a:pt x="0" y="0"/>
                        </a:moveTo>
                        <a:lnTo>
                          <a:pt x="348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71396" name="Group 41"/>
                <p:cNvGrpSpPr/>
                <p:nvPr/>
              </p:nvGrpSpPr>
              <p:grpSpPr>
                <a:xfrm>
                  <a:off x="2902" y="1440"/>
                  <a:ext cx="361" cy="290"/>
                  <a:chOff x="2902" y="1440"/>
                  <a:chExt cx="361" cy="290"/>
                </a:xfrm>
              </p:grpSpPr>
              <p:sp>
                <p:nvSpPr>
                  <p:cNvPr id="271406" name="Text Box 42"/>
                  <p:cNvSpPr txBox="1"/>
                  <p:nvPr/>
                </p:nvSpPr>
                <p:spPr>
                  <a:xfrm>
                    <a:off x="2902" y="1440"/>
                    <a:ext cx="361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CS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1407" name="Line 43"/>
                  <p:cNvSpPr/>
                  <p:nvPr/>
                </p:nvSpPr>
                <p:spPr>
                  <a:xfrm>
                    <a:off x="2938" y="1488"/>
                    <a:ext cx="28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71397" name="Group 44"/>
                <p:cNvGrpSpPr/>
                <p:nvPr/>
              </p:nvGrpSpPr>
              <p:grpSpPr>
                <a:xfrm>
                  <a:off x="1715" y="3312"/>
                  <a:ext cx="1909" cy="710"/>
                  <a:chOff x="1715" y="3312"/>
                  <a:chExt cx="1909" cy="710"/>
                </a:xfrm>
              </p:grpSpPr>
              <p:sp>
                <p:nvSpPr>
                  <p:cNvPr id="271402" name="Line 45"/>
                  <p:cNvSpPr/>
                  <p:nvPr/>
                </p:nvSpPr>
                <p:spPr>
                  <a:xfrm>
                    <a:off x="1920" y="3312"/>
                    <a:ext cx="0" cy="432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1403" name="Line 46"/>
                  <p:cNvSpPr/>
                  <p:nvPr/>
                </p:nvSpPr>
                <p:spPr>
                  <a:xfrm>
                    <a:off x="3360" y="3312"/>
                    <a:ext cx="0" cy="432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1404" name="Text Box 47"/>
                  <p:cNvSpPr txBox="1"/>
                  <p:nvPr/>
                </p:nvSpPr>
                <p:spPr>
                  <a:xfrm>
                    <a:off x="1715" y="3732"/>
                    <a:ext cx="394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400" b="1" i="1" dirty="0">
                        <a:latin typeface="Times New Roman" panose="02020603050405020304" pitchFamily="18" charset="0"/>
                      </a:rPr>
                      <a:t>V</a:t>
                    </a:r>
                    <a:r>
                      <a:rPr lang="en-US" altLang="zh-CN" sz="2000" b="1" baseline="-25000" dirty="0">
                        <a:latin typeface="Times New Roman" panose="02020603050405020304" pitchFamily="18" charset="0"/>
                      </a:rPr>
                      <a:t>CC</a:t>
                    </a:r>
                    <a:endParaRPr lang="en-US" altLang="zh-CN" sz="2000" b="1" baseline="-25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1405" name="Text Box 48"/>
                  <p:cNvSpPr txBox="1"/>
                  <p:nvPr/>
                </p:nvSpPr>
                <p:spPr>
                  <a:xfrm>
                    <a:off x="3082" y="3732"/>
                    <a:ext cx="542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GND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71398" name="Group 49"/>
                <p:cNvGrpSpPr/>
                <p:nvPr/>
              </p:nvGrpSpPr>
              <p:grpSpPr>
                <a:xfrm>
                  <a:off x="1392" y="2413"/>
                  <a:ext cx="2400" cy="299"/>
                  <a:chOff x="1680" y="2509"/>
                  <a:chExt cx="2400" cy="299"/>
                </a:xfrm>
              </p:grpSpPr>
              <p:sp>
                <p:nvSpPr>
                  <p:cNvPr id="271400" name="Rectangle 50"/>
                  <p:cNvSpPr/>
                  <p:nvPr/>
                </p:nvSpPr>
                <p:spPr>
                  <a:xfrm>
                    <a:off x="1680" y="2576"/>
                    <a:ext cx="2400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1401" name="Text Box 51"/>
                  <p:cNvSpPr txBox="1"/>
                  <p:nvPr/>
                </p:nvSpPr>
                <p:spPr>
                  <a:xfrm>
                    <a:off x="2278" y="2509"/>
                    <a:ext cx="1189" cy="9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Intel 2114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71399" name="Text Box 52"/>
                <p:cNvSpPr txBox="1"/>
                <p:nvPr/>
              </p:nvSpPr>
              <p:spPr>
                <a:xfrm rot="-5400000">
                  <a:off x="713" y="2451"/>
                  <a:ext cx="363" cy="32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2800" b="1" dirty="0">
                    <a:solidFill>
                      <a:schemeClr val="folHlink"/>
                    </a:solidFill>
                    <a:latin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27136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72386" name="Text Box 2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读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2387" name="Group 3"/>
          <p:cNvGrpSpPr/>
          <p:nvPr/>
        </p:nvGrpSpPr>
        <p:grpSpPr>
          <a:xfrm>
            <a:off x="1601788" y="1055688"/>
            <a:ext cx="9101138" cy="5732463"/>
            <a:chOff x="49" y="665"/>
            <a:chExt cx="5733" cy="3611"/>
          </a:xfrm>
        </p:grpSpPr>
        <p:grpSp>
          <p:nvGrpSpPr>
            <p:cNvPr id="272409" name="Group 4"/>
            <p:cNvGrpSpPr/>
            <p:nvPr/>
          </p:nvGrpSpPr>
          <p:grpSpPr>
            <a:xfrm>
              <a:off x="49" y="665"/>
              <a:ext cx="283" cy="2996"/>
              <a:chOff x="49" y="665"/>
              <a:chExt cx="283" cy="2996"/>
            </a:xfrm>
          </p:grpSpPr>
          <p:sp>
            <p:nvSpPr>
              <p:cNvPr id="272629" name="Text Box 5"/>
              <p:cNvSpPr txBox="1"/>
              <p:nvPr/>
            </p:nvSpPr>
            <p:spPr>
              <a:xfrm>
                <a:off x="49" y="196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30" name="Text Box 6"/>
              <p:cNvSpPr txBox="1"/>
              <p:nvPr/>
            </p:nvSpPr>
            <p:spPr>
              <a:xfrm>
                <a:off x="49" y="1702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31" name="Text Box 7"/>
              <p:cNvSpPr txBox="1"/>
              <p:nvPr/>
            </p:nvSpPr>
            <p:spPr>
              <a:xfrm>
                <a:off x="49" y="144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32" name="Text Box 8"/>
              <p:cNvSpPr txBox="1"/>
              <p:nvPr/>
            </p:nvSpPr>
            <p:spPr>
              <a:xfrm>
                <a:off x="49" y="1184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33" name="Text Box 9"/>
              <p:cNvSpPr txBox="1"/>
              <p:nvPr/>
            </p:nvSpPr>
            <p:spPr>
              <a:xfrm>
                <a:off x="49" y="9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34" name="Text Box 10"/>
              <p:cNvSpPr txBox="1"/>
              <p:nvPr/>
            </p:nvSpPr>
            <p:spPr>
              <a:xfrm>
                <a:off x="49" y="66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35" name="Text Box 11"/>
              <p:cNvSpPr txBox="1"/>
              <p:nvPr/>
            </p:nvSpPr>
            <p:spPr>
              <a:xfrm>
                <a:off x="49" y="3410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36" name="Text Box 12"/>
              <p:cNvSpPr txBox="1"/>
              <p:nvPr/>
            </p:nvSpPr>
            <p:spPr>
              <a:xfrm>
                <a:off x="49" y="315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37" name="Text Box 13"/>
              <p:cNvSpPr txBox="1"/>
              <p:nvPr/>
            </p:nvSpPr>
            <p:spPr>
              <a:xfrm>
                <a:off x="49" y="2892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38" name="Text Box 14"/>
              <p:cNvSpPr txBox="1"/>
              <p:nvPr/>
            </p:nvSpPr>
            <p:spPr>
              <a:xfrm>
                <a:off x="49" y="26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2410" name="Group 15"/>
            <p:cNvGrpSpPr/>
            <p:nvPr/>
          </p:nvGrpSpPr>
          <p:grpSpPr>
            <a:xfrm>
              <a:off x="164" y="791"/>
              <a:ext cx="5618" cy="3485"/>
              <a:chOff x="164" y="791"/>
              <a:chExt cx="5618" cy="3485"/>
            </a:xfrm>
          </p:grpSpPr>
          <p:sp>
            <p:nvSpPr>
              <p:cNvPr id="272411" name="Rectangle 16"/>
              <p:cNvSpPr/>
              <p:nvPr/>
            </p:nvSpPr>
            <p:spPr>
              <a:xfrm>
                <a:off x="356" y="2181"/>
                <a:ext cx="576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12" name="Rectangle 17"/>
              <p:cNvSpPr/>
              <p:nvPr/>
            </p:nvSpPr>
            <p:spPr>
              <a:xfrm>
                <a:off x="1752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13" name="Text Box 18"/>
              <p:cNvSpPr txBox="1"/>
              <p:nvPr/>
            </p:nvSpPr>
            <p:spPr>
              <a:xfrm>
                <a:off x="1432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14" name="Rectangle 19"/>
              <p:cNvSpPr/>
              <p:nvPr/>
            </p:nvSpPr>
            <p:spPr>
              <a:xfrm>
                <a:off x="1176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15" name="Rectangle 20"/>
              <p:cNvSpPr/>
              <p:nvPr/>
            </p:nvSpPr>
            <p:spPr>
              <a:xfrm>
                <a:off x="2893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16" name="Text Box 21"/>
              <p:cNvSpPr txBox="1"/>
              <p:nvPr/>
            </p:nvSpPr>
            <p:spPr>
              <a:xfrm>
                <a:off x="2573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17" name="Rectangle 22"/>
              <p:cNvSpPr/>
              <p:nvPr/>
            </p:nvSpPr>
            <p:spPr>
              <a:xfrm>
                <a:off x="2317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18" name="Rectangle 23"/>
              <p:cNvSpPr/>
              <p:nvPr/>
            </p:nvSpPr>
            <p:spPr>
              <a:xfrm>
                <a:off x="4068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19" name="Text Box 24"/>
              <p:cNvSpPr txBox="1"/>
              <p:nvPr/>
            </p:nvSpPr>
            <p:spPr>
              <a:xfrm>
                <a:off x="3748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20" name="Rectangle 25"/>
              <p:cNvSpPr/>
              <p:nvPr/>
            </p:nvSpPr>
            <p:spPr>
              <a:xfrm>
                <a:off x="3492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21" name="Rectangle 26"/>
              <p:cNvSpPr/>
              <p:nvPr/>
            </p:nvSpPr>
            <p:spPr>
              <a:xfrm>
                <a:off x="5204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22" name="Text Box 27"/>
              <p:cNvSpPr txBox="1"/>
              <p:nvPr/>
            </p:nvSpPr>
            <p:spPr>
              <a:xfrm>
                <a:off x="4884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23" name="Rectangle 28"/>
              <p:cNvSpPr/>
              <p:nvPr/>
            </p:nvSpPr>
            <p:spPr>
              <a:xfrm>
                <a:off x="4628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24" name="Rectangle 29"/>
              <p:cNvSpPr/>
              <p:nvPr/>
            </p:nvSpPr>
            <p:spPr>
              <a:xfrm>
                <a:off x="1752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25" name="Rectangle 30"/>
              <p:cNvSpPr/>
              <p:nvPr/>
            </p:nvSpPr>
            <p:spPr>
              <a:xfrm>
                <a:off x="1176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26" name="Rectangle 31"/>
              <p:cNvSpPr/>
              <p:nvPr/>
            </p:nvSpPr>
            <p:spPr>
              <a:xfrm>
                <a:off x="2893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27" name="Rectangle 32"/>
              <p:cNvSpPr/>
              <p:nvPr/>
            </p:nvSpPr>
            <p:spPr>
              <a:xfrm>
                <a:off x="2317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28" name="Rectangle 33"/>
              <p:cNvSpPr/>
              <p:nvPr/>
            </p:nvSpPr>
            <p:spPr>
              <a:xfrm>
                <a:off x="4068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29" name="Rectangle 34"/>
              <p:cNvSpPr/>
              <p:nvPr/>
            </p:nvSpPr>
            <p:spPr>
              <a:xfrm>
                <a:off x="3492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30" name="Rectangle 35"/>
              <p:cNvSpPr/>
              <p:nvPr/>
            </p:nvSpPr>
            <p:spPr>
              <a:xfrm>
                <a:off x="5204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31" name="Rectangle 36"/>
              <p:cNvSpPr/>
              <p:nvPr/>
            </p:nvSpPr>
            <p:spPr>
              <a:xfrm>
                <a:off x="4628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432" name="Line 37"/>
              <p:cNvSpPr/>
              <p:nvPr/>
            </p:nvSpPr>
            <p:spPr>
              <a:xfrm rot="5400000">
                <a:off x="1349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33" name="Line 38"/>
              <p:cNvSpPr/>
              <p:nvPr/>
            </p:nvSpPr>
            <p:spPr>
              <a:xfrm rot="5400000">
                <a:off x="1332" y="271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34" name="Freeform 39"/>
              <p:cNvSpPr/>
              <p:nvPr/>
            </p:nvSpPr>
            <p:spPr>
              <a:xfrm>
                <a:off x="1284" y="2709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35" name="Line 40"/>
              <p:cNvSpPr/>
              <p:nvPr/>
            </p:nvSpPr>
            <p:spPr>
              <a:xfrm rot="-5400000">
                <a:off x="1157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36" name="Line 41"/>
              <p:cNvSpPr/>
              <p:nvPr/>
            </p:nvSpPr>
            <p:spPr>
              <a:xfrm rot="-5400000">
                <a:off x="1236" y="2714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37" name="Freeform 42"/>
              <p:cNvSpPr/>
              <p:nvPr/>
            </p:nvSpPr>
            <p:spPr>
              <a:xfrm>
                <a:off x="1458" y="2353"/>
                <a:ext cx="112" cy="1"/>
              </a:xfrm>
              <a:custGeom>
                <a:avLst/>
                <a:gdLst>
                  <a:gd name="txL" fmla="*/ 0 w 112"/>
                  <a:gd name="txT" fmla="*/ 0 h 1"/>
                  <a:gd name="txR" fmla="*/ 112 w 11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2" y="0"/>
                  </a:cxn>
                </a:cxnLst>
                <a:rect l="txL" t="txT" r="txR" b="txB"/>
                <a:pathLst>
                  <a:path w="112" h="1">
                    <a:moveTo>
                      <a:pt x="0" y="0"/>
                    </a:moveTo>
                    <a:lnTo>
                      <a:pt x="11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38" name="Freeform 43"/>
              <p:cNvSpPr/>
              <p:nvPr/>
            </p:nvSpPr>
            <p:spPr>
              <a:xfrm>
                <a:off x="1077" y="1210"/>
                <a:ext cx="158" cy="1468"/>
              </a:xfrm>
              <a:custGeom>
                <a:avLst/>
                <a:gdLst>
                  <a:gd name="txL" fmla="*/ 0 w 158"/>
                  <a:gd name="txT" fmla="*/ 0 h 1468"/>
                  <a:gd name="txR" fmla="*/ 158 w 158"/>
                  <a:gd name="txB" fmla="*/ 1468 h 1468"/>
                </a:gdLst>
                <a:ahLst/>
                <a:cxnLst>
                  <a:cxn ang="0">
                    <a:pos x="158" y="1468"/>
                  </a:cxn>
                  <a:cxn ang="0">
                    <a:pos x="6" y="1468"/>
                  </a:cxn>
                  <a:cxn ang="0">
                    <a:pos x="0" y="1"/>
                  </a:cxn>
                  <a:cxn ang="0">
                    <a:pos x="101" y="0"/>
                  </a:cxn>
                </a:cxnLst>
                <a:rect l="txL" t="txT" r="txR" b="txB"/>
                <a:pathLst>
                  <a:path w="158" h="1468">
                    <a:moveTo>
                      <a:pt x="158" y="1468"/>
                    </a:moveTo>
                    <a:lnTo>
                      <a:pt x="6" y="1468"/>
                    </a:lnTo>
                    <a:lnTo>
                      <a:pt x="0" y="1"/>
                    </a:lnTo>
                    <a:lnTo>
                      <a:pt x="101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39" name="Freeform 44"/>
              <p:cNvSpPr/>
              <p:nvPr/>
            </p:nvSpPr>
            <p:spPr>
              <a:xfrm>
                <a:off x="1079" y="2353"/>
                <a:ext cx="102" cy="1"/>
              </a:xfrm>
              <a:custGeom>
                <a:avLst/>
                <a:gdLst>
                  <a:gd name="txL" fmla="*/ 0 w 102"/>
                  <a:gd name="txT" fmla="*/ 0 h 1"/>
                  <a:gd name="txR" fmla="*/ 102 w 102"/>
                  <a:gd name="txB" fmla="*/ 1 h 1"/>
                </a:gdLst>
                <a:ahLst/>
                <a:cxnLst>
                  <a:cxn ang="0">
                    <a:pos x="102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2" h="1">
                    <a:moveTo>
                      <a:pt x="102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40" name="Line 45"/>
              <p:cNvSpPr/>
              <p:nvPr/>
            </p:nvSpPr>
            <p:spPr>
              <a:xfrm rot="5400000">
                <a:off x="1920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41" name="Line 46"/>
              <p:cNvSpPr/>
              <p:nvPr/>
            </p:nvSpPr>
            <p:spPr>
              <a:xfrm rot="5400000">
                <a:off x="1903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42" name="Freeform 47"/>
              <p:cNvSpPr/>
              <p:nvPr/>
            </p:nvSpPr>
            <p:spPr>
              <a:xfrm>
                <a:off x="1855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43" name="Line 48"/>
              <p:cNvSpPr/>
              <p:nvPr/>
            </p:nvSpPr>
            <p:spPr>
              <a:xfrm rot="-5400000">
                <a:off x="1728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44" name="Line 49"/>
              <p:cNvSpPr/>
              <p:nvPr/>
            </p:nvSpPr>
            <p:spPr>
              <a:xfrm rot="-5400000">
                <a:off x="1807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45" name="Freeform 50"/>
              <p:cNvSpPr/>
              <p:nvPr/>
            </p:nvSpPr>
            <p:spPr>
              <a:xfrm>
                <a:off x="2029" y="2353"/>
                <a:ext cx="103" cy="1"/>
              </a:xfrm>
              <a:custGeom>
                <a:avLst/>
                <a:gdLst>
                  <a:gd name="txL" fmla="*/ 0 w 103"/>
                  <a:gd name="txT" fmla="*/ 0 h 1"/>
                  <a:gd name="txR" fmla="*/ 103 w 10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3" y="0"/>
                  </a:cxn>
                </a:cxnLst>
                <a:rect l="txL" t="txT" r="txR" b="txB"/>
                <a:pathLst>
                  <a:path w="103" h="1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46" name="Freeform 51"/>
              <p:cNvSpPr/>
              <p:nvPr/>
            </p:nvSpPr>
            <p:spPr>
              <a:xfrm>
                <a:off x="1635" y="2352"/>
                <a:ext cx="113" cy="1"/>
              </a:xfrm>
              <a:custGeom>
                <a:avLst/>
                <a:gdLst>
                  <a:gd name="txL" fmla="*/ 0 w 113"/>
                  <a:gd name="txT" fmla="*/ 0 h 1"/>
                  <a:gd name="txR" fmla="*/ 113 w 113"/>
                  <a:gd name="txB" fmla="*/ 1 h 1"/>
                </a:gdLst>
                <a:ahLst/>
                <a:cxnLst>
                  <a:cxn ang="0">
                    <a:pos x="113" y="1"/>
                  </a:cxn>
                  <a:cxn ang="0">
                    <a:pos x="0" y="0"/>
                  </a:cxn>
                </a:cxnLst>
                <a:rect l="txL" t="txT" r="txR" b="txB"/>
                <a:pathLst>
                  <a:path w="113" h="1">
                    <a:moveTo>
                      <a:pt x="113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47" name="Line 52"/>
              <p:cNvSpPr/>
              <p:nvPr/>
            </p:nvSpPr>
            <p:spPr>
              <a:xfrm rot="5400000">
                <a:off x="2501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48" name="Line 53"/>
              <p:cNvSpPr/>
              <p:nvPr/>
            </p:nvSpPr>
            <p:spPr>
              <a:xfrm rot="5400000">
                <a:off x="2484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49" name="Freeform 54"/>
              <p:cNvSpPr/>
              <p:nvPr/>
            </p:nvSpPr>
            <p:spPr>
              <a:xfrm>
                <a:off x="2436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50" name="Line 55"/>
              <p:cNvSpPr/>
              <p:nvPr/>
            </p:nvSpPr>
            <p:spPr>
              <a:xfrm rot="-5400000">
                <a:off x="2309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51" name="Line 56"/>
              <p:cNvSpPr/>
              <p:nvPr/>
            </p:nvSpPr>
            <p:spPr>
              <a:xfrm rot="-5400000">
                <a:off x="2388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52" name="Freeform 57"/>
              <p:cNvSpPr/>
              <p:nvPr/>
            </p:nvSpPr>
            <p:spPr>
              <a:xfrm>
                <a:off x="2610" y="2353"/>
                <a:ext cx="109" cy="1"/>
              </a:xfrm>
              <a:custGeom>
                <a:avLst/>
                <a:gdLst>
                  <a:gd name="txL" fmla="*/ 0 w 109"/>
                  <a:gd name="txT" fmla="*/ 0 h 1"/>
                  <a:gd name="txR" fmla="*/ 109 w 10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9" y="0"/>
                  </a:cxn>
                </a:cxnLst>
                <a:rect l="txL" t="txT" r="txR" b="txB"/>
                <a:pathLst>
                  <a:path w="109" h="1">
                    <a:moveTo>
                      <a:pt x="0" y="0"/>
                    </a:moveTo>
                    <a:lnTo>
                      <a:pt x="10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53" name="Freeform 58"/>
              <p:cNvSpPr/>
              <p:nvPr/>
            </p:nvSpPr>
            <p:spPr>
              <a:xfrm>
                <a:off x="2231" y="2353"/>
                <a:ext cx="89" cy="1"/>
              </a:xfrm>
              <a:custGeom>
                <a:avLst/>
                <a:gdLst>
                  <a:gd name="txL" fmla="*/ 0 w 89"/>
                  <a:gd name="txT" fmla="*/ 0 h 1"/>
                  <a:gd name="txR" fmla="*/ 89 w 89"/>
                  <a:gd name="txB" fmla="*/ 1 h 1"/>
                </a:gdLst>
                <a:ahLst/>
                <a:cxnLst>
                  <a:cxn ang="0">
                    <a:pos x="89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9" h="1">
                    <a:moveTo>
                      <a:pt x="89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54" name="Line 59"/>
              <p:cNvSpPr/>
              <p:nvPr/>
            </p:nvSpPr>
            <p:spPr>
              <a:xfrm rot="5400000">
                <a:off x="3077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55" name="Line 60"/>
              <p:cNvSpPr/>
              <p:nvPr/>
            </p:nvSpPr>
            <p:spPr>
              <a:xfrm rot="5400000">
                <a:off x="3060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56" name="Freeform 61"/>
              <p:cNvSpPr/>
              <p:nvPr/>
            </p:nvSpPr>
            <p:spPr>
              <a:xfrm>
                <a:off x="3012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57" name="Line 62"/>
              <p:cNvSpPr/>
              <p:nvPr/>
            </p:nvSpPr>
            <p:spPr>
              <a:xfrm rot="-5400000">
                <a:off x="2885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58" name="Line 63"/>
              <p:cNvSpPr/>
              <p:nvPr/>
            </p:nvSpPr>
            <p:spPr>
              <a:xfrm rot="-5400000">
                <a:off x="2964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59" name="Freeform 64"/>
              <p:cNvSpPr/>
              <p:nvPr/>
            </p:nvSpPr>
            <p:spPr>
              <a:xfrm>
                <a:off x="3186" y="2353"/>
                <a:ext cx="115" cy="1"/>
              </a:xfrm>
              <a:custGeom>
                <a:avLst/>
                <a:gdLst>
                  <a:gd name="txL" fmla="*/ 0 w 115"/>
                  <a:gd name="txT" fmla="*/ 0 h 1"/>
                  <a:gd name="txR" fmla="*/ 115 w 11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5" y="0"/>
                  </a:cxn>
                </a:cxnLst>
                <a:rect l="txL" t="txT" r="txR" b="txB"/>
                <a:pathLst>
                  <a:path w="115" h="1">
                    <a:moveTo>
                      <a:pt x="0" y="0"/>
                    </a:moveTo>
                    <a:lnTo>
                      <a:pt x="11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60" name="Freeform 65"/>
              <p:cNvSpPr/>
              <p:nvPr/>
            </p:nvSpPr>
            <p:spPr>
              <a:xfrm>
                <a:off x="2807" y="2353"/>
                <a:ext cx="90" cy="1"/>
              </a:xfrm>
              <a:custGeom>
                <a:avLst/>
                <a:gdLst>
                  <a:gd name="txL" fmla="*/ 0 w 90"/>
                  <a:gd name="txT" fmla="*/ 0 h 1"/>
                  <a:gd name="txR" fmla="*/ 90 w 90"/>
                  <a:gd name="txB" fmla="*/ 1 h 1"/>
                </a:gdLst>
                <a:ahLst/>
                <a:cxnLst>
                  <a:cxn ang="0">
                    <a:pos x="9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0" h="1">
                    <a:moveTo>
                      <a:pt x="9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61" name="Line 66"/>
              <p:cNvSpPr/>
              <p:nvPr/>
            </p:nvSpPr>
            <p:spPr>
              <a:xfrm rot="5400000">
                <a:off x="3653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62" name="Line 67"/>
              <p:cNvSpPr/>
              <p:nvPr/>
            </p:nvSpPr>
            <p:spPr>
              <a:xfrm rot="5400000">
                <a:off x="3636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63" name="Freeform 68"/>
              <p:cNvSpPr/>
              <p:nvPr/>
            </p:nvSpPr>
            <p:spPr>
              <a:xfrm>
                <a:off x="3588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64" name="Line 69"/>
              <p:cNvSpPr/>
              <p:nvPr/>
            </p:nvSpPr>
            <p:spPr>
              <a:xfrm rot="-5400000">
                <a:off x="3461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65" name="Line 70"/>
              <p:cNvSpPr/>
              <p:nvPr/>
            </p:nvSpPr>
            <p:spPr>
              <a:xfrm rot="-5400000">
                <a:off x="3540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66" name="Freeform 71"/>
              <p:cNvSpPr/>
              <p:nvPr/>
            </p:nvSpPr>
            <p:spPr>
              <a:xfrm>
                <a:off x="3775" y="2352"/>
                <a:ext cx="100" cy="1"/>
              </a:xfrm>
              <a:custGeom>
                <a:avLst/>
                <a:gdLst>
                  <a:gd name="txL" fmla="*/ 0 w 100"/>
                  <a:gd name="txT" fmla="*/ 0 h 1"/>
                  <a:gd name="txR" fmla="*/ 100 w 10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0" y="1"/>
                  </a:cxn>
                </a:cxnLst>
                <a:rect l="txL" t="txT" r="txR" b="txB"/>
                <a:pathLst>
                  <a:path w="100" h="1">
                    <a:moveTo>
                      <a:pt x="0" y="0"/>
                    </a:moveTo>
                    <a:lnTo>
                      <a:pt x="10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67" name="Freeform 72"/>
              <p:cNvSpPr/>
              <p:nvPr/>
            </p:nvSpPr>
            <p:spPr>
              <a:xfrm>
                <a:off x="3383" y="2353"/>
                <a:ext cx="108" cy="1"/>
              </a:xfrm>
              <a:custGeom>
                <a:avLst/>
                <a:gdLst>
                  <a:gd name="txL" fmla="*/ 0 w 108"/>
                  <a:gd name="txT" fmla="*/ 0 h 1"/>
                  <a:gd name="txR" fmla="*/ 108 w 108"/>
                  <a:gd name="txB" fmla="*/ 1 h 1"/>
                </a:gdLst>
                <a:ahLst/>
                <a:cxnLst>
                  <a:cxn ang="0">
                    <a:pos x="10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8" h="1">
                    <a:moveTo>
                      <a:pt x="10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68" name="Line 73"/>
              <p:cNvSpPr/>
              <p:nvPr/>
            </p:nvSpPr>
            <p:spPr>
              <a:xfrm rot="5400000">
                <a:off x="4229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69" name="Line 74"/>
              <p:cNvSpPr/>
              <p:nvPr/>
            </p:nvSpPr>
            <p:spPr>
              <a:xfrm rot="5400000">
                <a:off x="4212" y="2696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70" name="Freeform 75"/>
              <p:cNvSpPr/>
              <p:nvPr/>
            </p:nvSpPr>
            <p:spPr>
              <a:xfrm>
                <a:off x="4164" y="2695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71" name="Line 76"/>
              <p:cNvSpPr/>
              <p:nvPr/>
            </p:nvSpPr>
            <p:spPr>
              <a:xfrm rot="-5400000">
                <a:off x="4037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72" name="Line 77"/>
              <p:cNvSpPr/>
              <p:nvPr/>
            </p:nvSpPr>
            <p:spPr>
              <a:xfrm rot="-5400000">
                <a:off x="4116" y="270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473" name="Freeform 78"/>
              <p:cNvSpPr/>
              <p:nvPr/>
            </p:nvSpPr>
            <p:spPr>
              <a:xfrm>
                <a:off x="4360" y="2351"/>
                <a:ext cx="90" cy="2"/>
              </a:xfrm>
              <a:custGeom>
                <a:avLst/>
                <a:gdLst>
                  <a:gd name="txL" fmla="*/ 0 w 90"/>
                  <a:gd name="txT" fmla="*/ 0 h 2"/>
                  <a:gd name="txR" fmla="*/ 90 w 90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0" y="2"/>
                  </a:cxn>
                </a:cxnLst>
                <a:rect l="txL" t="txT" r="txR" b="txB"/>
                <a:pathLst>
                  <a:path w="90" h="2">
                    <a:moveTo>
                      <a:pt x="0" y="0"/>
                    </a:moveTo>
                    <a:lnTo>
                      <a:pt x="90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74" name="Freeform 79"/>
              <p:cNvSpPr/>
              <p:nvPr/>
            </p:nvSpPr>
            <p:spPr>
              <a:xfrm>
                <a:off x="3959" y="2353"/>
                <a:ext cx="104" cy="1"/>
              </a:xfrm>
              <a:custGeom>
                <a:avLst/>
                <a:gdLst>
                  <a:gd name="txL" fmla="*/ 0 w 104"/>
                  <a:gd name="txT" fmla="*/ 0 h 1"/>
                  <a:gd name="txR" fmla="*/ 104 w 104"/>
                  <a:gd name="txB" fmla="*/ 1 h 1"/>
                </a:gdLst>
                <a:ahLst/>
                <a:cxnLst>
                  <a:cxn ang="0">
                    <a:pos x="10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4" h="1">
                    <a:moveTo>
                      <a:pt x="10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2475" name="Group 80"/>
              <p:cNvGrpSpPr/>
              <p:nvPr/>
            </p:nvGrpSpPr>
            <p:grpSpPr>
              <a:xfrm>
                <a:off x="4692" y="2634"/>
                <a:ext cx="192" cy="158"/>
                <a:chOff x="4692" y="2634"/>
                <a:chExt cx="192" cy="158"/>
              </a:xfrm>
            </p:grpSpPr>
            <p:grpSp>
              <p:nvGrpSpPr>
                <p:cNvPr id="272622" name="Group 81"/>
                <p:cNvGrpSpPr/>
                <p:nvPr/>
              </p:nvGrpSpPr>
              <p:grpSpPr>
                <a:xfrm>
                  <a:off x="4836" y="2634"/>
                  <a:ext cx="48" cy="158"/>
                  <a:chOff x="4836" y="2634"/>
                  <a:chExt cx="48" cy="158"/>
                </a:xfrm>
              </p:grpSpPr>
              <p:sp>
                <p:nvSpPr>
                  <p:cNvPr id="272627" name="Line 82"/>
                  <p:cNvSpPr/>
                  <p:nvPr/>
                </p:nvSpPr>
                <p:spPr>
                  <a:xfrm rot="5400000">
                    <a:off x="4805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2628" name="Line 83"/>
                  <p:cNvSpPr/>
                  <p:nvPr/>
                </p:nvSpPr>
                <p:spPr>
                  <a:xfrm rot="5400000">
                    <a:off x="4788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2623" name="Freeform 84"/>
                <p:cNvSpPr/>
                <p:nvPr/>
              </p:nvSpPr>
              <p:spPr>
                <a:xfrm>
                  <a:off x="4740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2624" name="Group 85"/>
                <p:cNvGrpSpPr/>
                <p:nvPr/>
              </p:nvGrpSpPr>
              <p:grpSpPr>
                <a:xfrm>
                  <a:off x="4692" y="2634"/>
                  <a:ext cx="48" cy="158"/>
                  <a:chOff x="4692" y="2634"/>
                  <a:chExt cx="48" cy="158"/>
                </a:xfrm>
              </p:grpSpPr>
              <p:sp>
                <p:nvSpPr>
                  <p:cNvPr id="272625" name="Line 86"/>
                  <p:cNvSpPr/>
                  <p:nvPr/>
                </p:nvSpPr>
                <p:spPr>
                  <a:xfrm rot="-5400000">
                    <a:off x="4613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2626" name="Line 87"/>
                  <p:cNvSpPr/>
                  <p:nvPr/>
                </p:nvSpPr>
                <p:spPr>
                  <a:xfrm rot="-5400000">
                    <a:off x="4692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72476" name="Freeform 88"/>
              <p:cNvSpPr/>
              <p:nvPr/>
            </p:nvSpPr>
            <p:spPr>
              <a:xfrm>
                <a:off x="4914" y="2353"/>
                <a:ext cx="107" cy="1"/>
              </a:xfrm>
              <a:custGeom>
                <a:avLst/>
                <a:gdLst>
                  <a:gd name="txL" fmla="*/ 0 w 107"/>
                  <a:gd name="txT" fmla="*/ 0 h 1"/>
                  <a:gd name="txR" fmla="*/ 107 w 10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7" y="0"/>
                  </a:cxn>
                </a:cxnLst>
                <a:rect l="txL" t="txT" r="txR" b="txB"/>
                <a:pathLst>
                  <a:path w="107" h="1">
                    <a:moveTo>
                      <a:pt x="0" y="0"/>
                    </a:moveTo>
                    <a:lnTo>
                      <a:pt x="10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77" name="Freeform 89"/>
              <p:cNvSpPr/>
              <p:nvPr/>
            </p:nvSpPr>
            <p:spPr>
              <a:xfrm>
                <a:off x="4535" y="2353"/>
                <a:ext cx="96" cy="1"/>
              </a:xfrm>
              <a:custGeom>
                <a:avLst/>
                <a:gdLst>
                  <a:gd name="txL" fmla="*/ 0 w 96"/>
                  <a:gd name="txT" fmla="*/ 0 h 1"/>
                  <a:gd name="txR" fmla="*/ 96 w 96"/>
                  <a:gd name="txB" fmla="*/ 1 h 1"/>
                </a:gdLst>
                <a:ahLst/>
                <a:cxnLst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1">
                    <a:moveTo>
                      <a:pt x="96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2478" name="Group 90"/>
              <p:cNvGrpSpPr/>
              <p:nvPr/>
            </p:nvGrpSpPr>
            <p:grpSpPr>
              <a:xfrm>
                <a:off x="5259" y="2634"/>
                <a:ext cx="192" cy="158"/>
                <a:chOff x="5259" y="2634"/>
                <a:chExt cx="192" cy="158"/>
              </a:xfrm>
            </p:grpSpPr>
            <p:grpSp>
              <p:nvGrpSpPr>
                <p:cNvPr id="272615" name="Group 91"/>
                <p:cNvGrpSpPr/>
                <p:nvPr/>
              </p:nvGrpSpPr>
              <p:grpSpPr>
                <a:xfrm>
                  <a:off x="5403" y="2634"/>
                  <a:ext cx="48" cy="158"/>
                  <a:chOff x="5403" y="2634"/>
                  <a:chExt cx="48" cy="158"/>
                </a:xfrm>
              </p:grpSpPr>
              <p:sp>
                <p:nvSpPr>
                  <p:cNvPr id="272620" name="Line 92"/>
                  <p:cNvSpPr/>
                  <p:nvPr/>
                </p:nvSpPr>
                <p:spPr>
                  <a:xfrm rot="5400000">
                    <a:off x="5372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2621" name="Line 93"/>
                  <p:cNvSpPr/>
                  <p:nvPr/>
                </p:nvSpPr>
                <p:spPr>
                  <a:xfrm rot="5400000">
                    <a:off x="5355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2616" name="Freeform 94"/>
                <p:cNvSpPr/>
                <p:nvPr/>
              </p:nvSpPr>
              <p:spPr>
                <a:xfrm>
                  <a:off x="5307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2617" name="Group 95"/>
                <p:cNvGrpSpPr/>
                <p:nvPr/>
              </p:nvGrpSpPr>
              <p:grpSpPr>
                <a:xfrm>
                  <a:off x="5259" y="2634"/>
                  <a:ext cx="48" cy="158"/>
                  <a:chOff x="5259" y="2634"/>
                  <a:chExt cx="48" cy="158"/>
                </a:xfrm>
              </p:grpSpPr>
              <p:sp>
                <p:nvSpPr>
                  <p:cNvPr id="272618" name="Line 96"/>
                  <p:cNvSpPr/>
                  <p:nvPr/>
                </p:nvSpPr>
                <p:spPr>
                  <a:xfrm rot="-5400000">
                    <a:off x="5180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2619" name="Line 97"/>
                  <p:cNvSpPr/>
                  <p:nvPr/>
                </p:nvSpPr>
                <p:spPr>
                  <a:xfrm rot="-5400000">
                    <a:off x="5259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72479" name="Freeform 98"/>
              <p:cNvSpPr/>
              <p:nvPr/>
            </p:nvSpPr>
            <p:spPr>
              <a:xfrm>
                <a:off x="5491" y="2351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6" y="2"/>
                  </a:cxn>
                </a:cxnLst>
                <a:rect l="txL" t="txT" r="txR" b="txB"/>
                <a:pathLst>
                  <a:path w="96" h="2">
                    <a:moveTo>
                      <a:pt x="0" y="0"/>
                    </a:moveTo>
                    <a:lnTo>
                      <a:pt x="9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80" name="Freeform 99"/>
              <p:cNvSpPr/>
              <p:nvPr/>
            </p:nvSpPr>
            <p:spPr>
              <a:xfrm>
                <a:off x="5102" y="2353"/>
                <a:ext cx="101" cy="1"/>
              </a:xfrm>
              <a:custGeom>
                <a:avLst/>
                <a:gdLst>
                  <a:gd name="txL" fmla="*/ 0 w 101"/>
                  <a:gd name="txT" fmla="*/ 0 h 1"/>
                  <a:gd name="txR" fmla="*/ 101 w 101"/>
                  <a:gd name="txB" fmla="*/ 1 h 1"/>
                </a:gdLst>
                <a:ahLst/>
                <a:cxnLst>
                  <a:cxn ang="0">
                    <a:pos x="101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1" h="1">
                    <a:moveTo>
                      <a:pt x="101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81" name="Freeform 100"/>
              <p:cNvSpPr/>
              <p:nvPr/>
            </p:nvSpPr>
            <p:spPr>
              <a:xfrm>
                <a:off x="932" y="856"/>
                <a:ext cx="4419" cy="1"/>
              </a:xfrm>
              <a:custGeom>
                <a:avLst/>
                <a:gdLst>
                  <a:gd name="txL" fmla="*/ 0 w 4419"/>
                  <a:gd name="txT" fmla="*/ 0 h 1"/>
                  <a:gd name="txR" fmla="*/ 4419 w 4419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9" y="0"/>
                  </a:cxn>
                </a:cxnLst>
                <a:rect l="txL" t="txT" r="txR" b="txB"/>
                <a:pathLst>
                  <a:path w="4419" h="1">
                    <a:moveTo>
                      <a:pt x="0" y="1"/>
                    </a:moveTo>
                    <a:lnTo>
                      <a:pt x="441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82" name="Line 101"/>
              <p:cNvSpPr/>
              <p:nvPr/>
            </p:nvSpPr>
            <p:spPr>
              <a:xfrm>
                <a:off x="1316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483" name="Line 102"/>
              <p:cNvSpPr/>
              <p:nvPr/>
            </p:nvSpPr>
            <p:spPr>
              <a:xfrm>
                <a:off x="189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484" name="Line 103"/>
              <p:cNvSpPr/>
              <p:nvPr/>
            </p:nvSpPr>
            <p:spPr>
              <a:xfrm>
                <a:off x="246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485" name="Line 104"/>
              <p:cNvSpPr/>
              <p:nvPr/>
            </p:nvSpPr>
            <p:spPr>
              <a:xfrm>
                <a:off x="3044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486" name="Line 105"/>
              <p:cNvSpPr/>
              <p:nvPr/>
            </p:nvSpPr>
            <p:spPr>
              <a:xfrm>
                <a:off x="3620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487" name="Line 106"/>
              <p:cNvSpPr/>
              <p:nvPr/>
            </p:nvSpPr>
            <p:spPr>
              <a:xfrm>
                <a:off x="4196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488" name="Line 107"/>
              <p:cNvSpPr/>
              <p:nvPr/>
            </p:nvSpPr>
            <p:spPr>
              <a:xfrm>
                <a:off x="477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489" name="Line 108"/>
              <p:cNvSpPr/>
              <p:nvPr/>
            </p:nvSpPr>
            <p:spPr>
              <a:xfrm>
                <a:off x="534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72490" name="Freeform 109"/>
              <p:cNvSpPr/>
              <p:nvPr/>
            </p:nvSpPr>
            <p:spPr>
              <a:xfrm>
                <a:off x="1330" y="2708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91" name="Freeform 110"/>
              <p:cNvSpPr/>
              <p:nvPr/>
            </p:nvSpPr>
            <p:spPr>
              <a:xfrm>
                <a:off x="1904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92" name="Freeform 111"/>
              <p:cNvSpPr/>
              <p:nvPr/>
            </p:nvSpPr>
            <p:spPr>
              <a:xfrm>
                <a:off x="2482" y="2708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93" name="Freeform 112"/>
              <p:cNvSpPr/>
              <p:nvPr/>
            </p:nvSpPr>
            <p:spPr>
              <a:xfrm>
                <a:off x="3630" y="2708"/>
                <a:ext cx="2" cy="175"/>
              </a:xfrm>
              <a:custGeom>
                <a:avLst/>
                <a:gdLst>
                  <a:gd name="txL" fmla="*/ 0 w 2"/>
                  <a:gd name="txT" fmla="*/ 0 h 175"/>
                  <a:gd name="txR" fmla="*/ 2 w 2"/>
                  <a:gd name="txB" fmla="*/ 175 h 175"/>
                </a:gdLst>
                <a:ahLst/>
                <a:cxnLst>
                  <a:cxn ang="0">
                    <a:pos x="2" y="0"/>
                  </a:cxn>
                  <a:cxn ang="0">
                    <a:pos x="0" y="175"/>
                  </a:cxn>
                </a:cxnLst>
                <a:rect l="txL" t="txT" r="txR" b="txB"/>
                <a:pathLst>
                  <a:path w="2" h="175">
                    <a:moveTo>
                      <a:pt x="2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94" name="Freeform 113"/>
              <p:cNvSpPr/>
              <p:nvPr/>
            </p:nvSpPr>
            <p:spPr>
              <a:xfrm>
                <a:off x="4784" y="2697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95" name="Freeform 114"/>
              <p:cNvSpPr/>
              <p:nvPr/>
            </p:nvSpPr>
            <p:spPr>
              <a:xfrm>
                <a:off x="932" y="1480"/>
                <a:ext cx="4422" cy="1"/>
              </a:xfrm>
              <a:custGeom>
                <a:avLst/>
                <a:gdLst>
                  <a:gd name="txL" fmla="*/ 0 w 4422"/>
                  <a:gd name="txT" fmla="*/ 0 h 1"/>
                  <a:gd name="txR" fmla="*/ 4422 w 4422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22" y="0"/>
                  </a:cxn>
                </a:cxnLst>
                <a:rect l="txL" t="txT" r="txR" b="txB"/>
                <a:pathLst>
                  <a:path w="4422" h="1">
                    <a:moveTo>
                      <a:pt x="0" y="1"/>
                    </a:moveTo>
                    <a:lnTo>
                      <a:pt x="442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496" name="Line 115"/>
              <p:cNvSpPr/>
              <p:nvPr/>
            </p:nvSpPr>
            <p:spPr>
              <a:xfrm>
                <a:off x="1316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497" name="Line 116"/>
              <p:cNvSpPr/>
              <p:nvPr/>
            </p:nvSpPr>
            <p:spPr>
              <a:xfrm>
                <a:off x="189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498" name="Line 117"/>
              <p:cNvSpPr/>
              <p:nvPr/>
            </p:nvSpPr>
            <p:spPr>
              <a:xfrm>
                <a:off x="246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499" name="Line 118"/>
              <p:cNvSpPr/>
              <p:nvPr/>
            </p:nvSpPr>
            <p:spPr>
              <a:xfrm>
                <a:off x="3044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00" name="Line 119"/>
              <p:cNvSpPr/>
              <p:nvPr/>
            </p:nvSpPr>
            <p:spPr>
              <a:xfrm>
                <a:off x="3620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01" name="Line 120"/>
              <p:cNvSpPr/>
              <p:nvPr/>
            </p:nvSpPr>
            <p:spPr>
              <a:xfrm>
                <a:off x="4196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02" name="Line 121"/>
              <p:cNvSpPr/>
              <p:nvPr/>
            </p:nvSpPr>
            <p:spPr>
              <a:xfrm>
                <a:off x="477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03" name="Line 122"/>
              <p:cNvSpPr/>
              <p:nvPr/>
            </p:nvSpPr>
            <p:spPr>
              <a:xfrm>
                <a:off x="534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72504" name="Freeform 123"/>
              <p:cNvSpPr/>
              <p:nvPr/>
            </p:nvSpPr>
            <p:spPr>
              <a:xfrm>
                <a:off x="932" y="2056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05" name="Line 124"/>
              <p:cNvSpPr/>
              <p:nvPr/>
            </p:nvSpPr>
            <p:spPr>
              <a:xfrm>
                <a:off x="1316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06" name="Line 125"/>
              <p:cNvSpPr/>
              <p:nvPr/>
            </p:nvSpPr>
            <p:spPr>
              <a:xfrm>
                <a:off x="189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07" name="Line 126"/>
              <p:cNvSpPr/>
              <p:nvPr/>
            </p:nvSpPr>
            <p:spPr>
              <a:xfrm>
                <a:off x="246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08" name="Line 127"/>
              <p:cNvSpPr/>
              <p:nvPr/>
            </p:nvSpPr>
            <p:spPr>
              <a:xfrm>
                <a:off x="3044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09" name="Line 128"/>
              <p:cNvSpPr/>
              <p:nvPr/>
            </p:nvSpPr>
            <p:spPr>
              <a:xfrm>
                <a:off x="3620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10" name="Line 129"/>
              <p:cNvSpPr/>
              <p:nvPr/>
            </p:nvSpPr>
            <p:spPr>
              <a:xfrm>
                <a:off x="4196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11" name="Line 130"/>
              <p:cNvSpPr/>
              <p:nvPr/>
            </p:nvSpPr>
            <p:spPr>
              <a:xfrm>
                <a:off x="477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2512" name="Line 131"/>
              <p:cNvSpPr/>
              <p:nvPr/>
            </p:nvSpPr>
            <p:spPr>
              <a:xfrm>
                <a:off x="534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72513" name="Freeform 132"/>
              <p:cNvSpPr/>
              <p:nvPr/>
            </p:nvSpPr>
            <p:spPr>
              <a:xfrm>
                <a:off x="933" y="2879"/>
                <a:ext cx="3860" cy="1"/>
              </a:xfrm>
              <a:custGeom>
                <a:avLst/>
                <a:gdLst>
                  <a:gd name="txL" fmla="*/ 0 w 3860"/>
                  <a:gd name="txT" fmla="*/ 0 h 1"/>
                  <a:gd name="txR" fmla="*/ 3860 w 3860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3860" y="0"/>
                  </a:cxn>
                </a:cxnLst>
                <a:rect l="txL" t="txT" r="txR" b="txB"/>
                <a:pathLst>
                  <a:path w="3860" h="1">
                    <a:moveTo>
                      <a:pt x="0" y="1"/>
                    </a:moveTo>
                    <a:lnTo>
                      <a:pt x="38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14" name="Freeform 133"/>
              <p:cNvSpPr/>
              <p:nvPr/>
            </p:nvSpPr>
            <p:spPr>
              <a:xfrm>
                <a:off x="936" y="3209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15" name="Rectangle 134"/>
              <p:cNvSpPr/>
              <p:nvPr/>
            </p:nvSpPr>
            <p:spPr>
              <a:xfrm>
                <a:off x="1165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16" name="Text Box 135"/>
              <p:cNvSpPr txBox="1"/>
              <p:nvPr/>
            </p:nvSpPr>
            <p:spPr>
              <a:xfrm>
                <a:off x="1196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17" name="Freeform 136"/>
              <p:cNvSpPr/>
              <p:nvPr/>
            </p:nvSpPr>
            <p:spPr>
              <a:xfrm>
                <a:off x="1426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18" name="Freeform 137"/>
              <p:cNvSpPr/>
              <p:nvPr/>
            </p:nvSpPr>
            <p:spPr>
              <a:xfrm>
                <a:off x="1637" y="1211"/>
                <a:ext cx="169" cy="1469"/>
              </a:xfrm>
              <a:custGeom>
                <a:avLst/>
                <a:gdLst>
                  <a:gd name="txL" fmla="*/ 0 w 169"/>
                  <a:gd name="txT" fmla="*/ 0 h 1469"/>
                  <a:gd name="txR" fmla="*/ 169 w 169"/>
                  <a:gd name="txB" fmla="*/ 1469 h 1469"/>
                </a:gdLst>
                <a:ahLst/>
                <a:cxnLst>
                  <a:cxn ang="0">
                    <a:pos x="169" y="1468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5" y="0"/>
                  </a:cxn>
                </a:cxnLst>
                <a:rect l="txL" t="txT" r="txR" b="txB"/>
                <a:pathLst>
                  <a:path w="169" h="1469">
                    <a:moveTo>
                      <a:pt x="169" y="1468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19" name="Freeform 138"/>
              <p:cNvSpPr/>
              <p:nvPr/>
            </p:nvSpPr>
            <p:spPr>
              <a:xfrm>
                <a:off x="1991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38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38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20" name="Freeform 139"/>
              <p:cNvSpPr/>
              <p:nvPr/>
            </p:nvSpPr>
            <p:spPr>
              <a:xfrm>
                <a:off x="2229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6" y="1467"/>
                  </a:cxn>
                  <a:cxn ang="0">
                    <a:pos x="0" y="0"/>
                  </a:cxn>
                  <a:cxn ang="0">
                    <a:pos x="92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6" y="1467"/>
                    </a:lnTo>
                    <a:lnTo>
                      <a:pt x="0" y="0"/>
                    </a:lnTo>
                    <a:lnTo>
                      <a:pt x="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21" name="Freeform 140"/>
              <p:cNvSpPr/>
              <p:nvPr/>
            </p:nvSpPr>
            <p:spPr>
              <a:xfrm>
                <a:off x="2581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4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22" name="Freeform 141"/>
              <p:cNvSpPr/>
              <p:nvPr/>
            </p:nvSpPr>
            <p:spPr>
              <a:xfrm>
                <a:off x="2805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6" y="1467"/>
                  </a:cxn>
                  <a:cxn ang="0">
                    <a:pos x="0" y="0"/>
                  </a:cxn>
                  <a:cxn ang="0">
                    <a:pos x="83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6" y="1467"/>
                    </a:lnTo>
                    <a:lnTo>
                      <a:pt x="0" y="0"/>
                    </a:lnTo>
                    <a:lnTo>
                      <a:pt x="8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23" name="Freeform 142"/>
              <p:cNvSpPr/>
              <p:nvPr/>
            </p:nvSpPr>
            <p:spPr>
              <a:xfrm>
                <a:off x="3154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24" name="Freeform 143"/>
              <p:cNvSpPr/>
              <p:nvPr/>
            </p:nvSpPr>
            <p:spPr>
              <a:xfrm>
                <a:off x="3381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6" y="1467"/>
                  </a:cxn>
                  <a:cxn ang="0">
                    <a:pos x="0" y="0"/>
                  </a:cxn>
                  <a:cxn ang="0">
                    <a:pos x="106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6" y="1467"/>
                    </a:lnTo>
                    <a:lnTo>
                      <a:pt x="0" y="0"/>
                    </a:lnTo>
                    <a:lnTo>
                      <a:pt x="10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25" name="Freeform 144"/>
              <p:cNvSpPr/>
              <p:nvPr/>
            </p:nvSpPr>
            <p:spPr>
              <a:xfrm>
                <a:off x="3734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42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42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26" name="Freeform 145"/>
              <p:cNvSpPr/>
              <p:nvPr/>
            </p:nvSpPr>
            <p:spPr>
              <a:xfrm>
                <a:off x="3957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6" y="1467"/>
                  </a:cxn>
                  <a:cxn ang="0">
                    <a:pos x="0" y="0"/>
                  </a:cxn>
                  <a:cxn ang="0">
                    <a:pos x="109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6" y="1467"/>
                    </a:lnTo>
                    <a:lnTo>
                      <a:pt x="0" y="0"/>
                    </a:lnTo>
                    <a:lnTo>
                      <a:pt x="10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27" name="Freeform 146"/>
              <p:cNvSpPr/>
              <p:nvPr/>
            </p:nvSpPr>
            <p:spPr>
              <a:xfrm>
                <a:off x="4304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51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51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28" name="Freeform 147"/>
              <p:cNvSpPr/>
              <p:nvPr/>
            </p:nvSpPr>
            <p:spPr>
              <a:xfrm>
                <a:off x="4533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0" y="1467"/>
                  </a:cxn>
                  <a:cxn ang="0">
                    <a:pos x="0" y="0"/>
                  </a:cxn>
                  <a:cxn ang="0">
                    <a:pos x="95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0" y="1467"/>
                    </a:lnTo>
                    <a:lnTo>
                      <a:pt x="0" y="0"/>
                    </a:lnTo>
                    <a:lnTo>
                      <a:pt x="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29" name="Freeform 148"/>
              <p:cNvSpPr/>
              <p:nvPr/>
            </p:nvSpPr>
            <p:spPr>
              <a:xfrm>
                <a:off x="4885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30" name="Freeform 149"/>
              <p:cNvSpPr/>
              <p:nvPr/>
            </p:nvSpPr>
            <p:spPr>
              <a:xfrm>
                <a:off x="5093" y="1211"/>
                <a:ext cx="159" cy="1469"/>
              </a:xfrm>
              <a:custGeom>
                <a:avLst/>
                <a:gdLst>
                  <a:gd name="txL" fmla="*/ 0 w 159"/>
                  <a:gd name="txT" fmla="*/ 0 h 1469"/>
                  <a:gd name="txR" fmla="*/ 159 w 159"/>
                  <a:gd name="txB" fmla="*/ 1469 h 1469"/>
                </a:gdLst>
                <a:ahLst/>
                <a:cxnLst>
                  <a:cxn ang="0">
                    <a:pos x="159" y="1467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4" y="0"/>
                  </a:cxn>
                </a:cxnLst>
                <a:rect l="txL" t="txT" r="txR" b="txB"/>
                <a:pathLst>
                  <a:path w="159" h="1469">
                    <a:moveTo>
                      <a:pt x="159" y="1467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31" name="Freeform 150"/>
              <p:cNvSpPr/>
              <p:nvPr/>
            </p:nvSpPr>
            <p:spPr>
              <a:xfrm>
                <a:off x="5441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47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47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32" name="Freeform 151"/>
              <p:cNvSpPr/>
              <p:nvPr/>
            </p:nvSpPr>
            <p:spPr>
              <a:xfrm>
                <a:off x="1079" y="2738"/>
                <a:ext cx="730" cy="660"/>
              </a:xfrm>
              <a:custGeom>
                <a:avLst/>
                <a:gdLst>
                  <a:gd name="txL" fmla="*/ 0 w 730"/>
                  <a:gd name="txT" fmla="*/ 0 h 660"/>
                  <a:gd name="txR" fmla="*/ 730 w 730"/>
                  <a:gd name="txB" fmla="*/ 660 h 660"/>
                </a:gdLst>
                <a:ahLst/>
                <a:cxnLst>
                  <a:cxn ang="0">
                    <a:pos x="160" y="4"/>
                  </a:cxn>
                  <a:cxn ang="0">
                    <a:pos x="0" y="3"/>
                  </a:cxn>
                  <a:cxn ang="0">
                    <a:pos x="0" y="660"/>
                  </a:cxn>
                  <a:cxn ang="0">
                    <a:pos x="558" y="657"/>
                  </a:cxn>
                  <a:cxn ang="0">
                    <a:pos x="558" y="0"/>
                  </a:cxn>
                  <a:cxn ang="0">
                    <a:pos x="730" y="1"/>
                  </a:cxn>
                </a:cxnLst>
                <a:rect l="txL" t="txT" r="txR" b="txB"/>
                <a:pathLst>
                  <a:path w="730" h="660">
                    <a:moveTo>
                      <a:pt x="160" y="4"/>
                    </a:moveTo>
                    <a:lnTo>
                      <a:pt x="0" y="3"/>
                    </a:lnTo>
                    <a:lnTo>
                      <a:pt x="0" y="660"/>
                    </a:lnTo>
                    <a:lnTo>
                      <a:pt x="558" y="657"/>
                    </a:lnTo>
                    <a:lnTo>
                      <a:pt x="558" y="0"/>
                    </a:lnTo>
                    <a:lnTo>
                      <a:pt x="73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33" name="Freeform 152"/>
              <p:cNvSpPr/>
              <p:nvPr/>
            </p:nvSpPr>
            <p:spPr>
              <a:xfrm>
                <a:off x="2231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53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85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53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85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34" name="Freeform 153"/>
              <p:cNvSpPr/>
              <p:nvPr/>
            </p:nvSpPr>
            <p:spPr>
              <a:xfrm>
                <a:off x="3380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58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58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35" name="Freeform 154"/>
              <p:cNvSpPr/>
              <p:nvPr/>
            </p:nvSpPr>
            <p:spPr>
              <a:xfrm>
                <a:off x="4532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61" y="2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61" y="2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36" name="Freeform 155"/>
              <p:cNvSpPr/>
              <p:nvPr/>
            </p:nvSpPr>
            <p:spPr>
              <a:xfrm>
                <a:off x="1424" y="2735"/>
                <a:ext cx="708" cy="570"/>
              </a:xfrm>
              <a:custGeom>
                <a:avLst/>
                <a:gdLst>
                  <a:gd name="txL" fmla="*/ 0 w 708"/>
                  <a:gd name="txT" fmla="*/ 0 h 570"/>
                  <a:gd name="txR" fmla="*/ 708 w 708"/>
                  <a:gd name="txB" fmla="*/ 570 h 570"/>
                </a:gdLst>
                <a:ahLst/>
                <a:cxnLst>
                  <a:cxn ang="0">
                    <a:pos x="0" y="0"/>
                  </a:cxn>
                  <a:cxn ang="0">
                    <a:pos x="132" y="0"/>
                  </a:cxn>
                  <a:cxn ang="0">
                    <a:pos x="129" y="570"/>
                  </a:cxn>
                  <a:cxn ang="0">
                    <a:pos x="708" y="570"/>
                  </a:cxn>
                  <a:cxn ang="0">
                    <a:pos x="708" y="9"/>
                  </a:cxn>
                  <a:cxn ang="0">
                    <a:pos x="573" y="9"/>
                  </a:cxn>
                </a:cxnLst>
                <a:rect l="txL" t="txT" r="txR" b="txB"/>
                <a:pathLst>
                  <a:path w="708" h="570">
                    <a:moveTo>
                      <a:pt x="0" y="0"/>
                    </a:moveTo>
                    <a:lnTo>
                      <a:pt x="132" y="0"/>
                    </a:lnTo>
                    <a:lnTo>
                      <a:pt x="129" y="570"/>
                    </a:lnTo>
                    <a:lnTo>
                      <a:pt x="708" y="570"/>
                    </a:lnTo>
                    <a:lnTo>
                      <a:pt x="708" y="9"/>
                    </a:lnTo>
                    <a:lnTo>
                      <a:pt x="573" y="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37" name="Freeform 156"/>
              <p:cNvSpPr/>
              <p:nvPr/>
            </p:nvSpPr>
            <p:spPr>
              <a:xfrm>
                <a:off x="2576" y="2735"/>
                <a:ext cx="726" cy="567"/>
              </a:xfrm>
              <a:custGeom>
                <a:avLst/>
                <a:gdLst>
                  <a:gd name="txL" fmla="*/ 0 w 726"/>
                  <a:gd name="txT" fmla="*/ 0 h 567"/>
                  <a:gd name="txR" fmla="*/ 726 w 726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44" y="0"/>
                  </a:cxn>
                  <a:cxn ang="0">
                    <a:pos x="147" y="567"/>
                  </a:cxn>
                  <a:cxn ang="0">
                    <a:pos x="726" y="567"/>
                  </a:cxn>
                  <a:cxn ang="0">
                    <a:pos x="726" y="6"/>
                  </a:cxn>
                  <a:cxn ang="0">
                    <a:pos x="579" y="6"/>
                  </a:cxn>
                </a:cxnLst>
                <a:rect l="txL" t="txT" r="txR" b="txB"/>
                <a:pathLst>
                  <a:path w="726" h="567">
                    <a:moveTo>
                      <a:pt x="0" y="0"/>
                    </a:moveTo>
                    <a:lnTo>
                      <a:pt x="144" y="0"/>
                    </a:lnTo>
                    <a:lnTo>
                      <a:pt x="147" y="567"/>
                    </a:lnTo>
                    <a:lnTo>
                      <a:pt x="726" y="567"/>
                    </a:lnTo>
                    <a:lnTo>
                      <a:pt x="726" y="6"/>
                    </a:lnTo>
                    <a:lnTo>
                      <a:pt x="579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38" name="Freeform 157"/>
              <p:cNvSpPr/>
              <p:nvPr/>
            </p:nvSpPr>
            <p:spPr>
              <a:xfrm>
                <a:off x="3728" y="2738"/>
                <a:ext cx="714" cy="567"/>
              </a:xfrm>
              <a:custGeom>
                <a:avLst/>
                <a:gdLst>
                  <a:gd name="txL" fmla="*/ 0 w 714"/>
                  <a:gd name="txT" fmla="*/ 0 h 567"/>
                  <a:gd name="txR" fmla="*/ 714 w 714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6" y="1"/>
                  </a:cxn>
                  <a:cxn ang="0">
                    <a:pos x="135" y="567"/>
                  </a:cxn>
                  <a:cxn ang="0">
                    <a:pos x="714" y="567"/>
                  </a:cxn>
                  <a:cxn ang="0">
                    <a:pos x="714" y="6"/>
                  </a:cxn>
                  <a:cxn ang="0">
                    <a:pos x="576" y="5"/>
                  </a:cxn>
                </a:cxnLst>
                <a:rect l="txL" t="txT" r="txR" b="txB"/>
                <a:pathLst>
                  <a:path w="714" h="567">
                    <a:moveTo>
                      <a:pt x="0" y="0"/>
                    </a:moveTo>
                    <a:lnTo>
                      <a:pt x="136" y="1"/>
                    </a:lnTo>
                    <a:lnTo>
                      <a:pt x="135" y="567"/>
                    </a:lnTo>
                    <a:lnTo>
                      <a:pt x="714" y="567"/>
                    </a:lnTo>
                    <a:lnTo>
                      <a:pt x="714" y="6"/>
                    </a:lnTo>
                    <a:lnTo>
                      <a:pt x="576" y="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39" name="Freeform 158"/>
              <p:cNvSpPr/>
              <p:nvPr/>
            </p:nvSpPr>
            <p:spPr>
              <a:xfrm>
                <a:off x="4883" y="2738"/>
                <a:ext cx="711" cy="567"/>
              </a:xfrm>
              <a:custGeom>
                <a:avLst/>
                <a:gdLst>
                  <a:gd name="txL" fmla="*/ 0 w 711"/>
                  <a:gd name="txT" fmla="*/ 0 h 567"/>
                  <a:gd name="txR" fmla="*/ 711 w 711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6" y="1"/>
                  </a:cxn>
                  <a:cxn ang="0">
                    <a:pos x="132" y="567"/>
                  </a:cxn>
                  <a:cxn ang="0">
                    <a:pos x="711" y="567"/>
                  </a:cxn>
                  <a:cxn ang="0">
                    <a:pos x="711" y="6"/>
                  </a:cxn>
                  <a:cxn ang="0">
                    <a:pos x="564" y="6"/>
                  </a:cxn>
                </a:cxnLst>
                <a:rect l="txL" t="txT" r="txR" b="txB"/>
                <a:pathLst>
                  <a:path w="711" h="567">
                    <a:moveTo>
                      <a:pt x="0" y="0"/>
                    </a:moveTo>
                    <a:lnTo>
                      <a:pt x="136" y="1"/>
                    </a:lnTo>
                    <a:lnTo>
                      <a:pt x="132" y="567"/>
                    </a:lnTo>
                    <a:lnTo>
                      <a:pt x="711" y="567"/>
                    </a:lnTo>
                    <a:lnTo>
                      <a:pt x="711" y="6"/>
                    </a:lnTo>
                    <a:lnTo>
                      <a:pt x="564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40" name="Freeform 159"/>
              <p:cNvSpPr/>
              <p:nvPr/>
            </p:nvSpPr>
            <p:spPr>
              <a:xfrm>
                <a:off x="1346" y="3398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41" name="Freeform 160"/>
              <p:cNvSpPr/>
              <p:nvPr/>
            </p:nvSpPr>
            <p:spPr>
              <a:xfrm>
                <a:off x="2515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42" name="Freeform 161"/>
              <p:cNvSpPr/>
              <p:nvPr/>
            </p:nvSpPr>
            <p:spPr>
              <a:xfrm>
                <a:off x="3667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43" name="Freeform 162"/>
              <p:cNvSpPr/>
              <p:nvPr/>
            </p:nvSpPr>
            <p:spPr>
              <a:xfrm>
                <a:off x="4819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44" name="Freeform 163"/>
              <p:cNvSpPr/>
              <p:nvPr/>
            </p:nvSpPr>
            <p:spPr>
              <a:xfrm>
                <a:off x="5300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45" name="Freeform 164"/>
              <p:cNvSpPr/>
              <p:nvPr/>
            </p:nvSpPr>
            <p:spPr>
              <a:xfrm>
                <a:off x="4148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46" name="Freeform 165"/>
              <p:cNvSpPr/>
              <p:nvPr/>
            </p:nvSpPr>
            <p:spPr>
              <a:xfrm>
                <a:off x="2996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47" name="Freeform 166"/>
              <p:cNvSpPr/>
              <p:nvPr/>
            </p:nvSpPr>
            <p:spPr>
              <a:xfrm>
                <a:off x="1843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48" name="Freeform 167"/>
              <p:cNvSpPr/>
              <p:nvPr/>
            </p:nvSpPr>
            <p:spPr>
              <a:xfrm>
                <a:off x="980" y="4025"/>
                <a:ext cx="4317" cy="1"/>
              </a:xfrm>
              <a:custGeom>
                <a:avLst/>
                <a:gdLst>
                  <a:gd name="txL" fmla="*/ 0 w 4317"/>
                  <a:gd name="txT" fmla="*/ 0 h 1"/>
                  <a:gd name="txR" fmla="*/ 4317 w 431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4317" y="0"/>
                  </a:cxn>
                </a:cxnLst>
                <a:rect l="txL" t="txT" r="txR" b="txB"/>
                <a:pathLst>
                  <a:path w="4317" h="1">
                    <a:moveTo>
                      <a:pt x="0" y="0"/>
                    </a:moveTo>
                    <a:lnTo>
                      <a:pt x="431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49" name="Freeform 168"/>
              <p:cNvSpPr/>
              <p:nvPr/>
            </p:nvSpPr>
            <p:spPr>
              <a:xfrm>
                <a:off x="980" y="4121"/>
                <a:ext cx="3837" cy="1"/>
              </a:xfrm>
              <a:custGeom>
                <a:avLst/>
                <a:gdLst>
                  <a:gd name="txL" fmla="*/ 0 w 3837"/>
                  <a:gd name="txT" fmla="*/ 0 h 1"/>
                  <a:gd name="txR" fmla="*/ 3837 w 383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837" y="0"/>
                  </a:cxn>
                </a:cxnLst>
                <a:rect l="txL" t="txT" r="txR" b="txB"/>
                <a:pathLst>
                  <a:path w="3837" h="1">
                    <a:moveTo>
                      <a:pt x="0" y="0"/>
                    </a:moveTo>
                    <a:lnTo>
                      <a:pt x="383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50" name="Freeform 169"/>
              <p:cNvSpPr/>
              <p:nvPr/>
            </p:nvSpPr>
            <p:spPr>
              <a:xfrm>
                <a:off x="1346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51" name="Freeform 170"/>
              <p:cNvSpPr/>
              <p:nvPr/>
            </p:nvSpPr>
            <p:spPr>
              <a:xfrm>
                <a:off x="2515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52" name="Freeform 171"/>
              <p:cNvSpPr/>
              <p:nvPr/>
            </p:nvSpPr>
            <p:spPr>
              <a:xfrm>
                <a:off x="3667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53" name="Freeform 172"/>
              <p:cNvSpPr/>
              <p:nvPr/>
            </p:nvSpPr>
            <p:spPr>
              <a:xfrm>
                <a:off x="4815" y="3881"/>
                <a:ext cx="4" cy="247"/>
              </a:xfrm>
              <a:custGeom>
                <a:avLst/>
                <a:gdLst>
                  <a:gd name="txL" fmla="*/ 0 w 4"/>
                  <a:gd name="txT" fmla="*/ 0 h 247"/>
                  <a:gd name="txR" fmla="*/ 4 w 4"/>
                  <a:gd name="txB" fmla="*/ 247 h 247"/>
                </a:gdLst>
                <a:ahLst/>
                <a:cxnLst>
                  <a:cxn ang="0">
                    <a:pos x="4" y="0"/>
                  </a:cxn>
                  <a:cxn ang="0">
                    <a:pos x="0" y="247"/>
                  </a:cxn>
                </a:cxnLst>
                <a:rect l="txL" t="txT" r="txR" b="txB"/>
                <a:pathLst>
                  <a:path w="4" h="247">
                    <a:moveTo>
                      <a:pt x="4" y="0"/>
                    </a:moveTo>
                    <a:lnTo>
                      <a:pt x="0" y="24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54" name="Freeform 173"/>
              <p:cNvSpPr/>
              <p:nvPr/>
            </p:nvSpPr>
            <p:spPr>
              <a:xfrm>
                <a:off x="5301" y="3881"/>
                <a:ext cx="1" cy="151"/>
              </a:xfrm>
              <a:custGeom>
                <a:avLst/>
                <a:gdLst>
                  <a:gd name="txL" fmla="*/ 0 w 1"/>
                  <a:gd name="txT" fmla="*/ 0 h 151"/>
                  <a:gd name="txR" fmla="*/ 1 w 1"/>
                  <a:gd name="txB" fmla="*/ 151 h 151"/>
                </a:gdLst>
                <a:ahLst/>
                <a:cxnLst>
                  <a:cxn ang="0">
                    <a:pos x="0" y="0"/>
                  </a:cxn>
                  <a:cxn ang="0">
                    <a:pos x="0" y="151"/>
                  </a:cxn>
                </a:cxnLst>
                <a:rect l="txL" t="txT" r="txR" b="txB"/>
                <a:pathLst>
                  <a:path w="1" h="151">
                    <a:moveTo>
                      <a:pt x="0" y="0"/>
                    </a:moveTo>
                    <a:lnTo>
                      <a:pt x="0" y="15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55" name="Line 174"/>
              <p:cNvSpPr/>
              <p:nvPr/>
            </p:nvSpPr>
            <p:spPr>
              <a:xfrm>
                <a:off x="4148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72556" name="Line 175"/>
              <p:cNvSpPr/>
              <p:nvPr/>
            </p:nvSpPr>
            <p:spPr>
              <a:xfrm>
                <a:off x="2997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72557" name="Line 176"/>
              <p:cNvSpPr/>
              <p:nvPr/>
            </p:nvSpPr>
            <p:spPr>
              <a:xfrm>
                <a:off x="1844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72558" name="Rectangle 177"/>
              <p:cNvSpPr/>
              <p:nvPr/>
            </p:nvSpPr>
            <p:spPr>
              <a:xfrm>
                <a:off x="2341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59" name="Text Box 178"/>
              <p:cNvSpPr txBox="1"/>
              <p:nvPr/>
            </p:nvSpPr>
            <p:spPr>
              <a:xfrm>
                <a:off x="2372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60" name="Rectangle 179"/>
              <p:cNvSpPr/>
              <p:nvPr/>
            </p:nvSpPr>
            <p:spPr>
              <a:xfrm>
                <a:off x="3493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61" name="Text Box 180"/>
              <p:cNvSpPr txBox="1"/>
              <p:nvPr/>
            </p:nvSpPr>
            <p:spPr>
              <a:xfrm>
                <a:off x="3524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62" name="Rectangle 181"/>
              <p:cNvSpPr/>
              <p:nvPr/>
            </p:nvSpPr>
            <p:spPr>
              <a:xfrm>
                <a:off x="4645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63" name="Text Box 182"/>
              <p:cNvSpPr txBox="1"/>
              <p:nvPr/>
            </p:nvSpPr>
            <p:spPr>
              <a:xfrm>
                <a:off x="4676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64" name="Line 183"/>
              <p:cNvSpPr/>
              <p:nvPr/>
            </p:nvSpPr>
            <p:spPr>
              <a:xfrm>
                <a:off x="1988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2565" name="Line 184"/>
              <p:cNvSpPr/>
              <p:nvPr/>
            </p:nvSpPr>
            <p:spPr>
              <a:xfrm>
                <a:off x="3168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2566" name="Line 185"/>
              <p:cNvSpPr/>
              <p:nvPr/>
            </p:nvSpPr>
            <p:spPr>
              <a:xfrm>
                <a:off x="4317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2567" name="Line 186"/>
              <p:cNvSpPr/>
              <p:nvPr/>
            </p:nvSpPr>
            <p:spPr>
              <a:xfrm>
                <a:off x="544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2568" name="Freeform 187"/>
              <p:cNvSpPr/>
              <p:nvPr/>
            </p:nvSpPr>
            <p:spPr>
              <a:xfrm>
                <a:off x="3057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69" name="Freeform 188"/>
              <p:cNvSpPr/>
              <p:nvPr/>
            </p:nvSpPr>
            <p:spPr>
              <a:xfrm>
                <a:off x="4209" y="2691"/>
                <a:ext cx="3" cy="522"/>
              </a:xfrm>
              <a:custGeom>
                <a:avLst/>
                <a:gdLst>
                  <a:gd name="txL" fmla="*/ 0 w 3"/>
                  <a:gd name="txT" fmla="*/ 0 h 522"/>
                  <a:gd name="txR" fmla="*/ 3 w 3"/>
                  <a:gd name="txB" fmla="*/ 522 h 522"/>
                </a:gdLst>
                <a:ahLst/>
                <a:cxnLst>
                  <a:cxn ang="0">
                    <a:pos x="0" y="0"/>
                  </a:cxn>
                  <a:cxn ang="0">
                    <a:pos x="3" y="522"/>
                  </a:cxn>
                </a:cxnLst>
                <a:rect l="txL" t="txT" r="txR" b="txB"/>
                <a:pathLst>
                  <a:path w="3" h="522">
                    <a:moveTo>
                      <a:pt x="0" y="0"/>
                    </a:moveTo>
                    <a:lnTo>
                      <a:pt x="3" y="52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70" name="Freeform 189"/>
              <p:cNvSpPr/>
              <p:nvPr/>
            </p:nvSpPr>
            <p:spPr>
              <a:xfrm>
                <a:off x="5349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2571" name="Text Box 190"/>
              <p:cNvSpPr txBox="1"/>
              <p:nvPr/>
            </p:nvSpPr>
            <p:spPr>
              <a:xfrm rot="5400000">
                <a:off x="1199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72" name="Text Box 191"/>
              <p:cNvSpPr txBox="1"/>
              <p:nvPr/>
            </p:nvSpPr>
            <p:spPr>
              <a:xfrm rot="5400000">
                <a:off x="1775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73" name="Text Box 192"/>
              <p:cNvSpPr txBox="1"/>
              <p:nvPr/>
            </p:nvSpPr>
            <p:spPr>
              <a:xfrm rot="5400000">
                <a:off x="2351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74" name="Text Box 193"/>
              <p:cNvSpPr txBox="1"/>
              <p:nvPr/>
            </p:nvSpPr>
            <p:spPr>
              <a:xfrm rot="5400000">
                <a:off x="2927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75" name="Text Box 194"/>
              <p:cNvSpPr txBox="1"/>
              <p:nvPr/>
            </p:nvSpPr>
            <p:spPr>
              <a:xfrm rot="5400000">
                <a:off x="3502" y="1610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76" name="Text Box 195"/>
              <p:cNvSpPr txBox="1"/>
              <p:nvPr/>
            </p:nvSpPr>
            <p:spPr>
              <a:xfrm rot="5400000">
                <a:off x="4079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77" name="Text Box 196"/>
              <p:cNvSpPr txBox="1"/>
              <p:nvPr/>
            </p:nvSpPr>
            <p:spPr>
              <a:xfrm rot="5400000">
                <a:off x="4655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78" name="Text Box 197"/>
              <p:cNvSpPr txBox="1"/>
              <p:nvPr/>
            </p:nvSpPr>
            <p:spPr>
              <a:xfrm rot="5400000">
                <a:off x="5250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79" name="Text Box 198"/>
              <p:cNvSpPr txBox="1"/>
              <p:nvPr/>
            </p:nvSpPr>
            <p:spPr>
              <a:xfrm>
                <a:off x="684" y="791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80" name="Text Box 199"/>
              <p:cNvSpPr txBox="1"/>
              <p:nvPr/>
            </p:nvSpPr>
            <p:spPr>
              <a:xfrm>
                <a:off x="684" y="1383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81" name="Text Box 200"/>
              <p:cNvSpPr txBox="1"/>
              <p:nvPr/>
            </p:nvSpPr>
            <p:spPr>
              <a:xfrm>
                <a:off x="648" y="1959"/>
                <a:ext cx="259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63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82" name="Line 201"/>
              <p:cNvSpPr/>
              <p:nvPr/>
            </p:nvSpPr>
            <p:spPr>
              <a:xfrm>
                <a:off x="356" y="2537"/>
                <a:ext cx="57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583" name="Text Box 202"/>
              <p:cNvSpPr txBox="1"/>
              <p:nvPr/>
            </p:nvSpPr>
            <p:spPr>
              <a:xfrm>
                <a:off x="684" y="2727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84" name="Text Box 203"/>
              <p:cNvSpPr txBox="1"/>
              <p:nvPr/>
            </p:nvSpPr>
            <p:spPr>
              <a:xfrm>
                <a:off x="648" y="3159"/>
                <a:ext cx="259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15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85" name="Text Box 204"/>
              <p:cNvSpPr txBox="1"/>
              <p:nvPr/>
            </p:nvSpPr>
            <p:spPr>
              <a:xfrm rot="5400000">
                <a:off x="671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86" name="Text Box 205"/>
              <p:cNvSpPr txBox="1"/>
              <p:nvPr/>
            </p:nvSpPr>
            <p:spPr>
              <a:xfrm rot="5400000">
                <a:off x="671" y="2859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87" name="Text Box 206"/>
              <p:cNvSpPr txBox="1"/>
              <p:nvPr/>
            </p:nvSpPr>
            <p:spPr>
              <a:xfrm>
                <a:off x="373" y="1015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88" name="Text Box 207"/>
              <p:cNvSpPr txBox="1"/>
              <p:nvPr/>
            </p:nvSpPr>
            <p:spPr>
              <a:xfrm>
                <a:off x="373" y="1263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89" name="Text Box 208"/>
              <p:cNvSpPr txBox="1"/>
              <p:nvPr/>
            </p:nvSpPr>
            <p:spPr>
              <a:xfrm>
                <a:off x="373" y="1511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90" name="Text Box 209"/>
              <p:cNvSpPr txBox="1"/>
              <p:nvPr/>
            </p:nvSpPr>
            <p:spPr>
              <a:xfrm>
                <a:off x="373" y="1758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91" name="Text Box 210"/>
              <p:cNvSpPr txBox="1"/>
              <p:nvPr/>
            </p:nvSpPr>
            <p:spPr>
              <a:xfrm>
                <a:off x="373" y="2006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92" name="Text Box 211"/>
              <p:cNvSpPr txBox="1"/>
              <p:nvPr/>
            </p:nvSpPr>
            <p:spPr>
              <a:xfrm>
                <a:off x="400" y="2635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93" name="Text Box 212"/>
              <p:cNvSpPr txBox="1"/>
              <p:nvPr/>
            </p:nvSpPr>
            <p:spPr>
              <a:xfrm>
                <a:off x="400" y="2883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94" name="Text Box 213"/>
              <p:cNvSpPr txBox="1"/>
              <p:nvPr/>
            </p:nvSpPr>
            <p:spPr>
              <a:xfrm>
                <a:off x="400" y="3131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95" name="Text Box 214"/>
              <p:cNvSpPr txBox="1"/>
              <p:nvPr/>
            </p:nvSpPr>
            <p:spPr>
              <a:xfrm>
                <a:off x="400" y="3378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96" name="Text Box 215"/>
              <p:cNvSpPr txBox="1"/>
              <p:nvPr/>
            </p:nvSpPr>
            <p:spPr>
              <a:xfrm>
                <a:off x="400" y="3626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97" name="Text Box 216"/>
              <p:cNvSpPr txBox="1"/>
              <p:nvPr/>
            </p:nvSpPr>
            <p:spPr>
              <a:xfrm>
                <a:off x="1970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98" name="Text Box 217"/>
              <p:cNvSpPr txBox="1"/>
              <p:nvPr/>
            </p:nvSpPr>
            <p:spPr>
              <a:xfrm>
                <a:off x="3130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599" name="Text Box 218"/>
              <p:cNvSpPr txBox="1"/>
              <p:nvPr/>
            </p:nvSpPr>
            <p:spPr>
              <a:xfrm>
                <a:off x="4282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00" name="Text Box 219"/>
              <p:cNvSpPr txBox="1"/>
              <p:nvPr/>
            </p:nvSpPr>
            <p:spPr>
              <a:xfrm>
                <a:off x="5440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01" name="Line 220"/>
              <p:cNvSpPr/>
              <p:nvPr/>
            </p:nvSpPr>
            <p:spPr>
              <a:xfrm>
                <a:off x="164" y="905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2602" name="Line 221"/>
              <p:cNvSpPr/>
              <p:nvPr/>
            </p:nvSpPr>
            <p:spPr>
              <a:xfrm>
                <a:off x="164" y="116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2603" name="Line 222"/>
              <p:cNvSpPr/>
              <p:nvPr/>
            </p:nvSpPr>
            <p:spPr>
              <a:xfrm>
                <a:off x="164" y="142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2604" name="Line 223"/>
              <p:cNvSpPr/>
              <p:nvPr/>
            </p:nvSpPr>
            <p:spPr>
              <a:xfrm>
                <a:off x="164" y="168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2605" name="Line 224"/>
              <p:cNvSpPr/>
              <p:nvPr/>
            </p:nvSpPr>
            <p:spPr>
              <a:xfrm>
                <a:off x="164" y="194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2606" name="Line 225"/>
              <p:cNvSpPr/>
              <p:nvPr/>
            </p:nvSpPr>
            <p:spPr>
              <a:xfrm>
                <a:off x="164" y="220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2607" name="Line 226"/>
              <p:cNvSpPr/>
              <p:nvPr/>
            </p:nvSpPr>
            <p:spPr>
              <a:xfrm>
                <a:off x="164" y="287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2608" name="Line 227"/>
              <p:cNvSpPr/>
              <p:nvPr/>
            </p:nvSpPr>
            <p:spPr>
              <a:xfrm>
                <a:off x="164" y="313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2609" name="Line 228"/>
              <p:cNvSpPr/>
              <p:nvPr/>
            </p:nvSpPr>
            <p:spPr>
              <a:xfrm>
                <a:off x="164" y="339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2610" name="Line 229"/>
              <p:cNvSpPr/>
              <p:nvPr/>
            </p:nvSpPr>
            <p:spPr>
              <a:xfrm>
                <a:off x="164" y="365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2611" name="Text Box 230"/>
              <p:cNvSpPr txBox="1"/>
              <p:nvPr/>
            </p:nvSpPr>
            <p:spPr>
              <a:xfrm>
                <a:off x="672" y="3890"/>
                <a:ext cx="35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WE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12" name="Line 231"/>
              <p:cNvSpPr/>
              <p:nvPr/>
            </p:nvSpPr>
            <p:spPr>
              <a:xfrm>
                <a:off x="706" y="3923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2613" name="Text Box 232"/>
              <p:cNvSpPr txBox="1"/>
              <p:nvPr/>
            </p:nvSpPr>
            <p:spPr>
              <a:xfrm>
                <a:off x="693" y="4025"/>
                <a:ext cx="32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CS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2614" name="Line 233"/>
              <p:cNvSpPr/>
              <p:nvPr/>
            </p:nvSpPr>
            <p:spPr>
              <a:xfrm>
                <a:off x="750" y="4079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1" name="Group 234"/>
          <p:cNvGrpSpPr/>
          <p:nvPr/>
        </p:nvGrpSpPr>
        <p:grpSpPr>
          <a:xfrm>
            <a:off x="3146425" y="854075"/>
            <a:ext cx="7292975" cy="403225"/>
            <a:chOff x="1022" y="538"/>
            <a:chExt cx="4594" cy="254"/>
          </a:xfrm>
        </p:grpSpPr>
        <p:sp>
          <p:nvSpPr>
            <p:cNvPr id="272392" name="Line 235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2393" name="Freeform 236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2394" name="Line 237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2395" name="Freeform 238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2396" name="Line 239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2397" name="Text Box 240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2398" name="Text Box 241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2399" name="Text Box 242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2400" name="Text Box 243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2401" name="Line 244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2402" name="Line 245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2403" name="Line 246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2404" name="Line 247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2405" name="Line 248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2406" name="Line 249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2407" name="Line 250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2408" name="Line 251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09148" name="Rectangle 25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2390" name="AutoShape 253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239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73410" name="Group 2"/>
          <p:cNvGrpSpPr/>
          <p:nvPr/>
        </p:nvGrpSpPr>
        <p:grpSpPr>
          <a:xfrm>
            <a:off x="1746250" y="1255713"/>
            <a:ext cx="8918575" cy="5532438"/>
            <a:chOff x="140" y="791"/>
            <a:chExt cx="5618" cy="3485"/>
          </a:xfrm>
        </p:grpSpPr>
        <p:sp>
          <p:nvSpPr>
            <p:cNvPr id="273444" name="Rectangle 3"/>
            <p:cNvSpPr/>
            <p:nvPr/>
          </p:nvSpPr>
          <p:spPr>
            <a:xfrm>
              <a:off x="332" y="2181"/>
              <a:ext cx="576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45" name="Rectangle 4"/>
            <p:cNvSpPr/>
            <p:nvPr/>
          </p:nvSpPr>
          <p:spPr>
            <a:xfrm>
              <a:off x="1728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46" name="Text Box 5"/>
            <p:cNvSpPr txBox="1"/>
            <p:nvPr/>
          </p:nvSpPr>
          <p:spPr>
            <a:xfrm>
              <a:off x="140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47" name="Rectangle 6"/>
            <p:cNvSpPr/>
            <p:nvPr/>
          </p:nvSpPr>
          <p:spPr>
            <a:xfrm>
              <a:off x="1152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48" name="Rectangle 7"/>
            <p:cNvSpPr/>
            <p:nvPr/>
          </p:nvSpPr>
          <p:spPr>
            <a:xfrm>
              <a:off x="2869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49" name="Text Box 8"/>
            <p:cNvSpPr txBox="1"/>
            <p:nvPr/>
          </p:nvSpPr>
          <p:spPr>
            <a:xfrm>
              <a:off x="2549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50" name="Rectangle 9"/>
            <p:cNvSpPr/>
            <p:nvPr/>
          </p:nvSpPr>
          <p:spPr>
            <a:xfrm>
              <a:off x="2293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51" name="Rectangle 10"/>
            <p:cNvSpPr/>
            <p:nvPr/>
          </p:nvSpPr>
          <p:spPr>
            <a:xfrm>
              <a:off x="4044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52" name="Text Box 11"/>
            <p:cNvSpPr txBox="1"/>
            <p:nvPr/>
          </p:nvSpPr>
          <p:spPr>
            <a:xfrm>
              <a:off x="3724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53" name="Rectangle 12"/>
            <p:cNvSpPr/>
            <p:nvPr/>
          </p:nvSpPr>
          <p:spPr>
            <a:xfrm>
              <a:off x="3468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54" name="Rectangle 13"/>
            <p:cNvSpPr/>
            <p:nvPr/>
          </p:nvSpPr>
          <p:spPr>
            <a:xfrm>
              <a:off x="5180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55" name="Text Box 14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56" name="Rectangle 15"/>
            <p:cNvSpPr/>
            <p:nvPr/>
          </p:nvSpPr>
          <p:spPr>
            <a:xfrm>
              <a:off x="4604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57" name="Rectangle 16"/>
            <p:cNvSpPr/>
            <p:nvPr/>
          </p:nvSpPr>
          <p:spPr>
            <a:xfrm>
              <a:off x="1728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58" name="Rectangle 17"/>
            <p:cNvSpPr/>
            <p:nvPr/>
          </p:nvSpPr>
          <p:spPr>
            <a:xfrm>
              <a:off x="1152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59" name="Rectangle 18"/>
            <p:cNvSpPr/>
            <p:nvPr/>
          </p:nvSpPr>
          <p:spPr>
            <a:xfrm>
              <a:off x="2869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60" name="Rectangle 19"/>
            <p:cNvSpPr/>
            <p:nvPr/>
          </p:nvSpPr>
          <p:spPr>
            <a:xfrm>
              <a:off x="2293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61" name="Rectangle 20"/>
            <p:cNvSpPr/>
            <p:nvPr/>
          </p:nvSpPr>
          <p:spPr>
            <a:xfrm>
              <a:off x="4044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62" name="Rectangle 21"/>
            <p:cNvSpPr/>
            <p:nvPr/>
          </p:nvSpPr>
          <p:spPr>
            <a:xfrm>
              <a:off x="3468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63" name="Rectangle 22"/>
            <p:cNvSpPr/>
            <p:nvPr/>
          </p:nvSpPr>
          <p:spPr>
            <a:xfrm>
              <a:off x="5180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64" name="Rectangle 23"/>
            <p:cNvSpPr/>
            <p:nvPr/>
          </p:nvSpPr>
          <p:spPr>
            <a:xfrm>
              <a:off x="4604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65" name="Line 24"/>
            <p:cNvSpPr/>
            <p:nvPr/>
          </p:nvSpPr>
          <p:spPr>
            <a:xfrm rot="5400000">
              <a:off x="1325" y="2712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66" name="Line 25"/>
            <p:cNvSpPr/>
            <p:nvPr/>
          </p:nvSpPr>
          <p:spPr>
            <a:xfrm rot="5400000">
              <a:off x="1308" y="271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67" name="Freeform 26"/>
            <p:cNvSpPr/>
            <p:nvPr/>
          </p:nvSpPr>
          <p:spPr>
            <a:xfrm>
              <a:off x="1260" y="2709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68" name="Line 27"/>
            <p:cNvSpPr/>
            <p:nvPr/>
          </p:nvSpPr>
          <p:spPr>
            <a:xfrm rot="-5400000">
              <a:off x="1133" y="2712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69" name="Line 28"/>
            <p:cNvSpPr/>
            <p:nvPr/>
          </p:nvSpPr>
          <p:spPr>
            <a:xfrm rot="-5400000">
              <a:off x="1212" y="271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70" name="Freeform 29"/>
            <p:cNvSpPr/>
            <p:nvPr/>
          </p:nvSpPr>
          <p:spPr>
            <a:xfrm>
              <a:off x="1434" y="2353"/>
              <a:ext cx="112" cy="1"/>
            </a:xfrm>
            <a:custGeom>
              <a:avLst/>
              <a:gdLst>
                <a:gd name="txL" fmla="*/ 0 w 112"/>
                <a:gd name="txT" fmla="*/ 0 h 1"/>
                <a:gd name="txR" fmla="*/ 112 w 11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2" y="0"/>
                </a:cxn>
              </a:cxnLst>
              <a:rect l="txL" t="txT" r="txR" b="txB"/>
              <a:pathLst>
                <a:path w="112" h="1">
                  <a:moveTo>
                    <a:pt x="0" y="0"/>
                  </a:moveTo>
                  <a:lnTo>
                    <a:pt x="11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71" name="Freeform 30"/>
            <p:cNvSpPr/>
            <p:nvPr/>
          </p:nvSpPr>
          <p:spPr>
            <a:xfrm>
              <a:off x="1059" y="1209"/>
              <a:ext cx="152" cy="1469"/>
            </a:xfrm>
            <a:custGeom>
              <a:avLst/>
              <a:gdLst>
                <a:gd name="txL" fmla="*/ 0 w 152"/>
                <a:gd name="txT" fmla="*/ 0 h 1469"/>
                <a:gd name="txR" fmla="*/ 152 w 152"/>
                <a:gd name="txB" fmla="*/ 1469 h 1469"/>
              </a:gdLst>
              <a:ahLst/>
              <a:cxnLst>
                <a:cxn ang="0">
                  <a:pos x="152" y="1469"/>
                </a:cxn>
                <a:cxn ang="0">
                  <a:pos x="0" y="1469"/>
                </a:cxn>
                <a:cxn ang="0">
                  <a:pos x="0" y="0"/>
                </a:cxn>
                <a:cxn ang="0">
                  <a:pos x="95" y="1"/>
                </a:cxn>
              </a:cxnLst>
              <a:rect l="txL" t="txT" r="txR" b="txB"/>
              <a:pathLst>
                <a:path w="152" h="1469">
                  <a:moveTo>
                    <a:pt x="152" y="1469"/>
                  </a:moveTo>
                  <a:lnTo>
                    <a:pt x="0" y="1469"/>
                  </a:lnTo>
                  <a:lnTo>
                    <a:pt x="0" y="0"/>
                  </a:lnTo>
                  <a:lnTo>
                    <a:pt x="95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72" name="Freeform 31"/>
            <p:cNvSpPr/>
            <p:nvPr/>
          </p:nvSpPr>
          <p:spPr>
            <a:xfrm>
              <a:off x="1055" y="2353"/>
              <a:ext cx="102" cy="1"/>
            </a:xfrm>
            <a:custGeom>
              <a:avLst/>
              <a:gdLst>
                <a:gd name="txL" fmla="*/ 0 w 102"/>
                <a:gd name="txT" fmla="*/ 0 h 1"/>
                <a:gd name="txR" fmla="*/ 102 w 102"/>
                <a:gd name="txB" fmla="*/ 1 h 1"/>
              </a:gdLst>
              <a:ahLst/>
              <a:cxnLst>
                <a:cxn ang="0">
                  <a:pos x="102" y="0"/>
                </a:cxn>
                <a:cxn ang="0">
                  <a:pos x="0" y="0"/>
                </a:cxn>
              </a:cxnLst>
              <a:rect l="txL" t="txT" r="txR" b="txB"/>
              <a:pathLst>
                <a:path w="102" h="1">
                  <a:moveTo>
                    <a:pt x="102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73" name="Line 32"/>
            <p:cNvSpPr/>
            <p:nvPr/>
          </p:nvSpPr>
          <p:spPr>
            <a:xfrm rot="5400000">
              <a:off x="1896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74" name="Line 33"/>
            <p:cNvSpPr/>
            <p:nvPr/>
          </p:nvSpPr>
          <p:spPr>
            <a:xfrm rot="5400000">
              <a:off x="1879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75" name="Freeform 34"/>
            <p:cNvSpPr/>
            <p:nvPr/>
          </p:nvSpPr>
          <p:spPr>
            <a:xfrm>
              <a:off x="1831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76" name="Line 35"/>
            <p:cNvSpPr/>
            <p:nvPr/>
          </p:nvSpPr>
          <p:spPr>
            <a:xfrm rot="-5400000">
              <a:off x="1704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77" name="Line 36"/>
            <p:cNvSpPr/>
            <p:nvPr/>
          </p:nvSpPr>
          <p:spPr>
            <a:xfrm rot="-5400000">
              <a:off x="1783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78" name="Freeform 37"/>
            <p:cNvSpPr/>
            <p:nvPr/>
          </p:nvSpPr>
          <p:spPr>
            <a:xfrm>
              <a:off x="2005" y="2353"/>
              <a:ext cx="103" cy="1"/>
            </a:xfrm>
            <a:custGeom>
              <a:avLst/>
              <a:gdLst>
                <a:gd name="txL" fmla="*/ 0 w 103"/>
                <a:gd name="txT" fmla="*/ 0 h 1"/>
                <a:gd name="txR" fmla="*/ 103 w 10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3" y="0"/>
                </a:cxn>
              </a:cxnLst>
              <a:rect l="txL" t="txT" r="txR" b="txB"/>
              <a:pathLst>
                <a:path w="103" h="1">
                  <a:moveTo>
                    <a:pt x="0" y="0"/>
                  </a:moveTo>
                  <a:lnTo>
                    <a:pt x="10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79" name="Freeform 38"/>
            <p:cNvSpPr/>
            <p:nvPr/>
          </p:nvSpPr>
          <p:spPr>
            <a:xfrm>
              <a:off x="1611" y="2352"/>
              <a:ext cx="113" cy="1"/>
            </a:xfrm>
            <a:custGeom>
              <a:avLst/>
              <a:gdLst>
                <a:gd name="txL" fmla="*/ 0 w 113"/>
                <a:gd name="txT" fmla="*/ 0 h 1"/>
                <a:gd name="txR" fmla="*/ 113 w 113"/>
                <a:gd name="txB" fmla="*/ 1 h 1"/>
              </a:gdLst>
              <a:ahLst/>
              <a:cxnLst>
                <a:cxn ang="0">
                  <a:pos x="113" y="1"/>
                </a:cxn>
                <a:cxn ang="0">
                  <a:pos x="0" y="0"/>
                </a:cxn>
              </a:cxnLst>
              <a:rect l="txL" t="txT" r="txR" b="txB"/>
              <a:pathLst>
                <a:path w="113" h="1">
                  <a:moveTo>
                    <a:pt x="113" y="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80" name="Line 39"/>
            <p:cNvSpPr/>
            <p:nvPr/>
          </p:nvSpPr>
          <p:spPr>
            <a:xfrm rot="5400000">
              <a:off x="2477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81" name="Line 40"/>
            <p:cNvSpPr/>
            <p:nvPr/>
          </p:nvSpPr>
          <p:spPr>
            <a:xfrm rot="5400000">
              <a:off x="2460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82" name="Freeform 41"/>
            <p:cNvSpPr/>
            <p:nvPr/>
          </p:nvSpPr>
          <p:spPr>
            <a:xfrm>
              <a:off x="2412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83" name="Line 42"/>
            <p:cNvSpPr/>
            <p:nvPr/>
          </p:nvSpPr>
          <p:spPr>
            <a:xfrm rot="-5400000">
              <a:off x="2285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84" name="Line 43"/>
            <p:cNvSpPr/>
            <p:nvPr/>
          </p:nvSpPr>
          <p:spPr>
            <a:xfrm rot="-5400000">
              <a:off x="2364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85" name="Freeform 44"/>
            <p:cNvSpPr/>
            <p:nvPr/>
          </p:nvSpPr>
          <p:spPr>
            <a:xfrm>
              <a:off x="2586" y="2353"/>
              <a:ext cx="109" cy="1"/>
            </a:xfrm>
            <a:custGeom>
              <a:avLst/>
              <a:gdLst>
                <a:gd name="txL" fmla="*/ 0 w 109"/>
                <a:gd name="txT" fmla="*/ 0 h 1"/>
                <a:gd name="txR" fmla="*/ 109 w 10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9" y="0"/>
                </a:cxn>
              </a:cxnLst>
              <a:rect l="txL" t="txT" r="txR" b="txB"/>
              <a:pathLst>
                <a:path w="109" h="1">
                  <a:moveTo>
                    <a:pt x="0" y="0"/>
                  </a:moveTo>
                  <a:lnTo>
                    <a:pt x="10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86" name="Freeform 45"/>
            <p:cNvSpPr/>
            <p:nvPr/>
          </p:nvSpPr>
          <p:spPr>
            <a:xfrm>
              <a:off x="2207" y="2353"/>
              <a:ext cx="89" cy="1"/>
            </a:xfrm>
            <a:custGeom>
              <a:avLst/>
              <a:gdLst>
                <a:gd name="txL" fmla="*/ 0 w 89"/>
                <a:gd name="txT" fmla="*/ 0 h 1"/>
                <a:gd name="txR" fmla="*/ 89 w 89"/>
                <a:gd name="txB" fmla="*/ 1 h 1"/>
              </a:gdLst>
              <a:ahLst/>
              <a:cxnLst>
                <a:cxn ang="0">
                  <a:pos x="89" y="0"/>
                </a:cxn>
                <a:cxn ang="0">
                  <a:pos x="0" y="0"/>
                </a:cxn>
              </a:cxnLst>
              <a:rect l="txL" t="txT" r="txR" b="txB"/>
              <a:pathLst>
                <a:path w="89" h="1">
                  <a:moveTo>
                    <a:pt x="89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87" name="Line 46"/>
            <p:cNvSpPr/>
            <p:nvPr/>
          </p:nvSpPr>
          <p:spPr>
            <a:xfrm rot="5400000">
              <a:off x="3053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88" name="Line 47"/>
            <p:cNvSpPr/>
            <p:nvPr/>
          </p:nvSpPr>
          <p:spPr>
            <a:xfrm rot="5400000">
              <a:off x="3036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89" name="Freeform 48"/>
            <p:cNvSpPr/>
            <p:nvPr/>
          </p:nvSpPr>
          <p:spPr>
            <a:xfrm>
              <a:off x="2988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90" name="Line 49"/>
            <p:cNvSpPr/>
            <p:nvPr/>
          </p:nvSpPr>
          <p:spPr>
            <a:xfrm rot="-5400000">
              <a:off x="2861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91" name="Line 50"/>
            <p:cNvSpPr/>
            <p:nvPr/>
          </p:nvSpPr>
          <p:spPr>
            <a:xfrm rot="-5400000">
              <a:off x="2940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92" name="Freeform 51"/>
            <p:cNvSpPr/>
            <p:nvPr/>
          </p:nvSpPr>
          <p:spPr>
            <a:xfrm>
              <a:off x="3162" y="2353"/>
              <a:ext cx="115" cy="1"/>
            </a:xfrm>
            <a:custGeom>
              <a:avLst/>
              <a:gdLst>
                <a:gd name="txL" fmla="*/ 0 w 115"/>
                <a:gd name="txT" fmla="*/ 0 h 1"/>
                <a:gd name="txR" fmla="*/ 115 w 11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5" y="0"/>
                </a:cxn>
              </a:cxnLst>
              <a:rect l="txL" t="txT" r="txR" b="txB"/>
              <a:pathLst>
                <a:path w="115" h="1">
                  <a:moveTo>
                    <a:pt x="0" y="0"/>
                  </a:moveTo>
                  <a:lnTo>
                    <a:pt x="11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93" name="Freeform 52"/>
            <p:cNvSpPr/>
            <p:nvPr/>
          </p:nvSpPr>
          <p:spPr>
            <a:xfrm>
              <a:off x="2783" y="2353"/>
              <a:ext cx="90" cy="1"/>
            </a:xfrm>
            <a:custGeom>
              <a:avLst/>
              <a:gdLst>
                <a:gd name="txL" fmla="*/ 0 w 90"/>
                <a:gd name="txT" fmla="*/ 0 h 1"/>
                <a:gd name="txR" fmla="*/ 90 w 90"/>
                <a:gd name="txB" fmla="*/ 1 h 1"/>
              </a:gdLst>
              <a:ahLst/>
              <a:cxnLst>
                <a:cxn ang="0">
                  <a:pos x="90" y="0"/>
                </a:cxn>
                <a:cxn ang="0">
                  <a:pos x="0" y="0"/>
                </a:cxn>
              </a:cxnLst>
              <a:rect l="txL" t="txT" r="txR" b="txB"/>
              <a:pathLst>
                <a:path w="90" h="1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94" name="Line 53"/>
            <p:cNvSpPr/>
            <p:nvPr/>
          </p:nvSpPr>
          <p:spPr>
            <a:xfrm rot="5400000">
              <a:off x="3629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95" name="Line 54"/>
            <p:cNvSpPr/>
            <p:nvPr/>
          </p:nvSpPr>
          <p:spPr>
            <a:xfrm rot="5400000">
              <a:off x="3612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96" name="Freeform 55"/>
            <p:cNvSpPr/>
            <p:nvPr/>
          </p:nvSpPr>
          <p:spPr>
            <a:xfrm>
              <a:off x="3564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97" name="Line 56"/>
            <p:cNvSpPr/>
            <p:nvPr/>
          </p:nvSpPr>
          <p:spPr>
            <a:xfrm rot="-5400000">
              <a:off x="3437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98" name="Line 57"/>
            <p:cNvSpPr/>
            <p:nvPr/>
          </p:nvSpPr>
          <p:spPr>
            <a:xfrm rot="-5400000">
              <a:off x="3516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499" name="Freeform 58"/>
            <p:cNvSpPr/>
            <p:nvPr/>
          </p:nvSpPr>
          <p:spPr>
            <a:xfrm>
              <a:off x="3751" y="2352"/>
              <a:ext cx="100" cy="1"/>
            </a:xfrm>
            <a:custGeom>
              <a:avLst/>
              <a:gdLst>
                <a:gd name="txL" fmla="*/ 0 w 100"/>
                <a:gd name="txT" fmla="*/ 0 h 1"/>
                <a:gd name="txR" fmla="*/ 100 w 10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0" y="1"/>
                </a:cxn>
              </a:cxnLst>
              <a:rect l="txL" t="txT" r="txR" b="txB"/>
              <a:pathLst>
                <a:path w="100" h="1">
                  <a:moveTo>
                    <a:pt x="0" y="0"/>
                  </a:moveTo>
                  <a:lnTo>
                    <a:pt x="10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00" name="Freeform 59"/>
            <p:cNvSpPr/>
            <p:nvPr/>
          </p:nvSpPr>
          <p:spPr>
            <a:xfrm>
              <a:off x="3359" y="2353"/>
              <a:ext cx="108" cy="1"/>
            </a:xfrm>
            <a:custGeom>
              <a:avLst/>
              <a:gdLst>
                <a:gd name="txL" fmla="*/ 0 w 108"/>
                <a:gd name="txT" fmla="*/ 0 h 1"/>
                <a:gd name="txR" fmla="*/ 108 w 108"/>
                <a:gd name="txB" fmla="*/ 1 h 1"/>
              </a:gdLst>
              <a:ahLst/>
              <a:cxnLst>
                <a:cxn ang="0">
                  <a:pos x="108" y="0"/>
                </a:cxn>
                <a:cxn ang="0">
                  <a:pos x="0" y="0"/>
                </a:cxn>
              </a:cxnLst>
              <a:rect l="txL" t="txT" r="txR" b="txB"/>
              <a:pathLst>
                <a:path w="108" h="1">
                  <a:moveTo>
                    <a:pt x="108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01" name="Line 60"/>
            <p:cNvSpPr/>
            <p:nvPr/>
          </p:nvSpPr>
          <p:spPr>
            <a:xfrm rot="5400000">
              <a:off x="4205" y="2698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502" name="Line 61"/>
            <p:cNvSpPr/>
            <p:nvPr/>
          </p:nvSpPr>
          <p:spPr>
            <a:xfrm rot="5400000">
              <a:off x="4188" y="26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503" name="Freeform 62"/>
            <p:cNvSpPr/>
            <p:nvPr/>
          </p:nvSpPr>
          <p:spPr>
            <a:xfrm>
              <a:off x="4140" y="2695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04" name="Line 63"/>
            <p:cNvSpPr/>
            <p:nvPr/>
          </p:nvSpPr>
          <p:spPr>
            <a:xfrm rot="-5400000">
              <a:off x="4013" y="2698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505" name="Line 64"/>
            <p:cNvSpPr/>
            <p:nvPr/>
          </p:nvSpPr>
          <p:spPr>
            <a:xfrm rot="-5400000">
              <a:off x="4092" y="270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506" name="Freeform 65"/>
            <p:cNvSpPr/>
            <p:nvPr/>
          </p:nvSpPr>
          <p:spPr>
            <a:xfrm>
              <a:off x="4336" y="2351"/>
              <a:ext cx="90" cy="2"/>
            </a:xfrm>
            <a:custGeom>
              <a:avLst/>
              <a:gdLst>
                <a:gd name="txL" fmla="*/ 0 w 90"/>
                <a:gd name="txT" fmla="*/ 0 h 2"/>
                <a:gd name="txR" fmla="*/ 90 w 90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90" y="2"/>
                </a:cxn>
              </a:cxnLst>
              <a:rect l="txL" t="txT" r="txR" b="txB"/>
              <a:pathLst>
                <a:path w="90" h="2">
                  <a:moveTo>
                    <a:pt x="0" y="0"/>
                  </a:moveTo>
                  <a:lnTo>
                    <a:pt x="90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07" name="Freeform 66"/>
            <p:cNvSpPr/>
            <p:nvPr/>
          </p:nvSpPr>
          <p:spPr>
            <a:xfrm>
              <a:off x="3935" y="2353"/>
              <a:ext cx="104" cy="1"/>
            </a:xfrm>
            <a:custGeom>
              <a:avLst/>
              <a:gdLst>
                <a:gd name="txL" fmla="*/ 0 w 104"/>
                <a:gd name="txT" fmla="*/ 0 h 1"/>
                <a:gd name="txR" fmla="*/ 104 w 104"/>
                <a:gd name="txB" fmla="*/ 1 h 1"/>
              </a:gdLst>
              <a:ahLst/>
              <a:cxnLst>
                <a:cxn ang="0">
                  <a:pos x="104" y="0"/>
                </a:cxn>
                <a:cxn ang="0">
                  <a:pos x="0" y="0"/>
                </a:cxn>
              </a:cxnLst>
              <a:rect l="txL" t="txT" r="txR" b="txB"/>
              <a:pathLst>
                <a:path w="104" h="1">
                  <a:moveTo>
                    <a:pt x="104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3508" name="Group 67"/>
            <p:cNvGrpSpPr/>
            <p:nvPr/>
          </p:nvGrpSpPr>
          <p:grpSpPr>
            <a:xfrm>
              <a:off x="4668" y="2634"/>
              <a:ext cx="192" cy="158"/>
              <a:chOff x="4692" y="2634"/>
              <a:chExt cx="192" cy="158"/>
            </a:xfrm>
          </p:grpSpPr>
          <p:grpSp>
            <p:nvGrpSpPr>
              <p:cNvPr id="273655" name="Group 68"/>
              <p:cNvGrpSpPr/>
              <p:nvPr/>
            </p:nvGrpSpPr>
            <p:grpSpPr>
              <a:xfrm>
                <a:off x="4836" y="2634"/>
                <a:ext cx="48" cy="158"/>
                <a:chOff x="4836" y="2634"/>
                <a:chExt cx="48" cy="158"/>
              </a:xfrm>
            </p:grpSpPr>
            <p:sp>
              <p:nvSpPr>
                <p:cNvPr id="273660" name="Line 69"/>
                <p:cNvSpPr/>
                <p:nvPr/>
              </p:nvSpPr>
              <p:spPr>
                <a:xfrm rot="5400000">
                  <a:off x="4805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3661" name="Line 70"/>
                <p:cNvSpPr/>
                <p:nvPr/>
              </p:nvSpPr>
              <p:spPr>
                <a:xfrm rot="5400000">
                  <a:off x="4788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3656" name="Freeform 71"/>
              <p:cNvSpPr/>
              <p:nvPr/>
            </p:nvSpPr>
            <p:spPr>
              <a:xfrm>
                <a:off x="4740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3657" name="Group 72"/>
              <p:cNvGrpSpPr/>
              <p:nvPr/>
            </p:nvGrpSpPr>
            <p:grpSpPr>
              <a:xfrm>
                <a:off x="4692" y="2634"/>
                <a:ext cx="48" cy="158"/>
                <a:chOff x="4692" y="2634"/>
                <a:chExt cx="48" cy="158"/>
              </a:xfrm>
            </p:grpSpPr>
            <p:sp>
              <p:nvSpPr>
                <p:cNvPr id="273658" name="Line 73"/>
                <p:cNvSpPr/>
                <p:nvPr/>
              </p:nvSpPr>
              <p:spPr>
                <a:xfrm rot="-5400000">
                  <a:off x="4613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3659" name="Line 74"/>
                <p:cNvSpPr/>
                <p:nvPr/>
              </p:nvSpPr>
              <p:spPr>
                <a:xfrm rot="-5400000">
                  <a:off x="4692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73509" name="Freeform 75"/>
            <p:cNvSpPr/>
            <p:nvPr/>
          </p:nvSpPr>
          <p:spPr>
            <a:xfrm>
              <a:off x="4890" y="2353"/>
              <a:ext cx="107" cy="1"/>
            </a:xfrm>
            <a:custGeom>
              <a:avLst/>
              <a:gdLst>
                <a:gd name="txL" fmla="*/ 0 w 107"/>
                <a:gd name="txT" fmla="*/ 0 h 1"/>
                <a:gd name="txR" fmla="*/ 107 w 10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7" y="0"/>
                </a:cxn>
              </a:cxnLst>
              <a:rect l="txL" t="txT" r="txR" b="txB"/>
              <a:pathLst>
                <a:path w="107" h="1">
                  <a:moveTo>
                    <a:pt x="0" y="0"/>
                  </a:moveTo>
                  <a:lnTo>
                    <a:pt x="10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10" name="Freeform 76"/>
            <p:cNvSpPr/>
            <p:nvPr/>
          </p:nvSpPr>
          <p:spPr>
            <a:xfrm>
              <a:off x="4511" y="2353"/>
              <a:ext cx="96" cy="1"/>
            </a:xfrm>
            <a:custGeom>
              <a:avLst/>
              <a:gdLst>
                <a:gd name="txL" fmla="*/ 0 w 96"/>
                <a:gd name="txT" fmla="*/ 0 h 1"/>
                <a:gd name="txR" fmla="*/ 96 w 96"/>
                <a:gd name="txB" fmla="*/ 1 h 1"/>
              </a:gdLst>
              <a:ahLst/>
              <a:cxnLst>
                <a:cxn ang="0">
                  <a:pos x="96" y="0"/>
                </a:cxn>
                <a:cxn ang="0">
                  <a:pos x="0" y="0"/>
                </a:cxn>
              </a:cxnLst>
              <a:rect l="txL" t="txT" r="txR" b="txB"/>
              <a:pathLst>
                <a:path w="96" h="1">
                  <a:moveTo>
                    <a:pt x="96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3511" name="Group 77"/>
            <p:cNvGrpSpPr/>
            <p:nvPr/>
          </p:nvGrpSpPr>
          <p:grpSpPr>
            <a:xfrm>
              <a:off x="5235" y="2634"/>
              <a:ext cx="192" cy="158"/>
              <a:chOff x="5259" y="2634"/>
              <a:chExt cx="192" cy="158"/>
            </a:xfrm>
          </p:grpSpPr>
          <p:grpSp>
            <p:nvGrpSpPr>
              <p:cNvPr id="273648" name="Group 78"/>
              <p:cNvGrpSpPr/>
              <p:nvPr/>
            </p:nvGrpSpPr>
            <p:grpSpPr>
              <a:xfrm>
                <a:off x="5403" y="2634"/>
                <a:ext cx="48" cy="158"/>
                <a:chOff x="5403" y="2634"/>
                <a:chExt cx="48" cy="158"/>
              </a:xfrm>
            </p:grpSpPr>
            <p:sp>
              <p:nvSpPr>
                <p:cNvPr id="273653" name="Line 79"/>
                <p:cNvSpPr/>
                <p:nvPr/>
              </p:nvSpPr>
              <p:spPr>
                <a:xfrm rot="5400000">
                  <a:off x="5372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3654" name="Line 80"/>
                <p:cNvSpPr/>
                <p:nvPr/>
              </p:nvSpPr>
              <p:spPr>
                <a:xfrm rot="5400000">
                  <a:off x="5355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3649" name="Freeform 81"/>
              <p:cNvSpPr/>
              <p:nvPr/>
            </p:nvSpPr>
            <p:spPr>
              <a:xfrm>
                <a:off x="5307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3650" name="Group 82"/>
              <p:cNvGrpSpPr/>
              <p:nvPr/>
            </p:nvGrpSpPr>
            <p:grpSpPr>
              <a:xfrm>
                <a:off x="5259" y="2634"/>
                <a:ext cx="48" cy="158"/>
                <a:chOff x="5259" y="2634"/>
                <a:chExt cx="48" cy="158"/>
              </a:xfrm>
            </p:grpSpPr>
            <p:sp>
              <p:nvSpPr>
                <p:cNvPr id="273651" name="Line 83"/>
                <p:cNvSpPr/>
                <p:nvPr/>
              </p:nvSpPr>
              <p:spPr>
                <a:xfrm rot="-5400000">
                  <a:off x="5180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3652" name="Line 84"/>
                <p:cNvSpPr/>
                <p:nvPr/>
              </p:nvSpPr>
              <p:spPr>
                <a:xfrm rot="-5400000">
                  <a:off x="5259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73512" name="Freeform 85"/>
            <p:cNvSpPr/>
            <p:nvPr/>
          </p:nvSpPr>
          <p:spPr>
            <a:xfrm>
              <a:off x="5467" y="2351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96" y="2"/>
                </a:cxn>
              </a:cxnLst>
              <a:rect l="txL" t="txT" r="txR" b="txB"/>
              <a:pathLst>
                <a:path w="96" h="2">
                  <a:moveTo>
                    <a:pt x="0" y="0"/>
                  </a:moveTo>
                  <a:lnTo>
                    <a:pt x="96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13" name="Freeform 86"/>
            <p:cNvSpPr/>
            <p:nvPr/>
          </p:nvSpPr>
          <p:spPr>
            <a:xfrm>
              <a:off x="5078" y="2353"/>
              <a:ext cx="101" cy="1"/>
            </a:xfrm>
            <a:custGeom>
              <a:avLst/>
              <a:gdLst>
                <a:gd name="txL" fmla="*/ 0 w 101"/>
                <a:gd name="txT" fmla="*/ 0 h 1"/>
                <a:gd name="txR" fmla="*/ 101 w 101"/>
                <a:gd name="txB" fmla="*/ 1 h 1"/>
              </a:gdLst>
              <a:ahLst/>
              <a:cxnLst>
                <a:cxn ang="0">
                  <a:pos x="101" y="0"/>
                </a:cxn>
                <a:cxn ang="0">
                  <a:pos x="0" y="0"/>
                </a:cxn>
              </a:cxnLst>
              <a:rect l="txL" t="txT" r="txR" b="txB"/>
              <a:pathLst>
                <a:path w="101" h="1">
                  <a:moveTo>
                    <a:pt x="10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14" name="Freeform 87"/>
            <p:cNvSpPr/>
            <p:nvPr/>
          </p:nvSpPr>
          <p:spPr>
            <a:xfrm>
              <a:off x="908" y="856"/>
              <a:ext cx="4419" cy="1"/>
            </a:xfrm>
            <a:custGeom>
              <a:avLst/>
              <a:gdLst>
                <a:gd name="txL" fmla="*/ 0 w 4419"/>
                <a:gd name="txT" fmla="*/ 0 h 1"/>
                <a:gd name="txR" fmla="*/ 4419 w 4419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9" y="0"/>
                </a:cxn>
              </a:cxnLst>
              <a:rect l="txL" t="txT" r="txR" b="txB"/>
              <a:pathLst>
                <a:path w="4419" h="1">
                  <a:moveTo>
                    <a:pt x="0" y="1"/>
                  </a:moveTo>
                  <a:lnTo>
                    <a:pt x="441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15" name="Line 88"/>
            <p:cNvSpPr/>
            <p:nvPr/>
          </p:nvSpPr>
          <p:spPr>
            <a:xfrm>
              <a:off x="1292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16" name="Line 89"/>
            <p:cNvSpPr/>
            <p:nvPr/>
          </p:nvSpPr>
          <p:spPr>
            <a:xfrm>
              <a:off x="1868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17" name="Line 90"/>
            <p:cNvSpPr/>
            <p:nvPr/>
          </p:nvSpPr>
          <p:spPr>
            <a:xfrm>
              <a:off x="2444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18" name="Line 91"/>
            <p:cNvSpPr/>
            <p:nvPr/>
          </p:nvSpPr>
          <p:spPr>
            <a:xfrm>
              <a:off x="3020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19" name="Line 92"/>
            <p:cNvSpPr/>
            <p:nvPr/>
          </p:nvSpPr>
          <p:spPr>
            <a:xfrm>
              <a:off x="3596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20" name="Line 93"/>
            <p:cNvSpPr/>
            <p:nvPr/>
          </p:nvSpPr>
          <p:spPr>
            <a:xfrm>
              <a:off x="4172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21" name="Line 94"/>
            <p:cNvSpPr/>
            <p:nvPr/>
          </p:nvSpPr>
          <p:spPr>
            <a:xfrm>
              <a:off x="4748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22" name="Line 95"/>
            <p:cNvSpPr/>
            <p:nvPr/>
          </p:nvSpPr>
          <p:spPr>
            <a:xfrm>
              <a:off x="5324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73523" name="Freeform 96"/>
            <p:cNvSpPr/>
            <p:nvPr/>
          </p:nvSpPr>
          <p:spPr>
            <a:xfrm>
              <a:off x="1305" y="2708"/>
              <a:ext cx="1" cy="166"/>
            </a:xfrm>
            <a:custGeom>
              <a:avLst/>
              <a:gdLst>
                <a:gd name="txL" fmla="*/ 0 w 1"/>
                <a:gd name="txT" fmla="*/ 0 h 166"/>
                <a:gd name="txR" fmla="*/ 1 w 1"/>
                <a:gd name="txB" fmla="*/ 166 h 166"/>
              </a:gdLst>
              <a:ahLst/>
              <a:cxnLst>
                <a:cxn ang="0">
                  <a:pos x="1" y="0"/>
                </a:cxn>
                <a:cxn ang="0">
                  <a:pos x="0" y="166"/>
                </a:cxn>
              </a:cxnLst>
              <a:rect l="txL" t="txT" r="txR" b="txB"/>
              <a:pathLst>
                <a:path w="1" h="166">
                  <a:moveTo>
                    <a:pt x="1" y="0"/>
                  </a:moveTo>
                  <a:lnTo>
                    <a:pt x="0" y="1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24" name="Freeform 97"/>
            <p:cNvSpPr/>
            <p:nvPr/>
          </p:nvSpPr>
          <p:spPr>
            <a:xfrm>
              <a:off x="1880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25" name="Freeform 98"/>
            <p:cNvSpPr/>
            <p:nvPr/>
          </p:nvSpPr>
          <p:spPr>
            <a:xfrm>
              <a:off x="2454" y="2708"/>
              <a:ext cx="4" cy="166"/>
            </a:xfrm>
            <a:custGeom>
              <a:avLst/>
              <a:gdLst>
                <a:gd name="txL" fmla="*/ 0 w 4"/>
                <a:gd name="txT" fmla="*/ 0 h 166"/>
                <a:gd name="txR" fmla="*/ 4 w 4"/>
                <a:gd name="txB" fmla="*/ 166 h 166"/>
              </a:gdLst>
              <a:ahLst/>
              <a:cxnLst>
                <a:cxn ang="0">
                  <a:pos x="4" y="0"/>
                </a:cxn>
                <a:cxn ang="0">
                  <a:pos x="0" y="166"/>
                </a:cxn>
              </a:cxnLst>
              <a:rect l="txL" t="txT" r="txR" b="txB"/>
              <a:pathLst>
                <a:path w="4" h="166">
                  <a:moveTo>
                    <a:pt x="4" y="0"/>
                  </a:moveTo>
                  <a:lnTo>
                    <a:pt x="0" y="1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26" name="Freeform 99"/>
            <p:cNvSpPr/>
            <p:nvPr/>
          </p:nvSpPr>
          <p:spPr>
            <a:xfrm>
              <a:off x="3606" y="2708"/>
              <a:ext cx="2" cy="175"/>
            </a:xfrm>
            <a:custGeom>
              <a:avLst/>
              <a:gdLst>
                <a:gd name="txL" fmla="*/ 0 w 2"/>
                <a:gd name="txT" fmla="*/ 0 h 175"/>
                <a:gd name="txR" fmla="*/ 2 w 2"/>
                <a:gd name="txB" fmla="*/ 175 h 175"/>
              </a:gdLst>
              <a:ahLst/>
              <a:cxnLst>
                <a:cxn ang="0">
                  <a:pos x="2" y="0"/>
                </a:cxn>
                <a:cxn ang="0">
                  <a:pos x="0" y="175"/>
                </a:cxn>
              </a:cxnLst>
              <a:rect l="txL" t="txT" r="txR" b="txB"/>
              <a:pathLst>
                <a:path w="2" h="175">
                  <a:moveTo>
                    <a:pt x="2" y="0"/>
                  </a:moveTo>
                  <a:lnTo>
                    <a:pt x="0" y="17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27" name="Freeform 100"/>
            <p:cNvSpPr/>
            <p:nvPr/>
          </p:nvSpPr>
          <p:spPr>
            <a:xfrm>
              <a:off x="4760" y="2697"/>
              <a:ext cx="1" cy="176"/>
            </a:xfrm>
            <a:custGeom>
              <a:avLst/>
              <a:gdLst>
                <a:gd name="txL" fmla="*/ 0 w 1"/>
                <a:gd name="txT" fmla="*/ 0 h 176"/>
                <a:gd name="txR" fmla="*/ 1 w 1"/>
                <a:gd name="txB" fmla="*/ 176 h 176"/>
              </a:gdLst>
              <a:ahLst/>
              <a:cxnLst>
                <a:cxn ang="0">
                  <a:pos x="0" y="0"/>
                </a:cxn>
                <a:cxn ang="0">
                  <a:pos x="0" y="176"/>
                </a:cxn>
              </a:cxnLst>
              <a:rect l="txL" t="txT" r="txR" b="txB"/>
              <a:pathLst>
                <a:path w="1" h="176">
                  <a:moveTo>
                    <a:pt x="0" y="0"/>
                  </a:moveTo>
                  <a:lnTo>
                    <a:pt x="0" y="17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28" name="Freeform 101"/>
            <p:cNvSpPr/>
            <p:nvPr/>
          </p:nvSpPr>
          <p:spPr>
            <a:xfrm>
              <a:off x="908" y="1480"/>
              <a:ext cx="4422" cy="1"/>
            </a:xfrm>
            <a:custGeom>
              <a:avLst/>
              <a:gdLst>
                <a:gd name="txL" fmla="*/ 0 w 4422"/>
                <a:gd name="txT" fmla="*/ 0 h 1"/>
                <a:gd name="txR" fmla="*/ 4422 w 4422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22" y="0"/>
                </a:cxn>
              </a:cxnLst>
              <a:rect l="txL" t="txT" r="txR" b="txB"/>
              <a:pathLst>
                <a:path w="4422" h="1">
                  <a:moveTo>
                    <a:pt x="0" y="1"/>
                  </a:moveTo>
                  <a:lnTo>
                    <a:pt x="442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29" name="Line 102"/>
            <p:cNvSpPr/>
            <p:nvPr/>
          </p:nvSpPr>
          <p:spPr>
            <a:xfrm>
              <a:off x="1292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30" name="Line 103"/>
            <p:cNvSpPr/>
            <p:nvPr/>
          </p:nvSpPr>
          <p:spPr>
            <a:xfrm>
              <a:off x="1868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31" name="Line 104"/>
            <p:cNvSpPr/>
            <p:nvPr/>
          </p:nvSpPr>
          <p:spPr>
            <a:xfrm>
              <a:off x="2444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32" name="Line 105"/>
            <p:cNvSpPr/>
            <p:nvPr/>
          </p:nvSpPr>
          <p:spPr>
            <a:xfrm>
              <a:off x="3020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33" name="Line 106"/>
            <p:cNvSpPr/>
            <p:nvPr/>
          </p:nvSpPr>
          <p:spPr>
            <a:xfrm>
              <a:off x="3596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34" name="Line 107"/>
            <p:cNvSpPr/>
            <p:nvPr/>
          </p:nvSpPr>
          <p:spPr>
            <a:xfrm>
              <a:off x="4172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35" name="Line 108"/>
            <p:cNvSpPr/>
            <p:nvPr/>
          </p:nvSpPr>
          <p:spPr>
            <a:xfrm>
              <a:off x="4748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36" name="Line 109"/>
            <p:cNvSpPr/>
            <p:nvPr/>
          </p:nvSpPr>
          <p:spPr>
            <a:xfrm>
              <a:off x="5324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73537" name="Freeform 110"/>
            <p:cNvSpPr/>
            <p:nvPr/>
          </p:nvSpPr>
          <p:spPr>
            <a:xfrm>
              <a:off x="908" y="2056"/>
              <a:ext cx="4418" cy="1"/>
            </a:xfrm>
            <a:custGeom>
              <a:avLst/>
              <a:gdLst>
                <a:gd name="txL" fmla="*/ 0 w 4418"/>
                <a:gd name="txT" fmla="*/ 0 h 1"/>
                <a:gd name="txR" fmla="*/ 4418 w 441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8" y="0"/>
                </a:cxn>
              </a:cxnLst>
              <a:rect l="txL" t="txT" r="txR" b="txB"/>
              <a:pathLst>
                <a:path w="4418" h="1">
                  <a:moveTo>
                    <a:pt x="0" y="1"/>
                  </a:moveTo>
                  <a:lnTo>
                    <a:pt x="441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38" name="Line 111"/>
            <p:cNvSpPr/>
            <p:nvPr/>
          </p:nvSpPr>
          <p:spPr>
            <a:xfrm>
              <a:off x="1292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39" name="Line 112"/>
            <p:cNvSpPr/>
            <p:nvPr/>
          </p:nvSpPr>
          <p:spPr>
            <a:xfrm>
              <a:off x="1868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40" name="Line 113"/>
            <p:cNvSpPr/>
            <p:nvPr/>
          </p:nvSpPr>
          <p:spPr>
            <a:xfrm>
              <a:off x="2444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41" name="Line 114"/>
            <p:cNvSpPr/>
            <p:nvPr/>
          </p:nvSpPr>
          <p:spPr>
            <a:xfrm>
              <a:off x="3020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42" name="Line 115"/>
            <p:cNvSpPr/>
            <p:nvPr/>
          </p:nvSpPr>
          <p:spPr>
            <a:xfrm>
              <a:off x="3596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43" name="Line 116"/>
            <p:cNvSpPr/>
            <p:nvPr/>
          </p:nvSpPr>
          <p:spPr>
            <a:xfrm>
              <a:off x="4172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44" name="Line 117"/>
            <p:cNvSpPr/>
            <p:nvPr/>
          </p:nvSpPr>
          <p:spPr>
            <a:xfrm>
              <a:off x="4748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3545" name="Line 118"/>
            <p:cNvSpPr/>
            <p:nvPr/>
          </p:nvSpPr>
          <p:spPr>
            <a:xfrm>
              <a:off x="5324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73546" name="Freeform 119"/>
            <p:cNvSpPr/>
            <p:nvPr/>
          </p:nvSpPr>
          <p:spPr>
            <a:xfrm>
              <a:off x="909" y="2879"/>
              <a:ext cx="3860" cy="1"/>
            </a:xfrm>
            <a:custGeom>
              <a:avLst/>
              <a:gdLst>
                <a:gd name="txL" fmla="*/ 0 w 3860"/>
                <a:gd name="txT" fmla="*/ 0 h 1"/>
                <a:gd name="txR" fmla="*/ 3860 w 3860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3860" y="0"/>
                </a:cxn>
              </a:cxnLst>
              <a:rect l="txL" t="txT" r="txR" b="txB"/>
              <a:pathLst>
                <a:path w="3860" h="1">
                  <a:moveTo>
                    <a:pt x="0" y="1"/>
                  </a:moveTo>
                  <a:lnTo>
                    <a:pt x="38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47" name="Freeform 120"/>
            <p:cNvSpPr/>
            <p:nvPr/>
          </p:nvSpPr>
          <p:spPr>
            <a:xfrm>
              <a:off x="912" y="3209"/>
              <a:ext cx="4418" cy="1"/>
            </a:xfrm>
            <a:custGeom>
              <a:avLst/>
              <a:gdLst>
                <a:gd name="txL" fmla="*/ 0 w 4418"/>
                <a:gd name="txT" fmla="*/ 0 h 1"/>
                <a:gd name="txR" fmla="*/ 4418 w 441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8" y="0"/>
                </a:cxn>
              </a:cxnLst>
              <a:rect l="txL" t="txT" r="txR" b="txB"/>
              <a:pathLst>
                <a:path w="4418" h="1">
                  <a:moveTo>
                    <a:pt x="0" y="1"/>
                  </a:moveTo>
                  <a:lnTo>
                    <a:pt x="441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48" name="Rectangle 121"/>
            <p:cNvSpPr/>
            <p:nvPr/>
          </p:nvSpPr>
          <p:spPr>
            <a:xfrm>
              <a:off x="1141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49" name="Text Box 122"/>
            <p:cNvSpPr txBox="1"/>
            <p:nvPr/>
          </p:nvSpPr>
          <p:spPr>
            <a:xfrm>
              <a:off x="1172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550" name="Freeform 123"/>
            <p:cNvSpPr/>
            <p:nvPr/>
          </p:nvSpPr>
          <p:spPr>
            <a:xfrm>
              <a:off x="1402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51" name="Freeform 124"/>
            <p:cNvSpPr/>
            <p:nvPr/>
          </p:nvSpPr>
          <p:spPr>
            <a:xfrm>
              <a:off x="1613" y="1211"/>
              <a:ext cx="169" cy="1469"/>
            </a:xfrm>
            <a:custGeom>
              <a:avLst/>
              <a:gdLst>
                <a:gd name="txL" fmla="*/ 0 w 169"/>
                <a:gd name="txT" fmla="*/ 0 h 1469"/>
                <a:gd name="txR" fmla="*/ 169 w 169"/>
                <a:gd name="txB" fmla="*/ 1469 h 1469"/>
              </a:gdLst>
              <a:ahLst/>
              <a:cxnLst>
                <a:cxn ang="0">
                  <a:pos x="169" y="1468"/>
                </a:cxn>
                <a:cxn ang="0">
                  <a:pos x="0" y="1469"/>
                </a:cxn>
                <a:cxn ang="0">
                  <a:pos x="1" y="0"/>
                </a:cxn>
                <a:cxn ang="0">
                  <a:pos x="105" y="0"/>
                </a:cxn>
              </a:cxnLst>
              <a:rect l="txL" t="txT" r="txR" b="txB"/>
              <a:pathLst>
                <a:path w="169" h="1469">
                  <a:moveTo>
                    <a:pt x="169" y="1468"/>
                  </a:moveTo>
                  <a:lnTo>
                    <a:pt x="0" y="1469"/>
                  </a:lnTo>
                  <a:lnTo>
                    <a:pt x="1" y="0"/>
                  </a:lnTo>
                  <a:lnTo>
                    <a:pt x="10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52" name="Freeform 125"/>
            <p:cNvSpPr/>
            <p:nvPr/>
          </p:nvSpPr>
          <p:spPr>
            <a:xfrm>
              <a:off x="1967" y="1211"/>
              <a:ext cx="141" cy="1466"/>
            </a:xfrm>
            <a:custGeom>
              <a:avLst/>
              <a:gdLst>
                <a:gd name="txL" fmla="*/ 0 w 141"/>
                <a:gd name="txT" fmla="*/ 0 h 1466"/>
                <a:gd name="txR" fmla="*/ 141 w 141"/>
                <a:gd name="txB" fmla="*/ 1466 h 1466"/>
              </a:gdLst>
              <a:ahLst/>
              <a:cxnLst>
                <a:cxn ang="0">
                  <a:pos x="38" y="0"/>
                </a:cxn>
                <a:cxn ang="0">
                  <a:pos x="141" y="0"/>
                </a:cxn>
                <a:cxn ang="0">
                  <a:pos x="140" y="1466"/>
                </a:cxn>
                <a:cxn ang="0">
                  <a:pos x="0" y="1466"/>
                </a:cxn>
              </a:cxnLst>
              <a:rect l="txL" t="txT" r="txR" b="txB"/>
              <a:pathLst>
                <a:path w="141" h="1466">
                  <a:moveTo>
                    <a:pt x="38" y="0"/>
                  </a:moveTo>
                  <a:lnTo>
                    <a:pt x="141" y="0"/>
                  </a:lnTo>
                  <a:lnTo>
                    <a:pt x="140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53" name="Freeform 126"/>
            <p:cNvSpPr/>
            <p:nvPr/>
          </p:nvSpPr>
          <p:spPr>
            <a:xfrm>
              <a:off x="2208" y="1211"/>
              <a:ext cx="155" cy="1467"/>
            </a:xfrm>
            <a:custGeom>
              <a:avLst/>
              <a:gdLst>
                <a:gd name="txL" fmla="*/ 0 w 155"/>
                <a:gd name="txT" fmla="*/ 0 h 1467"/>
                <a:gd name="txR" fmla="*/ 155 w 155"/>
                <a:gd name="txB" fmla="*/ 1467 h 1467"/>
              </a:gdLst>
              <a:ahLst/>
              <a:cxnLst>
                <a:cxn ang="0">
                  <a:pos x="155" y="1467"/>
                </a:cxn>
                <a:cxn ang="0">
                  <a:pos x="3" y="1467"/>
                </a:cxn>
                <a:cxn ang="0">
                  <a:pos x="0" y="1"/>
                </a:cxn>
                <a:cxn ang="0">
                  <a:pos x="89" y="0"/>
                </a:cxn>
              </a:cxnLst>
              <a:rect l="txL" t="txT" r="txR" b="txB"/>
              <a:pathLst>
                <a:path w="155" h="1467">
                  <a:moveTo>
                    <a:pt x="155" y="1467"/>
                  </a:moveTo>
                  <a:lnTo>
                    <a:pt x="3" y="1467"/>
                  </a:lnTo>
                  <a:lnTo>
                    <a:pt x="0" y="1"/>
                  </a:lnTo>
                  <a:lnTo>
                    <a:pt x="8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54" name="Freeform 127"/>
            <p:cNvSpPr/>
            <p:nvPr/>
          </p:nvSpPr>
          <p:spPr>
            <a:xfrm>
              <a:off x="2557" y="1211"/>
              <a:ext cx="142" cy="1466"/>
            </a:xfrm>
            <a:custGeom>
              <a:avLst/>
              <a:gdLst>
                <a:gd name="txL" fmla="*/ 0 w 142"/>
                <a:gd name="txT" fmla="*/ 0 h 1466"/>
                <a:gd name="txR" fmla="*/ 142 w 142"/>
                <a:gd name="txB" fmla="*/ 1466 h 1466"/>
              </a:gdLst>
              <a:ahLst/>
              <a:cxnLst>
                <a:cxn ang="0">
                  <a:pos x="34" y="0"/>
                </a:cxn>
                <a:cxn ang="0">
                  <a:pos x="142" y="0"/>
                </a:cxn>
                <a:cxn ang="0">
                  <a:pos x="141" y="1466"/>
                </a:cxn>
                <a:cxn ang="0">
                  <a:pos x="0" y="1464"/>
                </a:cxn>
              </a:cxnLst>
              <a:rect l="txL" t="txT" r="txR" b="txB"/>
              <a:pathLst>
                <a:path w="142" h="1466">
                  <a:moveTo>
                    <a:pt x="34" y="0"/>
                  </a:moveTo>
                  <a:lnTo>
                    <a:pt x="142" y="0"/>
                  </a:lnTo>
                  <a:lnTo>
                    <a:pt x="141" y="1466"/>
                  </a:lnTo>
                  <a:lnTo>
                    <a:pt x="0" y="146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55" name="Freeform 128"/>
            <p:cNvSpPr/>
            <p:nvPr/>
          </p:nvSpPr>
          <p:spPr>
            <a:xfrm>
              <a:off x="2787" y="1211"/>
              <a:ext cx="152" cy="1467"/>
            </a:xfrm>
            <a:custGeom>
              <a:avLst/>
              <a:gdLst>
                <a:gd name="txL" fmla="*/ 0 w 152"/>
                <a:gd name="txT" fmla="*/ 0 h 1467"/>
                <a:gd name="txR" fmla="*/ 152 w 152"/>
                <a:gd name="txB" fmla="*/ 1467 h 1467"/>
              </a:gdLst>
              <a:ahLst/>
              <a:cxnLst>
                <a:cxn ang="0">
                  <a:pos x="152" y="1467"/>
                </a:cxn>
                <a:cxn ang="0">
                  <a:pos x="0" y="1467"/>
                </a:cxn>
                <a:cxn ang="0">
                  <a:pos x="0" y="1"/>
                </a:cxn>
                <a:cxn ang="0">
                  <a:pos x="77" y="0"/>
                </a:cxn>
              </a:cxnLst>
              <a:rect l="txL" t="txT" r="txR" b="txB"/>
              <a:pathLst>
                <a:path w="152" h="1467">
                  <a:moveTo>
                    <a:pt x="152" y="1467"/>
                  </a:moveTo>
                  <a:lnTo>
                    <a:pt x="0" y="1467"/>
                  </a:lnTo>
                  <a:lnTo>
                    <a:pt x="0" y="1"/>
                  </a:lnTo>
                  <a:lnTo>
                    <a:pt x="7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56" name="Freeform 129"/>
            <p:cNvSpPr/>
            <p:nvPr/>
          </p:nvSpPr>
          <p:spPr>
            <a:xfrm>
              <a:off x="3130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57" name="Freeform 130"/>
            <p:cNvSpPr/>
            <p:nvPr/>
          </p:nvSpPr>
          <p:spPr>
            <a:xfrm>
              <a:off x="3360" y="1209"/>
              <a:ext cx="155" cy="1469"/>
            </a:xfrm>
            <a:custGeom>
              <a:avLst/>
              <a:gdLst>
                <a:gd name="txL" fmla="*/ 0 w 155"/>
                <a:gd name="txT" fmla="*/ 0 h 1469"/>
                <a:gd name="txR" fmla="*/ 155 w 155"/>
                <a:gd name="txB" fmla="*/ 1469 h 1469"/>
              </a:gdLst>
              <a:ahLst/>
              <a:cxnLst>
                <a:cxn ang="0">
                  <a:pos x="155" y="1469"/>
                </a:cxn>
                <a:cxn ang="0">
                  <a:pos x="3" y="1469"/>
                </a:cxn>
                <a:cxn ang="0">
                  <a:pos x="0" y="0"/>
                </a:cxn>
                <a:cxn ang="0">
                  <a:pos x="103" y="2"/>
                </a:cxn>
              </a:cxnLst>
              <a:rect l="txL" t="txT" r="txR" b="txB"/>
              <a:pathLst>
                <a:path w="155" h="1469">
                  <a:moveTo>
                    <a:pt x="155" y="1469"/>
                  </a:moveTo>
                  <a:lnTo>
                    <a:pt x="3" y="1469"/>
                  </a:lnTo>
                  <a:lnTo>
                    <a:pt x="0" y="0"/>
                  </a:lnTo>
                  <a:lnTo>
                    <a:pt x="103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58" name="Freeform 131"/>
            <p:cNvSpPr/>
            <p:nvPr/>
          </p:nvSpPr>
          <p:spPr>
            <a:xfrm>
              <a:off x="3710" y="1211"/>
              <a:ext cx="141" cy="1466"/>
            </a:xfrm>
            <a:custGeom>
              <a:avLst/>
              <a:gdLst>
                <a:gd name="txL" fmla="*/ 0 w 141"/>
                <a:gd name="txT" fmla="*/ 0 h 1466"/>
                <a:gd name="txR" fmla="*/ 141 w 141"/>
                <a:gd name="txB" fmla="*/ 1466 h 1466"/>
              </a:gdLst>
              <a:ahLst/>
              <a:cxnLst>
                <a:cxn ang="0">
                  <a:pos x="42" y="0"/>
                </a:cxn>
                <a:cxn ang="0">
                  <a:pos x="141" y="0"/>
                </a:cxn>
                <a:cxn ang="0">
                  <a:pos x="140" y="1466"/>
                </a:cxn>
                <a:cxn ang="0">
                  <a:pos x="0" y="1466"/>
                </a:cxn>
              </a:cxnLst>
              <a:rect l="txL" t="txT" r="txR" b="txB"/>
              <a:pathLst>
                <a:path w="141" h="1466">
                  <a:moveTo>
                    <a:pt x="42" y="0"/>
                  </a:moveTo>
                  <a:lnTo>
                    <a:pt x="141" y="0"/>
                  </a:lnTo>
                  <a:lnTo>
                    <a:pt x="140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59" name="Freeform 132"/>
            <p:cNvSpPr/>
            <p:nvPr/>
          </p:nvSpPr>
          <p:spPr>
            <a:xfrm>
              <a:off x="3939" y="1211"/>
              <a:ext cx="152" cy="1467"/>
            </a:xfrm>
            <a:custGeom>
              <a:avLst/>
              <a:gdLst>
                <a:gd name="txL" fmla="*/ 0 w 152"/>
                <a:gd name="txT" fmla="*/ 0 h 1467"/>
                <a:gd name="txR" fmla="*/ 152 w 152"/>
                <a:gd name="txB" fmla="*/ 1467 h 1467"/>
              </a:gdLst>
              <a:ahLst/>
              <a:cxnLst>
                <a:cxn ang="0">
                  <a:pos x="152" y="1467"/>
                </a:cxn>
                <a:cxn ang="0">
                  <a:pos x="0" y="1467"/>
                </a:cxn>
                <a:cxn ang="0">
                  <a:pos x="0" y="1"/>
                </a:cxn>
                <a:cxn ang="0">
                  <a:pos x="103" y="0"/>
                </a:cxn>
              </a:cxnLst>
              <a:rect l="txL" t="txT" r="txR" b="txB"/>
              <a:pathLst>
                <a:path w="152" h="1467">
                  <a:moveTo>
                    <a:pt x="152" y="1467"/>
                  </a:moveTo>
                  <a:lnTo>
                    <a:pt x="0" y="1467"/>
                  </a:lnTo>
                  <a:lnTo>
                    <a:pt x="0" y="1"/>
                  </a:lnTo>
                  <a:lnTo>
                    <a:pt x="10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60" name="Freeform 133"/>
            <p:cNvSpPr/>
            <p:nvPr/>
          </p:nvSpPr>
          <p:spPr>
            <a:xfrm>
              <a:off x="4280" y="1211"/>
              <a:ext cx="147" cy="1466"/>
            </a:xfrm>
            <a:custGeom>
              <a:avLst/>
              <a:gdLst>
                <a:gd name="txL" fmla="*/ 0 w 147"/>
                <a:gd name="txT" fmla="*/ 0 h 1466"/>
                <a:gd name="txR" fmla="*/ 147 w 147"/>
                <a:gd name="txB" fmla="*/ 1466 h 1466"/>
              </a:gdLst>
              <a:ahLst/>
              <a:cxnLst>
                <a:cxn ang="0">
                  <a:pos x="51" y="0"/>
                </a:cxn>
                <a:cxn ang="0">
                  <a:pos x="147" y="0"/>
                </a:cxn>
                <a:cxn ang="0">
                  <a:pos x="146" y="1466"/>
                </a:cxn>
                <a:cxn ang="0">
                  <a:pos x="0" y="1466"/>
                </a:cxn>
              </a:cxnLst>
              <a:rect l="txL" t="txT" r="txR" b="txB"/>
              <a:pathLst>
                <a:path w="147" h="1466">
                  <a:moveTo>
                    <a:pt x="51" y="0"/>
                  </a:moveTo>
                  <a:lnTo>
                    <a:pt x="147" y="0"/>
                  </a:lnTo>
                  <a:lnTo>
                    <a:pt x="146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61" name="Freeform 134"/>
            <p:cNvSpPr/>
            <p:nvPr/>
          </p:nvSpPr>
          <p:spPr>
            <a:xfrm>
              <a:off x="4509" y="1211"/>
              <a:ext cx="158" cy="1467"/>
            </a:xfrm>
            <a:custGeom>
              <a:avLst/>
              <a:gdLst>
                <a:gd name="txL" fmla="*/ 0 w 158"/>
                <a:gd name="txT" fmla="*/ 0 h 1467"/>
                <a:gd name="txR" fmla="*/ 158 w 158"/>
                <a:gd name="txB" fmla="*/ 1467 h 1467"/>
              </a:gdLst>
              <a:ahLst/>
              <a:cxnLst>
                <a:cxn ang="0">
                  <a:pos x="158" y="1467"/>
                </a:cxn>
                <a:cxn ang="0">
                  <a:pos x="0" y="1467"/>
                </a:cxn>
                <a:cxn ang="0">
                  <a:pos x="0" y="0"/>
                </a:cxn>
                <a:cxn ang="0">
                  <a:pos x="95" y="0"/>
                </a:cxn>
              </a:cxnLst>
              <a:rect l="txL" t="txT" r="txR" b="txB"/>
              <a:pathLst>
                <a:path w="158" h="1467">
                  <a:moveTo>
                    <a:pt x="158" y="1467"/>
                  </a:moveTo>
                  <a:lnTo>
                    <a:pt x="0" y="1467"/>
                  </a:lnTo>
                  <a:lnTo>
                    <a:pt x="0" y="0"/>
                  </a:lnTo>
                  <a:lnTo>
                    <a:pt x="9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62" name="Freeform 135"/>
            <p:cNvSpPr/>
            <p:nvPr/>
          </p:nvSpPr>
          <p:spPr>
            <a:xfrm>
              <a:off x="4861" y="1211"/>
              <a:ext cx="142" cy="1466"/>
            </a:xfrm>
            <a:custGeom>
              <a:avLst/>
              <a:gdLst>
                <a:gd name="txL" fmla="*/ 0 w 142"/>
                <a:gd name="txT" fmla="*/ 0 h 1466"/>
                <a:gd name="txR" fmla="*/ 142 w 142"/>
                <a:gd name="txB" fmla="*/ 1466 h 1466"/>
              </a:gdLst>
              <a:ahLst/>
              <a:cxnLst>
                <a:cxn ang="0">
                  <a:pos x="34" y="0"/>
                </a:cxn>
                <a:cxn ang="0">
                  <a:pos x="142" y="0"/>
                </a:cxn>
                <a:cxn ang="0">
                  <a:pos x="141" y="1466"/>
                </a:cxn>
                <a:cxn ang="0">
                  <a:pos x="0" y="1466"/>
                </a:cxn>
              </a:cxnLst>
              <a:rect l="txL" t="txT" r="txR" b="txB"/>
              <a:pathLst>
                <a:path w="142" h="1466">
                  <a:moveTo>
                    <a:pt x="34" y="0"/>
                  </a:moveTo>
                  <a:lnTo>
                    <a:pt x="142" y="0"/>
                  </a:lnTo>
                  <a:lnTo>
                    <a:pt x="141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63" name="Freeform 136"/>
            <p:cNvSpPr/>
            <p:nvPr/>
          </p:nvSpPr>
          <p:spPr>
            <a:xfrm>
              <a:off x="5069" y="1211"/>
              <a:ext cx="159" cy="1469"/>
            </a:xfrm>
            <a:custGeom>
              <a:avLst/>
              <a:gdLst>
                <a:gd name="txL" fmla="*/ 0 w 159"/>
                <a:gd name="txT" fmla="*/ 0 h 1469"/>
                <a:gd name="txR" fmla="*/ 159 w 159"/>
                <a:gd name="txB" fmla="*/ 1469 h 1469"/>
              </a:gdLst>
              <a:ahLst/>
              <a:cxnLst>
                <a:cxn ang="0">
                  <a:pos x="159" y="1467"/>
                </a:cxn>
                <a:cxn ang="0">
                  <a:pos x="0" y="1469"/>
                </a:cxn>
                <a:cxn ang="0">
                  <a:pos x="1" y="0"/>
                </a:cxn>
                <a:cxn ang="0">
                  <a:pos x="104" y="0"/>
                </a:cxn>
              </a:cxnLst>
              <a:rect l="txL" t="txT" r="txR" b="txB"/>
              <a:pathLst>
                <a:path w="159" h="1469">
                  <a:moveTo>
                    <a:pt x="159" y="1467"/>
                  </a:moveTo>
                  <a:lnTo>
                    <a:pt x="0" y="1469"/>
                  </a:lnTo>
                  <a:lnTo>
                    <a:pt x="1" y="0"/>
                  </a:lnTo>
                  <a:lnTo>
                    <a:pt x="10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64" name="Freeform 137"/>
            <p:cNvSpPr/>
            <p:nvPr/>
          </p:nvSpPr>
          <p:spPr>
            <a:xfrm>
              <a:off x="5417" y="1211"/>
              <a:ext cx="147" cy="1466"/>
            </a:xfrm>
            <a:custGeom>
              <a:avLst/>
              <a:gdLst>
                <a:gd name="txL" fmla="*/ 0 w 147"/>
                <a:gd name="txT" fmla="*/ 0 h 1466"/>
                <a:gd name="txR" fmla="*/ 147 w 147"/>
                <a:gd name="txB" fmla="*/ 1466 h 1466"/>
              </a:gdLst>
              <a:ahLst/>
              <a:cxnLst>
                <a:cxn ang="0">
                  <a:pos x="47" y="0"/>
                </a:cxn>
                <a:cxn ang="0">
                  <a:pos x="147" y="0"/>
                </a:cxn>
                <a:cxn ang="0">
                  <a:pos x="146" y="1466"/>
                </a:cxn>
                <a:cxn ang="0">
                  <a:pos x="0" y="1466"/>
                </a:cxn>
              </a:cxnLst>
              <a:rect l="txL" t="txT" r="txR" b="txB"/>
              <a:pathLst>
                <a:path w="147" h="1466">
                  <a:moveTo>
                    <a:pt x="47" y="0"/>
                  </a:moveTo>
                  <a:lnTo>
                    <a:pt x="147" y="0"/>
                  </a:lnTo>
                  <a:lnTo>
                    <a:pt x="146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65" name="Freeform 138"/>
            <p:cNvSpPr/>
            <p:nvPr/>
          </p:nvSpPr>
          <p:spPr>
            <a:xfrm>
              <a:off x="1055" y="2738"/>
              <a:ext cx="730" cy="660"/>
            </a:xfrm>
            <a:custGeom>
              <a:avLst/>
              <a:gdLst>
                <a:gd name="txL" fmla="*/ 0 w 730"/>
                <a:gd name="txT" fmla="*/ 0 h 660"/>
                <a:gd name="txR" fmla="*/ 730 w 730"/>
                <a:gd name="txB" fmla="*/ 660 h 660"/>
              </a:gdLst>
              <a:ahLst/>
              <a:cxnLst>
                <a:cxn ang="0">
                  <a:pos x="160" y="4"/>
                </a:cxn>
                <a:cxn ang="0">
                  <a:pos x="0" y="3"/>
                </a:cxn>
                <a:cxn ang="0">
                  <a:pos x="0" y="660"/>
                </a:cxn>
                <a:cxn ang="0">
                  <a:pos x="558" y="657"/>
                </a:cxn>
                <a:cxn ang="0">
                  <a:pos x="558" y="0"/>
                </a:cxn>
                <a:cxn ang="0">
                  <a:pos x="730" y="1"/>
                </a:cxn>
              </a:cxnLst>
              <a:rect l="txL" t="txT" r="txR" b="txB"/>
              <a:pathLst>
                <a:path w="730" h="660">
                  <a:moveTo>
                    <a:pt x="160" y="4"/>
                  </a:moveTo>
                  <a:lnTo>
                    <a:pt x="0" y="3"/>
                  </a:lnTo>
                  <a:lnTo>
                    <a:pt x="0" y="660"/>
                  </a:lnTo>
                  <a:lnTo>
                    <a:pt x="558" y="657"/>
                  </a:lnTo>
                  <a:lnTo>
                    <a:pt x="558" y="0"/>
                  </a:lnTo>
                  <a:lnTo>
                    <a:pt x="73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66" name="Freeform 139"/>
            <p:cNvSpPr/>
            <p:nvPr/>
          </p:nvSpPr>
          <p:spPr>
            <a:xfrm>
              <a:off x="2207" y="2744"/>
              <a:ext cx="729" cy="658"/>
            </a:xfrm>
            <a:custGeom>
              <a:avLst/>
              <a:gdLst>
                <a:gd name="txL" fmla="*/ 0 w 729"/>
                <a:gd name="txT" fmla="*/ 0 h 658"/>
                <a:gd name="txR" fmla="*/ 729 w 729"/>
                <a:gd name="txB" fmla="*/ 658 h 658"/>
              </a:gdLst>
              <a:ahLst/>
              <a:cxnLst>
                <a:cxn ang="0">
                  <a:pos x="153" y="0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83" y="658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8">
                  <a:moveTo>
                    <a:pt x="153" y="0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83" y="658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67" name="Freeform 140"/>
            <p:cNvSpPr/>
            <p:nvPr/>
          </p:nvSpPr>
          <p:spPr>
            <a:xfrm>
              <a:off x="3356" y="2744"/>
              <a:ext cx="729" cy="657"/>
            </a:xfrm>
            <a:custGeom>
              <a:avLst/>
              <a:gdLst>
                <a:gd name="txL" fmla="*/ 0 w 729"/>
                <a:gd name="txT" fmla="*/ 0 h 657"/>
                <a:gd name="txR" fmla="*/ 729 w 729"/>
                <a:gd name="txB" fmla="*/ 657 h 657"/>
              </a:gdLst>
              <a:ahLst/>
              <a:cxnLst>
                <a:cxn ang="0">
                  <a:pos x="158" y="0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79" y="654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7">
                  <a:moveTo>
                    <a:pt x="158" y="0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79" y="654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68" name="Freeform 141"/>
            <p:cNvSpPr/>
            <p:nvPr/>
          </p:nvSpPr>
          <p:spPr>
            <a:xfrm>
              <a:off x="4508" y="2744"/>
              <a:ext cx="729" cy="657"/>
            </a:xfrm>
            <a:custGeom>
              <a:avLst/>
              <a:gdLst>
                <a:gd name="txL" fmla="*/ 0 w 729"/>
                <a:gd name="txT" fmla="*/ 0 h 657"/>
                <a:gd name="txR" fmla="*/ 729 w 729"/>
                <a:gd name="txB" fmla="*/ 657 h 657"/>
              </a:gdLst>
              <a:ahLst/>
              <a:cxnLst>
                <a:cxn ang="0">
                  <a:pos x="161" y="2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79" y="654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7">
                  <a:moveTo>
                    <a:pt x="161" y="2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79" y="654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69" name="Freeform 142"/>
            <p:cNvSpPr/>
            <p:nvPr/>
          </p:nvSpPr>
          <p:spPr>
            <a:xfrm>
              <a:off x="1400" y="2735"/>
              <a:ext cx="708" cy="571"/>
            </a:xfrm>
            <a:custGeom>
              <a:avLst/>
              <a:gdLst>
                <a:gd name="txL" fmla="*/ 0 w 708"/>
                <a:gd name="txT" fmla="*/ 0 h 571"/>
                <a:gd name="txR" fmla="*/ 708 w 708"/>
                <a:gd name="txB" fmla="*/ 571 h 571"/>
              </a:gdLst>
              <a:ahLst/>
              <a:cxnLst>
                <a:cxn ang="0">
                  <a:pos x="0" y="0"/>
                </a:cxn>
                <a:cxn ang="0">
                  <a:pos x="132" y="0"/>
                </a:cxn>
                <a:cxn ang="0">
                  <a:pos x="133" y="571"/>
                </a:cxn>
                <a:cxn ang="0">
                  <a:pos x="708" y="570"/>
                </a:cxn>
                <a:cxn ang="0">
                  <a:pos x="708" y="9"/>
                </a:cxn>
                <a:cxn ang="0">
                  <a:pos x="573" y="9"/>
                </a:cxn>
              </a:cxnLst>
              <a:rect l="txL" t="txT" r="txR" b="txB"/>
              <a:pathLst>
                <a:path w="708" h="571">
                  <a:moveTo>
                    <a:pt x="0" y="0"/>
                  </a:moveTo>
                  <a:lnTo>
                    <a:pt x="132" y="0"/>
                  </a:lnTo>
                  <a:lnTo>
                    <a:pt x="133" y="571"/>
                  </a:lnTo>
                  <a:lnTo>
                    <a:pt x="708" y="570"/>
                  </a:lnTo>
                  <a:lnTo>
                    <a:pt x="708" y="9"/>
                  </a:lnTo>
                  <a:lnTo>
                    <a:pt x="573" y="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70" name="Freeform 143"/>
            <p:cNvSpPr/>
            <p:nvPr/>
          </p:nvSpPr>
          <p:spPr>
            <a:xfrm>
              <a:off x="2552" y="2735"/>
              <a:ext cx="726" cy="567"/>
            </a:xfrm>
            <a:custGeom>
              <a:avLst/>
              <a:gdLst>
                <a:gd name="txL" fmla="*/ 0 w 726"/>
                <a:gd name="txT" fmla="*/ 0 h 567"/>
                <a:gd name="txR" fmla="*/ 726 w 726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48" y="1"/>
                </a:cxn>
                <a:cxn ang="0">
                  <a:pos x="147" y="567"/>
                </a:cxn>
                <a:cxn ang="0">
                  <a:pos x="726" y="567"/>
                </a:cxn>
                <a:cxn ang="0">
                  <a:pos x="726" y="6"/>
                </a:cxn>
                <a:cxn ang="0">
                  <a:pos x="579" y="6"/>
                </a:cxn>
              </a:cxnLst>
              <a:rect l="txL" t="txT" r="txR" b="txB"/>
              <a:pathLst>
                <a:path w="726" h="567">
                  <a:moveTo>
                    <a:pt x="0" y="0"/>
                  </a:moveTo>
                  <a:lnTo>
                    <a:pt x="148" y="1"/>
                  </a:lnTo>
                  <a:lnTo>
                    <a:pt x="147" y="567"/>
                  </a:lnTo>
                  <a:lnTo>
                    <a:pt x="726" y="567"/>
                  </a:lnTo>
                  <a:lnTo>
                    <a:pt x="726" y="6"/>
                  </a:lnTo>
                  <a:lnTo>
                    <a:pt x="579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71" name="Freeform 144"/>
            <p:cNvSpPr/>
            <p:nvPr/>
          </p:nvSpPr>
          <p:spPr>
            <a:xfrm>
              <a:off x="3704" y="2738"/>
              <a:ext cx="714" cy="567"/>
            </a:xfrm>
            <a:custGeom>
              <a:avLst/>
              <a:gdLst>
                <a:gd name="txL" fmla="*/ 0 w 714"/>
                <a:gd name="txT" fmla="*/ 0 h 567"/>
                <a:gd name="txR" fmla="*/ 714 w 714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36" y="1"/>
                </a:cxn>
                <a:cxn ang="0">
                  <a:pos x="135" y="567"/>
                </a:cxn>
                <a:cxn ang="0">
                  <a:pos x="714" y="567"/>
                </a:cxn>
                <a:cxn ang="0">
                  <a:pos x="714" y="6"/>
                </a:cxn>
                <a:cxn ang="0">
                  <a:pos x="576" y="5"/>
                </a:cxn>
              </a:cxnLst>
              <a:rect l="txL" t="txT" r="txR" b="txB"/>
              <a:pathLst>
                <a:path w="714" h="567">
                  <a:moveTo>
                    <a:pt x="0" y="0"/>
                  </a:moveTo>
                  <a:lnTo>
                    <a:pt x="136" y="1"/>
                  </a:lnTo>
                  <a:lnTo>
                    <a:pt x="135" y="567"/>
                  </a:lnTo>
                  <a:lnTo>
                    <a:pt x="714" y="567"/>
                  </a:lnTo>
                  <a:lnTo>
                    <a:pt x="714" y="6"/>
                  </a:lnTo>
                  <a:lnTo>
                    <a:pt x="576" y="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72" name="Freeform 145"/>
            <p:cNvSpPr/>
            <p:nvPr/>
          </p:nvSpPr>
          <p:spPr>
            <a:xfrm>
              <a:off x="4859" y="2738"/>
              <a:ext cx="711" cy="567"/>
            </a:xfrm>
            <a:custGeom>
              <a:avLst/>
              <a:gdLst>
                <a:gd name="txL" fmla="*/ 0 w 711"/>
                <a:gd name="txT" fmla="*/ 0 h 567"/>
                <a:gd name="txR" fmla="*/ 711 w 711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30" y="1"/>
                </a:cxn>
                <a:cxn ang="0">
                  <a:pos x="132" y="567"/>
                </a:cxn>
                <a:cxn ang="0">
                  <a:pos x="711" y="567"/>
                </a:cxn>
                <a:cxn ang="0">
                  <a:pos x="711" y="6"/>
                </a:cxn>
                <a:cxn ang="0">
                  <a:pos x="564" y="6"/>
                </a:cxn>
              </a:cxnLst>
              <a:rect l="txL" t="txT" r="txR" b="txB"/>
              <a:pathLst>
                <a:path w="711" h="567">
                  <a:moveTo>
                    <a:pt x="0" y="0"/>
                  </a:moveTo>
                  <a:lnTo>
                    <a:pt x="130" y="1"/>
                  </a:lnTo>
                  <a:lnTo>
                    <a:pt x="132" y="567"/>
                  </a:lnTo>
                  <a:lnTo>
                    <a:pt x="711" y="567"/>
                  </a:lnTo>
                  <a:lnTo>
                    <a:pt x="711" y="6"/>
                  </a:lnTo>
                  <a:lnTo>
                    <a:pt x="564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73" name="Freeform 146"/>
            <p:cNvSpPr/>
            <p:nvPr/>
          </p:nvSpPr>
          <p:spPr>
            <a:xfrm>
              <a:off x="1322" y="3398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74" name="Freeform 147"/>
            <p:cNvSpPr/>
            <p:nvPr/>
          </p:nvSpPr>
          <p:spPr>
            <a:xfrm>
              <a:off x="2491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75" name="Freeform 148"/>
            <p:cNvSpPr/>
            <p:nvPr/>
          </p:nvSpPr>
          <p:spPr>
            <a:xfrm>
              <a:off x="3643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76" name="Freeform 149"/>
            <p:cNvSpPr/>
            <p:nvPr/>
          </p:nvSpPr>
          <p:spPr>
            <a:xfrm>
              <a:off x="4795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77" name="Freeform 150"/>
            <p:cNvSpPr/>
            <p:nvPr/>
          </p:nvSpPr>
          <p:spPr>
            <a:xfrm>
              <a:off x="5276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78" name="Freeform 151"/>
            <p:cNvSpPr/>
            <p:nvPr/>
          </p:nvSpPr>
          <p:spPr>
            <a:xfrm>
              <a:off x="4124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79" name="Freeform 152"/>
            <p:cNvSpPr/>
            <p:nvPr/>
          </p:nvSpPr>
          <p:spPr>
            <a:xfrm>
              <a:off x="2972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80" name="Freeform 153"/>
            <p:cNvSpPr/>
            <p:nvPr/>
          </p:nvSpPr>
          <p:spPr>
            <a:xfrm>
              <a:off x="1819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81" name="Freeform 154"/>
            <p:cNvSpPr/>
            <p:nvPr/>
          </p:nvSpPr>
          <p:spPr>
            <a:xfrm>
              <a:off x="956" y="4025"/>
              <a:ext cx="4317" cy="1"/>
            </a:xfrm>
            <a:custGeom>
              <a:avLst/>
              <a:gdLst>
                <a:gd name="txL" fmla="*/ 0 w 4317"/>
                <a:gd name="txT" fmla="*/ 0 h 1"/>
                <a:gd name="txR" fmla="*/ 4317 w 431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317" y="0"/>
                </a:cxn>
              </a:cxnLst>
              <a:rect l="txL" t="txT" r="txR" b="txB"/>
              <a:pathLst>
                <a:path w="4317" h="1">
                  <a:moveTo>
                    <a:pt x="0" y="0"/>
                  </a:moveTo>
                  <a:lnTo>
                    <a:pt x="431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82" name="Freeform 155"/>
            <p:cNvSpPr/>
            <p:nvPr/>
          </p:nvSpPr>
          <p:spPr>
            <a:xfrm>
              <a:off x="956" y="4121"/>
              <a:ext cx="3837" cy="1"/>
            </a:xfrm>
            <a:custGeom>
              <a:avLst/>
              <a:gdLst>
                <a:gd name="txL" fmla="*/ 0 w 3837"/>
                <a:gd name="txT" fmla="*/ 0 h 1"/>
                <a:gd name="txR" fmla="*/ 3837 w 383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837" y="0"/>
                </a:cxn>
              </a:cxnLst>
              <a:rect l="txL" t="txT" r="txR" b="txB"/>
              <a:pathLst>
                <a:path w="3837" h="1">
                  <a:moveTo>
                    <a:pt x="0" y="0"/>
                  </a:moveTo>
                  <a:lnTo>
                    <a:pt x="38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83" name="Freeform 156"/>
            <p:cNvSpPr/>
            <p:nvPr/>
          </p:nvSpPr>
          <p:spPr>
            <a:xfrm>
              <a:off x="1322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84" name="Freeform 157"/>
            <p:cNvSpPr/>
            <p:nvPr/>
          </p:nvSpPr>
          <p:spPr>
            <a:xfrm>
              <a:off x="2491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85" name="Freeform 158"/>
            <p:cNvSpPr/>
            <p:nvPr/>
          </p:nvSpPr>
          <p:spPr>
            <a:xfrm>
              <a:off x="3643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86" name="Freeform 159"/>
            <p:cNvSpPr/>
            <p:nvPr/>
          </p:nvSpPr>
          <p:spPr>
            <a:xfrm>
              <a:off x="4791" y="3881"/>
              <a:ext cx="4" cy="247"/>
            </a:xfrm>
            <a:custGeom>
              <a:avLst/>
              <a:gdLst>
                <a:gd name="txL" fmla="*/ 0 w 4"/>
                <a:gd name="txT" fmla="*/ 0 h 247"/>
                <a:gd name="txR" fmla="*/ 4 w 4"/>
                <a:gd name="txB" fmla="*/ 247 h 247"/>
              </a:gdLst>
              <a:ahLst/>
              <a:cxnLst>
                <a:cxn ang="0">
                  <a:pos x="4" y="0"/>
                </a:cxn>
                <a:cxn ang="0">
                  <a:pos x="0" y="247"/>
                </a:cxn>
              </a:cxnLst>
              <a:rect l="txL" t="txT" r="txR" b="txB"/>
              <a:pathLst>
                <a:path w="4" h="247">
                  <a:moveTo>
                    <a:pt x="4" y="0"/>
                  </a:moveTo>
                  <a:lnTo>
                    <a:pt x="0" y="24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87" name="Freeform 160"/>
            <p:cNvSpPr/>
            <p:nvPr/>
          </p:nvSpPr>
          <p:spPr>
            <a:xfrm>
              <a:off x="5277" y="3881"/>
              <a:ext cx="1" cy="151"/>
            </a:xfrm>
            <a:custGeom>
              <a:avLst/>
              <a:gdLst>
                <a:gd name="txL" fmla="*/ 0 w 1"/>
                <a:gd name="txT" fmla="*/ 0 h 151"/>
                <a:gd name="txR" fmla="*/ 1 w 1"/>
                <a:gd name="txB" fmla="*/ 151 h 151"/>
              </a:gdLst>
              <a:ahLst/>
              <a:cxnLst>
                <a:cxn ang="0">
                  <a:pos x="0" y="0"/>
                </a:cxn>
                <a:cxn ang="0">
                  <a:pos x="0" y="151"/>
                </a:cxn>
              </a:cxnLst>
              <a:rect l="txL" t="txT" r="txR" b="txB"/>
              <a:pathLst>
                <a:path w="1" h="151">
                  <a:moveTo>
                    <a:pt x="0" y="0"/>
                  </a:moveTo>
                  <a:lnTo>
                    <a:pt x="0" y="15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88" name="Line 161"/>
            <p:cNvSpPr/>
            <p:nvPr/>
          </p:nvSpPr>
          <p:spPr>
            <a:xfrm>
              <a:off x="4124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73589" name="Line 162"/>
            <p:cNvSpPr/>
            <p:nvPr/>
          </p:nvSpPr>
          <p:spPr>
            <a:xfrm>
              <a:off x="2973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73590" name="Line 163"/>
            <p:cNvSpPr/>
            <p:nvPr/>
          </p:nvSpPr>
          <p:spPr>
            <a:xfrm>
              <a:off x="1820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73591" name="Rectangle 164"/>
            <p:cNvSpPr/>
            <p:nvPr/>
          </p:nvSpPr>
          <p:spPr>
            <a:xfrm>
              <a:off x="2317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92" name="Text Box 165"/>
            <p:cNvSpPr txBox="1"/>
            <p:nvPr/>
          </p:nvSpPr>
          <p:spPr>
            <a:xfrm>
              <a:off x="2348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593" name="Rectangle 166"/>
            <p:cNvSpPr/>
            <p:nvPr/>
          </p:nvSpPr>
          <p:spPr>
            <a:xfrm>
              <a:off x="3469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94" name="Text Box 167"/>
            <p:cNvSpPr txBox="1"/>
            <p:nvPr/>
          </p:nvSpPr>
          <p:spPr>
            <a:xfrm>
              <a:off x="3500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595" name="Rectangle 168"/>
            <p:cNvSpPr/>
            <p:nvPr/>
          </p:nvSpPr>
          <p:spPr>
            <a:xfrm>
              <a:off x="4621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596" name="Text Box 169"/>
            <p:cNvSpPr txBox="1"/>
            <p:nvPr/>
          </p:nvSpPr>
          <p:spPr>
            <a:xfrm>
              <a:off x="4652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597" name="Line 170"/>
            <p:cNvSpPr/>
            <p:nvPr/>
          </p:nvSpPr>
          <p:spPr>
            <a:xfrm>
              <a:off x="1964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3598" name="Line 171"/>
            <p:cNvSpPr/>
            <p:nvPr/>
          </p:nvSpPr>
          <p:spPr>
            <a:xfrm>
              <a:off x="3144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3599" name="Line 172"/>
            <p:cNvSpPr/>
            <p:nvPr/>
          </p:nvSpPr>
          <p:spPr>
            <a:xfrm>
              <a:off x="4293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3600" name="Line 173"/>
            <p:cNvSpPr/>
            <p:nvPr/>
          </p:nvSpPr>
          <p:spPr>
            <a:xfrm>
              <a:off x="5420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3601" name="Freeform 174"/>
            <p:cNvSpPr/>
            <p:nvPr/>
          </p:nvSpPr>
          <p:spPr>
            <a:xfrm>
              <a:off x="3033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602" name="Freeform 175"/>
            <p:cNvSpPr/>
            <p:nvPr/>
          </p:nvSpPr>
          <p:spPr>
            <a:xfrm>
              <a:off x="4185" y="2691"/>
              <a:ext cx="1" cy="525"/>
            </a:xfrm>
            <a:custGeom>
              <a:avLst/>
              <a:gdLst>
                <a:gd name="txL" fmla="*/ 0 w 1"/>
                <a:gd name="txT" fmla="*/ 0 h 525"/>
                <a:gd name="txR" fmla="*/ 1 w 1"/>
                <a:gd name="txB" fmla="*/ 525 h 525"/>
              </a:gdLst>
              <a:ahLst/>
              <a:cxnLst>
                <a:cxn ang="0">
                  <a:pos x="0" y="0"/>
                </a:cxn>
                <a:cxn ang="0">
                  <a:pos x="0" y="525"/>
                </a:cxn>
              </a:cxnLst>
              <a:rect l="txL" t="txT" r="txR" b="txB"/>
              <a:pathLst>
                <a:path w="1" h="525">
                  <a:moveTo>
                    <a:pt x="0" y="0"/>
                  </a:moveTo>
                  <a:lnTo>
                    <a:pt x="0" y="52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603" name="Freeform 176"/>
            <p:cNvSpPr/>
            <p:nvPr/>
          </p:nvSpPr>
          <p:spPr>
            <a:xfrm>
              <a:off x="5325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604" name="Text Box 177"/>
            <p:cNvSpPr txBox="1"/>
            <p:nvPr/>
          </p:nvSpPr>
          <p:spPr>
            <a:xfrm rot="5400000">
              <a:off x="1175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05" name="Text Box 178"/>
            <p:cNvSpPr txBox="1"/>
            <p:nvPr/>
          </p:nvSpPr>
          <p:spPr>
            <a:xfrm rot="5400000">
              <a:off x="1751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06" name="Text Box 179"/>
            <p:cNvSpPr txBox="1"/>
            <p:nvPr/>
          </p:nvSpPr>
          <p:spPr>
            <a:xfrm rot="5400000">
              <a:off x="2327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07" name="Text Box 180"/>
            <p:cNvSpPr txBox="1"/>
            <p:nvPr/>
          </p:nvSpPr>
          <p:spPr>
            <a:xfrm rot="5400000">
              <a:off x="2903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08" name="Text Box 181"/>
            <p:cNvSpPr txBox="1"/>
            <p:nvPr/>
          </p:nvSpPr>
          <p:spPr>
            <a:xfrm rot="5400000">
              <a:off x="3478" y="161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09" name="Text Box 182"/>
            <p:cNvSpPr txBox="1"/>
            <p:nvPr/>
          </p:nvSpPr>
          <p:spPr>
            <a:xfrm rot="5400000">
              <a:off x="4055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10" name="Text Box 183"/>
            <p:cNvSpPr txBox="1"/>
            <p:nvPr/>
          </p:nvSpPr>
          <p:spPr>
            <a:xfrm rot="5400000">
              <a:off x="4631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11" name="Text Box 184"/>
            <p:cNvSpPr txBox="1"/>
            <p:nvPr/>
          </p:nvSpPr>
          <p:spPr>
            <a:xfrm rot="5400000">
              <a:off x="5226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12" name="Text Box 185"/>
            <p:cNvSpPr txBox="1"/>
            <p:nvPr/>
          </p:nvSpPr>
          <p:spPr>
            <a:xfrm>
              <a:off x="660" y="791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13" name="Text Box 186"/>
            <p:cNvSpPr txBox="1"/>
            <p:nvPr/>
          </p:nvSpPr>
          <p:spPr>
            <a:xfrm>
              <a:off x="660" y="1383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14" name="Text Box 187"/>
            <p:cNvSpPr txBox="1"/>
            <p:nvPr/>
          </p:nvSpPr>
          <p:spPr>
            <a:xfrm>
              <a:off x="624" y="195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63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15" name="Line 188"/>
            <p:cNvSpPr/>
            <p:nvPr/>
          </p:nvSpPr>
          <p:spPr>
            <a:xfrm>
              <a:off x="332" y="2537"/>
              <a:ext cx="5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616" name="Text Box 189"/>
            <p:cNvSpPr txBox="1"/>
            <p:nvPr/>
          </p:nvSpPr>
          <p:spPr>
            <a:xfrm>
              <a:off x="660" y="2727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17" name="Text Box 190"/>
            <p:cNvSpPr txBox="1"/>
            <p:nvPr/>
          </p:nvSpPr>
          <p:spPr>
            <a:xfrm>
              <a:off x="624" y="315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15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18" name="Text Box 191"/>
            <p:cNvSpPr txBox="1"/>
            <p:nvPr/>
          </p:nvSpPr>
          <p:spPr>
            <a:xfrm rot="5400000">
              <a:off x="647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19" name="Text Box 192"/>
            <p:cNvSpPr txBox="1"/>
            <p:nvPr/>
          </p:nvSpPr>
          <p:spPr>
            <a:xfrm rot="5400000">
              <a:off x="647" y="285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20" name="Text Box 193"/>
            <p:cNvSpPr txBox="1"/>
            <p:nvPr/>
          </p:nvSpPr>
          <p:spPr>
            <a:xfrm>
              <a:off x="349" y="101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行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21" name="Text Box 194"/>
            <p:cNvSpPr txBox="1"/>
            <p:nvPr/>
          </p:nvSpPr>
          <p:spPr>
            <a:xfrm>
              <a:off x="349" y="126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22" name="Text Box 195"/>
            <p:cNvSpPr txBox="1"/>
            <p:nvPr/>
          </p:nvSpPr>
          <p:spPr>
            <a:xfrm>
              <a:off x="349" y="151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23" name="Text Box 196"/>
            <p:cNvSpPr txBox="1"/>
            <p:nvPr/>
          </p:nvSpPr>
          <p:spPr>
            <a:xfrm>
              <a:off x="349" y="175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24" name="Text Box 197"/>
            <p:cNvSpPr txBox="1"/>
            <p:nvPr/>
          </p:nvSpPr>
          <p:spPr>
            <a:xfrm>
              <a:off x="349" y="200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25" name="Text Box 198"/>
            <p:cNvSpPr txBox="1"/>
            <p:nvPr/>
          </p:nvSpPr>
          <p:spPr>
            <a:xfrm>
              <a:off x="376" y="263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列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26" name="Text Box 199"/>
            <p:cNvSpPr txBox="1"/>
            <p:nvPr/>
          </p:nvSpPr>
          <p:spPr>
            <a:xfrm>
              <a:off x="376" y="288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27" name="Text Box 200"/>
            <p:cNvSpPr txBox="1"/>
            <p:nvPr/>
          </p:nvSpPr>
          <p:spPr>
            <a:xfrm>
              <a:off x="376" y="313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28" name="Text Box 201"/>
            <p:cNvSpPr txBox="1"/>
            <p:nvPr/>
          </p:nvSpPr>
          <p:spPr>
            <a:xfrm>
              <a:off x="376" y="337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29" name="Text Box 202"/>
            <p:cNvSpPr txBox="1"/>
            <p:nvPr/>
          </p:nvSpPr>
          <p:spPr>
            <a:xfrm>
              <a:off x="376" y="362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30" name="Text Box 203"/>
            <p:cNvSpPr txBox="1"/>
            <p:nvPr/>
          </p:nvSpPr>
          <p:spPr>
            <a:xfrm>
              <a:off x="194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3631" name="Text Box 204"/>
            <p:cNvSpPr txBox="1"/>
            <p:nvPr/>
          </p:nvSpPr>
          <p:spPr>
            <a:xfrm>
              <a:off x="310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3632" name="Text Box 205"/>
            <p:cNvSpPr txBox="1"/>
            <p:nvPr/>
          </p:nvSpPr>
          <p:spPr>
            <a:xfrm>
              <a:off x="4258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3633" name="Text Box 206"/>
            <p:cNvSpPr txBox="1"/>
            <p:nvPr/>
          </p:nvSpPr>
          <p:spPr>
            <a:xfrm>
              <a:off x="541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3634" name="Line 207"/>
            <p:cNvSpPr/>
            <p:nvPr/>
          </p:nvSpPr>
          <p:spPr>
            <a:xfrm>
              <a:off x="140" y="905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3635" name="Line 208"/>
            <p:cNvSpPr/>
            <p:nvPr/>
          </p:nvSpPr>
          <p:spPr>
            <a:xfrm>
              <a:off x="140" y="1164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3636" name="Line 209"/>
            <p:cNvSpPr/>
            <p:nvPr/>
          </p:nvSpPr>
          <p:spPr>
            <a:xfrm>
              <a:off x="140" y="1423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3637" name="Line 210"/>
            <p:cNvSpPr/>
            <p:nvPr/>
          </p:nvSpPr>
          <p:spPr>
            <a:xfrm>
              <a:off x="140" y="168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3638" name="Line 211"/>
            <p:cNvSpPr/>
            <p:nvPr/>
          </p:nvSpPr>
          <p:spPr>
            <a:xfrm>
              <a:off x="140" y="194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3639" name="Line 212"/>
            <p:cNvSpPr/>
            <p:nvPr/>
          </p:nvSpPr>
          <p:spPr>
            <a:xfrm>
              <a:off x="140" y="220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3640" name="Line 213"/>
            <p:cNvSpPr/>
            <p:nvPr/>
          </p:nvSpPr>
          <p:spPr>
            <a:xfrm>
              <a:off x="140" y="28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3641" name="Line 214"/>
            <p:cNvSpPr/>
            <p:nvPr/>
          </p:nvSpPr>
          <p:spPr>
            <a:xfrm>
              <a:off x="140" y="313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3642" name="Line 215"/>
            <p:cNvSpPr/>
            <p:nvPr/>
          </p:nvSpPr>
          <p:spPr>
            <a:xfrm>
              <a:off x="140" y="339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3643" name="Line 216"/>
            <p:cNvSpPr/>
            <p:nvPr/>
          </p:nvSpPr>
          <p:spPr>
            <a:xfrm>
              <a:off x="140" y="365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3644" name="Text Box 217"/>
            <p:cNvSpPr txBox="1"/>
            <p:nvPr/>
          </p:nvSpPr>
          <p:spPr>
            <a:xfrm>
              <a:off x="648" y="3890"/>
              <a:ext cx="3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45" name="Line 218"/>
            <p:cNvSpPr/>
            <p:nvPr/>
          </p:nvSpPr>
          <p:spPr>
            <a:xfrm>
              <a:off x="682" y="3923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3646" name="Text Box 219"/>
            <p:cNvSpPr txBox="1"/>
            <p:nvPr/>
          </p:nvSpPr>
          <p:spPr>
            <a:xfrm>
              <a:off x="669" y="4025"/>
              <a:ext cx="3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CS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647" name="Line 220"/>
            <p:cNvSpPr/>
            <p:nvPr/>
          </p:nvSpPr>
          <p:spPr>
            <a:xfrm>
              <a:off x="726" y="4079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3411" name="Group 221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73427" name="Line 222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3428" name="Freeform 223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29" name="Line 224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3430" name="Freeform 225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3431" name="Line 226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3432" name="Text Box 227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33" name="Text Box 228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34" name="Text Box 229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35" name="Text Box 230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3436" name="Line 231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3437" name="Line 232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3438" name="Line 233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3439" name="Line 234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3440" name="Line 235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3441" name="Line 236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3442" name="Line 237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3443" name="Line 238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0" name="Group 239"/>
          <p:cNvGrpSpPr/>
          <p:nvPr/>
        </p:nvGrpSpPr>
        <p:grpSpPr>
          <a:xfrm>
            <a:off x="1746250" y="1069975"/>
            <a:ext cx="309563" cy="4779963"/>
            <a:chOff x="140" y="674"/>
            <a:chExt cx="195" cy="3011"/>
          </a:xfrm>
        </p:grpSpPr>
        <p:sp>
          <p:nvSpPr>
            <p:cNvPr id="273417" name="Text Box 240"/>
            <p:cNvSpPr txBox="1"/>
            <p:nvPr/>
          </p:nvSpPr>
          <p:spPr>
            <a:xfrm>
              <a:off x="140" y="67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3418" name="Text Box 241"/>
            <p:cNvSpPr txBox="1"/>
            <p:nvPr/>
          </p:nvSpPr>
          <p:spPr>
            <a:xfrm>
              <a:off x="140" y="933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3419" name="Text Box 242"/>
            <p:cNvSpPr txBox="1"/>
            <p:nvPr/>
          </p:nvSpPr>
          <p:spPr>
            <a:xfrm>
              <a:off x="140" y="119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3420" name="Text Box 243"/>
            <p:cNvSpPr txBox="1"/>
            <p:nvPr/>
          </p:nvSpPr>
          <p:spPr>
            <a:xfrm>
              <a:off x="140" y="1451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3421" name="Text Box 244"/>
            <p:cNvSpPr txBox="1"/>
            <p:nvPr/>
          </p:nvSpPr>
          <p:spPr>
            <a:xfrm>
              <a:off x="140" y="171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3422" name="Text Box 245"/>
            <p:cNvSpPr txBox="1"/>
            <p:nvPr/>
          </p:nvSpPr>
          <p:spPr>
            <a:xfrm>
              <a:off x="140" y="197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3423" name="Text Box 246"/>
            <p:cNvSpPr txBox="1"/>
            <p:nvPr/>
          </p:nvSpPr>
          <p:spPr>
            <a:xfrm>
              <a:off x="140" y="2657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3424" name="Text Box 247"/>
            <p:cNvSpPr txBox="1"/>
            <p:nvPr/>
          </p:nvSpPr>
          <p:spPr>
            <a:xfrm>
              <a:off x="140" y="291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3425" name="Text Box 248"/>
            <p:cNvSpPr txBox="1"/>
            <p:nvPr/>
          </p:nvSpPr>
          <p:spPr>
            <a:xfrm>
              <a:off x="140" y="317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3426" name="Text Box 249"/>
            <p:cNvSpPr txBox="1"/>
            <p:nvPr/>
          </p:nvSpPr>
          <p:spPr>
            <a:xfrm>
              <a:off x="140" y="343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10170" name="Rectangle 25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3414" name="Text Box 251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读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3415" name="AutoShape 25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341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74434" name="Group 2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74695" name="Line 3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4696" name="Freeform 4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4697" name="Line 5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4698" name="Freeform 6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4699" name="Line 7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4700" name="Text Box 8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4701" name="Text Box 9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4702" name="Text Box 10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4703" name="Text Box 11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4704" name="Line 12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4705" name="Line 13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4706" name="Line 14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4707" name="Line 15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4708" name="Line 16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4709" name="Line 17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4710" name="Line 18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4711" name="Line 19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74435" name="Group 20"/>
          <p:cNvGrpSpPr/>
          <p:nvPr/>
        </p:nvGrpSpPr>
        <p:grpSpPr>
          <a:xfrm>
            <a:off x="1746250" y="1069975"/>
            <a:ext cx="8918575" cy="5718176"/>
            <a:chOff x="140" y="674"/>
            <a:chExt cx="5618" cy="3602"/>
          </a:xfrm>
        </p:grpSpPr>
        <p:grpSp>
          <p:nvGrpSpPr>
            <p:cNvPr id="274465" name="Group 21"/>
            <p:cNvGrpSpPr/>
            <p:nvPr/>
          </p:nvGrpSpPr>
          <p:grpSpPr>
            <a:xfrm>
              <a:off x="140" y="791"/>
              <a:ext cx="5618" cy="3485"/>
              <a:chOff x="140" y="791"/>
              <a:chExt cx="5618" cy="3485"/>
            </a:xfrm>
          </p:grpSpPr>
          <p:sp>
            <p:nvSpPr>
              <p:cNvPr id="274477" name="Rectangle 22"/>
              <p:cNvSpPr/>
              <p:nvPr/>
            </p:nvSpPr>
            <p:spPr>
              <a:xfrm>
                <a:off x="332" y="2181"/>
                <a:ext cx="576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478" name="Rectangle 23"/>
              <p:cNvSpPr/>
              <p:nvPr/>
            </p:nvSpPr>
            <p:spPr>
              <a:xfrm>
                <a:off x="1728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79" name="Text Box 24"/>
              <p:cNvSpPr txBox="1"/>
              <p:nvPr/>
            </p:nvSpPr>
            <p:spPr>
              <a:xfrm>
                <a:off x="1408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80" name="Rectangle 25"/>
              <p:cNvSpPr/>
              <p:nvPr/>
            </p:nvSpPr>
            <p:spPr>
              <a:xfrm>
                <a:off x="1152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81" name="Rectangle 26"/>
              <p:cNvSpPr/>
              <p:nvPr/>
            </p:nvSpPr>
            <p:spPr>
              <a:xfrm>
                <a:off x="2869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82" name="Text Box 27"/>
              <p:cNvSpPr txBox="1"/>
              <p:nvPr/>
            </p:nvSpPr>
            <p:spPr>
              <a:xfrm>
                <a:off x="2549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83" name="Rectangle 28"/>
              <p:cNvSpPr/>
              <p:nvPr/>
            </p:nvSpPr>
            <p:spPr>
              <a:xfrm>
                <a:off x="2293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84" name="Rectangle 29"/>
              <p:cNvSpPr/>
              <p:nvPr/>
            </p:nvSpPr>
            <p:spPr>
              <a:xfrm>
                <a:off x="4044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85" name="Text Box 30"/>
              <p:cNvSpPr txBox="1"/>
              <p:nvPr/>
            </p:nvSpPr>
            <p:spPr>
              <a:xfrm>
                <a:off x="3724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86" name="Rectangle 31"/>
              <p:cNvSpPr/>
              <p:nvPr/>
            </p:nvSpPr>
            <p:spPr>
              <a:xfrm>
                <a:off x="3468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87" name="Rectangle 32"/>
              <p:cNvSpPr/>
              <p:nvPr/>
            </p:nvSpPr>
            <p:spPr>
              <a:xfrm>
                <a:off x="5180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88" name="Text Box 33"/>
              <p:cNvSpPr txBox="1"/>
              <p:nvPr/>
            </p:nvSpPr>
            <p:spPr>
              <a:xfrm>
                <a:off x="4860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89" name="Rectangle 34"/>
              <p:cNvSpPr/>
              <p:nvPr/>
            </p:nvSpPr>
            <p:spPr>
              <a:xfrm>
                <a:off x="4604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90" name="Rectangle 35"/>
              <p:cNvSpPr/>
              <p:nvPr/>
            </p:nvSpPr>
            <p:spPr>
              <a:xfrm>
                <a:off x="1728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91" name="Rectangle 36"/>
              <p:cNvSpPr/>
              <p:nvPr/>
            </p:nvSpPr>
            <p:spPr>
              <a:xfrm>
                <a:off x="1152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92" name="Rectangle 37"/>
              <p:cNvSpPr/>
              <p:nvPr/>
            </p:nvSpPr>
            <p:spPr>
              <a:xfrm>
                <a:off x="2869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93" name="Rectangle 38"/>
              <p:cNvSpPr/>
              <p:nvPr/>
            </p:nvSpPr>
            <p:spPr>
              <a:xfrm>
                <a:off x="2293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94" name="Rectangle 39"/>
              <p:cNvSpPr/>
              <p:nvPr/>
            </p:nvSpPr>
            <p:spPr>
              <a:xfrm>
                <a:off x="4044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95" name="Rectangle 40"/>
              <p:cNvSpPr/>
              <p:nvPr/>
            </p:nvSpPr>
            <p:spPr>
              <a:xfrm>
                <a:off x="3468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96" name="Rectangle 41"/>
              <p:cNvSpPr/>
              <p:nvPr/>
            </p:nvSpPr>
            <p:spPr>
              <a:xfrm>
                <a:off x="5180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97" name="Rectangle 42"/>
              <p:cNvSpPr/>
              <p:nvPr/>
            </p:nvSpPr>
            <p:spPr>
              <a:xfrm>
                <a:off x="4604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98" name="Line 43"/>
              <p:cNvSpPr/>
              <p:nvPr/>
            </p:nvSpPr>
            <p:spPr>
              <a:xfrm rot="5400000">
                <a:off x="1325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499" name="Line 44"/>
              <p:cNvSpPr/>
              <p:nvPr/>
            </p:nvSpPr>
            <p:spPr>
              <a:xfrm rot="5400000">
                <a:off x="1308" y="271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00" name="Freeform 45"/>
              <p:cNvSpPr/>
              <p:nvPr/>
            </p:nvSpPr>
            <p:spPr>
              <a:xfrm>
                <a:off x="1260" y="2709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01" name="Line 46"/>
              <p:cNvSpPr/>
              <p:nvPr/>
            </p:nvSpPr>
            <p:spPr>
              <a:xfrm rot="-5400000">
                <a:off x="1133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02" name="Line 47"/>
              <p:cNvSpPr/>
              <p:nvPr/>
            </p:nvSpPr>
            <p:spPr>
              <a:xfrm rot="-5400000">
                <a:off x="1212" y="2714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03" name="Freeform 48"/>
              <p:cNvSpPr/>
              <p:nvPr/>
            </p:nvSpPr>
            <p:spPr>
              <a:xfrm>
                <a:off x="1434" y="2353"/>
                <a:ext cx="112" cy="1"/>
              </a:xfrm>
              <a:custGeom>
                <a:avLst/>
                <a:gdLst>
                  <a:gd name="txL" fmla="*/ 0 w 112"/>
                  <a:gd name="txT" fmla="*/ 0 h 1"/>
                  <a:gd name="txR" fmla="*/ 112 w 11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2" y="0"/>
                  </a:cxn>
                </a:cxnLst>
                <a:rect l="txL" t="txT" r="txR" b="txB"/>
                <a:pathLst>
                  <a:path w="112" h="1">
                    <a:moveTo>
                      <a:pt x="0" y="0"/>
                    </a:moveTo>
                    <a:lnTo>
                      <a:pt x="11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04" name="Freeform 49"/>
              <p:cNvSpPr/>
              <p:nvPr/>
            </p:nvSpPr>
            <p:spPr>
              <a:xfrm>
                <a:off x="1059" y="1209"/>
                <a:ext cx="152" cy="1469"/>
              </a:xfrm>
              <a:custGeom>
                <a:avLst/>
                <a:gdLst>
                  <a:gd name="txL" fmla="*/ 0 w 152"/>
                  <a:gd name="txT" fmla="*/ 0 h 1469"/>
                  <a:gd name="txR" fmla="*/ 152 w 152"/>
                  <a:gd name="txB" fmla="*/ 1469 h 1469"/>
                </a:gdLst>
                <a:ahLst/>
                <a:cxnLst>
                  <a:cxn ang="0">
                    <a:pos x="152" y="1469"/>
                  </a:cxn>
                  <a:cxn ang="0">
                    <a:pos x="0" y="1469"/>
                  </a:cxn>
                  <a:cxn ang="0">
                    <a:pos x="0" y="0"/>
                  </a:cxn>
                  <a:cxn ang="0">
                    <a:pos x="95" y="1"/>
                  </a:cxn>
                </a:cxnLst>
                <a:rect l="txL" t="txT" r="txR" b="txB"/>
                <a:pathLst>
                  <a:path w="152" h="1469">
                    <a:moveTo>
                      <a:pt x="152" y="1469"/>
                    </a:moveTo>
                    <a:lnTo>
                      <a:pt x="0" y="1469"/>
                    </a:lnTo>
                    <a:lnTo>
                      <a:pt x="0" y="0"/>
                    </a:lnTo>
                    <a:lnTo>
                      <a:pt x="95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05" name="Freeform 50"/>
              <p:cNvSpPr/>
              <p:nvPr/>
            </p:nvSpPr>
            <p:spPr>
              <a:xfrm>
                <a:off x="1055" y="2353"/>
                <a:ext cx="102" cy="1"/>
              </a:xfrm>
              <a:custGeom>
                <a:avLst/>
                <a:gdLst>
                  <a:gd name="txL" fmla="*/ 0 w 102"/>
                  <a:gd name="txT" fmla="*/ 0 h 1"/>
                  <a:gd name="txR" fmla="*/ 102 w 102"/>
                  <a:gd name="txB" fmla="*/ 1 h 1"/>
                </a:gdLst>
                <a:ahLst/>
                <a:cxnLst>
                  <a:cxn ang="0">
                    <a:pos x="102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2" h="1">
                    <a:moveTo>
                      <a:pt x="102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06" name="Line 51"/>
              <p:cNvSpPr/>
              <p:nvPr/>
            </p:nvSpPr>
            <p:spPr>
              <a:xfrm rot="5400000">
                <a:off x="1896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07" name="Line 52"/>
              <p:cNvSpPr/>
              <p:nvPr/>
            </p:nvSpPr>
            <p:spPr>
              <a:xfrm rot="5400000">
                <a:off x="1879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08" name="Freeform 53"/>
              <p:cNvSpPr/>
              <p:nvPr/>
            </p:nvSpPr>
            <p:spPr>
              <a:xfrm>
                <a:off x="1831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09" name="Line 54"/>
              <p:cNvSpPr/>
              <p:nvPr/>
            </p:nvSpPr>
            <p:spPr>
              <a:xfrm rot="-5400000">
                <a:off x="1704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0" name="Line 55"/>
              <p:cNvSpPr/>
              <p:nvPr/>
            </p:nvSpPr>
            <p:spPr>
              <a:xfrm rot="-5400000">
                <a:off x="1783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1" name="Freeform 56"/>
              <p:cNvSpPr/>
              <p:nvPr/>
            </p:nvSpPr>
            <p:spPr>
              <a:xfrm>
                <a:off x="2005" y="2353"/>
                <a:ext cx="103" cy="1"/>
              </a:xfrm>
              <a:custGeom>
                <a:avLst/>
                <a:gdLst>
                  <a:gd name="txL" fmla="*/ 0 w 103"/>
                  <a:gd name="txT" fmla="*/ 0 h 1"/>
                  <a:gd name="txR" fmla="*/ 103 w 10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3" y="0"/>
                  </a:cxn>
                </a:cxnLst>
                <a:rect l="txL" t="txT" r="txR" b="txB"/>
                <a:pathLst>
                  <a:path w="103" h="1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12" name="Freeform 57"/>
              <p:cNvSpPr/>
              <p:nvPr/>
            </p:nvSpPr>
            <p:spPr>
              <a:xfrm>
                <a:off x="1611" y="2352"/>
                <a:ext cx="113" cy="1"/>
              </a:xfrm>
              <a:custGeom>
                <a:avLst/>
                <a:gdLst>
                  <a:gd name="txL" fmla="*/ 0 w 113"/>
                  <a:gd name="txT" fmla="*/ 0 h 1"/>
                  <a:gd name="txR" fmla="*/ 113 w 113"/>
                  <a:gd name="txB" fmla="*/ 1 h 1"/>
                </a:gdLst>
                <a:ahLst/>
                <a:cxnLst>
                  <a:cxn ang="0">
                    <a:pos x="113" y="1"/>
                  </a:cxn>
                  <a:cxn ang="0">
                    <a:pos x="0" y="0"/>
                  </a:cxn>
                </a:cxnLst>
                <a:rect l="txL" t="txT" r="txR" b="txB"/>
                <a:pathLst>
                  <a:path w="113" h="1">
                    <a:moveTo>
                      <a:pt x="113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13" name="Line 58"/>
              <p:cNvSpPr/>
              <p:nvPr/>
            </p:nvSpPr>
            <p:spPr>
              <a:xfrm rot="5400000">
                <a:off x="2477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4" name="Line 59"/>
              <p:cNvSpPr/>
              <p:nvPr/>
            </p:nvSpPr>
            <p:spPr>
              <a:xfrm rot="5400000">
                <a:off x="2460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5" name="Freeform 60"/>
              <p:cNvSpPr/>
              <p:nvPr/>
            </p:nvSpPr>
            <p:spPr>
              <a:xfrm>
                <a:off x="2412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16" name="Line 61"/>
              <p:cNvSpPr/>
              <p:nvPr/>
            </p:nvSpPr>
            <p:spPr>
              <a:xfrm rot="-5400000">
                <a:off x="2285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7" name="Line 62"/>
              <p:cNvSpPr/>
              <p:nvPr/>
            </p:nvSpPr>
            <p:spPr>
              <a:xfrm rot="-5400000">
                <a:off x="2364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18" name="Freeform 63"/>
              <p:cNvSpPr/>
              <p:nvPr/>
            </p:nvSpPr>
            <p:spPr>
              <a:xfrm>
                <a:off x="2586" y="2353"/>
                <a:ext cx="109" cy="1"/>
              </a:xfrm>
              <a:custGeom>
                <a:avLst/>
                <a:gdLst>
                  <a:gd name="txL" fmla="*/ 0 w 109"/>
                  <a:gd name="txT" fmla="*/ 0 h 1"/>
                  <a:gd name="txR" fmla="*/ 109 w 10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9" y="0"/>
                  </a:cxn>
                </a:cxnLst>
                <a:rect l="txL" t="txT" r="txR" b="txB"/>
                <a:pathLst>
                  <a:path w="109" h="1">
                    <a:moveTo>
                      <a:pt x="0" y="0"/>
                    </a:moveTo>
                    <a:lnTo>
                      <a:pt x="10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19" name="Freeform 64"/>
              <p:cNvSpPr/>
              <p:nvPr/>
            </p:nvSpPr>
            <p:spPr>
              <a:xfrm>
                <a:off x="2207" y="2353"/>
                <a:ext cx="89" cy="1"/>
              </a:xfrm>
              <a:custGeom>
                <a:avLst/>
                <a:gdLst>
                  <a:gd name="txL" fmla="*/ 0 w 89"/>
                  <a:gd name="txT" fmla="*/ 0 h 1"/>
                  <a:gd name="txR" fmla="*/ 89 w 89"/>
                  <a:gd name="txB" fmla="*/ 1 h 1"/>
                </a:gdLst>
                <a:ahLst/>
                <a:cxnLst>
                  <a:cxn ang="0">
                    <a:pos x="89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9" h="1">
                    <a:moveTo>
                      <a:pt x="89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20" name="Line 65"/>
              <p:cNvSpPr/>
              <p:nvPr/>
            </p:nvSpPr>
            <p:spPr>
              <a:xfrm rot="5400000">
                <a:off x="3053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21" name="Line 66"/>
              <p:cNvSpPr/>
              <p:nvPr/>
            </p:nvSpPr>
            <p:spPr>
              <a:xfrm rot="5400000">
                <a:off x="3036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22" name="Freeform 67"/>
              <p:cNvSpPr/>
              <p:nvPr/>
            </p:nvSpPr>
            <p:spPr>
              <a:xfrm>
                <a:off x="2988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23" name="Line 68"/>
              <p:cNvSpPr/>
              <p:nvPr/>
            </p:nvSpPr>
            <p:spPr>
              <a:xfrm rot="-5400000">
                <a:off x="2861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24" name="Line 69"/>
              <p:cNvSpPr/>
              <p:nvPr/>
            </p:nvSpPr>
            <p:spPr>
              <a:xfrm rot="-5400000">
                <a:off x="2940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25" name="Freeform 70"/>
              <p:cNvSpPr/>
              <p:nvPr/>
            </p:nvSpPr>
            <p:spPr>
              <a:xfrm>
                <a:off x="3162" y="2353"/>
                <a:ext cx="115" cy="1"/>
              </a:xfrm>
              <a:custGeom>
                <a:avLst/>
                <a:gdLst>
                  <a:gd name="txL" fmla="*/ 0 w 115"/>
                  <a:gd name="txT" fmla="*/ 0 h 1"/>
                  <a:gd name="txR" fmla="*/ 115 w 11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5" y="0"/>
                  </a:cxn>
                </a:cxnLst>
                <a:rect l="txL" t="txT" r="txR" b="txB"/>
                <a:pathLst>
                  <a:path w="115" h="1">
                    <a:moveTo>
                      <a:pt x="0" y="0"/>
                    </a:moveTo>
                    <a:lnTo>
                      <a:pt x="11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26" name="Freeform 71"/>
              <p:cNvSpPr/>
              <p:nvPr/>
            </p:nvSpPr>
            <p:spPr>
              <a:xfrm>
                <a:off x="2783" y="2353"/>
                <a:ext cx="90" cy="1"/>
              </a:xfrm>
              <a:custGeom>
                <a:avLst/>
                <a:gdLst>
                  <a:gd name="txL" fmla="*/ 0 w 90"/>
                  <a:gd name="txT" fmla="*/ 0 h 1"/>
                  <a:gd name="txR" fmla="*/ 90 w 90"/>
                  <a:gd name="txB" fmla="*/ 1 h 1"/>
                </a:gdLst>
                <a:ahLst/>
                <a:cxnLst>
                  <a:cxn ang="0">
                    <a:pos x="9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0" h="1">
                    <a:moveTo>
                      <a:pt x="9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27" name="Line 72"/>
              <p:cNvSpPr/>
              <p:nvPr/>
            </p:nvSpPr>
            <p:spPr>
              <a:xfrm rot="5400000">
                <a:off x="3629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28" name="Line 73"/>
              <p:cNvSpPr/>
              <p:nvPr/>
            </p:nvSpPr>
            <p:spPr>
              <a:xfrm rot="5400000">
                <a:off x="3612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29" name="Freeform 74"/>
              <p:cNvSpPr/>
              <p:nvPr/>
            </p:nvSpPr>
            <p:spPr>
              <a:xfrm>
                <a:off x="3564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30" name="Line 75"/>
              <p:cNvSpPr/>
              <p:nvPr/>
            </p:nvSpPr>
            <p:spPr>
              <a:xfrm rot="-5400000">
                <a:off x="3437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31" name="Line 76"/>
              <p:cNvSpPr/>
              <p:nvPr/>
            </p:nvSpPr>
            <p:spPr>
              <a:xfrm rot="-5400000">
                <a:off x="3516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32" name="Freeform 77"/>
              <p:cNvSpPr/>
              <p:nvPr/>
            </p:nvSpPr>
            <p:spPr>
              <a:xfrm>
                <a:off x="3751" y="2352"/>
                <a:ext cx="100" cy="1"/>
              </a:xfrm>
              <a:custGeom>
                <a:avLst/>
                <a:gdLst>
                  <a:gd name="txL" fmla="*/ 0 w 100"/>
                  <a:gd name="txT" fmla="*/ 0 h 1"/>
                  <a:gd name="txR" fmla="*/ 100 w 10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0" y="1"/>
                  </a:cxn>
                </a:cxnLst>
                <a:rect l="txL" t="txT" r="txR" b="txB"/>
                <a:pathLst>
                  <a:path w="100" h="1">
                    <a:moveTo>
                      <a:pt x="0" y="0"/>
                    </a:moveTo>
                    <a:lnTo>
                      <a:pt x="10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33" name="Freeform 78"/>
              <p:cNvSpPr/>
              <p:nvPr/>
            </p:nvSpPr>
            <p:spPr>
              <a:xfrm>
                <a:off x="3359" y="2353"/>
                <a:ext cx="108" cy="1"/>
              </a:xfrm>
              <a:custGeom>
                <a:avLst/>
                <a:gdLst>
                  <a:gd name="txL" fmla="*/ 0 w 108"/>
                  <a:gd name="txT" fmla="*/ 0 h 1"/>
                  <a:gd name="txR" fmla="*/ 108 w 108"/>
                  <a:gd name="txB" fmla="*/ 1 h 1"/>
                </a:gdLst>
                <a:ahLst/>
                <a:cxnLst>
                  <a:cxn ang="0">
                    <a:pos x="10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8" h="1">
                    <a:moveTo>
                      <a:pt x="10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34" name="Line 79"/>
              <p:cNvSpPr/>
              <p:nvPr/>
            </p:nvSpPr>
            <p:spPr>
              <a:xfrm rot="5400000">
                <a:off x="4205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35" name="Line 80"/>
              <p:cNvSpPr/>
              <p:nvPr/>
            </p:nvSpPr>
            <p:spPr>
              <a:xfrm rot="5400000">
                <a:off x="4188" y="2696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36" name="Freeform 81"/>
              <p:cNvSpPr/>
              <p:nvPr/>
            </p:nvSpPr>
            <p:spPr>
              <a:xfrm>
                <a:off x="4140" y="2695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37" name="Line 82"/>
              <p:cNvSpPr/>
              <p:nvPr/>
            </p:nvSpPr>
            <p:spPr>
              <a:xfrm rot="-5400000">
                <a:off x="4013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38" name="Line 83"/>
              <p:cNvSpPr/>
              <p:nvPr/>
            </p:nvSpPr>
            <p:spPr>
              <a:xfrm rot="-5400000">
                <a:off x="4092" y="270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539" name="Freeform 84"/>
              <p:cNvSpPr/>
              <p:nvPr/>
            </p:nvSpPr>
            <p:spPr>
              <a:xfrm>
                <a:off x="4336" y="2351"/>
                <a:ext cx="90" cy="2"/>
              </a:xfrm>
              <a:custGeom>
                <a:avLst/>
                <a:gdLst>
                  <a:gd name="txL" fmla="*/ 0 w 90"/>
                  <a:gd name="txT" fmla="*/ 0 h 2"/>
                  <a:gd name="txR" fmla="*/ 90 w 90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0" y="2"/>
                  </a:cxn>
                </a:cxnLst>
                <a:rect l="txL" t="txT" r="txR" b="txB"/>
                <a:pathLst>
                  <a:path w="90" h="2">
                    <a:moveTo>
                      <a:pt x="0" y="0"/>
                    </a:moveTo>
                    <a:lnTo>
                      <a:pt x="90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40" name="Freeform 85"/>
              <p:cNvSpPr/>
              <p:nvPr/>
            </p:nvSpPr>
            <p:spPr>
              <a:xfrm>
                <a:off x="3935" y="2353"/>
                <a:ext cx="104" cy="1"/>
              </a:xfrm>
              <a:custGeom>
                <a:avLst/>
                <a:gdLst>
                  <a:gd name="txL" fmla="*/ 0 w 104"/>
                  <a:gd name="txT" fmla="*/ 0 h 1"/>
                  <a:gd name="txR" fmla="*/ 104 w 104"/>
                  <a:gd name="txB" fmla="*/ 1 h 1"/>
                </a:gdLst>
                <a:ahLst/>
                <a:cxnLst>
                  <a:cxn ang="0">
                    <a:pos x="10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4" h="1">
                    <a:moveTo>
                      <a:pt x="10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4541" name="Group 86"/>
              <p:cNvGrpSpPr/>
              <p:nvPr/>
            </p:nvGrpSpPr>
            <p:grpSpPr>
              <a:xfrm>
                <a:off x="4668" y="2634"/>
                <a:ext cx="192" cy="158"/>
                <a:chOff x="4692" y="2634"/>
                <a:chExt cx="192" cy="158"/>
              </a:xfrm>
            </p:grpSpPr>
            <p:grpSp>
              <p:nvGrpSpPr>
                <p:cNvPr id="274688" name="Group 87"/>
                <p:cNvGrpSpPr/>
                <p:nvPr/>
              </p:nvGrpSpPr>
              <p:grpSpPr>
                <a:xfrm>
                  <a:off x="4836" y="2634"/>
                  <a:ext cx="48" cy="158"/>
                  <a:chOff x="4836" y="2634"/>
                  <a:chExt cx="48" cy="158"/>
                </a:xfrm>
              </p:grpSpPr>
              <p:sp>
                <p:nvSpPr>
                  <p:cNvPr id="274693" name="Line 88"/>
                  <p:cNvSpPr/>
                  <p:nvPr/>
                </p:nvSpPr>
                <p:spPr>
                  <a:xfrm rot="5400000">
                    <a:off x="4805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4694" name="Line 89"/>
                  <p:cNvSpPr/>
                  <p:nvPr/>
                </p:nvSpPr>
                <p:spPr>
                  <a:xfrm rot="5400000">
                    <a:off x="4788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4689" name="Freeform 90"/>
                <p:cNvSpPr/>
                <p:nvPr/>
              </p:nvSpPr>
              <p:spPr>
                <a:xfrm>
                  <a:off x="4740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4690" name="Group 91"/>
                <p:cNvGrpSpPr/>
                <p:nvPr/>
              </p:nvGrpSpPr>
              <p:grpSpPr>
                <a:xfrm>
                  <a:off x="4692" y="2634"/>
                  <a:ext cx="48" cy="158"/>
                  <a:chOff x="4692" y="2634"/>
                  <a:chExt cx="48" cy="158"/>
                </a:xfrm>
              </p:grpSpPr>
              <p:sp>
                <p:nvSpPr>
                  <p:cNvPr id="274691" name="Line 92"/>
                  <p:cNvSpPr/>
                  <p:nvPr/>
                </p:nvSpPr>
                <p:spPr>
                  <a:xfrm rot="-5400000">
                    <a:off x="4613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4692" name="Line 93"/>
                  <p:cNvSpPr/>
                  <p:nvPr/>
                </p:nvSpPr>
                <p:spPr>
                  <a:xfrm rot="-5400000">
                    <a:off x="4692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74542" name="Freeform 94"/>
              <p:cNvSpPr/>
              <p:nvPr/>
            </p:nvSpPr>
            <p:spPr>
              <a:xfrm>
                <a:off x="4890" y="2353"/>
                <a:ext cx="107" cy="1"/>
              </a:xfrm>
              <a:custGeom>
                <a:avLst/>
                <a:gdLst>
                  <a:gd name="txL" fmla="*/ 0 w 107"/>
                  <a:gd name="txT" fmla="*/ 0 h 1"/>
                  <a:gd name="txR" fmla="*/ 107 w 10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7" y="0"/>
                  </a:cxn>
                </a:cxnLst>
                <a:rect l="txL" t="txT" r="txR" b="txB"/>
                <a:pathLst>
                  <a:path w="107" h="1">
                    <a:moveTo>
                      <a:pt x="0" y="0"/>
                    </a:moveTo>
                    <a:lnTo>
                      <a:pt x="10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43" name="Freeform 95"/>
              <p:cNvSpPr/>
              <p:nvPr/>
            </p:nvSpPr>
            <p:spPr>
              <a:xfrm>
                <a:off x="4511" y="2353"/>
                <a:ext cx="96" cy="1"/>
              </a:xfrm>
              <a:custGeom>
                <a:avLst/>
                <a:gdLst>
                  <a:gd name="txL" fmla="*/ 0 w 96"/>
                  <a:gd name="txT" fmla="*/ 0 h 1"/>
                  <a:gd name="txR" fmla="*/ 96 w 96"/>
                  <a:gd name="txB" fmla="*/ 1 h 1"/>
                </a:gdLst>
                <a:ahLst/>
                <a:cxnLst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1">
                    <a:moveTo>
                      <a:pt x="96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4544" name="Group 96"/>
              <p:cNvGrpSpPr/>
              <p:nvPr/>
            </p:nvGrpSpPr>
            <p:grpSpPr>
              <a:xfrm>
                <a:off x="5235" y="2634"/>
                <a:ext cx="192" cy="158"/>
                <a:chOff x="5259" y="2634"/>
                <a:chExt cx="192" cy="158"/>
              </a:xfrm>
            </p:grpSpPr>
            <p:grpSp>
              <p:nvGrpSpPr>
                <p:cNvPr id="274681" name="Group 97"/>
                <p:cNvGrpSpPr/>
                <p:nvPr/>
              </p:nvGrpSpPr>
              <p:grpSpPr>
                <a:xfrm>
                  <a:off x="5403" y="2634"/>
                  <a:ext cx="48" cy="158"/>
                  <a:chOff x="5403" y="2634"/>
                  <a:chExt cx="48" cy="158"/>
                </a:xfrm>
              </p:grpSpPr>
              <p:sp>
                <p:nvSpPr>
                  <p:cNvPr id="274686" name="Line 98"/>
                  <p:cNvSpPr/>
                  <p:nvPr/>
                </p:nvSpPr>
                <p:spPr>
                  <a:xfrm rot="5400000">
                    <a:off x="5372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4687" name="Line 99"/>
                  <p:cNvSpPr/>
                  <p:nvPr/>
                </p:nvSpPr>
                <p:spPr>
                  <a:xfrm rot="5400000">
                    <a:off x="5355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4682" name="Freeform 100"/>
                <p:cNvSpPr/>
                <p:nvPr/>
              </p:nvSpPr>
              <p:spPr>
                <a:xfrm>
                  <a:off x="5307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4683" name="Group 101"/>
                <p:cNvGrpSpPr/>
                <p:nvPr/>
              </p:nvGrpSpPr>
              <p:grpSpPr>
                <a:xfrm>
                  <a:off x="5259" y="2634"/>
                  <a:ext cx="48" cy="158"/>
                  <a:chOff x="5259" y="2634"/>
                  <a:chExt cx="48" cy="158"/>
                </a:xfrm>
              </p:grpSpPr>
              <p:sp>
                <p:nvSpPr>
                  <p:cNvPr id="274684" name="Line 102"/>
                  <p:cNvSpPr/>
                  <p:nvPr/>
                </p:nvSpPr>
                <p:spPr>
                  <a:xfrm rot="-5400000">
                    <a:off x="5180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4685" name="Line 103"/>
                  <p:cNvSpPr/>
                  <p:nvPr/>
                </p:nvSpPr>
                <p:spPr>
                  <a:xfrm rot="-5400000">
                    <a:off x="5259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74545" name="Freeform 104"/>
              <p:cNvSpPr/>
              <p:nvPr/>
            </p:nvSpPr>
            <p:spPr>
              <a:xfrm>
                <a:off x="5467" y="2351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6" y="2"/>
                  </a:cxn>
                </a:cxnLst>
                <a:rect l="txL" t="txT" r="txR" b="txB"/>
                <a:pathLst>
                  <a:path w="96" h="2">
                    <a:moveTo>
                      <a:pt x="0" y="0"/>
                    </a:moveTo>
                    <a:lnTo>
                      <a:pt x="9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46" name="Freeform 105"/>
              <p:cNvSpPr/>
              <p:nvPr/>
            </p:nvSpPr>
            <p:spPr>
              <a:xfrm>
                <a:off x="5078" y="2353"/>
                <a:ext cx="101" cy="1"/>
              </a:xfrm>
              <a:custGeom>
                <a:avLst/>
                <a:gdLst>
                  <a:gd name="txL" fmla="*/ 0 w 101"/>
                  <a:gd name="txT" fmla="*/ 0 h 1"/>
                  <a:gd name="txR" fmla="*/ 101 w 101"/>
                  <a:gd name="txB" fmla="*/ 1 h 1"/>
                </a:gdLst>
                <a:ahLst/>
                <a:cxnLst>
                  <a:cxn ang="0">
                    <a:pos x="101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1" h="1">
                    <a:moveTo>
                      <a:pt x="101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47" name="Freeform 106"/>
              <p:cNvSpPr/>
              <p:nvPr/>
            </p:nvSpPr>
            <p:spPr>
              <a:xfrm>
                <a:off x="908" y="856"/>
                <a:ext cx="4419" cy="1"/>
              </a:xfrm>
              <a:custGeom>
                <a:avLst/>
                <a:gdLst>
                  <a:gd name="txL" fmla="*/ 0 w 4419"/>
                  <a:gd name="txT" fmla="*/ 0 h 1"/>
                  <a:gd name="txR" fmla="*/ 4419 w 4419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9" y="0"/>
                  </a:cxn>
                </a:cxnLst>
                <a:rect l="txL" t="txT" r="txR" b="txB"/>
                <a:pathLst>
                  <a:path w="4419" h="1">
                    <a:moveTo>
                      <a:pt x="0" y="1"/>
                    </a:moveTo>
                    <a:lnTo>
                      <a:pt x="441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48" name="Line 107"/>
              <p:cNvSpPr/>
              <p:nvPr/>
            </p:nvSpPr>
            <p:spPr>
              <a:xfrm>
                <a:off x="129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49" name="Line 108"/>
              <p:cNvSpPr/>
              <p:nvPr/>
            </p:nvSpPr>
            <p:spPr>
              <a:xfrm>
                <a:off x="186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50" name="Line 109"/>
              <p:cNvSpPr/>
              <p:nvPr/>
            </p:nvSpPr>
            <p:spPr>
              <a:xfrm>
                <a:off x="2444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51" name="Line 110"/>
              <p:cNvSpPr/>
              <p:nvPr/>
            </p:nvSpPr>
            <p:spPr>
              <a:xfrm>
                <a:off x="3020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52" name="Line 111"/>
              <p:cNvSpPr/>
              <p:nvPr/>
            </p:nvSpPr>
            <p:spPr>
              <a:xfrm>
                <a:off x="3596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53" name="Line 112"/>
              <p:cNvSpPr/>
              <p:nvPr/>
            </p:nvSpPr>
            <p:spPr>
              <a:xfrm>
                <a:off x="417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54" name="Line 113"/>
              <p:cNvSpPr/>
              <p:nvPr/>
            </p:nvSpPr>
            <p:spPr>
              <a:xfrm>
                <a:off x="474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55" name="Line 114"/>
              <p:cNvSpPr/>
              <p:nvPr/>
            </p:nvSpPr>
            <p:spPr>
              <a:xfrm>
                <a:off x="5324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74556" name="Freeform 115"/>
              <p:cNvSpPr/>
              <p:nvPr/>
            </p:nvSpPr>
            <p:spPr>
              <a:xfrm>
                <a:off x="1305" y="2708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1" y="0"/>
                  </a:cxn>
                  <a:cxn ang="0">
                    <a:pos x="0" y="166"/>
                  </a:cxn>
                </a:cxnLst>
                <a:rect l="txL" t="txT" r="txR" b="txB"/>
                <a:pathLst>
                  <a:path w="1" h="166">
                    <a:moveTo>
                      <a:pt x="1" y="0"/>
                    </a:moveTo>
                    <a:lnTo>
                      <a:pt x="0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57" name="Freeform 116"/>
              <p:cNvSpPr/>
              <p:nvPr/>
            </p:nvSpPr>
            <p:spPr>
              <a:xfrm>
                <a:off x="1880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58" name="Freeform 117"/>
              <p:cNvSpPr/>
              <p:nvPr/>
            </p:nvSpPr>
            <p:spPr>
              <a:xfrm>
                <a:off x="2454" y="2708"/>
                <a:ext cx="4" cy="166"/>
              </a:xfrm>
              <a:custGeom>
                <a:avLst/>
                <a:gdLst>
                  <a:gd name="txL" fmla="*/ 0 w 4"/>
                  <a:gd name="txT" fmla="*/ 0 h 166"/>
                  <a:gd name="txR" fmla="*/ 4 w 4"/>
                  <a:gd name="txB" fmla="*/ 166 h 166"/>
                </a:gdLst>
                <a:ahLst/>
                <a:cxnLst>
                  <a:cxn ang="0">
                    <a:pos x="4" y="0"/>
                  </a:cxn>
                  <a:cxn ang="0">
                    <a:pos x="0" y="166"/>
                  </a:cxn>
                </a:cxnLst>
                <a:rect l="txL" t="txT" r="txR" b="txB"/>
                <a:pathLst>
                  <a:path w="4" h="166">
                    <a:moveTo>
                      <a:pt x="4" y="0"/>
                    </a:moveTo>
                    <a:lnTo>
                      <a:pt x="0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59" name="Freeform 118"/>
              <p:cNvSpPr/>
              <p:nvPr/>
            </p:nvSpPr>
            <p:spPr>
              <a:xfrm>
                <a:off x="3606" y="2708"/>
                <a:ext cx="2" cy="175"/>
              </a:xfrm>
              <a:custGeom>
                <a:avLst/>
                <a:gdLst>
                  <a:gd name="txL" fmla="*/ 0 w 2"/>
                  <a:gd name="txT" fmla="*/ 0 h 175"/>
                  <a:gd name="txR" fmla="*/ 2 w 2"/>
                  <a:gd name="txB" fmla="*/ 175 h 175"/>
                </a:gdLst>
                <a:ahLst/>
                <a:cxnLst>
                  <a:cxn ang="0">
                    <a:pos x="2" y="0"/>
                  </a:cxn>
                  <a:cxn ang="0">
                    <a:pos x="0" y="175"/>
                  </a:cxn>
                </a:cxnLst>
                <a:rect l="txL" t="txT" r="txR" b="txB"/>
                <a:pathLst>
                  <a:path w="2" h="175">
                    <a:moveTo>
                      <a:pt x="2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60" name="Freeform 119"/>
              <p:cNvSpPr/>
              <p:nvPr/>
            </p:nvSpPr>
            <p:spPr>
              <a:xfrm>
                <a:off x="4760" y="2697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61" name="Freeform 120"/>
              <p:cNvSpPr/>
              <p:nvPr/>
            </p:nvSpPr>
            <p:spPr>
              <a:xfrm>
                <a:off x="908" y="1480"/>
                <a:ext cx="4422" cy="1"/>
              </a:xfrm>
              <a:custGeom>
                <a:avLst/>
                <a:gdLst>
                  <a:gd name="txL" fmla="*/ 0 w 4422"/>
                  <a:gd name="txT" fmla="*/ 0 h 1"/>
                  <a:gd name="txR" fmla="*/ 4422 w 4422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22" y="0"/>
                  </a:cxn>
                </a:cxnLst>
                <a:rect l="txL" t="txT" r="txR" b="txB"/>
                <a:pathLst>
                  <a:path w="4422" h="1">
                    <a:moveTo>
                      <a:pt x="0" y="1"/>
                    </a:moveTo>
                    <a:lnTo>
                      <a:pt x="442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62" name="Line 121"/>
              <p:cNvSpPr/>
              <p:nvPr/>
            </p:nvSpPr>
            <p:spPr>
              <a:xfrm>
                <a:off x="129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63" name="Line 122"/>
              <p:cNvSpPr/>
              <p:nvPr/>
            </p:nvSpPr>
            <p:spPr>
              <a:xfrm>
                <a:off x="186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64" name="Line 123"/>
              <p:cNvSpPr/>
              <p:nvPr/>
            </p:nvSpPr>
            <p:spPr>
              <a:xfrm>
                <a:off x="2444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65" name="Line 124"/>
              <p:cNvSpPr/>
              <p:nvPr/>
            </p:nvSpPr>
            <p:spPr>
              <a:xfrm>
                <a:off x="3020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66" name="Line 125"/>
              <p:cNvSpPr/>
              <p:nvPr/>
            </p:nvSpPr>
            <p:spPr>
              <a:xfrm>
                <a:off x="3596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67" name="Line 126"/>
              <p:cNvSpPr/>
              <p:nvPr/>
            </p:nvSpPr>
            <p:spPr>
              <a:xfrm>
                <a:off x="417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68" name="Line 127"/>
              <p:cNvSpPr/>
              <p:nvPr/>
            </p:nvSpPr>
            <p:spPr>
              <a:xfrm>
                <a:off x="474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69" name="Line 128"/>
              <p:cNvSpPr/>
              <p:nvPr/>
            </p:nvSpPr>
            <p:spPr>
              <a:xfrm>
                <a:off x="5324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74570" name="Freeform 129"/>
              <p:cNvSpPr/>
              <p:nvPr/>
            </p:nvSpPr>
            <p:spPr>
              <a:xfrm>
                <a:off x="908" y="2056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71" name="Line 130"/>
              <p:cNvSpPr/>
              <p:nvPr/>
            </p:nvSpPr>
            <p:spPr>
              <a:xfrm>
                <a:off x="129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72" name="Line 131"/>
              <p:cNvSpPr/>
              <p:nvPr/>
            </p:nvSpPr>
            <p:spPr>
              <a:xfrm>
                <a:off x="186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73" name="Line 132"/>
              <p:cNvSpPr/>
              <p:nvPr/>
            </p:nvSpPr>
            <p:spPr>
              <a:xfrm>
                <a:off x="2444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74" name="Line 133"/>
              <p:cNvSpPr/>
              <p:nvPr/>
            </p:nvSpPr>
            <p:spPr>
              <a:xfrm>
                <a:off x="3020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75" name="Line 134"/>
              <p:cNvSpPr/>
              <p:nvPr/>
            </p:nvSpPr>
            <p:spPr>
              <a:xfrm>
                <a:off x="3596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76" name="Line 135"/>
              <p:cNvSpPr/>
              <p:nvPr/>
            </p:nvSpPr>
            <p:spPr>
              <a:xfrm>
                <a:off x="417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77" name="Line 136"/>
              <p:cNvSpPr/>
              <p:nvPr/>
            </p:nvSpPr>
            <p:spPr>
              <a:xfrm>
                <a:off x="474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4578" name="Line 137"/>
              <p:cNvSpPr/>
              <p:nvPr/>
            </p:nvSpPr>
            <p:spPr>
              <a:xfrm>
                <a:off x="5324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74579" name="Freeform 138"/>
              <p:cNvSpPr/>
              <p:nvPr/>
            </p:nvSpPr>
            <p:spPr>
              <a:xfrm>
                <a:off x="909" y="2879"/>
                <a:ext cx="3860" cy="1"/>
              </a:xfrm>
              <a:custGeom>
                <a:avLst/>
                <a:gdLst>
                  <a:gd name="txL" fmla="*/ 0 w 3860"/>
                  <a:gd name="txT" fmla="*/ 0 h 1"/>
                  <a:gd name="txR" fmla="*/ 3860 w 3860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3860" y="0"/>
                  </a:cxn>
                </a:cxnLst>
                <a:rect l="txL" t="txT" r="txR" b="txB"/>
                <a:pathLst>
                  <a:path w="3860" h="1">
                    <a:moveTo>
                      <a:pt x="0" y="1"/>
                    </a:moveTo>
                    <a:lnTo>
                      <a:pt x="38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80" name="Freeform 139"/>
              <p:cNvSpPr/>
              <p:nvPr/>
            </p:nvSpPr>
            <p:spPr>
              <a:xfrm>
                <a:off x="912" y="3209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81" name="Rectangle 140"/>
              <p:cNvSpPr/>
              <p:nvPr/>
            </p:nvSpPr>
            <p:spPr>
              <a:xfrm>
                <a:off x="1141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82" name="Text Box 141"/>
              <p:cNvSpPr txBox="1"/>
              <p:nvPr/>
            </p:nvSpPr>
            <p:spPr>
              <a:xfrm>
                <a:off x="1172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583" name="Freeform 142"/>
              <p:cNvSpPr/>
              <p:nvPr/>
            </p:nvSpPr>
            <p:spPr>
              <a:xfrm>
                <a:off x="1402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84" name="Freeform 143"/>
              <p:cNvSpPr/>
              <p:nvPr/>
            </p:nvSpPr>
            <p:spPr>
              <a:xfrm>
                <a:off x="1613" y="1211"/>
                <a:ext cx="169" cy="1469"/>
              </a:xfrm>
              <a:custGeom>
                <a:avLst/>
                <a:gdLst>
                  <a:gd name="txL" fmla="*/ 0 w 169"/>
                  <a:gd name="txT" fmla="*/ 0 h 1469"/>
                  <a:gd name="txR" fmla="*/ 169 w 169"/>
                  <a:gd name="txB" fmla="*/ 1469 h 1469"/>
                </a:gdLst>
                <a:ahLst/>
                <a:cxnLst>
                  <a:cxn ang="0">
                    <a:pos x="169" y="1468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5" y="0"/>
                  </a:cxn>
                </a:cxnLst>
                <a:rect l="txL" t="txT" r="txR" b="txB"/>
                <a:pathLst>
                  <a:path w="169" h="1469">
                    <a:moveTo>
                      <a:pt x="169" y="1468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85" name="Freeform 144"/>
              <p:cNvSpPr/>
              <p:nvPr/>
            </p:nvSpPr>
            <p:spPr>
              <a:xfrm>
                <a:off x="1967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38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38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86" name="Freeform 145"/>
              <p:cNvSpPr/>
              <p:nvPr/>
            </p:nvSpPr>
            <p:spPr>
              <a:xfrm>
                <a:off x="2208" y="1211"/>
                <a:ext cx="155" cy="1467"/>
              </a:xfrm>
              <a:custGeom>
                <a:avLst/>
                <a:gdLst>
                  <a:gd name="txL" fmla="*/ 0 w 155"/>
                  <a:gd name="txT" fmla="*/ 0 h 1467"/>
                  <a:gd name="txR" fmla="*/ 155 w 155"/>
                  <a:gd name="txB" fmla="*/ 1467 h 1467"/>
                </a:gdLst>
                <a:ahLst/>
                <a:cxnLst>
                  <a:cxn ang="0">
                    <a:pos x="155" y="1467"/>
                  </a:cxn>
                  <a:cxn ang="0">
                    <a:pos x="3" y="1467"/>
                  </a:cxn>
                  <a:cxn ang="0">
                    <a:pos x="0" y="1"/>
                  </a:cxn>
                  <a:cxn ang="0">
                    <a:pos x="89" y="0"/>
                  </a:cxn>
                </a:cxnLst>
                <a:rect l="txL" t="txT" r="txR" b="txB"/>
                <a:pathLst>
                  <a:path w="155" h="1467">
                    <a:moveTo>
                      <a:pt x="155" y="1467"/>
                    </a:moveTo>
                    <a:lnTo>
                      <a:pt x="3" y="1467"/>
                    </a:lnTo>
                    <a:lnTo>
                      <a:pt x="0" y="1"/>
                    </a:lnTo>
                    <a:lnTo>
                      <a:pt x="8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87" name="Freeform 146"/>
              <p:cNvSpPr/>
              <p:nvPr/>
            </p:nvSpPr>
            <p:spPr>
              <a:xfrm>
                <a:off x="2557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4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88" name="Freeform 147"/>
              <p:cNvSpPr/>
              <p:nvPr/>
            </p:nvSpPr>
            <p:spPr>
              <a:xfrm>
                <a:off x="2787" y="1211"/>
                <a:ext cx="152" cy="1467"/>
              </a:xfrm>
              <a:custGeom>
                <a:avLst/>
                <a:gdLst>
                  <a:gd name="txL" fmla="*/ 0 w 152"/>
                  <a:gd name="txT" fmla="*/ 0 h 1467"/>
                  <a:gd name="txR" fmla="*/ 152 w 152"/>
                  <a:gd name="txB" fmla="*/ 1467 h 1467"/>
                </a:gdLst>
                <a:ahLst/>
                <a:cxnLst>
                  <a:cxn ang="0">
                    <a:pos x="152" y="1467"/>
                  </a:cxn>
                  <a:cxn ang="0">
                    <a:pos x="0" y="1467"/>
                  </a:cxn>
                  <a:cxn ang="0">
                    <a:pos x="0" y="1"/>
                  </a:cxn>
                  <a:cxn ang="0">
                    <a:pos x="77" y="0"/>
                  </a:cxn>
                </a:cxnLst>
                <a:rect l="txL" t="txT" r="txR" b="txB"/>
                <a:pathLst>
                  <a:path w="152" h="1467">
                    <a:moveTo>
                      <a:pt x="152" y="1467"/>
                    </a:moveTo>
                    <a:lnTo>
                      <a:pt x="0" y="1467"/>
                    </a:lnTo>
                    <a:lnTo>
                      <a:pt x="0" y="1"/>
                    </a:lnTo>
                    <a:lnTo>
                      <a:pt x="7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89" name="Freeform 148"/>
              <p:cNvSpPr/>
              <p:nvPr/>
            </p:nvSpPr>
            <p:spPr>
              <a:xfrm>
                <a:off x="3130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90" name="Freeform 149"/>
              <p:cNvSpPr/>
              <p:nvPr/>
            </p:nvSpPr>
            <p:spPr>
              <a:xfrm>
                <a:off x="3360" y="1209"/>
                <a:ext cx="155" cy="1469"/>
              </a:xfrm>
              <a:custGeom>
                <a:avLst/>
                <a:gdLst>
                  <a:gd name="txL" fmla="*/ 0 w 155"/>
                  <a:gd name="txT" fmla="*/ 0 h 1469"/>
                  <a:gd name="txR" fmla="*/ 155 w 155"/>
                  <a:gd name="txB" fmla="*/ 1469 h 1469"/>
                </a:gdLst>
                <a:ahLst/>
                <a:cxnLst>
                  <a:cxn ang="0">
                    <a:pos x="155" y="1469"/>
                  </a:cxn>
                  <a:cxn ang="0">
                    <a:pos x="3" y="1469"/>
                  </a:cxn>
                  <a:cxn ang="0">
                    <a:pos x="0" y="0"/>
                  </a:cxn>
                  <a:cxn ang="0">
                    <a:pos x="103" y="2"/>
                  </a:cxn>
                </a:cxnLst>
                <a:rect l="txL" t="txT" r="txR" b="txB"/>
                <a:pathLst>
                  <a:path w="155" h="1469">
                    <a:moveTo>
                      <a:pt x="155" y="1469"/>
                    </a:moveTo>
                    <a:lnTo>
                      <a:pt x="3" y="1469"/>
                    </a:lnTo>
                    <a:lnTo>
                      <a:pt x="0" y="0"/>
                    </a:lnTo>
                    <a:lnTo>
                      <a:pt x="103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91" name="Freeform 150"/>
              <p:cNvSpPr/>
              <p:nvPr/>
            </p:nvSpPr>
            <p:spPr>
              <a:xfrm>
                <a:off x="3710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42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42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92" name="Freeform 151"/>
              <p:cNvSpPr/>
              <p:nvPr/>
            </p:nvSpPr>
            <p:spPr>
              <a:xfrm>
                <a:off x="3939" y="1211"/>
                <a:ext cx="152" cy="1467"/>
              </a:xfrm>
              <a:custGeom>
                <a:avLst/>
                <a:gdLst>
                  <a:gd name="txL" fmla="*/ 0 w 152"/>
                  <a:gd name="txT" fmla="*/ 0 h 1467"/>
                  <a:gd name="txR" fmla="*/ 152 w 152"/>
                  <a:gd name="txB" fmla="*/ 1467 h 1467"/>
                </a:gdLst>
                <a:ahLst/>
                <a:cxnLst>
                  <a:cxn ang="0">
                    <a:pos x="152" y="1467"/>
                  </a:cxn>
                  <a:cxn ang="0">
                    <a:pos x="0" y="1467"/>
                  </a:cxn>
                  <a:cxn ang="0">
                    <a:pos x="0" y="1"/>
                  </a:cxn>
                  <a:cxn ang="0">
                    <a:pos x="103" y="0"/>
                  </a:cxn>
                </a:cxnLst>
                <a:rect l="txL" t="txT" r="txR" b="txB"/>
                <a:pathLst>
                  <a:path w="152" h="1467">
                    <a:moveTo>
                      <a:pt x="152" y="1467"/>
                    </a:moveTo>
                    <a:lnTo>
                      <a:pt x="0" y="1467"/>
                    </a:lnTo>
                    <a:lnTo>
                      <a:pt x="0" y="1"/>
                    </a:lnTo>
                    <a:lnTo>
                      <a:pt x="10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93" name="Freeform 152"/>
              <p:cNvSpPr/>
              <p:nvPr/>
            </p:nvSpPr>
            <p:spPr>
              <a:xfrm>
                <a:off x="4280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51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51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94" name="Freeform 153"/>
              <p:cNvSpPr/>
              <p:nvPr/>
            </p:nvSpPr>
            <p:spPr>
              <a:xfrm>
                <a:off x="4509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0" y="1467"/>
                  </a:cxn>
                  <a:cxn ang="0">
                    <a:pos x="0" y="0"/>
                  </a:cxn>
                  <a:cxn ang="0">
                    <a:pos x="95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0" y="1467"/>
                    </a:lnTo>
                    <a:lnTo>
                      <a:pt x="0" y="0"/>
                    </a:lnTo>
                    <a:lnTo>
                      <a:pt x="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95" name="Freeform 154"/>
              <p:cNvSpPr/>
              <p:nvPr/>
            </p:nvSpPr>
            <p:spPr>
              <a:xfrm>
                <a:off x="4861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96" name="Freeform 155"/>
              <p:cNvSpPr/>
              <p:nvPr/>
            </p:nvSpPr>
            <p:spPr>
              <a:xfrm>
                <a:off x="5069" y="1211"/>
                <a:ext cx="159" cy="1469"/>
              </a:xfrm>
              <a:custGeom>
                <a:avLst/>
                <a:gdLst>
                  <a:gd name="txL" fmla="*/ 0 w 159"/>
                  <a:gd name="txT" fmla="*/ 0 h 1469"/>
                  <a:gd name="txR" fmla="*/ 159 w 159"/>
                  <a:gd name="txB" fmla="*/ 1469 h 1469"/>
                </a:gdLst>
                <a:ahLst/>
                <a:cxnLst>
                  <a:cxn ang="0">
                    <a:pos x="159" y="1467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4" y="0"/>
                  </a:cxn>
                </a:cxnLst>
                <a:rect l="txL" t="txT" r="txR" b="txB"/>
                <a:pathLst>
                  <a:path w="159" h="1469">
                    <a:moveTo>
                      <a:pt x="159" y="1467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97" name="Freeform 156"/>
              <p:cNvSpPr/>
              <p:nvPr/>
            </p:nvSpPr>
            <p:spPr>
              <a:xfrm>
                <a:off x="5417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47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47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98" name="Freeform 157"/>
              <p:cNvSpPr/>
              <p:nvPr/>
            </p:nvSpPr>
            <p:spPr>
              <a:xfrm>
                <a:off x="1055" y="2738"/>
                <a:ext cx="730" cy="660"/>
              </a:xfrm>
              <a:custGeom>
                <a:avLst/>
                <a:gdLst>
                  <a:gd name="txL" fmla="*/ 0 w 730"/>
                  <a:gd name="txT" fmla="*/ 0 h 660"/>
                  <a:gd name="txR" fmla="*/ 730 w 730"/>
                  <a:gd name="txB" fmla="*/ 660 h 660"/>
                </a:gdLst>
                <a:ahLst/>
                <a:cxnLst>
                  <a:cxn ang="0">
                    <a:pos x="160" y="4"/>
                  </a:cxn>
                  <a:cxn ang="0">
                    <a:pos x="0" y="3"/>
                  </a:cxn>
                  <a:cxn ang="0">
                    <a:pos x="0" y="660"/>
                  </a:cxn>
                  <a:cxn ang="0">
                    <a:pos x="558" y="657"/>
                  </a:cxn>
                  <a:cxn ang="0">
                    <a:pos x="558" y="0"/>
                  </a:cxn>
                  <a:cxn ang="0">
                    <a:pos x="730" y="1"/>
                  </a:cxn>
                </a:cxnLst>
                <a:rect l="txL" t="txT" r="txR" b="txB"/>
                <a:pathLst>
                  <a:path w="730" h="660">
                    <a:moveTo>
                      <a:pt x="160" y="4"/>
                    </a:moveTo>
                    <a:lnTo>
                      <a:pt x="0" y="3"/>
                    </a:lnTo>
                    <a:lnTo>
                      <a:pt x="0" y="660"/>
                    </a:lnTo>
                    <a:lnTo>
                      <a:pt x="558" y="657"/>
                    </a:lnTo>
                    <a:lnTo>
                      <a:pt x="558" y="0"/>
                    </a:lnTo>
                    <a:lnTo>
                      <a:pt x="73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599" name="Freeform 158"/>
              <p:cNvSpPr/>
              <p:nvPr/>
            </p:nvSpPr>
            <p:spPr>
              <a:xfrm>
                <a:off x="2207" y="2744"/>
                <a:ext cx="729" cy="658"/>
              </a:xfrm>
              <a:custGeom>
                <a:avLst/>
                <a:gdLst>
                  <a:gd name="txL" fmla="*/ 0 w 729"/>
                  <a:gd name="txT" fmla="*/ 0 h 658"/>
                  <a:gd name="txR" fmla="*/ 729 w 729"/>
                  <a:gd name="txB" fmla="*/ 658 h 658"/>
                </a:gdLst>
                <a:ahLst/>
                <a:cxnLst>
                  <a:cxn ang="0">
                    <a:pos x="153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83" y="658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8">
                    <a:moveTo>
                      <a:pt x="153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83" y="658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00" name="Freeform 159"/>
              <p:cNvSpPr/>
              <p:nvPr/>
            </p:nvSpPr>
            <p:spPr>
              <a:xfrm>
                <a:off x="3356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58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58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01" name="Freeform 160"/>
              <p:cNvSpPr/>
              <p:nvPr/>
            </p:nvSpPr>
            <p:spPr>
              <a:xfrm>
                <a:off x="4508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61" y="2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61" y="2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02" name="Freeform 161"/>
              <p:cNvSpPr/>
              <p:nvPr/>
            </p:nvSpPr>
            <p:spPr>
              <a:xfrm>
                <a:off x="1400" y="2735"/>
                <a:ext cx="708" cy="571"/>
              </a:xfrm>
              <a:custGeom>
                <a:avLst/>
                <a:gdLst>
                  <a:gd name="txL" fmla="*/ 0 w 708"/>
                  <a:gd name="txT" fmla="*/ 0 h 571"/>
                  <a:gd name="txR" fmla="*/ 708 w 708"/>
                  <a:gd name="txB" fmla="*/ 571 h 571"/>
                </a:gdLst>
                <a:ahLst/>
                <a:cxnLst>
                  <a:cxn ang="0">
                    <a:pos x="0" y="0"/>
                  </a:cxn>
                  <a:cxn ang="0">
                    <a:pos x="132" y="0"/>
                  </a:cxn>
                  <a:cxn ang="0">
                    <a:pos x="133" y="571"/>
                  </a:cxn>
                  <a:cxn ang="0">
                    <a:pos x="708" y="570"/>
                  </a:cxn>
                  <a:cxn ang="0">
                    <a:pos x="708" y="9"/>
                  </a:cxn>
                  <a:cxn ang="0">
                    <a:pos x="573" y="9"/>
                  </a:cxn>
                </a:cxnLst>
                <a:rect l="txL" t="txT" r="txR" b="txB"/>
                <a:pathLst>
                  <a:path w="708" h="571">
                    <a:moveTo>
                      <a:pt x="0" y="0"/>
                    </a:moveTo>
                    <a:lnTo>
                      <a:pt x="132" y="0"/>
                    </a:lnTo>
                    <a:lnTo>
                      <a:pt x="133" y="571"/>
                    </a:lnTo>
                    <a:lnTo>
                      <a:pt x="708" y="570"/>
                    </a:lnTo>
                    <a:lnTo>
                      <a:pt x="708" y="9"/>
                    </a:lnTo>
                    <a:lnTo>
                      <a:pt x="573" y="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03" name="Freeform 162"/>
              <p:cNvSpPr/>
              <p:nvPr/>
            </p:nvSpPr>
            <p:spPr>
              <a:xfrm>
                <a:off x="2552" y="2735"/>
                <a:ext cx="726" cy="567"/>
              </a:xfrm>
              <a:custGeom>
                <a:avLst/>
                <a:gdLst>
                  <a:gd name="txL" fmla="*/ 0 w 726"/>
                  <a:gd name="txT" fmla="*/ 0 h 567"/>
                  <a:gd name="txR" fmla="*/ 726 w 726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48" y="1"/>
                  </a:cxn>
                  <a:cxn ang="0">
                    <a:pos x="147" y="567"/>
                  </a:cxn>
                  <a:cxn ang="0">
                    <a:pos x="726" y="567"/>
                  </a:cxn>
                  <a:cxn ang="0">
                    <a:pos x="726" y="6"/>
                  </a:cxn>
                  <a:cxn ang="0">
                    <a:pos x="579" y="6"/>
                  </a:cxn>
                </a:cxnLst>
                <a:rect l="txL" t="txT" r="txR" b="txB"/>
                <a:pathLst>
                  <a:path w="726" h="567">
                    <a:moveTo>
                      <a:pt x="0" y="0"/>
                    </a:moveTo>
                    <a:lnTo>
                      <a:pt x="148" y="1"/>
                    </a:lnTo>
                    <a:lnTo>
                      <a:pt x="147" y="567"/>
                    </a:lnTo>
                    <a:lnTo>
                      <a:pt x="726" y="567"/>
                    </a:lnTo>
                    <a:lnTo>
                      <a:pt x="726" y="6"/>
                    </a:lnTo>
                    <a:lnTo>
                      <a:pt x="579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04" name="Freeform 163"/>
              <p:cNvSpPr/>
              <p:nvPr/>
            </p:nvSpPr>
            <p:spPr>
              <a:xfrm>
                <a:off x="3704" y="2738"/>
                <a:ext cx="714" cy="567"/>
              </a:xfrm>
              <a:custGeom>
                <a:avLst/>
                <a:gdLst>
                  <a:gd name="txL" fmla="*/ 0 w 714"/>
                  <a:gd name="txT" fmla="*/ 0 h 567"/>
                  <a:gd name="txR" fmla="*/ 714 w 714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6" y="1"/>
                  </a:cxn>
                  <a:cxn ang="0">
                    <a:pos x="135" y="567"/>
                  </a:cxn>
                  <a:cxn ang="0">
                    <a:pos x="714" y="567"/>
                  </a:cxn>
                  <a:cxn ang="0">
                    <a:pos x="714" y="6"/>
                  </a:cxn>
                  <a:cxn ang="0">
                    <a:pos x="576" y="5"/>
                  </a:cxn>
                </a:cxnLst>
                <a:rect l="txL" t="txT" r="txR" b="txB"/>
                <a:pathLst>
                  <a:path w="714" h="567">
                    <a:moveTo>
                      <a:pt x="0" y="0"/>
                    </a:moveTo>
                    <a:lnTo>
                      <a:pt x="136" y="1"/>
                    </a:lnTo>
                    <a:lnTo>
                      <a:pt x="135" y="567"/>
                    </a:lnTo>
                    <a:lnTo>
                      <a:pt x="714" y="567"/>
                    </a:lnTo>
                    <a:lnTo>
                      <a:pt x="714" y="6"/>
                    </a:lnTo>
                    <a:lnTo>
                      <a:pt x="576" y="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05" name="Freeform 164"/>
              <p:cNvSpPr/>
              <p:nvPr/>
            </p:nvSpPr>
            <p:spPr>
              <a:xfrm>
                <a:off x="4859" y="2738"/>
                <a:ext cx="711" cy="567"/>
              </a:xfrm>
              <a:custGeom>
                <a:avLst/>
                <a:gdLst>
                  <a:gd name="txL" fmla="*/ 0 w 711"/>
                  <a:gd name="txT" fmla="*/ 0 h 567"/>
                  <a:gd name="txR" fmla="*/ 711 w 711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0" y="1"/>
                  </a:cxn>
                  <a:cxn ang="0">
                    <a:pos x="132" y="567"/>
                  </a:cxn>
                  <a:cxn ang="0">
                    <a:pos x="711" y="567"/>
                  </a:cxn>
                  <a:cxn ang="0">
                    <a:pos x="711" y="6"/>
                  </a:cxn>
                  <a:cxn ang="0">
                    <a:pos x="564" y="6"/>
                  </a:cxn>
                </a:cxnLst>
                <a:rect l="txL" t="txT" r="txR" b="txB"/>
                <a:pathLst>
                  <a:path w="711" h="567">
                    <a:moveTo>
                      <a:pt x="0" y="0"/>
                    </a:moveTo>
                    <a:lnTo>
                      <a:pt x="130" y="1"/>
                    </a:lnTo>
                    <a:lnTo>
                      <a:pt x="132" y="567"/>
                    </a:lnTo>
                    <a:lnTo>
                      <a:pt x="711" y="567"/>
                    </a:lnTo>
                    <a:lnTo>
                      <a:pt x="711" y="6"/>
                    </a:lnTo>
                    <a:lnTo>
                      <a:pt x="564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06" name="Freeform 165"/>
              <p:cNvSpPr/>
              <p:nvPr/>
            </p:nvSpPr>
            <p:spPr>
              <a:xfrm>
                <a:off x="1322" y="3398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07" name="Freeform 166"/>
              <p:cNvSpPr/>
              <p:nvPr/>
            </p:nvSpPr>
            <p:spPr>
              <a:xfrm>
                <a:off x="2491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08" name="Freeform 167"/>
              <p:cNvSpPr/>
              <p:nvPr/>
            </p:nvSpPr>
            <p:spPr>
              <a:xfrm>
                <a:off x="3643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09" name="Freeform 168"/>
              <p:cNvSpPr/>
              <p:nvPr/>
            </p:nvSpPr>
            <p:spPr>
              <a:xfrm>
                <a:off x="4795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10" name="Freeform 169"/>
              <p:cNvSpPr/>
              <p:nvPr/>
            </p:nvSpPr>
            <p:spPr>
              <a:xfrm>
                <a:off x="5276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11" name="Freeform 170"/>
              <p:cNvSpPr/>
              <p:nvPr/>
            </p:nvSpPr>
            <p:spPr>
              <a:xfrm>
                <a:off x="4124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12" name="Freeform 171"/>
              <p:cNvSpPr/>
              <p:nvPr/>
            </p:nvSpPr>
            <p:spPr>
              <a:xfrm>
                <a:off x="2972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13" name="Freeform 172"/>
              <p:cNvSpPr/>
              <p:nvPr/>
            </p:nvSpPr>
            <p:spPr>
              <a:xfrm>
                <a:off x="1819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14" name="Freeform 173"/>
              <p:cNvSpPr/>
              <p:nvPr/>
            </p:nvSpPr>
            <p:spPr>
              <a:xfrm>
                <a:off x="956" y="4025"/>
                <a:ext cx="4317" cy="1"/>
              </a:xfrm>
              <a:custGeom>
                <a:avLst/>
                <a:gdLst>
                  <a:gd name="txL" fmla="*/ 0 w 4317"/>
                  <a:gd name="txT" fmla="*/ 0 h 1"/>
                  <a:gd name="txR" fmla="*/ 4317 w 431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4317" y="0"/>
                  </a:cxn>
                </a:cxnLst>
                <a:rect l="txL" t="txT" r="txR" b="txB"/>
                <a:pathLst>
                  <a:path w="4317" h="1">
                    <a:moveTo>
                      <a:pt x="0" y="0"/>
                    </a:moveTo>
                    <a:lnTo>
                      <a:pt x="431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15" name="Freeform 174"/>
              <p:cNvSpPr/>
              <p:nvPr/>
            </p:nvSpPr>
            <p:spPr>
              <a:xfrm>
                <a:off x="956" y="4121"/>
                <a:ext cx="3837" cy="1"/>
              </a:xfrm>
              <a:custGeom>
                <a:avLst/>
                <a:gdLst>
                  <a:gd name="txL" fmla="*/ 0 w 3837"/>
                  <a:gd name="txT" fmla="*/ 0 h 1"/>
                  <a:gd name="txR" fmla="*/ 3837 w 383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837" y="0"/>
                  </a:cxn>
                </a:cxnLst>
                <a:rect l="txL" t="txT" r="txR" b="txB"/>
                <a:pathLst>
                  <a:path w="3837" h="1">
                    <a:moveTo>
                      <a:pt x="0" y="0"/>
                    </a:moveTo>
                    <a:lnTo>
                      <a:pt x="383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16" name="Freeform 175"/>
              <p:cNvSpPr/>
              <p:nvPr/>
            </p:nvSpPr>
            <p:spPr>
              <a:xfrm>
                <a:off x="1322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17" name="Freeform 176"/>
              <p:cNvSpPr/>
              <p:nvPr/>
            </p:nvSpPr>
            <p:spPr>
              <a:xfrm>
                <a:off x="2491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18" name="Freeform 177"/>
              <p:cNvSpPr/>
              <p:nvPr/>
            </p:nvSpPr>
            <p:spPr>
              <a:xfrm>
                <a:off x="3643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19" name="Freeform 178"/>
              <p:cNvSpPr/>
              <p:nvPr/>
            </p:nvSpPr>
            <p:spPr>
              <a:xfrm>
                <a:off x="4791" y="3881"/>
                <a:ext cx="4" cy="247"/>
              </a:xfrm>
              <a:custGeom>
                <a:avLst/>
                <a:gdLst>
                  <a:gd name="txL" fmla="*/ 0 w 4"/>
                  <a:gd name="txT" fmla="*/ 0 h 247"/>
                  <a:gd name="txR" fmla="*/ 4 w 4"/>
                  <a:gd name="txB" fmla="*/ 247 h 247"/>
                </a:gdLst>
                <a:ahLst/>
                <a:cxnLst>
                  <a:cxn ang="0">
                    <a:pos x="4" y="0"/>
                  </a:cxn>
                  <a:cxn ang="0">
                    <a:pos x="0" y="247"/>
                  </a:cxn>
                </a:cxnLst>
                <a:rect l="txL" t="txT" r="txR" b="txB"/>
                <a:pathLst>
                  <a:path w="4" h="247">
                    <a:moveTo>
                      <a:pt x="4" y="0"/>
                    </a:moveTo>
                    <a:lnTo>
                      <a:pt x="0" y="24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20" name="Freeform 179"/>
              <p:cNvSpPr/>
              <p:nvPr/>
            </p:nvSpPr>
            <p:spPr>
              <a:xfrm>
                <a:off x="5277" y="3881"/>
                <a:ext cx="1" cy="151"/>
              </a:xfrm>
              <a:custGeom>
                <a:avLst/>
                <a:gdLst>
                  <a:gd name="txL" fmla="*/ 0 w 1"/>
                  <a:gd name="txT" fmla="*/ 0 h 151"/>
                  <a:gd name="txR" fmla="*/ 1 w 1"/>
                  <a:gd name="txB" fmla="*/ 151 h 151"/>
                </a:gdLst>
                <a:ahLst/>
                <a:cxnLst>
                  <a:cxn ang="0">
                    <a:pos x="0" y="0"/>
                  </a:cxn>
                  <a:cxn ang="0">
                    <a:pos x="0" y="151"/>
                  </a:cxn>
                </a:cxnLst>
                <a:rect l="txL" t="txT" r="txR" b="txB"/>
                <a:pathLst>
                  <a:path w="1" h="151">
                    <a:moveTo>
                      <a:pt x="0" y="0"/>
                    </a:moveTo>
                    <a:lnTo>
                      <a:pt x="0" y="15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21" name="Line 180"/>
              <p:cNvSpPr/>
              <p:nvPr/>
            </p:nvSpPr>
            <p:spPr>
              <a:xfrm>
                <a:off x="4124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74622" name="Line 181"/>
              <p:cNvSpPr/>
              <p:nvPr/>
            </p:nvSpPr>
            <p:spPr>
              <a:xfrm>
                <a:off x="2973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74623" name="Line 182"/>
              <p:cNvSpPr/>
              <p:nvPr/>
            </p:nvSpPr>
            <p:spPr>
              <a:xfrm>
                <a:off x="1820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74624" name="Rectangle 183"/>
              <p:cNvSpPr/>
              <p:nvPr/>
            </p:nvSpPr>
            <p:spPr>
              <a:xfrm>
                <a:off x="2317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25" name="Text Box 184"/>
              <p:cNvSpPr txBox="1"/>
              <p:nvPr/>
            </p:nvSpPr>
            <p:spPr>
              <a:xfrm>
                <a:off x="2348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26" name="Rectangle 185"/>
              <p:cNvSpPr/>
              <p:nvPr/>
            </p:nvSpPr>
            <p:spPr>
              <a:xfrm>
                <a:off x="3469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27" name="Text Box 186"/>
              <p:cNvSpPr txBox="1"/>
              <p:nvPr/>
            </p:nvSpPr>
            <p:spPr>
              <a:xfrm>
                <a:off x="3500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28" name="Rectangle 187"/>
              <p:cNvSpPr/>
              <p:nvPr/>
            </p:nvSpPr>
            <p:spPr>
              <a:xfrm>
                <a:off x="4621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29" name="Text Box 188"/>
              <p:cNvSpPr txBox="1"/>
              <p:nvPr/>
            </p:nvSpPr>
            <p:spPr>
              <a:xfrm>
                <a:off x="4652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30" name="Line 189"/>
              <p:cNvSpPr/>
              <p:nvPr/>
            </p:nvSpPr>
            <p:spPr>
              <a:xfrm>
                <a:off x="196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4631" name="Line 190"/>
              <p:cNvSpPr/>
              <p:nvPr/>
            </p:nvSpPr>
            <p:spPr>
              <a:xfrm>
                <a:off x="314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4632" name="Line 191"/>
              <p:cNvSpPr/>
              <p:nvPr/>
            </p:nvSpPr>
            <p:spPr>
              <a:xfrm>
                <a:off x="4293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4633" name="Line 192"/>
              <p:cNvSpPr/>
              <p:nvPr/>
            </p:nvSpPr>
            <p:spPr>
              <a:xfrm>
                <a:off x="5420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4634" name="Freeform 193"/>
              <p:cNvSpPr/>
              <p:nvPr/>
            </p:nvSpPr>
            <p:spPr>
              <a:xfrm>
                <a:off x="3033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35" name="Freeform 194"/>
              <p:cNvSpPr/>
              <p:nvPr/>
            </p:nvSpPr>
            <p:spPr>
              <a:xfrm>
                <a:off x="4185" y="2691"/>
                <a:ext cx="1" cy="525"/>
              </a:xfrm>
              <a:custGeom>
                <a:avLst/>
                <a:gdLst>
                  <a:gd name="txL" fmla="*/ 0 w 1"/>
                  <a:gd name="txT" fmla="*/ 0 h 525"/>
                  <a:gd name="txR" fmla="*/ 1 w 1"/>
                  <a:gd name="txB" fmla="*/ 525 h 525"/>
                </a:gdLst>
                <a:ahLst/>
                <a:cxnLst>
                  <a:cxn ang="0">
                    <a:pos x="0" y="0"/>
                  </a:cxn>
                  <a:cxn ang="0">
                    <a:pos x="0" y="525"/>
                  </a:cxn>
                </a:cxnLst>
                <a:rect l="txL" t="txT" r="txR" b="txB"/>
                <a:pathLst>
                  <a:path w="1" h="525">
                    <a:moveTo>
                      <a:pt x="0" y="0"/>
                    </a:moveTo>
                    <a:lnTo>
                      <a:pt x="0" y="52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36" name="Freeform 195"/>
              <p:cNvSpPr/>
              <p:nvPr/>
            </p:nvSpPr>
            <p:spPr>
              <a:xfrm>
                <a:off x="5325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4637" name="Text Box 196"/>
              <p:cNvSpPr txBox="1"/>
              <p:nvPr/>
            </p:nvSpPr>
            <p:spPr>
              <a:xfrm rot="5400000">
                <a:off x="1175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38" name="Text Box 197"/>
              <p:cNvSpPr txBox="1"/>
              <p:nvPr/>
            </p:nvSpPr>
            <p:spPr>
              <a:xfrm rot="5400000">
                <a:off x="1751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39" name="Text Box 198"/>
              <p:cNvSpPr txBox="1"/>
              <p:nvPr/>
            </p:nvSpPr>
            <p:spPr>
              <a:xfrm rot="5400000">
                <a:off x="2327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40" name="Text Box 199"/>
              <p:cNvSpPr txBox="1"/>
              <p:nvPr/>
            </p:nvSpPr>
            <p:spPr>
              <a:xfrm rot="5400000">
                <a:off x="2903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41" name="Text Box 200"/>
              <p:cNvSpPr txBox="1"/>
              <p:nvPr/>
            </p:nvSpPr>
            <p:spPr>
              <a:xfrm rot="5400000">
                <a:off x="3478" y="1610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42" name="Text Box 201"/>
              <p:cNvSpPr txBox="1"/>
              <p:nvPr/>
            </p:nvSpPr>
            <p:spPr>
              <a:xfrm rot="5400000">
                <a:off x="4055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43" name="Text Box 202"/>
              <p:cNvSpPr txBox="1"/>
              <p:nvPr/>
            </p:nvSpPr>
            <p:spPr>
              <a:xfrm rot="5400000">
                <a:off x="4631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44" name="Text Box 203"/>
              <p:cNvSpPr txBox="1"/>
              <p:nvPr/>
            </p:nvSpPr>
            <p:spPr>
              <a:xfrm rot="5400000">
                <a:off x="5226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45" name="Text Box 204"/>
              <p:cNvSpPr txBox="1"/>
              <p:nvPr/>
            </p:nvSpPr>
            <p:spPr>
              <a:xfrm>
                <a:off x="660" y="791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46" name="Text Box 205"/>
              <p:cNvSpPr txBox="1"/>
              <p:nvPr/>
            </p:nvSpPr>
            <p:spPr>
              <a:xfrm>
                <a:off x="660" y="1383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47" name="Text Box 206"/>
              <p:cNvSpPr txBox="1"/>
              <p:nvPr/>
            </p:nvSpPr>
            <p:spPr>
              <a:xfrm>
                <a:off x="624" y="1959"/>
                <a:ext cx="259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63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48" name="Line 207"/>
              <p:cNvSpPr/>
              <p:nvPr/>
            </p:nvSpPr>
            <p:spPr>
              <a:xfrm>
                <a:off x="332" y="2537"/>
                <a:ext cx="57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649" name="Text Box 208"/>
              <p:cNvSpPr txBox="1"/>
              <p:nvPr/>
            </p:nvSpPr>
            <p:spPr>
              <a:xfrm>
                <a:off x="660" y="2727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50" name="Text Box 209"/>
              <p:cNvSpPr txBox="1"/>
              <p:nvPr/>
            </p:nvSpPr>
            <p:spPr>
              <a:xfrm>
                <a:off x="624" y="3159"/>
                <a:ext cx="259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15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51" name="Text Box 210"/>
              <p:cNvSpPr txBox="1"/>
              <p:nvPr/>
            </p:nvSpPr>
            <p:spPr>
              <a:xfrm rot="5400000">
                <a:off x="647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52" name="Text Box 211"/>
              <p:cNvSpPr txBox="1"/>
              <p:nvPr/>
            </p:nvSpPr>
            <p:spPr>
              <a:xfrm rot="5400000">
                <a:off x="647" y="2859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53" name="Text Box 212"/>
              <p:cNvSpPr txBox="1"/>
              <p:nvPr/>
            </p:nvSpPr>
            <p:spPr>
              <a:xfrm>
                <a:off x="349" y="1015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54" name="Text Box 213"/>
              <p:cNvSpPr txBox="1"/>
              <p:nvPr/>
            </p:nvSpPr>
            <p:spPr>
              <a:xfrm>
                <a:off x="349" y="1263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55" name="Text Box 214"/>
              <p:cNvSpPr txBox="1"/>
              <p:nvPr/>
            </p:nvSpPr>
            <p:spPr>
              <a:xfrm>
                <a:off x="349" y="1511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56" name="Text Box 215"/>
              <p:cNvSpPr txBox="1"/>
              <p:nvPr/>
            </p:nvSpPr>
            <p:spPr>
              <a:xfrm>
                <a:off x="349" y="1758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57" name="Text Box 216"/>
              <p:cNvSpPr txBox="1"/>
              <p:nvPr/>
            </p:nvSpPr>
            <p:spPr>
              <a:xfrm>
                <a:off x="349" y="2006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58" name="Text Box 217"/>
              <p:cNvSpPr txBox="1"/>
              <p:nvPr/>
            </p:nvSpPr>
            <p:spPr>
              <a:xfrm>
                <a:off x="376" y="2635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59" name="Text Box 218"/>
              <p:cNvSpPr txBox="1"/>
              <p:nvPr/>
            </p:nvSpPr>
            <p:spPr>
              <a:xfrm>
                <a:off x="376" y="2883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60" name="Text Box 219"/>
              <p:cNvSpPr txBox="1"/>
              <p:nvPr/>
            </p:nvSpPr>
            <p:spPr>
              <a:xfrm>
                <a:off x="376" y="3131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61" name="Text Box 220"/>
              <p:cNvSpPr txBox="1"/>
              <p:nvPr/>
            </p:nvSpPr>
            <p:spPr>
              <a:xfrm>
                <a:off x="376" y="3378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62" name="Text Box 221"/>
              <p:cNvSpPr txBox="1"/>
              <p:nvPr/>
            </p:nvSpPr>
            <p:spPr>
              <a:xfrm>
                <a:off x="376" y="3626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63" name="Text Box 222"/>
              <p:cNvSpPr txBox="1"/>
              <p:nvPr/>
            </p:nvSpPr>
            <p:spPr>
              <a:xfrm>
                <a:off x="1946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64" name="Text Box 223"/>
              <p:cNvSpPr txBox="1"/>
              <p:nvPr/>
            </p:nvSpPr>
            <p:spPr>
              <a:xfrm>
                <a:off x="3106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65" name="Text Box 224"/>
              <p:cNvSpPr txBox="1"/>
              <p:nvPr/>
            </p:nvSpPr>
            <p:spPr>
              <a:xfrm>
                <a:off x="4258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66" name="Text Box 225"/>
              <p:cNvSpPr txBox="1"/>
              <p:nvPr/>
            </p:nvSpPr>
            <p:spPr>
              <a:xfrm>
                <a:off x="5416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67" name="Line 226"/>
              <p:cNvSpPr/>
              <p:nvPr/>
            </p:nvSpPr>
            <p:spPr>
              <a:xfrm>
                <a:off x="140" y="905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4668" name="Line 227"/>
              <p:cNvSpPr/>
              <p:nvPr/>
            </p:nvSpPr>
            <p:spPr>
              <a:xfrm>
                <a:off x="140" y="116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4669" name="Line 228"/>
              <p:cNvSpPr/>
              <p:nvPr/>
            </p:nvSpPr>
            <p:spPr>
              <a:xfrm>
                <a:off x="140" y="142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4670" name="Line 229"/>
              <p:cNvSpPr/>
              <p:nvPr/>
            </p:nvSpPr>
            <p:spPr>
              <a:xfrm>
                <a:off x="140" y="168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4671" name="Line 230"/>
              <p:cNvSpPr/>
              <p:nvPr/>
            </p:nvSpPr>
            <p:spPr>
              <a:xfrm>
                <a:off x="140" y="194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4672" name="Line 231"/>
              <p:cNvSpPr/>
              <p:nvPr/>
            </p:nvSpPr>
            <p:spPr>
              <a:xfrm>
                <a:off x="140" y="220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4673" name="Line 232"/>
              <p:cNvSpPr/>
              <p:nvPr/>
            </p:nvSpPr>
            <p:spPr>
              <a:xfrm>
                <a:off x="140" y="287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4674" name="Line 233"/>
              <p:cNvSpPr/>
              <p:nvPr/>
            </p:nvSpPr>
            <p:spPr>
              <a:xfrm>
                <a:off x="140" y="313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4675" name="Line 234"/>
              <p:cNvSpPr/>
              <p:nvPr/>
            </p:nvSpPr>
            <p:spPr>
              <a:xfrm>
                <a:off x="140" y="339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4676" name="Line 235"/>
              <p:cNvSpPr/>
              <p:nvPr/>
            </p:nvSpPr>
            <p:spPr>
              <a:xfrm>
                <a:off x="140" y="365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4677" name="Text Box 236"/>
              <p:cNvSpPr txBox="1"/>
              <p:nvPr/>
            </p:nvSpPr>
            <p:spPr>
              <a:xfrm>
                <a:off x="648" y="3890"/>
                <a:ext cx="35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WE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78" name="Line 237"/>
              <p:cNvSpPr/>
              <p:nvPr/>
            </p:nvSpPr>
            <p:spPr>
              <a:xfrm>
                <a:off x="682" y="3923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4679" name="Text Box 238"/>
              <p:cNvSpPr txBox="1"/>
              <p:nvPr/>
            </p:nvSpPr>
            <p:spPr>
              <a:xfrm>
                <a:off x="669" y="4025"/>
                <a:ext cx="32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CS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680" name="Line 239"/>
              <p:cNvSpPr/>
              <p:nvPr/>
            </p:nvSpPr>
            <p:spPr>
              <a:xfrm>
                <a:off x="726" y="4079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4466" name="Group 240"/>
            <p:cNvGrpSpPr/>
            <p:nvPr/>
          </p:nvGrpSpPr>
          <p:grpSpPr>
            <a:xfrm>
              <a:off x="140" y="674"/>
              <a:ext cx="195" cy="3011"/>
              <a:chOff x="140" y="674"/>
              <a:chExt cx="195" cy="3011"/>
            </a:xfrm>
          </p:grpSpPr>
          <p:sp>
            <p:nvSpPr>
              <p:cNvPr id="274467" name="Text Box 241"/>
              <p:cNvSpPr txBox="1"/>
              <p:nvPr/>
            </p:nvSpPr>
            <p:spPr>
              <a:xfrm>
                <a:off x="140" y="67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68" name="Text Box 242"/>
              <p:cNvSpPr txBox="1"/>
              <p:nvPr/>
            </p:nvSpPr>
            <p:spPr>
              <a:xfrm>
                <a:off x="140" y="933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69" name="Text Box 243"/>
              <p:cNvSpPr txBox="1"/>
              <p:nvPr/>
            </p:nvSpPr>
            <p:spPr>
              <a:xfrm>
                <a:off x="140" y="119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70" name="Text Box 244"/>
              <p:cNvSpPr txBox="1"/>
              <p:nvPr/>
            </p:nvSpPr>
            <p:spPr>
              <a:xfrm>
                <a:off x="140" y="145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71" name="Text Box 245"/>
              <p:cNvSpPr txBox="1"/>
              <p:nvPr/>
            </p:nvSpPr>
            <p:spPr>
              <a:xfrm>
                <a:off x="140" y="171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72" name="Text Box 246"/>
              <p:cNvSpPr txBox="1"/>
              <p:nvPr/>
            </p:nvSpPr>
            <p:spPr>
              <a:xfrm>
                <a:off x="140" y="197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73" name="Text Box 247"/>
              <p:cNvSpPr txBox="1"/>
              <p:nvPr/>
            </p:nvSpPr>
            <p:spPr>
              <a:xfrm>
                <a:off x="140" y="2657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74" name="Text Box 248"/>
              <p:cNvSpPr txBox="1"/>
              <p:nvPr/>
            </p:nvSpPr>
            <p:spPr>
              <a:xfrm>
                <a:off x="140" y="2916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75" name="Text Box 249"/>
              <p:cNvSpPr txBox="1"/>
              <p:nvPr/>
            </p:nvSpPr>
            <p:spPr>
              <a:xfrm>
                <a:off x="140" y="317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4476" name="Text Box 250"/>
              <p:cNvSpPr txBox="1"/>
              <p:nvPr/>
            </p:nvSpPr>
            <p:spPr>
              <a:xfrm>
                <a:off x="140" y="343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11195" name="Rectangle 25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4437" name="Text Box 252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读</a:t>
            </a:r>
            <a:endParaRPr lang="zh-CN" altLang="en-US" sz="3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" name="Group 253"/>
          <p:cNvGrpSpPr/>
          <p:nvPr/>
        </p:nvGrpSpPr>
        <p:grpSpPr>
          <a:xfrm>
            <a:off x="2955925" y="1360488"/>
            <a:ext cx="7250113" cy="663575"/>
            <a:chOff x="902" y="857"/>
            <a:chExt cx="4567" cy="418"/>
          </a:xfrm>
        </p:grpSpPr>
        <p:grpSp>
          <p:nvGrpSpPr>
            <p:cNvPr id="274441" name="Group 254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74446" name="Group 255"/>
              <p:cNvGrpSpPr/>
              <p:nvPr/>
            </p:nvGrpSpPr>
            <p:grpSpPr>
              <a:xfrm>
                <a:off x="1152" y="1024"/>
                <a:ext cx="4317" cy="251"/>
                <a:chOff x="1176" y="1079"/>
                <a:chExt cx="4317" cy="251"/>
              </a:xfrm>
            </p:grpSpPr>
            <p:sp>
              <p:nvSpPr>
                <p:cNvPr id="274457" name="Rectangle 256"/>
                <p:cNvSpPr/>
                <p:nvPr/>
              </p:nvSpPr>
              <p:spPr>
                <a:xfrm>
                  <a:off x="175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15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4458" name="Rectangle 257"/>
                <p:cNvSpPr/>
                <p:nvPr/>
              </p:nvSpPr>
              <p:spPr>
                <a:xfrm>
                  <a:off x="117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4459" name="Rectangle 258"/>
                <p:cNvSpPr/>
                <p:nvPr/>
              </p:nvSpPr>
              <p:spPr>
                <a:xfrm>
                  <a:off x="289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31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4460" name="Rectangle 259"/>
                <p:cNvSpPr/>
                <p:nvPr/>
              </p:nvSpPr>
              <p:spPr>
                <a:xfrm>
                  <a:off x="231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4461" name="Rectangle 260"/>
                <p:cNvSpPr/>
                <p:nvPr/>
              </p:nvSpPr>
              <p:spPr>
                <a:xfrm>
                  <a:off x="4067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47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4462" name="Rectangle 261"/>
                <p:cNvSpPr/>
                <p:nvPr/>
              </p:nvSpPr>
              <p:spPr>
                <a:xfrm>
                  <a:off x="3491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4463" name="Rectangle 262"/>
                <p:cNvSpPr/>
                <p:nvPr/>
              </p:nvSpPr>
              <p:spPr>
                <a:xfrm>
                  <a:off x="5205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63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4464" name="Rectangle 263"/>
                <p:cNvSpPr/>
                <p:nvPr/>
              </p:nvSpPr>
              <p:spPr>
                <a:xfrm>
                  <a:off x="462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48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74447" name="Group 264"/>
              <p:cNvGrpSpPr/>
              <p:nvPr/>
            </p:nvGrpSpPr>
            <p:grpSpPr>
              <a:xfrm>
                <a:off x="902" y="857"/>
                <a:ext cx="4419" cy="145"/>
                <a:chOff x="902" y="857"/>
                <a:chExt cx="4419" cy="145"/>
              </a:xfrm>
            </p:grpSpPr>
            <p:sp>
              <p:nvSpPr>
                <p:cNvPr id="274448" name="Freeform 265"/>
                <p:cNvSpPr/>
                <p:nvPr/>
              </p:nvSpPr>
              <p:spPr>
                <a:xfrm>
                  <a:off x="902" y="857"/>
                  <a:ext cx="4419" cy="1"/>
                </a:xfrm>
                <a:custGeom>
                  <a:avLst/>
                  <a:gdLst>
                    <a:gd name="txL" fmla="*/ 0 w 4419"/>
                    <a:gd name="txT" fmla="*/ 0 h 1"/>
                    <a:gd name="txR" fmla="*/ 4419 w 4419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9" y="0"/>
                    </a:cxn>
                  </a:cxnLst>
                  <a:rect l="txL" t="txT" r="txR" b="txB"/>
                  <a:pathLst>
                    <a:path w="4419" h="1">
                      <a:moveTo>
                        <a:pt x="0" y="1"/>
                      </a:moveTo>
                      <a:lnTo>
                        <a:pt x="4419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4449" name="Line 266"/>
                <p:cNvSpPr/>
                <p:nvPr/>
              </p:nvSpPr>
              <p:spPr>
                <a:xfrm>
                  <a:off x="127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4450" name="Line 267"/>
                <p:cNvSpPr/>
                <p:nvPr/>
              </p:nvSpPr>
              <p:spPr>
                <a:xfrm>
                  <a:off x="184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4451" name="Line 268"/>
                <p:cNvSpPr/>
                <p:nvPr/>
              </p:nvSpPr>
              <p:spPr>
                <a:xfrm>
                  <a:off x="242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4452" name="Line 269"/>
                <p:cNvSpPr/>
                <p:nvPr/>
              </p:nvSpPr>
              <p:spPr>
                <a:xfrm>
                  <a:off x="3000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4453" name="Line 270"/>
                <p:cNvSpPr/>
                <p:nvPr/>
              </p:nvSpPr>
              <p:spPr>
                <a:xfrm>
                  <a:off x="3576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4454" name="Line 271"/>
                <p:cNvSpPr/>
                <p:nvPr/>
              </p:nvSpPr>
              <p:spPr>
                <a:xfrm>
                  <a:off x="415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4455" name="Line 272"/>
                <p:cNvSpPr/>
                <p:nvPr/>
              </p:nvSpPr>
              <p:spPr>
                <a:xfrm>
                  <a:off x="472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4456" name="Line 273"/>
                <p:cNvSpPr/>
                <p:nvPr/>
              </p:nvSpPr>
              <p:spPr>
                <a:xfrm>
                  <a:off x="530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</p:grpSp>
        </p:grpSp>
        <p:sp>
          <p:nvSpPr>
            <p:cNvPr id="274442" name="Text Box 274"/>
            <p:cNvSpPr txBox="1"/>
            <p:nvPr/>
          </p:nvSpPr>
          <p:spPr>
            <a:xfrm>
              <a:off x="140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4443" name="Text Box 275"/>
            <p:cNvSpPr txBox="1"/>
            <p:nvPr/>
          </p:nvSpPr>
          <p:spPr>
            <a:xfrm>
              <a:off x="254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4444" name="Text Box 276"/>
            <p:cNvSpPr txBox="1"/>
            <p:nvPr/>
          </p:nvSpPr>
          <p:spPr>
            <a:xfrm>
              <a:off x="371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4445" name="Text Box 277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4439" name="AutoShape 27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444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75458" name="Group 2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75767" name="Line 3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5768" name="Freeform 4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769" name="Line 5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5770" name="Freeform 6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771" name="Line 7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5772" name="Text Box 8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73" name="Text Box 9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74" name="Text Box 10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75" name="Text Box 11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76" name="Line 12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5777" name="Line 13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5778" name="Line 14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5779" name="Line 15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5780" name="Line 16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5781" name="Line 17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5782" name="Line 18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5783" name="Line 19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11988" name="Rectangle 2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5460" name="Text Box 21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读</a:t>
            </a:r>
            <a:endParaRPr lang="zh-CN" altLang="en-US" sz="3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5461" name="Group 22"/>
          <p:cNvGrpSpPr/>
          <p:nvPr/>
        </p:nvGrpSpPr>
        <p:grpSpPr>
          <a:xfrm>
            <a:off x="1746250" y="1255713"/>
            <a:ext cx="8918575" cy="5532438"/>
            <a:chOff x="140" y="791"/>
            <a:chExt cx="5618" cy="3485"/>
          </a:xfrm>
        </p:grpSpPr>
        <p:sp>
          <p:nvSpPr>
            <p:cNvPr id="275549" name="Rectangle 23"/>
            <p:cNvSpPr/>
            <p:nvPr/>
          </p:nvSpPr>
          <p:spPr>
            <a:xfrm>
              <a:off x="332" y="2181"/>
              <a:ext cx="576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50" name="Rectangle 24"/>
            <p:cNvSpPr/>
            <p:nvPr/>
          </p:nvSpPr>
          <p:spPr>
            <a:xfrm>
              <a:off x="1728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51" name="Text Box 25"/>
            <p:cNvSpPr txBox="1"/>
            <p:nvPr/>
          </p:nvSpPr>
          <p:spPr>
            <a:xfrm>
              <a:off x="140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52" name="Rectangle 26"/>
            <p:cNvSpPr/>
            <p:nvPr/>
          </p:nvSpPr>
          <p:spPr>
            <a:xfrm>
              <a:off x="1152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53" name="Rectangle 27"/>
            <p:cNvSpPr/>
            <p:nvPr/>
          </p:nvSpPr>
          <p:spPr>
            <a:xfrm>
              <a:off x="2869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54" name="Text Box 28"/>
            <p:cNvSpPr txBox="1"/>
            <p:nvPr/>
          </p:nvSpPr>
          <p:spPr>
            <a:xfrm>
              <a:off x="2549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55" name="Rectangle 29"/>
            <p:cNvSpPr/>
            <p:nvPr/>
          </p:nvSpPr>
          <p:spPr>
            <a:xfrm>
              <a:off x="2293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56" name="Rectangle 30"/>
            <p:cNvSpPr/>
            <p:nvPr/>
          </p:nvSpPr>
          <p:spPr>
            <a:xfrm>
              <a:off x="4044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57" name="Text Box 31"/>
            <p:cNvSpPr txBox="1"/>
            <p:nvPr/>
          </p:nvSpPr>
          <p:spPr>
            <a:xfrm>
              <a:off x="3724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58" name="Rectangle 32"/>
            <p:cNvSpPr/>
            <p:nvPr/>
          </p:nvSpPr>
          <p:spPr>
            <a:xfrm>
              <a:off x="3468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59" name="Rectangle 33"/>
            <p:cNvSpPr/>
            <p:nvPr/>
          </p:nvSpPr>
          <p:spPr>
            <a:xfrm>
              <a:off x="5180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60" name="Text Box 34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61" name="Rectangle 35"/>
            <p:cNvSpPr/>
            <p:nvPr/>
          </p:nvSpPr>
          <p:spPr>
            <a:xfrm>
              <a:off x="4604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62" name="Rectangle 36"/>
            <p:cNvSpPr/>
            <p:nvPr/>
          </p:nvSpPr>
          <p:spPr>
            <a:xfrm>
              <a:off x="1728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63" name="Rectangle 37"/>
            <p:cNvSpPr/>
            <p:nvPr/>
          </p:nvSpPr>
          <p:spPr>
            <a:xfrm>
              <a:off x="1152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64" name="Rectangle 38"/>
            <p:cNvSpPr/>
            <p:nvPr/>
          </p:nvSpPr>
          <p:spPr>
            <a:xfrm>
              <a:off x="2869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65" name="Rectangle 39"/>
            <p:cNvSpPr/>
            <p:nvPr/>
          </p:nvSpPr>
          <p:spPr>
            <a:xfrm>
              <a:off x="2293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66" name="Rectangle 40"/>
            <p:cNvSpPr/>
            <p:nvPr/>
          </p:nvSpPr>
          <p:spPr>
            <a:xfrm>
              <a:off x="4044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67" name="Rectangle 41"/>
            <p:cNvSpPr/>
            <p:nvPr/>
          </p:nvSpPr>
          <p:spPr>
            <a:xfrm>
              <a:off x="3468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68" name="Rectangle 42"/>
            <p:cNvSpPr/>
            <p:nvPr/>
          </p:nvSpPr>
          <p:spPr>
            <a:xfrm>
              <a:off x="5180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69" name="Rectangle 43"/>
            <p:cNvSpPr/>
            <p:nvPr/>
          </p:nvSpPr>
          <p:spPr>
            <a:xfrm>
              <a:off x="4604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570" name="Line 44"/>
            <p:cNvSpPr/>
            <p:nvPr/>
          </p:nvSpPr>
          <p:spPr>
            <a:xfrm rot="5400000">
              <a:off x="1325" y="2712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71" name="Line 45"/>
            <p:cNvSpPr/>
            <p:nvPr/>
          </p:nvSpPr>
          <p:spPr>
            <a:xfrm rot="5400000">
              <a:off x="1308" y="271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72" name="Freeform 46"/>
            <p:cNvSpPr/>
            <p:nvPr/>
          </p:nvSpPr>
          <p:spPr>
            <a:xfrm>
              <a:off x="1260" y="2709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73" name="Line 47"/>
            <p:cNvSpPr/>
            <p:nvPr/>
          </p:nvSpPr>
          <p:spPr>
            <a:xfrm rot="-5400000">
              <a:off x="1133" y="2712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74" name="Line 48"/>
            <p:cNvSpPr/>
            <p:nvPr/>
          </p:nvSpPr>
          <p:spPr>
            <a:xfrm rot="-5400000">
              <a:off x="1212" y="271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75" name="Freeform 49"/>
            <p:cNvSpPr/>
            <p:nvPr/>
          </p:nvSpPr>
          <p:spPr>
            <a:xfrm>
              <a:off x="1434" y="2353"/>
              <a:ext cx="112" cy="1"/>
            </a:xfrm>
            <a:custGeom>
              <a:avLst/>
              <a:gdLst>
                <a:gd name="txL" fmla="*/ 0 w 112"/>
                <a:gd name="txT" fmla="*/ 0 h 1"/>
                <a:gd name="txR" fmla="*/ 112 w 11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2" y="0"/>
                </a:cxn>
              </a:cxnLst>
              <a:rect l="txL" t="txT" r="txR" b="txB"/>
              <a:pathLst>
                <a:path w="112" h="1">
                  <a:moveTo>
                    <a:pt x="0" y="0"/>
                  </a:moveTo>
                  <a:lnTo>
                    <a:pt x="11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76" name="Freeform 50"/>
            <p:cNvSpPr/>
            <p:nvPr/>
          </p:nvSpPr>
          <p:spPr>
            <a:xfrm>
              <a:off x="1059" y="1209"/>
              <a:ext cx="152" cy="1469"/>
            </a:xfrm>
            <a:custGeom>
              <a:avLst/>
              <a:gdLst>
                <a:gd name="txL" fmla="*/ 0 w 152"/>
                <a:gd name="txT" fmla="*/ 0 h 1469"/>
                <a:gd name="txR" fmla="*/ 152 w 152"/>
                <a:gd name="txB" fmla="*/ 1469 h 1469"/>
              </a:gdLst>
              <a:ahLst/>
              <a:cxnLst>
                <a:cxn ang="0">
                  <a:pos x="152" y="1469"/>
                </a:cxn>
                <a:cxn ang="0">
                  <a:pos x="0" y="1469"/>
                </a:cxn>
                <a:cxn ang="0">
                  <a:pos x="0" y="0"/>
                </a:cxn>
                <a:cxn ang="0">
                  <a:pos x="95" y="1"/>
                </a:cxn>
              </a:cxnLst>
              <a:rect l="txL" t="txT" r="txR" b="txB"/>
              <a:pathLst>
                <a:path w="152" h="1469">
                  <a:moveTo>
                    <a:pt x="152" y="1469"/>
                  </a:moveTo>
                  <a:lnTo>
                    <a:pt x="0" y="1469"/>
                  </a:lnTo>
                  <a:lnTo>
                    <a:pt x="0" y="0"/>
                  </a:lnTo>
                  <a:lnTo>
                    <a:pt x="95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77" name="Freeform 51"/>
            <p:cNvSpPr/>
            <p:nvPr/>
          </p:nvSpPr>
          <p:spPr>
            <a:xfrm>
              <a:off x="1055" y="2353"/>
              <a:ext cx="102" cy="1"/>
            </a:xfrm>
            <a:custGeom>
              <a:avLst/>
              <a:gdLst>
                <a:gd name="txL" fmla="*/ 0 w 102"/>
                <a:gd name="txT" fmla="*/ 0 h 1"/>
                <a:gd name="txR" fmla="*/ 102 w 102"/>
                <a:gd name="txB" fmla="*/ 1 h 1"/>
              </a:gdLst>
              <a:ahLst/>
              <a:cxnLst>
                <a:cxn ang="0">
                  <a:pos x="102" y="0"/>
                </a:cxn>
                <a:cxn ang="0">
                  <a:pos x="0" y="0"/>
                </a:cxn>
              </a:cxnLst>
              <a:rect l="txL" t="txT" r="txR" b="txB"/>
              <a:pathLst>
                <a:path w="102" h="1">
                  <a:moveTo>
                    <a:pt x="102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78" name="Line 52"/>
            <p:cNvSpPr/>
            <p:nvPr/>
          </p:nvSpPr>
          <p:spPr>
            <a:xfrm rot="5400000">
              <a:off x="1896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79" name="Line 53"/>
            <p:cNvSpPr/>
            <p:nvPr/>
          </p:nvSpPr>
          <p:spPr>
            <a:xfrm rot="5400000">
              <a:off x="1879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80" name="Freeform 54"/>
            <p:cNvSpPr/>
            <p:nvPr/>
          </p:nvSpPr>
          <p:spPr>
            <a:xfrm>
              <a:off x="1831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81" name="Line 55"/>
            <p:cNvSpPr/>
            <p:nvPr/>
          </p:nvSpPr>
          <p:spPr>
            <a:xfrm rot="-5400000">
              <a:off x="1704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82" name="Line 56"/>
            <p:cNvSpPr/>
            <p:nvPr/>
          </p:nvSpPr>
          <p:spPr>
            <a:xfrm rot="-5400000">
              <a:off x="1783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83" name="Freeform 57"/>
            <p:cNvSpPr/>
            <p:nvPr/>
          </p:nvSpPr>
          <p:spPr>
            <a:xfrm>
              <a:off x="2005" y="2353"/>
              <a:ext cx="103" cy="1"/>
            </a:xfrm>
            <a:custGeom>
              <a:avLst/>
              <a:gdLst>
                <a:gd name="txL" fmla="*/ 0 w 103"/>
                <a:gd name="txT" fmla="*/ 0 h 1"/>
                <a:gd name="txR" fmla="*/ 103 w 10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3" y="0"/>
                </a:cxn>
              </a:cxnLst>
              <a:rect l="txL" t="txT" r="txR" b="txB"/>
              <a:pathLst>
                <a:path w="103" h="1">
                  <a:moveTo>
                    <a:pt x="0" y="0"/>
                  </a:moveTo>
                  <a:lnTo>
                    <a:pt x="10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84" name="Freeform 58"/>
            <p:cNvSpPr/>
            <p:nvPr/>
          </p:nvSpPr>
          <p:spPr>
            <a:xfrm>
              <a:off x="1611" y="2352"/>
              <a:ext cx="113" cy="1"/>
            </a:xfrm>
            <a:custGeom>
              <a:avLst/>
              <a:gdLst>
                <a:gd name="txL" fmla="*/ 0 w 113"/>
                <a:gd name="txT" fmla="*/ 0 h 1"/>
                <a:gd name="txR" fmla="*/ 113 w 113"/>
                <a:gd name="txB" fmla="*/ 1 h 1"/>
              </a:gdLst>
              <a:ahLst/>
              <a:cxnLst>
                <a:cxn ang="0">
                  <a:pos x="113" y="1"/>
                </a:cxn>
                <a:cxn ang="0">
                  <a:pos x="0" y="0"/>
                </a:cxn>
              </a:cxnLst>
              <a:rect l="txL" t="txT" r="txR" b="txB"/>
              <a:pathLst>
                <a:path w="113" h="1">
                  <a:moveTo>
                    <a:pt x="113" y="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85" name="Line 59"/>
            <p:cNvSpPr/>
            <p:nvPr/>
          </p:nvSpPr>
          <p:spPr>
            <a:xfrm rot="5400000">
              <a:off x="2477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86" name="Line 60"/>
            <p:cNvSpPr/>
            <p:nvPr/>
          </p:nvSpPr>
          <p:spPr>
            <a:xfrm rot="5400000">
              <a:off x="2460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87" name="Freeform 61"/>
            <p:cNvSpPr/>
            <p:nvPr/>
          </p:nvSpPr>
          <p:spPr>
            <a:xfrm>
              <a:off x="2412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88" name="Line 62"/>
            <p:cNvSpPr/>
            <p:nvPr/>
          </p:nvSpPr>
          <p:spPr>
            <a:xfrm rot="-5400000">
              <a:off x="2285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89" name="Line 63"/>
            <p:cNvSpPr/>
            <p:nvPr/>
          </p:nvSpPr>
          <p:spPr>
            <a:xfrm rot="-5400000">
              <a:off x="2364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90" name="Freeform 64"/>
            <p:cNvSpPr/>
            <p:nvPr/>
          </p:nvSpPr>
          <p:spPr>
            <a:xfrm>
              <a:off x="2586" y="2353"/>
              <a:ext cx="109" cy="1"/>
            </a:xfrm>
            <a:custGeom>
              <a:avLst/>
              <a:gdLst>
                <a:gd name="txL" fmla="*/ 0 w 109"/>
                <a:gd name="txT" fmla="*/ 0 h 1"/>
                <a:gd name="txR" fmla="*/ 109 w 10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9" y="0"/>
                </a:cxn>
              </a:cxnLst>
              <a:rect l="txL" t="txT" r="txR" b="txB"/>
              <a:pathLst>
                <a:path w="109" h="1">
                  <a:moveTo>
                    <a:pt x="0" y="0"/>
                  </a:moveTo>
                  <a:lnTo>
                    <a:pt x="10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91" name="Freeform 65"/>
            <p:cNvSpPr/>
            <p:nvPr/>
          </p:nvSpPr>
          <p:spPr>
            <a:xfrm>
              <a:off x="2207" y="2353"/>
              <a:ext cx="89" cy="1"/>
            </a:xfrm>
            <a:custGeom>
              <a:avLst/>
              <a:gdLst>
                <a:gd name="txL" fmla="*/ 0 w 89"/>
                <a:gd name="txT" fmla="*/ 0 h 1"/>
                <a:gd name="txR" fmla="*/ 89 w 89"/>
                <a:gd name="txB" fmla="*/ 1 h 1"/>
              </a:gdLst>
              <a:ahLst/>
              <a:cxnLst>
                <a:cxn ang="0">
                  <a:pos x="89" y="0"/>
                </a:cxn>
                <a:cxn ang="0">
                  <a:pos x="0" y="0"/>
                </a:cxn>
              </a:cxnLst>
              <a:rect l="txL" t="txT" r="txR" b="txB"/>
              <a:pathLst>
                <a:path w="89" h="1">
                  <a:moveTo>
                    <a:pt x="89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92" name="Line 66"/>
            <p:cNvSpPr/>
            <p:nvPr/>
          </p:nvSpPr>
          <p:spPr>
            <a:xfrm rot="5400000">
              <a:off x="3053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93" name="Line 67"/>
            <p:cNvSpPr/>
            <p:nvPr/>
          </p:nvSpPr>
          <p:spPr>
            <a:xfrm rot="5400000">
              <a:off x="3036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94" name="Freeform 68"/>
            <p:cNvSpPr/>
            <p:nvPr/>
          </p:nvSpPr>
          <p:spPr>
            <a:xfrm>
              <a:off x="2988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95" name="Line 69"/>
            <p:cNvSpPr/>
            <p:nvPr/>
          </p:nvSpPr>
          <p:spPr>
            <a:xfrm rot="-5400000">
              <a:off x="2861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96" name="Line 70"/>
            <p:cNvSpPr/>
            <p:nvPr/>
          </p:nvSpPr>
          <p:spPr>
            <a:xfrm rot="-5400000">
              <a:off x="2940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597" name="Freeform 71"/>
            <p:cNvSpPr/>
            <p:nvPr/>
          </p:nvSpPr>
          <p:spPr>
            <a:xfrm>
              <a:off x="3162" y="2353"/>
              <a:ext cx="115" cy="1"/>
            </a:xfrm>
            <a:custGeom>
              <a:avLst/>
              <a:gdLst>
                <a:gd name="txL" fmla="*/ 0 w 115"/>
                <a:gd name="txT" fmla="*/ 0 h 1"/>
                <a:gd name="txR" fmla="*/ 115 w 11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5" y="0"/>
                </a:cxn>
              </a:cxnLst>
              <a:rect l="txL" t="txT" r="txR" b="txB"/>
              <a:pathLst>
                <a:path w="115" h="1">
                  <a:moveTo>
                    <a:pt x="0" y="0"/>
                  </a:moveTo>
                  <a:lnTo>
                    <a:pt x="11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98" name="Freeform 72"/>
            <p:cNvSpPr/>
            <p:nvPr/>
          </p:nvSpPr>
          <p:spPr>
            <a:xfrm>
              <a:off x="2783" y="2353"/>
              <a:ext cx="90" cy="1"/>
            </a:xfrm>
            <a:custGeom>
              <a:avLst/>
              <a:gdLst>
                <a:gd name="txL" fmla="*/ 0 w 90"/>
                <a:gd name="txT" fmla="*/ 0 h 1"/>
                <a:gd name="txR" fmla="*/ 90 w 90"/>
                <a:gd name="txB" fmla="*/ 1 h 1"/>
              </a:gdLst>
              <a:ahLst/>
              <a:cxnLst>
                <a:cxn ang="0">
                  <a:pos x="90" y="0"/>
                </a:cxn>
                <a:cxn ang="0">
                  <a:pos x="0" y="0"/>
                </a:cxn>
              </a:cxnLst>
              <a:rect l="txL" t="txT" r="txR" b="txB"/>
              <a:pathLst>
                <a:path w="90" h="1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599" name="Line 73"/>
            <p:cNvSpPr/>
            <p:nvPr/>
          </p:nvSpPr>
          <p:spPr>
            <a:xfrm rot="5400000">
              <a:off x="3629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600" name="Line 74"/>
            <p:cNvSpPr/>
            <p:nvPr/>
          </p:nvSpPr>
          <p:spPr>
            <a:xfrm rot="5400000">
              <a:off x="3612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601" name="Freeform 75"/>
            <p:cNvSpPr/>
            <p:nvPr/>
          </p:nvSpPr>
          <p:spPr>
            <a:xfrm>
              <a:off x="3564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02" name="Line 76"/>
            <p:cNvSpPr/>
            <p:nvPr/>
          </p:nvSpPr>
          <p:spPr>
            <a:xfrm rot="-5400000">
              <a:off x="3437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603" name="Line 77"/>
            <p:cNvSpPr/>
            <p:nvPr/>
          </p:nvSpPr>
          <p:spPr>
            <a:xfrm rot="-5400000">
              <a:off x="3516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604" name="Freeform 78"/>
            <p:cNvSpPr/>
            <p:nvPr/>
          </p:nvSpPr>
          <p:spPr>
            <a:xfrm>
              <a:off x="3751" y="2352"/>
              <a:ext cx="100" cy="1"/>
            </a:xfrm>
            <a:custGeom>
              <a:avLst/>
              <a:gdLst>
                <a:gd name="txL" fmla="*/ 0 w 100"/>
                <a:gd name="txT" fmla="*/ 0 h 1"/>
                <a:gd name="txR" fmla="*/ 100 w 10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0" y="1"/>
                </a:cxn>
              </a:cxnLst>
              <a:rect l="txL" t="txT" r="txR" b="txB"/>
              <a:pathLst>
                <a:path w="100" h="1">
                  <a:moveTo>
                    <a:pt x="0" y="0"/>
                  </a:moveTo>
                  <a:lnTo>
                    <a:pt x="10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05" name="Freeform 79"/>
            <p:cNvSpPr/>
            <p:nvPr/>
          </p:nvSpPr>
          <p:spPr>
            <a:xfrm>
              <a:off x="3359" y="2353"/>
              <a:ext cx="108" cy="1"/>
            </a:xfrm>
            <a:custGeom>
              <a:avLst/>
              <a:gdLst>
                <a:gd name="txL" fmla="*/ 0 w 108"/>
                <a:gd name="txT" fmla="*/ 0 h 1"/>
                <a:gd name="txR" fmla="*/ 108 w 108"/>
                <a:gd name="txB" fmla="*/ 1 h 1"/>
              </a:gdLst>
              <a:ahLst/>
              <a:cxnLst>
                <a:cxn ang="0">
                  <a:pos x="108" y="0"/>
                </a:cxn>
                <a:cxn ang="0">
                  <a:pos x="0" y="0"/>
                </a:cxn>
              </a:cxnLst>
              <a:rect l="txL" t="txT" r="txR" b="txB"/>
              <a:pathLst>
                <a:path w="108" h="1">
                  <a:moveTo>
                    <a:pt x="108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06" name="Line 80"/>
            <p:cNvSpPr/>
            <p:nvPr/>
          </p:nvSpPr>
          <p:spPr>
            <a:xfrm rot="5400000">
              <a:off x="4205" y="2698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607" name="Line 81"/>
            <p:cNvSpPr/>
            <p:nvPr/>
          </p:nvSpPr>
          <p:spPr>
            <a:xfrm rot="5400000">
              <a:off x="4188" y="26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608" name="Freeform 82"/>
            <p:cNvSpPr/>
            <p:nvPr/>
          </p:nvSpPr>
          <p:spPr>
            <a:xfrm>
              <a:off x="4140" y="2695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09" name="Line 83"/>
            <p:cNvSpPr/>
            <p:nvPr/>
          </p:nvSpPr>
          <p:spPr>
            <a:xfrm rot="-5400000">
              <a:off x="4013" y="2698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610" name="Line 84"/>
            <p:cNvSpPr/>
            <p:nvPr/>
          </p:nvSpPr>
          <p:spPr>
            <a:xfrm rot="-5400000">
              <a:off x="4092" y="270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611" name="Freeform 85"/>
            <p:cNvSpPr/>
            <p:nvPr/>
          </p:nvSpPr>
          <p:spPr>
            <a:xfrm>
              <a:off x="4336" y="2351"/>
              <a:ext cx="90" cy="2"/>
            </a:xfrm>
            <a:custGeom>
              <a:avLst/>
              <a:gdLst>
                <a:gd name="txL" fmla="*/ 0 w 90"/>
                <a:gd name="txT" fmla="*/ 0 h 2"/>
                <a:gd name="txR" fmla="*/ 90 w 90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90" y="2"/>
                </a:cxn>
              </a:cxnLst>
              <a:rect l="txL" t="txT" r="txR" b="txB"/>
              <a:pathLst>
                <a:path w="90" h="2">
                  <a:moveTo>
                    <a:pt x="0" y="0"/>
                  </a:moveTo>
                  <a:lnTo>
                    <a:pt x="90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12" name="Freeform 86"/>
            <p:cNvSpPr/>
            <p:nvPr/>
          </p:nvSpPr>
          <p:spPr>
            <a:xfrm>
              <a:off x="3935" y="2353"/>
              <a:ext cx="104" cy="1"/>
            </a:xfrm>
            <a:custGeom>
              <a:avLst/>
              <a:gdLst>
                <a:gd name="txL" fmla="*/ 0 w 104"/>
                <a:gd name="txT" fmla="*/ 0 h 1"/>
                <a:gd name="txR" fmla="*/ 104 w 104"/>
                <a:gd name="txB" fmla="*/ 1 h 1"/>
              </a:gdLst>
              <a:ahLst/>
              <a:cxnLst>
                <a:cxn ang="0">
                  <a:pos x="104" y="0"/>
                </a:cxn>
                <a:cxn ang="0">
                  <a:pos x="0" y="0"/>
                </a:cxn>
              </a:cxnLst>
              <a:rect l="txL" t="txT" r="txR" b="txB"/>
              <a:pathLst>
                <a:path w="104" h="1">
                  <a:moveTo>
                    <a:pt x="104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5613" name="Group 87"/>
            <p:cNvGrpSpPr/>
            <p:nvPr/>
          </p:nvGrpSpPr>
          <p:grpSpPr>
            <a:xfrm>
              <a:off x="4668" y="2634"/>
              <a:ext cx="192" cy="158"/>
              <a:chOff x="4692" y="2634"/>
              <a:chExt cx="192" cy="158"/>
            </a:xfrm>
          </p:grpSpPr>
          <p:grpSp>
            <p:nvGrpSpPr>
              <p:cNvPr id="275760" name="Group 88"/>
              <p:cNvGrpSpPr/>
              <p:nvPr/>
            </p:nvGrpSpPr>
            <p:grpSpPr>
              <a:xfrm>
                <a:off x="4836" y="2634"/>
                <a:ext cx="48" cy="158"/>
                <a:chOff x="4836" y="2634"/>
                <a:chExt cx="48" cy="158"/>
              </a:xfrm>
            </p:grpSpPr>
            <p:sp>
              <p:nvSpPr>
                <p:cNvPr id="275765" name="Line 89"/>
                <p:cNvSpPr/>
                <p:nvPr/>
              </p:nvSpPr>
              <p:spPr>
                <a:xfrm rot="5400000">
                  <a:off x="4805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5766" name="Line 90"/>
                <p:cNvSpPr/>
                <p:nvPr/>
              </p:nvSpPr>
              <p:spPr>
                <a:xfrm rot="5400000">
                  <a:off x="4788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5761" name="Freeform 91"/>
              <p:cNvSpPr/>
              <p:nvPr/>
            </p:nvSpPr>
            <p:spPr>
              <a:xfrm>
                <a:off x="4740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5762" name="Group 92"/>
              <p:cNvGrpSpPr/>
              <p:nvPr/>
            </p:nvGrpSpPr>
            <p:grpSpPr>
              <a:xfrm>
                <a:off x="4692" y="2634"/>
                <a:ext cx="48" cy="158"/>
                <a:chOff x="4692" y="2634"/>
                <a:chExt cx="48" cy="158"/>
              </a:xfrm>
            </p:grpSpPr>
            <p:sp>
              <p:nvSpPr>
                <p:cNvPr id="275763" name="Line 93"/>
                <p:cNvSpPr/>
                <p:nvPr/>
              </p:nvSpPr>
              <p:spPr>
                <a:xfrm rot="-5400000">
                  <a:off x="4613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5764" name="Line 94"/>
                <p:cNvSpPr/>
                <p:nvPr/>
              </p:nvSpPr>
              <p:spPr>
                <a:xfrm rot="-5400000">
                  <a:off x="4692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75614" name="Freeform 95"/>
            <p:cNvSpPr/>
            <p:nvPr/>
          </p:nvSpPr>
          <p:spPr>
            <a:xfrm>
              <a:off x="4890" y="2353"/>
              <a:ext cx="107" cy="1"/>
            </a:xfrm>
            <a:custGeom>
              <a:avLst/>
              <a:gdLst>
                <a:gd name="txL" fmla="*/ 0 w 107"/>
                <a:gd name="txT" fmla="*/ 0 h 1"/>
                <a:gd name="txR" fmla="*/ 107 w 10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7" y="0"/>
                </a:cxn>
              </a:cxnLst>
              <a:rect l="txL" t="txT" r="txR" b="txB"/>
              <a:pathLst>
                <a:path w="107" h="1">
                  <a:moveTo>
                    <a:pt x="0" y="0"/>
                  </a:moveTo>
                  <a:lnTo>
                    <a:pt x="10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15" name="Freeform 96"/>
            <p:cNvSpPr/>
            <p:nvPr/>
          </p:nvSpPr>
          <p:spPr>
            <a:xfrm>
              <a:off x="4511" y="2353"/>
              <a:ext cx="96" cy="1"/>
            </a:xfrm>
            <a:custGeom>
              <a:avLst/>
              <a:gdLst>
                <a:gd name="txL" fmla="*/ 0 w 96"/>
                <a:gd name="txT" fmla="*/ 0 h 1"/>
                <a:gd name="txR" fmla="*/ 96 w 96"/>
                <a:gd name="txB" fmla="*/ 1 h 1"/>
              </a:gdLst>
              <a:ahLst/>
              <a:cxnLst>
                <a:cxn ang="0">
                  <a:pos x="96" y="0"/>
                </a:cxn>
                <a:cxn ang="0">
                  <a:pos x="0" y="0"/>
                </a:cxn>
              </a:cxnLst>
              <a:rect l="txL" t="txT" r="txR" b="txB"/>
              <a:pathLst>
                <a:path w="96" h="1">
                  <a:moveTo>
                    <a:pt x="96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5616" name="Group 97"/>
            <p:cNvGrpSpPr/>
            <p:nvPr/>
          </p:nvGrpSpPr>
          <p:grpSpPr>
            <a:xfrm>
              <a:off x="5235" y="2634"/>
              <a:ext cx="192" cy="158"/>
              <a:chOff x="5259" y="2634"/>
              <a:chExt cx="192" cy="158"/>
            </a:xfrm>
          </p:grpSpPr>
          <p:grpSp>
            <p:nvGrpSpPr>
              <p:cNvPr id="275753" name="Group 98"/>
              <p:cNvGrpSpPr/>
              <p:nvPr/>
            </p:nvGrpSpPr>
            <p:grpSpPr>
              <a:xfrm>
                <a:off x="5403" y="2634"/>
                <a:ext cx="48" cy="158"/>
                <a:chOff x="5403" y="2634"/>
                <a:chExt cx="48" cy="158"/>
              </a:xfrm>
            </p:grpSpPr>
            <p:sp>
              <p:nvSpPr>
                <p:cNvPr id="275758" name="Line 99"/>
                <p:cNvSpPr/>
                <p:nvPr/>
              </p:nvSpPr>
              <p:spPr>
                <a:xfrm rot="5400000">
                  <a:off x="5372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5759" name="Line 100"/>
                <p:cNvSpPr/>
                <p:nvPr/>
              </p:nvSpPr>
              <p:spPr>
                <a:xfrm rot="5400000">
                  <a:off x="5355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5754" name="Freeform 101"/>
              <p:cNvSpPr/>
              <p:nvPr/>
            </p:nvSpPr>
            <p:spPr>
              <a:xfrm>
                <a:off x="5307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5755" name="Group 102"/>
              <p:cNvGrpSpPr/>
              <p:nvPr/>
            </p:nvGrpSpPr>
            <p:grpSpPr>
              <a:xfrm>
                <a:off x="5259" y="2634"/>
                <a:ext cx="48" cy="158"/>
                <a:chOff x="5259" y="2634"/>
                <a:chExt cx="48" cy="158"/>
              </a:xfrm>
            </p:grpSpPr>
            <p:sp>
              <p:nvSpPr>
                <p:cNvPr id="275756" name="Line 103"/>
                <p:cNvSpPr/>
                <p:nvPr/>
              </p:nvSpPr>
              <p:spPr>
                <a:xfrm rot="-5400000">
                  <a:off x="5180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5757" name="Line 104"/>
                <p:cNvSpPr/>
                <p:nvPr/>
              </p:nvSpPr>
              <p:spPr>
                <a:xfrm rot="-5400000">
                  <a:off x="5259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75617" name="Freeform 105"/>
            <p:cNvSpPr/>
            <p:nvPr/>
          </p:nvSpPr>
          <p:spPr>
            <a:xfrm>
              <a:off x="5467" y="2351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96" y="2"/>
                </a:cxn>
              </a:cxnLst>
              <a:rect l="txL" t="txT" r="txR" b="txB"/>
              <a:pathLst>
                <a:path w="96" h="2">
                  <a:moveTo>
                    <a:pt x="0" y="0"/>
                  </a:moveTo>
                  <a:lnTo>
                    <a:pt x="96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18" name="Freeform 106"/>
            <p:cNvSpPr/>
            <p:nvPr/>
          </p:nvSpPr>
          <p:spPr>
            <a:xfrm>
              <a:off x="5078" y="2353"/>
              <a:ext cx="101" cy="1"/>
            </a:xfrm>
            <a:custGeom>
              <a:avLst/>
              <a:gdLst>
                <a:gd name="txL" fmla="*/ 0 w 101"/>
                <a:gd name="txT" fmla="*/ 0 h 1"/>
                <a:gd name="txR" fmla="*/ 101 w 101"/>
                <a:gd name="txB" fmla="*/ 1 h 1"/>
              </a:gdLst>
              <a:ahLst/>
              <a:cxnLst>
                <a:cxn ang="0">
                  <a:pos x="101" y="0"/>
                </a:cxn>
                <a:cxn ang="0">
                  <a:pos x="0" y="0"/>
                </a:cxn>
              </a:cxnLst>
              <a:rect l="txL" t="txT" r="txR" b="txB"/>
              <a:pathLst>
                <a:path w="101" h="1">
                  <a:moveTo>
                    <a:pt x="10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19" name="Freeform 107"/>
            <p:cNvSpPr/>
            <p:nvPr/>
          </p:nvSpPr>
          <p:spPr>
            <a:xfrm>
              <a:off x="908" y="856"/>
              <a:ext cx="4419" cy="1"/>
            </a:xfrm>
            <a:custGeom>
              <a:avLst/>
              <a:gdLst>
                <a:gd name="txL" fmla="*/ 0 w 4419"/>
                <a:gd name="txT" fmla="*/ 0 h 1"/>
                <a:gd name="txR" fmla="*/ 4419 w 4419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9" y="0"/>
                </a:cxn>
              </a:cxnLst>
              <a:rect l="txL" t="txT" r="txR" b="txB"/>
              <a:pathLst>
                <a:path w="4419" h="1">
                  <a:moveTo>
                    <a:pt x="0" y="1"/>
                  </a:moveTo>
                  <a:lnTo>
                    <a:pt x="441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20" name="Line 108"/>
            <p:cNvSpPr/>
            <p:nvPr/>
          </p:nvSpPr>
          <p:spPr>
            <a:xfrm>
              <a:off x="1292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21" name="Line 109"/>
            <p:cNvSpPr/>
            <p:nvPr/>
          </p:nvSpPr>
          <p:spPr>
            <a:xfrm>
              <a:off x="1868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22" name="Line 110"/>
            <p:cNvSpPr/>
            <p:nvPr/>
          </p:nvSpPr>
          <p:spPr>
            <a:xfrm>
              <a:off x="2444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23" name="Line 111"/>
            <p:cNvSpPr/>
            <p:nvPr/>
          </p:nvSpPr>
          <p:spPr>
            <a:xfrm>
              <a:off x="3020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24" name="Line 112"/>
            <p:cNvSpPr/>
            <p:nvPr/>
          </p:nvSpPr>
          <p:spPr>
            <a:xfrm>
              <a:off x="3596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25" name="Line 113"/>
            <p:cNvSpPr/>
            <p:nvPr/>
          </p:nvSpPr>
          <p:spPr>
            <a:xfrm>
              <a:off x="4172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26" name="Line 114"/>
            <p:cNvSpPr/>
            <p:nvPr/>
          </p:nvSpPr>
          <p:spPr>
            <a:xfrm>
              <a:off x="4748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27" name="Line 115"/>
            <p:cNvSpPr/>
            <p:nvPr/>
          </p:nvSpPr>
          <p:spPr>
            <a:xfrm>
              <a:off x="5324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75628" name="Freeform 116"/>
            <p:cNvSpPr/>
            <p:nvPr/>
          </p:nvSpPr>
          <p:spPr>
            <a:xfrm>
              <a:off x="1305" y="2708"/>
              <a:ext cx="1" cy="166"/>
            </a:xfrm>
            <a:custGeom>
              <a:avLst/>
              <a:gdLst>
                <a:gd name="txL" fmla="*/ 0 w 1"/>
                <a:gd name="txT" fmla="*/ 0 h 166"/>
                <a:gd name="txR" fmla="*/ 1 w 1"/>
                <a:gd name="txB" fmla="*/ 166 h 166"/>
              </a:gdLst>
              <a:ahLst/>
              <a:cxnLst>
                <a:cxn ang="0">
                  <a:pos x="1" y="0"/>
                </a:cxn>
                <a:cxn ang="0">
                  <a:pos x="0" y="166"/>
                </a:cxn>
              </a:cxnLst>
              <a:rect l="txL" t="txT" r="txR" b="txB"/>
              <a:pathLst>
                <a:path w="1" h="166">
                  <a:moveTo>
                    <a:pt x="1" y="0"/>
                  </a:moveTo>
                  <a:lnTo>
                    <a:pt x="0" y="1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29" name="Freeform 117"/>
            <p:cNvSpPr/>
            <p:nvPr/>
          </p:nvSpPr>
          <p:spPr>
            <a:xfrm>
              <a:off x="1880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30" name="Freeform 118"/>
            <p:cNvSpPr/>
            <p:nvPr/>
          </p:nvSpPr>
          <p:spPr>
            <a:xfrm>
              <a:off x="2454" y="2708"/>
              <a:ext cx="4" cy="166"/>
            </a:xfrm>
            <a:custGeom>
              <a:avLst/>
              <a:gdLst>
                <a:gd name="txL" fmla="*/ 0 w 4"/>
                <a:gd name="txT" fmla="*/ 0 h 166"/>
                <a:gd name="txR" fmla="*/ 4 w 4"/>
                <a:gd name="txB" fmla="*/ 166 h 166"/>
              </a:gdLst>
              <a:ahLst/>
              <a:cxnLst>
                <a:cxn ang="0">
                  <a:pos x="4" y="0"/>
                </a:cxn>
                <a:cxn ang="0">
                  <a:pos x="0" y="166"/>
                </a:cxn>
              </a:cxnLst>
              <a:rect l="txL" t="txT" r="txR" b="txB"/>
              <a:pathLst>
                <a:path w="4" h="166">
                  <a:moveTo>
                    <a:pt x="4" y="0"/>
                  </a:moveTo>
                  <a:lnTo>
                    <a:pt x="0" y="1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31" name="Freeform 119"/>
            <p:cNvSpPr/>
            <p:nvPr/>
          </p:nvSpPr>
          <p:spPr>
            <a:xfrm>
              <a:off x="3606" y="2708"/>
              <a:ext cx="2" cy="175"/>
            </a:xfrm>
            <a:custGeom>
              <a:avLst/>
              <a:gdLst>
                <a:gd name="txL" fmla="*/ 0 w 2"/>
                <a:gd name="txT" fmla="*/ 0 h 175"/>
                <a:gd name="txR" fmla="*/ 2 w 2"/>
                <a:gd name="txB" fmla="*/ 175 h 175"/>
              </a:gdLst>
              <a:ahLst/>
              <a:cxnLst>
                <a:cxn ang="0">
                  <a:pos x="2" y="0"/>
                </a:cxn>
                <a:cxn ang="0">
                  <a:pos x="0" y="175"/>
                </a:cxn>
              </a:cxnLst>
              <a:rect l="txL" t="txT" r="txR" b="txB"/>
              <a:pathLst>
                <a:path w="2" h="175">
                  <a:moveTo>
                    <a:pt x="2" y="0"/>
                  </a:moveTo>
                  <a:lnTo>
                    <a:pt x="0" y="17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32" name="Freeform 120"/>
            <p:cNvSpPr/>
            <p:nvPr/>
          </p:nvSpPr>
          <p:spPr>
            <a:xfrm>
              <a:off x="4760" y="2697"/>
              <a:ext cx="1" cy="176"/>
            </a:xfrm>
            <a:custGeom>
              <a:avLst/>
              <a:gdLst>
                <a:gd name="txL" fmla="*/ 0 w 1"/>
                <a:gd name="txT" fmla="*/ 0 h 176"/>
                <a:gd name="txR" fmla="*/ 1 w 1"/>
                <a:gd name="txB" fmla="*/ 176 h 176"/>
              </a:gdLst>
              <a:ahLst/>
              <a:cxnLst>
                <a:cxn ang="0">
                  <a:pos x="0" y="0"/>
                </a:cxn>
                <a:cxn ang="0">
                  <a:pos x="0" y="176"/>
                </a:cxn>
              </a:cxnLst>
              <a:rect l="txL" t="txT" r="txR" b="txB"/>
              <a:pathLst>
                <a:path w="1" h="176">
                  <a:moveTo>
                    <a:pt x="0" y="0"/>
                  </a:moveTo>
                  <a:lnTo>
                    <a:pt x="0" y="17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33" name="Freeform 121"/>
            <p:cNvSpPr/>
            <p:nvPr/>
          </p:nvSpPr>
          <p:spPr>
            <a:xfrm>
              <a:off x="908" y="1480"/>
              <a:ext cx="4422" cy="1"/>
            </a:xfrm>
            <a:custGeom>
              <a:avLst/>
              <a:gdLst>
                <a:gd name="txL" fmla="*/ 0 w 4422"/>
                <a:gd name="txT" fmla="*/ 0 h 1"/>
                <a:gd name="txR" fmla="*/ 4422 w 4422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22" y="0"/>
                </a:cxn>
              </a:cxnLst>
              <a:rect l="txL" t="txT" r="txR" b="txB"/>
              <a:pathLst>
                <a:path w="4422" h="1">
                  <a:moveTo>
                    <a:pt x="0" y="1"/>
                  </a:moveTo>
                  <a:lnTo>
                    <a:pt x="442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34" name="Line 122"/>
            <p:cNvSpPr/>
            <p:nvPr/>
          </p:nvSpPr>
          <p:spPr>
            <a:xfrm>
              <a:off x="1292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35" name="Line 123"/>
            <p:cNvSpPr/>
            <p:nvPr/>
          </p:nvSpPr>
          <p:spPr>
            <a:xfrm>
              <a:off x="1868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36" name="Line 124"/>
            <p:cNvSpPr/>
            <p:nvPr/>
          </p:nvSpPr>
          <p:spPr>
            <a:xfrm>
              <a:off x="2444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37" name="Line 125"/>
            <p:cNvSpPr/>
            <p:nvPr/>
          </p:nvSpPr>
          <p:spPr>
            <a:xfrm>
              <a:off x="3020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38" name="Line 126"/>
            <p:cNvSpPr/>
            <p:nvPr/>
          </p:nvSpPr>
          <p:spPr>
            <a:xfrm>
              <a:off x="3596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39" name="Line 127"/>
            <p:cNvSpPr/>
            <p:nvPr/>
          </p:nvSpPr>
          <p:spPr>
            <a:xfrm>
              <a:off x="4172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40" name="Line 128"/>
            <p:cNvSpPr/>
            <p:nvPr/>
          </p:nvSpPr>
          <p:spPr>
            <a:xfrm>
              <a:off x="4748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41" name="Line 129"/>
            <p:cNvSpPr/>
            <p:nvPr/>
          </p:nvSpPr>
          <p:spPr>
            <a:xfrm>
              <a:off x="5324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75642" name="Freeform 130"/>
            <p:cNvSpPr/>
            <p:nvPr/>
          </p:nvSpPr>
          <p:spPr>
            <a:xfrm>
              <a:off x="908" y="2056"/>
              <a:ext cx="4418" cy="1"/>
            </a:xfrm>
            <a:custGeom>
              <a:avLst/>
              <a:gdLst>
                <a:gd name="txL" fmla="*/ 0 w 4418"/>
                <a:gd name="txT" fmla="*/ 0 h 1"/>
                <a:gd name="txR" fmla="*/ 4418 w 441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8" y="0"/>
                </a:cxn>
              </a:cxnLst>
              <a:rect l="txL" t="txT" r="txR" b="txB"/>
              <a:pathLst>
                <a:path w="4418" h="1">
                  <a:moveTo>
                    <a:pt x="0" y="1"/>
                  </a:moveTo>
                  <a:lnTo>
                    <a:pt x="441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43" name="Line 131"/>
            <p:cNvSpPr/>
            <p:nvPr/>
          </p:nvSpPr>
          <p:spPr>
            <a:xfrm>
              <a:off x="1292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44" name="Line 132"/>
            <p:cNvSpPr/>
            <p:nvPr/>
          </p:nvSpPr>
          <p:spPr>
            <a:xfrm>
              <a:off x="1868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45" name="Line 133"/>
            <p:cNvSpPr/>
            <p:nvPr/>
          </p:nvSpPr>
          <p:spPr>
            <a:xfrm>
              <a:off x="2444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46" name="Line 134"/>
            <p:cNvSpPr/>
            <p:nvPr/>
          </p:nvSpPr>
          <p:spPr>
            <a:xfrm>
              <a:off x="3020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47" name="Line 135"/>
            <p:cNvSpPr/>
            <p:nvPr/>
          </p:nvSpPr>
          <p:spPr>
            <a:xfrm>
              <a:off x="3596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48" name="Line 136"/>
            <p:cNvSpPr/>
            <p:nvPr/>
          </p:nvSpPr>
          <p:spPr>
            <a:xfrm>
              <a:off x="4172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49" name="Line 137"/>
            <p:cNvSpPr/>
            <p:nvPr/>
          </p:nvSpPr>
          <p:spPr>
            <a:xfrm>
              <a:off x="4748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5650" name="Line 138"/>
            <p:cNvSpPr/>
            <p:nvPr/>
          </p:nvSpPr>
          <p:spPr>
            <a:xfrm>
              <a:off x="5324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75651" name="Freeform 139"/>
            <p:cNvSpPr/>
            <p:nvPr/>
          </p:nvSpPr>
          <p:spPr>
            <a:xfrm>
              <a:off x="909" y="2879"/>
              <a:ext cx="3860" cy="1"/>
            </a:xfrm>
            <a:custGeom>
              <a:avLst/>
              <a:gdLst>
                <a:gd name="txL" fmla="*/ 0 w 3860"/>
                <a:gd name="txT" fmla="*/ 0 h 1"/>
                <a:gd name="txR" fmla="*/ 3860 w 3860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3860" y="0"/>
                </a:cxn>
              </a:cxnLst>
              <a:rect l="txL" t="txT" r="txR" b="txB"/>
              <a:pathLst>
                <a:path w="3860" h="1">
                  <a:moveTo>
                    <a:pt x="0" y="1"/>
                  </a:moveTo>
                  <a:lnTo>
                    <a:pt x="38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52" name="Freeform 140"/>
            <p:cNvSpPr/>
            <p:nvPr/>
          </p:nvSpPr>
          <p:spPr>
            <a:xfrm>
              <a:off x="912" y="3209"/>
              <a:ext cx="4418" cy="1"/>
            </a:xfrm>
            <a:custGeom>
              <a:avLst/>
              <a:gdLst>
                <a:gd name="txL" fmla="*/ 0 w 4418"/>
                <a:gd name="txT" fmla="*/ 0 h 1"/>
                <a:gd name="txR" fmla="*/ 4418 w 441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8" y="0"/>
                </a:cxn>
              </a:cxnLst>
              <a:rect l="txL" t="txT" r="txR" b="txB"/>
              <a:pathLst>
                <a:path w="4418" h="1">
                  <a:moveTo>
                    <a:pt x="0" y="1"/>
                  </a:moveTo>
                  <a:lnTo>
                    <a:pt x="441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53" name="Rectangle 141"/>
            <p:cNvSpPr/>
            <p:nvPr/>
          </p:nvSpPr>
          <p:spPr>
            <a:xfrm>
              <a:off x="1141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54" name="Text Box 142"/>
            <p:cNvSpPr txBox="1"/>
            <p:nvPr/>
          </p:nvSpPr>
          <p:spPr>
            <a:xfrm>
              <a:off x="1172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655" name="Freeform 143"/>
            <p:cNvSpPr/>
            <p:nvPr/>
          </p:nvSpPr>
          <p:spPr>
            <a:xfrm>
              <a:off x="1402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56" name="Freeform 144"/>
            <p:cNvSpPr/>
            <p:nvPr/>
          </p:nvSpPr>
          <p:spPr>
            <a:xfrm>
              <a:off x="1613" y="1211"/>
              <a:ext cx="169" cy="1469"/>
            </a:xfrm>
            <a:custGeom>
              <a:avLst/>
              <a:gdLst>
                <a:gd name="txL" fmla="*/ 0 w 169"/>
                <a:gd name="txT" fmla="*/ 0 h 1469"/>
                <a:gd name="txR" fmla="*/ 169 w 169"/>
                <a:gd name="txB" fmla="*/ 1469 h 1469"/>
              </a:gdLst>
              <a:ahLst/>
              <a:cxnLst>
                <a:cxn ang="0">
                  <a:pos x="169" y="1468"/>
                </a:cxn>
                <a:cxn ang="0">
                  <a:pos x="0" y="1469"/>
                </a:cxn>
                <a:cxn ang="0">
                  <a:pos x="1" y="0"/>
                </a:cxn>
                <a:cxn ang="0">
                  <a:pos x="105" y="0"/>
                </a:cxn>
              </a:cxnLst>
              <a:rect l="txL" t="txT" r="txR" b="txB"/>
              <a:pathLst>
                <a:path w="169" h="1469">
                  <a:moveTo>
                    <a:pt x="169" y="1468"/>
                  </a:moveTo>
                  <a:lnTo>
                    <a:pt x="0" y="1469"/>
                  </a:lnTo>
                  <a:lnTo>
                    <a:pt x="1" y="0"/>
                  </a:lnTo>
                  <a:lnTo>
                    <a:pt x="10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57" name="Freeform 145"/>
            <p:cNvSpPr/>
            <p:nvPr/>
          </p:nvSpPr>
          <p:spPr>
            <a:xfrm>
              <a:off x="1967" y="1211"/>
              <a:ext cx="141" cy="1466"/>
            </a:xfrm>
            <a:custGeom>
              <a:avLst/>
              <a:gdLst>
                <a:gd name="txL" fmla="*/ 0 w 141"/>
                <a:gd name="txT" fmla="*/ 0 h 1466"/>
                <a:gd name="txR" fmla="*/ 141 w 141"/>
                <a:gd name="txB" fmla="*/ 1466 h 1466"/>
              </a:gdLst>
              <a:ahLst/>
              <a:cxnLst>
                <a:cxn ang="0">
                  <a:pos x="38" y="0"/>
                </a:cxn>
                <a:cxn ang="0">
                  <a:pos x="141" y="0"/>
                </a:cxn>
                <a:cxn ang="0">
                  <a:pos x="140" y="1466"/>
                </a:cxn>
                <a:cxn ang="0">
                  <a:pos x="0" y="1466"/>
                </a:cxn>
              </a:cxnLst>
              <a:rect l="txL" t="txT" r="txR" b="txB"/>
              <a:pathLst>
                <a:path w="141" h="1466">
                  <a:moveTo>
                    <a:pt x="38" y="0"/>
                  </a:moveTo>
                  <a:lnTo>
                    <a:pt x="141" y="0"/>
                  </a:lnTo>
                  <a:lnTo>
                    <a:pt x="140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58" name="Freeform 146"/>
            <p:cNvSpPr/>
            <p:nvPr/>
          </p:nvSpPr>
          <p:spPr>
            <a:xfrm>
              <a:off x="2208" y="1211"/>
              <a:ext cx="155" cy="1467"/>
            </a:xfrm>
            <a:custGeom>
              <a:avLst/>
              <a:gdLst>
                <a:gd name="txL" fmla="*/ 0 w 155"/>
                <a:gd name="txT" fmla="*/ 0 h 1467"/>
                <a:gd name="txR" fmla="*/ 155 w 155"/>
                <a:gd name="txB" fmla="*/ 1467 h 1467"/>
              </a:gdLst>
              <a:ahLst/>
              <a:cxnLst>
                <a:cxn ang="0">
                  <a:pos x="155" y="1467"/>
                </a:cxn>
                <a:cxn ang="0">
                  <a:pos x="3" y="1467"/>
                </a:cxn>
                <a:cxn ang="0">
                  <a:pos x="0" y="1"/>
                </a:cxn>
                <a:cxn ang="0">
                  <a:pos x="89" y="0"/>
                </a:cxn>
              </a:cxnLst>
              <a:rect l="txL" t="txT" r="txR" b="txB"/>
              <a:pathLst>
                <a:path w="155" h="1467">
                  <a:moveTo>
                    <a:pt x="155" y="1467"/>
                  </a:moveTo>
                  <a:lnTo>
                    <a:pt x="3" y="1467"/>
                  </a:lnTo>
                  <a:lnTo>
                    <a:pt x="0" y="1"/>
                  </a:lnTo>
                  <a:lnTo>
                    <a:pt x="8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59" name="Freeform 147"/>
            <p:cNvSpPr/>
            <p:nvPr/>
          </p:nvSpPr>
          <p:spPr>
            <a:xfrm>
              <a:off x="2557" y="1211"/>
              <a:ext cx="142" cy="1466"/>
            </a:xfrm>
            <a:custGeom>
              <a:avLst/>
              <a:gdLst>
                <a:gd name="txL" fmla="*/ 0 w 142"/>
                <a:gd name="txT" fmla="*/ 0 h 1466"/>
                <a:gd name="txR" fmla="*/ 142 w 142"/>
                <a:gd name="txB" fmla="*/ 1466 h 1466"/>
              </a:gdLst>
              <a:ahLst/>
              <a:cxnLst>
                <a:cxn ang="0">
                  <a:pos x="34" y="0"/>
                </a:cxn>
                <a:cxn ang="0">
                  <a:pos x="142" y="0"/>
                </a:cxn>
                <a:cxn ang="0">
                  <a:pos x="141" y="1466"/>
                </a:cxn>
                <a:cxn ang="0">
                  <a:pos x="0" y="1464"/>
                </a:cxn>
              </a:cxnLst>
              <a:rect l="txL" t="txT" r="txR" b="txB"/>
              <a:pathLst>
                <a:path w="142" h="1466">
                  <a:moveTo>
                    <a:pt x="34" y="0"/>
                  </a:moveTo>
                  <a:lnTo>
                    <a:pt x="142" y="0"/>
                  </a:lnTo>
                  <a:lnTo>
                    <a:pt x="141" y="1466"/>
                  </a:lnTo>
                  <a:lnTo>
                    <a:pt x="0" y="146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60" name="Freeform 148"/>
            <p:cNvSpPr/>
            <p:nvPr/>
          </p:nvSpPr>
          <p:spPr>
            <a:xfrm>
              <a:off x="2787" y="1211"/>
              <a:ext cx="152" cy="1467"/>
            </a:xfrm>
            <a:custGeom>
              <a:avLst/>
              <a:gdLst>
                <a:gd name="txL" fmla="*/ 0 w 152"/>
                <a:gd name="txT" fmla="*/ 0 h 1467"/>
                <a:gd name="txR" fmla="*/ 152 w 152"/>
                <a:gd name="txB" fmla="*/ 1467 h 1467"/>
              </a:gdLst>
              <a:ahLst/>
              <a:cxnLst>
                <a:cxn ang="0">
                  <a:pos x="152" y="1467"/>
                </a:cxn>
                <a:cxn ang="0">
                  <a:pos x="0" y="1467"/>
                </a:cxn>
                <a:cxn ang="0">
                  <a:pos x="0" y="1"/>
                </a:cxn>
                <a:cxn ang="0">
                  <a:pos x="77" y="0"/>
                </a:cxn>
              </a:cxnLst>
              <a:rect l="txL" t="txT" r="txR" b="txB"/>
              <a:pathLst>
                <a:path w="152" h="1467">
                  <a:moveTo>
                    <a:pt x="152" y="1467"/>
                  </a:moveTo>
                  <a:lnTo>
                    <a:pt x="0" y="1467"/>
                  </a:lnTo>
                  <a:lnTo>
                    <a:pt x="0" y="1"/>
                  </a:lnTo>
                  <a:lnTo>
                    <a:pt x="7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61" name="Freeform 149"/>
            <p:cNvSpPr/>
            <p:nvPr/>
          </p:nvSpPr>
          <p:spPr>
            <a:xfrm>
              <a:off x="3130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62" name="Freeform 150"/>
            <p:cNvSpPr/>
            <p:nvPr/>
          </p:nvSpPr>
          <p:spPr>
            <a:xfrm>
              <a:off x="3360" y="1209"/>
              <a:ext cx="155" cy="1469"/>
            </a:xfrm>
            <a:custGeom>
              <a:avLst/>
              <a:gdLst>
                <a:gd name="txL" fmla="*/ 0 w 155"/>
                <a:gd name="txT" fmla="*/ 0 h 1469"/>
                <a:gd name="txR" fmla="*/ 155 w 155"/>
                <a:gd name="txB" fmla="*/ 1469 h 1469"/>
              </a:gdLst>
              <a:ahLst/>
              <a:cxnLst>
                <a:cxn ang="0">
                  <a:pos x="155" y="1469"/>
                </a:cxn>
                <a:cxn ang="0">
                  <a:pos x="3" y="1469"/>
                </a:cxn>
                <a:cxn ang="0">
                  <a:pos x="0" y="0"/>
                </a:cxn>
                <a:cxn ang="0">
                  <a:pos x="103" y="2"/>
                </a:cxn>
              </a:cxnLst>
              <a:rect l="txL" t="txT" r="txR" b="txB"/>
              <a:pathLst>
                <a:path w="155" h="1469">
                  <a:moveTo>
                    <a:pt x="155" y="1469"/>
                  </a:moveTo>
                  <a:lnTo>
                    <a:pt x="3" y="1469"/>
                  </a:lnTo>
                  <a:lnTo>
                    <a:pt x="0" y="0"/>
                  </a:lnTo>
                  <a:lnTo>
                    <a:pt x="103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63" name="Freeform 151"/>
            <p:cNvSpPr/>
            <p:nvPr/>
          </p:nvSpPr>
          <p:spPr>
            <a:xfrm>
              <a:off x="3710" y="1211"/>
              <a:ext cx="141" cy="1466"/>
            </a:xfrm>
            <a:custGeom>
              <a:avLst/>
              <a:gdLst>
                <a:gd name="txL" fmla="*/ 0 w 141"/>
                <a:gd name="txT" fmla="*/ 0 h 1466"/>
                <a:gd name="txR" fmla="*/ 141 w 141"/>
                <a:gd name="txB" fmla="*/ 1466 h 1466"/>
              </a:gdLst>
              <a:ahLst/>
              <a:cxnLst>
                <a:cxn ang="0">
                  <a:pos x="42" y="0"/>
                </a:cxn>
                <a:cxn ang="0">
                  <a:pos x="141" y="0"/>
                </a:cxn>
                <a:cxn ang="0">
                  <a:pos x="140" y="1466"/>
                </a:cxn>
                <a:cxn ang="0">
                  <a:pos x="0" y="1466"/>
                </a:cxn>
              </a:cxnLst>
              <a:rect l="txL" t="txT" r="txR" b="txB"/>
              <a:pathLst>
                <a:path w="141" h="1466">
                  <a:moveTo>
                    <a:pt x="42" y="0"/>
                  </a:moveTo>
                  <a:lnTo>
                    <a:pt x="141" y="0"/>
                  </a:lnTo>
                  <a:lnTo>
                    <a:pt x="140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64" name="Freeform 152"/>
            <p:cNvSpPr/>
            <p:nvPr/>
          </p:nvSpPr>
          <p:spPr>
            <a:xfrm>
              <a:off x="3939" y="1211"/>
              <a:ext cx="152" cy="1467"/>
            </a:xfrm>
            <a:custGeom>
              <a:avLst/>
              <a:gdLst>
                <a:gd name="txL" fmla="*/ 0 w 152"/>
                <a:gd name="txT" fmla="*/ 0 h 1467"/>
                <a:gd name="txR" fmla="*/ 152 w 152"/>
                <a:gd name="txB" fmla="*/ 1467 h 1467"/>
              </a:gdLst>
              <a:ahLst/>
              <a:cxnLst>
                <a:cxn ang="0">
                  <a:pos x="152" y="1467"/>
                </a:cxn>
                <a:cxn ang="0">
                  <a:pos x="0" y="1467"/>
                </a:cxn>
                <a:cxn ang="0">
                  <a:pos x="0" y="1"/>
                </a:cxn>
                <a:cxn ang="0">
                  <a:pos x="103" y="0"/>
                </a:cxn>
              </a:cxnLst>
              <a:rect l="txL" t="txT" r="txR" b="txB"/>
              <a:pathLst>
                <a:path w="152" h="1467">
                  <a:moveTo>
                    <a:pt x="152" y="1467"/>
                  </a:moveTo>
                  <a:lnTo>
                    <a:pt x="0" y="1467"/>
                  </a:lnTo>
                  <a:lnTo>
                    <a:pt x="0" y="1"/>
                  </a:lnTo>
                  <a:lnTo>
                    <a:pt x="10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65" name="Freeform 153"/>
            <p:cNvSpPr/>
            <p:nvPr/>
          </p:nvSpPr>
          <p:spPr>
            <a:xfrm>
              <a:off x="4280" y="1211"/>
              <a:ext cx="147" cy="1466"/>
            </a:xfrm>
            <a:custGeom>
              <a:avLst/>
              <a:gdLst>
                <a:gd name="txL" fmla="*/ 0 w 147"/>
                <a:gd name="txT" fmla="*/ 0 h 1466"/>
                <a:gd name="txR" fmla="*/ 147 w 147"/>
                <a:gd name="txB" fmla="*/ 1466 h 1466"/>
              </a:gdLst>
              <a:ahLst/>
              <a:cxnLst>
                <a:cxn ang="0">
                  <a:pos x="51" y="0"/>
                </a:cxn>
                <a:cxn ang="0">
                  <a:pos x="147" y="0"/>
                </a:cxn>
                <a:cxn ang="0">
                  <a:pos x="146" y="1466"/>
                </a:cxn>
                <a:cxn ang="0">
                  <a:pos x="0" y="1466"/>
                </a:cxn>
              </a:cxnLst>
              <a:rect l="txL" t="txT" r="txR" b="txB"/>
              <a:pathLst>
                <a:path w="147" h="1466">
                  <a:moveTo>
                    <a:pt x="51" y="0"/>
                  </a:moveTo>
                  <a:lnTo>
                    <a:pt x="147" y="0"/>
                  </a:lnTo>
                  <a:lnTo>
                    <a:pt x="146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66" name="Freeform 154"/>
            <p:cNvSpPr/>
            <p:nvPr/>
          </p:nvSpPr>
          <p:spPr>
            <a:xfrm>
              <a:off x="4509" y="1211"/>
              <a:ext cx="158" cy="1467"/>
            </a:xfrm>
            <a:custGeom>
              <a:avLst/>
              <a:gdLst>
                <a:gd name="txL" fmla="*/ 0 w 158"/>
                <a:gd name="txT" fmla="*/ 0 h 1467"/>
                <a:gd name="txR" fmla="*/ 158 w 158"/>
                <a:gd name="txB" fmla="*/ 1467 h 1467"/>
              </a:gdLst>
              <a:ahLst/>
              <a:cxnLst>
                <a:cxn ang="0">
                  <a:pos x="158" y="1467"/>
                </a:cxn>
                <a:cxn ang="0">
                  <a:pos x="0" y="1467"/>
                </a:cxn>
                <a:cxn ang="0">
                  <a:pos x="0" y="0"/>
                </a:cxn>
                <a:cxn ang="0">
                  <a:pos x="95" y="0"/>
                </a:cxn>
              </a:cxnLst>
              <a:rect l="txL" t="txT" r="txR" b="txB"/>
              <a:pathLst>
                <a:path w="158" h="1467">
                  <a:moveTo>
                    <a:pt x="158" y="1467"/>
                  </a:moveTo>
                  <a:lnTo>
                    <a:pt x="0" y="1467"/>
                  </a:lnTo>
                  <a:lnTo>
                    <a:pt x="0" y="0"/>
                  </a:lnTo>
                  <a:lnTo>
                    <a:pt x="9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67" name="Freeform 155"/>
            <p:cNvSpPr/>
            <p:nvPr/>
          </p:nvSpPr>
          <p:spPr>
            <a:xfrm>
              <a:off x="4861" y="1211"/>
              <a:ext cx="142" cy="1466"/>
            </a:xfrm>
            <a:custGeom>
              <a:avLst/>
              <a:gdLst>
                <a:gd name="txL" fmla="*/ 0 w 142"/>
                <a:gd name="txT" fmla="*/ 0 h 1466"/>
                <a:gd name="txR" fmla="*/ 142 w 142"/>
                <a:gd name="txB" fmla="*/ 1466 h 1466"/>
              </a:gdLst>
              <a:ahLst/>
              <a:cxnLst>
                <a:cxn ang="0">
                  <a:pos x="34" y="0"/>
                </a:cxn>
                <a:cxn ang="0">
                  <a:pos x="142" y="0"/>
                </a:cxn>
                <a:cxn ang="0">
                  <a:pos x="141" y="1466"/>
                </a:cxn>
                <a:cxn ang="0">
                  <a:pos x="0" y="1466"/>
                </a:cxn>
              </a:cxnLst>
              <a:rect l="txL" t="txT" r="txR" b="txB"/>
              <a:pathLst>
                <a:path w="142" h="1466">
                  <a:moveTo>
                    <a:pt x="34" y="0"/>
                  </a:moveTo>
                  <a:lnTo>
                    <a:pt x="142" y="0"/>
                  </a:lnTo>
                  <a:lnTo>
                    <a:pt x="141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68" name="Freeform 156"/>
            <p:cNvSpPr/>
            <p:nvPr/>
          </p:nvSpPr>
          <p:spPr>
            <a:xfrm>
              <a:off x="5069" y="1211"/>
              <a:ext cx="159" cy="1469"/>
            </a:xfrm>
            <a:custGeom>
              <a:avLst/>
              <a:gdLst>
                <a:gd name="txL" fmla="*/ 0 w 159"/>
                <a:gd name="txT" fmla="*/ 0 h 1469"/>
                <a:gd name="txR" fmla="*/ 159 w 159"/>
                <a:gd name="txB" fmla="*/ 1469 h 1469"/>
              </a:gdLst>
              <a:ahLst/>
              <a:cxnLst>
                <a:cxn ang="0">
                  <a:pos x="159" y="1467"/>
                </a:cxn>
                <a:cxn ang="0">
                  <a:pos x="0" y="1469"/>
                </a:cxn>
                <a:cxn ang="0">
                  <a:pos x="1" y="0"/>
                </a:cxn>
                <a:cxn ang="0">
                  <a:pos x="104" y="0"/>
                </a:cxn>
              </a:cxnLst>
              <a:rect l="txL" t="txT" r="txR" b="txB"/>
              <a:pathLst>
                <a:path w="159" h="1469">
                  <a:moveTo>
                    <a:pt x="159" y="1467"/>
                  </a:moveTo>
                  <a:lnTo>
                    <a:pt x="0" y="1469"/>
                  </a:lnTo>
                  <a:lnTo>
                    <a:pt x="1" y="0"/>
                  </a:lnTo>
                  <a:lnTo>
                    <a:pt x="10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69" name="Freeform 157"/>
            <p:cNvSpPr/>
            <p:nvPr/>
          </p:nvSpPr>
          <p:spPr>
            <a:xfrm>
              <a:off x="5417" y="1211"/>
              <a:ext cx="147" cy="1466"/>
            </a:xfrm>
            <a:custGeom>
              <a:avLst/>
              <a:gdLst>
                <a:gd name="txL" fmla="*/ 0 w 147"/>
                <a:gd name="txT" fmla="*/ 0 h 1466"/>
                <a:gd name="txR" fmla="*/ 147 w 147"/>
                <a:gd name="txB" fmla="*/ 1466 h 1466"/>
              </a:gdLst>
              <a:ahLst/>
              <a:cxnLst>
                <a:cxn ang="0">
                  <a:pos x="47" y="0"/>
                </a:cxn>
                <a:cxn ang="0">
                  <a:pos x="147" y="0"/>
                </a:cxn>
                <a:cxn ang="0">
                  <a:pos x="146" y="1466"/>
                </a:cxn>
                <a:cxn ang="0">
                  <a:pos x="0" y="1466"/>
                </a:cxn>
              </a:cxnLst>
              <a:rect l="txL" t="txT" r="txR" b="txB"/>
              <a:pathLst>
                <a:path w="147" h="1466">
                  <a:moveTo>
                    <a:pt x="47" y="0"/>
                  </a:moveTo>
                  <a:lnTo>
                    <a:pt x="147" y="0"/>
                  </a:lnTo>
                  <a:lnTo>
                    <a:pt x="146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70" name="Freeform 158"/>
            <p:cNvSpPr/>
            <p:nvPr/>
          </p:nvSpPr>
          <p:spPr>
            <a:xfrm>
              <a:off x="1055" y="2738"/>
              <a:ext cx="730" cy="660"/>
            </a:xfrm>
            <a:custGeom>
              <a:avLst/>
              <a:gdLst>
                <a:gd name="txL" fmla="*/ 0 w 730"/>
                <a:gd name="txT" fmla="*/ 0 h 660"/>
                <a:gd name="txR" fmla="*/ 730 w 730"/>
                <a:gd name="txB" fmla="*/ 660 h 660"/>
              </a:gdLst>
              <a:ahLst/>
              <a:cxnLst>
                <a:cxn ang="0">
                  <a:pos x="160" y="4"/>
                </a:cxn>
                <a:cxn ang="0">
                  <a:pos x="0" y="3"/>
                </a:cxn>
                <a:cxn ang="0">
                  <a:pos x="0" y="660"/>
                </a:cxn>
                <a:cxn ang="0">
                  <a:pos x="558" y="657"/>
                </a:cxn>
                <a:cxn ang="0">
                  <a:pos x="558" y="0"/>
                </a:cxn>
                <a:cxn ang="0">
                  <a:pos x="730" y="1"/>
                </a:cxn>
              </a:cxnLst>
              <a:rect l="txL" t="txT" r="txR" b="txB"/>
              <a:pathLst>
                <a:path w="730" h="660">
                  <a:moveTo>
                    <a:pt x="160" y="4"/>
                  </a:moveTo>
                  <a:lnTo>
                    <a:pt x="0" y="3"/>
                  </a:lnTo>
                  <a:lnTo>
                    <a:pt x="0" y="660"/>
                  </a:lnTo>
                  <a:lnTo>
                    <a:pt x="558" y="657"/>
                  </a:lnTo>
                  <a:lnTo>
                    <a:pt x="558" y="0"/>
                  </a:lnTo>
                  <a:lnTo>
                    <a:pt x="73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71" name="Freeform 159"/>
            <p:cNvSpPr/>
            <p:nvPr/>
          </p:nvSpPr>
          <p:spPr>
            <a:xfrm>
              <a:off x="2207" y="2744"/>
              <a:ext cx="729" cy="658"/>
            </a:xfrm>
            <a:custGeom>
              <a:avLst/>
              <a:gdLst>
                <a:gd name="txL" fmla="*/ 0 w 729"/>
                <a:gd name="txT" fmla="*/ 0 h 658"/>
                <a:gd name="txR" fmla="*/ 729 w 729"/>
                <a:gd name="txB" fmla="*/ 658 h 658"/>
              </a:gdLst>
              <a:ahLst/>
              <a:cxnLst>
                <a:cxn ang="0">
                  <a:pos x="153" y="0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83" y="658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8">
                  <a:moveTo>
                    <a:pt x="153" y="0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83" y="658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72" name="Freeform 160"/>
            <p:cNvSpPr/>
            <p:nvPr/>
          </p:nvSpPr>
          <p:spPr>
            <a:xfrm>
              <a:off x="3356" y="2744"/>
              <a:ext cx="729" cy="657"/>
            </a:xfrm>
            <a:custGeom>
              <a:avLst/>
              <a:gdLst>
                <a:gd name="txL" fmla="*/ 0 w 729"/>
                <a:gd name="txT" fmla="*/ 0 h 657"/>
                <a:gd name="txR" fmla="*/ 729 w 729"/>
                <a:gd name="txB" fmla="*/ 657 h 657"/>
              </a:gdLst>
              <a:ahLst/>
              <a:cxnLst>
                <a:cxn ang="0">
                  <a:pos x="158" y="0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79" y="654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7">
                  <a:moveTo>
                    <a:pt x="158" y="0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79" y="654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73" name="Freeform 161"/>
            <p:cNvSpPr/>
            <p:nvPr/>
          </p:nvSpPr>
          <p:spPr>
            <a:xfrm>
              <a:off x="4508" y="2744"/>
              <a:ext cx="729" cy="657"/>
            </a:xfrm>
            <a:custGeom>
              <a:avLst/>
              <a:gdLst>
                <a:gd name="txL" fmla="*/ 0 w 729"/>
                <a:gd name="txT" fmla="*/ 0 h 657"/>
                <a:gd name="txR" fmla="*/ 729 w 729"/>
                <a:gd name="txB" fmla="*/ 657 h 657"/>
              </a:gdLst>
              <a:ahLst/>
              <a:cxnLst>
                <a:cxn ang="0">
                  <a:pos x="161" y="2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79" y="654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7">
                  <a:moveTo>
                    <a:pt x="161" y="2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79" y="654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74" name="Freeform 162"/>
            <p:cNvSpPr/>
            <p:nvPr/>
          </p:nvSpPr>
          <p:spPr>
            <a:xfrm>
              <a:off x="1400" y="2735"/>
              <a:ext cx="708" cy="571"/>
            </a:xfrm>
            <a:custGeom>
              <a:avLst/>
              <a:gdLst>
                <a:gd name="txL" fmla="*/ 0 w 708"/>
                <a:gd name="txT" fmla="*/ 0 h 571"/>
                <a:gd name="txR" fmla="*/ 708 w 708"/>
                <a:gd name="txB" fmla="*/ 571 h 571"/>
              </a:gdLst>
              <a:ahLst/>
              <a:cxnLst>
                <a:cxn ang="0">
                  <a:pos x="0" y="0"/>
                </a:cxn>
                <a:cxn ang="0">
                  <a:pos x="132" y="0"/>
                </a:cxn>
                <a:cxn ang="0">
                  <a:pos x="133" y="571"/>
                </a:cxn>
                <a:cxn ang="0">
                  <a:pos x="708" y="570"/>
                </a:cxn>
                <a:cxn ang="0">
                  <a:pos x="708" y="9"/>
                </a:cxn>
                <a:cxn ang="0">
                  <a:pos x="573" y="9"/>
                </a:cxn>
              </a:cxnLst>
              <a:rect l="txL" t="txT" r="txR" b="txB"/>
              <a:pathLst>
                <a:path w="708" h="571">
                  <a:moveTo>
                    <a:pt x="0" y="0"/>
                  </a:moveTo>
                  <a:lnTo>
                    <a:pt x="132" y="0"/>
                  </a:lnTo>
                  <a:lnTo>
                    <a:pt x="133" y="571"/>
                  </a:lnTo>
                  <a:lnTo>
                    <a:pt x="708" y="570"/>
                  </a:lnTo>
                  <a:lnTo>
                    <a:pt x="708" y="9"/>
                  </a:lnTo>
                  <a:lnTo>
                    <a:pt x="573" y="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75" name="Freeform 163"/>
            <p:cNvSpPr/>
            <p:nvPr/>
          </p:nvSpPr>
          <p:spPr>
            <a:xfrm>
              <a:off x="2552" y="2735"/>
              <a:ext cx="726" cy="567"/>
            </a:xfrm>
            <a:custGeom>
              <a:avLst/>
              <a:gdLst>
                <a:gd name="txL" fmla="*/ 0 w 726"/>
                <a:gd name="txT" fmla="*/ 0 h 567"/>
                <a:gd name="txR" fmla="*/ 726 w 726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48" y="1"/>
                </a:cxn>
                <a:cxn ang="0">
                  <a:pos x="147" y="567"/>
                </a:cxn>
                <a:cxn ang="0">
                  <a:pos x="726" y="567"/>
                </a:cxn>
                <a:cxn ang="0">
                  <a:pos x="726" y="6"/>
                </a:cxn>
                <a:cxn ang="0">
                  <a:pos x="579" y="6"/>
                </a:cxn>
              </a:cxnLst>
              <a:rect l="txL" t="txT" r="txR" b="txB"/>
              <a:pathLst>
                <a:path w="726" h="567">
                  <a:moveTo>
                    <a:pt x="0" y="0"/>
                  </a:moveTo>
                  <a:lnTo>
                    <a:pt x="148" y="1"/>
                  </a:lnTo>
                  <a:lnTo>
                    <a:pt x="147" y="567"/>
                  </a:lnTo>
                  <a:lnTo>
                    <a:pt x="726" y="567"/>
                  </a:lnTo>
                  <a:lnTo>
                    <a:pt x="726" y="6"/>
                  </a:lnTo>
                  <a:lnTo>
                    <a:pt x="579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76" name="Freeform 164"/>
            <p:cNvSpPr/>
            <p:nvPr/>
          </p:nvSpPr>
          <p:spPr>
            <a:xfrm>
              <a:off x="3704" y="2738"/>
              <a:ext cx="714" cy="567"/>
            </a:xfrm>
            <a:custGeom>
              <a:avLst/>
              <a:gdLst>
                <a:gd name="txL" fmla="*/ 0 w 714"/>
                <a:gd name="txT" fmla="*/ 0 h 567"/>
                <a:gd name="txR" fmla="*/ 714 w 714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36" y="1"/>
                </a:cxn>
                <a:cxn ang="0">
                  <a:pos x="135" y="567"/>
                </a:cxn>
                <a:cxn ang="0">
                  <a:pos x="714" y="567"/>
                </a:cxn>
                <a:cxn ang="0">
                  <a:pos x="714" y="6"/>
                </a:cxn>
                <a:cxn ang="0">
                  <a:pos x="576" y="5"/>
                </a:cxn>
              </a:cxnLst>
              <a:rect l="txL" t="txT" r="txR" b="txB"/>
              <a:pathLst>
                <a:path w="714" h="567">
                  <a:moveTo>
                    <a:pt x="0" y="0"/>
                  </a:moveTo>
                  <a:lnTo>
                    <a:pt x="136" y="1"/>
                  </a:lnTo>
                  <a:lnTo>
                    <a:pt x="135" y="567"/>
                  </a:lnTo>
                  <a:lnTo>
                    <a:pt x="714" y="567"/>
                  </a:lnTo>
                  <a:lnTo>
                    <a:pt x="714" y="6"/>
                  </a:lnTo>
                  <a:lnTo>
                    <a:pt x="576" y="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77" name="Freeform 165"/>
            <p:cNvSpPr/>
            <p:nvPr/>
          </p:nvSpPr>
          <p:spPr>
            <a:xfrm>
              <a:off x="4859" y="2738"/>
              <a:ext cx="711" cy="567"/>
            </a:xfrm>
            <a:custGeom>
              <a:avLst/>
              <a:gdLst>
                <a:gd name="txL" fmla="*/ 0 w 711"/>
                <a:gd name="txT" fmla="*/ 0 h 567"/>
                <a:gd name="txR" fmla="*/ 711 w 711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30" y="1"/>
                </a:cxn>
                <a:cxn ang="0">
                  <a:pos x="132" y="567"/>
                </a:cxn>
                <a:cxn ang="0">
                  <a:pos x="711" y="567"/>
                </a:cxn>
                <a:cxn ang="0">
                  <a:pos x="711" y="6"/>
                </a:cxn>
                <a:cxn ang="0">
                  <a:pos x="564" y="6"/>
                </a:cxn>
              </a:cxnLst>
              <a:rect l="txL" t="txT" r="txR" b="txB"/>
              <a:pathLst>
                <a:path w="711" h="567">
                  <a:moveTo>
                    <a:pt x="0" y="0"/>
                  </a:moveTo>
                  <a:lnTo>
                    <a:pt x="130" y="1"/>
                  </a:lnTo>
                  <a:lnTo>
                    <a:pt x="132" y="567"/>
                  </a:lnTo>
                  <a:lnTo>
                    <a:pt x="711" y="567"/>
                  </a:lnTo>
                  <a:lnTo>
                    <a:pt x="711" y="6"/>
                  </a:lnTo>
                  <a:lnTo>
                    <a:pt x="564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78" name="Freeform 166"/>
            <p:cNvSpPr/>
            <p:nvPr/>
          </p:nvSpPr>
          <p:spPr>
            <a:xfrm>
              <a:off x="1322" y="3398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79" name="Freeform 167"/>
            <p:cNvSpPr/>
            <p:nvPr/>
          </p:nvSpPr>
          <p:spPr>
            <a:xfrm>
              <a:off x="2491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80" name="Freeform 168"/>
            <p:cNvSpPr/>
            <p:nvPr/>
          </p:nvSpPr>
          <p:spPr>
            <a:xfrm>
              <a:off x="3643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81" name="Freeform 169"/>
            <p:cNvSpPr/>
            <p:nvPr/>
          </p:nvSpPr>
          <p:spPr>
            <a:xfrm>
              <a:off x="4795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82" name="Freeform 170"/>
            <p:cNvSpPr/>
            <p:nvPr/>
          </p:nvSpPr>
          <p:spPr>
            <a:xfrm>
              <a:off x="5276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83" name="Freeform 171"/>
            <p:cNvSpPr/>
            <p:nvPr/>
          </p:nvSpPr>
          <p:spPr>
            <a:xfrm>
              <a:off x="4124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84" name="Freeform 172"/>
            <p:cNvSpPr/>
            <p:nvPr/>
          </p:nvSpPr>
          <p:spPr>
            <a:xfrm>
              <a:off x="2972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85" name="Freeform 173"/>
            <p:cNvSpPr/>
            <p:nvPr/>
          </p:nvSpPr>
          <p:spPr>
            <a:xfrm>
              <a:off x="1819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86" name="Freeform 174"/>
            <p:cNvSpPr/>
            <p:nvPr/>
          </p:nvSpPr>
          <p:spPr>
            <a:xfrm>
              <a:off x="956" y="4025"/>
              <a:ext cx="4317" cy="1"/>
            </a:xfrm>
            <a:custGeom>
              <a:avLst/>
              <a:gdLst>
                <a:gd name="txL" fmla="*/ 0 w 4317"/>
                <a:gd name="txT" fmla="*/ 0 h 1"/>
                <a:gd name="txR" fmla="*/ 4317 w 431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317" y="0"/>
                </a:cxn>
              </a:cxnLst>
              <a:rect l="txL" t="txT" r="txR" b="txB"/>
              <a:pathLst>
                <a:path w="4317" h="1">
                  <a:moveTo>
                    <a:pt x="0" y="0"/>
                  </a:moveTo>
                  <a:lnTo>
                    <a:pt x="431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87" name="Freeform 175"/>
            <p:cNvSpPr/>
            <p:nvPr/>
          </p:nvSpPr>
          <p:spPr>
            <a:xfrm>
              <a:off x="956" y="4121"/>
              <a:ext cx="3837" cy="1"/>
            </a:xfrm>
            <a:custGeom>
              <a:avLst/>
              <a:gdLst>
                <a:gd name="txL" fmla="*/ 0 w 3837"/>
                <a:gd name="txT" fmla="*/ 0 h 1"/>
                <a:gd name="txR" fmla="*/ 3837 w 383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837" y="0"/>
                </a:cxn>
              </a:cxnLst>
              <a:rect l="txL" t="txT" r="txR" b="txB"/>
              <a:pathLst>
                <a:path w="3837" h="1">
                  <a:moveTo>
                    <a:pt x="0" y="0"/>
                  </a:moveTo>
                  <a:lnTo>
                    <a:pt x="38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88" name="Freeform 176"/>
            <p:cNvSpPr/>
            <p:nvPr/>
          </p:nvSpPr>
          <p:spPr>
            <a:xfrm>
              <a:off x="1322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89" name="Freeform 177"/>
            <p:cNvSpPr/>
            <p:nvPr/>
          </p:nvSpPr>
          <p:spPr>
            <a:xfrm>
              <a:off x="2491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90" name="Freeform 178"/>
            <p:cNvSpPr/>
            <p:nvPr/>
          </p:nvSpPr>
          <p:spPr>
            <a:xfrm>
              <a:off x="3643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91" name="Freeform 179"/>
            <p:cNvSpPr/>
            <p:nvPr/>
          </p:nvSpPr>
          <p:spPr>
            <a:xfrm>
              <a:off x="4791" y="3881"/>
              <a:ext cx="4" cy="247"/>
            </a:xfrm>
            <a:custGeom>
              <a:avLst/>
              <a:gdLst>
                <a:gd name="txL" fmla="*/ 0 w 4"/>
                <a:gd name="txT" fmla="*/ 0 h 247"/>
                <a:gd name="txR" fmla="*/ 4 w 4"/>
                <a:gd name="txB" fmla="*/ 247 h 247"/>
              </a:gdLst>
              <a:ahLst/>
              <a:cxnLst>
                <a:cxn ang="0">
                  <a:pos x="4" y="0"/>
                </a:cxn>
                <a:cxn ang="0">
                  <a:pos x="0" y="247"/>
                </a:cxn>
              </a:cxnLst>
              <a:rect l="txL" t="txT" r="txR" b="txB"/>
              <a:pathLst>
                <a:path w="4" h="247">
                  <a:moveTo>
                    <a:pt x="4" y="0"/>
                  </a:moveTo>
                  <a:lnTo>
                    <a:pt x="0" y="24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92" name="Freeform 180"/>
            <p:cNvSpPr/>
            <p:nvPr/>
          </p:nvSpPr>
          <p:spPr>
            <a:xfrm>
              <a:off x="5277" y="3881"/>
              <a:ext cx="1" cy="151"/>
            </a:xfrm>
            <a:custGeom>
              <a:avLst/>
              <a:gdLst>
                <a:gd name="txL" fmla="*/ 0 w 1"/>
                <a:gd name="txT" fmla="*/ 0 h 151"/>
                <a:gd name="txR" fmla="*/ 1 w 1"/>
                <a:gd name="txB" fmla="*/ 151 h 151"/>
              </a:gdLst>
              <a:ahLst/>
              <a:cxnLst>
                <a:cxn ang="0">
                  <a:pos x="0" y="0"/>
                </a:cxn>
                <a:cxn ang="0">
                  <a:pos x="0" y="151"/>
                </a:cxn>
              </a:cxnLst>
              <a:rect l="txL" t="txT" r="txR" b="txB"/>
              <a:pathLst>
                <a:path w="1" h="151">
                  <a:moveTo>
                    <a:pt x="0" y="0"/>
                  </a:moveTo>
                  <a:lnTo>
                    <a:pt x="0" y="15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93" name="Line 181"/>
            <p:cNvSpPr/>
            <p:nvPr/>
          </p:nvSpPr>
          <p:spPr>
            <a:xfrm>
              <a:off x="4124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75694" name="Line 182"/>
            <p:cNvSpPr/>
            <p:nvPr/>
          </p:nvSpPr>
          <p:spPr>
            <a:xfrm>
              <a:off x="2973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75695" name="Line 183"/>
            <p:cNvSpPr/>
            <p:nvPr/>
          </p:nvSpPr>
          <p:spPr>
            <a:xfrm>
              <a:off x="1820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75696" name="Rectangle 184"/>
            <p:cNvSpPr/>
            <p:nvPr/>
          </p:nvSpPr>
          <p:spPr>
            <a:xfrm>
              <a:off x="2317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97" name="Text Box 185"/>
            <p:cNvSpPr txBox="1"/>
            <p:nvPr/>
          </p:nvSpPr>
          <p:spPr>
            <a:xfrm>
              <a:off x="2348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698" name="Rectangle 186"/>
            <p:cNvSpPr/>
            <p:nvPr/>
          </p:nvSpPr>
          <p:spPr>
            <a:xfrm>
              <a:off x="3469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699" name="Text Box 187"/>
            <p:cNvSpPr txBox="1"/>
            <p:nvPr/>
          </p:nvSpPr>
          <p:spPr>
            <a:xfrm>
              <a:off x="3500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00" name="Rectangle 188"/>
            <p:cNvSpPr/>
            <p:nvPr/>
          </p:nvSpPr>
          <p:spPr>
            <a:xfrm>
              <a:off x="4621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701" name="Text Box 189"/>
            <p:cNvSpPr txBox="1"/>
            <p:nvPr/>
          </p:nvSpPr>
          <p:spPr>
            <a:xfrm>
              <a:off x="4652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02" name="Line 190"/>
            <p:cNvSpPr/>
            <p:nvPr/>
          </p:nvSpPr>
          <p:spPr>
            <a:xfrm>
              <a:off x="1964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5703" name="Line 191"/>
            <p:cNvSpPr/>
            <p:nvPr/>
          </p:nvSpPr>
          <p:spPr>
            <a:xfrm>
              <a:off x="3144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5704" name="Line 192"/>
            <p:cNvSpPr/>
            <p:nvPr/>
          </p:nvSpPr>
          <p:spPr>
            <a:xfrm>
              <a:off x="4293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5705" name="Line 193"/>
            <p:cNvSpPr/>
            <p:nvPr/>
          </p:nvSpPr>
          <p:spPr>
            <a:xfrm>
              <a:off x="5420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5706" name="Freeform 194"/>
            <p:cNvSpPr/>
            <p:nvPr/>
          </p:nvSpPr>
          <p:spPr>
            <a:xfrm>
              <a:off x="3033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707" name="Freeform 195"/>
            <p:cNvSpPr/>
            <p:nvPr/>
          </p:nvSpPr>
          <p:spPr>
            <a:xfrm>
              <a:off x="4185" y="2691"/>
              <a:ext cx="1" cy="525"/>
            </a:xfrm>
            <a:custGeom>
              <a:avLst/>
              <a:gdLst>
                <a:gd name="txL" fmla="*/ 0 w 1"/>
                <a:gd name="txT" fmla="*/ 0 h 525"/>
                <a:gd name="txR" fmla="*/ 1 w 1"/>
                <a:gd name="txB" fmla="*/ 525 h 525"/>
              </a:gdLst>
              <a:ahLst/>
              <a:cxnLst>
                <a:cxn ang="0">
                  <a:pos x="0" y="0"/>
                </a:cxn>
                <a:cxn ang="0">
                  <a:pos x="0" y="525"/>
                </a:cxn>
              </a:cxnLst>
              <a:rect l="txL" t="txT" r="txR" b="txB"/>
              <a:pathLst>
                <a:path w="1" h="525">
                  <a:moveTo>
                    <a:pt x="0" y="0"/>
                  </a:moveTo>
                  <a:lnTo>
                    <a:pt x="0" y="52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708" name="Freeform 196"/>
            <p:cNvSpPr/>
            <p:nvPr/>
          </p:nvSpPr>
          <p:spPr>
            <a:xfrm>
              <a:off x="5325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5709" name="Text Box 197"/>
            <p:cNvSpPr txBox="1"/>
            <p:nvPr/>
          </p:nvSpPr>
          <p:spPr>
            <a:xfrm rot="5400000">
              <a:off x="1175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10" name="Text Box 198"/>
            <p:cNvSpPr txBox="1"/>
            <p:nvPr/>
          </p:nvSpPr>
          <p:spPr>
            <a:xfrm rot="5400000">
              <a:off x="1751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11" name="Text Box 199"/>
            <p:cNvSpPr txBox="1"/>
            <p:nvPr/>
          </p:nvSpPr>
          <p:spPr>
            <a:xfrm rot="5400000">
              <a:off x="2327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12" name="Text Box 200"/>
            <p:cNvSpPr txBox="1"/>
            <p:nvPr/>
          </p:nvSpPr>
          <p:spPr>
            <a:xfrm rot="5400000">
              <a:off x="2903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13" name="Text Box 201"/>
            <p:cNvSpPr txBox="1"/>
            <p:nvPr/>
          </p:nvSpPr>
          <p:spPr>
            <a:xfrm rot="5400000">
              <a:off x="3478" y="161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14" name="Text Box 202"/>
            <p:cNvSpPr txBox="1"/>
            <p:nvPr/>
          </p:nvSpPr>
          <p:spPr>
            <a:xfrm rot="5400000">
              <a:off x="4055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15" name="Text Box 203"/>
            <p:cNvSpPr txBox="1"/>
            <p:nvPr/>
          </p:nvSpPr>
          <p:spPr>
            <a:xfrm rot="5400000">
              <a:off x="4631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16" name="Text Box 204"/>
            <p:cNvSpPr txBox="1"/>
            <p:nvPr/>
          </p:nvSpPr>
          <p:spPr>
            <a:xfrm rot="5400000">
              <a:off x="5226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17" name="Text Box 205"/>
            <p:cNvSpPr txBox="1"/>
            <p:nvPr/>
          </p:nvSpPr>
          <p:spPr>
            <a:xfrm>
              <a:off x="660" y="791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18" name="Text Box 206"/>
            <p:cNvSpPr txBox="1"/>
            <p:nvPr/>
          </p:nvSpPr>
          <p:spPr>
            <a:xfrm>
              <a:off x="660" y="1383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19" name="Text Box 207"/>
            <p:cNvSpPr txBox="1"/>
            <p:nvPr/>
          </p:nvSpPr>
          <p:spPr>
            <a:xfrm>
              <a:off x="624" y="195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63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20" name="Line 208"/>
            <p:cNvSpPr/>
            <p:nvPr/>
          </p:nvSpPr>
          <p:spPr>
            <a:xfrm>
              <a:off x="332" y="2537"/>
              <a:ext cx="5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721" name="Text Box 209"/>
            <p:cNvSpPr txBox="1"/>
            <p:nvPr/>
          </p:nvSpPr>
          <p:spPr>
            <a:xfrm>
              <a:off x="660" y="2727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22" name="Text Box 210"/>
            <p:cNvSpPr txBox="1"/>
            <p:nvPr/>
          </p:nvSpPr>
          <p:spPr>
            <a:xfrm>
              <a:off x="624" y="315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15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23" name="Text Box 211"/>
            <p:cNvSpPr txBox="1"/>
            <p:nvPr/>
          </p:nvSpPr>
          <p:spPr>
            <a:xfrm rot="5400000">
              <a:off x="647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24" name="Text Box 212"/>
            <p:cNvSpPr txBox="1"/>
            <p:nvPr/>
          </p:nvSpPr>
          <p:spPr>
            <a:xfrm rot="5400000">
              <a:off x="647" y="285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25" name="Text Box 213"/>
            <p:cNvSpPr txBox="1"/>
            <p:nvPr/>
          </p:nvSpPr>
          <p:spPr>
            <a:xfrm>
              <a:off x="349" y="101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行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26" name="Text Box 214"/>
            <p:cNvSpPr txBox="1"/>
            <p:nvPr/>
          </p:nvSpPr>
          <p:spPr>
            <a:xfrm>
              <a:off x="349" y="126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27" name="Text Box 215"/>
            <p:cNvSpPr txBox="1"/>
            <p:nvPr/>
          </p:nvSpPr>
          <p:spPr>
            <a:xfrm>
              <a:off x="349" y="151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28" name="Text Box 216"/>
            <p:cNvSpPr txBox="1"/>
            <p:nvPr/>
          </p:nvSpPr>
          <p:spPr>
            <a:xfrm>
              <a:off x="349" y="175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29" name="Text Box 217"/>
            <p:cNvSpPr txBox="1"/>
            <p:nvPr/>
          </p:nvSpPr>
          <p:spPr>
            <a:xfrm>
              <a:off x="349" y="200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30" name="Text Box 218"/>
            <p:cNvSpPr txBox="1"/>
            <p:nvPr/>
          </p:nvSpPr>
          <p:spPr>
            <a:xfrm>
              <a:off x="376" y="263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列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31" name="Text Box 219"/>
            <p:cNvSpPr txBox="1"/>
            <p:nvPr/>
          </p:nvSpPr>
          <p:spPr>
            <a:xfrm>
              <a:off x="376" y="288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32" name="Text Box 220"/>
            <p:cNvSpPr txBox="1"/>
            <p:nvPr/>
          </p:nvSpPr>
          <p:spPr>
            <a:xfrm>
              <a:off x="376" y="313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33" name="Text Box 221"/>
            <p:cNvSpPr txBox="1"/>
            <p:nvPr/>
          </p:nvSpPr>
          <p:spPr>
            <a:xfrm>
              <a:off x="376" y="337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34" name="Text Box 222"/>
            <p:cNvSpPr txBox="1"/>
            <p:nvPr/>
          </p:nvSpPr>
          <p:spPr>
            <a:xfrm>
              <a:off x="376" y="362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35" name="Text Box 223"/>
            <p:cNvSpPr txBox="1"/>
            <p:nvPr/>
          </p:nvSpPr>
          <p:spPr>
            <a:xfrm>
              <a:off x="194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5736" name="Text Box 224"/>
            <p:cNvSpPr txBox="1"/>
            <p:nvPr/>
          </p:nvSpPr>
          <p:spPr>
            <a:xfrm>
              <a:off x="310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5737" name="Text Box 225"/>
            <p:cNvSpPr txBox="1"/>
            <p:nvPr/>
          </p:nvSpPr>
          <p:spPr>
            <a:xfrm>
              <a:off x="4258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5738" name="Text Box 226"/>
            <p:cNvSpPr txBox="1"/>
            <p:nvPr/>
          </p:nvSpPr>
          <p:spPr>
            <a:xfrm>
              <a:off x="541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5739" name="Line 227"/>
            <p:cNvSpPr/>
            <p:nvPr/>
          </p:nvSpPr>
          <p:spPr>
            <a:xfrm>
              <a:off x="140" y="905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5740" name="Line 228"/>
            <p:cNvSpPr/>
            <p:nvPr/>
          </p:nvSpPr>
          <p:spPr>
            <a:xfrm>
              <a:off x="140" y="1164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5741" name="Line 229"/>
            <p:cNvSpPr/>
            <p:nvPr/>
          </p:nvSpPr>
          <p:spPr>
            <a:xfrm>
              <a:off x="140" y="1423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5742" name="Line 230"/>
            <p:cNvSpPr/>
            <p:nvPr/>
          </p:nvSpPr>
          <p:spPr>
            <a:xfrm>
              <a:off x="140" y="168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5743" name="Line 231"/>
            <p:cNvSpPr/>
            <p:nvPr/>
          </p:nvSpPr>
          <p:spPr>
            <a:xfrm>
              <a:off x="140" y="194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5744" name="Line 232"/>
            <p:cNvSpPr/>
            <p:nvPr/>
          </p:nvSpPr>
          <p:spPr>
            <a:xfrm>
              <a:off x="140" y="220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5745" name="Line 233"/>
            <p:cNvSpPr/>
            <p:nvPr/>
          </p:nvSpPr>
          <p:spPr>
            <a:xfrm>
              <a:off x="140" y="28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5746" name="Line 234"/>
            <p:cNvSpPr/>
            <p:nvPr/>
          </p:nvSpPr>
          <p:spPr>
            <a:xfrm>
              <a:off x="140" y="313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5747" name="Line 235"/>
            <p:cNvSpPr/>
            <p:nvPr/>
          </p:nvSpPr>
          <p:spPr>
            <a:xfrm>
              <a:off x="140" y="339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5748" name="Line 236"/>
            <p:cNvSpPr/>
            <p:nvPr/>
          </p:nvSpPr>
          <p:spPr>
            <a:xfrm>
              <a:off x="140" y="365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5749" name="Text Box 237"/>
            <p:cNvSpPr txBox="1"/>
            <p:nvPr/>
          </p:nvSpPr>
          <p:spPr>
            <a:xfrm>
              <a:off x="648" y="3890"/>
              <a:ext cx="3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50" name="Line 238"/>
            <p:cNvSpPr/>
            <p:nvPr/>
          </p:nvSpPr>
          <p:spPr>
            <a:xfrm>
              <a:off x="682" y="3923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5751" name="Text Box 239"/>
            <p:cNvSpPr txBox="1"/>
            <p:nvPr/>
          </p:nvSpPr>
          <p:spPr>
            <a:xfrm>
              <a:off x="669" y="4025"/>
              <a:ext cx="3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CS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5752" name="Line 240"/>
            <p:cNvSpPr/>
            <p:nvPr/>
          </p:nvSpPr>
          <p:spPr>
            <a:xfrm>
              <a:off x="726" y="4079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5462" name="Group 241"/>
          <p:cNvGrpSpPr/>
          <p:nvPr/>
        </p:nvGrpSpPr>
        <p:grpSpPr>
          <a:xfrm>
            <a:off x="1746250" y="1069975"/>
            <a:ext cx="8459788" cy="4779963"/>
            <a:chOff x="140" y="674"/>
            <a:chExt cx="5329" cy="3011"/>
          </a:xfrm>
        </p:grpSpPr>
        <p:grpSp>
          <p:nvGrpSpPr>
            <p:cNvPr id="275513" name="Group 242"/>
            <p:cNvGrpSpPr/>
            <p:nvPr/>
          </p:nvGrpSpPr>
          <p:grpSpPr>
            <a:xfrm>
              <a:off x="140" y="674"/>
              <a:ext cx="195" cy="3011"/>
              <a:chOff x="140" y="674"/>
              <a:chExt cx="195" cy="3011"/>
            </a:xfrm>
          </p:grpSpPr>
          <p:sp>
            <p:nvSpPr>
              <p:cNvPr id="275539" name="Text Box 243"/>
              <p:cNvSpPr txBox="1"/>
              <p:nvPr/>
            </p:nvSpPr>
            <p:spPr>
              <a:xfrm>
                <a:off x="140" y="67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40" name="Text Box 244"/>
              <p:cNvSpPr txBox="1"/>
              <p:nvPr/>
            </p:nvSpPr>
            <p:spPr>
              <a:xfrm>
                <a:off x="140" y="933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41" name="Text Box 245"/>
              <p:cNvSpPr txBox="1"/>
              <p:nvPr/>
            </p:nvSpPr>
            <p:spPr>
              <a:xfrm>
                <a:off x="140" y="119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42" name="Text Box 246"/>
              <p:cNvSpPr txBox="1"/>
              <p:nvPr/>
            </p:nvSpPr>
            <p:spPr>
              <a:xfrm>
                <a:off x="140" y="145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43" name="Text Box 247"/>
              <p:cNvSpPr txBox="1"/>
              <p:nvPr/>
            </p:nvSpPr>
            <p:spPr>
              <a:xfrm>
                <a:off x="140" y="171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44" name="Text Box 248"/>
              <p:cNvSpPr txBox="1"/>
              <p:nvPr/>
            </p:nvSpPr>
            <p:spPr>
              <a:xfrm>
                <a:off x="140" y="197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45" name="Text Box 249"/>
              <p:cNvSpPr txBox="1"/>
              <p:nvPr/>
            </p:nvSpPr>
            <p:spPr>
              <a:xfrm>
                <a:off x="140" y="2657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46" name="Text Box 250"/>
              <p:cNvSpPr txBox="1"/>
              <p:nvPr/>
            </p:nvSpPr>
            <p:spPr>
              <a:xfrm>
                <a:off x="140" y="2916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47" name="Text Box 251"/>
              <p:cNvSpPr txBox="1"/>
              <p:nvPr/>
            </p:nvSpPr>
            <p:spPr>
              <a:xfrm>
                <a:off x="140" y="317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48" name="Text Box 252"/>
              <p:cNvSpPr txBox="1"/>
              <p:nvPr/>
            </p:nvSpPr>
            <p:spPr>
              <a:xfrm>
                <a:off x="140" y="343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5514" name="Group 253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75515" name="Group 254"/>
              <p:cNvGrpSpPr/>
              <p:nvPr/>
            </p:nvGrpSpPr>
            <p:grpSpPr>
              <a:xfrm>
                <a:off x="902" y="857"/>
                <a:ext cx="4567" cy="418"/>
                <a:chOff x="902" y="857"/>
                <a:chExt cx="4567" cy="418"/>
              </a:xfrm>
            </p:grpSpPr>
            <p:grpSp>
              <p:nvGrpSpPr>
                <p:cNvPr id="275520" name="Group 255"/>
                <p:cNvGrpSpPr/>
                <p:nvPr/>
              </p:nvGrpSpPr>
              <p:grpSpPr>
                <a:xfrm>
                  <a:off x="1152" y="1024"/>
                  <a:ext cx="4317" cy="251"/>
                  <a:chOff x="1176" y="1079"/>
                  <a:chExt cx="4317" cy="251"/>
                </a:xfrm>
              </p:grpSpPr>
              <p:sp>
                <p:nvSpPr>
                  <p:cNvPr id="275531" name="Rectangle 256"/>
                  <p:cNvSpPr/>
                  <p:nvPr/>
                </p:nvSpPr>
                <p:spPr>
                  <a:xfrm>
                    <a:off x="175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5532" name="Rectangle 257"/>
                  <p:cNvSpPr/>
                  <p:nvPr/>
                </p:nvSpPr>
                <p:spPr>
                  <a:xfrm>
                    <a:off x="117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5533" name="Rectangle 258"/>
                  <p:cNvSpPr/>
                  <p:nvPr/>
                </p:nvSpPr>
                <p:spPr>
                  <a:xfrm>
                    <a:off x="289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5534" name="Rectangle 259"/>
                  <p:cNvSpPr/>
                  <p:nvPr/>
                </p:nvSpPr>
                <p:spPr>
                  <a:xfrm>
                    <a:off x="231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5535" name="Rectangle 260"/>
                  <p:cNvSpPr/>
                  <p:nvPr/>
                </p:nvSpPr>
                <p:spPr>
                  <a:xfrm>
                    <a:off x="4067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5536" name="Rectangle 261"/>
                  <p:cNvSpPr/>
                  <p:nvPr/>
                </p:nvSpPr>
                <p:spPr>
                  <a:xfrm>
                    <a:off x="3491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5537" name="Rectangle 262"/>
                  <p:cNvSpPr/>
                  <p:nvPr/>
                </p:nvSpPr>
                <p:spPr>
                  <a:xfrm>
                    <a:off x="5205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75538" name="Rectangle 263"/>
                  <p:cNvSpPr/>
                  <p:nvPr/>
                </p:nvSpPr>
                <p:spPr>
                  <a:xfrm>
                    <a:off x="462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75521" name="Group 264"/>
                <p:cNvGrpSpPr/>
                <p:nvPr/>
              </p:nvGrpSpPr>
              <p:grpSpPr>
                <a:xfrm>
                  <a:off x="902" y="857"/>
                  <a:ext cx="4419" cy="145"/>
                  <a:chOff x="902" y="857"/>
                  <a:chExt cx="4419" cy="145"/>
                </a:xfrm>
              </p:grpSpPr>
              <p:sp>
                <p:nvSpPr>
                  <p:cNvPr id="275522" name="Freeform 265"/>
                  <p:cNvSpPr/>
                  <p:nvPr/>
                </p:nvSpPr>
                <p:spPr>
                  <a:xfrm>
                    <a:off x="902" y="857"/>
                    <a:ext cx="4419" cy="1"/>
                  </a:xfrm>
                  <a:custGeom>
                    <a:avLst/>
                    <a:gdLst>
                      <a:gd name="txL" fmla="*/ 0 w 4419"/>
                      <a:gd name="txT" fmla="*/ 0 h 1"/>
                      <a:gd name="txR" fmla="*/ 4419 w 4419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9" y="0"/>
                      </a:cxn>
                    </a:cxnLst>
                    <a:rect l="txL" t="txT" r="txR" b="txB"/>
                    <a:pathLst>
                      <a:path w="4419" h="1">
                        <a:moveTo>
                          <a:pt x="0" y="1"/>
                        </a:moveTo>
                        <a:lnTo>
                          <a:pt x="4419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5523" name="Line 266"/>
                  <p:cNvSpPr/>
                  <p:nvPr/>
                </p:nvSpPr>
                <p:spPr>
                  <a:xfrm>
                    <a:off x="127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75524" name="Line 267"/>
                  <p:cNvSpPr/>
                  <p:nvPr/>
                </p:nvSpPr>
                <p:spPr>
                  <a:xfrm>
                    <a:off x="184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75525" name="Line 268"/>
                  <p:cNvSpPr/>
                  <p:nvPr/>
                </p:nvSpPr>
                <p:spPr>
                  <a:xfrm>
                    <a:off x="242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75526" name="Line 269"/>
                  <p:cNvSpPr/>
                  <p:nvPr/>
                </p:nvSpPr>
                <p:spPr>
                  <a:xfrm>
                    <a:off x="3000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75527" name="Line 270"/>
                  <p:cNvSpPr/>
                  <p:nvPr/>
                </p:nvSpPr>
                <p:spPr>
                  <a:xfrm>
                    <a:off x="3576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75528" name="Line 271"/>
                  <p:cNvSpPr/>
                  <p:nvPr/>
                </p:nvSpPr>
                <p:spPr>
                  <a:xfrm>
                    <a:off x="415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75529" name="Line 272"/>
                  <p:cNvSpPr/>
                  <p:nvPr/>
                </p:nvSpPr>
                <p:spPr>
                  <a:xfrm>
                    <a:off x="472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75530" name="Line 273"/>
                  <p:cNvSpPr/>
                  <p:nvPr/>
                </p:nvSpPr>
                <p:spPr>
                  <a:xfrm>
                    <a:off x="530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</p:grpSp>
          </p:grpSp>
          <p:sp>
            <p:nvSpPr>
              <p:cNvPr id="275516" name="Text Box 274"/>
              <p:cNvSpPr txBox="1"/>
              <p:nvPr/>
            </p:nvSpPr>
            <p:spPr>
              <a:xfrm>
                <a:off x="140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17" name="Text Box 275"/>
              <p:cNvSpPr txBox="1"/>
              <p:nvPr/>
            </p:nvSpPr>
            <p:spPr>
              <a:xfrm>
                <a:off x="254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18" name="Text Box 276"/>
              <p:cNvSpPr txBox="1"/>
              <p:nvPr/>
            </p:nvSpPr>
            <p:spPr>
              <a:xfrm>
                <a:off x="3718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5519" name="Text Box 277"/>
              <p:cNvSpPr txBox="1"/>
              <p:nvPr/>
            </p:nvSpPr>
            <p:spPr>
              <a:xfrm>
                <a:off x="486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6" name="Group 278"/>
          <p:cNvGrpSpPr/>
          <p:nvPr/>
        </p:nvGrpSpPr>
        <p:grpSpPr>
          <a:xfrm>
            <a:off x="2976563" y="2617788"/>
            <a:ext cx="6613525" cy="1963737"/>
            <a:chOff x="915" y="1649"/>
            <a:chExt cx="4166" cy="1237"/>
          </a:xfrm>
        </p:grpSpPr>
        <p:grpSp>
          <p:nvGrpSpPr>
            <p:cNvPr id="275466" name="Group 279"/>
            <p:cNvGrpSpPr/>
            <p:nvPr/>
          </p:nvGrpSpPr>
          <p:grpSpPr>
            <a:xfrm>
              <a:off x="915" y="2633"/>
              <a:ext cx="3945" cy="253"/>
              <a:chOff x="915" y="2633"/>
              <a:chExt cx="3945" cy="253"/>
            </a:xfrm>
          </p:grpSpPr>
          <p:grpSp>
            <p:nvGrpSpPr>
              <p:cNvPr id="275475" name="Group 280"/>
              <p:cNvGrpSpPr/>
              <p:nvPr/>
            </p:nvGrpSpPr>
            <p:grpSpPr>
              <a:xfrm>
                <a:off x="915" y="2696"/>
                <a:ext cx="3858" cy="190"/>
                <a:chOff x="915" y="2696"/>
                <a:chExt cx="3858" cy="190"/>
              </a:xfrm>
            </p:grpSpPr>
            <p:sp>
              <p:nvSpPr>
                <p:cNvPr id="275508" name="Freeform 281"/>
                <p:cNvSpPr/>
                <p:nvPr/>
              </p:nvSpPr>
              <p:spPr>
                <a:xfrm>
                  <a:off x="1304" y="2707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5509" name="Freeform 282"/>
                <p:cNvSpPr/>
                <p:nvPr/>
              </p:nvSpPr>
              <p:spPr>
                <a:xfrm>
                  <a:off x="2457" y="2710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5510" name="Freeform 283"/>
                <p:cNvSpPr/>
                <p:nvPr/>
              </p:nvSpPr>
              <p:spPr>
                <a:xfrm>
                  <a:off x="3609" y="2710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5511" name="Freeform 284"/>
                <p:cNvSpPr/>
                <p:nvPr/>
              </p:nvSpPr>
              <p:spPr>
                <a:xfrm>
                  <a:off x="4761" y="2696"/>
                  <a:ext cx="1" cy="178"/>
                </a:xfrm>
                <a:custGeom>
                  <a:avLst/>
                  <a:gdLst>
                    <a:gd name="txL" fmla="*/ 0 w 1"/>
                    <a:gd name="txT" fmla="*/ 0 h 178"/>
                    <a:gd name="txR" fmla="*/ 1 w 1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0" y="178"/>
                    </a:cxn>
                  </a:cxnLst>
                  <a:rect l="txL" t="txT" r="txR" b="txB"/>
                  <a:pathLst>
                    <a:path w="1" h="178">
                      <a:moveTo>
                        <a:pt x="0" y="0"/>
                      </a:moveTo>
                      <a:lnTo>
                        <a:pt x="0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5512" name="Freeform 285"/>
                <p:cNvSpPr/>
                <p:nvPr/>
              </p:nvSpPr>
              <p:spPr>
                <a:xfrm>
                  <a:off x="915" y="2865"/>
                  <a:ext cx="3858" cy="2"/>
                </a:xfrm>
                <a:custGeom>
                  <a:avLst/>
                  <a:gdLst>
                    <a:gd name="txL" fmla="*/ 0 w 3858"/>
                    <a:gd name="txT" fmla="*/ 0 h 2"/>
                    <a:gd name="txR" fmla="*/ 3858 w 3858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3858" y="0"/>
                    </a:cxn>
                  </a:cxnLst>
                  <a:rect l="txL" t="txT" r="txR" b="txB"/>
                  <a:pathLst>
                    <a:path w="3858" h="2">
                      <a:moveTo>
                        <a:pt x="0" y="2"/>
                      </a:moveTo>
                      <a:lnTo>
                        <a:pt x="385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75476" name="Group 286"/>
              <p:cNvGrpSpPr/>
              <p:nvPr/>
            </p:nvGrpSpPr>
            <p:grpSpPr>
              <a:xfrm>
                <a:off x="1213" y="2633"/>
                <a:ext cx="192" cy="158"/>
                <a:chOff x="1440" y="2928"/>
                <a:chExt cx="192" cy="158"/>
              </a:xfrm>
            </p:grpSpPr>
            <p:grpSp>
              <p:nvGrpSpPr>
                <p:cNvPr id="275501" name="Group 287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5506" name="Line 288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5507" name="Line 289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5502" name="Freeform 290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5503" name="Group 291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5504" name="Line 292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5505" name="Line 293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75477" name="Group 294"/>
              <p:cNvGrpSpPr/>
              <p:nvPr/>
            </p:nvGrpSpPr>
            <p:grpSpPr>
              <a:xfrm>
                <a:off x="2365" y="2635"/>
                <a:ext cx="192" cy="158"/>
                <a:chOff x="1440" y="2928"/>
                <a:chExt cx="192" cy="158"/>
              </a:xfrm>
            </p:grpSpPr>
            <p:grpSp>
              <p:nvGrpSpPr>
                <p:cNvPr id="275494" name="Group 295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5499" name="Line 296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5500" name="Line 297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5495" name="Freeform 298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5496" name="Group 299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5497" name="Line 300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5498" name="Line 301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75478" name="Group 302"/>
              <p:cNvGrpSpPr/>
              <p:nvPr/>
            </p:nvGrpSpPr>
            <p:grpSpPr>
              <a:xfrm>
                <a:off x="3517" y="2635"/>
                <a:ext cx="192" cy="158"/>
                <a:chOff x="1440" y="2928"/>
                <a:chExt cx="192" cy="158"/>
              </a:xfrm>
            </p:grpSpPr>
            <p:grpSp>
              <p:nvGrpSpPr>
                <p:cNvPr id="275487" name="Group 303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5492" name="Line 304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5493" name="Line 305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5488" name="Freeform 306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5489" name="Group 307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5490" name="Line 308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5491" name="Line 309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75479" name="Group 310"/>
              <p:cNvGrpSpPr/>
              <p:nvPr/>
            </p:nvGrpSpPr>
            <p:grpSpPr>
              <a:xfrm>
                <a:off x="4668" y="2635"/>
                <a:ext cx="192" cy="158"/>
                <a:chOff x="1440" y="2928"/>
                <a:chExt cx="192" cy="158"/>
              </a:xfrm>
            </p:grpSpPr>
            <p:grpSp>
              <p:nvGrpSpPr>
                <p:cNvPr id="275480" name="Group 311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5485" name="Line 312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5486" name="Line 313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5481" name="Freeform 314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5482" name="Group 315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5483" name="Line 316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5484" name="Line 317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75467" name="Rectangle 318"/>
            <p:cNvSpPr/>
            <p:nvPr/>
          </p:nvSpPr>
          <p:spPr>
            <a:xfrm>
              <a:off x="1152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5468" name="Text Box 319"/>
            <p:cNvSpPr txBox="1"/>
            <p:nvPr/>
          </p:nvSpPr>
          <p:spPr>
            <a:xfrm>
              <a:off x="1150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5469" name="Rectangle 320"/>
            <p:cNvSpPr/>
            <p:nvPr/>
          </p:nvSpPr>
          <p:spPr>
            <a:xfrm>
              <a:off x="2293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5470" name="Rectangle 321"/>
            <p:cNvSpPr/>
            <p:nvPr/>
          </p:nvSpPr>
          <p:spPr>
            <a:xfrm>
              <a:off x="4604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5471" name="Rectangle 322"/>
            <p:cNvSpPr/>
            <p:nvPr/>
          </p:nvSpPr>
          <p:spPr>
            <a:xfrm>
              <a:off x="3466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5472" name="Text Box 323"/>
            <p:cNvSpPr txBox="1"/>
            <p:nvPr/>
          </p:nvSpPr>
          <p:spPr>
            <a:xfrm>
              <a:off x="2314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5473" name="Text Box 324"/>
            <p:cNvSpPr txBox="1"/>
            <p:nvPr/>
          </p:nvSpPr>
          <p:spPr>
            <a:xfrm>
              <a:off x="3462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5474" name="Text Box 325"/>
            <p:cNvSpPr txBox="1"/>
            <p:nvPr/>
          </p:nvSpPr>
          <p:spPr>
            <a:xfrm>
              <a:off x="4617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5464" name="AutoShape 32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546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76482" name="Group 2"/>
          <p:cNvGrpSpPr/>
          <p:nvPr/>
        </p:nvGrpSpPr>
        <p:grpSpPr>
          <a:xfrm>
            <a:off x="1746250" y="1069975"/>
            <a:ext cx="8918575" cy="5718176"/>
            <a:chOff x="140" y="674"/>
            <a:chExt cx="5618" cy="3602"/>
          </a:xfrm>
        </p:grpSpPr>
        <p:grpSp>
          <p:nvGrpSpPr>
            <p:cNvPr id="276517" name="Group 3"/>
            <p:cNvGrpSpPr/>
            <p:nvPr/>
          </p:nvGrpSpPr>
          <p:grpSpPr>
            <a:xfrm>
              <a:off x="140" y="674"/>
              <a:ext cx="5618" cy="3602"/>
              <a:chOff x="140" y="674"/>
              <a:chExt cx="5618" cy="3602"/>
            </a:xfrm>
          </p:grpSpPr>
          <p:grpSp>
            <p:nvGrpSpPr>
              <p:cNvPr id="276566" name="Group 4"/>
              <p:cNvGrpSpPr/>
              <p:nvPr/>
            </p:nvGrpSpPr>
            <p:grpSpPr>
              <a:xfrm>
                <a:off x="140" y="674"/>
                <a:ext cx="5618" cy="3602"/>
                <a:chOff x="140" y="674"/>
                <a:chExt cx="5618" cy="3602"/>
              </a:xfrm>
            </p:grpSpPr>
            <p:grpSp>
              <p:nvGrpSpPr>
                <p:cNvPr id="276592" name="Group 5"/>
                <p:cNvGrpSpPr/>
                <p:nvPr/>
              </p:nvGrpSpPr>
              <p:grpSpPr>
                <a:xfrm>
                  <a:off x="140" y="674"/>
                  <a:ext cx="5618" cy="3602"/>
                  <a:chOff x="140" y="674"/>
                  <a:chExt cx="5618" cy="3602"/>
                </a:xfrm>
              </p:grpSpPr>
              <p:grpSp>
                <p:nvGrpSpPr>
                  <p:cNvPr id="276632" name="Group 6"/>
                  <p:cNvGrpSpPr/>
                  <p:nvPr/>
                </p:nvGrpSpPr>
                <p:grpSpPr>
                  <a:xfrm>
                    <a:off x="140" y="791"/>
                    <a:ext cx="5618" cy="3485"/>
                    <a:chOff x="140" y="791"/>
                    <a:chExt cx="5618" cy="3485"/>
                  </a:xfrm>
                </p:grpSpPr>
                <p:sp>
                  <p:nvSpPr>
                    <p:cNvPr id="276644" name="Rectangle 7"/>
                    <p:cNvSpPr/>
                    <p:nvPr/>
                  </p:nvSpPr>
                  <p:spPr>
                    <a:xfrm>
                      <a:off x="332" y="2181"/>
                      <a:ext cx="576" cy="232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anchor="ctr" anchorCtr="0">
                      <a:spAutoFit/>
                    </a:bodyPr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45" name="Rectangle 8"/>
                    <p:cNvSpPr/>
                    <p:nvPr/>
                  </p:nvSpPr>
                  <p:spPr>
                    <a:xfrm>
                      <a:off x="1728" y="1028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46" name="Text Box 9"/>
                    <p:cNvSpPr txBox="1"/>
                    <p:nvPr/>
                  </p:nvSpPr>
                  <p:spPr>
                    <a:xfrm>
                      <a:off x="1408" y="870"/>
                      <a:ext cx="371" cy="36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47" name="Rectangle 10"/>
                    <p:cNvSpPr/>
                    <p:nvPr/>
                  </p:nvSpPr>
                  <p:spPr>
                    <a:xfrm>
                      <a:off x="1152" y="1028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48" name="Rectangle 11"/>
                    <p:cNvSpPr/>
                    <p:nvPr/>
                  </p:nvSpPr>
                  <p:spPr>
                    <a:xfrm>
                      <a:off x="2869" y="1028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49" name="Text Box 12"/>
                    <p:cNvSpPr txBox="1"/>
                    <p:nvPr/>
                  </p:nvSpPr>
                  <p:spPr>
                    <a:xfrm>
                      <a:off x="2549" y="870"/>
                      <a:ext cx="371" cy="36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50" name="Rectangle 13"/>
                    <p:cNvSpPr/>
                    <p:nvPr/>
                  </p:nvSpPr>
                  <p:spPr>
                    <a:xfrm>
                      <a:off x="2293" y="1028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51" name="Rectangle 14"/>
                    <p:cNvSpPr/>
                    <p:nvPr/>
                  </p:nvSpPr>
                  <p:spPr>
                    <a:xfrm>
                      <a:off x="4044" y="1028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47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52" name="Text Box 15"/>
                    <p:cNvSpPr txBox="1"/>
                    <p:nvPr/>
                  </p:nvSpPr>
                  <p:spPr>
                    <a:xfrm>
                      <a:off x="3724" y="870"/>
                      <a:ext cx="371" cy="36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53" name="Rectangle 16"/>
                    <p:cNvSpPr/>
                    <p:nvPr/>
                  </p:nvSpPr>
                  <p:spPr>
                    <a:xfrm>
                      <a:off x="3468" y="1028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54" name="Rectangle 17"/>
                    <p:cNvSpPr/>
                    <p:nvPr/>
                  </p:nvSpPr>
                  <p:spPr>
                    <a:xfrm>
                      <a:off x="5180" y="1028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63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55" name="Text Box 18"/>
                    <p:cNvSpPr txBox="1"/>
                    <p:nvPr/>
                  </p:nvSpPr>
                  <p:spPr>
                    <a:xfrm>
                      <a:off x="4860" y="870"/>
                      <a:ext cx="371" cy="36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56" name="Rectangle 19"/>
                    <p:cNvSpPr/>
                    <p:nvPr/>
                  </p:nvSpPr>
                  <p:spPr>
                    <a:xfrm>
                      <a:off x="4604" y="1028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48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57" name="Rectangle 20"/>
                    <p:cNvSpPr/>
                    <p:nvPr/>
                  </p:nvSpPr>
                  <p:spPr>
                    <a:xfrm>
                      <a:off x="1728" y="2229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58" name="Rectangle 21"/>
                    <p:cNvSpPr/>
                    <p:nvPr/>
                  </p:nvSpPr>
                  <p:spPr>
                    <a:xfrm>
                      <a:off x="1152" y="2229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59" name="Rectangle 22"/>
                    <p:cNvSpPr/>
                    <p:nvPr/>
                  </p:nvSpPr>
                  <p:spPr>
                    <a:xfrm>
                      <a:off x="2869" y="2229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60" name="Rectangle 23"/>
                    <p:cNvSpPr/>
                    <p:nvPr/>
                  </p:nvSpPr>
                  <p:spPr>
                    <a:xfrm>
                      <a:off x="2293" y="2229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61" name="Rectangle 24"/>
                    <p:cNvSpPr/>
                    <p:nvPr/>
                  </p:nvSpPr>
                  <p:spPr>
                    <a:xfrm>
                      <a:off x="4044" y="2229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47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62" name="Rectangle 25"/>
                    <p:cNvSpPr/>
                    <p:nvPr/>
                  </p:nvSpPr>
                  <p:spPr>
                    <a:xfrm>
                      <a:off x="3468" y="2229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63" name="Rectangle 26"/>
                    <p:cNvSpPr/>
                    <p:nvPr/>
                  </p:nvSpPr>
                  <p:spPr>
                    <a:xfrm>
                      <a:off x="5180" y="2229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63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64" name="Rectangle 27"/>
                    <p:cNvSpPr/>
                    <p:nvPr/>
                  </p:nvSpPr>
                  <p:spPr>
                    <a:xfrm>
                      <a:off x="4604" y="2229"/>
                      <a:ext cx="288" cy="246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48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65" name="Line 28"/>
                    <p:cNvSpPr/>
                    <p:nvPr/>
                  </p:nvSpPr>
                  <p:spPr>
                    <a:xfrm rot="5400000">
                      <a:off x="1325" y="2712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66" name="Line 29"/>
                    <p:cNvSpPr/>
                    <p:nvPr/>
                  </p:nvSpPr>
                  <p:spPr>
                    <a:xfrm rot="5400000">
                      <a:off x="1308" y="2710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67" name="Freeform 30"/>
                    <p:cNvSpPr/>
                    <p:nvPr/>
                  </p:nvSpPr>
                  <p:spPr>
                    <a:xfrm>
                      <a:off x="1260" y="2709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68" name="Line 31"/>
                    <p:cNvSpPr/>
                    <p:nvPr/>
                  </p:nvSpPr>
                  <p:spPr>
                    <a:xfrm rot="-5400000">
                      <a:off x="1133" y="2712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69" name="Line 32"/>
                    <p:cNvSpPr/>
                    <p:nvPr/>
                  </p:nvSpPr>
                  <p:spPr>
                    <a:xfrm rot="-5400000">
                      <a:off x="1212" y="2714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70" name="Freeform 33"/>
                    <p:cNvSpPr/>
                    <p:nvPr/>
                  </p:nvSpPr>
                  <p:spPr>
                    <a:xfrm>
                      <a:off x="1434" y="2353"/>
                      <a:ext cx="112" cy="1"/>
                    </a:xfrm>
                    <a:custGeom>
                      <a:avLst/>
                      <a:gdLst>
                        <a:gd name="txL" fmla="*/ 0 w 112"/>
                        <a:gd name="txT" fmla="*/ 0 h 1"/>
                        <a:gd name="txR" fmla="*/ 112 w 112"/>
                        <a:gd name="txB" fmla="*/ 1 h 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12" y="0"/>
                        </a:cxn>
                      </a:cxnLst>
                      <a:rect l="txL" t="txT" r="txR" b="txB"/>
                      <a:pathLst>
                        <a:path w="112" h="1">
                          <a:moveTo>
                            <a:pt x="0" y="0"/>
                          </a:moveTo>
                          <a:lnTo>
                            <a:pt x="112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71" name="Freeform 34"/>
                    <p:cNvSpPr/>
                    <p:nvPr/>
                  </p:nvSpPr>
                  <p:spPr>
                    <a:xfrm>
                      <a:off x="1059" y="1209"/>
                      <a:ext cx="152" cy="1469"/>
                    </a:xfrm>
                    <a:custGeom>
                      <a:avLst/>
                      <a:gdLst>
                        <a:gd name="txL" fmla="*/ 0 w 152"/>
                        <a:gd name="txT" fmla="*/ 0 h 1469"/>
                        <a:gd name="txR" fmla="*/ 152 w 152"/>
                        <a:gd name="txB" fmla="*/ 1469 h 1469"/>
                      </a:gdLst>
                      <a:ahLst/>
                      <a:cxnLst>
                        <a:cxn ang="0">
                          <a:pos x="152" y="1469"/>
                        </a:cxn>
                        <a:cxn ang="0">
                          <a:pos x="0" y="1469"/>
                        </a:cxn>
                        <a:cxn ang="0">
                          <a:pos x="0" y="0"/>
                        </a:cxn>
                        <a:cxn ang="0">
                          <a:pos x="95" y="1"/>
                        </a:cxn>
                      </a:cxnLst>
                      <a:rect l="txL" t="txT" r="txR" b="txB"/>
                      <a:pathLst>
                        <a:path w="152" h="1469">
                          <a:moveTo>
                            <a:pt x="152" y="1469"/>
                          </a:moveTo>
                          <a:lnTo>
                            <a:pt x="0" y="1469"/>
                          </a:lnTo>
                          <a:lnTo>
                            <a:pt x="0" y="0"/>
                          </a:lnTo>
                          <a:lnTo>
                            <a:pt x="95" y="1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72" name="Freeform 35"/>
                    <p:cNvSpPr/>
                    <p:nvPr/>
                  </p:nvSpPr>
                  <p:spPr>
                    <a:xfrm>
                      <a:off x="1055" y="2353"/>
                      <a:ext cx="102" cy="1"/>
                    </a:xfrm>
                    <a:custGeom>
                      <a:avLst/>
                      <a:gdLst>
                        <a:gd name="txL" fmla="*/ 0 w 102"/>
                        <a:gd name="txT" fmla="*/ 0 h 1"/>
                        <a:gd name="txR" fmla="*/ 102 w 102"/>
                        <a:gd name="txB" fmla="*/ 1 h 1"/>
                      </a:gdLst>
                      <a:ahLst/>
                      <a:cxnLst>
                        <a:cxn ang="0">
                          <a:pos x="102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02" h="1">
                          <a:moveTo>
                            <a:pt x="102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73" name="Line 36"/>
                    <p:cNvSpPr/>
                    <p:nvPr/>
                  </p:nvSpPr>
                  <p:spPr>
                    <a:xfrm rot="5400000">
                      <a:off x="1896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74" name="Line 37"/>
                    <p:cNvSpPr/>
                    <p:nvPr/>
                  </p:nvSpPr>
                  <p:spPr>
                    <a:xfrm rot="5400000">
                      <a:off x="1879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75" name="Freeform 38"/>
                    <p:cNvSpPr/>
                    <p:nvPr/>
                  </p:nvSpPr>
                  <p:spPr>
                    <a:xfrm>
                      <a:off x="1831" y="2710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76" name="Line 39"/>
                    <p:cNvSpPr/>
                    <p:nvPr/>
                  </p:nvSpPr>
                  <p:spPr>
                    <a:xfrm rot="-5400000">
                      <a:off x="1704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77" name="Line 40"/>
                    <p:cNvSpPr/>
                    <p:nvPr/>
                  </p:nvSpPr>
                  <p:spPr>
                    <a:xfrm rot="-5400000">
                      <a:off x="1783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78" name="Freeform 41"/>
                    <p:cNvSpPr/>
                    <p:nvPr/>
                  </p:nvSpPr>
                  <p:spPr>
                    <a:xfrm>
                      <a:off x="2005" y="2353"/>
                      <a:ext cx="103" cy="1"/>
                    </a:xfrm>
                    <a:custGeom>
                      <a:avLst/>
                      <a:gdLst>
                        <a:gd name="txL" fmla="*/ 0 w 103"/>
                        <a:gd name="txT" fmla="*/ 0 h 1"/>
                        <a:gd name="txR" fmla="*/ 103 w 103"/>
                        <a:gd name="txB" fmla="*/ 1 h 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03" y="0"/>
                        </a:cxn>
                      </a:cxnLst>
                      <a:rect l="txL" t="txT" r="txR" b="txB"/>
                      <a:pathLst>
                        <a:path w="103" h="1">
                          <a:moveTo>
                            <a:pt x="0" y="0"/>
                          </a:moveTo>
                          <a:lnTo>
                            <a:pt x="103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79" name="Freeform 42"/>
                    <p:cNvSpPr/>
                    <p:nvPr/>
                  </p:nvSpPr>
                  <p:spPr>
                    <a:xfrm>
                      <a:off x="1611" y="2352"/>
                      <a:ext cx="113" cy="1"/>
                    </a:xfrm>
                    <a:custGeom>
                      <a:avLst/>
                      <a:gdLst>
                        <a:gd name="txL" fmla="*/ 0 w 113"/>
                        <a:gd name="txT" fmla="*/ 0 h 1"/>
                        <a:gd name="txR" fmla="*/ 113 w 113"/>
                        <a:gd name="txB" fmla="*/ 1 h 1"/>
                      </a:gdLst>
                      <a:ahLst/>
                      <a:cxnLst>
                        <a:cxn ang="0">
                          <a:pos x="113" y="1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13" h="1">
                          <a:moveTo>
                            <a:pt x="113" y="1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80" name="Line 43"/>
                    <p:cNvSpPr/>
                    <p:nvPr/>
                  </p:nvSpPr>
                  <p:spPr>
                    <a:xfrm rot="5400000">
                      <a:off x="2477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81" name="Line 44"/>
                    <p:cNvSpPr/>
                    <p:nvPr/>
                  </p:nvSpPr>
                  <p:spPr>
                    <a:xfrm rot="5400000">
                      <a:off x="2460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82" name="Freeform 45"/>
                    <p:cNvSpPr/>
                    <p:nvPr/>
                  </p:nvSpPr>
                  <p:spPr>
                    <a:xfrm>
                      <a:off x="2412" y="2710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83" name="Line 46"/>
                    <p:cNvSpPr/>
                    <p:nvPr/>
                  </p:nvSpPr>
                  <p:spPr>
                    <a:xfrm rot="-5400000">
                      <a:off x="2285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84" name="Line 47"/>
                    <p:cNvSpPr/>
                    <p:nvPr/>
                  </p:nvSpPr>
                  <p:spPr>
                    <a:xfrm rot="-5400000">
                      <a:off x="2364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85" name="Freeform 48"/>
                    <p:cNvSpPr/>
                    <p:nvPr/>
                  </p:nvSpPr>
                  <p:spPr>
                    <a:xfrm>
                      <a:off x="2586" y="2353"/>
                      <a:ext cx="109" cy="1"/>
                    </a:xfrm>
                    <a:custGeom>
                      <a:avLst/>
                      <a:gdLst>
                        <a:gd name="txL" fmla="*/ 0 w 109"/>
                        <a:gd name="txT" fmla="*/ 0 h 1"/>
                        <a:gd name="txR" fmla="*/ 109 w 109"/>
                        <a:gd name="txB" fmla="*/ 1 h 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09" y="0"/>
                        </a:cxn>
                      </a:cxnLst>
                      <a:rect l="txL" t="txT" r="txR" b="txB"/>
                      <a:pathLst>
                        <a:path w="109" h="1">
                          <a:moveTo>
                            <a:pt x="0" y="0"/>
                          </a:moveTo>
                          <a:lnTo>
                            <a:pt x="109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86" name="Freeform 49"/>
                    <p:cNvSpPr/>
                    <p:nvPr/>
                  </p:nvSpPr>
                  <p:spPr>
                    <a:xfrm>
                      <a:off x="2207" y="2353"/>
                      <a:ext cx="89" cy="1"/>
                    </a:xfrm>
                    <a:custGeom>
                      <a:avLst/>
                      <a:gdLst>
                        <a:gd name="txL" fmla="*/ 0 w 89"/>
                        <a:gd name="txT" fmla="*/ 0 h 1"/>
                        <a:gd name="txR" fmla="*/ 89 w 89"/>
                        <a:gd name="txB" fmla="*/ 1 h 1"/>
                      </a:gdLst>
                      <a:ahLst/>
                      <a:cxnLst>
                        <a:cxn ang="0">
                          <a:pos x="89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89" h="1">
                          <a:moveTo>
                            <a:pt x="89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87" name="Line 50"/>
                    <p:cNvSpPr/>
                    <p:nvPr/>
                  </p:nvSpPr>
                  <p:spPr>
                    <a:xfrm rot="5400000">
                      <a:off x="3053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88" name="Line 51"/>
                    <p:cNvSpPr/>
                    <p:nvPr/>
                  </p:nvSpPr>
                  <p:spPr>
                    <a:xfrm rot="5400000">
                      <a:off x="3036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89" name="Freeform 52"/>
                    <p:cNvSpPr/>
                    <p:nvPr/>
                  </p:nvSpPr>
                  <p:spPr>
                    <a:xfrm>
                      <a:off x="2988" y="2710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90" name="Line 53"/>
                    <p:cNvSpPr/>
                    <p:nvPr/>
                  </p:nvSpPr>
                  <p:spPr>
                    <a:xfrm rot="-5400000">
                      <a:off x="2861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91" name="Line 54"/>
                    <p:cNvSpPr/>
                    <p:nvPr/>
                  </p:nvSpPr>
                  <p:spPr>
                    <a:xfrm rot="-5400000">
                      <a:off x="2940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92" name="Freeform 55"/>
                    <p:cNvSpPr/>
                    <p:nvPr/>
                  </p:nvSpPr>
                  <p:spPr>
                    <a:xfrm>
                      <a:off x="3162" y="2353"/>
                      <a:ext cx="115" cy="1"/>
                    </a:xfrm>
                    <a:custGeom>
                      <a:avLst/>
                      <a:gdLst>
                        <a:gd name="txL" fmla="*/ 0 w 115"/>
                        <a:gd name="txT" fmla="*/ 0 h 1"/>
                        <a:gd name="txR" fmla="*/ 115 w 115"/>
                        <a:gd name="txB" fmla="*/ 1 h 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15" y="0"/>
                        </a:cxn>
                      </a:cxnLst>
                      <a:rect l="txL" t="txT" r="txR" b="txB"/>
                      <a:pathLst>
                        <a:path w="115" h="1">
                          <a:moveTo>
                            <a:pt x="0" y="0"/>
                          </a:moveTo>
                          <a:lnTo>
                            <a:pt x="115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93" name="Freeform 56"/>
                    <p:cNvSpPr/>
                    <p:nvPr/>
                  </p:nvSpPr>
                  <p:spPr>
                    <a:xfrm>
                      <a:off x="2783" y="2353"/>
                      <a:ext cx="90" cy="1"/>
                    </a:xfrm>
                    <a:custGeom>
                      <a:avLst/>
                      <a:gdLst>
                        <a:gd name="txL" fmla="*/ 0 w 90"/>
                        <a:gd name="txT" fmla="*/ 0 h 1"/>
                        <a:gd name="txR" fmla="*/ 90 w 90"/>
                        <a:gd name="txB" fmla="*/ 1 h 1"/>
                      </a:gdLst>
                      <a:ahLst/>
                      <a:cxnLst>
                        <a:cxn ang="0">
                          <a:pos x="90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90" h="1">
                          <a:moveTo>
                            <a:pt x="90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94" name="Line 57"/>
                    <p:cNvSpPr/>
                    <p:nvPr/>
                  </p:nvSpPr>
                  <p:spPr>
                    <a:xfrm rot="5400000">
                      <a:off x="3629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95" name="Line 58"/>
                    <p:cNvSpPr/>
                    <p:nvPr/>
                  </p:nvSpPr>
                  <p:spPr>
                    <a:xfrm rot="5400000">
                      <a:off x="3612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96" name="Freeform 59"/>
                    <p:cNvSpPr/>
                    <p:nvPr/>
                  </p:nvSpPr>
                  <p:spPr>
                    <a:xfrm>
                      <a:off x="3564" y="2710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97" name="Line 60"/>
                    <p:cNvSpPr/>
                    <p:nvPr/>
                  </p:nvSpPr>
                  <p:spPr>
                    <a:xfrm rot="-5400000">
                      <a:off x="3437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98" name="Line 61"/>
                    <p:cNvSpPr/>
                    <p:nvPr/>
                  </p:nvSpPr>
                  <p:spPr>
                    <a:xfrm rot="-5400000">
                      <a:off x="3516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699" name="Freeform 62"/>
                    <p:cNvSpPr/>
                    <p:nvPr/>
                  </p:nvSpPr>
                  <p:spPr>
                    <a:xfrm>
                      <a:off x="3751" y="2352"/>
                      <a:ext cx="100" cy="1"/>
                    </a:xfrm>
                    <a:custGeom>
                      <a:avLst/>
                      <a:gdLst>
                        <a:gd name="txL" fmla="*/ 0 w 100"/>
                        <a:gd name="txT" fmla="*/ 0 h 1"/>
                        <a:gd name="txR" fmla="*/ 100 w 100"/>
                        <a:gd name="txB" fmla="*/ 1 h 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00" y="1"/>
                        </a:cxn>
                      </a:cxnLst>
                      <a:rect l="txL" t="txT" r="txR" b="txB"/>
                      <a:pathLst>
                        <a:path w="100" h="1">
                          <a:moveTo>
                            <a:pt x="0" y="0"/>
                          </a:moveTo>
                          <a:lnTo>
                            <a:pt x="100" y="1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00" name="Freeform 63"/>
                    <p:cNvSpPr/>
                    <p:nvPr/>
                  </p:nvSpPr>
                  <p:spPr>
                    <a:xfrm>
                      <a:off x="3359" y="2353"/>
                      <a:ext cx="108" cy="1"/>
                    </a:xfrm>
                    <a:custGeom>
                      <a:avLst/>
                      <a:gdLst>
                        <a:gd name="txL" fmla="*/ 0 w 108"/>
                        <a:gd name="txT" fmla="*/ 0 h 1"/>
                        <a:gd name="txR" fmla="*/ 108 w 108"/>
                        <a:gd name="txB" fmla="*/ 1 h 1"/>
                      </a:gdLst>
                      <a:ahLst/>
                      <a:cxnLst>
                        <a:cxn ang="0">
                          <a:pos x="108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08" h="1">
                          <a:moveTo>
                            <a:pt x="108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01" name="Line 64"/>
                    <p:cNvSpPr/>
                    <p:nvPr/>
                  </p:nvSpPr>
                  <p:spPr>
                    <a:xfrm rot="5400000">
                      <a:off x="4205" y="2698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702" name="Line 65"/>
                    <p:cNvSpPr/>
                    <p:nvPr/>
                  </p:nvSpPr>
                  <p:spPr>
                    <a:xfrm rot="5400000">
                      <a:off x="4188" y="2696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703" name="Freeform 66"/>
                    <p:cNvSpPr/>
                    <p:nvPr/>
                  </p:nvSpPr>
                  <p:spPr>
                    <a:xfrm>
                      <a:off x="4140" y="2695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04" name="Line 67"/>
                    <p:cNvSpPr/>
                    <p:nvPr/>
                  </p:nvSpPr>
                  <p:spPr>
                    <a:xfrm rot="-5400000">
                      <a:off x="4013" y="2698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705" name="Line 68"/>
                    <p:cNvSpPr/>
                    <p:nvPr/>
                  </p:nvSpPr>
                  <p:spPr>
                    <a:xfrm rot="-5400000">
                      <a:off x="4092" y="2700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706" name="Freeform 69"/>
                    <p:cNvSpPr/>
                    <p:nvPr/>
                  </p:nvSpPr>
                  <p:spPr>
                    <a:xfrm>
                      <a:off x="4336" y="2351"/>
                      <a:ext cx="90" cy="2"/>
                    </a:xfrm>
                    <a:custGeom>
                      <a:avLst/>
                      <a:gdLst>
                        <a:gd name="txL" fmla="*/ 0 w 90"/>
                        <a:gd name="txT" fmla="*/ 0 h 2"/>
                        <a:gd name="txR" fmla="*/ 90 w 90"/>
                        <a:gd name="txB" fmla="*/ 2 h 2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90" y="2"/>
                        </a:cxn>
                      </a:cxnLst>
                      <a:rect l="txL" t="txT" r="txR" b="txB"/>
                      <a:pathLst>
                        <a:path w="90" h="2">
                          <a:moveTo>
                            <a:pt x="0" y="0"/>
                          </a:moveTo>
                          <a:lnTo>
                            <a:pt x="90" y="2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07" name="Freeform 70"/>
                    <p:cNvSpPr/>
                    <p:nvPr/>
                  </p:nvSpPr>
                  <p:spPr>
                    <a:xfrm>
                      <a:off x="3935" y="2353"/>
                      <a:ext cx="104" cy="1"/>
                    </a:xfrm>
                    <a:custGeom>
                      <a:avLst/>
                      <a:gdLst>
                        <a:gd name="txL" fmla="*/ 0 w 104"/>
                        <a:gd name="txT" fmla="*/ 0 h 1"/>
                        <a:gd name="txR" fmla="*/ 104 w 104"/>
                        <a:gd name="txB" fmla="*/ 1 h 1"/>
                      </a:gdLst>
                      <a:ahLst/>
                      <a:cxnLst>
                        <a:cxn ang="0">
                          <a:pos x="104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04" h="1">
                          <a:moveTo>
                            <a:pt x="104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76708" name="Group 71"/>
                    <p:cNvGrpSpPr/>
                    <p:nvPr/>
                  </p:nvGrpSpPr>
                  <p:grpSpPr>
                    <a:xfrm>
                      <a:off x="4668" y="2634"/>
                      <a:ext cx="192" cy="158"/>
                      <a:chOff x="4692" y="2634"/>
                      <a:chExt cx="192" cy="158"/>
                    </a:xfrm>
                  </p:grpSpPr>
                  <p:grpSp>
                    <p:nvGrpSpPr>
                      <p:cNvPr id="276855" name="Group 72"/>
                      <p:cNvGrpSpPr/>
                      <p:nvPr/>
                    </p:nvGrpSpPr>
                    <p:grpSpPr>
                      <a:xfrm>
                        <a:off x="4836" y="2634"/>
                        <a:ext cx="48" cy="158"/>
                        <a:chOff x="4836" y="2634"/>
                        <a:chExt cx="48" cy="158"/>
                      </a:xfrm>
                    </p:grpSpPr>
                    <p:sp>
                      <p:nvSpPr>
                        <p:cNvPr id="276860" name="Line 73"/>
                        <p:cNvSpPr/>
                        <p:nvPr/>
                      </p:nvSpPr>
                      <p:spPr>
                        <a:xfrm rot="5400000">
                          <a:off x="4805" y="2713"/>
                          <a:ext cx="158" cy="0"/>
                        </a:xfrm>
                        <a:prstGeom prst="line">
                          <a:avLst/>
                        </a:prstGeom>
                        <a:ln w="38100" cap="flat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76861" name="Line 74"/>
                        <p:cNvSpPr/>
                        <p:nvPr/>
                      </p:nvSpPr>
                      <p:spPr>
                        <a:xfrm rot="5400000">
                          <a:off x="4788" y="2711"/>
                          <a:ext cx="96" cy="0"/>
                        </a:xfrm>
                        <a:prstGeom prst="line">
                          <a:avLst/>
                        </a:prstGeom>
                        <a:ln w="38100" cap="flat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  <p:sp>
                    <p:nvSpPr>
                      <p:cNvPr id="276856" name="Freeform 75"/>
                      <p:cNvSpPr/>
                      <p:nvPr/>
                    </p:nvSpPr>
                    <p:spPr>
                      <a:xfrm>
                        <a:off x="4740" y="2710"/>
                        <a:ext cx="96" cy="2"/>
                      </a:xfrm>
                      <a:custGeom>
                        <a:avLst/>
                        <a:gdLst>
                          <a:gd name="txL" fmla="*/ 0 w 96"/>
                          <a:gd name="txT" fmla="*/ 0 h 2"/>
                          <a:gd name="txR" fmla="*/ 96 w 96"/>
                          <a:gd name="txB" fmla="*/ 2 h 2"/>
                        </a:gdLst>
                        <a:ahLst/>
                        <a:cxnLst>
                          <a:cxn ang="0">
                            <a:pos x="0" y="2"/>
                          </a:cxn>
                          <a:cxn ang="0">
                            <a:pos x="96" y="0"/>
                          </a:cxn>
                        </a:cxnLst>
                        <a:rect l="txL" t="txT" r="txR" b="txB"/>
                        <a:pathLst>
                          <a:path w="96" h="2">
                            <a:moveTo>
                              <a:pt x="0" y="2"/>
                            </a:moveTo>
                            <a:lnTo>
                              <a:pt x="96" y="0"/>
                            </a:ln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 dirty="0">
                          <a:latin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276857" name="Group 76"/>
                      <p:cNvGrpSpPr/>
                      <p:nvPr/>
                    </p:nvGrpSpPr>
                    <p:grpSpPr>
                      <a:xfrm>
                        <a:off x="4692" y="2634"/>
                        <a:ext cx="48" cy="158"/>
                        <a:chOff x="4692" y="2634"/>
                        <a:chExt cx="48" cy="158"/>
                      </a:xfrm>
                    </p:grpSpPr>
                    <p:sp>
                      <p:nvSpPr>
                        <p:cNvPr id="276858" name="Line 77"/>
                        <p:cNvSpPr/>
                        <p:nvPr/>
                      </p:nvSpPr>
                      <p:spPr>
                        <a:xfrm rot="-5400000">
                          <a:off x="4613" y="2713"/>
                          <a:ext cx="158" cy="0"/>
                        </a:xfrm>
                        <a:prstGeom prst="line">
                          <a:avLst/>
                        </a:prstGeom>
                        <a:ln w="38100" cap="flat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76859" name="Line 78"/>
                        <p:cNvSpPr/>
                        <p:nvPr/>
                      </p:nvSpPr>
                      <p:spPr>
                        <a:xfrm rot="-5400000">
                          <a:off x="4692" y="2715"/>
                          <a:ext cx="96" cy="0"/>
                        </a:xfrm>
                        <a:prstGeom prst="line">
                          <a:avLst/>
                        </a:prstGeom>
                        <a:ln w="38100" cap="flat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</p:grpSp>
                <p:sp>
                  <p:nvSpPr>
                    <p:cNvPr id="276709" name="Freeform 79"/>
                    <p:cNvSpPr/>
                    <p:nvPr/>
                  </p:nvSpPr>
                  <p:spPr>
                    <a:xfrm>
                      <a:off x="4890" y="2353"/>
                      <a:ext cx="107" cy="1"/>
                    </a:xfrm>
                    <a:custGeom>
                      <a:avLst/>
                      <a:gdLst>
                        <a:gd name="txL" fmla="*/ 0 w 107"/>
                        <a:gd name="txT" fmla="*/ 0 h 1"/>
                        <a:gd name="txR" fmla="*/ 107 w 107"/>
                        <a:gd name="txB" fmla="*/ 1 h 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07" y="0"/>
                        </a:cxn>
                      </a:cxnLst>
                      <a:rect l="txL" t="txT" r="txR" b="txB"/>
                      <a:pathLst>
                        <a:path w="107" h="1">
                          <a:moveTo>
                            <a:pt x="0" y="0"/>
                          </a:moveTo>
                          <a:lnTo>
                            <a:pt x="107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10" name="Freeform 80"/>
                    <p:cNvSpPr/>
                    <p:nvPr/>
                  </p:nvSpPr>
                  <p:spPr>
                    <a:xfrm>
                      <a:off x="4511" y="2353"/>
                      <a:ext cx="96" cy="1"/>
                    </a:xfrm>
                    <a:custGeom>
                      <a:avLst/>
                      <a:gdLst>
                        <a:gd name="txL" fmla="*/ 0 w 96"/>
                        <a:gd name="txT" fmla="*/ 0 h 1"/>
                        <a:gd name="txR" fmla="*/ 96 w 96"/>
                        <a:gd name="txB" fmla="*/ 1 h 1"/>
                      </a:gdLst>
                      <a:ahLst/>
                      <a:cxnLst>
                        <a:cxn ang="0">
                          <a:pos x="96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96" h="1">
                          <a:moveTo>
                            <a:pt x="96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76711" name="Group 81"/>
                    <p:cNvGrpSpPr/>
                    <p:nvPr/>
                  </p:nvGrpSpPr>
                  <p:grpSpPr>
                    <a:xfrm>
                      <a:off x="5235" y="2634"/>
                      <a:ext cx="192" cy="158"/>
                      <a:chOff x="5259" y="2634"/>
                      <a:chExt cx="192" cy="158"/>
                    </a:xfrm>
                  </p:grpSpPr>
                  <p:grpSp>
                    <p:nvGrpSpPr>
                      <p:cNvPr id="276848" name="Group 82"/>
                      <p:cNvGrpSpPr/>
                      <p:nvPr/>
                    </p:nvGrpSpPr>
                    <p:grpSpPr>
                      <a:xfrm>
                        <a:off x="5403" y="2634"/>
                        <a:ext cx="48" cy="158"/>
                        <a:chOff x="5403" y="2634"/>
                        <a:chExt cx="48" cy="158"/>
                      </a:xfrm>
                    </p:grpSpPr>
                    <p:sp>
                      <p:nvSpPr>
                        <p:cNvPr id="276853" name="Line 83"/>
                        <p:cNvSpPr/>
                        <p:nvPr/>
                      </p:nvSpPr>
                      <p:spPr>
                        <a:xfrm rot="5400000">
                          <a:off x="5372" y="2713"/>
                          <a:ext cx="158" cy="0"/>
                        </a:xfrm>
                        <a:prstGeom prst="line">
                          <a:avLst/>
                        </a:prstGeom>
                        <a:ln w="38100" cap="flat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76854" name="Line 84"/>
                        <p:cNvSpPr/>
                        <p:nvPr/>
                      </p:nvSpPr>
                      <p:spPr>
                        <a:xfrm rot="5400000">
                          <a:off x="5355" y="2711"/>
                          <a:ext cx="96" cy="0"/>
                        </a:xfrm>
                        <a:prstGeom prst="line">
                          <a:avLst/>
                        </a:prstGeom>
                        <a:ln w="38100" cap="flat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  <p:sp>
                    <p:nvSpPr>
                      <p:cNvPr id="276849" name="Freeform 85"/>
                      <p:cNvSpPr/>
                      <p:nvPr/>
                    </p:nvSpPr>
                    <p:spPr>
                      <a:xfrm>
                        <a:off x="5307" y="2710"/>
                        <a:ext cx="96" cy="2"/>
                      </a:xfrm>
                      <a:custGeom>
                        <a:avLst/>
                        <a:gdLst>
                          <a:gd name="txL" fmla="*/ 0 w 96"/>
                          <a:gd name="txT" fmla="*/ 0 h 2"/>
                          <a:gd name="txR" fmla="*/ 96 w 96"/>
                          <a:gd name="txB" fmla="*/ 2 h 2"/>
                        </a:gdLst>
                        <a:ahLst/>
                        <a:cxnLst>
                          <a:cxn ang="0">
                            <a:pos x="0" y="2"/>
                          </a:cxn>
                          <a:cxn ang="0">
                            <a:pos x="96" y="0"/>
                          </a:cxn>
                        </a:cxnLst>
                        <a:rect l="txL" t="txT" r="txR" b="txB"/>
                        <a:pathLst>
                          <a:path w="96" h="2">
                            <a:moveTo>
                              <a:pt x="0" y="2"/>
                            </a:moveTo>
                            <a:lnTo>
                              <a:pt x="96" y="0"/>
                            </a:ln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 dirty="0">
                          <a:latin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276850" name="Group 86"/>
                      <p:cNvGrpSpPr/>
                      <p:nvPr/>
                    </p:nvGrpSpPr>
                    <p:grpSpPr>
                      <a:xfrm>
                        <a:off x="5259" y="2634"/>
                        <a:ext cx="48" cy="158"/>
                        <a:chOff x="5259" y="2634"/>
                        <a:chExt cx="48" cy="158"/>
                      </a:xfrm>
                    </p:grpSpPr>
                    <p:sp>
                      <p:nvSpPr>
                        <p:cNvPr id="276851" name="Line 87"/>
                        <p:cNvSpPr/>
                        <p:nvPr/>
                      </p:nvSpPr>
                      <p:spPr>
                        <a:xfrm rot="-5400000">
                          <a:off x="5180" y="2713"/>
                          <a:ext cx="158" cy="0"/>
                        </a:xfrm>
                        <a:prstGeom prst="line">
                          <a:avLst/>
                        </a:prstGeom>
                        <a:ln w="38100" cap="flat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76852" name="Line 88"/>
                        <p:cNvSpPr/>
                        <p:nvPr/>
                      </p:nvSpPr>
                      <p:spPr>
                        <a:xfrm rot="-5400000">
                          <a:off x="5259" y="2715"/>
                          <a:ext cx="96" cy="0"/>
                        </a:xfrm>
                        <a:prstGeom prst="line">
                          <a:avLst/>
                        </a:prstGeom>
                        <a:ln w="38100" cap="flat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</p:grpSp>
                <p:sp>
                  <p:nvSpPr>
                    <p:cNvPr id="276712" name="Freeform 89"/>
                    <p:cNvSpPr/>
                    <p:nvPr/>
                  </p:nvSpPr>
                  <p:spPr>
                    <a:xfrm>
                      <a:off x="5467" y="2351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96" y="2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0"/>
                          </a:moveTo>
                          <a:lnTo>
                            <a:pt x="96" y="2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13" name="Freeform 90"/>
                    <p:cNvSpPr/>
                    <p:nvPr/>
                  </p:nvSpPr>
                  <p:spPr>
                    <a:xfrm>
                      <a:off x="5078" y="2353"/>
                      <a:ext cx="101" cy="1"/>
                    </a:xfrm>
                    <a:custGeom>
                      <a:avLst/>
                      <a:gdLst>
                        <a:gd name="txL" fmla="*/ 0 w 101"/>
                        <a:gd name="txT" fmla="*/ 0 h 1"/>
                        <a:gd name="txR" fmla="*/ 101 w 101"/>
                        <a:gd name="txB" fmla="*/ 1 h 1"/>
                      </a:gdLst>
                      <a:ahLst/>
                      <a:cxnLst>
                        <a:cxn ang="0">
                          <a:pos x="101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101" h="1">
                          <a:moveTo>
                            <a:pt x="101" y="0"/>
                          </a:move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14" name="Freeform 91"/>
                    <p:cNvSpPr/>
                    <p:nvPr/>
                  </p:nvSpPr>
                  <p:spPr>
                    <a:xfrm>
                      <a:off x="908" y="856"/>
                      <a:ext cx="4419" cy="1"/>
                    </a:xfrm>
                    <a:custGeom>
                      <a:avLst/>
                      <a:gdLst>
                        <a:gd name="txL" fmla="*/ 0 w 4419"/>
                        <a:gd name="txT" fmla="*/ 0 h 1"/>
                        <a:gd name="txR" fmla="*/ 4419 w 4419"/>
                        <a:gd name="txB" fmla="*/ 1 h 1"/>
                      </a:gdLst>
                      <a:ahLst/>
                      <a:cxnLst>
                        <a:cxn ang="0">
                          <a:pos x="0" y="1"/>
                        </a:cxn>
                        <a:cxn ang="0">
                          <a:pos x="4419" y="0"/>
                        </a:cxn>
                      </a:cxnLst>
                      <a:rect l="txL" t="txT" r="txR" b="txB"/>
                      <a:pathLst>
                        <a:path w="4419" h="1">
                          <a:moveTo>
                            <a:pt x="0" y="1"/>
                          </a:moveTo>
                          <a:lnTo>
                            <a:pt x="4419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15" name="Line 92"/>
                    <p:cNvSpPr/>
                    <p:nvPr/>
                  </p:nvSpPr>
                  <p:spPr>
                    <a:xfrm>
                      <a:off x="1292" y="8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16" name="Line 93"/>
                    <p:cNvSpPr/>
                    <p:nvPr/>
                  </p:nvSpPr>
                  <p:spPr>
                    <a:xfrm>
                      <a:off x="1868" y="8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17" name="Line 94"/>
                    <p:cNvSpPr/>
                    <p:nvPr/>
                  </p:nvSpPr>
                  <p:spPr>
                    <a:xfrm>
                      <a:off x="2444" y="8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18" name="Line 95"/>
                    <p:cNvSpPr/>
                    <p:nvPr/>
                  </p:nvSpPr>
                  <p:spPr>
                    <a:xfrm>
                      <a:off x="3020" y="8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19" name="Line 96"/>
                    <p:cNvSpPr/>
                    <p:nvPr/>
                  </p:nvSpPr>
                  <p:spPr>
                    <a:xfrm>
                      <a:off x="3596" y="8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20" name="Line 97"/>
                    <p:cNvSpPr/>
                    <p:nvPr/>
                  </p:nvSpPr>
                  <p:spPr>
                    <a:xfrm>
                      <a:off x="4172" y="8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21" name="Line 98"/>
                    <p:cNvSpPr/>
                    <p:nvPr/>
                  </p:nvSpPr>
                  <p:spPr>
                    <a:xfrm>
                      <a:off x="4748" y="8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22" name="Line 99"/>
                    <p:cNvSpPr/>
                    <p:nvPr/>
                  </p:nvSpPr>
                  <p:spPr>
                    <a:xfrm>
                      <a:off x="5324" y="8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med" len="med"/>
                    </a:ln>
                  </p:spPr>
                </p:sp>
                <p:sp>
                  <p:nvSpPr>
                    <p:cNvPr id="276723" name="Freeform 100"/>
                    <p:cNvSpPr/>
                    <p:nvPr/>
                  </p:nvSpPr>
                  <p:spPr>
                    <a:xfrm>
                      <a:off x="1305" y="2708"/>
                      <a:ext cx="1" cy="166"/>
                    </a:xfrm>
                    <a:custGeom>
                      <a:avLst/>
                      <a:gdLst>
                        <a:gd name="txL" fmla="*/ 0 w 1"/>
                        <a:gd name="txT" fmla="*/ 0 h 166"/>
                        <a:gd name="txR" fmla="*/ 1 w 1"/>
                        <a:gd name="txB" fmla="*/ 166 h 166"/>
                      </a:gdLst>
                      <a:ahLst/>
                      <a:cxnLst>
                        <a:cxn ang="0">
                          <a:pos x="1" y="0"/>
                        </a:cxn>
                        <a:cxn ang="0">
                          <a:pos x="0" y="166"/>
                        </a:cxn>
                      </a:cxnLst>
                      <a:rect l="txL" t="txT" r="txR" b="txB"/>
                      <a:pathLst>
                        <a:path w="1" h="166">
                          <a:moveTo>
                            <a:pt x="1" y="0"/>
                          </a:moveTo>
                          <a:lnTo>
                            <a:pt x="0" y="1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24" name="Freeform 101"/>
                    <p:cNvSpPr/>
                    <p:nvPr/>
                  </p:nvSpPr>
                  <p:spPr>
                    <a:xfrm>
                      <a:off x="1880" y="2708"/>
                      <a:ext cx="47" cy="501"/>
                    </a:xfrm>
                    <a:custGeom>
                      <a:avLst/>
                      <a:gdLst>
                        <a:gd name="txL" fmla="*/ 0 w 1"/>
                        <a:gd name="txT" fmla="*/ 0 h 406"/>
                        <a:gd name="txR" fmla="*/ 1 w 1"/>
                        <a:gd name="txB" fmla="*/ 406 h 40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406"/>
                        </a:cxn>
                      </a:cxnLst>
                      <a:rect l="txL" t="txT" r="txR" b="txB"/>
                      <a:pathLst>
                        <a:path w="1" h="406">
                          <a:moveTo>
                            <a:pt x="0" y="0"/>
                          </a:moveTo>
                          <a:lnTo>
                            <a:pt x="0" y="40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25" name="Freeform 102"/>
                    <p:cNvSpPr/>
                    <p:nvPr/>
                  </p:nvSpPr>
                  <p:spPr>
                    <a:xfrm>
                      <a:off x="2454" y="2708"/>
                      <a:ext cx="4" cy="166"/>
                    </a:xfrm>
                    <a:custGeom>
                      <a:avLst/>
                      <a:gdLst>
                        <a:gd name="txL" fmla="*/ 0 w 4"/>
                        <a:gd name="txT" fmla="*/ 0 h 166"/>
                        <a:gd name="txR" fmla="*/ 4 w 4"/>
                        <a:gd name="txB" fmla="*/ 166 h 166"/>
                      </a:gdLst>
                      <a:ahLst/>
                      <a:cxnLst>
                        <a:cxn ang="0">
                          <a:pos x="4" y="0"/>
                        </a:cxn>
                        <a:cxn ang="0">
                          <a:pos x="0" y="166"/>
                        </a:cxn>
                      </a:cxnLst>
                      <a:rect l="txL" t="txT" r="txR" b="txB"/>
                      <a:pathLst>
                        <a:path w="4" h="166">
                          <a:moveTo>
                            <a:pt x="4" y="0"/>
                          </a:moveTo>
                          <a:lnTo>
                            <a:pt x="0" y="1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26" name="Freeform 103"/>
                    <p:cNvSpPr/>
                    <p:nvPr/>
                  </p:nvSpPr>
                  <p:spPr>
                    <a:xfrm>
                      <a:off x="3606" y="2708"/>
                      <a:ext cx="2" cy="175"/>
                    </a:xfrm>
                    <a:custGeom>
                      <a:avLst/>
                      <a:gdLst>
                        <a:gd name="txL" fmla="*/ 0 w 2"/>
                        <a:gd name="txT" fmla="*/ 0 h 175"/>
                        <a:gd name="txR" fmla="*/ 2 w 2"/>
                        <a:gd name="txB" fmla="*/ 175 h 175"/>
                      </a:gdLst>
                      <a:ahLst/>
                      <a:cxnLst>
                        <a:cxn ang="0">
                          <a:pos x="2" y="0"/>
                        </a:cxn>
                        <a:cxn ang="0">
                          <a:pos x="0" y="175"/>
                        </a:cxn>
                      </a:cxnLst>
                      <a:rect l="txL" t="txT" r="txR" b="txB"/>
                      <a:pathLst>
                        <a:path w="2" h="175">
                          <a:moveTo>
                            <a:pt x="2" y="0"/>
                          </a:moveTo>
                          <a:lnTo>
                            <a:pt x="0" y="175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27" name="Freeform 104"/>
                    <p:cNvSpPr/>
                    <p:nvPr/>
                  </p:nvSpPr>
                  <p:spPr>
                    <a:xfrm>
                      <a:off x="4760" y="2697"/>
                      <a:ext cx="1" cy="176"/>
                    </a:xfrm>
                    <a:custGeom>
                      <a:avLst/>
                      <a:gdLst>
                        <a:gd name="txL" fmla="*/ 0 w 1"/>
                        <a:gd name="txT" fmla="*/ 0 h 176"/>
                        <a:gd name="txR" fmla="*/ 1 w 1"/>
                        <a:gd name="txB" fmla="*/ 176 h 17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176"/>
                        </a:cxn>
                      </a:cxnLst>
                      <a:rect l="txL" t="txT" r="txR" b="txB"/>
                      <a:pathLst>
                        <a:path w="1" h="176">
                          <a:moveTo>
                            <a:pt x="0" y="0"/>
                          </a:moveTo>
                          <a:lnTo>
                            <a:pt x="0" y="17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28" name="Freeform 105"/>
                    <p:cNvSpPr/>
                    <p:nvPr/>
                  </p:nvSpPr>
                  <p:spPr>
                    <a:xfrm>
                      <a:off x="908" y="1480"/>
                      <a:ext cx="4422" cy="1"/>
                    </a:xfrm>
                    <a:custGeom>
                      <a:avLst/>
                      <a:gdLst>
                        <a:gd name="txL" fmla="*/ 0 w 4422"/>
                        <a:gd name="txT" fmla="*/ 0 h 1"/>
                        <a:gd name="txR" fmla="*/ 4422 w 4422"/>
                        <a:gd name="txB" fmla="*/ 1 h 1"/>
                      </a:gdLst>
                      <a:ahLst/>
                      <a:cxnLst>
                        <a:cxn ang="0">
                          <a:pos x="0" y="1"/>
                        </a:cxn>
                        <a:cxn ang="0">
                          <a:pos x="4422" y="0"/>
                        </a:cxn>
                      </a:cxnLst>
                      <a:rect l="txL" t="txT" r="txR" b="txB"/>
                      <a:pathLst>
                        <a:path w="4422" h="1">
                          <a:moveTo>
                            <a:pt x="0" y="1"/>
                          </a:moveTo>
                          <a:lnTo>
                            <a:pt x="4422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29" name="Line 106"/>
                    <p:cNvSpPr/>
                    <p:nvPr/>
                  </p:nvSpPr>
                  <p:spPr>
                    <a:xfrm>
                      <a:off x="1292" y="14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30" name="Line 107"/>
                    <p:cNvSpPr/>
                    <p:nvPr/>
                  </p:nvSpPr>
                  <p:spPr>
                    <a:xfrm>
                      <a:off x="1868" y="14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31" name="Line 108"/>
                    <p:cNvSpPr/>
                    <p:nvPr/>
                  </p:nvSpPr>
                  <p:spPr>
                    <a:xfrm>
                      <a:off x="2444" y="14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32" name="Line 109"/>
                    <p:cNvSpPr/>
                    <p:nvPr/>
                  </p:nvSpPr>
                  <p:spPr>
                    <a:xfrm>
                      <a:off x="3020" y="14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33" name="Line 110"/>
                    <p:cNvSpPr/>
                    <p:nvPr/>
                  </p:nvSpPr>
                  <p:spPr>
                    <a:xfrm>
                      <a:off x="3596" y="14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34" name="Line 111"/>
                    <p:cNvSpPr/>
                    <p:nvPr/>
                  </p:nvSpPr>
                  <p:spPr>
                    <a:xfrm>
                      <a:off x="4172" y="14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35" name="Line 112"/>
                    <p:cNvSpPr/>
                    <p:nvPr/>
                  </p:nvSpPr>
                  <p:spPr>
                    <a:xfrm>
                      <a:off x="4748" y="14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36" name="Line 113"/>
                    <p:cNvSpPr/>
                    <p:nvPr/>
                  </p:nvSpPr>
                  <p:spPr>
                    <a:xfrm>
                      <a:off x="5324" y="14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med" len="med"/>
                    </a:ln>
                  </p:spPr>
                </p:sp>
                <p:sp>
                  <p:nvSpPr>
                    <p:cNvPr id="276737" name="Freeform 114"/>
                    <p:cNvSpPr/>
                    <p:nvPr/>
                  </p:nvSpPr>
                  <p:spPr>
                    <a:xfrm>
                      <a:off x="908" y="2056"/>
                      <a:ext cx="4418" cy="1"/>
                    </a:xfrm>
                    <a:custGeom>
                      <a:avLst/>
                      <a:gdLst>
                        <a:gd name="txL" fmla="*/ 0 w 4418"/>
                        <a:gd name="txT" fmla="*/ 0 h 1"/>
                        <a:gd name="txR" fmla="*/ 4418 w 4418"/>
                        <a:gd name="txB" fmla="*/ 1 h 1"/>
                      </a:gdLst>
                      <a:ahLst/>
                      <a:cxnLst>
                        <a:cxn ang="0">
                          <a:pos x="0" y="1"/>
                        </a:cxn>
                        <a:cxn ang="0">
                          <a:pos x="4418" y="0"/>
                        </a:cxn>
                      </a:cxnLst>
                      <a:rect l="txL" t="txT" r="txR" b="txB"/>
                      <a:pathLst>
                        <a:path w="4418" h="1">
                          <a:moveTo>
                            <a:pt x="0" y="1"/>
                          </a:moveTo>
                          <a:lnTo>
                            <a:pt x="4418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38" name="Line 115"/>
                    <p:cNvSpPr/>
                    <p:nvPr/>
                  </p:nvSpPr>
                  <p:spPr>
                    <a:xfrm>
                      <a:off x="1292" y="20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39" name="Line 116"/>
                    <p:cNvSpPr/>
                    <p:nvPr/>
                  </p:nvSpPr>
                  <p:spPr>
                    <a:xfrm>
                      <a:off x="1868" y="20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40" name="Line 117"/>
                    <p:cNvSpPr/>
                    <p:nvPr/>
                  </p:nvSpPr>
                  <p:spPr>
                    <a:xfrm>
                      <a:off x="2444" y="20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41" name="Line 118"/>
                    <p:cNvSpPr/>
                    <p:nvPr/>
                  </p:nvSpPr>
                  <p:spPr>
                    <a:xfrm>
                      <a:off x="3020" y="20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42" name="Line 119"/>
                    <p:cNvSpPr/>
                    <p:nvPr/>
                  </p:nvSpPr>
                  <p:spPr>
                    <a:xfrm>
                      <a:off x="3596" y="20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43" name="Line 120"/>
                    <p:cNvSpPr/>
                    <p:nvPr/>
                  </p:nvSpPr>
                  <p:spPr>
                    <a:xfrm>
                      <a:off x="4172" y="20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44" name="Line 121"/>
                    <p:cNvSpPr/>
                    <p:nvPr/>
                  </p:nvSpPr>
                  <p:spPr>
                    <a:xfrm>
                      <a:off x="4748" y="20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745" name="Line 122"/>
                    <p:cNvSpPr/>
                    <p:nvPr/>
                  </p:nvSpPr>
                  <p:spPr>
                    <a:xfrm>
                      <a:off x="5324" y="2057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sm" len="sm"/>
                      <a:tailEnd type="none" w="med" len="med"/>
                    </a:ln>
                  </p:spPr>
                </p:sp>
                <p:sp>
                  <p:nvSpPr>
                    <p:cNvPr id="276746" name="Freeform 123"/>
                    <p:cNvSpPr/>
                    <p:nvPr/>
                  </p:nvSpPr>
                  <p:spPr>
                    <a:xfrm>
                      <a:off x="909" y="2879"/>
                      <a:ext cx="3860" cy="1"/>
                    </a:xfrm>
                    <a:custGeom>
                      <a:avLst/>
                      <a:gdLst>
                        <a:gd name="txL" fmla="*/ 0 w 3860"/>
                        <a:gd name="txT" fmla="*/ 0 h 1"/>
                        <a:gd name="txR" fmla="*/ 3860 w 3860"/>
                        <a:gd name="txB" fmla="*/ 1 h 1"/>
                      </a:gdLst>
                      <a:ahLst/>
                      <a:cxnLst>
                        <a:cxn ang="0">
                          <a:pos x="0" y="1"/>
                        </a:cxn>
                        <a:cxn ang="0">
                          <a:pos x="3860" y="0"/>
                        </a:cxn>
                      </a:cxnLst>
                      <a:rect l="txL" t="txT" r="txR" b="txB"/>
                      <a:pathLst>
                        <a:path w="3860" h="1">
                          <a:moveTo>
                            <a:pt x="0" y="1"/>
                          </a:moveTo>
                          <a:lnTo>
                            <a:pt x="386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47" name="Freeform 124"/>
                    <p:cNvSpPr/>
                    <p:nvPr/>
                  </p:nvSpPr>
                  <p:spPr>
                    <a:xfrm>
                      <a:off x="912" y="3209"/>
                      <a:ext cx="4418" cy="1"/>
                    </a:xfrm>
                    <a:custGeom>
                      <a:avLst/>
                      <a:gdLst>
                        <a:gd name="txL" fmla="*/ 0 w 4418"/>
                        <a:gd name="txT" fmla="*/ 0 h 1"/>
                        <a:gd name="txR" fmla="*/ 4418 w 4418"/>
                        <a:gd name="txB" fmla="*/ 1 h 1"/>
                      </a:gdLst>
                      <a:ahLst/>
                      <a:cxnLst>
                        <a:cxn ang="0">
                          <a:pos x="0" y="1"/>
                        </a:cxn>
                        <a:cxn ang="0">
                          <a:pos x="4418" y="0"/>
                        </a:cxn>
                      </a:cxnLst>
                      <a:rect l="txL" t="txT" r="txR" b="txB"/>
                      <a:pathLst>
                        <a:path w="4418" h="1">
                          <a:moveTo>
                            <a:pt x="0" y="1"/>
                          </a:moveTo>
                          <a:lnTo>
                            <a:pt x="4418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48" name="Rectangle 125"/>
                    <p:cNvSpPr/>
                    <p:nvPr/>
                  </p:nvSpPr>
                  <p:spPr>
                    <a:xfrm>
                      <a:off x="1141" y="3600"/>
                      <a:ext cx="823" cy="227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anchor="ctr" anchorCtr="0">
                      <a:spAutoFit/>
                    </a:bodyPr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49" name="Text Box 126"/>
                    <p:cNvSpPr txBox="1"/>
                    <p:nvPr/>
                  </p:nvSpPr>
                  <p:spPr>
                    <a:xfrm>
                      <a:off x="1172" y="3576"/>
                      <a:ext cx="75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读写电路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750" name="Freeform 127"/>
                    <p:cNvSpPr/>
                    <p:nvPr/>
                  </p:nvSpPr>
                  <p:spPr>
                    <a:xfrm>
                      <a:off x="1402" y="1211"/>
                      <a:ext cx="145" cy="1466"/>
                    </a:xfrm>
                    <a:custGeom>
                      <a:avLst/>
                      <a:gdLst>
                        <a:gd name="txL" fmla="*/ 0 w 145"/>
                        <a:gd name="txT" fmla="*/ 0 h 1466"/>
                        <a:gd name="txR" fmla="*/ 145 w 145"/>
                        <a:gd name="txB" fmla="*/ 1466 h 1466"/>
                      </a:gdLst>
                      <a:ahLst/>
                      <a:cxnLst>
                        <a:cxn ang="0">
                          <a:pos x="37" y="0"/>
                        </a:cxn>
                        <a:cxn ang="0">
                          <a:pos x="145" y="0"/>
                        </a:cxn>
                        <a:cxn ang="0">
                          <a:pos x="144" y="1466"/>
                        </a:cxn>
                        <a:cxn ang="0">
                          <a:pos x="0" y="1466"/>
                        </a:cxn>
                      </a:cxnLst>
                      <a:rect l="txL" t="txT" r="txR" b="txB"/>
                      <a:pathLst>
                        <a:path w="145" h="1466">
                          <a:moveTo>
                            <a:pt x="37" y="0"/>
                          </a:moveTo>
                          <a:lnTo>
                            <a:pt x="145" y="0"/>
                          </a:lnTo>
                          <a:lnTo>
                            <a:pt x="144" y="1466"/>
                          </a:lnTo>
                          <a:lnTo>
                            <a:pt x="0" y="14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51" name="Freeform 128"/>
                    <p:cNvSpPr/>
                    <p:nvPr/>
                  </p:nvSpPr>
                  <p:spPr>
                    <a:xfrm>
                      <a:off x="1613" y="1211"/>
                      <a:ext cx="169" cy="1469"/>
                    </a:xfrm>
                    <a:custGeom>
                      <a:avLst/>
                      <a:gdLst>
                        <a:gd name="txL" fmla="*/ 0 w 169"/>
                        <a:gd name="txT" fmla="*/ 0 h 1469"/>
                        <a:gd name="txR" fmla="*/ 169 w 169"/>
                        <a:gd name="txB" fmla="*/ 1469 h 1469"/>
                      </a:gdLst>
                      <a:ahLst/>
                      <a:cxnLst>
                        <a:cxn ang="0">
                          <a:pos x="169" y="1468"/>
                        </a:cxn>
                        <a:cxn ang="0">
                          <a:pos x="0" y="1469"/>
                        </a:cxn>
                        <a:cxn ang="0">
                          <a:pos x="1" y="0"/>
                        </a:cxn>
                        <a:cxn ang="0">
                          <a:pos x="105" y="0"/>
                        </a:cxn>
                      </a:cxnLst>
                      <a:rect l="txL" t="txT" r="txR" b="txB"/>
                      <a:pathLst>
                        <a:path w="169" h="1469">
                          <a:moveTo>
                            <a:pt x="169" y="1468"/>
                          </a:moveTo>
                          <a:lnTo>
                            <a:pt x="0" y="1469"/>
                          </a:lnTo>
                          <a:lnTo>
                            <a:pt x="1" y="0"/>
                          </a:lnTo>
                          <a:lnTo>
                            <a:pt x="105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52" name="Freeform 129"/>
                    <p:cNvSpPr/>
                    <p:nvPr/>
                  </p:nvSpPr>
                  <p:spPr>
                    <a:xfrm>
                      <a:off x="1967" y="1211"/>
                      <a:ext cx="141" cy="1466"/>
                    </a:xfrm>
                    <a:custGeom>
                      <a:avLst/>
                      <a:gdLst>
                        <a:gd name="txL" fmla="*/ 0 w 141"/>
                        <a:gd name="txT" fmla="*/ 0 h 1466"/>
                        <a:gd name="txR" fmla="*/ 141 w 141"/>
                        <a:gd name="txB" fmla="*/ 1466 h 1466"/>
                      </a:gdLst>
                      <a:ahLst/>
                      <a:cxnLst>
                        <a:cxn ang="0">
                          <a:pos x="38" y="0"/>
                        </a:cxn>
                        <a:cxn ang="0">
                          <a:pos x="141" y="0"/>
                        </a:cxn>
                        <a:cxn ang="0">
                          <a:pos x="140" y="1466"/>
                        </a:cxn>
                        <a:cxn ang="0">
                          <a:pos x="0" y="1466"/>
                        </a:cxn>
                      </a:cxnLst>
                      <a:rect l="txL" t="txT" r="txR" b="txB"/>
                      <a:pathLst>
                        <a:path w="141" h="1466">
                          <a:moveTo>
                            <a:pt x="38" y="0"/>
                          </a:moveTo>
                          <a:lnTo>
                            <a:pt x="141" y="0"/>
                          </a:lnTo>
                          <a:lnTo>
                            <a:pt x="140" y="1466"/>
                          </a:lnTo>
                          <a:lnTo>
                            <a:pt x="0" y="14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53" name="Freeform 130"/>
                    <p:cNvSpPr/>
                    <p:nvPr/>
                  </p:nvSpPr>
                  <p:spPr>
                    <a:xfrm>
                      <a:off x="2208" y="1211"/>
                      <a:ext cx="155" cy="1467"/>
                    </a:xfrm>
                    <a:custGeom>
                      <a:avLst/>
                      <a:gdLst>
                        <a:gd name="txL" fmla="*/ 0 w 155"/>
                        <a:gd name="txT" fmla="*/ 0 h 1467"/>
                        <a:gd name="txR" fmla="*/ 155 w 155"/>
                        <a:gd name="txB" fmla="*/ 1467 h 1467"/>
                      </a:gdLst>
                      <a:ahLst/>
                      <a:cxnLst>
                        <a:cxn ang="0">
                          <a:pos x="155" y="1467"/>
                        </a:cxn>
                        <a:cxn ang="0">
                          <a:pos x="3" y="1467"/>
                        </a:cxn>
                        <a:cxn ang="0">
                          <a:pos x="0" y="1"/>
                        </a:cxn>
                        <a:cxn ang="0">
                          <a:pos x="89" y="0"/>
                        </a:cxn>
                      </a:cxnLst>
                      <a:rect l="txL" t="txT" r="txR" b="txB"/>
                      <a:pathLst>
                        <a:path w="155" h="1467">
                          <a:moveTo>
                            <a:pt x="155" y="1467"/>
                          </a:moveTo>
                          <a:lnTo>
                            <a:pt x="3" y="1467"/>
                          </a:lnTo>
                          <a:lnTo>
                            <a:pt x="0" y="1"/>
                          </a:lnTo>
                          <a:lnTo>
                            <a:pt x="89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54" name="Freeform 131"/>
                    <p:cNvSpPr/>
                    <p:nvPr/>
                  </p:nvSpPr>
                  <p:spPr>
                    <a:xfrm>
                      <a:off x="2557" y="1211"/>
                      <a:ext cx="142" cy="1466"/>
                    </a:xfrm>
                    <a:custGeom>
                      <a:avLst/>
                      <a:gdLst>
                        <a:gd name="txL" fmla="*/ 0 w 142"/>
                        <a:gd name="txT" fmla="*/ 0 h 1466"/>
                        <a:gd name="txR" fmla="*/ 142 w 142"/>
                        <a:gd name="txB" fmla="*/ 1466 h 1466"/>
                      </a:gdLst>
                      <a:ahLst/>
                      <a:cxnLst>
                        <a:cxn ang="0">
                          <a:pos x="34" y="0"/>
                        </a:cxn>
                        <a:cxn ang="0">
                          <a:pos x="142" y="0"/>
                        </a:cxn>
                        <a:cxn ang="0">
                          <a:pos x="141" y="1466"/>
                        </a:cxn>
                        <a:cxn ang="0">
                          <a:pos x="0" y="1464"/>
                        </a:cxn>
                      </a:cxnLst>
                      <a:rect l="txL" t="txT" r="txR" b="txB"/>
                      <a:pathLst>
                        <a:path w="142" h="1466">
                          <a:moveTo>
                            <a:pt x="34" y="0"/>
                          </a:moveTo>
                          <a:lnTo>
                            <a:pt x="142" y="0"/>
                          </a:lnTo>
                          <a:lnTo>
                            <a:pt x="141" y="1466"/>
                          </a:lnTo>
                          <a:lnTo>
                            <a:pt x="0" y="1464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55" name="Freeform 132"/>
                    <p:cNvSpPr/>
                    <p:nvPr/>
                  </p:nvSpPr>
                  <p:spPr>
                    <a:xfrm>
                      <a:off x="2787" y="1211"/>
                      <a:ext cx="152" cy="1467"/>
                    </a:xfrm>
                    <a:custGeom>
                      <a:avLst/>
                      <a:gdLst>
                        <a:gd name="txL" fmla="*/ 0 w 152"/>
                        <a:gd name="txT" fmla="*/ 0 h 1467"/>
                        <a:gd name="txR" fmla="*/ 152 w 152"/>
                        <a:gd name="txB" fmla="*/ 1467 h 1467"/>
                      </a:gdLst>
                      <a:ahLst/>
                      <a:cxnLst>
                        <a:cxn ang="0">
                          <a:pos x="152" y="1467"/>
                        </a:cxn>
                        <a:cxn ang="0">
                          <a:pos x="0" y="1467"/>
                        </a:cxn>
                        <a:cxn ang="0">
                          <a:pos x="0" y="1"/>
                        </a:cxn>
                        <a:cxn ang="0">
                          <a:pos x="77" y="0"/>
                        </a:cxn>
                      </a:cxnLst>
                      <a:rect l="txL" t="txT" r="txR" b="txB"/>
                      <a:pathLst>
                        <a:path w="152" h="1467">
                          <a:moveTo>
                            <a:pt x="152" y="1467"/>
                          </a:moveTo>
                          <a:lnTo>
                            <a:pt x="0" y="1467"/>
                          </a:lnTo>
                          <a:lnTo>
                            <a:pt x="0" y="1"/>
                          </a:lnTo>
                          <a:lnTo>
                            <a:pt x="77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56" name="Freeform 133"/>
                    <p:cNvSpPr/>
                    <p:nvPr/>
                  </p:nvSpPr>
                  <p:spPr>
                    <a:xfrm>
                      <a:off x="3130" y="1211"/>
                      <a:ext cx="145" cy="1466"/>
                    </a:xfrm>
                    <a:custGeom>
                      <a:avLst/>
                      <a:gdLst>
                        <a:gd name="txL" fmla="*/ 0 w 145"/>
                        <a:gd name="txT" fmla="*/ 0 h 1466"/>
                        <a:gd name="txR" fmla="*/ 145 w 145"/>
                        <a:gd name="txB" fmla="*/ 1466 h 1466"/>
                      </a:gdLst>
                      <a:ahLst/>
                      <a:cxnLst>
                        <a:cxn ang="0">
                          <a:pos x="37" y="0"/>
                        </a:cxn>
                        <a:cxn ang="0">
                          <a:pos x="145" y="0"/>
                        </a:cxn>
                        <a:cxn ang="0">
                          <a:pos x="144" y="1466"/>
                        </a:cxn>
                        <a:cxn ang="0">
                          <a:pos x="0" y="1466"/>
                        </a:cxn>
                      </a:cxnLst>
                      <a:rect l="txL" t="txT" r="txR" b="txB"/>
                      <a:pathLst>
                        <a:path w="145" h="1466">
                          <a:moveTo>
                            <a:pt x="37" y="0"/>
                          </a:moveTo>
                          <a:lnTo>
                            <a:pt x="145" y="0"/>
                          </a:lnTo>
                          <a:lnTo>
                            <a:pt x="144" y="1466"/>
                          </a:lnTo>
                          <a:lnTo>
                            <a:pt x="0" y="14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57" name="Freeform 134"/>
                    <p:cNvSpPr/>
                    <p:nvPr/>
                  </p:nvSpPr>
                  <p:spPr>
                    <a:xfrm>
                      <a:off x="3360" y="1209"/>
                      <a:ext cx="155" cy="1469"/>
                    </a:xfrm>
                    <a:custGeom>
                      <a:avLst/>
                      <a:gdLst>
                        <a:gd name="txL" fmla="*/ 0 w 155"/>
                        <a:gd name="txT" fmla="*/ 0 h 1469"/>
                        <a:gd name="txR" fmla="*/ 155 w 155"/>
                        <a:gd name="txB" fmla="*/ 1469 h 1469"/>
                      </a:gdLst>
                      <a:ahLst/>
                      <a:cxnLst>
                        <a:cxn ang="0">
                          <a:pos x="155" y="1469"/>
                        </a:cxn>
                        <a:cxn ang="0">
                          <a:pos x="3" y="1469"/>
                        </a:cxn>
                        <a:cxn ang="0">
                          <a:pos x="0" y="0"/>
                        </a:cxn>
                        <a:cxn ang="0">
                          <a:pos x="103" y="2"/>
                        </a:cxn>
                      </a:cxnLst>
                      <a:rect l="txL" t="txT" r="txR" b="txB"/>
                      <a:pathLst>
                        <a:path w="155" h="1469">
                          <a:moveTo>
                            <a:pt x="155" y="1469"/>
                          </a:moveTo>
                          <a:lnTo>
                            <a:pt x="3" y="1469"/>
                          </a:lnTo>
                          <a:lnTo>
                            <a:pt x="0" y="0"/>
                          </a:lnTo>
                          <a:lnTo>
                            <a:pt x="103" y="2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58" name="Freeform 135"/>
                    <p:cNvSpPr/>
                    <p:nvPr/>
                  </p:nvSpPr>
                  <p:spPr>
                    <a:xfrm>
                      <a:off x="3710" y="1211"/>
                      <a:ext cx="141" cy="1466"/>
                    </a:xfrm>
                    <a:custGeom>
                      <a:avLst/>
                      <a:gdLst>
                        <a:gd name="txL" fmla="*/ 0 w 141"/>
                        <a:gd name="txT" fmla="*/ 0 h 1466"/>
                        <a:gd name="txR" fmla="*/ 141 w 141"/>
                        <a:gd name="txB" fmla="*/ 1466 h 1466"/>
                      </a:gdLst>
                      <a:ahLst/>
                      <a:cxnLst>
                        <a:cxn ang="0">
                          <a:pos x="42" y="0"/>
                        </a:cxn>
                        <a:cxn ang="0">
                          <a:pos x="141" y="0"/>
                        </a:cxn>
                        <a:cxn ang="0">
                          <a:pos x="140" y="1466"/>
                        </a:cxn>
                        <a:cxn ang="0">
                          <a:pos x="0" y="1466"/>
                        </a:cxn>
                      </a:cxnLst>
                      <a:rect l="txL" t="txT" r="txR" b="txB"/>
                      <a:pathLst>
                        <a:path w="141" h="1466">
                          <a:moveTo>
                            <a:pt x="42" y="0"/>
                          </a:moveTo>
                          <a:lnTo>
                            <a:pt x="141" y="0"/>
                          </a:lnTo>
                          <a:lnTo>
                            <a:pt x="140" y="1466"/>
                          </a:lnTo>
                          <a:lnTo>
                            <a:pt x="0" y="14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59" name="Freeform 136"/>
                    <p:cNvSpPr/>
                    <p:nvPr/>
                  </p:nvSpPr>
                  <p:spPr>
                    <a:xfrm>
                      <a:off x="3939" y="1211"/>
                      <a:ext cx="152" cy="1467"/>
                    </a:xfrm>
                    <a:custGeom>
                      <a:avLst/>
                      <a:gdLst>
                        <a:gd name="txL" fmla="*/ 0 w 152"/>
                        <a:gd name="txT" fmla="*/ 0 h 1467"/>
                        <a:gd name="txR" fmla="*/ 152 w 152"/>
                        <a:gd name="txB" fmla="*/ 1467 h 1467"/>
                      </a:gdLst>
                      <a:ahLst/>
                      <a:cxnLst>
                        <a:cxn ang="0">
                          <a:pos x="152" y="1467"/>
                        </a:cxn>
                        <a:cxn ang="0">
                          <a:pos x="0" y="1467"/>
                        </a:cxn>
                        <a:cxn ang="0">
                          <a:pos x="0" y="1"/>
                        </a:cxn>
                        <a:cxn ang="0">
                          <a:pos x="103" y="0"/>
                        </a:cxn>
                      </a:cxnLst>
                      <a:rect l="txL" t="txT" r="txR" b="txB"/>
                      <a:pathLst>
                        <a:path w="152" h="1467">
                          <a:moveTo>
                            <a:pt x="152" y="1467"/>
                          </a:moveTo>
                          <a:lnTo>
                            <a:pt x="0" y="1467"/>
                          </a:lnTo>
                          <a:lnTo>
                            <a:pt x="0" y="1"/>
                          </a:lnTo>
                          <a:lnTo>
                            <a:pt x="103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60" name="Freeform 137"/>
                    <p:cNvSpPr/>
                    <p:nvPr/>
                  </p:nvSpPr>
                  <p:spPr>
                    <a:xfrm>
                      <a:off x="4280" y="1211"/>
                      <a:ext cx="147" cy="1466"/>
                    </a:xfrm>
                    <a:custGeom>
                      <a:avLst/>
                      <a:gdLst>
                        <a:gd name="txL" fmla="*/ 0 w 147"/>
                        <a:gd name="txT" fmla="*/ 0 h 1466"/>
                        <a:gd name="txR" fmla="*/ 147 w 147"/>
                        <a:gd name="txB" fmla="*/ 1466 h 1466"/>
                      </a:gdLst>
                      <a:ahLst/>
                      <a:cxnLst>
                        <a:cxn ang="0">
                          <a:pos x="51" y="0"/>
                        </a:cxn>
                        <a:cxn ang="0">
                          <a:pos x="147" y="0"/>
                        </a:cxn>
                        <a:cxn ang="0">
                          <a:pos x="146" y="1466"/>
                        </a:cxn>
                        <a:cxn ang="0">
                          <a:pos x="0" y="1466"/>
                        </a:cxn>
                      </a:cxnLst>
                      <a:rect l="txL" t="txT" r="txR" b="txB"/>
                      <a:pathLst>
                        <a:path w="147" h="1466">
                          <a:moveTo>
                            <a:pt x="51" y="0"/>
                          </a:moveTo>
                          <a:lnTo>
                            <a:pt x="147" y="0"/>
                          </a:lnTo>
                          <a:lnTo>
                            <a:pt x="146" y="1466"/>
                          </a:lnTo>
                          <a:lnTo>
                            <a:pt x="0" y="14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61" name="Freeform 138"/>
                    <p:cNvSpPr/>
                    <p:nvPr/>
                  </p:nvSpPr>
                  <p:spPr>
                    <a:xfrm>
                      <a:off x="4509" y="1211"/>
                      <a:ext cx="158" cy="1467"/>
                    </a:xfrm>
                    <a:custGeom>
                      <a:avLst/>
                      <a:gdLst>
                        <a:gd name="txL" fmla="*/ 0 w 158"/>
                        <a:gd name="txT" fmla="*/ 0 h 1467"/>
                        <a:gd name="txR" fmla="*/ 158 w 158"/>
                        <a:gd name="txB" fmla="*/ 1467 h 1467"/>
                      </a:gdLst>
                      <a:ahLst/>
                      <a:cxnLst>
                        <a:cxn ang="0">
                          <a:pos x="158" y="1467"/>
                        </a:cxn>
                        <a:cxn ang="0">
                          <a:pos x="0" y="1467"/>
                        </a:cxn>
                        <a:cxn ang="0">
                          <a:pos x="0" y="0"/>
                        </a:cxn>
                        <a:cxn ang="0">
                          <a:pos x="95" y="0"/>
                        </a:cxn>
                      </a:cxnLst>
                      <a:rect l="txL" t="txT" r="txR" b="txB"/>
                      <a:pathLst>
                        <a:path w="158" h="1467">
                          <a:moveTo>
                            <a:pt x="158" y="1467"/>
                          </a:moveTo>
                          <a:lnTo>
                            <a:pt x="0" y="1467"/>
                          </a:lnTo>
                          <a:lnTo>
                            <a:pt x="0" y="0"/>
                          </a:lnTo>
                          <a:lnTo>
                            <a:pt x="95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62" name="Freeform 139"/>
                    <p:cNvSpPr/>
                    <p:nvPr/>
                  </p:nvSpPr>
                  <p:spPr>
                    <a:xfrm>
                      <a:off x="4861" y="1211"/>
                      <a:ext cx="142" cy="1466"/>
                    </a:xfrm>
                    <a:custGeom>
                      <a:avLst/>
                      <a:gdLst>
                        <a:gd name="txL" fmla="*/ 0 w 142"/>
                        <a:gd name="txT" fmla="*/ 0 h 1466"/>
                        <a:gd name="txR" fmla="*/ 142 w 142"/>
                        <a:gd name="txB" fmla="*/ 1466 h 1466"/>
                      </a:gdLst>
                      <a:ahLst/>
                      <a:cxnLst>
                        <a:cxn ang="0">
                          <a:pos x="34" y="0"/>
                        </a:cxn>
                        <a:cxn ang="0">
                          <a:pos x="142" y="0"/>
                        </a:cxn>
                        <a:cxn ang="0">
                          <a:pos x="141" y="1466"/>
                        </a:cxn>
                        <a:cxn ang="0">
                          <a:pos x="0" y="1466"/>
                        </a:cxn>
                      </a:cxnLst>
                      <a:rect l="txL" t="txT" r="txR" b="txB"/>
                      <a:pathLst>
                        <a:path w="142" h="1466">
                          <a:moveTo>
                            <a:pt x="34" y="0"/>
                          </a:moveTo>
                          <a:lnTo>
                            <a:pt x="142" y="0"/>
                          </a:lnTo>
                          <a:lnTo>
                            <a:pt x="141" y="1466"/>
                          </a:lnTo>
                          <a:lnTo>
                            <a:pt x="0" y="14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63" name="Freeform 140"/>
                    <p:cNvSpPr/>
                    <p:nvPr/>
                  </p:nvSpPr>
                  <p:spPr>
                    <a:xfrm>
                      <a:off x="5069" y="1211"/>
                      <a:ext cx="159" cy="1469"/>
                    </a:xfrm>
                    <a:custGeom>
                      <a:avLst/>
                      <a:gdLst>
                        <a:gd name="txL" fmla="*/ 0 w 159"/>
                        <a:gd name="txT" fmla="*/ 0 h 1469"/>
                        <a:gd name="txR" fmla="*/ 159 w 159"/>
                        <a:gd name="txB" fmla="*/ 1469 h 1469"/>
                      </a:gdLst>
                      <a:ahLst/>
                      <a:cxnLst>
                        <a:cxn ang="0">
                          <a:pos x="159" y="1467"/>
                        </a:cxn>
                        <a:cxn ang="0">
                          <a:pos x="0" y="1469"/>
                        </a:cxn>
                        <a:cxn ang="0">
                          <a:pos x="1" y="0"/>
                        </a:cxn>
                        <a:cxn ang="0">
                          <a:pos x="104" y="0"/>
                        </a:cxn>
                      </a:cxnLst>
                      <a:rect l="txL" t="txT" r="txR" b="txB"/>
                      <a:pathLst>
                        <a:path w="159" h="1469">
                          <a:moveTo>
                            <a:pt x="159" y="1467"/>
                          </a:moveTo>
                          <a:lnTo>
                            <a:pt x="0" y="1469"/>
                          </a:lnTo>
                          <a:lnTo>
                            <a:pt x="1" y="0"/>
                          </a:lnTo>
                          <a:lnTo>
                            <a:pt x="104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64" name="Freeform 141"/>
                    <p:cNvSpPr/>
                    <p:nvPr/>
                  </p:nvSpPr>
                  <p:spPr>
                    <a:xfrm>
                      <a:off x="5417" y="1211"/>
                      <a:ext cx="147" cy="1466"/>
                    </a:xfrm>
                    <a:custGeom>
                      <a:avLst/>
                      <a:gdLst>
                        <a:gd name="txL" fmla="*/ 0 w 147"/>
                        <a:gd name="txT" fmla="*/ 0 h 1466"/>
                        <a:gd name="txR" fmla="*/ 147 w 147"/>
                        <a:gd name="txB" fmla="*/ 1466 h 1466"/>
                      </a:gdLst>
                      <a:ahLst/>
                      <a:cxnLst>
                        <a:cxn ang="0">
                          <a:pos x="47" y="0"/>
                        </a:cxn>
                        <a:cxn ang="0">
                          <a:pos x="147" y="0"/>
                        </a:cxn>
                        <a:cxn ang="0">
                          <a:pos x="146" y="1466"/>
                        </a:cxn>
                        <a:cxn ang="0">
                          <a:pos x="0" y="1466"/>
                        </a:cxn>
                      </a:cxnLst>
                      <a:rect l="txL" t="txT" r="txR" b="txB"/>
                      <a:pathLst>
                        <a:path w="147" h="1466">
                          <a:moveTo>
                            <a:pt x="47" y="0"/>
                          </a:moveTo>
                          <a:lnTo>
                            <a:pt x="147" y="0"/>
                          </a:lnTo>
                          <a:lnTo>
                            <a:pt x="146" y="1466"/>
                          </a:lnTo>
                          <a:lnTo>
                            <a:pt x="0" y="14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65" name="Freeform 142"/>
                    <p:cNvSpPr/>
                    <p:nvPr/>
                  </p:nvSpPr>
                  <p:spPr>
                    <a:xfrm>
                      <a:off x="1055" y="2738"/>
                      <a:ext cx="730" cy="660"/>
                    </a:xfrm>
                    <a:custGeom>
                      <a:avLst/>
                      <a:gdLst>
                        <a:gd name="txL" fmla="*/ 0 w 730"/>
                        <a:gd name="txT" fmla="*/ 0 h 660"/>
                        <a:gd name="txR" fmla="*/ 730 w 730"/>
                        <a:gd name="txB" fmla="*/ 660 h 660"/>
                      </a:gdLst>
                      <a:ahLst/>
                      <a:cxnLst>
                        <a:cxn ang="0">
                          <a:pos x="160" y="4"/>
                        </a:cxn>
                        <a:cxn ang="0">
                          <a:pos x="0" y="3"/>
                        </a:cxn>
                        <a:cxn ang="0">
                          <a:pos x="0" y="660"/>
                        </a:cxn>
                        <a:cxn ang="0">
                          <a:pos x="558" y="657"/>
                        </a:cxn>
                        <a:cxn ang="0">
                          <a:pos x="558" y="0"/>
                        </a:cxn>
                        <a:cxn ang="0">
                          <a:pos x="730" y="1"/>
                        </a:cxn>
                      </a:cxnLst>
                      <a:rect l="txL" t="txT" r="txR" b="txB"/>
                      <a:pathLst>
                        <a:path w="730" h="660">
                          <a:moveTo>
                            <a:pt x="160" y="4"/>
                          </a:moveTo>
                          <a:lnTo>
                            <a:pt x="0" y="3"/>
                          </a:lnTo>
                          <a:lnTo>
                            <a:pt x="0" y="660"/>
                          </a:lnTo>
                          <a:lnTo>
                            <a:pt x="558" y="657"/>
                          </a:lnTo>
                          <a:lnTo>
                            <a:pt x="558" y="0"/>
                          </a:lnTo>
                          <a:lnTo>
                            <a:pt x="730" y="1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66" name="Freeform 143"/>
                    <p:cNvSpPr/>
                    <p:nvPr/>
                  </p:nvSpPr>
                  <p:spPr>
                    <a:xfrm>
                      <a:off x="2207" y="2744"/>
                      <a:ext cx="729" cy="658"/>
                    </a:xfrm>
                    <a:custGeom>
                      <a:avLst/>
                      <a:gdLst>
                        <a:gd name="txL" fmla="*/ 0 w 729"/>
                        <a:gd name="txT" fmla="*/ 0 h 658"/>
                        <a:gd name="txR" fmla="*/ 729 w 729"/>
                        <a:gd name="txB" fmla="*/ 658 h 658"/>
                      </a:gdLst>
                      <a:ahLst/>
                      <a:cxnLst>
                        <a:cxn ang="0">
                          <a:pos x="153" y="0"/>
                        </a:cxn>
                        <a:cxn ang="0">
                          <a:pos x="0" y="0"/>
                        </a:cxn>
                        <a:cxn ang="0">
                          <a:pos x="0" y="657"/>
                        </a:cxn>
                        <a:cxn ang="0">
                          <a:pos x="583" y="658"/>
                        </a:cxn>
                        <a:cxn ang="0">
                          <a:pos x="582" y="3"/>
                        </a:cxn>
                        <a:cxn ang="0">
                          <a:pos x="729" y="3"/>
                        </a:cxn>
                      </a:cxnLst>
                      <a:rect l="txL" t="txT" r="txR" b="txB"/>
                      <a:pathLst>
                        <a:path w="729" h="658">
                          <a:moveTo>
                            <a:pt x="153" y="0"/>
                          </a:moveTo>
                          <a:lnTo>
                            <a:pt x="0" y="0"/>
                          </a:lnTo>
                          <a:lnTo>
                            <a:pt x="0" y="657"/>
                          </a:lnTo>
                          <a:lnTo>
                            <a:pt x="583" y="658"/>
                          </a:lnTo>
                          <a:lnTo>
                            <a:pt x="582" y="3"/>
                          </a:lnTo>
                          <a:lnTo>
                            <a:pt x="729" y="3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67" name="Freeform 144"/>
                    <p:cNvSpPr/>
                    <p:nvPr/>
                  </p:nvSpPr>
                  <p:spPr>
                    <a:xfrm>
                      <a:off x="3356" y="2744"/>
                      <a:ext cx="729" cy="657"/>
                    </a:xfrm>
                    <a:custGeom>
                      <a:avLst/>
                      <a:gdLst>
                        <a:gd name="txL" fmla="*/ 0 w 729"/>
                        <a:gd name="txT" fmla="*/ 0 h 657"/>
                        <a:gd name="txR" fmla="*/ 729 w 729"/>
                        <a:gd name="txB" fmla="*/ 657 h 657"/>
                      </a:gdLst>
                      <a:ahLst/>
                      <a:cxnLst>
                        <a:cxn ang="0">
                          <a:pos x="158" y="0"/>
                        </a:cxn>
                        <a:cxn ang="0">
                          <a:pos x="0" y="0"/>
                        </a:cxn>
                        <a:cxn ang="0">
                          <a:pos x="0" y="657"/>
                        </a:cxn>
                        <a:cxn ang="0">
                          <a:pos x="579" y="654"/>
                        </a:cxn>
                        <a:cxn ang="0">
                          <a:pos x="582" y="3"/>
                        </a:cxn>
                        <a:cxn ang="0">
                          <a:pos x="729" y="3"/>
                        </a:cxn>
                      </a:cxnLst>
                      <a:rect l="txL" t="txT" r="txR" b="txB"/>
                      <a:pathLst>
                        <a:path w="729" h="657">
                          <a:moveTo>
                            <a:pt x="158" y="0"/>
                          </a:moveTo>
                          <a:lnTo>
                            <a:pt x="0" y="0"/>
                          </a:lnTo>
                          <a:lnTo>
                            <a:pt x="0" y="657"/>
                          </a:lnTo>
                          <a:lnTo>
                            <a:pt x="579" y="654"/>
                          </a:lnTo>
                          <a:lnTo>
                            <a:pt x="582" y="3"/>
                          </a:lnTo>
                          <a:lnTo>
                            <a:pt x="729" y="3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68" name="Freeform 145"/>
                    <p:cNvSpPr/>
                    <p:nvPr/>
                  </p:nvSpPr>
                  <p:spPr>
                    <a:xfrm>
                      <a:off x="4508" y="2744"/>
                      <a:ext cx="729" cy="657"/>
                    </a:xfrm>
                    <a:custGeom>
                      <a:avLst/>
                      <a:gdLst>
                        <a:gd name="txL" fmla="*/ 0 w 729"/>
                        <a:gd name="txT" fmla="*/ 0 h 657"/>
                        <a:gd name="txR" fmla="*/ 729 w 729"/>
                        <a:gd name="txB" fmla="*/ 657 h 657"/>
                      </a:gdLst>
                      <a:ahLst/>
                      <a:cxnLst>
                        <a:cxn ang="0">
                          <a:pos x="161" y="2"/>
                        </a:cxn>
                        <a:cxn ang="0">
                          <a:pos x="0" y="0"/>
                        </a:cxn>
                        <a:cxn ang="0">
                          <a:pos x="0" y="657"/>
                        </a:cxn>
                        <a:cxn ang="0">
                          <a:pos x="579" y="654"/>
                        </a:cxn>
                        <a:cxn ang="0">
                          <a:pos x="582" y="3"/>
                        </a:cxn>
                        <a:cxn ang="0">
                          <a:pos x="729" y="3"/>
                        </a:cxn>
                      </a:cxnLst>
                      <a:rect l="txL" t="txT" r="txR" b="txB"/>
                      <a:pathLst>
                        <a:path w="729" h="657">
                          <a:moveTo>
                            <a:pt x="161" y="2"/>
                          </a:moveTo>
                          <a:lnTo>
                            <a:pt x="0" y="0"/>
                          </a:lnTo>
                          <a:lnTo>
                            <a:pt x="0" y="657"/>
                          </a:lnTo>
                          <a:lnTo>
                            <a:pt x="579" y="654"/>
                          </a:lnTo>
                          <a:lnTo>
                            <a:pt x="582" y="3"/>
                          </a:lnTo>
                          <a:lnTo>
                            <a:pt x="729" y="3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69" name="Freeform 146"/>
                    <p:cNvSpPr/>
                    <p:nvPr/>
                  </p:nvSpPr>
                  <p:spPr>
                    <a:xfrm>
                      <a:off x="1400" y="2735"/>
                      <a:ext cx="708" cy="571"/>
                    </a:xfrm>
                    <a:custGeom>
                      <a:avLst/>
                      <a:gdLst>
                        <a:gd name="txL" fmla="*/ 0 w 708"/>
                        <a:gd name="txT" fmla="*/ 0 h 571"/>
                        <a:gd name="txR" fmla="*/ 708 w 708"/>
                        <a:gd name="txB" fmla="*/ 571 h 57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32" y="0"/>
                        </a:cxn>
                        <a:cxn ang="0">
                          <a:pos x="133" y="571"/>
                        </a:cxn>
                        <a:cxn ang="0">
                          <a:pos x="708" y="570"/>
                        </a:cxn>
                        <a:cxn ang="0">
                          <a:pos x="708" y="9"/>
                        </a:cxn>
                        <a:cxn ang="0">
                          <a:pos x="573" y="9"/>
                        </a:cxn>
                      </a:cxnLst>
                      <a:rect l="txL" t="txT" r="txR" b="txB"/>
                      <a:pathLst>
                        <a:path w="708" h="571">
                          <a:moveTo>
                            <a:pt x="0" y="0"/>
                          </a:moveTo>
                          <a:lnTo>
                            <a:pt x="132" y="0"/>
                          </a:lnTo>
                          <a:lnTo>
                            <a:pt x="133" y="571"/>
                          </a:lnTo>
                          <a:lnTo>
                            <a:pt x="708" y="570"/>
                          </a:lnTo>
                          <a:lnTo>
                            <a:pt x="708" y="9"/>
                          </a:lnTo>
                          <a:lnTo>
                            <a:pt x="573" y="9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70" name="Freeform 147"/>
                    <p:cNvSpPr/>
                    <p:nvPr/>
                  </p:nvSpPr>
                  <p:spPr>
                    <a:xfrm>
                      <a:off x="2552" y="2735"/>
                      <a:ext cx="726" cy="567"/>
                    </a:xfrm>
                    <a:custGeom>
                      <a:avLst/>
                      <a:gdLst>
                        <a:gd name="txL" fmla="*/ 0 w 726"/>
                        <a:gd name="txT" fmla="*/ 0 h 567"/>
                        <a:gd name="txR" fmla="*/ 726 w 726"/>
                        <a:gd name="txB" fmla="*/ 567 h 567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48" y="1"/>
                        </a:cxn>
                        <a:cxn ang="0">
                          <a:pos x="147" y="567"/>
                        </a:cxn>
                        <a:cxn ang="0">
                          <a:pos x="726" y="567"/>
                        </a:cxn>
                        <a:cxn ang="0">
                          <a:pos x="726" y="6"/>
                        </a:cxn>
                        <a:cxn ang="0">
                          <a:pos x="579" y="6"/>
                        </a:cxn>
                      </a:cxnLst>
                      <a:rect l="txL" t="txT" r="txR" b="txB"/>
                      <a:pathLst>
                        <a:path w="726" h="567">
                          <a:moveTo>
                            <a:pt x="0" y="0"/>
                          </a:moveTo>
                          <a:lnTo>
                            <a:pt x="148" y="1"/>
                          </a:lnTo>
                          <a:lnTo>
                            <a:pt x="147" y="567"/>
                          </a:lnTo>
                          <a:lnTo>
                            <a:pt x="726" y="567"/>
                          </a:lnTo>
                          <a:lnTo>
                            <a:pt x="726" y="6"/>
                          </a:lnTo>
                          <a:lnTo>
                            <a:pt x="579" y="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71" name="Freeform 148"/>
                    <p:cNvSpPr/>
                    <p:nvPr/>
                  </p:nvSpPr>
                  <p:spPr>
                    <a:xfrm>
                      <a:off x="3704" y="2738"/>
                      <a:ext cx="714" cy="567"/>
                    </a:xfrm>
                    <a:custGeom>
                      <a:avLst/>
                      <a:gdLst>
                        <a:gd name="txL" fmla="*/ 0 w 714"/>
                        <a:gd name="txT" fmla="*/ 0 h 567"/>
                        <a:gd name="txR" fmla="*/ 714 w 714"/>
                        <a:gd name="txB" fmla="*/ 567 h 567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36" y="1"/>
                        </a:cxn>
                        <a:cxn ang="0">
                          <a:pos x="135" y="567"/>
                        </a:cxn>
                        <a:cxn ang="0">
                          <a:pos x="714" y="567"/>
                        </a:cxn>
                        <a:cxn ang="0">
                          <a:pos x="714" y="6"/>
                        </a:cxn>
                        <a:cxn ang="0">
                          <a:pos x="576" y="5"/>
                        </a:cxn>
                      </a:cxnLst>
                      <a:rect l="txL" t="txT" r="txR" b="txB"/>
                      <a:pathLst>
                        <a:path w="714" h="567">
                          <a:moveTo>
                            <a:pt x="0" y="0"/>
                          </a:moveTo>
                          <a:lnTo>
                            <a:pt x="136" y="1"/>
                          </a:lnTo>
                          <a:lnTo>
                            <a:pt x="135" y="567"/>
                          </a:lnTo>
                          <a:lnTo>
                            <a:pt x="714" y="567"/>
                          </a:lnTo>
                          <a:lnTo>
                            <a:pt x="714" y="6"/>
                          </a:lnTo>
                          <a:lnTo>
                            <a:pt x="576" y="5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72" name="Freeform 149"/>
                    <p:cNvSpPr/>
                    <p:nvPr/>
                  </p:nvSpPr>
                  <p:spPr>
                    <a:xfrm>
                      <a:off x="4859" y="2738"/>
                      <a:ext cx="711" cy="567"/>
                    </a:xfrm>
                    <a:custGeom>
                      <a:avLst/>
                      <a:gdLst>
                        <a:gd name="txL" fmla="*/ 0 w 711"/>
                        <a:gd name="txT" fmla="*/ 0 h 567"/>
                        <a:gd name="txR" fmla="*/ 711 w 711"/>
                        <a:gd name="txB" fmla="*/ 567 h 567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30" y="1"/>
                        </a:cxn>
                        <a:cxn ang="0">
                          <a:pos x="132" y="567"/>
                        </a:cxn>
                        <a:cxn ang="0">
                          <a:pos x="711" y="567"/>
                        </a:cxn>
                        <a:cxn ang="0">
                          <a:pos x="711" y="6"/>
                        </a:cxn>
                        <a:cxn ang="0">
                          <a:pos x="564" y="6"/>
                        </a:cxn>
                      </a:cxnLst>
                      <a:rect l="txL" t="txT" r="txR" b="txB"/>
                      <a:pathLst>
                        <a:path w="711" h="567">
                          <a:moveTo>
                            <a:pt x="0" y="0"/>
                          </a:moveTo>
                          <a:lnTo>
                            <a:pt x="130" y="1"/>
                          </a:lnTo>
                          <a:lnTo>
                            <a:pt x="132" y="567"/>
                          </a:lnTo>
                          <a:lnTo>
                            <a:pt x="711" y="567"/>
                          </a:lnTo>
                          <a:lnTo>
                            <a:pt x="711" y="6"/>
                          </a:lnTo>
                          <a:lnTo>
                            <a:pt x="564" y="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73" name="Freeform 150"/>
                    <p:cNvSpPr/>
                    <p:nvPr/>
                  </p:nvSpPr>
                  <p:spPr>
                    <a:xfrm>
                      <a:off x="1322" y="3398"/>
                      <a:ext cx="1" cy="150"/>
                    </a:xfrm>
                    <a:custGeom>
                      <a:avLst/>
                      <a:gdLst>
                        <a:gd name="txL" fmla="*/ 0 w 1"/>
                        <a:gd name="txT" fmla="*/ 0 h 150"/>
                        <a:gd name="txR" fmla="*/ 1 w 1"/>
                        <a:gd name="txB" fmla="*/ 150 h 150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150"/>
                        </a:cxn>
                      </a:cxnLst>
                      <a:rect l="txL" t="txT" r="txR" b="txB"/>
                      <a:pathLst>
                        <a:path w="1" h="150">
                          <a:moveTo>
                            <a:pt x="0" y="0"/>
                          </a:moveTo>
                          <a:lnTo>
                            <a:pt x="0" y="15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74" name="Freeform 151"/>
                    <p:cNvSpPr/>
                    <p:nvPr/>
                  </p:nvSpPr>
                  <p:spPr>
                    <a:xfrm>
                      <a:off x="2491" y="3401"/>
                      <a:ext cx="1" cy="150"/>
                    </a:xfrm>
                    <a:custGeom>
                      <a:avLst/>
                      <a:gdLst>
                        <a:gd name="txL" fmla="*/ 0 w 1"/>
                        <a:gd name="txT" fmla="*/ 0 h 150"/>
                        <a:gd name="txR" fmla="*/ 1 w 1"/>
                        <a:gd name="txB" fmla="*/ 150 h 150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150"/>
                        </a:cxn>
                      </a:cxnLst>
                      <a:rect l="txL" t="txT" r="txR" b="txB"/>
                      <a:pathLst>
                        <a:path w="1" h="150">
                          <a:moveTo>
                            <a:pt x="0" y="0"/>
                          </a:moveTo>
                          <a:lnTo>
                            <a:pt x="0" y="15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75" name="Freeform 152"/>
                    <p:cNvSpPr/>
                    <p:nvPr/>
                  </p:nvSpPr>
                  <p:spPr>
                    <a:xfrm>
                      <a:off x="3643" y="3401"/>
                      <a:ext cx="1" cy="150"/>
                    </a:xfrm>
                    <a:custGeom>
                      <a:avLst/>
                      <a:gdLst>
                        <a:gd name="txL" fmla="*/ 0 w 1"/>
                        <a:gd name="txT" fmla="*/ 0 h 150"/>
                        <a:gd name="txR" fmla="*/ 1 w 1"/>
                        <a:gd name="txB" fmla="*/ 150 h 150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150"/>
                        </a:cxn>
                      </a:cxnLst>
                      <a:rect l="txL" t="txT" r="txR" b="txB"/>
                      <a:pathLst>
                        <a:path w="1" h="150">
                          <a:moveTo>
                            <a:pt x="0" y="0"/>
                          </a:moveTo>
                          <a:lnTo>
                            <a:pt x="0" y="15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76" name="Freeform 153"/>
                    <p:cNvSpPr/>
                    <p:nvPr/>
                  </p:nvSpPr>
                  <p:spPr>
                    <a:xfrm>
                      <a:off x="4795" y="3401"/>
                      <a:ext cx="1" cy="150"/>
                    </a:xfrm>
                    <a:custGeom>
                      <a:avLst/>
                      <a:gdLst>
                        <a:gd name="txL" fmla="*/ 0 w 1"/>
                        <a:gd name="txT" fmla="*/ 0 h 150"/>
                        <a:gd name="txR" fmla="*/ 1 w 1"/>
                        <a:gd name="txB" fmla="*/ 150 h 150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150"/>
                        </a:cxn>
                      </a:cxnLst>
                      <a:rect l="txL" t="txT" r="txR" b="txB"/>
                      <a:pathLst>
                        <a:path w="1" h="150">
                          <a:moveTo>
                            <a:pt x="0" y="0"/>
                          </a:moveTo>
                          <a:lnTo>
                            <a:pt x="0" y="15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77" name="Freeform 154"/>
                    <p:cNvSpPr/>
                    <p:nvPr/>
                  </p:nvSpPr>
                  <p:spPr>
                    <a:xfrm>
                      <a:off x="5276" y="3305"/>
                      <a:ext cx="1" cy="246"/>
                    </a:xfrm>
                    <a:custGeom>
                      <a:avLst/>
                      <a:gdLst>
                        <a:gd name="txL" fmla="*/ 0 w 1"/>
                        <a:gd name="txT" fmla="*/ 0 h 246"/>
                        <a:gd name="txR" fmla="*/ 1 w 1"/>
                        <a:gd name="txB" fmla="*/ 246 h 24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246"/>
                        </a:cxn>
                      </a:cxnLst>
                      <a:rect l="txL" t="txT" r="txR" b="txB"/>
                      <a:pathLst>
                        <a:path w="1" h="246">
                          <a:moveTo>
                            <a:pt x="0" y="0"/>
                          </a:moveTo>
                          <a:lnTo>
                            <a:pt x="0" y="24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78" name="Freeform 155"/>
                    <p:cNvSpPr/>
                    <p:nvPr/>
                  </p:nvSpPr>
                  <p:spPr>
                    <a:xfrm>
                      <a:off x="4124" y="3305"/>
                      <a:ext cx="1" cy="246"/>
                    </a:xfrm>
                    <a:custGeom>
                      <a:avLst/>
                      <a:gdLst>
                        <a:gd name="txL" fmla="*/ 0 w 1"/>
                        <a:gd name="txT" fmla="*/ 0 h 246"/>
                        <a:gd name="txR" fmla="*/ 1 w 1"/>
                        <a:gd name="txB" fmla="*/ 246 h 24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246"/>
                        </a:cxn>
                      </a:cxnLst>
                      <a:rect l="txL" t="txT" r="txR" b="txB"/>
                      <a:pathLst>
                        <a:path w="1" h="246">
                          <a:moveTo>
                            <a:pt x="0" y="0"/>
                          </a:moveTo>
                          <a:lnTo>
                            <a:pt x="0" y="24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79" name="Freeform 156"/>
                    <p:cNvSpPr/>
                    <p:nvPr/>
                  </p:nvSpPr>
                  <p:spPr>
                    <a:xfrm>
                      <a:off x="2972" y="3305"/>
                      <a:ext cx="1" cy="246"/>
                    </a:xfrm>
                    <a:custGeom>
                      <a:avLst/>
                      <a:gdLst>
                        <a:gd name="txL" fmla="*/ 0 w 1"/>
                        <a:gd name="txT" fmla="*/ 0 h 246"/>
                        <a:gd name="txR" fmla="*/ 1 w 1"/>
                        <a:gd name="txB" fmla="*/ 246 h 24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246"/>
                        </a:cxn>
                      </a:cxnLst>
                      <a:rect l="txL" t="txT" r="txR" b="txB"/>
                      <a:pathLst>
                        <a:path w="1" h="246">
                          <a:moveTo>
                            <a:pt x="0" y="0"/>
                          </a:moveTo>
                          <a:lnTo>
                            <a:pt x="0" y="24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80" name="Freeform 157"/>
                    <p:cNvSpPr/>
                    <p:nvPr/>
                  </p:nvSpPr>
                  <p:spPr>
                    <a:xfrm>
                      <a:off x="1819" y="3305"/>
                      <a:ext cx="1" cy="246"/>
                    </a:xfrm>
                    <a:custGeom>
                      <a:avLst/>
                      <a:gdLst>
                        <a:gd name="txL" fmla="*/ 0 w 1"/>
                        <a:gd name="txT" fmla="*/ 0 h 246"/>
                        <a:gd name="txR" fmla="*/ 1 w 1"/>
                        <a:gd name="txB" fmla="*/ 246 h 24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246"/>
                        </a:cxn>
                      </a:cxnLst>
                      <a:rect l="txL" t="txT" r="txR" b="txB"/>
                      <a:pathLst>
                        <a:path w="1" h="246">
                          <a:moveTo>
                            <a:pt x="0" y="0"/>
                          </a:moveTo>
                          <a:lnTo>
                            <a:pt x="0" y="24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81" name="Freeform 158"/>
                    <p:cNvSpPr/>
                    <p:nvPr/>
                  </p:nvSpPr>
                  <p:spPr>
                    <a:xfrm>
                      <a:off x="956" y="4025"/>
                      <a:ext cx="4317" cy="1"/>
                    </a:xfrm>
                    <a:custGeom>
                      <a:avLst/>
                      <a:gdLst>
                        <a:gd name="txL" fmla="*/ 0 w 4317"/>
                        <a:gd name="txT" fmla="*/ 0 h 1"/>
                        <a:gd name="txR" fmla="*/ 4317 w 4317"/>
                        <a:gd name="txB" fmla="*/ 1 h 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4317" y="0"/>
                        </a:cxn>
                      </a:cxnLst>
                      <a:rect l="txL" t="txT" r="txR" b="txB"/>
                      <a:pathLst>
                        <a:path w="4317" h="1">
                          <a:moveTo>
                            <a:pt x="0" y="0"/>
                          </a:moveTo>
                          <a:lnTo>
                            <a:pt x="4317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82" name="Freeform 159"/>
                    <p:cNvSpPr/>
                    <p:nvPr/>
                  </p:nvSpPr>
                  <p:spPr>
                    <a:xfrm>
                      <a:off x="956" y="4121"/>
                      <a:ext cx="3837" cy="1"/>
                    </a:xfrm>
                    <a:custGeom>
                      <a:avLst/>
                      <a:gdLst>
                        <a:gd name="txL" fmla="*/ 0 w 3837"/>
                        <a:gd name="txT" fmla="*/ 0 h 1"/>
                        <a:gd name="txR" fmla="*/ 3837 w 3837"/>
                        <a:gd name="txB" fmla="*/ 1 h 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3837" y="0"/>
                        </a:cxn>
                      </a:cxnLst>
                      <a:rect l="txL" t="txT" r="txR" b="txB"/>
                      <a:pathLst>
                        <a:path w="3837" h="1">
                          <a:moveTo>
                            <a:pt x="0" y="0"/>
                          </a:moveTo>
                          <a:lnTo>
                            <a:pt x="3837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83" name="Freeform 160"/>
                    <p:cNvSpPr/>
                    <p:nvPr/>
                  </p:nvSpPr>
                  <p:spPr>
                    <a:xfrm>
                      <a:off x="1322" y="3881"/>
                      <a:ext cx="1" cy="243"/>
                    </a:xfrm>
                    <a:custGeom>
                      <a:avLst/>
                      <a:gdLst>
                        <a:gd name="txL" fmla="*/ 0 w 1"/>
                        <a:gd name="txT" fmla="*/ 0 h 243"/>
                        <a:gd name="txR" fmla="*/ 1 w 1"/>
                        <a:gd name="txB" fmla="*/ 243 h 243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243"/>
                        </a:cxn>
                      </a:cxnLst>
                      <a:rect l="txL" t="txT" r="txR" b="txB"/>
                      <a:pathLst>
                        <a:path w="1" h="243">
                          <a:moveTo>
                            <a:pt x="0" y="0"/>
                          </a:moveTo>
                          <a:lnTo>
                            <a:pt x="0" y="243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84" name="Freeform 161"/>
                    <p:cNvSpPr/>
                    <p:nvPr/>
                  </p:nvSpPr>
                  <p:spPr>
                    <a:xfrm>
                      <a:off x="2491" y="3881"/>
                      <a:ext cx="1" cy="243"/>
                    </a:xfrm>
                    <a:custGeom>
                      <a:avLst/>
                      <a:gdLst>
                        <a:gd name="txL" fmla="*/ 0 w 1"/>
                        <a:gd name="txT" fmla="*/ 0 h 243"/>
                        <a:gd name="txR" fmla="*/ 1 w 1"/>
                        <a:gd name="txB" fmla="*/ 243 h 243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243"/>
                        </a:cxn>
                      </a:cxnLst>
                      <a:rect l="txL" t="txT" r="txR" b="txB"/>
                      <a:pathLst>
                        <a:path w="1" h="243">
                          <a:moveTo>
                            <a:pt x="0" y="0"/>
                          </a:moveTo>
                          <a:lnTo>
                            <a:pt x="0" y="243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85" name="Freeform 162"/>
                    <p:cNvSpPr/>
                    <p:nvPr/>
                  </p:nvSpPr>
                  <p:spPr>
                    <a:xfrm>
                      <a:off x="3643" y="3881"/>
                      <a:ext cx="1" cy="243"/>
                    </a:xfrm>
                    <a:custGeom>
                      <a:avLst/>
                      <a:gdLst>
                        <a:gd name="txL" fmla="*/ 0 w 1"/>
                        <a:gd name="txT" fmla="*/ 0 h 243"/>
                        <a:gd name="txR" fmla="*/ 1 w 1"/>
                        <a:gd name="txB" fmla="*/ 243 h 243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243"/>
                        </a:cxn>
                      </a:cxnLst>
                      <a:rect l="txL" t="txT" r="txR" b="txB"/>
                      <a:pathLst>
                        <a:path w="1" h="243">
                          <a:moveTo>
                            <a:pt x="0" y="0"/>
                          </a:moveTo>
                          <a:lnTo>
                            <a:pt x="0" y="243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86" name="Freeform 163"/>
                    <p:cNvSpPr/>
                    <p:nvPr/>
                  </p:nvSpPr>
                  <p:spPr>
                    <a:xfrm>
                      <a:off x="4791" y="3881"/>
                      <a:ext cx="4" cy="247"/>
                    </a:xfrm>
                    <a:custGeom>
                      <a:avLst/>
                      <a:gdLst>
                        <a:gd name="txL" fmla="*/ 0 w 4"/>
                        <a:gd name="txT" fmla="*/ 0 h 247"/>
                        <a:gd name="txR" fmla="*/ 4 w 4"/>
                        <a:gd name="txB" fmla="*/ 247 h 247"/>
                      </a:gdLst>
                      <a:ahLst/>
                      <a:cxnLst>
                        <a:cxn ang="0">
                          <a:pos x="4" y="0"/>
                        </a:cxn>
                        <a:cxn ang="0">
                          <a:pos x="0" y="247"/>
                        </a:cxn>
                      </a:cxnLst>
                      <a:rect l="txL" t="txT" r="txR" b="txB"/>
                      <a:pathLst>
                        <a:path w="4" h="247">
                          <a:moveTo>
                            <a:pt x="4" y="0"/>
                          </a:moveTo>
                          <a:lnTo>
                            <a:pt x="0" y="247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87" name="Freeform 164"/>
                    <p:cNvSpPr/>
                    <p:nvPr/>
                  </p:nvSpPr>
                  <p:spPr>
                    <a:xfrm>
                      <a:off x="5277" y="3881"/>
                      <a:ext cx="1" cy="151"/>
                    </a:xfrm>
                    <a:custGeom>
                      <a:avLst/>
                      <a:gdLst>
                        <a:gd name="txL" fmla="*/ 0 w 1"/>
                        <a:gd name="txT" fmla="*/ 0 h 151"/>
                        <a:gd name="txR" fmla="*/ 1 w 1"/>
                        <a:gd name="txB" fmla="*/ 151 h 15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151"/>
                        </a:cxn>
                      </a:cxnLst>
                      <a:rect l="txL" t="txT" r="txR" b="txB"/>
                      <a:pathLst>
                        <a:path w="1" h="151">
                          <a:moveTo>
                            <a:pt x="0" y="0"/>
                          </a:moveTo>
                          <a:lnTo>
                            <a:pt x="0" y="151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88" name="Line 165"/>
                    <p:cNvSpPr/>
                    <p:nvPr/>
                  </p:nvSpPr>
                  <p:spPr>
                    <a:xfrm>
                      <a:off x="4124" y="38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oval" w="sm" len="sm"/>
                    </a:ln>
                  </p:spPr>
                </p:sp>
                <p:sp>
                  <p:nvSpPr>
                    <p:cNvPr id="276789" name="Line 166"/>
                    <p:cNvSpPr/>
                    <p:nvPr/>
                  </p:nvSpPr>
                  <p:spPr>
                    <a:xfrm>
                      <a:off x="2973" y="38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oval" w="sm" len="sm"/>
                    </a:ln>
                  </p:spPr>
                </p:sp>
                <p:sp>
                  <p:nvSpPr>
                    <p:cNvPr id="276790" name="Line 167"/>
                    <p:cNvSpPr/>
                    <p:nvPr/>
                  </p:nvSpPr>
                  <p:spPr>
                    <a:xfrm>
                      <a:off x="1820" y="3881"/>
                      <a:ext cx="0" cy="144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oval" w="sm" len="sm"/>
                    </a:ln>
                  </p:spPr>
                </p:sp>
                <p:sp>
                  <p:nvSpPr>
                    <p:cNvPr id="276791" name="Rectangle 168"/>
                    <p:cNvSpPr/>
                    <p:nvPr/>
                  </p:nvSpPr>
                  <p:spPr>
                    <a:xfrm>
                      <a:off x="2317" y="3600"/>
                      <a:ext cx="823" cy="227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anchor="ctr" anchorCtr="0">
                      <a:spAutoFit/>
                    </a:bodyPr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92" name="Text Box 169"/>
                    <p:cNvSpPr txBox="1"/>
                    <p:nvPr/>
                  </p:nvSpPr>
                  <p:spPr>
                    <a:xfrm>
                      <a:off x="2348" y="3576"/>
                      <a:ext cx="75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读写电路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793" name="Rectangle 170"/>
                    <p:cNvSpPr/>
                    <p:nvPr/>
                  </p:nvSpPr>
                  <p:spPr>
                    <a:xfrm>
                      <a:off x="3469" y="3600"/>
                      <a:ext cx="823" cy="227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anchor="ctr" anchorCtr="0">
                      <a:spAutoFit/>
                    </a:bodyPr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94" name="Text Box 171"/>
                    <p:cNvSpPr txBox="1"/>
                    <p:nvPr/>
                  </p:nvSpPr>
                  <p:spPr>
                    <a:xfrm>
                      <a:off x="3500" y="3576"/>
                      <a:ext cx="75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读写电路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795" name="Rectangle 172"/>
                    <p:cNvSpPr/>
                    <p:nvPr/>
                  </p:nvSpPr>
                  <p:spPr>
                    <a:xfrm>
                      <a:off x="4621" y="3600"/>
                      <a:ext cx="823" cy="227"/>
                    </a:xfrm>
                    <a:prstGeom prst="rect">
                      <a:avLst/>
                    </a:pr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anchor="ctr" anchorCtr="0">
                      <a:spAutoFit/>
                    </a:bodyPr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796" name="Text Box 173"/>
                    <p:cNvSpPr txBox="1"/>
                    <p:nvPr/>
                  </p:nvSpPr>
                  <p:spPr>
                    <a:xfrm>
                      <a:off x="4652" y="3576"/>
                      <a:ext cx="75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读写电路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797" name="Line 174"/>
                    <p:cNvSpPr/>
                    <p:nvPr/>
                  </p:nvSpPr>
                  <p:spPr>
                    <a:xfrm>
                      <a:off x="1964" y="3737"/>
                      <a:ext cx="18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stealth" w="sm" len="sm"/>
                      <a:tailEnd type="stealth" w="sm" len="sm"/>
                    </a:ln>
                  </p:spPr>
                </p:sp>
                <p:sp>
                  <p:nvSpPr>
                    <p:cNvPr id="276798" name="Line 175"/>
                    <p:cNvSpPr/>
                    <p:nvPr/>
                  </p:nvSpPr>
                  <p:spPr>
                    <a:xfrm>
                      <a:off x="3144" y="3737"/>
                      <a:ext cx="18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stealth" w="sm" len="sm"/>
                      <a:tailEnd type="stealth" w="sm" len="sm"/>
                    </a:ln>
                  </p:spPr>
                </p:sp>
                <p:sp>
                  <p:nvSpPr>
                    <p:cNvPr id="276799" name="Line 176"/>
                    <p:cNvSpPr/>
                    <p:nvPr/>
                  </p:nvSpPr>
                  <p:spPr>
                    <a:xfrm>
                      <a:off x="4293" y="3737"/>
                      <a:ext cx="18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stealth" w="sm" len="sm"/>
                      <a:tailEnd type="stealth" w="sm" len="sm"/>
                    </a:ln>
                  </p:spPr>
                </p:sp>
                <p:sp>
                  <p:nvSpPr>
                    <p:cNvPr id="276800" name="Line 177"/>
                    <p:cNvSpPr/>
                    <p:nvPr/>
                  </p:nvSpPr>
                  <p:spPr>
                    <a:xfrm>
                      <a:off x="5420" y="3737"/>
                      <a:ext cx="181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stealth" w="sm" len="sm"/>
                      <a:tailEnd type="stealth" w="sm" len="sm"/>
                    </a:ln>
                  </p:spPr>
                </p:sp>
                <p:sp>
                  <p:nvSpPr>
                    <p:cNvPr id="276801" name="Freeform 178"/>
                    <p:cNvSpPr/>
                    <p:nvPr/>
                  </p:nvSpPr>
                  <p:spPr>
                    <a:xfrm>
                      <a:off x="3033" y="2708"/>
                      <a:ext cx="47" cy="501"/>
                    </a:xfrm>
                    <a:custGeom>
                      <a:avLst/>
                      <a:gdLst>
                        <a:gd name="txL" fmla="*/ 0 w 1"/>
                        <a:gd name="txT" fmla="*/ 0 h 406"/>
                        <a:gd name="txR" fmla="*/ 1 w 1"/>
                        <a:gd name="txB" fmla="*/ 406 h 40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406"/>
                        </a:cxn>
                      </a:cxnLst>
                      <a:rect l="txL" t="txT" r="txR" b="txB"/>
                      <a:pathLst>
                        <a:path w="1" h="406">
                          <a:moveTo>
                            <a:pt x="0" y="0"/>
                          </a:moveTo>
                          <a:lnTo>
                            <a:pt x="0" y="40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802" name="Freeform 179"/>
                    <p:cNvSpPr/>
                    <p:nvPr/>
                  </p:nvSpPr>
                  <p:spPr>
                    <a:xfrm>
                      <a:off x="4185" y="2691"/>
                      <a:ext cx="1" cy="525"/>
                    </a:xfrm>
                    <a:custGeom>
                      <a:avLst/>
                      <a:gdLst>
                        <a:gd name="txL" fmla="*/ 0 w 1"/>
                        <a:gd name="txT" fmla="*/ 0 h 525"/>
                        <a:gd name="txR" fmla="*/ 1 w 1"/>
                        <a:gd name="txB" fmla="*/ 525 h 525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525"/>
                        </a:cxn>
                      </a:cxnLst>
                      <a:rect l="txL" t="txT" r="txR" b="txB"/>
                      <a:pathLst>
                        <a:path w="1" h="525">
                          <a:moveTo>
                            <a:pt x="0" y="0"/>
                          </a:moveTo>
                          <a:lnTo>
                            <a:pt x="0" y="525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803" name="Freeform 180"/>
                    <p:cNvSpPr/>
                    <p:nvPr/>
                  </p:nvSpPr>
                  <p:spPr>
                    <a:xfrm>
                      <a:off x="5325" y="2708"/>
                      <a:ext cx="47" cy="501"/>
                    </a:xfrm>
                    <a:custGeom>
                      <a:avLst/>
                      <a:gdLst>
                        <a:gd name="txL" fmla="*/ 0 w 1"/>
                        <a:gd name="txT" fmla="*/ 0 h 406"/>
                        <a:gd name="txR" fmla="*/ 1 w 1"/>
                        <a:gd name="txB" fmla="*/ 406 h 40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406"/>
                        </a:cxn>
                      </a:cxnLst>
                      <a:rect l="txL" t="txT" r="txR" b="txB"/>
                      <a:pathLst>
                        <a:path w="1" h="406">
                          <a:moveTo>
                            <a:pt x="0" y="0"/>
                          </a:moveTo>
                          <a:lnTo>
                            <a:pt x="0" y="40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oval" w="sm" len="sm"/>
                      <a:tailEnd type="none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804" name="Text Box 181"/>
                    <p:cNvSpPr txBox="1"/>
                    <p:nvPr/>
                  </p:nvSpPr>
                  <p:spPr>
                    <a:xfrm rot="5400000">
                      <a:off x="1175" y="1623"/>
                      <a:ext cx="363" cy="36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05" name="Text Box 182"/>
                    <p:cNvSpPr txBox="1"/>
                    <p:nvPr/>
                  </p:nvSpPr>
                  <p:spPr>
                    <a:xfrm rot="5400000">
                      <a:off x="1751" y="1623"/>
                      <a:ext cx="363" cy="36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06" name="Text Box 183"/>
                    <p:cNvSpPr txBox="1"/>
                    <p:nvPr/>
                  </p:nvSpPr>
                  <p:spPr>
                    <a:xfrm rot="5400000">
                      <a:off x="2327" y="1623"/>
                      <a:ext cx="363" cy="36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07" name="Text Box 184"/>
                    <p:cNvSpPr txBox="1"/>
                    <p:nvPr/>
                  </p:nvSpPr>
                  <p:spPr>
                    <a:xfrm rot="5400000">
                      <a:off x="2903" y="1611"/>
                      <a:ext cx="363" cy="36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08" name="Text Box 185"/>
                    <p:cNvSpPr txBox="1"/>
                    <p:nvPr/>
                  </p:nvSpPr>
                  <p:spPr>
                    <a:xfrm rot="5400000">
                      <a:off x="3478" y="1610"/>
                      <a:ext cx="363" cy="36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09" name="Text Box 186"/>
                    <p:cNvSpPr txBox="1"/>
                    <p:nvPr/>
                  </p:nvSpPr>
                  <p:spPr>
                    <a:xfrm rot="5400000">
                      <a:off x="4055" y="1611"/>
                      <a:ext cx="363" cy="36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10" name="Text Box 187"/>
                    <p:cNvSpPr txBox="1"/>
                    <p:nvPr/>
                  </p:nvSpPr>
                  <p:spPr>
                    <a:xfrm rot="5400000">
                      <a:off x="4631" y="1611"/>
                      <a:ext cx="363" cy="36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11" name="Text Box 188"/>
                    <p:cNvSpPr txBox="1"/>
                    <p:nvPr/>
                  </p:nvSpPr>
                  <p:spPr>
                    <a:xfrm rot="5400000">
                      <a:off x="5226" y="1611"/>
                      <a:ext cx="363" cy="36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12" name="Text Box 189"/>
                    <p:cNvSpPr txBox="1"/>
                    <p:nvPr/>
                  </p:nvSpPr>
                  <p:spPr>
                    <a:xfrm>
                      <a:off x="660" y="791"/>
                      <a:ext cx="187" cy="2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13" name="Text Box 190"/>
                    <p:cNvSpPr txBox="1"/>
                    <p:nvPr/>
                  </p:nvSpPr>
                  <p:spPr>
                    <a:xfrm>
                      <a:off x="660" y="1383"/>
                      <a:ext cx="187" cy="2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14" name="Text Box 191"/>
                    <p:cNvSpPr txBox="1"/>
                    <p:nvPr/>
                  </p:nvSpPr>
                  <p:spPr>
                    <a:xfrm>
                      <a:off x="624" y="1959"/>
                      <a:ext cx="259" cy="2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63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15" name="Line 192"/>
                    <p:cNvSpPr/>
                    <p:nvPr/>
                  </p:nvSpPr>
                  <p:spPr>
                    <a:xfrm>
                      <a:off x="332" y="2537"/>
                      <a:ext cx="57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816" name="Text Box 193"/>
                    <p:cNvSpPr txBox="1"/>
                    <p:nvPr/>
                  </p:nvSpPr>
                  <p:spPr>
                    <a:xfrm>
                      <a:off x="660" y="2727"/>
                      <a:ext cx="187" cy="2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17" name="Text Box 194"/>
                    <p:cNvSpPr txBox="1"/>
                    <p:nvPr/>
                  </p:nvSpPr>
                  <p:spPr>
                    <a:xfrm>
                      <a:off x="624" y="3159"/>
                      <a:ext cx="259" cy="227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18" name="Text Box 195"/>
                    <p:cNvSpPr txBox="1"/>
                    <p:nvPr/>
                  </p:nvSpPr>
                  <p:spPr>
                    <a:xfrm rot="5400000">
                      <a:off x="647" y="1611"/>
                      <a:ext cx="363" cy="36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19" name="Text Box 196"/>
                    <p:cNvSpPr txBox="1"/>
                    <p:nvPr/>
                  </p:nvSpPr>
                  <p:spPr>
                    <a:xfrm rot="5400000">
                      <a:off x="647" y="2859"/>
                      <a:ext cx="363" cy="36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32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20" name="Text Box 197"/>
                    <p:cNvSpPr txBox="1"/>
                    <p:nvPr/>
                  </p:nvSpPr>
                  <p:spPr>
                    <a:xfrm>
                      <a:off x="349" y="1015"/>
                      <a:ext cx="27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行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21" name="Text Box 198"/>
                    <p:cNvSpPr txBox="1"/>
                    <p:nvPr/>
                  </p:nvSpPr>
                  <p:spPr>
                    <a:xfrm>
                      <a:off x="349" y="1263"/>
                      <a:ext cx="27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地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22" name="Text Box 199"/>
                    <p:cNvSpPr txBox="1"/>
                    <p:nvPr/>
                  </p:nvSpPr>
                  <p:spPr>
                    <a:xfrm>
                      <a:off x="349" y="1511"/>
                      <a:ext cx="27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址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23" name="Text Box 200"/>
                    <p:cNvSpPr txBox="1"/>
                    <p:nvPr/>
                  </p:nvSpPr>
                  <p:spPr>
                    <a:xfrm>
                      <a:off x="349" y="1758"/>
                      <a:ext cx="27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译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24" name="Text Box 201"/>
                    <p:cNvSpPr txBox="1"/>
                    <p:nvPr/>
                  </p:nvSpPr>
                  <p:spPr>
                    <a:xfrm>
                      <a:off x="349" y="2006"/>
                      <a:ext cx="27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码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25" name="Text Box 202"/>
                    <p:cNvSpPr txBox="1"/>
                    <p:nvPr/>
                  </p:nvSpPr>
                  <p:spPr>
                    <a:xfrm>
                      <a:off x="376" y="2635"/>
                      <a:ext cx="27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列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26" name="Text Box 203"/>
                    <p:cNvSpPr txBox="1"/>
                    <p:nvPr/>
                  </p:nvSpPr>
                  <p:spPr>
                    <a:xfrm>
                      <a:off x="376" y="2883"/>
                      <a:ext cx="27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地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27" name="Text Box 204"/>
                    <p:cNvSpPr txBox="1"/>
                    <p:nvPr/>
                  </p:nvSpPr>
                  <p:spPr>
                    <a:xfrm>
                      <a:off x="376" y="3131"/>
                      <a:ext cx="27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址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28" name="Text Box 205"/>
                    <p:cNvSpPr txBox="1"/>
                    <p:nvPr/>
                  </p:nvSpPr>
                  <p:spPr>
                    <a:xfrm>
                      <a:off x="376" y="3378"/>
                      <a:ext cx="27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译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29" name="Text Box 206"/>
                    <p:cNvSpPr txBox="1"/>
                    <p:nvPr/>
                  </p:nvSpPr>
                  <p:spPr>
                    <a:xfrm>
                      <a:off x="376" y="3626"/>
                      <a:ext cx="275" cy="24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码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30" name="Text Box 207"/>
                    <p:cNvSpPr txBox="1"/>
                    <p:nvPr/>
                  </p:nvSpPr>
                  <p:spPr>
                    <a:xfrm>
                      <a:off x="1946" y="3527"/>
                      <a:ext cx="342" cy="20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I/O</a:t>
                      </a:r>
                      <a:r>
                        <a:rPr lang="en-US" altLang="zh-CN" sz="1600" b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600" b="1" baseline="-25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31" name="Text Box 208"/>
                    <p:cNvSpPr txBox="1"/>
                    <p:nvPr/>
                  </p:nvSpPr>
                  <p:spPr>
                    <a:xfrm>
                      <a:off x="3106" y="3527"/>
                      <a:ext cx="342" cy="20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I/O</a:t>
                      </a:r>
                      <a:r>
                        <a:rPr lang="en-US" altLang="zh-CN" sz="1600" b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600" b="1" baseline="-25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32" name="Text Box 209"/>
                    <p:cNvSpPr txBox="1"/>
                    <p:nvPr/>
                  </p:nvSpPr>
                  <p:spPr>
                    <a:xfrm>
                      <a:off x="4258" y="3527"/>
                      <a:ext cx="342" cy="20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I/O</a:t>
                      </a:r>
                      <a:r>
                        <a:rPr lang="en-US" altLang="zh-CN" sz="1600" b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600" b="1" baseline="-25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33" name="Text Box 210"/>
                    <p:cNvSpPr txBox="1"/>
                    <p:nvPr/>
                  </p:nvSpPr>
                  <p:spPr>
                    <a:xfrm>
                      <a:off x="5416" y="3527"/>
                      <a:ext cx="342" cy="20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I/O</a:t>
                      </a:r>
                      <a:r>
                        <a:rPr lang="en-US" altLang="zh-CN" sz="1600" b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1600" b="1" baseline="-25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34" name="Line 211"/>
                    <p:cNvSpPr/>
                    <p:nvPr/>
                  </p:nvSpPr>
                  <p:spPr>
                    <a:xfrm>
                      <a:off x="140" y="905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sm" len="sm"/>
                    </a:ln>
                  </p:spPr>
                </p:sp>
                <p:sp>
                  <p:nvSpPr>
                    <p:cNvPr id="276835" name="Line 212"/>
                    <p:cNvSpPr/>
                    <p:nvPr/>
                  </p:nvSpPr>
                  <p:spPr>
                    <a:xfrm>
                      <a:off x="140" y="1164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sm" len="sm"/>
                    </a:ln>
                  </p:spPr>
                </p:sp>
                <p:sp>
                  <p:nvSpPr>
                    <p:cNvPr id="276836" name="Line 213"/>
                    <p:cNvSpPr/>
                    <p:nvPr/>
                  </p:nvSpPr>
                  <p:spPr>
                    <a:xfrm>
                      <a:off x="140" y="1423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sm" len="sm"/>
                    </a:ln>
                  </p:spPr>
                </p:sp>
                <p:sp>
                  <p:nvSpPr>
                    <p:cNvPr id="276837" name="Line 214"/>
                    <p:cNvSpPr/>
                    <p:nvPr/>
                  </p:nvSpPr>
                  <p:spPr>
                    <a:xfrm>
                      <a:off x="140" y="1682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sm" len="sm"/>
                    </a:ln>
                  </p:spPr>
                </p:sp>
                <p:sp>
                  <p:nvSpPr>
                    <p:cNvPr id="276838" name="Line 215"/>
                    <p:cNvSpPr/>
                    <p:nvPr/>
                  </p:nvSpPr>
                  <p:spPr>
                    <a:xfrm>
                      <a:off x="140" y="1941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sm" len="sm"/>
                    </a:ln>
                  </p:spPr>
                </p:sp>
                <p:sp>
                  <p:nvSpPr>
                    <p:cNvPr id="276839" name="Line 216"/>
                    <p:cNvSpPr/>
                    <p:nvPr/>
                  </p:nvSpPr>
                  <p:spPr>
                    <a:xfrm>
                      <a:off x="140" y="2201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sm" len="sm"/>
                    </a:ln>
                  </p:spPr>
                </p:sp>
                <p:sp>
                  <p:nvSpPr>
                    <p:cNvPr id="276840" name="Line 217"/>
                    <p:cNvSpPr/>
                    <p:nvPr/>
                  </p:nvSpPr>
                  <p:spPr>
                    <a:xfrm>
                      <a:off x="140" y="2872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sm" len="sm"/>
                    </a:ln>
                  </p:spPr>
                </p:sp>
                <p:sp>
                  <p:nvSpPr>
                    <p:cNvPr id="276841" name="Line 218"/>
                    <p:cNvSpPr/>
                    <p:nvPr/>
                  </p:nvSpPr>
                  <p:spPr>
                    <a:xfrm>
                      <a:off x="140" y="3131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sm" len="sm"/>
                    </a:ln>
                  </p:spPr>
                </p:sp>
                <p:sp>
                  <p:nvSpPr>
                    <p:cNvPr id="276842" name="Line 219"/>
                    <p:cNvSpPr/>
                    <p:nvPr/>
                  </p:nvSpPr>
                  <p:spPr>
                    <a:xfrm>
                      <a:off x="140" y="3390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sm" len="sm"/>
                    </a:ln>
                  </p:spPr>
                </p:sp>
                <p:sp>
                  <p:nvSpPr>
                    <p:cNvPr id="276843" name="Line 220"/>
                    <p:cNvSpPr/>
                    <p:nvPr/>
                  </p:nvSpPr>
                  <p:spPr>
                    <a:xfrm>
                      <a:off x="140" y="3650"/>
                      <a:ext cx="192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stealth" w="sm" len="sm"/>
                    </a:ln>
                  </p:spPr>
                </p:sp>
                <p:sp>
                  <p:nvSpPr>
                    <p:cNvPr id="276844" name="Text Box 221"/>
                    <p:cNvSpPr txBox="1"/>
                    <p:nvPr/>
                  </p:nvSpPr>
                  <p:spPr>
                    <a:xfrm>
                      <a:off x="648" y="3890"/>
                      <a:ext cx="355" cy="232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WE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45" name="Line 222"/>
                    <p:cNvSpPr/>
                    <p:nvPr/>
                  </p:nvSpPr>
                  <p:spPr>
                    <a:xfrm>
                      <a:off x="682" y="3923"/>
                      <a:ext cx="288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846" name="Text Box 223"/>
                    <p:cNvSpPr txBox="1"/>
                    <p:nvPr/>
                  </p:nvSpPr>
                  <p:spPr>
                    <a:xfrm>
                      <a:off x="669" y="4025"/>
                      <a:ext cx="320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CS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847" name="Line 224"/>
                    <p:cNvSpPr/>
                    <p:nvPr/>
                  </p:nvSpPr>
                  <p:spPr>
                    <a:xfrm>
                      <a:off x="726" y="4079"/>
                      <a:ext cx="192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76633" name="Group 225"/>
                  <p:cNvGrpSpPr/>
                  <p:nvPr/>
                </p:nvGrpSpPr>
                <p:grpSpPr>
                  <a:xfrm>
                    <a:off x="140" y="674"/>
                    <a:ext cx="195" cy="3011"/>
                    <a:chOff x="140" y="674"/>
                    <a:chExt cx="195" cy="3011"/>
                  </a:xfrm>
                </p:grpSpPr>
                <p:sp>
                  <p:nvSpPr>
                    <p:cNvPr id="276634" name="Text Box 226"/>
                    <p:cNvSpPr txBox="1"/>
                    <p:nvPr/>
                  </p:nvSpPr>
                  <p:spPr>
                    <a:xfrm>
                      <a:off x="140" y="674"/>
                      <a:ext cx="19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35" name="Text Box 227"/>
                    <p:cNvSpPr txBox="1"/>
                    <p:nvPr/>
                  </p:nvSpPr>
                  <p:spPr>
                    <a:xfrm>
                      <a:off x="140" y="933"/>
                      <a:ext cx="19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36" name="Text Box 228"/>
                    <p:cNvSpPr txBox="1"/>
                    <p:nvPr/>
                  </p:nvSpPr>
                  <p:spPr>
                    <a:xfrm>
                      <a:off x="140" y="1192"/>
                      <a:ext cx="19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37" name="Text Box 229"/>
                    <p:cNvSpPr txBox="1"/>
                    <p:nvPr/>
                  </p:nvSpPr>
                  <p:spPr>
                    <a:xfrm>
                      <a:off x="140" y="1451"/>
                      <a:ext cx="19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38" name="Text Box 230"/>
                    <p:cNvSpPr txBox="1"/>
                    <p:nvPr/>
                  </p:nvSpPr>
                  <p:spPr>
                    <a:xfrm>
                      <a:off x="140" y="1710"/>
                      <a:ext cx="19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39" name="Text Box 231"/>
                    <p:cNvSpPr txBox="1"/>
                    <p:nvPr/>
                  </p:nvSpPr>
                  <p:spPr>
                    <a:xfrm>
                      <a:off x="140" y="1970"/>
                      <a:ext cx="19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40" name="Text Box 232"/>
                    <p:cNvSpPr txBox="1"/>
                    <p:nvPr/>
                  </p:nvSpPr>
                  <p:spPr>
                    <a:xfrm>
                      <a:off x="140" y="2657"/>
                      <a:ext cx="19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41" name="Text Box 233"/>
                    <p:cNvSpPr txBox="1"/>
                    <p:nvPr/>
                  </p:nvSpPr>
                  <p:spPr>
                    <a:xfrm>
                      <a:off x="140" y="2916"/>
                      <a:ext cx="19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42" name="Text Box 234"/>
                    <p:cNvSpPr txBox="1"/>
                    <p:nvPr/>
                  </p:nvSpPr>
                  <p:spPr>
                    <a:xfrm>
                      <a:off x="140" y="3175"/>
                      <a:ext cx="19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643" name="Text Box 235"/>
                    <p:cNvSpPr txBox="1"/>
                    <p:nvPr/>
                  </p:nvSpPr>
                  <p:spPr>
                    <a:xfrm>
                      <a:off x="140" y="3434"/>
                      <a:ext cx="19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folHlink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76593" name="Group 236"/>
                <p:cNvGrpSpPr/>
                <p:nvPr/>
              </p:nvGrpSpPr>
              <p:grpSpPr>
                <a:xfrm>
                  <a:off x="915" y="2633"/>
                  <a:ext cx="3945" cy="253"/>
                  <a:chOff x="915" y="2633"/>
                  <a:chExt cx="3945" cy="253"/>
                </a:xfrm>
              </p:grpSpPr>
              <p:grpSp>
                <p:nvGrpSpPr>
                  <p:cNvPr id="276594" name="Group 237"/>
                  <p:cNvGrpSpPr/>
                  <p:nvPr/>
                </p:nvGrpSpPr>
                <p:grpSpPr>
                  <a:xfrm>
                    <a:off x="915" y="2696"/>
                    <a:ext cx="3858" cy="190"/>
                    <a:chOff x="915" y="2696"/>
                    <a:chExt cx="3858" cy="190"/>
                  </a:xfrm>
                </p:grpSpPr>
                <p:sp>
                  <p:nvSpPr>
                    <p:cNvPr id="276627" name="Freeform 238"/>
                    <p:cNvSpPr/>
                    <p:nvPr/>
                  </p:nvSpPr>
                  <p:spPr>
                    <a:xfrm>
                      <a:off x="1304" y="2707"/>
                      <a:ext cx="1" cy="166"/>
                    </a:xfrm>
                    <a:custGeom>
                      <a:avLst/>
                      <a:gdLst>
                        <a:gd name="txL" fmla="*/ 0 w 1"/>
                        <a:gd name="txT" fmla="*/ 0 h 166"/>
                        <a:gd name="txR" fmla="*/ 1 w 1"/>
                        <a:gd name="txB" fmla="*/ 166 h 16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" y="166"/>
                        </a:cxn>
                      </a:cxnLst>
                      <a:rect l="txL" t="txT" r="txR" b="txB"/>
                      <a:pathLst>
                        <a:path w="1" h="166">
                          <a:moveTo>
                            <a:pt x="0" y="0"/>
                          </a:moveTo>
                          <a:lnTo>
                            <a:pt x="1" y="1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folHlink"/>
                      </a:solidFill>
                      <a:prstDash val="solid"/>
                      <a:round/>
                      <a:headEnd type="oval" w="sm" len="sm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28" name="Freeform 239"/>
                    <p:cNvSpPr/>
                    <p:nvPr/>
                  </p:nvSpPr>
                  <p:spPr>
                    <a:xfrm>
                      <a:off x="2457" y="2710"/>
                      <a:ext cx="1" cy="166"/>
                    </a:xfrm>
                    <a:custGeom>
                      <a:avLst/>
                      <a:gdLst>
                        <a:gd name="txL" fmla="*/ 0 w 1"/>
                        <a:gd name="txT" fmla="*/ 0 h 166"/>
                        <a:gd name="txR" fmla="*/ 1 w 1"/>
                        <a:gd name="txB" fmla="*/ 166 h 16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" y="166"/>
                        </a:cxn>
                      </a:cxnLst>
                      <a:rect l="txL" t="txT" r="txR" b="txB"/>
                      <a:pathLst>
                        <a:path w="1" h="166">
                          <a:moveTo>
                            <a:pt x="0" y="0"/>
                          </a:moveTo>
                          <a:lnTo>
                            <a:pt x="1" y="16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folHlink"/>
                      </a:solidFill>
                      <a:prstDash val="solid"/>
                      <a:round/>
                      <a:headEnd type="oval" w="sm" len="sm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29" name="Freeform 240"/>
                    <p:cNvSpPr/>
                    <p:nvPr/>
                  </p:nvSpPr>
                  <p:spPr>
                    <a:xfrm>
                      <a:off x="3609" y="2710"/>
                      <a:ext cx="1" cy="176"/>
                    </a:xfrm>
                    <a:custGeom>
                      <a:avLst/>
                      <a:gdLst>
                        <a:gd name="txL" fmla="*/ 0 w 1"/>
                        <a:gd name="txT" fmla="*/ 0 h 176"/>
                        <a:gd name="txR" fmla="*/ 1 w 1"/>
                        <a:gd name="txB" fmla="*/ 176 h 17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176"/>
                        </a:cxn>
                      </a:cxnLst>
                      <a:rect l="txL" t="txT" r="txR" b="txB"/>
                      <a:pathLst>
                        <a:path w="1" h="176">
                          <a:moveTo>
                            <a:pt x="0" y="0"/>
                          </a:moveTo>
                          <a:lnTo>
                            <a:pt x="0" y="17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folHlink"/>
                      </a:solidFill>
                      <a:prstDash val="solid"/>
                      <a:round/>
                      <a:headEnd type="oval" w="sm" len="sm"/>
                      <a:tailEnd type="oval" w="sm" len="sm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30" name="Freeform 241"/>
                    <p:cNvSpPr/>
                    <p:nvPr/>
                  </p:nvSpPr>
                  <p:spPr>
                    <a:xfrm>
                      <a:off x="4761" y="2696"/>
                      <a:ext cx="1" cy="178"/>
                    </a:xfrm>
                    <a:custGeom>
                      <a:avLst/>
                      <a:gdLst>
                        <a:gd name="txL" fmla="*/ 0 w 1"/>
                        <a:gd name="txT" fmla="*/ 0 h 178"/>
                        <a:gd name="txR" fmla="*/ 1 w 1"/>
                        <a:gd name="txB" fmla="*/ 178 h 178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0" y="178"/>
                        </a:cxn>
                      </a:cxnLst>
                      <a:rect l="txL" t="txT" r="txR" b="txB"/>
                      <a:pathLst>
                        <a:path w="1" h="178">
                          <a:moveTo>
                            <a:pt x="0" y="0"/>
                          </a:moveTo>
                          <a:lnTo>
                            <a:pt x="0" y="178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folHlink"/>
                      </a:solidFill>
                      <a:prstDash val="solid"/>
                      <a:round/>
                      <a:headEnd type="oval" w="sm" len="sm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631" name="Freeform 242"/>
                    <p:cNvSpPr/>
                    <p:nvPr/>
                  </p:nvSpPr>
                  <p:spPr>
                    <a:xfrm>
                      <a:off x="915" y="2865"/>
                      <a:ext cx="3858" cy="2"/>
                    </a:xfrm>
                    <a:custGeom>
                      <a:avLst/>
                      <a:gdLst>
                        <a:gd name="txL" fmla="*/ 0 w 3858"/>
                        <a:gd name="txT" fmla="*/ 0 h 2"/>
                        <a:gd name="txR" fmla="*/ 3858 w 3858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3858" y="0"/>
                        </a:cxn>
                      </a:cxnLst>
                      <a:rect l="txL" t="txT" r="txR" b="txB"/>
                      <a:pathLst>
                        <a:path w="3858" h="2">
                          <a:moveTo>
                            <a:pt x="0" y="2"/>
                          </a:moveTo>
                          <a:lnTo>
                            <a:pt x="3858" y="0"/>
                          </a:lnTo>
                        </a:path>
                      </a:pathLst>
                    </a:custGeom>
                    <a:noFill/>
                    <a:ln w="76200" cap="flat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76595" name="Group 243"/>
                  <p:cNvGrpSpPr/>
                  <p:nvPr/>
                </p:nvGrpSpPr>
                <p:grpSpPr>
                  <a:xfrm>
                    <a:off x="1213" y="2633"/>
                    <a:ext cx="192" cy="158"/>
                    <a:chOff x="1440" y="2928"/>
                    <a:chExt cx="192" cy="158"/>
                  </a:xfrm>
                </p:grpSpPr>
                <p:grpSp>
                  <p:nvGrpSpPr>
                    <p:cNvPr id="276620" name="Group 244"/>
                    <p:cNvGrpSpPr/>
                    <p:nvPr/>
                  </p:nvGrpSpPr>
                  <p:grpSpPr>
                    <a:xfrm rot="5400000">
                      <a:off x="1529" y="2983"/>
                      <a:ext cx="158" cy="48"/>
                      <a:chOff x="3459" y="1296"/>
                      <a:chExt cx="243" cy="48"/>
                    </a:xfrm>
                  </p:grpSpPr>
                  <p:sp>
                    <p:nvSpPr>
                      <p:cNvPr id="276625" name="Line 245"/>
                      <p:cNvSpPr/>
                      <p:nvPr/>
                    </p:nvSpPr>
                    <p:spPr>
                      <a:xfrm>
                        <a:off x="3459" y="1296"/>
                        <a:ext cx="243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76626" name="Line 246"/>
                      <p:cNvSpPr/>
                      <p:nvPr/>
                    </p:nvSpPr>
                    <p:spPr>
                      <a:xfrm>
                        <a:off x="3504" y="1344"/>
                        <a:ext cx="147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76621" name="Freeform 247"/>
                    <p:cNvSpPr/>
                    <p:nvPr/>
                  </p:nvSpPr>
                  <p:spPr>
                    <a:xfrm>
                      <a:off x="1487" y="3003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76622" name="Group 248"/>
                    <p:cNvGrpSpPr/>
                    <p:nvPr/>
                  </p:nvGrpSpPr>
                  <p:grpSpPr>
                    <a:xfrm rot="-5400000">
                      <a:off x="1385" y="2983"/>
                      <a:ext cx="158" cy="48"/>
                      <a:chOff x="3459" y="1296"/>
                      <a:chExt cx="243" cy="48"/>
                    </a:xfrm>
                  </p:grpSpPr>
                  <p:sp>
                    <p:nvSpPr>
                      <p:cNvPr id="276623" name="Line 249"/>
                      <p:cNvSpPr/>
                      <p:nvPr/>
                    </p:nvSpPr>
                    <p:spPr>
                      <a:xfrm>
                        <a:off x="3459" y="1296"/>
                        <a:ext cx="243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76624" name="Line 250"/>
                      <p:cNvSpPr/>
                      <p:nvPr/>
                    </p:nvSpPr>
                    <p:spPr>
                      <a:xfrm>
                        <a:off x="3504" y="1344"/>
                        <a:ext cx="147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grpSp>
                <p:nvGrpSpPr>
                  <p:cNvPr id="276596" name="Group 251"/>
                  <p:cNvGrpSpPr/>
                  <p:nvPr/>
                </p:nvGrpSpPr>
                <p:grpSpPr>
                  <a:xfrm>
                    <a:off x="2365" y="2635"/>
                    <a:ext cx="192" cy="158"/>
                    <a:chOff x="1440" y="2928"/>
                    <a:chExt cx="192" cy="158"/>
                  </a:xfrm>
                </p:grpSpPr>
                <p:grpSp>
                  <p:nvGrpSpPr>
                    <p:cNvPr id="276613" name="Group 252"/>
                    <p:cNvGrpSpPr/>
                    <p:nvPr/>
                  </p:nvGrpSpPr>
                  <p:grpSpPr>
                    <a:xfrm rot="5400000">
                      <a:off x="1529" y="2983"/>
                      <a:ext cx="158" cy="48"/>
                      <a:chOff x="3459" y="1296"/>
                      <a:chExt cx="243" cy="48"/>
                    </a:xfrm>
                  </p:grpSpPr>
                  <p:sp>
                    <p:nvSpPr>
                      <p:cNvPr id="276618" name="Line 253"/>
                      <p:cNvSpPr/>
                      <p:nvPr/>
                    </p:nvSpPr>
                    <p:spPr>
                      <a:xfrm>
                        <a:off x="3459" y="1296"/>
                        <a:ext cx="243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76619" name="Line 254"/>
                      <p:cNvSpPr/>
                      <p:nvPr/>
                    </p:nvSpPr>
                    <p:spPr>
                      <a:xfrm>
                        <a:off x="3504" y="1344"/>
                        <a:ext cx="147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76614" name="Freeform 255"/>
                    <p:cNvSpPr/>
                    <p:nvPr/>
                  </p:nvSpPr>
                  <p:spPr>
                    <a:xfrm>
                      <a:off x="1487" y="3003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76615" name="Group 256"/>
                    <p:cNvGrpSpPr/>
                    <p:nvPr/>
                  </p:nvGrpSpPr>
                  <p:grpSpPr>
                    <a:xfrm rot="-5400000">
                      <a:off x="1385" y="2983"/>
                      <a:ext cx="158" cy="48"/>
                      <a:chOff x="3459" y="1296"/>
                      <a:chExt cx="243" cy="48"/>
                    </a:xfrm>
                  </p:grpSpPr>
                  <p:sp>
                    <p:nvSpPr>
                      <p:cNvPr id="276616" name="Line 257"/>
                      <p:cNvSpPr/>
                      <p:nvPr/>
                    </p:nvSpPr>
                    <p:spPr>
                      <a:xfrm>
                        <a:off x="3459" y="1296"/>
                        <a:ext cx="243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76617" name="Line 258"/>
                      <p:cNvSpPr/>
                      <p:nvPr/>
                    </p:nvSpPr>
                    <p:spPr>
                      <a:xfrm>
                        <a:off x="3504" y="1344"/>
                        <a:ext cx="147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grpSp>
                <p:nvGrpSpPr>
                  <p:cNvPr id="276597" name="Group 259"/>
                  <p:cNvGrpSpPr/>
                  <p:nvPr/>
                </p:nvGrpSpPr>
                <p:grpSpPr>
                  <a:xfrm>
                    <a:off x="3517" y="2635"/>
                    <a:ext cx="192" cy="158"/>
                    <a:chOff x="1440" y="2928"/>
                    <a:chExt cx="192" cy="158"/>
                  </a:xfrm>
                </p:grpSpPr>
                <p:grpSp>
                  <p:nvGrpSpPr>
                    <p:cNvPr id="276606" name="Group 260"/>
                    <p:cNvGrpSpPr/>
                    <p:nvPr/>
                  </p:nvGrpSpPr>
                  <p:grpSpPr>
                    <a:xfrm rot="5400000">
                      <a:off x="1529" y="2983"/>
                      <a:ext cx="158" cy="48"/>
                      <a:chOff x="3459" y="1296"/>
                      <a:chExt cx="243" cy="48"/>
                    </a:xfrm>
                  </p:grpSpPr>
                  <p:sp>
                    <p:nvSpPr>
                      <p:cNvPr id="276611" name="Line 261"/>
                      <p:cNvSpPr/>
                      <p:nvPr/>
                    </p:nvSpPr>
                    <p:spPr>
                      <a:xfrm>
                        <a:off x="3459" y="1296"/>
                        <a:ext cx="243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76612" name="Line 262"/>
                      <p:cNvSpPr/>
                      <p:nvPr/>
                    </p:nvSpPr>
                    <p:spPr>
                      <a:xfrm>
                        <a:off x="3504" y="1344"/>
                        <a:ext cx="147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76607" name="Freeform 263"/>
                    <p:cNvSpPr/>
                    <p:nvPr/>
                  </p:nvSpPr>
                  <p:spPr>
                    <a:xfrm>
                      <a:off x="1487" y="3003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76608" name="Group 264"/>
                    <p:cNvGrpSpPr/>
                    <p:nvPr/>
                  </p:nvGrpSpPr>
                  <p:grpSpPr>
                    <a:xfrm rot="-5400000">
                      <a:off x="1385" y="2983"/>
                      <a:ext cx="158" cy="48"/>
                      <a:chOff x="3459" y="1296"/>
                      <a:chExt cx="243" cy="48"/>
                    </a:xfrm>
                  </p:grpSpPr>
                  <p:sp>
                    <p:nvSpPr>
                      <p:cNvPr id="276609" name="Line 265"/>
                      <p:cNvSpPr/>
                      <p:nvPr/>
                    </p:nvSpPr>
                    <p:spPr>
                      <a:xfrm>
                        <a:off x="3459" y="1296"/>
                        <a:ext cx="243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76610" name="Line 266"/>
                      <p:cNvSpPr/>
                      <p:nvPr/>
                    </p:nvSpPr>
                    <p:spPr>
                      <a:xfrm>
                        <a:off x="3504" y="1344"/>
                        <a:ext cx="147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grpSp>
                <p:nvGrpSpPr>
                  <p:cNvPr id="276598" name="Group 267"/>
                  <p:cNvGrpSpPr/>
                  <p:nvPr/>
                </p:nvGrpSpPr>
                <p:grpSpPr>
                  <a:xfrm>
                    <a:off x="4668" y="2635"/>
                    <a:ext cx="192" cy="158"/>
                    <a:chOff x="1440" y="2928"/>
                    <a:chExt cx="192" cy="158"/>
                  </a:xfrm>
                </p:grpSpPr>
                <p:grpSp>
                  <p:nvGrpSpPr>
                    <p:cNvPr id="276599" name="Group 268"/>
                    <p:cNvGrpSpPr/>
                    <p:nvPr/>
                  </p:nvGrpSpPr>
                  <p:grpSpPr>
                    <a:xfrm rot="5400000">
                      <a:off x="1529" y="2983"/>
                      <a:ext cx="158" cy="48"/>
                      <a:chOff x="3459" y="1296"/>
                      <a:chExt cx="243" cy="48"/>
                    </a:xfrm>
                  </p:grpSpPr>
                  <p:sp>
                    <p:nvSpPr>
                      <p:cNvPr id="276604" name="Line 269"/>
                      <p:cNvSpPr/>
                      <p:nvPr/>
                    </p:nvSpPr>
                    <p:spPr>
                      <a:xfrm>
                        <a:off x="3459" y="1296"/>
                        <a:ext cx="243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76605" name="Line 270"/>
                      <p:cNvSpPr/>
                      <p:nvPr/>
                    </p:nvSpPr>
                    <p:spPr>
                      <a:xfrm>
                        <a:off x="3504" y="1344"/>
                        <a:ext cx="147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76600" name="Freeform 271"/>
                    <p:cNvSpPr/>
                    <p:nvPr/>
                  </p:nvSpPr>
                  <p:spPr>
                    <a:xfrm>
                      <a:off x="1487" y="3003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76601" name="Group 272"/>
                    <p:cNvGrpSpPr/>
                    <p:nvPr/>
                  </p:nvGrpSpPr>
                  <p:grpSpPr>
                    <a:xfrm rot="-5400000">
                      <a:off x="1385" y="2983"/>
                      <a:ext cx="158" cy="48"/>
                      <a:chOff x="3459" y="1296"/>
                      <a:chExt cx="243" cy="48"/>
                    </a:xfrm>
                  </p:grpSpPr>
                  <p:sp>
                    <p:nvSpPr>
                      <p:cNvPr id="276602" name="Line 273"/>
                      <p:cNvSpPr/>
                      <p:nvPr/>
                    </p:nvSpPr>
                    <p:spPr>
                      <a:xfrm>
                        <a:off x="3459" y="1296"/>
                        <a:ext cx="243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76603" name="Line 274"/>
                      <p:cNvSpPr/>
                      <p:nvPr/>
                    </p:nvSpPr>
                    <p:spPr>
                      <a:xfrm>
                        <a:off x="3504" y="1344"/>
                        <a:ext cx="147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folHlink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</p:grpSp>
          </p:grpSp>
          <p:grpSp>
            <p:nvGrpSpPr>
              <p:cNvPr id="276567" name="Group 275"/>
              <p:cNvGrpSpPr/>
              <p:nvPr/>
            </p:nvGrpSpPr>
            <p:grpSpPr>
              <a:xfrm>
                <a:off x="902" y="857"/>
                <a:ext cx="4567" cy="418"/>
                <a:chOff x="902" y="857"/>
                <a:chExt cx="4567" cy="418"/>
              </a:xfrm>
            </p:grpSpPr>
            <p:grpSp>
              <p:nvGrpSpPr>
                <p:cNvPr id="276568" name="Group 276"/>
                <p:cNvGrpSpPr/>
                <p:nvPr/>
              </p:nvGrpSpPr>
              <p:grpSpPr>
                <a:xfrm>
                  <a:off x="902" y="857"/>
                  <a:ext cx="4567" cy="418"/>
                  <a:chOff x="902" y="857"/>
                  <a:chExt cx="4567" cy="418"/>
                </a:xfrm>
              </p:grpSpPr>
              <p:grpSp>
                <p:nvGrpSpPr>
                  <p:cNvPr id="276573" name="Group 277"/>
                  <p:cNvGrpSpPr/>
                  <p:nvPr/>
                </p:nvGrpSpPr>
                <p:grpSpPr>
                  <a:xfrm>
                    <a:off x="1152" y="1024"/>
                    <a:ext cx="4317" cy="251"/>
                    <a:chOff x="1176" y="1079"/>
                    <a:chExt cx="4317" cy="251"/>
                  </a:xfrm>
                </p:grpSpPr>
                <p:sp>
                  <p:nvSpPr>
                    <p:cNvPr id="276584" name="Rectangle 278"/>
                    <p:cNvSpPr/>
                    <p:nvPr/>
                  </p:nvSpPr>
                  <p:spPr>
                    <a:xfrm>
                      <a:off x="1752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585" name="Rectangle 279"/>
                    <p:cNvSpPr/>
                    <p:nvPr/>
                  </p:nvSpPr>
                  <p:spPr>
                    <a:xfrm>
                      <a:off x="1176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586" name="Rectangle 280"/>
                    <p:cNvSpPr/>
                    <p:nvPr/>
                  </p:nvSpPr>
                  <p:spPr>
                    <a:xfrm>
                      <a:off x="2892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31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587" name="Rectangle 281"/>
                    <p:cNvSpPr/>
                    <p:nvPr/>
                  </p:nvSpPr>
                  <p:spPr>
                    <a:xfrm>
                      <a:off x="2316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588" name="Rectangle 282"/>
                    <p:cNvSpPr/>
                    <p:nvPr/>
                  </p:nvSpPr>
                  <p:spPr>
                    <a:xfrm>
                      <a:off x="4067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47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589" name="Rectangle 283"/>
                    <p:cNvSpPr/>
                    <p:nvPr/>
                  </p:nvSpPr>
                  <p:spPr>
                    <a:xfrm>
                      <a:off x="3491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32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590" name="Rectangle 284"/>
                    <p:cNvSpPr/>
                    <p:nvPr/>
                  </p:nvSpPr>
                  <p:spPr>
                    <a:xfrm>
                      <a:off x="5205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63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76591" name="Rectangle 285"/>
                    <p:cNvSpPr/>
                    <p:nvPr/>
                  </p:nvSpPr>
                  <p:spPr>
                    <a:xfrm>
                      <a:off x="4626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48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276574" name="Group 286"/>
                  <p:cNvGrpSpPr/>
                  <p:nvPr/>
                </p:nvGrpSpPr>
                <p:grpSpPr>
                  <a:xfrm>
                    <a:off x="902" y="857"/>
                    <a:ext cx="4419" cy="145"/>
                    <a:chOff x="902" y="857"/>
                    <a:chExt cx="4419" cy="145"/>
                  </a:xfrm>
                </p:grpSpPr>
                <p:sp>
                  <p:nvSpPr>
                    <p:cNvPr id="276575" name="Freeform 287"/>
                    <p:cNvSpPr/>
                    <p:nvPr/>
                  </p:nvSpPr>
                  <p:spPr>
                    <a:xfrm>
                      <a:off x="902" y="857"/>
                      <a:ext cx="4419" cy="1"/>
                    </a:xfrm>
                    <a:custGeom>
                      <a:avLst/>
                      <a:gdLst>
                        <a:gd name="txL" fmla="*/ 0 w 4419"/>
                        <a:gd name="txT" fmla="*/ 0 h 1"/>
                        <a:gd name="txR" fmla="*/ 4419 w 4419"/>
                        <a:gd name="txB" fmla="*/ 1 h 1"/>
                      </a:gdLst>
                      <a:ahLst/>
                      <a:cxnLst>
                        <a:cxn ang="0">
                          <a:pos x="0" y="1"/>
                        </a:cxn>
                        <a:cxn ang="0">
                          <a:pos x="4419" y="0"/>
                        </a:cxn>
                      </a:cxnLst>
                      <a:rect l="txL" t="txT" r="txR" b="txB"/>
                      <a:pathLst>
                        <a:path w="4419" h="1">
                          <a:moveTo>
                            <a:pt x="0" y="1"/>
                          </a:moveTo>
                          <a:lnTo>
                            <a:pt x="4419" y="0"/>
                          </a:lnTo>
                        </a:path>
                      </a:pathLst>
                    </a:custGeom>
                    <a:noFill/>
                    <a:ln w="76200" cap="flat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76576" name="Line 288"/>
                    <p:cNvSpPr/>
                    <p:nvPr/>
                  </p:nvSpPr>
                  <p:spPr>
                    <a:xfrm>
                      <a:off x="1272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577" name="Line 289"/>
                    <p:cNvSpPr/>
                    <p:nvPr/>
                  </p:nvSpPr>
                  <p:spPr>
                    <a:xfrm>
                      <a:off x="1848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578" name="Line 290"/>
                    <p:cNvSpPr/>
                    <p:nvPr/>
                  </p:nvSpPr>
                  <p:spPr>
                    <a:xfrm>
                      <a:off x="2424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579" name="Line 291"/>
                    <p:cNvSpPr/>
                    <p:nvPr/>
                  </p:nvSpPr>
                  <p:spPr>
                    <a:xfrm>
                      <a:off x="3000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580" name="Line 292"/>
                    <p:cNvSpPr/>
                    <p:nvPr/>
                  </p:nvSpPr>
                  <p:spPr>
                    <a:xfrm>
                      <a:off x="3576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581" name="Line 293"/>
                    <p:cNvSpPr/>
                    <p:nvPr/>
                  </p:nvSpPr>
                  <p:spPr>
                    <a:xfrm>
                      <a:off x="4152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582" name="Line 294"/>
                    <p:cNvSpPr/>
                    <p:nvPr/>
                  </p:nvSpPr>
                  <p:spPr>
                    <a:xfrm>
                      <a:off x="4728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76583" name="Line 295"/>
                    <p:cNvSpPr/>
                    <p:nvPr/>
                  </p:nvSpPr>
                  <p:spPr>
                    <a:xfrm>
                      <a:off x="5304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</p:grpSp>
            </p:grpSp>
            <p:sp>
              <p:nvSpPr>
                <p:cNvPr id="276569" name="Text Box 296"/>
                <p:cNvSpPr txBox="1"/>
                <p:nvPr/>
              </p:nvSpPr>
              <p:spPr>
                <a:xfrm>
                  <a:off x="1400" y="870"/>
                  <a:ext cx="371" cy="3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6570" name="Text Box 297"/>
                <p:cNvSpPr txBox="1"/>
                <p:nvPr/>
              </p:nvSpPr>
              <p:spPr>
                <a:xfrm>
                  <a:off x="2540" y="870"/>
                  <a:ext cx="371" cy="3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6571" name="Text Box 298"/>
                <p:cNvSpPr txBox="1"/>
                <p:nvPr/>
              </p:nvSpPr>
              <p:spPr>
                <a:xfrm>
                  <a:off x="3718" y="870"/>
                  <a:ext cx="371" cy="3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6572" name="Text Box 299"/>
                <p:cNvSpPr txBox="1"/>
                <p:nvPr/>
              </p:nvSpPr>
              <p:spPr>
                <a:xfrm>
                  <a:off x="4860" y="870"/>
                  <a:ext cx="371" cy="3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76518" name="Group 300"/>
            <p:cNvGrpSpPr/>
            <p:nvPr/>
          </p:nvGrpSpPr>
          <p:grpSpPr>
            <a:xfrm>
              <a:off x="915" y="1649"/>
              <a:ext cx="4166" cy="1237"/>
              <a:chOff x="915" y="1649"/>
              <a:chExt cx="4166" cy="1237"/>
            </a:xfrm>
          </p:grpSpPr>
          <p:grpSp>
            <p:nvGrpSpPr>
              <p:cNvPr id="276519" name="Group 301"/>
              <p:cNvGrpSpPr/>
              <p:nvPr/>
            </p:nvGrpSpPr>
            <p:grpSpPr>
              <a:xfrm>
                <a:off x="915" y="2633"/>
                <a:ext cx="3945" cy="253"/>
                <a:chOff x="915" y="2633"/>
                <a:chExt cx="3945" cy="253"/>
              </a:xfrm>
            </p:grpSpPr>
            <p:grpSp>
              <p:nvGrpSpPr>
                <p:cNvPr id="276528" name="Group 302"/>
                <p:cNvGrpSpPr/>
                <p:nvPr/>
              </p:nvGrpSpPr>
              <p:grpSpPr>
                <a:xfrm>
                  <a:off x="915" y="2696"/>
                  <a:ext cx="3858" cy="190"/>
                  <a:chOff x="915" y="2696"/>
                  <a:chExt cx="3858" cy="190"/>
                </a:xfrm>
              </p:grpSpPr>
              <p:sp>
                <p:nvSpPr>
                  <p:cNvPr id="276561" name="Freeform 303"/>
                  <p:cNvSpPr/>
                  <p:nvPr/>
                </p:nvSpPr>
                <p:spPr>
                  <a:xfrm>
                    <a:off x="1304" y="2707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0" y="0"/>
                        </a:moveTo>
                        <a:lnTo>
                          <a:pt x="1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6562" name="Freeform 304"/>
                  <p:cNvSpPr/>
                  <p:nvPr/>
                </p:nvSpPr>
                <p:spPr>
                  <a:xfrm>
                    <a:off x="2457" y="2710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0" y="0"/>
                        </a:moveTo>
                        <a:lnTo>
                          <a:pt x="1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6563" name="Freeform 305"/>
                  <p:cNvSpPr/>
                  <p:nvPr/>
                </p:nvSpPr>
                <p:spPr>
                  <a:xfrm>
                    <a:off x="3609" y="2710"/>
                    <a:ext cx="1" cy="176"/>
                  </a:xfrm>
                  <a:custGeom>
                    <a:avLst/>
                    <a:gdLst>
                      <a:gd name="txL" fmla="*/ 0 w 1"/>
                      <a:gd name="txT" fmla="*/ 0 h 176"/>
                      <a:gd name="txR" fmla="*/ 1 w 1"/>
                      <a:gd name="txB" fmla="*/ 176 h 17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6"/>
                      </a:cxn>
                    </a:cxnLst>
                    <a:rect l="txL" t="txT" r="txR" b="txB"/>
                    <a:pathLst>
                      <a:path w="1" h="176">
                        <a:moveTo>
                          <a:pt x="0" y="0"/>
                        </a:moveTo>
                        <a:lnTo>
                          <a:pt x="0" y="17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6564" name="Freeform 306"/>
                  <p:cNvSpPr/>
                  <p:nvPr/>
                </p:nvSpPr>
                <p:spPr>
                  <a:xfrm>
                    <a:off x="4761" y="2696"/>
                    <a:ext cx="1" cy="178"/>
                  </a:xfrm>
                  <a:custGeom>
                    <a:avLst/>
                    <a:gdLst>
                      <a:gd name="txL" fmla="*/ 0 w 1"/>
                      <a:gd name="txT" fmla="*/ 0 h 178"/>
                      <a:gd name="txR" fmla="*/ 1 w 1"/>
                      <a:gd name="txB" fmla="*/ 178 h 178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8"/>
                      </a:cxn>
                    </a:cxnLst>
                    <a:rect l="txL" t="txT" r="txR" b="txB"/>
                    <a:pathLst>
                      <a:path w="1" h="178">
                        <a:moveTo>
                          <a:pt x="0" y="0"/>
                        </a:moveTo>
                        <a:lnTo>
                          <a:pt x="0" y="178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6565" name="Freeform 307"/>
                  <p:cNvSpPr/>
                  <p:nvPr/>
                </p:nvSpPr>
                <p:spPr>
                  <a:xfrm>
                    <a:off x="915" y="2865"/>
                    <a:ext cx="3858" cy="2"/>
                  </a:xfrm>
                  <a:custGeom>
                    <a:avLst/>
                    <a:gdLst>
                      <a:gd name="txL" fmla="*/ 0 w 3858"/>
                      <a:gd name="txT" fmla="*/ 0 h 2"/>
                      <a:gd name="txR" fmla="*/ 3858 w 3858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3858" y="0"/>
                      </a:cxn>
                    </a:cxnLst>
                    <a:rect l="txL" t="txT" r="txR" b="txB"/>
                    <a:pathLst>
                      <a:path w="3858" h="2">
                        <a:moveTo>
                          <a:pt x="0" y="2"/>
                        </a:moveTo>
                        <a:lnTo>
                          <a:pt x="3858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76529" name="Group 308"/>
                <p:cNvGrpSpPr/>
                <p:nvPr/>
              </p:nvGrpSpPr>
              <p:grpSpPr>
                <a:xfrm>
                  <a:off x="1213" y="2633"/>
                  <a:ext cx="192" cy="158"/>
                  <a:chOff x="1440" y="2928"/>
                  <a:chExt cx="192" cy="158"/>
                </a:xfrm>
              </p:grpSpPr>
              <p:grpSp>
                <p:nvGrpSpPr>
                  <p:cNvPr id="276554" name="Group 309"/>
                  <p:cNvGrpSpPr/>
                  <p:nvPr/>
                </p:nvGrpSpPr>
                <p:grpSpPr>
                  <a:xfrm rot="5400000">
                    <a:off x="1529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6559" name="Line 310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560" name="Line 311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76555" name="Freeform 312"/>
                  <p:cNvSpPr/>
                  <p:nvPr/>
                </p:nvSpPr>
                <p:spPr>
                  <a:xfrm>
                    <a:off x="1487" y="3003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76556" name="Group 313"/>
                  <p:cNvGrpSpPr/>
                  <p:nvPr/>
                </p:nvGrpSpPr>
                <p:grpSpPr>
                  <a:xfrm rot="-5400000">
                    <a:off x="1385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6557" name="Line 314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558" name="Line 315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76530" name="Group 316"/>
                <p:cNvGrpSpPr/>
                <p:nvPr/>
              </p:nvGrpSpPr>
              <p:grpSpPr>
                <a:xfrm>
                  <a:off x="2365" y="2635"/>
                  <a:ext cx="192" cy="158"/>
                  <a:chOff x="1440" y="2928"/>
                  <a:chExt cx="192" cy="158"/>
                </a:xfrm>
              </p:grpSpPr>
              <p:grpSp>
                <p:nvGrpSpPr>
                  <p:cNvPr id="276547" name="Group 317"/>
                  <p:cNvGrpSpPr/>
                  <p:nvPr/>
                </p:nvGrpSpPr>
                <p:grpSpPr>
                  <a:xfrm rot="5400000">
                    <a:off x="1529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6552" name="Line 318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553" name="Line 319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76548" name="Freeform 320"/>
                  <p:cNvSpPr/>
                  <p:nvPr/>
                </p:nvSpPr>
                <p:spPr>
                  <a:xfrm>
                    <a:off x="1487" y="3003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76549" name="Group 321"/>
                  <p:cNvGrpSpPr/>
                  <p:nvPr/>
                </p:nvGrpSpPr>
                <p:grpSpPr>
                  <a:xfrm rot="-5400000">
                    <a:off x="1385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6550" name="Line 322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551" name="Line 323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76531" name="Group 324"/>
                <p:cNvGrpSpPr/>
                <p:nvPr/>
              </p:nvGrpSpPr>
              <p:grpSpPr>
                <a:xfrm>
                  <a:off x="3517" y="2635"/>
                  <a:ext cx="192" cy="158"/>
                  <a:chOff x="1440" y="2928"/>
                  <a:chExt cx="192" cy="158"/>
                </a:xfrm>
              </p:grpSpPr>
              <p:grpSp>
                <p:nvGrpSpPr>
                  <p:cNvPr id="276540" name="Group 325"/>
                  <p:cNvGrpSpPr/>
                  <p:nvPr/>
                </p:nvGrpSpPr>
                <p:grpSpPr>
                  <a:xfrm rot="5400000">
                    <a:off x="1529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6545" name="Line 326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546" name="Line 327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76541" name="Freeform 328"/>
                  <p:cNvSpPr/>
                  <p:nvPr/>
                </p:nvSpPr>
                <p:spPr>
                  <a:xfrm>
                    <a:off x="1487" y="3003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76542" name="Group 329"/>
                  <p:cNvGrpSpPr/>
                  <p:nvPr/>
                </p:nvGrpSpPr>
                <p:grpSpPr>
                  <a:xfrm rot="-5400000">
                    <a:off x="1385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6543" name="Line 330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544" name="Line 331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76532" name="Group 332"/>
                <p:cNvGrpSpPr/>
                <p:nvPr/>
              </p:nvGrpSpPr>
              <p:grpSpPr>
                <a:xfrm>
                  <a:off x="4668" y="2635"/>
                  <a:ext cx="192" cy="158"/>
                  <a:chOff x="1440" y="2928"/>
                  <a:chExt cx="192" cy="158"/>
                </a:xfrm>
              </p:grpSpPr>
              <p:grpSp>
                <p:nvGrpSpPr>
                  <p:cNvPr id="276533" name="Group 333"/>
                  <p:cNvGrpSpPr/>
                  <p:nvPr/>
                </p:nvGrpSpPr>
                <p:grpSpPr>
                  <a:xfrm rot="5400000">
                    <a:off x="1529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6538" name="Line 334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539" name="Line 335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76534" name="Freeform 336"/>
                  <p:cNvSpPr/>
                  <p:nvPr/>
                </p:nvSpPr>
                <p:spPr>
                  <a:xfrm>
                    <a:off x="1487" y="3003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76535" name="Group 337"/>
                  <p:cNvGrpSpPr/>
                  <p:nvPr/>
                </p:nvGrpSpPr>
                <p:grpSpPr>
                  <a:xfrm rot="-5400000">
                    <a:off x="1385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6536" name="Line 338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6537" name="Line 339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sp>
            <p:nvSpPr>
              <p:cNvPr id="276520" name="Rectangle 340"/>
              <p:cNvSpPr/>
              <p:nvPr/>
            </p:nvSpPr>
            <p:spPr>
              <a:xfrm>
                <a:off x="1152" y="2228"/>
                <a:ext cx="288" cy="251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521" name="Text Box 341"/>
              <p:cNvSpPr txBox="1"/>
              <p:nvPr/>
            </p:nvSpPr>
            <p:spPr>
              <a:xfrm>
                <a:off x="1150" y="1649"/>
                <a:ext cx="464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522" name="Rectangle 342"/>
              <p:cNvSpPr/>
              <p:nvPr/>
            </p:nvSpPr>
            <p:spPr>
              <a:xfrm>
                <a:off x="2293" y="2228"/>
                <a:ext cx="288" cy="251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523" name="Rectangle 343"/>
              <p:cNvSpPr/>
              <p:nvPr/>
            </p:nvSpPr>
            <p:spPr>
              <a:xfrm>
                <a:off x="4604" y="2228"/>
                <a:ext cx="288" cy="251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524" name="Rectangle 344"/>
              <p:cNvSpPr/>
              <p:nvPr/>
            </p:nvSpPr>
            <p:spPr>
              <a:xfrm>
                <a:off x="3466" y="2228"/>
                <a:ext cx="288" cy="251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525" name="Text Box 345"/>
              <p:cNvSpPr txBox="1"/>
              <p:nvPr/>
            </p:nvSpPr>
            <p:spPr>
              <a:xfrm>
                <a:off x="2314" y="1649"/>
                <a:ext cx="464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526" name="Text Box 346"/>
              <p:cNvSpPr txBox="1"/>
              <p:nvPr/>
            </p:nvSpPr>
            <p:spPr>
              <a:xfrm>
                <a:off x="3462" y="1649"/>
                <a:ext cx="464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527" name="Text Box 347"/>
              <p:cNvSpPr txBox="1"/>
              <p:nvPr/>
            </p:nvSpPr>
            <p:spPr>
              <a:xfrm>
                <a:off x="4617" y="1649"/>
                <a:ext cx="464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76483" name="Group 348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76500" name="Line 349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6501" name="Freeform 350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6502" name="Line 351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6503" name="Freeform 352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6504" name="Line 353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6505" name="Text Box 354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506" name="Text Box 355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507" name="Text Box 356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508" name="Text Box 357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6509" name="Line 358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510" name="Line 359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511" name="Line 360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512" name="Line 361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513" name="Line 362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514" name="Line 363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515" name="Line 364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6516" name="Line 365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13358" name="Rectangle 36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485" name="Text Box 367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读</a:t>
            </a:r>
            <a:endParaRPr lang="zh-CN" altLang="en-US" sz="3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68363" name="Group 368"/>
          <p:cNvGrpSpPr/>
          <p:nvPr/>
        </p:nvGrpSpPr>
        <p:grpSpPr>
          <a:xfrm>
            <a:off x="3352800" y="1625600"/>
            <a:ext cx="5934075" cy="398463"/>
            <a:chOff x="1156" y="1024"/>
            <a:chExt cx="3738" cy="251"/>
          </a:xfrm>
        </p:grpSpPr>
        <p:sp>
          <p:nvSpPr>
            <p:cNvPr id="276496" name="Rectangle 369"/>
            <p:cNvSpPr/>
            <p:nvPr/>
          </p:nvSpPr>
          <p:spPr>
            <a:xfrm>
              <a:off x="1156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497" name="Rectangle 370"/>
            <p:cNvSpPr/>
            <p:nvPr/>
          </p:nvSpPr>
          <p:spPr>
            <a:xfrm>
              <a:off x="2296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498" name="Rectangle 371"/>
            <p:cNvSpPr/>
            <p:nvPr/>
          </p:nvSpPr>
          <p:spPr>
            <a:xfrm>
              <a:off x="3471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499" name="Rectangle 372"/>
            <p:cNvSpPr/>
            <p:nvPr/>
          </p:nvSpPr>
          <p:spPr>
            <a:xfrm>
              <a:off x="4606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8368" name="Group 373"/>
          <p:cNvGrpSpPr/>
          <p:nvPr/>
        </p:nvGrpSpPr>
        <p:grpSpPr>
          <a:xfrm>
            <a:off x="2552700" y="6175375"/>
            <a:ext cx="563563" cy="614363"/>
            <a:chOff x="648" y="3890"/>
            <a:chExt cx="355" cy="387"/>
          </a:xfrm>
        </p:grpSpPr>
        <p:grpSp>
          <p:nvGrpSpPr>
            <p:cNvPr id="276490" name="Group 374"/>
            <p:cNvGrpSpPr/>
            <p:nvPr/>
          </p:nvGrpSpPr>
          <p:grpSpPr>
            <a:xfrm>
              <a:off x="668" y="4026"/>
              <a:ext cx="320" cy="251"/>
              <a:chOff x="668" y="4026"/>
              <a:chExt cx="320" cy="251"/>
            </a:xfrm>
          </p:grpSpPr>
          <p:sp>
            <p:nvSpPr>
              <p:cNvPr id="276494" name="Text Box 375"/>
              <p:cNvSpPr txBox="1"/>
              <p:nvPr/>
            </p:nvSpPr>
            <p:spPr>
              <a:xfrm>
                <a:off x="668" y="4026"/>
                <a:ext cx="320" cy="2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CS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495" name="Line 376"/>
              <p:cNvSpPr/>
              <p:nvPr/>
            </p:nvSpPr>
            <p:spPr>
              <a:xfrm>
                <a:off x="724" y="4078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6491" name="Group 377"/>
            <p:cNvGrpSpPr/>
            <p:nvPr/>
          </p:nvGrpSpPr>
          <p:grpSpPr>
            <a:xfrm>
              <a:off x="648" y="3890"/>
              <a:ext cx="355" cy="232"/>
              <a:chOff x="648" y="3890"/>
              <a:chExt cx="355" cy="232"/>
            </a:xfrm>
          </p:grpSpPr>
          <p:sp>
            <p:nvSpPr>
              <p:cNvPr id="276492" name="Text Box 378"/>
              <p:cNvSpPr txBox="1"/>
              <p:nvPr/>
            </p:nvSpPr>
            <p:spPr>
              <a:xfrm>
                <a:off x="648" y="3890"/>
                <a:ext cx="35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WE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493" name="Line 379"/>
              <p:cNvSpPr/>
              <p:nvPr/>
            </p:nvSpPr>
            <p:spPr>
              <a:xfrm>
                <a:off x="682" y="3922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276488" name="AutoShape 38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48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8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8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77506" name="Group 2"/>
          <p:cNvGrpSpPr/>
          <p:nvPr/>
        </p:nvGrpSpPr>
        <p:grpSpPr>
          <a:xfrm>
            <a:off x="1746250" y="1255713"/>
            <a:ext cx="8918575" cy="5532438"/>
            <a:chOff x="140" y="791"/>
            <a:chExt cx="5618" cy="3485"/>
          </a:xfrm>
        </p:grpSpPr>
        <p:grpSp>
          <p:nvGrpSpPr>
            <p:cNvPr id="277618" name="Group 3"/>
            <p:cNvGrpSpPr/>
            <p:nvPr/>
          </p:nvGrpSpPr>
          <p:grpSpPr>
            <a:xfrm>
              <a:off x="140" y="791"/>
              <a:ext cx="5618" cy="3485"/>
              <a:chOff x="140" y="791"/>
              <a:chExt cx="5618" cy="3485"/>
            </a:xfrm>
          </p:grpSpPr>
          <p:sp>
            <p:nvSpPr>
              <p:cNvPr id="277667" name="Rectangle 4"/>
              <p:cNvSpPr/>
              <p:nvPr/>
            </p:nvSpPr>
            <p:spPr>
              <a:xfrm>
                <a:off x="332" y="2181"/>
                <a:ext cx="576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668" name="Rectangle 5"/>
              <p:cNvSpPr/>
              <p:nvPr/>
            </p:nvSpPr>
            <p:spPr>
              <a:xfrm>
                <a:off x="1728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69" name="Text Box 6"/>
              <p:cNvSpPr txBox="1"/>
              <p:nvPr/>
            </p:nvSpPr>
            <p:spPr>
              <a:xfrm>
                <a:off x="1408" y="87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70" name="Rectangle 7"/>
              <p:cNvSpPr/>
              <p:nvPr/>
            </p:nvSpPr>
            <p:spPr>
              <a:xfrm>
                <a:off x="1152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71" name="Rectangle 8"/>
              <p:cNvSpPr/>
              <p:nvPr/>
            </p:nvSpPr>
            <p:spPr>
              <a:xfrm>
                <a:off x="2869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72" name="Text Box 9"/>
              <p:cNvSpPr txBox="1"/>
              <p:nvPr/>
            </p:nvSpPr>
            <p:spPr>
              <a:xfrm>
                <a:off x="2549" y="87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73" name="Rectangle 10"/>
              <p:cNvSpPr/>
              <p:nvPr/>
            </p:nvSpPr>
            <p:spPr>
              <a:xfrm>
                <a:off x="2293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74" name="Rectangle 11"/>
              <p:cNvSpPr/>
              <p:nvPr/>
            </p:nvSpPr>
            <p:spPr>
              <a:xfrm>
                <a:off x="4044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75" name="Text Box 12"/>
              <p:cNvSpPr txBox="1"/>
              <p:nvPr/>
            </p:nvSpPr>
            <p:spPr>
              <a:xfrm>
                <a:off x="3724" y="87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76" name="Rectangle 13"/>
              <p:cNvSpPr/>
              <p:nvPr/>
            </p:nvSpPr>
            <p:spPr>
              <a:xfrm>
                <a:off x="3468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77" name="Rectangle 14"/>
              <p:cNvSpPr/>
              <p:nvPr/>
            </p:nvSpPr>
            <p:spPr>
              <a:xfrm>
                <a:off x="5180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78" name="Text Box 15"/>
              <p:cNvSpPr txBox="1"/>
              <p:nvPr/>
            </p:nvSpPr>
            <p:spPr>
              <a:xfrm>
                <a:off x="4860" y="87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79" name="Rectangle 16"/>
              <p:cNvSpPr/>
              <p:nvPr/>
            </p:nvSpPr>
            <p:spPr>
              <a:xfrm>
                <a:off x="4604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80" name="Rectangle 17"/>
              <p:cNvSpPr/>
              <p:nvPr/>
            </p:nvSpPr>
            <p:spPr>
              <a:xfrm>
                <a:off x="1728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81" name="Rectangle 18"/>
              <p:cNvSpPr/>
              <p:nvPr/>
            </p:nvSpPr>
            <p:spPr>
              <a:xfrm>
                <a:off x="1152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82" name="Rectangle 19"/>
              <p:cNvSpPr/>
              <p:nvPr/>
            </p:nvSpPr>
            <p:spPr>
              <a:xfrm>
                <a:off x="2869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83" name="Rectangle 20"/>
              <p:cNvSpPr/>
              <p:nvPr/>
            </p:nvSpPr>
            <p:spPr>
              <a:xfrm>
                <a:off x="2293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84" name="Rectangle 21"/>
              <p:cNvSpPr/>
              <p:nvPr/>
            </p:nvSpPr>
            <p:spPr>
              <a:xfrm>
                <a:off x="4044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85" name="Rectangle 22"/>
              <p:cNvSpPr/>
              <p:nvPr/>
            </p:nvSpPr>
            <p:spPr>
              <a:xfrm>
                <a:off x="3468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86" name="Rectangle 23"/>
              <p:cNvSpPr/>
              <p:nvPr/>
            </p:nvSpPr>
            <p:spPr>
              <a:xfrm>
                <a:off x="5180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87" name="Rectangle 24"/>
              <p:cNvSpPr/>
              <p:nvPr/>
            </p:nvSpPr>
            <p:spPr>
              <a:xfrm>
                <a:off x="4604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88" name="Line 25"/>
              <p:cNvSpPr/>
              <p:nvPr/>
            </p:nvSpPr>
            <p:spPr>
              <a:xfrm rot="5400000">
                <a:off x="1325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689" name="Line 26"/>
              <p:cNvSpPr/>
              <p:nvPr/>
            </p:nvSpPr>
            <p:spPr>
              <a:xfrm rot="5400000">
                <a:off x="1308" y="271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690" name="Freeform 27"/>
              <p:cNvSpPr/>
              <p:nvPr/>
            </p:nvSpPr>
            <p:spPr>
              <a:xfrm>
                <a:off x="1260" y="2709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691" name="Line 28"/>
              <p:cNvSpPr/>
              <p:nvPr/>
            </p:nvSpPr>
            <p:spPr>
              <a:xfrm rot="-5400000">
                <a:off x="1133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692" name="Line 29"/>
              <p:cNvSpPr/>
              <p:nvPr/>
            </p:nvSpPr>
            <p:spPr>
              <a:xfrm rot="-5400000">
                <a:off x="1212" y="2714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693" name="Freeform 30"/>
              <p:cNvSpPr/>
              <p:nvPr/>
            </p:nvSpPr>
            <p:spPr>
              <a:xfrm>
                <a:off x="1434" y="2353"/>
                <a:ext cx="112" cy="1"/>
              </a:xfrm>
              <a:custGeom>
                <a:avLst/>
                <a:gdLst>
                  <a:gd name="txL" fmla="*/ 0 w 112"/>
                  <a:gd name="txT" fmla="*/ 0 h 1"/>
                  <a:gd name="txR" fmla="*/ 112 w 11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2" y="0"/>
                  </a:cxn>
                </a:cxnLst>
                <a:rect l="txL" t="txT" r="txR" b="txB"/>
                <a:pathLst>
                  <a:path w="112" h="1">
                    <a:moveTo>
                      <a:pt x="0" y="0"/>
                    </a:moveTo>
                    <a:lnTo>
                      <a:pt x="11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694" name="Freeform 31"/>
              <p:cNvSpPr/>
              <p:nvPr/>
            </p:nvSpPr>
            <p:spPr>
              <a:xfrm>
                <a:off x="1059" y="1209"/>
                <a:ext cx="152" cy="1469"/>
              </a:xfrm>
              <a:custGeom>
                <a:avLst/>
                <a:gdLst>
                  <a:gd name="txL" fmla="*/ 0 w 152"/>
                  <a:gd name="txT" fmla="*/ 0 h 1469"/>
                  <a:gd name="txR" fmla="*/ 152 w 152"/>
                  <a:gd name="txB" fmla="*/ 1469 h 1469"/>
                </a:gdLst>
                <a:ahLst/>
                <a:cxnLst>
                  <a:cxn ang="0">
                    <a:pos x="152" y="1469"/>
                  </a:cxn>
                  <a:cxn ang="0">
                    <a:pos x="0" y="1469"/>
                  </a:cxn>
                  <a:cxn ang="0">
                    <a:pos x="0" y="0"/>
                  </a:cxn>
                  <a:cxn ang="0">
                    <a:pos x="95" y="1"/>
                  </a:cxn>
                </a:cxnLst>
                <a:rect l="txL" t="txT" r="txR" b="txB"/>
                <a:pathLst>
                  <a:path w="152" h="1469">
                    <a:moveTo>
                      <a:pt x="152" y="1469"/>
                    </a:moveTo>
                    <a:lnTo>
                      <a:pt x="0" y="1469"/>
                    </a:lnTo>
                    <a:lnTo>
                      <a:pt x="0" y="0"/>
                    </a:lnTo>
                    <a:lnTo>
                      <a:pt x="95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695" name="Freeform 32"/>
              <p:cNvSpPr/>
              <p:nvPr/>
            </p:nvSpPr>
            <p:spPr>
              <a:xfrm>
                <a:off x="1055" y="2353"/>
                <a:ext cx="102" cy="1"/>
              </a:xfrm>
              <a:custGeom>
                <a:avLst/>
                <a:gdLst>
                  <a:gd name="txL" fmla="*/ 0 w 102"/>
                  <a:gd name="txT" fmla="*/ 0 h 1"/>
                  <a:gd name="txR" fmla="*/ 102 w 102"/>
                  <a:gd name="txB" fmla="*/ 1 h 1"/>
                </a:gdLst>
                <a:ahLst/>
                <a:cxnLst>
                  <a:cxn ang="0">
                    <a:pos x="102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2" h="1">
                    <a:moveTo>
                      <a:pt x="102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696" name="Line 33"/>
              <p:cNvSpPr/>
              <p:nvPr/>
            </p:nvSpPr>
            <p:spPr>
              <a:xfrm rot="5400000">
                <a:off x="1896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697" name="Line 34"/>
              <p:cNvSpPr/>
              <p:nvPr/>
            </p:nvSpPr>
            <p:spPr>
              <a:xfrm rot="5400000">
                <a:off x="1879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698" name="Freeform 35"/>
              <p:cNvSpPr/>
              <p:nvPr/>
            </p:nvSpPr>
            <p:spPr>
              <a:xfrm>
                <a:off x="1831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699" name="Line 36"/>
              <p:cNvSpPr/>
              <p:nvPr/>
            </p:nvSpPr>
            <p:spPr>
              <a:xfrm rot="-5400000">
                <a:off x="1704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00" name="Line 37"/>
              <p:cNvSpPr/>
              <p:nvPr/>
            </p:nvSpPr>
            <p:spPr>
              <a:xfrm rot="-5400000">
                <a:off x="1783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01" name="Freeform 38"/>
              <p:cNvSpPr/>
              <p:nvPr/>
            </p:nvSpPr>
            <p:spPr>
              <a:xfrm>
                <a:off x="2005" y="2353"/>
                <a:ext cx="103" cy="1"/>
              </a:xfrm>
              <a:custGeom>
                <a:avLst/>
                <a:gdLst>
                  <a:gd name="txL" fmla="*/ 0 w 103"/>
                  <a:gd name="txT" fmla="*/ 0 h 1"/>
                  <a:gd name="txR" fmla="*/ 103 w 10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3" y="0"/>
                  </a:cxn>
                </a:cxnLst>
                <a:rect l="txL" t="txT" r="txR" b="txB"/>
                <a:pathLst>
                  <a:path w="103" h="1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02" name="Freeform 39"/>
              <p:cNvSpPr/>
              <p:nvPr/>
            </p:nvSpPr>
            <p:spPr>
              <a:xfrm>
                <a:off x="1611" y="2352"/>
                <a:ext cx="113" cy="1"/>
              </a:xfrm>
              <a:custGeom>
                <a:avLst/>
                <a:gdLst>
                  <a:gd name="txL" fmla="*/ 0 w 113"/>
                  <a:gd name="txT" fmla="*/ 0 h 1"/>
                  <a:gd name="txR" fmla="*/ 113 w 113"/>
                  <a:gd name="txB" fmla="*/ 1 h 1"/>
                </a:gdLst>
                <a:ahLst/>
                <a:cxnLst>
                  <a:cxn ang="0">
                    <a:pos x="113" y="1"/>
                  </a:cxn>
                  <a:cxn ang="0">
                    <a:pos x="0" y="0"/>
                  </a:cxn>
                </a:cxnLst>
                <a:rect l="txL" t="txT" r="txR" b="txB"/>
                <a:pathLst>
                  <a:path w="113" h="1">
                    <a:moveTo>
                      <a:pt x="113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03" name="Line 40"/>
              <p:cNvSpPr/>
              <p:nvPr/>
            </p:nvSpPr>
            <p:spPr>
              <a:xfrm rot="5400000">
                <a:off x="2477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04" name="Line 41"/>
              <p:cNvSpPr/>
              <p:nvPr/>
            </p:nvSpPr>
            <p:spPr>
              <a:xfrm rot="5400000">
                <a:off x="2460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05" name="Freeform 42"/>
              <p:cNvSpPr/>
              <p:nvPr/>
            </p:nvSpPr>
            <p:spPr>
              <a:xfrm>
                <a:off x="2412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06" name="Line 43"/>
              <p:cNvSpPr/>
              <p:nvPr/>
            </p:nvSpPr>
            <p:spPr>
              <a:xfrm rot="-5400000">
                <a:off x="2285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07" name="Line 44"/>
              <p:cNvSpPr/>
              <p:nvPr/>
            </p:nvSpPr>
            <p:spPr>
              <a:xfrm rot="-5400000">
                <a:off x="2364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08" name="Freeform 45"/>
              <p:cNvSpPr/>
              <p:nvPr/>
            </p:nvSpPr>
            <p:spPr>
              <a:xfrm>
                <a:off x="2586" y="2353"/>
                <a:ext cx="109" cy="1"/>
              </a:xfrm>
              <a:custGeom>
                <a:avLst/>
                <a:gdLst>
                  <a:gd name="txL" fmla="*/ 0 w 109"/>
                  <a:gd name="txT" fmla="*/ 0 h 1"/>
                  <a:gd name="txR" fmla="*/ 109 w 10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9" y="0"/>
                  </a:cxn>
                </a:cxnLst>
                <a:rect l="txL" t="txT" r="txR" b="txB"/>
                <a:pathLst>
                  <a:path w="109" h="1">
                    <a:moveTo>
                      <a:pt x="0" y="0"/>
                    </a:moveTo>
                    <a:lnTo>
                      <a:pt x="10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09" name="Freeform 46"/>
              <p:cNvSpPr/>
              <p:nvPr/>
            </p:nvSpPr>
            <p:spPr>
              <a:xfrm>
                <a:off x="2207" y="2353"/>
                <a:ext cx="89" cy="1"/>
              </a:xfrm>
              <a:custGeom>
                <a:avLst/>
                <a:gdLst>
                  <a:gd name="txL" fmla="*/ 0 w 89"/>
                  <a:gd name="txT" fmla="*/ 0 h 1"/>
                  <a:gd name="txR" fmla="*/ 89 w 89"/>
                  <a:gd name="txB" fmla="*/ 1 h 1"/>
                </a:gdLst>
                <a:ahLst/>
                <a:cxnLst>
                  <a:cxn ang="0">
                    <a:pos x="89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9" h="1">
                    <a:moveTo>
                      <a:pt x="89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10" name="Line 47"/>
              <p:cNvSpPr/>
              <p:nvPr/>
            </p:nvSpPr>
            <p:spPr>
              <a:xfrm rot="5400000">
                <a:off x="3053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11" name="Line 48"/>
              <p:cNvSpPr/>
              <p:nvPr/>
            </p:nvSpPr>
            <p:spPr>
              <a:xfrm rot="5400000">
                <a:off x="3036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12" name="Freeform 49"/>
              <p:cNvSpPr/>
              <p:nvPr/>
            </p:nvSpPr>
            <p:spPr>
              <a:xfrm>
                <a:off x="2988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13" name="Line 50"/>
              <p:cNvSpPr/>
              <p:nvPr/>
            </p:nvSpPr>
            <p:spPr>
              <a:xfrm rot="-5400000">
                <a:off x="2861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14" name="Line 51"/>
              <p:cNvSpPr/>
              <p:nvPr/>
            </p:nvSpPr>
            <p:spPr>
              <a:xfrm rot="-5400000">
                <a:off x="2940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15" name="Freeform 52"/>
              <p:cNvSpPr/>
              <p:nvPr/>
            </p:nvSpPr>
            <p:spPr>
              <a:xfrm>
                <a:off x="3162" y="2353"/>
                <a:ext cx="115" cy="1"/>
              </a:xfrm>
              <a:custGeom>
                <a:avLst/>
                <a:gdLst>
                  <a:gd name="txL" fmla="*/ 0 w 115"/>
                  <a:gd name="txT" fmla="*/ 0 h 1"/>
                  <a:gd name="txR" fmla="*/ 115 w 11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5" y="0"/>
                  </a:cxn>
                </a:cxnLst>
                <a:rect l="txL" t="txT" r="txR" b="txB"/>
                <a:pathLst>
                  <a:path w="115" h="1">
                    <a:moveTo>
                      <a:pt x="0" y="0"/>
                    </a:moveTo>
                    <a:lnTo>
                      <a:pt x="11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16" name="Freeform 53"/>
              <p:cNvSpPr/>
              <p:nvPr/>
            </p:nvSpPr>
            <p:spPr>
              <a:xfrm>
                <a:off x="2783" y="2353"/>
                <a:ext cx="90" cy="1"/>
              </a:xfrm>
              <a:custGeom>
                <a:avLst/>
                <a:gdLst>
                  <a:gd name="txL" fmla="*/ 0 w 90"/>
                  <a:gd name="txT" fmla="*/ 0 h 1"/>
                  <a:gd name="txR" fmla="*/ 90 w 90"/>
                  <a:gd name="txB" fmla="*/ 1 h 1"/>
                </a:gdLst>
                <a:ahLst/>
                <a:cxnLst>
                  <a:cxn ang="0">
                    <a:pos x="9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0" h="1">
                    <a:moveTo>
                      <a:pt x="9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17" name="Line 54"/>
              <p:cNvSpPr/>
              <p:nvPr/>
            </p:nvSpPr>
            <p:spPr>
              <a:xfrm rot="5400000">
                <a:off x="3629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18" name="Line 55"/>
              <p:cNvSpPr/>
              <p:nvPr/>
            </p:nvSpPr>
            <p:spPr>
              <a:xfrm rot="5400000">
                <a:off x="3612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19" name="Freeform 56"/>
              <p:cNvSpPr/>
              <p:nvPr/>
            </p:nvSpPr>
            <p:spPr>
              <a:xfrm>
                <a:off x="3564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20" name="Line 57"/>
              <p:cNvSpPr/>
              <p:nvPr/>
            </p:nvSpPr>
            <p:spPr>
              <a:xfrm rot="-5400000">
                <a:off x="3437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21" name="Line 58"/>
              <p:cNvSpPr/>
              <p:nvPr/>
            </p:nvSpPr>
            <p:spPr>
              <a:xfrm rot="-5400000">
                <a:off x="3516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22" name="Freeform 59"/>
              <p:cNvSpPr/>
              <p:nvPr/>
            </p:nvSpPr>
            <p:spPr>
              <a:xfrm>
                <a:off x="3751" y="2352"/>
                <a:ext cx="100" cy="1"/>
              </a:xfrm>
              <a:custGeom>
                <a:avLst/>
                <a:gdLst>
                  <a:gd name="txL" fmla="*/ 0 w 100"/>
                  <a:gd name="txT" fmla="*/ 0 h 1"/>
                  <a:gd name="txR" fmla="*/ 100 w 10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0" y="1"/>
                  </a:cxn>
                </a:cxnLst>
                <a:rect l="txL" t="txT" r="txR" b="txB"/>
                <a:pathLst>
                  <a:path w="100" h="1">
                    <a:moveTo>
                      <a:pt x="0" y="0"/>
                    </a:moveTo>
                    <a:lnTo>
                      <a:pt x="10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23" name="Freeform 60"/>
              <p:cNvSpPr/>
              <p:nvPr/>
            </p:nvSpPr>
            <p:spPr>
              <a:xfrm>
                <a:off x="3359" y="2353"/>
                <a:ext cx="108" cy="1"/>
              </a:xfrm>
              <a:custGeom>
                <a:avLst/>
                <a:gdLst>
                  <a:gd name="txL" fmla="*/ 0 w 108"/>
                  <a:gd name="txT" fmla="*/ 0 h 1"/>
                  <a:gd name="txR" fmla="*/ 108 w 108"/>
                  <a:gd name="txB" fmla="*/ 1 h 1"/>
                </a:gdLst>
                <a:ahLst/>
                <a:cxnLst>
                  <a:cxn ang="0">
                    <a:pos x="10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8" h="1">
                    <a:moveTo>
                      <a:pt x="10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24" name="Line 61"/>
              <p:cNvSpPr/>
              <p:nvPr/>
            </p:nvSpPr>
            <p:spPr>
              <a:xfrm rot="5400000">
                <a:off x="4205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25" name="Line 62"/>
              <p:cNvSpPr/>
              <p:nvPr/>
            </p:nvSpPr>
            <p:spPr>
              <a:xfrm rot="5400000">
                <a:off x="4188" y="2696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26" name="Freeform 63"/>
              <p:cNvSpPr/>
              <p:nvPr/>
            </p:nvSpPr>
            <p:spPr>
              <a:xfrm>
                <a:off x="4140" y="2695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27" name="Line 64"/>
              <p:cNvSpPr/>
              <p:nvPr/>
            </p:nvSpPr>
            <p:spPr>
              <a:xfrm rot="-5400000">
                <a:off x="4013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28" name="Line 65"/>
              <p:cNvSpPr/>
              <p:nvPr/>
            </p:nvSpPr>
            <p:spPr>
              <a:xfrm rot="-5400000">
                <a:off x="4092" y="270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729" name="Freeform 66"/>
              <p:cNvSpPr/>
              <p:nvPr/>
            </p:nvSpPr>
            <p:spPr>
              <a:xfrm>
                <a:off x="4336" y="2351"/>
                <a:ext cx="90" cy="2"/>
              </a:xfrm>
              <a:custGeom>
                <a:avLst/>
                <a:gdLst>
                  <a:gd name="txL" fmla="*/ 0 w 90"/>
                  <a:gd name="txT" fmla="*/ 0 h 2"/>
                  <a:gd name="txR" fmla="*/ 90 w 90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0" y="2"/>
                  </a:cxn>
                </a:cxnLst>
                <a:rect l="txL" t="txT" r="txR" b="txB"/>
                <a:pathLst>
                  <a:path w="90" h="2">
                    <a:moveTo>
                      <a:pt x="0" y="0"/>
                    </a:moveTo>
                    <a:lnTo>
                      <a:pt x="90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30" name="Freeform 67"/>
              <p:cNvSpPr/>
              <p:nvPr/>
            </p:nvSpPr>
            <p:spPr>
              <a:xfrm>
                <a:off x="3935" y="2353"/>
                <a:ext cx="104" cy="1"/>
              </a:xfrm>
              <a:custGeom>
                <a:avLst/>
                <a:gdLst>
                  <a:gd name="txL" fmla="*/ 0 w 104"/>
                  <a:gd name="txT" fmla="*/ 0 h 1"/>
                  <a:gd name="txR" fmla="*/ 104 w 104"/>
                  <a:gd name="txB" fmla="*/ 1 h 1"/>
                </a:gdLst>
                <a:ahLst/>
                <a:cxnLst>
                  <a:cxn ang="0">
                    <a:pos x="10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4" h="1">
                    <a:moveTo>
                      <a:pt x="10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7731" name="Group 68"/>
              <p:cNvGrpSpPr/>
              <p:nvPr/>
            </p:nvGrpSpPr>
            <p:grpSpPr>
              <a:xfrm>
                <a:off x="4668" y="2634"/>
                <a:ext cx="192" cy="158"/>
                <a:chOff x="4692" y="2634"/>
                <a:chExt cx="192" cy="158"/>
              </a:xfrm>
            </p:grpSpPr>
            <p:grpSp>
              <p:nvGrpSpPr>
                <p:cNvPr id="277878" name="Group 69"/>
                <p:cNvGrpSpPr/>
                <p:nvPr/>
              </p:nvGrpSpPr>
              <p:grpSpPr>
                <a:xfrm>
                  <a:off x="4836" y="2634"/>
                  <a:ext cx="48" cy="158"/>
                  <a:chOff x="4836" y="2634"/>
                  <a:chExt cx="48" cy="158"/>
                </a:xfrm>
              </p:grpSpPr>
              <p:sp>
                <p:nvSpPr>
                  <p:cNvPr id="277883" name="Line 70"/>
                  <p:cNvSpPr/>
                  <p:nvPr/>
                </p:nvSpPr>
                <p:spPr>
                  <a:xfrm rot="5400000">
                    <a:off x="4805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884" name="Line 71"/>
                  <p:cNvSpPr/>
                  <p:nvPr/>
                </p:nvSpPr>
                <p:spPr>
                  <a:xfrm rot="5400000">
                    <a:off x="4788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7879" name="Freeform 72"/>
                <p:cNvSpPr/>
                <p:nvPr/>
              </p:nvSpPr>
              <p:spPr>
                <a:xfrm>
                  <a:off x="4740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7880" name="Group 73"/>
                <p:cNvGrpSpPr/>
                <p:nvPr/>
              </p:nvGrpSpPr>
              <p:grpSpPr>
                <a:xfrm>
                  <a:off x="4692" y="2634"/>
                  <a:ext cx="48" cy="158"/>
                  <a:chOff x="4692" y="2634"/>
                  <a:chExt cx="48" cy="158"/>
                </a:xfrm>
              </p:grpSpPr>
              <p:sp>
                <p:nvSpPr>
                  <p:cNvPr id="277881" name="Line 74"/>
                  <p:cNvSpPr/>
                  <p:nvPr/>
                </p:nvSpPr>
                <p:spPr>
                  <a:xfrm rot="-5400000">
                    <a:off x="4613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882" name="Line 75"/>
                  <p:cNvSpPr/>
                  <p:nvPr/>
                </p:nvSpPr>
                <p:spPr>
                  <a:xfrm rot="-5400000">
                    <a:off x="4692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77732" name="Freeform 76"/>
              <p:cNvSpPr/>
              <p:nvPr/>
            </p:nvSpPr>
            <p:spPr>
              <a:xfrm>
                <a:off x="4890" y="2353"/>
                <a:ext cx="107" cy="1"/>
              </a:xfrm>
              <a:custGeom>
                <a:avLst/>
                <a:gdLst>
                  <a:gd name="txL" fmla="*/ 0 w 107"/>
                  <a:gd name="txT" fmla="*/ 0 h 1"/>
                  <a:gd name="txR" fmla="*/ 107 w 10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7" y="0"/>
                  </a:cxn>
                </a:cxnLst>
                <a:rect l="txL" t="txT" r="txR" b="txB"/>
                <a:pathLst>
                  <a:path w="107" h="1">
                    <a:moveTo>
                      <a:pt x="0" y="0"/>
                    </a:moveTo>
                    <a:lnTo>
                      <a:pt x="10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33" name="Freeform 77"/>
              <p:cNvSpPr/>
              <p:nvPr/>
            </p:nvSpPr>
            <p:spPr>
              <a:xfrm>
                <a:off x="4511" y="2353"/>
                <a:ext cx="96" cy="1"/>
              </a:xfrm>
              <a:custGeom>
                <a:avLst/>
                <a:gdLst>
                  <a:gd name="txL" fmla="*/ 0 w 96"/>
                  <a:gd name="txT" fmla="*/ 0 h 1"/>
                  <a:gd name="txR" fmla="*/ 96 w 96"/>
                  <a:gd name="txB" fmla="*/ 1 h 1"/>
                </a:gdLst>
                <a:ahLst/>
                <a:cxnLst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1">
                    <a:moveTo>
                      <a:pt x="96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7734" name="Group 78"/>
              <p:cNvGrpSpPr/>
              <p:nvPr/>
            </p:nvGrpSpPr>
            <p:grpSpPr>
              <a:xfrm>
                <a:off x="5235" y="2634"/>
                <a:ext cx="192" cy="158"/>
                <a:chOff x="5259" y="2634"/>
                <a:chExt cx="192" cy="158"/>
              </a:xfrm>
            </p:grpSpPr>
            <p:grpSp>
              <p:nvGrpSpPr>
                <p:cNvPr id="277871" name="Group 79"/>
                <p:cNvGrpSpPr/>
                <p:nvPr/>
              </p:nvGrpSpPr>
              <p:grpSpPr>
                <a:xfrm>
                  <a:off x="5403" y="2634"/>
                  <a:ext cx="48" cy="158"/>
                  <a:chOff x="5403" y="2634"/>
                  <a:chExt cx="48" cy="158"/>
                </a:xfrm>
              </p:grpSpPr>
              <p:sp>
                <p:nvSpPr>
                  <p:cNvPr id="277876" name="Line 80"/>
                  <p:cNvSpPr/>
                  <p:nvPr/>
                </p:nvSpPr>
                <p:spPr>
                  <a:xfrm rot="5400000">
                    <a:off x="5372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877" name="Line 81"/>
                  <p:cNvSpPr/>
                  <p:nvPr/>
                </p:nvSpPr>
                <p:spPr>
                  <a:xfrm rot="5400000">
                    <a:off x="5355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7872" name="Freeform 82"/>
                <p:cNvSpPr/>
                <p:nvPr/>
              </p:nvSpPr>
              <p:spPr>
                <a:xfrm>
                  <a:off x="5307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7873" name="Group 83"/>
                <p:cNvGrpSpPr/>
                <p:nvPr/>
              </p:nvGrpSpPr>
              <p:grpSpPr>
                <a:xfrm>
                  <a:off x="5259" y="2634"/>
                  <a:ext cx="48" cy="158"/>
                  <a:chOff x="5259" y="2634"/>
                  <a:chExt cx="48" cy="158"/>
                </a:xfrm>
              </p:grpSpPr>
              <p:sp>
                <p:nvSpPr>
                  <p:cNvPr id="277874" name="Line 84"/>
                  <p:cNvSpPr/>
                  <p:nvPr/>
                </p:nvSpPr>
                <p:spPr>
                  <a:xfrm rot="-5400000">
                    <a:off x="5180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7875" name="Line 85"/>
                  <p:cNvSpPr/>
                  <p:nvPr/>
                </p:nvSpPr>
                <p:spPr>
                  <a:xfrm rot="-5400000">
                    <a:off x="5259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77735" name="Freeform 86"/>
              <p:cNvSpPr/>
              <p:nvPr/>
            </p:nvSpPr>
            <p:spPr>
              <a:xfrm>
                <a:off x="5467" y="2351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6" y="2"/>
                  </a:cxn>
                </a:cxnLst>
                <a:rect l="txL" t="txT" r="txR" b="txB"/>
                <a:pathLst>
                  <a:path w="96" h="2">
                    <a:moveTo>
                      <a:pt x="0" y="0"/>
                    </a:moveTo>
                    <a:lnTo>
                      <a:pt x="9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36" name="Freeform 87"/>
              <p:cNvSpPr/>
              <p:nvPr/>
            </p:nvSpPr>
            <p:spPr>
              <a:xfrm>
                <a:off x="5078" y="2353"/>
                <a:ext cx="101" cy="1"/>
              </a:xfrm>
              <a:custGeom>
                <a:avLst/>
                <a:gdLst>
                  <a:gd name="txL" fmla="*/ 0 w 101"/>
                  <a:gd name="txT" fmla="*/ 0 h 1"/>
                  <a:gd name="txR" fmla="*/ 101 w 101"/>
                  <a:gd name="txB" fmla="*/ 1 h 1"/>
                </a:gdLst>
                <a:ahLst/>
                <a:cxnLst>
                  <a:cxn ang="0">
                    <a:pos x="101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1" h="1">
                    <a:moveTo>
                      <a:pt x="101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37" name="Freeform 88"/>
              <p:cNvSpPr/>
              <p:nvPr/>
            </p:nvSpPr>
            <p:spPr>
              <a:xfrm>
                <a:off x="908" y="856"/>
                <a:ext cx="4419" cy="1"/>
              </a:xfrm>
              <a:custGeom>
                <a:avLst/>
                <a:gdLst>
                  <a:gd name="txL" fmla="*/ 0 w 4419"/>
                  <a:gd name="txT" fmla="*/ 0 h 1"/>
                  <a:gd name="txR" fmla="*/ 4419 w 4419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9" y="0"/>
                  </a:cxn>
                </a:cxnLst>
                <a:rect l="txL" t="txT" r="txR" b="txB"/>
                <a:pathLst>
                  <a:path w="4419" h="1">
                    <a:moveTo>
                      <a:pt x="0" y="1"/>
                    </a:moveTo>
                    <a:lnTo>
                      <a:pt x="441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38" name="Line 89"/>
              <p:cNvSpPr/>
              <p:nvPr/>
            </p:nvSpPr>
            <p:spPr>
              <a:xfrm>
                <a:off x="129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39" name="Line 90"/>
              <p:cNvSpPr/>
              <p:nvPr/>
            </p:nvSpPr>
            <p:spPr>
              <a:xfrm>
                <a:off x="186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40" name="Line 91"/>
              <p:cNvSpPr/>
              <p:nvPr/>
            </p:nvSpPr>
            <p:spPr>
              <a:xfrm>
                <a:off x="2444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41" name="Line 92"/>
              <p:cNvSpPr/>
              <p:nvPr/>
            </p:nvSpPr>
            <p:spPr>
              <a:xfrm>
                <a:off x="3020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42" name="Line 93"/>
              <p:cNvSpPr/>
              <p:nvPr/>
            </p:nvSpPr>
            <p:spPr>
              <a:xfrm>
                <a:off x="3596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43" name="Line 94"/>
              <p:cNvSpPr/>
              <p:nvPr/>
            </p:nvSpPr>
            <p:spPr>
              <a:xfrm>
                <a:off x="417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44" name="Line 95"/>
              <p:cNvSpPr/>
              <p:nvPr/>
            </p:nvSpPr>
            <p:spPr>
              <a:xfrm>
                <a:off x="474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45" name="Line 96"/>
              <p:cNvSpPr/>
              <p:nvPr/>
            </p:nvSpPr>
            <p:spPr>
              <a:xfrm>
                <a:off x="5324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77746" name="Freeform 97"/>
              <p:cNvSpPr/>
              <p:nvPr/>
            </p:nvSpPr>
            <p:spPr>
              <a:xfrm>
                <a:off x="1305" y="2708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1" y="0"/>
                  </a:cxn>
                  <a:cxn ang="0">
                    <a:pos x="0" y="166"/>
                  </a:cxn>
                </a:cxnLst>
                <a:rect l="txL" t="txT" r="txR" b="txB"/>
                <a:pathLst>
                  <a:path w="1" h="166">
                    <a:moveTo>
                      <a:pt x="1" y="0"/>
                    </a:moveTo>
                    <a:lnTo>
                      <a:pt x="0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47" name="Freeform 98"/>
              <p:cNvSpPr/>
              <p:nvPr/>
            </p:nvSpPr>
            <p:spPr>
              <a:xfrm>
                <a:off x="1880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48" name="Freeform 99"/>
              <p:cNvSpPr/>
              <p:nvPr/>
            </p:nvSpPr>
            <p:spPr>
              <a:xfrm>
                <a:off x="2454" y="2708"/>
                <a:ext cx="4" cy="166"/>
              </a:xfrm>
              <a:custGeom>
                <a:avLst/>
                <a:gdLst>
                  <a:gd name="txL" fmla="*/ 0 w 4"/>
                  <a:gd name="txT" fmla="*/ 0 h 166"/>
                  <a:gd name="txR" fmla="*/ 4 w 4"/>
                  <a:gd name="txB" fmla="*/ 166 h 166"/>
                </a:gdLst>
                <a:ahLst/>
                <a:cxnLst>
                  <a:cxn ang="0">
                    <a:pos x="4" y="0"/>
                  </a:cxn>
                  <a:cxn ang="0">
                    <a:pos x="0" y="166"/>
                  </a:cxn>
                </a:cxnLst>
                <a:rect l="txL" t="txT" r="txR" b="txB"/>
                <a:pathLst>
                  <a:path w="4" h="166">
                    <a:moveTo>
                      <a:pt x="4" y="0"/>
                    </a:moveTo>
                    <a:lnTo>
                      <a:pt x="0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49" name="Freeform 100"/>
              <p:cNvSpPr/>
              <p:nvPr/>
            </p:nvSpPr>
            <p:spPr>
              <a:xfrm>
                <a:off x="3606" y="2708"/>
                <a:ext cx="2" cy="175"/>
              </a:xfrm>
              <a:custGeom>
                <a:avLst/>
                <a:gdLst>
                  <a:gd name="txL" fmla="*/ 0 w 2"/>
                  <a:gd name="txT" fmla="*/ 0 h 175"/>
                  <a:gd name="txR" fmla="*/ 2 w 2"/>
                  <a:gd name="txB" fmla="*/ 175 h 175"/>
                </a:gdLst>
                <a:ahLst/>
                <a:cxnLst>
                  <a:cxn ang="0">
                    <a:pos x="2" y="0"/>
                  </a:cxn>
                  <a:cxn ang="0">
                    <a:pos x="0" y="175"/>
                  </a:cxn>
                </a:cxnLst>
                <a:rect l="txL" t="txT" r="txR" b="txB"/>
                <a:pathLst>
                  <a:path w="2" h="175">
                    <a:moveTo>
                      <a:pt x="2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50" name="Freeform 101"/>
              <p:cNvSpPr/>
              <p:nvPr/>
            </p:nvSpPr>
            <p:spPr>
              <a:xfrm>
                <a:off x="4760" y="2697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51" name="Freeform 102"/>
              <p:cNvSpPr/>
              <p:nvPr/>
            </p:nvSpPr>
            <p:spPr>
              <a:xfrm>
                <a:off x="908" y="1480"/>
                <a:ext cx="4422" cy="1"/>
              </a:xfrm>
              <a:custGeom>
                <a:avLst/>
                <a:gdLst>
                  <a:gd name="txL" fmla="*/ 0 w 4422"/>
                  <a:gd name="txT" fmla="*/ 0 h 1"/>
                  <a:gd name="txR" fmla="*/ 4422 w 4422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22" y="0"/>
                  </a:cxn>
                </a:cxnLst>
                <a:rect l="txL" t="txT" r="txR" b="txB"/>
                <a:pathLst>
                  <a:path w="4422" h="1">
                    <a:moveTo>
                      <a:pt x="0" y="1"/>
                    </a:moveTo>
                    <a:lnTo>
                      <a:pt x="442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52" name="Line 103"/>
              <p:cNvSpPr/>
              <p:nvPr/>
            </p:nvSpPr>
            <p:spPr>
              <a:xfrm>
                <a:off x="129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53" name="Line 104"/>
              <p:cNvSpPr/>
              <p:nvPr/>
            </p:nvSpPr>
            <p:spPr>
              <a:xfrm>
                <a:off x="186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54" name="Line 105"/>
              <p:cNvSpPr/>
              <p:nvPr/>
            </p:nvSpPr>
            <p:spPr>
              <a:xfrm>
                <a:off x="2444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55" name="Line 106"/>
              <p:cNvSpPr/>
              <p:nvPr/>
            </p:nvSpPr>
            <p:spPr>
              <a:xfrm>
                <a:off x="3020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56" name="Line 107"/>
              <p:cNvSpPr/>
              <p:nvPr/>
            </p:nvSpPr>
            <p:spPr>
              <a:xfrm>
                <a:off x="3596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57" name="Line 108"/>
              <p:cNvSpPr/>
              <p:nvPr/>
            </p:nvSpPr>
            <p:spPr>
              <a:xfrm>
                <a:off x="417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58" name="Line 109"/>
              <p:cNvSpPr/>
              <p:nvPr/>
            </p:nvSpPr>
            <p:spPr>
              <a:xfrm>
                <a:off x="474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59" name="Line 110"/>
              <p:cNvSpPr/>
              <p:nvPr/>
            </p:nvSpPr>
            <p:spPr>
              <a:xfrm>
                <a:off x="5324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77760" name="Freeform 111"/>
              <p:cNvSpPr/>
              <p:nvPr/>
            </p:nvSpPr>
            <p:spPr>
              <a:xfrm>
                <a:off x="908" y="2056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61" name="Line 112"/>
              <p:cNvSpPr/>
              <p:nvPr/>
            </p:nvSpPr>
            <p:spPr>
              <a:xfrm>
                <a:off x="129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62" name="Line 113"/>
              <p:cNvSpPr/>
              <p:nvPr/>
            </p:nvSpPr>
            <p:spPr>
              <a:xfrm>
                <a:off x="186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63" name="Line 114"/>
              <p:cNvSpPr/>
              <p:nvPr/>
            </p:nvSpPr>
            <p:spPr>
              <a:xfrm>
                <a:off x="2444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64" name="Line 115"/>
              <p:cNvSpPr/>
              <p:nvPr/>
            </p:nvSpPr>
            <p:spPr>
              <a:xfrm>
                <a:off x="3020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65" name="Line 116"/>
              <p:cNvSpPr/>
              <p:nvPr/>
            </p:nvSpPr>
            <p:spPr>
              <a:xfrm>
                <a:off x="3596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66" name="Line 117"/>
              <p:cNvSpPr/>
              <p:nvPr/>
            </p:nvSpPr>
            <p:spPr>
              <a:xfrm>
                <a:off x="417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67" name="Line 118"/>
              <p:cNvSpPr/>
              <p:nvPr/>
            </p:nvSpPr>
            <p:spPr>
              <a:xfrm>
                <a:off x="474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77768" name="Line 119"/>
              <p:cNvSpPr/>
              <p:nvPr/>
            </p:nvSpPr>
            <p:spPr>
              <a:xfrm>
                <a:off x="5324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77769" name="Freeform 120"/>
              <p:cNvSpPr/>
              <p:nvPr/>
            </p:nvSpPr>
            <p:spPr>
              <a:xfrm>
                <a:off x="909" y="2879"/>
                <a:ext cx="3860" cy="1"/>
              </a:xfrm>
              <a:custGeom>
                <a:avLst/>
                <a:gdLst>
                  <a:gd name="txL" fmla="*/ 0 w 3860"/>
                  <a:gd name="txT" fmla="*/ 0 h 1"/>
                  <a:gd name="txR" fmla="*/ 3860 w 3860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3860" y="0"/>
                  </a:cxn>
                </a:cxnLst>
                <a:rect l="txL" t="txT" r="txR" b="txB"/>
                <a:pathLst>
                  <a:path w="3860" h="1">
                    <a:moveTo>
                      <a:pt x="0" y="1"/>
                    </a:moveTo>
                    <a:lnTo>
                      <a:pt x="38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70" name="Freeform 121"/>
              <p:cNvSpPr/>
              <p:nvPr/>
            </p:nvSpPr>
            <p:spPr>
              <a:xfrm>
                <a:off x="912" y="3209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71" name="Rectangle 122"/>
              <p:cNvSpPr/>
              <p:nvPr/>
            </p:nvSpPr>
            <p:spPr>
              <a:xfrm>
                <a:off x="1141" y="3597"/>
                <a:ext cx="823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72" name="Text Box 123"/>
              <p:cNvSpPr txBox="1"/>
              <p:nvPr/>
            </p:nvSpPr>
            <p:spPr>
              <a:xfrm>
                <a:off x="1172" y="357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773" name="Freeform 124"/>
              <p:cNvSpPr/>
              <p:nvPr/>
            </p:nvSpPr>
            <p:spPr>
              <a:xfrm>
                <a:off x="1402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74" name="Freeform 125"/>
              <p:cNvSpPr/>
              <p:nvPr/>
            </p:nvSpPr>
            <p:spPr>
              <a:xfrm>
                <a:off x="1613" y="1211"/>
                <a:ext cx="169" cy="1469"/>
              </a:xfrm>
              <a:custGeom>
                <a:avLst/>
                <a:gdLst>
                  <a:gd name="txL" fmla="*/ 0 w 169"/>
                  <a:gd name="txT" fmla="*/ 0 h 1469"/>
                  <a:gd name="txR" fmla="*/ 169 w 169"/>
                  <a:gd name="txB" fmla="*/ 1469 h 1469"/>
                </a:gdLst>
                <a:ahLst/>
                <a:cxnLst>
                  <a:cxn ang="0">
                    <a:pos x="169" y="1468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5" y="0"/>
                  </a:cxn>
                </a:cxnLst>
                <a:rect l="txL" t="txT" r="txR" b="txB"/>
                <a:pathLst>
                  <a:path w="169" h="1469">
                    <a:moveTo>
                      <a:pt x="169" y="1468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75" name="Freeform 126"/>
              <p:cNvSpPr/>
              <p:nvPr/>
            </p:nvSpPr>
            <p:spPr>
              <a:xfrm>
                <a:off x="1967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38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38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76" name="Freeform 127"/>
              <p:cNvSpPr/>
              <p:nvPr/>
            </p:nvSpPr>
            <p:spPr>
              <a:xfrm>
                <a:off x="2208" y="1211"/>
                <a:ext cx="155" cy="1467"/>
              </a:xfrm>
              <a:custGeom>
                <a:avLst/>
                <a:gdLst>
                  <a:gd name="txL" fmla="*/ 0 w 155"/>
                  <a:gd name="txT" fmla="*/ 0 h 1467"/>
                  <a:gd name="txR" fmla="*/ 155 w 155"/>
                  <a:gd name="txB" fmla="*/ 1467 h 1467"/>
                </a:gdLst>
                <a:ahLst/>
                <a:cxnLst>
                  <a:cxn ang="0">
                    <a:pos x="155" y="1467"/>
                  </a:cxn>
                  <a:cxn ang="0">
                    <a:pos x="3" y="1467"/>
                  </a:cxn>
                  <a:cxn ang="0">
                    <a:pos x="0" y="1"/>
                  </a:cxn>
                  <a:cxn ang="0">
                    <a:pos x="89" y="0"/>
                  </a:cxn>
                </a:cxnLst>
                <a:rect l="txL" t="txT" r="txR" b="txB"/>
                <a:pathLst>
                  <a:path w="155" h="1467">
                    <a:moveTo>
                      <a:pt x="155" y="1467"/>
                    </a:moveTo>
                    <a:lnTo>
                      <a:pt x="3" y="1467"/>
                    </a:lnTo>
                    <a:lnTo>
                      <a:pt x="0" y="1"/>
                    </a:lnTo>
                    <a:lnTo>
                      <a:pt x="8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77" name="Freeform 128"/>
              <p:cNvSpPr/>
              <p:nvPr/>
            </p:nvSpPr>
            <p:spPr>
              <a:xfrm>
                <a:off x="2557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4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78" name="Freeform 129"/>
              <p:cNvSpPr/>
              <p:nvPr/>
            </p:nvSpPr>
            <p:spPr>
              <a:xfrm>
                <a:off x="2787" y="1211"/>
                <a:ext cx="152" cy="1467"/>
              </a:xfrm>
              <a:custGeom>
                <a:avLst/>
                <a:gdLst>
                  <a:gd name="txL" fmla="*/ 0 w 152"/>
                  <a:gd name="txT" fmla="*/ 0 h 1467"/>
                  <a:gd name="txR" fmla="*/ 152 w 152"/>
                  <a:gd name="txB" fmla="*/ 1467 h 1467"/>
                </a:gdLst>
                <a:ahLst/>
                <a:cxnLst>
                  <a:cxn ang="0">
                    <a:pos x="152" y="1467"/>
                  </a:cxn>
                  <a:cxn ang="0">
                    <a:pos x="0" y="1467"/>
                  </a:cxn>
                  <a:cxn ang="0">
                    <a:pos x="0" y="1"/>
                  </a:cxn>
                  <a:cxn ang="0">
                    <a:pos x="77" y="0"/>
                  </a:cxn>
                </a:cxnLst>
                <a:rect l="txL" t="txT" r="txR" b="txB"/>
                <a:pathLst>
                  <a:path w="152" h="1467">
                    <a:moveTo>
                      <a:pt x="152" y="1467"/>
                    </a:moveTo>
                    <a:lnTo>
                      <a:pt x="0" y="1467"/>
                    </a:lnTo>
                    <a:lnTo>
                      <a:pt x="0" y="1"/>
                    </a:lnTo>
                    <a:lnTo>
                      <a:pt x="7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79" name="Freeform 130"/>
              <p:cNvSpPr/>
              <p:nvPr/>
            </p:nvSpPr>
            <p:spPr>
              <a:xfrm>
                <a:off x="3130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80" name="Freeform 131"/>
              <p:cNvSpPr/>
              <p:nvPr/>
            </p:nvSpPr>
            <p:spPr>
              <a:xfrm>
                <a:off x="3360" y="1209"/>
                <a:ext cx="155" cy="1469"/>
              </a:xfrm>
              <a:custGeom>
                <a:avLst/>
                <a:gdLst>
                  <a:gd name="txL" fmla="*/ 0 w 155"/>
                  <a:gd name="txT" fmla="*/ 0 h 1469"/>
                  <a:gd name="txR" fmla="*/ 155 w 155"/>
                  <a:gd name="txB" fmla="*/ 1469 h 1469"/>
                </a:gdLst>
                <a:ahLst/>
                <a:cxnLst>
                  <a:cxn ang="0">
                    <a:pos x="155" y="1469"/>
                  </a:cxn>
                  <a:cxn ang="0">
                    <a:pos x="3" y="1469"/>
                  </a:cxn>
                  <a:cxn ang="0">
                    <a:pos x="0" y="0"/>
                  </a:cxn>
                  <a:cxn ang="0">
                    <a:pos x="103" y="2"/>
                  </a:cxn>
                </a:cxnLst>
                <a:rect l="txL" t="txT" r="txR" b="txB"/>
                <a:pathLst>
                  <a:path w="155" h="1469">
                    <a:moveTo>
                      <a:pt x="155" y="1469"/>
                    </a:moveTo>
                    <a:lnTo>
                      <a:pt x="3" y="1469"/>
                    </a:lnTo>
                    <a:lnTo>
                      <a:pt x="0" y="0"/>
                    </a:lnTo>
                    <a:lnTo>
                      <a:pt x="103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81" name="Freeform 132"/>
              <p:cNvSpPr/>
              <p:nvPr/>
            </p:nvSpPr>
            <p:spPr>
              <a:xfrm>
                <a:off x="3710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42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42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82" name="Freeform 133"/>
              <p:cNvSpPr/>
              <p:nvPr/>
            </p:nvSpPr>
            <p:spPr>
              <a:xfrm>
                <a:off x="3939" y="1211"/>
                <a:ext cx="152" cy="1467"/>
              </a:xfrm>
              <a:custGeom>
                <a:avLst/>
                <a:gdLst>
                  <a:gd name="txL" fmla="*/ 0 w 152"/>
                  <a:gd name="txT" fmla="*/ 0 h 1467"/>
                  <a:gd name="txR" fmla="*/ 152 w 152"/>
                  <a:gd name="txB" fmla="*/ 1467 h 1467"/>
                </a:gdLst>
                <a:ahLst/>
                <a:cxnLst>
                  <a:cxn ang="0">
                    <a:pos x="152" y="1467"/>
                  </a:cxn>
                  <a:cxn ang="0">
                    <a:pos x="0" y="1467"/>
                  </a:cxn>
                  <a:cxn ang="0">
                    <a:pos x="0" y="1"/>
                  </a:cxn>
                  <a:cxn ang="0">
                    <a:pos x="103" y="0"/>
                  </a:cxn>
                </a:cxnLst>
                <a:rect l="txL" t="txT" r="txR" b="txB"/>
                <a:pathLst>
                  <a:path w="152" h="1467">
                    <a:moveTo>
                      <a:pt x="152" y="1467"/>
                    </a:moveTo>
                    <a:lnTo>
                      <a:pt x="0" y="1467"/>
                    </a:lnTo>
                    <a:lnTo>
                      <a:pt x="0" y="1"/>
                    </a:lnTo>
                    <a:lnTo>
                      <a:pt x="10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83" name="Freeform 134"/>
              <p:cNvSpPr/>
              <p:nvPr/>
            </p:nvSpPr>
            <p:spPr>
              <a:xfrm>
                <a:off x="4280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51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51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84" name="Freeform 135"/>
              <p:cNvSpPr/>
              <p:nvPr/>
            </p:nvSpPr>
            <p:spPr>
              <a:xfrm>
                <a:off x="4509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0" y="1467"/>
                  </a:cxn>
                  <a:cxn ang="0">
                    <a:pos x="0" y="0"/>
                  </a:cxn>
                  <a:cxn ang="0">
                    <a:pos x="95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0" y="1467"/>
                    </a:lnTo>
                    <a:lnTo>
                      <a:pt x="0" y="0"/>
                    </a:lnTo>
                    <a:lnTo>
                      <a:pt x="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85" name="Freeform 136"/>
              <p:cNvSpPr/>
              <p:nvPr/>
            </p:nvSpPr>
            <p:spPr>
              <a:xfrm>
                <a:off x="4861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86" name="Freeform 137"/>
              <p:cNvSpPr/>
              <p:nvPr/>
            </p:nvSpPr>
            <p:spPr>
              <a:xfrm>
                <a:off x="5069" y="1211"/>
                <a:ext cx="159" cy="1469"/>
              </a:xfrm>
              <a:custGeom>
                <a:avLst/>
                <a:gdLst>
                  <a:gd name="txL" fmla="*/ 0 w 159"/>
                  <a:gd name="txT" fmla="*/ 0 h 1469"/>
                  <a:gd name="txR" fmla="*/ 159 w 159"/>
                  <a:gd name="txB" fmla="*/ 1469 h 1469"/>
                </a:gdLst>
                <a:ahLst/>
                <a:cxnLst>
                  <a:cxn ang="0">
                    <a:pos x="159" y="1467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4" y="0"/>
                  </a:cxn>
                </a:cxnLst>
                <a:rect l="txL" t="txT" r="txR" b="txB"/>
                <a:pathLst>
                  <a:path w="159" h="1469">
                    <a:moveTo>
                      <a:pt x="159" y="1467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87" name="Freeform 138"/>
              <p:cNvSpPr/>
              <p:nvPr/>
            </p:nvSpPr>
            <p:spPr>
              <a:xfrm>
                <a:off x="5417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47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47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88" name="Freeform 139"/>
              <p:cNvSpPr/>
              <p:nvPr/>
            </p:nvSpPr>
            <p:spPr>
              <a:xfrm>
                <a:off x="1055" y="2738"/>
                <a:ext cx="730" cy="660"/>
              </a:xfrm>
              <a:custGeom>
                <a:avLst/>
                <a:gdLst>
                  <a:gd name="txL" fmla="*/ 0 w 730"/>
                  <a:gd name="txT" fmla="*/ 0 h 660"/>
                  <a:gd name="txR" fmla="*/ 730 w 730"/>
                  <a:gd name="txB" fmla="*/ 660 h 660"/>
                </a:gdLst>
                <a:ahLst/>
                <a:cxnLst>
                  <a:cxn ang="0">
                    <a:pos x="160" y="4"/>
                  </a:cxn>
                  <a:cxn ang="0">
                    <a:pos x="0" y="3"/>
                  </a:cxn>
                  <a:cxn ang="0">
                    <a:pos x="0" y="660"/>
                  </a:cxn>
                  <a:cxn ang="0">
                    <a:pos x="558" y="657"/>
                  </a:cxn>
                  <a:cxn ang="0">
                    <a:pos x="558" y="0"/>
                  </a:cxn>
                  <a:cxn ang="0">
                    <a:pos x="730" y="1"/>
                  </a:cxn>
                </a:cxnLst>
                <a:rect l="txL" t="txT" r="txR" b="txB"/>
                <a:pathLst>
                  <a:path w="730" h="660">
                    <a:moveTo>
                      <a:pt x="160" y="4"/>
                    </a:moveTo>
                    <a:lnTo>
                      <a:pt x="0" y="3"/>
                    </a:lnTo>
                    <a:lnTo>
                      <a:pt x="0" y="660"/>
                    </a:lnTo>
                    <a:lnTo>
                      <a:pt x="558" y="657"/>
                    </a:lnTo>
                    <a:lnTo>
                      <a:pt x="558" y="0"/>
                    </a:lnTo>
                    <a:lnTo>
                      <a:pt x="73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89" name="Freeform 140"/>
              <p:cNvSpPr/>
              <p:nvPr/>
            </p:nvSpPr>
            <p:spPr>
              <a:xfrm>
                <a:off x="2207" y="2744"/>
                <a:ext cx="729" cy="658"/>
              </a:xfrm>
              <a:custGeom>
                <a:avLst/>
                <a:gdLst>
                  <a:gd name="txL" fmla="*/ 0 w 729"/>
                  <a:gd name="txT" fmla="*/ 0 h 658"/>
                  <a:gd name="txR" fmla="*/ 729 w 729"/>
                  <a:gd name="txB" fmla="*/ 658 h 658"/>
                </a:gdLst>
                <a:ahLst/>
                <a:cxnLst>
                  <a:cxn ang="0">
                    <a:pos x="153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83" y="658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8">
                    <a:moveTo>
                      <a:pt x="153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83" y="658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90" name="Freeform 141"/>
              <p:cNvSpPr/>
              <p:nvPr/>
            </p:nvSpPr>
            <p:spPr>
              <a:xfrm>
                <a:off x="3356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58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58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91" name="Freeform 142"/>
              <p:cNvSpPr/>
              <p:nvPr/>
            </p:nvSpPr>
            <p:spPr>
              <a:xfrm>
                <a:off x="4508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61" y="2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61" y="2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92" name="Freeform 143"/>
              <p:cNvSpPr/>
              <p:nvPr/>
            </p:nvSpPr>
            <p:spPr>
              <a:xfrm>
                <a:off x="1400" y="2735"/>
                <a:ext cx="708" cy="571"/>
              </a:xfrm>
              <a:custGeom>
                <a:avLst/>
                <a:gdLst>
                  <a:gd name="txL" fmla="*/ 0 w 708"/>
                  <a:gd name="txT" fmla="*/ 0 h 571"/>
                  <a:gd name="txR" fmla="*/ 708 w 708"/>
                  <a:gd name="txB" fmla="*/ 571 h 571"/>
                </a:gdLst>
                <a:ahLst/>
                <a:cxnLst>
                  <a:cxn ang="0">
                    <a:pos x="0" y="0"/>
                  </a:cxn>
                  <a:cxn ang="0">
                    <a:pos x="132" y="0"/>
                  </a:cxn>
                  <a:cxn ang="0">
                    <a:pos x="133" y="571"/>
                  </a:cxn>
                  <a:cxn ang="0">
                    <a:pos x="708" y="570"/>
                  </a:cxn>
                  <a:cxn ang="0">
                    <a:pos x="708" y="9"/>
                  </a:cxn>
                  <a:cxn ang="0">
                    <a:pos x="573" y="9"/>
                  </a:cxn>
                </a:cxnLst>
                <a:rect l="txL" t="txT" r="txR" b="txB"/>
                <a:pathLst>
                  <a:path w="708" h="571">
                    <a:moveTo>
                      <a:pt x="0" y="0"/>
                    </a:moveTo>
                    <a:lnTo>
                      <a:pt x="132" y="0"/>
                    </a:lnTo>
                    <a:lnTo>
                      <a:pt x="133" y="571"/>
                    </a:lnTo>
                    <a:lnTo>
                      <a:pt x="708" y="570"/>
                    </a:lnTo>
                    <a:lnTo>
                      <a:pt x="708" y="9"/>
                    </a:lnTo>
                    <a:lnTo>
                      <a:pt x="573" y="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93" name="Freeform 144"/>
              <p:cNvSpPr/>
              <p:nvPr/>
            </p:nvSpPr>
            <p:spPr>
              <a:xfrm>
                <a:off x="2552" y="2735"/>
                <a:ext cx="726" cy="567"/>
              </a:xfrm>
              <a:custGeom>
                <a:avLst/>
                <a:gdLst>
                  <a:gd name="txL" fmla="*/ 0 w 726"/>
                  <a:gd name="txT" fmla="*/ 0 h 567"/>
                  <a:gd name="txR" fmla="*/ 726 w 726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48" y="1"/>
                  </a:cxn>
                  <a:cxn ang="0">
                    <a:pos x="147" y="567"/>
                  </a:cxn>
                  <a:cxn ang="0">
                    <a:pos x="726" y="567"/>
                  </a:cxn>
                  <a:cxn ang="0">
                    <a:pos x="726" y="6"/>
                  </a:cxn>
                  <a:cxn ang="0">
                    <a:pos x="579" y="6"/>
                  </a:cxn>
                </a:cxnLst>
                <a:rect l="txL" t="txT" r="txR" b="txB"/>
                <a:pathLst>
                  <a:path w="726" h="567">
                    <a:moveTo>
                      <a:pt x="0" y="0"/>
                    </a:moveTo>
                    <a:lnTo>
                      <a:pt x="148" y="1"/>
                    </a:lnTo>
                    <a:lnTo>
                      <a:pt x="147" y="567"/>
                    </a:lnTo>
                    <a:lnTo>
                      <a:pt x="726" y="567"/>
                    </a:lnTo>
                    <a:lnTo>
                      <a:pt x="726" y="6"/>
                    </a:lnTo>
                    <a:lnTo>
                      <a:pt x="579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94" name="Freeform 145"/>
              <p:cNvSpPr/>
              <p:nvPr/>
            </p:nvSpPr>
            <p:spPr>
              <a:xfrm>
                <a:off x="3704" y="2738"/>
                <a:ext cx="714" cy="567"/>
              </a:xfrm>
              <a:custGeom>
                <a:avLst/>
                <a:gdLst>
                  <a:gd name="txL" fmla="*/ 0 w 714"/>
                  <a:gd name="txT" fmla="*/ 0 h 567"/>
                  <a:gd name="txR" fmla="*/ 714 w 714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6" y="1"/>
                  </a:cxn>
                  <a:cxn ang="0">
                    <a:pos x="135" y="567"/>
                  </a:cxn>
                  <a:cxn ang="0">
                    <a:pos x="714" y="567"/>
                  </a:cxn>
                  <a:cxn ang="0">
                    <a:pos x="714" y="6"/>
                  </a:cxn>
                  <a:cxn ang="0">
                    <a:pos x="576" y="5"/>
                  </a:cxn>
                </a:cxnLst>
                <a:rect l="txL" t="txT" r="txR" b="txB"/>
                <a:pathLst>
                  <a:path w="714" h="567">
                    <a:moveTo>
                      <a:pt x="0" y="0"/>
                    </a:moveTo>
                    <a:lnTo>
                      <a:pt x="136" y="1"/>
                    </a:lnTo>
                    <a:lnTo>
                      <a:pt x="135" y="567"/>
                    </a:lnTo>
                    <a:lnTo>
                      <a:pt x="714" y="567"/>
                    </a:lnTo>
                    <a:lnTo>
                      <a:pt x="714" y="6"/>
                    </a:lnTo>
                    <a:lnTo>
                      <a:pt x="576" y="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95" name="Freeform 146"/>
              <p:cNvSpPr/>
              <p:nvPr/>
            </p:nvSpPr>
            <p:spPr>
              <a:xfrm>
                <a:off x="4859" y="2738"/>
                <a:ext cx="711" cy="567"/>
              </a:xfrm>
              <a:custGeom>
                <a:avLst/>
                <a:gdLst>
                  <a:gd name="txL" fmla="*/ 0 w 711"/>
                  <a:gd name="txT" fmla="*/ 0 h 567"/>
                  <a:gd name="txR" fmla="*/ 711 w 711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0" y="1"/>
                  </a:cxn>
                  <a:cxn ang="0">
                    <a:pos x="132" y="567"/>
                  </a:cxn>
                  <a:cxn ang="0">
                    <a:pos x="711" y="567"/>
                  </a:cxn>
                  <a:cxn ang="0">
                    <a:pos x="711" y="6"/>
                  </a:cxn>
                  <a:cxn ang="0">
                    <a:pos x="564" y="6"/>
                  </a:cxn>
                </a:cxnLst>
                <a:rect l="txL" t="txT" r="txR" b="txB"/>
                <a:pathLst>
                  <a:path w="711" h="567">
                    <a:moveTo>
                      <a:pt x="0" y="0"/>
                    </a:moveTo>
                    <a:lnTo>
                      <a:pt x="130" y="1"/>
                    </a:lnTo>
                    <a:lnTo>
                      <a:pt x="132" y="567"/>
                    </a:lnTo>
                    <a:lnTo>
                      <a:pt x="711" y="567"/>
                    </a:lnTo>
                    <a:lnTo>
                      <a:pt x="711" y="6"/>
                    </a:lnTo>
                    <a:lnTo>
                      <a:pt x="564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96" name="Freeform 147"/>
              <p:cNvSpPr/>
              <p:nvPr/>
            </p:nvSpPr>
            <p:spPr>
              <a:xfrm>
                <a:off x="1322" y="3398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97" name="Freeform 148"/>
              <p:cNvSpPr/>
              <p:nvPr/>
            </p:nvSpPr>
            <p:spPr>
              <a:xfrm>
                <a:off x="2491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98" name="Freeform 149"/>
              <p:cNvSpPr/>
              <p:nvPr/>
            </p:nvSpPr>
            <p:spPr>
              <a:xfrm>
                <a:off x="3643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799" name="Freeform 150"/>
              <p:cNvSpPr/>
              <p:nvPr/>
            </p:nvSpPr>
            <p:spPr>
              <a:xfrm>
                <a:off x="4795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00" name="Freeform 151"/>
              <p:cNvSpPr/>
              <p:nvPr/>
            </p:nvSpPr>
            <p:spPr>
              <a:xfrm>
                <a:off x="5276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01" name="Freeform 152"/>
              <p:cNvSpPr/>
              <p:nvPr/>
            </p:nvSpPr>
            <p:spPr>
              <a:xfrm>
                <a:off x="4124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02" name="Freeform 153"/>
              <p:cNvSpPr/>
              <p:nvPr/>
            </p:nvSpPr>
            <p:spPr>
              <a:xfrm>
                <a:off x="2972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03" name="Freeform 154"/>
              <p:cNvSpPr/>
              <p:nvPr/>
            </p:nvSpPr>
            <p:spPr>
              <a:xfrm>
                <a:off x="1819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04" name="Freeform 155"/>
              <p:cNvSpPr/>
              <p:nvPr/>
            </p:nvSpPr>
            <p:spPr>
              <a:xfrm>
                <a:off x="956" y="4025"/>
                <a:ext cx="4317" cy="1"/>
              </a:xfrm>
              <a:custGeom>
                <a:avLst/>
                <a:gdLst>
                  <a:gd name="txL" fmla="*/ 0 w 4317"/>
                  <a:gd name="txT" fmla="*/ 0 h 1"/>
                  <a:gd name="txR" fmla="*/ 4317 w 431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4317" y="0"/>
                  </a:cxn>
                </a:cxnLst>
                <a:rect l="txL" t="txT" r="txR" b="txB"/>
                <a:pathLst>
                  <a:path w="4317" h="1">
                    <a:moveTo>
                      <a:pt x="0" y="0"/>
                    </a:moveTo>
                    <a:lnTo>
                      <a:pt x="431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05" name="Freeform 156"/>
              <p:cNvSpPr/>
              <p:nvPr/>
            </p:nvSpPr>
            <p:spPr>
              <a:xfrm>
                <a:off x="956" y="4121"/>
                <a:ext cx="3837" cy="1"/>
              </a:xfrm>
              <a:custGeom>
                <a:avLst/>
                <a:gdLst>
                  <a:gd name="txL" fmla="*/ 0 w 3837"/>
                  <a:gd name="txT" fmla="*/ 0 h 1"/>
                  <a:gd name="txR" fmla="*/ 3837 w 383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837" y="0"/>
                  </a:cxn>
                </a:cxnLst>
                <a:rect l="txL" t="txT" r="txR" b="txB"/>
                <a:pathLst>
                  <a:path w="3837" h="1">
                    <a:moveTo>
                      <a:pt x="0" y="0"/>
                    </a:moveTo>
                    <a:lnTo>
                      <a:pt x="383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06" name="Freeform 157"/>
              <p:cNvSpPr/>
              <p:nvPr/>
            </p:nvSpPr>
            <p:spPr>
              <a:xfrm>
                <a:off x="1322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07" name="Freeform 158"/>
              <p:cNvSpPr/>
              <p:nvPr/>
            </p:nvSpPr>
            <p:spPr>
              <a:xfrm>
                <a:off x="2491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08" name="Freeform 159"/>
              <p:cNvSpPr/>
              <p:nvPr/>
            </p:nvSpPr>
            <p:spPr>
              <a:xfrm>
                <a:off x="3643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09" name="Freeform 160"/>
              <p:cNvSpPr/>
              <p:nvPr/>
            </p:nvSpPr>
            <p:spPr>
              <a:xfrm>
                <a:off x="4791" y="3881"/>
                <a:ext cx="4" cy="247"/>
              </a:xfrm>
              <a:custGeom>
                <a:avLst/>
                <a:gdLst>
                  <a:gd name="txL" fmla="*/ 0 w 4"/>
                  <a:gd name="txT" fmla="*/ 0 h 247"/>
                  <a:gd name="txR" fmla="*/ 4 w 4"/>
                  <a:gd name="txB" fmla="*/ 247 h 247"/>
                </a:gdLst>
                <a:ahLst/>
                <a:cxnLst>
                  <a:cxn ang="0">
                    <a:pos x="4" y="0"/>
                  </a:cxn>
                  <a:cxn ang="0">
                    <a:pos x="0" y="247"/>
                  </a:cxn>
                </a:cxnLst>
                <a:rect l="txL" t="txT" r="txR" b="txB"/>
                <a:pathLst>
                  <a:path w="4" h="247">
                    <a:moveTo>
                      <a:pt x="4" y="0"/>
                    </a:moveTo>
                    <a:lnTo>
                      <a:pt x="0" y="24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10" name="Freeform 161"/>
              <p:cNvSpPr/>
              <p:nvPr/>
            </p:nvSpPr>
            <p:spPr>
              <a:xfrm>
                <a:off x="5277" y="3881"/>
                <a:ext cx="1" cy="151"/>
              </a:xfrm>
              <a:custGeom>
                <a:avLst/>
                <a:gdLst>
                  <a:gd name="txL" fmla="*/ 0 w 1"/>
                  <a:gd name="txT" fmla="*/ 0 h 151"/>
                  <a:gd name="txR" fmla="*/ 1 w 1"/>
                  <a:gd name="txB" fmla="*/ 151 h 151"/>
                </a:gdLst>
                <a:ahLst/>
                <a:cxnLst>
                  <a:cxn ang="0">
                    <a:pos x="0" y="0"/>
                  </a:cxn>
                  <a:cxn ang="0">
                    <a:pos x="0" y="151"/>
                  </a:cxn>
                </a:cxnLst>
                <a:rect l="txL" t="txT" r="txR" b="txB"/>
                <a:pathLst>
                  <a:path w="1" h="151">
                    <a:moveTo>
                      <a:pt x="0" y="0"/>
                    </a:moveTo>
                    <a:lnTo>
                      <a:pt x="0" y="15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11" name="Line 162"/>
              <p:cNvSpPr/>
              <p:nvPr/>
            </p:nvSpPr>
            <p:spPr>
              <a:xfrm>
                <a:off x="4124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77812" name="Line 163"/>
              <p:cNvSpPr/>
              <p:nvPr/>
            </p:nvSpPr>
            <p:spPr>
              <a:xfrm>
                <a:off x="2973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77813" name="Line 164"/>
              <p:cNvSpPr/>
              <p:nvPr/>
            </p:nvSpPr>
            <p:spPr>
              <a:xfrm>
                <a:off x="1820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77814" name="Rectangle 165"/>
              <p:cNvSpPr/>
              <p:nvPr/>
            </p:nvSpPr>
            <p:spPr>
              <a:xfrm>
                <a:off x="2317" y="3597"/>
                <a:ext cx="823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15" name="Text Box 166"/>
              <p:cNvSpPr txBox="1"/>
              <p:nvPr/>
            </p:nvSpPr>
            <p:spPr>
              <a:xfrm>
                <a:off x="2348" y="357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16" name="Rectangle 167"/>
              <p:cNvSpPr/>
              <p:nvPr/>
            </p:nvSpPr>
            <p:spPr>
              <a:xfrm>
                <a:off x="3469" y="3597"/>
                <a:ext cx="823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17" name="Text Box 168"/>
              <p:cNvSpPr txBox="1"/>
              <p:nvPr/>
            </p:nvSpPr>
            <p:spPr>
              <a:xfrm>
                <a:off x="3500" y="357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18" name="Rectangle 169"/>
              <p:cNvSpPr/>
              <p:nvPr/>
            </p:nvSpPr>
            <p:spPr>
              <a:xfrm>
                <a:off x="4621" y="3597"/>
                <a:ext cx="823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19" name="Text Box 170"/>
              <p:cNvSpPr txBox="1"/>
              <p:nvPr/>
            </p:nvSpPr>
            <p:spPr>
              <a:xfrm>
                <a:off x="4652" y="357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20" name="Line 171"/>
              <p:cNvSpPr/>
              <p:nvPr/>
            </p:nvSpPr>
            <p:spPr>
              <a:xfrm>
                <a:off x="196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7821" name="Line 172"/>
              <p:cNvSpPr/>
              <p:nvPr/>
            </p:nvSpPr>
            <p:spPr>
              <a:xfrm>
                <a:off x="314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7822" name="Line 173"/>
              <p:cNvSpPr/>
              <p:nvPr/>
            </p:nvSpPr>
            <p:spPr>
              <a:xfrm>
                <a:off x="4293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7823" name="Line 174"/>
              <p:cNvSpPr/>
              <p:nvPr/>
            </p:nvSpPr>
            <p:spPr>
              <a:xfrm>
                <a:off x="5420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77824" name="Freeform 175"/>
              <p:cNvSpPr/>
              <p:nvPr/>
            </p:nvSpPr>
            <p:spPr>
              <a:xfrm>
                <a:off x="3033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25" name="Freeform 176"/>
              <p:cNvSpPr/>
              <p:nvPr/>
            </p:nvSpPr>
            <p:spPr>
              <a:xfrm>
                <a:off x="4185" y="2691"/>
                <a:ext cx="1" cy="525"/>
              </a:xfrm>
              <a:custGeom>
                <a:avLst/>
                <a:gdLst>
                  <a:gd name="txL" fmla="*/ 0 w 1"/>
                  <a:gd name="txT" fmla="*/ 0 h 525"/>
                  <a:gd name="txR" fmla="*/ 1 w 1"/>
                  <a:gd name="txB" fmla="*/ 525 h 525"/>
                </a:gdLst>
                <a:ahLst/>
                <a:cxnLst>
                  <a:cxn ang="0">
                    <a:pos x="0" y="0"/>
                  </a:cxn>
                  <a:cxn ang="0">
                    <a:pos x="0" y="525"/>
                  </a:cxn>
                </a:cxnLst>
                <a:rect l="txL" t="txT" r="txR" b="txB"/>
                <a:pathLst>
                  <a:path w="1" h="525">
                    <a:moveTo>
                      <a:pt x="0" y="0"/>
                    </a:moveTo>
                    <a:lnTo>
                      <a:pt x="0" y="52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26" name="Freeform 177"/>
              <p:cNvSpPr/>
              <p:nvPr/>
            </p:nvSpPr>
            <p:spPr>
              <a:xfrm>
                <a:off x="5325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827" name="Text Box 178"/>
              <p:cNvSpPr txBox="1"/>
              <p:nvPr/>
            </p:nvSpPr>
            <p:spPr>
              <a:xfrm rot="5400000">
                <a:off x="1175" y="1623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28" name="Text Box 179"/>
              <p:cNvSpPr txBox="1"/>
              <p:nvPr/>
            </p:nvSpPr>
            <p:spPr>
              <a:xfrm rot="5400000">
                <a:off x="1751" y="1623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29" name="Text Box 180"/>
              <p:cNvSpPr txBox="1"/>
              <p:nvPr/>
            </p:nvSpPr>
            <p:spPr>
              <a:xfrm rot="5400000">
                <a:off x="2327" y="1623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30" name="Text Box 181"/>
              <p:cNvSpPr txBox="1"/>
              <p:nvPr/>
            </p:nvSpPr>
            <p:spPr>
              <a:xfrm rot="5400000">
                <a:off x="2903" y="161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31" name="Text Box 182"/>
              <p:cNvSpPr txBox="1"/>
              <p:nvPr/>
            </p:nvSpPr>
            <p:spPr>
              <a:xfrm rot="5400000">
                <a:off x="3478" y="161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32" name="Text Box 183"/>
              <p:cNvSpPr txBox="1"/>
              <p:nvPr/>
            </p:nvSpPr>
            <p:spPr>
              <a:xfrm rot="5400000">
                <a:off x="4055" y="161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33" name="Text Box 184"/>
              <p:cNvSpPr txBox="1"/>
              <p:nvPr/>
            </p:nvSpPr>
            <p:spPr>
              <a:xfrm rot="5400000">
                <a:off x="4631" y="161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34" name="Text Box 185"/>
              <p:cNvSpPr txBox="1"/>
              <p:nvPr/>
            </p:nvSpPr>
            <p:spPr>
              <a:xfrm rot="5400000">
                <a:off x="5226" y="161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35" name="Text Box 186"/>
              <p:cNvSpPr txBox="1"/>
              <p:nvPr/>
            </p:nvSpPr>
            <p:spPr>
              <a:xfrm>
                <a:off x="660" y="791"/>
                <a:ext cx="18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36" name="Text Box 187"/>
              <p:cNvSpPr txBox="1"/>
              <p:nvPr/>
            </p:nvSpPr>
            <p:spPr>
              <a:xfrm>
                <a:off x="660" y="1383"/>
                <a:ext cx="18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37" name="Text Box 188"/>
              <p:cNvSpPr txBox="1"/>
              <p:nvPr/>
            </p:nvSpPr>
            <p:spPr>
              <a:xfrm>
                <a:off x="624" y="1959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63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38" name="Line 189"/>
              <p:cNvSpPr/>
              <p:nvPr/>
            </p:nvSpPr>
            <p:spPr>
              <a:xfrm>
                <a:off x="332" y="2537"/>
                <a:ext cx="57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839" name="Text Box 190"/>
              <p:cNvSpPr txBox="1"/>
              <p:nvPr/>
            </p:nvSpPr>
            <p:spPr>
              <a:xfrm>
                <a:off x="660" y="2727"/>
                <a:ext cx="18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40" name="Text Box 191"/>
              <p:cNvSpPr txBox="1"/>
              <p:nvPr/>
            </p:nvSpPr>
            <p:spPr>
              <a:xfrm>
                <a:off x="624" y="3159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15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41" name="Text Box 192"/>
              <p:cNvSpPr txBox="1"/>
              <p:nvPr/>
            </p:nvSpPr>
            <p:spPr>
              <a:xfrm rot="5400000">
                <a:off x="647" y="161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42" name="Text Box 193"/>
              <p:cNvSpPr txBox="1"/>
              <p:nvPr/>
            </p:nvSpPr>
            <p:spPr>
              <a:xfrm rot="5400000">
                <a:off x="647" y="2859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43" name="Text Box 194"/>
              <p:cNvSpPr txBox="1"/>
              <p:nvPr/>
            </p:nvSpPr>
            <p:spPr>
              <a:xfrm>
                <a:off x="349" y="1015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44" name="Text Box 195"/>
              <p:cNvSpPr txBox="1"/>
              <p:nvPr/>
            </p:nvSpPr>
            <p:spPr>
              <a:xfrm>
                <a:off x="349" y="1263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45" name="Text Box 196"/>
              <p:cNvSpPr txBox="1"/>
              <p:nvPr/>
            </p:nvSpPr>
            <p:spPr>
              <a:xfrm>
                <a:off x="349" y="1511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46" name="Text Box 197"/>
              <p:cNvSpPr txBox="1"/>
              <p:nvPr/>
            </p:nvSpPr>
            <p:spPr>
              <a:xfrm>
                <a:off x="349" y="1758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47" name="Text Box 198"/>
              <p:cNvSpPr txBox="1"/>
              <p:nvPr/>
            </p:nvSpPr>
            <p:spPr>
              <a:xfrm>
                <a:off x="349" y="200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48" name="Text Box 199"/>
              <p:cNvSpPr txBox="1"/>
              <p:nvPr/>
            </p:nvSpPr>
            <p:spPr>
              <a:xfrm>
                <a:off x="376" y="2635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49" name="Text Box 200"/>
              <p:cNvSpPr txBox="1"/>
              <p:nvPr/>
            </p:nvSpPr>
            <p:spPr>
              <a:xfrm>
                <a:off x="376" y="2883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50" name="Text Box 201"/>
              <p:cNvSpPr txBox="1"/>
              <p:nvPr/>
            </p:nvSpPr>
            <p:spPr>
              <a:xfrm>
                <a:off x="376" y="3131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51" name="Text Box 202"/>
              <p:cNvSpPr txBox="1"/>
              <p:nvPr/>
            </p:nvSpPr>
            <p:spPr>
              <a:xfrm>
                <a:off x="376" y="3378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52" name="Text Box 203"/>
              <p:cNvSpPr txBox="1"/>
              <p:nvPr/>
            </p:nvSpPr>
            <p:spPr>
              <a:xfrm>
                <a:off x="376" y="362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53" name="Text Box 204"/>
              <p:cNvSpPr txBox="1"/>
              <p:nvPr/>
            </p:nvSpPr>
            <p:spPr>
              <a:xfrm>
                <a:off x="194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54" name="Text Box 205"/>
              <p:cNvSpPr txBox="1"/>
              <p:nvPr/>
            </p:nvSpPr>
            <p:spPr>
              <a:xfrm>
                <a:off x="310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55" name="Text Box 206"/>
              <p:cNvSpPr txBox="1"/>
              <p:nvPr/>
            </p:nvSpPr>
            <p:spPr>
              <a:xfrm>
                <a:off x="4258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56" name="Text Box 207"/>
              <p:cNvSpPr txBox="1"/>
              <p:nvPr/>
            </p:nvSpPr>
            <p:spPr>
              <a:xfrm>
                <a:off x="541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57" name="Line 208"/>
              <p:cNvSpPr/>
              <p:nvPr/>
            </p:nvSpPr>
            <p:spPr>
              <a:xfrm>
                <a:off x="140" y="905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7858" name="Line 209"/>
              <p:cNvSpPr/>
              <p:nvPr/>
            </p:nvSpPr>
            <p:spPr>
              <a:xfrm>
                <a:off x="140" y="116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7859" name="Line 210"/>
              <p:cNvSpPr/>
              <p:nvPr/>
            </p:nvSpPr>
            <p:spPr>
              <a:xfrm>
                <a:off x="140" y="142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7860" name="Line 211"/>
              <p:cNvSpPr/>
              <p:nvPr/>
            </p:nvSpPr>
            <p:spPr>
              <a:xfrm>
                <a:off x="140" y="168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7861" name="Line 212"/>
              <p:cNvSpPr/>
              <p:nvPr/>
            </p:nvSpPr>
            <p:spPr>
              <a:xfrm>
                <a:off x="140" y="194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7862" name="Line 213"/>
              <p:cNvSpPr/>
              <p:nvPr/>
            </p:nvSpPr>
            <p:spPr>
              <a:xfrm>
                <a:off x="140" y="220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7863" name="Line 214"/>
              <p:cNvSpPr/>
              <p:nvPr/>
            </p:nvSpPr>
            <p:spPr>
              <a:xfrm>
                <a:off x="140" y="287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7864" name="Line 215"/>
              <p:cNvSpPr/>
              <p:nvPr/>
            </p:nvSpPr>
            <p:spPr>
              <a:xfrm>
                <a:off x="140" y="313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7865" name="Line 216"/>
              <p:cNvSpPr/>
              <p:nvPr/>
            </p:nvSpPr>
            <p:spPr>
              <a:xfrm>
                <a:off x="140" y="339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7866" name="Line 217"/>
              <p:cNvSpPr/>
              <p:nvPr/>
            </p:nvSpPr>
            <p:spPr>
              <a:xfrm>
                <a:off x="140" y="365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77867" name="Text Box 218"/>
              <p:cNvSpPr txBox="1"/>
              <p:nvPr/>
            </p:nvSpPr>
            <p:spPr>
              <a:xfrm>
                <a:off x="648" y="3890"/>
                <a:ext cx="35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WE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68" name="Line 219"/>
              <p:cNvSpPr/>
              <p:nvPr/>
            </p:nvSpPr>
            <p:spPr>
              <a:xfrm>
                <a:off x="682" y="3923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7869" name="Text Box 220"/>
              <p:cNvSpPr txBox="1"/>
              <p:nvPr/>
            </p:nvSpPr>
            <p:spPr>
              <a:xfrm>
                <a:off x="669" y="4025"/>
                <a:ext cx="32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CS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870" name="Line 221"/>
              <p:cNvSpPr/>
              <p:nvPr/>
            </p:nvSpPr>
            <p:spPr>
              <a:xfrm>
                <a:off x="726" y="4079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77619" name="Group 222"/>
            <p:cNvGrpSpPr/>
            <p:nvPr/>
          </p:nvGrpSpPr>
          <p:grpSpPr>
            <a:xfrm>
              <a:off x="915" y="1649"/>
              <a:ext cx="4166" cy="1237"/>
              <a:chOff x="915" y="1649"/>
              <a:chExt cx="4166" cy="1237"/>
            </a:xfrm>
          </p:grpSpPr>
          <p:grpSp>
            <p:nvGrpSpPr>
              <p:cNvPr id="277620" name="Group 223"/>
              <p:cNvGrpSpPr/>
              <p:nvPr/>
            </p:nvGrpSpPr>
            <p:grpSpPr>
              <a:xfrm>
                <a:off x="915" y="2633"/>
                <a:ext cx="3945" cy="253"/>
                <a:chOff x="915" y="2633"/>
                <a:chExt cx="3945" cy="253"/>
              </a:xfrm>
            </p:grpSpPr>
            <p:grpSp>
              <p:nvGrpSpPr>
                <p:cNvPr id="277629" name="Group 224"/>
                <p:cNvGrpSpPr/>
                <p:nvPr/>
              </p:nvGrpSpPr>
              <p:grpSpPr>
                <a:xfrm>
                  <a:off x="915" y="2696"/>
                  <a:ext cx="3858" cy="190"/>
                  <a:chOff x="915" y="2696"/>
                  <a:chExt cx="3858" cy="190"/>
                </a:xfrm>
              </p:grpSpPr>
              <p:sp>
                <p:nvSpPr>
                  <p:cNvPr id="277662" name="Freeform 225"/>
                  <p:cNvSpPr/>
                  <p:nvPr/>
                </p:nvSpPr>
                <p:spPr>
                  <a:xfrm>
                    <a:off x="1304" y="2707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0" y="0"/>
                        </a:moveTo>
                        <a:lnTo>
                          <a:pt x="1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7663" name="Freeform 226"/>
                  <p:cNvSpPr/>
                  <p:nvPr/>
                </p:nvSpPr>
                <p:spPr>
                  <a:xfrm>
                    <a:off x="2457" y="2710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0" y="0"/>
                        </a:moveTo>
                        <a:lnTo>
                          <a:pt x="1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7664" name="Freeform 227"/>
                  <p:cNvSpPr/>
                  <p:nvPr/>
                </p:nvSpPr>
                <p:spPr>
                  <a:xfrm>
                    <a:off x="3609" y="2710"/>
                    <a:ext cx="1" cy="176"/>
                  </a:xfrm>
                  <a:custGeom>
                    <a:avLst/>
                    <a:gdLst>
                      <a:gd name="txL" fmla="*/ 0 w 1"/>
                      <a:gd name="txT" fmla="*/ 0 h 176"/>
                      <a:gd name="txR" fmla="*/ 1 w 1"/>
                      <a:gd name="txB" fmla="*/ 176 h 17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6"/>
                      </a:cxn>
                    </a:cxnLst>
                    <a:rect l="txL" t="txT" r="txR" b="txB"/>
                    <a:pathLst>
                      <a:path w="1" h="176">
                        <a:moveTo>
                          <a:pt x="0" y="0"/>
                        </a:moveTo>
                        <a:lnTo>
                          <a:pt x="0" y="17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7665" name="Freeform 228"/>
                  <p:cNvSpPr/>
                  <p:nvPr/>
                </p:nvSpPr>
                <p:spPr>
                  <a:xfrm>
                    <a:off x="4761" y="2696"/>
                    <a:ext cx="1" cy="178"/>
                  </a:xfrm>
                  <a:custGeom>
                    <a:avLst/>
                    <a:gdLst>
                      <a:gd name="txL" fmla="*/ 0 w 1"/>
                      <a:gd name="txT" fmla="*/ 0 h 178"/>
                      <a:gd name="txR" fmla="*/ 1 w 1"/>
                      <a:gd name="txB" fmla="*/ 178 h 178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8"/>
                      </a:cxn>
                    </a:cxnLst>
                    <a:rect l="txL" t="txT" r="txR" b="txB"/>
                    <a:pathLst>
                      <a:path w="1" h="178">
                        <a:moveTo>
                          <a:pt x="0" y="0"/>
                        </a:moveTo>
                        <a:lnTo>
                          <a:pt x="0" y="178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77666" name="Freeform 229"/>
                  <p:cNvSpPr/>
                  <p:nvPr/>
                </p:nvSpPr>
                <p:spPr>
                  <a:xfrm>
                    <a:off x="915" y="2865"/>
                    <a:ext cx="3858" cy="2"/>
                  </a:xfrm>
                  <a:custGeom>
                    <a:avLst/>
                    <a:gdLst>
                      <a:gd name="txL" fmla="*/ 0 w 3858"/>
                      <a:gd name="txT" fmla="*/ 0 h 2"/>
                      <a:gd name="txR" fmla="*/ 3858 w 3858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3858" y="0"/>
                      </a:cxn>
                    </a:cxnLst>
                    <a:rect l="txL" t="txT" r="txR" b="txB"/>
                    <a:pathLst>
                      <a:path w="3858" h="2">
                        <a:moveTo>
                          <a:pt x="0" y="2"/>
                        </a:moveTo>
                        <a:lnTo>
                          <a:pt x="3858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77630" name="Group 230"/>
                <p:cNvGrpSpPr/>
                <p:nvPr/>
              </p:nvGrpSpPr>
              <p:grpSpPr>
                <a:xfrm>
                  <a:off x="1213" y="2633"/>
                  <a:ext cx="192" cy="158"/>
                  <a:chOff x="1440" y="2928"/>
                  <a:chExt cx="192" cy="158"/>
                </a:xfrm>
              </p:grpSpPr>
              <p:grpSp>
                <p:nvGrpSpPr>
                  <p:cNvPr id="277655" name="Group 231"/>
                  <p:cNvGrpSpPr/>
                  <p:nvPr/>
                </p:nvGrpSpPr>
                <p:grpSpPr>
                  <a:xfrm rot="5400000">
                    <a:off x="1529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7660" name="Line 232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7661" name="Line 233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77656" name="Freeform 234"/>
                  <p:cNvSpPr/>
                  <p:nvPr/>
                </p:nvSpPr>
                <p:spPr>
                  <a:xfrm>
                    <a:off x="1487" y="3003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77657" name="Group 235"/>
                  <p:cNvGrpSpPr/>
                  <p:nvPr/>
                </p:nvGrpSpPr>
                <p:grpSpPr>
                  <a:xfrm rot="-5400000">
                    <a:off x="1385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7658" name="Line 236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7659" name="Line 237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77631" name="Group 238"/>
                <p:cNvGrpSpPr/>
                <p:nvPr/>
              </p:nvGrpSpPr>
              <p:grpSpPr>
                <a:xfrm>
                  <a:off x="2365" y="2635"/>
                  <a:ext cx="192" cy="158"/>
                  <a:chOff x="1440" y="2928"/>
                  <a:chExt cx="192" cy="158"/>
                </a:xfrm>
              </p:grpSpPr>
              <p:grpSp>
                <p:nvGrpSpPr>
                  <p:cNvPr id="277648" name="Group 239"/>
                  <p:cNvGrpSpPr/>
                  <p:nvPr/>
                </p:nvGrpSpPr>
                <p:grpSpPr>
                  <a:xfrm rot="5400000">
                    <a:off x="1529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7653" name="Line 240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7654" name="Line 241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77649" name="Freeform 242"/>
                  <p:cNvSpPr/>
                  <p:nvPr/>
                </p:nvSpPr>
                <p:spPr>
                  <a:xfrm>
                    <a:off x="1487" y="3003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77650" name="Group 243"/>
                  <p:cNvGrpSpPr/>
                  <p:nvPr/>
                </p:nvGrpSpPr>
                <p:grpSpPr>
                  <a:xfrm rot="-5400000">
                    <a:off x="1385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7651" name="Line 244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7652" name="Line 245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77632" name="Group 246"/>
                <p:cNvGrpSpPr/>
                <p:nvPr/>
              </p:nvGrpSpPr>
              <p:grpSpPr>
                <a:xfrm>
                  <a:off x="3517" y="2635"/>
                  <a:ext cx="192" cy="158"/>
                  <a:chOff x="1440" y="2928"/>
                  <a:chExt cx="192" cy="158"/>
                </a:xfrm>
              </p:grpSpPr>
              <p:grpSp>
                <p:nvGrpSpPr>
                  <p:cNvPr id="277641" name="Group 247"/>
                  <p:cNvGrpSpPr/>
                  <p:nvPr/>
                </p:nvGrpSpPr>
                <p:grpSpPr>
                  <a:xfrm rot="5400000">
                    <a:off x="1529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7646" name="Line 248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7647" name="Line 249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77642" name="Freeform 250"/>
                  <p:cNvSpPr/>
                  <p:nvPr/>
                </p:nvSpPr>
                <p:spPr>
                  <a:xfrm>
                    <a:off x="1487" y="3003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77643" name="Group 251"/>
                  <p:cNvGrpSpPr/>
                  <p:nvPr/>
                </p:nvGrpSpPr>
                <p:grpSpPr>
                  <a:xfrm rot="-5400000">
                    <a:off x="1385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7644" name="Line 252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7645" name="Line 253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77633" name="Group 254"/>
                <p:cNvGrpSpPr/>
                <p:nvPr/>
              </p:nvGrpSpPr>
              <p:grpSpPr>
                <a:xfrm>
                  <a:off x="4668" y="2635"/>
                  <a:ext cx="192" cy="158"/>
                  <a:chOff x="1440" y="2928"/>
                  <a:chExt cx="192" cy="158"/>
                </a:xfrm>
              </p:grpSpPr>
              <p:grpSp>
                <p:nvGrpSpPr>
                  <p:cNvPr id="277634" name="Group 255"/>
                  <p:cNvGrpSpPr/>
                  <p:nvPr/>
                </p:nvGrpSpPr>
                <p:grpSpPr>
                  <a:xfrm rot="5400000">
                    <a:off x="1529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7639" name="Line 256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7640" name="Line 257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77635" name="Freeform 258"/>
                  <p:cNvSpPr/>
                  <p:nvPr/>
                </p:nvSpPr>
                <p:spPr>
                  <a:xfrm>
                    <a:off x="1487" y="3003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77636" name="Group 259"/>
                  <p:cNvGrpSpPr/>
                  <p:nvPr/>
                </p:nvGrpSpPr>
                <p:grpSpPr>
                  <a:xfrm rot="-5400000">
                    <a:off x="1385" y="2983"/>
                    <a:ext cx="158" cy="48"/>
                    <a:chOff x="3459" y="1296"/>
                    <a:chExt cx="243" cy="48"/>
                  </a:xfrm>
                </p:grpSpPr>
                <p:sp>
                  <p:nvSpPr>
                    <p:cNvPr id="277637" name="Line 260"/>
                    <p:cNvSpPr/>
                    <p:nvPr/>
                  </p:nvSpPr>
                  <p:spPr>
                    <a:xfrm>
                      <a:off x="3459" y="1296"/>
                      <a:ext cx="243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77638" name="Line 261"/>
                    <p:cNvSpPr/>
                    <p:nvPr/>
                  </p:nvSpPr>
                  <p:spPr>
                    <a:xfrm>
                      <a:off x="3504" y="1344"/>
                      <a:ext cx="147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sp>
            <p:nvSpPr>
              <p:cNvPr id="277621" name="Rectangle 262"/>
              <p:cNvSpPr/>
              <p:nvPr/>
            </p:nvSpPr>
            <p:spPr>
              <a:xfrm>
                <a:off x="1152" y="2228"/>
                <a:ext cx="288" cy="251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22" name="Text Box 263"/>
              <p:cNvSpPr txBox="1"/>
              <p:nvPr/>
            </p:nvSpPr>
            <p:spPr>
              <a:xfrm>
                <a:off x="1150" y="1649"/>
                <a:ext cx="464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23" name="Rectangle 264"/>
              <p:cNvSpPr/>
              <p:nvPr/>
            </p:nvSpPr>
            <p:spPr>
              <a:xfrm>
                <a:off x="2293" y="2228"/>
                <a:ext cx="288" cy="251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24" name="Rectangle 265"/>
              <p:cNvSpPr/>
              <p:nvPr/>
            </p:nvSpPr>
            <p:spPr>
              <a:xfrm>
                <a:off x="4604" y="2228"/>
                <a:ext cx="288" cy="251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25" name="Rectangle 266"/>
              <p:cNvSpPr/>
              <p:nvPr/>
            </p:nvSpPr>
            <p:spPr>
              <a:xfrm>
                <a:off x="3466" y="2228"/>
                <a:ext cx="288" cy="251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26" name="Text Box 267"/>
              <p:cNvSpPr txBox="1"/>
              <p:nvPr/>
            </p:nvSpPr>
            <p:spPr>
              <a:xfrm>
                <a:off x="2314" y="1649"/>
                <a:ext cx="464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27" name="Text Box 268"/>
              <p:cNvSpPr txBox="1"/>
              <p:nvPr/>
            </p:nvSpPr>
            <p:spPr>
              <a:xfrm>
                <a:off x="3462" y="1649"/>
                <a:ext cx="464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7628" name="Text Box 269"/>
              <p:cNvSpPr txBox="1"/>
              <p:nvPr/>
            </p:nvSpPr>
            <p:spPr>
              <a:xfrm>
                <a:off x="4617" y="1649"/>
                <a:ext cx="464" cy="3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77507" name="Group 270"/>
          <p:cNvGrpSpPr/>
          <p:nvPr/>
        </p:nvGrpSpPr>
        <p:grpSpPr>
          <a:xfrm>
            <a:off x="2976563" y="4179888"/>
            <a:ext cx="6262687" cy="401637"/>
            <a:chOff x="915" y="2633"/>
            <a:chExt cx="3945" cy="253"/>
          </a:xfrm>
        </p:grpSpPr>
        <p:grpSp>
          <p:nvGrpSpPr>
            <p:cNvPr id="277580" name="Group 271"/>
            <p:cNvGrpSpPr/>
            <p:nvPr/>
          </p:nvGrpSpPr>
          <p:grpSpPr>
            <a:xfrm>
              <a:off x="915" y="2696"/>
              <a:ext cx="3858" cy="190"/>
              <a:chOff x="915" y="2696"/>
              <a:chExt cx="3858" cy="190"/>
            </a:xfrm>
          </p:grpSpPr>
          <p:sp>
            <p:nvSpPr>
              <p:cNvPr id="277613" name="Freeform 272"/>
              <p:cNvSpPr/>
              <p:nvPr/>
            </p:nvSpPr>
            <p:spPr>
              <a:xfrm>
                <a:off x="1304" y="2707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614" name="Freeform 273"/>
              <p:cNvSpPr/>
              <p:nvPr/>
            </p:nvSpPr>
            <p:spPr>
              <a:xfrm>
                <a:off x="2457" y="2710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615" name="Freeform 274"/>
              <p:cNvSpPr/>
              <p:nvPr/>
            </p:nvSpPr>
            <p:spPr>
              <a:xfrm>
                <a:off x="3609" y="2710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616" name="Freeform 275"/>
              <p:cNvSpPr/>
              <p:nvPr/>
            </p:nvSpPr>
            <p:spPr>
              <a:xfrm>
                <a:off x="4761" y="2696"/>
                <a:ext cx="1" cy="178"/>
              </a:xfrm>
              <a:custGeom>
                <a:avLst/>
                <a:gdLst>
                  <a:gd name="txL" fmla="*/ 0 w 1"/>
                  <a:gd name="txT" fmla="*/ 0 h 178"/>
                  <a:gd name="txR" fmla="*/ 1 w 1"/>
                  <a:gd name="txB" fmla="*/ 178 h 178"/>
                </a:gdLst>
                <a:ahLst/>
                <a:cxnLst>
                  <a:cxn ang="0">
                    <a:pos x="0" y="0"/>
                  </a:cxn>
                  <a:cxn ang="0">
                    <a:pos x="0" y="178"/>
                  </a:cxn>
                </a:cxnLst>
                <a:rect l="txL" t="txT" r="txR" b="txB"/>
                <a:pathLst>
                  <a:path w="1" h="178">
                    <a:moveTo>
                      <a:pt x="0" y="0"/>
                    </a:moveTo>
                    <a:lnTo>
                      <a:pt x="0" y="178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7617" name="Freeform 276"/>
              <p:cNvSpPr/>
              <p:nvPr/>
            </p:nvSpPr>
            <p:spPr>
              <a:xfrm>
                <a:off x="915" y="2865"/>
                <a:ext cx="3858" cy="2"/>
              </a:xfrm>
              <a:custGeom>
                <a:avLst/>
                <a:gdLst>
                  <a:gd name="txL" fmla="*/ 0 w 3858"/>
                  <a:gd name="txT" fmla="*/ 0 h 2"/>
                  <a:gd name="txR" fmla="*/ 3858 w 3858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3858" y="0"/>
                  </a:cxn>
                </a:cxnLst>
                <a:rect l="txL" t="txT" r="txR" b="txB"/>
                <a:pathLst>
                  <a:path w="3858" h="2">
                    <a:moveTo>
                      <a:pt x="0" y="2"/>
                    </a:moveTo>
                    <a:lnTo>
                      <a:pt x="3858" y="0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77581" name="Group 277"/>
            <p:cNvGrpSpPr/>
            <p:nvPr/>
          </p:nvGrpSpPr>
          <p:grpSpPr>
            <a:xfrm>
              <a:off x="1213" y="2633"/>
              <a:ext cx="192" cy="158"/>
              <a:chOff x="1213" y="2633"/>
              <a:chExt cx="192" cy="158"/>
            </a:xfrm>
          </p:grpSpPr>
          <p:grpSp>
            <p:nvGrpSpPr>
              <p:cNvPr id="277606" name="Group 278"/>
              <p:cNvGrpSpPr/>
              <p:nvPr/>
            </p:nvGrpSpPr>
            <p:grpSpPr>
              <a:xfrm rot="5400000">
                <a:off x="1302" y="2688"/>
                <a:ext cx="158" cy="48"/>
                <a:chOff x="3459" y="1296"/>
                <a:chExt cx="243" cy="48"/>
              </a:xfrm>
            </p:grpSpPr>
            <p:sp>
              <p:nvSpPr>
                <p:cNvPr id="277611" name="Line 279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7612" name="Line 280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607" name="Freeform 281"/>
              <p:cNvSpPr/>
              <p:nvPr/>
            </p:nvSpPr>
            <p:spPr>
              <a:xfrm>
                <a:off x="1260" y="2708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7608" name="Group 282"/>
              <p:cNvGrpSpPr/>
              <p:nvPr/>
            </p:nvGrpSpPr>
            <p:grpSpPr>
              <a:xfrm rot="-5400000">
                <a:off x="1158" y="2688"/>
                <a:ext cx="158" cy="48"/>
                <a:chOff x="3459" y="1296"/>
                <a:chExt cx="243" cy="48"/>
              </a:xfrm>
            </p:grpSpPr>
            <p:sp>
              <p:nvSpPr>
                <p:cNvPr id="277609" name="Line 283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7610" name="Line 284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77582" name="Group 285"/>
            <p:cNvGrpSpPr/>
            <p:nvPr/>
          </p:nvGrpSpPr>
          <p:grpSpPr>
            <a:xfrm>
              <a:off x="2365" y="2635"/>
              <a:ext cx="192" cy="158"/>
              <a:chOff x="2365" y="2635"/>
              <a:chExt cx="192" cy="158"/>
            </a:xfrm>
          </p:grpSpPr>
          <p:grpSp>
            <p:nvGrpSpPr>
              <p:cNvPr id="277599" name="Group 286"/>
              <p:cNvGrpSpPr/>
              <p:nvPr/>
            </p:nvGrpSpPr>
            <p:grpSpPr>
              <a:xfrm rot="5400000">
                <a:off x="2454" y="2690"/>
                <a:ext cx="158" cy="48"/>
                <a:chOff x="3459" y="1296"/>
                <a:chExt cx="243" cy="48"/>
              </a:xfrm>
            </p:grpSpPr>
            <p:sp>
              <p:nvSpPr>
                <p:cNvPr id="277604" name="Line 287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7605" name="Line 288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600" name="Freeform 289"/>
              <p:cNvSpPr/>
              <p:nvPr/>
            </p:nvSpPr>
            <p:spPr>
              <a:xfrm>
                <a:off x="2412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7601" name="Group 290"/>
              <p:cNvGrpSpPr/>
              <p:nvPr/>
            </p:nvGrpSpPr>
            <p:grpSpPr>
              <a:xfrm rot="-5400000">
                <a:off x="2310" y="2690"/>
                <a:ext cx="158" cy="48"/>
                <a:chOff x="3459" y="1296"/>
                <a:chExt cx="243" cy="48"/>
              </a:xfrm>
            </p:grpSpPr>
            <p:sp>
              <p:nvSpPr>
                <p:cNvPr id="277602" name="Line 291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7603" name="Line 292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77583" name="Group 293"/>
            <p:cNvGrpSpPr/>
            <p:nvPr/>
          </p:nvGrpSpPr>
          <p:grpSpPr>
            <a:xfrm>
              <a:off x="3517" y="2635"/>
              <a:ext cx="192" cy="158"/>
              <a:chOff x="3517" y="2635"/>
              <a:chExt cx="192" cy="158"/>
            </a:xfrm>
          </p:grpSpPr>
          <p:grpSp>
            <p:nvGrpSpPr>
              <p:cNvPr id="277592" name="Group 294"/>
              <p:cNvGrpSpPr/>
              <p:nvPr/>
            </p:nvGrpSpPr>
            <p:grpSpPr>
              <a:xfrm rot="5400000">
                <a:off x="3606" y="2690"/>
                <a:ext cx="158" cy="48"/>
                <a:chOff x="3459" y="1296"/>
                <a:chExt cx="243" cy="48"/>
              </a:xfrm>
            </p:grpSpPr>
            <p:sp>
              <p:nvSpPr>
                <p:cNvPr id="277597" name="Line 295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7598" name="Line 296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593" name="Freeform 297"/>
              <p:cNvSpPr/>
              <p:nvPr/>
            </p:nvSpPr>
            <p:spPr>
              <a:xfrm>
                <a:off x="3564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7594" name="Group 298"/>
              <p:cNvGrpSpPr/>
              <p:nvPr/>
            </p:nvGrpSpPr>
            <p:grpSpPr>
              <a:xfrm rot="-5400000">
                <a:off x="3462" y="2690"/>
                <a:ext cx="158" cy="48"/>
                <a:chOff x="3459" y="1296"/>
                <a:chExt cx="243" cy="48"/>
              </a:xfrm>
            </p:grpSpPr>
            <p:sp>
              <p:nvSpPr>
                <p:cNvPr id="277595" name="Line 299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7596" name="Line 300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77584" name="Group 301"/>
            <p:cNvGrpSpPr/>
            <p:nvPr/>
          </p:nvGrpSpPr>
          <p:grpSpPr>
            <a:xfrm>
              <a:off x="4668" y="2635"/>
              <a:ext cx="192" cy="158"/>
              <a:chOff x="4668" y="2635"/>
              <a:chExt cx="192" cy="158"/>
            </a:xfrm>
          </p:grpSpPr>
          <p:grpSp>
            <p:nvGrpSpPr>
              <p:cNvPr id="277585" name="Group 302"/>
              <p:cNvGrpSpPr/>
              <p:nvPr/>
            </p:nvGrpSpPr>
            <p:grpSpPr>
              <a:xfrm>
                <a:off x="4812" y="2635"/>
                <a:ext cx="48" cy="158"/>
                <a:chOff x="4812" y="2635"/>
                <a:chExt cx="48" cy="158"/>
              </a:xfrm>
            </p:grpSpPr>
            <p:sp>
              <p:nvSpPr>
                <p:cNvPr id="277590" name="Line 303"/>
                <p:cNvSpPr/>
                <p:nvPr/>
              </p:nvSpPr>
              <p:spPr>
                <a:xfrm rot="5400000">
                  <a:off x="4781" y="2714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7591" name="Line 304"/>
                <p:cNvSpPr/>
                <p:nvPr/>
              </p:nvSpPr>
              <p:spPr>
                <a:xfrm rot="5400000">
                  <a:off x="4764" y="2712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7586" name="Freeform 305"/>
              <p:cNvSpPr/>
              <p:nvPr/>
            </p:nvSpPr>
            <p:spPr>
              <a:xfrm>
                <a:off x="4715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7587" name="Group 306"/>
              <p:cNvGrpSpPr/>
              <p:nvPr/>
            </p:nvGrpSpPr>
            <p:grpSpPr>
              <a:xfrm>
                <a:off x="4668" y="2635"/>
                <a:ext cx="48" cy="158"/>
                <a:chOff x="4668" y="2635"/>
                <a:chExt cx="48" cy="158"/>
              </a:xfrm>
            </p:grpSpPr>
            <p:sp>
              <p:nvSpPr>
                <p:cNvPr id="277588" name="Line 307"/>
                <p:cNvSpPr/>
                <p:nvPr/>
              </p:nvSpPr>
              <p:spPr>
                <a:xfrm rot="-5400000">
                  <a:off x="4589" y="2714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7589" name="Line 308"/>
                <p:cNvSpPr/>
                <p:nvPr/>
              </p:nvSpPr>
              <p:spPr>
                <a:xfrm rot="-5400000">
                  <a:off x="4668" y="2716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277508" name="Group 309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77563" name="Line 310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7564" name="Freeform 311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7565" name="Line 312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7566" name="Freeform 313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7567" name="Line 314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7568" name="Text Box 315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569" name="Text Box 316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570" name="Text Box 317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571" name="Text Box 318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7572" name="Line 319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7573" name="Line 320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7574" name="Line 321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7575" name="Line 322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7576" name="Line 323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7577" name="Line 324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7578" name="Line 325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7579" name="Line 326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14343" name="Rectangle 32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7510" name="Text Box 328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读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7511" name="Group 329"/>
          <p:cNvGrpSpPr/>
          <p:nvPr/>
        </p:nvGrpSpPr>
        <p:grpSpPr>
          <a:xfrm>
            <a:off x="2955925" y="1360488"/>
            <a:ext cx="7250113" cy="663575"/>
            <a:chOff x="902" y="857"/>
            <a:chExt cx="4567" cy="418"/>
          </a:xfrm>
        </p:grpSpPr>
        <p:grpSp>
          <p:nvGrpSpPr>
            <p:cNvPr id="277539" name="Group 330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77544" name="Group 331"/>
              <p:cNvGrpSpPr/>
              <p:nvPr/>
            </p:nvGrpSpPr>
            <p:grpSpPr>
              <a:xfrm>
                <a:off x="1152" y="1024"/>
                <a:ext cx="4317" cy="251"/>
                <a:chOff x="1176" y="1079"/>
                <a:chExt cx="4317" cy="251"/>
              </a:xfrm>
            </p:grpSpPr>
            <p:sp>
              <p:nvSpPr>
                <p:cNvPr id="277555" name="Rectangle 332"/>
                <p:cNvSpPr/>
                <p:nvPr/>
              </p:nvSpPr>
              <p:spPr>
                <a:xfrm>
                  <a:off x="175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15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7556" name="Rectangle 333"/>
                <p:cNvSpPr/>
                <p:nvPr/>
              </p:nvSpPr>
              <p:spPr>
                <a:xfrm>
                  <a:off x="117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7557" name="Rectangle 334"/>
                <p:cNvSpPr/>
                <p:nvPr/>
              </p:nvSpPr>
              <p:spPr>
                <a:xfrm>
                  <a:off x="289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31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7558" name="Rectangle 335"/>
                <p:cNvSpPr/>
                <p:nvPr/>
              </p:nvSpPr>
              <p:spPr>
                <a:xfrm>
                  <a:off x="231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7559" name="Rectangle 336"/>
                <p:cNvSpPr/>
                <p:nvPr/>
              </p:nvSpPr>
              <p:spPr>
                <a:xfrm>
                  <a:off x="4067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47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7560" name="Rectangle 337"/>
                <p:cNvSpPr/>
                <p:nvPr/>
              </p:nvSpPr>
              <p:spPr>
                <a:xfrm>
                  <a:off x="3491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7561" name="Rectangle 338"/>
                <p:cNvSpPr/>
                <p:nvPr/>
              </p:nvSpPr>
              <p:spPr>
                <a:xfrm>
                  <a:off x="5205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63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7562" name="Rectangle 339"/>
                <p:cNvSpPr/>
                <p:nvPr/>
              </p:nvSpPr>
              <p:spPr>
                <a:xfrm>
                  <a:off x="462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48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77545" name="Group 340"/>
              <p:cNvGrpSpPr/>
              <p:nvPr/>
            </p:nvGrpSpPr>
            <p:grpSpPr>
              <a:xfrm>
                <a:off x="902" y="857"/>
                <a:ext cx="4419" cy="145"/>
                <a:chOff x="902" y="857"/>
                <a:chExt cx="4419" cy="145"/>
              </a:xfrm>
            </p:grpSpPr>
            <p:sp>
              <p:nvSpPr>
                <p:cNvPr id="277546" name="Freeform 341"/>
                <p:cNvSpPr/>
                <p:nvPr/>
              </p:nvSpPr>
              <p:spPr>
                <a:xfrm>
                  <a:off x="902" y="857"/>
                  <a:ext cx="4419" cy="1"/>
                </a:xfrm>
                <a:custGeom>
                  <a:avLst/>
                  <a:gdLst>
                    <a:gd name="txL" fmla="*/ 0 w 4419"/>
                    <a:gd name="txT" fmla="*/ 0 h 1"/>
                    <a:gd name="txR" fmla="*/ 4419 w 4419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9" y="0"/>
                    </a:cxn>
                  </a:cxnLst>
                  <a:rect l="txL" t="txT" r="txR" b="txB"/>
                  <a:pathLst>
                    <a:path w="4419" h="1">
                      <a:moveTo>
                        <a:pt x="0" y="1"/>
                      </a:moveTo>
                      <a:lnTo>
                        <a:pt x="4419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7547" name="Line 342"/>
                <p:cNvSpPr/>
                <p:nvPr/>
              </p:nvSpPr>
              <p:spPr>
                <a:xfrm>
                  <a:off x="127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7548" name="Line 343"/>
                <p:cNvSpPr/>
                <p:nvPr/>
              </p:nvSpPr>
              <p:spPr>
                <a:xfrm>
                  <a:off x="184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7549" name="Line 344"/>
                <p:cNvSpPr/>
                <p:nvPr/>
              </p:nvSpPr>
              <p:spPr>
                <a:xfrm>
                  <a:off x="242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7550" name="Line 345"/>
                <p:cNvSpPr/>
                <p:nvPr/>
              </p:nvSpPr>
              <p:spPr>
                <a:xfrm>
                  <a:off x="3000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7551" name="Line 346"/>
                <p:cNvSpPr/>
                <p:nvPr/>
              </p:nvSpPr>
              <p:spPr>
                <a:xfrm>
                  <a:off x="3576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7552" name="Line 347"/>
                <p:cNvSpPr/>
                <p:nvPr/>
              </p:nvSpPr>
              <p:spPr>
                <a:xfrm>
                  <a:off x="415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7553" name="Line 348"/>
                <p:cNvSpPr/>
                <p:nvPr/>
              </p:nvSpPr>
              <p:spPr>
                <a:xfrm>
                  <a:off x="472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7554" name="Line 349"/>
                <p:cNvSpPr/>
                <p:nvPr/>
              </p:nvSpPr>
              <p:spPr>
                <a:xfrm>
                  <a:off x="530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</p:grpSp>
        </p:grpSp>
        <p:sp>
          <p:nvSpPr>
            <p:cNvPr id="277540" name="Text Box 350"/>
            <p:cNvSpPr txBox="1"/>
            <p:nvPr/>
          </p:nvSpPr>
          <p:spPr>
            <a:xfrm>
              <a:off x="140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41" name="Text Box 351"/>
            <p:cNvSpPr txBox="1"/>
            <p:nvPr/>
          </p:nvSpPr>
          <p:spPr>
            <a:xfrm>
              <a:off x="254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42" name="Text Box 352"/>
            <p:cNvSpPr txBox="1"/>
            <p:nvPr/>
          </p:nvSpPr>
          <p:spPr>
            <a:xfrm>
              <a:off x="371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43" name="Text Box 353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7512" name="Group 354"/>
          <p:cNvGrpSpPr/>
          <p:nvPr/>
        </p:nvGrpSpPr>
        <p:grpSpPr>
          <a:xfrm>
            <a:off x="3352800" y="1625600"/>
            <a:ext cx="5934075" cy="398463"/>
            <a:chOff x="1156" y="1024"/>
            <a:chExt cx="3738" cy="251"/>
          </a:xfrm>
        </p:grpSpPr>
        <p:sp>
          <p:nvSpPr>
            <p:cNvPr id="277535" name="Rectangle 355"/>
            <p:cNvSpPr/>
            <p:nvPr/>
          </p:nvSpPr>
          <p:spPr>
            <a:xfrm>
              <a:off x="1156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36" name="Rectangle 356"/>
            <p:cNvSpPr/>
            <p:nvPr/>
          </p:nvSpPr>
          <p:spPr>
            <a:xfrm>
              <a:off x="2296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37" name="Rectangle 357"/>
            <p:cNvSpPr/>
            <p:nvPr/>
          </p:nvSpPr>
          <p:spPr>
            <a:xfrm>
              <a:off x="3471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38" name="Rectangle 358"/>
            <p:cNvSpPr/>
            <p:nvPr/>
          </p:nvSpPr>
          <p:spPr>
            <a:xfrm>
              <a:off x="4606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7513" name="Group 359"/>
          <p:cNvGrpSpPr/>
          <p:nvPr/>
        </p:nvGrpSpPr>
        <p:grpSpPr>
          <a:xfrm>
            <a:off x="1746250" y="1069975"/>
            <a:ext cx="309563" cy="4779963"/>
            <a:chOff x="140" y="674"/>
            <a:chExt cx="195" cy="3011"/>
          </a:xfrm>
        </p:grpSpPr>
        <p:sp>
          <p:nvSpPr>
            <p:cNvPr id="277525" name="Text Box 360"/>
            <p:cNvSpPr txBox="1"/>
            <p:nvPr/>
          </p:nvSpPr>
          <p:spPr>
            <a:xfrm>
              <a:off x="140" y="67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26" name="Text Box 361"/>
            <p:cNvSpPr txBox="1"/>
            <p:nvPr/>
          </p:nvSpPr>
          <p:spPr>
            <a:xfrm>
              <a:off x="140" y="933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27" name="Text Box 362"/>
            <p:cNvSpPr txBox="1"/>
            <p:nvPr/>
          </p:nvSpPr>
          <p:spPr>
            <a:xfrm>
              <a:off x="140" y="119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28" name="Text Box 363"/>
            <p:cNvSpPr txBox="1"/>
            <p:nvPr/>
          </p:nvSpPr>
          <p:spPr>
            <a:xfrm>
              <a:off x="140" y="1451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29" name="Text Box 364"/>
            <p:cNvSpPr txBox="1"/>
            <p:nvPr/>
          </p:nvSpPr>
          <p:spPr>
            <a:xfrm>
              <a:off x="140" y="171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30" name="Text Box 365"/>
            <p:cNvSpPr txBox="1"/>
            <p:nvPr/>
          </p:nvSpPr>
          <p:spPr>
            <a:xfrm>
              <a:off x="140" y="197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31" name="Text Box 366"/>
            <p:cNvSpPr txBox="1"/>
            <p:nvPr/>
          </p:nvSpPr>
          <p:spPr>
            <a:xfrm>
              <a:off x="140" y="2657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32" name="Text Box 367"/>
            <p:cNvSpPr txBox="1"/>
            <p:nvPr/>
          </p:nvSpPr>
          <p:spPr>
            <a:xfrm>
              <a:off x="140" y="291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33" name="Text Box 368"/>
            <p:cNvSpPr txBox="1"/>
            <p:nvPr/>
          </p:nvSpPr>
          <p:spPr>
            <a:xfrm>
              <a:off x="140" y="317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34" name="Text Box 369"/>
            <p:cNvSpPr txBox="1"/>
            <p:nvPr/>
          </p:nvSpPr>
          <p:spPr>
            <a:xfrm>
              <a:off x="140" y="343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9554" name="Group 370"/>
          <p:cNvGrpSpPr/>
          <p:nvPr/>
        </p:nvGrpSpPr>
        <p:grpSpPr>
          <a:xfrm>
            <a:off x="3394076" y="1909763"/>
            <a:ext cx="6075362" cy="2339975"/>
            <a:chOff x="1178" y="1203"/>
            <a:chExt cx="3827" cy="1474"/>
          </a:xfrm>
        </p:grpSpPr>
        <p:sp>
          <p:nvSpPr>
            <p:cNvPr id="277517" name="Freeform 371"/>
            <p:cNvSpPr/>
            <p:nvPr/>
          </p:nvSpPr>
          <p:spPr>
            <a:xfrm>
              <a:off x="1422" y="1203"/>
              <a:ext cx="121" cy="1474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7518" name="Text Box 372"/>
            <p:cNvSpPr txBox="1"/>
            <p:nvPr/>
          </p:nvSpPr>
          <p:spPr>
            <a:xfrm rot="5400000">
              <a:off x="1176" y="1625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19" name="Freeform 373"/>
            <p:cNvSpPr/>
            <p:nvPr/>
          </p:nvSpPr>
          <p:spPr>
            <a:xfrm>
              <a:off x="2556" y="1205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7520" name="Text Box 374"/>
            <p:cNvSpPr txBox="1"/>
            <p:nvPr/>
          </p:nvSpPr>
          <p:spPr>
            <a:xfrm rot="5400000">
              <a:off x="2329" y="1625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21" name="Freeform 375"/>
            <p:cNvSpPr/>
            <p:nvPr/>
          </p:nvSpPr>
          <p:spPr>
            <a:xfrm>
              <a:off x="3711" y="1206"/>
              <a:ext cx="151" cy="1471"/>
            </a:xfrm>
            <a:custGeom>
              <a:avLst/>
              <a:gdLst>
                <a:gd name="txL" fmla="*/ 0 w 151"/>
                <a:gd name="txT" fmla="*/ 0 h 1471"/>
                <a:gd name="txR" fmla="*/ 151 w 151"/>
                <a:gd name="txB" fmla="*/ 1471 h 1471"/>
              </a:gdLst>
              <a:ahLst/>
              <a:cxnLst>
                <a:cxn ang="0">
                  <a:pos x="54" y="0"/>
                </a:cxn>
                <a:cxn ang="0">
                  <a:pos x="151" y="0"/>
                </a:cxn>
                <a:cxn ang="0">
                  <a:pos x="150" y="1471"/>
                </a:cxn>
                <a:cxn ang="0">
                  <a:pos x="0" y="1470"/>
                </a:cxn>
              </a:cxnLst>
              <a:rect l="txL" t="txT" r="txR" b="txB"/>
              <a:pathLst>
                <a:path w="151" h="1471">
                  <a:moveTo>
                    <a:pt x="54" y="0"/>
                  </a:moveTo>
                  <a:lnTo>
                    <a:pt x="151" y="0"/>
                  </a:lnTo>
                  <a:lnTo>
                    <a:pt x="150" y="1471"/>
                  </a:lnTo>
                  <a:lnTo>
                    <a:pt x="0" y="147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7522" name="Text Box 376"/>
            <p:cNvSpPr txBox="1"/>
            <p:nvPr/>
          </p:nvSpPr>
          <p:spPr>
            <a:xfrm rot="5400000">
              <a:off x="3475" y="160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23" name="Freeform 377"/>
            <p:cNvSpPr/>
            <p:nvPr/>
          </p:nvSpPr>
          <p:spPr>
            <a:xfrm>
              <a:off x="4860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42" y="1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42" y="1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7524" name="Text Box 378"/>
            <p:cNvSpPr txBox="1"/>
            <p:nvPr/>
          </p:nvSpPr>
          <p:spPr>
            <a:xfrm rot="5400000">
              <a:off x="4630" y="1612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7515" name="AutoShape 37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751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6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78530" name="Rectangle 2"/>
          <p:cNvSpPr/>
          <p:nvPr/>
        </p:nvSpPr>
        <p:spPr>
          <a:xfrm>
            <a:off x="2051050" y="3462338"/>
            <a:ext cx="914400" cy="368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31" name="Rectangle 3"/>
          <p:cNvSpPr/>
          <p:nvPr/>
        </p:nvSpPr>
        <p:spPr>
          <a:xfrm>
            <a:off x="4267200" y="1627823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15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32" name="Text Box 4"/>
          <p:cNvSpPr txBox="1"/>
          <p:nvPr/>
        </p:nvSpPr>
        <p:spPr>
          <a:xfrm>
            <a:off x="3759200" y="1381125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533" name="Rectangle 5"/>
          <p:cNvSpPr/>
          <p:nvPr/>
        </p:nvSpPr>
        <p:spPr>
          <a:xfrm>
            <a:off x="3352800" y="1627823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34" name="Rectangle 6"/>
          <p:cNvSpPr/>
          <p:nvPr/>
        </p:nvSpPr>
        <p:spPr>
          <a:xfrm>
            <a:off x="6078538" y="1627823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31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35" name="Text Box 7"/>
          <p:cNvSpPr txBox="1"/>
          <p:nvPr/>
        </p:nvSpPr>
        <p:spPr>
          <a:xfrm>
            <a:off x="5570538" y="1381125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536" name="Rectangle 8"/>
          <p:cNvSpPr/>
          <p:nvPr/>
        </p:nvSpPr>
        <p:spPr>
          <a:xfrm>
            <a:off x="5164138" y="1627823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16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37" name="Rectangle 9"/>
          <p:cNvSpPr/>
          <p:nvPr/>
        </p:nvSpPr>
        <p:spPr>
          <a:xfrm>
            <a:off x="7943850" y="1627823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47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38" name="Text Box 10"/>
          <p:cNvSpPr txBox="1"/>
          <p:nvPr/>
        </p:nvSpPr>
        <p:spPr>
          <a:xfrm>
            <a:off x="7435850" y="1381125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539" name="Rectangle 11"/>
          <p:cNvSpPr/>
          <p:nvPr/>
        </p:nvSpPr>
        <p:spPr>
          <a:xfrm>
            <a:off x="7029450" y="1627823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32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40" name="Rectangle 12"/>
          <p:cNvSpPr/>
          <p:nvPr/>
        </p:nvSpPr>
        <p:spPr>
          <a:xfrm>
            <a:off x="9747250" y="1627823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63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41" name="Text Box 13"/>
          <p:cNvSpPr txBox="1"/>
          <p:nvPr/>
        </p:nvSpPr>
        <p:spPr>
          <a:xfrm>
            <a:off x="9239250" y="1381125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542" name="Rectangle 14"/>
          <p:cNvSpPr/>
          <p:nvPr/>
        </p:nvSpPr>
        <p:spPr>
          <a:xfrm>
            <a:off x="8832850" y="1627823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48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43" name="Rectangle 15"/>
          <p:cNvSpPr/>
          <p:nvPr/>
        </p:nvSpPr>
        <p:spPr>
          <a:xfrm>
            <a:off x="4267200" y="3534411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15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44" name="Rectangle 16"/>
          <p:cNvSpPr/>
          <p:nvPr/>
        </p:nvSpPr>
        <p:spPr>
          <a:xfrm>
            <a:off x="3352800" y="3534411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45" name="Rectangle 17"/>
          <p:cNvSpPr/>
          <p:nvPr/>
        </p:nvSpPr>
        <p:spPr>
          <a:xfrm>
            <a:off x="6078538" y="3534411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31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46" name="Rectangle 18"/>
          <p:cNvSpPr/>
          <p:nvPr/>
        </p:nvSpPr>
        <p:spPr>
          <a:xfrm>
            <a:off x="5164138" y="3534411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16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47" name="Rectangle 19"/>
          <p:cNvSpPr/>
          <p:nvPr/>
        </p:nvSpPr>
        <p:spPr>
          <a:xfrm>
            <a:off x="7943850" y="3534411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47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48" name="Rectangle 20"/>
          <p:cNvSpPr/>
          <p:nvPr/>
        </p:nvSpPr>
        <p:spPr>
          <a:xfrm>
            <a:off x="7029450" y="3534411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32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49" name="Rectangle 21"/>
          <p:cNvSpPr/>
          <p:nvPr/>
        </p:nvSpPr>
        <p:spPr>
          <a:xfrm>
            <a:off x="9747250" y="3534411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63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50" name="Rectangle 22"/>
          <p:cNvSpPr/>
          <p:nvPr/>
        </p:nvSpPr>
        <p:spPr>
          <a:xfrm>
            <a:off x="8832850" y="3534411"/>
            <a:ext cx="457200" cy="39878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</a:rPr>
              <a:t>48</a:t>
            </a: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278551" name="Line 23"/>
          <p:cNvSpPr/>
          <p:nvPr/>
        </p:nvSpPr>
        <p:spPr>
          <a:xfrm rot="5400000">
            <a:off x="3627438" y="4305300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52" name="Line 24"/>
          <p:cNvSpPr/>
          <p:nvPr/>
        </p:nvSpPr>
        <p:spPr>
          <a:xfrm rot="5400000">
            <a:off x="3600450" y="4302125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53" name="Freeform 25"/>
          <p:cNvSpPr/>
          <p:nvPr/>
        </p:nvSpPr>
        <p:spPr>
          <a:xfrm>
            <a:off x="3524250" y="4300538"/>
            <a:ext cx="152400" cy="3175"/>
          </a:xfrm>
          <a:custGeom>
            <a:avLst/>
            <a:gdLst>
              <a:gd name="txL" fmla="*/ 0 w 96"/>
              <a:gd name="txT" fmla="*/ 0 h 2"/>
              <a:gd name="txR" fmla="*/ 96 w 96"/>
              <a:gd name="txB" fmla="*/ 2 h 2"/>
            </a:gdLst>
            <a:ahLst/>
            <a:cxnLst>
              <a:cxn ang="0">
                <a:pos x="0" y="2"/>
              </a:cxn>
              <a:cxn ang="0">
                <a:pos x="96" y="0"/>
              </a:cxn>
            </a:cxnLst>
            <a:rect l="txL" t="txT" r="txR" b="txB"/>
            <a:pathLst>
              <a:path w="96" h="2">
                <a:moveTo>
                  <a:pt x="0" y="2"/>
                </a:moveTo>
                <a:lnTo>
                  <a:pt x="96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54" name="Line 26"/>
          <p:cNvSpPr/>
          <p:nvPr/>
        </p:nvSpPr>
        <p:spPr>
          <a:xfrm rot="-5400000">
            <a:off x="3322638" y="4305300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55" name="Line 27"/>
          <p:cNvSpPr/>
          <p:nvPr/>
        </p:nvSpPr>
        <p:spPr>
          <a:xfrm rot="-5400000">
            <a:off x="3448050" y="4308475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56" name="Freeform 28"/>
          <p:cNvSpPr/>
          <p:nvPr/>
        </p:nvSpPr>
        <p:spPr>
          <a:xfrm>
            <a:off x="3800475" y="3735388"/>
            <a:ext cx="177800" cy="1587"/>
          </a:xfrm>
          <a:custGeom>
            <a:avLst/>
            <a:gdLst>
              <a:gd name="txL" fmla="*/ 0 w 112"/>
              <a:gd name="txT" fmla="*/ 0 h 1"/>
              <a:gd name="txR" fmla="*/ 112 w 112"/>
              <a:gd name="txB" fmla="*/ 1 h 1"/>
            </a:gdLst>
            <a:ahLst/>
            <a:cxnLst>
              <a:cxn ang="0">
                <a:pos x="0" y="0"/>
              </a:cxn>
              <a:cxn ang="0">
                <a:pos x="112" y="0"/>
              </a:cxn>
            </a:cxnLst>
            <a:rect l="txL" t="txT" r="txR" b="txB"/>
            <a:pathLst>
              <a:path w="112" h="1">
                <a:moveTo>
                  <a:pt x="0" y="0"/>
                </a:moveTo>
                <a:lnTo>
                  <a:pt x="112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57" name="Freeform 29"/>
          <p:cNvSpPr/>
          <p:nvPr/>
        </p:nvSpPr>
        <p:spPr>
          <a:xfrm>
            <a:off x="3205163" y="1919288"/>
            <a:ext cx="241300" cy="2332037"/>
          </a:xfrm>
          <a:custGeom>
            <a:avLst/>
            <a:gdLst>
              <a:gd name="txL" fmla="*/ 0 w 152"/>
              <a:gd name="txT" fmla="*/ 0 h 1469"/>
              <a:gd name="txR" fmla="*/ 152 w 152"/>
              <a:gd name="txB" fmla="*/ 1469 h 1469"/>
            </a:gdLst>
            <a:ahLst/>
            <a:cxnLst>
              <a:cxn ang="0">
                <a:pos x="152" y="1469"/>
              </a:cxn>
              <a:cxn ang="0">
                <a:pos x="0" y="1469"/>
              </a:cxn>
              <a:cxn ang="0">
                <a:pos x="0" y="0"/>
              </a:cxn>
              <a:cxn ang="0">
                <a:pos x="95" y="1"/>
              </a:cxn>
            </a:cxnLst>
            <a:rect l="txL" t="txT" r="txR" b="txB"/>
            <a:pathLst>
              <a:path w="152" h="1469">
                <a:moveTo>
                  <a:pt x="152" y="1469"/>
                </a:moveTo>
                <a:lnTo>
                  <a:pt x="0" y="1469"/>
                </a:lnTo>
                <a:lnTo>
                  <a:pt x="0" y="0"/>
                </a:lnTo>
                <a:lnTo>
                  <a:pt x="95" y="1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58" name="Freeform 30"/>
          <p:cNvSpPr/>
          <p:nvPr/>
        </p:nvSpPr>
        <p:spPr>
          <a:xfrm>
            <a:off x="3198813" y="3735388"/>
            <a:ext cx="161925" cy="1587"/>
          </a:xfrm>
          <a:custGeom>
            <a:avLst/>
            <a:gdLst>
              <a:gd name="txL" fmla="*/ 0 w 102"/>
              <a:gd name="txT" fmla="*/ 0 h 1"/>
              <a:gd name="txR" fmla="*/ 102 w 102"/>
              <a:gd name="txB" fmla="*/ 1 h 1"/>
            </a:gdLst>
            <a:ahLst/>
            <a:cxnLst>
              <a:cxn ang="0">
                <a:pos x="102" y="0"/>
              </a:cxn>
              <a:cxn ang="0">
                <a:pos x="0" y="0"/>
              </a:cxn>
            </a:cxnLst>
            <a:rect l="txL" t="txT" r="txR" b="txB"/>
            <a:pathLst>
              <a:path w="102" h="1">
                <a:moveTo>
                  <a:pt x="102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59" name="Line 31"/>
          <p:cNvSpPr/>
          <p:nvPr/>
        </p:nvSpPr>
        <p:spPr>
          <a:xfrm rot="5400000">
            <a:off x="4533900" y="4306888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60" name="Line 32"/>
          <p:cNvSpPr/>
          <p:nvPr/>
        </p:nvSpPr>
        <p:spPr>
          <a:xfrm rot="5400000">
            <a:off x="4506913" y="4303713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61" name="Freeform 33"/>
          <p:cNvSpPr/>
          <p:nvPr/>
        </p:nvSpPr>
        <p:spPr>
          <a:xfrm>
            <a:off x="4430713" y="4302125"/>
            <a:ext cx="152400" cy="3175"/>
          </a:xfrm>
          <a:custGeom>
            <a:avLst/>
            <a:gdLst>
              <a:gd name="txL" fmla="*/ 0 w 96"/>
              <a:gd name="txT" fmla="*/ 0 h 2"/>
              <a:gd name="txR" fmla="*/ 96 w 96"/>
              <a:gd name="txB" fmla="*/ 2 h 2"/>
            </a:gdLst>
            <a:ahLst/>
            <a:cxnLst>
              <a:cxn ang="0">
                <a:pos x="0" y="2"/>
              </a:cxn>
              <a:cxn ang="0">
                <a:pos x="96" y="0"/>
              </a:cxn>
            </a:cxnLst>
            <a:rect l="txL" t="txT" r="txR" b="txB"/>
            <a:pathLst>
              <a:path w="96" h="2">
                <a:moveTo>
                  <a:pt x="0" y="2"/>
                </a:moveTo>
                <a:lnTo>
                  <a:pt x="96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62" name="Line 34"/>
          <p:cNvSpPr/>
          <p:nvPr/>
        </p:nvSpPr>
        <p:spPr>
          <a:xfrm rot="-5400000">
            <a:off x="4229100" y="4306888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63" name="Line 35"/>
          <p:cNvSpPr/>
          <p:nvPr/>
        </p:nvSpPr>
        <p:spPr>
          <a:xfrm rot="-5400000">
            <a:off x="4354513" y="4310063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64" name="Freeform 36"/>
          <p:cNvSpPr/>
          <p:nvPr/>
        </p:nvSpPr>
        <p:spPr>
          <a:xfrm>
            <a:off x="4706938" y="3735388"/>
            <a:ext cx="163512" cy="1587"/>
          </a:xfrm>
          <a:custGeom>
            <a:avLst/>
            <a:gdLst>
              <a:gd name="txL" fmla="*/ 0 w 103"/>
              <a:gd name="txT" fmla="*/ 0 h 1"/>
              <a:gd name="txR" fmla="*/ 103 w 103"/>
              <a:gd name="txB" fmla="*/ 1 h 1"/>
            </a:gdLst>
            <a:ahLst/>
            <a:cxnLst>
              <a:cxn ang="0">
                <a:pos x="0" y="0"/>
              </a:cxn>
              <a:cxn ang="0">
                <a:pos x="103" y="0"/>
              </a:cxn>
            </a:cxnLst>
            <a:rect l="txL" t="txT" r="txR" b="txB"/>
            <a:pathLst>
              <a:path w="103" h="1">
                <a:moveTo>
                  <a:pt x="0" y="0"/>
                </a:moveTo>
                <a:lnTo>
                  <a:pt x="103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65" name="Freeform 37"/>
          <p:cNvSpPr/>
          <p:nvPr/>
        </p:nvSpPr>
        <p:spPr>
          <a:xfrm>
            <a:off x="4081463" y="3733800"/>
            <a:ext cx="179387" cy="1588"/>
          </a:xfrm>
          <a:custGeom>
            <a:avLst/>
            <a:gdLst>
              <a:gd name="txL" fmla="*/ 0 w 113"/>
              <a:gd name="txT" fmla="*/ 0 h 1"/>
              <a:gd name="txR" fmla="*/ 113 w 113"/>
              <a:gd name="txB" fmla="*/ 1 h 1"/>
            </a:gdLst>
            <a:ahLst/>
            <a:cxnLst>
              <a:cxn ang="0">
                <a:pos x="113" y="1"/>
              </a:cxn>
              <a:cxn ang="0">
                <a:pos x="0" y="0"/>
              </a:cxn>
            </a:cxnLst>
            <a:rect l="txL" t="txT" r="txR" b="txB"/>
            <a:pathLst>
              <a:path w="113" h="1">
                <a:moveTo>
                  <a:pt x="113" y="1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66" name="Line 38"/>
          <p:cNvSpPr/>
          <p:nvPr/>
        </p:nvSpPr>
        <p:spPr>
          <a:xfrm rot="5400000">
            <a:off x="5456238" y="4306888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67" name="Line 39"/>
          <p:cNvSpPr/>
          <p:nvPr/>
        </p:nvSpPr>
        <p:spPr>
          <a:xfrm rot="5400000">
            <a:off x="5429250" y="4303713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68" name="Freeform 40"/>
          <p:cNvSpPr/>
          <p:nvPr/>
        </p:nvSpPr>
        <p:spPr>
          <a:xfrm>
            <a:off x="5353050" y="4302125"/>
            <a:ext cx="152400" cy="3175"/>
          </a:xfrm>
          <a:custGeom>
            <a:avLst/>
            <a:gdLst>
              <a:gd name="txL" fmla="*/ 0 w 96"/>
              <a:gd name="txT" fmla="*/ 0 h 2"/>
              <a:gd name="txR" fmla="*/ 96 w 96"/>
              <a:gd name="txB" fmla="*/ 2 h 2"/>
            </a:gdLst>
            <a:ahLst/>
            <a:cxnLst>
              <a:cxn ang="0">
                <a:pos x="0" y="2"/>
              </a:cxn>
              <a:cxn ang="0">
                <a:pos x="96" y="0"/>
              </a:cxn>
            </a:cxnLst>
            <a:rect l="txL" t="txT" r="txR" b="txB"/>
            <a:pathLst>
              <a:path w="96" h="2">
                <a:moveTo>
                  <a:pt x="0" y="2"/>
                </a:moveTo>
                <a:lnTo>
                  <a:pt x="96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69" name="Line 41"/>
          <p:cNvSpPr/>
          <p:nvPr/>
        </p:nvSpPr>
        <p:spPr>
          <a:xfrm rot="-5400000">
            <a:off x="5151438" y="4306888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70" name="Line 42"/>
          <p:cNvSpPr/>
          <p:nvPr/>
        </p:nvSpPr>
        <p:spPr>
          <a:xfrm rot="-5400000">
            <a:off x="5276850" y="4310063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71" name="Freeform 43"/>
          <p:cNvSpPr/>
          <p:nvPr/>
        </p:nvSpPr>
        <p:spPr>
          <a:xfrm>
            <a:off x="5629275" y="3735388"/>
            <a:ext cx="173038" cy="1587"/>
          </a:xfrm>
          <a:custGeom>
            <a:avLst/>
            <a:gdLst>
              <a:gd name="txL" fmla="*/ 0 w 109"/>
              <a:gd name="txT" fmla="*/ 0 h 1"/>
              <a:gd name="txR" fmla="*/ 109 w 109"/>
              <a:gd name="txB" fmla="*/ 1 h 1"/>
            </a:gdLst>
            <a:ahLst/>
            <a:cxnLst>
              <a:cxn ang="0">
                <a:pos x="0" y="0"/>
              </a:cxn>
              <a:cxn ang="0">
                <a:pos x="109" y="0"/>
              </a:cxn>
            </a:cxnLst>
            <a:rect l="txL" t="txT" r="txR" b="txB"/>
            <a:pathLst>
              <a:path w="109" h="1">
                <a:moveTo>
                  <a:pt x="0" y="0"/>
                </a:moveTo>
                <a:lnTo>
                  <a:pt x="109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72" name="Freeform 44"/>
          <p:cNvSpPr/>
          <p:nvPr/>
        </p:nvSpPr>
        <p:spPr>
          <a:xfrm>
            <a:off x="5027613" y="3735388"/>
            <a:ext cx="141287" cy="1587"/>
          </a:xfrm>
          <a:custGeom>
            <a:avLst/>
            <a:gdLst>
              <a:gd name="txL" fmla="*/ 0 w 89"/>
              <a:gd name="txT" fmla="*/ 0 h 1"/>
              <a:gd name="txR" fmla="*/ 89 w 89"/>
              <a:gd name="txB" fmla="*/ 1 h 1"/>
            </a:gdLst>
            <a:ahLst/>
            <a:cxnLst>
              <a:cxn ang="0">
                <a:pos x="89" y="0"/>
              </a:cxn>
              <a:cxn ang="0">
                <a:pos x="0" y="0"/>
              </a:cxn>
            </a:cxnLst>
            <a:rect l="txL" t="txT" r="txR" b="txB"/>
            <a:pathLst>
              <a:path w="89" h="1">
                <a:moveTo>
                  <a:pt x="89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73" name="Line 45"/>
          <p:cNvSpPr/>
          <p:nvPr/>
        </p:nvSpPr>
        <p:spPr>
          <a:xfrm rot="5400000">
            <a:off x="6370638" y="4306888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74" name="Line 46"/>
          <p:cNvSpPr/>
          <p:nvPr/>
        </p:nvSpPr>
        <p:spPr>
          <a:xfrm rot="5400000">
            <a:off x="6343650" y="4303713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75" name="Freeform 47"/>
          <p:cNvSpPr/>
          <p:nvPr/>
        </p:nvSpPr>
        <p:spPr>
          <a:xfrm>
            <a:off x="6267450" y="4302125"/>
            <a:ext cx="152400" cy="3175"/>
          </a:xfrm>
          <a:custGeom>
            <a:avLst/>
            <a:gdLst>
              <a:gd name="txL" fmla="*/ 0 w 96"/>
              <a:gd name="txT" fmla="*/ 0 h 2"/>
              <a:gd name="txR" fmla="*/ 96 w 96"/>
              <a:gd name="txB" fmla="*/ 2 h 2"/>
            </a:gdLst>
            <a:ahLst/>
            <a:cxnLst>
              <a:cxn ang="0">
                <a:pos x="0" y="2"/>
              </a:cxn>
              <a:cxn ang="0">
                <a:pos x="96" y="0"/>
              </a:cxn>
            </a:cxnLst>
            <a:rect l="txL" t="txT" r="txR" b="txB"/>
            <a:pathLst>
              <a:path w="96" h="2">
                <a:moveTo>
                  <a:pt x="0" y="2"/>
                </a:moveTo>
                <a:lnTo>
                  <a:pt x="96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76" name="Line 48"/>
          <p:cNvSpPr/>
          <p:nvPr/>
        </p:nvSpPr>
        <p:spPr>
          <a:xfrm rot="-5400000">
            <a:off x="6065838" y="4306888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77" name="Line 49"/>
          <p:cNvSpPr/>
          <p:nvPr/>
        </p:nvSpPr>
        <p:spPr>
          <a:xfrm rot="-5400000">
            <a:off x="6191250" y="4310063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78" name="Freeform 50"/>
          <p:cNvSpPr/>
          <p:nvPr/>
        </p:nvSpPr>
        <p:spPr>
          <a:xfrm>
            <a:off x="6543675" y="3735388"/>
            <a:ext cx="182563" cy="1587"/>
          </a:xfrm>
          <a:custGeom>
            <a:avLst/>
            <a:gdLst>
              <a:gd name="txL" fmla="*/ 0 w 115"/>
              <a:gd name="txT" fmla="*/ 0 h 1"/>
              <a:gd name="txR" fmla="*/ 115 w 115"/>
              <a:gd name="txB" fmla="*/ 1 h 1"/>
            </a:gdLst>
            <a:ahLst/>
            <a:cxnLst>
              <a:cxn ang="0">
                <a:pos x="0" y="0"/>
              </a:cxn>
              <a:cxn ang="0">
                <a:pos x="115" y="0"/>
              </a:cxn>
            </a:cxnLst>
            <a:rect l="txL" t="txT" r="txR" b="txB"/>
            <a:pathLst>
              <a:path w="115" h="1">
                <a:moveTo>
                  <a:pt x="0" y="0"/>
                </a:moveTo>
                <a:lnTo>
                  <a:pt x="115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79" name="Freeform 51"/>
          <p:cNvSpPr/>
          <p:nvPr/>
        </p:nvSpPr>
        <p:spPr>
          <a:xfrm>
            <a:off x="5942013" y="3735388"/>
            <a:ext cx="142875" cy="1587"/>
          </a:xfrm>
          <a:custGeom>
            <a:avLst/>
            <a:gdLst>
              <a:gd name="txL" fmla="*/ 0 w 90"/>
              <a:gd name="txT" fmla="*/ 0 h 1"/>
              <a:gd name="txR" fmla="*/ 90 w 90"/>
              <a:gd name="txB" fmla="*/ 1 h 1"/>
            </a:gdLst>
            <a:ahLst/>
            <a:cxnLst>
              <a:cxn ang="0">
                <a:pos x="90" y="0"/>
              </a:cxn>
              <a:cxn ang="0">
                <a:pos x="0" y="0"/>
              </a:cxn>
            </a:cxnLst>
            <a:rect l="txL" t="txT" r="txR" b="txB"/>
            <a:pathLst>
              <a:path w="90" h="1">
                <a:moveTo>
                  <a:pt x="90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80" name="Line 52"/>
          <p:cNvSpPr/>
          <p:nvPr/>
        </p:nvSpPr>
        <p:spPr>
          <a:xfrm rot="5400000">
            <a:off x="7285038" y="4306888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81" name="Line 53"/>
          <p:cNvSpPr/>
          <p:nvPr/>
        </p:nvSpPr>
        <p:spPr>
          <a:xfrm rot="5400000">
            <a:off x="7258050" y="4303713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82" name="Freeform 54"/>
          <p:cNvSpPr/>
          <p:nvPr/>
        </p:nvSpPr>
        <p:spPr>
          <a:xfrm>
            <a:off x="7181850" y="4302125"/>
            <a:ext cx="152400" cy="3175"/>
          </a:xfrm>
          <a:custGeom>
            <a:avLst/>
            <a:gdLst>
              <a:gd name="txL" fmla="*/ 0 w 96"/>
              <a:gd name="txT" fmla="*/ 0 h 2"/>
              <a:gd name="txR" fmla="*/ 96 w 96"/>
              <a:gd name="txB" fmla="*/ 2 h 2"/>
            </a:gdLst>
            <a:ahLst/>
            <a:cxnLst>
              <a:cxn ang="0">
                <a:pos x="0" y="2"/>
              </a:cxn>
              <a:cxn ang="0">
                <a:pos x="96" y="0"/>
              </a:cxn>
            </a:cxnLst>
            <a:rect l="txL" t="txT" r="txR" b="txB"/>
            <a:pathLst>
              <a:path w="96" h="2">
                <a:moveTo>
                  <a:pt x="0" y="2"/>
                </a:moveTo>
                <a:lnTo>
                  <a:pt x="96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83" name="Line 55"/>
          <p:cNvSpPr/>
          <p:nvPr/>
        </p:nvSpPr>
        <p:spPr>
          <a:xfrm rot="-5400000">
            <a:off x="6980238" y="4306888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84" name="Line 56"/>
          <p:cNvSpPr/>
          <p:nvPr/>
        </p:nvSpPr>
        <p:spPr>
          <a:xfrm rot="-5400000">
            <a:off x="7105650" y="4310063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85" name="Freeform 57"/>
          <p:cNvSpPr/>
          <p:nvPr/>
        </p:nvSpPr>
        <p:spPr>
          <a:xfrm>
            <a:off x="7478713" y="3733800"/>
            <a:ext cx="158750" cy="1588"/>
          </a:xfrm>
          <a:custGeom>
            <a:avLst/>
            <a:gdLst>
              <a:gd name="txL" fmla="*/ 0 w 100"/>
              <a:gd name="txT" fmla="*/ 0 h 1"/>
              <a:gd name="txR" fmla="*/ 100 w 100"/>
              <a:gd name="txB" fmla="*/ 1 h 1"/>
            </a:gdLst>
            <a:ahLst/>
            <a:cxnLst>
              <a:cxn ang="0">
                <a:pos x="0" y="0"/>
              </a:cxn>
              <a:cxn ang="0">
                <a:pos x="100" y="1"/>
              </a:cxn>
            </a:cxnLst>
            <a:rect l="txL" t="txT" r="txR" b="txB"/>
            <a:pathLst>
              <a:path w="100" h="1">
                <a:moveTo>
                  <a:pt x="0" y="0"/>
                </a:moveTo>
                <a:lnTo>
                  <a:pt x="100" y="1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86" name="Freeform 58"/>
          <p:cNvSpPr/>
          <p:nvPr/>
        </p:nvSpPr>
        <p:spPr>
          <a:xfrm>
            <a:off x="6856413" y="3735388"/>
            <a:ext cx="171450" cy="1587"/>
          </a:xfrm>
          <a:custGeom>
            <a:avLst/>
            <a:gdLst>
              <a:gd name="txL" fmla="*/ 0 w 108"/>
              <a:gd name="txT" fmla="*/ 0 h 1"/>
              <a:gd name="txR" fmla="*/ 108 w 108"/>
              <a:gd name="txB" fmla="*/ 1 h 1"/>
            </a:gdLst>
            <a:ahLst/>
            <a:cxnLst>
              <a:cxn ang="0">
                <a:pos x="108" y="0"/>
              </a:cxn>
              <a:cxn ang="0">
                <a:pos x="0" y="0"/>
              </a:cxn>
            </a:cxnLst>
            <a:rect l="txL" t="txT" r="txR" b="txB"/>
            <a:pathLst>
              <a:path w="108" h="1">
                <a:moveTo>
                  <a:pt x="108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87" name="Line 59"/>
          <p:cNvSpPr/>
          <p:nvPr/>
        </p:nvSpPr>
        <p:spPr>
          <a:xfrm rot="5400000">
            <a:off x="8199438" y="4283075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88" name="Line 60"/>
          <p:cNvSpPr/>
          <p:nvPr/>
        </p:nvSpPr>
        <p:spPr>
          <a:xfrm rot="5400000">
            <a:off x="8172450" y="4279900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89" name="Freeform 61"/>
          <p:cNvSpPr/>
          <p:nvPr/>
        </p:nvSpPr>
        <p:spPr>
          <a:xfrm>
            <a:off x="8096250" y="4278313"/>
            <a:ext cx="152400" cy="3175"/>
          </a:xfrm>
          <a:custGeom>
            <a:avLst/>
            <a:gdLst>
              <a:gd name="txL" fmla="*/ 0 w 96"/>
              <a:gd name="txT" fmla="*/ 0 h 2"/>
              <a:gd name="txR" fmla="*/ 96 w 96"/>
              <a:gd name="txB" fmla="*/ 2 h 2"/>
            </a:gdLst>
            <a:ahLst/>
            <a:cxnLst>
              <a:cxn ang="0">
                <a:pos x="0" y="2"/>
              </a:cxn>
              <a:cxn ang="0">
                <a:pos x="96" y="0"/>
              </a:cxn>
            </a:cxnLst>
            <a:rect l="txL" t="txT" r="txR" b="txB"/>
            <a:pathLst>
              <a:path w="96" h="2">
                <a:moveTo>
                  <a:pt x="0" y="2"/>
                </a:moveTo>
                <a:lnTo>
                  <a:pt x="96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90" name="Line 62"/>
          <p:cNvSpPr/>
          <p:nvPr/>
        </p:nvSpPr>
        <p:spPr>
          <a:xfrm rot="-5400000">
            <a:off x="7894638" y="4283075"/>
            <a:ext cx="250825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91" name="Line 63"/>
          <p:cNvSpPr/>
          <p:nvPr/>
        </p:nvSpPr>
        <p:spPr>
          <a:xfrm rot="-5400000">
            <a:off x="8020050" y="4286250"/>
            <a:ext cx="152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592" name="Freeform 64"/>
          <p:cNvSpPr/>
          <p:nvPr/>
        </p:nvSpPr>
        <p:spPr>
          <a:xfrm>
            <a:off x="8407400" y="3732213"/>
            <a:ext cx="142875" cy="3175"/>
          </a:xfrm>
          <a:custGeom>
            <a:avLst/>
            <a:gdLst>
              <a:gd name="txL" fmla="*/ 0 w 90"/>
              <a:gd name="txT" fmla="*/ 0 h 2"/>
              <a:gd name="txR" fmla="*/ 90 w 90"/>
              <a:gd name="txB" fmla="*/ 2 h 2"/>
            </a:gdLst>
            <a:ahLst/>
            <a:cxnLst>
              <a:cxn ang="0">
                <a:pos x="0" y="0"/>
              </a:cxn>
              <a:cxn ang="0">
                <a:pos x="90" y="2"/>
              </a:cxn>
            </a:cxnLst>
            <a:rect l="txL" t="txT" r="txR" b="txB"/>
            <a:pathLst>
              <a:path w="90" h="2">
                <a:moveTo>
                  <a:pt x="0" y="0"/>
                </a:moveTo>
                <a:lnTo>
                  <a:pt x="90" y="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93" name="Freeform 65"/>
          <p:cNvSpPr/>
          <p:nvPr/>
        </p:nvSpPr>
        <p:spPr>
          <a:xfrm>
            <a:off x="7770813" y="3735388"/>
            <a:ext cx="165100" cy="1587"/>
          </a:xfrm>
          <a:custGeom>
            <a:avLst/>
            <a:gdLst>
              <a:gd name="txL" fmla="*/ 0 w 104"/>
              <a:gd name="txT" fmla="*/ 0 h 1"/>
              <a:gd name="txR" fmla="*/ 104 w 104"/>
              <a:gd name="txB" fmla="*/ 1 h 1"/>
            </a:gdLst>
            <a:ahLst/>
            <a:cxnLst>
              <a:cxn ang="0">
                <a:pos x="104" y="0"/>
              </a:cxn>
              <a:cxn ang="0">
                <a:pos x="0" y="0"/>
              </a:cxn>
            </a:cxnLst>
            <a:rect l="txL" t="txT" r="txR" b="txB"/>
            <a:pathLst>
              <a:path w="104" h="1">
                <a:moveTo>
                  <a:pt x="104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78594" name="Group 66"/>
          <p:cNvGrpSpPr/>
          <p:nvPr/>
        </p:nvGrpSpPr>
        <p:grpSpPr>
          <a:xfrm>
            <a:off x="8934450" y="4181475"/>
            <a:ext cx="304800" cy="250825"/>
            <a:chOff x="4692" y="2634"/>
            <a:chExt cx="192" cy="158"/>
          </a:xfrm>
        </p:grpSpPr>
        <p:grpSp>
          <p:nvGrpSpPr>
            <p:cNvPr id="278902" name="Group 67"/>
            <p:cNvGrpSpPr/>
            <p:nvPr/>
          </p:nvGrpSpPr>
          <p:grpSpPr>
            <a:xfrm>
              <a:off x="4836" y="2634"/>
              <a:ext cx="48" cy="158"/>
              <a:chOff x="4836" y="2634"/>
              <a:chExt cx="48" cy="158"/>
            </a:xfrm>
          </p:grpSpPr>
          <p:sp>
            <p:nvSpPr>
              <p:cNvPr id="278907" name="Line 68"/>
              <p:cNvSpPr/>
              <p:nvPr/>
            </p:nvSpPr>
            <p:spPr>
              <a:xfrm rot="5400000">
                <a:off x="4805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908" name="Line 69"/>
              <p:cNvSpPr/>
              <p:nvPr/>
            </p:nvSpPr>
            <p:spPr>
              <a:xfrm rot="5400000">
                <a:off x="4788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8903" name="Freeform 70"/>
            <p:cNvSpPr/>
            <p:nvPr/>
          </p:nvSpPr>
          <p:spPr>
            <a:xfrm>
              <a:off x="4740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8904" name="Group 71"/>
            <p:cNvGrpSpPr/>
            <p:nvPr/>
          </p:nvGrpSpPr>
          <p:grpSpPr>
            <a:xfrm>
              <a:off x="4692" y="2634"/>
              <a:ext cx="48" cy="158"/>
              <a:chOff x="4692" y="2634"/>
              <a:chExt cx="48" cy="158"/>
            </a:xfrm>
          </p:grpSpPr>
          <p:sp>
            <p:nvSpPr>
              <p:cNvPr id="278905" name="Line 72"/>
              <p:cNvSpPr/>
              <p:nvPr/>
            </p:nvSpPr>
            <p:spPr>
              <a:xfrm rot="-5400000">
                <a:off x="4613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906" name="Line 73"/>
              <p:cNvSpPr/>
              <p:nvPr/>
            </p:nvSpPr>
            <p:spPr>
              <a:xfrm rot="-5400000">
                <a:off x="4692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278595" name="Freeform 74"/>
          <p:cNvSpPr/>
          <p:nvPr/>
        </p:nvSpPr>
        <p:spPr>
          <a:xfrm>
            <a:off x="9286875" y="3735388"/>
            <a:ext cx="169863" cy="1587"/>
          </a:xfrm>
          <a:custGeom>
            <a:avLst/>
            <a:gdLst>
              <a:gd name="txL" fmla="*/ 0 w 107"/>
              <a:gd name="txT" fmla="*/ 0 h 1"/>
              <a:gd name="txR" fmla="*/ 107 w 107"/>
              <a:gd name="txB" fmla="*/ 1 h 1"/>
            </a:gdLst>
            <a:ahLst/>
            <a:cxnLst>
              <a:cxn ang="0">
                <a:pos x="0" y="0"/>
              </a:cxn>
              <a:cxn ang="0">
                <a:pos x="107" y="0"/>
              </a:cxn>
            </a:cxnLst>
            <a:rect l="txL" t="txT" r="txR" b="txB"/>
            <a:pathLst>
              <a:path w="107" h="1">
                <a:moveTo>
                  <a:pt x="0" y="0"/>
                </a:moveTo>
                <a:lnTo>
                  <a:pt x="107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96" name="Freeform 75"/>
          <p:cNvSpPr/>
          <p:nvPr/>
        </p:nvSpPr>
        <p:spPr>
          <a:xfrm>
            <a:off x="8685213" y="3735388"/>
            <a:ext cx="152400" cy="1587"/>
          </a:xfrm>
          <a:custGeom>
            <a:avLst/>
            <a:gdLst>
              <a:gd name="txL" fmla="*/ 0 w 96"/>
              <a:gd name="txT" fmla="*/ 0 h 1"/>
              <a:gd name="txR" fmla="*/ 96 w 96"/>
              <a:gd name="txB" fmla="*/ 1 h 1"/>
            </a:gdLst>
            <a:ahLst/>
            <a:cxnLst>
              <a:cxn ang="0">
                <a:pos x="96" y="0"/>
              </a:cxn>
              <a:cxn ang="0">
                <a:pos x="0" y="0"/>
              </a:cxn>
            </a:cxnLst>
            <a:rect l="txL" t="txT" r="txR" b="txB"/>
            <a:pathLst>
              <a:path w="96" h="1">
                <a:moveTo>
                  <a:pt x="96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78597" name="Group 76"/>
          <p:cNvGrpSpPr/>
          <p:nvPr/>
        </p:nvGrpSpPr>
        <p:grpSpPr>
          <a:xfrm>
            <a:off x="9834563" y="4181475"/>
            <a:ext cx="304800" cy="250825"/>
            <a:chOff x="5259" y="2634"/>
            <a:chExt cx="192" cy="158"/>
          </a:xfrm>
        </p:grpSpPr>
        <p:grpSp>
          <p:nvGrpSpPr>
            <p:cNvPr id="278895" name="Group 77"/>
            <p:cNvGrpSpPr/>
            <p:nvPr/>
          </p:nvGrpSpPr>
          <p:grpSpPr>
            <a:xfrm>
              <a:off x="5403" y="2634"/>
              <a:ext cx="48" cy="158"/>
              <a:chOff x="5403" y="2634"/>
              <a:chExt cx="48" cy="158"/>
            </a:xfrm>
          </p:grpSpPr>
          <p:sp>
            <p:nvSpPr>
              <p:cNvPr id="278900" name="Line 78"/>
              <p:cNvSpPr/>
              <p:nvPr/>
            </p:nvSpPr>
            <p:spPr>
              <a:xfrm rot="5400000">
                <a:off x="5372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901" name="Line 79"/>
              <p:cNvSpPr/>
              <p:nvPr/>
            </p:nvSpPr>
            <p:spPr>
              <a:xfrm rot="5400000">
                <a:off x="5355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8896" name="Freeform 80"/>
            <p:cNvSpPr/>
            <p:nvPr/>
          </p:nvSpPr>
          <p:spPr>
            <a:xfrm>
              <a:off x="5307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8897" name="Group 81"/>
            <p:cNvGrpSpPr/>
            <p:nvPr/>
          </p:nvGrpSpPr>
          <p:grpSpPr>
            <a:xfrm>
              <a:off x="5259" y="2634"/>
              <a:ext cx="48" cy="158"/>
              <a:chOff x="5259" y="2634"/>
              <a:chExt cx="48" cy="158"/>
            </a:xfrm>
          </p:grpSpPr>
          <p:sp>
            <p:nvSpPr>
              <p:cNvPr id="278898" name="Line 82"/>
              <p:cNvSpPr/>
              <p:nvPr/>
            </p:nvSpPr>
            <p:spPr>
              <a:xfrm rot="-5400000">
                <a:off x="5180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899" name="Line 83"/>
              <p:cNvSpPr/>
              <p:nvPr/>
            </p:nvSpPr>
            <p:spPr>
              <a:xfrm rot="-5400000">
                <a:off x="5259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278598" name="Freeform 84"/>
          <p:cNvSpPr/>
          <p:nvPr/>
        </p:nvSpPr>
        <p:spPr>
          <a:xfrm>
            <a:off x="10202863" y="3732213"/>
            <a:ext cx="152400" cy="3175"/>
          </a:xfrm>
          <a:custGeom>
            <a:avLst/>
            <a:gdLst>
              <a:gd name="txL" fmla="*/ 0 w 96"/>
              <a:gd name="txT" fmla="*/ 0 h 2"/>
              <a:gd name="txR" fmla="*/ 96 w 96"/>
              <a:gd name="txB" fmla="*/ 2 h 2"/>
            </a:gdLst>
            <a:ahLst/>
            <a:cxnLst>
              <a:cxn ang="0">
                <a:pos x="0" y="0"/>
              </a:cxn>
              <a:cxn ang="0">
                <a:pos x="96" y="2"/>
              </a:cxn>
            </a:cxnLst>
            <a:rect l="txL" t="txT" r="txR" b="txB"/>
            <a:pathLst>
              <a:path w="96" h="2">
                <a:moveTo>
                  <a:pt x="0" y="0"/>
                </a:moveTo>
                <a:lnTo>
                  <a:pt x="96" y="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599" name="Freeform 85"/>
          <p:cNvSpPr/>
          <p:nvPr/>
        </p:nvSpPr>
        <p:spPr>
          <a:xfrm>
            <a:off x="9585325" y="3735388"/>
            <a:ext cx="160338" cy="1587"/>
          </a:xfrm>
          <a:custGeom>
            <a:avLst/>
            <a:gdLst>
              <a:gd name="txL" fmla="*/ 0 w 101"/>
              <a:gd name="txT" fmla="*/ 0 h 1"/>
              <a:gd name="txR" fmla="*/ 101 w 101"/>
              <a:gd name="txB" fmla="*/ 1 h 1"/>
            </a:gdLst>
            <a:ahLst/>
            <a:cxnLst>
              <a:cxn ang="0">
                <a:pos x="101" y="0"/>
              </a:cxn>
              <a:cxn ang="0">
                <a:pos x="0" y="0"/>
              </a:cxn>
            </a:cxnLst>
            <a:rect l="txL" t="txT" r="txR" b="txB"/>
            <a:pathLst>
              <a:path w="101" h="1">
                <a:moveTo>
                  <a:pt x="101" y="0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00" name="Freeform 86"/>
          <p:cNvSpPr/>
          <p:nvPr/>
        </p:nvSpPr>
        <p:spPr>
          <a:xfrm>
            <a:off x="2965450" y="1358900"/>
            <a:ext cx="7015163" cy="1588"/>
          </a:xfrm>
          <a:custGeom>
            <a:avLst/>
            <a:gdLst>
              <a:gd name="txL" fmla="*/ 0 w 4419"/>
              <a:gd name="txT" fmla="*/ 0 h 1"/>
              <a:gd name="txR" fmla="*/ 4419 w 4419"/>
              <a:gd name="txB" fmla="*/ 1 h 1"/>
            </a:gdLst>
            <a:ahLst/>
            <a:cxnLst>
              <a:cxn ang="0">
                <a:pos x="0" y="1"/>
              </a:cxn>
              <a:cxn ang="0">
                <a:pos x="4419" y="0"/>
              </a:cxn>
            </a:cxnLst>
            <a:rect l="txL" t="txT" r="txR" b="txB"/>
            <a:pathLst>
              <a:path w="4419" h="1">
                <a:moveTo>
                  <a:pt x="0" y="1"/>
                </a:moveTo>
                <a:lnTo>
                  <a:pt x="4419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01" name="Line 87"/>
          <p:cNvSpPr/>
          <p:nvPr/>
        </p:nvSpPr>
        <p:spPr>
          <a:xfrm>
            <a:off x="3575050" y="1360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02" name="Line 88"/>
          <p:cNvSpPr/>
          <p:nvPr/>
        </p:nvSpPr>
        <p:spPr>
          <a:xfrm>
            <a:off x="4489450" y="1360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03" name="Line 89"/>
          <p:cNvSpPr/>
          <p:nvPr/>
        </p:nvSpPr>
        <p:spPr>
          <a:xfrm>
            <a:off x="5403850" y="1360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04" name="Line 90"/>
          <p:cNvSpPr/>
          <p:nvPr/>
        </p:nvSpPr>
        <p:spPr>
          <a:xfrm>
            <a:off x="6318250" y="1360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05" name="Line 91"/>
          <p:cNvSpPr/>
          <p:nvPr/>
        </p:nvSpPr>
        <p:spPr>
          <a:xfrm>
            <a:off x="7232650" y="1360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06" name="Line 92"/>
          <p:cNvSpPr/>
          <p:nvPr/>
        </p:nvSpPr>
        <p:spPr>
          <a:xfrm>
            <a:off x="8147050" y="1360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07" name="Line 93"/>
          <p:cNvSpPr/>
          <p:nvPr/>
        </p:nvSpPr>
        <p:spPr>
          <a:xfrm>
            <a:off x="9061450" y="1360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08" name="Line 94"/>
          <p:cNvSpPr/>
          <p:nvPr/>
        </p:nvSpPr>
        <p:spPr>
          <a:xfrm>
            <a:off x="9975850" y="1360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med" len="med"/>
          </a:ln>
        </p:spPr>
      </p:sp>
      <p:sp>
        <p:nvSpPr>
          <p:cNvPr id="278609" name="Freeform 95"/>
          <p:cNvSpPr/>
          <p:nvPr/>
        </p:nvSpPr>
        <p:spPr>
          <a:xfrm>
            <a:off x="3595688" y="4298950"/>
            <a:ext cx="1587" cy="263525"/>
          </a:xfrm>
          <a:custGeom>
            <a:avLst/>
            <a:gdLst>
              <a:gd name="txL" fmla="*/ 0 w 1"/>
              <a:gd name="txT" fmla="*/ 0 h 166"/>
              <a:gd name="txR" fmla="*/ 1 w 1"/>
              <a:gd name="txB" fmla="*/ 166 h 166"/>
            </a:gdLst>
            <a:ahLst/>
            <a:cxnLst>
              <a:cxn ang="0">
                <a:pos x="1" y="0"/>
              </a:cxn>
              <a:cxn ang="0">
                <a:pos x="0" y="166"/>
              </a:cxn>
            </a:cxnLst>
            <a:rect l="txL" t="txT" r="txR" b="txB"/>
            <a:pathLst>
              <a:path w="1" h="166">
                <a:moveTo>
                  <a:pt x="1" y="0"/>
                </a:moveTo>
                <a:lnTo>
                  <a:pt x="0" y="1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10" name="Freeform 96"/>
          <p:cNvSpPr/>
          <p:nvPr/>
        </p:nvSpPr>
        <p:spPr>
          <a:xfrm>
            <a:off x="4508500" y="4298950"/>
            <a:ext cx="74613" cy="795338"/>
          </a:xfrm>
          <a:custGeom>
            <a:avLst/>
            <a:gdLst>
              <a:gd name="txL" fmla="*/ 0 w 1"/>
              <a:gd name="txT" fmla="*/ 0 h 406"/>
              <a:gd name="txR" fmla="*/ 1 w 1"/>
              <a:gd name="txB" fmla="*/ 406 h 406"/>
            </a:gdLst>
            <a:ahLst/>
            <a:cxnLst>
              <a:cxn ang="0">
                <a:pos x="0" y="0"/>
              </a:cxn>
              <a:cxn ang="0">
                <a:pos x="0" y="406"/>
              </a:cxn>
            </a:cxnLst>
            <a:rect l="txL" t="txT" r="txR" b="txB"/>
            <a:pathLst>
              <a:path w="1" h="406">
                <a:moveTo>
                  <a:pt x="0" y="0"/>
                </a:moveTo>
                <a:lnTo>
                  <a:pt x="0" y="40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11" name="Freeform 97"/>
          <p:cNvSpPr/>
          <p:nvPr/>
        </p:nvSpPr>
        <p:spPr>
          <a:xfrm>
            <a:off x="5419725" y="4298950"/>
            <a:ext cx="6350" cy="263525"/>
          </a:xfrm>
          <a:custGeom>
            <a:avLst/>
            <a:gdLst>
              <a:gd name="txL" fmla="*/ 0 w 4"/>
              <a:gd name="txT" fmla="*/ 0 h 166"/>
              <a:gd name="txR" fmla="*/ 4 w 4"/>
              <a:gd name="txB" fmla="*/ 166 h 166"/>
            </a:gdLst>
            <a:ahLst/>
            <a:cxnLst>
              <a:cxn ang="0">
                <a:pos x="4" y="0"/>
              </a:cxn>
              <a:cxn ang="0">
                <a:pos x="0" y="166"/>
              </a:cxn>
            </a:cxnLst>
            <a:rect l="txL" t="txT" r="txR" b="txB"/>
            <a:pathLst>
              <a:path w="4" h="166">
                <a:moveTo>
                  <a:pt x="4" y="0"/>
                </a:moveTo>
                <a:lnTo>
                  <a:pt x="0" y="1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12" name="Freeform 98"/>
          <p:cNvSpPr/>
          <p:nvPr/>
        </p:nvSpPr>
        <p:spPr>
          <a:xfrm>
            <a:off x="7248525" y="4298950"/>
            <a:ext cx="3175" cy="277813"/>
          </a:xfrm>
          <a:custGeom>
            <a:avLst/>
            <a:gdLst>
              <a:gd name="txL" fmla="*/ 0 w 2"/>
              <a:gd name="txT" fmla="*/ 0 h 175"/>
              <a:gd name="txR" fmla="*/ 2 w 2"/>
              <a:gd name="txB" fmla="*/ 175 h 175"/>
            </a:gdLst>
            <a:ahLst/>
            <a:cxnLst>
              <a:cxn ang="0">
                <a:pos x="2" y="0"/>
              </a:cxn>
              <a:cxn ang="0">
                <a:pos x="0" y="175"/>
              </a:cxn>
            </a:cxnLst>
            <a:rect l="txL" t="txT" r="txR" b="txB"/>
            <a:pathLst>
              <a:path w="2" h="175">
                <a:moveTo>
                  <a:pt x="2" y="0"/>
                </a:moveTo>
                <a:lnTo>
                  <a:pt x="0" y="175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13" name="Freeform 99"/>
          <p:cNvSpPr/>
          <p:nvPr/>
        </p:nvSpPr>
        <p:spPr>
          <a:xfrm>
            <a:off x="9080500" y="4281488"/>
            <a:ext cx="1588" cy="279400"/>
          </a:xfrm>
          <a:custGeom>
            <a:avLst/>
            <a:gdLst>
              <a:gd name="txL" fmla="*/ 0 w 1"/>
              <a:gd name="txT" fmla="*/ 0 h 176"/>
              <a:gd name="txR" fmla="*/ 1 w 1"/>
              <a:gd name="txB" fmla="*/ 176 h 176"/>
            </a:gdLst>
            <a:ahLst/>
            <a:cxnLst>
              <a:cxn ang="0">
                <a:pos x="0" y="0"/>
              </a:cxn>
              <a:cxn ang="0">
                <a:pos x="0" y="176"/>
              </a:cxn>
            </a:cxnLst>
            <a:rect l="txL" t="txT" r="txR" b="txB"/>
            <a:pathLst>
              <a:path w="1" h="176">
                <a:moveTo>
                  <a:pt x="0" y="0"/>
                </a:moveTo>
                <a:lnTo>
                  <a:pt x="0" y="17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14" name="Freeform 100"/>
          <p:cNvSpPr/>
          <p:nvPr/>
        </p:nvSpPr>
        <p:spPr>
          <a:xfrm>
            <a:off x="2965450" y="2349500"/>
            <a:ext cx="7019925" cy="1588"/>
          </a:xfrm>
          <a:custGeom>
            <a:avLst/>
            <a:gdLst>
              <a:gd name="txL" fmla="*/ 0 w 4422"/>
              <a:gd name="txT" fmla="*/ 0 h 1"/>
              <a:gd name="txR" fmla="*/ 4422 w 4422"/>
              <a:gd name="txB" fmla="*/ 1 h 1"/>
            </a:gdLst>
            <a:ahLst/>
            <a:cxnLst>
              <a:cxn ang="0">
                <a:pos x="0" y="1"/>
              </a:cxn>
              <a:cxn ang="0">
                <a:pos x="4422" y="0"/>
              </a:cxn>
            </a:cxnLst>
            <a:rect l="txL" t="txT" r="txR" b="txB"/>
            <a:pathLst>
              <a:path w="4422" h="1">
                <a:moveTo>
                  <a:pt x="0" y="1"/>
                </a:moveTo>
                <a:lnTo>
                  <a:pt x="4422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15" name="Line 101"/>
          <p:cNvSpPr/>
          <p:nvPr/>
        </p:nvSpPr>
        <p:spPr>
          <a:xfrm>
            <a:off x="3575050" y="235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16" name="Line 102"/>
          <p:cNvSpPr/>
          <p:nvPr/>
        </p:nvSpPr>
        <p:spPr>
          <a:xfrm>
            <a:off x="4489450" y="235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17" name="Line 103"/>
          <p:cNvSpPr/>
          <p:nvPr/>
        </p:nvSpPr>
        <p:spPr>
          <a:xfrm>
            <a:off x="5403850" y="235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18" name="Line 104"/>
          <p:cNvSpPr/>
          <p:nvPr/>
        </p:nvSpPr>
        <p:spPr>
          <a:xfrm>
            <a:off x="6318250" y="235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19" name="Line 105"/>
          <p:cNvSpPr/>
          <p:nvPr/>
        </p:nvSpPr>
        <p:spPr>
          <a:xfrm>
            <a:off x="7232650" y="235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20" name="Line 106"/>
          <p:cNvSpPr/>
          <p:nvPr/>
        </p:nvSpPr>
        <p:spPr>
          <a:xfrm>
            <a:off x="8147050" y="235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21" name="Line 107"/>
          <p:cNvSpPr/>
          <p:nvPr/>
        </p:nvSpPr>
        <p:spPr>
          <a:xfrm>
            <a:off x="9061450" y="235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22" name="Line 108"/>
          <p:cNvSpPr/>
          <p:nvPr/>
        </p:nvSpPr>
        <p:spPr>
          <a:xfrm>
            <a:off x="9975850" y="235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med" len="med"/>
          </a:ln>
        </p:spPr>
      </p:sp>
      <p:sp>
        <p:nvSpPr>
          <p:cNvPr id="278623" name="Freeform 109"/>
          <p:cNvSpPr/>
          <p:nvPr/>
        </p:nvSpPr>
        <p:spPr>
          <a:xfrm>
            <a:off x="2965450" y="3263900"/>
            <a:ext cx="7013575" cy="1588"/>
          </a:xfrm>
          <a:custGeom>
            <a:avLst/>
            <a:gdLst>
              <a:gd name="txL" fmla="*/ 0 w 4418"/>
              <a:gd name="txT" fmla="*/ 0 h 1"/>
              <a:gd name="txR" fmla="*/ 4418 w 4418"/>
              <a:gd name="txB" fmla="*/ 1 h 1"/>
            </a:gdLst>
            <a:ahLst/>
            <a:cxnLst>
              <a:cxn ang="0">
                <a:pos x="0" y="1"/>
              </a:cxn>
              <a:cxn ang="0">
                <a:pos x="4418" y="0"/>
              </a:cxn>
            </a:cxnLst>
            <a:rect l="txL" t="txT" r="txR" b="txB"/>
            <a:pathLst>
              <a:path w="4418" h="1">
                <a:moveTo>
                  <a:pt x="0" y="1"/>
                </a:moveTo>
                <a:lnTo>
                  <a:pt x="4418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24" name="Line 110"/>
          <p:cNvSpPr/>
          <p:nvPr/>
        </p:nvSpPr>
        <p:spPr>
          <a:xfrm>
            <a:off x="3575050" y="3265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25" name="Line 111"/>
          <p:cNvSpPr/>
          <p:nvPr/>
        </p:nvSpPr>
        <p:spPr>
          <a:xfrm>
            <a:off x="4489450" y="3265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26" name="Line 112"/>
          <p:cNvSpPr/>
          <p:nvPr/>
        </p:nvSpPr>
        <p:spPr>
          <a:xfrm>
            <a:off x="5403850" y="3265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27" name="Line 113"/>
          <p:cNvSpPr/>
          <p:nvPr/>
        </p:nvSpPr>
        <p:spPr>
          <a:xfrm>
            <a:off x="6318250" y="3265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28" name="Line 114"/>
          <p:cNvSpPr/>
          <p:nvPr/>
        </p:nvSpPr>
        <p:spPr>
          <a:xfrm>
            <a:off x="7232650" y="3265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29" name="Line 115"/>
          <p:cNvSpPr/>
          <p:nvPr/>
        </p:nvSpPr>
        <p:spPr>
          <a:xfrm>
            <a:off x="8147050" y="3265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30" name="Line 116"/>
          <p:cNvSpPr/>
          <p:nvPr/>
        </p:nvSpPr>
        <p:spPr>
          <a:xfrm>
            <a:off x="9061450" y="3265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oval" w="sm" len="sm"/>
            <a:tailEnd type="none" w="med" len="med"/>
          </a:ln>
        </p:spPr>
      </p:sp>
      <p:sp>
        <p:nvSpPr>
          <p:cNvPr id="278631" name="Line 117"/>
          <p:cNvSpPr/>
          <p:nvPr/>
        </p:nvSpPr>
        <p:spPr>
          <a:xfrm>
            <a:off x="9975850" y="32654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sm" len="sm"/>
            <a:tailEnd type="none" w="med" len="med"/>
          </a:ln>
        </p:spPr>
      </p:sp>
      <p:sp>
        <p:nvSpPr>
          <p:cNvPr id="278632" name="Freeform 118"/>
          <p:cNvSpPr/>
          <p:nvPr/>
        </p:nvSpPr>
        <p:spPr>
          <a:xfrm>
            <a:off x="2967038" y="4570413"/>
            <a:ext cx="6127750" cy="1587"/>
          </a:xfrm>
          <a:custGeom>
            <a:avLst/>
            <a:gdLst>
              <a:gd name="txL" fmla="*/ 0 w 3860"/>
              <a:gd name="txT" fmla="*/ 0 h 1"/>
              <a:gd name="txR" fmla="*/ 3860 w 3860"/>
              <a:gd name="txB" fmla="*/ 1 h 1"/>
            </a:gdLst>
            <a:ahLst/>
            <a:cxnLst>
              <a:cxn ang="0">
                <a:pos x="0" y="1"/>
              </a:cxn>
              <a:cxn ang="0">
                <a:pos x="3860" y="0"/>
              </a:cxn>
            </a:cxnLst>
            <a:rect l="txL" t="txT" r="txR" b="txB"/>
            <a:pathLst>
              <a:path w="3860" h="1">
                <a:moveTo>
                  <a:pt x="0" y="1"/>
                </a:moveTo>
                <a:lnTo>
                  <a:pt x="386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33" name="Freeform 119"/>
          <p:cNvSpPr/>
          <p:nvPr/>
        </p:nvSpPr>
        <p:spPr>
          <a:xfrm>
            <a:off x="2971800" y="5094288"/>
            <a:ext cx="7013575" cy="1587"/>
          </a:xfrm>
          <a:custGeom>
            <a:avLst/>
            <a:gdLst>
              <a:gd name="txL" fmla="*/ 0 w 4418"/>
              <a:gd name="txT" fmla="*/ 0 h 1"/>
              <a:gd name="txR" fmla="*/ 4418 w 4418"/>
              <a:gd name="txB" fmla="*/ 1 h 1"/>
            </a:gdLst>
            <a:ahLst/>
            <a:cxnLst>
              <a:cxn ang="0">
                <a:pos x="0" y="1"/>
              </a:cxn>
              <a:cxn ang="0">
                <a:pos x="4418" y="0"/>
              </a:cxn>
            </a:cxnLst>
            <a:rect l="txL" t="txT" r="txR" b="txB"/>
            <a:pathLst>
              <a:path w="4418" h="1">
                <a:moveTo>
                  <a:pt x="0" y="1"/>
                </a:moveTo>
                <a:lnTo>
                  <a:pt x="4418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34" name="Rectangle 120"/>
          <p:cNvSpPr/>
          <p:nvPr/>
        </p:nvSpPr>
        <p:spPr>
          <a:xfrm>
            <a:off x="3335338" y="5710238"/>
            <a:ext cx="1306512" cy="368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35" name="Text Box 121"/>
          <p:cNvSpPr txBox="1"/>
          <p:nvPr/>
        </p:nvSpPr>
        <p:spPr>
          <a:xfrm>
            <a:off x="3384550" y="56769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读写电路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636" name="Freeform 122"/>
          <p:cNvSpPr/>
          <p:nvPr/>
        </p:nvSpPr>
        <p:spPr>
          <a:xfrm>
            <a:off x="3749675" y="1922463"/>
            <a:ext cx="230188" cy="2327275"/>
          </a:xfrm>
          <a:custGeom>
            <a:avLst/>
            <a:gdLst>
              <a:gd name="txL" fmla="*/ 0 w 145"/>
              <a:gd name="txT" fmla="*/ 0 h 1466"/>
              <a:gd name="txR" fmla="*/ 145 w 145"/>
              <a:gd name="txB" fmla="*/ 1466 h 1466"/>
            </a:gdLst>
            <a:ahLst/>
            <a:cxnLst>
              <a:cxn ang="0">
                <a:pos x="37" y="0"/>
              </a:cxn>
              <a:cxn ang="0">
                <a:pos x="145" y="0"/>
              </a:cxn>
              <a:cxn ang="0">
                <a:pos x="144" y="1466"/>
              </a:cxn>
              <a:cxn ang="0">
                <a:pos x="0" y="1466"/>
              </a:cxn>
            </a:cxnLst>
            <a:rect l="txL" t="txT" r="txR" b="txB"/>
            <a:pathLst>
              <a:path w="145" h="1466">
                <a:moveTo>
                  <a:pt x="37" y="0"/>
                </a:moveTo>
                <a:lnTo>
                  <a:pt x="145" y="0"/>
                </a:lnTo>
                <a:lnTo>
                  <a:pt x="144" y="1466"/>
                </a:lnTo>
                <a:lnTo>
                  <a:pt x="0" y="14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37" name="Freeform 123"/>
          <p:cNvSpPr/>
          <p:nvPr/>
        </p:nvSpPr>
        <p:spPr>
          <a:xfrm>
            <a:off x="4084638" y="1922463"/>
            <a:ext cx="268287" cy="2332037"/>
          </a:xfrm>
          <a:custGeom>
            <a:avLst/>
            <a:gdLst>
              <a:gd name="txL" fmla="*/ 0 w 169"/>
              <a:gd name="txT" fmla="*/ 0 h 1469"/>
              <a:gd name="txR" fmla="*/ 169 w 169"/>
              <a:gd name="txB" fmla="*/ 1469 h 1469"/>
            </a:gdLst>
            <a:ahLst/>
            <a:cxnLst>
              <a:cxn ang="0">
                <a:pos x="169" y="1468"/>
              </a:cxn>
              <a:cxn ang="0">
                <a:pos x="0" y="1469"/>
              </a:cxn>
              <a:cxn ang="0">
                <a:pos x="1" y="0"/>
              </a:cxn>
              <a:cxn ang="0">
                <a:pos x="105" y="0"/>
              </a:cxn>
            </a:cxnLst>
            <a:rect l="txL" t="txT" r="txR" b="txB"/>
            <a:pathLst>
              <a:path w="169" h="1469">
                <a:moveTo>
                  <a:pt x="169" y="1468"/>
                </a:moveTo>
                <a:lnTo>
                  <a:pt x="0" y="1469"/>
                </a:lnTo>
                <a:lnTo>
                  <a:pt x="1" y="0"/>
                </a:lnTo>
                <a:lnTo>
                  <a:pt x="105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38" name="Freeform 124"/>
          <p:cNvSpPr/>
          <p:nvPr/>
        </p:nvSpPr>
        <p:spPr>
          <a:xfrm>
            <a:off x="4646613" y="1922463"/>
            <a:ext cx="223837" cy="2327275"/>
          </a:xfrm>
          <a:custGeom>
            <a:avLst/>
            <a:gdLst>
              <a:gd name="txL" fmla="*/ 0 w 141"/>
              <a:gd name="txT" fmla="*/ 0 h 1466"/>
              <a:gd name="txR" fmla="*/ 141 w 141"/>
              <a:gd name="txB" fmla="*/ 1466 h 1466"/>
            </a:gdLst>
            <a:ahLst/>
            <a:cxnLst>
              <a:cxn ang="0">
                <a:pos x="38" y="0"/>
              </a:cxn>
              <a:cxn ang="0">
                <a:pos x="141" y="0"/>
              </a:cxn>
              <a:cxn ang="0">
                <a:pos x="140" y="1466"/>
              </a:cxn>
              <a:cxn ang="0">
                <a:pos x="0" y="1466"/>
              </a:cxn>
            </a:cxnLst>
            <a:rect l="txL" t="txT" r="txR" b="txB"/>
            <a:pathLst>
              <a:path w="141" h="1466">
                <a:moveTo>
                  <a:pt x="38" y="0"/>
                </a:moveTo>
                <a:lnTo>
                  <a:pt x="141" y="0"/>
                </a:lnTo>
                <a:lnTo>
                  <a:pt x="140" y="1466"/>
                </a:lnTo>
                <a:lnTo>
                  <a:pt x="0" y="14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39" name="Freeform 125"/>
          <p:cNvSpPr/>
          <p:nvPr/>
        </p:nvSpPr>
        <p:spPr>
          <a:xfrm>
            <a:off x="5029200" y="1922463"/>
            <a:ext cx="246063" cy="2328862"/>
          </a:xfrm>
          <a:custGeom>
            <a:avLst/>
            <a:gdLst>
              <a:gd name="txL" fmla="*/ 0 w 155"/>
              <a:gd name="txT" fmla="*/ 0 h 1467"/>
              <a:gd name="txR" fmla="*/ 155 w 155"/>
              <a:gd name="txB" fmla="*/ 1467 h 1467"/>
            </a:gdLst>
            <a:ahLst/>
            <a:cxnLst>
              <a:cxn ang="0">
                <a:pos x="155" y="1467"/>
              </a:cxn>
              <a:cxn ang="0">
                <a:pos x="3" y="1467"/>
              </a:cxn>
              <a:cxn ang="0">
                <a:pos x="0" y="1"/>
              </a:cxn>
              <a:cxn ang="0">
                <a:pos x="89" y="0"/>
              </a:cxn>
            </a:cxnLst>
            <a:rect l="txL" t="txT" r="txR" b="txB"/>
            <a:pathLst>
              <a:path w="155" h="1467">
                <a:moveTo>
                  <a:pt x="155" y="1467"/>
                </a:moveTo>
                <a:lnTo>
                  <a:pt x="3" y="1467"/>
                </a:lnTo>
                <a:lnTo>
                  <a:pt x="0" y="1"/>
                </a:lnTo>
                <a:lnTo>
                  <a:pt x="89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40" name="Freeform 126"/>
          <p:cNvSpPr/>
          <p:nvPr/>
        </p:nvSpPr>
        <p:spPr>
          <a:xfrm>
            <a:off x="5583238" y="1922463"/>
            <a:ext cx="225425" cy="2327275"/>
          </a:xfrm>
          <a:custGeom>
            <a:avLst/>
            <a:gdLst>
              <a:gd name="txL" fmla="*/ 0 w 142"/>
              <a:gd name="txT" fmla="*/ 0 h 1466"/>
              <a:gd name="txR" fmla="*/ 142 w 142"/>
              <a:gd name="txB" fmla="*/ 1466 h 1466"/>
            </a:gdLst>
            <a:ahLst/>
            <a:cxnLst>
              <a:cxn ang="0">
                <a:pos x="34" y="0"/>
              </a:cxn>
              <a:cxn ang="0">
                <a:pos x="142" y="0"/>
              </a:cxn>
              <a:cxn ang="0">
                <a:pos x="141" y="1466"/>
              </a:cxn>
              <a:cxn ang="0">
                <a:pos x="0" y="1464"/>
              </a:cxn>
            </a:cxnLst>
            <a:rect l="txL" t="txT" r="txR" b="txB"/>
            <a:pathLst>
              <a:path w="142" h="1466">
                <a:moveTo>
                  <a:pt x="34" y="0"/>
                </a:moveTo>
                <a:lnTo>
                  <a:pt x="142" y="0"/>
                </a:lnTo>
                <a:lnTo>
                  <a:pt x="141" y="1466"/>
                </a:lnTo>
                <a:lnTo>
                  <a:pt x="0" y="1464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41" name="Freeform 127"/>
          <p:cNvSpPr/>
          <p:nvPr/>
        </p:nvSpPr>
        <p:spPr>
          <a:xfrm>
            <a:off x="5948363" y="1922463"/>
            <a:ext cx="241300" cy="2328862"/>
          </a:xfrm>
          <a:custGeom>
            <a:avLst/>
            <a:gdLst>
              <a:gd name="txL" fmla="*/ 0 w 152"/>
              <a:gd name="txT" fmla="*/ 0 h 1467"/>
              <a:gd name="txR" fmla="*/ 152 w 152"/>
              <a:gd name="txB" fmla="*/ 1467 h 1467"/>
            </a:gdLst>
            <a:ahLst/>
            <a:cxnLst>
              <a:cxn ang="0">
                <a:pos x="152" y="1467"/>
              </a:cxn>
              <a:cxn ang="0">
                <a:pos x="0" y="1467"/>
              </a:cxn>
              <a:cxn ang="0">
                <a:pos x="0" y="1"/>
              </a:cxn>
              <a:cxn ang="0">
                <a:pos x="77" y="0"/>
              </a:cxn>
            </a:cxnLst>
            <a:rect l="txL" t="txT" r="txR" b="txB"/>
            <a:pathLst>
              <a:path w="152" h="1467">
                <a:moveTo>
                  <a:pt x="152" y="1467"/>
                </a:moveTo>
                <a:lnTo>
                  <a:pt x="0" y="1467"/>
                </a:lnTo>
                <a:lnTo>
                  <a:pt x="0" y="1"/>
                </a:lnTo>
                <a:lnTo>
                  <a:pt x="77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42" name="Freeform 128"/>
          <p:cNvSpPr/>
          <p:nvPr/>
        </p:nvSpPr>
        <p:spPr>
          <a:xfrm>
            <a:off x="6492875" y="1922463"/>
            <a:ext cx="230188" cy="2327275"/>
          </a:xfrm>
          <a:custGeom>
            <a:avLst/>
            <a:gdLst>
              <a:gd name="txL" fmla="*/ 0 w 145"/>
              <a:gd name="txT" fmla="*/ 0 h 1466"/>
              <a:gd name="txR" fmla="*/ 145 w 145"/>
              <a:gd name="txB" fmla="*/ 1466 h 1466"/>
            </a:gdLst>
            <a:ahLst/>
            <a:cxnLst>
              <a:cxn ang="0">
                <a:pos x="37" y="0"/>
              </a:cxn>
              <a:cxn ang="0">
                <a:pos x="145" y="0"/>
              </a:cxn>
              <a:cxn ang="0">
                <a:pos x="144" y="1466"/>
              </a:cxn>
              <a:cxn ang="0">
                <a:pos x="0" y="1466"/>
              </a:cxn>
            </a:cxnLst>
            <a:rect l="txL" t="txT" r="txR" b="txB"/>
            <a:pathLst>
              <a:path w="145" h="1466">
                <a:moveTo>
                  <a:pt x="37" y="0"/>
                </a:moveTo>
                <a:lnTo>
                  <a:pt x="145" y="0"/>
                </a:lnTo>
                <a:lnTo>
                  <a:pt x="144" y="1466"/>
                </a:lnTo>
                <a:lnTo>
                  <a:pt x="0" y="14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43" name="Freeform 129"/>
          <p:cNvSpPr/>
          <p:nvPr/>
        </p:nvSpPr>
        <p:spPr>
          <a:xfrm>
            <a:off x="6858000" y="1919288"/>
            <a:ext cx="246063" cy="2332037"/>
          </a:xfrm>
          <a:custGeom>
            <a:avLst/>
            <a:gdLst>
              <a:gd name="txL" fmla="*/ 0 w 155"/>
              <a:gd name="txT" fmla="*/ 0 h 1469"/>
              <a:gd name="txR" fmla="*/ 155 w 155"/>
              <a:gd name="txB" fmla="*/ 1469 h 1469"/>
            </a:gdLst>
            <a:ahLst/>
            <a:cxnLst>
              <a:cxn ang="0">
                <a:pos x="155" y="1469"/>
              </a:cxn>
              <a:cxn ang="0">
                <a:pos x="3" y="1469"/>
              </a:cxn>
              <a:cxn ang="0">
                <a:pos x="0" y="0"/>
              </a:cxn>
              <a:cxn ang="0">
                <a:pos x="103" y="2"/>
              </a:cxn>
            </a:cxnLst>
            <a:rect l="txL" t="txT" r="txR" b="txB"/>
            <a:pathLst>
              <a:path w="155" h="1469">
                <a:moveTo>
                  <a:pt x="155" y="1469"/>
                </a:moveTo>
                <a:lnTo>
                  <a:pt x="3" y="1469"/>
                </a:lnTo>
                <a:lnTo>
                  <a:pt x="0" y="0"/>
                </a:lnTo>
                <a:lnTo>
                  <a:pt x="103" y="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44" name="Freeform 130"/>
          <p:cNvSpPr/>
          <p:nvPr/>
        </p:nvSpPr>
        <p:spPr>
          <a:xfrm>
            <a:off x="7413625" y="1922463"/>
            <a:ext cx="223838" cy="2327275"/>
          </a:xfrm>
          <a:custGeom>
            <a:avLst/>
            <a:gdLst>
              <a:gd name="txL" fmla="*/ 0 w 141"/>
              <a:gd name="txT" fmla="*/ 0 h 1466"/>
              <a:gd name="txR" fmla="*/ 141 w 141"/>
              <a:gd name="txB" fmla="*/ 1466 h 1466"/>
            </a:gdLst>
            <a:ahLst/>
            <a:cxnLst>
              <a:cxn ang="0">
                <a:pos x="42" y="0"/>
              </a:cxn>
              <a:cxn ang="0">
                <a:pos x="141" y="0"/>
              </a:cxn>
              <a:cxn ang="0">
                <a:pos x="140" y="1466"/>
              </a:cxn>
              <a:cxn ang="0">
                <a:pos x="0" y="1466"/>
              </a:cxn>
            </a:cxnLst>
            <a:rect l="txL" t="txT" r="txR" b="txB"/>
            <a:pathLst>
              <a:path w="141" h="1466">
                <a:moveTo>
                  <a:pt x="42" y="0"/>
                </a:moveTo>
                <a:lnTo>
                  <a:pt x="141" y="0"/>
                </a:lnTo>
                <a:lnTo>
                  <a:pt x="140" y="1466"/>
                </a:lnTo>
                <a:lnTo>
                  <a:pt x="0" y="14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45" name="Freeform 131"/>
          <p:cNvSpPr/>
          <p:nvPr/>
        </p:nvSpPr>
        <p:spPr>
          <a:xfrm>
            <a:off x="7777163" y="1922463"/>
            <a:ext cx="241300" cy="2328862"/>
          </a:xfrm>
          <a:custGeom>
            <a:avLst/>
            <a:gdLst>
              <a:gd name="txL" fmla="*/ 0 w 152"/>
              <a:gd name="txT" fmla="*/ 0 h 1467"/>
              <a:gd name="txR" fmla="*/ 152 w 152"/>
              <a:gd name="txB" fmla="*/ 1467 h 1467"/>
            </a:gdLst>
            <a:ahLst/>
            <a:cxnLst>
              <a:cxn ang="0">
                <a:pos x="152" y="1467"/>
              </a:cxn>
              <a:cxn ang="0">
                <a:pos x="0" y="1467"/>
              </a:cxn>
              <a:cxn ang="0">
                <a:pos x="0" y="1"/>
              </a:cxn>
              <a:cxn ang="0">
                <a:pos x="103" y="0"/>
              </a:cxn>
            </a:cxnLst>
            <a:rect l="txL" t="txT" r="txR" b="txB"/>
            <a:pathLst>
              <a:path w="152" h="1467">
                <a:moveTo>
                  <a:pt x="152" y="1467"/>
                </a:moveTo>
                <a:lnTo>
                  <a:pt x="0" y="1467"/>
                </a:lnTo>
                <a:lnTo>
                  <a:pt x="0" y="1"/>
                </a:lnTo>
                <a:lnTo>
                  <a:pt x="103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46" name="Freeform 132"/>
          <p:cNvSpPr/>
          <p:nvPr/>
        </p:nvSpPr>
        <p:spPr>
          <a:xfrm>
            <a:off x="8318500" y="1922463"/>
            <a:ext cx="233363" cy="2327275"/>
          </a:xfrm>
          <a:custGeom>
            <a:avLst/>
            <a:gdLst>
              <a:gd name="txL" fmla="*/ 0 w 147"/>
              <a:gd name="txT" fmla="*/ 0 h 1466"/>
              <a:gd name="txR" fmla="*/ 147 w 147"/>
              <a:gd name="txB" fmla="*/ 1466 h 1466"/>
            </a:gdLst>
            <a:ahLst/>
            <a:cxnLst>
              <a:cxn ang="0">
                <a:pos x="51" y="0"/>
              </a:cxn>
              <a:cxn ang="0">
                <a:pos x="147" y="0"/>
              </a:cxn>
              <a:cxn ang="0">
                <a:pos x="146" y="1466"/>
              </a:cxn>
              <a:cxn ang="0">
                <a:pos x="0" y="1466"/>
              </a:cxn>
            </a:cxnLst>
            <a:rect l="txL" t="txT" r="txR" b="txB"/>
            <a:pathLst>
              <a:path w="147" h="1466">
                <a:moveTo>
                  <a:pt x="51" y="0"/>
                </a:moveTo>
                <a:lnTo>
                  <a:pt x="147" y="0"/>
                </a:lnTo>
                <a:lnTo>
                  <a:pt x="146" y="1466"/>
                </a:lnTo>
                <a:lnTo>
                  <a:pt x="0" y="14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47" name="Freeform 133"/>
          <p:cNvSpPr/>
          <p:nvPr/>
        </p:nvSpPr>
        <p:spPr>
          <a:xfrm>
            <a:off x="8682038" y="1922463"/>
            <a:ext cx="250825" cy="2328862"/>
          </a:xfrm>
          <a:custGeom>
            <a:avLst/>
            <a:gdLst>
              <a:gd name="txL" fmla="*/ 0 w 158"/>
              <a:gd name="txT" fmla="*/ 0 h 1467"/>
              <a:gd name="txR" fmla="*/ 158 w 158"/>
              <a:gd name="txB" fmla="*/ 1467 h 1467"/>
            </a:gdLst>
            <a:ahLst/>
            <a:cxnLst>
              <a:cxn ang="0">
                <a:pos x="158" y="1467"/>
              </a:cxn>
              <a:cxn ang="0">
                <a:pos x="0" y="1467"/>
              </a:cxn>
              <a:cxn ang="0">
                <a:pos x="0" y="0"/>
              </a:cxn>
              <a:cxn ang="0">
                <a:pos x="95" y="0"/>
              </a:cxn>
            </a:cxnLst>
            <a:rect l="txL" t="txT" r="txR" b="txB"/>
            <a:pathLst>
              <a:path w="158" h="1467">
                <a:moveTo>
                  <a:pt x="158" y="1467"/>
                </a:moveTo>
                <a:lnTo>
                  <a:pt x="0" y="1467"/>
                </a:lnTo>
                <a:lnTo>
                  <a:pt x="0" y="0"/>
                </a:lnTo>
                <a:lnTo>
                  <a:pt x="95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48" name="Freeform 134"/>
          <p:cNvSpPr/>
          <p:nvPr/>
        </p:nvSpPr>
        <p:spPr>
          <a:xfrm>
            <a:off x="9240838" y="1922463"/>
            <a:ext cx="225425" cy="2327275"/>
          </a:xfrm>
          <a:custGeom>
            <a:avLst/>
            <a:gdLst>
              <a:gd name="txL" fmla="*/ 0 w 142"/>
              <a:gd name="txT" fmla="*/ 0 h 1466"/>
              <a:gd name="txR" fmla="*/ 142 w 142"/>
              <a:gd name="txB" fmla="*/ 1466 h 1466"/>
            </a:gdLst>
            <a:ahLst/>
            <a:cxnLst>
              <a:cxn ang="0">
                <a:pos x="34" y="0"/>
              </a:cxn>
              <a:cxn ang="0">
                <a:pos x="142" y="0"/>
              </a:cxn>
              <a:cxn ang="0">
                <a:pos x="141" y="1466"/>
              </a:cxn>
              <a:cxn ang="0">
                <a:pos x="0" y="1466"/>
              </a:cxn>
            </a:cxnLst>
            <a:rect l="txL" t="txT" r="txR" b="txB"/>
            <a:pathLst>
              <a:path w="142" h="1466">
                <a:moveTo>
                  <a:pt x="34" y="0"/>
                </a:moveTo>
                <a:lnTo>
                  <a:pt x="142" y="0"/>
                </a:lnTo>
                <a:lnTo>
                  <a:pt x="141" y="1466"/>
                </a:lnTo>
                <a:lnTo>
                  <a:pt x="0" y="14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49" name="Freeform 135"/>
          <p:cNvSpPr/>
          <p:nvPr/>
        </p:nvSpPr>
        <p:spPr>
          <a:xfrm>
            <a:off x="9571038" y="1922463"/>
            <a:ext cx="252412" cy="2332037"/>
          </a:xfrm>
          <a:custGeom>
            <a:avLst/>
            <a:gdLst>
              <a:gd name="txL" fmla="*/ 0 w 159"/>
              <a:gd name="txT" fmla="*/ 0 h 1469"/>
              <a:gd name="txR" fmla="*/ 159 w 159"/>
              <a:gd name="txB" fmla="*/ 1469 h 1469"/>
            </a:gdLst>
            <a:ahLst/>
            <a:cxnLst>
              <a:cxn ang="0">
                <a:pos x="159" y="1467"/>
              </a:cxn>
              <a:cxn ang="0">
                <a:pos x="0" y="1469"/>
              </a:cxn>
              <a:cxn ang="0">
                <a:pos x="1" y="0"/>
              </a:cxn>
              <a:cxn ang="0">
                <a:pos x="104" y="0"/>
              </a:cxn>
            </a:cxnLst>
            <a:rect l="txL" t="txT" r="txR" b="txB"/>
            <a:pathLst>
              <a:path w="159" h="1469">
                <a:moveTo>
                  <a:pt x="159" y="1467"/>
                </a:moveTo>
                <a:lnTo>
                  <a:pt x="0" y="1469"/>
                </a:lnTo>
                <a:lnTo>
                  <a:pt x="1" y="0"/>
                </a:lnTo>
                <a:lnTo>
                  <a:pt x="104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50" name="Freeform 136"/>
          <p:cNvSpPr/>
          <p:nvPr/>
        </p:nvSpPr>
        <p:spPr>
          <a:xfrm>
            <a:off x="10123488" y="1922463"/>
            <a:ext cx="233362" cy="2327275"/>
          </a:xfrm>
          <a:custGeom>
            <a:avLst/>
            <a:gdLst>
              <a:gd name="txL" fmla="*/ 0 w 147"/>
              <a:gd name="txT" fmla="*/ 0 h 1466"/>
              <a:gd name="txR" fmla="*/ 147 w 147"/>
              <a:gd name="txB" fmla="*/ 1466 h 1466"/>
            </a:gdLst>
            <a:ahLst/>
            <a:cxnLst>
              <a:cxn ang="0">
                <a:pos x="47" y="0"/>
              </a:cxn>
              <a:cxn ang="0">
                <a:pos x="147" y="0"/>
              </a:cxn>
              <a:cxn ang="0">
                <a:pos x="146" y="1466"/>
              </a:cxn>
              <a:cxn ang="0">
                <a:pos x="0" y="1466"/>
              </a:cxn>
            </a:cxnLst>
            <a:rect l="txL" t="txT" r="txR" b="txB"/>
            <a:pathLst>
              <a:path w="147" h="1466">
                <a:moveTo>
                  <a:pt x="47" y="0"/>
                </a:moveTo>
                <a:lnTo>
                  <a:pt x="147" y="0"/>
                </a:lnTo>
                <a:lnTo>
                  <a:pt x="146" y="1466"/>
                </a:lnTo>
                <a:lnTo>
                  <a:pt x="0" y="146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51" name="Freeform 137"/>
          <p:cNvSpPr/>
          <p:nvPr/>
        </p:nvSpPr>
        <p:spPr>
          <a:xfrm>
            <a:off x="3198813" y="4346575"/>
            <a:ext cx="1158875" cy="1047750"/>
          </a:xfrm>
          <a:custGeom>
            <a:avLst/>
            <a:gdLst>
              <a:gd name="txL" fmla="*/ 0 w 730"/>
              <a:gd name="txT" fmla="*/ 0 h 660"/>
              <a:gd name="txR" fmla="*/ 730 w 730"/>
              <a:gd name="txB" fmla="*/ 660 h 660"/>
            </a:gdLst>
            <a:ahLst/>
            <a:cxnLst>
              <a:cxn ang="0">
                <a:pos x="160" y="4"/>
              </a:cxn>
              <a:cxn ang="0">
                <a:pos x="0" y="3"/>
              </a:cxn>
              <a:cxn ang="0">
                <a:pos x="0" y="660"/>
              </a:cxn>
              <a:cxn ang="0">
                <a:pos x="558" y="657"/>
              </a:cxn>
              <a:cxn ang="0">
                <a:pos x="558" y="0"/>
              </a:cxn>
              <a:cxn ang="0">
                <a:pos x="730" y="1"/>
              </a:cxn>
            </a:cxnLst>
            <a:rect l="txL" t="txT" r="txR" b="txB"/>
            <a:pathLst>
              <a:path w="730" h="660">
                <a:moveTo>
                  <a:pt x="160" y="4"/>
                </a:moveTo>
                <a:lnTo>
                  <a:pt x="0" y="3"/>
                </a:lnTo>
                <a:lnTo>
                  <a:pt x="0" y="660"/>
                </a:lnTo>
                <a:lnTo>
                  <a:pt x="558" y="657"/>
                </a:lnTo>
                <a:lnTo>
                  <a:pt x="558" y="0"/>
                </a:lnTo>
                <a:lnTo>
                  <a:pt x="730" y="1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52" name="Freeform 138"/>
          <p:cNvSpPr/>
          <p:nvPr/>
        </p:nvSpPr>
        <p:spPr>
          <a:xfrm>
            <a:off x="5027613" y="4356100"/>
            <a:ext cx="1157287" cy="1044575"/>
          </a:xfrm>
          <a:custGeom>
            <a:avLst/>
            <a:gdLst>
              <a:gd name="txL" fmla="*/ 0 w 729"/>
              <a:gd name="txT" fmla="*/ 0 h 658"/>
              <a:gd name="txR" fmla="*/ 729 w 729"/>
              <a:gd name="txB" fmla="*/ 658 h 658"/>
            </a:gdLst>
            <a:ahLst/>
            <a:cxnLst>
              <a:cxn ang="0">
                <a:pos x="153" y="0"/>
              </a:cxn>
              <a:cxn ang="0">
                <a:pos x="0" y="0"/>
              </a:cxn>
              <a:cxn ang="0">
                <a:pos x="0" y="657"/>
              </a:cxn>
              <a:cxn ang="0">
                <a:pos x="583" y="658"/>
              </a:cxn>
              <a:cxn ang="0">
                <a:pos x="582" y="3"/>
              </a:cxn>
              <a:cxn ang="0">
                <a:pos x="729" y="3"/>
              </a:cxn>
            </a:cxnLst>
            <a:rect l="txL" t="txT" r="txR" b="txB"/>
            <a:pathLst>
              <a:path w="729" h="658">
                <a:moveTo>
                  <a:pt x="153" y="0"/>
                </a:moveTo>
                <a:lnTo>
                  <a:pt x="0" y="0"/>
                </a:lnTo>
                <a:lnTo>
                  <a:pt x="0" y="657"/>
                </a:lnTo>
                <a:lnTo>
                  <a:pt x="583" y="658"/>
                </a:lnTo>
                <a:lnTo>
                  <a:pt x="582" y="3"/>
                </a:lnTo>
                <a:lnTo>
                  <a:pt x="729" y="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53" name="Freeform 139"/>
          <p:cNvSpPr/>
          <p:nvPr/>
        </p:nvSpPr>
        <p:spPr>
          <a:xfrm>
            <a:off x="6851650" y="4356100"/>
            <a:ext cx="1157288" cy="1042988"/>
          </a:xfrm>
          <a:custGeom>
            <a:avLst/>
            <a:gdLst>
              <a:gd name="txL" fmla="*/ 0 w 729"/>
              <a:gd name="txT" fmla="*/ 0 h 657"/>
              <a:gd name="txR" fmla="*/ 729 w 729"/>
              <a:gd name="txB" fmla="*/ 657 h 657"/>
            </a:gdLst>
            <a:ahLst/>
            <a:cxnLst>
              <a:cxn ang="0">
                <a:pos x="158" y="0"/>
              </a:cxn>
              <a:cxn ang="0">
                <a:pos x="0" y="0"/>
              </a:cxn>
              <a:cxn ang="0">
                <a:pos x="0" y="657"/>
              </a:cxn>
              <a:cxn ang="0">
                <a:pos x="579" y="654"/>
              </a:cxn>
              <a:cxn ang="0">
                <a:pos x="582" y="3"/>
              </a:cxn>
              <a:cxn ang="0">
                <a:pos x="729" y="3"/>
              </a:cxn>
            </a:cxnLst>
            <a:rect l="txL" t="txT" r="txR" b="txB"/>
            <a:pathLst>
              <a:path w="729" h="657">
                <a:moveTo>
                  <a:pt x="158" y="0"/>
                </a:moveTo>
                <a:lnTo>
                  <a:pt x="0" y="0"/>
                </a:lnTo>
                <a:lnTo>
                  <a:pt x="0" y="657"/>
                </a:lnTo>
                <a:lnTo>
                  <a:pt x="579" y="654"/>
                </a:lnTo>
                <a:lnTo>
                  <a:pt x="582" y="3"/>
                </a:lnTo>
                <a:lnTo>
                  <a:pt x="729" y="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54" name="Freeform 140"/>
          <p:cNvSpPr/>
          <p:nvPr/>
        </p:nvSpPr>
        <p:spPr>
          <a:xfrm>
            <a:off x="8680450" y="4356100"/>
            <a:ext cx="1157288" cy="1042988"/>
          </a:xfrm>
          <a:custGeom>
            <a:avLst/>
            <a:gdLst>
              <a:gd name="txL" fmla="*/ 0 w 729"/>
              <a:gd name="txT" fmla="*/ 0 h 657"/>
              <a:gd name="txR" fmla="*/ 729 w 729"/>
              <a:gd name="txB" fmla="*/ 657 h 657"/>
            </a:gdLst>
            <a:ahLst/>
            <a:cxnLst>
              <a:cxn ang="0">
                <a:pos x="161" y="2"/>
              </a:cxn>
              <a:cxn ang="0">
                <a:pos x="0" y="0"/>
              </a:cxn>
              <a:cxn ang="0">
                <a:pos x="0" y="657"/>
              </a:cxn>
              <a:cxn ang="0">
                <a:pos x="579" y="654"/>
              </a:cxn>
              <a:cxn ang="0">
                <a:pos x="582" y="3"/>
              </a:cxn>
              <a:cxn ang="0">
                <a:pos x="729" y="3"/>
              </a:cxn>
            </a:cxnLst>
            <a:rect l="txL" t="txT" r="txR" b="txB"/>
            <a:pathLst>
              <a:path w="729" h="657">
                <a:moveTo>
                  <a:pt x="161" y="2"/>
                </a:moveTo>
                <a:lnTo>
                  <a:pt x="0" y="0"/>
                </a:lnTo>
                <a:lnTo>
                  <a:pt x="0" y="657"/>
                </a:lnTo>
                <a:lnTo>
                  <a:pt x="579" y="654"/>
                </a:lnTo>
                <a:lnTo>
                  <a:pt x="582" y="3"/>
                </a:lnTo>
                <a:lnTo>
                  <a:pt x="729" y="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55" name="Freeform 141"/>
          <p:cNvSpPr/>
          <p:nvPr/>
        </p:nvSpPr>
        <p:spPr>
          <a:xfrm>
            <a:off x="3746500" y="4341813"/>
            <a:ext cx="1123950" cy="906462"/>
          </a:xfrm>
          <a:custGeom>
            <a:avLst/>
            <a:gdLst>
              <a:gd name="txL" fmla="*/ 0 w 708"/>
              <a:gd name="txT" fmla="*/ 0 h 571"/>
              <a:gd name="txR" fmla="*/ 708 w 708"/>
              <a:gd name="txB" fmla="*/ 571 h 571"/>
            </a:gdLst>
            <a:ahLst/>
            <a:cxnLst>
              <a:cxn ang="0">
                <a:pos x="0" y="0"/>
              </a:cxn>
              <a:cxn ang="0">
                <a:pos x="132" y="0"/>
              </a:cxn>
              <a:cxn ang="0">
                <a:pos x="133" y="571"/>
              </a:cxn>
              <a:cxn ang="0">
                <a:pos x="708" y="570"/>
              </a:cxn>
              <a:cxn ang="0">
                <a:pos x="708" y="9"/>
              </a:cxn>
              <a:cxn ang="0">
                <a:pos x="573" y="9"/>
              </a:cxn>
            </a:cxnLst>
            <a:rect l="txL" t="txT" r="txR" b="txB"/>
            <a:pathLst>
              <a:path w="708" h="571">
                <a:moveTo>
                  <a:pt x="0" y="0"/>
                </a:moveTo>
                <a:lnTo>
                  <a:pt x="132" y="0"/>
                </a:lnTo>
                <a:lnTo>
                  <a:pt x="133" y="571"/>
                </a:lnTo>
                <a:lnTo>
                  <a:pt x="708" y="570"/>
                </a:lnTo>
                <a:lnTo>
                  <a:pt x="708" y="9"/>
                </a:lnTo>
                <a:lnTo>
                  <a:pt x="573" y="9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56" name="Freeform 142"/>
          <p:cNvSpPr/>
          <p:nvPr/>
        </p:nvSpPr>
        <p:spPr>
          <a:xfrm>
            <a:off x="5575300" y="4341813"/>
            <a:ext cx="1152525" cy="900112"/>
          </a:xfrm>
          <a:custGeom>
            <a:avLst/>
            <a:gdLst>
              <a:gd name="txL" fmla="*/ 0 w 726"/>
              <a:gd name="txT" fmla="*/ 0 h 567"/>
              <a:gd name="txR" fmla="*/ 726 w 726"/>
              <a:gd name="txB" fmla="*/ 567 h 567"/>
            </a:gdLst>
            <a:ahLst/>
            <a:cxnLst>
              <a:cxn ang="0">
                <a:pos x="0" y="0"/>
              </a:cxn>
              <a:cxn ang="0">
                <a:pos x="148" y="1"/>
              </a:cxn>
              <a:cxn ang="0">
                <a:pos x="147" y="567"/>
              </a:cxn>
              <a:cxn ang="0">
                <a:pos x="726" y="567"/>
              </a:cxn>
              <a:cxn ang="0">
                <a:pos x="726" y="6"/>
              </a:cxn>
              <a:cxn ang="0">
                <a:pos x="579" y="6"/>
              </a:cxn>
            </a:cxnLst>
            <a:rect l="txL" t="txT" r="txR" b="txB"/>
            <a:pathLst>
              <a:path w="726" h="567">
                <a:moveTo>
                  <a:pt x="0" y="0"/>
                </a:moveTo>
                <a:lnTo>
                  <a:pt x="148" y="1"/>
                </a:lnTo>
                <a:lnTo>
                  <a:pt x="147" y="567"/>
                </a:lnTo>
                <a:lnTo>
                  <a:pt x="726" y="567"/>
                </a:lnTo>
                <a:lnTo>
                  <a:pt x="726" y="6"/>
                </a:lnTo>
                <a:lnTo>
                  <a:pt x="579" y="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57" name="Freeform 143"/>
          <p:cNvSpPr/>
          <p:nvPr/>
        </p:nvSpPr>
        <p:spPr>
          <a:xfrm>
            <a:off x="7404100" y="4346575"/>
            <a:ext cx="1133475" cy="900113"/>
          </a:xfrm>
          <a:custGeom>
            <a:avLst/>
            <a:gdLst>
              <a:gd name="txL" fmla="*/ 0 w 714"/>
              <a:gd name="txT" fmla="*/ 0 h 567"/>
              <a:gd name="txR" fmla="*/ 714 w 714"/>
              <a:gd name="txB" fmla="*/ 567 h 567"/>
            </a:gdLst>
            <a:ahLst/>
            <a:cxnLst>
              <a:cxn ang="0">
                <a:pos x="0" y="0"/>
              </a:cxn>
              <a:cxn ang="0">
                <a:pos x="136" y="1"/>
              </a:cxn>
              <a:cxn ang="0">
                <a:pos x="135" y="567"/>
              </a:cxn>
              <a:cxn ang="0">
                <a:pos x="714" y="567"/>
              </a:cxn>
              <a:cxn ang="0">
                <a:pos x="714" y="6"/>
              </a:cxn>
              <a:cxn ang="0">
                <a:pos x="576" y="5"/>
              </a:cxn>
            </a:cxnLst>
            <a:rect l="txL" t="txT" r="txR" b="txB"/>
            <a:pathLst>
              <a:path w="714" h="567">
                <a:moveTo>
                  <a:pt x="0" y="0"/>
                </a:moveTo>
                <a:lnTo>
                  <a:pt x="136" y="1"/>
                </a:lnTo>
                <a:lnTo>
                  <a:pt x="135" y="567"/>
                </a:lnTo>
                <a:lnTo>
                  <a:pt x="714" y="567"/>
                </a:lnTo>
                <a:lnTo>
                  <a:pt x="714" y="6"/>
                </a:lnTo>
                <a:lnTo>
                  <a:pt x="576" y="5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58" name="Freeform 144"/>
          <p:cNvSpPr/>
          <p:nvPr/>
        </p:nvSpPr>
        <p:spPr>
          <a:xfrm>
            <a:off x="9237663" y="4346575"/>
            <a:ext cx="1128712" cy="900113"/>
          </a:xfrm>
          <a:custGeom>
            <a:avLst/>
            <a:gdLst>
              <a:gd name="txL" fmla="*/ 0 w 711"/>
              <a:gd name="txT" fmla="*/ 0 h 567"/>
              <a:gd name="txR" fmla="*/ 711 w 711"/>
              <a:gd name="txB" fmla="*/ 567 h 567"/>
            </a:gdLst>
            <a:ahLst/>
            <a:cxnLst>
              <a:cxn ang="0">
                <a:pos x="0" y="0"/>
              </a:cxn>
              <a:cxn ang="0">
                <a:pos x="130" y="1"/>
              </a:cxn>
              <a:cxn ang="0">
                <a:pos x="132" y="567"/>
              </a:cxn>
              <a:cxn ang="0">
                <a:pos x="711" y="567"/>
              </a:cxn>
              <a:cxn ang="0">
                <a:pos x="711" y="6"/>
              </a:cxn>
              <a:cxn ang="0">
                <a:pos x="564" y="6"/>
              </a:cxn>
            </a:cxnLst>
            <a:rect l="txL" t="txT" r="txR" b="txB"/>
            <a:pathLst>
              <a:path w="711" h="567">
                <a:moveTo>
                  <a:pt x="0" y="0"/>
                </a:moveTo>
                <a:lnTo>
                  <a:pt x="130" y="1"/>
                </a:lnTo>
                <a:lnTo>
                  <a:pt x="132" y="567"/>
                </a:lnTo>
                <a:lnTo>
                  <a:pt x="711" y="567"/>
                </a:lnTo>
                <a:lnTo>
                  <a:pt x="711" y="6"/>
                </a:lnTo>
                <a:lnTo>
                  <a:pt x="564" y="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59" name="Freeform 145"/>
          <p:cNvSpPr/>
          <p:nvPr/>
        </p:nvSpPr>
        <p:spPr>
          <a:xfrm>
            <a:off x="3622675" y="5394325"/>
            <a:ext cx="1588" cy="238125"/>
          </a:xfrm>
          <a:custGeom>
            <a:avLst/>
            <a:gdLst>
              <a:gd name="txL" fmla="*/ 0 w 1"/>
              <a:gd name="txT" fmla="*/ 0 h 150"/>
              <a:gd name="txR" fmla="*/ 1 w 1"/>
              <a:gd name="txB" fmla="*/ 150 h 150"/>
            </a:gdLst>
            <a:ahLst/>
            <a:cxnLst>
              <a:cxn ang="0">
                <a:pos x="0" y="0"/>
              </a:cxn>
              <a:cxn ang="0">
                <a:pos x="0" y="150"/>
              </a:cxn>
            </a:cxnLst>
            <a:rect l="txL" t="txT" r="txR" b="txB"/>
            <a:pathLst>
              <a:path w="1" h="150">
                <a:moveTo>
                  <a:pt x="0" y="0"/>
                </a:moveTo>
                <a:lnTo>
                  <a:pt x="0" y="15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60" name="Freeform 146"/>
          <p:cNvSpPr/>
          <p:nvPr/>
        </p:nvSpPr>
        <p:spPr>
          <a:xfrm>
            <a:off x="5478463" y="5399088"/>
            <a:ext cx="1587" cy="238125"/>
          </a:xfrm>
          <a:custGeom>
            <a:avLst/>
            <a:gdLst>
              <a:gd name="txL" fmla="*/ 0 w 1"/>
              <a:gd name="txT" fmla="*/ 0 h 150"/>
              <a:gd name="txR" fmla="*/ 1 w 1"/>
              <a:gd name="txB" fmla="*/ 150 h 150"/>
            </a:gdLst>
            <a:ahLst/>
            <a:cxnLst>
              <a:cxn ang="0">
                <a:pos x="0" y="0"/>
              </a:cxn>
              <a:cxn ang="0">
                <a:pos x="0" y="150"/>
              </a:cxn>
            </a:cxnLst>
            <a:rect l="txL" t="txT" r="txR" b="txB"/>
            <a:pathLst>
              <a:path w="1" h="150">
                <a:moveTo>
                  <a:pt x="0" y="0"/>
                </a:moveTo>
                <a:lnTo>
                  <a:pt x="0" y="15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61" name="Freeform 147"/>
          <p:cNvSpPr/>
          <p:nvPr/>
        </p:nvSpPr>
        <p:spPr>
          <a:xfrm>
            <a:off x="7307263" y="5399088"/>
            <a:ext cx="1587" cy="238125"/>
          </a:xfrm>
          <a:custGeom>
            <a:avLst/>
            <a:gdLst>
              <a:gd name="txL" fmla="*/ 0 w 1"/>
              <a:gd name="txT" fmla="*/ 0 h 150"/>
              <a:gd name="txR" fmla="*/ 1 w 1"/>
              <a:gd name="txB" fmla="*/ 150 h 150"/>
            </a:gdLst>
            <a:ahLst/>
            <a:cxnLst>
              <a:cxn ang="0">
                <a:pos x="0" y="0"/>
              </a:cxn>
              <a:cxn ang="0">
                <a:pos x="0" y="150"/>
              </a:cxn>
            </a:cxnLst>
            <a:rect l="txL" t="txT" r="txR" b="txB"/>
            <a:pathLst>
              <a:path w="1" h="150">
                <a:moveTo>
                  <a:pt x="0" y="0"/>
                </a:moveTo>
                <a:lnTo>
                  <a:pt x="0" y="15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62" name="Freeform 148"/>
          <p:cNvSpPr/>
          <p:nvPr/>
        </p:nvSpPr>
        <p:spPr>
          <a:xfrm>
            <a:off x="9136063" y="5399088"/>
            <a:ext cx="1587" cy="238125"/>
          </a:xfrm>
          <a:custGeom>
            <a:avLst/>
            <a:gdLst>
              <a:gd name="txL" fmla="*/ 0 w 1"/>
              <a:gd name="txT" fmla="*/ 0 h 150"/>
              <a:gd name="txR" fmla="*/ 1 w 1"/>
              <a:gd name="txB" fmla="*/ 150 h 150"/>
            </a:gdLst>
            <a:ahLst/>
            <a:cxnLst>
              <a:cxn ang="0">
                <a:pos x="0" y="0"/>
              </a:cxn>
              <a:cxn ang="0">
                <a:pos x="0" y="150"/>
              </a:cxn>
            </a:cxnLst>
            <a:rect l="txL" t="txT" r="txR" b="txB"/>
            <a:pathLst>
              <a:path w="1" h="150">
                <a:moveTo>
                  <a:pt x="0" y="0"/>
                </a:moveTo>
                <a:lnTo>
                  <a:pt x="0" y="15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63" name="Freeform 149"/>
          <p:cNvSpPr/>
          <p:nvPr/>
        </p:nvSpPr>
        <p:spPr>
          <a:xfrm>
            <a:off x="9899650" y="5246688"/>
            <a:ext cx="1588" cy="390525"/>
          </a:xfrm>
          <a:custGeom>
            <a:avLst/>
            <a:gdLst>
              <a:gd name="txL" fmla="*/ 0 w 1"/>
              <a:gd name="txT" fmla="*/ 0 h 246"/>
              <a:gd name="txR" fmla="*/ 1 w 1"/>
              <a:gd name="txB" fmla="*/ 246 h 246"/>
            </a:gdLst>
            <a:ahLst/>
            <a:cxnLst>
              <a:cxn ang="0">
                <a:pos x="0" y="0"/>
              </a:cxn>
              <a:cxn ang="0">
                <a:pos x="0" y="246"/>
              </a:cxn>
            </a:cxnLst>
            <a:rect l="txL" t="txT" r="txR" b="txB"/>
            <a:pathLst>
              <a:path w="1" h="246">
                <a:moveTo>
                  <a:pt x="0" y="0"/>
                </a:moveTo>
                <a:lnTo>
                  <a:pt x="0" y="24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64" name="Freeform 150"/>
          <p:cNvSpPr/>
          <p:nvPr/>
        </p:nvSpPr>
        <p:spPr>
          <a:xfrm>
            <a:off x="8070850" y="5246688"/>
            <a:ext cx="1588" cy="390525"/>
          </a:xfrm>
          <a:custGeom>
            <a:avLst/>
            <a:gdLst>
              <a:gd name="txL" fmla="*/ 0 w 1"/>
              <a:gd name="txT" fmla="*/ 0 h 246"/>
              <a:gd name="txR" fmla="*/ 1 w 1"/>
              <a:gd name="txB" fmla="*/ 246 h 246"/>
            </a:gdLst>
            <a:ahLst/>
            <a:cxnLst>
              <a:cxn ang="0">
                <a:pos x="0" y="0"/>
              </a:cxn>
              <a:cxn ang="0">
                <a:pos x="0" y="246"/>
              </a:cxn>
            </a:cxnLst>
            <a:rect l="txL" t="txT" r="txR" b="txB"/>
            <a:pathLst>
              <a:path w="1" h="246">
                <a:moveTo>
                  <a:pt x="0" y="0"/>
                </a:moveTo>
                <a:lnTo>
                  <a:pt x="0" y="24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65" name="Freeform 151"/>
          <p:cNvSpPr/>
          <p:nvPr/>
        </p:nvSpPr>
        <p:spPr>
          <a:xfrm>
            <a:off x="6242050" y="5246688"/>
            <a:ext cx="1588" cy="390525"/>
          </a:xfrm>
          <a:custGeom>
            <a:avLst/>
            <a:gdLst>
              <a:gd name="txL" fmla="*/ 0 w 1"/>
              <a:gd name="txT" fmla="*/ 0 h 246"/>
              <a:gd name="txR" fmla="*/ 1 w 1"/>
              <a:gd name="txB" fmla="*/ 246 h 246"/>
            </a:gdLst>
            <a:ahLst/>
            <a:cxnLst>
              <a:cxn ang="0">
                <a:pos x="0" y="0"/>
              </a:cxn>
              <a:cxn ang="0">
                <a:pos x="0" y="246"/>
              </a:cxn>
            </a:cxnLst>
            <a:rect l="txL" t="txT" r="txR" b="txB"/>
            <a:pathLst>
              <a:path w="1" h="246">
                <a:moveTo>
                  <a:pt x="0" y="0"/>
                </a:moveTo>
                <a:lnTo>
                  <a:pt x="0" y="24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66" name="Freeform 152"/>
          <p:cNvSpPr/>
          <p:nvPr/>
        </p:nvSpPr>
        <p:spPr>
          <a:xfrm>
            <a:off x="4411663" y="5246688"/>
            <a:ext cx="1587" cy="390525"/>
          </a:xfrm>
          <a:custGeom>
            <a:avLst/>
            <a:gdLst>
              <a:gd name="txL" fmla="*/ 0 w 1"/>
              <a:gd name="txT" fmla="*/ 0 h 246"/>
              <a:gd name="txR" fmla="*/ 1 w 1"/>
              <a:gd name="txB" fmla="*/ 246 h 246"/>
            </a:gdLst>
            <a:ahLst/>
            <a:cxnLst>
              <a:cxn ang="0">
                <a:pos x="0" y="0"/>
              </a:cxn>
              <a:cxn ang="0">
                <a:pos x="0" y="246"/>
              </a:cxn>
            </a:cxnLst>
            <a:rect l="txL" t="txT" r="txR" b="txB"/>
            <a:pathLst>
              <a:path w="1" h="246">
                <a:moveTo>
                  <a:pt x="0" y="0"/>
                </a:moveTo>
                <a:lnTo>
                  <a:pt x="0" y="24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67" name="Freeform 153"/>
          <p:cNvSpPr/>
          <p:nvPr/>
        </p:nvSpPr>
        <p:spPr>
          <a:xfrm>
            <a:off x="3041650" y="6389688"/>
            <a:ext cx="6853238" cy="1587"/>
          </a:xfrm>
          <a:custGeom>
            <a:avLst/>
            <a:gdLst>
              <a:gd name="txL" fmla="*/ 0 w 4317"/>
              <a:gd name="txT" fmla="*/ 0 h 1"/>
              <a:gd name="txR" fmla="*/ 4317 w 4317"/>
              <a:gd name="txB" fmla="*/ 1 h 1"/>
            </a:gdLst>
            <a:ahLst/>
            <a:cxnLst>
              <a:cxn ang="0">
                <a:pos x="0" y="0"/>
              </a:cxn>
              <a:cxn ang="0">
                <a:pos x="4317" y="0"/>
              </a:cxn>
            </a:cxnLst>
            <a:rect l="txL" t="txT" r="txR" b="txB"/>
            <a:pathLst>
              <a:path w="4317" h="1">
                <a:moveTo>
                  <a:pt x="0" y="0"/>
                </a:moveTo>
                <a:lnTo>
                  <a:pt x="4317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68" name="Freeform 154"/>
          <p:cNvSpPr/>
          <p:nvPr/>
        </p:nvSpPr>
        <p:spPr>
          <a:xfrm>
            <a:off x="3041650" y="6542088"/>
            <a:ext cx="6091238" cy="1587"/>
          </a:xfrm>
          <a:custGeom>
            <a:avLst/>
            <a:gdLst>
              <a:gd name="txL" fmla="*/ 0 w 3837"/>
              <a:gd name="txT" fmla="*/ 0 h 1"/>
              <a:gd name="txR" fmla="*/ 3837 w 3837"/>
              <a:gd name="txB" fmla="*/ 1 h 1"/>
            </a:gdLst>
            <a:ahLst/>
            <a:cxnLst>
              <a:cxn ang="0">
                <a:pos x="0" y="0"/>
              </a:cxn>
              <a:cxn ang="0">
                <a:pos x="3837" y="0"/>
              </a:cxn>
            </a:cxnLst>
            <a:rect l="txL" t="txT" r="txR" b="txB"/>
            <a:pathLst>
              <a:path w="3837" h="1">
                <a:moveTo>
                  <a:pt x="0" y="0"/>
                </a:moveTo>
                <a:lnTo>
                  <a:pt x="3837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69" name="Freeform 155"/>
          <p:cNvSpPr/>
          <p:nvPr/>
        </p:nvSpPr>
        <p:spPr>
          <a:xfrm>
            <a:off x="3622675" y="6161088"/>
            <a:ext cx="1588" cy="385762"/>
          </a:xfrm>
          <a:custGeom>
            <a:avLst/>
            <a:gdLst>
              <a:gd name="txL" fmla="*/ 0 w 1"/>
              <a:gd name="txT" fmla="*/ 0 h 243"/>
              <a:gd name="txR" fmla="*/ 1 w 1"/>
              <a:gd name="txB" fmla="*/ 243 h 243"/>
            </a:gdLst>
            <a:ahLst/>
            <a:cxnLst>
              <a:cxn ang="0">
                <a:pos x="0" y="0"/>
              </a:cxn>
              <a:cxn ang="0">
                <a:pos x="0" y="243"/>
              </a:cxn>
            </a:cxnLst>
            <a:rect l="txL" t="txT" r="txR" b="txB"/>
            <a:pathLst>
              <a:path w="1" h="243">
                <a:moveTo>
                  <a:pt x="0" y="0"/>
                </a:moveTo>
                <a:lnTo>
                  <a:pt x="0" y="24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70" name="Freeform 156"/>
          <p:cNvSpPr/>
          <p:nvPr/>
        </p:nvSpPr>
        <p:spPr>
          <a:xfrm>
            <a:off x="5478463" y="6161088"/>
            <a:ext cx="1587" cy="385762"/>
          </a:xfrm>
          <a:custGeom>
            <a:avLst/>
            <a:gdLst>
              <a:gd name="txL" fmla="*/ 0 w 1"/>
              <a:gd name="txT" fmla="*/ 0 h 243"/>
              <a:gd name="txR" fmla="*/ 1 w 1"/>
              <a:gd name="txB" fmla="*/ 243 h 243"/>
            </a:gdLst>
            <a:ahLst/>
            <a:cxnLst>
              <a:cxn ang="0">
                <a:pos x="0" y="0"/>
              </a:cxn>
              <a:cxn ang="0">
                <a:pos x="0" y="243"/>
              </a:cxn>
            </a:cxnLst>
            <a:rect l="txL" t="txT" r="txR" b="txB"/>
            <a:pathLst>
              <a:path w="1" h="243">
                <a:moveTo>
                  <a:pt x="0" y="0"/>
                </a:moveTo>
                <a:lnTo>
                  <a:pt x="0" y="24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71" name="Freeform 157"/>
          <p:cNvSpPr/>
          <p:nvPr/>
        </p:nvSpPr>
        <p:spPr>
          <a:xfrm>
            <a:off x="7307263" y="6161088"/>
            <a:ext cx="1587" cy="385762"/>
          </a:xfrm>
          <a:custGeom>
            <a:avLst/>
            <a:gdLst>
              <a:gd name="txL" fmla="*/ 0 w 1"/>
              <a:gd name="txT" fmla="*/ 0 h 243"/>
              <a:gd name="txR" fmla="*/ 1 w 1"/>
              <a:gd name="txB" fmla="*/ 243 h 243"/>
            </a:gdLst>
            <a:ahLst/>
            <a:cxnLst>
              <a:cxn ang="0">
                <a:pos x="0" y="0"/>
              </a:cxn>
              <a:cxn ang="0">
                <a:pos x="0" y="243"/>
              </a:cxn>
            </a:cxnLst>
            <a:rect l="txL" t="txT" r="txR" b="txB"/>
            <a:pathLst>
              <a:path w="1" h="243">
                <a:moveTo>
                  <a:pt x="0" y="0"/>
                </a:moveTo>
                <a:lnTo>
                  <a:pt x="0" y="24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72" name="Freeform 158"/>
          <p:cNvSpPr/>
          <p:nvPr/>
        </p:nvSpPr>
        <p:spPr>
          <a:xfrm>
            <a:off x="9129713" y="6161088"/>
            <a:ext cx="6350" cy="392112"/>
          </a:xfrm>
          <a:custGeom>
            <a:avLst/>
            <a:gdLst>
              <a:gd name="txL" fmla="*/ 0 w 4"/>
              <a:gd name="txT" fmla="*/ 0 h 247"/>
              <a:gd name="txR" fmla="*/ 4 w 4"/>
              <a:gd name="txB" fmla="*/ 247 h 247"/>
            </a:gdLst>
            <a:ahLst/>
            <a:cxnLst>
              <a:cxn ang="0">
                <a:pos x="4" y="0"/>
              </a:cxn>
              <a:cxn ang="0">
                <a:pos x="0" y="247"/>
              </a:cxn>
            </a:cxnLst>
            <a:rect l="txL" t="txT" r="txR" b="txB"/>
            <a:pathLst>
              <a:path w="4" h="247">
                <a:moveTo>
                  <a:pt x="4" y="0"/>
                </a:moveTo>
                <a:lnTo>
                  <a:pt x="0" y="247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73" name="Freeform 159"/>
          <p:cNvSpPr/>
          <p:nvPr/>
        </p:nvSpPr>
        <p:spPr>
          <a:xfrm>
            <a:off x="9901238" y="6161088"/>
            <a:ext cx="1587" cy="239712"/>
          </a:xfrm>
          <a:custGeom>
            <a:avLst/>
            <a:gdLst>
              <a:gd name="txL" fmla="*/ 0 w 1"/>
              <a:gd name="txT" fmla="*/ 0 h 151"/>
              <a:gd name="txR" fmla="*/ 1 w 1"/>
              <a:gd name="txB" fmla="*/ 151 h 151"/>
            </a:gdLst>
            <a:ahLst/>
            <a:cxnLst>
              <a:cxn ang="0">
                <a:pos x="0" y="0"/>
              </a:cxn>
              <a:cxn ang="0">
                <a:pos x="0" y="151"/>
              </a:cxn>
            </a:cxnLst>
            <a:rect l="txL" t="txT" r="txR" b="txB"/>
            <a:pathLst>
              <a:path w="1" h="151">
                <a:moveTo>
                  <a:pt x="0" y="0"/>
                </a:moveTo>
                <a:lnTo>
                  <a:pt x="0" y="151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74" name="Line 160"/>
          <p:cNvSpPr/>
          <p:nvPr/>
        </p:nvSpPr>
        <p:spPr>
          <a:xfrm>
            <a:off x="8070850" y="616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278675" name="Line 161"/>
          <p:cNvSpPr/>
          <p:nvPr/>
        </p:nvSpPr>
        <p:spPr>
          <a:xfrm>
            <a:off x="6243638" y="616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278676" name="Line 162"/>
          <p:cNvSpPr/>
          <p:nvPr/>
        </p:nvSpPr>
        <p:spPr>
          <a:xfrm>
            <a:off x="4413250" y="6161088"/>
            <a:ext cx="0" cy="2286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oval" w="sm" len="sm"/>
          </a:ln>
        </p:spPr>
      </p:sp>
      <p:sp>
        <p:nvSpPr>
          <p:cNvPr id="278677" name="Rectangle 163"/>
          <p:cNvSpPr/>
          <p:nvPr/>
        </p:nvSpPr>
        <p:spPr>
          <a:xfrm>
            <a:off x="5202238" y="5710238"/>
            <a:ext cx="1306512" cy="368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78" name="Text Box 164"/>
          <p:cNvSpPr txBox="1"/>
          <p:nvPr/>
        </p:nvSpPr>
        <p:spPr>
          <a:xfrm>
            <a:off x="5251450" y="56769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读写电路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679" name="Rectangle 165"/>
          <p:cNvSpPr/>
          <p:nvPr/>
        </p:nvSpPr>
        <p:spPr>
          <a:xfrm>
            <a:off x="7031038" y="5710238"/>
            <a:ext cx="1306512" cy="368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80" name="Text Box 166"/>
          <p:cNvSpPr txBox="1"/>
          <p:nvPr/>
        </p:nvSpPr>
        <p:spPr>
          <a:xfrm>
            <a:off x="7080250" y="56769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读写电路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681" name="Rectangle 167"/>
          <p:cNvSpPr/>
          <p:nvPr/>
        </p:nvSpPr>
        <p:spPr>
          <a:xfrm>
            <a:off x="8859838" y="5710238"/>
            <a:ext cx="1306512" cy="3683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82" name="Text Box 168"/>
          <p:cNvSpPr txBox="1"/>
          <p:nvPr/>
        </p:nvSpPr>
        <p:spPr>
          <a:xfrm>
            <a:off x="8909050" y="5676900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读写电路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683" name="Line 169"/>
          <p:cNvSpPr/>
          <p:nvPr/>
        </p:nvSpPr>
        <p:spPr>
          <a:xfrm>
            <a:off x="4641850" y="5932488"/>
            <a:ext cx="28733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stealth" w="sm" len="sm"/>
            <a:tailEnd type="stealth" w="sm" len="sm"/>
          </a:ln>
        </p:spPr>
      </p:sp>
      <p:sp>
        <p:nvSpPr>
          <p:cNvPr id="278684" name="Line 170"/>
          <p:cNvSpPr/>
          <p:nvPr/>
        </p:nvSpPr>
        <p:spPr>
          <a:xfrm>
            <a:off x="6515100" y="5932488"/>
            <a:ext cx="28733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stealth" w="sm" len="sm"/>
            <a:tailEnd type="stealth" w="sm" len="sm"/>
          </a:ln>
        </p:spPr>
      </p:sp>
      <p:sp>
        <p:nvSpPr>
          <p:cNvPr id="278685" name="Line 171"/>
          <p:cNvSpPr/>
          <p:nvPr/>
        </p:nvSpPr>
        <p:spPr>
          <a:xfrm>
            <a:off x="8339138" y="5932488"/>
            <a:ext cx="287337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stealth" w="sm" len="sm"/>
            <a:tailEnd type="stealth" w="sm" len="sm"/>
          </a:ln>
        </p:spPr>
      </p:sp>
      <p:sp>
        <p:nvSpPr>
          <p:cNvPr id="278686" name="Line 172"/>
          <p:cNvSpPr/>
          <p:nvPr/>
        </p:nvSpPr>
        <p:spPr>
          <a:xfrm>
            <a:off x="10128250" y="5932488"/>
            <a:ext cx="287338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stealth" w="sm" len="sm"/>
            <a:tailEnd type="stealth" w="sm" len="sm"/>
          </a:ln>
        </p:spPr>
      </p:sp>
      <p:sp>
        <p:nvSpPr>
          <p:cNvPr id="278687" name="Freeform 173"/>
          <p:cNvSpPr/>
          <p:nvPr/>
        </p:nvSpPr>
        <p:spPr>
          <a:xfrm>
            <a:off x="6338888" y="4298950"/>
            <a:ext cx="74612" cy="795338"/>
          </a:xfrm>
          <a:custGeom>
            <a:avLst/>
            <a:gdLst>
              <a:gd name="txL" fmla="*/ 0 w 1"/>
              <a:gd name="txT" fmla="*/ 0 h 406"/>
              <a:gd name="txR" fmla="*/ 1 w 1"/>
              <a:gd name="txB" fmla="*/ 406 h 406"/>
            </a:gdLst>
            <a:ahLst/>
            <a:cxnLst>
              <a:cxn ang="0">
                <a:pos x="0" y="0"/>
              </a:cxn>
              <a:cxn ang="0">
                <a:pos x="0" y="406"/>
              </a:cxn>
            </a:cxnLst>
            <a:rect l="txL" t="txT" r="txR" b="txB"/>
            <a:pathLst>
              <a:path w="1" h="406">
                <a:moveTo>
                  <a:pt x="0" y="0"/>
                </a:moveTo>
                <a:lnTo>
                  <a:pt x="0" y="40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88" name="Freeform 174"/>
          <p:cNvSpPr/>
          <p:nvPr/>
        </p:nvSpPr>
        <p:spPr>
          <a:xfrm>
            <a:off x="8167688" y="4271963"/>
            <a:ext cx="1587" cy="833437"/>
          </a:xfrm>
          <a:custGeom>
            <a:avLst/>
            <a:gdLst>
              <a:gd name="txL" fmla="*/ 0 w 1"/>
              <a:gd name="txT" fmla="*/ 0 h 525"/>
              <a:gd name="txR" fmla="*/ 1 w 1"/>
              <a:gd name="txB" fmla="*/ 525 h 525"/>
            </a:gdLst>
            <a:ahLst/>
            <a:cxnLst>
              <a:cxn ang="0">
                <a:pos x="0" y="0"/>
              </a:cxn>
              <a:cxn ang="0">
                <a:pos x="0" y="525"/>
              </a:cxn>
            </a:cxnLst>
            <a:rect l="txL" t="txT" r="txR" b="txB"/>
            <a:pathLst>
              <a:path w="1" h="525">
                <a:moveTo>
                  <a:pt x="0" y="0"/>
                </a:moveTo>
                <a:lnTo>
                  <a:pt x="0" y="525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89" name="Freeform 175"/>
          <p:cNvSpPr/>
          <p:nvPr/>
        </p:nvSpPr>
        <p:spPr>
          <a:xfrm>
            <a:off x="9977438" y="4298950"/>
            <a:ext cx="74612" cy="795338"/>
          </a:xfrm>
          <a:custGeom>
            <a:avLst/>
            <a:gdLst>
              <a:gd name="txL" fmla="*/ 0 w 1"/>
              <a:gd name="txT" fmla="*/ 0 h 406"/>
              <a:gd name="txR" fmla="*/ 1 w 1"/>
              <a:gd name="txB" fmla="*/ 406 h 406"/>
            </a:gdLst>
            <a:ahLst/>
            <a:cxnLst>
              <a:cxn ang="0">
                <a:pos x="0" y="0"/>
              </a:cxn>
              <a:cxn ang="0">
                <a:pos x="0" y="406"/>
              </a:cxn>
            </a:cxnLst>
            <a:rect l="txL" t="txT" r="txR" b="txB"/>
            <a:pathLst>
              <a:path w="1" h="406">
                <a:moveTo>
                  <a:pt x="0" y="0"/>
                </a:moveTo>
                <a:lnTo>
                  <a:pt x="0" y="40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oval" w="sm" len="sm"/>
            <a:tailEnd type="none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690" name="Text Box 176"/>
          <p:cNvSpPr txBox="1"/>
          <p:nvPr/>
        </p:nvSpPr>
        <p:spPr>
          <a:xfrm rot="5400000">
            <a:off x="3416300" y="2603500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691" name="Text Box 177"/>
          <p:cNvSpPr txBox="1"/>
          <p:nvPr/>
        </p:nvSpPr>
        <p:spPr>
          <a:xfrm rot="5400000">
            <a:off x="4330700" y="2603500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692" name="Text Box 178"/>
          <p:cNvSpPr txBox="1"/>
          <p:nvPr/>
        </p:nvSpPr>
        <p:spPr>
          <a:xfrm rot="5400000">
            <a:off x="5245100" y="2603500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693" name="Text Box 179"/>
          <p:cNvSpPr txBox="1"/>
          <p:nvPr/>
        </p:nvSpPr>
        <p:spPr>
          <a:xfrm rot="5400000">
            <a:off x="6159500" y="2584450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694" name="Text Box 180"/>
          <p:cNvSpPr txBox="1"/>
          <p:nvPr/>
        </p:nvSpPr>
        <p:spPr>
          <a:xfrm rot="5400000">
            <a:off x="7072313" y="2582863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695" name="Text Box 181"/>
          <p:cNvSpPr txBox="1"/>
          <p:nvPr/>
        </p:nvSpPr>
        <p:spPr>
          <a:xfrm rot="5400000">
            <a:off x="7988300" y="2584450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696" name="Text Box 182"/>
          <p:cNvSpPr txBox="1"/>
          <p:nvPr/>
        </p:nvSpPr>
        <p:spPr>
          <a:xfrm rot="5400000">
            <a:off x="8902700" y="2584450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697" name="Text Box 183"/>
          <p:cNvSpPr txBox="1"/>
          <p:nvPr/>
        </p:nvSpPr>
        <p:spPr>
          <a:xfrm rot="5400000">
            <a:off x="9847263" y="2584450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698" name="Text Box 184"/>
          <p:cNvSpPr txBox="1"/>
          <p:nvPr/>
        </p:nvSpPr>
        <p:spPr>
          <a:xfrm>
            <a:off x="2572385" y="1255713"/>
            <a:ext cx="2971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78699" name="Text Box 185"/>
          <p:cNvSpPr txBox="1"/>
          <p:nvPr/>
        </p:nvSpPr>
        <p:spPr>
          <a:xfrm>
            <a:off x="2572385" y="2195513"/>
            <a:ext cx="2971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1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78700" name="Text Box 186"/>
          <p:cNvSpPr txBox="1"/>
          <p:nvPr/>
        </p:nvSpPr>
        <p:spPr>
          <a:xfrm>
            <a:off x="2515235" y="3109913"/>
            <a:ext cx="4114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63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78701" name="Line 187"/>
          <p:cNvSpPr/>
          <p:nvPr/>
        </p:nvSpPr>
        <p:spPr>
          <a:xfrm>
            <a:off x="2051050" y="4027488"/>
            <a:ext cx="914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702" name="Text Box 188"/>
          <p:cNvSpPr txBox="1"/>
          <p:nvPr/>
        </p:nvSpPr>
        <p:spPr>
          <a:xfrm>
            <a:off x="2572385" y="4329113"/>
            <a:ext cx="2971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78703" name="Text Box 189"/>
          <p:cNvSpPr txBox="1"/>
          <p:nvPr/>
        </p:nvSpPr>
        <p:spPr>
          <a:xfrm>
            <a:off x="2515235" y="5014913"/>
            <a:ext cx="4114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15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78704" name="Text Box 190"/>
          <p:cNvSpPr txBox="1"/>
          <p:nvPr/>
        </p:nvSpPr>
        <p:spPr>
          <a:xfrm rot="5400000">
            <a:off x="2578100" y="2584450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705" name="Text Box 191"/>
          <p:cNvSpPr txBox="1"/>
          <p:nvPr/>
        </p:nvSpPr>
        <p:spPr>
          <a:xfrm rot="5400000">
            <a:off x="2578100" y="4565650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…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78706" name="Text Box 192"/>
          <p:cNvSpPr txBox="1"/>
          <p:nvPr/>
        </p:nvSpPr>
        <p:spPr>
          <a:xfrm>
            <a:off x="2077879" y="1611313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行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707" name="Text Box 193"/>
          <p:cNvSpPr txBox="1"/>
          <p:nvPr/>
        </p:nvSpPr>
        <p:spPr>
          <a:xfrm>
            <a:off x="2077879" y="2005013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地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708" name="Text Box 194"/>
          <p:cNvSpPr txBox="1"/>
          <p:nvPr/>
        </p:nvSpPr>
        <p:spPr>
          <a:xfrm>
            <a:off x="2077879" y="2398713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709" name="Text Box 195"/>
          <p:cNvSpPr txBox="1"/>
          <p:nvPr/>
        </p:nvSpPr>
        <p:spPr>
          <a:xfrm>
            <a:off x="2077879" y="2790825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译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710" name="Text Box 196"/>
          <p:cNvSpPr txBox="1"/>
          <p:nvPr/>
        </p:nvSpPr>
        <p:spPr>
          <a:xfrm>
            <a:off x="2077879" y="3184525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711" name="Text Box 197"/>
          <p:cNvSpPr txBox="1"/>
          <p:nvPr/>
        </p:nvSpPr>
        <p:spPr>
          <a:xfrm>
            <a:off x="2120742" y="4183063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列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712" name="Text Box 198"/>
          <p:cNvSpPr txBox="1"/>
          <p:nvPr/>
        </p:nvSpPr>
        <p:spPr>
          <a:xfrm>
            <a:off x="2120742" y="4576763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地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713" name="Text Box 199"/>
          <p:cNvSpPr txBox="1"/>
          <p:nvPr/>
        </p:nvSpPr>
        <p:spPr>
          <a:xfrm>
            <a:off x="2120742" y="4970463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址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714" name="Text Box 200"/>
          <p:cNvSpPr txBox="1"/>
          <p:nvPr/>
        </p:nvSpPr>
        <p:spPr>
          <a:xfrm>
            <a:off x="2120742" y="5362575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译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715" name="Text Box 201"/>
          <p:cNvSpPr txBox="1"/>
          <p:nvPr/>
        </p:nvSpPr>
        <p:spPr>
          <a:xfrm>
            <a:off x="2120742" y="5756275"/>
            <a:ext cx="43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</a:rPr>
              <a:t>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78716" name="Text Box 202"/>
          <p:cNvSpPr txBox="1"/>
          <p:nvPr/>
        </p:nvSpPr>
        <p:spPr>
          <a:xfrm>
            <a:off x="4613275" y="5599113"/>
            <a:ext cx="542925" cy="3371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I/O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1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78717" name="Text Box 203"/>
          <p:cNvSpPr txBox="1"/>
          <p:nvPr/>
        </p:nvSpPr>
        <p:spPr>
          <a:xfrm>
            <a:off x="6454775" y="5599113"/>
            <a:ext cx="542925" cy="3371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I/O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2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78718" name="Text Box 204"/>
          <p:cNvSpPr txBox="1"/>
          <p:nvPr/>
        </p:nvSpPr>
        <p:spPr>
          <a:xfrm>
            <a:off x="8283575" y="5599113"/>
            <a:ext cx="542925" cy="3371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I/O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3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78719" name="Text Box 205"/>
          <p:cNvSpPr txBox="1"/>
          <p:nvPr/>
        </p:nvSpPr>
        <p:spPr>
          <a:xfrm>
            <a:off x="10121900" y="5599113"/>
            <a:ext cx="542925" cy="3371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I/O</a:t>
            </a:r>
            <a:r>
              <a:rPr lang="en-US" altLang="zh-CN" sz="1600" b="1" baseline="-25000" dirty="0">
                <a:latin typeface="Times New Roman" panose="02020603050405020304" pitchFamily="18" charset="0"/>
              </a:rPr>
              <a:t>4</a:t>
            </a:r>
            <a:endParaRPr lang="en-US" altLang="zh-CN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78720" name="Line 206"/>
          <p:cNvSpPr/>
          <p:nvPr/>
        </p:nvSpPr>
        <p:spPr>
          <a:xfrm>
            <a:off x="1746250" y="1436688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78721" name="Line 207"/>
          <p:cNvSpPr/>
          <p:nvPr/>
        </p:nvSpPr>
        <p:spPr>
          <a:xfrm>
            <a:off x="1746250" y="1847850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78722" name="Line 208"/>
          <p:cNvSpPr/>
          <p:nvPr/>
        </p:nvSpPr>
        <p:spPr>
          <a:xfrm>
            <a:off x="1746250" y="2259013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78723" name="Line 209"/>
          <p:cNvSpPr/>
          <p:nvPr/>
        </p:nvSpPr>
        <p:spPr>
          <a:xfrm>
            <a:off x="1746250" y="2670175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78724" name="Line 210"/>
          <p:cNvSpPr/>
          <p:nvPr/>
        </p:nvSpPr>
        <p:spPr>
          <a:xfrm>
            <a:off x="1746250" y="3081338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78725" name="Line 211"/>
          <p:cNvSpPr/>
          <p:nvPr/>
        </p:nvSpPr>
        <p:spPr>
          <a:xfrm>
            <a:off x="1746250" y="3494088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78726" name="Line 212"/>
          <p:cNvSpPr/>
          <p:nvPr/>
        </p:nvSpPr>
        <p:spPr>
          <a:xfrm>
            <a:off x="1746250" y="4559300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78727" name="Line 213"/>
          <p:cNvSpPr/>
          <p:nvPr/>
        </p:nvSpPr>
        <p:spPr>
          <a:xfrm>
            <a:off x="1746250" y="4970463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78728" name="Line 214"/>
          <p:cNvSpPr/>
          <p:nvPr/>
        </p:nvSpPr>
        <p:spPr>
          <a:xfrm>
            <a:off x="1746250" y="5381625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78729" name="Line 215"/>
          <p:cNvSpPr/>
          <p:nvPr/>
        </p:nvSpPr>
        <p:spPr>
          <a:xfrm>
            <a:off x="1746250" y="5794375"/>
            <a:ext cx="3048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stealth" w="sm" len="sm"/>
          </a:ln>
        </p:spPr>
      </p:sp>
      <p:sp>
        <p:nvSpPr>
          <p:cNvPr id="278730" name="Text Box 216"/>
          <p:cNvSpPr txBox="1"/>
          <p:nvPr/>
        </p:nvSpPr>
        <p:spPr>
          <a:xfrm>
            <a:off x="2553335" y="6175375"/>
            <a:ext cx="563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WE</a:t>
            </a:r>
            <a:endParaRPr lang="en-US" altLang="zh-CN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31" name="Line 217"/>
          <p:cNvSpPr/>
          <p:nvPr/>
        </p:nvSpPr>
        <p:spPr>
          <a:xfrm>
            <a:off x="2606675" y="6227763"/>
            <a:ext cx="4572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732" name="Text Box 218"/>
          <p:cNvSpPr txBox="1"/>
          <p:nvPr/>
        </p:nvSpPr>
        <p:spPr>
          <a:xfrm>
            <a:off x="2585562" y="6389688"/>
            <a:ext cx="50736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CS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33" name="Line 219"/>
          <p:cNvSpPr/>
          <p:nvPr/>
        </p:nvSpPr>
        <p:spPr>
          <a:xfrm>
            <a:off x="2676525" y="6475413"/>
            <a:ext cx="3048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8734" name="Text Box 220"/>
          <p:cNvSpPr txBox="1"/>
          <p:nvPr/>
        </p:nvSpPr>
        <p:spPr>
          <a:xfrm>
            <a:off x="1746885" y="1069975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35" name="Text Box 221"/>
          <p:cNvSpPr txBox="1"/>
          <p:nvPr/>
        </p:nvSpPr>
        <p:spPr>
          <a:xfrm>
            <a:off x="1746885" y="1481138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36" name="Text Box 222"/>
          <p:cNvSpPr txBox="1"/>
          <p:nvPr/>
        </p:nvSpPr>
        <p:spPr>
          <a:xfrm>
            <a:off x="1746885" y="1892300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37" name="Text Box 223"/>
          <p:cNvSpPr txBox="1"/>
          <p:nvPr/>
        </p:nvSpPr>
        <p:spPr>
          <a:xfrm>
            <a:off x="1746885" y="2303463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38" name="Text Box 224"/>
          <p:cNvSpPr txBox="1"/>
          <p:nvPr/>
        </p:nvSpPr>
        <p:spPr>
          <a:xfrm>
            <a:off x="1746885" y="2714625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39" name="Text Box 225"/>
          <p:cNvSpPr txBox="1"/>
          <p:nvPr/>
        </p:nvSpPr>
        <p:spPr>
          <a:xfrm>
            <a:off x="1746885" y="3127375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40" name="Text Box 226"/>
          <p:cNvSpPr txBox="1"/>
          <p:nvPr/>
        </p:nvSpPr>
        <p:spPr>
          <a:xfrm>
            <a:off x="1746885" y="4217988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41" name="Text Box 227"/>
          <p:cNvSpPr txBox="1"/>
          <p:nvPr/>
        </p:nvSpPr>
        <p:spPr>
          <a:xfrm>
            <a:off x="1746885" y="4629150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42" name="Text Box 228"/>
          <p:cNvSpPr txBox="1"/>
          <p:nvPr/>
        </p:nvSpPr>
        <p:spPr>
          <a:xfrm>
            <a:off x="1746885" y="5040313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43" name="Text Box 229"/>
          <p:cNvSpPr txBox="1"/>
          <p:nvPr/>
        </p:nvSpPr>
        <p:spPr>
          <a:xfrm>
            <a:off x="1746885" y="5451475"/>
            <a:ext cx="309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8744" name="Group 230"/>
          <p:cNvGrpSpPr/>
          <p:nvPr/>
        </p:nvGrpSpPr>
        <p:grpSpPr>
          <a:xfrm>
            <a:off x="2976563" y="4279900"/>
            <a:ext cx="6124575" cy="301625"/>
            <a:chOff x="915" y="2696"/>
            <a:chExt cx="3858" cy="190"/>
          </a:xfrm>
        </p:grpSpPr>
        <p:sp>
          <p:nvSpPr>
            <p:cNvPr id="278890" name="Freeform 231"/>
            <p:cNvSpPr/>
            <p:nvPr/>
          </p:nvSpPr>
          <p:spPr>
            <a:xfrm>
              <a:off x="1304" y="2707"/>
              <a:ext cx="1" cy="166"/>
            </a:xfrm>
            <a:custGeom>
              <a:avLst/>
              <a:gdLst>
                <a:gd name="txL" fmla="*/ 0 w 1"/>
                <a:gd name="txT" fmla="*/ 0 h 166"/>
                <a:gd name="txR" fmla="*/ 1 w 1"/>
                <a:gd name="txB" fmla="*/ 166 h 166"/>
              </a:gdLst>
              <a:ahLst/>
              <a:cxnLst>
                <a:cxn ang="0">
                  <a:pos x="0" y="0"/>
                </a:cxn>
                <a:cxn ang="0">
                  <a:pos x="1" y="166"/>
                </a:cxn>
              </a:cxnLst>
              <a:rect l="txL" t="txT" r="txR" b="txB"/>
              <a:pathLst>
                <a:path w="1" h="166">
                  <a:moveTo>
                    <a:pt x="0" y="0"/>
                  </a:moveTo>
                  <a:lnTo>
                    <a:pt x="1" y="166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91" name="Freeform 232"/>
            <p:cNvSpPr/>
            <p:nvPr/>
          </p:nvSpPr>
          <p:spPr>
            <a:xfrm>
              <a:off x="2457" y="2710"/>
              <a:ext cx="1" cy="166"/>
            </a:xfrm>
            <a:custGeom>
              <a:avLst/>
              <a:gdLst>
                <a:gd name="txL" fmla="*/ 0 w 1"/>
                <a:gd name="txT" fmla="*/ 0 h 166"/>
                <a:gd name="txR" fmla="*/ 1 w 1"/>
                <a:gd name="txB" fmla="*/ 166 h 166"/>
              </a:gdLst>
              <a:ahLst/>
              <a:cxnLst>
                <a:cxn ang="0">
                  <a:pos x="0" y="0"/>
                </a:cxn>
                <a:cxn ang="0">
                  <a:pos x="1" y="166"/>
                </a:cxn>
              </a:cxnLst>
              <a:rect l="txL" t="txT" r="txR" b="txB"/>
              <a:pathLst>
                <a:path w="1" h="166">
                  <a:moveTo>
                    <a:pt x="0" y="0"/>
                  </a:moveTo>
                  <a:lnTo>
                    <a:pt x="1" y="166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92" name="Freeform 233"/>
            <p:cNvSpPr/>
            <p:nvPr/>
          </p:nvSpPr>
          <p:spPr>
            <a:xfrm>
              <a:off x="3609" y="2710"/>
              <a:ext cx="1" cy="176"/>
            </a:xfrm>
            <a:custGeom>
              <a:avLst/>
              <a:gdLst>
                <a:gd name="txL" fmla="*/ 0 w 1"/>
                <a:gd name="txT" fmla="*/ 0 h 176"/>
                <a:gd name="txR" fmla="*/ 1 w 1"/>
                <a:gd name="txB" fmla="*/ 176 h 176"/>
              </a:gdLst>
              <a:ahLst/>
              <a:cxnLst>
                <a:cxn ang="0">
                  <a:pos x="0" y="0"/>
                </a:cxn>
                <a:cxn ang="0">
                  <a:pos x="0" y="176"/>
                </a:cxn>
              </a:cxnLst>
              <a:rect l="txL" t="txT" r="txR" b="txB"/>
              <a:pathLst>
                <a:path w="1" h="176">
                  <a:moveTo>
                    <a:pt x="0" y="0"/>
                  </a:moveTo>
                  <a:lnTo>
                    <a:pt x="0" y="176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93" name="Freeform 234"/>
            <p:cNvSpPr/>
            <p:nvPr/>
          </p:nvSpPr>
          <p:spPr>
            <a:xfrm>
              <a:off x="4761" y="2696"/>
              <a:ext cx="1" cy="178"/>
            </a:xfrm>
            <a:custGeom>
              <a:avLst/>
              <a:gdLst>
                <a:gd name="txL" fmla="*/ 0 w 1"/>
                <a:gd name="txT" fmla="*/ 0 h 178"/>
                <a:gd name="txR" fmla="*/ 1 w 1"/>
                <a:gd name="txB" fmla="*/ 178 h 178"/>
              </a:gdLst>
              <a:ahLst/>
              <a:cxnLst>
                <a:cxn ang="0">
                  <a:pos x="0" y="0"/>
                </a:cxn>
                <a:cxn ang="0">
                  <a:pos x="0" y="178"/>
                </a:cxn>
              </a:cxnLst>
              <a:rect l="txL" t="txT" r="txR" b="txB"/>
              <a:pathLst>
                <a:path w="1" h="178">
                  <a:moveTo>
                    <a:pt x="0" y="0"/>
                  </a:moveTo>
                  <a:lnTo>
                    <a:pt x="0" y="178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94" name="Freeform 235"/>
            <p:cNvSpPr/>
            <p:nvPr/>
          </p:nvSpPr>
          <p:spPr>
            <a:xfrm>
              <a:off x="915" y="2865"/>
              <a:ext cx="3858" cy="2"/>
            </a:xfrm>
            <a:custGeom>
              <a:avLst/>
              <a:gdLst>
                <a:gd name="txL" fmla="*/ 0 w 3858"/>
                <a:gd name="txT" fmla="*/ 0 h 2"/>
                <a:gd name="txR" fmla="*/ 3858 w 3858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3858" y="0"/>
                </a:cxn>
              </a:cxnLst>
              <a:rect l="txL" t="txT" r="txR" b="txB"/>
              <a:pathLst>
                <a:path w="3858" h="2">
                  <a:moveTo>
                    <a:pt x="0" y="2"/>
                  </a:moveTo>
                  <a:lnTo>
                    <a:pt x="3858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78745" name="Group 236"/>
          <p:cNvGrpSpPr/>
          <p:nvPr/>
        </p:nvGrpSpPr>
        <p:grpSpPr>
          <a:xfrm>
            <a:off x="3449638" y="4179888"/>
            <a:ext cx="304800" cy="250825"/>
            <a:chOff x="1440" y="2928"/>
            <a:chExt cx="192" cy="158"/>
          </a:xfrm>
        </p:grpSpPr>
        <p:grpSp>
          <p:nvGrpSpPr>
            <p:cNvPr id="278883" name="Group 237"/>
            <p:cNvGrpSpPr/>
            <p:nvPr/>
          </p:nvGrpSpPr>
          <p:grpSpPr>
            <a:xfrm rot="5400000">
              <a:off x="1529" y="2983"/>
              <a:ext cx="158" cy="48"/>
              <a:chOff x="3459" y="1296"/>
              <a:chExt cx="243" cy="48"/>
            </a:xfrm>
          </p:grpSpPr>
          <p:sp>
            <p:nvSpPr>
              <p:cNvPr id="278888" name="Line 238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889" name="Line 239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8884" name="Freeform 240"/>
            <p:cNvSpPr/>
            <p:nvPr/>
          </p:nvSpPr>
          <p:spPr>
            <a:xfrm>
              <a:off x="1487" y="3003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8885" name="Group 241"/>
            <p:cNvGrpSpPr/>
            <p:nvPr/>
          </p:nvGrpSpPr>
          <p:grpSpPr>
            <a:xfrm rot="-5400000">
              <a:off x="1385" y="2983"/>
              <a:ext cx="158" cy="48"/>
              <a:chOff x="3459" y="1296"/>
              <a:chExt cx="243" cy="48"/>
            </a:xfrm>
          </p:grpSpPr>
          <p:sp>
            <p:nvSpPr>
              <p:cNvPr id="278886" name="Line 242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887" name="Line 243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8746" name="Group 244"/>
          <p:cNvGrpSpPr/>
          <p:nvPr/>
        </p:nvGrpSpPr>
        <p:grpSpPr>
          <a:xfrm>
            <a:off x="5278438" y="4183063"/>
            <a:ext cx="304800" cy="250825"/>
            <a:chOff x="1440" y="2928"/>
            <a:chExt cx="192" cy="158"/>
          </a:xfrm>
        </p:grpSpPr>
        <p:grpSp>
          <p:nvGrpSpPr>
            <p:cNvPr id="278876" name="Group 245"/>
            <p:cNvGrpSpPr/>
            <p:nvPr/>
          </p:nvGrpSpPr>
          <p:grpSpPr>
            <a:xfrm rot="5400000">
              <a:off x="1529" y="2983"/>
              <a:ext cx="158" cy="48"/>
              <a:chOff x="3459" y="1296"/>
              <a:chExt cx="243" cy="48"/>
            </a:xfrm>
          </p:grpSpPr>
          <p:sp>
            <p:nvSpPr>
              <p:cNvPr id="278881" name="Line 246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882" name="Line 247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8877" name="Freeform 248"/>
            <p:cNvSpPr/>
            <p:nvPr/>
          </p:nvSpPr>
          <p:spPr>
            <a:xfrm>
              <a:off x="1487" y="3003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8878" name="Group 249"/>
            <p:cNvGrpSpPr/>
            <p:nvPr/>
          </p:nvGrpSpPr>
          <p:grpSpPr>
            <a:xfrm rot="-5400000">
              <a:off x="1385" y="2983"/>
              <a:ext cx="158" cy="48"/>
              <a:chOff x="3459" y="1296"/>
              <a:chExt cx="243" cy="48"/>
            </a:xfrm>
          </p:grpSpPr>
          <p:sp>
            <p:nvSpPr>
              <p:cNvPr id="278879" name="Line 250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880" name="Line 251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8747" name="Group 252"/>
          <p:cNvGrpSpPr/>
          <p:nvPr/>
        </p:nvGrpSpPr>
        <p:grpSpPr>
          <a:xfrm>
            <a:off x="7107238" y="4183063"/>
            <a:ext cx="304800" cy="250825"/>
            <a:chOff x="1440" y="2928"/>
            <a:chExt cx="192" cy="158"/>
          </a:xfrm>
        </p:grpSpPr>
        <p:grpSp>
          <p:nvGrpSpPr>
            <p:cNvPr id="278869" name="Group 253"/>
            <p:cNvGrpSpPr/>
            <p:nvPr/>
          </p:nvGrpSpPr>
          <p:grpSpPr>
            <a:xfrm rot="5400000">
              <a:off x="1529" y="2983"/>
              <a:ext cx="158" cy="48"/>
              <a:chOff x="3459" y="1296"/>
              <a:chExt cx="243" cy="48"/>
            </a:xfrm>
          </p:grpSpPr>
          <p:sp>
            <p:nvSpPr>
              <p:cNvPr id="278874" name="Line 254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875" name="Line 255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8870" name="Freeform 256"/>
            <p:cNvSpPr/>
            <p:nvPr/>
          </p:nvSpPr>
          <p:spPr>
            <a:xfrm>
              <a:off x="1487" y="3003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8871" name="Group 257"/>
            <p:cNvGrpSpPr/>
            <p:nvPr/>
          </p:nvGrpSpPr>
          <p:grpSpPr>
            <a:xfrm rot="-5400000">
              <a:off x="1385" y="2983"/>
              <a:ext cx="158" cy="48"/>
              <a:chOff x="3459" y="1296"/>
              <a:chExt cx="243" cy="48"/>
            </a:xfrm>
          </p:grpSpPr>
          <p:sp>
            <p:nvSpPr>
              <p:cNvPr id="278872" name="Line 258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873" name="Line 259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8748" name="Group 260"/>
          <p:cNvGrpSpPr/>
          <p:nvPr/>
        </p:nvGrpSpPr>
        <p:grpSpPr>
          <a:xfrm>
            <a:off x="8934450" y="4183063"/>
            <a:ext cx="304800" cy="250825"/>
            <a:chOff x="1440" y="2928"/>
            <a:chExt cx="192" cy="158"/>
          </a:xfrm>
        </p:grpSpPr>
        <p:grpSp>
          <p:nvGrpSpPr>
            <p:cNvPr id="278862" name="Group 261"/>
            <p:cNvGrpSpPr/>
            <p:nvPr/>
          </p:nvGrpSpPr>
          <p:grpSpPr>
            <a:xfrm rot="5400000">
              <a:off x="1529" y="2983"/>
              <a:ext cx="158" cy="48"/>
              <a:chOff x="3459" y="1296"/>
              <a:chExt cx="243" cy="48"/>
            </a:xfrm>
          </p:grpSpPr>
          <p:sp>
            <p:nvSpPr>
              <p:cNvPr id="278867" name="Line 262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868" name="Line 263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78863" name="Freeform 264"/>
            <p:cNvSpPr/>
            <p:nvPr/>
          </p:nvSpPr>
          <p:spPr>
            <a:xfrm>
              <a:off x="1487" y="3003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8864" name="Group 265"/>
            <p:cNvGrpSpPr/>
            <p:nvPr/>
          </p:nvGrpSpPr>
          <p:grpSpPr>
            <a:xfrm rot="-5400000">
              <a:off x="1385" y="2983"/>
              <a:ext cx="158" cy="48"/>
              <a:chOff x="3459" y="1296"/>
              <a:chExt cx="243" cy="48"/>
            </a:xfrm>
          </p:grpSpPr>
          <p:sp>
            <p:nvSpPr>
              <p:cNvPr id="278865" name="Line 266"/>
              <p:cNvSpPr/>
              <p:nvPr/>
            </p:nvSpPr>
            <p:spPr>
              <a:xfrm>
                <a:off x="3459" y="1296"/>
                <a:ext cx="243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78866" name="Line 267"/>
              <p:cNvSpPr/>
              <p:nvPr/>
            </p:nvSpPr>
            <p:spPr>
              <a:xfrm>
                <a:off x="3504" y="1344"/>
                <a:ext cx="147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8749" name="Group 268"/>
          <p:cNvGrpSpPr/>
          <p:nvPr/>
        </p:nvGrpSpPr>
        <p:grpSpPr>
          <a:xfrm>
            <a:off x="3394076" y="1909763"/>
            <a:ext cx="6075362" cy="2339975"/>
            <a:chOff x="1178" y="1203"/>
            <a:chExt cx="3827" cy="1474"/>
          </a:xfrm>
        </p:grpSpPr>
        <p:sp>
          <p:nvSpPr>
            <p:cNvPr id="278854" name="Freeform 269"/>
            <p:cNvSpPr/>
            <p:nvPr/>
          </p:nvSpPr>
          <p:spPr>
            <a:xfrm>
              <a:off x="1422" y="1203"/>
              <a:ext cx="121" cy="1474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55" name="Text Box 270"/>
            <p:cNvSpPr txBox="1"/>
            <p:nvPr/>
          </p:nvSpPr>
          <p:spPr>
            <a:xfrm rot="5400000">
              <a:off x="1176" y="1625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856" name="Freeform 271"/>
            <p:cNvSpPr/>
            <p:nvPr/>
          </p:nvSpPr>
          <p:spPr>
            <a:xfrm>
              <a:off x="2556" y="1205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57" name="Text Box 272"/>
            <p:cNvSpPr txBox="1"/>
            <p:nvPr/>
          </p:nvSpPr>
          <p:spPr>
            <a:xfrm rot="5400000">
              <a:off x="2329" y="1625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858" name="Freeform 273"/>
            <p:cNvSpPr/>
            <p:nvPr/>
          </p:nvSpPr>
          <p:spPr>
            <a:xfrm>
              <a:off x="3711" y="1206"/>
              <a:ext cx="151" cy="1471"/>
            </a:xfrm>
            <a:custGeom>
              <a:avLst/>
              <a:gdLst>
                <a:gd name="txL" fmla="*/ 0 w 151"/>
                <a:gd name="txT" fmla="*/ 0 h 1471"/>
                <a:gd name="txR" fmla="*/ 151 w 151"/>
                <a:gd name="txB" fmla="*/ 1471 h 1471"/>
              </a:gdLst>
              <a:ahLst/>
              <a:cxnLst>
                <a:cxn ang="0">
                  <a:pos x="54" y="0"/>
                </a:cxn>
                <a:cxn ang="0">
                  <a:pos x="151" y="0"/>
                </a:cxn>
                <a:cxn ang="0">
                  <a:pos x="150" y="1471"/>
                </a:cxn>
                <a:cxn ang="0">
                  <a:pos x="0" y="1470"/>
                </a:cxn>
              </a:cxnLst>
              <a:rect l="txL" t="txT" r="txR" b="txB"/>
              <a:pathLst>
                <a:path w="151" h="1471">
                  <a:moveTo>
                    <a:pt x="54" y="0"/>
                  </a:moveTo>
                  <a:lnTo>
                    <a:pt x="151" y="0"/>
                  </a:lnTo>
                  <a:lnTo>
                    <a:pt x="150" y="1471"/>
                  </a:lnTo>
                  <a:lnTo>
                    <a:pt x="0" y="147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59" name="Text Box 274"/>
            <p:cNvSpPr txBox="1"/>
            <p:nvPr/>
          </p:nvSpPr>
          <p:spPr>
            <a:xfrm rot="5400000">
              <a:off x="3475" y="160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860" name="Freeform 275"/>
            <p:cNvSpPr/>
            <p:nvPr/>
          </p:nvSpPr>
          <p:spPr>
            <a:xfrm>
              <a:off x="4860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42" y="1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42" y="1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61" name="Text Box 276"/>
            <p:cNvSpPr txBox="1"/>
            <p:nvPr/>
          </p:nvSpPr>
          <p:spPr>
            <a:xfrm rot="5400000">
              <a:off x="4630" y="1612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8750" name="Group 277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78837" name="Line 278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8838" name="Freeform 279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39" name="Line 280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8840" name="Freeform 281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41" name="Line 282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8842" name="Text Box 283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8843" name="Text Box 284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8844" name="Text Box 285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8845" name="Text Box 286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8846" name="Line 287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8847" name="Line 288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8848" name="Line 289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8849" name="Line 290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8850" name="Line 291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8851" name="Line 292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8852" name="Line 293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8853" name="Line 294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15335" name="Rectangle 29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8752" name="Text Box 296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读</a:t>
            </a:r>
            <a:endParaRPr lang="zh-CN" altLang="en-US" sz="3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8753" name="Group 297"/>
          <p:cNvGrpSpPr/>
          <p:nvPr/>
        </p:nvGrpSpPr>
        <p:grpSpPr>
          <a:xfrm>
            <a:off x="2955925" y="1360488"/>
            <a:ext cx="7250113" cy="663575"/>
            <a:chOff x="902" y="857"/>
            <a:chExt cx="4567" cy="418"/>
          </a:xfrm>
        </p:grpSpPr>
        <p:grpSp>
          <p:nvGrpSpPr>
            <p:cNvPr id="278813" name="Group 298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78818" name="Group 299"/>
              <p:cNvGrpSpPr/>
              <p:nvPr/>
            </p:nvGrpSpPr>
            <p:grpSpPr>
              <a:xfrm>
                <a:off x="1152" y="1024"/>
                <a:ext cx="4317" cy="251"/>
                <a:chOff x="1176" y="1079"/>
                <a:chExt cx="4317" cy="251"/>
              </a:xfrm>
            </p:grpSpPr>
            <p:sp>
              <p:nvSpPr>
                <p:cNvPr id="278829" name="Rectangle 300"/>
                <p:cNvSpPr/>
                <p:nvPr/>
              </p:nvSpPr>
              <p:spPr>
                <a:xfrm>
                  <a:off x="175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15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8830" name="Rectangle 301"/>
                <p:cNvSpPr/>
                <p:nvPr/>
              </p:nvSpPr>
              <p:spPr>
                <a:xfrm>
                  <a:off x="117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8831" name="Rectangle 302"/>
                <p:cNvSpPr/>
                <p:nvPr/>
              </p:nvSpPr>
              <p:spPr>
                <a:xfrm>
                  <a:off x="289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31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8832" name="Rectangle 303"/>
                <p:cNvSpPr/>
                <p:nvPr/>
              </p:nvSpPr>
              <p:spPr>
                <a:xfrm>
                  <a:off x="231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8833" name="Rectangle 304"/>
                <p:cNvSpPr/>
                <p:nvPr/>
              </p:nvSpPr>
              <p:spPr>
                <a:xfrm>
                  <a:off x="4067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47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8834" name="Rectangle 305"/>
                <p:cNvSpPr/>
                <p:nvPr/>
              </p:nvSpPr>
              <p:spPr>
                <a:xfrm>
                  <a:off x="3491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8835" name="Rectangle 306"/>
                <p:cNvSpPr/>
                <p:nvPr/>
              </p:nvSpPr>
              <p:spPr>
                <a:xfrm>
                  <a:off x="5205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63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8836" name="Rectangle 307"/>
                <p:cNvSpPr/>
                <p:nvPr/>
              </p:nvSpPr>
              <p:spPr>
                <a:xfrm>
                  <a:off x="462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48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78819" name="Group 308"/>
              <p:cNvGrpSpPr/>
              <p:nvPr/>
            </p:nvGrpSpPr>
            <p:grpSpPr>
              <a:xfrm>
                <a:off x="902" y="857"/>
                <a:ext cx="4419" cy="145"/>
                <a:chOff x="902" y="857"/>
                <a:chExt cx="4419" cy="145"/>
              </a:xfrm>
            </p:grpSpPr>
            <p:sp>
              <p:nvSpPr>
                <p:cNvPr id="278820" name="Freeform 309"/>
                <p:cNvSpPr/>
                <p:nvPr/>
              </p:nvSpPr>
              <p:spPr>
                <a:xfrm>
                  <a:off x="902" y="857"/>
                  <a:ext cx="4419" cy="1"/>
                </a:xfrm>
                <a:custGeom>
                  <a:avLst/>
                  <a:gdLst>
                    <a:gd name="txL" fmla="*/ 0 w 4419"/>
                    <a:gd name="txT" fmla="*/ 0 h 1"/>
                    <a:gd name="txR" fmla="*/ 4419 w 4419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9" y="0"/>
                    </a:cxn>
                  </a:cxnLst>
                  <a:rect l="txL" t="txT" r="txR" b="txB"/>
                  <a:pathLst>
                    <a:path w="4419" h="1">
                      <a:moveTo>
                        <a:pt x="0" y="1"/>
                      </a:moveTo>
                      <a:lnTo>
                        <a:pt x="4419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8821" name="Line 310"/>
                <p:cNvSpPr/>
                <p:nvPr/>
              </p:nvSpPr>
              <p:spPr>
                <a:xfrm>
                  <a:off x="127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8822" name="Line 311"/>
                <p:cNvSpPr/>
                <p:nvPr/>
              </p:nvSpPr>
              <p:spPr>
                <a:xfrm>
                  <a:off x="184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8823" name="Line 312"/>
                <p:cNvSpPr/>
                <p:nvPr/>
              </p:nvSpPr>
              <p:spPr>
                <a:xfrm>
                  <a:off x="242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8824" name="Line 313"/>
                <p:cNvSpPr/>
                <p:nvPr/>
              </p:nvSpPr>
              <p:spPr>
                <a:xfrm>
                  <a:off x="3000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8825" name="Line 314"/>
                <p:cNvSpPr/>
                <p:nvPr/>
              </p:nvSpPr>
              <p:spPr>
                <a:xfrm>
                  <a:off x="3576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8826" name="Line 315"/>
                <p:cNvSpPr/>
                <p:nvPr/>
              </p:nvSpPr>
              <p:spPr>
                <a:xfrm>
                  <a:off x="415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8827" name="Line 316"/>
                <p:cNvSpPr/>
                <p:nvPr/>
              </p:nvSpPr>
              <p:spPr>
                <a:xfrm>
                  <a:off x="472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8828" name="Line 317"/>
                <p:cNvSpPr/>
                <p:nvPr/>
              </p:nvSpPr>
              <p:spPr>
                <a:xfrm>
                  <a:off x="530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</p:grpSp>
        </p:grpSp>
        <p:sp>
          <p:nvSpPr>
            <p:cNvPr id="278814" name="Text Box 318"/>
            <p:cNvSpPr txBox="1"/>
            <p:nvPr/>
          </p:nvSpPr>
          <p:spPr>
            <a:xfrm>
              <a:off x="140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815" name="Text Box 319"/>
            <p:cNvSpPr txBox="1"/>
            <p:nvPr/>
          </p:nvSpPr>
          <p:spPr>
            <a:xfrm>
              <a:off x="254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816" name="Text Box 320"/>
            <p:cNvSpPr txBox="1"/>
            <p:nvPr/>
          </p:nvSpPr>
          <p:spPr>
            <a:xfrm>
              <a:off x="371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817" name="Text Box 321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8754" name="Rectangle 322"/>
          <p:cNvSpPr/>
          <p:nvPr/>
        </p:nvSpPr>
        <p:spPr>
          <a:xfrm>
            <a:off x="3352800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55" name="Rectangle 323"/>
          <p:cNvSpPr/>
          <p:nvPr/>
        </p:nvSpPr>
        <p:spPr>
          <a:xfrm>
            <a:off x="5162550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16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56" name="Rectangle 324"/>
          <p:cNvSpPr/>
          <p:nvPr/>
        </p:nvSpPr>
        <p:spPr>
          <a:xfrm>
            <a:off x="7027863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32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757" name="Rectangle 325"/>
          <p:cNvSpPr/>
          <p:nvPr/>
        </p:nvSpPr>
        <p:spPr>
          <a:xfrm>
            <a:off x="8829675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48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" name="Group 326"/>
          <p:cNvGrpSpPr/>
          <p:nvPr/>
        </p:nvGrpSpPr>
        <p:grpSpPr>
          <a:xfrm>
            <a:off x="3752850" y="4351338"/>
            <a:ext cx="6173788" cy="1295400"/>
            <a:chOff x="1428" y="2784"/>
            <a:chExt cx="3889" cy="816"/>
          </a:xfrm>
        </p:grpSpPr>
        <p:sp>
          <p:nvSpPr>
            <p:cNvPr id="278809" name="Freeform 327"/>
            <p:cNvSpPr/>
            <p:nvPr/>
          </p:nvSpPr>
          <p:spPr>
            <a:xfrm>
              <a:off x="1428" y="2784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10" name="Freeform 328"/>
            <p:cNvSpPr/>
            <p:nvPr/>
          </p:nvSpPr>
          <p:spPr>
            <a:xfrm>
              <a:off x="4885" y="2784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11" name="Freeform 329"/>
            <p:cNvSpPr/>
            <p:nvPr/>
          </p:nvSpPr>
          <p:spPr>
            <a:xfrm>
              <a:off x="3733" y="2784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8812" name="Freeform 330"/>
            <p:cNvSpPr/>
            <p:nvPr/>
          </p:nvSpPr>
          <p:spPr>
            <a:xfrm>
              <a:off x="2579" y="2784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78759" name="Group 331"/>
          <p:cNvGrpSpPr/>
          <p:nvPr/>
        </p:nvGrpSpPr>
        <p:grpSpPr>
          <a:xfrm>
            <a:off x="2976563" y="2617788"/>
            <a:ext cx="6613525" cy="1963737"/>
            <a:chOff x="915" y="1649"/>
            <a:chExt cx="4166" cy="1237"/>
          </a:xfrm>
        </p:grpSpPr>
        <p:grpSp>
          <p:nvGrpSpPr>
            <p:cNvPr id="278762" name="Group 332"/>
            <p:cNvGrpSpPr/>
            <p:nvPr/>
          </p:nvGrpSpPr>
          <p:grpSpPr>
            <a:xfrm>
              <a:off x="915" y="2633"/>
              <a:ext cx="3945" cy="253"/>
              <a:chOff x="915" y="2633"/>
              <a:chExt cx="3945" cy="253"/>
            </a:xfrm>
          </p:grpSpPr>
          <p:grpSp>
            <p:nvGrpSpPr>
              <p:cNvPr id="278771" name="Group 333"/>
              <p:cNvGrpSpPr/>
              <p:nvPr/>
            </p:nvGrpSpPr>
            <p:grpSpPr>
              <a:xfrm>
                <a:off x="915" y="2696"/>
                <a:ext cx="3858" cy="190"/>
                <a:chOff x="915" y="2696"/>
                <a:chExt cx="3858" cy="190"/>
              </a:xfrm>
            </p:grpSpPr>
            <p:sp>
              <p:nvSpPr>
                <p:cNvPr id="278804" name="Freeform 334"/>
                <p:cNvSpPr/>
                <p:nvPr/>
              </p:nvSpPr>
              <p:spPr>
                <a:xfrm>
                  <a:off x="1304" y="2707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8805" name="Freeform 335"/>
                <p:cNvSpPr/>
                <p:nvPr/>
              </p:nvSpPr>
              <p:spPr>
                <a:xfrm>
                  <a:off x="2457" y="2710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8806" name="Freeform 336"/>
                <p:cNvSpPr/>
                <p:nvPr/>
              </p:nvSpPr>
              <p:spPr>
                <a:xfrm>
                  <a:off x="3609" y="2710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8807" name="Freeform 337"/>
                <p:cNvSpPr/>
                <p:nvPr/>
              </p:nvSpPr>
              <p:spPr>
                <a:xfrm>
                  <a:off x="4761" y="2696"/>
                  <a:ext cx="1" cy="178"/>
                </a:xfrm>
                <a:custGeom>
                  <a:avLst/>
                  <a:gdLst>
                    <a:gd name="txL" fmla="*/ 0 w 1"/>
                    <a:gd name="txT" fmla="*/ 0 h 178"/>
                    <a:gd name="txR" fmla="*/ 1 w 1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0" y="178"/>
                    </a:cxn>
                  </a:cxnLst>
                  <a:rect l="txL" t="txT" r="txR" b="txB"/>
                  <a:pathLst>
                    <a:path w="1" h="178">
                      <a:moveTo>
                        <a:pt x="0" y="0"/>
                      </a:moveTo>
                      <a:lnTo>
                        <a:pt x="0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8808" name="Freeform 338"/>
                <p:cNvSpPr/>
                <p:nvPr/>
              </p:nvSpPr>
              <p:spPr>
                <a:xfrm>
                  <a:off x="915" y="2865"/>
                  <a:ext cx="3858" cy="2"/>
                </a:xfrm>
                <a:custGeom>
                  <a:avLst/>
                  <a:gdLst>
                    <a:gd name="txL" fmla="*/ 0 w 3858"/>
                    <a:gd name="txT" fmla="*/ 0 h 2"/>
                    <a:gd name="txR" fmla="*/ 3858 w 3858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3858" y="0"/>
                    </a:cxn>
                  </a:cxnLst>
                  <a:rect l="txL" t="txT" r="txR" b="txB"/>
                  <a:pathLst>
                    <a:path w="3858" h="2">
                      <a:moveTo>
                        <a:pt x="0" y="2"/>
                      </a:moveTo>
                      <a:lnTo>
                        <a:pt x="385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78772" name="Group 339"/>
              <p:cNvGrpSpPr/>
              <p:nvPr/>
            </p:nvGrpSpPr>
            <p:grpSpPr>
              <a:xfrm>
                <a:off x="1213" y="2633"/>
                <a:ext cx="192" cy="158"/>
                <a:chOff x="1440" y="2928"/>
                <a:chExt cx="192" cy="158"/>
              </a:xfrm>
            </p:grpSpPr>
            <p:grpSp>
              <p:nvGrpSpPr>
                <p:cNvPr id="278797" name="Group 340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8802" name="Line 34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8803" name="Line 34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8798" name="Freeform 343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8799" name="Group 344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8800" name="Line 34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8801" name="Line 34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78773" name="Group 347"/>
              <p:cNvGrpSpPr/>
              <p:nvPr/>
            </p:nvGrpSpPr>
            <p:grpSpPr>
              <a:xfrm>
                <a:off x="2365" y="2635"/>
                <a:ext cx="192" cy="158"/>
                <a:chOff x="1440" y="2928"/>
                <a:chExt cx="192" cy="158"/>
              </a:xfrm>
            </p:grpSpPr>
            <p:grpSp>
              <p:nvGrpSpPr>
                <p:cNvPr id="278790" name="Group 348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8795" name="Line 34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8796" name="Line 35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8791" name="Freeform 351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8792" name="Group 352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8793" name="Line 353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8794" name="Line 354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78774" name="Group 355"/>
              <p:cNvGrpSpPr/>
              <p:nvPr/>
            </p:nvGrpSpPr>
            <p:grpSpPr>
              <a:xfrm>
                <a:off x="3517" y="2635"/>
                <a:ext cx="192" cy="158"/>
                <a:chOff x="1440" y="2928"/>
                <a:chExt cx="192" cy="158"/>
              </a:xfrm>
            </p:grpSpPr>
            <p:grpSp>
              <p:nvGrpSpPr>
                <p:cNvPr id="278783" name="Group 356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8788" name="Line 35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8789" name="Line 35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8784" name="Freeform 359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8785" name="Group 360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8786" name="Line 36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8787" name="Line 36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78775" name="Group 363"/>
              <p:cNvGrpSpPr/>
              <p:nvPr/>
            </p:nvGrpSpPr>
            <p:grpSpPr>
              <a:xfrm>
                <a:off x="4668" y="2635"/>
                <a:ext cx="192" cy="158"/>
                <a:chOff x="1440" y="2928"/>
                <a:chExt cx="192" cy="158"/>
              </a:xfrm>
            </p:grpSpPr>
            <p:grpSp>
              <p:nvGrpSpPr>
                <p:cNvPr id="278776" name="Group 364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8781" name="Line 36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8782" name="Line 36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8777" name="Freeform 367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8778" name="Group 368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8779" name="Line 36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8780" name="Line 37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78763" name="Rectangle 371"/>
            <p:cNvSpPr/>
            <p:nvPr/>
          </p:nvSpPr>
          <p:spPr>
            <a:xfrm>
              <a:off x="1152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764" name="Text Box 372"/>
            <p:cNvSpPr txBox="1"/>
            <p:nvPr/>
          </p:nvSpPr>
          <p:spPr>
            <a:xfrm>
              <a:off x="1150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765" name="Rectangle 373"/>
            <p:cNvSpPr/>
            <p:nvPr/>
          </p:nvSpPr>
          <p:spPr>
            <a:xfrm>
              <a:off x="2293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766" name="Rectangle 374"/>
            <p:cNvSpPr/>
            <p:nvPr/>
          </p:nvSpPr>
          <p:spPr>
            <a:xfrm>
              <a:off x="4604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767" name="Rectangle 375"/>
            <p:cNvSpPr/>
            <p:nvPr/>
          </p:nvSpPr>
          <p:spPr>
            <a:xfrm>
              <a:off x="3466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768" name="Text Box 376"/>
            <p:cNvSpPr txBox="1"/>
            <p:nvPr/>
          </p:nvSpPr>
          <p:spPr>
            <a:xfrm>
              <a:off x="2314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769" name="Text Box 377"/>
            <p:cNvSpPr txBox="1"/>
            <p:nvPr/>
          </p:nvSpPr>
          <p:spPr>
            <a:xfrm>
              <a:off x="3462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8770" name="Text Box 378"/>
            <p:cNvSpPr txBox="1"/>
            <p:nvPr/>
          </p:nvSpPr>
          <p:spPr>
            <a:xfrm>
              <a:off x="4617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8760" name="AutoShape 37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876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79554" name="Group 2"/>
          <p:cNvGrpSpPr/>
          <p:nvPr/>
        </p:nvGrpSpPr>
        <p:grpSpPr>
          <a:xfrm>
            <a:off x="1746250" y="1255713"/>
            <a:ext cx="8918575" cy="5532438"/>
            <a:chOff x="140" y="791"/>
            <a:chExt cx="5618" cy="3485"/>
          </a:xfrm>
        </p:grpSpPr>
        <p:sp>
          <p:nvSpPr>
            <p:cNvPr id="279731" name="Rectangle 3"/>
            <p:cNvSpPr/>
            <p:nvPr/>
          </p:nvSpPr>
          <p:spPr>
            <a:xfrm>
              <a:off x="332" y="2181"/>
              <a:ext cx="576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32" name="Rectangle 4"/>
            <p:cNvSpPr/>
            <p:nvPr/>
          </p:nvSpPr>
          <p:spPr>
            <a:xfrm>
              <a:off x="1728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33" name="Text Box 5"/>
            <p:cNvSpPr txBox="1"/>
            <p:nvPr/>
          </p:nvSpPr>
          <p:spPr>
            <a:xfrm>
              <a:off x="140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34" name="Rectangle 6"/>
            <p:cNvSpPr/>
            <p:nvPr/>
          </p:nvSpPr>
          <p:spPr>
            <a:xfrm>
              <a:off x="1152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35" name="Rectangle 7"/>
            <p:cNvSpPr/>
            <p:nvPr/>
          </p:nvSpPr>
          <p:spPr>
            <a:xfrm>
              <a:off x="2869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36" name="Text Box 8"/>
            <p:cNvSpPr txBox="1"/>
            <p:nvPr/>
          </p:nvSpPr>
          <p:spPr>
            <a:xfrm>
              <a:off x="2549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37" name="Rectangle 9"/>
            <p:cNvSpPr/>
            <p:nvPr/>
          </p:nvSpPr>
          <p:spPr>
            <a:xfrm>
              <a:off x="2293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38" name="Rectangle 10"/>
            <p:cNvSpPr/>
            <p:nvPr/>
          </p:nvSpPr>
          <p:spPr>
            <a:xfrm>
              <a:off x="4044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39" name="Text Box 11"/>
            <p:cNvSpPr txBox="1"/>
            <p:nvPr/>
          </p:nvSpPr>
          <p:spPr>
            <a:xfrm>
              <a:off x="3724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40" name="Rectangle 12"/>
            <p:cNvSpPr/>
            <p:nvPr/>
          </p:nvSpPr>
          <p:spPr>
            <a:xfrm>
              <a:off x="3468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41" name="Rectangle 13"/>
            <p:cNvSpPr/>
            <p:nvPr/>
          </p:nvSpPr>
          <p:spPr>
            <a:xfrm>
              <a:off x="5180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42" name="Text Box 14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43" name="Rectangle 15"/>
            <p:cNvSpPr/>
            <p:nvPr/>
          </p:nvSpPr>
          <p:spPr>
            <a:xfrm>
              <a:off x="4604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44" name="Rectangle 16"/>
            <p:cNvSpPr/>
            <p:nvPr/>
          </p:nvSpPr>
          <p:spPr>
            <a:xfrm>
              <a:off x="1728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45" name="Rectangle 17"/>
            <p:cNvSpPr/>
            <p:nvPr/>
          </p:nvSpPr>
          <p:spPr>
            <a:xfrm>
              <a:off x="1152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46" name="Rectangle 18"/>
            <p:cNvSpPr/>
            <p:nvPr/>
          </p:nvSpPr>
          <p:spPr>
            <a:xfrm>
              <a:off x="2869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47" name="Rectangle 19"/>
            <p:cNvSpPr/>
            <p:nvPr/>
          </p:nvSpPr>
          <p:spPr>
            <a:xfrm>
              <a:off x="2293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48" name="Rectangle 20"/>
            <p:cNvSpPr/>
            <p:nvPr/>
          </p:nvSpPr>
          <p:spPr>
            <a:xfrm>
              <a:off x="4044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49" name="Rectangle 21"/>
            <p:cNvSpPr/>
            <p:nvPr/>
          </p:nvSpPr>
          <p:spPr>
            <a:xfrm>
              <a:off x="3468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50" name="Rectangle 22"/>
            <p:cNvSpPr/>
            <p:nvPr/>
          </p:nvSpPr>
          <p:spPr>
            <a:xfrm>
              <a:off x="5180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51" name="Rectangle 23"/>
            <p:cNvSpPr/>
            <p:nvPr/>
          </p:nvSpPr>
          <p:spPr>
            <a:xfrm>
              <a:off x="4604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752" name="Line 24"/>
            <p:cNvSpPr/>
            <p:nvPr/>
          </p:nvSpPr>
          <p:spPr>
            <a:xfrm rot="5400000">
              <a:off x="1325" y="2712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53" name="Line 25"/>
            <p:cNvSpPr/>
            <p:nvPr/>
          </p:nvSpPr>
          <p:spPr>
            <a:xfrm rot="5400000">
              <a:off x="1308" y="271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54" name="Freeform 26"/>
            <p:cNvSpPr/>
            <p:nvPr/>
          </p:nvSpPr>
          <p:spPr>
            <a:xfrm>
              <a:off x="1260" y="2709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55" name="Line 27"/>
            <p:cNvSpPr/>
            <p:nvPr/>
          </p:nvSpPr>
          <p:spPr>
            <a:xfrm rot="-5400000">
              <a:off x="1133" y="2712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56" name="Line 28"/>
            <p:cNvSpPr/>
            <p:nvPr/>
          </p:nvSpPr>
          <p:spPr>
            <a:xfrm rot="-5400000">
              <a:off x="1212" y="271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57" name="Freeform 29"/>
            <p:cNvSpPr/>
            <p:nvPr/>
          </p:nvSpPr>
          <p:spPr>
            <a:xfrm>
              <a:off x="1434" y="2353"/>
              <a:ext cx="112" cy="1"/>
            </a:xfrm>
            <a:custGeom>
              <a:avLst/>
              <a:gdLst>
                <a:gd name="txL" fmla="*/ 0 w 112"/>
                <a:gd name="txT" fmla="*/ 0 h 1"/>
                <a:gd name="txR" fmla="*/ 112 w 11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2" y="0"/>
                </a:cxn>
              </a:cxnLst>
              <a:rect l="txL" t="txT" r="txR" b="txB"/>
              <a:pathLst>
                <a:path w="112" h="1">
                  <a:moveTo>
                    <a:pt x="0" y="0"/>
                  </a:moveTo>
                  <a:lnTo>
                    <a:pt x="11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58" name="Freeform 30"/>
            <p:cNvSpPr/>
            <p:nvPr/>
          </p:nvSpPr>
          <p:spPr>
            <a:xfrm>
              <a:off x="1059" y="1209"/>
              <a:ext cx="152" cy="1469"/>
            </a:xfrm>
            <a:custGeom>
              <a:avLst/>
              <a:gdLst>
                <a:gd name="txL" fmla="*/ 0 w 152"/>
                <a:gd name="txT" fmla="*/ 0 h 1469"/>
                <a:gd name="txR" fmla="*/ 152 w 152"/>
                <a:gd name="txB" fmla="*/ 1469 h 1469"/>
              </a:gdLst>
              <a:ahLst/>
              <a:cxnLst>
                <a:cxn ang="0">
                  <a:pos x="152" y="1469"/>
                </a:cxn>
                <a:cxn ang="0">
                  <a:pos x="0" y="1469"/>
                </a:cxn>
                <a:cxn ang="0">
                  <a:pos x="0" y="0"/>
                </a:cxn>
                <a:cxn ang="0">
                  <a:pos x="95" y="1"/>
                </a:cxn>
              </a:cxnLst>
              <a:rect l="txL" t="txT" r="txR" b="txB"/>
              <a:pathLst>
                <a:path w="152" h="1469">
                  <a:moveTo>
                    <a:pt x="152" y="1469"/>
                  </a:moveTo>
                  <a:lnTo>
                    <a:pt x="0" y="1469"/>
                  </a:lnTo>
                  <a:lnTo>
                    <a:pt x="0" y="0"/>
                  </a:lnTo>
                  <a:lnTo>
                    <a:pt x="95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59" name="Freeform 31"/>
            <p:cNvSpPr/>
            <p:nvPr/>
          </p:nvSpPr>
          <p:spPr>
            <a:xfrm>
              <a:off x="1055" y="2353"/>
              <a:ext cx="102" cy="1"/>
            </a:xfrm>
            <a:custGeom>
              <a:avLst/>
              <a:gdLst>
                <a:gd name="txL" fmla="*/ 0 w 102"/>
                <a:gd name="txT" fmla="*/ 0 h 1"/>
                <a:gd name="txR" fmla="*/ 102 w 102"/>
                <a:gd name="txB" fmla="*/ 1 h 1"/>
              </a:gdLst>
              <a:ahLst/>
              <a:cxnLst>
                <a:cxn ang="0">
                  <a:pos x="102" y="0"/>
                </a:cxn>
                <a:cxn ang="0">
                  <a:pos x="0" y="0"/>
                </a:cxn>
              </a:cxnLst>
              <a:rect l="txL" t="txT" r="txR" b="txB"/>
              <a:pathLst>
                <a:path w="102" h="1">
                  <a:moveTo>
                    <a:pt x="102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60" name="Line 32"/>
            <p:cNvSpPr/>
            <p:nvPr/>
          </p:nvSpPr>
          <p:spPr>
            <a:xfrm rot="5400000">
              <a:off x="1896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61" name="Line 33"/>
            <p:cNvSpPr/>
            <p:nvPr/>
          </p:nvSpPr>
          <p:spPr>
            <a:xfrm rot="5400000">
              <a:off x="1879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62" name="Freeform 34"/>
            <p:cNvSpPr/>
            <p:nvPr/>
          </p:nvSpPr>
          <p:spPr>
            <a:xfrm>
              <a:off x="1831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63" name="Line 35"/>
            <p:cNvSpPr/>
            <p:nvPr/>
          </p:nvSpPr>
          <p:spPr>
            <a:xfrm rot="-5400000">
              <a:off x="1704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64" name="Line 36"/>
            <p:cNvSpPr/>
            <p:nvPr/>
          </p:nvSpPr>
          <p:spPr>
            <a:xfrm rot="-5400000">
              <a:off x="1783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65" name="Freeform 37"/>
            <p:cNvSpPr/>
            <p:nvPr/>
          </p:nvSpPr>
          <p:spPr>
            <a:xfrm>
              <a:off x="2005" y="2353"/>
              <a:ext cx="103" cy="1"/>
            </a:xfrm>
            <a:custGeom>
              <a:avLst/>
              <a:gdLst>
                <a:gd name="txL" fmla="*/ 0 w 103"/>
                <a:gd name="txT" fmla="*/ 0 h 1"/>
                <a:gd name="txR" fmla="*/ 103 w 10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3" y="0"/>
                </a:cxn>
              </a:cxnLst>
              <a:rect l="txL" t="txT" r="txR" b="txB"/>
              <a:pathLst>
                <a:path w="103" h="1">
                  <a:moveTo>
                    <a:pt x="0" y="0"/>
                  </a:moveTo>
                  <a:lnTo>
                    <a:pt x="10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66" name="Freeform 38"/>
            <p:cNvSpPr/>
            <p:nvPr/>
          </p:nvSpPr>
          <p:spPr>
            <a:xfrm>
              <a:off x="1611" y="2352"/>
              <a:ext cx="113" cy="1"/>
            </a:xfrm>
            <a:custGeom>
              <a:avLst/>
              <a:gdLst>
                <a:gd name="txL" fmla="*/ 0 w 113"/>
                <a:gd name="txT" fmla="*/ 0 h 1"/>
                <a:gd name="txR" fmla="*/ 113 w 113"/>
                <a:gd name="txB" fmla="*/ 1 h 1"/>
              </a:gdLst>
              <a:ahLst/>
              <a:cxnLst>
                <a:cxn ang="0">
                  <a:pos x="113" y="1"/>
                </a:cxn>
                <a:cxn ang="0">
                  <a:pos x="0" y="0"/>
                </a:cxn>
              </a:cxnLst>
              <a:rect l="txL" t="txT" r="txR" b="txB"/>
              <a:pathLst>
                <a:path w="113" h="1">
                  <a:moveTo>
                    <a:pt x="113" y="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67" name="Line 39"/>
            <p:cNvSpPr/>
            <p:nvPr/>
          </p:nvSpPr>
          <p:spPr>
            <a:xfrm rot="5400000">
              <a:off x="2477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68" name="Line 40"/>
            <p:cNvSpPr/>
            <p:nvPr/>
          </p:nvSpPr>
          <p:spPr>
            <a:xfrm rot="5400000">
              <a:off x="2460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69" name="Freeform 41"/>
            <p:cNvSpPr/>
            <p:nvPr/>
          </p:nvSpPr>
          <p:spPr>
            <a:xfrm>
              <a:off x="2412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70" name="Line 42"/>
            <p:cNvSpPr/>
            <p:nvPr/>
          </p:nvSpPr>
          <p:spPr>
            <a:xfrm rot="-5400000">
              <a:off x="2285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71" name="Line 43"/>
            <p:cNvSpPr/>
            <p:nvPr/>
          </p:nvSpPr>
          <p:spPr>
            <a:xfrm rot="-5400000">
              <a:off x="2364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72" name="Freeform 44"/>
            <p:cNvSpPr/>
            <p:nvPr/>
          </p:nvSpPr>
          <p:spPr>
            <a:xfrm>
              <a:off x="2586" y="2353"/>
              <a:ext cx="109" cy="1"/>
            </a:xfrm>
            <a:custGeom>
              <a:avLst/>
              <a:gdLst>
                <a:gd name="txL" fmla="*/ 0 w 109"/>
                <a:gd name="txT" fmla="*/ 0 h 1"/>
                <a:gd name="txR" fmla="*/ 109 w 10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9" y="0"/>
                </a:cxn>
              </a:cxnLst>
              <a:rect l="txL" t="txT" r="txR" b="txB"/>
              <a:pathLst>
                <a:path w="109" h="1">
                  <a:moveTo>
                    <a:pt x="0" y="0"/>
                  </a:moveTo>
                  <a:lnTo>
                    <a:pt x="10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73" name="Freeform 45"/>
            <p:cNvSpPr/>
            <p:nvPr/>
          </p:nvSpPr>
          <p:spPr>
            <a:xfrm>
              <a:off x="2207" y="2353"/>
              <a:ext cx="89" cy="1"/>
            </a:xfrm>
            <a:custGeom>
              <a:avLst/>
              <a:gdLst>
                <a:gd name="txL" fmla="*/ 0 w 89"/>
                <a:gd name="txT" fmla="*/ 0 h 1"/>
                <a:gd name="txR" fmla="*/ 89 w 89"/>
                <a:gd name="txB" fmla="*/ 1 h 1"/>
              </a:gdLst>
              <a:ahLst/>
              <a:cxnLst>
                <a:cxn ang="0">
                  <a:pos x="89" y="0"/>
                </a:cxn>
                <a:cxn ang="0">
                  <a:pos x="0" y="0"/>
                </a:cxn>
              </a:cxnLst>
              <a:rect l="txL" t="txT" r="txR" b="txB"/>
              <a:pathLst>
                <a:path w="89" h="1">
                  <a:moveTo>
                    <a:pt x="89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74" name="Line 46"/>
            <p:cNvSpPr/>
            <p:nvPr/>
          </p:nvSpPr>
          <p:spPr>
            <a:xfrm rot="5400000">
              <a:off x="3053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75" name="Line 47"/>
            <p:cNvSpPr/>
            <p:nvPr/>
          </p:nvSpPr>
          <p:spPr>
            <a:xfrm rot="5400000">
              <a:off x="3036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76" name="Freeform 48"/>
            <p:cNvSpPr/>
            <p:nvPr/>
          </p:nvSpPr>
          <p:spPr>
            <a:xfrm>
              <a:off x="2988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77" name="Line 49"/>
            <p:cNvSpPr/>
            <p:nvPr/>
          </p:nvSpPr>
          <p:spPr>
            <a:xfrm rot="-5400000">
              <a:off x="2861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78" name="Line 50"/>
            <p:cNvSpPr/>
            <p:nvPr/>
          </p:nvSpPr>
          <p:spPr>
            <a:xfrm rot="-5400000">
              <a:off x="2940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79" name="Freeform 51"/>
            <p:cNvSpPr/>
            <p:nvPr/>
          </p:nvSpPr>
          <p:spPr>
            <a:xfrm>
              <a:off x="3162" y="2353"/>
              <a:ext cx="115" cy="1"/>
            </a:xfrm>
            <a:custGeom>
              <a:avLst/>
              <a:gdLst>
                <a:gd name="txL" fmla="*/ 0 w 115"/>
                <a:gd name="txT" fmla="*/ 0 h 1"/>
                <a:gd name="txR" fmla="*/ 115 w 11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5" y="0"/>
                </a:cxn>
              </a:cxnLst>
              <a:rect l="txL" t="txT" r="txR" b="txB"/>
              <a:pathLst>
                <a:path w="115" h="1">
                  <a:moveTo>
                    <a:pt x="0" y="0"/>
                  </a:moveTo>
                  <a:lnTo>
                    <a:pt x="11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80" name="Freeform 52"/>
            <p:cNvSpPr/>
            <p:nvPr/>
          </p:nvSpPr>
          <p:spPr>
            <a:xfrm>
              <a:off x="2783" y="2353"/>
              <a:ext cx="90" cy="1"/>
            </a:xfrm>
            <a:custGeom>
              <a:avLst/>
              <a:gdLst>
                <a:gd name="txL" fmla="*/ 0 w 90"/>
                <a:gd name="txT" fmla="*/ 0 h 1"/>
                <a:gd name="txR" fmla="*/ 90 w 90"/>
                <a:gd name="txB" fmla="*/ 1 h 1"/>
              </a:gdLst>
              <a:ahLst/>
              <a:cxnLst>
                <a:cxn ang="0">
                  <a:pos x="90" y="0"/>
                </a:cxn>
                <a:cxn ang="0">
                  <a:pos x="0" y="0"/>
                </a:cxn>
              </a:cxnLst>
              <a:rect l="txL" t="txT" r="txR" b="txB"/>
              <a:pathLst>
                <a:path w="90" h="1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81" name="Line 53"/>
            <p:cNvSpPr/>
            <p:nvPr/>
          </p:nvSpPr>
          <p:spPr>
            <a:xfrm rot="5400000">
              <a:off x="3629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82" name="Line 54"/>
            <p:cNvSpPr/>
            <p:nvPr/>
          </p:nvSpPr>
          <p:spPr>
            <a:xfrm rot="5400000">
              <a:off x="3612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83" name="Freeform 55"/>
            <p:cNvSpPr/>
            <p:nvPr/>
          </p:nvSpPr>
          <p:spPr>
            <a:xfrm>
              <a:off x="3564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84" name="Line 56"/>
            <p:cNvSpPr/>
            <p:nvPr/>
          </p:nvSpPr>
          <p:spPr>
            <a:xfrm rot="-5400000">
              <a:off x="3437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85" name="Line 57"/>
            <p:cNvSpPr/>
            <p:nvPr/>
          </p:nvSpPr>
          <p:spPr>
            <a:xfrm rot="-5400000">
              <a:off x="3516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86" name="Freeform 58"/>
            <p:cNvSpPr/>
            <p:nvPr/>
          </p:nvSpPr>
          <p:spPr>
            <a:xfrm>
              <a:off x="3751" y="2352"/>
              <a:ext cx="100" cy="1"/>
            </a:xfrm>
            <a:custGeom>
              <a:avLst/>
              <a:gdLst>
                <a:gd name="txL" fmla="*/ 0 w 100"/>
                <a:gd name="txT" fmla="*/ 0 h 1"/>
                <a:gd name="txR" fmla="*/ 100 w 10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0" y="1"/>
                </a:cxn>
              </a:cxnLst>
              <a:rect l="txL" t="txT" r="txR" b="txB"/>
              <a:pathLst>
                <a:path w="100" h="1">
                  <a:moveTo>
                    <a:pt x="0" y="0"/>
                  </a:moveTo>
                  <a:lnTo>
                    <a:pt x="10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87" name="Freeform 59"/>
            <p:cNvSpPr/>
            <p:nvPr/>
          </p:nvSpPr>
          <p:spPr>
            <a:xfrm>
              <a:off x="3359" y="2353"/>
              <a:ext cx="108" cy="1"/>
            </a:xfrm>
            <a:custGeom>
              <a:avLst/>
              <a:gdLst>
                <a:gd name="txL" fmla="*/ 0 w 108"/>
                <a:gd name="txT" fmla="*/ 0 h 1"/>
                <a:gd name="txR" fmla="*/ 108 w 108"/>
                <a:gd name="txB" fmla="*/ 1 h 1"/>
              </a:gdLst>
              <a:ahLst/>
              <a:cxnLst>
                <a:cxn ang="0">
                  <a:pos x="108" y="0"/>
                </a:cxn>
                <a:cxn ang="0">
                  <a:pos x="0" y="0"/>
                </a:cxn>
              </a:cxnLst>
              <a:rect l="txL" t="txT" r="txR" b="txB"/>
              <a:pathLst>
                <a:path w="108" h="1">
                  <a:moveTo>
                    <a:pt x="108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88" name="Line 60"/>
            <p:cNvSpPr/>
            <p:nvPr/>
          </p:nvSpPr>
          <p:spPr>
            <a:xfrm rot="5400000">
              <a:off x="4205" y="2698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89" name="Line 61"/>
            <p:cNvSpPr/>
            <p:nvPr/>
          </p:nvSpPr>
          <p:spPr>
            <a:xfrm rot="5400000">
              <a:off x="4188" y="26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90" name="Freeform 62"/>
            <p:cNvSpPr/>
            <p:nvPr/>
          </p:nvSpPr>
          <p:spPr>
            <a:xfrm>
              <a:off x="4140" y="2695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91" name="Line 63"/>
            <p:cNvSpPr/>
            <p:nvPr/>
          </p:nvSpPr>
          <p:spPr>
            <a:xfrm rot="-5400000">
              <a:off x="4013" y="2698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92" name="Line 64"/>
            <p:cNvSpPr/>
            <p:nvPr/>
          </p:nvSpPr>
          <p:spPr>
            <a:xfrm rot="-5400000">
              <a:off x="4092" y="270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793" name="Freeform 65"/>
            <p:cNvSpPr/>
            <p:nvPr/>
          </p:nvSpPr>
          <p:spPr>
            <a:xfrm>
              <a:off x="4336" y="2351"/>
              <a:ext cx="90" cy="2"/>
            </a:xfrm>
            <a:custGeom>
              <a:avLst/>
              <a:gdLst>
                <a:gd name="txL" fmla="*/ 0 w 90"/>
                <a:gd name="txT" fmla="*/ 0 h 2"/>
                <a:gd name="txR" fmla="*/ 90 w 90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90" y="2"/>
                </a:cxn>
              </a:cxnLst>
              <a:rect l="txL" t="txT" r="txR" b="txB"/>
              <a:pathLst>
                <a:path w="90" h="2">
                  <a:moveTo>
                    <a:pt x="0" y="0"/>
                  </a:moveTo>
                  <a:lnTo>
                    <a:pt x="90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94" name="Freeform 66"/>
            <p:cNvSpPr/>
            <p:nvPr/>
          </p:nvSpPr>
          <p:spPr>
            <a:xfrm>
              <a:off x="3935" y="2353"/>
              <a:ext cx="104" cy="1"/>
            </a:xfrm>
            <a:custGeom>
              <a:avLst/>
              <a:gdLst>
                <a:gd name="txL" fmla="*/ 0 w 104"/>
                <a:gd name="txT" fmla="*/ 0 h 1"/>
                <a:gd name="txR" fmla="*/ 104 w 104"/>
                <a:gd name="txB" fmla="*/ 1 h 1"/>
              </a:gdLst>
              <a:ahLst/>
              <a:cxnLst>
                <a:cxn ang="0">
                  <a:pos x="104" y="0"/>
                </a:cxn>
                <a:cxn ang="0">
                  <a:pos x="0" y="0"/>
                </a:cxn>
              </a:cxnLst>
              <a:rect l="txL" t="txT" r="txR" b="txB"/>
              <a:pathLst>
                <a:path w="104" h="1">
                  <a:moveTo>
                    <a:pt x="104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9795" name="Group 67"/>
            <p:cNvGrpSpPr/>
            <p:nvPr/>
          </p:nvGrpSpPr>
          <p:grpSpPr>
            <a:xfrm>
              <a:off x="4668" y="2634"/>
              <a:ext cx="192" cy="158"/>
              <a:chOff x="4692" y="2634"/>
              <a:chExt cx="192" cy="158"/>
            </a:xfrm>
          </p:grpSpPr>
          <p:grpSp>
            <p:nvGrpSpPr>
              <p:cNvPr id="279942" name="Group 68"/>
              <p:cNvGrpSpPr/>
              <p:nvPr/>
            </p:nvGrpSpPr>
            <p:grpSpPr>
              <a:xfrm>
                <a:off x="4836" y="2634"/>
                <a:ext cx="48" cy="158"/>
                <a:chOff x="4836" y="2634"/>
                <a:chExt cx="48" cy="158"/>
              </a:xfrm>
            </p:grpSpPr>
            <p:sp>
              <p:nvSpPr>
                <p:cNvPr id="279947" name="Line 69"/>
                <p:cNvSpPr/>
                <p:nvPr/>
              </p:nvSpPr>
              <p:spPr>
                <a:xfrm rot="5400000">
                  <a:off x="4805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948" name="Line 70"/>
                <p:cNvSpPr/>
                <p:nvPr/>
              </p:nvSpPr>
              <p:spPr>
                <a:xfrm rot="5400000">
                  <a:off x="4788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9943" name="Freeform 71"/>
              <p:cNvSpPr/>
              <p:nvPr/>
            </p:nvSpPr>
            <p:spPr>
              <a:xfrm>
                <a:off x="4740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9944" name="Group 72"/>
              <p:cNvGrpSpPr/>
              <p:nvPr/>
            </p:nvGrpSpPr>
            <p:grpSpPr>
              <a:xfrm>
                <a:off x="4692" y="2634"/>
                <a:ext cx="48" cy="158"/>
                <a:chOff x="4692" y="2634"/>
                <a:chExt cx="48" cy="158"/>
              </a:xfrm>
            </p:grpSpPr>
            <p:sp>
              <p:nvSpPr>
                <p:cNvPr id="279945" name="Line 73"/>
                <p:cNvSpPr/>
                <p:nvPr/>
              </p:nvSpPr>
              <p:spPr>
                <a:xfrm rot="-5400000">
                  <a:off x="4613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946" name="Line 74"/>
                <p:cNvSpPr/>
                <p:nvPr/>
              </p:nvSpPr>
              <p:spPr>
                <a:xfrm rot="-5400000">
                  <a:off x="4692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79796" name="Freeform 75"/>
            <p:cNvSpPr/>
            <p:nvPr/>
          </p:nvSpPr>
          <p:spPr>
            <a:xfrm>
              <a:off x="4890" y="2353"/>
              <a:ext cx="107" cy="1"/>
            </a:xfrm>
            <a:custGeom>
              <a:avLst/>
              <a:gdLst>
                <a:gd name="txL" fmla="*/ 0 w 107"/>
                <a:gd name="txT" fmla="*/ 0 h 1"/>
                <a:gd name="txR" fmla="*/ 107 w 10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7" y="0"/>
                </a:cxn>
              </a:cxnLst>
              <a:rect l="txL" t="txT" r="txR" b="txB"/>
              <a:pathLst>
                <a:path w="107" h="1">
                  <a:moveTo>
                    <a:pt x="0" y="0"/>
                  </a:moveTo>
                  <a:lnTo>
                    <a:pt x="10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797" name="Freeform 76"/>
            <p:cNvSpPr/>
            <p:nvPr/>
          </p:nvSpPr>
          <p:spPr>
            <a:xfrm>
              <a:off x="4511" y="2353"/>
              <a:ext cx="96" cy="1"/>
            </a:xfrm>
            <a:custGeom>
              <a:avLst/>
              <a:gdLst>
                <a:gd name="txL" fmla="*/ 0 w 96"/>
                <a:gd name="txT" fmla="*/ 0 h 1"/>
                <a:gd name="txR" fmla="*/ 96 w 96"/>
                <a:gd name="txB" fmla="*/ 1 h 1"/>
              </a:gdLst>
              <a:ahLst/>
              <a:cxnLst>
                <a:cxn ang="0">
                  <a:pos x="96" y="0"/>
                </a:cxn>
                <a:cxn ang="0">
                  <a:pos x="0" y="0"/>
                </a:cxn>
              </a:cxnLst>
              <a:rect l="txL" t="txT" r="txR" b="txB"/>
              <a:pathLst>
                <a:path w="96" h="1">
                  <a:moveTo>
                    <a:pt x="96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79798" name="Group 77"/>
            <p:cNvGrpSpPr/>
            <p:nvPr/>
          </p:nvGrpSpPr>
          <p:grpSpPr>
            <a:xfrm>
              <a:off x="5235" y="2634"/>
              <a:ext cx="192" cy="158"/>
              <a:chOff x="5259" y="2634"/>
              <a:chExt cx="192" cy="158"/>
            </a:xfrm>
          </p:grpSpPr>
          <p:grpSp>
            <p:nvGrpSpPr>
              <p:cNvPr id="279935" name="Group 78"/>
              <p:cNvGrpSpPr/>
              <p:nvPr/>
            </p:nvGrpSpPr>
            <p:grpSpPr>
              <a:xfrm>
                <a:off x="5403" y="2634"/>
                <a:ext cx="48" cy="158"/>
                <a:chOff x="5403" y="2634"/>
                <a:chExt cx="48" cy="158"/>
              </a:xfrm>
            </p:grpSpPr>
            <p:sp>
              <p:nvSpPr>
                <p:cNvPr id="279940" name="Line 79"/>
                <p:cNvSpPr/>
                <p:nvPr/>
              </p:nvSpPr>
              <p:spPr>
                <a:xfrm rot="5400000">
                  <a:off x="5372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941" name="Line 80"/>
                <p:cNvSpPr/>
                <p:nvPr/>
              </p:nvSpPr>
              <p:spPr>
                <a:xfrm rot="5400000">
                  <a:off x="5355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9936" name="Freeform 81"/>
              <p:cNvSpPr/>
              <p:nvPr/>
            </p:nvSpPr>
            <p:spPr>
              <a:xfrm>
                <a:off x="5307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9937" name="Group 82"/>
              <p:cNvGrpSpPr/>
              <p:nvPr/>
            </p:nvGrpSpPr>
            <p:grpSpPr>
              <a:xfrm>
                <a:off x="5259" y="2634"/>
                <a:ext cx="48" cy="158"/>
                <a:chOff x="5259" y="2634"/>
                <a:chExt cx="48" cy="158"/>
              </a:xfrm>
            </p:grpSpPr>
            <p:sp>
              <p:nvSpPr>
                <p:cNvPr id="279938" name="Line 83"/>
                <p:cNvSpPr/>
                <p:nvPr/>
              </p:nvSpPr>
              <p:spPr>
                <a:xfrm rot="-5400000">
                  <a:off x="5180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939" name="Line 84"/>
                <p:cNvSpPr/>
                <p:nvPr/>
              </p:nvSpPr>
              <p:spPr>
                <a:xfrm rot="-5400000">
                  <a:off x="5259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79799" name="Freeform 85"/>
            <p:cNvSpPr/>
            <p:nvPr/>
          </p:nvSpPr>
          <p:spPr>
            <a:xfrm>
              <a:off x="5467" y="2351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96" y="2"/>
                </a:cxn>
              </a:cxnLst>
              <a:rect l="txL" t="txT" r="txR" b="txB"/>
              <a:pathLst>
                <a:path w="96" h="2">
                  <a:moveTo>
                    <a:pt x="0" y="0"/>
                  </a:moveTo>
                  <a:lnTo>
                    <a:pt x="96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00" name="Freeform 86"/>
            <p:cNvSpPr/>
            <p:nvPr/>
          </p:nvSpPr>
          <p:spPr>
            <a:xfrm>
              <a:off x="5078" y="2353"/>
              <a:ext cx="101" cy="1"/>
            </a:xfrm>
            <a:custGeom>
              <a:avLst/>
              <a:gdLst>
                <a:gd name="txL" fmla="*/ 0 w 101"/>
                <a:gd name="txT" fmla="*/ 0 h 1"/>
                <a:gd name="txR" fmla="*/ 101 w 101"/>
                <a:gd name="txB" fmla="*/ 1 h 1"/>
              </a:gdLst>
              <a:ahLst/>
              <a:cxnLst>
                <a:cxn ang="0">
                  <a:pos x="101" y="0"/>
                </a:cxn>
                <a:cxn ang="0">
                  <a:pos x="0" y="0"/>
                </a:cxn>
              </a:cxnLst>
              <a:rect l="txL" t="txT" r="txR" b="txB"/>
              <a:pathLst>
                <a:path w="101" h="1">
                  <a:moveTo>
                    <a:pt x="10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01" name="Freeform 87"/>
            <p:cNvSpPr/>
            <p:nvPr/>
          </p:nvSpPr>
          <p:spPr>
            <a:xfrm>
              <a:off x="908" y="856"/>
              <a:ext cx="4419" cy="1"/>
            </a:xfrm>
            <a:custGeom>
              <a:avLst/>
              <a:gdLst>
                <a:gd name="txL" fmla="*/ 0 w 4419"/>
                <a:gd name="txT" fmla="*/ 0 h 1"/>
                <a:gd name="txR" fmla="*/ 4419 w 4419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9" y="0"/>
                </a:cxn>
              </a:cxnLst>
              <a:rect l="txL" t="txT" r="txR" b="txB"/>
              <a:pathLst>
                <a:path w="4419" h="1">
                  <a:moveTo>
                    <a:pt x="0" y="1"/>
                  </a:moveTo>
                  <a:lnTo>
                    <a:pt x="441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02" name="Line 88"/>
            <p:cNvSpPr/>
            <p:nvPr/>
          </p:nvSpPr>
          <p:spPr>
            <a:xfrm>
              <a:off x="1292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03" name="Line 89"/>
            <p:cNvSpPr/>
            <p:nvPr/>
          </p:nvSpPr>
          <p:spPr>
            <a:xfrm>
              <a:off x="1868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04" name="Line 90"/>
            <p:cNvSpPr/>
            <p:nvPr/>
          </p:nvSpPr>
          <p:spPr>
            <a:xfrm>
              <a:off x="2444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05" name="Line 91"/>
            <p:cNvSpPr/>
            <p:nvPr/>
          </p:nvSpPr>
          <p:spPr>
            <a:xfrm>
              <a:off x="3020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06" name="Line 92"/>
            <p:cNvSpPr/>
            <p:nvPr/>
          </p:nvSpPr>
          <p:spPr>
            <a:xfrm>
              <a:off x="3596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07" name="Line 93"/>
            <p:cNvSpPr/>
            <p:nvPr/>
          </p:nvSpPr>
          <p:spPr>
            <a:xfrm>
              <a:off x="4172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08" name="Line 94"/>
            <p:cNvSpPr/>
            <p:nvPr/>
          </p:nvSpPr>
          <p:spPr>
            <a:xfrm>
              <a:off x="4748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09" name="Line 95"/>
            <p:cNvSpPr/>
            <p:nvPr/>
          </p:nvSpPr>
          <p:spPr>
            <a:xfrm>
              <a:off x="5324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79810" name="Freeform 96"/>
            <p:cNvSpPr/>
            <p:nvPr/>
          </p:nvSpPr>
          <p:spPr>
            <a:xfrm>
              <a:off x="1305" y="2708"/>
              <a:ext cx="1" cy="166"/>
            </a:xfrm>
            <a:custGeom>
              <a:avLst/>
              <a:gdLst>
                <a:gd name="txL" fmla="*/ 0 w 1"/>
                <a:gd name="txT" fmla="*/ 0 h 166"/>
                <a:gd name="txR" fmla="*/ 1 w 1"/>
                <a:gd name="txB" fmla="*/ 166 h 166"/>
              </a:gdLst>
              <a:ahLst/>
              <a:cxnLst>
                <a:cxn ang="0">
                  <a:pos x="1" y="0"/>
                </a:cxn>
                <a:cxn ang="0">
                  <a:pos x="0" y="166"/>
                </a:cxn>
              </a:cxnLst>
              <a:rect l="txL" t="txT" r="txR" b="txB"/>
              <a:pathLst>
                <a:path w="1" h="166">
                  <a:moveTo>
                    <a:pt x="1" y="0"/>
                  </a:moveTo>
                  <a:lnTo>
                    <a:pt x="0" y="1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11" name="Freeform 97"/>
            <p:cNvSpPr/>
            <p:nvPr/>
          </p:nvSpPr>
          <p:spPr>
            <a:xfrm>
              <a:off x="1880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12" name="Freeform 98"/>
            <p:cNvSpPr/>
            <p:nvPr/>
          </p:nvSpPr>
          <p:spPr>
            <a:xfrm>
              <a:off x="2454" y="2708"/>
              <a:ext cx="4" cy="166"/>
            </a:xfrm>
            <a:custGeom>
              <a:avLst/>
              <a:gdLst>
                <a:gd name="txL" fmla="*/ 0 w 4"/>
                <a:gd name="txT" fmla="*/ 0 h 166"/>
                <a:gd name="txR" fmla="*/ 4 w 4"/>
                <a:gd name="txB" fmla="*/ 166 h 166"/>
              </a:gdLst>
              <a:ahLst/>
              <a:cxnLst>
                <a:cxn ang="0">
                  <a:pos x="4" y="0"/>
                </a:cxn>
                <a:cxn ang="0">
                  <a:pos x="0" y="166"/>
                </a:cxn>
              </a:cxnLst>
              <a:rect l="txL" t="txT" r="txR" b="txB"/>
              <a:pathLst>
                <a:path w="4" h="166">
                  <a:moveTo>
                    <a:pt x="4" y="0"/>
                  </a:moveTo>
                  <a:lnTo>
                    <a:pt x="0" y="1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13" name="Freeform 99"/>
            <p:cNvSpPr/>
            <p:nvPr/>
          </p:nvSpPr>
          <p:spPr>
            <a:xfrm>
              <a:off x="3606" y="2708"/>
              <a:ext cx="2" cy="175"/>
            </a:xfrm>
            <a:custGeom>
              <a:avLst/>
              <a:gdLst>
                <a:gd name="txL" fmla="*/ 0 w 2"/>
                <a:gd name="txT" fmla="*/ 0 h 175"/>
                <a:gd name="txR" fmla="*/ 2 w 2"/>
                <a:gd name="txB" fmla="*/ 175 h 175"/>
              </a:gdLst>
              <a:ahLst/>
              <a:cxnLst>
                <a:cxn ang="0">
                  <a:pos x="2" y="0"/>
                </a:cxn>
                <a:cxn ang="0">
                  <a:pos x="0" y="175"/>
                </a:cxn>
              </a:cxnLst>
              <a:rect l="txL" t="txT" r="txR" b="txB"/>
              <a:pathLst>
                <a:path w="2" h="175">
                  <a:moveTo>
                    <a:pt x="2" y="0"/>
                  </a:moveTo>
                  <a:lnTo>
                    <a:pt x="0" y="17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14" name="Freeform 100"/>
            <p:cNvSpPr/>
            <p:nvPr/>
          </p:nvSpPr>
          <p:spPr>
            <a:xfrm>
              <a:off x="4760" y="2697"/>
              <a:ext cx="1" cy="176"/>
            </a:xfrm>
            <a:custGeom>
              <a:avLst/>
              <a:gdLst>
                <a:gd name="txL" fmla="*/ 0 w 1"/>
                <a:gd name="txT" fmla="*/ 0 h 176"/>
                <a:gd name="txR" fmla="*/ 1 w 1"/>
                <a:gd name="txB" fmla="*/ 176 h 176"/>
              </a:gdLst>
              <a:ahLst/>
              <a:cxnLst>
                <a:cxn ang="0">
                  <a:pos x="0" y="0"/>
                </a:cxn>
                <a:cxn ang="0">
                  <a:pos x="0" y="176"/>
                </a:cxn>
              </a:cxnLst>
              <a:rect l="txL" t="txT" r="txR" b="txB"/>
              <a:pathLst>
                <a:path w="1" h="176">
                  <a:moveTo>
                    <a:pt x="0" y="0"/>
                  </a:moveTo>
                  <a:lnTo>
                    <a:pt x="0" y="17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15" name="Freeform 101"/>
            <p:cNvSpPr/>
            <p:nvPr/>
          </p:nvSpPr>
          <p:spPr>
            <a:xfrm>
              <a:off x="908" y="1480"/>
              <a:ext cx="4422" cy="1"/>
            </a:xfrm>
            <a:custGeom>
              <a:avLst/>
              <a:gdLst>
                <a:gd name="txL" fmla="*/ 0 w 4422"/>
                <a:gd name="txT" fmla="*/ 0 h 1"/>
                <a:gd name="txR" fmla="*/ 4422 w 4422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22" y="0"/>
                </a:cxn>
              </a:cxnLst>
              <a:rect l="txL" t="txT" r="txR" b="txB"/>
              <a:pathLst>
                <a:path w="4422" h="1">
                  <a:moveTo>
                    <a:pt x="0" y="1"/>
                  </a:moveTo>
                  <a:lnTo>
                    <a:pt x="442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16" name="Line 102"/>
            <p:cNvSpPr/>
            <p:nvPr/>
          </p:nvSpPr>
          <p:spPr>
            <a:xfrm>
              <a:off x="1292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17" name="Line 103"/>
            <p:cNvSpPr/>
            <p:nvPr/>
          </p:nvSpPr>
          <p:spPr>
            <a:xfrm>
              <a:off x="1868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18" name="Line 104"/>
            <p:cNvSpPr/>
            <p:nvPr/>
          </p:nvSpPr>
          <p:spPr>
            <a:xfrm>
              <a:off x="2444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19" name="Line 105"/>
            <p:cNvSpPr/>
            <p:nvPr/>
          </p:nvSpPr>
          <p:spPr>
            <a:xfrm>
              <a:off x="3020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20" name="Line 106"/>
            <p:cNvSpPr/>
            <p:nvPr/>
          </p:nvSpPr>
          <p:spPr>
            <a:xfrm>
              <a:off x="3596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21" name="Line 107"/>
            <p:cNvSpPr/>
            <p:nvPr/>
          </p:nvSpPr>
          <p:spPr>
            <a:xfrm>
              <a:off x="4172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22" name="Line 108"/>
            <p:cNvSpPr/>
            <p:nvPr/>
          </p:nvSpPr>
          <p:spPr>
            <a:xfrm>
              <a:off x="4748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23" name="Line 109"/>
            <p:cNvSpPr/>
            <p:nvPr/>
          </p:nvSpPr>
          <p:spPr>
            <a:xfrm>
              <a:off x="5324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79824" name="Freeform 110"/>
            <p:cNvSpPr/>
            <p:nvPr/>
          </p:nvSpPr>
          <p:spPr>
            <a:xfrm>
              <a:off x="908" y="2056"/>
              <a:ext cx="4418" cy="1"/>
            </a:xfrm>
            <a:custGeom>
              <a:avLst/>
              <a:gdLst>
                <a:gd name="txL" fmla="*/ 0 w 4418"/>
                <a:gd name="txT" fmla="*/ 0 h 1"/>
                <a:gd name="txR" fmla="*/ 4418 w 441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8" y="0"/>
                </a:cxn>
              </a:cxnLst>
              <a:rect l="txL" t="txT" r="txR" b="txB"/>
              <a:pathLst>
                <a:path w="4418" h="1">
                  <a:moveTo>
                    <a:pt x="0" y="1"/>
                  </a:moveTo>
                  <a:lnTo>
                    <a:pt x="441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25" name="Line 111"/>
            <p:cNvSpPr/>
            <p:nvPr/>
          </p:nvSpPr>
          <p:spPr>
            <a:xfrm>
              <a:off x="1292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26" name="Line 112"/>
            <p:cNvSpPr/>
            <p:nvPr/>
          </p:nvSpPr>
          <p:spPr>
            <a:xfrm>
              <a:off x="1868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27" name="Line 113"/>
            <p:cNvSpPr/>
            <p:nvPr/>
          </p:nvSpPr>
          <p:spPr>
            <a:xfrm>
              <a:off x="2444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28" name="Line 114"/>
            <p:cNvSpPr/>
            <p:nvPr/>
          </p:nvSpPr>
          <p:spPr>
            <a:xfrm>
              <a:off x="3020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29" name="Line 115"/>
            <p:cNvSpPr/>
            <p:nvPr/>
          </p:nvSpPr>
          <p:spPr>
            <a:xfrm>
              <a:off x="3596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30" name="Line 116"/>
            <p:cNvSpPr/>
            <p:nvPr/>
          </p:nvSpPr>
          <p:spPr>
            <a:xfrm>
              <a:off x="4172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31" name="Line 117"/>
            <p:cNvSpPr/>
            <p:nvPr/>
          </p:nvSpPr>
          <p:spPr>
            <a:xfrm>
              <a:off x="4748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79832" name="Line 118"/>
            <p:cNvSpPr/>
            <p:nvPr/>
          </p:nvSpPr>
          <p:spPr>
            <a:xfrm>
              <a:off x="5324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79833" name="Freeform 119"/>
            <p:cNvSpPr/>
            <p:nvPr/>
          </p:nvSpPr>
          <p:spPr>
            <a:xfrm>
              <a:off x="909" y="2879"/>
              <a:ext cx="3860" cy="1"/>
            </a:xfrm>
            <a:custGeom>
              <a:avLst/>
              <a:gdLst>
                <a:gd name="txL" fmla="*/ 0 w 3860"/>
                <a:gd name="txT" fmla="*/ 0 h 1"/>
                <a:gd name="txR" fmla="*/ 3860 w 3860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3860" y="0"/>
                </a:cxn>
              </a:cxnLst>
              <a:rect l="txL" t="txT" r="txR" b="txB"/>
              <a:pathLst>
                <a:path w="3860" h="1">
                  <a:moveTo>
                    <a:pt x="0" y="1"/>
                  </a:moveTo>
                  <a:lnTo>
                    <a:pt x="38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34" name="Freeform 120"/>
            <p:cNvSpPr/>
            <p:nvPr/>
          </p:nvSpPr>
          <p:spPr>
            <a:xfrm>
              <a:off x="912" y="3209"/>
              <a:ext cx="4418" cy="1"/>
            </a:xfrm>
            <a:custGeom>
              <a:avLst/>
              <a:gdLst>
                <a:gd name="txL" fmla="*/ 0 w 4418"/>
                <a:gd name="txT" fmla="*/ 0 h 1"/>
                <a:gd name="txR" fmla="*/ 4418 w 441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8" y="0"/>
                </a:cxn>
              </a:cxnLst>
              <a:rect l="txL" t="txT" r="txR" b="txB"/>
              <a:pathLst>
                <a:path w="4418" h="1">
                  <a:moveTo>
                    <a:pt x="0" y="1"/>
                  </a:moveTo>
                  <a:lnTo>
                    <a:pt x="441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35" name="Rectangle 121"/>
            <p:cNvSpPr/>
            <p:nvPr/>
          </p:nvSpPr>
          <p:spPr>
            <a:xfrm>
              <a:off x="1141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36" name="Text Box 122"/>
            <p:cNvSpPr txBox="1"/>
            <p:nvPr/>
          </p:nvSpPr>
          <p:spPr>
            <a:xfrm>
              <a:off x="1172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37" name="Freeform 123"/>
            <p:cNvSpPr/>
            <p:nvPr/>
          </p:nvSpPr>
          <p:spPr>
            <a:xfrm>
              <a:off x="1402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38" name="Freeform 124"/>
            <p:cNvSpPr/>
            <p:nvPr/>
          </p:nvSpPr>
          <p:spPr>
            <a:xfrm>
              <a:off x="1613" y="1211"/>
              <a:ext cx="169" cy="1469"/>
            </a:xfrm>
            <a:custGeom>
              <a:avLst/>
              <a:gdLst>
                <a:gd name="txL" fmla="*/ 0 w 169"/>
                <a:gd name="txT" fmla="*/ 0 h 1469"/>
                <a:gd name="txR" fmla="*/ 169 w 169"/>
                <a:gd name="txB" fmla="*/ 1469 h 1469"/>
              </a:gdLst>
              <a:ahLst/>
              <a:cxnLst>
                <a:cxn ang="0">
                  <a:pos x="169" y="1468"/>
                </a:cxn>
                <a:cxn ang="0">
                  <a:pos x="0" y="1469"/>
                </a:cxn>
                <a:cxn ang="0">
                  <a:pos x="1" y="0"/>
                </a:cxn>
                <a:cxn ang="0">
                  <a:pos x="105" y="0"/>
                </a:cxn>
              </a:cxnLst>
              <a:rect l="txL" t="txT" r="txR" b="txB"/>
              <a:pathLst>
                <a:path w="169" h="1469">
                  <a:moveTo>
                    <a:pt x="169" y="1468"/>
                  </a:moveTo>
                  <a:lnTo>
                    <a:pt x="0" y="1469"/>
                  </a:lnTo>
                  <a:lnTo>
                    <a:pt x="1" y="0"/>
                  </a:lnTo>
                  <a:lnTo>
                    <a:pt x="10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39" name="Freeform 125"/>
            <p:cNvSpPr/>
            <p:nvPr/>
          </p:nvSpPr>
          <p:spPr>
            <a:xfrm>
              <a:off x="1967" y="1211"/>
              <a:ext cx="141" cy="1466"/>
            </a:xfrm>
            <a:custGeom>
              <a:avLst/>
              <a:gdLst>
                <a:gd name="txL" fmla="*/ 0 w 141"/>
                <a:gd name="txT" fmla="*/ 0 h 1466"/>
                <a:gd name="txR" fmla="*/ 141 w 141"/>
                <a:gd name="txB" fmla="*/ 1466 h 1466"/>
              </a:gdLst>
              <a:ahLst/>
              <a:cxnLst>
                <a:cxn ang="0">
                  <a:pos x="38" y="0"/>
                </a:cxn>
                <a:cxn ang="0">
                  <a:pos x="141" y="0"/>
                </a:cxn>
                <a:cxn ang="0">
                  <a:pos x="140" y="1466"/>
                </a:cxn>
                <a:cxn ang="0">
                  <a:pos x="0" y="1466"/>
                </a:cxn>
              </a:cxnLst>
              <a:rect l="txL" t="txT" r="txR" b="txB"/>
              <a:pathLst>
                <a:path w="141" h="1466">
                  <a:moveTo>
                    <a:pt x="38" y="0"/>
                  </a:moveTo>
                  <a:lnTo>
                    <a:pt x="141" y="0"/>
                  </a:lnTo>
                  <a:lnTo>
                    <a:pt x="140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40" name="Freeform 126"/>
            <p:cNvSpPr/>
            <p:nvPr/>
          </p:nvSpPr>
          <p:spPr>
            <a:xfrm>
              <a:off x="2208" y="1211"/>
              <a:ext cx="155" cy="1467"/>
            </a:xfrm>
            <a:custGeom>
              <a:avLst/>
              <a:gdLst>
                <a:gd name="txL" fmla="*/ 0 w 155"/>
                <a:gd name="txT" fmla="*/ 0 h 1467"/>
                <a:gd name="txR" fmla="*/ 155 w 155"/>
                <a:gd name="txB" fmla="*/ 1467 h 1467"/>
              </a:gdLst>
              <a:ahLst/>
              <a:cxnLst>
                <a:cxn ang="0">
                  <a:pos x="155" y="1467"/>
                </a:cxn>
                <a:cxn ang="0">
                  <a:pos x="3" y="1467"/>
                </a:cxn>
                <a:cxn ang="0">
                  <a:pos x="0" y="1"/>
                </a:cxn>
                <a:cxn ang="0">
                  <a:pos x="89" y="0"/>
                </a:cxn>
              </a:cxnLst>
              <a:rect l="txL" t="txT" r="txR" b="txB"/>
              <a:pathLst>
                <a:path w="155" h="1467">
                  <a:moveTo>
                    <a:pt x="155" y="1467"/>
                  </a:moveTo>
                  <a:lnTo>
                    <a:pt x="3" y="1467"/>
                  </a:lnTo>
                  <a:lnTo>
                    <a:pt x="0" y="1"/>
                  </a:lnTo>
                  <a:lnTo>
                    <a:pt x="8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41" name="Freeform 127"/>
            <p:cNvSpPr/>
            <p:nvPr/>
          </p:nvSpPr>
          <p:spPr>
            <a:xfrm>
              <a:off x="2557" y="1211"/>
              <a:ext cx="142" cy="1466"/>
            </a:xfrm>
            <a:custGeom>
              <a:avLst/>
              <a:gdLst>
                <a:gd name="txL" fmla="*/ 0 w 142"/>
                <a:gd name="txT" fmla="*/ 0 h 1466"/>
                <a:gd name="txR" fmla="*/ 142 w 142"/>
                <a:gd name="txB" fmla="*/ 1466 h 1466"/>
              </a:gdLst>
              <a:ahLst/>
              <a:cxnLst>
                <a:cxn ang="0">
                  <a:pos x="34" y="0"/>
                </a:cxn>
                <a:cxn ang="0">
                  <a:pos x="142" y="0"/>
                </a:cxn>
                <a:cxn ang="0">
                  <a:pos x="141" y="1466"/>
                </a:cxn>
                <a:cxn ang="0">
                  <a:pos x="0" y="1464"/>
                </a:cxn>
              </a:cxnLst>
              <a:rect l="txL" t="txT" r="txR" b="txB"/>
              <a:pathLst>
                <a:path w="142" h="1466">
                  <a:moveTo>
                    <a:pt x="34" y="0"/>
                  </a:moveTo>
                  <a:lnTo>
                    <a:pt x="142" y="0"/>
                  </a:lnTo>
                  <a:lnTo>
                    <a:pt x="141" y="1466"/>
                  </a:lnTo>
                  <a:lnTo>
                    <a:pt x="0" y="146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42" name="Freeform 128"/>
            <p:cNvSpPr/>
            <p:nvPr/>
          </p:nvSpPr>
          <p:spPr>
            <a:xfrm>
              <a:off x="2787" y="1211"/>
              <a:ext cx="152" cy="1467"/>
            </a:xfrm>
            <a:custGeom>
              <a:avLst/>
              <a:gdLst>
                <a:gd name="txL" fmla="*/ 0 w 152"/>
                <a:gd name="txT" fmla="*/ 0 h 1467"/>
                <a:gd name="txR" fmla="*/ 152 w 152"/>
                <a:gd name="txB" fmla="*/ 1467 h 1467"/>
              </a:gdLst>
              <a:ahLst/>
              <a:cxnLst>
                <a:cxn ang="0">
                  <a:pos x="152" y="1467"/>
                </a:cxn>
                <a:cxn ang="0">
                  <a:pos x="0" y="1467"/>
                </a:cxn>
                <a:cxn ang="0">
                  <a:pos x="0" y="1"/>
                </a:cxn>
                <a:cxn ang="0">
                  <a:pos x="77" y="0"/>
                </a:cxn>
              </a:cxnLst>
              <a:rect l="txL" t="txT" r="txR" b="txB"/>
              <a:pathLst>
                <a:path w="152" h="1467">
                  <a:moveTo>
                    <a:pt x="152" y="1467"/>
                  </a:moveTo>
                  <a:lnTo>
                    <a:pt x="0" y="1467"/>
                  </a:lnTo>
                  <a:lnTo>
                    <a:pt x="0" y="1"/>
                  </a:lnTo>
                  <a:lnTo>
                    <a:pt x="7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43" name="Freeform 129"/>
            <p:cNvSpPr/>
            <p:nvPr/>
          </p:nvSpPr>
          <p:spPr>
            <a:xfrm>
              <a:off x="3130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44" name="Freeform 130"/>
            <p:cNvSpPr/>
            <p:nvPr/>
          </p:nvSpPr>
          <p:spPr>
            <a:xfrm>
              <a:off x="3360" y="1209"/>
              <a:ext cx="155" cy="1469"/>
            </a:xfrm>
            <a:custGeom>
              <a:avLst/>
              <a:gdLst>
                <a:gd name="txL" fmla="*/ 0 w 155"/>
                <a:gd name="txT" fmla="*/ 0 h 1469"/>
                <a:gd name="txR" fmla="*/ 155 w 155"/>
                <a:gd name="txB" fmla="*/ 1469 h 1469"/>
              </a:gdLst>
              <a:ahLst/>
              <a:cxnLst>
                <a:cxn ang="0">
                  <a:pos x="155" y="1469"/>
                </a:cxn>
                <a:cxn ang="0">
                  <a:pos x="3" y="1469"/>
                </a:cxn>
                <a:cxn ang="0">
                  <a:pos x="0" y="0"/>
                </a:cxn>
                <a:cxn ang="0">
                  <a:pos x="103" y="2"/>
                </a:cxn>
              </a:cxnLst>
              <a:rect l="txL" t="txT" r="txR" b="txB"/>
              <a:pathLst>
                <a:path w="155" h="1469">
                  <a:moveTo>
                    <a:pt x="155" y="1469"/>
                  </a:moveTo>
                  <a:lnTo>
                    <a:pt x="3" y="1469"/>
                  </a:lnTo>
                  <a:lnTo>
                    <a:pt x="0" y="0"/>
                  </a:lnTo>
                  <a:lnTo>
                    <a:pt x="103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45" name="Freeform 131"/>
            <p:cNvSpPr/>
            <p:nvPr/>
          </p:nvSpPr>
          <p:spPr>
            <a:xfrm>
              <a:off x="3710" y="1211"/>
              <a:ext cx="141" cy="1466"/>
            </a:xfrm>
            <a:custGeom>
              <a:avLst/>
              <a:gdLst>
                <a:gd name="txL" fmla="*/ 0 w 141"/>
                <a:gd name="txT" fmla="*/ 0 h 1466"/>
                <a:gd name="txR" fmla="*/ 141 w 141"/>
                <a:gd name="txB" fmla="*/ 1466 h 1466"/>
              </a:gdLst>
              <a:ahLst/>
              <a:cxnLst>
                <a:cxn ang="0">
                  <a:pos x="42" y="0"/>
                </a:cxn>
                <a:cxn ang="0">
                  <a:pos x="141" y="0"/>
                </a:cxn>
                <a:cxn ang="0">
                  <a:pos x="140" y="1466"/>
                </a:cxn>
                <a:cxn ang="0">
                  <a:pos x="0" y="1466"/>
                </a:cxn>
              </a:cxnLst>
              <a:rect l="txL" t="txT" r="txR" b="txB"/>
              <a:pathLst>
                <a:path w="141" h="1466">
                  <a:moveTo>
                    <a:pt x="42" y="0"/>
                  </a:moveTo>
                  <a:lnTo>
                    <a:pt x="141" y="0"/>
                  </a:lnTo>
                  <a:lnTo>
                    <a:pt x="140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46" name="Freeform 132"/>
            <p:cNvSpPr/>
            <p:nvPr/>
          </p:nvSpPr>
          <p:spPr>
            <a:xfrm>
              <a:off x="3939" y="1211"/>
              <a:ext cx="152" cy="1467"/>
            </a:xfrm>
            <a:custGeom>
              <a:avLst/>
              <a:gdLst>
                <a:gd name="txL" fmla="*/ 0 w 152"/>
                <a:gd name="txT" fmla="*/ 0 h 1467"/>
                <a:gd name="txR" fmla="*/ 152 w 152"/>
                <a:gd name="txB" fmla="*/ 1467 h 1467"/>
              </a:gdLst>
              <a:ahLst/>
              <a:cxnLst>
                <a:cxn ang="0">
                  <a:pos x="152" y="1467"/>
                </a:cxn>
                <a:cxn ang="0">
                  <a:pos x="0" y="1467"/>
                </a:cxn>
                <a:cxn ang="0">
                  <a:pos x="0" y="1"/>
                </a:cxn>
                <a:cxn ang="0">
                  <a:pos x="103" y="0"/>
                </a:cxn>
              </a:cxnLst>
              <a:rect l="txL" t="txT" r="txR" b="txB"/>
              <a:pathLst>
                <a:path w="152" h="1467">
                  <a:moveTo>
                    <a:pt x="152" y="1467"/>
                  </a:moveTo>
                  <a:lnTo>
                    <a:pt x="0" y="1467"/>
                  </a:lnTo>
                  <a:lnTo>
                    <a:pt x="0" y="1"/>
                  </a:lnTo>
                  <a:lnTo>
                    <a:pt x="10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47" name="Freeform 133"/>
            <p:cNvSpPr/>
            <p:nvPr/>
          </p:nvSpPr>
          <p:spPr>
            <a:xfrm>
              <a:off x="4280" y="1211"/>
              <a:ext cx="147" cy="1466"/>
            </a:xfrm>
            <a:custGeom>
              <a:avLst/>
              <a:gdLst>
                <a:gd name="txL" fmla="*/ 0 w 147"/>
                <a:gd name="txT" fmla="*/ 0 h 1466"/>
                <a:gd name="txR" fmla="*/ 147 w 147"/>
                <a:gd name="txB" fmla="*/ 1466 h 1466"/>
              </a:gdLst>
              <a:ahLst/>
              <a:cxnLst>
                <a:cxn ang="0">
                  <a:pos x="51" y="0"/>
                </a:cxn>
                <a:cxn ang="0">
                  <a:pos x="147" y="0"/>
                </a:cxn>
                <a:cxn ang="0">
                  <a:pos x="146" y="1466"/>
                </a:cxn>
                <a:cxn ang="0">
                  <a:pos x="0" y="1466"/>
                </a:cxn>
              </a:cxnLst>
              <a:rect l="txL" t="txT" r="txR" b="txB"/>
              <a:pathLst>
                <a:path w="147" h="1466">
                  <a:moveTo>
                    <a:pt x="51" y="0"/>
                  </a:moveTo>
                  <a:lnTo>
                    <a:pt x="147" y="0"/>
                  </a:lnTo>
                  <a:lnTo>
                    <a:pt x="146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48" name="Freeform 134"/>
            <p:cNvSpPr/>
            <p:nvPr/>
          </p:nvSpPr>
          <p:spPr>
            <a:xfrm>
              <a:off x="4509" y="1211"/>
              <a:ext cx="158" cy="1467"/>
            </a:xfrm>
            <a:custGeom>
              <a:avLst/>
              <a:gdLst>
                <a:gd name="txL" fmla="*/ 0 w 158"/>
                <a:gd name="txT" fmla="*/ 0 h 1467"/>
                <a:gd name="txR" fmla="*/ 158 w 158"/>
                <a:gd name="txB" fmla="*/ 1467 h 1467"/>
              </a:gdLst>
              <a:ahLst/>
              <a:cxnLst>
                <a:cxn ang="0">
                  <a:pos x="158" y="1467"/>
                </a:cxn>
                <a:cxn ang="0">
                  <a:pos x="0" y="1467"/>
                </a:cxn>
                <a:cxn ang="0">
                  <a:pos x="0" y="0"/>
                </a:cxn>
                <a:cxn ang="0">
                  <a:pos x="95" y="0"/>
                </a:cxn>
              </a:cxnLst>
              <a:rect l="txL" t="txT" r="txR" b="txB"/>
              <a:pathLst>
                <a:path w="158" h="1467">
                  <a:moveTo>
                    <a:pt x="158" y="1467"/>
                  </a:moveTo>
                  <a:lnTo>
                    <a:pt x="0" y="1467"/>
                  </a:lnTo>
                  <a:lnTo>
                    <a:pt x="0" y="0"/>
                  </a:lnTo>
                  <a:lnTo>
                    <a:pt x="9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49" name="Freeform 135"/>
            <p:cNvSpPr/>
            <p:nvPr/>
          </p:nvSpPr>
          <p:spPr>
            <a:xfrm>
              <a:off x="4861" y="1211"/>
              <a:ext cx="142" cy="1466"/>
            </a:xfrm>
            <a:custGeom>
              <a:avLst/>
              <a:gdLst>
                <a:gd name="txL" fmla="*/ 0 w 142"/>
                <a:gd name="txT" fmla="*/ 0 h 1466"/>
                <a:gd name="txR" fmla="*/ 142 w 142"/>
                <a:gd name="txB" fmla="*/ 1466 h 1466"/>
              </a:gdLst>
              <a:ahLst/>
              <a:cxnLst>
                <a:cxn ang="0">
                  <a:pos x="34" y="0"/>
                </a:cxn>
                <a:cxn ang="0">
                  <a:pos x="142" y="0"/>
                </a:cxn>
                <a:cxn ang="0">
                  <a:pos x="141" y="1466"/>
                </a:cxn>
                <a:cxn ang="0">
                  <a:pos x="0" y="1466"/>
                </a:cxn>
              </a:cxnLst>
              <a:rect l="txL" t="txT" r="txR" b="txB"/>
              <a:pathLst>
                <a:path w="142" h="1466">
                  <a:moveTo>
                    <a:pt x="34" y="0"/>
                  </a:moveTo>
                  <a:lnTo>
                    <a:pt x="142" y="0"/>
                  </a:lnTo>
                  <a:lnTo>
                    <a:pt x="141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50" name="Freeform 136"/>
            <p:cNvSpPr/>
            <p:nvPr/>
          </p:nvSpPr>
          <p:spPr>
            <a:xfrm>
              <a:off x="5069" y="1211"/>
              <a:ext cx="159" cy="1469"/>
            </a:xfrm>
            <a:custGeom>
              <a:avLst/>
              <a:gdLst>
                <a:gd name="txL" fmla="*/ 0 w 159"/>
                <a:gd name="txT" fmla="*/ 0 h 1469"/>
                <a:gd name="txR" fmla="*/ 159 w 159"/>
                <a:gd name="txB" fmla="*/ 1469 h 1469"/>
              </a:gdLst>
              <a:ahLst/>
              <a:cxnLst>
                <a:cxn ang="0">
                  <a:pos x="159" y="1467"/>
                </a:cxn>
                <a:cxn ang="0">
                  <a:pos x="0" y="1469"/>
                </a:cxn>
                <a:cxn ang="0">
                  <a:pos x="1" y="0"/>
                </a:cxn>
                <a:cxn ang="0">
                  <a:pos x="104" y="0"/>
                </a:cxn>
              </a:cxnLst>
              <a:rect l="txL" t="txT" r="txR" b="txB"/>
              <a:pathLst>
                <a:path w="159" h="1469">
                  <a:moveTo>
                    <a:pt x="159" y="1467"/>
                  </a:moveTo>
                  <a:lnTo>
                    <a:pt x="0" y="1469"/>
                  </a:lnTo>
                  <a:lnTo>
                    <a:pt x="1" y="0"/>
                  </a:lnTo>
                  <a:lnTo>
                    <a:pt x="10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51" name="Freeform 137"/>
            <p:cNvSpPr/>
            <p:nvPr/>
          </p:nvSpPr>
          <p:spPr>
            <a:xfrm>
              <a:off x="5417" y="1211"/>
              <a:ext cx="147" cy="1466"/>
            </a:xfrm>
            <a:custGeom>
              <a:avLst/>
              <a:gdLst>
                <a:gd name="txL" fmla="*/ 0 w 147"/>
                <a:gd name="txT" fmla="*/ 0 h 1466"/>
                <a:gd name="txR" fmla="*/ 147 w 147"/>
                <a:gd name="txB" fmla="*/ 1466 h 1466"/>
              </a:gdLst>
              <a:ahLst/>
              <a:cxnLst>
                <a:cxn ang="0">
                  <a:pos x="47" y="0"/>
                </a:cxn>
                <a:cxn ang="0">
                  <a:pos x="147" y="0"/>
                </a:cxn>
                <a:cxn ang="0">
                  <a:pos x="146" y="1466"/>
                </a:cxn>
                <a:cxn ang="0">
                  <a:pos x="0" y="1466"/>
                </a:cxn>
              </a:cxnLst>
              <a:rect l="txL" t="txT" r="txR" b="txB"/>
              <a:pathLst>
                <a:path w="147" h="1466">
                  <a:moveTo>
                    <a:pt x="47" y="0"/>
                  </a:moveTo>
                  <a:lnTo>
                    <a:pt x="147" y="0"/>
                  </a:lnTo>
                  <a:lnTo>
                    <a:pt x="146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52" name="Freeform 138"/>
            <p:cNvSpPr/>
            <p:nvPr/>
          </p:nvSpPr>
          <p:spPr>
            <a:xfrm>
              <a:off x="1055" y="2738"/>
              <a:ext cx="730" cy="660"/>
            </a:xfrm>
            <a:custGeom>
              <a:avLst/>
              <a:gdLst>
                <a:gd name="txL" fmla="*/ 0 w 730"/>
                <a:gd name="txT" fmla="*/ 0 h 660"/>
                <a:gd name="txR" fmla="*/ 730 w 730"/>
                <a:gd name="txB" fmla="*/ 660 h 660"/>
              </a:gdLst>
              <a:ahLst/>
              <a:cxnLst>
                <a:cxn ang="0">
                  <a:pos x="160" y="4"/>
                </a:cxn>
                <a:cxn ang="0">
                  <a:pos x="0" y="3"/>
                </a:cxn>
                <a:cxn ang="0">
                  <a:pos x="0" y="660"/>
                </a:cxn>
                <a:cxn ang="0">
                  <a:pos x="558" y="657"/>
                </a:cxn>
                <a:cxn ang="0">
                  <a:pos x="558" y="0"/>
                </a:cxn>
                <a:cxn ang="0">
                  <a:pos x="730" y="1"/>
                </a:cxn>
              </a:cxnLst>
              <a:rect l="txL" t="txT" r="txR" b="txB"/>
              <a:pathLst>
                <a:path w="730" h="660">
                  <a:moveTo>
                    <a:pt x="160" y="4"/>
                  </a:moveTo>
                  <a:lnTo>
                    <a:pt x="0" y="3"/>
                  </a:lnTo>
                  <a:lnTo>
                    <a:pt x="0" y="660"/>
                  </a:lnTo>
                  <a:lnTo>
                    <a:pt x="558" y="657"/>
                  </a:lnTo>
                  <a:lnTo>
                    <a:pt x="558" y="0"/>
                  </a:lnTo>
                  <a:lnTo>
                    <a:pt x="73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53" name="Freeform 139"/>
            <p:cNvSpPr/>
            <p:nvPr/>
          </p:nvSpPr>
          <p:spPr>
            <a:xfrm>
              <a:off x="2207" y="2744"/>
              <a:ext cx="729" cy="658"/>
            </a:xfrm>
            <a:custGeom>
              <a:avLst/>
              <a:gdLst>
                <a:gd name="txL" fmla="*/ 0 w 729"/>
                <a:gd name="txT" fmla="*/ 0 h 658"/>
                <a:gd name="txR" fmla="*/ 729 w 729"/>
                <a:gd name="txB" fmla="*/ 658 h 658"/>
              </a:gdLst>
              <a:ahLst/>
              <a:cxnLst>
                <a:cxn ang="0">
                  <a:pos x="153" y="0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83" y="658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8">
                  <a:moveTo>
                    <a:pt x="153" y="0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83" y="658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54" name="Freeform 140"/>
            <p:cNvSpPr/>
            <p:nvPr/>
          </p:nvSpPr>
          <p:spPr>
            <a:xfrm>
              <a:off x="3356" y="2744"/>
              <a:ext cx="729" cy="657"/>
            </a:xfrm>
            <a:custGeom>
              <a:avLst/>
              <a:gdLst>
                <a:gd name="txL" fmla="*/ 0 w 729"/>
                <a:gd name="txT" fmla="*/ 0 h 657"/>
                <a:gd name="txR" fmla="*/ 729 w 729"/>
                <a:gd name="txB" fmla="*/ 657 h 657"/>
              </a:gdLst>
              <a:ahLst/>
              <a:cxnLst>
                <a:cxn ang="0">
                  <a:pos x="158" y="0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79" y="654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7">
                  <a:moveTo>
                    <a:pt x="158" y="0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79" y="654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55" name="Freeform 141"/>
            <p:cNvSpPr/>
            <p:nvPr/>
          </p:nvSpPr>
          <p:spPr>
            <a:xfrm>
              <a:off x="4508" y="2744"/>
              <a:ext cx="729" cy="657"/>
            </a:xfrm>
            <a:custGeom>
              <a:avLst/>
              <a:gdLst>
                <a:gd name="txL" fmla="*/ 0 w 729"/>
                <a:gd name="txT" fmla="*/ 0 h 657"/>
                <a:gd name="txR" fmla="*/ 729 w 729"/>
                <a:gd name="txB" fmla="*/ 657 h 657"/>
              </a:gdLst>
              <a:ahLst/>
              <a:cxnLst>
                <a:cxn ang="0">
                  <a:pos x="161" y="2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79" y="654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7">
                  <a:moveTo>
                    <a:pt x="161" y="2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79" y="654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56" name="Freeform 142"/>
            <p:cNvSpPr/>
            <p:nvPr/>
          </p:nvSpPr>
          <p:spPr>
            <a:xfrm>
              <a:off x="1400" y="2735"/>
              <a:ext cx="708" cy="571"/>
            </a:xfrm>
            <a:custGeom>
              <a:avLst/>
              <a:gdLst>
                <a:gd name="txL" fmla="*/ 0 w 708"/>
                <a:gd name="txT" fmla="*/ 0 h 571"/>
                <a:gd name="txR" fmla="*/ 708 w 708"/>
                <a:gd name="txB" fmla="*/ 571 h 571"/>
              </a:gdLst>
              <a:ahLst/>
              <a:cxnLst>
                <a:cxn ang="0">
                  <a:pos x="0" y="0"/>
                </a:cxn>
                <a:cxn ang="0">
                  <a:pos x="132" y="0"/>
                </a:cxn>
                <a:cxn ang="0">
                  <a:pos x="133" y="571"/>
                </a:cxn>
                <a:cxn ang="0">
                  <a:pos x="708" y="570"/>
                </a:cxn>
                <a:cxn ang="0">
                  <a:pos x="708" y="9"/>
                </a:cxn>
                <a:cxn ang="0">
                  <a:pos x="573" y="9"/>
                </a:cxn>
              </a:cxnLst>
              <a:rect l="txL" t="txT" r="txR" b="txB"/>
              <a:pathLst>
                <a:path w="708" h="571">
                  <a:moveTo>
                    <a:pt x="0" y="0"/>
                  </a:moveTo>
                  <a:lnTo>
                    <a:pt x="132" y="0"/>
                  </a:lnTo>
                  <a:lnTo>
                    <a:pt x="133" y="571"/>
                  </a:lnTo>
                  <a:lnTo>
                    <a:pt x="708" y="570"/>
                  </a:lnTo>
                  <a:lnTo>
                    <a:pt x="708" y="9"/>
                  </a:lnTo>
                  <a:lnTo>
                    <a:pt x="573" y="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57" name="Freeform 143"/>
            <p:cNvSpPr/>
            <p:nvPr/>
          </p:nvSpPr>
          <p:spPr>
            <a:xfrm>
              <a:off x="2552" y="2735"/>
              <a:ext cx="726" cy="567"/>
            </a:xfrm>
            <a:custGeom>
              <a:avLst/>
              <a:gdLst>
                <a:gd name="txL" fmla="*/ 0 w 726"/>
                <a:gd name="txT" fmla="*/ 0 h 567"/>
                <a:gd name="txR" fmla="*/ 726 w 726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48" y="1"/>
                </a:cxn>
                <a:cxn ang="0">
                  <a:pos x="147" y="567"/>
                </a:cxn>
                <a:cxn ang="0">
                  <a:pos x="726" y="567"/>
                </a:cxn>
                <a:cxn ang="0">
                  <a:pos x="726" y="6"/>
                </a:cxn>
                <a:cxn ang="0">
                  <a:pos x="579" y="6"/>
                </a:cxn>
              </a:cxnLst>
              <a:rect l="txL" t="txT" r="txR" b="txB"/>
              <a:pathLst>
                <a:path w="726" h="567">
                  <a:moveTo>
                    <a:pt x="0" y="0"/>
                  </a:moveTo>
                  <a:lnTo>
                    <a:pt x="148" y="1"/>
                  </a:lnTo>
                  <a:lnTo>
                    <a:pt x="147" y="567"/>
                  </a:lnTo>
                  <a:lnTo>
                    <a:pt x="726" y="567"/>
                  </a:lnTo>
                  <a:lnTo>
                    <a:pt x="726" y="6"/>
                  </a:lnTo>
                  <a:lnTo>
                    <a:pt x="579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58" name="Freeform 144"/>
            <p:cNvSpPr/>
            <p:nvPr/>
          </p:nvSpPr>
          <p:spPr>
            <a:xfrm>
              <a:off x="3704" y="2738"/>
              <a:ext cx="714" cy="567"/>
            </a:xfrm>
            <a:custGeom>
              <a:avLst/>
              <a:gdLst>
                <a:gd name="txL" fmla="*/ 0 w 714"/>
                <a:gd name="txT" fmla="*/ 0 h 567"/>
                <a:gd name="txR" fmla="*/ 714 w 714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36" y="1"/>
                </a:cxn>
                <a:cxn ang="0">
                  <a:pos x="135" y="567"/>
                </a:cxn>
                <a:cxn ang="0">
                  <a:pos x="714" y="567"/>
                </a:cxn>
                <a:cxn ang="0">
                  <a:pos x="714" y="6"/>
                </a:cxn>
                <a:cxn ang="0">
                  <a:pos x="576" y="5"/>
                </a:cxn>
              </a:cxnLst>
              <a:rect l="txL" t="txT" r="txR" b="txB"/>
              <a:pathLst>
                <a:path w="714" h="567">
                  <a:moveTo>
                    <a:pt x="0" y="0"/>
                  </a:moveTo>
                  <a:lnTo>
                    <a:pt x="136" y="1"/>
                  </a:lnTo>
                  <a:lnTo>
                    <a:pt x="135" y="567"/>
                  </a:lnTo>
                  <a:lnTo>
                    <a:pt x="714" y="567"/>
                  </a:lnTo>
                  <a:lnTo>
                    <a:pt x="714" y="6"/>
                  </a:lnTo>
                  <a:lnTo>
                    <a:pt x="576" y="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59" name="Freeform 145"/>
            <p:cNvSpPr/>
            <p:nvPr/>
          </p:nvSpPr>
          <p:spPr>
            <a:xfrm>
              <a:off x="4859" y="2738"/>
              <a:ext cx="711" cy="567"/>
            </a:xfrm>
            <a:custGeom>
              <a:avLst/>
              <a:gdLst>
                <a:gd name="txL" fmla="*/ 0 w 711"/>
                <a:gd name="txT" fmla="*/ 0 h 567"/>
                <a:gd name="txR" fmla="*/ 711 w 711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30" y="1"/>
                </a:cxn>
                <a:cxn ang="0">
                  <a:pos x="132" y="567"/>
                </a:cxn>
                <a:cxn ang="0">
                  <a:pos x="711" y="567"/>
                </a:cxn>
                <a:cxn ang="0">
                  <a:pos x="711" y="6"/>
                </a:cxn>
                <a:cxn ang="0">
                  <a:pos x="564" y="6"/>
                </a:cxn>
              </a:cxnLst>
              <a:rect l="txL" t="txT" r="txR" b="txB"/>
              <a:pathLst>
                <a:path w="711" h="567">
                  <a:moveTo>
                    <a:pt x="0" y="0"/>
                  </a:moveTo>
                  <a:lnTo>
                    <a:pt x="130" y="1"/>
                  </a:lnTo>
                  <a:lnTo>
                    <a:pt x="132" y="567"/>
                  </a:lnTo>
                  <a:lnTo>
                    <a:pt x="711" y="567"/>
                  </a:lnTo>
                  <a:lnTo>
                    <a:pt x="711" y="6"/>
                  </a:lnTo>
                  <a:lnTo>
                    <a:pt x="564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60" name="Freeform 146"/>
            <p:cNvSpPr/>
            <p:nvPr/>
          </p:nvSpPr>
          <p:spPr>
            <a:xfrm>
              <a:off x="1322" y="3398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61" name="Freeform 147"/>
            <p:cNvSpPr/>
            <p:nvPr/>
          </p:nvSpPr>
          <p:spPr>
            <a:xfrm>
              <a:off x="2491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62" name="Freeform 148"/>
            <p:cNvSpPr/>
            <p:nvPr/>
          </p:nvSpPr>
          <p:spPr>
            <a:xfrm>
              <a:off x="3643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63" name="Freeform 149"/>
            <p:cNvSpPr/>
            <p:nvPr/>
          </p:nvSpPr>
          <p:spPr>
            <a:xfrm>
              <a:off x="4795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64" name="Freeform 150"/>
            <p:cNvSpPr/>
            <p:nvPr/>
          </p:nvSpPr>
          <p:spPr>
            <a:xfrm>
              <a:off x="5276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65" name="Freeform 151"/>
            <p:cNvSpPr/>
            <p:nvPr/>
          </p:nvSpPr>
          <p:spPr>
            <a:xfrm>
              <a:off x="4124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66" name="Freeform 152"/>
            <p:cNvSpPr/>
            <p:nvPr/>
          </p:nvSpPr>
          <p:spPr>
            <a:xfrm>
              <a:off x="2972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67" name="Freeform 153"/>
            <p:cNvSpPr/>
            <p:nvPr/>
          </p:nvSpPr>
          <p:spPr>
            <a:xfrm>
              <a:off x="1819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68" name="Freeform 154"/>
            <p:cNvSpPr/>
            <p:nvPr/>
          </p:nvSpPr>
          <p:spPr>
            <a:xfrm>
              <a:off x="956" y="4025"/>
              <a:ext cx="4317" cy="1"/>
            </a:xfrm>
            <a:custGeom>
              <a:avLst/>
              <a:gdLst>
                <a:gd name="txL" fmla="*/ 0 w 4317"/>
                <a:gd name="txT" fmla="*/ 0 h 1"/>
                <a:gd name="txR" fmla="*/ 4317 w 431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317" y="0"/>
                </a:cxn>
              </a:cxnLst>
              <a:rect l="txL" t="txT" r="txR" b="txB"/>
              <a:pathLst>
                <a:path w="4317" h="1">
                  <a:moveTo>
                    <a:pt x="0" y="0"/>
                  </a:moveTo>
                  <a:lnTo>
                    <a:pt x="431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69" name="Freeform 155"/>
            <p:cNvSpPr/>
            <p:nvPr/>
          </p:nvSpPr>
          <p:spPr>
            <a:xfrm>
              <a:off x="956" y="4121"/>
              <a:ext cx="3837" cy="1"/>
            </a:xfrm>
            <a:custGeom>
              <a:avLst/>
              <a:gdLst>
                <a:gd name="txL" fmla="*/ 0 w 3837"/>
                <a:gd name="txT" fmla="*/ 0 h 1"/>
                <a:gd name="txR" fmla="*/ 3837 w 383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837" y="0"/>
                </a:cxn>
              </a:cxnLst>
              <a:rect l="txL" t="txT" r="txR" b="txB"/>
              <a:pathLst>
                <a:path w="3837" h="1">
                  <a:moveTo>
                    <a:pt x="0" y="0"/>
                  </a:moveTo>
                  <a:lnTo>
                    <a:pt x="38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70" name="Freeform 156"/>
            <p:cNvSpPr/>
            <p:nvPr/>
          </p:nvSpPr>
          <p:spPr>
            <a:xfrm>
              <a:off x="1322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71" name="Freeform 157"/>
            <p:cNvSpPr/>
            <p:nvPr/>
          </p:nvSpPr>
          <p:spPr>
            <a:xfrm>
              <a:off x="2491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72" name="Freeform 158"/>
            <p:cNvSpPr/>
            <p:nvPr/>
          </p:nvSpPr>
          <p:spPr>
            <a:xfrm>
              <a:off x="3643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73" name="Freeform 159"/>
            <p:cNvSpPr/>
            <p:nvPr/>
          </p:nvSpPr>
          <p:spPr>
            <a:xfrm>
              <a:off x="4791" y="3881"/>
              <a:ext cx="4" cy="247"/>
            </a:xfrm>
            <a:custGeom>
              <a:avLst/>
              <a:gdLst>
                <a:gd name="txL" fmla="*/ 0 w 4"/>
                <a:gd name="txT" fmla="*/ 0 h 247"/>
                <a:gd name="txR" fmla="*/ 4 w 4"/>
                <a:gd name="txB" fmla="*/ 247 h 247"/>
              </a:gdLst>
              <a:ahLst/>
              <a:cxnLst>
                <a:cxn ang="0">
                  <a:pos x="4" y="0"/>
                </a:cxn>
                <a:cxn ang="0">
                  <a:pos x="0" y="247"/>
                </a:cxn>
              </a:cxnLst>
              <a:rect l="txL" t="txT" r="txR" b="txB"/>
              <a:pathLst>
                <a:path w="4" h="247">
                  <a:moveTo>
                    <a:pt x="4" y="0"/>
                  </a:moveTo>
                  <a:lnTo>
                    <a:pt x="0" y="24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74" name="Freeform 160"/>
            <p:cNvSpPr/>
            <p:nvPr/>
          </p:nvSpPr>
          <p:spPr>
            <a:xfrm>
              <a:off x="5277" y="3881"/>
              <a:ext cx="1" cy="151"/>
            </a:xfrm>
            <a:custGeom>
              <a:avLst/>
              <a:gdLst>
                <a:gd name="txL" fmla="*/ 0 w 1"/>
                <a:gd name="txT" fmla="*/ 0 h 151"/>
                <a:gd name="txR" fmla="*/ 1 w 1"/>
                <a:gd name="txB" fmla="*/ 151 h 151"/>
              </a:gdLst>
              <a:ahLst/>
              <a:cxnLst>
                <a:cxn ang="0">
                  <a:pos x="0" y="0"/>
                </a:cxn>
                <a:cxn ang="0">
                  <a:pos x="0" y="151"/>
                </a:cxn>
              </a:cxnLst>
              <a:rect l="txL" t="txT" r="txR" b="txB"/>
              <a:pathLst>
                <a:path w="1" h="151">
                  <a:moveTo>
                    <a:pt x="0" y="0"/>
                  </a:moveTo>
                  <a:lnTo>
                    <a:pt x="0" y="15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75" name="Line 161"/>
            <p:cNvSpPr/>
            <p:nvPr/>
          </p:nvSpPr>
          <p:spPr>
            <a:xfrm>
              <a:off x="4124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79876" name="Line 162"/>
            <p:cNvSpPr/>
            <p:nvPr/>
          </p:nvSpPr>
          <p:spPr>
            <a:xfrm>
              <a:off x="2973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79877" name="Line 163"/>
            <p:cNvSpPr/>
            <p:nvPr/>
          </p:nvSpPr>
          <p:spPr>
            <a:xfrm>
              <a:off x="1820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79878" name="Rectangle 164"/>
            <p:cNvSpPr/>
            <p:nvPr/>
          </p:nvSpPr>
          <p:spPr>
            <a:xfrm>
              <a:off x="2317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79" name="Text Box 165"/>
            <p:cNvSpPr txBox="1"/>
            <p:nvPr/>
          </p:nvSpPr>
          <p:spPr>
            <a:xfrm>
              <a:off x="2348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80" name="Rectangle 166"/>
            <p:cNvSpPr/>
            <p:nvPr/>
          </p:nvSpPr>
          <p:spPr>
            <a:xfrm>
              <a:off x="3469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81" name="Text Box 167"/>
            <p:cNvSpPr txBox="1"/>
            <p:nvPr/>
          </p:nvSpPr>
          <p:spPr>
            <a:xfrm>
              <a:off x="3500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82" name="Rectangle 168"/>
            <p:cNvSpPr/>
            <p:nvPr/>
          </p:nvSpPr>
          <p:spPr>
            <a:xfrm>
              <a:off x="4621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83" name="Text Box 169"/>
            <p:cNvSpPr txBox="1"/>
            <p:nvPr/>
          </p:nvSpPr>
          <p:spPr>
            <a:xfrm>
              <a:off x="4652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84" name="Line 170"/>
            <p:cNvSpPr/>
            <p:nvPr/>
          </p:nvSpPr>
          <p:spPr>
            <a:xfrm>
              <a:off x="1964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9885" name="Line 171"/>
            <p:cNvSpPr/>
            <p:nvPr/>
          </p:nvSpPr>
          <p:spPr>
            <a:xfrm>
              <a:off x="3144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9886" name="Line 172"/>
            <p:cNvSpPr/>
            <p:nvPr/>
          </p:nvSpPr>
          <p:spPr>
            <a:xfrm>
              <a:off x="4293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9887" name="Line 173"/>
            <p:cNvSpPr/>
            <p:nvPr/>
          </p:nvSpPr>
          <p:spPr>
            <a:xfrm>
              <a:off x="5420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79888" name="Freeform 174"/>
            <p:cNvSpPr/>
            <p:nvPr/>
          </p:nvSpPr>
          <p:spPr>
            <a:xfrm>
              <a:off x="3033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89" name="Freeform 175"/>
            <p:cNvSpPr/>
            <p:nvPr/>
          </p:nvSpPr>
          <p:spPr>
            <a:xfrm>
              <a:off x="4185" y="2691"/>
              <a:ext cx="1" cy="525"/>
            </a:xfrm>
            <a:custGeom>
              <a:avLst/>
              <a:gdLst>
                <a:gd name="txL" fmla="*/ 0 w 1"/>
                <a:gd name="txT" fmla="*/ 0 h 525"/>
                <a:gd name="txR" fmla="*/ 1 w 1"/>
                <a:gd name="txB" fmla="*/ 525 h 525"/>
              </a:gdLst>
              <a:ahLst/>
              <a:cxnLst>
                <a:cxn ang="0">
                  <a:pos x="0" y="0"/>
                </a:cxn>
                <a:cxn ang="0">
                  <a:pos x="0" y="525"/>
                </a:cxn>
              </a:cxnLst>
              <a:rect l="txL" t="txT" r="txR" b="txB"/>
              <a:pathLst>
                <a:path w="1" h="525">
                  <a:moveTo>
                    <a:pt x="0" y="0"/>
                  </a:moveTo>
                  <a:lnTo>
                    <a:pt x="0" y="52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90" name="Freeform 176"/>
            <p:cNvSpPr/>
            <p:nvPr/>
          </p:nvSpPr>
          <p:spPr>
            <a:xfrm>
              <a:off x="5325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891" name="Text Box 177"/>
            <p:cNvSpPr txBox="1"/>
            <p:nvPr/>
          </p:nvSpPr>
          <p:spPr>
            <a:xfrm rot="5400000">
              <a:off x="1175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92" name="Text Box 178"/>
            <p:cNvSpPr txBox="1"/>
            <p:nvPr/>
          </p:nvSpPr>
          <p:spPr>
            <a:xfrm rot="5400000">
              <a:off x="1751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93" name="Text Box 179"/>
            <p:cNvSpPr txBox="1"/>
            <p:nvPr/>
          </p:nvSpPr>
          <p:spPr>
            <a:xfrm rot="5400000">
              <a:off x="2327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94" name="Text Box 180"/>
            <p:cNvSpPr txBox="1"/>
            <p:nvPr/>
          </p:nvSpPr>
          <p:spPr>
            <a:xfrm rot="5400000">
              <a:off x="2903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95" name="Text Box 181"/>
            <p:cNvSpPr txBox="1"/>
            <p:nvPr/>
          </p:nvSpPr>
          <p:spPr>
            <a:xfrm rot="5400000">
              <a:off x="3478" y="161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96" name="Text Box 182"/>
            <p:cNvSpPr txBox="1"/>
            <p:nvPr/>
          </p:nvSpPr>
          <p:spPr>
            <a:xfrm rot="5400000">
              <a:off x="4055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97" name="Text Box 183"/>
            <p:cNvSpPr txBox="1"/>
            <p:nvPr/>
          </p:nvSpPr>
          <p:spPr>
            <a:xfrm rot="5400000">
              <a:off x="4631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98" name="Text Box 184"/>
            <p:cNvSpPr txBox="1"/>
            <p:nvPr/>
          </p:nvSpPr>
          <p:spPr>
            <a:xfrm rot="5400000">
              <a:off x="5226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899" name="Text Box 185"/>
            <p:cNvSpPr txBox="1"/>
            <p:nvPr/>
          </p:nvSpPr>
          <p:spPr>
            <a:xfrm>
              <a:off x="660" y="791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00" name="Text Box 186"/>
            <p:cNvSpPr txBox="1"/>
            <p:nvPr/>
          </p:nvSpPr>
          <p:spPr>
            <a:xfrm>
              <a:off x="660" y="1383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01" name="Text Box 187"/>
            <p:cNvSpPr txBox="1"/>
            <p:nvPr/>
          </p:nvSpPr>
          <p:spPr>
            <a:xfrm>
              <a:off x="624" y="195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63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02" name="Line 188"/>
            <p:cNvSpPr/>
            <p:nvPr/>
          </p:nvSpPr>
          <p:spPr>
            <a:xfrm>
              <a:off x="332" y="2537"/>
              <a:ext cx="5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903" name="Text Box 189"/>
            <p:cNvSpPr txBox="1"/>
            <p:nvPr/>
          </p:nvSpPr>
          <p:spPr>
            <a:xfrm>
              <a:off x="660" y="2727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04" name="Text Box 190"/>
            <p:cNvSpPr txBox="1"/>
            <p:nvPr/>
          </p:nvSpPr>
          <p:spPr>
            <a:xfrm>
              <a:off x="624" y="315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15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05" name="Text Box 191"/>
            <p:cNvSpPr txBox="1"/>
            <p:nvPr/>
          </p:nvSpPr>
          <p:spPr>
            <a:xfrm rot="5400000">
              <a:off x="647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06" name="Text Box 192"/>
            <p:cNvSpPr txBox="1"/>
            <p:nvPr/>
          </p:nvSpPr>
          <p:spPr>
            <a:xfrm rot="5400000">
              <a:off x="647" y="285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07" name="Text Box 193"/>
            <p:cNvSpPr txBox="1"/>
            <p:nvPr/>
          </p:nvSpPr>
          <p:spPr>
            <a:xfrm>
              <a:off x="349" y="101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行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08" name="Text Box 194"/>
            <p:cNvSpPr txBox="1"/>
            <p:nvPr/>
          </p:nvSpPr>
          <p:spPr>
            <a:xfrm>
              <a:off x="349" y="126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09" name="Text Box 195"/>
            <p:cNvSpPr txBox="1"/>
            <p:nvPr/>
          </p:nvSpPr>
          <p:spPr>
            <a:xfrm>
              <a:off x="349" y="151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10" name="Text Box 196"/>
            <p:cNvSpPr txBox="1"/>
            <p:nvPr/>
          </p:nvSpPr>
          <p:spPr>
            <a:xfrm>
              <a:off x="349" y="175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11" name="Text Box 197"/>
            <p:cNvSpPr txBox="1"/>
            <p:nvPr/>
          </p:nvSpPr>
          <p:spPr>
            <a:xfrm>
              <a:off x="349" y="200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12" name="Text Box 198"/>
            <p:cNvSpPr txBox="1"/>
            <p:nvPr/>
          </p:nvSpPr>
          <p:spPr>
            <a:xfrm>
              <a:off x="376" y="263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列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13" name="Text Box 199"/>
            <p:cNvSpPr txBox="1"/>
            <p:nvPr/>
          </p:nvSpPr>
          <p:spPr>
            <a:xfrm>
              <a:off x="376" y="288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14" name="Text Box 200"/>
            <p:cNvSpPr txBox="1"/>
            <p:nvPr/>
          </p:nvSpPr>
          <p:spPr>
            <a:xfrm>
              <a:off x="376" y="313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15" name="Text Box 201"/>
            <p:cNvSpPr txBox="1"/>
            <p:nvPr/>
          </p:nvSpPr>
          <p:spPr>
            <a:xfrm>
              <a:off x="376" y="337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16" name="Text Box 202"/>
            <p:cNvSpPr txBox="1"/>
            <p:nvPr/>
          </p:nvSpPr>
          <p:spPr>
            <a:xfrm>
              <a:off x="376" y="362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917" name="Text Box 203"/>
            <p:cNvSpPr txBox="1"/>
            <p:nvPr/>
          </p:nvSpPr>
          <p:spPr>
            <a:xfrm>
              <a:off x="194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9918" name="Text Box 204"/>
            <p:cNvSpPr txBox="1"/>
            <p:nvPr/>
          </p:nvSpPr>
          <p:spPr>
            <a:xfrm>
              <a:off x="310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9919" name="Text Box 205"/>
            <p:cNvSpPr txBox="1"/>
            <p:nvPr/>
          </p:nvSpPr>
          <p:spPr>
            <a:xfrm>
              <a:off x="4258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9920" name="Text Box 206"/>
            <p:cNvSpPr txBox="1"/>
            <p:nvPr/>
          </p:nvSpPr>
          <p:spPr>
            <a:xfrm>
              <a:off x="541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79921" name="Line 207"/>
            <p:cNvSpPr/>
            <p:nvPr/>
          </p:nvSpPr>
          <p:spPr>
            <a:xfrm>
              <a:off x="140" y="905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9922" name="Line 208"/>
            <p:cNvSpPr/>
            <p:nvPr/>
          </p:nvSpPr>
          <p:spPr>
            <a:xfrm>
              <a:off x="140" y="1164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9923" name="Line 209"/>
            <p:cNvSpPr/>
            <p:nvPr/>
          </p:nvSpPr>
          <p:spPr>
            <a:xfrm>
              <a:off x="140" y="1423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9924" name="Line 210"/>
            <p:cNvSpPr/>
            <p:nvPr/>
          </p:nvSpPr>
          <p:spPr>
            <a:xfrm>
              <a:off x="140" y="168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9925" name="Line 211"/>
            <p:cNvSpPr/>
            <p:nvPr/>
          </p:nvSpPr>
          <p:spPr>
            <a:xfrm>
              <a:off x="140" y="194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9926" name="Line 212"/>
            <p:cNvSpPr/>
            <p:nvPr/>
          </p:nvSpPr>
          <p:spPr>
            <a:xfrm>
              <a:off x="140" y="220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9927" name="Line 213"/>
            <p:cNvSpPr/>
            <p:nvPr/>
          </p:nvSpPr>
          <p:spPr>
            <a:xfrm>
              <a:off x="140" y="28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9928" name="Line 214"/>
            <p:cNvSpPr/>
            <p:nvPr/>
          </p:nvSpPr>
          <p:spPr>
            <a:xfrm>
              <a:off x="140" y="313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9929" name="Line 215"/>
            <p:cNvSpPr/>
            <p:nvPr/>
          </p:nvSpPr>
          <p:spPr>
            <a:xfrm>
              <a:off x="140" y="339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9930" name="Line 216"/>
            <p:cNvSpPr/>
            <p:nvPr/>
          </p:nvSpPr>
          <p:spPr>
            <a:xfrm>
              <a:off x="140" y="365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79931" name="Text Box 217"/>
            <p:cNvSpPr txBox="1"/>
            <p:nvPr/>
          </p:nvSpPr>
          <p:spPr>
            <a:xfrm>
              <a:off x="648" y="3890"/>
              <a:ext cx="3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932" name="Line 218"/>
            <p:cNvSpPr/>
            <p:nvPr/>
          </p:nvSpPr>
          <p:spPr>
            <a:xfrm>
              <a:off x="682" y="3923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9933" name="Text Box 219"/>
            <p:cNvSpPr txBox="1"/>
            <p:nvPr/>
          </p:nvSpPr>
          <p:spPr>
            <a:xfrm>
              <a:off x="669" y="4025"/>
              <a:ext cx="3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CS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934" name="Line 220"/>
            <p:cNvSpPr/>
            <p:nvPr/>
          </p:nvSpPr>
          <p:spPr>
            <a:xfrm>
              <a:off x="726" y="4079"/>
              <a:ext cx="19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79555" name="Group 221"/>
          <p:cNvGrpSpPr/>
          <p:nvPr/>
        </p:nvGrpSpPr>
        <p:grpSpPr>
          <a:xfrm>
            <a:off x="1746250" y="1069975"/>
            <a:ext cx="309563" cy="4779963"/>
            <a:chOff x="140" y="674"/>
            <a:chExt cx="195" cy="3011"/>
          </a:xfrm>
        </p:grpSpPr>
        <p:sp>
          <p:nvSpPr>
            <p:cNvPr id="279721" name="Text Box 222"/>
            <p:cNvSpPr txBox="1"/>
            <p:nvPr/>
          </p:nvSpPr>
          <p:spPr>
            <a:xfrm>
              <a:off x="140" y="67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722" name="Text Box 223"/>
            <p:cNvSpPr txBox="1"/>
            <p:nvPr/>
          </p:nvSpPr>
          <p:spPr>
            <a:xfrm>
              <a:off x="140" y="933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723" name="Text Box 224"/>
            <p:cNvSpPr txBox="1"/>
            <p:nvPr/>
          </p:nvSpPr>
          <p:spPr>
            <a:xfrm>
              <a:off x="140" y="119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724" name="Text Box 225"/>
            <p:cNvSpPr txBox="1"/>
            <p:nvPr/>
          </p:nvSpPr>
          <p:spPr>
            <a:xfrm>
              <a:off x="140" y="1451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725" name="Text Box 226"/>
            <p:cNvSpPr txBox="1"/>
            <p:nvPr/>
          </p:nvSpPr>
          <p:spPr>
            <a:xfrm>
              <a:off x="140" y="171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726" name="Text Box 227"/>
            <p:cNvSpPr txBox="1"/>
            <p:nvPr/>
          </p:nvSpPr>
          <p:spPr>
            <a:xfrm>
              <a:off x="140" y="197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727" name="Text Box 228"/>
            <p:cNvSpPr txBox="1"/>
            <p:nvPr/>
          </p:nvSpPr>
          <p:spPr>
            <a:xfrm>
              <a:off x="140" y="2657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728" name="Text Box 229"/>
            <p:cNvSpPr txBox="1"/>
            <p:nvPr/>
          </p:nvSpPr>
          <p:spPr>
            <a:xfrm>
              <a:off x="140" y="291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729" name="Text Box 230"/>
            <p:cNvSpPr txBox="1"/>
            <p:nvPr/>
          </p:nvSpPr>
          <p:spPr>
            <a:xfrm>
              <a:off x="140" y="317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730" name="Text Box 231"/>
            <p:cNvSpPr txBox="1"/>
            <p:nvPr/>
          </p:nvSpPr>
          <p:spPr>
            <a:xfrm>
              <a:off x="140" y="343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9556" name="Group 232"/>
          <p:cNvGrpSpPr/>
          <p:nvPr/>
        </p:nvGrpSpPr>
        <p:grpSpPr>
          <a:xfrm>
            <a:off x="2976563" y="4179888"/>
            <a:ext cx="6262687" cy="401637"/>
            <a:chOff x="915" y="2633"/>
            <a:chExt cx="3945" cy="253"/>
          </a:xfrm>
        </p:grpSpPr>
        <p:grpSp>
          <p:nvGrpSpPr>
            <p:cNvPr id="279683" name="Group 233"/>
            <p:cNvGrpSpPr/>
            <p:nvPr/>
          </p:nvGrpSpPr>
          <p:grpSpPr>
            <a:xfrm>
              <a:off x="915" y="2696"/>
              <a:ext cx="3858" cy="190"/>
              <a:chOff x="915" y="2696"/>
              <a:chExt cx="3858" cy="190"/>
            </a:xfrm>
          </p:grpSpPr>
          <p:sp>
            <p:nvSpPr>
              <p:cNvPr id="279716" name="Freeform 234"/>
              <p:cNvSpPr/>
              <p:nvPr/>
            </p:nvSpPr>
            <p:spPr>
              <a:xfrm>
                <a:off x="1304" y="2707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9717" name="Freeform 235"/>
              <p:cNvSpPr/>
              <p:nvPr/>
            </p:nvSpPr>
            <p:spPr>
              <a:xfrm>
                <a:off x="2457" y="2710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9718" name="Freeform 236"/>
              <p:cNvSpPr/>
              <p:nvPr/>
            </p:nvSpPr>
            <p:spPr>
              <a:xfrm>
                <a:off x="3609" y="2710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9719" name="Freeform 237"/>
              <p:cNvSpPr/>
              <p:nvPr/>
            </p:nvSpPr>
            <p:spPr>
              <a:xfrm>
                <a:off x="4761" y="2696"/>
                <a:ext cx="1" cy="178"/>
              </a:xfrm>
              <a:custGeom>
                <a:avLst/>
                <a:gdLst>
                  <a:gd name="txL" fmla="*/ 0 w 1"/>
                  <a:gd name="txT" fmla="*/ 0 h 178"/>
                  <a:gd name="txR" fmla="*/ 1 w 1"/>
                  <a:gd name="txB" fmla="*/ 178 h 178"/>
                </a:gdLst>
                <a:ahLst/>
                <a:cxnLst>
                  <a:cxn ang="0">
                    <a:pos x="0" y="0"/>
                  </a:cxn>
                  <a:cxn ang="0">
                    <a:pos x="0" y="178"/>
                  </a:cxn>
                </a:cxnLst>
                <a:rect l="txL" t="txT" r="txR" b="txB"/>
                <a:pathLst>
                  <a:path w="1" h="178">
                    <a:moveTo>
                      <a:pt x="0" y="0"/>
                    </a:moveTo>
                    <a:lnTo>
                      <a:pt x="0" y="178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9720" name="Freeform 238"/>
              <p:cNvSpPr/>
              <p:nvPr/>
            </p:nvSpPr>
            <p:spPr>
              <a:xfrm>
                <a:off x="915" y="2865"/>
                <a:ext cx="3858" cy="2"/>
              </a:xfrm>
              <a:custGeom>
                <a:avLst/>
                <a:gdLst>
                  <a:gd name="txL" fmla="*/ 0 w 3858"/>
                  <a:gd name="txT" fmla="*/ 0 h 2"/>
                  <a:gd name="txR" fmla="*/ 3858 w 3858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3858" y="0"/>
                  </a:cxn>
                </a:cxnLst>
                <a:rect l="txL" t="txT" r="txR" b="txB"/>
                <a:pathLst>
                  <a:path w="3858" h="2">
                    <a:moveTo>
                      <a:pt x="0" y="2"/>
                    </a:moveTo>
                    <a:lnTo>
                      <a:pt x="3858" y="0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79684" name="Group 239"/>
            <p:cNvGrpSpPr/>
            <p:nvPr/>
          </p:nvGrpSpPr>
          <p:grpSpPr>
            <a:xfrm>
              <a:off x="1213" y="2633"/>
              <a:ext cx="192" cy="158"/>
              <a:chOff x="1440" y="2928"/>
              <a:chExt cx="192" cy="158"/>
            </a:xfrm>
          </p:grpSpPr>
          <p:grpSp>
            <p:nvGrpSpPr>
              <p:cNvPr id="279709" name="Group 240"/>
              <p:cNvGrpSpPr/>
              <p:nvPr/>
            </p:nvGrpSpPr>
            <p:grpSpPr>
              <a:xfrm rot="5400000">
                <a:off x="1529" y="2983"/>
                <a:ext cx="158" cy="48"/>
                <a:chOff x="3459" y="1296"/>
                <a:chExt cx="243" cy="48"/>
              </a:xfrm>
            </p:grpSpPr>
            <p:sp>
              <p:nvSpPr>
                <p:cNvPr id="279714" name="Line 241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715" name="Line 242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9710" name="Freeform 243"/>
              <p:cNvSpPr/>
              <p:nvPr/>
            </p:nvSpPr>
            <p:spPr>
              <a:xfrm>
                <a:off x="1487" y="3003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9711" name="Group 244"/>
              <p:cNvGrpSpPr/>
              <p:nvPr/>
            </p:nvGrpSpPr>
            <p:grpSpPr>
              <a:xfrm rot="-5400000">
                <a:off x="1385" y="2983"/>
                <a:ext cx="158" cy="48"/>
                <a:chOff x="3459" y="1296"/>
                <a:chExt cx="243" cy="48"/>
              </a:xfrm>
            </p:grpSpPr>
            <p:sp>
              <p:nvSpPr>
                <p:cNvPr id="279712" name="Line 245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713" name="Line 246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79685" name="Group 247"/>
            <p:cNvGrpSpPr/>
            <p:nvPr/>
          </p:nvGrpSpPr>
          <p:grpSpPr>
            <a:xfrm>
              <a:off x="2365" y="2635"/>
              <a:ext cx="192" cy="158"/>
              <a:chOff x="1440" y="2928"/>
              <a:chExt cx="192" cy="158"/>
            </a:xfrm>
          </p:grpSpPr>
          <p:grpSp>
            <p:nvGrpSpPr>
              <p:cNvPr id="279702" name="Group 248"/>
              <p:cNvGrpSpPr/>
              <p:nvPr/>
            </p:nvGrpSpPr>
            <p:grpSpPr>
              <a:xfrm rot="5400000">
                <a:off x="1529" y="2983"/>
                <a:ext cx="158" cy="48"/>
                <a:chOff x="3459" y="1296"/>
                <a:chExt cx="243" cy="48"/>
              </a:xfrm>
            </p:grpSpPr>
            <p:sp>
              <p:nvSpPr>
                <p:cNvPr id="279707" name="Line 249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708" name="Line 250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9703" name="Freeform 251"/>
              <p:cNvSpPr/>
              <p:nvPr/>
            </p:nvSpPr>
            <p:spPr>
              <a:xfrm>
                <a:off x="1487" y="3003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9704" name="Group 252"/>
              <p:cNvGrpSpPr/>
              <p:nvPr/>
            </p:nvGrpSpPr>
            <p:grpSpPr>
              <a:xfrm rot="-5400000">
                <a:off x="1385" y="2983"/>
                <a:ext cx="158" cy="48"/>
                <a:chOff x="3459" y="1296"/>
                <a:chExt cx="243" cy="48"/>
              </a:xfrm>
            </p:grpSpPr>
            <p:sp>
              <p:nvSpPr>
                <p:cNvPr id="279705" name="Line 253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706" name="Line 254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79686" name="Group 255"/>
            <p:cNvGrpSpPr/>
            <p:nvPr/>
          </p:nvGrpSpPr>
          <p:grpSpPr>
            <a:xfrm>
              <a:off x="3517" y="2635"/>
              <a:ext cx="192" cy="158"/>
              <a:chOff x="1440" y="2928"/>
              <a:chExt cx="192" cy="158"/>
            </a:xfrm>
          </p:grpSpPr>
          <p:grpSp>
            <p:nvGrpSpPr>
              <p:cNvPr id="279695" name="Group 256"/>
              <p:cNvGrpSpPr/>
              <p:nvPr/>
            </p:nvGrpSpPr>
            <p:grpSpPr>
              <a:xfrm rot="5400000">
                <a:off x="1529" y="2983"/>
                <a:ext cx="158" cy="48"/>
                <a:chOff x="3459" y="1296"/>
                <a:chExt cx="243" cy="48"/>
              </a:xfrm>
            </p:grpSpPr>
            <p:sp>
              <p:nvSpPr>
                <p:cNvPr id="279700" name="Line 257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701" name="Line 258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9696" name="Freeform 259"/>
              <p:cNvSpPr/>
              <p:nvPr/>
            </p:nvSpPr>
            <p:spPr>
              <a:xfrm>
                <a:off x="1487" y="3003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9697" name="Group 260"/>
              <p:cNvGrpSpPr/>
              <p:nvPr/>
            </p:nvGrpSpPr>
            <p:grpSpPr>
              <a:xfrm rot="-5400000">
                <a:off x="1385" y="2983"/>
                <a:ext cx="158" cy="48"/>
                <a:chOff x="3459" y="1296"/>
                <a:chExt cx="243" cy="48"/>
              </a:xfrm>
            </p:grpSpPr>
            <p:sp>
              <p:nvSpPr>
                <p:cNvPr id="279698" name="Line 261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699" name="Line 262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79687" name="Group 263"/>
            <p:cNvGrpSpPr/>
            <p:nvPr/>
          </p:nvGrpSpPr>
          <p:grpSpPr>
            <a:xfrm>
              <a:off x="4668" y="2635"/>
              <a:ext cx="192" cy="158"/>
              <a:chOff x="1440" y="2928"/>
              <a:chExt cx="192" cy="158"/>
            </a:xfrm>
          </p:grpSpPr>
          <p:grpSp>
            <p:nvGrpSpPr>
              <p:cNvPr id="279688" name="Group 264"/>
              <p:cNvGrpSpPr/>
              <p:nvPr/>
            </p:nvGrpSpPr>
            <p:grpSpPr>
              <a:xfrm rot="5400000">
                <a:off x="1529" y="2983"/>
                <a:ext cx="158" cy="48"/>
                <a:chOff x="3459" y="1296"/>
                <a:chExt cx="243" cy="48"/>
              </a:xfrm>
            </p:grpSpPr>
            <p:sp>
              <p:nvSpPr>
                <p:cNvPr id="279693" name="Line 265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694" name="Line 266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79689" name="Freeform 267"/>
              <p:cNvSpPr/>
              <p:nvPr/>
            </p:nvSpPr>
            <p:spPr>
              <a:xfrm>
                <a:off x="1487" y="3003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79690" name="Group 268"/>
              <p:cNvGrpSpPr/>
              <p:nvPr/>
            </p:nvGrpSpPr>
            <p:grpSpPr>
              <a:xfrm rot="-5400000">
                <a:off x="1385" y="2983"/>
                <a:ext cx="158" cy="48"/>
                <a:chOff x="3459" y="1296"/>
                <a:chExt cx="243" cy="48"/>
              </a:xfrm>
            </p:grpSpPr>
            <p:sp>
              <p:nvSpPr>
                <p:cNvPr id="279691" name="Line 269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79692" name="Line 270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279557" name="Group 271"/>
          <p:cNvGrpSpPr/>
          <p:nvPr/>
        </p:nvGrpSpPr>
        <p:grpSpPr>
          <a:xfrm>
            <a:off x="3394076" y="1909763"/>
            <a:ext cx="6075362" cy="2339975"/>
            <a:chOff x="1178" y="1203"/>
            <a:chExt cx="3827" cy="1474"/>
          </a:xfrm>
        </p:grpSpPr>
        <p:sp>
          <p:nvSpPr>
            <p:cNvPr id="279675" name="Freeform 272"/>
            <p:cNvSpPr/>
            <p:nvPr/>
          </p:nvSpPr>
          <p:spPr>
            <a:xfrm>
              <a:off x="1422" y="1203"/>
              <a:ext cx="121" cy="1474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676" name="Text Box 273"/>
            <p:cNvSpPr txBox="1"/>
            <p:nvPr/>
          </p:nvSpPr>
          <p:spPr>
            <a:xfrm rot="5400000">
              <a:off x="1176" y="1625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677" name="Freeform 274"/>
            <p:cNvSpPr/>
            <p:nvPr/>
          </p:nvSpPr>
          <p:spPr>
            <a:xfrm>
              <a:off x="2556" y="1205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678" name="Text Box 275"/>
            <p:cNvSpPr txBox="1"/>
            <p:nvPr/>
          </p:nvSpPr>
          <p:spPr>
            <a:xfrm rot="5400000">
              <a:off x="2329" y="1625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679" name="Freeform 276"/>
            <p:cNvSpPr/>
            <p:nvPr/>
          </p:nvSpPr>
          <p:spPr>
            <a:xfrm>
              <a:off x="3711" y="1206"/>
              <a:ext cx="151" cy="1471"/>
            </a:xfrm>
            <a:custGeom>
              <a:avLst/>
              <a:gdLst>
                <a:gd name="txL" fmla="*/ 0 w 151"/>
                <a:gd name="txT" fmla="*/ 0 h 1471"/>
                <a:gd name="txR" fmla="*/ 151 w 151"/>
                <a:gd name="txB" fmla="*/ 1471 h 1471"/>
              </a:gdLst>
              <a:ahLst/>
              <a:cxnLst>
                <a:cxn ang="0">
                  <a:pos x="54" y="0"/>
                </a:cxn>
                <a:cxn ang="0">
                  <a:pos x="151" y="0"/>
                </a:cxn>
                <a:cxn ang="0">
                  <a:pos x="150" y="1471"/>
                </a:cxn>
                <a:cxn ang="0">
                  <a:pos x="0" y="1470"/>
                </a:cxn>
              </a:cxnLst>
              <a:rect l="txL" t="txT" r="txR" b="txB"/>
              <a:pathLst>
                <a:path w="151" h="1471">
                  <a:moveTo>
                    <a:pt x="54" y="0"/>
                  </a:moveTo>
                  <a:lnTo>
                    <a:pt x="151" y="0"/>
                  </a:lnTo>
                  <a:lnTo>
                    <a:pt x="150" y="1471"/>
                  </a:lnTo>
                  <a:lnTo>
                    <a:pt x="0" y="147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680" name="Text Box 277"/>
            <p:cNvSpPr txBox="1"/>
            <p:nvPr/>
          </p:nvSpPr>
          <p:spPr>
            <a:xfrm rot="5400000">
              <a:off x="3475" y="160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681" name="Freeform 278"/>
            <p:cNvSpPr/>
            <p:nvPr/>
          </p:nvSpPr>
          <p:spPr>
            <a:xfrm>
              <a:off x="4860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42" y="1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42" y="1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682" name="Text Box 279"/>
            <p:cNvSpPr txBox="1"/>
            <p:nvPr/>
          </p:nvSpPr>
          <p:spPr>
            <a:xfrm rot="5400000">
              <a:off x="4630" y="1612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9558" name="Group 280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79658" name="Line 281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9659" name="Freeform 282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660" name="Line 283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9661" name="Freeform 284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662" name="Line 285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79663" name="Text Box 286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664" name="Text Box 287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665" name="Text Box 288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666" name="Text Box 289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79667" name="Line 290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9668" name="Line 291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9669" name="Line 292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9670" name="Line 293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9671" name="Line 294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9672" name="Line 295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9673" name="Line 296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79674" name="Line 297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16362" name="Rectangle 29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9560" name="Text Box 299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读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9561" name="Group 300"/>
          <p:cNvGrpSpPr/>
          <p:nvPr/>
        </p:nvGrpSpPr>
        <p:grpSpPr>
          <a:xfrm>
            <a:off x="3752850" y="4351338"/>
            <a:ext cx="6173788" cy="1295400"/>
            <a:chOff x="1404" y="2741"/>
            <a:chExt cx="3889" cy="816"/>
          </a:xfrm>
        </p:grpSpPr>
        <p:sp>
          <p:nvSpPr>
            <p:cNvPr id="279654" name="Freeform 301"/>
            <p:cNvSpPr/>
            <p:nvPr/>
          </p:nvSpPr>
          <p:spPr>
            <a:xfrm>
              <a:off x="1404" y="2741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655" name="Freeform 302"/>
            <p:cNvSpPr/>
            <p:nvPr/>
          </p:nvSpPr>
          <p:spPr>
            <a:xfrm>
              <a:off x="4861" y="2741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656" name="Freeform 303"/>
            <p:cNvSpPr/>
            <p:nvPr/>
          </p:nvSpPr>
          <p:spPr>
            <a:xfrm>
              <a:off x="3709" y="2741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79657" name="Freeform 304"/>
            <p:cNvSpPr/>
            <p:nvPr/>
          </p:nvSpPr>
          <p:spPr>
            <a:xfrm>
              <a:off x="2555" y="2741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79562" name="Group 305"/>
          <p:cNvGrpSpPr/>
          <p:nvPr/>
        </p:nvGrpSpPr>
        <p:grpSpPr>
          <a:xfrm>
            <a:off x="2955925" y="1360488"/>
            <a:ext cx="7250113" cy="663575"/>
            <a:chOff x="902" y="857"/>
            <a:chExt cx="4567" cy="418"/>
          </a:xfrm>
        </p:grpSpPr>
        <p:grpSp>
          <p:nvGrpSpPr>
            <p:cNvPr id="279630" name="Group 306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79635" name="Group 307"/>
              <p:cNvGrpSpPr/>
              <p:nvPr/>
            </p:nvGrpSpPr>
            <p:grpSpPr>
              <a:xfrm>
                <a:off x="1152" y="1024"/>
                <a:ext cx="4317" cy="251"/>
                <a:chOff x="1176" y="1079"/>
                <a:chExt cx="4317" cy="251"/>
              </a:xfrm>
            </p:grpSpPr>
            <p:sp>
              <p:nvSpPr>
                <p:cNvPr id="279646" name="Rectangle 308"/>
                <p:cNvSpPr/>
                <p:nvPr/>
              </p:nvSpPr>
              <p:spPr>
                <a:xfrm>
                  <a:off x="175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15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9647" name="Rectangle 309"/>
                <p:cNvSpPr/>
                <p:nvPr/>
              </p:nvSpPr>
              <p:spPr>
                <a:xfrm>
                  <a:off x="117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9648" name="Rectangle 310"/>
                <p:cNvSpPr/>
                <p:nvPr/>
              </p:nvSpPr>
              <p:spPr>
                <a:xfrm>
                  <a:off x="289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31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9649" name="Rectangle 311"/>
                <p:cNvSpPr/>
                <p:nvPr/>
              </p:nvSpPr>
              <p:spPr>
                <a:xfrm>
                  <a:off x="231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9650" name="Rectangle 312"/>
                <p:cNvSpPr/>
                <p:nvPr/>
              </p:nvSpPr>
              <p:spPr>
                <a:xfrm>
                  <a:off x="4067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47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9651" name="Rectangle 313"/>
                <p:cNvSpPr/>
                <p:nvPr/>
              </p:nvSpPr>
              <p:spPr>
                <a:xfrm>
                  <a:off x="3491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9652" name="Rectangle 314"/>
                <p:cNvSpPr/>
                <p:nvPr/>
              </p:nvSpPr>
              <p:spPr>
                <a:xfrm>
                  <a:off x="5205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63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9653" name="Rectangle 315"/>
                <p:cNvSpPr/>
                <p:nvPr/>
              </p:nvSpPr>
              <p:spPr>
                <a:xfrm>
                  <a:off x="462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48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79636" name="Group 316"/>
              <p:cNvGrpSpPr/>
              <p:nvPr/>
            </p:nvGrpSpPr>
            <p:grpSpPr>
              <a:xfrm>
                <a:off x="902" y="857"/>
                <a:ext cx="4419" cy="145"/>
                <a:chOff x="902" y="857"/>
                <a:chExt cx="4419" cy="145"/>
              </a:xfrm>
            </p:grpSpPr>
            <p:sp>
              <p:nvSpPr>
                <p:cNvPr id="279637" name="Freeform 317"/>
                <p:cNvSpPr/>
                <p:nvPr/>
              </p:nvSpPr>
              <p:spPr>
                <a:xfrm>
                  <a:off x="902" y="857"/>
                  <a:ext cx="4419" cy="1"/>
                </a:xfrm>
                <a:custGeom>
                  <a:avLst/>
                  <a:gdLst>
                    <a:gd name="txL" fmla="*/ 0 w 4419"/>
                    <a:gd name="txT" fmla="*/ 0 h 1"/>
                    <a:gd name="txR" fmla="*/ 4419 w 4419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9" y="0"/>
                    </a:cxn>
                  </a:cxnLst>
                  <a:rect l="txL" t="txT" r="txR" b="txB"/>
                  <a:pathLst>
                    <a:path w="4419" h="1">
                      <a:moveTo>
                        <a:pt x="0" y="1"/>
                      </a:moveTo>
                      <a:lnTo>
                        <a:pt x="4419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638" name="Line 318"/>
                <p:cNvSpPr/>
                <p:nvPr/>
              </p:nvSpPr>
              <p:spPr>
                <a:xfrm>
                  <a:off x="127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9639" name="Line 319"/>
                <p:cNvSpPr/>
                <p:nvPr/>
              </p:nvSpPr>
              <p:spPr>
                <a:xfrm>
                  <a:off x="184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9640" name="Line 320"/>
                <p:cNvSpPr/>
                <p:nvPr/>
              </p:nvSpPr>
              <p:spPr>
                <a:xfrm>
                  <a:off x="242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9641" name="Line 321"/>
                <p:cNvSpPr/>
                <p:nvPr/>
              </p:nvSpPr>
              <p:spPr>
                <a:xfrm>
                  <a:off x="3000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9642" name="Line 322"/>
                <p:cNvSpPr/>
                <p:nvPr/>
              </p:nvSpPr>
              <p:spPr>
                <a:xfrm>
                  <a:off x="3576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9643" name="Line 323"/>
                <p:cNvSpPr/>
                <p:nvPr/>
              </p:nvSpPr>
              <p:spPr>
                <a:xfrm>
                  <a:off x="415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9644" name="Line 324"/>
                <p:cNvSpPr/>
                <p:nvPr/>
              </p:nvSpPr>
              <p:spPr>
                <a:xfrm>
                  <a:off x="472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79645" name="Line 325"/>
                <p:cNvSpPr/>
                <p:nvPr/>
              </p:nvSpPr>
              <p:spPr>
                <a:xfrm>
                  <a:off x="530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</p:grpSp>
        </p:grpSp>
        <p:sp>
          <p:nvSpPr>
            <p:cNvPr id="279631" name="Text Box 326"/>
            <p:cNvSpPr txBox="1"/>
            <p:nvPr/>
          </p:nvSpPr>
          <p:spPr>
            <a:xfrm>
              <a:off x="140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632" name="Text Box 327"/>
            <p:cNvSpPr txBox="1"/>
            <p:nvPr/>
          </p:nvSpPr>
          <p:spPr>
            <a:xfrm>
              <a:off x="254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633" name="Text Box 328"/>
            <p:cNvSpPr txBox="1"/>
            <p:nvPr/>
          </p:nvSpPr>
          <p:spPr>
            <a:xfrm>
              <a:off x="371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634" name="Text Box 329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9563" name="Rectangle 330"/>
          <p:cNvSpPr/>
          <p:nvPr/>
        </p:nvSpPr>
        <p:spPr>
          <a:xfrm>
            <a:off x="3352800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9564" name="Rectangle 331"/>
          <p:cNvSpPr/>
          <p:nvPr/>
        </p:nvSpPr>
        <p:spPr>
          <a:xfrm>
            <a:off x="5162550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16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9565" name="Rectangle 332"/>
          <p:cNvSpPr/>
          <p:nvPr/>
        </p:nvSpPr>
        <p:spPr>
          <a:xfrm>
            <a:off x="7027863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32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9566" name="Rectangle 333"/>
          <p:cNvSpPr/>
          <p:nvPr/>
        </p:nvSpPr>
        <p:spPr>
          <a:xfrm>
            <a:off x="8829675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48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1" name="Group 334"/>
          <p:cNvGrpSpPr/>
          <p:nvPr/>
        </p:nvGrpSpPr>
        <p:grpSpPr>
          <a:xfrm>
            <a:off x="3336925" y="5699125"/>
            <a:ext cx="6832600" cy="414338"/>
            <a:chOff x="1142" y="3590"/>
            <a:chExt cx="4304" cy="261"/>
          </a:xfrm>
        </p:grpSpPr>
        <p:grpSp>
          <p:nvGrpSpPr>
            <p:cNvPr id="279618" name="Group 335"/>
            <p:cNvGrpSpPr/>
            <p:nvPr/>
          </p:nvGrpSpPr>
          <p:grpSpPr>
            <a:xfrm>
              <a:off x="1142" y="3590"/>
              <a:ext cx="823" cy="240"/>
              <a:chOff x="1142" y="3590"/>
              <a:chExt cx="823" cy="240"/>
            </a:xfrm>
          </p:grpSpPr>
          <p:sp>
            <p:nvSpPr>
              <p:cNvPr id="279628" name="Rectangle 336"/>
              <p:cNvSpPr/>
              <p:nvPr/>
            </p:nvSpPr>
            <p:spPr>
              <a:xfrm>
                <a:off x="1142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9629" name="Text Box 337"/>
              <p:cNvSpPr txBox="1"/>
              <p:nvPr/>
            </p:nvSpPr>
            <p:spPr>
              <a:xfrm>
                <a:off x="1200" y="3590"/>
                <a:ext cx="755" cy="1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9619" name="Group 338"/>
            <p:cNvGrpSpPr/>
            <p:nvPr/>
          </p:nvGrpSpPr>
          <p:grpSpPr>
            <a:xfrm>
              <a:off x="2318" y="3598"/>
              <a:ext cx="823" cy="232"/>
              <a:chOff x="2318" y="3598"/>
              <a:chExt cx="823" cy="232"/>
            </a:xfrm>
          </p:grpSpPr>
          <p:sp>
            <p:nvSpPr>
              <p:cNvPr id="279626" name="Rectangle 339"/>
              <p:cNvSpPr/>
              <p:nvPr/>
            </p:nvSpPr>
            <p:spPr>
              <a:xfrm>
                <a:off x="2318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9627" name="Text Box 340"/>
              <p:cNvSpPr txBox="1"/>
              <p:nvPr/>
            </p:nvSpPr>
            <p:spPr>
              <a:xfrm>
                <a:off x="2352" y="3600"/>
                <a:ext cx="755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9620" name="Group 341"/>
            <p:cNvGrpSpPr/>
            <p:nvPr/>
          </p:nvGrpSpPr>
          <p:grpSpPr>
            <a:xfrm>
              <a:off x="3470" y="3598"/>
              <a:ext cx="823" cy="232"/>
              <a:chOff x="3470" y="3598"/>
              <a:chExt cx="823" cy="232"/>
            </a:xfrm>
          </p:grpSpPr>
          <p:sp>
            <p:nvSpPr>
              <p:cNvPr id="279624" name="Rectangle 342"/>
              <p:cNvSpPr/>
              <p:nvPr/>
            </p:nvSpPr>
            <p:spPr>
              <a:xfrm>
                <a:off x="3470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9625" name="Text Box 343"/>
              <p:cNvSpPr txBox="1"/>
              <p:nvPr/>
            </p:nvSpPr>
            <p:spPr>
              <a:xfrm>
                <a:off x="3504" y="3600"/>
                <a:ext cx="755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79621" name="Group 344"/>
            <p:cNvGrpSpPr/>
            <p:nvPr/>
          </p:nvGrpSpPr>
          <p:grpSpPr>
            <a:xfrm>
              <a:off x="4623" y="3598"/>
              <a:ext cx="823" cy="253"/>
              <a:chOff x="4623" y="3598"/>
              <a:chExt cx="823" cy="253"/>
            </a:xfrm>
          </p:grpSpPr>
          <p:sp>
            <p:nvSpPr>
              <p:cNvPr id="279622" name="Rectangle 345"/>
              <p:cNvSpPr/>
              <p:nvPr/>
            </p:nvSpPr>
            <p:spPr>
              <a:xfrm>
                <a:off x="4623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79623" name="Text Box 346"/>
              <p:cNvSpPr txBox="1"/>
              <p:nvPr/>
            </p:nvSpPr>
            <p:spPr>
              <a:xfrm>
                <a:off x="4656" y="360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79568" name="Group 347"/>
          <p:cNvGrpSpPr/>
          <p:nvPr/>
        </p:nvGrpSpPr>
        <p:grpSpPr>
          <a:xfrm>
            <a:off x="2976563" y="2617788"/>
            <a:ext cx="6613525" cy="1963737"/>
            <a:chOff x="915" y="1649"/>
            <a:chExt cx="4166" cy="1237"/>
          </a:xfrm>
        </p:grpSpPr>
        <p:grpSp>
          <p:nvGrpSpPr>
            <p:cNvPr id="279571" name="Group 348"/>
            <p:cNvGrpSpPr/>
            <p:nvPr/>
          </p:nvGrpSpPr>
          <p:grpSpPr>
            <a:xfrm>
              <a:off x="915" y="2633"/>
              <a:ext cx="3945" cy="253"/>
              <a:chOff x="915" y="2633"/>
              <a:chExt cx="3945" cy="253"/>
            </a:xfrm>
          </p:grpSpPr>
          <p:grpSp>
            <p:nvGrpSpPr>
              <p:cNvPr id="279580" name="Group 349"/>
              <p:cNvGrpSpPr/>
              <p:nvPr/>
            </p:nvGrpSpPr>
            <p:grpSpPr>
              <a:xfrm>
                <a:off x="915" y="2696"/>
                <a:ext cx="3858" cy="190"/>
                <a:chOff x="915" y="2696"/>
                <a:chExt cx="3858" cy="190"/>
              </a:xfrm>
            </p:grpSpPr>
            <p:sp>
              <p:nvSpPr>
                <p:cNvPr id="279613" name="Freeform 350"/>
                <p:cNvSpPr/>
                <p:nvPr/>
              </p:nvSpPr>
              <p:spPr>
                <a:xfrm>
                  <a:off x="1304" y="2707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614" name="Freeform 351"/>
                <p:cNvSpPr/>
                <p:nvPr/>
              </p:nvSpPr>
              <p:spPr>
                <a:xfrm>
                  <a:off x="2457" y="2710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615" name="Freeform 352"/>
                <p:cNvSpPr/>
                <p:nvPr/>
              </p:nvSpPr>
              <p:spPr>
                <a:xfrm>
                  <a:off x="3609" y="2710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616" name="Freeform 353"/>
                <p:cNvSpPr/>
                <p:nvPr/>
              </p:nvSpPr>
              <p:spPr>
                <a:xfrm>
                  <a:off x="4761" y="2696"/>
                  <a:ext cx="1" cy="178"/>
                </a:xfrm>
                <a:custGeom>
                  <a:avLst/>
                  <a:gdLst>
                    <a:gd name="txL" fmla="*/ 0 w 1"/>
                    <a:gd name="txT" fmla="*/ 0 h 178"/>
                    <a:gd name="txR" fmla="*/ 1 w 1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0" y="178"/>
                    </a:cxn>
                  </a:cxnLst>
                  <a:rect l="txL" t="txT" r="txR" b="txB"/>
                  <a:pathLst>
                    <a:path w="1" h="178">
                      <a:moveTo>
                        <a:pt x="0" y="0"/>
                      </a:moveTo>
                      <a:lnTo>
                        <a:pt x="0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79617" name="Freeform 354"/>
                <p:cNvSpPr/>
                <p:nvPr/>
              </p:nvSpPr>
              <p:spPr>
                <a:xfrm>
                  <a:off x="915" y="2865"/>
                  <a:ext cx="3858" cy="2"/>
                </a:xfrm>
                <a:custGeom>
                  <a:avLst/>
                  <a:gdLst>
                    <a:gd name="txL" fmla="*/ 0 w 3858"/>
                    <a:gd name="txT" fmla="*/ 0 h 2"/>
                    <a:gd name="txR" fmla="*/ 3858 w 3858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3858" y="0"/>
                    </a:cxn>
                  </a:cxnLst>
                  <a:rect l="txL" t="txT" r="txR" b="txB"/>
                  <a:pathLst>
                    <a:path w="3858" h="2">
                      <a:moveTo>
                        <a:pt x="0" y="2"/>
                      </a:moveTo>
                      <a:lnTo>
                        <a:pt x="385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79581" name="Group 355"/>
              <p:cNvGrpSpPr/>
              <p:nvPr/>
            </p:nvGrpSpPr>
            <p:grpSpPr>
              <a:xfrm>
                <a:off x="1213" y="2633"/>
                <a:ext cx="192" cy="158"/>
                <a:chOff x="1440" y="2928"/>
                <a:chExt cx="192" cy="158"/>
              </a:xfrm>
            </p:grpSpPr>
            <p:grpSp>
              <p:nvGrpSpPr>
                <p:cNvPr id="279606" name="Group 356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9611" name="Line 35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9612" name="Line 35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9607" name="Freeform 359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9608" name="Group 360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9609" name="Line 36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9610" name="Line 36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79582" name="Group 363"/>
              <p:cNvGrpSpPr/>
              <p:nvPr/>
            </p:nvGrpSpPr>
            <p:grpSpPr>
              <a:xfrm>
                <a:off x="2365" y="2635"/>
                <a:ext cx="192" cy="158"/>
                <a:chOff x="1440" y="2928"/>
                <a:chExt cx="192" cy="158"/>
              </a:xfrm>
            </p:grpSpPr>
            <p:grpSp>
              <p:nvGrpSpPr>
                <p:cNvPr id="279599" name="Group 364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9604" name="Line 36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9605" name="Line 36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9600" name="Freeform 367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9601" name="Group 368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9602" name="Line 36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9603" name="Line 37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79583" name="Group 371"/>
              <p:cNvGrpSpPr/>
              <p:nvPr/>
            </p:nvGrpSpPr>
            <p:grpSpPr>
              <a:xfrm>
                <a:off x="3517" y="2635"/>
                <a:ext cx="192" cy="158"/>
                <a:chOff x="1440" y="2928"/>
                <a:chExt cx="192" cy="158"/>
              </a:xfrm>
            </p:grpSpPr>
            <p:grpSp>
              <p:nvGrpSpPr>
                <p:cNvPr id="279592" name="Group 372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9597" name="Line 373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9598" name="Line 374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9593" name="Freeform 375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9594" name="Group 376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9595" name="Line 37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9596" name="Line 37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79584" name="Group 379"/>
              <p:cNvGrpSpPr/>
              <p:nvPr/>
            </p:nvGrpSpPr>
            <p:grpSpPr>
              <a:xfrm>
                <a:off x="4668" y="2635"/>
                <a:ext cx="192" cy="158"/>
                <a:chOff x="1440" y="2928"/>
                <a:chExt cx="192" cy="158"/>
              </a:xfrm>
            </p:grpSpPr>
            <p:grpSp>
              <p:nvGrpSpPr>
                <p:cNvPr id="279585" name="Group 380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9590" name="Line 38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9591" name="Line 38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79586" name="Freeform 383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79587" name="Group 384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79588" name="Line 38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79589" name="Line 38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79572" name="Rectangle 387"/>
            <p:cNvSpPr/>
            <p:nvPr/>
          </p:nvSpPr>
          <p:spPr>
            <a:xfrm>
              <a:off x="1152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73" name="Text Box 388"/>
            <p:cNvSpPr txBox="1"/>
            <p:nvPr/>
          </p:nvSpPr>
          <p:spPr>
            <a:xfrm>
              <a:off x="1150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74" name="Rectangle 389"/>
            <p:cNvSpPr/>
            <p:nvPr/>
          </p:nvSpPr>
          <p:spPr>
            <a:xfrm>
              <a:off x="2293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75" name="Rectangle 390"/>
            <p:cNvSpPr/>
            <p:nvPr/>
          </p:nvSpPr>
          <p:spPr>
            <a:xfrm>
              <a:off x="4604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76" name="Rectangle 391"/>
            <p:cNvSpPr/>
            <p:nvPr/>
          </p:nvSpPr>
          <p:spPr>
            <a:xfrm>
              <a:off x="3466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77" name="Text Box 392"/>
            <p:cNvSpPr txBox="1"/>
            <p:nvPr/>
          </p:nvSpPr>
          <p:spPr>
            <a:xfrm>
              <a:off x="2314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78" name="Text Box 393"/>
            <p:cNvSpPr txBox="1"/>
            <p:nvPr/>
          </p:nvSpPr>
          <p:spPr>
            <a:xfrm>
              <a:off x="3462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79" name="Text Box 394"/>
            <p:cNvSpPr txBox="1"/>
            <p:nvPr/>
          </p:nvSpPr>
          <p:spPr>
            <a:xfrm>
              <a:off x="4617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9569" name="AutoShape 395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957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80578" name="Group 2"/>
          <p:cNvGrpSpPr/>
          <p:nvPr/>
        </p:nvGrpSpPr>
        <p:grpSpPr>
          <a:xfrm>
            <a:off x="1746250" y="1255713"/>
            <a:ext cx="8918575" cy="5532438"/>
            <a:chOff x="140" y="791"/>
            <a:chExt cx="5618" cy="3485"/>
          </a:xfrm>
        </p:grpSpPr>
        <p:sp>
          <p:nvSpPr>
            <p:cNvPr id="280766" name="Rectangle 3"/>
            <p:cNvSpPr/>
            <p:nvPr/>
          </p:nvSpPr>
          <p:spPr>
            <a:xfrm>
              <a:off x="332" y="2181"/>
              <a:ext cx="576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767" name="Rectangle 4"/>
            <p:cNvSpPr/>
            <p:nvPr/>
          </p:nvSpPr>
          <p:spPr>
            <a:xfrm>
              <a:off x="1728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68" name="Text Box 5"/>
            <p:cNvSpPr txBox="1"/>
            <p:nvPr/>
          </p:nvSpPr>
          <p:spPr>
            <a:xfrm>
              <a:off x="140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69" name="Rectangle 6"/>
            <p:cNvSpPr/>
            <p:nvPr/>
          </p:nvSpPr>
          <p:spPr>
            <a:xfrm>
              <a:off x="1152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70" name="Rectangle 7"/>
            <p:cNvSpPr/>
            <p:nvPr/>
          </p:nvSpPr>
          <p:spPr>
            <a:xfrm>
              <a:off x="2869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71" name="Text Box 8"/>
            <p:cNvSpPr txBox="1"/>
            <p:nvPr/>
          </p:nvSpPr>
          <p:spPr>
            <a:xfrm>
              <a:off x="2549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72" name="Rectangle 9"/>
            <p:cNvSpPr/>
            <p:nvPr/>
          </p:nvSpPr>
          <p:spPr>
            <a:xfrm>
              <a:off x="2293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73" name="Rectangle 10"/>
            <p:cNvSpPr/>
            <p:nvPr/>
          </p:nvSpPr>
          <p:spPr>
            <a:xfrm>
              <a:off x="4044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74" name="Text Box 11"/>
            <p:cNvSpPr txBox="1"/>
            <p:nvPr/>
          </p:nvSpPr>
          <p:spPr>
            <a:xfrm>
              <a:off x="3724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75" name="Rectangle 12"/>
            <p:cNvSpPr/>
            <p:nvPr/>
          </p:nvSpPr>
          <p:spPr>
            <a:xfrm>
              <a:off x="3468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76" name="Rectangle 13"/>
            <p:cNvSpPr/>
            <p:nvPr/>
          </p:nvSpPr>
          <p:spPr>
            <a:xfrm>
              <a:off x="5180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77" name="Text Box 14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78" name="Rectangle 15"/>
            <p:cNvSpPr/>
            <p:nvPr/>
          </p:nvSpPr>
          <p:spPr>
            <a:xfrm>
              <a:off x="4604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79" name="Rectangle 16"/>
            <p:cNvSpPr/>
            <p:nvPr/>
          </p:nvSpPr>
          <p:spPr>
            <a:xfrm>
              <a:off x="1728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80" name="Rectangle 17"/>
            <p:cNvSpPr/>
            <p:nvPr/>
          </p:nvSpPr>
          <p:spPr>
            <a:xfrm>
              <a:off x="1152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81" name="Rectangle 18"/>
            <p:cNvSpPr/>
            <p:nvPr/>
          </p:nvSpPr>
          <p:spPr>
            <a:xfrm>
              <a:off x="2869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82" name="Rectangle 19"/>
            <p:cNvSpPr/>
            <p:nvPr/>
          </p:nvSpPr>
          <p:spPr>
            <a:xfrm>
              <a:off x="2293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83" name="Rectangle 20"/>
            <p:cNvSpPr/>
            <p:nvPr/>
          </p:nvSpPr>
          <p:spPr>
            <a:xfrm>
              <a:off x="4044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84" name="Rectangle 21"/>
            <p:cNvSpPr/>
            <p:nvPr/>
          </p:nvSpPr>
          <p:spPr>
            <a:xfrm>
              <a:off x="3468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85" name="Rectangle 22"/>
            <p:cNvSpPr/>
            <p:nvPr/>
          </p:nvSpPr>
          <p:spPr>
            <a:xfrm>
              <a:off x="5180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86" name="Rectangle 23"/>
            <p:cNvSpPr/>
            <p:nvPr/>
          </p:nvSpPr>
          <p:spPr>
            <a:xfrm>
              <a:off x="4604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87" name="Line 24"/>
            <p:cNvSpPr/>
            <p:nvPr/>
          </p:nvSpPr>
          <p:spPr>
            <a:xfrm rot="5400000">
              <a:off x="1325" y="2712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788" name="Line 25"/>
            <p:cNvSpPr/>
            <p:nvPr/>
          </p:nvSpPr>
          <p:spPr>
            <a:xfrm rot="5400000">
              <a:off x="1308" y="271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789" name="Freeform 26"/>
            <p:cNvSpPr/>
            <p:nvPr/>
          </p:nvSpPr>
          <p:spPr>
            <a:xfrm>
              <a:off x="1260" y="2709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790" name="Line 27"/>
            <p:cNvSpPr/>
            <p:nvPr/>
          </p:nvSpPr>
          <p:spPr>
            <a:xfrm rot="-5400000">
              <a:off x="1133" y="2712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791" name="Line 28"/>
            <p:cNvSpPr/>
            <p:nvPr/>
          </p:nvSpPr>
          <p:spPr>
            <a:xfrm rot="-5400000">
              <a:off x="1212" y="271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792" name="Freeform 29"/>
            <p:cNvSpPr/>
            <p:nvPr/>
          </p:nvSpPr>
          <p:spPr>
            <a:xfrm>
              <a:off x="1434" y="2353"/>
              <a:ext cx="112" cy="1"/>
            </a:xfrm>
            <a:custGeom>
              <a:avLst/>
              <a:gdLst>
                <a:gd name="txL" fmla="*/ 0 w 112"/>
                <a:gd name="txT" fmla="*/ 0 h 1"/>
                <a:gd name="txR" fmla="*/ 112 w 11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2" y="0"/>
                </a:cxn>
              </a:cxnLst>
              <a:rect l="txL" t="txT" r="txR" b="txB"/>
              <a:pathLst>
                <a:path w="112" h="1">
                  <a:moveTo>
                    <a:pt x="0" y="0"/>
                  </a:moveTo>
                  <a:lnTo>
                    <a:pt x="11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793" name="Freeform 30"/>
            <p:cNvSpPr/>
            <p:nvPr/>
          </p:nvSpPr>
          <p:spPr>
            <a:xfrm>
              <a:off x="1059" y="1209"/>
              <a:ext cx="152" cy="1469"/>
            </a:xfrm>
            <a:custGeom>
              <a:avLst/>
              <a:gdLst>
                <a:gd name="txL" fmla="*/ 0 w 152"/>
                <a:gd name="txT" fmla="*/ 0 h 1469"/>
                <a:gd name="txR" fmla="*/ 152 w 152"/>
                <a:gd name="txB" fmla="*/ 1469 h 1469"/>
              </a:gdLst>
              <a:ahLst/>
              <a:cxnLst>
                <a:cxn ang="0">
                  <a:pos x="152" y="1469"/>
                </a:cxn>
                <a:cxn ang="0">
                  <a:pos x="0" y="1469"/>
                </a:cxn>
                <a:cxn ang="0">
                  <a:pos x="0" y="0"/>
                </a:cxn>
                <a:cxn ang="0">
                  <a:pos x="95" y="1"/>
                </a:cxn>
              </a:cxnLst>
              <a:rect l="txL" t="txT" r="txR" b="txB"/>
              <a:pathLst>
                <a:path w="152" h="1469">
                  <a:moveTo>
                    <a:pt x="152" y="1469"/>
                  </a:moveTo>
                  <a:lnTo>
                    <a:pt x="0" y="1469"/>
                  </a:lnTo>
                  <a:lnTo>
                    <a:pt x="0" y="0"/>
                  </a:lnTo>
                  <a:lnTo>
                    <a:pt x="95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794" name="Freeform 31"/>
            <p:cNvSpPr/>
            <p:nvPr/>
          </p:nvSpPr>
          <p:spPr>
            <a:xfrm>
              <a:off x="1055" y="2353"/>
              <a:ext cx="102" cy="1"/>
            </a:xfrm>
            <a:custGeom>
              <a:avLst/>
              <a:gdLst>
                <a:gd name="txL" fmla="*/ 0 w 102"/>
                <a:gd name="txT" fmla="*/ 0 h 1"/>
                <a:gd name="txR" fmla="*/ 102 w 102"/>
                <a:gd name="txB" fmla="*/ 1 h 1"/>
              </a:gdLst>
              <a:ahLst/>
              <a:cxnLst>
                <a:cxn ang="0">
                  <a:pos x="102" y="0"/>
                </a:cxn>
                <a:cxn ang="0">
                  <a:pos x="0" y="0"/>
                </a:cxn>
              </a:cxnLst>
              <a:rect l="txL" t="txT" r="txR" b="txB"/>
              <a:pathLst>
                <a:path w="102" h="1">
                  <a:moveTo>
                    <a:pt x="102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795" name="Line 32"/>
            <p:cNvSpPr/>
            <p:nvPr/>
          </p:nvSpPr>
          <p:spPr>
            <a:xfrm rot="5400000">
              <a:off x="1896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796" name="Line 33"/>
            <p:cNvSpPr/>
            <p:nvPr/>
          </p:nvSpPr>
          <p:spPr>
            <a:xfrm rot="5400000">
              <a:off x="1879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797" name="Freeform 34"/>
            <p:cNvSpPr/>
            <p:nvPr/>
          </p:nvSpPr>
          <p:spPr>
            <a:xfrm>
              <a:off x="1831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798" name="Line 35"/>
            <p:cNvSpPr/>
            <p:nvPr/>
          </p:nvSpPr>
          <p:spPr>
            <a:xfrm rot="-5400000">
              <a:off x="1704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799" name="Line 36"/>
            <p:cNvSpPr/>
            <p:nvPr/>
          </p:nvSpPr>
          <p:spPr>
            <a:xfrm rot="-5400000">
              <a:off x="1783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00" name="Freeform 37"/>
            <p:cNvSpPr/>
            <p:nvPr/>
          </p:nvSpPr>
          <p:spPr>
            <a:xfrm>
              <a:off x="2005" y="2353"/>
              <a:ext cx="103" cy="1"/>
            </a:xfrm>
            <a:custGeom>
              <a:avLst/>
              <a:gdLst>
                <a:gd name="txL" fmla="*/ 0 w 103"/>
                <a:gd name="txT" fmla="*/ 0 h 1"/>
                <a:gd name="txR" fmla="*/ 103 w 10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3" y="0"/>
                </a:cxn>
              </a:cxnLst>
              <a:rect l="txL" t="txT" r="txR" b="txB"/>
              <a:pathLst>
                <a:path w="103" h="1">
                  <a:moveTo>
                    <a:pt x="0" y="0"/>
                  </a:moveTo>
                  <a:lnTo>
                    <a:pt x="10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01" name="Freeform 38"/>
            <p:cNvSpPr/>
            <p:nvPr/>
          </p:nvSpPr>
          <p:spPr>
            <a:xfrm>
              <a:off x="1611" y="2352"/>
              <a:ext cx="113" cy="1"/>
            </a:xfrm>
            <a:custGeom>
              <a:avLst/>
              <a:gdLst>
                <a:gd name="txL" fmla="*/ 0 w 113"/>
                <a:gd name="txT" fmla="*/ 0 h 1"/>
                <a:gd name="txR" fmla="*/ 113 w 113"/>
                <a:gd name="txB" fmla="*/ 1 h 1"/>
              </a:gdLst>
              <a:ahLst/>
              <a:cxnLst>
                <a:cxn ang="0">
                  <a:pos x="113" y="1"/>
                </a:cxn>
                <a:cxn ang="0">
                  <a:pos x="0" y="0"/>
                </a:cxn>
              </a:cxnLst>
              <a:rect l="txL" t="txT" r="txR" b="txB"/>
              <a:pathLst>
                <a:path w="113" h="1">
                  <a:moveTo>
                    <a:pt x="113" y="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02" name="Line 39"/>
            <p:cNvSpPr/>
            <p:nvPr/>
          </p:nvSpPr>
          <p:spPr>
            <a:xfrm rot="5400000">
              <a:off x="2477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03" name="Line 40"/>
            <p:cNvSpPr/>
            <p:nvPr/>
          </p:nvSpPr>
          <p:spPr>
            <a:xfrm rot="5400000">
              <a:off x="2460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04" name="Freeform 41"/>
            <p:cNvSpPr/>
            <p:nvPr/>
          </p:nvSpPr>
          <p:spPr>
            <a:xfrm>
              <a:off x="2412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05" name="Line 42"/>
            <p:cNvSpPr/>
            <p:nvPr/>
          </p:nvSpPr>
          <p:spPr>
            <a:xfrm rot="-5400000">
              <a:off x="2285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06" name="Line 43"/>
            <p:cNvSpPr/>
            <p:nvPr/>
          </p:nvSpPr>
          <p:spPr>
            <a:xfrm rot="-5400000">
              <a:off x="2364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07" name="Freeform 44"/>
            <p:cNvSpPr/>
            <p:nvPr/>
          </p:nvSpPr>
          <p:spPr>
            <a:xfrm>
              <a:off x="2586" y="2353"/>
              <a:ext cx="109" cy="1"/>
            </a:xfrm>
            <a:custGeom>
              <a:avLst/>
              <a:gdLst>
                <a:gd name="txL" fmla="*/ 0 w 109"/>
                <a:gd name="txT" fmla="*/ 0 h 1"/>
                <a:gd name="txR" fmla="*/ 109 w 10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9" y="0"/>
                </a:cxn>
              </a:cxnLst>
              <a:rect l="txL" t="txT" r="txR" b="txB"/>
              <a:pathLst>
                <a:path w="109" h="1">
                  <a:moveTo>
                    <a:pt x="0" y="0"/>
                  </a:moveTo>
                  <a:lnTo>
                    <a:pt x="10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08" name="Freeform 45"/>
            <p:cNvSpPr/>
            <p:nvPr/>
          </p:nvSpPr>
          <p:spPr>
            <a:xfrm>
              <a:off x="2207" y="2353"/>
              <a:ext cx="89" cy="1"/>
            </a:xfrm>
            <a:custGeom>
              <a:avLst/>
              <a:gdLst>
                <a:gd name="txL" fmla="*/ 0 w 89"/>
                <a:gd name="txT" fmla="*/ 0 h 1"/>
                <a:gd name="txR" fmla="*/ 89 w 89"/>
                <a:gd name="txB" fmla="*/ 1 h 1"/>
              </a:gdLst>
              <a:ahLst/>
              <a:cxnLst>
                <a:cxn ang="0">
                  <a:pos x="89" y="0"/>
                </a:cxn>
                <a:cxn ang="0">
                  <a:pos x="0" y="0"/>
                </a:cxn>
              </a:cxnLst>
              <a:rect l="txL" t="txT" r="txR" b="txB"/>
              <a:pathLst>
                <a:path w="89" h="1">
                  <a:moveTo>
                    <a:pt x="89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09" name="Line 46"/>
            <p:cNvSpPr/>
            <p:nvPr/>
          </p:nvSpPr>
          <p:spPr>
            <a:xfrm rot="5400000">
              <a:off x="3053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10" name="Line 47"/>
            <p:cNvSpPr/>
            <p:nvPr/>
          </p:nvSpPr>
          <p:spPr>
            <a:xfrm rot="5400000">
              <a:off x="3036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11" name="Freeform 48"/>
            <p:cNvSpPr/>
            <p:nvPr/>
          </p:nvSpPr>
          <p:spPr>
            <a:xfrm>
              <a:off x="2988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12" name="Line 49"/>
            <p:cNvSpPr/>
            <p:nvPr/>
          </p:nvSpPr>
          <p:spPr>
            <a:xfrm rot="-5400000">
              <a:off x="2861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13" name="Line 50"/>
            <p:cNvSpPr/>
            <p:nvPr/>
          </p:nvSpPr>
          <p:spPr>
            <a:xfrm rot="-5400000">
              <a:off x="2940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14" name="Freeform 51"/>
            <p:cNvSpPr/>
            <p:nvPr/>
          </p:nvSpPr>
          <p:spPr>
            <a:xfrm>
              <a:off x="3162" y="2353"/>
              <a:ext cx="115" cy="1"/>
            </a:xfrm>
            <a:custGeom>
              <a:avLst/>
              <a:gdLst>
                <a:gd name="txL" fmla="*/ 0 w 115"/>
                <a:gd name="txT" fmla="*/ 0 h 1"/>
                <a:gd name="txR" fmla="*/ 115 w 11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5" y="0"/>
                </a:cxn>
              </a:cxnLst>
              <a:rect l="txL" t="txT" r="txR" b="txB"/>
              <a:pathLst>
                <a:path w="115" h="1">
                  <a:moveTo>
                    <a:pt x="0" y="0"/>
                  </a:moveTo>
                  <a:lnTo>
                    <a:pt x="11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15" name="Freeform 52"/>
            <p:cNvSpPr/>
            <p:nvPr/>
          </p:nvSpPr>
          <p:spPr>
            <a:xfrm>
              <a:off x="2783" y="2353"/>
              <a:ext cx="90" cy="1"/>
            </a:xfrm>
            <a:custGeom>
              <a:avLst/>
              <a:gdLst>
                <a:gd name="txL" fmla="*/ 0 w 90"/>
                <a:gd name="txT" fmla="*/ 0 h 1"/>
                <a:gd name="txR" fmla="*/ 90 w 90"/>
                <a:gd name="txB" fmla="*/ 1 h 1"/>
              </a:gdLst>
              <a:ahLst/>
              <a:cxnLst>
                <a:cxn ang="0">
                  <a:pos x="90" y="0"/>
                </a:cxn>
                <a:cxn ang="0">
                  <a:pos x="0" y="0"/>
                </a:cxn>
              </a:cxnLst>
              <a:rect l="txL" t="txT" r="txR" b="txB"/>
              <a:pathLst>
                <a:path w="90" h="1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16" name="Line 53"/>
            <p:cNvSpPr/>
            <p:nvPr/>
          </p:nvSpPr>
          <p:spPr>
            <a:xfrm rot="5400000">
              <a:off x="3629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17" name="Line 54"/>
            <p:cNvSpPr/>
            <p:nvPr/>
          </p:nvSpPr>
          <p:spPr>
            <a:xfrm rot="5400000">
              <a:off x="3612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18" name="Freeform 55"/>
            <p:cNvSpPr/>
            <p:nvPr/>
          </p:nvSpPr>
          <p:spPr>
            <a:xfrm>
              <a:off x="3564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19" name="Line 56"/>
            <p:cNvSpPr/>
            <p:nvPr/>
          </p:nvSpPr>
          <p:spPr>
            <a:xfrm rot="-5400000">
              <a:off x="3437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20" name="Line 57"/>
            <p:cNvSpPr/>
            <p:nvPr/>
          </p:nvSpPr>
          <p:spPr>
            <a:xfrm rot="-5400000">
              <a:off x="3516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21" name="Freeform 58"/>
            <p:cNvSpPr/>
            <p:nvPr/>
          </p:nvSpPr>
          <p:spPr>
            <a:xfrm>
              <a:off x="3751" y="2352"/>
              <a:ext cx="100" cy="1"/>
            </a:xfrm>
            <a:custGeom>
              <a:avLst/>
              <a:gdLst>
                <a:gd name="txL" fmla="*/ 0 w 100"/>
                <a:gd name="txT" fmla="*/ 0 h 1"/>
                <a:gd name="txR" fmla="*/ 100 w 10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0" y="1"/>
                </a:cxn>
              </a:cxnLst>
              <a:rect l="txL" t="txT" r="txR" b="txB"/>
              <a:pathLst>
                <a:path w="100" h="1">
                  <a:moveTo>
                    <a:pt x="0" y="0"/>
                  </a:moveTo>
                  <a:lnTo>
                    <a:pt x="10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22" name="Freeform 59"/>
            <p:cNvSpPr/>
            <p:nvPr/>
          </p:nvSpPr>
          <p:spPr>
            <a:xfrm>
              <a:off x="3359" y="2353"/>
              <a:ext cx="108" cy="1"/>
            </a:xfrm>
            <a:custGeom>
              <a:avLst/>
              <a:gdLst>
                <a:gd name="txL" fmla="*/ 0 w 108"/>
                <a:gd name="txT" fmla="*/ 0 h 1"/>
                <a:gd name="txR" fmla="*/ 108 w 108"/>
                <a:gd name="txB" fmla="*/ 1 h 1"/>
              </a:gdLst>
              <a:ahLst/>
              <a:cxnLst>
                <a:cxn ang="0">
                  <a:pos x="108" y="0"/>
                </a:cxn>
                <a:cxn ang="0">
                  <a:pos x="0" y="0"/>
                </a:cxn>
              </a:cxnLst>
              <a:rect l="txL" t="txT" r="txR" b="txB"/>
              <a:pathLst>
                <a:path w="108" h="1">
                  <a:moveTo>
                    <a:pt x="108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23" name="Line 60"/>
            <p:cNvSpPr/>
            <p:nvPr/>
          </p:nvSpPr>
          <p:spPr>
            <a:xfrm rot="5400000">
              <a:off x="4205" y="2698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24" name="Line 61"/>
            <p:cNvSpPr/>
            <p:nvPr/>
          </p:nvSpPr>
          <p:spPr>
            <a:xfrm rot="5400000">
              <a:off x="4188" y="26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25" name="Freeform 62"/>
            <p:cNvSpPr/>
            <p:nvPr/>
          </p:nvSpPr>
          <p:spPr>
            <a:xfrm>
              <a:off x="4140" y="2695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26" name="Line 63"/>
            <p:cNvSpPr/>
            <p:nvPr/>
          </p:nvSpPr>
          <p:spPr>
            <a:xfrm rot="-5400000">
              <a:off x="4013" y="2698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27" name="Line 64"/>
            <p:cNvSpPr/>
            <p:nvPr/>
          </p:nvSpPr>
          <p:spPr>
            <a:xfrm rot="-5400000">
              <a:off x="4092" y="270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828" name="Freeform 65"/>
            <p:cNvSpPr/>
            <p:nvPr/>
          </p:nvSpPr>
          <p:spPr>
            <a:xfrm>
              <a:off x="4336" y="2351"/>
              <a:ext cx="90" cy="2"/>
            </a:xfrm>
            <a:custGeom>
              <a:avLst/>
              <a:gdLst>
                <a:gd name="txL" fmla="*/ 0 w 90"/>
                <a:gd name="txT" fmla="*/ 0 h 2"/>
                <a:gd name="txR" fmla="*/ 90 w 90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90" y="2"/>
                </a:cxn>
              </a:cxnLst>
              <a:rect l="txL" t="txT" r="txR" b="txB"/>
              <a:pathLst>
                <a:path w="90" h="2">
                  <a:moveTo>
                    <a:pt x="0" y="0"/>
                  </a:moveTo>
                  <a:lnTo>
                    <a:pt x="90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29" name="Freeform 66"/>
            <p:cNvSpPr/>
            <p:nvPr/>
          </p:nvSpPr>
          <p:spPr>
            <a:xfrm>
              <a:off x="3935" y="2353"/>
              <a:ext cx="104" cy="1"/>
            </a:xfrm>
            <a:custGeom>
              <a:avLst/>
              <a:gdLst>
                <a:gd name="txL" fmla="*/ 0 w 104"/>
                <a:gd name="txT" fmla="*/ 0 h 1"/>
                <a:gd name="txR" fmla="*/ 104 w 104"/>
                <a:gd name="txB" fmla="*/ 1 h 1"/>
              </a:gdLst>
              <a:ahLst/>
              <a:cxnLst>
                <a:cxn ang="0">
                  <a:pos x="104" y="0"/>
                </a:cxn>
                <a:cxn ang="0">
                  <a:pos x="0" y="0"/>
                </a:cxn>
              </a:cxnLst>
              <a:rect l="txL" t="txT" r="txR" b="txB"/>
              <a:pathLst>
                <a:path w="104" h="1">
                  <a:moveTo>
                    <a:pt x="104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80830" name="Group 67"/>
            <p:cNvGrpSpPr/>
            <p:nvPr/>
          </p:nvGrpSpPr>
          <p:grpSpPr>
            <a:xfrm>
              <a:off x="4668" y="2634"/>
              <a:ext cx="192" cy="158"/>
              <a:chOff x="4692" y="2634"/>
              <a:chExt cx="192" cy="158"/>
            </a:xfrm>
          </p:grpSpPr>
          <p:grpSp>
            <p:nvGrpSpPr>
              <p:cNvPr id="280977" name="Group 68"/>
              <p:cNvGrpSpPr/>
              <p:nvPr/>
            </p:nvGrpSpPr>
            <p:grpSpPr>
              <a:xfrm>
                <a:off x="4836" y="2634"/>
                <a:ext cx="48" cy="158"/>
                <a:chOff x="4836" y="2634"/>
                <a:chExt cx="48" cy="158"/>
              </a:xfrm>
            </p:grpSpPr>
            <p:sp>
              <p:nvSpPr>
                <p:cNvPr id="280982" name="Line 69"/>
                <p:cNvSpPr/>
                <p:nvPr/>
              </p:nvSpPr>
              <p:spPr>
                <a:xfrm rot="5400000">
                  <a:off x="4805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983" name="Line 70"/>
                <p:cNvSpPr/>
                <p:nvPr/>
              </p:nvSpPr>
              <p:spPr>
                <a:xfrm rot="5400000">
                  <a:off x="4788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0978" name="Freeform 71"/>
              <p:cNvSpPr/>
              <p:nvPr/>
            </p:nvSpPr>
            <p:spPr>
              <a:xfrm>
                <a:off x="4740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0979" name="Group 72"/>
              <p:cNvGrpSpPr/>
              <p:nvPr/>
            </p:nvGrpSpPr>
            <p:grpSpPr>
              <a:xfrm>
                <a:off x="4692" y="2634"/>
                <a:ext cx="48" cy="158"/>
                <a:chOff x="4692" y="2634"/>
                <a:chExt cx="48" cy="158"/>
              </a:xfrm>
            </p:grpSpPr>
            <p:sp>
              <p:nvSpPr>
                <p:cNvPr id="280980" name="Line 73"/>
                <p:cNvSpPr/>
                <p:nvPr/>
              </p:nvSpPr>
              <p:spPr>
                <a:xfrm rot="-5400000">
                  <a:off x="4613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981" name="Line 74"/>
                <p:cNvSpPr/>
                <p:nvPr/>
              </p:nvSpPr>
              <p:spPr>
                <a:xfrm rot="-5400000">
                  <a:off x="4692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80831" name="Freeform 75"/>
            <p:cNvSpPr/>
            <p:nvPr/>
          </p:nvSpPr>
          <p:spPr>
            <a:xfrm>
              <a:off x="4890" y="2353"/>
              <a:ext cx="107" cy="1"/>
            </a:xfrm>
            <a:custGeom>
              <a:avLst/>
              <a:gdLst>
                <a:gd name="txL" fmla="*/ 0 w 107"/>
                <a:gd name="txT" fmla="*/ 0 h 1"/>
                <a:gd name="txR" fmla="*/ 107 w 10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7" y="0"/>
                </a:cxn>
              </a:cxnLst>
              <a:rect l="txL" t="txT" r="txR" b="txB"/>
              <a:pathLst>
                <a:path w="107" h="1">
                  <a:moveTo>
                    <a:pt x="0" y="0"/>
                  </a:moveTo>
                  <a:lnTo>
                    <a:pt x="10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32" name="Freeform 76"/>
            <p:cNvSpPr/>
            <p:nvPr/>
          </p:nvSpPr>
          <p:spPr>
            <a:xfrm>
              <a:off x="4511" y="2353"/>
              <a:ext cx="96" cy="1"/>
            </a:xfrm>
            <a:custGeom>
              <a:avLst/>
              <a:gdLst>
                <a:gd name="txL" fmla="*/ 0 w 96"/>
                <a:gd name="txT" fmla="*/ 0 h 1"/>
                <a:gd name="txR" fmla="*/ 96 w 96"/>
                <a:gd name="txB" fmla="*/ 1 h 1"/>
              </a:gdLst>
              <a:ahLst/>
              <a:cxnLst>
                <a:cxn ang="0">
                  <a:pos x="96" y="0"/>
                </a:cxn>
                <a:cxn ang="0">
                  <a:pos x="0" y="0"/>
                </a:cxn>
              </a:cxnLst>
              <a:rect l="txL" t="txT" r="txR" b="txB"/>
              <a:pathLst>
                <a:path w="96" h="1">
                  <a:moveTo>
                    <a:pt x="96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80833" name="Group 77"/>
            <p:cNvGrpSpPr/>
            <p:nvPr/>
          </p:nvGrpSpPr>
          <p:grpSpPr>
            <a:xfrm>
              <a:off x="5235" y="2634"/>
              <a:ext cx="192" cy="158"/>
              <a:chOff x="5259" y="2634"/>
              <a:chExt cx="192" cy="158"/>
            </a:xfrm>
          </p:grpSpPr>
          <p:grpSp>
            <p:nvGrpSpPr>
              <p:cNvPr id="280970" name="Group 78"/>
              <p:cNvGrpSpPr/>
              <p:nvPr/>
            </p:nvGrpSpPr>
            <p:grpSpPr>
              <a:xfrm>
                <a:off x="5403" y="2634"/>
                <a:ext cx="48" cy="158"/>
                <a:chOff x="5403" y="2634"/>
                <a:chExt cx="48" cy="158"/>
              </a:xfrm>
            </p:grpSpPr>
            <p:sp>
              <p:nvSpPr>
                <p:cNvPr id="280975" name="Line 79"/>
                <p:cNvSpPr/>
                <p:nvPr/>
              </p:nvSpPr>
              <p:spPr>
                <a:xfrm rot="5400000">
                  <a:off x="5372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976" name="Line 80"/>
                <p:cNvSpPr/>
                <p:nvPr/>
              </p:nvSpPr>
              <p:spPr>
                <a:xfrm rot="5400000">
                  <a:off x="5355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0971" name="Freeform 81"/>
              <p:cNvSpPr/>
              <p:nvPr/>
            </p:nvSpPr>
            <p:spPr>
              <a:xfrm>
                <a:off x="5307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0972" name="Group 82"/>
              <p:cNvGrpSpPr/>
              <p:nvPr/>
            </p:nvGrpSpPr>
            <p:grpSpPr>
              <a:xfrm>
                <a:off x="5259" y="2634"/>
                <a:ext cx="48" cy="158"/>
                <a:chOff x="5259" y="2634"/>
                <a:chExt cx="48" cy="158"/>
              </a:xfrm>
            </p:grpSpPr>
            <p:sp>
              <p:nvSpPr>
                <p:cNvPr id="280973" name="Line 83"/>
                <p:cNvSpPr/>
                <p:nvPr/>
              </p:nvSpPr>
              <p:spPr>
                <a:xfrm rot="-5400000">
                  <a:off x="5180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974" name="Line 84"/>
                <p:cNvSpPr/>
                <p:nvPr/>
              </p:nvSpPr>
              <p:spPr>
                <a:xfrm rot="-5400000">
                  <a:off x="5259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80834" name="Freeform 85"/>
            <p:cNvSpPr/>
            <p:nvPr/>
          </p:nvSpPr>
          <p:spPr>
            <a:xfrm>
              <a:off x="5467" y="2351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96" y="2"/>
                </a:cxn>
              </a:cxnLst>
              <a:rect l="txL" t="txT" r="txR" b="txB"/>
              <a:pathLst>
                <a:path w="96" h="2">
                  <a:moveTo>
                    <a:pt x="0" y="0"/>
                  </a:moveTo>
                  <a:lnTo>
                    <a:pt x="96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35" name="Freeform 86"/>
            <p:cNvSpPr/>
            <p:nvPr/>
          </p:nvSpPr>
          <p:spPr>
            <a:xfrm>
              <a:off x="5078" y="2353"/>
              <a:ext cx="101" cy="1"/>
            </a:xfrm>
            <a:custGeom>
              <a:avLst/>
              <a:gdLst>
                <a:gd name="txL" fmla="*/ 0 w 101"/>
                <a:gd name="txT" fmla="*/ 0 h 1"/>
                <a:gd name="txR" fmla="*/ 101 w 101"/>
                <a:gd name="txB" fmla="*/ 1 h 1"/>
              </a:gdLst>
              <a:ahLst/>
              <a:cxnLst>
                <a:cxn ang="0">
                  <a:pos x="101" y="0"/>
                </a:cxn>
                <a:cxn ang="0">
                  <a:pos x="0" y="0"/>
                </a:cxn>
              </a:cxnLst>
              <a:rect l="txL" t="txT" r="txR" b="txB"/>
              <a:pathLst>
                <a:path w="101" h="1">
                  <a:moveTo>
                    <a:pt x="10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36" name="Freeform 87"/>
            <p:cNvSpPr/>
            <p:nvPr/>
          </p:nvSpPr>
          <p:spPr>
            <a:xfrm>
              <a:off x="908" y="856"/>
              <a:ext cx="4419" cy="1"/>
            </a:xfrm>
            <a:custGeom>
              <a:avLst/>
              <a:gdLst>
                <a:gd name="txL" fmla="*/ 0 w 4419"/>
                <a:gd name="txT" fmla="*/ 0 h 1"/>
                <a:gd name="txR" fmla="*/ 4419 w 4419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9" y="0"/>
                </a:cxn>
              </a:cxnLst>
              <a:rect l="txL" t="txT" r="txR" b="txB"/>
              <a:pathLst>
                <a:path w="4419" h="1">
                  <a:moveTo>
                    <a:pt x="0" y="1"/>
                  </a:moveTo>
                  <a:lnTo>
                    <a:pt x="441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37" name="Line 88"/>
            <p:cNvSpPr/>
            <p:nvPr/>
          </p:nvSpPr>
          <p:spPr>
            <a:xfrm>
              <a:off x="1292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38" name="Line 89"/>
            <p:cNvSpPr/>
            <p:nvPr/>
          </p:nvSpPr>
          <p:spPr>
            <a:xfrm>
              <a:off x="1868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39" name="Line 90"/>
            <p:cNvSpPr/>
            <p:nvPr/>
          </p:nvSpPr>
          <p:spPr>
            <a:xfrm>
              <a:off x="2444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40" name="Line 91"/>
            <p:cNvSpPr/>
            <p:nvPr/>
          </p:nvSpPr>
          <p:spPr>
            <a:xfrm>
              <a:off x="3020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41" name="Line 92"/>
            <p:cNvSpPr/>
            <p:nvPr/>
          </p:nvSpPr>
          <p:spPr>
            <a:xfrm>
              <a:off x="3596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42" name="Line 93"/>
            <p:cNvSpPr/>
            <p:nvPr/>
          </p:nvSpPr>
          <p:spPr>
            <a:xfrm>
              <a:off x="4172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43" name="Line 94"/>
            <p:cNvSpPr/>
            <p:nvPr/>
          </p:nvSpPr>
          <p:spPr>
            <a:xfrm>
              <a:off x="4748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44" name="Line 95"/>
            <p:cNvSpPr/>
            <p:nvPr/>
          </p:nvSpPr>
          <p:spPr>
            <a:xfrm>
              <a:off x="5324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80845" name="Freeform 96"/>
            <p:cNvSpPr/>
            <p:nvPr/>
          </p:nvSpPr>
          <p:spPr>
            <a:xfrm>
              <a:off x="1305" y="2708"/>
              <a:ext cx="1" cy="166"/>
            </a:xfrm>
            <a:custGeom>
              <a:avLst/>
              <a:gdLst>
                <a:gd name="txL" fmla="*/ 0 w 1"/>
                <a:gd name="txT" fmla="*/ 0 h 166"/>
                <a:gd name="txR" fmla="*/ 1 w 1"/>
                <a:gd name="txB" fmla="*/ 166 h 166"/>
              </a:gdLst>
              <a:ahLst/>
              <a:cxnLst>
                <a:cxn ang="0">
                  <a:pos x="1" y="0"/>
                </a:cxn>
                <a:cxn ang="0">
                  <a:pos x="0" y="166"/>
                </a:cxn>
              </a:cxnLst>
              <a:rect l="txL" t="txT" r="txR" b="txB"/>
              <a:pathLst>
                <a:path w="1" h="166">
                  <a:moveTo>
                    <a:pt x="1" y="0"/>
                  </a:moveTo>
                  <a:lnTo>
                    <a:pt x="0" y="1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46" name="Freeform 97"/>
            <p:cNvSpPr/>
            <p:nvPr/>
          </p:nvSpPr>
          <p:spPr>
            <a:xfrm>
              <a:off x="1880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47" name="Freeform 98"/>
            <p:cNvSpPr/>
            <p:nvPr/>
          </p:nvSpPr>
          <p:spPr>
            <a:xfrm>
              <a:off x="2454" y="2708"/>
              <a:ext cx="4" cy="166"/>
            </a:xfrm>
            <a:custGeom>
              <a:avLst/>
              <a:gdLst>
                <a:gd name="txL" fmla="*/ 0 w 4"/>
                <a:gd name="txT" fmla="*/ 0 h 166"/>
                <a:gd name="txR" fmla="*/ 4 w 4"/>
                <a:gd name="txB" fmla="*/ 166 h 166"/>
              </a:gdLst>
              <a:ahLst/>
              <a:cxnLst>
                <a:cxn ang="0">
                  <a:pos x="4" y="0"/>
                </a:cxn>
                <a:cxn ang="0">
                  <a:pos x="0" y="166"/>
                </a:cxn>
              </a:cxnLst>
              <a:rect l="txL" t="txT" r="txR" b="txB"/>
              <a:pathLst>
                <a:path w="4" h="166">
                  <a:moveTo>
                    <a:pt x="4" y="0"/>
                  </a:moveTo>
                  <a:lnTo>
                    <a:pt x="0" y="1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48" name="Freeform 99"/>
            <p:cNvSpPr/>
            <p:nvPr/>
          </p:nvSpPr>
          <p:spPr>
            <a:xfrm>
              <a:off x="3606" y="2708"/>
              <a:ext cx="2" cy="175"/>
            </a:xfrm>
            <a:custGeom>
              <a:avLst/>
              <a:gdLst>
                <a:gd name="txL" fmla="*/ 0 w 2"/>
                <a:gd name="txT" fmla="*/ 0 h 175"/>
                <a:gd name="txR" fmla="*/ 2 w 2"/>
                <a:gd name="txB" fmla="*/ 175 h 175"/>
              </a:gdLst>
              <a:ahLst/>
              <a:cxnLst>
                <a:cxn ang="0">
                  <a:pos x="2" y="0"/>
                </a:cxn>
                <a:cxn ang="0">
                  <a:pos x="0" y="175"/>
                </a:cxn>
              </a:cxnLst>
              <a:rect l="txL" t="txT" r="txR" b="txB"/>
              <a:pathLst>
                <a:path w="2" h="175">
                  <a:moveTo>
                    <a:pt x="2" y="0"/>
                  </a:moveTo>
                  <a:lnTo>
                    <a:pt x="0" y="17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49" name="Freeform 100"/>
            <p:cNvSpPr/>
            <p:nvPr/>
          </p:nvSpPr>
          <p:spPr>
            <a:xfrm>
              <a:off x="4760" y="2697"/>
              <a:ext cx="1" cy="176"/>
            </a:xfrm>
            <a:custGeom>
              <a:avLst/>
              <a:gdLst>
                <a:gd name="txL" fmla="*/ 0 w 1"/>
                <a:gd name="txT" fmla="*/ 0 h 176"/>
                <a:gd name="txR" fmla="*/ 1 w 1"/>
                <a:gd name="txB" fmla="*/ 176 h 176"/>
              </a:gdLst>
              <a:ahLst/>
              <a:cxnLst>
                <a:cxn ang="0">
                  <a:pos x="0" y="0"/>
                </a:cxn>
                <a:cxn ang="0">
                  <a:pos x="0" y="176"/>
                </a:cxn>
              </a:cxnLst>
              <a:rect l="txL" t="txT" r="txR" b="txB"/>
              <a:pathLst>
                <a:path w="1" h="176">
                  <a:moveTo>
                    <a:pt x="0" y="0"/>
                  </a:moveTo>
                  <a:lnTo>
                    <a:pt x="0" y="17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50" name="Freeform 101"/>
            <p:cNvSpPr/>
            <p:nvPr/>
          </p:nvSpPr>
          <p:spPr>
            <a:xfrm>
              <a:off x="908" y="1480"/>
              <a:ext cx="4422" cy="1"/>
            </a:xfrm>
            <a:custGeom>
              <a:avLst/>
              <a:gdLst>
                <a:gd name="txL" fmla="*/ 0 w 4422"/>
                <a:gd name="txT" fmla="*/ 0 h 1"/>
                <a:gd name="txR" fmla="*/ 4422 w 4422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22" y="0"/>
                </a:cxn>
              </a:cxnLst>
              <a:rect l="txL" t="txT" r="txR" b="txB"/>
              <a:pathLst>
                <a:path w="4422" h="1">
                  <a:moveTo>
                    <a:pt x="0" y="1"/>
                  </a:moveTo>
                  <a:lnTo>
                    <a:pt x="442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51" name="Line 102"/>
            <p:cNvSpPr/>
            <p:nvPr/>
          </p:nvSpPr>
          <p:spPr>
            <a:xfrm>
              <a:off x="1292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52" name="Line 103"/>
            <p:cNvSpPr/>
            <p:nvPr/>
          </p:nvSpPr>
          <p:spPr>
            <a:xfrm>
              <a:off x="1868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53" name="Line 104"/>
            <p:cNvSpPr/>
            <p:nvPr/>
          </p:nvSpPr>
          <p:spPr>
            <a:xfrm>
              <a:off x="2444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54" name="Line 105"/>
            <p:cNvSpPr/>
            <p:nvPr/>
          </p:nvSpPr>
          <p:spPr>
            <a:xfrm>
              <a:off x="3020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55" name="Line 106"/>
            <p:cNvSpPr/>
            <p:nvPr/>
          </p:nvSpPr>
          <p:spPr>
            <a:xfrm>
              <a:off x="3596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56" name="Line 107"/>
            <p:cNvSpPr/>
            <p:nvPr/>
          </p:nvSpPr>
          <p:spPr>
            <a:xfrm>
              <a:off x="4172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57" name="Line 108"/>
            <p:cNvSpPr/>
            <p:nvPr/>
          </p:nvSpPr>
          <p:spPr>
            <a:xfrm>
              <a:off x="4748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58" name="Line 109"/>
            <p:cNvSpPr/>
            <p:nvPr/>
          </p:nvSpPr>
          <p:spPr>
            <a:xfrm>
              <a:off x="5324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80859" name="Freeform 110"/>
            <p:cNvSpPr/>
            <p:nvPr/>
          </p:nvSpPr>
          <p:spPr>
            <a:xfrm>
              <a:off x="908" y="2056"/>
              <a:ext cx="4418" cy="1"/>
            </a:xfrm>
            <a:custGeom>
              <a:avLst/>
              <a:gdLst>
                <a:gd name="txL" fmla="*/ 0 w 4418"/>
                <a:gd name="txT" fmla="*/ 0 h 1"/>
                <a:gd name="txR" fmla="*/ 4418 w 441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8" y="0"/>
                </a:cxn>
              </a:cxnLst>
              <a:rect l="txL" t="txT" r="txR" b="txB"/>
              <a:pathLst>
                <a:path w="4418" h="1">
                  <a:moveTo>
                    <a:pt x="0" y="1"/>
                  </a:moveTo>
                  <a:lnTo>
                    <a:pt x="441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60" name="Line 111"/>
            <p:cNvSpPr/>
            <p:nvPr/>
          </p:nvSpPr>
          <p:spPr>
            <a:xfrm>
              <a:off x="1292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61" name="Line 112"/>
            <p:cNvSpPr/>
            <p:nvPr/>
          </p:nvSpPr>
          <p:spPr>
            <a:xfrm>
              <a:off x="1868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62" name="Line 113"/>
            <p:cNvSpPr/>
            <p:nvPr/>
          </p:nvSpPr>
          <p:spPr>
            <a:xfrm>
              <a:off x="2444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63" name="Line 114"/>
            <p:cNvSpPr/>
            <p:nvPr/>
          </p:nvSpPr>
          <p:spPr>
            <a:xfrm>
              <a:off x="3020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64" name="Line 115"/>
            <p:cNvSpPr/>
            <p:nvPr/>
          </p:nvSpPr>
          <p:spPr>
            <a:xfrm>
              <a:off x="3596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65" name="Line 116"/>
            <p:cNvSpPr/>
            <p:nvPr/>
          </p:nvSpPr>
          <p:spPr>
            <a:xfrm>
              <a:off x="4172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66" name="Line 117"/>
            <p:cNvSpPr/>
            <p:nvPr/>
          </p:nvSpPr>
          <p:spPr>
            <a:xfrm>
              <a:off x="4748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0867" name="Line 118"/>
            <p:cNvSpPr/>
            <p:nvPr/>
          </p:nvSpPr>
          <p:spPr>
            <a:xfrm>
              <a:off x="5324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80868" name="Freeform 119"/>
            <p:cNvSpPr/>
            <p:nvPr/>
          </p:nvSpPr>
          <p:spPr>
            <a:xfrm>
              <a:off x="909" y="2879"/>
              <a:ext cx="3860" cy="1"/>
            </a:xfrm>
            <a:custGeom>
              <a:avLst/>
              <a:gdLst>
                <a:gd name="txL" fmla="*/ 0 w 3860"/>
                <a:gd name="txT" fmla="*/ 0 h 1"/>
                <a:gd name="txR" fmla="*/ 3860 w 3860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3860" y="0"/>
                </a:cxn>
              </a:cxnLst>
              <a:rect l="txL" t="txT" r="txR" b="txB"/>
              <a:pathLst>
                <a:path w="3860" h="1">
                  <a:moveTo>
                    <a:pt x="0" y="1"/>
                  </a:moveTo>
                  <a:lnTo>
                    <a:pt x="38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69" name="Freeform 120"/>
            <p:cNvSpPr/>
            <p:nvPr/>
          </p:nvSpPr>
          <p:spPr>
            <a:xfrm>
              <a:off x="912" y="3209"/>
              <a:ext cx="4418" cy="1"/>
            </a:xfrm>
            <a:custGeom>
              <a:avLst/>
              <a:gdLst>
                <a:gd name="txL" fmla="*/ 0 w 4418"/>
                <a:gd name="txT" fmla="*/ 0 h 1"/>
                <a:gd name="txR" fmla="*/ 4418 w 441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8" y="0"/>
                </a:cxn>
              </a:cxnLst>
              <a:rect l="txL" t="txT" r="txR" b="txB"/>
              <a:pathLst>
                <a:path w="4418" h="1">
                  <a:moveTo>
                    <a:pt x="0" y="1"/>
                  </a:moveTo>
                  <a:lnTo>
                    <a:pt x="441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70" name="Rectangle 121"/>
            <p:cNvSpPr/>
            <p:nvPr/>
          </p:nvSpPr>
          <p:spPr>
            <a:xfrm>
              <a:off x="1141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71" name="Text Box 122"/>
            <p:cNvSpPr txBox="1"/>
            <p:nvPr/>
          </p:nvSpPr>
          <p:spPr>
            <a:xfrm>
              <a:off x="1172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872" name="Freeform 123"/>
            <p:cNvSpPr/>
            <p:nvPr/>
          </p:nvSpPr>
          <p:spPr>
            <a:xfrm>
              <a:off x="1402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73" name="Freeform 124"/>
            <p:cNvSpPr/>
            <p:nvPr/>
          </p:nvSpPr>
          <p:spPr>
            <a:xfrm>
              <a:off x="1613" y="1211"/>
              <a:ext cx="169" cy="1469"/>
            </a:xfrm>
            <a:custGeom>
              <a:avLst/>
              <a:gdLst>
                <a:gd name="txL" fmla="*/ 0 w 169"/>
                <a:gd name="txT" fmla="*/ 0 h 1469"/>
                <a:gd name="txR" fmla="*/ 169 w 169"/>
                <a:gd name="txB" fmla="*/ 1469 h 1469"/>
              </a:gdLst>
              <a:ahLst/>
              <a:cxnLst>
                <a:cxn ang="0">
                  <a:pos x="169" y="1468"/>
                </a:cxn>
                <a:cxn ang="0">
                  <a:pos x="0" y="1469"/>
                </a:cxn>
                <a:cxn ang="0">
                  <a:pos x="1" y="0"/>
                </a:cxn>
                <a:cxn ang="0">
                  <a:pos x="105" y="0"/>
                </a:cxn>
              </a:cxnLst>
              <a:rect l="txL" t="txT" r="txR" b="txB"/>
              <a:pathLst>
                <a:path w="169" h="1469">
                  <a:moveTo>
                    <a:pt x="169" y="1468"/>
                  </a:moveTo>
                  <a:lnTo>
                    <a:pt x="0" y="1469"/>
                  </a:lnTo>
                  <a:lnTo>
                    <a:pt x="1" y="0"/>
                  </a:lnTo>
                  <a:lnTo>
                    <a:pt x="10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74" name="Freeform 125"/>
            <p:cNvSpPr/>
            <p:nvPr/>
          </p:nvSpPr>
          <p:spPr>
            <a:xfrm>
              <a:off x="1967" y="1211"/>
              <a:ext cx="141" cy="1466"/>
            </a:xfrm>
            <a:custGeom>
              <a:avLst/>
              <a:gdLst>
                <a:gd name="txL" fmla="*/ 0 w 141"/>
                <a:gd name="txT" fmla="*/ 0 h 1466"/>
                <a:gd name="txR" fmla="*/ 141 w 141"/>
                <a:gd name="txB" fmla="*/ 1466 h 1466"/>
              </a:gdLst>
              <a:ahLst/>
              <a:cxnLst>
                <a:cxn ang="0">
                  <a:pos x="38" y="0"/>
                </a:cxn>
                <a:cxn ang="0">
                  <a:pos x="141" y="0"/>
                </a:cxn>
                <a:cxn ang="0">
                  <a:pos x="140" y="1466"/>
                </a:cxn>
                <a:cxn ang="0">
                  <a:pos x="0" y="1466"/>
                </a:cxn>
              </a:cxnLst>
              <a:rect l="txL" t="txT" r="txR" b="txB"/>
              <a:pathLst>
                <a:path w="141" h="1466">
                  <a:moveTo>
                    <a:pt x="38" y="0"/>
                  </a:moveTo>
                  <a:lnTo>
                    <a:pt x="141" y="0"/>
                  </a:lnTo>
                  <a:lnTo>
                    <a:pt x="140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75" name="Freeform 126"/>
            <p:cNvSpPr/>
            <p:nvPr/>
          </p:nvSpPr>
          <p:spPr>
            <a:xfrm>
              <a:off x="2208" y="1211"/>
              <a:ext cx="155" cy="1467"/>
            </a:xfrm>
            <a:custGeom>
              <a:avLst/>
              <a:gdLst>
                <a:gd name="txL" fmla="*/ 0 w 155"/>
                <a:gd name="txT" fmla="*/ 0 h 1467"/>
                <a:gd name="txR" fmla="*/ 155 w 155"/>
                <a:gd name="txB" fmla="*/ 1467 h 1467"/>
              </a:gdLst>
              <a:ahLst/>
              <a:cxnLst>
                <a:cxn ang="0">
                  <a:pos x="155" y="1467"/>
                </a:cxn>
                <a:cxn ang="0">
                  <a:pos x="3" y="1467"/>
                </a:cxn>
                <a:cxn ang="0">
                  <a:pos x="0" y="1"/>
                </a:cxn>
                <a:cxn ang="0">
                  <a:pos x="89" y="0"/>
                </a:cxn>
              </a:cxnLst>
              <a:rect l="txL" t="txT" r="txR" b="txB"/>
              <a:pathLst>
                <a:path w="155" h="1467">
                  <a:moveTo>
                    <a:pt x="155" y="1467"/>
                  </a:moveTo>
                  <a:lnTo>
                    <a:pt x="3" y="1467"/>
                  </a:lnTo>
                  <a:lnTo>
                    <a:pt x="0" y="1"/>
                  </a:lnTo>
                  <a:lnTo>
                    <a:pt x="8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76" name="Freeform 127"/>
            <p:cNvSpPr/>
            <p:nvPr/>
          </p:nvSpPr>
          <p:spPr>
            <a:xfrm>
              <a:off x="2557" y="1211"/>
              <a:ext cx="142" cy="1466"/>
            </a:xfrm>
            <a:custGeom>
              <a:avLst/>
              <a:gdLst>
                <a:gd name="txL" fmla="*/ 0 w 142"/>
                <a:gd name="txT" fmla="*/ 0 h 1466"/>
                <a:gd name="txR" fmla="*/ 142 w 142"/>
                <a:gd name="txB" fmla="*/ 1466 h 1466"/>
              </a:gdLst>
              <a:ahLst/>
              <a:cxnLst>
                <a:cxn ang="0">
                  <a:pos x="34" y="0"/>
                </a:cxn>
                <a:cxn ang="0">
                  <a:pos x="142" y="0"/>
                </a:cxn>
                <a:cxn ang="0">
                  <a:pos x="141" y="1466"/>
                </a:cxn>
                <a:cxn ang="0">
                  <a:pos x="0" y="1464"/>
                </a:cxn>
              </a:cxnLst>
              <a:rect l="txL" t="txT" r="txR" b="txB"/>
              <a:pathLst>
                <a:path w="142" h="1466">
                  <a:moveTo>
                    <a:pt x="34" y="0"/>
                  </a:moveTo>
                  <a:lnTo>
                    <a:pt x="142" y="0"/>
                  </a:lnTo>
                  <a:lnTo>
                    <a:pt x="141" y="1466"/>
                  </a:lnTo>
                  <a:lnTo>
                    <a:pt x="0" y="146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77" name="Freeform 128"/>
            <p:cNvSpPr/>
            <p:nvPr/>
          </p:nvSpPr>
          <p:spPr>
            <a:xfrm>
              <a:off x="2787" y="1211"/>
              <a:ext cx="152" cy="1467"/>
            </a:xfrm>
            <a:custGeom>
              <a:avLst/>
              <a:gdLst>
                <a:gd name="txL" fmla="*/ 0 w 152"/>
                <a:gd name="txT" fmla="*/ 0 h 1467"/>
                <a:gd name="txR" fmla="*/ 152 w 152"/>
                <a:gd name="txB" fmla="*/ 1467 h 1467"/>
              </a:gdLst>
              <a:ahLst/>
              <a:cxnLst>
                <a:cxn ang="0">
                  <a:pos x="152" y="1467"/>
                </a:cxn>
                <a:cxn ang="0">
                  <a:pos x="0" y="1467"/>
                </a:cxn>
                <a:cxn ang="0">
                  <a:pos x="0" y="1"/>
                </a:cxn>
                <a:cxn ang="0">
                  <a:pos x="77" y="0"/>
                </a:cxn>
              </a:cxnLst>
              <a:rect l="txL" t="txT" r="txR" b="txB"/>
              <a:pathLst>
                <a:path w="152" h="1467">
                  <a:moveTo>
                    <a:pt x="152" y="1467"/>
                  </a:moveTo>
                  <a:lnTo>
                    <a:pt x="0" y="1467"/>
                  </a:lnTo>
                  <a:lnTo>
                    <a:pt x="0" y="1"/>
                  </a:lnTo>
                  <a:lnTo>
                    <a:pt x="7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78" name="Freeform 129"/>
            <p:cNvSpPr/>
            <p:nvPr/>
          </p:nvSpPr>
          <p:spPr>
            <a:xfrm>
              <a:off x="3130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79" name="Freeform 130"/>
            <p:cNvSpPr/>
            <p:nvPr/>
          </p:nvSpPr>
          <p:spPr>
            <a:xfrm>
              <a:off x="3360" y="1209"/>
              <a:ext cx="155" cy="1469"/>
            </a:xfrm>
            <a:custGeom>
              <a:avLst/>
              <a:gdLst>
                <a:gd name="txL" fmla="*/ 0 w 155"/>
                <a:gd name="txT" fmla="*/ 0 h 1469"/>
                <a:gd name="txR" fmla="*/ 155 w 155"/>
                <a:gd name="txB" fmla="*/ 1469 h 1469"/>
              </a:gdLst>
              <a:ahLst/>
              <a:cxnLst>
                <a:cxn ang="0">
                  <a:pos x="155" y="1469"/>
                </a:cxn>
                <a:cxn ang="0">
                  <a:pos x="3" y="1469"/>
                </a:cxn>
                <a:cxn ang="0">
                  <a:pos x="0" y="0"/>
                </a:cxn>
                <a:cxn ang="0">
                  <a:pos x="103" y="2"/>
                </a:cxn>
              </a:cxnLst>
              <a:rect l="txL" t="txT" r="txR" b="txB"/>
              <a:pathLst>
                <a:path w="155" h="1469">
                  <a:moveTo>
                    <a:pt x="155" y="1469"/>
                  </a:moveTo>
                  <a:lnTo>
                    <a:pt x="3" y="1469"/>
                  </a:lnTo>
                  <a:lnTo>
                    <a:pt x="0" y="0"/>
                  </a:lnTo>
                  <a:lnTo>
                    <a:pt x="103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80" name="Freeform 131"/>
            <p:cNvSpPr/>
            <p:nvPr/>
          </p:nvSpPr>
          <p:spPr>
            <a:xfrm>
              <a:off x="3710" y="1211"/>
              <a:ext cx="141" cy="1466"/>
            </a:xfrm>
            <a:custGeom>
              <a:avLst/>
              <a:gdLst>
                <a:gd name="txL" fmla="*/ 0 w 141"/>
                <a:gd name="txT" fmla="*/ 0 h 1466"/>
                <a:gd name="txR" fmla="*/ 141 w 141"/>
                <a:gd name="txB" fmla="*/ 1466 h 1466"/>
              </a:gdLst>
              <a:ahLst/>
              <a:cxnLst>
                <a:cxn ang="0">
                  <a:pos x="42" y="0"/>
                </a:cxn>
                <a:cxn ang="0">
                  <a:pos x="141" y="0"/>
                </a:cxn>
                <a:cxn ang="0">
                  <a:pos x="140" y="1466"/>
                </a:cxn>
                <a:cxn ang="0">
                  <a:pos x="0" y="1466"/>
                </a:cxn>
              </a:cxnLst>
              <a:rect l="txL" t="txT" r="txR" b="txB"/>
              <a:pathLst>
                <a:path w="141" h="1466">
                  <a:moveTo>
                    <a:pt x="42" y="0"/>
                  </a:moveTo>
                  <a:lnTo>
                    <a:pt x="141" y="0"/>
                  </a:lnTo>
                  <a:lnTo>
                    <a:pt x="140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81" name="Freeform 132"/>
            <p:cNvSpPr/>
            <p:nvPr/>
          </p:nvSpPr>
          <p:spPr>
            <a:xfrm>
              <a:off x="3939" y="1211"/>
              <a:ext cx="152" cy="1467"/>
            </a:xfrm>
            <a:custGeom>
              <a:avLst/>
              <a:gdLst>
                <a:gd name="txL" fmla="*/ 0 w 152"/>
                <a:gd name="txT" fmla="*/ 0 h 1467"/>
                <a:gd name="txR" fmla="*/ 152 w 152"/>
                <a:gd name="txB" fmla="*/ 1467 h 1467"/>
              </a:gdLst>
              <a:ahLst/>
              <a:cxnLst>
                <a:cxn ang="0">
                  <a:pos x="152" y="1467"/>
                </a:cxn>
                <a:cxn ang="0">
                  <a:pos x="0" y="1467"/>
                </a:cxn>
                <a:cxn ang="0">
                  <a:pos x="0" y="1"/>
                </a:cxn>
                <a:cxn ang="0">
                  <a:pos x="103" y="0"/>
                </a:cxn>
              </a:cxnLst>
              <a:rect l="txL" t="txT" r="txR" b="txB"/>
              <a:pathLst>
                <a:path w="152" h="1467">
                  <a:moveTo>
                    <a:pt x="152" y="1467"/>
                  </a:moveTo>
                  <a:lnTo>
                    <a:pt x="0" y="1467"/>
                  </a:lnTo>
                  <a:lnTo>
                    <a:pt x="0" y="1"/>
                  </a:lnTo>
                  <a:lnTo>
                    <a:pt x="10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82" name="Freeform 133"/>
            <p:cNvSpPr/>
            <p:nvPr/>
          </p:nvSpPr>
          <p:spPr>
            <a:xfrm>
              <a:off x="4280" y="1211"/>
              <a:ext cx="147" cy="1466"/>
            </a:xfrm>
            <a:custGeom>
              <a:avLst/>
              <a:gdLst>
                <a:gd name="txL" fmla="*/ 0 w 147"/>
                <a:gd name="txT" fmla="*/ 0 h 1466"/>
                <a:gd name="txR" fmla="*/ 147 w 147"/>
                <a:gd name="txB" fmla="*/ 1466 h 1466"/>
              </a:gdLst>
              <a:ahLst/>
              <a:cxnLst>
                <a:cxn ang="0">
                  <a:pos x="51" y="0"/>
                </a:cxn>
                <a:cxn ang="0">
                  <a:pos x="147" y="0"/>
                </a:cxn>
                <a:cxn ang="0">
                  <a:pos x="146" y="1466"/>
                </a:cxn>
                <a:cxn ang="0">
                  <a:pos x="0" y="1466"/>
                </a:cxn>
              </a:cxnLst>
              <a:rect l="txL" t="txT" r="txR" b="txB"/>
              <a:pathLst>
                <a:path w="147" h="1466">
                  <a:moveTo>
                    <a:pt x="51" y="0"/>
                  </a:moveTo>
                  <a:lnTo>
                    <a:pt x="147" y="0"/>
                  </a:lnTo>
                  <a:lnTo>
                    <a:pt x="146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83" name="Freeform 134"/>
            <p:cNvSpPr/>
            <p:nvPr/>
          </p:nvSpPr>
          <p:spPr>
            <a:xfrm>
              <a:off x="4509" y="1211"/>
              <a:ext cx="158" cy="1467"/>
            </a:xfrm>
            <a:custGeom>
              <a:avLst/>
              <a:gdLst>
                <a:gd name="txL" fmla="*/ 0 w 158"/>
                <a:gd name="txT" fmla="*/ 0 h 1467"/>
                <a:gd name="txR" fmla="*/ 158 w 158"/>
                <a:gd name="txB" fmla="*/ 1467 h 1467"/>
              </a:gdLst>
              <a:ahLst/>
              <a:cxnLst>
                <a:cxn ang="0">
                  <a:pos x="158" y="1467"/>
                </a:cxn>
                <a:cxn ang="0">
                  <a:pos x="0" y="1467"/>
                </a:cxn>
                <a:cxn ang="0">
                  <a:pos x="0" y="0"/>
                </a:cxn>
                <a:cxn ang="0">
                  <a:pos x="95" y="0"/>
                </a:cxn>
              </a:cxnLst>
              <a:rect l="txL" t="txT" r="txR" b="txB"/>
              <a:pathLst>
                <a:path w="158" h="1467">
                  <a:moveTo>
                    <a:pt x="158" y="1467"/>
                  </a:moveTo>
                  <a:lnTo>
                    <a:pt x="0" y="1467"/>
                  </a:lnTo>
                  <a:lnTo>
                    <a:pt x="0" y="0"/>
                  </a:lnTo>
                  <a:lnTo>
                    <a:pt x="9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84" name="Freeform 135"/>
            <p:cNvSpPr/>
            <p:nvPr/>
          </p:nvSpPr>
          <p:spPr>
            <a:xfrm>
              <a:off x="4861" y="1211"/>
              <a:ext cx="142" cy="1466"/>
            </a:xfrm>
            <a:custGeom>
              <a:avLst/>
              <a:gdLst>
                <a:gd name="txL" fmla="*/ 0 w 142"/>
                <a:gd name="txT" fmla="*/ 0 h 1466"/>
                <a:gd name="txR" fmla="*/ 142 w 142"/>
                <a:gd name="txB" fmla="*/ 1466 h 1466"/>
              </a:gdLst>
              <a:ahLst/>
              <a:cxnLst>
                <a:cxn ang="0">
                  <a:pos x="34" y="0"/>
                </a:cxn>
                <a:cxn ang="0">
                  <a:pos x="142" y="0"/>
                </a:cxn>
                <a:cxn ang="0">
                  <a:pos x="141" y="1466"/>
                </a:cxn>
                <a:cxn ang="0">
                  <a:pos x="0" y="1466"/>
                </a:cxn>
              </a:cxnLst>
              <a:rect l="txL" t="txT" r="txR" b="txB"/>
              <a:pathLst>
                <a:path w="142" h="1466">
                  <a:moveTo>
                    <a:pt x="34" y="0"/>
                  </a:moveTo>
                  <a:lnTo>
                    <a:pt x="142" y="0"/>
                  </a:lnTo>
                  <a:lnTo>
                    <a:pt x="141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85" name="Freeform 136"/>
            <p:cNvSpPr/>
            <p:nvPr/>
          </p:nvSpPr>
          <p:spPr>
            <a:xfrm>
              <a:off x="5069" y="1211"/>
              <a:ext cx="159" cy="1469"/>
            </a:xfrm>
            <a:custGeom>
              <a:avLst/>
              <a:gdLst>
                <a:gd name="txL" fmla="*/ 0 w 159"/>
                <a:gd name="txT" fmla="*/ 0 h 1469"/>
                <a:gd name="txR" fmla="*/ 159 w 159"/>
                <a:gd name="txB" fmla="*/ 1469 h 1469"/>
              </a:gdLst>
              <a:ahLst/>
              <a:cxnLst>
                <a:cxn ang="0">
                  <a:pos x="159" y="1467"/>
                </a:cxn>
                <a:cxn ang="0">
                  <a:pos x="0" y="1469"/>
                </a:cxn>
                <a:cxn ang="0">
                  <a:pos x="1" y="0"/>
                </a:cxn>
                <a:cxn ang="0">
                  <a:pos x="104" y="0"/>
                </a:cxn>
              </a:cxnLst>
              <a:rect l="txL" t="txT" r="txR" b="txB"/>
              <a:pathLst>
                <a:path w="159" h="1469">
                  <a:moveTo>
                    <a:pt x="159" y="1467"/>
                  </a:moveTo>
                  <a:lnTo>
                    <a:pt x="0" y="1469"/>
                  </a:lnTo>
                  <a:lnTo>
                    <a:pt x="1" y="0"/>
                  </a:lnTo>
                  <a:lnTo>
                    <a:pt x="10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86" name="Freeform 137"/>
            <p:cNvSpPr/>
            <p:nvPr/>
          </p:nvSpPr>
          <p:spPr>
            <a:xfrm>
              <a:off x="5417" y="1211"/>
              <a:ext cx="147" cy="1466"/>
            </a:xfrm>
            <a:custGeom>
              <a:avLst/>
              <a:gdLst>
                <a:gd name="txL" fmla="*/ 0 w 147"/>
                <a:gd name="txT" fmla="*/ 0 h 1466"/>
                <a:gd name="txR" fmla="*/ 147 w 147"/>
                <a:gd name="txB" fmla="*/ 1466 h 1466"/>
              </a:gdLst>
              <a:ahLst/>
              <a:cxnLst>
                <a:cxn ang="0">
                  <a:pos x="47" y="0"/>
                </a:cxn>
                <a:cxn ang="0">
                  <a:pos x="147" y="0"/>
                </a:cxn>
                <a:cxn ang="0">
                  <a:pos x="146" y="1466"/>
                </a:cxn>
                <a:cxn ang="0">
                  <a:pos x="0" y="1466"/>
                </a:cxn>
              </a:cxnLst>
              <a:rect l="txL" t="txT" r="txR" b="txB"/>
              <a:pathLst>
                <a:path w="147" h="1466">
                  <a:moveTo>
                    <a:pt x="47" y="0"/>
                  </a:moveTo>
                  <a:lnTo>
                    <a:pt x="147" y="0"/>
                  </a:lnTo>
                  <a:lnTo>
                    <a:pt x="146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87" name="Freeform 138"/>
            <p:cNvSpPr/>
            <p:nvPr/>
          </p:nvSpPr>
          <p:spPr>
            <a:xfrm>
              <a:off x="1055" y="2738"/>
              <a:ext cx="730" cy="660"/>
            </a:xfrm>
            <a:custGeom>
              <a:avLst/>
              <a:gdLst>
                <a:gd name="txL" fmla="*/ 0 w 730"/>
                <a:gd name="txT" fmla="*/ 0 h 660"/>
                <a:gd name="txR" fmla="*/ 730 w 730"/>
                <a:gd name="txB" fmla="*/ 660 h 660"/>
              </a:gdLst>
              <a:ahLst/>
              <a:cxnLst>
                <a:cxn ang="0">
                  <a:pos x="160" y="4"/>
                </a:cxn>
                <a:cxn ang="0">
                  <a:pos x="0" y="3"/>
                </a:cxn>
                <a:cxn ang="0">
                  <a:pos x="0" y="660"/>
                </a:cxn>
                <a:cxn ang="0">
                  <a:pos x="558" y="657"/>
                </a:cxn>
                <a:cxn ang="0">
                  <a:pos x="558" y="0"/>
                </a:cxn>
                <a:cxn ang="0">
                  <a:pos x="730" y="1"/>
                </a:cxn>
              </a:cxnLst>
              <a:rect l="txL" t="txT" r="txR" b="txB"/>
              <a:pathLst>
                <a:path w="730" h="660">
                  <a:moveTo>
                    <a:pt x="160" y="4"/>
                  </a:moveTo>
                  <a:lnTo>
                    <a:pt x="0" y="3"/>
                  </a:lnTo>
                  <a:lnTo>
                    <a:pt x="0" y="660"/>
                  </a:lnTo>
                  <a:lnTo>
                    <a:pt x="558" y="657"/>
                  </a:lnTo>
                  <a:lnTo>
                    <a:pt x="558" y="0"/>
                  </a:lnTo>
                  <a:lnTo>
                    <a:pt x="73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88" name="Freeform 139"/>
            <p:cNvSpPr/>
            <p:nvPr/>
          </p:nvSpPr>
          <p:spPr>
            <a:xfrm>
              <a:off x="2207" y="2744"/>
              <a:ext cx="729" cy="658"/>
            </a:xfrm>
            <a:custGeom>
              <a:avLst/>
              <a:gdLst>
                <a:gd name="txL" fmla="*/ 0 w 729"/>
                <a:gd name="txT" fmla="*/ 0 h 658"/>
                <a:gd name="txR" fmla="*/ 729 w 729"/>
                <a:gd name="txB" fmla="*/ 658 h 658"/>
              </a:gdLst>
              <a:ahLst/>
              <a:cxnLst>
                <a:cxn ang="0">
                  <a:pos x="153" y="0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83" y="658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8">
                  <a:moveTo>
                    <a:pt x="153" y="0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83" y="658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89" name="Freeform 140"/>
            <p:cNvSpPr/>
            <p:nvPr/>
          </p:nvSpPr>
          <p:spPr>
            <a:xfrm>
              <a:off x="3356" y="2744"/>
              <a:ext cx="729" cy="657"/>
            </a:xfrm>
            <a:custGeom>
              <a:avLst/>
              <a:gdLst>
                <a:gd name="txL" fmla="*/ 0 w 729"/>
                <a:gd name="txT" fmla="*/ 0 h 657"/>
                <a:gd name="txR" fmla="*/ 729 w 729"/>
                <a:gd name="txB" fmla="*/ 657 h 657"/>
              </a:gdLst>
              <a:ahLst/>
              <a:cxnLst>
                <a:cxn ang="0">
                  <a:pos x="158" y="0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79" y="654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7">
                  <a:moveTo>
                    <a:pt x="158" y="0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79" y="654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90" name="Freeform 141"/>
            <p:cNvSpPr/>
            <p:nvPr/>
          </p:nvSpPr>
          <p:spPr>
            <a:xfrm>
              <a:off x="4508" y="2744"/>
              <a:ext cx="729" cy="657"/>
            </a:xfrm>
            <a:custGeom>
              <a:avLst/>
              <a:gdLst>
                <a:gd name="txL" fmla="*/ 0 w 729"/>
                <a:gd name="txT" fmla="*/ 0 h 657"/>
                <a:gd name="txR" fmla="*/ 729 w 729"/>
                <a:gd name="txB" fmla="*/ 657 h 657"/>
              </a:gdLst>
              <a:ahLst/>
              <a:cxnLst>
                <a:cxn ang="0">
                  <a:pos x="161" y="2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79" y="654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7">
                  <a:moveTo>
                    <a:pt x="161" y="2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79" y="654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91" name="Freeform 142"/>
            <p:cNvSpPr/>
            <p:nvPr/>
          </p:nvSpPr>
          <p:spPr>
            <a:xfrm>
              <a:off x="1400" y="2735"/>
              <a:ext cx="708" cy="571"/>
            </a:xfrm>
            <a:custGeom>
              <a:avLst/>
              <a:gdLst>
                <a:gd name="txL" fmla="*/ 0 w 708"/>
                <a:gd name="txT" fmla="*/ 0 h 571"/>
                <a:gd name="txR" fmla="*/ 708 w 708"/>
                <a:gd name="txB" fmla="*/ 571 h 571"/>
              </a:gdLst>
              <a:ahLst/>
              <a:cxnLst>
                <a:cxn ang="0">
                  <a:pos x="0" y="0"/>
                </a:cxn>
                <a:cxn ang="0">
                  <a:pos x="132" y="0"/>
                </a:cxn>
                <a:cxn ang="0">
                  <a:pos x="133" y="571"/>
                </a:cxn>
                <a:cxn ang="0">
                  <a:pos x="708" y="570"/>
                </a:cxn>
                <a:cxn ang="0">
                  <a:pos x="708" y="9"/>
                </a:cxn>
                <a:cxn ang="0">
                  <a:pos x="573" y="9"/>
                </a:cxn>
              </a:cxnLst>
              <a:rect l="txL" t="txT" r="txR" b="txB"/>
              <a:pathLst>
                <a:path w="708" h="571">
                  <a:moveTo>
                    <a:pt x="0" y="0"/>
                  </a:moveTo>
                  <a:lnTo>
                    <a:pt x="132" y="0"/>
                  </a:lnTo>
                  <a:lnTo>
                    <a:pt x="133" y="571"/>
                  </a:lnTo>
                  <a:lnTo>
                    <a:pt x="708" y="570"/>
                  </a:lnTo>
                  <a:lnTo>
                    <a:pt x="708" y="9"/>
                  </a:lnTo>
                  <a:lnTo>
                    <a:pt x="573" y="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92" name="Freeform 143"/>
            <p:cNvSpPr/>
            <p:nvPr/>
          </p:nvSpPr>
          <p:spPr>
            <a:xfrm>
              <a:off x="2552" y="2735"/>
              <a:ext cx="726" cy="567"/>
            </a:xfrm>
            <a:custGeom>
              <a:avLst/>
              <a:gdLst>
                <a:gd name="txL" fmla="*/ 0 w 726"/>
                <a:gd name="txT" fmla="*/ 0 h 567"/>
                <a:gd name="txR" fmla="*/ 726 w 726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48" y="1"/>
                </a:cxn>
                <a:cxn ang="0">
                  <a:pos x="147" y="567"/>
                </a:cxn>
                <a:cxn ang="0">
                  <a:pos x="726" y="567"/>
                </a:cxn>
                <a:cxn ang="0">
                  <a:pos x="726" y="6"/>
                </a:cxn>
                <a:cxn ang="0">
                  <a:pos x="579" y="6"/>
                </a:cxn>
              </a:cxnLst>
              <a:rect l="txL" t="txT" r="txR" b="txB"/>
              <a:pathLst>
                <a:path w="726" h="567">
                  <a:moveTo>
                    <a:pt x="0" y="0"/>
                  </a:moveTo>
                  <a:lnTo>
                    <a:pt x="148" y="1"/>
                  </a:lnTo>
                  <a:lnTo>
                    <a:pt x="147" y="567"/>
                  </a:lnTo>
                  <a:lnTo>
                    <a:pt x="726" y="567"/>
                  </a:lnTo>
                  <a:lnTo>
                    <a:pt x="726" y="6"/>
                  </a:lnTo>
                  <a:lnTo>
                    <a:pt x="579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93" name="Freeform 144"/>
            <p:cNvSpPr/>
            <p:nvPr/>
          </p:nvSpPr>
          <p:spPr>
            <a:xfrm>
              <a:off x="3704" y="2738"/>
              <a:ext cx="714" cy="567"/>
            </a:xfrm>
            <a:custGeom>
              <a:avLst/>
              <a:gdLst>
                <a:gd name="txL" fmla="*/ 0 w 714"/>
                <a:gd name="txT" fmla="*/ 0 h 567"/>
                <a:gd name="txR" fmla="*/ 714 w 714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36" y="1"/>
                </a:cxn>
                <a:cxn ang="0">
                  <a:pos x="135" y="567"/>
                </a:cxn>
                <a:cxn ang="0">
                  <a:pos x="714" y="567"/>
                </a:cxn>
                <a:cxn ang="0">
                  <a:pos x="714" y="6"/>
                </a:cxn>
                <a:cxn ang="0">
                  <a:pos x="576" y="5"/>
                </a:cxn>
              </a:cxnLst>
              <a:rect l="txL" t="txT" r="txR" b="txB"/>
              <a:pathLst>
                <a:path w="714" h="567">
                  <a:moveTo>
                    <a:pt x="0" y="0"/>
                  </a:moveTo>
                  <a:lnTo>
                    <a:pt x="136" y="1"/>
                  </a:lnTo>
                  <a:lnTo>
                    <a:pt x="135" y="567"/>
                  </a:lnTo>
                  <a:lnTo>
                    <a:pt x="714" y="567"/>
                  </a:lnTo>
                  <a:lnTo>
                    <a:pt x="714" y="6"/>
                  </a:lnTo>
                  <a:lnTo>
                    <a:pt x="576" y="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94" name="Freeform 145"/>
            <p:cNvSpPr/>
            <p:nvPr/>
          </p:nvSpPr>
          <p:spPr>
            <a:xfrm>
              <a:off x="4859" y="2738"/>
              <a:ext cx="711" cy="567"/>
            </a:xfrm>
            <a:custGeom>
              <a:avLst/>
              <a:gdLst>
                <a:gd name="txL" fmla="*/ 0 w 711"/>
                <a:gd name="txT" fmla="*/ 0 h 567"/>
                <a:gd name="txR" fmla="*/ 711 w 711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30" y="1"/>
                </a:cxn>
                <a:cxn ang="0">
                  <a:pos x="132" y="567"/>
                </a:cxn>
                <a:cxn ang="0">
                  <a:pos x="711" y="567"/>
                </a:cxn>
                <a:cxn ang="0">
                  <a:pos x="711" y="6"/>
                </a:cxn>
                <a:cxn ang="0">
                  <a:pos x="564" y="6"/>
                </a:cxn>
              </a:cxnLst>
              <a:rect l="txL" t="txT" r="txR" b="txB"/>
              <a:pathLst>
                <a:path w="711" h="567">
                  <a:moveTo>
                    <a:pt x="0" y="0"/>
                  </a:moveTo>
                  <a:lnTo>
                    <a:pt x="130" y="1"/>
                  </a:lnTo>
                  <a:lnTo>
                    <a:pt x="132" y="567"/>
                  </a:lnTo>
                  <a:lnTo>
                    <a:pt x="711" y="567"/>
                  </a:lnTo>
                  <a:lnTo>
                    <a:pt x="711" y="6"/>
                  </a:lnTo>
                  <a:lnTo>
                    <a:pt x="564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95" name="Freeform 146"/>
            <p:cNvSpPr/>
            <p:nvPr/>
          </p:nvSpPr>
          <p:spPr>
            <a:xfrm>
              <a:off x="1322" y="3398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96" name="Freeform 147"/>
            <p:cNvSpPr/>
            <p:nvPr/>
          </p:nvSpPr>
          <p:spPr>
            <a:xfrm>
              <a:off x="2491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97" name="Freeform 148"/>
            <p:cNvSpPr/>
            <p:nvPr/>
          </p:nvSpPr>
          <p:spPr>
            <a:xfrm>
              <a:off x="3643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98" name="Freeform 149"/>
            <p:cNvSpPr/>
            <p:nvPr/>
          </p:nvSpPr>
          <p:spPr>
            <a:xfrm>
              <a:off x="4795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899" name="Freeform 150"/>
            <p:cNvSpPr/>
            <p:nvPr/>
          </p:nvSpPr>
          <p:spPr>
            <a:xfrm>
              <a:off x="5276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00" name="Freeform 151"/>
            <p:cNvSpPr/>
            <p:nvPr/>
          </p:nvSpPr>
          <p:spPr>
            <a:xfrm>
              <a:off x="4124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01" name="Freeform 152"/>
            <p:cNvSpPr/>
            <p:nvPr/>
          </p:nvSpPr>
          <p:spPr>
            <a:xfrm>
              <a:off x="2972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02" name="Freeform 153"/>
            <p:cNvSpPr/>
            <p:nvPr/>
          </p:nvSpPr>
          <p:spPr>
            <a:xfrm>
              <a:off x="1819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03" name="Freeform 154"/>
            <p:cNvSpPr/>
            <p:nvPr/>
          </p:nvSpPr>
          <p:spPr>
            <a:xfrm>
              <a:off x="956" y="4025"/>
              <a:ext cx="4317" cy="1"/>
            </a:xfrm>
            <a:custGeom>
              <a:avLst/>
              <a:gdLst>
                <a:gd name="txL" fmla="*/ 0 w 4317"/>
                <a:gd name="txT" fmla="*/ 0 h 1"/>
                <a:gd name="txR" fmla="*/ 4317 w 431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317" y="0"/>
                </a:cxn>
              </a:cxnLst>
              <a:rect l="txL" t="txT" r="txR" b="txB"/>
              <a:pathLst>
                <a:path w="4317" h="1">
                  <a:moveTo>
                    <a:pt x="0" y="0"/>
                  </a:moveTo>
                  <a:lnTo>
                    <a:pt x="431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04" name="Freeform 155"/>
            <p:cNvSpPr/>
            <p:nvPr/>
          </p:nvSpPr>
          <p:spPr>
            <a:xfrm>
              <a:off x="956" y="4121"/>
              <a:ext cx="3837" cy="1"/>
            </a:xfrm>
            <a:custGeom>
              <a:avLst/>
              <a:gdLst>
                <a:gd name="txL" fmla="*/ 0 w 3837"/>
                <a:gd name="txT" fmla="*/ 0 h 1"/>
                <a:gd name="txR" fmla="*/ 3837 w 383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837" y="0"/>
                </a:cxn>
              </a:cxnLst>
              <a:rect l="txL" t="txT" r="txR" b="txB"/>
              <a:pathLst>
                <a:path w="3837" h="1">
                  <a:moveTo>
                    <a:pt x="0" y="0"/>
                  </a:moveTo>
                  <a:lnTo>
                    <a:pt x="38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05" name="Freeform 156"/>
            <p:cNvSpPr/>
            <p:nvPr/>
          </p:nvSpPr>
          <p:spPr>
            <a:xfrm>
              <a:off x="1322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06" name="Freeform 157"/>
            <p:cNvSpPr/>
            <p:nvPr/>
          </p:nvSpPr>
          <p:spPr>
            <a:xfrm>
              <a:off x="2491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07" name="Freeform 158"/>
            <p:cNvSpPr/>
            <p:nvPr/>
          </p:nvSpPr>
          <p:spPr>
            <a:xfrm>
              <a:off x="3643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08" name="Freeform 159"/>
            <p:cNvSpPr/>
            <p:nvPr/>
          </p:nvSpPr>
          <p:spPr>
            <a:xfrm>
              <a:off x="4791" y="3881"/>
              <a:ext cx="4" cy="247"/>
            </a:xfrm>
            <a:custGeom>
              <a:avLst/>
              <a:gdLst>
                <a:gd name="txL" fmla="*/ 0 w 4"/>
                <a:gd name="txT" fmla="*/ 0 h 247"/>
                <a:gd name="txR" fmla="*/ 4 w 4"/>
                <a:gd name="txB" fmla="*/ 247 h 247"/>
              </a:gdLst>
              <a:ahLst/>
              <a:cxnLst>
                <a:cxn ang="0">
                  <a:pos x="4" y="0"/>
                </a:cxn>
                <a:cxn ang="0">
                  <a:pos x="0" y="247"/>
                </a:cxn>
              </a:cxnLst>
              <a:rect l="txL" t="txT" r="txR" b="txB"/>
              <a:pathLst>
                <a:path w="4" h="247">
                  <a:moveTo>
                    <a:pt x="4" y="0"/>
                  </a:moveTo>
                  <a:lnTo>
                    <a:pt x="0" y="24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09" name="Freeform 160"/>
            <p:cNvSpPr/>
            <p:nvPr/>
          </p:nvSpPr>
          <p:spPr>
            <a:xfrm>
              <a:off x="5277" y="3881"/>
              <a:ext cx="1" cy="151"/>
            </a:xfrm>
            <a:custGeom>
              <a:avLst/>
              <a:gdLst>
                <a:gd name="txL" fmla="*/ 0 w 1"/>
                <a:gd name="txT" fmla="*/ 0 h 151"/>
                <a:gd name="txR" fmla="*/ 1 w 1"/>
                <a:gd name="txB" fmla="*/ 151 h 151"/>
              </a:gdLst>
              <a:ahLst/>
              <a:cxnLst>
                <a:cxn ang="0">
                  <a:pos x="0" y="0"/>
                </a:cxn>
                <a:cxn ang="0">
                  <a:pos x="0" y="151"/>
                </a:cxn>
              </a:cxnLst>
              <a:rect l="txL" t="txT" r="txR" b="txB"/>
              <a:pathLst>
                <a:path w="1" h="151">
                  <a:moveTo>
                    <a:pt x="0" y="0"/>
                  </a:moveTo>
                  <a:lnTo>
                    <a:pt x="0" y="15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10" name="Line 161"/>
            <p:cNvSpPr/>
            <p:nvPr/>
          </p:nvSpPr>
          <p:spPr>
            <a:xfrm>
              <a:off x="4124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80911" name="Line 162"/>
            <p:cNvSpPr/>
            <p:nvPr/>
          </p:nvSpPr>
          <p:spPr>
            <a:xfrm>
              <a:off x="2973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80912" name="Line 163"/>
            <p:cNvSpPr/>
            <p:nvPr/>
          </p:nvSpPr>
          <p:spPr>
            <a:xfrm>
              <a:off x="1820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80913" name="Rectangle 164"/>
            <p:cNvSpPr/>
            <p:nvPr/>
          </p:nvSpPr>
          <p:spPr>
            <a:xfrm>
              <a:off x="2317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14" name="Text Box 165"/>
            <p:cNvSpPr txBox="1"/>
            <p:nvPr/>
          </p:nvSpPr>
          <p:spPr>
            <a:xfrm>
              <a:off x="2348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15" name="Rectangle 166"/>
            <p:cNvSpPr/>
            <p:nvPr/>
          </p:nvSpPr>
          <p:spPr>
            <a:xfrm>
              <a:off x="3469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16" name="Text Box 167"/>
            <p:cNvSpPr txBox="1"/>
            <p:nvPr/>
          </p:nvSpPr>
          <p:spPr>
            <a:xfrm>
              <a:off x="3500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17" name="Rectangle 168"/>
            <p:cNvSpPr/>
            <p:nvPr/>
          </p:nvSpPr>
          <p:spPr>
            <a:xfrm>
              <a:off x="4621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18" name="Text Box 169"/>
            <p:cNvSpPr txBox="1"/>
            <p:nvPr/>
          </p:nvSpPr>
          <p:spPr>
            <a:xfrm>
              <a:off x="4652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19" name="Line 170"/>
            <p:cNvSpPr/>
            <p:nvPr/>
          </p:nvSpPr>
          <p:spPr>
            <a:xfrm>
              <a:off x="1964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0920" name="Line 171"/>
            <p:cNvSpPr/>
            <p:nvPr/>
          </p:nvSpPr>
          <p:spPr>
            <a:xfrm>
              <a:off x="3144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0921" name="Line 172"/>
            <p:cNvSpPr/>
            <p:nvPr/>
          </p:nvSpPr>
          <p:spPr>
            <a:xfrm>
              <a:off x="4293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0922" name="Line 173"/>
            <p:cNvSpPr/>
            <p:nvPr/>
          </p:nvSpPr>
          <p:spPr>
            <a:xfrm>
              <a:off x="5420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0923" name="Freeform 174"/>
            <p:cNvSpPr/>
            <p:nvPr/>
          </p:nvSpPr>
          <p:spPr>
            <a:xfrm>
              <a:off x="3033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24" name="Freeform 175"/>
            <p:cNvSpPr/>
            <p:nvPr/>
          </p:nvSpPr>
          <p:spPr>
            <a:xfrm>
              <a:off x="4185" y="2691"/>
              <a:ext cx="1" cy="525"/>
            </a:xfrm>
            <a:custGeom>
              <a:avLst/>
              <a:gdLst>
                <a:gd name="txL" fmla="*/ 0 w 1"/>
                <a:gd name="txT" fmla="*/ 0 h 525"/>
                <a:gd name="txR" fmla="*/ 1 w 1"/>
                <a:gd name="txB" fmla="*/ 525 h 525"/>
              </a:gdLst>
              <a:ahLst/>
              <a:cxnLst>
                <a:cxn ang="0">
                  <a:pos x="0" y="0"/>
                </a:cxn>
                <a:cxn ang="0">
                  <a:pos x="0" y="525"/>
                </a:cxn>
              </a:cxnLst>
              <a:rect l="txL" t="txT" r="txR" b="txB"/>
              <a:pathLst>
                <a:path w="1" h="525">
                  <a:moveTo>
                    <a:pt x="0" y="0"/>
                  </a:moveTo>
                  <a:lnTo>
                    <a:pt x="0" y="52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25" name="Freeform 176"/>
            <p:cNvSpPr/>
            <p:nvPr/>
          </p:nvSpPr>
          <p:spPr>
            <a:xfrm>
              <a:off x="5325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926" name="Text Box 177"/>
            <p:cNvSpPr txBox="1"/>
            <p:nvPr/>
          </p:nvSpPr>
          <p:spPr>
            <a:xfrm rot="5400000">
              <a:off x="1175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27" name="Text Box 178"/>
            <p:cNvSpPr txBox="1"/>
            <p:nvPr/>
          </p:nvSpPr>
          <p:spPr>
            <a:xfrm rot="5400000">
              <a:off x="1751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28" name="Text Box 179"/>
            <p:cNvSpPr txBox="1"/>
            <p:nvPr/>
          </p:nvSpPr>
          <p:spPr>
            <a:xfrm rot="5400000">
              <a:off x="2327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29" name="Text Box 180"/>
            <p:cNvSpPr txBox="1"/>
            <p:nvPr/>
          </p:nvSpPr>
          <p:spPr>
            <a:xfrm rot="5400000">
              <a:off x="2903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30" name="Text Box 181"/>
            <p:cNvSpPr txBox="1"/>
            <p:nvPr/>
          </p:nvSpPr>
          <p:spPr>
            <a:xfrm rot="5400000">
              <a:off x="3478" y="161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31" name="Text Box 182"/>
            <p:cNvSpPr txBox="1"/>
            <p:nvPr/>
          </p:nvSpPr>
          <p:spPr>
            <a:xfrm rot="5400000">
              <a:off x="4055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32" name="Text Box 183"/>
            <p:cNvSpPr txBox="1"/>
            <p:nvPr/>
          </p:nvSpPr>
          <p:spPr>
            <a:xfrm rot="5400000">
              <a:off x="4631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33" name="Text Box 184"/>
            <p:cNvSpPr txBox="1"/>
            <p:nvPr/>
          </p:nvSpPr>
          <p:spPr>
            <a:xfrm rot="5400000">
              <a:off x="5226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34" name="Text Box 185"/>
            <p:cNvSpPr txBox="1"/>
            <p:nvPr/>
          </p:nvSpPr>
          <p:spPr>
            <a:xfrm>
              <a:off x="660" y="791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35" name="Text Box 186"/>
            <p:cNvSpPr txBox="1"/>
            <p:nvPr/>
          </p:nvSpPr>
          <p:spPr>
            <a:xfrm>
              <a:off x="660" y="1383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36" name="Text Box 187"/>
            <p:cNvSpPr txBox="1"/>
            <p:nvPr/>
          </p:nvSpPr>
          <p:spPr>
            <a:xfrm>
              <a:off x="624" y="195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63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37" name="Line 188"/>
            <p:cNvSpPr/>
            <p:nvPr/>
          </p:nvSpPr>
          <p:spPr>
            <a:xfrm>
              <a:off x="332" y="2537"/>
              <a:ext cx="5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938" name="Text Box 189"/>
            <p:cNvSpPr txBox="1"/>
            <p:nvPr/>
          </p:nvSpPr>
          <p:spPr>
            <a:xfrm>
              <a:off x="660" y="2727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39" name="Text Box 190"/>
            <p:cNvSpPr txBox="1"/>
            <p:nvPr/>
          </p:nvSpPr>
          <p:spPr>
            <a:xfrm>
              <a:off x="624" y="315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15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40" name="Text Box 191"/>
            <p:cNvSpPr txBox="1"/>
            <p:nvPr/>
          </p:nvSpPr>
          <p:spPr>
            <a:xfrm rot="5400000">
              <a:off x="647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41" name="Text Box 192"/>
            <p:cNvSpPr txBox="1"/>
            <p:nvPr/>
          </p:nvSpPr>
          <p:spPr>
            <a:xfrm rot="5400000">
              <a:off x="647" y="285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42" name="Text Box 193"/>
            <p:cNvSpPr txBox="1"/>
            <p:nvPr/>
          </p:nvSpPr>
          <p:spPr>
            <a:xfrm>
              <a:off x="349" y="101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行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43" name="Text Box 194"/>
            <p:cNvSpPr txBox="1"/>
            <p:nvPr/>
          </p:nvSpPr>
          <p:spPr>
            <a:xfrm>
              <a:off x="349" y="126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44" name="Text Box 195"/>
            <p:cNvSpPr txBox="1"/>
            <p:nvPr/>
          </p:nvSpPr>
          <p:spPr>
            <a:xfrm>
              <a:off x="349" y="151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45" name="Text Box 196"/>
            <p:cNvSpPr txBox="1"/>
            <p:nvPr/>
          </p:nvSpPr>
          <p:spPr>
            <a:xfrm>
              <a:off x="349" y="175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46" name="Text Box 197"/>
            <p:cNvSpPr txBox="1"/>
            <p:nvPr/>
          </p:nvSpPr>
          <p:spPr>
            <a:xfrm>
              <a:off x="349" y="200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47" name="Text Box 198"/>
            <p:cNvSpPr txBox="1"/>
            <p:nvPr/>
          </p:nvSpPr>
          <p:spPr>
            <a:xfrm>
              <a:off x="376" y="263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列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48" name="Text Box 199"/>
            <p:cNvSpPr txBox="1"/>
            <p:nvPr/>
          </p:nvSpPr>
          <p:spPr>
            <a:xfrm>
              <a:off x="376" y="288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49" name="Text Box 200"/>
            <p:cNvSpPr txBox="1"/>
            <p:nvPr/>
          </p:nvSpPr>
          <p:spPr>
            <a:xfrm>
              <a:off x="376" y="313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50" name="Text Box 201"/>
            <p:cNvSpPr txBox="1"/>
            <p:nvPr/>
          </p:nvSpPr>
          <p:spPr>
            <a:xfrm>
              <a:off x="376" y="337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51" name="Text Box 202"/>
            <p:cNvSpPr txBox="1"/>
            <p:nvPr/>
          </p:nvSpPr>
          <p:spPr>
            <a:xfrm>
              <a:off x="376" y="362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952" name="Text Box 203"/>
            <p:cNvSpPr txBox="1"/>
            <p:nvPr/>
          </p:nvSpPr>
          <p:spPr>
            <a:xfrm>
              <a:off x="194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0953" name="Text Box 204"/>
            <p:cNvSpPr txBox="1"/>
            <p:nvPr/>
          </p:nvSpPr>
          <p:spPr>
            <a:xfrm>
              <a:off x="310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0954" name="Text Box 205"/>
            <p:cNvSpPr txBox="1"/>
            <p:nvPr/>
          </p:nvSpPr>
          <p:spPr>
            <a:xfrm>
              <a:off x="4258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0955" name="Text Box 206"/>
            <p:cNvSpPr txBox="1"/>
            <p:nvPr/>
          </p:nvSpPr>
          <p:spPr>
            <a:xfrm>
              <a:off x="541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0956" name="Line 207"/>
            <p:cNvSpPr/>
            <p:nvPr/>
          </p:nvSpPr>
          <p:spPr>
            <a:xfrm>
              <a:off x="140" y="905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0957" name="Line 208"/>
            <p:cNvSpPr/>
            <p:nvPr/>
          </p:nvSpPr>
          <p:spPr>
            <a:xfrm>
              <a:off x="140" y="1164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0958" name="Line 209"/>
            <p:cNvSpPr/>
            <p:nvPr/>
          </p:nvSpPr>
          <p:spPr>
            <a:xfrm>
              <a:off x="140" y="1423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0959" name="Line 210"/>
            <p:cNvSpPr/>
            <p:nvPr/>
          </p:nvSpPr>
          <p:spPr>
            <a:xfrm>
              <a:off x="140" y="168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0960" name="Line 211"/>
            <p:cNvSpPr/>
            <p:nvPr/>
          </p:nvSpPr>
          <p:spPr>
            <a:xfrm>
              <a:off x="140" y="194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0961" name="Line 212"/>
            <p:cNvSpPr/>
            <p:nvPr/>
          </p:nvSpPr>
          <p:spPr>
            <a:xfrm>
              <a:off x="140" y="220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0962" name="Line 213"/>
            <p:cNvSpPr/>
            <p:nvPr/>
          </p:nvSpPr>
          <p:spPr>
            <a:xfrm>
              <a:off x="140" y="28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0963" name="Line 214"/>
            <p:cNvSpPr/>
            <p:nvPr/>
          </p:nvSpPr>
          <p:spPr>
            <a:xfrm>
              <a:off x="140" y="313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0964" name="Line 215"/>
            <p:cNvSpPr/>
            <p:nvPr/>
          </p:nvSpPr>
          <p:spPr>
            <a:xfrm>
              <a:off x="140" y="339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0965" name="Line 216"/>
            <p:cNvSpPr/>
            <p:nvPr/>
          </p:nvSpPr>
          <p:spPr>
            <a:xfrm>
              <a:off x="140" y="365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0966" name="Text Box 217"/>
            <p:cNvSpPr txBox="1"/>
            <p:nvPr/>
          </p:nvSpPr>
          <p:spPr>
            <a:xfrm>
              <a:off x="648" y="3890"/>
              <a:ext cx="3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967" name="Line 218"/>
            <p:cNvSpPr/>
            <p:nvPr/>
          </p:nvSpPr>
          <p:spPr>
            <a:xfrm>
              <a:off x="682" y="3923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0968" name="Text Box 219"/>
            <p:cNvSpPr txBox="1"/>
            <p:nvPr/>
          </p:nvSpPr>
          <p:spPr>
            <a:xfrm>
              <a:off x="669" y="4025"/>
              <a:ext cx="3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CS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969" name="Line 220"/>
            <p:cNvSpPr/>
            <p:nvPr/>
          </p:nvSpPr>
          <p:spPr>
            <a:xfrm>
              <a:off x="726" y="4079"/>
              <a:ext cx="19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0579" name="Group 221"/>
          <p:cNvGrpSpPr/>
          <p:nvPr/>
        </p:nvGrpSpPr>
        <p:grpSpPr>
          <a:xfrm>
            <a:off x="1746250" y="1069975"/>
            <a:ext cx="309563" cy="4779963"/>
            <a:chOff x="140" y="674"/>
            <a:chExt cx="195" cy="3011"/>
          </a:xfrm>
        </p:grpSpPr>
        <p:sp>
          <p:nvSpPr>
            <p:cNvPr id="280756" name="Text Box 222"/>
            <p:cNvSpPr txBox="1"/>
            <p:nvPr/>
          </p:nvSpPr>
          <p:spPr>
            <a:xfrm>
              <a:off x="140" y="67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57" name="Text Box 223"/>
            <p:cNvSpPr txBox="1"/>
            <p:nvPr/>
          </p:nvSpPr>
          <p:spPr>
            <a:xfrm>
              <a:off x="140" y="933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58" name="Text Box 224"/>
            <p:cNvSpPr txBox="1"/>
            <p:nvPr/>
          </p:nvSpPr>
          <p:spPr>
            <a:xfrm>
              <a:off x="140" y="119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59" name="Text Box 225"/>
            <p:cNvSpPr txBox="1"/>
            <p:nvPr/>
          </p:nvSpPr>
          <p:spPr>
            <a:xfrm>
              <a:off x="140" y="1451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60" name="Text Box 226"/>
            <p:cNvSpPr txBox="1"/>
            <p:nvPr/>
          </p:nvSpPr>
          <p:spPr>
            <a:xfrm>
              <a:off x="140" y="171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61" name="Text Box 227"/>
            <p:cNvSpPr txBox="1"/>
            <p:nvPr/>
          </p:nvSpPr>
          <p:spPr>
            <a:xfrm>
              <a:off x="140" y="197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62" name="Text Box 228"/>
            <p:cNvSpPr txBox="1"/>
            <p:nvPr/>
          </p:nvSpPr>
          <p:spPr>
            <a:xfrm>
              <a:off x="140" y="2657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63" name="Text Box 229"/>
            <p:cNvSpPr txBox="1"/>
            <p:nvPr/>
          </p:nvSpPr>
          <p:spPr>
            <a:xfrm>
              <a:off x="140" y="291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64" name="Text Box 230"/>
            <p:cNvSpPr txBox="1"/>
            <p:nvPr/>
          </p:nvSpPr>
          <p:spPr>
            <a:xfrm>
              <a:off x="140" y="317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65" name="Text Box 231"/>
            <p:cNvSpPr txBox="1"/>
            <p:nvPr/>
          </p:nvSpPr>
          <p:spPr>
            <a:xfrm>
              <a:off x="140" y="343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0580" name="Group 232"/>
          <p:cNvGrpSpPr/>
          <p:nvPr/>
        </p:nvGrpSpPr>
        <p:grpSpPr>
          <a:xfrm>
            <a:off x="2976563" y="4179888"/>
            <a:ext cx="6262687" cy="401637"/>
            <a:chOff x="915" y="2633"/>
            <a:chExt cx="3945" cy="253"/>
          </a:xfrm>
        </p:grpSpPr>
        <p:grpSp>
          <p:nvGrpSpPr>
            <p:cNvPr id="280718" name="Group 233"/>
            <p:cNvGrpSpPr/>
            <p:nvPr/>
          </p:nvGrpSpPr>
          <p:grpSpPr>
            <a:xfrm>
              <a:off x="915" y="2696"/>
              <a:ext cx="3858" cy="190"/>
              <a:chOff x="915" y="2696"/>
              <a:chExt cx="3858" cy="190"/>
            </a:xfrm>
          </p:grpSpPr>
          <p:sp>
            <p:nvSpPr>
              <p:cNvPr id="280751" name="Freeform 234"/>
              <p:cNvSpPr/>
              <p:nvPr/>
            </p:nvSpPr>
            <p:spPr>
              <a:xfrm>
                <a:off x="1304" y="2707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0752" name="Freeform 235"/>
              <p:cNvSpPr/>
              <p:nvPr/>
            </p:nvSpPr>
            <p:spPr>
              <a:xfrm>
                <a:off x="2457" y="2710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0753" name="Freeform 236"/>
              <p:cNvSpPr/>
              <p:nvPr/>
            </p:nvSpPr>
            <p:spPr>
              <a:xfrm>
                <a:off x="3609" y="2710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0754" name="Freeform 237"/>
              <p:cNvSpPr/>
              <p:nvPr/>
            </p:nvSpPr>
            <p:spPr>
              <a:xfrm>
                <a:off x="4761" y="2696"/>
                <a:ext cx="1" cy="178"/>
              </a:xfrm>
              <a:custGeom>
                <a:avLst/>
                <a:gdLst>
                  <a:gd name="txL" fmla="*/ 0 w 1"/>
                  <a:gd name="txT" fmla="*/ 0 h 178"/>
                  <a:gd name="txR" fmla="*/ 1 w 1"/>
                  <a:gd name="txB" fmla="*/ 178 h 178"/>
                </a:gdLst>
                <a:ahLst/>
                <a:cxnLst>
                  <a:cxn ang="0">
                    <a:pos x="0" y="0"/>
                  </a:cxn>
                  <a:cxn ang="0">
                    <a:pos x="0" y="178"/>
                  </a:cxn>
                </a:cxnLst>
                <a:rect l="txL" t="txT" r="txR" b="txB"/>
                <a:pathLst>
                  <a:path w="1" h="178">
                    <a:moveTo>
                      <a:pt x="0" y="0"/>
                    </a:moveTo>
                    <a:lnTo>
                      <a:pt x="0" y="178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0755" name="Freeform 238"/>
              <p:cNvSpPr/>
              <p:nvPr/>
            </p:nvSpPr>
            <p:spPr>
              <a:xfrm>
                <a:off x="915" y="2865"/>
                <a:ext cx="3858" cy="2"/>
              </a:xfrm>
              <a:custGeom>
                <a:avLst/>
                <a:gdLst>
                  <a:gd name="txL" fmla="*/ 0 w 3858"/>
                  <a:gd name="txT" fmla="*/ 0 h 2"/>
                  <a:gd name="txR" fmla="*/ 3858 w 3858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3858" y="0"/>
                  </a:cxn>
                </a:cxnLst>
                <a:rect l="txL" t="txT" r="txR" b="txB"/>
                <a:pathLst>
                  <a:path w="3858" h="2">
                    <a:moveTo>
                      <a:pt x="0" y="2"/>
                    </a:moveTo>
                    <a:lnTo>
                      <a:pt x="3858" y="0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0719" name="Group 239"/>
            <p:cNvGrpSpPr/>
            <p:nvPr/>
          </p:nvGrpSpPr>
          <p:grpSpPr>
            <a:xfrm>
              <a:off x="1213" y="2633"/>
              <a:ext cx="192" cy="158"/>
              <a:chOff x="1440" y="2928"/>
              <a:chExt cx="192" cy="158"/>
            </a:xfrm>
          </p:grpSpPr>
          <p:grpSp>
            <p:nvGrpSpPr>
              <p:cNvPr id="280744" name="Group 240"/>
              <p:cNvGrpSpPr/>
              <p:nvPr/>
            </p:nvGrpSpPr>
            <p:grpSpPr>
              <a:xfrm rot="5400000">
                <a:off x="1529" y="2983"/>
                <a:ext cx="158" cy="48"/>
                <a:chOff x="3459" y="1296"/>
                <a:chExt cx="243" cy="48"/>
              </a:xfrm>
            </p:grpSpPr>
            <p:sp>
              <p:nvSpPr>
                <p:cNvPr id="280749" name="Line 241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750" name="Line 242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0745" name="Freeform 243"/>
              <p:cNvSpPr/>
              <p:nvPr/>
            </p:nvSpPr>
            <p:spPr>
              <a:xfrm>
                <a:off x="1487" y="3003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0746" name="Group 244"/>
              <p:cNvGrpSpPr/>
              <p:nvPr/>
            </p:nvGrpSpPr>
            <p:grpSpPr>
              <a:xfrm rot="-5400000">
                <a:off x="1385" y="2983"/>
                <a:ext cx="158" cy="48"/>
                <a:chOff x="3459" y="1296"/>
                <a:chExt cx="243" cy="48"/>
              </a:xfrm>
            </p:grpSpPr>
            <p:sp>
              <p:nvSpPr>
                <p:cNvPr id="280747" name="Line 245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748" name="Line 246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80720" name="Group 247"/>
            <p:cNvGrpSpPr/>
            <p:nvPr/>
          </p:nvGrpSpPr>
          <p:grpSpPr>
            <a:xfrm>
              <a:off x="2365" y="2635"/>
              <a:ext cx="192" cy="158"/>
              <a:chOff x="1440" y="2928"/>
              <a:chExt cx="192" cy="158"/>
            </a:xfrm>
          </p:grpSpPr>
          <p:grpSp>
            <p:nvGrpSpPr>
              <p:cNvPr id="280737" name="Group 248"/>
              <p:cNvGrpSpPr/>
              <p:nvPr/>
            </p:nvGrpSpPr>
            <p:grpSpPr>
              <a:xfrm rot="5400000">
                <a:off x="1529" y="2983"/>
                <a:ext cx="158" cy="48"/>
                <a:chOff x="3459" y="1296"/>
                <a:chExt cx="243" cy="48"/>
              </a:xfrm>
            </p:grpSpPr>
            <p:sp>
              <p:nvSpPr>
                <p:cNvPr id="280742" name="Line 249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743" name="Line 250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0738" name="Freeform 251"/>
              <p:cNvSpPr/>
              <p:nvPr/>
            </p:nvSpPr>
            <p:spPr>
              <a:xfrm>
                <a:off x="1487" y="3003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0739" name="Group 252"/>
              <p:cNvGrpSpPr/>
              <p:nvPr/>
            </p:nvGrpSpPr>
            <p:grpSpPr>
              <a:xfrm rot="-5400000">
                <a:off x="1385" y="2983"/>
                <a:ext cx="158" cy="48"/>
                <a:chOff x="3459" y="1296"/>
                <a:chExt cx="243" cy="48"/>
              </a:xfrm>
            </p:grpSpPr>
            <p:sp>
              <p:nvSpPr>
                <p:cNvPr id="280740" name="Line 253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741" name="Line 254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80721" name="Group 255"/>
            <p:cNvGrpSpPr/>
            <p:nvPr/>
          </p:nvGrpSpPr>
          <p:grpSpPr>
            <a:xfrm>
              <a:off x="3517" y="2635"/>
              <a:ext cx="192" cy="158"/>
              <a:chOff x="1440" y="2928"/>
              <a:chExt cx="192" cy="158"/>
            </a:xfrm>
          </p:grpSpPr>
          <p:grpSp>
            <p:nvGrpSpPr>
              <p:cNvPr id="280730" name="Group 256"/>
              <p:cNvGrpSpPr/>
              <p:nvPr/>
            </p:nvGrpSpPr>
            <p:grpSpPr>
              <a:xfrm rot="5400000">
                <a:off x="1529" y="2983"/>
                <a:ext cx="158" cy="48"/>
                <a:chOff x="3459" y="1296"/>
                <a:chExt cx="243" cy="48"/>
              </a:xfrm>
            </p:grpSpPr>
            <p:sp>
              <p:nvSpPr>
                <p:cNvPr id="280735" name="Line 257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736" name="Line 258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0731" name="Freeform 259"/>
              <p:cNvSpPr/>
              <p:nvPr/>
            </p:nvSpPr>
            <p:spPr>
              <a:xfrm>
                <a:off x="1487" y="3003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0732" name="Group 260"/>
              <p:cNvGrpSpPr/>
              <p:nvPr/>
            </p:nvGrpSpPr>
            <p:grpSpPr>
              <a:xfrm rot="-5400000">
                <a:off x="1385" y="2983"/>
                <a:ext cx="158" cy="48"/>
                <a:chOff x="3459" y="1296"/>
                <a:chExt cx="243" cy="48"/>
              </a:xfrm>
            </p:grpSpPr>
            <p:sp>
              <p:nvSpPr>
                <p:cNvPr id="280733" name="Line 261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734" name="Line 262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80722" name="Group 263"/>
            <p:cNvGrpSpPr/>
            <p:nvPr/>
          </p:nvGrpSpPr>
          <p:grpSpPr>
            <a:xfrm>
              <a:off x="4668" y="2635"/>
              <a:ext cx="192" cy="158"/>
              <a:chOff x="1440" y="2928"/>
              <a:chExt cx="192" cy="158"/>
            </a:xfrm>
          </p:grpSpPr>
          <p:grpSp>
            <p:nvGrpSpPr>
              <p:cNvPr id="280723" name="Group 264"/>
              <p:cNvGrpSpPr/>
              <p:nvPr/>
            </p:nvGrpSpPr>
            <p:grpSpPr>
              <a:xfrm rot="5400000">
                <a:off x="1529" y="2983"/>
                <a:ext cx="158" cy="48"/>
                <a:chOff x="3459" y="1296"/>
                <a:chExt cx="243" cy="48"/>
              </a:xfrm>
            </p:grpSpPr>
            <p:sp>
              <p:nvSpPr>
                <p:cNvPr id="280728" name="Line 265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729" name="Line 266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0724" name="Freeform 267"/>
              <p:cNvSpPr/>
              <p:nvPr/>
            </p:nvSpPr>
            <p:spPr>
              <a:xfrm>
                <a:off x="1487" y="3003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0725" name="Group 268"/>
              <p:cNvGrpSpPr/>
              <p:nvPr/>
            </p:nvGrpSpPr>
            <p:grpSpPr>
              <a:xfrm rot="-5400000">
                <a:off x="1385" y="2983"/>
                <a:ext cx="158" cy="48"/>
                <a:chOff x="3459" y="1296"/>
                <a:chExt cx="243" cy="48"/>
              </a:xfrm>
            </p:grpSpPr>
            <p:sp>
              <p:nvSpPr>
                <p:cNvPr id="280726" name="Line 269"/>
                <p:cNvSpPr/>
                <p:nvPr/>
              </p:nvSpPr>
              <p:spPr>
                <a:xfrm>
                  <a:off x="3459" y="1296"/>
                  <a:ext cx="243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0727" name="Line 270"/>
                <p:cNvSpPr/>
                <p:nvPr/>
              </p:nvSpPr>
              <p:spPr>
                <a:xfrm>
                  <a:off x="3504" y="1344"/>
                  <a:ext cx="147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280581" name="Group 271"/>
          <p:cNvGrpSpPr/>
          <p:nvPr/>
        </p:nvGrpSpPr>
        <p:grpSpPr>
          <a:xfrm>
            <a:off x="3394076" y="1909763"/>
            <a:ext cx="6075362" cy="2339975"/>
            <a:chOff x="1178" y="1203"/>
            <a:chExt cx="3827" cy="1474"/>
          </a:xfrm>
        </p:grpSpPr>
        <p:sp>
          <p:nvSpPr>
            <p:cNvPr id="280710" name="Freeform 272"/>
            <p:cNvSpPr/>
            <p:nvPr/>
          </p:nvSpPr>
          <p:spPr>
            <a:xfrm>
              <a:off x="1422" y="1203"/>
              <a:ext cx="121" cy="1474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711" name="Text Box 273"/>
            <p:cNvSpPr txBox="1"/>
            <p:nvPr/>
          </p:nvSpPr>
          <p:spPr>
            <a:xfrm rot="5400000">
              <a:off x="1176" y="1625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12" name="Freeform 274"/>
            <p:cNvSpPr/>
            <p:nvPr/>
          </p:nvSpPr>
          <p:spPr>
            <a:xfrm>
              <a:off x="2556" y="1205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713" name="Text Box 275"/>
            <p:cNvSpPr txBox="1"/>
            <p:nvPr/>
          </p:nvSpPr>
          <p:spPr>
            <a:xfrm rot="5400000">
              <a:off x="2329" y="1625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14" name="Freeform 276"/>
            <p:cNvSpPr/>
            <p:nvPr/>
          </p:nvSpPr>
          <p:spPr>
            <a:xfrm>
              <a:off x="3711" y="1206"/>
              <a:ext cx="151" cy="1471"/>
            </a:xfrm>
            <a:custGeom>
              <a:avLst/>
              <a:gdLst>
                <a:gd name="txL" fmla="*/ 0 w 151"/>
                <a:gd name="txT" fmla="*/ 0 h 1471"/>
                <a:gd name="txR" fmla="*/ 151 w 151"/>
                <a:gd name="txB" fmla="*/ 1471 h 1471"/>
              </a:gdLst>
              <a:ahLst/>
              <a:cxnLst>
                <a:cxn ang="0">
                  <a:pos x="54" y="0"/>
                </a:cxn>
                <a:cxn ang="0">
                  <a:pos x="151" y="0"/>
                </a:cxn>
                <a:cxn ang="0">
                  <a:pos x="150" y="1471"/>
                </a:cxn>
                <a:cxn ang="0">
                  <a:pos x="0" y="1470"/>
                </a:cxn>
              </a:cxnLst>
              <a:rect l="txL" t="txT" r="txR" b="txB"/>
              <a:pathLst>
                <a:path w="151" h="1471">
                  <a:moveTo>
                    <a:pt x="54" y="0"/>
                  </a:moveTo>
                  <a:lnTo>
                    <a:pt x="151" y="0"/>
                  </a:lnTo>
                  <a:lnTo>
                    <a:pt x="150" y="1471"/>
                  </a:lnTo>
                  <a:lnTo>
                    <a:pt x="0" y="147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715" name="Text Box 277"/>
            <p:cNvSpPr txBox="1"/>
            <p:nvPr/>
          </p:nvSpPr>
          <p:spPr>
            <a:xfrm rot="5400000">
              <a:off x="3475" y="160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716" name="Freeform 278"/>
            <p:cNvSpPr/>
            <p:nvPr/>
          </p:nvSpPr>
          <p:spPr>
            <a:xfrm>
              <a:off x="4860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42" y="1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42" y="1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717" name="Text Box 279"/>
            <p:cNvSpPr txBox="1"/>
            <p:nvPr/>
          </p:nvSpPr>
          <p:spPr>
            <a:xfrm rot="5400000">
              <a:off x="4630" y="1612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0582" name="Group 280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80693" name="Line 281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0694" name="Freeform 282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695" name="Line 283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0696" name="Freeform 284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697" name="Line 285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0698" name="Text Box 286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699" name="Text Box 287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00" name="Text Box 288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01" name="Text Box 289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0702" name="Line 290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0703" name="Line 291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0704" name="Line 292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0705" name="Line 293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0706" name="Line 294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0707" name="Line 295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0708" name="Line 296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0709" name="Line 297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17386" name="Rectangle 29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0584" name="Text Box 299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读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80585" name="Group 300"/>
          <p:cNvGrpSpPr/>
          <p:nvPr/>
        </p:nvGrpSpPr>
        <p:grpSpPr>
          <a:xfrm>
            <a:off x="3752850" y="4351338"/>
            <a:ext cx="6173788" cy="1295400"/>
            <a:chOff x="1404" y="2741"/>
            <a:chExt cx="3889" cy="816"/>
          </a:xfrm>
        </p:grpSpPr>
        <p:sp>
          <p:nvSpPr>
            <p:cNvPr id="280689" name="Freeform 301"/>
            <p:cNvSpPr/>
            <p:nvPr/>
          </p:nvSpPr>
          <p:spPr>
            <a:xfrm>
              <a:off x="1404" y="2741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690" name="Freeform 302"/>
            <p:cNvSpPr/>
            <p:nvPr/>
          </p:nvSpPr>
          <p:spPr>
            <a:xfrm>
              <a:off x="4861" y="2741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691" name="Freeform 303"/>
            <p:cNvSpPr/>
            <p:nvPr/>
          </p:nvSpPr>
          <p:spPr>
            <a:xfrm>
              <a:off x="3709" y="2741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0692" name="Freeform 304"/>
            <p:cNvSpPr/>
            <p:nvPr/>
          </p:nvSpPr>
          <p:spPr>
            <a:xfrm>
              <a:off x="2555" y="2741"/>
              <a:ext cx="432" cy="816"/>
            </a:xfrm>
            <a:custGeom>
              <a:avLst/>
              <a:gdLst>
                <a:gd name="txL" fmla="*/ 0 w 432"/>
                <a:gd name="txT" fmla="*/ 0 h 816"/>
                <a:gd name="txR" fmla="*/ 432 w 432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44" y="0"/>
                </a:cxn>
                <a:cxn ang="0">
                  <a:pos x="144" y="576"/>
                </a:cxn>
                <a:cxn ang="0">
                  <a:pos x="432" y="576"/>
                </a:cxn>
                <a:cxn ang="0">
                  <a:pos x="432" y="816"/>
                </a:cxn>
              </a:cxnLst>
              <a:rect l="txL" t="txT" r="txR" b="txB"/>
              <a:pathLst>
                <a:path w="432" h="816">
                  <a:moveTo>
                    <a:pt x="0" y="0"/>
                  </a:moveTo>
                  <a:lnTo>
                    <a:pt x="144" y="0"/>
                  </a:lnTo>
                  <a:lnTo>
                    <a:pt x="144" y="576"/>
                  </a:lnTo>
                  <a:lnTo>
                    <a:pt x="432" y="576"/>
                  </a:lnTo>
                  <a:lnTo>
                    <a:pt x="432" y="816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80586" name="Group 305"/>
          <p:cNvGrpSpPr/>
          <p:nvPr/>
        </p:nvGrpSpPr>
        <p:grpSpPr>
          <a:xfrm>
            <a:off x="2955925" y="1360488"/>
            <a:ext cx="7250113" cy="663575"/>
            <a:chOff x="902" y="857"/>
            <a:chExt cx="4567" cy="418"/>
          </a:xfrm>
        </p:grpSpPr>
        <p:grpSp>
          <p:nvGrpSpPr>
            <p:cNvPr id="280665" name="Group 306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80670" name="Group 307"/>
              <p:cNvGrpSpPr/>
              <p:nvPr/>
            </p:nvGrpSpPr>
            <p:grpSpPr>
              <a:xfrm>
                <a:off x="1152" y="1024"/>
                <a:ext cx="4317" cy="251"/>
                <a:chOff x="1176" y="1079"/>
                <a:chExt cx="4317" cy="251"/>
              </a:xfrm>
            </p:grpSpPr>
            <p:sp>
              <p:nvSpPr>
                <p:cNvPr id="280681" name="Rectangle 308"/>
                <p:cNvSpPr/>
                <p:nvPr/>
              </p:nvSpPr>
              <p:spPr>
                <a:xfrm>
                  <a:off x="175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15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0682" name="Rectangle 309"/>
                <p:cNvSpPr/>
                <p:nvPr/>
              </p:nvSpPr>
              <p:spPr>
                <a:xfrm>
                  <a:off x="117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0683" name="Rectangle 310"/>
                <p:cNvSpPr/>
                <p:nvPr/>
              </p:nvSpPr>
              <p:spPr>
                <a:xfrm>
                  <a:off x="289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31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0684" name="Rectangle 311"/>
                <p:cNvSpPr/>
                <p:nvPr/>
              </p:nvSpPr>
              <p:spPr>
                <a:xfrm>
                  <a:off x="231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0685" name="Rectangle 312"/>
                <p:cNvSpPr/>
                <p:nvPr/>
              </p:nvSpPr>
              <p:spPr>
                <a:xfrm>
                  <a:off x="4067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47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0686" name="Rectangle 313"/>
                <p:cNvSpPr/>
                <p:nvPr/>
              </p:nvSpPr>
              <p:spPr>
                <a:xfrm>
                  <a:off x="3491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0687" name="Rectangle 314"/>
                <p:cNvSpPr/>
                <p:nvPr/>
              </p:nvSpPr>
              <p:spPr>
                <a:xfrm>
                  <a:off x="5205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63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0688" name="Rectangle 315"/>
                <p:cNvSpPr/>
                <p:nvPr/>
              </p:nvSpPr>
              <p:spPr>
                <a:xfrm>
                  <a:off x="462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48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0671" name="Group 316"/>
              <p:cNvGrpSpPr/>
              <p:nvPr/>
            </p:nvGrpSpPr>
            <p:grpSpPr>
              <a:xfrm>
                <a:off x="902" y="857"/>
                <a:ext cx="4419" cy="145"/>
                <a:chOff x="902" y="857"/>
                <a:chExt cx="4419" cy="145"/>
              </a:xfrm>
            </p:grpSpPr>
            <p:sp>
              <p:nvSpPr>
                <p:cNvPr id="280672" name="Freeform 317"/>
                <p:cNvSpPr/>
                <p:nvPr/>
              </p:nvSpPr>
              <p:spPr>
                <a:xfrm>
                  <a:off x="902" y="857"/>
                  <a:ext cx="4419" cy="1"/>
                </a:xfrm>
                <a:custGeom>
                  <a:avLst/>
                  <a:gdLst>
                    <a:gd name="txL" fmla="*/ 0 w 4419"/>
                    <a:gd name="txT" fmla="*/ 0 h 1"/>
                    <a:gd name="txR" fmla="*/ 4419 w 4419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9" y="0"/>
                    </a:cxn>
                  </a:cxnLst>
                  <a:rect l="txL" t="txT" r="txR" b="txB"/>
                  <a:pathLst>
                    <a:path w="4419" h="1">
                      <a:moveTo>
                        <a:pt x="0" y="1"/>
                      </a:moveTo>
                      <a:lnTo>
                        <a:pt x="4419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0673" name="Line 318"/>
                <p:cNvSpPr/>
                <p:nvPr/>
              </p:nvSpPr>
              <p:spPr>
                <a:xfrm>
                  <a:off x="127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0674" name="Line 319"/>
                <p:cNvSpPr/>
                <p:nvPr/>
              </p:nvSpPr>
              <p:spPr>
                <a:xfrm>
                  <a:off x="184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0675" name="Line 320"/>
                <p:cNvSpPr/>
                <p:nvPr/>
              </p:nvSpPr>
              <p:spPr>
                <a:xfrm>
                  <a:off x="242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0676" name="Line 321"/>
                <p:cNvSpPr/>
                <p:nvPr/>
              </p:nvSpPr>
              <p:spPr>
                <a:xfrm>
                  <a:off x="3000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0677" name="Line 322"/>
                <p:cNvSpPr/>
                <p:nvPr/>
              </p:nvSpPr>
              <p:spPr>
                <a:xfrm>
                  <a:off x="3576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0678" name="Line 323"/>
                <p:cNvSpPr/>
                <p:nvPr/>
              </p:nvSpPr>
              <p:spPr>
                <a:xfrm>
                  <a:off x="415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0679" name="Line 324"/>
                <p:cNvSpPr/>
                <p:nvPr/>
              </p:nvSpPr>
              <p:spPr>
                <a:xfrm>
                  <a:off x="472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0680" name="Line 325"/>
                <p:cNvSpPr/>
                <p:nvPr/>
              </p:nvSpPr>
              <p:spPr>
                <a:xfrm>
                  <a:off x="530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</p:grpSp>
        </p:grpSp>
        <p:sp>
          <p:nvSpPr>
            <p:cNvPr id="280666" name="Text Box 326"/>
            <p:cNvSpPr txBox="1"/>
            <p:nvPr/>
          </p:nvSpPr>
          <p:spPr>
            <a:xfrm>
              <a:off x="140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667" name="Text Box 327"/>
            <p:cNvSpPr txBox="1"/>
            <p:nvPr/>
          </p:nvSpPr>
          <p:spPr>
            <a:xfrm>
              <a:off x="254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668" name="Text Box 328"/>
            <p:cNvSpPr txBox="1"/>
            <p:nvPr/>
          </p:nvSpPr>
          <p:spPr>
            <a:xfrm>
              <a:off x="371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669" name="Text Box 329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80587" name="Rectangle 330"/>
          <p:cNvSpPr/>
          <p:nvPr/>
        </p:nvSpPr>
        <p:spPr>
          <a:xfrm>
            <a:off x="3352800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0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0588" name="Rectangle 331"/>
          <p:cNvSpPr/>
          <p:nvPr/>
        </p:nvSpPr>
        <p:spPr>
          <a:xfrm>
            <a:off x="5162550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16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0589" name="Rectangle 332"/>
          <p:cNvSpPr/>
          <p:nvPr/>
        </p:nvSpPr>
        <p:spPr>
          <a:xfrm>
            <a:off x="7027863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32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0590" name="Rectangle 333"/>
          <p:cNvSpPr/>
          <p:nvPr/>
        </p:nvSpPr>
        <p:spPr>
          <a:xfrm>
            <a:off x="8829675" y="1626235"/>
            <a:ext cx="457200" cy="398780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rIns="0" anchor="ctr" anchorCtr="0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48</a:t>
            </a:r>
            <a:endParaRPr lang="en-US" altLang="zh-CN" sz="20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80591" name="Group 334"/>
          <p:cNvGrpSpPr/>
          <p:nvPr/>
        </p:nvGrpSpPr>
        <p:grpSpPr>
          <a:xfrm>
            <a:off x="3336925" y="5699125"/>
            <a:ext cx="6832600" cy="414338"/>
            <a:chOff x="1142" y="3590"/>
            <a:chExt cx="4304" cy="261"/>
          </a:xfrm>
        </p:grpSpPr>
        <p:grpSp>
          <p:nvGrpSpPr>
            <p:cNvPr id="280653" name="Group 335"/>
            <p:cNvGrpSpPr/>
            <p:nvPr/>
          </p:nvGrpSpPr>
          <p:grpSpPr>
            <a:xfrm>
              <a:off x="1142" y="3590"/>
              <a:ext cx="823" cy="240"/>
              <a:chOff x="1142" y="3590"/>
              <a:chExt cx="823" cy="240"/>
            </a:xfrm>
          </p:grpSpPr>
          <p:sp>
            <p:nvSpPr>
              <p:cNvPr id="280663" name="Rectangle 336"/>
              <p:cNvSpPr/>
              <p:nvPr/>
            </p:nvSpPr>
            <p:spPr>
              <a:xfrm>
                <a:off x="1142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0664" name="Text Box 337"/>
              <p:cNvSpPr txBox="1"/>
              <p:nvPr/>
            </p:nvSpPr>
            <p:spPr>
              <a:xfrm>
                <a:off x="1200" y="3590"/>
                <a:ext cx="755" cy="1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0654" name="Group 338"/>
            <p:cNvGrpSpPr/>
            <p:nvPr/>
          </p:nvGrpSpPr>
          <p:grpSpPr>
            <a:xfrm>
              <a:off x="2318" y="3598"/>
              <a:ext cx="823" cy="232"/>
              <a:chOff x="2318" y="3598"/>
              <a:chExt cx="823" cy="232"/>
            </a:xfrm>
          </p:grpSpPr>
          <p:sp>
            <p:nvSpPr>
              <p:cNvPr id="280661" name="Rectangle 339"/>
              <p:cNvSpPr/>
              <p:nvPr/>
            </p:nvSpPr>
            <p:spPr>
              <a:xfrm>
                <a:off x="2318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0662" name="Text Box 340"/>
              <p:cNvSpPr txBox="1"/>
              <p:nvPr/>
            </p:nvSpPr>
            <p:spPr>
              <a:xfrm>
                <a:off x="2352" y="3600"/>
                <a:ext cx="755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0655" name="Group 341"/>
            <p:cNvGrpSpPr/>
            <p:nvPr/>
          </p:nvGrpSpPr>
          <p:grpSpPr>
            <a:xfrm>
              <a:off x="3470" y="3598"/>
              <a:ext cx="823" cy="232"/>
              <a:chOff x="3470" y="3598"/>
              <a:chExt cx="823" cy="232"/>
            </a:xfrm>
          </p:grpSpPr>
          <p:sp>
            <p:nvSpPr>
              <p:cNvPr id="280659" name="Rectangle 342"/>
              <p:cNvSpPr/>
              <p:nvPr/>
            </p:nvSpPr>
            <p:spPr>
              <a:xfrm>
                <a:off x="3470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0660" name="Text Box 343"/>
              <p:cNvSpPr txBox="1"/>
              <p:nvPr/>
            </p:nvSpPr>
            <p:spPr>
              <a:xfrm>
                <a:off x="3504" y="3600"/>
                <a:ext cx="755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0656" name="Group 344"/>
            <p:cNvGrpSpPr/>
            <p:nvPr/>
          </p:nvGrpSpPr>
          <p:grpSpPr>
            <a:xfrm>
              <a:off x="4623" y="3598"/>
              <a:ext cx="823" cy="253"/>
              <a:chOff x="4623" y="3598"/>
              <a:chExt cx="823" cy="253"/>
            </a:xfrm>
          </p:grpSpPr>
          <p:sp>
            <p:nvSpPr>
              <p:cNvPr id="280657" name="Rectangle 345"/>
              <p:cNvSpPr/>
              <p:nvPr/>
            </p:nvSpPr>
            <p:spPr>
              <a:xfrm>
                <a:off x="4623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0658" name="Text Box 346"/>
              <p:cNvSpPr txBox="1"/>
              <p:nvPr/>
            </p:nvSpPr>
            <p:spPr>
              <a:xfrm>
                <a:off x="4656" y="360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0592" name="Group 347"/>
          <p:cNvGrpSpPr/>
          <p:nvPr/>
        </p:nvGrpSpPr>
        <p:grpSpPr>
          <a:xfrm>
            <a:off x="2976563" y="2617788"/>
            <a:ext cx="6613525" cy="1963737"/>
            <a:chOff x="915" y="1649"/>
            <a:chExt cx="4166" cy="1237"/>
          </a:xfrm>
        </p:grpSpPr>
        <p:grpSp>
          <p:nvGrpSpPr>
            <p:cNvPr id="280606" name="Group 348"/>
            <p:cNvGrpSpPr/>
            <p:nvPr/>
          </p:nvGrpSpPr>
          <p:grpSpPr>
            <a:xfrm>
              <a:off x="915" y="2633"/>
              <a:ext cx="3945" cy="253"/>
              <a:chOff x="915" y="2633"/>
              <a:chExt cx="3945" cy="253"/>
            </a:xfrm>
          </p:grpSpPr>
          <p:grpSp>
            <p:nvGrpSpPr>
              <p:cNvPr id="280615" name="Group 349"/>
              <p:cNvGrpSpPr/>
              <p:nvPr/>
            </p:nvGrpSpPr>
            <p:grpSpPr>
              <a:xfrm>
                <a:off x="915" y="2696"/>
                <a:ext cx="3858" cy="190"/>
                <a:chOff x="915" y="2696"/>
                <a:chExt cx="3858" cy="190"/>
              </a:xfrm>
            </p:grpSpPr>
            <p:sp>
              <p:nvSpPr>
                <p:cNvPr id="280648" name="Freeform 350"/>
                <p:cNvSpPr/>
                <p:nvPr/>
              </p:nvSpPr>
              <p:spPr>
                <a:xfrm>
                  <a:off x="1304" y="2707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0649" name="Freeform 351"/>
                <p:cNvSpPr/>
                <p:nvPr/>
              </p:nvSpPr>
              <p:spPr>
                <a:xfrm>
                  <a:off x="2457" y="2710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0650" name="Freeform 352"/>
                <p:cNvSpPr/>
                <p:nvPr/>
              </p:nvSpPr>
              <p:spPr>
                <a:xfrm>
                  <a:off x="3609" y="2710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0651" name="Freeform 353"/>
                <p:cNvSpPr/>
                <p:nvPr/>
              </p:nvSpPr>
              <p:spPr>
                <a:xfrm>
                  <a:off x="4761" y="2696"/>
                  <a:ext cx="1" cy="178"/>
                </a:xfrm>
                <a:custGeom>
                  <a:avLst/>
                  <a:gdLst>
                    <a:gd name="txL" fmla="*/ 0 w 1"/>
                    <a:gd name="txT" fmla="*/ 0 h 178"/>
                    <a:gd name="txR" fmla="*/ 1 w 1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0" y="178"/>
                    </a:cxn>
                  </a:cxnLst>
                  <a:rect l="txL" t="txT" r="txR" b="txB"/>
                  <a:pathLst>
                    <a:path w="1" h="178">
                      <a:moveTo>
                        <a:pt x="0" y="0"/>
                      </a:moveTo>
                      <a:lnTo>
                        <a:pt x="0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0652" name="Freeform 354"/>
                <p:cNvSpPr/>
                <p:nvPr/>
              </p:nvSpPr>
              <p:spPr>
                <a:xfrm>
                  <a:off x="915" y="2865"/>
                  <a:ext cx="3858" cy="2"/>
                </a:xfrm>
                <a:custGeom>
                  <a:avLst/>
                  <a:gdLst>
                    <a:gd name="txL" fmla="*/ 0 w 3858"/>
                    <a:gd name="txT" fmla="*/ 0 h 2"/>
                    <a:gd name="txR" fmla="*/ 3858 w 3858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3858" y="0"/>
                    </a:cxn>
                  </a:cxnLst>
                  <a:rect l="txL" t="txT" r="txR" b="txB"/>
                  <a:pathLst>
                    <a:path w="3858" h="2">
                      <a:moveTo>
                        <a:pt x="0" y="2"/>
                      </a:moveTo>
                      <a:lnTo>
                        <a:pt x="385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80616" name="Group 355"/>
              <p:cNvGrpSpPr/>
              <p:nvPr/>
            </p:nvGrpSpPr>
            <p:grpSpPr>
              <a:xfrm>
                <a:off x="1213" y="2633"/>
                <a:ext cx="192" cy="158"/>
                <a:chOff x="1440" y="2928"/>
                <a:chExt cx="192" cy="158"/>
              </a:xfrm>
            </p:grpSpPr>
            <p:grpSp>
              <p:nvGrpSpPr>
                <p:cNvPr id="280641" name="Group 356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0646" name="Line 35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0647" name="Line 35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0642" name="Freeform 359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0643" name="Group 360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0644" name="Line 36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0645" name="Line 36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0617" name="Group 363"/>
              <p:cNvGrpSpPr/>
              <p:nvPr/>
            </p:nvGrpSpPr>
            <p:grpSpPr>
              <a:xfrm>
                <a:off x="2365" y="2635"/>
                <a:ext cx="192" cy="158"/>
                <a:chOff x="1440" y="2928"/>
                <a:chExt cx="192" cy="158"/>
              </a:xfrm>
            </p:grpSpPr>
            <p:grpSp>
              <p:nvGrpSpPr>
                <p:cNvPr id="280634" name="Group 364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0639" name="Line 36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0640" name="Line 36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0635" name="Freeform 367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0636" name="Group 368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0637" name="Line 36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0638" name="Line 37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0618" name="Group 371"/>
              <p:cNvGrpSpPr/>
              <p:nvPr/>
            </p:nvGrpSpPr>
            <p:grpSpPr>
              <a:xfrm>
                <a:off x="3517" y="2635"/>
                <a:ext cx="192" cy="158"/>
                <a:chOff x="1440" y="2928"/>
                <a:chExt cx="192" cy="158"/>
              </a:xfrm>
            </p:grpSpPr>
            <p:grpSp>
              <p:nvGrpSpPr>
                <p:cNvPr id="280627" name="Group 372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0632" name="Line 373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0633" name="Line 374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0628" name="Freeform 375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0629" name="Group 376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0630" name="Line 37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0631" name="Line 37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0619" name="Group 379"/>
              <p:cNvGrpSpPr/>
              <p:nvPr/>
            </p:nvGrpSpPr>
            <p:grpSpPr>
              <a:xfrm>
                <a:off x="4668" y="2635"/>
                <a:ext cx="192" cy="158"/>
                <a:chOff x="1440" y="2928"/>
                <a:chExt cx="192" cy="158"/>
              </a:xfrm>
            </p:grpSpPr>
            <p:grpSp>
              <p:nvGrpSpPr>
                <p:cNvPr id="280620" name="Group 380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0625" name="Line 38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0626" name="Line 38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0621" name="Freeform 383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0622" name="Group 384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0623" name="Line 38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0624" name="Line 38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80607" name="Rectangle 387"/>
            <p:cNvSpPr/>
            <p:nvPr/>
          </p:nvSpPr>
          <p:spPr>
            <a:xfrm>
              <a:off x="1152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608" name="Text Box 388"/>
            <p:cNvSpPr txBox="1"/>
            <p:nvPr/>
          </p:nvSpPr>
          <p:spPr>
            <a:xfrm>
              <a:off x="1150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609" name="Rectangle 389"/>
            <p:cNvSpPr/>
            <p:nvPr/>
          </p:nvSpPr>
          <p:spPr>
            <a:xfrm>
              <a:off x="2293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610" name="Rectangle 390"/>
            <p:cNvSpPr/>
            <p:nvPr/>
          </p:nvSpPr>
          <p:spPr>
            <a:xfrm>
              <a:off x="4604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611" name="Rectangle 391"/>
            <p:cNvSpPr/>
            <p:nvPr/>
          </p:nvSpPr>
          <p:spPr>
            <a:xfrm>
              <a:off x="3466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612" name="Text Box 392"/>
            <p:cNvSpPr txBox="1"/>
            <p:nvPr/>
          </p:nvSpPr>
          <p:spPr>
            <a:xfrm>
              <a:off x="2314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613" name="Text Box 393"/>
            <p:cNvSpPr txBox="1"/>
            <p:nvPr/>
          </p:nvSpPr>
          <p:spPr>
            <a:xfrm>
              <a:off x="3462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0614" name="Text Box 394"/>
            <p:cNvSpPr txBox="1"/>
            <p:nvPr/>
          </p:nvSpPr>
          <p:spPr>
            <a:xfrm>
              <a:off x="4617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7388" name="Group 395"/>
          <p:cNvGrpSpPr/>
          <p:nvPr/>
        </p:nvGrpSpPr>
        <p:grpSpPr>
          <a:xfrm>
            <a:off x="4613275" y="5599113"/>
            <a:ext cx="6051550" cy="336550"/>
            <a:chOff x="1946" y="3527"/>
            <a:chExt cx="3812" cy="212"/>
          </a:xfrm>
        </p:grpSpPr>
        <p:grpSp>
          <p:nvGrpSpPr>
            <p:cNvPr id="280596" name="Group 396"/>
            <p:cNvGrpSpPr/>
            <p:nvPr/>
          </p:nvGrpSpPr>
          <p:grpSpPr>
            <a:xfrm>
              <a:off x="1964" y="3737"/>
              <a:ext cx="3637" cy="0"/>
              <a:chOff x="1964" y="3737"/>
              <a:chExt cx="3637" cy="0"/>
            </a:xfrm>
          </p:grpSpPr>
          <p:sp>
            <p:nvSpPr>
              <p:cNvPr id="280602" name="Line 397"/>
              <p:cNvSpPr/>
              <p:nvPr/>
            </p:nvSpPr>
            <p:spPr>
              <a:xfrm>
                <a:off x="196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0603" name="Line 398"/>
              <p:cNvSpPr/>
              <p:nvPr/>
            </p:nvSpPr>
            <p:spPr>
              <a:xfrm>
                <a:off x="314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0604" name="Line 399"/>
              <p:cNvSpPr/>
              <p:nvPr/>
            </p:nvSpPr>
            <p:spPr>
              <a:xfrm>
                <a:off x="4293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0605" name="Line 400"/>
              <p:cNvSpPr/>
              <p:nvPr/>
            </p:nvSpPr>
            <p:spPr>
              <a:xfrm>
                <a:off x="5420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</p:grpSp>
        <p:grpSp>
          <p:nvGrpSpPr>
            <p:cNvPr id="280597" name="Group 401"/>
            <p:cNvGrpSpPr/>
            <p:nvPr/>
          </p:nvGrpSpPr>
          <p:grpSpPr>
            <a:xfrm>
              <a:off x="1946" y="3527"/>
              <a:ext cx="3812" cy="212"/>
              <a:chOff x="1946" y="3527"/>
              <a:chExt cx="3812" cy="212"/>
            </a:xfrm>
          </p:grpSpPr>
          <p:sp>
            <p:nvSpPr>
              <p:cNvPr id="280598" name="Text Box 402"/>
              <p:cNvSpPr txBox="1"/>
              <p:nvPr/>
            </p:nvSpPr>
            <p:spPr>
              <a:xfrm>
                <a:off x="194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599" name="Text Box 403"/>
              <p:cNvSpPr txBox="1"/>
              <p:nvPr/>
            </p:nvSpPr>
            <p:spPr>
              <a:xfrm>
                <a:off x="310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600" name="Text Box 404"/>
              <p:cNvSpPr txBox="1"/>
              <p:nvPr/>
            </p:nvSpPr>
            <p:spPr>
              <a:xfrm>
                <a:off x="4258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0601" name="Text Box 405"/>
              <p:cNvSpPr txBox="1"/>
              <p:nvPr/>
            </p:nvSpPr>
            <p:spPr>
              <a:xfrm>
                <a:off x="541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80594" name="AutoShape 40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059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81602" name="Group 2"/>
          <p:cNvGrpSpPr/>
          <p:nvPr/>
        </p:nvGrpSpPr>
        <p:grpSpPr>
          <a:xfrm>
            <a:off x="1601788" y="1055688"/>
            <a:ext cx="9101138" cy="5732463"/>
            <a:chOff x="49" y="665"/>
            <a:chExt cx="5733" cy="3611"/>
          </a:xfrm>
        </p:grpSpPr>
        <p:grpSp>
          <p:nvGrpSpPr>
            <p:cNvPr id="281625" name="Group 3"/>
            <p:cNvGrpSpPr/>
            <p:nvPr/>
          </p:nvGrpSpPr>
          <p:grpSpPr>
            <a:xfrm>
              <a:off x="49" y="665"/>
              <a:ext cx="283" cy="2996"/>
              <a:chOff x="49" y="665"/>
              <a:chExt cx="283" cy="2996"/>
            </a:xfrm>
          </p:grpSpPr>
          <p:sp>
            <p:nvSpPr>
              <p:cNvPr id="281845" name="Text Box 4"/>
              <p:cNvSpPr txBox="1"/>
              <p:nvPr/>
            </p:nvSpPr>
            <p:spPr>
              <a:xfrm>
                <a:off x="49" y="196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46" name="Text Box 5"/>
              <p:cNvSpPr txBox="1"/>
              <p:nvPr/>
            </p:nvSpPr>
            <p:spPr>
              <a:xfrm>
                <a:off x="49" y="1702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47" name="Text Box 6"/>
              <p:cNvSpPr txBox="1"/>
              <p:nvPr/>
            </p:nvSpPr>
            <p:spPr>
              <a:xfrm>
                <a:off x="49" y="144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48" name="Text Box 7"/>
              <p:cNvSpPr txBox="1"/>
              <p:nvPr/>
            </p:nvSpPr>
            <p:spPr>
              <a:xfrm>
                <a:off x="49" y="1184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49" name="Text Box 8"/>
              <p:cNvSpPr txBox="1"/>
              <p:nvPr/>
            </p:nvSpPr>
            <p:spPr>
              <a:xfrm>
                <a:off x="49" y="9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50" name="Text Box 9"/>
              <p:cNvSpPr txBox="1"/>
              <p:nvPr/>
            </p:nvSpPr>
            <p:spPr>
              <a:xfrm>
                <a:off x="49" y="66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51" name="Text Box 10"/>
              <p:cNvSpPr txBox="1"/>
              <p:nvPr/>
            </p:nvSpPr>
            <p:spPr>
              <a:xfrm>
                <a:off x="49" y="3410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52" name="Text Box 11"/>
              <p:cNvSpPr txBox="1"/>
              <p:nvPr/>
            </p:nvSpPr>
            <p:spPr>
              <a:xfrm>
                <a:off x="49" y="315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53" name="Text Box 12"/>
              <p:cNvSpPr txBox="1"/>
              <p:nvPr/>
            </p:nvSpPr>
            <p:spPr>
              <a:xfrm>
                <a:off x="49" y="2892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54" name="Text Box 13"/>
              <p:cNvSpPr txBox="1"/>
              <p:nvPr/>
            </p:nvSpPr>
            <p:spPr>
              <a:xfrm>
                <a:off x="49" y="26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1626" name="Group 14"/>
            <p:cNvGrpSpPr/>
            <p:nvPr/>
          </p:nvGrpSpPr>
          <p:grpSpPr>
            <a:xfrm>
              <a:off x="164" y="791"/>
              <a:ext cx="5618" cy="3485"/>
              <a:chOff x="164" y="791"/>
              <a:chExt cx="5618" cy="3485"/>
            </a:xfrm>
          </p:grpSpPr>
          <p:sp>
            <p:nvSpPr>
              <p:cNvPr id="281627" name="Rectangle 15"/>
              <p:cNvSpPr/>
              <p:nvPr/>
            </p:nvSpPr>
            <p:spPr>
              <a:xfrm>
                <a:off x="356" y="2181"/>
                <a:ext cx="576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28" name="Rectangle 16"/>
              <p:cNvSpPr/>
              <p:nvPr/>
            </p:nvSpPr>
            <p:spPr>
              <a:xfrm>
                <a:off x="1752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29" name="Text Box 17"/>
              <p:cNvSpPr txBox="1"/>
              <p:nvPr/>
            </p:nvSpPr>
            <p:spPr>
              <a:xfrm>
                <a:off x="1432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30" name="Rectangle 18"/>
              <p:cNvSpPr/>
              <p:nvPr/>
            </p:nvSpPr>
            <p:spPr>
              <a:xfrm>
                <a:off x="1176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31" name="Rectangle 19"/>
              <p:cNvSpPr/>
              <p:nvPr/>
            </p:nvSpPr>
            <p:spPr>
              <a:xfrm>
                <a:off x="2893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32" name="Text Box 20"/>
              <p:cNvSpPr txBox="1"/>
              <p:nvPr/>
            </p:nvSpPr>
            <p:spPr>
              <a:xfrm>
                <a:off x="2573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33" name="Rectangle 21"/>
              <p:cNvSpPr/>
              <p:nvPr/>
            </p:nvSpPr>
            <p:spPr>
              <a:xfrm>
                <a:off x="2317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34" name="Rectangle 22"/>
              <p:cNvSpPr/>
              <p:nvPr/>
            </p:nvSpPr>
            <p:spPr>
              <a:xfrm>
                <a:off x="4068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35" name="Text Box 23"/>
              <p:cNvSpPr txBox="1"/>
              <p:nvPr/>
            </p:nvSpPr>
            <p:spPr>
              <a:xfrm>
                <a:off x="3748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36" name="Rectangle 24"/>
              <p:cNvSpPr/>
              <p:nvPr/>
            </p:nvSpPr>
            <p:spPr>
              <a:xfrm>
                <a:off x="3492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37" name="Rectangle 25"/>
              <p:cNvSpPr/>
              <p:nvPr/>
            </p:nvSpPr>
            <p:spPr>
              <a:xfrm>
                <a:off x="5204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38" name="Text Box 26"/>
              <p:cNvSpPr txBox="1"/>
              <p:nvPr/>
            </p:nvSpPr>
            <p:spPr>
              <a:xfrm>
                <a:off x="4884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39" name="Rectangle 27"/>
              <p:cNvSpPr/>
              <p:nvPr/>
            </p:nvSpPr>
            <p:spPr>
              <a:xfrm>
                <a:off x="4628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40" name="Rectangle 28"/>
              <p:cNvSpPr/>
              <p:nvPr/>
            </p:nvSpPr>
            <p:spPr>
              <a:xfrm>
                <a:off x="1752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41" name="Rectangle 29"/>
              <p:cNvSpPr/>
              <p:nvPr/>
            </p:nvSpPr>
            <p:spPr>
              <a:xfrm>
                <a:off x="1176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42" name="Rectangle 30"/>
              <p:cNvSpPr/>
              <p:nvPr/>
            </p:nvSpPr>
            <p:spPr>
              <a:xfrm>
                <a:off x="2893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43" name="Rectangle 31"/>
              <p:cNvSpPr/>
              <p:nvPr/>
            </p:nvSpPr>
            <p:spPr>
              <a:xfrm>
                <a:off x="2317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44" name="Rectangle 32"/>
              <p:cNvSpPr/>
              <p:nvPr/>
            </p:nvSpPr>
            <p:spPr>
              <a:xfrm>
                <a:off x="4068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45" name="Rectangle 33"/>
              <p:cNvSpPr/>
              <p:nvPr/>
            </p:nvSpPr>
            <p:spPr>
              <a:xfrm>
                <a:off x="3492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46" name="Rectangle 34"/>
              <p:cNvSpPr/>
              <p:nvPr/>
            </p:nvSpPr>
            <p:spPr>
              <a:xfrm>
                <a:off x="5204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47" name="Rectangle 35"/>
              <p:cNvSpPr/>
              <p:nvPr/>
            </p:nvSpPr>
            <p:spPr>
              <a:xfrm>
                <a:off x="4628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648" name="Line 36"/>
              <p:cNvSpPr/>
              <p:nvPr/>
            </p:nvSpPr>
            <p:spPr>
              <a:xfrm rot="5400000">
                <a:off x="1349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49" name="Line 37"/>
              <p:cNvSpPr/>
              <p:nvPr/>
            </p:nvSpPr>
            <p:spPr>
              <a:xfrm rot="5400000">
                <a:off x="1332" y="271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50" name="Freeform 38"/>
              <p:cNvSpPr/>
              <p:nvPr/>
            </p:nvSpPr>
            <p:spPr>
              <a:xfrm>
                <a:off x="1284" y="2709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51" name="Line 39"/>
              <p:cNvSpPr/>
              <p:nvPr/>
            </p:nvSpPr>
            <p:spPr>
              <a:xfrm rot="-5400000">
                <a:off x="1157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52" name="Line 40"/>
              <p:cNvSpPr/>
              <p:nvPr/>
            </p:nvSpPr>
            <p:spPr>
              <a:xfrm rot="-5400000">
                <a:off x="1236" y="2714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53" name="Freeform 41"/>
              <p:cNvSpPr/>
              <p:nvPr/>
            </p:nvSpPr>
            <p:spPr>
              <a:xfrm>
                <a:off x="1458" y="2353"/>
                <a:ext cx="112" cy="1"/>
              </a:xfrm>
              <a:custGeom>
                <a:avLst/>
                <a:gdLst>
                  <a:gd name="txL" fmla="*/ 0 w 112"/>
                  <a:gd name="txT" fmla="*/ 0 h 1"/>
                  <a:gd name="txR" fmla="*/ 112 w 11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2" y="0"/>
                  </a:cxn>
                </a:cxnLst>
                <a:rect l="txL" t="txT" r="txR" b="txB"/>
                <a:pathLst>
                  <a:path w="112" h="1">
                    <a:moveTo>
                      <a:pt x="0" y="0"/>
                    </a:moveTo>
                    <a:lnTo>
                      <a:pt x="11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54" name="Freeform 42"/>
              <p:cNvSpPr/>
              <p:nvPr/>
            </p:nvSpPr>
            <p:spPr>
              <a:xfrm>
                <a:off x="1077" y="1210"/>
                <a:ext cx="158" cy="1468"/>
              </a:xfrm>
              <a:custGeom>
                <a:avLst/>
                <a:gdLst>
                  <a:gd name="txL" fmla="*/ 0 w 158"/>
                  <a:gd name="txT" fmla="*/ 0 h 1468"/>
                  <a:gd name="txR" fmla="*/ 158 w 158"/>
                  <a:gd name="txB" fmla="*/ 1468 h 1468"/>
                </a:gdLst>
                <a:ahLst/>
                <a:cxnLst>
                  <a:cxn ang="0">
                    <a:pos x="158" y="1468"/>
                  </a:cxn>
                  <a:cxn ang="0">
                    <a:pos x="6" y="1468"/>
                  </a:cxn>
                  <a:cxn ang="0">
                    <a:pos x="0" y="1"/>
                  </a:cxn>
                  <a:cxn ang="0">
                    <a:pos x="101" y="0"/>
                  </a:cxn>
                </a:cxnLst>
                <a:rect l="txL" t="txT" r="txR" b="txB"/>
                <a:pathLst>
                  <a:path w="158" h="1468">
                    <a:moveTo>
                      <a:pt x="158" y="1468"/>
                    </a:moveTo>
                    <a:lnTo>
                      <a:pt x="6" y="1468"/>
                    </a:lnTo>
                    <a:lnTo>
                      <a:pt x="0" y="1"/>
                    </a:lnTo>
                    <a:lnTo>
                      <a:pt x="101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55" name="Freeform 43"/>
              <p:cNvSpPr/>
              <p:nvPr/>
            </p:nvSpPr>
            <p:spPr>
              <a:xfrm>
                <a:off x="1079" y="2353"/>
                <a:ext cx="102" cy="1"/>
              </a:xfrm>
              <a:custGeom>
                <a:avLst/>
                <a:gdLst>
                  <a:gd name="txL" fmla="*/ 0 w 102"/>
                  <a:gd name="txT" fmla="*/ 0 h 1"/>
                  <a:gd name="txR" fmla="*/ 102 w 102"/>
                  <a:gd name="txB" fmla="*/ 1 h 1"/>
                </a:gdLst>
                <a:ahLst/>
                <a:cxnLst>
                  <a:cxn ang="0">
                    <a:pos x="102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2" h="1">
                    <a:moveTo>
                      <a:pt x="102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56" name="Line 44"/>
              <p:cNvSpPr/>
              <p:nvPr/>
            </p:nvSpPr>
            <p:spPr>
              <a:xfrm rot="5400000">
                <a:off x="1920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57" name="Line 45"/>
              <p:cNvSpPr/>
              <p:nvPr/>
            </p:nvSpPr>
            <p:spPr>
              <a:xfrm rot="5400000">
                <a:off x="1903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58" name="Freeform 46"/>
              <p:cNvSpPr/>
              <p:nvPr/>
            </p:nvSpPr>
            <p:spPr>
              <a:xfrm>
                <a:off x="1855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59" name="Line 47"/>
              <p:cNvSpPr/>
              <p:nvPr/>
            </p:nvSpPr>
            <p:spPr>
              <a:xfrm rot="-5400000">
                <a:off x="1728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60" name="Line 48"/>
              <p:cNvSpPr/>
              <p:nvPr/>
            </p:nvSpPr>
            <p:spPr>
              <a:xfrm rot="-5400000">
                <a:off x="1807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61" name="Freeform 49"/>
              <p:cNvSpPr/>
              <p:nvPr/>
            </p:nvSpPr>
            <p:spPr>
              <a:xfrm>
                <a:off x="2029" y="2353"/>
                <a:ext cx="103" cy="1"/>
              </a:xfrm>
              <a:custGeom>
                <a:avLst/>
                <a:gdLst>
                  <a:gd name="txL" fmla="*/ 0 w 103"/>
                  <a:gd name="txT" fmla="*/ 0 h 1"/>
                  <a:gd name="txR" fmla="*/ 103 w 10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3" y="0"/>
                  </a:cxn>
                </a:cxnLst>
                <a:rect l="txL" t="txT" r="txR" b="txB"/>
                <a:pathLst>
                  <a:path w="103" h="1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62" name="Freeform 50"/>
              <p:cNvSpPr/>
              <p:nvPr/>
            </p:nvSpPr>
            <p:spPr>
              <a:xfrm>
                <a:off x="1635" y="2352"/>
                <a:ext cx="113" cy="1"/>
              </a:xfrm>
              <a:custGeom>
                <a:avLst/>
                <a:gdLst>
                  <a:gd name="txL" fmla="*/ 0 w 113"/>
                  <a:gd name="txT" fmla="*/ 0 h 1"/>
                  <a:gd name="txR" fmla="*/ 113 w 113"/>
                  <a:gd name="txB" fmla="*/ 1 h 1"/>
                </a:gdLst>
                <a:ahLst/>
                <a:cxnLst>
                  <a:cxn ang="0">
                    <a:pos x="113" y="1"/>
                  </a:cxn>
                  <a:cxn ang="0">
                    <a:pos x="0" y="0"/>
                  </a:cxn>
                </a:cxnLst>
                <a:rect l="txL" t="txT" r="txR" b="txB"/>
                <a:pathLst>
                  <a:path w="113" h="1">
                    <a:moveTo>
                      <a:pt x="113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63" name="Line 51"/>
              <p:cNvSpPr/>
              <p:nvPr/>
            </p:nvSpPr>
            <p:spPr>
              <a:xfrm rot="5400000">
                <a:off x="2501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64" name="Line 52"/>
              <p:cNvSpPr/>
              <p:nvPr/>
            </p:nvSpPr>
            <p:spPr>
              <a:xfrm rot="5400000">
                <a:off x="2484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65" name="Freeform 53"/>
              <p:cNvSpPr/>
              <p:nvPr/>
            </p:nvSpPr>
            <p:spPr>
              <a:xfrm>
                <a:off x="2436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66" name="Line 54"/>
              <p:cNvSpPr/>
              <p:nvPr/>
            </p:nvSpPr>
            <p:spPr>
              <a:xfrm rot="-5400000">
                <a:off x="2309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67" name="Line 55"/>
              <p:cNvSpPr/>
              <p:nvPr/>
            </p:nvSpPr>
            <p:spPr>
              <a:xfrm rot="-5400000">
                <a:off x="2388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68" name="Freeform 56"/>
              <p:cNvSpPr/>
              <p:nvPr/>
            </p:nvSpPr>
            <p:spPr>
              <a:xfrm>
                <a:off x="2610" y="2353"/>
                <a:ext cx="109" cy="1"/>
              </a:xfrm>
              <a:custGeom>
                <a:avLst/>
                <a:gdLst>
                  <a:gd name="txL" fmla="*/ 0 w 109"/>
                  <a:gd name="txT" fmla="*/ 0 h 1"/>
                  <a:gd name="txR" fmla="*/ 109 w 10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9" y="0"/>
                  </a:cxn>
                </a:cxnLst>
                <a:rect l="txL" t="txT" r="txR" b="txB"/>
                <a:pathLst>
                  <a:path w="109" h="1">
                    <a:moveTo>
                      <a:pt x="0" y="0"/>
                    </a:moveTo>
                    <a:lnTo>
                      <a:pt x="10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69" name="Freeform 57"/>
              <p:cNvSpPr/>
              <p:nvPr/>
            </p:nvSpPr>
            <p:spPr>
              <a:xfrm>
                <a:off x="2231" y="2353"/>
                <a:ext cx="89" cy="1"/>
              </a:xfrm>
              <a:custGeom>
                <a:avLst/>
                <a:gdLst>
                  <a:gd name="txL" fmla="*/ 0 w 89"/>
                  <a:gd name="txT" fmla="*/ 0 h 1"/>
                  <a:gd name="txR" fmla="*/ 89 w 89"/>
                  <a:gd name="txB" fmla="*/ 1 h 1"/>
                </a:gdLst>
                <a:ahLst/>
                <a:cxnLst>
                  <a:cxn ang="0">
                    <a:pos x="89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9" h="1">
                    <a:moveTo>
                      <a:pt x="89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70" name="Line 58"/>
              <p:cNvSpPr/>
              <p:nvPr/>
            </p:nvSpPr>
            <p:spPr>
              <a:xfrm rot="5400000">
                <a:off x="3077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71" name="Line 59"/>
              <p:cNvSpPr/>
              <p:nvPr/>
            </p:nvSpPr>
            <p:spPr>
              <a:xfrm rot="5400000">
                <a:off x="3060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72" name="Freeform 60"/>
              <p:cNvSpPr/>
              <p:nvPr/>
            </p:nvSpPr>
            <p:spPr>
              <a:xfrm>
                <a:off x="3012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73" name="Line 61"/>
              <p:cNvSpPr/>
              <p:nvPr/>
            </p:nvSpPr>
            <p:spPr>
              <a:xfrm rot="-5400000">
                <a:off x="2885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74" name="Line 62"/>
              <p:cNvSpPr/>
              <p:nvPr/>
            </p:nvSpPr>
            <p:spPr>
              <a:xfrm rot="-5400000">
                <a:off x="2964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75" name="Freeform 63"/>
              <p:cNvSpPr/>
              <p:nvPr/>
            </p:nvSpPr>
            <p:spPr>
              <a:xfrm>
                <a:off x="3186" y="2353"/>
                <a:ext cx="115" cy="1"/>
              </a:xfrm>
              <a:custGeom>
                <a:avLst/>
                <a:gdLst>
                  <a:gd name="txL" fmla="*/ 0 w 115"/>
                  <a:gd name="txT" fmla="*/ 0 h 1"/>
                  <a:gd name="txR" fmla="*/ 115 w 11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5" y="0"/>
                  </a:cxn>
                </a:cxnLst>
                <a:rect l="txL" t="txT" r="txR" b="txB"/>
                <a:pathLst>
                  <a:path w="115" h="1">
                    <a:moveTo>
                      <a:pt x="0" y="0"/>
                    </a:moveTo>
                    <a:lnTo>
                      <a:pt x="11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76" name="Freeform 64"/>
              <p:cNvSpPr/>
              <p:nvPr/>
            </p:nvSpPr>
            <p:spPr>
              <a:xfrm>
                <a:off x="2807" y="2353"/>
                <a:ext cx="90" cy="1"/>
              </a:xfrm>
              <a:custGeom>
                <a:avLst/>
                <a:gdLst>
                  <a:gd name="txL" fmla="*/ 0 w 90"/>
                  <a:gd name="txT" fmla="*/ 0 h 1"/>
                  <a:gd name="txR" fmla="*/ 90 w 90"/>
                  <a:gd name="txB" fmla="*/ 1 h 1"/>
                </a:gdLst>
                <a:ahLst/>
                <a:cxnLst>
                  <a:cxn ang="0">
                    <a:pos x="9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0" h="1">
                    <a:moveTo>
                      <a:pt x="9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77" name="Line 65"/>
              <p:cNvSpPr/>
              <p:nvPr/>
            </p:nvSpPr>
            <p:spPr>
              <a:xfrm rot="5400000">
                <a:off x="3653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78" name="Line 66"/>
              <p:cNvSpPr/>
              <p:nvPr/>
            </p:nvSpPr>
            <p:spPr>
              <a:xfrm rot="5400000">
                <a:off x="3636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79" name="Freeform 67"/>
              <p:cNvSpPr/>
              <p:nvPr/>
            </p:nvSpPr>
            <p:spPr>
              <a:xfrm>
                <a:off x="3588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80" name="Line 68"/>
              <p:cNvSpPr/>
              <p:nvPr/>
            </p:nvSpPr>
            <p:spPr>
              <a:xfrm rot="-5400000">
                <a:off x="3461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81" name="Line 69"/>
              <p:cNvSpPr/>
              <p:nvPr/>
            </p:nvSpPr>
            <p:spPr>
              <a:xfrm rot="-5400000">
                <a:off x="3540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82" name="Freeform 70"/>
              <p:cNvSpPr/>
              <p:nvPr/>
            </p:nvSpPr>
            <p:spPr>
              <a:xfrm>
                <a:off x="3775" y="2352"/>
                <a:ext cx="100" cy="1"/>
              </a:xfrm>
              <a:custGeom>
                <a:avLst/>
                <a:gdLst>
                  <a:gd name="txL" fmla="*/ 0 w 100"/>
                  <a:gd name="txT" fmla="*/ 0 h 1"/>
                  <a:gd name="txR" fmla="*/ 100 w 10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0" y="1"/>
                  </a:cxn>
                </a:cxnLst>
                <a:rect l="txL" t="txT" r="txR" b="txB"/>
                <a:pathLst>
                  <a:path w="100" h="1">
                    <a:moveTo>
                      <a:pt x="0" y="0"/>
                    </a:moveTo>
                    <a:lnTo>
                      <a:pt x="10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83" name="Freeform 71"/>
              <p:cNvSpPr/>
              <p:nvPr/>
            </p:nvSpPr>
            <p:spPr>
              <a:xfrm>
                <a:off x="3383" y="2353"/>
                <a:ext cx="108" cy="1"/>
              </a:xfrm>
              <a:custGeom>
                <a:avLst/>
                <a:gdLst>
                  <a:gd name="txL" fmla="*/ 0 w 108"/>
                  <a:gd name="txT" fmla="*/ 0 h 1"/>
                  <a:gd name="txR" fmla="*/ 108 w 108"/>
                  <a:gd name="txB" fmla="*/ 1 h 1"/>
                </a:gdLst>
                <a:ahLst/>
                <a:cxnLst>
                  <a:cxn ang="0">
                    <a:pos x="10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8" h="1">
                    <a:moveTo>
                      <a:pt x="10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84" name="Line 72"/>
              <p:cNvSpPr/>
              <p:nvPr/>
            </p:nvSpPr>
            <p:spPr>
              <a:xfrm rot="5400000">
                <a:off x="4229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85" name="Line 73"/>
              <p:cNvSpPr/>
              <p:nvPr/>
            </p:nvSpPr>
            <p:spPr>
              <a:xfrm rot="5400000">
                <a:off x="4212" y="2696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86" name="Freeform 74"/>
              <p:cNvSpPr/>
              <p:nvPr/>
            </p:nvSpPr>
            <p:spPr>
              <a:xfrm>
                <a:off x="4164" y="2695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87" name="Line 75"/>
              <p:cNvSpPr/>
              <p:nvPr/>
            </p:nvSpPr>
            <p:spPr>
              <a:xfrm rot="-5400000">
                <a:off x="4037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88" name="Line 76"/>
              <p:cNvSpPr/>
              <p:nvPr/>
            </p:nvSpPr>
            <p:spPr>
              <a:xfrm rot="-5400000">
                <a:off x="4116" y="270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689" name="Freeform 77"/>
              <p:cNvSpPr/>
              <p:nvPr/>
            </p:nvSpPr>
            <p:spPr>
              <a:xfrm>
                <a:off x="4360" y="2351"/>
                <a:ext cx="90" cy="2"/>
              </a:xfrm>
              <a:custGeom>
                <a:avLst/>
                <a:gdLst>
                  <a:gd name="txL" fmla="*/ 0 w 90"/>
                  <a:gd name="txT" fmla="*/ 0 h 2"/>
                  <a:gd name="txR" fmla="*/ 90 w 90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0" y="2"/>
                  </a:cxn>
                </a:cxnLst>
                <a:rect l="txL" t="txT" r="txR" b="txB"/>
                <a:pathLst>
                  <a:path w="90" h="2">
                    <a:moveTo>
                      <a:pt x="0" y="0"/>
                    </a:moveTo>
                    <a:lnTo>
                      <a:pt x="90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90" name="Freeform 78"/>
              <p:cNvSpPr/>
              <p:nvPr/>
            </p:nvSpPr>
            <p:spPr>
              <a:xfrm>
                <a:off x="3959" y="2353"/>
                <a:ext cx="104" cy="1"/>
              </a:xfrm>
              <a:custGeom>
                <a:avLst/>
                <a:gdLst>
                  <a:gd name="txL" fmla="*/ 0 w 104"/>
                  <a:gd name="txT" fmla="*/ 0 h 1"/>
                  <a:gd name="txR" fmla="*/ 104 w 104"/>
                  <a:gd name="txB" fmla="*/ 1 h 1"/>
                </a:gdLst>
                <a:ahLst/>
                <a:cxnLst>
                  <a:cxn ang="0">
                    <a:pos x="10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4" h="1">
                    <a:moveTo>
                      <a:pt x="10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1691" name="Group 79"/>
              <p:cNvGrpSpPr/>
              <p:nvPr/>
            </p:nvGrpSpPr>
            <p:grpSpPr>
              <a:xfrm>
                <a:off x="4692" y="2634"/>
                <a:ext cx="192" cy="158"/>
                <a:chOff x="4692" y="2634"/>
                <a:chExt cx="192" cy="158"/>
              </a:xfrm>
            </p:grpSpPr>
            <p:grpSp>
              <p:nvGrpSpPr>
                <p:cNvPr id="281838" name="Group 80"/>
                <p:cNvGrpSpPr/>
                <p:nvPr/>
              </p:nvGrpSpPr>
              <p:grpSpPr>
                <a:xfrm>
                  <a:off x="4836" y="2634"/>
                  <a:ext cx="48" cy="158"/>
                  <a:chOff x="4836" y="2634"/>
                  <a:chExt cx="48" cy="158"/>
                </a:xfrm>
              </p:grpSpPr>
              <p:sp>
                <p:nvSpPr>
                  <p:cNvPr id="281843" name="Line 81"/>
                  <p:cNvSpPr/>
                  <p:nvPr/>
                </p:nvSpPr>
                <p:spPr>
                  <a:xfrm rot="5400000">
                    <a:off x="4805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1844" name="Line 82"/>
                  <p:cNvSpPr/>
                  <p:nvPr/>
                </p:nvSpPr>
                <p:spPr>
                  <a:xfrm rot="5400000">
                    <a:off x="4788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1839" name="Freeform 83"/>
                <p:cNvSpPr/>
                <p:nvPr/>
              </p:nvSpPr>
              <p:spPr>
                <a:xfrm>
                  <a:off x="4740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1840" name="Group 84"/>
                <p:cNvGrpSpPr/>
                <p:nvPr/>
              </p:nvGrpSpPr>
              <p:grpSpPr>
                <a:xfrm>
                  <a:off x="4692" y="2634"/>
                  <a:ext cx="48" cy="158"/>
                  <a:chOff x="4692" y="2634"/>
                  <a:chExt cx="48" cy="158"/>
                </a:xfrm>
              </p:grpSpPr>
              <p:sp>
                <p:nvSpPr>
                  <p:cNvPr id="281841" name="Line 85"/>
                  <p:cNvSpPr/>
                  <p:nvPr/>
                </p:nvSpPr>
                <p:spPr>
                  <a:xfrm rot="-5400000">
                    <a:off x="4613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1842" name="Line 86"/>
                  <p:cNvSpPr/>
                  <p:nvPr/>
                </p:nvSpPr>
                <p:spPr>
                  <a:xfrm rot="-5400000">
                    <a:off x="4692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81692" name="Freeform 87"/>
              <p:cNvSpPr/>
              <p:nvPr/>
            </p:nvSpPr>
            <p:spPr>
              <a:xfrm>
                <a:off x="4914" y="2353"/>
                <a:ext cx="107" cy="1"/>
              </a:xfrm>
              <a:custGeom>
                <a:avLst/>
                <a:gdLst>
                  <a:gd name="txL" fmla="*/ 0 w 107"/>
                  <a:gd name="txT" fmla="*/ 0 h 1"/>
                  <a:gd name="txR" fmla="*/ 107 w 10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7" y="0"/>
                  </a:cxn>
                </a:cxnLst>
                <a:rect l="txL" t="txT" r="txR" b="txB"/>
                <a:pathLst>
                  <a:path w="107" h="1">
                    <a:moveTo>
                      <a:pt x="0" y="0"/>
                    </a:moveTo>
                    <a:lnTo>
                      <a:pt x="10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93" name="Freeform 88"/>
              <p:cNvSpPr/>
              <p:nvPr/>
            </p:nvSpPr>
            <p:spPr>
              <a:xfrm>
                <a:off x="4535" y="2353"/>
                <a:ext cx="96" cy="1"/>
              </a:xfrm>
              <a:custGeom>
                <a:avLst/>
                <a:gdLst>
                  <a:gd name="txL" fmla="*/ 0 w 96"/>
                  <a:gd name="txT" fmla="*/ 0 h 1"/>
                  <a:gd name="txR" fmla="*/ 96 w 96"/>
                  <a:gd name="txB" fmla="*/ 1 h 1"/>
                </a:gdLst>
                <a:ahLst/>
                <a:cxnLst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1">
                    <a:moveTo>
                      <a:pt x="96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1694" name="Group 89"/>
              <p:cNvGrpSpPr/>
              <p:nvPr/>
            </p:nvGrpSpPr>
            <p:grpSpPr>
              <a:xfrm>
                <a:off x="5259" y="2634"/>
                <a:ext cx="192" cy="158"/>
                <a:chOff x="5259" y="2634"/>
                <a:chExt cx="192" cy="158"/>
              </a:xfrm>
            </p:grpSpPr>
            <p:grpSp>
              <p:nvGrpSpPr>
                <p:cNvPr id="281831" name="Group 90"/>
                <p:cNvGrpSpPr/>
                <p:nvPr/>
              </p:nvGrpSpPr>
              <p:grpSpPr>
                <a:xfrm>
                  <a:off x="5403" y="2634"/>
                  <a:ext cx="48" cy="158"/>
                  <a:chOff x="5403" y="2634"/>
                  <a:chExt cx="48" cy="158"/>
                </a:xfrm>
              </p:grpSpPr>
              <p:sp>
                <p:nvSpPr>
                  <p:cNvPr id="281836" name="Line 91"/>
                  <p:cNvSpPr/>
                  <p:nvPr/>
                </p:nvSpPr>
                <p:spPr>
                  <a:xfrm rot="5400000">
                    <a:off x="5372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1837" name="Line 92"/>
                  <p:cNvSpPr/>
                  <p:nvPr/>
                </p:nvSpPr>
                <p:spPr>
                  <a:xfrm rot="5400000">
                    <a:off x="5355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1832" name="Freeform 93"/>
                <p:cNvSpPr/>
                <p:nvPr/>
              </p:nvSpPr>
              <p:spPr>
                <a:xfrm>
                  <a:off x="5307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1833" name="Group 94"/>
                <p:cNvGrpSpPr/>
                <p:nvPr/>
              </p:nvGrpSpPr>
              <p:grpSpPr>
                <a:xfrm>
                  <a:off x="5259" y="2634"/>
                  <a:ext cx="48" cy="158"/>
                  <a:chOff x="5259" y="2634"/>
                  <a:chExt cx="48" cy="158"/>
                </a:xfrm>
              </p:grpSpPr>
              <p:sp>
                <p:nvSpPr>
                  <p:cNvPr id="281834" name="Line 95"/>
                  <p:cNvSpPr/>
                  <p:nvPr/>
                </p:nvSpPr>
                <p:spPr>
                  <a:xfrm rot="-5400000">
                    <a:off x="5180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1835" name="Line 96"/>
                  <p:cNvSpPr/>
                  <p:nvPr/>
                </p:nvSpPr>
                <p:spPr>
                  <a:xfrm rot="-5400000">
                    <a:off x="5259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81695" name="Freeform 97"/>
              <p:cNvSpPr/>
              <p:nvPr/>
            </p:nvSpPr>
            <p:spPr>
              <a:xfrm>
                <a:off x="5491" y="2351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6" y="2"/>
                  </a:cxn>
                </a:cxnLst>
                <a:rect l="txL" t="txT" r="txR" b="txB"/>
                <a:pathLst>
                  <a:path w="96" h="2">
                    <a:moveTo>
                      <a:pt x="0" y="0"/>
                    </a:moveTo>
                    <a:lnTo>
                      <a:pt x="9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96" name="Freeform 98"/>
              <p:cNvSpPr/>
              <p:nvPr/>
            </p:nvSpPr>
            <p:spPr>
              <a:xfrm>
                <a:off x="5102" y="2353"/>
                <a:ext cx="101" cy="1"/>
              </a:xfrm>
              <a:custGeom>
                <a:avLst/>
                <a:gdLst>
                  <a:gd name="txL" fmla="*/ 0 w 101"/>
                  <a:gd name="txT" fmla="*/ 0 h 1"/>
                  <a:gd name="txR" fmla="*/ 101 w 101"/>
                  <a:gd name="txB" fmla="*/ 1 h 1"/>
                </a:gdLst>
                <a:ahLst/>
                <a:cxnLst>
                  <a:cxn ang="0">
                    <a:pos x="101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1" h="1">
                    <a:moveTo>
                      <a:pt x="101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97" name="Freeform 99"/>
              <p:cNvSpPr/>
              <p:nvPr/>
            </p:nvSpPr>
            <p:spPr>
              <a:xfrm>
                <a:off x="932" y="856"/>
                <a:ext cx="4419" cy="1"/>
              </a:xfrm>
              <a:custGeom>
                <a:avLst/>
                <a:gdLst>
                  <a:gd name="txL" fmla="*/ 0 w 4419"/>
                  <a:gd name="txT" fmla="*/ 0 h 1"/>
                  <a:gd name="txR" fmla="*/ 4419 w 4419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9" y="0"/>
                  </a:cxn>
                </a:cxnLst>
                <a:rect l="txL" t="txT" r="txR" b="txB"/>
                <a:pathLst>
                  <a:path w="4419" h="1">
                    <a:moveTo>
                      <a:pt x="0" y="1"/>
                    </a:moveTo>
                    <a:lnTo>
                      <a:pt x="441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698" name="Line 100"/>
              <p:cNvSpPr/>
              <p:nvPr/>
            </p:nvSpPr>
            <p:spPr>
              <a:xfrm>
                <a:off x="1316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699" name="Line 101"/>
              <p:cNvSpPr/>
              <p:nvPr/>
            </p:nvSpPr>
            <p:spPr>
              <a:xfrm>
                <a:off x="189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00" name="Line 102"/>
              <p:cNvSpPr/>
              <p:nvPr/>
            </p:nvSpPr>
            <p:spPr>
              <a:xfrm>
                <a:off x="246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01" name="Line 103"/>
              <p:cNvSpPr/>
              <p:nvPr/>
            </p:nvSpPr>
            <p:spPr>
              <a:xfrm>
                <a:off x="3044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02" name="Line 104"/>
              <p:cNvSpPr/>
              <p:nvPr/>
            </p:nvSpPr>
            <p:spPr>
              <a:xfrm>
                <a:off x="3620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03" name="Line 105"/>
              <p:cNvSpPr/>
              <p:nvPr/>
            </p:nvSpPr>
            <p:spPr>
              <a:xfrm>
                <a:off x="4196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04" name="Line 106"/>
              <p:cNvSpPr/>
              <p:nvPr/>
            </p:nvSpPr>
            <p:spPr>
              <a:xfrm>
                <a:off x="477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05" name="Line 107"/>
              <p:cNvSpPr/>
              <p:nvPr/>
            </p:nvSpPr>
            <p:spPr>
              <a:xfrm>
                <a:off x="534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81706" name="Freeform 108"/>
              <p:cNvSpPr/>
              <p:nvPr/>
            </p:nvSpPr>
            <p:spPr>
              <a:xfrm>
                <a:off x="1330" y="2708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07" name="Freeform 109"/>
              <p:cNvSpPr/>
              <p:nvPr/>
            </p:nvSpPr>
            <p:spPr>
              <a:xfrm>
                <a:off x="1904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08" name="Freeform 110"/>
              <p:cNvSpPr/>
              <p:nvPr/>
            </p:nvSpPr>
            <p:spPr>
              <a:xfrm>
                <a:off x="2482" y="2708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09" name="Freeform 111"/>
              <p:cNvSpPr/>
              <p:nvPr/>
            </p:nvSpPr>
            <p:spPr>
              <a:xfrm>
                <a:off x="3630" y="2708"/>
                <a:ext cx="2" cy="175"/>
              </a:xfrm>
              <a:custGeom>
                <a:avLst/>
                <a:gdLst>
                  <a:gd name="txL" fmla="*/ 0 w 2"/>
                  <a:gd name="txT" fmla="*/ 0 h 175"/>
                  <a:gd name="txR" fmla="*/ 2 w 2"/>
                  <a:gd name="txB" fmla="*/ 175 h 175"/>
                </a:gdLst>
                <a:ahLst/>
                <a:cxnLst>
                  <a:cxn ang="0">
                    <a:pos x="2" y="0"/>
                  </a:cxn>
                  <a:cxn ang="0">
                    <a:pos x="0" y="175"/>
                  </a:cxn>
                </a:cxnLst>
                <a:rect l="txL" t="txT" r="txR" b="txB"/>
                <a:pathLst>
                  <a:path w="2" h="175">
                    <a:moveTo>
                      <a:pt x="2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10" name="Freeform 112"/>
              <p:cNvSpPr/>
              <p:nvPr/>
            </p:nvSpPr>
            <p:spPr>
              <a:xfrm>
                <a:off x="4784" y="2697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11" name="Freeform 113"/>
              <p:cNvSpPr/>
              <p:nvPr/>
            </p:nvSpPr>
            <p:spPr>
              <a:xfrm>
                <a:off x="932" y="1480"/>
                <a:ext cx="4422" cy="1"/>
              </a:xfrm>
              <a:custGeom>
                <a:avLst/>
                <a:gdLst>
                  <a:gd name="txL" fmla="*/ 0 w 4422"/>
                  <a:gd name="txT" fmla="*/ 0 h 1"/>
                  <a:gd name="txR" fmla="*/ 4422 w 4422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22" y="0"/>
                  </a:cxn>
                </a:cxnLst>
                <a:rect l="txL" t="txT" r="txR" b="txB"/>
                <a:pathLst>
                  <a:path w="4422" h="1">
                    <a:moveTo>
                      <a:pt x="0" y="1"/>
                    </a:moveTo>
                    <a:lnTo>
                      <a:pt x="442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12" name="Line 114"/>
              <p:cNvSpPr/>
              <p:nvPr/>
            </p:nvSpPr>
            <p:spPr>
              <a:xfrm>
                <a:off x="1316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13" name="Line 115"/>
              <p:cNvSpPr/>
              <p:nvPr/>
            </p:nvSpPr>
            <p:spPr>
              <a:xfrm>
                <a:off x="189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14" name="Line 116"/>
              <p:cNvSpPr/>
              <p:nvPr/>
            </p:nvSpPr>
            <p:spPr>
              <a:xfrm>
                <a:off x="246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15" name="Line 117"/>
              <p:cNvSpPr/>
              <p:nvPr/>
            </p:nvSpPr>
            <p:spPr>
              <a:xfrm>
                <a:off x="3044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16" name="Line 118"/>
              <p:cNvSpPr/>
              <p:nvPr/>
            </p:nvSpPr>
            <p:spPr>
              <a:xfrm>
                <a:off x="3620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17" name="Line 119"/>
              <p:cNvSpPr/>
              <p:nvPr/>
            </p:nvSpPr>
            <p:spPr>
              <a:xfrm>
                <a:off x="4196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18" name="Line 120"/>
              <p:cNvSpPr/>
              <p:nvPr/>
            </p:nvSpPr>
            <p:spPr>
              <a:xfrm>
                <a:off x="477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19" name="Line 121"/>
              <p:cNvSpPr/>
              <p:nvPr/>
            </p:nvSpPr>
            <p:spPr>
              <a:xfrm>
                <a:off x="534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81720" name="Freeform 122"/>
              <p:cNvSpPr/>
              <p:nvPr/>
            </p:nvSpPr>
            <p:spPr>
              <a:xfrm>
                <a:off x="932" y="2056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21" name="Line 123"/>
              <p:cNvSpPr/>
              <p:nvPr/>
            </p:nvSpPr>
            <p:spPr>
              <a:xfrm>
                <a:off x="1316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22" name="Line 124"/>
              <p:cNvSpPr/>
              <p:nvPr/>
            </p:nvSpPr>
            <p:spPr>
              <a:xfrm>
                <a:off x="189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23" name="Line 125"/>
              <p:cNvSpPr/>
              <p:nvPr/>
            </p:nvSpPr>
            <p:spPr>
              <a:xfrm>
                <a:off x="246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24" name="Line 126"/>
              <p:cNvSpPr/>
              <p:nvPr/>
            </p:nvSpPr>
            <p:spPr>
              <a:xfrm>
                <a:off x="3044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25" name="Line 127"/>
              <p:cNvSpPr/>
              <p:nvPr/>
            </p:nvSpPr>
            <p:spPr>
              <a:xfrm>
                <a:off x="3620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26" name="Line 128"/>
              <p:cNvSpPr/>
              <p:nvPr/>
            </p:nvSpPr>
            <p:spPr>
              <a:xfrm>
                <a:off x="4196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27" name="Line 129"/>
              <p:cNvSpPr/>
              <p:nvPr/>
            </p:nvSpPr>
            <p:spPr>
              <a:xfrm>
                <a:off x="477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1728" name="Line 130"/>
              <p:cNvSpPr/>
              <p:nvPr/>
            </p:nvSpPr>
            <p:spPr>
              <a:xfrm>
                <a:off x="534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81729" name="Freeform 131"/>
              <p:cNvSpPr/>
              <p:nvPr/>
            </p:nvSpPr>
            <p:spPr>
              <a:xfrm>
                <a:off x="933" y="2879"/>
                <a:ext cx="3860" cy="1"/>
              </a:xfrm>
              <a:custGeom>
                <a:avLst/>
                <a:gdLst>
                  <a:gd name="txL" fmla="*/ 0 w 3860"/>
                  <a:gd name="txT" fmla="*/ 0 h 1"/>
                  <a:gd name="txR" fmla="*/ 3860 w 3860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3860" y="0"/>
                  </a:cxn>
                </a:cxnLst>
                <a:rect l="txL" t="txT" r="txR" b="txB"/>
                <a:pathLst>
                  <a:path w="3860" h="1">
                    <a:moveTo>
                      <a:pt x="0" y="1"/>
                    </a:moveTo>
                    <a:lnTo>
                      <a:pt x="38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30" name="Freeform 132"/>
              <p:cNvSpPr/>
              <p:nvPr/>
            </p:nvSpPr>
            <p:spPr>
              <a:xfrm>
                <a:off x="936" y="3209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31" name="Rectangle 133"/>
              <p:cNvSpPr/>
              <p:nvPr/>
            </p:nvSpPr>
            <p:spPr>
              <a:xfrm>
                <a:off x="1165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32" name="Text Box 134"/>
              <p:cNvSpPr txBox="1"/>
              <p:nvPr/>
            </p:nvSpPr>
            <p:spPr>
              <a:xfrm>
                <a:off x="1196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33" name="Freeform 135"/>
              <p:cNvSpPr/>
              <p:nvPr/>
            </p:nvSpPr>
            <p:spPr>
              <a:xfrm>
                <a:off x="1426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34" name="Freeform 136"/>
              <p:cNvSpPr/>
              <p:nvPr/>
            </p:nvSpPr>
            <p:spPr>
              <a:xfrm>
                <a:off x="1637" y="1211"/>
                <a:ext cx="169" cy="1469"/>
              </a:xfrm>
              <a:custGeom>
                <a:avLst/>
                <a:gdLst>
                  <a:gd name="txL" fmla="*/ 0 w 169"/>
                  <a:gd name="txT" fmla="*/ 0 h 1469"/>
                  <a:gd name="txR" fmla="*/ 169 w 169"/>
                  <a:gd name="txB" fmla="*/ 1469 h 1469"/>
                </a:gdLst>
                <a:ahLst/>
                <a:cxnLst>
                  <a:cxn ang="0">
                    <a:pos x="169" y="1468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5" y="0"/>
                  </a:cxn>
                </a:cxnLst>
                <a:rect l="txL" t="txT" r="txR" b="txB"/>
                <a:pathLst>
                  <a:path w="169" h="1469">
                    <a:moveTo>
                      <a:pt x="169" y="1468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35" name="Freeform 137"/>
              <p:cNvSpPr/>
              <p:nvPr/>
            </p:nvSpPr>
            <p:spPr>
              <a:xfrm>
                <a:off x="1991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38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38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36" name="Freeform 138"/>
              <p:cNvSpPr/>
              <p:nvPr/>
            </p:nvSpPr>
            <p:spPr>
              <a:xfrm>
                <a:off x="2229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6" y="1467"/>
                  </a:cxn>
                  <a:cxn ang="0">
                    <a:pos x="0" y="0"/>
                  </a:cxn>
                  <a:cxn ang="0">
                    <a:pos x="92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6" y="1467"/>
                    </a:lnTo>
                    <a:lnTo>
                      <a:pt x="0" y="0"/>
                    </a:lnTo>
                    <a:lnTo>
                      <a:pt x="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37" name="Freeform 139"/>
              <p:cNvSpPr/>
              <p:nvPr/>
            </p:nvSpPr>
            <p:spPr>
              <a:xfrm>
                <a:off x="2581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4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38" name="Freeform 140"/>
              <p:cNvSpPr/>
              <p:nvPr/>
            </p:nvSpPr>
            <p:spPr>
              <a:xfrm>
                <a:off x="2805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6" y="1467"/>
                  </a:cxn>
                  <a:cxn ang="0">
                    <a:pos x="0" y="0"/>
                  </a:cxn>
                  <a:cxn ang="0">
                    <a:pos x="83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6" y="1467"/>
                    </a:lnTo>
                    <a:lnTo>
                      <a:pt x="0" y="0"/>
                    </a:lnTo>
                    <a:lnTo>
                      <a:pt x="8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39" name="Freeform 141"/>
              <p:cNvSpPr/>
              <p:nvPr/>
            </p:nvSpPr>
            <p:spPr>
              <a:xfrm>
                <a:off x="3154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40" name="Freeform 142"/>
              <p:cNvSpPr/>
              <p:nvPr/>
            </p:nvSpPr>
            <p:spPr>
              <a:xfrm>
                <a:off x="3381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6" y="1467"/>
                  </a:cxn>
                  <a:cxn ang="0">
                    <a:pos x="0" y="0"/>
                  </a:cxn>
                  <a:cxn ang="0">
                    <a:pos x="106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6" y="1467"/>
                    </a:lnTo>
                    <a:lnTo>
                      <a:pt x="0" y="0"/>
                    </a:lnTo>
                    <a:lnTo>
                      <a:pt x="10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41" name="Freeform 143"/>
              <p:cNvSpPr/>
              <p:nvPr/>
            </p:nvSpPr>
            <p:spPr>
              <a:xfrm>
                <a:off x="3734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42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42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42" name="Freeform 144"/>
              <p:cNvSpPr/>
              <p:nvPr/>
            </p:nvSpPr>
            <p:spPr>
              <a:xfrm>
                <a:off x="3957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6" y="1467"/>
                  </a:cxn>
                  <a:cxn ang="0">
                    <a:pos x="0" y="0"/>
                  </a:cxn>
                  <a:cxn ang="0">
                    <a:pos x="109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6" y="1467"/>
                    </a:lnTo>
                    <a:lnTo>
                      <a:pt x="0" y="0"/>
                    </a:lnTo>
                    <a:lnTo>
                      <a:pt x="10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43" name="Freeform 145"/>
              <p:cNvSpPr/>
              <p:nvPr/>
            </p:nvSpPr>
            <p:spPr>
              <a:xfrm>
                <a:off x="4304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51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51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44" name="Freeform 146"/>
              <p:cNvSpPr/>
              <p:nvPr/>
            </p:nvSpPr>
            <p:spPr>
              <a:xfrm>
                <a:off x="4533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0" y="1467"/>
                  </a:cxn>
                  <a:cxn ang="0">
                    <a:pos x="0" y="0"/>
                  </a:cxn>
                  <a:cxn ang="0">
                    <a:pos x="95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0" y="1467"/>
                    </a:lnTo>
                    <a:lnTo>
                      <a:pt x="0" y="0"/>
                    </a:lnTo>
                    <a:lnTo>
                      <a:pt x="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45" name="Freeform 147"/>
              <p:cNvSpPr/>
              <p:nvPr/>
            </p:nvSpPr>
            <p:spPr>
              <a:xfrm>
                <a:off x="4885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46" name="Freeform 148"/>
              <p:cNvSpPr/>
              <p:nvPr/>
            </p:nvSpPr>
            <p:spPr>
              <a:xfrm>
                <a:off x="5093" y="1211"/>
                <a:ext cx="159" cy="1469"/>
              </a:xfrm>
              <a:custGeom>
                <a:avLst/>
                <a:gdLst>
                  <a:gd name="txL" fmla="*/ 0 w 159"/>
                  <a:gd name="txT" fmla="*/ 0 h 1469"/>
                  <a:gd name="txR" fmla="*/ 159 w 159"/>
                  <a:gd name="txB" fmla="*/ 1469 h 1469"/>
                </a:gdLst>
                <a:ahLst/>
                <a:cxnLst>
                  <a:cxn ang="0">
                    <a:pos x="159" y="1467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4" y="0"/>
                  </a:cxn>
                </a:cxnLst>
                <a:rect l="txL" t="txT" r="txR" b="txB"/>
                <a:pathLst>
                  <a:path w="159" h="1469">
                    <a:moveTo>
                      <a:pt x="159" y="1467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47" name="Freeform 149"/>
              <p:cNvSpPr/>
              <p:nvPr/>
            </p:nvSpPr>
            <p:spPr>
              <a:xfrm>
                <a:off x="5441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47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47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48" name="Freeform 150"/>
              <p:cNvSpPr/>
              <p:nvPr/>
            </p:nvSpPr>
            <p:spPr>
              <a:xfrm>
                <a:off x="1079" y="2738"/>
                <a:ext cx="730" cy="660"/>
              </a:xfrm>
              <a:custGeom>
                <a:avLst/>
                <a:gdLst>
                  <a:gd name="txL" fmla="*/ 0 w 730"/>
                  <a:gd name="txT" fmla="*/ 0 h 660"/>
                  <a:gd name="txR" fmla="*/ 730 w 730"/>
                  <a:gd name="txB" fmla="*/ 660 h 660"/>
                </a:gdLst>
                <a:ahLst/>
                <a:cxnLst>
                  <a:cxn ang="0">
                    <a:pos x="160" y="4"/>
                  </a:cxn>
                  <a:cxn ang="0">
                    <a:pos x="0" y="3"/>
                  </a:cxn>
                  <a:cxn ang="0">
                    <a:pos x="0" y="660"/>
                  </a:cxn>
                  <a:cxn ang="0">
                    <a:pos x="558" y="657"/>
                  </a:cxn>
                  <a:cxn ang="0">
                    <a:pos x="558" y="0"/>
                  </a:cxn>
                  <a:cxn ang="0">
                    <a:pos x="730" y="1"/>
                  </a:cxn>
                </a:cxnLst>
                <a:rect l="txL" t="txT" r="txR" b="txB"/>
                <a:pathLst>
                  <a:path w="730" h="660">
                    <a:moveTo>
                      <a:pt x="160" y="4"/>
                    </a:moveTo>
                    <a:lnTo>
                      <a:pt x="0" y="3"/>
                    </a:lnTo>
                    <a:lnTo>
                      <a:pt x="0" y="660"/>
                    </a:lnTo>
                    <a:lnTo>
                      <a:pt x="558" y="657"/>
                    </a:lnTo>
                    <a:lnTo>
                      <a:pt x="558" y="0"/>
                    </a:lnTo>
                    <a:lnTo>
                      <a:pt x="73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49" name="Freeform 151"/>
              <p:cNvSpPr/>
              <p:nvPr/>
            </p:nvSpPr>
            <p:spPr>
              <a:xfrm>
                <a:off x="2231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53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85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53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85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50" name="Freeform 152"/>
              <p:cNvSpPr/>
              <p:nvPr/>
            </p:nvSpPr>
            <p:spPr>
              <a:xfrm>
                <a:off x="3380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58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58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51" name="Freeform 153"/>
              <p:cNvSpPr/>
              <p:nvPr/>
            </p:nvSpPr>
            <p:spPr>
              <a:xfrm>
                <a:off x="4532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61" y="2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61" y="2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52" name="Freeform 154"/>
              <p:cNvSpPr/>
              <p:nvPr/>
            </p:nvSpPr>
            <p:spPr>
              <a:xfrm>
                <a:off x="1424" y="2735"/>
                <a:ext cx="708" cy="570"/>
              </a:xfrm>
              <a:custGeom>
                <a:avLst/>
                <a:gdLst>
                  <a:gd name="txL" fmla="*/ 0 w 708"/>
                  <a:gd name="txT" fmla="*/ 0 h 570"/>
                  <a:gd name="txR" fmla="*/ 708 w 708"/>
                  <a:gd name="txB" fmla="*/ 570 h 570"/>
                </a:gdLst>
                <a:ahLst/>
                <a:cxnLst>
                  <a:cxn ang="0">
                    <a:pos x="0" y="0"/>
                  </a:cxn>
                  <a:cxn ang="0">
                    <a:pos x="132" y="0"/>
                  </a:cxn>
                  <a:cxn ang="0">
                    <a:pos x="129" y="570"/>
                  </a:cxn>
                  <a:cxn ang="0">
                    <a:pos x="708" y="570"/>
                  </a:cxn>
                  <a:cxn ang="0">
                    <a:pos x="708" y="9"/>
                  </a:cxn>
                  <a:cxn ang="0">
                    <a:pos x="573" y="9"/>
                  </a:cxn>
                </a:cxnLst>
                <a:rect l="txL" t="txT" r="txR" b="txB"/>
                <a:pathLst>
                  <a:path w="708" h="570">
                    <a:moveTo>
                      <a:pt x="0" y="0"/>
                    </a:moveTo>
                    <a:lnTo>
                      <a:pt x="132" y="0"/>
                    </a:lnTo>
                    <a:lnTo>
                      <a:pt x="129" y="570"/>
                    </a:lnTo>
                    <a:lnTo>
                      <a:pt x="708" y="570"/>
                    </a:lnTo>
                    <a:lnTo>
                      <a:pt x="708" y="9"/>
                    </a:lnTo>
                    <a:lnTo>
                      <a:pt x="573" y="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53" name="Freeform 155"/>
              <p:cNvSpPr/>
              <p:nvPr/>
            </p:nvSpPr>
            <p:spPr>
              <a:xfrm>
                <a:off x="2576" y="2735"/>
                <a:ext cx="726" cy="567"/>
              </a:xfrm>
              <a:custGeom>
                <a:avLst/>
                <a:gdLst>
                  <a:gd name="txL" fmla="*/ 0 w 726"/>
                  <a:gd name="txT" fmla="*/ 0 h 567"/>
                  <a:gd name="txR" fmla="*/ 726 w 726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44" y="0"/>
                  </a:cxn>
                  <a:cxn ang="0">
                    <a:pos x="147" y="567"/>
                  </a:cxn>
                  <a:cxn ang="0">
                    <a:pos x="726" y="567"/>
                  </a:cxn>
                  <a:cxn ang="0">
                    <a:pos x="726" y="6"/>
                  </a:cxn>
                  <a:cxn ang="0">
                    <a:pos x="579" y="6"/>
                  </a:cxn>
                </a:cxnLst>
                <a:rect l="txL" t="txT" r="txR" b="txB"/>
                <a:pathLst>
                  <a:path w="726" h="567">
                    <a:moveTo>
                      <a:pt x="0" y="0"/>
                    </a:moveTo>
                    <a:lnTo>
                      <a:pt x="144" y="0"/>
                    </a:lnTo>
                    <a:lnTo>
                      <a:pt x="147" y="567"/>
                    </a:lnTo>
                    <a:lnTo>
                      <a:pt x="726" y="567"/>
                    </a:lnTo>
                    <a:lnTo>
                      <a:pt x="726" y="6"/>
                    </a:lnTo>
                    <a:lnTo>
                      <a:pt x="579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54" name="Freeform 156"/>
              <p:cNvSpPr/>
              <p:nvPr/>
            </p:nvSpPr>
            <p:spPr>
              <a:xfrm>
                <a:off x="3728" y="2738"/>
                <a:ext cx="714" cy="567"/>
              </a:xfrm>
              <a:custGeom>
                <a:avLst/>
                <a:gdLst>
                  <a:gd name="txL" fmla="*/ 0 w 714"/>
                  <a:gd name="txT" fmla="*/ 0 h 567"/>
                  <a:gd name="txR" fmla="*/ 714 w 714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6" y="1"/>
                  </a:cxn>
                  <a:cxn ang="0">
                    <a:pos x="135" y="567"/>
                  </a:cxn>
                  <a:cxn ang="0">
                    <a:pos x="714" y="567"/>
                  </a:cxn>
                  <a:cxn ang="0">
                    <a:pos x="714" y="6"/>
                  </a:cxn>
                  <a:cxn ang="0">
                    <a:pos x="576" y="5"/>
                  </a:cxn>
                </a:cxnLst>
                <a:rect l="txL" t="txT" r="txR" b="txB"/>
                <a:pathLst>
                  <a:path w="714" h="567">
                    <a:moveTo>
                      <a:pt x="0" y="0"/>
                    </a:moveTo>
                    <a:lnTo>
                      <a:pt x="136" y="1"/>
                    </a:lnTo>
                    <a:lnTo>
                      <a:pt x="135" y="567"/>
                    </a:lnTo>
                    <a:lnTo>
                      <a:pt x="714" y="567"/>
                    </a:lnTo>
                    <a:lnTo>
                      <a:pt x="714" y="6"/>
                    </a:lnTo>
                    <a:lnTo>
                      <a:pt x="576" y="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55" name="Freeform 157"/>
              <p:cNvSpPr/>
              <p:nvPr/>
            </p:nvSpPr>
            <p:spPr>
              <a:xfrm>
                <a:off x="4883" y="2738"/>
                <a:ext cx="711" cy="567"/>
              </a:xfrm>
              <a:custGeom>
                <a:avLst/>
                <a:gdLst>
                  <a:gd name="txL" fmla="*/ 0 w 711"/>
                  <a:gd name="txT" fmla="*/ 0 h 567"/>
                  <a:gd name="txR" fmla="*/ 711 w 711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6" y="1"/>
                  </a:cxn>
                  <a:cxn ang="0">
                    <a:pos x="132" y="567"/>
                  </a:cxn>
                  <a:cxn ang="0">
                    <a:pos x="711" y="567"/>
                  </a:cxn>
                  <a:cxn ang="0">
                    <a:pos x="711" y="6"/>
                  </a:cxn>
                  <a:cxn ang="0">
                    <a:pos x="564" y="6"/>
                  </a:cxn>
                </a:cxnLst>
                <a:rect l="txL" t="txT" r="txR" b="txB"/>
                <a:pathLst>
                  <a:path w="711" h="567">
                    <a:moveTo>
                      <a:pt x="0" y="0"/>
                    </a:moveTo>
                    <a:lnTo>
                      <a:pt x="136" y="1"/>
                    </a:lnTo>
                    <a:lnTo>
                      <a:pt x="132" y="567"/>
                    </a:lnTo>
                    <a:lnTo>
                      <a:pt x="711" y="567"/>
                    </a:lnTo>
                    <a:lnTo>
                      <a:pt x="711" y="6"/>
                    </a:lnTo>
                    <a:lnTo>
                      <a:pt x="564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56" name="Freeform 158"/>
              <p:cNvSpPr/>
              <p:nvPr/>
            </p:nvSpPr>
            <p:spPr>
              <a:xfrm>
                <a:off x="1346" y="3398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57" name="Freeform 159"/>
              <p:cNvSpPr/>
              <p:nvPr/>
            </p:nvSpPr>
            <p:spPr>
              <a:xfrm>
                <a:off x="2515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58" name="Freeform 160"/>
              <p:cNvSpPr/>
              <p:nvPr/>
            </p:nvSpPr>
            <p:spPr>
              <a:xfrm>
                <a:off x="3667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59" name="Freeform 161"/>
              <p:cNvSpPr/>
              <p:nvPr/>
            </p:nvSpPr>
            <p:spPr>
              <a:xfrm>
                <a:off x="4819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60" name="Freeform 162"/>
              <p:cNvSpPr/>
              <p:nvPr/>
            </p:nvSpPr>
            <p:spPr>
              <a:xfrm>
                <a:off x="5300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61" name="Freeform 163"/>
              <p:cNvSpPr/>
              <p:nvPr/>
            </p:nvSpPr>
            <p:spPr>
              <a:xfrm>
                <a:off x="4148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62" name="Freeform 164"/>
              <p:cNvSpPr/>
              <p:nvPr/>
            </p:nvSpPr>
            <p:spPr>
              <a:xfrm>
                <a:off x="2996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63" name="Freeform 165"/>
              <p:cNvSpPr/>
              <p:nvPr/>
            </p:nvSpPr>
            <p:spPr>
              <a:xfrm>
                <a:off x="1843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64" name="Freeform 166"/>
              <p:cNvSpPr/>
              <p:nvPr/>
            </p:nvSpPr>
            <p:spPr>
              <a:xfrm>
                <a:off x="980" y="4025"/>
                <a:ext cx="4317" cy="1"/>
              </a:xfrm>
              <a:custGeom>
                <a:avLst/>
                <a:gdLst>
                  <a:gd name="txL" fmla="*/ 0 w 4317"/>
                  <a:gd name="txT" fmla="*/ 0 h 1"/>
                  <a:gd name="txR" fmla="*/ 4317 w 431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4317" y="0"/>
                  </a:cxn>
                </a:cxnLst>
                <a:rect l="txL" t="txT" r="txR" b="txB"/>
                <a:pathLst>
                  <a:path w="4317" h="1">
                    <a:moveTo>
                      <a:pt x="0" y="0"/>
                    </a:moveTo>
                    <a:lnTo>
                      <a:pt x="431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65" name="Freeform 167"/>
              <p:cNvSpPr/>
              <p:nvPr/>
            </p:nvSpPr>
            <p:spPr>
              <a:xfrm>
                <a:off x="980" y="4121"/>
                <a:ext cx="3837" cy="1"/>
              </a:xfrm>
              <a:custGeom>
                <a:avLst/>
                <a:gdLst>
                  <a:gd name="txL" fmla="*/ 0 w 3837"/>
                  <a:gd name="txT" fmla="*/ 0 h 1"/>
                  <a:gd name="txR" fmla="*/ 3837 w 383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837" y="0"/>
                  </a:cxn>
                </a:cxnLst>
                <a:rect l="txL" t="txT" r="txR" b="txB"/>
                <a:pathLst>
                  <a:path w="3837" h="1">
                    <a:moveTo>
                      <a:pt x="0" y="0"/>
                    </a:moveTo>
                    <a:lnTo>
                      <a:pt x="383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66" name="Freeform 168"/>
              <p:cNvSpPr/>
              <p:nvPr/>
            </p:nvSpPr>
            <p:spPr>
              <a:xfrm>
                <a:off x="1346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67" name="Freeform 169"/>
              <p:cNvSpPr/>
              <p:nvPr/>
            </p:nvSpPr>
            <p:spPr>
              <a:xfrm>
                <a:off x="2515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68" name="Freeform 170"/>
              <p:cNvSpPr/>
              <p:nvPr/>
            </p:nvSpPr>
            <p:spPr>
              <a:xfrm>
                <a:off x="3667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69" name="Freeform 171"/>
              <p:cNvSpPr/>
              <p:nvPr/>
            </p:nvSpPr>
            <p:spPr>
              <a:xfrm>
                <a:off x="4815" y="3881"/>
                <a:ext cx="4" cy="247"/>
              </a:xfrm>
              <a:custGeom>
                <a:avLst/>
                <a:gdLst>
                  <a:gd name="txL" fmla="*/ 0 w 4"/>
                  <a:gd name="txT" fmla="*/ 0 h 247"/>
                  <a:gd name="txR" fmla="*/ 4 w 4"/>
                  <a:gd name="txB" fmla="*/ 247 h 247"/>
                </a:gdLst>
                <a:ahLst/>
                <a:cxnLst>
                  <a:cxn ang="0">
                    <a:pos x="4" y="0"/>
                  </a:cxn>
                  <a:cxn ang="0">
                    <a:pos x="0" y="247"/>
                  </a:cxn>
                </a:cxnLst>
                <a:rect l="txL" t="txT" r="txR" b="txB"/>
                <a:pathLst>
                  <a:path w="4" h="247">
                    <a:moveTo>
                      <a:pt x="4" y="0"/>
                    </a:moveTo>
                    <a:lnTo>
                      <a:pt x="0" y="24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70" name="Freeform 172"/>
              <p:cNvSpPr/>
              <p:nvPr/>
            </p:nvSpPr>
            <p:spPr>
              <a:xfrm>
                <a:off x="5301" y="3881"/>
                <a:ext cx="1" cy="151"/>
              </a:xfrm>
              <a:custGeom>
                <a:avLst/>
                <a:gdLst>
                  <a:gd name="txL" fmla="*/ 0 w 1"/>
                  <a:gd name="txT" fmla="*/ 0 h 151"/>
                  <a:gd name="txR" fmla="*/ 1 w 1"/>
                  <a:gd name="txB" fmla="*/ 151 h 151"/>
                </a:gdLst>
                <a:ahLst/>
                <a:cxnLst>
                  <a:cxn ang="0">
                    <a:pos x="0" y="0"/>
                  </a:cxn>
                  <a:cxn ang="0">
                    <a:pos x="0" y="151"/>
                  </a:cxn>
                </a:cxnLst>
                <a:rect l="txL" t="txT" r="txR" b="txB"/>
                <a:pathLst>
                  <a:path w="1" h="151">
                    <a:moveTo>
                      <a:pt x="0" y="0"/>
                    </a:moveTo>
                    <a:lnTo>
                      <a:pt x="0" y="15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71" name="Line 173"/>
              <p:cNvSpPr/>
              <p:nvPr/>
            </p:nvSpPr>
            <p:spPr>
              <a:xfrm>
                <a:off x="4148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81772" name="Line 174"/>
              <p:cNvSpPr/>
              <p:nvPr/>
            </p:nvSpPr>
            <p:spPr>
              <a:xfrm>
                <a:off x="2997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81773" name="Line 175"/>
              <p:cNvSpPr/>
              <p:nvPr/>
            </p:nvSpPr>
            <p:spPr>
              <a:xfrm>
                <a:off x="1844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81774" name="Rectangle 176"/>
              <p:cNvSpPr/>
              <p:nvPr/>
            </p:nvSpPr>
            <p:spPr>
              <a:xfrm>
                <a:off x="2341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75" name="Text Box 177"/>
              <p:cNvSpPr txBox="1"/>
              <p:nvPr/>
            </p:nvSpPr>
            <p:spPr>
              <a:xfrm>
                <a:off x="2372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76" name="Rectangle 178"/>
              <p:cNvSpPr/>
              <p:nvPr/>
            </p:nvSpPr>
            <p:spPr>
              <a:xfrm>
                <a:off x="3493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77" name="Text Box 179"/>
              <p:cNvSpPr txBox="1"/>
              <p:nvPr/>
            </p:nvSpPr>
            <p:spPr>
              <a:xfrm>
                <a:off x="3524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78" name="Rectangle 180"/>
              <p:cNvSpPr/>
              <p:nvPr/>
            </p:nvSpPr>
            <p:spPr>
              <a:xfrm>
                <a:off x="4645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79" name="Text Box 181"/>
              <p:cNvSpPr txBox="1"/>
              <p:nvPr/>
            </p:nvSpPr>
            <p:spPr>
              <a:xfrm>
                <a:off x="4676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80" name="Line 182"/>
              <p:cNvSpPr/>
              <p:nvPr/>
            </p:nvSpPr>
            <p:spPr>
              <a:xfrm>
                <a:off x="1988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1781" name="Line 183"/>
              <p:cNvSpPr/>
              <p:nvPr/>
            </p:nvSpPr>
            <p:spPr>
              <a:xfrm>
                <a:off x="3168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1782" name="Line 184"/>
              <p:cNvSpPr/>
              <p:nvPr/>
            </p:nvSpPr>
            <p:spPr>
              <a:xfrm>
                <a:off x="4317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1783" name="Line 185"/>
              <p:cNvSpPr/>
              <p:nvPr/>
            </p:nvSpPr>
            <p:spPr>
              <a:xfrm>
                <a:off x="544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1784" name="Freeform 186"/>
              <p:cNvSpPr/>
              <p:nvPr/>
            </p:nvSpPr>
            <p:spPr>
              <a:xfrm>
                <a:off x="3057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85" name="Freeform 187"/>
              <p:cNvSpPr/>
              <p:nvPr/>
            </p:nvSpPr>
            <p:spPr>
              <a:xfrm>
                <a:off x="4209" y="2691"/>
                <a:ext cx="3" cy="522"/>
              </a:xfrm>
              <a:custGeom>
                <a:avLst/>
                <a:gdLst>
                  <a:gd name="txL" fmla="*/ 0 w 3"/>
                  <a:gd name="txT" fmla="*/ 0 h 522"/>
                  <a:gd name="txR" fmla="*/ 3 w 3"/>
                  <a:gd name="txB" fmla="*/ 522 h 522"/>
                </a:gdLst>
                <a:ahLst/>
                <a:cxnLst>
                  <a:cxn ang="0">
                    <a:pos x="0" y="0"/>
                  </a:cxn>
                  <a:cxn ang="0">
                    <a:pos x="3" y="522"/>
                  </a:cxn>
                </a:cxnLst>
                <a:rect l="txL" t="txT" r="txR" b="txB"/>
                <a:pathLst>
                  <a:path w="3" h="522">
                    <a:moveTo>
                      <a:pt x="0" y="0"/>
                    </a:moveTo>
                    <a:lnTo>
                      <a:pt x="3" y="52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86" name="Freeform 188"/>
              <p:cNvSpPr/>
              <p:nvPr/>
            </p:nvSpPr>
            <p:spPr>
              <a:xfrm>
                <a:off x="5349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1787" name="Text Box 189"/>
              <p:cNvSpPr txBox="1"/>
              <p:nvPr/>
            </p:nvSpPr>
            <p:spPr>
              <a:xfrm rot="5400000">
                <a:off x="1199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88" name="Text Box 190"/>
              <p:cNvSpPr txBox="1"/>
              <p:nvPr/>
            </p:nvSpPr>
            <p:spPr>
              <a:xfrm rot="5400000">
                <a:off x="1775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89" name="Text Box 191"/>
              <p:cNvSpPr txBox="1"/>
              <p:nvPr/>
            </p:nvSpPr>
            <p:spPr>
              <a:xfrm rot="5400000">
                <a:off x="2351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90" name="Text Box 192"/>
              <p:cNvSpPr txBox="1"/>
              <p:nvPr/>
            </p:nvSpPr>
            <p:spPr>
              <a:xfrm rot="5400000">
                <a:off x="2927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91" name="Text Box 193"/>
              <p:cNvSpPr txBox="1"/>
              <p:nvPr/>
            </p:nvSpPr>
            <p:spPr>
              <a:xfrm rot="5400000">
                <a:off x="3502" y="1610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92" name="Text Box 194"/>
              <p:cNvSpPr txBox="1"/>
              <p:nvPr/>
            </p:nvSpPr>
            <p:spPr>
              <a:xfrm rot="5400000">
                <a:off x="4079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93" name="Text Box 195"/>
              <p:cNvSpPr txBox="1"/>
              <p:nvPr/>
            </p:nvSpPr>
            <p:spPr>
              <a:xfrm rot="5400000">
                <a:off x="4655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94" name="Text Box 196"/>
              <p:cNvSpPr txBox="1"/>
              <p:nvPr/>
            </p:nvSpPr>
            <p:spPr>
              <a:xfrm rot="5400000">
                <a:off x="5250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95" name="Text Box 197"/>
              <p:cNvSpPr txBox="1"/>
              <p:nvPr/>
            </p:nvSpPr>
            <p:spPr>
              <a:xfrm>
                <a:off x="684" y="791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96" name="Text Box 198"/>
              <p:cNvSpPr txBox="1"/>
              <p:nvPr/>
            </p:nvSpPr>
            <p:spPr>
              <a:xfrm>
                <a:off x="684" y="1383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97" name="Text Box 199"/>
              <p:cNvSpPr txBox="1"/>
              <p:nvPr/>
            </p:nvSpPr>
            <p:spPr>
              <a:xfrm>
                <a:off x="648" y="1959"/>
                <a:ext cx="259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63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798" name="Line 200"/>
              <p:cNvSpPr/>
              <p:nvPr/>
            </p:nvSpPr>
            <p:spPr>
              <a:xfrm>
                <a:off x="356" y="2537"/>
                <a:ext cx="57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799" name="Text Box 201"/>
              <p:cNvSpPr txBox="1"/>
              <p:nvPr/>
            </p:nvSpPr>
            <p:spPr>
              <a:xfrm>
                <a:off x="684" y="2727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00" name="Text Box 202"/>
              <p:cNvSpPr txBox="1"/>
              <p:nvPr/>
            </p:nvSpPr>
            <p:spPr>
              <a:xfrm>
                <a:off x="648" y="3159"/>
                <a:ext cx="259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15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01" name="Text Box 203"/>
              <p:cNvSpPr txBox="1"/>
              <p:nvPr/>
            </p:nvSpPr>
            <p:spPr>
              <a:xfrm rot="5400000">
                <a:off x="671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02" name="Text Box 204"/>
              <p:cNvSpPr txBox="1"/>
              <p:nvPr/>
            </p:nvSpPr>
            <p:spPr>
              <a:xfrm rot="5400000">
                <a:off x="671" y="2859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03" name="Text Box 205"/>
              <p:cNvSpPr txBox="1"/>
              <p:nvPr/>
            </p:nvSpPr>
            <p:spPr>
              <a:xfrm>
                <a:off x="373" y="1015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04" name="Text Box 206"/>
              <p:cNvSpPr txBox="1"/>
              <p:nvPr/>
            </p:nvSpPr>
            <p:spPr>
              <a:xfrm>
                <a:off x="373" y="1263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05" name="Text Box 207"/>
              <p:cNvSpPr txBox="1"/>
              <p:nvPr/>
            </p:nvSpPr>
            <p:spPr>
              <a:xfrm>
                <a:off x="373" y="1511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06" name="Text Box 208"/>
              <p:cNvSpPr txBox="1"/>
              <p:nvPr/>
            </p:nvSpPr>
            <p:spPr>
              <a:xfrm>
                <a:off x="373" y="1758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07" name="Text Box 209"/>
              <p:cNvSpPr txBox="1"/>
              <p:nvPr/>
            </p:nvSpPr>
            <p:spPr>
              <a:xfrm>
                <a:off x="373" y="2006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08" name="Text Box 210"/>
              <p:cNvSpPr txBox="1"/>
              <p:nvPr/>
            </p:nvSpPr>
            <p:spPr>
              <a:xfrm>
                <a:off x="400" y="2635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09" name="Text Box 211"/>
              <p:cNvSpPr txBox="1"/>
              <p:nvPr/>
            </p:nvSpPr>
            <p:spPr>
              <a:xfrm>
                <a:off x="400" y="2883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10" name="Text Box 212"/>
              <p:cNvSpPr txBox="1"/>
              <p:nvPr/>
            </p:nvSpPr>
            <p:spPr>
              <a:xfrm>
                <a:off x="400" y="3131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11" name="Text Box 213"/>
              <p:cNvSpPr txBox="1"/>
              <p:nvPr/>
            </p:nvSpPr>
            <p:spPr>
              <a:xfrm>
                <a:off x="400" y="3378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12" name="Text Box 214"/>
              <p:cNvSpPr txBox="1"/>
              <p:nvPr/>
            </p:nvSpPr>
            <p:spPr>
              <a:xfrm>
                <a:off x="400" y="3626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13" name="Text Box 215"/>
              <p:cNvSpPr txBox="1"/>
              <p:nvPr/>
            </p:nvSpPr>
            <p:spPr>
              <a:xfrm>
                <a:off x="1970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14" name="Text Box 216"/>
              <p:cNvSpPr txBox="1"/>
              <p:nvPr/>
            </p:nvSpPr>
            <p:spPr>
              <a:xfrm>
                <a:off x="3130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15" name="Text Box 217"/>
              <p:cNvSpPr txBox="1"/>
              <p:nvPr/>
            </p:nvSpPr>
            <p:spPr>
              <a:xfrm>
                <a:off x="4282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16" name="Text Box 218"/>
              <p:cNvSpPr txBox="1"/>
              <p:nvPr/>
            </p:nvSpPr>
            <p:spPr>
              <a:xfrm>
                <a:off x="5440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17" name="Line 219"/>
              <p:cNvSpPr/>
              <p:nvPr/>
            </p:nvSpPr>
            <p:spPr>
              <a:xfrm>
                <a:off x="164" y="905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1818" name="Line 220"/>
              <p:cNvSpPr/>
              <p:nvPr/>
            </p:nvSpPr>
            <p:spPr>
              <a:xfrm>
                <a:off x="164" y="116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1819" name="Line 221"/>
              <p:cNvSpPr/>
              <p:nvPr/>
            </p:nvSpPr>
            <p:spPr>
              <a:xfrm>
                <a:off x="164" y="142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1820" name="Line 222"/>
              <p:cNvSpPr/>
              <p:nvPr/>
            </p:nvSpPr>
            <p:spPr>
              <a:xfrm>
                <a:off x="164" y="168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1821" name="Line 223"/>
              <p:cNvSpPr/>
              <p:nvPr/>
            </p:nvSpPr>
            <p:spPr>
              <a:xfrm>
                <a:off x="164" y="194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1822" name="Line 224"/>
              <p:cNvSpPr/>
              <p:nvPr/>
            </p:nvSpPr>
            <p:spPr>
              <a:xfrm>
                <a:off x="164" y="220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1823" name="Line 225"/>
              <p:cNvSpPr/>
              <p:nvPr/>
            </p:nvSpPr>
            <p:spPr>
              <a:xfrm>
                <a:off x="164" y="287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1824" name="Line 226"/>
              <p:cNvSpPr/>
              <p:nvPr/>
            </p:nvSpPr>
            <p:spPr>
              <a:xfrm>
                <a:off x="164" y="313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1825" name="Line 227"/>
              <p:cNvSpPr/>
              <p:nvPr/>
            </p:nvSpPr>
            <p:spPr>
              <a:xfrm>
                <a:off x="164" y="339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1826" name="Line 228"/>
              <p:cNvSpPr/>
              <p:nvPr/>
            </p:nvSpPr>
            <p:spPr>
              <a:xfrm>
                <a:off x="164" y="365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1827" name="Text Box 229"/>
              <p:cNvSpPr txBox="1"/>
              <p:nvPr/>
            </p:nvSpPr>
            <p:spPr>
              <a:xfrm>
                <a:off x="672" y="3890"/>
                <a:ext cx="35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WE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28" name="Line 230"/>
              <p:cNvSpPr/>
              <p:nvPr/>
            </p:nvSpPr>
            <p:spPr>
              <a:xfrm>
                <a:off x="706" y="3923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1829" name="Text Box 231"/>
              <p:cNvSpPr txBox="1"/>
              <p:nvPr/>
            </p:nvSpPr>
            <p:spPr>
              <a:xfrm>
                <a:off x="693" y="4025"/>
                <a:ext cx="32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CS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1830" name="Line 232"/>
              <p:cNvSpPr/>
              <p:nvPr/>
            </p:nvSpPr>
            <p:spPr>
              <a:xfrm>
                <a:off x="750" y="4079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1" name="Group 233"/>
          <p:cNvGrpSpPr/>
          <p:nvPr/>
        </p:nvGrpSpPr>
        <p:grpSpPr>
          <a:xfrm>
            <a:off x="3146425" y="854075"/>
            <a:ext cx="7292975" cy="403225"/>
            <a:chOff x="1022" y="538"/>
            <a:chExt cx="4594" cy="254"/>
          </a:xfrm>
        </p:grpSpPr>
        <p:sp>
          <p:nvSpPr>
            <p:cNvPr id="281608" name="Line 234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1609" name="Freeform 235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1610" name="Line 236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1611" name="Freeform 237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1612" name="Line 238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1613" name="Text Box 239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1614" name="Text Box 240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1615" name="Text Box 241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1616" name="Text Box 242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1617" name="Line 243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1618" name="Line 244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1619" name="Line 245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1620" name="Line 246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1621" name="Line 247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1622" name="Line 248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1623" name="Line 249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1624" name="Line 250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18363" name="Rectangle 25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1605" name="Text Box 252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1606" name="AutoShape 253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160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82626" name="Group 2"/>
          <p:cNvGrpSpPr/>
          <p:nvPr/>
        </p:nvGrpSpPr>
        <p:grpSpPr>
          <a:xfrm>
            <a:off x="1746250" y="1255713"/>
            <a:ext cx="8918575" cy="5532438"/>
            <a:chOff x="140" y="791"/>
            <a:chExt cx="5618" cy="3485"/>
          </a:xfrm>
        </p:grpSpPr>
        <p:sp>
          <p:nvSpPr>
            <p:cNvPr id="282660" name="Rectangle 3"/>
            <p:cNvSpPr/>
            <p:nvPr/>
          </p:nvSpPr>
          <p:spPr>
            <a:xfrm>
              <a:off x="332" y="2181"/>
              <a:ext cx="576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61" name="Rectangle 4"/>
            <p:cNvSpPr/>
            <p:nvPr/>
          </p:nvSpPr>
          <p:spPr>
            <a:xfrm>
              <a:off x="1728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62" name="Text Box 5"/>
            <p:cNvSpPr txBox="1"/>
            <p:nvPr/>
          </p:nvSpPr>
          <p:spPr>
            <a:xfrm>
              <a:off x="140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63" name="Rectangle 6"/>
            <p:cNvSpPr/>
            <p:nvPr/>
          </p:nvSpPr>
          <p:spPr>
            <a:xfrm>
              <a:off x="1152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64" name="Rectangle 7"/>
            <p:cNvSpPr/>
            <p:nvPr/>
          </p:nvSpPr>
          <p:spPr>
            <a:xfrm>
              <a:off x="2869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65" name="Text Box 8"/>
            <p:cNvSpPr txBox="1"/>
            <p:nvPr/>
          </p:nvSpPr>
          <p:spPr>
            <a:xfrm>
              <a:off x="2549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66" name="Rectangle 9"/>
            <p:cNvSpPr/>
            <p:nvPr/>
          </p:nvSpPr>
          <p:spPr>
            <a:xfrm>
              <a:off x="2293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67" name="Rectangle 10"/>
            <p:cNvSpPr/>
            <p:nvPr/>
          </p:nvSpPr>
          <p:spPr>
            <a:xfrm>
              <a:off x="4044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68" name="Text Box 11"/>
            <p:cNvSpPr txBox="1"/>
            <p:nvPr/>
          </p:nvSpPr>
          <p:spPr>
            <a:xfrm>
              <a:off x="3724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69" name="Rectangle 12"/>
            <p:cNvSpPr/>
            <p:nvPr/>
          </p:nvSpPr>
          <p:spPr>
            <a:xfrm>
              <a:off x="3468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70" name="Rectangle 13"/>
            <p:cNvSpPr/>
            <p:nvPr/>
          </p:nvSpPr>
          <p:spPr>
            <a:xfrm>
              <a:off x="5180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71" name="Text Box 14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72" name="Rectangle 15"/>
            <p:cNvSpPr/>
            <p:nvPr/>
          </p:nvSpPr>
          <p:spPr>
            <a:xfrm>
              <a:off x="4604" y="1025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73" name="Rectangle 16"/>
            <p:cNvSpPr/>
            <p:nvPr/>
          </p:nvSpPr>
          <p:spPr>
            <a:xfrm>
              <a:off x="1728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74" name="Rectangle 17"/>
            <p:cNvSpPr/>
            <p:nvPr/>
          </p:nvSpPr>
          <p:spPr>
            <a:xfrm>
              <a:off x="1152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75" name="Rectangle 18"/>
            <p:cNvSpPr/>
            <p:nvPr/>
          </p:nvSpPr>
          <p:spPr>
            <a:xfrm>
              <a:off x="2869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76" name="Rectangle 19"/>
            <p:cNvSpPr/>
            <p:nvPr/>
          </p:nvSpPr>
          <p:spPr>
            <a:xfrm>
              <a:off x="2293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77" name="Rectangle 20"/>
            <p:cNvSpPr/>
            <p:nvPr/>
          </p:nvSpPr>
          <p:spPr>
            <a:xfrm>
              <a:off x="4044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78" name="Rectangle 21"/>
            <p:cNvSpPr/>
            <p:nvPr/>
          </p:nvSpPr>
          <p:spPr>
            <a:xfrm>
              <a:off x="3468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79" name="Rectangle 22"/>
            <p:cNvSpPr/>
            <p:nvPr/>
          </p:nvSpPr>
          <p:spPr>
            <a:xfrm>
              <a:off x="5180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63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80" name="Rectangle 23"/>
            <p:cNvSpPr/>
            <p:nvPr/>
          </p:nvSpPr>
          <p:spPr>
            <a:xfrm>
              <a:off x="4604" y="2226"/>
              <a:ext cx="288" cy="251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81" name="Line 24"/>
            <p:cNvSpPr/>
            <p:nvPr/>
          </p:nvSpPr>
          <p:spPr>
            <a:xfrm rot="5400000">
              <a:off x="1325" y="2712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82" name="Line 25"/>
            <p:cNvSpPr/>
            <p:nvPr/>
          </p:nvSpPr>
          <p:spPr>
            <a:xfrm rot="5400000">
              <a:off x="1308" y="271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83" name="Freeform 26"/>
            <p:cNvSpPr/>
            <p:nvPr/>
          </p:nvSpPr>
          <p:spPr>
            <a:xfrm>
              <a:off x="1260" y="2709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84" name="Line 27"/>
            <p:cNvSpPr/>
            <p:nvPr/>
          </p:nvSpPr>
          <p:spPr>
            <a:xfrm rot="-5400000">
              <a:off x="1133" y="2712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85" name="Line 28"/>
            <p:cNvSpPr/>
            <p:nvPr/>
          </p:nvSpPr>
          <p:spPr>
            <a:xfrm rot="-5400000">
              <a:off x="1212" y="2714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86" name="Freeform 29"/>
            <p:cNvSpPr/>
            <p:nvPr/>
          </p:nvSpPr>
          <p:spPr>
            <a:xfrm>
              <a:off x="1434" y="2353"/>
              <a:ext cx="112" cy="1"/>
            </a:xfrm>
            <a:custGeom>
              <a:avLst/>
              <a:gdLst>
                <a:gd name="txL" fmla="*/ 0 w 112"/>
                <a:gd name="txT" fmla="*/ 0 h 1"/>
                <a:gd name="txR" fmla="*/ 112 w 11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2" y="0"/>
                </a:cxn>
              </a:cxnLst>
              <a:rect l="txL" t="txT" r="txR" b="txB"/>
              <a:pathLst>
                <a:path w="112" h="1">
                  <a:moveTo>
                    <a:pt x="0" y="0"/>
                  </a:moveTo>
                  <a:lnTo>
                    <a:pt x="11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87" name="Freeform 30"/>
            <p:cNvSpPr/>
            <p:nvPr/>
          </p:nvSpPr>
          <p:spPr>
            <a:xfrm>
              <a:off x="1059" y="1209"/>
              <a:ext cx="152" cy="1469"/>
            </a:xfrm>
            <a:custGeom>
              <a:avLst/>
              <a:gdLst>
                <a:gd name="txL" fmla="*/ 0 w 152"/>
                <a:gd name="txT" fmla="*/ 0 h 1469"/>
                <a:gd name="txR" fmla="*/ 152 w 152"/>
                <a:gd name="txB" fmla="*/ 1469 h 1469"/>
              </a:gdLst>
              <a:ahLst/>
              <a:cxnLst>
                <a:cxn ang="0">
                  <a:pos x="152" y="1469"/>
                </a:cxn>
                <a:cxn ang="0">
                  <a:pos x="0" y="1469"/>
                </a:cxn>
                <a:cxn ang="0">
                  <a:pos x="0" y="0"/>
                </a:cxn>
                <a:cxn ang="0">
                  <a:pos x="95" y="1"/>
                </a:cxn>
              </a:cxnLst>
              <a:rect l="txL" t="txT" r="txR" b="txB"/>
              <a:pathLst>
                <a:path w="152" h="1469">
                  <a:moveTo>
                    <a:pt x="152" y="1469"/>
                  </a:moveTo>
                  <a:lnTo>
                    <a:pt x="0" y="1469"/>
                  </a:lnTo>
                  <a:lnTo>
                    <a:pt x="0" y="0"/>
                  </a:lnTo>
                  <a:lnTo>
                    <a:pt x="95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88" name="Freeform 31"/>
            <p:cNvSpPr/>
            <p:nvPr/>
          </p:nvSpPr>
          <p:spPr>
            <a:xfrm>
              <a:off x="1055" y="2353"/>
              <a:ext cx="102" cy="1"/>
            </a:xfrm>
            <a:custGeom>
              <a:avLst/>
              <a:gdLst>
                <a:gd name="txL" fmla="*/ 0 w 102"/>
                <a:gd name="txT" fmla="*/ 0 h 1"/>
                <a:gd name="txR" fmla="*/ 102 w 102"/>
                <a:gd name="txB" fmla="*/ 1 h 1"/>
              </a:gdLst>
              <a:ahLst/>
              <a:cxnLst>
                <a:cxn ang="0">
                  <a:pos x="102" y="0"/>
                </a:cxn>
                <a:cxn ang="0">
                  <a:pos x="0" y="0"/>
                </a:cxn>
              </a:cxnLst>
              <a:rect l="txL" t="txT" r="txR" b="txB"/>
              <a:pathLst>
                <a:path w="102" h="1">
                  <a:moveTo>
                    <a:pt x="102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89" name="Line 32"/>
            <p:cNvSpPr/>
            <p:nvPr/>
          </p:nvSpPr>
          <p:spPr>
            <a:xfrm rot="5400000">
              <a:off x="1896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90" name="Line 33"/>
            <p:cNvSpPr/>
            <p:nvPr/>
          </p:nvSpPr>
          <p:spPr>
            <a:xfrm rot="5400000">
              <a:off x="1879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91" name="Freeform 34"/>
            <p:cNvSpPr/>
            <p:nvPr/>
          </p:nvSpPr>
          <p:spPr>
            <a:xfrm>
              <a:off x="1831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92" name="Line 35"/>
            <p:cNvSpPr/>
            <p:nvPr/>
          </p:nvSpPr>
          <p:spPr>
            <a:xfrm rot="-5400000">
              <a:off x="1704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93" name="Line 36"/>
            <p:cNvSpPr/>
            <p:nvPr/>
          </p:nvSpPr>
          <p:spPr>
            <a:xfrm rot="-5400000">
              <a:off x="1783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94" name="Freeform 37"/>
            <p:cNvSpPr/>
            <p:nvPr/>
          </p:nvSpPr>
          <p:spPr>
            <a:xfrm>
              <a:off x="2005" y="2353"/>
              <a:ext cx="103" cy="1"/>
            </a:xfrm>
            <a:custGeom>
              <a:avLst/>
              <a:gdLst>
                <a:gd name="txL" fmla="*/ 0 w 103"/>
                <a:gd name="txT" fmla="*/ 0 h 1"/>
                <a:gd name="txR" fmla="*/ 103 w 10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3" y="0"/>
                </a:cxn>
              </a:cxnLst>
              <a:rect l="txL" t="txT" r="txR" b="txB"/>
              <a:pathLst>
                <a:path w="103" h="1">
                  <a:moveTo>
                    <a:pt x="0" y="0"/>
                  </a:moveTo>
                  <a:lnTo>
                    <a:pt x="10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95" name="Freeform 38"/>
            <p:cNvSpPr/>
            <p:nvPr/>
          </p:nvSpPr>
          <p:spPr>
            <a:xfrm>
              <a:off x="1611" y="2352"/>
              <a:ext cx="113" cy="1"/>
            </a:xfrm>
            <a:custGeom>
              <a:avLst/>
              <a:gdLst>
                <a:gd name="txL" fmla="*/ 0 w 113"/>
                <a:gd name="txT" fmla="*/ 0 h 1"/>
                <a:gd name="txR" fmla="*/ 113 w 113"/>
                <a:gd name="txB" fmla="*/ 1 h 1"/>
              </a:gdLst>
              <a:ahLst/>
              <a:cxnLst>
                <a:cxn ang="0">
                  <a:pos x="113" y="1"/>
                </a:cxn>
                <a:cxn ang="0">
                  <a:pos x="0" y="0"/>
                </a:cxn>
              </a:cxnLst>
              <a:rect l="txL" t="txT" r="txR" b="txB"/>
              <a:pathLst>
                <a:path w="113" h="1">
                  <a:moveTo>
                    <a:pt x="113" y="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96" name="Line 39"/>
            <p:cNvSpPr/>
            <p:nvPr/>
          </p:nvSpPr>
          <p:spPr>
            <a:xfrm rot="5400000">
              <a:off x="2477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97" name="Line 40"/>
            <p:cNvSpPr/>
            <p:nvPr/>
          </p:nvSpPr>
          <p:spPr>
            <a:xfrm rot="5400000">
              <a:off x="2460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698" name="Freeform 41"/>
            <p:cNvSpPr/>
            <p:nvPr/>
          </p:nvSpPr>
          <p:spPr>
            <a:xfrm>
              <a:off x="2412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99" name="Line 42"/>
            <p:cNvSpPr/>
            <p:nvPr/>
          </p:nvSpPr>
          <p:spPr>
            <a:xfrm rot="-5400000">
              <a:off x="2285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00" name="Line 43"/>
            <p:cNvSpPr/>
            <p:nvPr/>
          </p:nvSpPr>
          <p:spPr>
            <a:xfrm rot="-5400000">
              <a:off x="2364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01" name="Freeform 44"/>
            <p:cNvSpPr/>
            <p:nvPr/>
          </p:nvSpPr>
          <p:spPr>
            <a:xfrm>
              <a:off x="2586" y="2353"/>
              <a:ext cx="109" cy="1"/>
            </a:xfrm>
            <a:custGeom>
              <a:avLst/>
              <a:gdLst>
                <a:gd name="txL" fmla="*/ 0 w 109"/>
                <a:gd name="txT" fmla="*/ 0 h 1"/>
                <a:gd name="txR" fmla="*/ 109 w 10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9" y="0"/>
                </a:cxn>
              </a:cxnLst>
              <a:rect l="txL" t="txT" r="txR" b="txB"/>
              <a:pathLst>
                <a:path w="109" h="1">
                  <a:moveTo>
                    <a:pt x="0" y="0"/>
                  </a:moveTo>
                  <a:lnTo>
                    <a:pt x="10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02" name="Freeform 45"/>
            <p:cNvSpPr/>
            <p:nvPr/>
          </p:nvSpPr>
          <p:spPr>
            <a:xfrm>
              <a:off x="2207" y="2353"/>
              <a:ext cx="89" cy="1"/>
            </a:xfrm>
            <a:custGeom>
              <a:avLst/>
              <a:gdLst>
                <a:gd name="txL" fmla="*/ 0 w 89"/>
                <a:gd name="txT" fmla="*/ 0 h 1"/>
                <a:gd name="txR" fmla="*/ 89 w 89"/>
                <a:gd name="txB" fmla="*/ 1 h 1"/>
              </a:gdLst>
              <a:ahLst/>
              <a:cxnLst>
                <a:cxn ang="0">
                  <a:pos x="89" y="0"/>
                </a:cxn>
                <a:cxn ang="0">
                  <a:pos x="0" y="0"/>
                </a:cxn>
              </a:cxnLst>
              <a:rect l="txL" t="txT" r="txR" b="txB"/>
              <a:pathLst>
                <a:path w="89" h="1">
                  <a:moveTo>
                    <a:pt x="89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03" name="Line 46"/>
            <p:cNvSpPr/>
            <p:nvPr/>
          </p:nvSpPr>
          <p:spPr>
            <a:xfrm rot="5400000">
              <a:off x="3053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04" name="Line 47"/>
            <p:cNvSpPr/>
            <p:nvPr/>
          </p:nvSpPr>
          <p:spPr>
            <a:xfrm rot="5400000">
              <a:off x="3036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05" name="Freeform 48"/>
            <p:cNvSpPr/>
            <p:nvPr/>
          </p:nvSpPr>
          <p:spPr>
            <a:xfrm>
              <a:off x="2988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06" name="Line 49"/>
            <p:cNvSpPr/>
            <p:nvPr/>
          </p:nvSpPr>
          <p:spPr>
            <a:xfrm rot="-5400000">
              <a:off x="2861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07" name="Line 50"/>
            <p:cNvSpPr/>
            <p:nvPr/>
          </p:nvSpPr>
          <p:spPr>
            <a:xfrm rot="-5400000">
              <a:off x="2940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08" name="Freeform 51"/>
            <p:cNvSpPr/>
            <p:nvPr/>
          </p:nvSpPr>
          <p:spPr>
            <a:xfrm>
              <a:off x="3162" y="2353"/>
              <a:ext cx="115" cy="1"/>
            </a:xfrm>
            <a:custGeom>
              <a:avLst/>
              <a:gdLst>
                <a:gd name="txL" fmla="*/ 0 w 115"/>
                <a:gd name="txT" fmla="*/ 0 h 1"/>
                <a:gd name="txR" fmla="*/ 115 w 11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15" y="0"/>
                </a:cxn>
              </a:cxnLst>
              <a:rect l="txL" t="txT" r="txR" b="txB"/>
              <a:pathLst>
                <a:path w="115" h="1">
                  <a:moveTo>
                    <a:pt x="0" y="0"/>
                  </a:moveTo>
                  <a:lnTo>
                    <a:pt x="11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09" name="Freeform 52"/>
            <p:cNvSpPr/>
            <p:nvPr/>
          </p:nvSpPr>
          <p:spPr>
            <a:xfrm>
              <a:off x="2783" y="2353"/>
              <a:ext cx="90" cy="1"/>
            </a:xfrm>
            <a:custGeom>
              <a:avLst/>
              <a:gdLst>
                <a:gd name="txL" fmla="*/ 0 w 90"/>
                <a:gd name="txT" fmla="*/ 0 h 1"/>
                <a:gd name="txR" fmla="*/ 90 w 90"/>
                <a:gd name="txB" fmla="*/ 1 h 1"/>
              </a:gdLst>
              <a:ahLst/>
              <a:cxnLst>
                <a:cxn ang="0">
                  <a:pos x="90" y="0"/>
                </a:cxn>
                <a:cxn ang="0">
                  <a:pos x="0" y="0"/>
                </a:cxn>
              </a:cxnLst>
              <a:rect l="txL" t="txT" r="txR" b="txB"/>
              <a:pathLst>
                <a:path w="90" h="1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10" name="Line 53"/>
            <p:cNvSpPr/>
            <p:nvPr/>
          </p:nvSpPr>
          <p:spPr>
            <a:xfrm rot="5400000">
              <a:off x="3629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11" name="Line 54"/>
            <p:cNvSpPr/>
            <p:nvPr/>
          </p:nvSpPr>
          <p:spPr>
            <a:xfrm rot="5400000">
              <a:off x="3612" y="2711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12" name="Freeform 55"/>
            <p:cNvSpPr/>
            <p:nvPr/>
          </p:nvSpPr>
          <p:spPr>
            <a:xfrm>
              <a:off x="3564" y="2710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13" name="Line 56"/>
            <p:cNvSpPr/>
            <p:nvPr/>
          </p:nvSpPr>
          <p:spPr>
            <a:xfrm rot="-5400000">
              <a:off x="3437" y="2713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14" name="Line 57"/>
            <p:cNvSpPr/>
            <p:nvPr/>
          </p:nvSpPr>
          <p:spPr>
            <a:xfrm rot="-5400000">
              <a:off x="3516" y="2715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15" name="Freeform 58"/>
            <p:cNvSpPr/>
            <p:nvPr/>
          </p:nvSpPr>
          <p:spPr>
            <a:xfrm>
              <a:off x="3751" y="2352"/>
              <a:ext cx="100" cy="1"/>
            </a:xfrm>
            <a:custGeom>
              <a:avLst/>
              <a:gdLst>
                <a:gd name="txL" fmla="*/ 0 w 100"/>
                <a:gd name="txT" fmla="*/ 0 h 1"/>
                <a:gd name="txR" fmla="*/ 100 w 10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0" y="1"/>
                </a:cxn>
              </a:cxnLst>
              <a:rect l="txL" t="txT" r="txR" b="txB"/>
              <a:pathLst>
                <a:path w="100" h="1">
                  <a:moveTo>
                    <a:pt x="0" y="0"/>
                  </a:moveTo>
                  <a:lnTo>
                    <a:pt x="10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16" name="Freeform 59"/>
            <p:cNvSpPr/>
            <p:nvPr/>
          </p:nvSpPr>
          <p:spPr>
            <a:xfrm>
              <a:off x="3359" y="2353"/>
              <a:ext cx="108" cy="1"/>
            </a:xfrm>
            <a:custGeom>
              <a:avLst/>
              <a:gdLst>
                <a:gd name="txL" fmla="*/ 0 w 108"/>
                <a:gd name="txT" fmla="*/ 0 h 1"/>
                <a:gd name="txR" fmla="*/ 108 w 108"/>
                <a:gd name="txB" fmla="*/ 1 h 1"/>
              </a:gdLst>
              <a:ahLst/>
              <a:cxnLst>
                <a:cxn ang="0">
                  <a:pos x="108" y="0"/>
                </a:cxn>
                <a:cxn ang="0">
                  <a:pos x="0" y="0"/>
                </a:cxn>
              </a:cxnLst>
              <a:rect l="txL" t="txT" r="txR" b="txB"/>
              <a:pathLst>
                <a:path w="108" h="1">
                  <a:moveTo>
                    <a:pt x="108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17" name="Line 60"/>
            <p:cNvSpPr/>
            <p:nvPr/>
          </p:nvSpPr>
          <p:spPr>
            <a:xfrm rot="5400000">
              <a:off x="4205" y="2698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18" name="Line 61"/>
            <p:cNvSpPr/>
            <p:nvPr/>
          </p:nvSpPr>
          <p:spPr>
            <a:xfrm rot="5400000">
              <a:off x="4188" y="2696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19" name="Freeform 62"/>
            <p:cNvSpPr/>
            <p:nvPr/>
          </p:nvSpPr>
          <p:spPr>
            <a:xfrm>
              <a:off x="4140" y="2695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96" y="0"/>
                </a:cxn>
              </a:cxnLst>
              <a:rect l="txL" t="txT" r="txR" b="txB"/>
              <a:pathLst>
                <a:path w="96" h="2">
                  <a:moveTo>
                    <a:pt x="0" y="2"/>
                  </a:move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20" name="Line 63"/>
            <p:cNvSpPr/>
            <p:nvPr/>
          </p:nvSpPr>
          <p:spPr>
            <a:xfrm rot="-5400000">
              <a:off x="4013" y="2698"/>
              <a:ext cx="15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21" name="Line 64"/>
            <p:cNvSpPr/>
            <p:nvPr/>
          </p:nvSpPr>
          <p:spPr>
            <a:xfrm rot="-5400000">
              <a:off x="4092" y="2700"/>
              <a:ext cx="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722" name="Freeform 65"/>
            <p:cNvSpPr/>
            <p:nvPr/>
          </p:nvSpPr>
          <p:spPr>
            <a:xfrm>
              <a:off x="4336" y="2351"/>
              <a:ext cx="90" cy="2"/>
            </a:xfrm>
            <a:custGeom>
              <a:avLst/>
              <a:gdLst>
                <a:gd name="txL" fmla="*/ 0 w 90"/>
                <a:gd name="txT" fmla="*/ 0 h 2"/>
                <a:gd name="txR" fmla="*/ 90 w 90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90" y="2"/>
                </a:cxn>
              </a:cxnLst>
              <a:rect l="txL" t="txT" r="txR" b="txB"/>
              <a:pathLst>
                <a:path w="90" h="2">
                  <a:moveTo>
                    <a:pt x="0" y="0"/>
                  </a:moveTo>
                  <a:lnTo>
                    <a:pt x="90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23" name="Freeform 66"/>
            <p:cNvSpPr/>
            <p:nvPr/>
          </p:nvSpPr>
          <p:spPr>
            <a:xfrm>
              <a:off x="3935" y="2353"/>
              <a:ext cx="104" cy="1"/>
            </a:xfrm>
            <a:custGeom>
              <a:avLst/>
              <a:gdLst>
                <a:gd name="txL" fmla="*/ 0 w 104"/>
                <a:gd name="txT" fmla="*/ 0 h 1"/>
                <a:gd name="txR" fmla="*/ 104 w 104"/>
                <a:gd name="txB" fmla="*/ 1 h 1"/>
              </a:gdLst>
              <a:ahLst/>
              <a:cxnLst>
                <a:cxn ang="0">
                  <a:pos x="104" y="0"/>
                </a:cxn>
                <a:cxn ang="0">
                  <a:pos x="0" y="0"/>
                </a:cxn>
              </a:cxnLst>
              <a:rect l="txL" t="txT" r="txR" b="txB"/>
              <a:pathLst>
                <a:path w="104" h="1">
                  <a:moveTo>
                    <a:pt x="104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82724" name="Group 67"/>
            <p:cNvGrpSpPr/>
            <p:nvPr/>
          </p:nvGrpSpPr>
          <p:grpSpPr>
            <a:xfrm>
              <a:off x="4668" y="2634"/>
              <a:ext cx="192" cy="158"/>
              <a:chOff x="4692" y="2634"/>
              <a:chExt cx="192" cy="158"/>
            </a:xfrm>
          </p:grpSpPr>
          <p:grpSp>
            <p:nvGrpSpPr>
              <p:cNvPr id="282871" name="Group 68"/>
              <p:cNvGrpSpPr/>
              <p:nvPr/>
            </p:nvGrpSpPr>
            <p:grpSpPr>
              <a:xfrm>
                <a:off x="4836" y="2634"/>
                <a:ext cx="48" cy="158"/>
                <a:chOff x="4836" y="2634"/>
                <a:chExt cx="48" cy="158"/>
              </a:xfrm>
            </p:grpSpPr>
            <p:sp>
              <p:nvSpPr>
                <p:cNvPr id="282876" name="Line 69"/>
                <p:cNvSpPr/>
                <p:nvPr/>
              </p:nvSpPr>
              <p:spPr>
                <a:xfrm rot="5400000">
                  <a:off x="4805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2877" name="Line 70"/>
                <p:cNvSpPr/>
                <p:nvPr/>
              </p:nvSpPr>
              <p:spPr>
                <a:xfrm rot="5400000">
                  <a:off x="4788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2872" name="Freeform 71"/>
              <p:cNvSpPr/>
              <p:nvPr/>
            </p:nvSpPr>
            <p:spPr>
              <a:xfrm>
                <a:off x="4740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2873" name="Group 72"/>
              <p:cNvGrpSpPr/>
              <p:nvPr/>
            </p:nvGrpSpPr>
            <p:grpSpPr>
              <a:xfrm>
                <a:off x="4692" y="2634"/>
                <a:ext cx="48" cy="158"/>
                <a:chOff x="4692" y="2634"/>
                <a:chExt cx="48" cy="158"/>
              </a:xfrm>
            </p:grpSpPr>
            <p:sp>
              <p:nvSpPr>
                <p:cNvPr id="282874" name="Line 73"/>
                <p:cNvSpPr/>
                <p:nvPr/>
              </p:nvSpPr>
              <p:spPr>
                <a:xfrm rot="-5400000">
                  <a:off x="4613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2875" name="Line 74"/>
                <p:cNvSpPr/>
                <p:nvPr/>
              </p:nvSpPr>
              <p:spPr>
                <a:xfrm rot="-5400000">
                  <a:off x="4692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82725" name="Freeform 75"/>
            <p:cNvSpPr/>
            <p:nvPr/>
          </p:nvSpPr>
          <p:spPr>
            <a:xfrm>
              <a:off x="4890" y="2353"/>
              <a:ext cx="107" cy="1"/>
            </a:xfrm>
            <a:custGeom>
              <a:avLst/>
              <a:gdLst>
                <a:gd name="txL" fmla="*/ 0 w 107"/>
                <a:gd name="txT" fmla="*/ 0 h 1"/>
                <a:gd name="txR" fmla="*/ 107 w 10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7" y="0"/>
                </a:cxn>
              </a:cxnLst>
              <a:rect l="txL" t="txT" r="txR" b="txB"/>
              <a:pathLst>
                <a:path w="107" h="1">
                  <a:moveTo>
                    <a:pt x="0" y="0"/>
                  </a:moveTo>
                  <a:lnTo>
                    <a:pt x="10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26" name="Freeform 76"/>
            <p:cNvSpPr/>
            <p:nvPr/>
          </p:nvSpPr>
          <p:spPr>
            <a:xfrm>
              <a:off x="4511" y="2353"/>
              <a:ext cx="96" cy="1"/>
            </a:xfrm>
            <a:custGeom>
              <a:avLst/>
              <a:gdLst>
                <a:gd name="txL" fmla="*/ 0 w 96"/>
                <a:gd name="txT" fmla="*/ 0 h 1"/>
                <a:gd name="txR" fmla="*/ 96 w 96"/>
                <a:gd name="txB" fmla="*/ 1 h 1"/>
              </a:gdLst>
              <a:ahLst/>
              <a:cxnLst>
                <a:cxn ang="0">
                  <a:pos x="96" y="0"/>
                </a:cxn>
                <a:cxn ang="0">
                  <a:pos x="0" y="0"/>
                </a:cxn>
              </a:cxnLst>
              <a:rect l="txL" t="txT" r="txR" b="txB"/>
              <a:pathLst>
                <a:path w="96" h="1">
                  <a:moveTo>
                    <a:pt x="96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82727" name="Group 77"/>
            <p:cNvGrpSpPr/>
            <p:nvPr/>
          </p:nvGrpSpPr>
          <p:grpSpPr>
            <a:xfrm>
              <a:off x="5235" y="2634"/>
              <a:ext cx="192" cy="158"/>
              <a:chOff x="5259" y="2634"/>
              <a:chExt cx="192" cy="158"/>
            </a:xfrm>
          </p:grpSpPr>
          <p:grpSp>
            <p:nvGrpSpPr>
              <p:cNvPr id="282864" name="Group 78"/>
              <p:cNvGrpSpPr/>
              <p:nvPr/>
            </p:nvGrpSpPr>
            <p:grpSpPr>
              <a:xfrm>
                <a:off x="5403" y="2634"/>
                <a:ext cx="48" cy="158"/>
                <a:chOff x="5403" y="2634"/>
                <a:chExt cx="48" cy="158"/>
              </a:xfrm>
            </p:grpSpPr>
            <p:sp>
              <p:nvSpPr>
                <p:cNvPr id="282869" name="Line 79"/>
                <p:cNvSpPr/>
                <p:nvPr/>
              </p:nvSpPr>
              <p:spPr>
                <a:xfrm rot="5400000">
                  <a:off x="5372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2870" name="Line 80"/>
                <p:cNvSpPr/>
                <p:nvPr/>
              </p:nvSpPr>
              <p:spPr>
                <a:xfrm rot="5400000">
                  <a:off x="5355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2865" name="Freeform 81"/>
              <p:cNvSpPr/>
              <p:nvPr/>
            </p:nvSpPr>
            <p:spPr>
              <a:xfrm>
                <a:off x="5307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2866" name="Group 82"/>
              <p:cNvGrpSpPr/>
              <p:nvPr/>
            </p:nvGrpSpPr>
            <p:grpSpPr>
              <a:xfrm>
                <a:off x="5259" y="2634"/>
                <a:ext cx="48" cy="158"/>
                <a:chOff x="5259" y="2634"/>
                <a:chExt cx="48" cy="158"/>
              </a:xfrm>
            </p:grpSpPr>
            <p:sp>
              <p:nvSpPr>
                <p:cNvPr id="282867" name="Line 83"/>
                <p:cNvSpPr/>
                <p:nvPr/>
              </p:nvSpPr>
              <p:spPr>
                <a:xfrm rot="-5400000">
                  <a:off x="5180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2868" name="Line 84"/>
                <p:cNvSpPr/>
                <p:nvPr/>
              </p:nvSpPr>
              <p:spPr>
                <a:xfrm rot="-5400000">
                  <a:off x="5259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282728" name="Freeform 85"/>
            <p:cNvSpPr/>
            <p:nvPr/>
          </p:nvSpPr>
          <p:spPr>
            <a:xfrm>
              <a:off x="5467" y="2351"/>
              <a:ext cx="96" cy="2"/>
            </a:xfrm>
            <a:custGeom>
              <a:avLst/>
              <a:gdLst>
                <a:gd name="txL" fmla="*/ 0 w 96"/>
                <a:gd name="txT" fmla="*/ 0 h 2"/>
                <a:gd name="txR" fmla="*/ 96 w 96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96" y="2"/>
                </a:cxn>
              </a:cxnLst>
              <a:rect l="txL" t="txT" r="txR" b="txB"/>
              <a:pathLst>
                <a:path w="96" h="2">
                  <a:moveTo>
                    <a:pt x="0" y="0"/>
                  </a:moveTo>
                  <a:lnTo>
                    <a:pt x="96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29" name="Freeform 86"/>
            <p:cNvSpPr/>
            <p:nvPr/>
          </p:nvSpPr>
          <p:spPr>
            <a:xfrm>
              <a:off x="5078" y="2353"/>
              <a:ext cx="101" cy="1"/>
            </a:xfrm>
            <a:custGeom>
              <a:avLst/>
              <a:gdLst>
                <a:gd name="txL" fmla="*/ 0 w 101"/>
                <a:gd name="txT" fmla="*/ 0 h 1"/>
                <a:gd name="txR" fmla="*/ 101 w 101"/>
                <a:gd name="txB" fmla="*/ 1 h 1"/>
              </a:gdLst>
              <a:ahLst/>
              <a:cxnLst>
                <a:cxn ang="0">
                  <a:pos x="101" y="0"/>
                </a:cxn>
                <a:cxn ang="0">
                  <a:pos x="0" y="0"/>
                </a:cxn>
              </a:cxnLst>
              <a:rect l="txL" t="txT" r="txR" b="txB"/>
              <a:pathLst>
                <a:path w="101" h="1">
                  <a:moveTo>
                    <a:pt x="101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30" name="Freeform 87"/>
            <p:cNvSpPr/>
            <p:nvPr/>
          </p:nvSpPr>
          <p:spPr>
            <a:xfrm>
              <a:off x="908" y="856"/>
              <a:ext cx="4419" cy="1"/>
            </a:xfrm>
            <a:custGeom>
              <a:avLst/>
              <a:gdLst>
                <a:gd name="txL" fmla="*/ 0 w 4419"/>
                <a:gd name="txT" fmla="*/ 0 h 1"/>
                <a:gd name="txR" fmla="*/ 4419 w 4419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9" y="0"/>
                </a:cxn>
              </a:cxnLst>
              <a:rect l="txL" t="txT" r="txR" b="txB"/>
              <a:pathLst>
                <a:path w="4419" h="1">
                  <a:moveTo>
                    <a:pt x="0" y="1"/>
                  </a:moveTo>
                  <a:lnTo>
                    <a:pt x="441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31" name="Line 88"/>
            <p:cNvSpPr/>
            <p:nvPr/>
          </p:nvSpPr>
          <p:spPr>
            <a:xfrm>
              <a:off x="1292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32" name="Line 89"/>
            <p:cNvSpPr/>
            <p:nvPr/>
          </p:nvSpPr>
          <p:spPr>
            <a:xfrm>
              <a:off x="1868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33" name="Line 90"/>
            <p:cNvSpPr/>
            <p:nvPr/>
          </p:nvSpPr>
          <p:spPr>
            <a:xfrm>
              <a:off x="2444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34" name="Line 91"/>
            <p:cNvSpPr/>
            <p:nvPr/>
          </p:nvSpPr>
          <p:spPr>
            <a:xfrm>
              <a:off x="3020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35" name="Line 92"/>
            <p:cNvSpPr/>
            <p:nvPr/>
          </p:nvSpPr>
          <p:spPr>
            <a:xfrm>
              <a:off x="3596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36" name="Line 93"/>
            <p:cNvSpPr/>
            <p:nvPr/>
          </p:nvSpPr>
          <p:spPr>
            <a:xfrm>
              <a:off x="4172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37" name="Line 94"/>
            <p:cNvSpPr/>
            <p:nvPr/>
          </p:nvSpPr>
          <p:spPr>
            <a:xfrm>
              <a:off x="4748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38" name="Line 95"/>
            <p:cNvSpPr/>
            <p:nvPr/>
          </p:nvSpPr>
          <p:spPr>
            <a:xfrm>
              <a:off x="5324" y="8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82739" name="Freeform 96"/>
            <p:cNvSpPr/>
            <p:nvPr/>
          </p:nvSpPr>
          <p:spPr>
            <a:xfrm>
              <a:off x="1305" y="2708"/>
              <a:ext cx="1" cy="166"/>
            </a:xfrm>
            <a:custGeom>
              <a:avLst/>
              <a:gdLst>
                <a:gd name="txL" fmla="*/ 0 w 1"/>
                <a:gd name="txT" fmla="*/ 0 h 166"/>
                <a:gd name="txR" fmla="*/ 1 w 1"/>
                <a:gd name="txB" fmla="*/ 166 h 166"/>
              </a:gdLst>
              <a:ahLst/>
              <a:cxnLst>
                <a:cxn ang="0">
                  <a:pos x="1" y="0"/>
                </a:cxn>
                <a:cxn ang="0">
                  <a:pos x="0" y="166"/>
                </a:cxn>
              </a:cxnLst>
              <a:rect l="txL" t="txT" r="txR" b="txB"/>
              <a:pathLst>
                <a:path w="1" h="166">
                  <a:moveTo>
                    <a:pt x="1" y="0"/>
                  </a:moveTo>
                  <a:lnTo>
                    <a:pt x="0" y="1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40" name="Freeform 97"/>
            <p:cNvSpPr/>
            <p:nvPr/>
          </p:nvSpPr>
          <p:spPr>
            <a:xfrm>
              <a:off x="1880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41" name="Freeform 98"/>
            <p:cNvSpPr/>
            <p:nvPr/>
          </p:nvSpPr>
          <p:spPr>
            <a:xfrm>
              <a:off x="2454" y="2708"/>
              <a:ext cx="4" cy="166"/>
            </a:xfrm>
            <a:custGeom>
              <a:avLst/>
              <a:gdLst>
                <a:gd name="txL" fmla="*/ 0 w 4"/>
                <a:gd name="txT" fmla="*/ 0 h 166"/>
                <a:gd name="txR" fmla="*/ 4 w 4"/>
                <a:gd name="txB" fmla="*/ 166 h 166"/>
              </a:gdLst>
              <a:ahLst/>
              <a:cxnLst>
                <a:cxn ang="0">
                  <a:pos x="4" y="0"/>
                </a:cxn>
                <a:cxn ang="0">
                  <a:pos x="0" y="166"/>
                </a:cxn>
              </a:cxnLst>
              <a:rect l="txL" t="txT" r="txR" b="txB"/>
              <a:pathLst>
                <a:path w="4" h="166">
                  <a:moveTo>
                    <a:pt x="4" y="0"/>
                  </a:moveTo>
                  <a:lnTo>
                    <a:pt x="0" y="1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42" name="Freeform 99"/>
            <p:cNvSpPr/>
            <p:nvPr/>
          </p:nvSpPr>
          <p:spPr>
            <a:xfrm>
              <a:off x="3606" y="2708"/>
              <a:ext cx="2" cy="175"/>
            </a:xfrm>
            <a:custGeom>
              <a:avLst/>
              <a:gdLst>
                <a:gd name="txL" fmla="*/ 0 w 2"/>
                <a:gd name="txT" fmla="*/ 0 h 175"/>
                <a:gd name="txR" fmla="*/ 2 w 2"/>
                <a:gd name="txB" fmla="*/ 175 h 175"/>
              </a:gdLst>
              <a:ahLst/>
              <a:cxnLst>
                <a:cxn ang="0">
                  <a:pos x="2" y="0"/>
                </a:cxn>
                <a:cxn ang="0">
                  <a:pos x="0" y="175"/>
                </a:cxn>
              </a:cxnLst>
              <a:rect l="txL" t="txT" r="txR" b="txB"/>
              <a:pathLst>
                <a:path w="2" h="175">
                  <a:moveTo>
                    <a:pt x="2" y="0"/>
                  </a:moveTo>
                  <a:lnTo>
                    <a:pt x="0" y="17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43" name="Freeform 100"/>
            <p:cNvSpPr/>
            <p:nvPr/>
          </p:nvSpPr>
          <p:spPr>
            <a:xfrm>
              <a:off x="4760" y="2697"/>
              <a:ext cx="1" cy="176"/>
            </a:xfrm>
            <a:custGeom>
              <a:avLst/>
              <a:gdLst>
                <a:gd name="txL" fmla="*/ 0 w 1"/>
                <a:gd name="txT" fmla="*/ 0 h 176"/>
                <a:gd name="txR" fmla="*/ 1 w 1"/>
                <a:gd name="txB" fmla="*/ 176 h 176"/>
              </a:gdLst>
              <a:ahLst/>
              <a:cxnLst>
                <a:cxn ang="0">
                  <a:pos x="0" y="0"/>
                </a:cxn>
                <a:cxn ang="0">
                  <a:pos x="0" y="176"/>
                </a:cxn>
              </a:cxnLst>
              <a:rect l="txL" t="txT" r="txR" b="txB"/>
              <a:pathLst>
                <a:path w="1" h="176">
                  <a:moveTo>
                    <a:pt x="0" y="0"/>
                  </a:moveTo>
                  <a:lnTo>
                    <a:pt x="0" y="17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44" name="Freeform 101"/>
            <p:cNvSpPr/>
            <p:nvPr/>
          </p:nvSpPr>
          <p:spPr>
            <a:xfrm>
              <a:off x="908" y="1480"/>
              <a:ext cx="4422" cy="1"/>
            </a:xfrm>
            <a:custGeom>
              <a:avLst/>
              <a:gdLst>
                <a:gd name="txL" fmla="*/ 0 w 4422"/>
                <a:gd name="txT" fmla="*/ 0 h 1"/>
                <a:gd name="txR" fmla="*/ 4422 w 4422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22" y="0"/>
                </a:cxn>
              </a:cxnLst>
              <a:rect l="txL" t="txT" r="txR" b="txB"/>
              <a:pathLst>
                <a:path w="4422" h="1">
                  <a:moveTo>
                    <a:pt x="0" y="1"/>
                  </a:moveTo>
                  <a:lnTo>
                    <a:pt x="442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45" name="Line 102"/>
            <p:cNvSpPr/>
            <p:nvPr/>
          </p:nvSpPr>
          <p:spPr>
            <a:xfrm>
              <a:off x="1292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46" name="Line 103"/>
            <p:cNvSpPr/>
            <p:nvPr/>
          </p:nvSpPr>
          <p:spPr>
            <a:xfrm>
              <a:off x="1868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47" name="Line 104"/>
            <p:cNvSpPr/>
            <p:nvPr/>
          </p:nvSpPr>
          <p:spPr>
            <a:xfrm>
              <a:off x="2444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48" name="Line 105"/>
            <p:cNvSpPr/>
            <p:nvPr/>
          </p:nvSpPr>
          <p:spPr>
            <a:xfrm>
              <a:off x="3020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49" name="Line 106"/>
            <p:cNvSpPr/>
            <p:nvPr/>
          </p:nvSpPr>
          <p:spPr>
            <a:xfrm>
              <a:off x="3596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50" name="Line 107"/>
            <p:cNvSpPr/>
            <p:nvPr/>
          </p:nvSpPr>
          <p:spPr>
            <a:xfrm>
              <a:off x="4172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51" name="Line 108"/>
            <p:cNvSpPr/>
            <p:nvPr/>
          </p:nvSpPr>
          <p:spPr>
            <a:xfrm>
              <a:off x="4748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52" name="Line 109"/>
            <p:cNvSpPr/>
            <p:nvPr/>
          </p:nvSpPr>
          <p:spPr>
            <a:xfrm>
              <a:off x="5324" y="14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82753" name="Freeform 110"/>
            <p:cNvSpPr/>
            <p:nvPr/>
          </p:nvSpPr>
          <p:spPr>
            <a:xfrm>
              <a:off x="908" y="2056"/>
              <a:ext cx="4418" cy="1"/>
            </a:xfrm>
            <a:custGeom>
              <a:avLst/>
              <a:gdLst>
                <a:gd name="txL" fmla="*/ 0 w 4418"/>
                <a:gd name="txT" fmla="*/ 0 h 1"/>
                <a:gd name="txR" fmla="*/ 4418 w 441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8" y="0"/>
                </a:cxn>
              </a:cxnLst>
              <a:rect l="txL" t="txT" r="txR" b="txB"/>
              <a:pathLst>
                <a:path w="4418" h="1">
                  <a:moveTo>
                    <a:pt x="0" y="1"/>
                  </a:moveTo>
                  <a:lnTo>
                    <a:pt x="441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54" name="Line 111"/>
            <p:cNvSpPr/>
            <p:nvPr/>
          </p:nvSpPr>
          <p:spPr>
            <a:xfrm>
              <a:off x="1292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55" name="Line 112"/>
            <p:cNvSpPr/>
            <p:nvPr/>
          </p:nvSpPr>
          <p:spPr>
            <a:xfrm>
              <a:off x="1868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56" name="Line 113"/>
            <p:cNvSpPr/>
            <p:nvPr/>
          </p:nvSpPr>
          <p:spPr>
            <a:xfrm>
              <a:off x="2444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57" name="Line 114"/>
            <p:cNvSpPr/>
            <p:nvPr/>
          </p:nvSpPr>
          <p:spPr>
            <a:xfrm>
              <a:off x="3020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58" name="Line 115"/>
            <p:cNvSpPr/>
            <p:nvPr/>
          </p:nvSpPr>
          <p:spPr>
            <a:xfrm>
              <a:off x="3596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59" name="Line 116"/>
            <p:cNvSpPr/>
            <p:nvPr/>
          </p:nvSpPr>
          <p:spPr>
            <a:xfrm>
              <a:off x="4172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60" name="Line 117"/>
            <p:cNvSpPr/>
            <p:nvPr/>
          </p:nvSpPr>
          <p:spPr>
            <a:xfrm>
              <a:off x="4748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82761" name="Line 118"/>
            <p:cNvSpPr/>
            <p:nvPr/>
          </p:nvSpPr>
          <p:spPr>
            <a:xfrm>
              <a:off x="5324" y="2057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sm" len="sm"/>
              <a:tailEnd type="none" w="med" len="med"/>
            </a:ln>
          </p:spPr>
        </p:sp>
        <p:sp>
          <p:nvSpPr>
            <p:cNvPr id="282762" name="Freeform 119"/>
            <p:cNvSpPr/>
            <p:nvPr/>
          </p:nvSpPr>
          <p:spPr>
            <a:xfrm>
              <a:off x="909" y="2879"/>
              <a:ext cx="3860" cy="1"/>
            </a:xfrm>
            <a:custGeom>
              <a:avLst/>
              <a:gdLst>
                <a:gd name="txL" fmla="*/ 0 w 3860"/>
                <a:gd name="txT" fmla="*/ 0 h 1"/>
                <a:gd name="txR" fmla="*/ 3860 w 3860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3860" y="0"/>
                </a:cxn>
              </a:cxnLst>
              <a:rect l="txL" t="txT" r="txR" b="txB"/>
              <a:pathLst>
                <a:path w="3860" h="1">
                  <a:moveTo>
                    <a:pt x="0" y="1"/>
                  </a:moveTo>
                  <a:lnTo>
                    <a:pt x="38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63" name="Freeform 120"/>
            <p:cNvSpPr/>
            <p:nvPr/>
          </p:nvSpPr>
          <p:spPr>
            <a:xfrm>
              <a:off x="912" y="3209"/>
              <a:ext cx="4418" cy="1"/>
            </a:xfrm>
            <a:custGeom>
              <a:avLst/>
              <a:gdLst>
                <a:gd name="txL" fmla="*/ 0 w 4418"/>
                <a:gd name="txT" fmla="*/ 0 h 1"/>
                <a:gd name="txR" fmla="*/ 4418 w 441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4418" y="0"/>
                </a:cxn>
              </a:cxnLst>
              <a:rect l="txL" t="txT" r="txR" b="txB"/>
              <a:pathLst>
                <a:path w="4418" h="1">
                  <a:moveTo>
                    <a:pt x="0" y="1"/>
                  </a:moveTo>
                  <a:lnTo>
                    <a:pt x="441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64" name="Rectangle 121"/>
            <p:cNvSpPr/>
            <p:nvPr/>
          </p:nvSpPr>
          <p:spPr>
            <a:xfrm>
              <a:off x="1141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65" name="Text Box 122"/>
            <p:cNvSpPr txBox="1"/>
            <p:nvPr/>
          </p:nvSpPr>
          <p:spPr>
            <a:xfrm>
              <a:off x="1172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766" name="Freeform 123"/>
            <p:cNvSpPr/>
            <p:nvPr/>
          </p:nvSpPr>
          <p:spPr>
            <a:xfrm>
              <a:off x="1402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67" name="Freeform 124"/>
            <p:cNvSpPr/>
            <p:nvPr/>
          </p:nvSpPr>
          <p:spPr>
            <a:xfrm>
              <a:off x="1613" y="1211"/>
              <a:ext cx="169" cy="1469"/>
            </a:xfrm>
            <a:custGeom>
              <a:avLst/>
              <a:gdLst>
                <a:gd name="txL" fmla="*/ 0 w 169"/>
                <a:gd name="txT" fmla="*/ 0 h 1469"/>
                <a:gd name="txR" fmla="*/ 169 w 169"/>
                <a:gd name="txB" fmla="*/ 1469 h 1469"/>
              </a:gdLst>
              <a:ahLst/>
              <a:cxnLst>
                <a:cxn ang="0">
                  <a:pos x="169" y="1468"/>
                </a:cxn>
                <a:cxn ang="0">
                  <a:pos x="0" y="1469"/>
                </a:cxn>
                <a:cxn ang="0">
                  <a:pos x="1" y="0"/>
                </a:cxn>
                <a:cxn ang="0">
                  <a:pos x="105" y="0"/>
                </a:cxn>
              </a:cxnLst>
              <a:rect l="txL" t="txT" r="txR" b="txB"/>
              <a:pathLst>
                <a:path w="169" h="1469">
                  <a:moveTo>
                    <a:pt x="169" y="1468"/>
                  </a:moveTo>
                  <a:lnTo>
                    <a:pt x="0" y="1469"/>
                  </a:lnTo>
                  <a:lnTo>
                    <a:pt x="1" y="0"/>
                  </a:lnTo>
                  <a:lnTo>
                    <a:pt x="10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68" name="Freeform 125"/>
            <p:cNvSpPr/>
            <p:nvPr/>
          </p:nvSpPr>
          <p:spPr>
            <a:xfrm>
              <a:off x="1967" y="1211"/>
              <a:ext cx="141" cy="1466"/>
            </a:xfrm>
            <a:custGeom>
              <a:avLst/>
              <a:gdLst>
                <a:gd name="txL" fmla="*/ 0 w 141"/>
                <a:gd name="txT" fmla="*/ 0 h 1466"/>
                <a:gd name="txR" fmla="*/ 141 w 141"/>
                <a:gd name="txB" fmla="*/ 1466 h 1466"/>
              </a:gdLst>
              <a:ahLst/>
              <a:cxnLst>
                <a:cxn ang="0">
                  <a:pos x="38" y="0"/>
                </a:cxn>
                <a:cxn ang="0">
                  <a:pos x="141" y="0"/>
                </a:cxn>
                <a:cxn ang="0">
                  <a:pos x="140" y="1466"/>
                </a:cxn>
                <a:cxn ang="0">
                  <a:pos x="0" y="1466"/>
                </a:cxn>
              </a:cxnLst>
              <a:rect l="txL" t="txT" r="txR" b="txB"/>
              <a:pathLst>
                <a:path w="141" h="1466">
                  <a:moveTo>
                    <a:pt x="38" y="0"/>
                  </a:moveTo>
                  <a:lnTo>
                    <a:pt x="141" y="0"/>
                  </a:lnTo>
                  <a:lnTo>
                    <a:pt x="140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69" name="Freeform 126"/>
            <p:cNvSpPr/>
            <p:nvPr/>
          </p:nvSpPr>
          <p:spPr>
            <a:xfrm>
              <a:off x="2208" y="1211"/>
              <a:ext cx="155" cy="1467"/>
            </a:xfrm>
            <a:custGeom>
              <a:avLst/>
              <a:gdLst>
                <a:gd name="txL" fmla="*/ 0 w 155"/>
                <a:gd name="txT" fmla="*/ 0 h 1467"/>
                <a:gd name="txR" fmla="*/ 155 w 155"/>
                <a:gd name="txB" fmla="*/ 1467 h 1467"/>
              </a:gdLst>
              <a:ahLst/>
              <a:cxnLst>
                <a:cxn ang="0">
                  <a:pos x="155" y="1467"/>
                </a:cxn>
                <a:cxn ang="0">
                  <a:pos x="3" y="1467"/>
                </a:cxn>
                <a:cxn ang="0">
                  <a:pos x="0" y="1"/>
                </a:cxn>
                <a:cxn ang="0">
                  <a:pos x="89" y="0"/>
                </a:cxn>
              </a:cxnLst>
              <a:rect l="txL" t="txT" r="txR" b="txB"/>
              <a:pathLst>
                <a:path w="155" h="1467">
                  <a:moveTo>
                    <a:pt x="155" y="1467"/>
                  </a:moveTo>
                  <a:lnTo>
                    <a:pt x="3" y="1467"/>
                  </a:lnTo>
                  <a:lnTo>
                    <a:pt x="0" y="1"/>
                  </a:lnTo>
                  <a:lnTo>
                    <a:pt x="8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70" name="Freeform 127"/>
            <p:cNvSpPr/>
            <p:nvPr/>
          </p:nvSpPr>
          <p:spPr>
            <a:xfrm>
              <a:off x="2557" y="1211"/>
              <a:ext cx="142" cy="1466"/>
            </a:xfrm>
            <a:custGeom>
              <a:avLst/>
              <a:gdLst>
                <a:gd name="txL" fmla="*/ 0 w 142"/>
                <a:gd name="txT" fmla="*/ 0 h 1466"/>
                <a:gd name="txR" fmla="*/ 142 w 142"/>
                <a:gd name="txB" fmla="*/ 1466 h 1466"/>
              </a:gdLst>
              <a:ahLst/>
              <a:cxnLst>
                <a:cxn ang="0">
                  <a:pos x="34" y="0"/>
                </a:cxn>
                <a:cxn ang="0">
                  <a:pos x="142" y="0"/>
                </a:cxn>
                <a:cxn ang="0">
                  <a:pos x="141" y="1466"/>
                </a:cxn>
                <a:cxn ang="0">
                  <a:pos x="0" y="1464"/>
                </a:cxn>
              </a:cxnLst>
              <a:rect l="txL" t="txT" r="txR" b="txB"/>
              <a:pathLst>
                <a:path w="142" h="1466">
                  <a:moveTo>
                    <a:pt x="34" y="0"/>
                  </a:moveTo>
                  <a:lnTo>
                    <a:pt x="142" y="0"/>
                  </a:lnTo>
                  <a:lnTo>
                    <a:pt x="141" y="1466"/>
                  </a:lnTo>
                  <a:lnTo>
                    <a:pt x="0" y="146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71" name="Freeform 128"/>
            <p:cNvSpPr/>
            <p:nvPr/>
          </p:nvSpPr>
          <p:spPr>
            <a:xfrm>
              <a:off x="2787" y="1211"/>
              <a:ext cx="152" cy="1467"/>
            </a:xfrm>
            <a:custGeom>
              <a:avLst/>
              <a:gdLst>
                <a:gd name="txL" fmla="*/ 0 w 152"/>
                <a:gd name="txT" fmla="*/ 0 h 1467"/>
                <a:gd name="txR" fmla="*/ 152 w 152"/>
                <a:gd name="txB" fmla="*/ 1467 h 1467"/>
              </a:gdLst>
              <a:ahLst/>
              <a:cxnLst>
                <a:cxn ang="0">
                  <a:pos x="152" y="1467"/>
                </a:cxn>
                <a:cxn ang="0">
                  <a:pos x="0" y="1467"/>
                </a:cxn>
                <a:cxn ang="0">
                  <a:pos x="0" y="1"/>
                </a:cxn>
                <a:cxn ang="0">
                  <a:pos x="77" y="0"/>
                </a:cxn>
              </a:cxnLst>
              <a:rect l="txL" t="txT" r="txR" b="txB"/>
              <a:pathLst>
                <a:path w="152" h="1467">
                  <a:moveTo>
                    <a:pt x="152" y="1467"/>
                  </a:moveTo>
                  <a:lnTo>
                    <a:pt x="0" y="1467"/>
                  </a:lnTo>
                  <a:lnTo>
                    <a:pt x="0" y="1"/>
                  </a:lnTo>
                  <a:lnTo>
                    <a:pt x="7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72" name="Freeform 129"/>
            <p:cNvSpPr/>
            <p:nvPr/>
          </p:nvSpPr>
          <p:spPr>
            <a:xfrm>
              <a:off x="3130" y="1211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73" name="Freeform 130"/>
            <p:cNvSpPr/>
            <p:nvPr/>
          </p:nvSpPr>
          <p:spPr>
            <a:xfrm>
              <a:off x="3360" y="1209"/>
              <a:ext cx="155" cy="1469"/>
            </a:xfrm>
            <a:custGeom>
              <a:avLst/>
              <a:gdLst>
                <a:gd name="txL" fmla="*/ 0 w 155"/>
                <a:gd name="txT" fmla="*/ 0 h 1469"/>
                <a:gd name="txR" fmla="*/ 155 w 155"/>
                <a:gd name="txB" fmla="*/ 1469 h 1469"/>
              </a:gdLst>
              <a:ahLst/>
              <a:cxnLst>
                <a:cxn ang="0">
                  <a:pos x="155" y="1469"/>
                </a:cxn>
                <a:cxn ang="0">
                  <a:pos x="3" y="1469"/>
                </a:cxn>
                <a:cxn ang="0">
                  <a:pos x="0" y="0"/>
                </a:cxn>
                <a:cxn ang="0">
                  <a:pos x="103" y="2"/>
                </a:cxn>
              </a:cxnLst>
              <a:rect l="txL" t="txT" r="txR" b="txB"/>
              <a:pathLst>
                <a:path w="155" h="1469">
                  <a:moveTo>
                    <a:pt x="155" y="1469"/>
                  </a:moveTo>
                  <a:lnTo>
                    <a:pt x="3" y="1469"/>
                  </a:lnTo>
                  <a:lnTo>
                    <a:pt x="0" y="0"/>
                  </a:lnTo>
                  <a:lnTo>
                    <a:pt x="103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74" name="Freeform 131"/>
            <p:cNvSpPr/>
            <p:nvPr/>
          </p:nvSpPr>
          <p:spPr>
            <a:xfrm>
              <a:off x="3710" y="1211"/>
              <a:ext cx="141" cy="1466"/>
            </a:xfrm>
            <a:custGeom>
              <a:avLst/>
              <a:gdLst>
                <a:gd name="txL" fmla="*/ 0 w 141"/>
                <a:gd name="txT" fmla="*/ 0 h 1466"/>
                <a:gd name="txR" fmla="*/ 141 w 141"/>
                <a:gd name="txB" fmla="*/ 1466 h 1466"/>
              </a:gdLst>
              <a:ahLst/>
              <a:cxnLst>
                <a:cxn ang="0">
                  <a:pos x="42" y="0"/>
                </a:cxn>
                <a:cxn ang="0">
                  <a:pos x="141" y="0"/>
                </a:cxn>
                <a:cxn ang="0">
                  <a:pos x="140" y="1466"/>
                </a:cxn>
                <a:cxn ang="0">
                  <a:pos x="0" y="1466"/>
                </a:cxn>
              </a:cxnLst>
              <a:rect l="txL" t="txT" r="txR" b="txB"/>
              <a:pathLst>
                <a:path w="141" h="1466">
                  <a:moveTo>
                    <a:pt x="42" y="0"/>
                  </a:moveTo>
                  <a:lnTo>
                    <a:pt x="141" y="0"/>
                  </a:lnTo>
                  <a:lnTo>
                    <a:pt x="140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75" name="Freeform 132"/>
            <p:cNvSpPr/>
            <p:nvPr/>
          </p:nvSpPr>
          <p:spPr>
            <a:xfrm>
              <a:off x="3939" y="1211"/>
              <a:ext cx="152" cy="1467"/>
            </a:xfrm>
            <a:custGeom>
              <a:avLst/>
              <a:gdLst>
                <a:gd name="txL" fmla="*/ 0 w 152"/>
                <a:gd name="txT" fmla="*/ 0 h 1467"/>
                <a:gd name="txR" fmla="*/ 152 w 152"/>
                <a:gd name="txB" fmla="*/ 1467 h 1467"/>
              </a:gdLst>
              <a:ahLst/>
              <a:cxnLst>
                <a:cxn ang="0">
                  <a:pos x="152" y="1467"/>
                </a:cxn>
                <a:cxn ang="0">
                  <a:pos x="0" y="1467"/>
                </a:cxn>
                <a:cxn ang="0">
                  <a:pos x="0" y="1"/>
                </a:cxn>
                <a:cxn ang="0">
                  <a:pos x="103" y="0"/>
                </a:cxn>
              </a:cxnLst>
              <a:rect l="txL" t="txT" r="txR" b="txB"/>
              <a:pathLst>
                <a:path w="152" h="1467">
                  <a:moveTo>
                    <a:pt x="152" y="1467"/>
                  </a:moveTo>
                  <a:lnTo>
                    <a:pt x="0" y="1467"/>
                  </a:lnTo>
                  <a:lnTo>
                    <a:pt x="0" y="1"/>
                  </a:lnTo>
                  <a:lnTo>
                    <a:pt x="10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76" name="Freeform 133"/>
            <p:cNvSpPr/>
            <p:nvPr/>
          </p:nvSpPr>
          <p:spPr>
            <a:xfrm>
              <a:off x="4280" y="1211"/>
              <a:ext cx="147" cy="1466"/>
            </a:xfrm>
            <a:custGeom>
              <a:avLst/>
              <a:gdLst>
                <a:gd name="txL" fmla="*/ 0 w 147"/>
                <a:gd name="txT" fmla="*/ 0 h 1466"/>
                <a:gd name="txR" fmla="*/ 147 w 147"/>
                <a:gd name="txB" fmla="*/ 1466 h 1466"/>
              </a:gdLst>
              <a:ahLst/>
              <a:cxnLst>
                <a:cxn ang="0">
                  <a:pos x="51" y="0"/>
                </a:cxn>
                <a:cxn ang="0">
                  <a:pos x="147" y="0"/>
                </a:cxn>
                <a:cxn ang="0">
                  <a:pos x="146" y="1466"/>
                </a:cxn>
                <a:cxn ang="0">
                  <a:pos x="0" y="1466"/>
                </a:cxn>
              </a:cxnLst>
              <a:rect l="txL" t="txT" r="txR" b="txB"/>
              <a:pathLst>
                <a:path w="147" h="1466">
                  <a:moveTo>
                    <a:pt x="51" y="0"/>
                  </a:moveTo>
                  <a:lnTo>
                    <a:pt x="147" y="0"/>
                  </a:lnTo>
                  <a:lnTo>
                    <a:pt x="146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77" name="Freeform 134"/>
            <p:cNvSpPr/>
            <p:nvPr/>
          </p:nvSpPr>
          <p:spPr>
            <a:xfrm>
              <a:off x="4509" y="1211"/>
              <a:ext cx="158" cy="1467"/>
            </a:xfrm>
            <a:custGeom>
              <a:avLst/>
              <a:gdLst>
                <a:gd name="txL" fmla="*/ 0 w 158"/>
                <a:gd name="txT" fmla="*/ 0 h 1467"/>
                <a:gd name="txR" fmla="*/ 158 w 158"/>
                <a:gd name="txB" fmla="*/ 1467 h 1467"/>
              </a:gdLst>
              <a:ahLst/>
              <a:cxnLst>
                <a:cxn ang="0">
                  <a:pos x="158" y="1467"/>
                </a:cxn>
                <a:cxn ang="0">
                  <a:pos x="0" y="1467"/>
                </a:cxn>
                <a:cxn ang="0">
                  <a:pos x="0" y="0"/>
                </a:cxn>
                <a:cxn ang="0">
                  <a:pos x="95" y="0"/>
                </a:cxn>
              </a:cxnLst>
              <a:rect l="txL" t="txT" r="txR" b="txB"/>
              <a:pathLst>
                <a:path w="158" h="1467">
                  <a:moveTo>
                    <a:pt x="158" y="1467"/>
                  </a:moveTo>
                  <a:lnTo>
                    <a:pt x="0" y="1467"/>
                  </a:lnTo>
                  <a:lnTo>
                    <a:pt x="0" y="0"/>
                  </a:lnTo>
                  <a:lnTo>
                    <a:pt x="95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78" name="Freeform 135"/>
            <p:cNvSpPr/>
            <p:nvPr/>
          </p:nvSpPr>
          <p:spPr>
            <a:xfrm>
              <a:off x="4861" y="1211"/>
              <a:ext cx="142" cy="1466"/>
            </a:xfrm>
            <a:custGeom>
              <a:avLst/>
              <a:gdLst>
                <a:gd name="txL" fmla="*/ 0 w 142"/>
                <a:gd name="txT" fmla="*/ 0 h 1466"/>
                <a:gd name="txR" fmla="*/ 142 w 142"/>
                <a:gd name="txB" fmla="*/ 1466 h 1466"/>
              </a:gdLst>
              <a:ahLst/>
              <a:cxnLst>
                <a:cxn ang="0">
                  <a:pos x="34" y="0"/>
                </a:cxn>
                <a:cxn ang="0">
                  <a:pos x="142" y="0"/>
                </a:cxn>
                <a:cxn ang="0">
                  <a:pos x="141" y="1466"/>
                </a:cxn>
                <a:cxn ang="0">
                  <a:pos x="0" y="1466"/>
                </a:cxn>
              </a:cxnLst>
              <a:rect l="txL" t="txT" r="txR" b="txB"/>
              <a:pathLst>
                <a:path w="142" h="1466">
                  <a:moveTo>
                    <a:pt x="34" y="0"/>
                  </a:moveTo>
                  <a:lnTo>
                    <a:pt x="142" y="0"/>
                  </a:lnTo>
                  <a:lnTo>
                    <a:pt x="141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79" name="Freeform 136"/>
            <p:cNvSpPr/>
            <p:nvPr/>
          </p:nvSpPr>
          <p:spPr>
            <a:xfrm>
              <a:off x="5069" y="1211"/>
              <a:ext cx="159" cy="1469"/>
            </a:xfrm>
            <a:custGeom>
              <a:avLst/>
              <a:gdLst>
                <a:gd name="txL" fmla="*/ 0 w 159"/>
                <a:gd name="txT" fmla="*/ 0 h 1469"/>
                <a:gd name="txR" fmla="*/ 159 w 159"/>
                <a:gd name="txB" fmla="*/ 1469 h 1469"/>
              </a:gdLst>
              <a:ahLst/>
              <a:cxnLst>
                <a:cxn ang="0">
                  <a:pos x="159" y="1467"/>
                </a:cxn>
                <a:cxn ang="0">
                  <a:pos x="0" y="1469"/>
                </a:cxn>
                <a:cxn ang="0">
                  <a:pos x="1" y="0"/>
                </a:cxn>
                <a:cxn ang="0">
                  <a:pos x="104" y="0"/>
                </a:cxn>
              </a:cxnLst>
              <a:rect l="txL" t="txT" r="txR" b="txB"/>
              <a:pathLst>
                <a:path w="159" h="1469">
                  <a:moveTo>
                    <a:pt x="159" y="1467"/>
                  </a:moveTo>
                  <a:lnTo>
                    <a:pt x="0" y="1469"/>
                  </a:lnTo>
                  <a:lnTo>
                    <a:pt x="1" y="0"/>
                  </a:lnTo>
                  <a:lnTo>
                    <a:pt x="10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80" name="Freeform 137"/>
            <p:cNvSpPr/>
            <p:nvPr/>
          </p:nvSpPr>
          <p:spPr>
            <a:xfrm>
              <a:off x="5417" y="1211"/>
              <a:ext cx="147" cy="1466"/>
            </a:xfrm>
            <a:custGeom>
              <a:avLst/>
              <a:gdLst>
                <a:gd name="txL" fmla="*/ 0 w 147"/>
                <a:gd name="txT" fmla="*/ 0 h 1466"/>
                <a:gd name="txR" fmla="*/ 147 w 147"/>
                <a:gd name="txB" fmla="*/ 1466 h 1466"/>
              </a:gdLst>
              <a:ahLst/>
              <a:cxnLst>
                <a:cxn ang="0">
                  <a:pos x="47" y="0"/>
                </a:cxn>
                <a:cxn ang="0">
                  <a:pos x="147" y="0"/>
                </a:cxn>
                <a:cxn ang="0">
                  <a:pos x="146" y="1466"/>
                </a:cxn>
                <a:cxn ang="0">
                  <a:pos x="0" y="1466"/>
                </a:cxn>
              </a:cxnLst>
              <a:rect l="txL" t="txT" r="txR" b="txB"/>
              <a:pathLst>
                <a:path w="147" h="1466">
                  <a:moveTo>
                    <a:pt x="47" y="0"/>
                  </a:moveTo>
                  <a:lnTo>
                    <a:pt x="147" y="0"/>
                  </a:lnTo>
                  <a:lnTo>
                    <a:pt x="146" y="1466"/>
                  </a:lnTo>
                  <a:lnTo>
                    <a:pt x="0" y="14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81" name="Freeform 138"/>
            <p:cNvSpPr/>
            <p:nvPr/>
          </p:nvSpPr>
          <p:spPr>
            <a:xfrm>
              <a:off x="1055" y="2738"/>
              <a:ext cx="730" cy="660"/>
            </a:xfrm>
            <a:custGeom>
              <a:avLst/>
              <a:gdLst>
                <a:gd name="txL" fmla="*/ 0 w 730"/>
                <a:gd name="txT" fmla="*/ 0 h 660"/>
                <a:gd name="txR" fmla="*/ 730 w 730"/>
                <a:gd name="txB" fmla="*/ 660 h 660"/>
              </a:gdLst>
              <a:ahLst/>
              <a:cxnLst>
                <a:cxn ang="0">
                  <a:pos x="160" y="4"/>
                </a:cxn>
                <a:cxn ang="0">
                  <a:pos x="0" y="3"/>
                </a:cxn>
                <a:cxn ang="0">
                  <a:pos x="0" y="660"/>
                </a:cxn>
                <a:cxn ang="0">
                  <a:pos x="558" y="657"/>
                </a:cxn>
                <a:cxn ang="0">
                  <a:pos x="558" y="0"/>
                </a:cxn>
                <a:cxn ang="0">
                  <a:pos x="730" y="1"/>
                </a:cxn>
              </a:cxnLst>
              <a:rect l="txL" t="txT" r="txR" b="txB"/>
              <a:pathLst>
                <a:path w="730" h="660">
                  <a:moveTo>
                    <a:pt x="160" y="4"/>
                  </a:moveTo>
                  <a:lnTo>
                    <a:pt x="0" y="3"/>
                  </a:lnTo>
                  <a:lnTo>
                    <a:pt x="0" y="660"/>
                  </a:lnTo>
                  <a:lnTo>
                    <a:pt x="558" y="657"/>
                  </a:lnTo>
                  <a:lnTo>
                    <a:pt x="558" y="0"/>
                  </a:lnTo>
                  <a:lnTo>
                    <a:pt x="73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82" name="Freeform 139"/>
            <p:cNvSpPr/>
            <p:nvPr/>
          </p:nvSpPr>
          <p:spPr>
            <a:xfrm>
              <a:off x="2207" y="2744"/>
              <a:ext cx="729" cy="658"/>
            </a:xfrm>
            <a:custGeom>
              <a:avLst/>
              <a:gdLst>
                <a:gd name="txL" fmla="*/ 0 w 729"/>
                <a:gd name="txT" fmla="*/ 0 h 658"/>
                <a:gd name="txR" fmla="*/ 729 w 729"/>
                <a:gd name="txB" fmla="*/ 658 h 658"/>
              </a:gdLst>
              <a:ahLst/>
              <a:cxnLst>
                <a:cxn ang="0">
                  <a:pos x="153" y="0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83" y="658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8">
                  <a:moveTo>
                    <a:pt x="153" y="0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83" y="658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83" name="Freeform 140"/>
            <p:cNvSpPr/>
            <p:nvPr/>
          </p:nvSpPr>
          <p:spPr>
            <a:xfrm>
              <a:off x="3356" y="2744"/>
              <a:ext cx="729" cy="657"/>
            </a:xfrm>
            <a:custGeom>
              <a:avLst/>
              <a:gdLst>
                <a:gd name="txL" fmla="*/ 0 w 729"/>
                <a:gd name="txT" fmla="*/ 0 h 657"/>
                <a:gd name="txR" fmla="*/ 729 w 729"/>
                <a:gd name="txB" fmla="*/ 657 h 657"/>
              </a:gdLst>
              <a:ahLst/>
              <a:cxnLst>
                <a:cxn ang="0">
                  <a:pos x="158" y="0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79" y="654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7">
                  <a:moveTo>
                    <a:pt x="158" y="0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79" y="654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84" name="Freeform 141"/>
            <p:cNvSpPr/>
            <p:nvPr/>
          </p:nvSpPr>
          <p:spPr>
            <a:xfrm>
              <a:off x="4508" y="2744"/>
              <a:ext cx="729" cy="657"/>
            </a:xfrm>
            <a:custGeom>
              <a:avLst/>
              <a:gdLst>
                <a:gd name="txL" fmla="*/ 0 w 729"/>
                <a:gd name="txT" fmla="*/ 0 h 657"/>
                <a:gd name="txR" fmla="*/ 729 w 729"/>
                <a:gd name="txB" fmla="*/ 657 h 657"/>
              </a:gdLst>
              <a:ahLst/>
              <a:cxnLst>
                <a:cxn ang="0">
                  <a:pos x="161" y="2"/>
                </a:cxn>
                <a:cxn ang="0">
                  <a:pos x="0" y="0"/>
                </a:cxn>
                <a:cxn ang="0">
                  <a:pos x="0" y="657"/>
                </a:cxn>
                <a:cxn ang="0">
                  <a:pos x="579" y="654"/>
                </a:cxn>
                <a:cxn ang="0">
                  <a:pos x="582" y="3"/>
                </a:cxn>
                <a:cxn ang="0">
                  <a:pos x="729" y="3"/>
                </a:cxn>
              </a:cxnLst>
              <a:rect l="txL" t="txT" r="txR" b="txB"/>
              <a:pathLst>
                <a:path w="729" h="657">
                  <a:moveTo>
                    <a:pt x="161" y="2"/>
                  </a:moveTo>
                  <a:lnTo>
                    <a:pt x="0" y="0"/>
                  </a:lnTo>
                  <a:lnTo>
                    <a:pt x="0" y="657"/>
                  </a:lnTo>
                  <a:lnTo>
                    <a:pt x="579" y="654"/>
                  </a:lnTo>
                  <a:lnTo>
                    <a:pt x="582" y="3"/>
                  </a:lnTo>
                  <a:lnTo>
                    <a:pt x="729" y="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85" name="Freeform 142"/>
            <p:cNvSpPr/>
            <p:nvPr/>
          </p:nvSpPr>
          <p:spPr>
            <a:xfrm>
              <a:off x="1400" y="2735"/>
              <a:ext cx="708" cy="571"/>
            </a:xfrm>
            <a:custGeom>
              <a:avLst/>
              <a:gdLst>
                <a:gd name="txL" fmla="*/ 0 w 708"/>
                <a:gd name="txT" fmla="*/ 0 h 571"/>
                <a:gd name="txR" fmla="*/ 708 w 708"/>
                <a:gd name="txB" fmla="*/ 571 h 571"/>
              </a:gdLst>
              <a:ahLst/>
              <a:cxnLst>
                <a:cxn ang="0">
                  <a:pos x="0" y="0"/>
                </a:cxn>
                <a:cxn ang="0">
                  <a:pos x="132" y="0"/>
                </a:cxn>
                <a:cxn ang="0">
                  <a:pos x="133" y="571"/>
                </a:cxn>
                <a:cxn ang="0">
                  <a:pos x="708" y="570"/>
                </a:cxn>
                <a:cxn ang="0">
                  <a:pos x="708" y="9"/>
                </a:cxn>
                <a:cxn ang="0">
                  <a:pos x="573" y="9"/>
                </a:cxn>
              </a:cxnLst>
              <a:rect l="txL" t="txT" r="txR" b="txB"/>
              <a:pathLst>
                <a:path w="708" h="571">
                  <a:moveTo>
                    <a:pt x="0" y="0"/>
                  </a:moveTo>
                  <a:lnTo>
                    <a:pt x="132" y="0"/>
                  </a:lnTo>
                  <a:lnTo>
                    <a:pt x="133" y="571"/>
                  </a:lnTo>
                  <a:lnTo>
                    <a:pt x="708" y="570"/>
                  </a:lnTo>
                  <a:lnTo>
                    <a:pt x="708" y="9"/>
                  </a:lnTo>
                  <a:lnTo>
                    <a:pt x="573" y="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86" name="Freeform 143"/>
            <p:cNvSpPr/>
            <p:nvPr/>
          </p:nvSpPr>
          <p:spPr>
            <a:xfrm>
              <a:off x="2552" y="2735"/>
              <a:ext cx="726" cy="567"/>
            </a:xfrm>
            <a:custGeom>
              <a:avLst/>
              <a:gdLst>
                <a:gd name="txL" fmla="*/ 0 w 726"/>
                <a:gd name="txT" fmla="*/ 0 h 567"/>
                <a:gd name="txR" fmla="*/ 726 w 726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48" y="1"/>
                </a:cxn>
                <a:cxn ang="0">
                  <a:pos x="147" y="567"/>
                </a:cxn>
                <a:cxn ang="0">
                  <a:pos x="726" y="567"/>
                </a:cxn>
                <a:cxn ang="0">
                  <a:pos x="726" y="6"/>
                </a:cxn>
                <a:cxn ang="0">
                  <a:pos x="579" y="6"/>
                </a:cxn>
              </a:cxnLst>
              <a:rect l="txL" t="txT" r="txR" b="txB"/>
              <a:pathLst>
                <a:path w="726" h="567">
                  <a:moveTo>
                    <a:pt x="0" y="0"/>
                  </a:moveTo>
                  <a:lnTo>
                    <a:pt x="148" y="1"/>
                  </a:lnTo>
                  <a:lnTo>
                    <a:pt x="147" y="567"/>
                  </a:lnTo>
                  <a:lnTo>
                    <a:pt x="726" y="567"/>
                  </a:lnTo>
                  <a:lnTo>
                    <a:pt x="726" y="6"/>
                  </a:lnTo>
                  <a:lnTo>
                    <a:pt x="579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87" name="Freeform 144"/>
            <p:cNvSpPr/>
            <p:nvPr/>
          </p:nvSpPr>
          <p:spPr>
            <a:xfrm>
              <a:off x="3704" y="2738"/>
              <a:ext cx="714" cy="567"/>
            </a:xfrm>
            <a:custGeom>
              <a:avLst/>
              <a:gdLst>
                <a:gd name="txL" fmla="*/ 0 w 714"/>
                <a:gd name="txT" fmla="*/ 0 h 567"/>
                <a:gd name="txR" fmla="*/ 714 w 714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36" y="1"/>
                </a:cxn>
                <a:cxn ang="0">
                  <a:pos x="135" y="567"/>
                </a:cxn>
                <a:cxn ang="0">
                  <a:pos x="714" y="567"/>
                </a:cxn>
                <a:cxn ang="0">
                  <a:pos x="714" y="6"/>
                </a:cxn>
                <a:cxn ang="0">
                  <a:pos x="576" y="5"/>
                </a:cxn>
              </a:cxnLst>
              <a:rect l="txL" t="txT" r="txR" b="txB"/>
              <a:pathLst>
                <a:path w="714" h="567">
                  <a:moveTo>
                    <a:pt x="0" y="0"/>
                  </a:moveTo>
                  <a:lnTo>
                    <a:pt x="136" y="1"/>
                  </a:lnTo>
                  <a:lnTo>
                    <a:pt x="135" y="567"/>
                  </a:lnTo>
                  <a:lnTo>
                    <a:pt x="714" y="567"/>
                  </a:lnTo>
                  <a:lnTo>
                    <a:pt x="714" y="6"/>
                  </a:lnTo>
                  <a:lnTo>
                    <a:pt x="576" y="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88" name="Freeform 145"/>
            <p:cNvSpPr/>
            <p:nvPr/>
          </p:nvSpPr>
          <p:spPr>
            <a:xfrm>
              <a:off x="4859" y="2738"/>
              <a:ext cx="711" cy="567"/>
            </a:xfrm>
            <a:custGeom>
              <a:avLst/>
              <a:gdLst>
                <a:gd name="txL" fmla="*/ 0 w 711"/>
                <a:gd name="txT" fmla="*/ 0 h 567"/>
                <a:gd name="txR" fmla="*/ 711 w 711"/>
                <a:gd name="txB" fmla="*/ 567 h 567"/>
              </a:gdLst>
              <a:ahLst/>
              <a:cxnLst>
                <a:cxn ang="0">
                  <a:pos x="0" y="0"/>
                </a:cxn>
                <a:cxn ang="0">
                  <a:pos x="130" y="1"/>
                </a:cxn>
                <a:cxn ang="0">
                  <a:pos x="132" y="567"/>
                </a:cxn>
                <a:cxn ang="0">
                  <a:pos x="711" y="567"/>
                </a:cxn>
                <a:cxn ang="0">
                  <a:pos x="711" y="6"/>
                </a:cxn>
                <a:cxn ang="0">
                  <a:pos x="564" y="6"/>
                </a:cxn>
              </a:cxnLst>
              <a:rect l="txL" t="txT" r="txR" b="txB"/>
              <a:pathLst>
                <a:path w="711" h="567">
                  <a:moveTo>
                    <a:pt x="0" y="0"/>
                  </a:moveTo>
                  <a:lnTo>
                    <a:pt x="130" y="1"/>
                  </a:lnTo>
                  <a:lnTo>
                    <a:pt x="132" y="567"/>
                  </a:lnTo>
                  <a:lnTo>
                    <a:pt x="711" y="567"/>
                  </a:lnTo>
                  <a:lnTo>
                    <a:pt x="711" y="6"/>
                  </a:lnTo>
                  <a:lnTo>
                    <a:pt x="564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89" name="Freeform 146"/>
            <p:cNvSpPr/>
            <p:nvPr/>
          </p:nvSpPr>
          <p:spPr>
            <a:xfrm>
              <a:off x="1322" y="3398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90" name="Freeform 147"/>
            <p:cNvSpPr/>
            <p:nvPr/>
          </p:nvSpPr>
          <p:spPr>
            <a:xfrm>
              <a:off x="2491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91" name="Freeform 148"/>
            <p:cNvSpPr/>
            <p:nvPr/>
          </p:nvSpPr>
          <p:spPr>
            <a:xfrm>
              <a:off x="3643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92" name="Freeform 149"/>
            <p:cNvSpPr/>
            <p:nvPr/>
          </p:nvSpPr>
          <p:spPr>
            <a:xfrm>
              <a:off x="4795" y="3401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0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0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93" name="Freeform 150"/>
            <p:cNvSpPr/>
            <p:nvPr/>
          </p:nvSpPr>
          <p:spPr>
            <a:xfrm>
              <a:off x="5276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94" name="Freeform 151"/>
            <p:cNvSpPr/>
            <p:nvPr/>
          </p:nvSpPr>
          <p:spPr>
            <a:xfrm>
              <a:off x="4124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95" name="Freeform 152"/>
            <p:cNvSpPr/>
            <p:nvPr/>
          </p:nvSpPr>
          <p:spPr>
            <a:xfrm>
              <a:off x="2972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96" name="Freeform 153"/>
            <p:cNvSpPr/>
            <p:nvPr/>
          </p:nvSpPr>
          <p:spPr>
            <a:xfrm>
              <a:off x="1819" y="3305"/>
              <a:ext cx="1" cy="246"/>
            </a:xfrm>
            <a:custGeom>
              <a:avLst/>
              <a:gdLst>
                <a:gd name="txL" fmla="*/ 0 w 1"/>
                <a:gd name="txT" fmla="*/ 0 h 246"/>
                <a:gd name="txR" fmla="*/ 1 w 1"/>
                <a:gd name="txB" fmla="*/ 246 h 246"/>
              </a:gdLst>
              <a:ahLst/>
              <a:cxnLst>
                <a:cxn ang="0">
                  <a:pos x="0" y="0"/>
                </a:cxn>
                <a:cxn ang="0">
                  <a:pos x="0" y="246"/>
                </a:cxn>
              </a:cxnLst>
              <a:rect l="txL" t="txT" r="txR" b="txB"/>
              <a:pathLst>
                <a:path w="1" h="246">
                  <a:moveTo>
                    <a:pt x="0" y="0"/>
                  </a:moveTo>
                  <a:lnTo>
                    <a:pt x="0" y="24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97" name="Freeform 154"/>
            <p:cNvSpPr/>
            <p:nvPr/>
          </p:nvSpPr>
          <p:spPr>
            <a:xfrm>
              <a:off x="956" y="4025"/>
              <a:ext cx="4317" cy="1"/>
            </a:xfrm>
            <a:custGeom>
              <a:avLst/>
              <a:gdLst>
                <a:gd name="txL" fmla="*/ 0 w 4317"/>
                <a:gd name="txT" fmla="*/ 0 h 1"/>
                <a:gd name="txR" fmla="*/ 4317 w 431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317" y="0"/>
                </a:cxn>
              </a:cxnLst>
              <a:rect l="txL" t="txT" r="txR" b="txB"/>
              <a:pathLst>
                <a:path w="4317" h="1">
                  <a:moveTo>
                    <a:pt x="0" y="0"/>
                  </a:moveTo>
                  <a:lnTo>
                    <a:pt x="431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98" name="Freeform 155"/>
            <p:cNvSpPr/>
            <p:nvPr/>
          </p:nvSpPr>
          <p:spPr>
            <a:xfrm>
              <a:off x="956" y="4121"/>
              <a:ext cx="3837" cy="1"/>
            </a:xfrm>
            <a:custGeom>
              <a:avLst/>
              <a:gdLst>
                <a:gd name="txL" fmla="*/ 0 w 3837"/>
                <a:gd name="txT" fmla="*/ 0 h 1"/>
                <a:gd name="txR" fmla="*/ 3837 w 383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3837" y="0"/>
                </a:cxn>
              </a:cxnLst>
              <a:rect l="txL" t="txT" r="txR" b="txB"/>
              <a:pathLst>
                <a:path w="3837" h="1">
                  <a:moveTo>
                    <a:pt x="0" y="0"/>
                  </a:moveTo>
                  <a:lnTo>
                    <a:pt x="38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799" name="Freeform 156"/>
            <p:cNvSpPr/>
            <p:nvPr/>
          </p:nvSpPr>
          <p:spPr>
            <a:xfrm>
              <a:off x="1322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00" name="Freeform 157"/>
            <p:cNvSpPr/>
            <p:nvPr/>
          </p:nvSpPr>
          <p:spPr>
            <a:xfrm>
              <a:off x="2491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01" name="Freeform 158"/>
            <p:cNvSpPr/>
            <p:nvPr/>
          </p:nvSpPr>
          <p:spPr>
            <a:xfrm>
              <a:off x="3643" y="3881"/>
              <a:ext cx="1" cy="243"/>
            </a:xfrm>
            <a:custGeom>
              <a:avLst/>
              <a:gdLst>
                <a:gd name="txL" fmla="*/ 0 w 1"/>
                <a:gd name="txT" fmla="*/ 0 h 243"/>
                <a:gd name="txR" fmla="*/ 1 w 1"/>
                <a:gd name="txB" fmla="*/ 243 h 243"/>
              </a:gdLst>
              <a:ahLst/>
              <a:cxnLst>
                <a:cxn ang="0">
                  <a:pos x="0" y="0"/>
                </a:cxn>
                <a:cxn ang="0">
                  <a:pos x="0" y="243"/>
                </a:cxn>
              </a:cxnLst>
              <a:rect l="txL" t="txT" r="txR" b="txB"/>
              <a:pathLst>
                <a:path w="1" h="243">
                  <a:moveTo>
                    <a:pt x="0" y="0"/>
                  </a:moveTo>
                  <a:lnTo>
                    <a:pt x="0" y="24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02" name="Freeform 159"/>
            <p:cNvSpPr/>
            <p:nvPr/>
          </p:nvSpPr>
          <p:spPr>
            <a:xfrm>
              <a:off x="4791" y="3881"/>
              <a:ext cx="4" cy="247"/>
            </a:xfrm>
            <a:custGeom>
              <a:avLst/>
              <a:gdLst>
                <a:gd name="txL" fmla="*/ 0 w 4"/>
                <a:gd name="txT" fmla="*/ 0 h 247"/>
                <a:gd name="txR" fmla="*/ 4 w 4"/>
                <a:gd name="txB" fmla="*/ 247 h 247"/>
              </a:gdLst>
              <a:ahLst/>
              <a:cxnLst>
                <a:cxn ang="0">
                  <a:pos x="4" y="0"/>
                </a:cxn>
                <a:cxn ang="0">
                  <a:pos x="0" y="247"/>
                </a:cxn>
              </a:cxnLst>
              <a:rect l="txL" t="txT" r="txR" b="txB"/>
              <a:pathLst>
                <a:path w="4" h="247">
                  <a:moveTo>
                    <a:pt x="4" y="0"/>
                  </a:moveTo>
                  <a:lnTo>
                    <a:pt x="0" y="24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03" name="Freeform 160"/>
            <p:cNvSpPr/>
            <p:nvPr/>
          </p:nvSpPr>
          <p:spPr>
            <a:xfrm>
              <a:off x="5277" y="3881"/>
              <a:ext cx="1" cy="151"/>
            </a:xfrm>
            <a:custGeom>
              <a:avLst/>
              <a:gdLst>
                <a:gd name="txL" fmla="*/ 0 w 1"/>
                <a:gd name="txT" fmla="*/ 0 h 151"/>
                <a:gd name="txR" fmla="*/ 1 w 1"/>
                <a:gd name="txB" fmla="*/ 151 h 151"/>
              </a:gdLst>
              <a:ahLst/>
              <a:cxnLst>
                <a:cxn ang="0">
                  <a:pos x="0" y="0"/>
                </a:cxn>
                <a:cxn ang="0">
                  <a:pos x="0" y="151"/>
                </a:cxn>
              </a:cxnLst>
              <a:rect l="txL" t="txT" r="txR" b="txB"/>
              <a:pathLst>
                <a:path w="1" h="151">
                  <a:moveTo>
                    <a:pt x="0" y="0"/>
                  </a:moveTo>
                  <a:lnTo>
                    <a:pt x="0" y="15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04" name="Line 161"/>
            <p:cNvSpPr/>
            <p:nvPr/>
          </p:nvSpPr>
          <p:spPr>
            <a:xfrm>
              <a:off x="4124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82805" name="Line 162"/>
            <p:cNvSpPr/>
            <p:nvPr/>
          </p:nvSpPr>
          <p:spPr>
            <a:xfrm>
              <a:off x="2973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82806" name="Line 163"/>
            <p:cNvSpPr/>
            <p:nvPr/>
          </p:nvSpPr>
          <p:spPr>
            <a:xfrm>
              <a:off x="1820" y="3881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282807" name="Rectangle 164"/>
            <p:cNvSpPr/>
            <p:nvPr/>
          </p:nvSpPr>
          <p:spPr>
            <a:xfrm>
              <a:off x="2317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08" name="Text Box 165"/>
            <p:cNvSpPr txBox="1"/>
            <p:nvPr/>
          </p:nvSpPr>
          <p:spPr>
            <a:xfrm>
              <a:off x="2348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09" name="Rectangle 166"/>
            <p:cNvSpPr/>
            <p:nvPr/>
          </p:nvSpPr>
          <p:spPr>
            <a:xfrm>
              <a:off x="3469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10" name="Text Box 167"/>
            <p:cNvSpPr txBox="1"/>
            <p:nvPr/>
          </p:nvSpPr>
          <p:spPr>
            <a:xfrm>
              <a:off x="3500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11" name="Rectangle 168"/>
            <p:cNvSpPr/>
            <p:nvPr/>
          </p:nvSpPr>
          <p:spPr>
            <a:xfrm>
              <a:off x="4621" y="3597"/>
              <a:ext cx="823" cy="23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12" name="Text Box 169"/>
            <p:cNvSpPr txBox="1"/>
            <p:nvPr/>
          </p:nvSpPr>
          <p:spPr>
            <a:xfrm>
              <a:off x="4652" y="3576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读写电路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13" name="Line 170"/>
            <p:cNvSpPr/>
            <p:nvPr/>
          </p:nvSpPr>
          <p:spPr>
            <a:xfrm>
              <a:off x="1964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2814" name="Line 171"/>
            <p:cNvSpPr/>
            <p:nvPr/>
          </p:nvSpPr>
          <p:spPr>
            <a:xfrm>
              <a:off x="3144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2815" name="Line 172"/>
            <p:cNvSpPr/>
            <p:nvPr/>
          </p:nvSpPr>
          <p:spPr>
            <a:xfrm>
              <a:off x="4293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2816" name="Line 173"/>
            <p:cNvSpPr/>
            <p:nvPr/>
          </p:nvSpPr>
          <p:spPr>
            <a:xfrm>
              <a:off x="5420" y="3737"/>
              <a:ext cx="181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2817" name="Freeform 174"/>
            <p:cNvSpPr/>
            <p:nvPr/>
          </p:nvSpPr>
          <p:spPr>
            <a:xfrm>
              <a:off x="3033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18" name="Freeform 175"/>
            <p:cNvSpPr/>
            <p:nvPr/>
          </p:nvSpPr>
          <p:spPr>
            <a:xfrm>
              <a:off x="4185" y="2691"/>
              <a:ext cx="1" cy="525"/>
            </a:xfrm>
            <a:custGeom>
              <a:avLst/>
              <a:gdLst>
                <a:gd name="txL" fmla="*/ 0 w 1"/>
                <a:gd name="txT" fmla="*/ 0 h 525"/>
                <a:gd name="txR" fmla="*/ 1 w 1"/>
                <a:gd name="txB" fmla="*/ 525 h 525"/>
              </a:gdLst>
              <a:ahLst/>
              <a:cxnLst>
                <a:cxn ang="0">
                  <a:pos x="0" y="0"/>
                </a:cxn>
                <a:cxn ang="0">
                  <a:pos x="0" y="525"/>
                </a:cxn>
              </a:cxnLst>
              <a:rect l="txL" t="txT" r="txR" b="txB"/>
              <a:pathLst>
                <a:path w="1" h="525">
                  <a:moveTo>
                    <a:pt x="0" y="0"/>
                  </a:moveTo>
                  <a:lnTo>
                    <a:pt x="0" y="52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19" name="Freeform 176"/>
            <p:cNvSpPr/>
            <p:nvPr/>
          </p:nvSpPr>
          <p:spPr>
            <a:xfrm>
              <a:off x="5325" y="2708"/>
              <a:ext cx="47" cy="501"/>
            </a:xfrm>
            <a:custGeom>
              <a:avLst/>
              <a:gdLst>
                <a:gd name="txL" fmla="*/ 0 w 1"/>
                <a:gd name="txT" fmla="*/ 0 h 406"/>
                <a:gd name="txR" fmla="*/ 1 w 1"/>
                <a:gd name="txB" fmla="*/ 406 h 406"/>
              </a:gdLst>
              <a:ahLst/>
              <a:cxnLst>
                <a:cxn ang="0">
                  <a:pos x="0" y="0"/>
                </a:cxn>
                <a:cxn ang="0">
                  <a:pos x="0" y="406"/>
                </a:cxn>
              </a:cxnLst>
              <a:rect l="txL" t="txT" r="txR" b="txB"/>
              <a:pathLst>
                <a:path w="1" h="406">
                  <a:moveTo>
                    <a:pt x="0" y="0"/>
                  </a:moveTo>
                  <a:lnTo>
                    <a:pt x="0" y="40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820" name="Text Box 177"/>
            <p:cNvSpPr txBox="1"/>
            <p:nvPr/>
          </p:nvSpPr>
          <p:spPr>
            <a:xfrm rot="5400000">
              <a:off x="1175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21" name="Text Box 178"/>
            <p:cNvSpPr txBox="1"/>
            <p:nvPr/>
          </p:nvSpPr>
          <p:spPr>
            <a:xfrm rot="5400000">
              <a:off x="1751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22" name="Text Box 179"/>
            <p:cNvSpPr txBox="1"/>
            <p:nvPr/>
          </p:nvSpPr>
          <p:spPr>
            <a:xfrm rot="5400000">
              <a:off x="2327" y="162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23" name="Text Box 180"/>
            <p:cNvSpPr txBox="1"/>
            <p:nvPr/>
          </p:nvSpPr>
          <p:spPr>
            <a:xfrm rot="5400000">
              <a:off x="2903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24" name="Text Box 181"/>
            <p:cNvSpPr txBox="1"/>
            <p:nvPr/>
          </p:nvSpPr>
          <p:spPr>
            <a:xfrm rot="5400000">
              <a:off x="3478" y="161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25" name="Text Box 182"/>
            <p:cNvSpPr txBox="1"/>
            <p:nvPr/>
          </p:nvSpPr>
          <p:spPr>
            <a:xfrm rot="5400000">
              <a:off x="4055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26" name="Text Box 183"/>
            <p:cNvSpPr txBox="1"/>
            <p:nvPr/>
          </p:nvSpPr>
          <p:spPr>
            <a:xfrm rot="5400000">
              <a:off x="4631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27" name="Text Box 184"/>
            <p:cNvSpPr txBox="1"/>
            <p:nvPr/>
          </p:nvSpPr>
          <p:spPr>
            <a:xfrm rot="5400000">
              <a:off x="5226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28" name="Text Box 185"/>
            <p:cNvSpPr txBox="1"/>
            <p:nvPr/>
          </p:nvSpPr>
          <p:spPr>
            <a:xfrm>
              <a:off x="660" y="791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29" name="Text Box 186"/>
            <p:cNvSpPr txBox="1"/>
            <p:nvPr/>
          </p:nvSpPr>
          <p:spPr>
            <a:xfrm>
              <a:off x="660" y="1383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30" name="Text Box 187"/>
            <p:cNvSpPr txBox="1"/>
            <p:nvPr/>
          </p:nvSpPr>
          <p:spPr>
            <a:xfrm>
              <a:off x="624" y="195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63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31" name="Line 188"/>
            <p:cNvSpPr/>
            <p:nvPr/>
          </p:nvSpPr>
          <p:spPr>
            <a:xfrm>
              <a:off x="332" y="2537"/>
              <a:ext cx="57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832" name="Text Box 189"/>
            <p:cNvSpPr txBox="1"/>
            <p:nvPr/>
          </p:nvSpPr>
          <p:spPr>
            <a:xfrm>
              <a:off x="660" y="2727"/>
              <a:ext cx="1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33" name="Text Box 190"/>
            <p:cNvSpPr txBox="1"/>
            <p:nvPr/>
          </p:nvSpPr>
          <p:spPr>
            <a:xfrm>
              <a:off x="624" y="3159"/>
              <a:ext cx="25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15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34" name="Text Box 191"/>
            <p:cNvSpPr txBox="1"/>
            <p:nvPr/>
          </p:nvSpPr>
          <p:spPr>
            <a:xfrm rot="5400000">
              <a:off x="647" y="1611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35" name="Text Box 192"/>
            <p:cNvSpPr txBox="1"/>
            <p:nvPr/>
          </p:nvSpPr>
          <p:spPr>
            <a:xfrm rot="5400000">
              <a:off x="647" y="285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36" name="Text Box 193"/>
            <p:cNvSpPr txBox="1"/>
            <p:nvPr/>
          </p:nvSpPr>
          <p:spPr>
            <a:xfrm>
              <a:off x="349" y="101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行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37" name="Text Box 194"/>
            <p:cNvSpPr txBox="1"/>
            <p:nvPr/>
          </p:nvSpPr>
          <p:spPr>
            <a:xfrm>
              <a:off x="349" y="126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38" name="Text Box 195"/>
            <p:cNvSpPr txBox="1"/>
            <p:nvPr/>
          </p:nvSpPr>
          <p:spPr>
            <a:xfrm>
              <a:off x="349" y="151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39" name="Text Box 196"/>
            <p:cNvSpPr txBox="1"/>
            <p:nvPr/>
          </p:nvSpPr>
          <p:spPr>
            <a:xfrm>
              <a:off x="349" y="175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40" name="Text Box 197"/>
            <p:cNvSpPr txBox="1"/>
            <p:nvPr/>
          </p:nvSpPr>
          <p:spPr>
            <a:xfrm>
              <a:off x="349" y="200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41" name="Text Box 198"/>
            <p:cNvSpPr txBox="1"/>
            <p:nvPr/>
          </p:nvSpPr>
          <p:spPr>
            <a:xfrm>
              <a:off x="376" y="2635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列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42" name="Text Box 199"/>
            <p:cNvSpPr txBox="1"/>
            <p:nvPr/>
          </p:nvSpPr>
          <p:spPr>
            <a:xfrm>
              <a:off x="376" y="2883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43" name="Text Box 200"/>
            <p:cNvSpPr txBox="1"/>
            <p:nvPr/>
          </p:nvSpPr>
          <p:spPr>
            <a:xfrm>
              <a:off x="376" y="313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44" name="Text Box 201"/>
            <p:cNvSpPr txBox="1"/>
            <p:nvPr/>
          </p:nvSpPr>
          <p:spPr>
            <a:xfrm>
              <a:off x="376" y="337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45" name="Text Box 202"/>
            <p:cNvSpPr txBox="1"/>
            <p:nvPr/>
          </p:nvSpPr>
          <p:spPr>
            <a:xfrm>
              <a:off x="376" y="362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46" name="Text Box 203"/>
            <p:cNvSpPr txBox="1"/>
            <p:nvPr/>
          </p:nvSpPr>
          <p:spPr>
            <a:xfrm>
              <a:off x="194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2847" name="Text Box 204"/>
            <p:cNvSpPr txBox="1"/>
            <p:nvPr/>
          </p:nvSpPr>
          <p:spPr>
            <a:xfrm>
              <a:off x="310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2848" name="Text Box 205"/>
            <p:cNvSpPr txBox="1"/>
            <p:nvPr/>
          </p:nvSpPr>
          <p:spPr>
            <a:xfrm>
              <a:off x="4258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2849" name="Text Box 206"/>
            <p:cNvSpPr txBox="1"/>
            <p:nvPr/>
          </p:nvSpPr>
          <p:spPr>
            <a:xfrm>
              <a:off x="541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2850" name="Line 207"/>
            <p:cNvSpPr/>
            <p:nvPr/>
          </p:nvSpPr>
          <p:spPr>
            <a:xfrm>
              <a:off x="140" y="905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2851" name="Line 208"/>
            <p:cNvSpPr/>
            <p:nvPr/>
          </p:nvSpPr>
          <p:spPr>
            <a:xfrm>
              <a:off x="140" y="1164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2852" name="Line 209"/>
            <p:cNvSpPr/>
            <p:nvPr/>
          </p:nvSpPr>
          <p:spPr>
            <a:xfrm>
              <a:off x="140" y="1423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2853" name="Line 210"/>
            <p:cNvSpPr/>
            <p:nvPr/>
          </p:nvSpPr>
          <p:spPr>
            <a:xfrm>
              <a:off x="140" y="168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2854" name="Line 211"/>
            <p:cNvSpPr/>
            <p:nvPr/>
          </p:nvSpPr>
          <p:spPr>
            <a:xfrm>
              <a:off x="140" y="194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2855" name="Line 212"/>
            <p:cNvSpPr/>
            <p:nvPr/>
          </p:nvSpPr>
          <p:spPr>
            <a:xfrm>
              <a:off x="140" y="220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2856" name="Line 213"/>
            <p:cNvSpPr/>
            <p:nvPr/>
          </p:nvSpPr>
          <p:spPr>
            <a:xfrm>
              <a:off x="140" y="28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2857" name="Line 214"/>
            <p:cNvSpPr/>
            <p:nvPr/>
          </p:nvSpPr>
          <p:spPr>
            <a:xfrm>
              <a:off x="140" y="3131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2858" name="Line 215"/>
            <p:cNvSpPr/>
            <p:nvPr/>
          </p:nvSpPr>
          <p:spPr>
            <a:xfrm>
              <a:off x="140" y="339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2859" name="Line 216"/>
            <p:cNvSpPr/>
            <p:nvPr/>
          </p:nvSpPr>
          <p:spPr>
            <a:xfrm>
              <a:off x="140" y="3650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282860" name="Text Box 217"/>
            <p:cNvSpPr txBox="1"/>
            <p:nvPr/>
          </p:nvSpPr>
          <p:spPr>
            <a:xfrm>
              <a:off x="648" y="3890"/>
              <a:ext cx="3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61" name="Line 218"/>
            <p:cNvSpPr/>
            <p:nvPr/>
          </p:nvSpPr>
          <p:spPr>
            <a:xfrm>
              <a:off x="682" y="3923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2862" name="Text Box 219"/>
            <p:cNvSpPr txBox="1"/>
            <p:nvPr/>
          </p:nvSpPr>
          <p:spPr>
            <a:xfrm>
              <a:off x="669" y="4025"/>
              <a:ext cx="3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CS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863" name="Line 220"/>
            <p:cNvSpPr/>
            <p:nvPr/>
          </p:nvSpPr>
          <p:spPr>
            <a:xfrm>
              <a:off x="726" y="4079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2627" name="Group 221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82643" name="Line 222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2644" name="Freeform 223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45" name="Line 224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2646" name="Freeform 225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2647" name="Line 226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2648" name="Text Box 227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49" name="Text Box 228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50" name="Text Box 229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51" name="Text Box 230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2652" name="Line 231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2653" name="Line 232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2654" name="Line 233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2655" name="Line 234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2656" name="Line 235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2657" name="Line 236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2658" name="Line 237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2659" name="Line 238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0" name="Group 239"/>
          <p:cNvGrpSpPr/>
          <p:nvPr/>
        </p:nvGrpSpPr>
        <p:grpSpPr>
          <a:xfrm>
            <a:off x="1746250" y="1069975"/>
            <a:ext cx="309563" cy="4779963"/>
            <a:chOff x="140" y="674"/>
            <a:chExt cx="195" cy="3011"/>
          </a:xfrm>
        </p:grpSpPr>
        <p:sp>
          <p:nvSpPr>
            <p:cNvPr id="282633" name="Text Box 240"/>
            <p:cNvSpPr txBox="1"/>
            <p:nvPr/>
          </p:nvSpPr>
          <p:spPr>
            <a:xfrm>
              <a:off x="140" y="67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2634" name="Text Box 241"/>
            <p:cNvSpPr txBox="1"/>
            <p:nvPr/>
          </p:nvSpPr>
          <p:spPr>
            <a:xfrm>
              <a:off x="140" y="933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2635" name="Text Box 242"/>
            <p:cNvSpPr txBox="1"/>
            <p:nvPr/>
          </p:nvSpPr>
          <p:spPr>
            <a:xfrm>
              <a:off x="140" y="1192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2636" name="Text Box 243"/>
            <p:cNvSpPr txBox="1"/>
            <p:nvPr/>
          </p:nvSpPr>
          <p:spPr>
            <a:xfrm>
              <a:off x="140" y="1451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2637" name="Text Box 244"/>
            <p:cNvSpPr txBox="1"/>
            <p:nvPr/>
          </p:nvSpPr>
          <p:spPr>
            <a:xfrm>
              <a:off x="140" y="171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2638" name="Text Box 245"/>
            <p:cNvSpPr txBox="1"/>
            <p:nvPr/>
          </p:nvSpPr>
          <p:spPr>
            <a:xfrm>
              <a:off x="140" y="1970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2639" name="Text Box 246"/>
            <p:cNvSpPr txBox="1"/>
            <p:nvPr/>
          </p:nvSpPr>
          <p:spPr>
            <a:xfrm>
              <a:off x="140" y="2657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2640" name="Text Box 247"/>
            <p:cNvSpPr txBox="1"/>
            <p:nvPr/>
          </p:nvSpPr>
          <p:spPr>
            <a:xfrm>
              <a:off x="140" y="291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2641" name="Text Box 248"/>
            <p:cNvSpPr txBox="1"/>
            <p:nvPr/>
          </p:nvSpPr>
          <p:spPr>
            <a:xfrm>
              <a:off x="140" y="317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2642" name="Text Box 249"/>
            <p:cNvSpPr txBox="1"/>
            <p:nvPr/>
          </p:nvSpPr>
          <p:spPr>
            <a:xfrm>
              <a:off x="140" y="343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19386" name="Rectangle 25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2630" name="Text Box 251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2631" name="AutoShape 25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263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83650" name="Group 2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83911" name="Line 3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3912" name="Freeform 4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3913" name="Line 5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3914" name="Freeform 6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3915" name="Line 7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3916" name="Text Box 8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3917" name="Text Box 9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3918" name="Text Box 10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3919" name="Text Box 11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3920" name="Line 12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3921" name="Line 13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3922" name="Line 14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3923" name="Line 15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3924" name="Line 16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3925" name="Line 17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3926" name="Line 18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3927" name="Line 19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83651" name="Group 20"/>
          <p:cNvGrpSpPr/>
          <p:nvPr/>
        </p:nvGrpSpPr>
        <p:grpSpPr>
          <a:xfrm>
            <a:off x="1746250" y="1069975"/>
            <a:ext cx="8918575" cy="5718176"/>
            <a:chOff x="140" y="674"/>
            <a:chExt cx="5618" cy="3602"/>
          </a:xfrm>
        </p:grpSpPr>
        <p:grpSp>
          <p:nvGrpSpPr>
            <p:cNvPr id="283681" name="Group 21"/>
            <p:cNvGrpSpPr/>
            <p:nvPr/>
          </p:nvGrpSpPr>
          <p:grpSpPr>
            <a:xfrm>
              <a:off x="140" y="791"/>
              <a:ext cx="5618" cy="3485"/>
              <a:chOff x="140" y="791"/>
              <a:chExt cx="5618" cy="3485"/>
            </a:xfrm>
          </p:grpSpPr>
          <p:sp>
            <p:nvSpPr>
              <p:cNvPr id="283693" name="Rectangle 22"/>
              <p:cNvSpPr/>
              <p:nvPr/>
            </p:nvSpPr>
            <p:spPr>
              <a:xfrm>
                <a:off x="332" y="2181"/>
                <a:ext cx="576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694" name="Rectangle 23"/>
              <p:cNvSpPr/>
              <p:nvPr/>
            </p:nvSpPr>
            <p:spPr>
              <a:xfrm>
                <a:off x="1728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95" name="Text Box 24"/>
              <p:cNvSpPr txBox="1"/>
              <p:nvPr/>
            </p:nvSpPr>
            <p:spPr>
              <a:xfrm>
                <a:off x="1408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96" name="Rectangle 25"/>
              <p:cNvSpPr/>
              <p:nvPr/>
            </p:nvSpPr>
            <p:spPr>
              <a:xfrm>
                <a:off x="1152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97" name="Rectangle 26"/>
              <p:cNvSpPr/>
              <p:nvPr/>
            </p:nvSpPr>
            <p:spPr>
              <a:xfrm>
                <a:off x="2869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98" name="Text Box 27"/>
              <p:cNvSpPr txBox="1"/>
              <p:nvPr/>
            </p:nvSpPr>
            <p:spPr>
              <a:xfrm>
                <a:off x="2549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99" name="Rectangle 28"/>
              <p:cNvSpPr/>
              <p:nvPr/>
            </p:nvSpPr>
            <p:spPr>
              <a:xfrm>
                <a:off x="2293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00" name="Rectangle 29"/>
              <p:cNvSpPr/>
              <p:nvPr/>
            </p:nvSpPr>
            <p:spPr>
              <a:xfrm>
                <a:off x="4044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01" name="Text Box 30"/>
              <p:cNvSpPr txBox="1"/>
              <p:nvPr/>
            </p:nvSpPr>
            <p:spPr>
              <a:xfrm>
                <a:off x="3724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02" name="Rectangle 31"/>
              <p:cNvSpPr/>
              <p:nvPr/>
            </p:nvSpPr>
            <p:spPr>
              <a:xfrm>
                <a:off x="3468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03" name="Rectangle 32"/>
              <p:cNvSpPr/>
              <p:nvPr/>
            </p:nvSpPr>
            <p:spPr>
              <a:xfrm>
                <a:off x="5180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04" name="Text Box 33"/>
              <p:cNvSpPr txBox="1"/>
              <p:nvPr/>
            </p:nvSpPr>
            <p:spPr>
              <a:xfrm>
                <a:off x="4860" y="870"/>
                <a:ext cx="371" cy="3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05" name="Rectangle 34"/>
              <p:cNvSpPr/>
              <p:nvPr/>
            </p:nvSpPr>
            <p:spPr>
              <a:xfrm>
                <a:off x="4604" y="1028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06" name="Rectangle 35"/>
              <p:cNvSpPr/>
              <p:nvPr/>
            </p:nvSpPr>
            <p:spPr>
              <a:xfrm>
                <a:off x="1728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07" name="Rectangle 36"/>
              <p:cNvSpPr/>
              <p:nvPr/>
            </p:nvSpPr>
            <p:spPr>
              <a:xfrm>
                <a:off x="1152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08" name="Rectangle 37"/>
              <p:cNvSpPr/>
              <p:nvPr/>
            </p:nvSpPr>
            <p:spPr>
              <a:xfrm>
                <a:off x="2869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09" name="Rectangle 38"/>
              <p:cNvSpPr/>
              <p:nvPr/>
            </p:nvSpPr>
            <p:spPr>
              <a:xfrm>
                <a:off x="2293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10" name="Rectangle 39"/>
              <p:cNvSpPr/>
              <p:nvPr/>
            </p:nvSpPr>
            <p:spPr>
              <a:xfrm>
                <a:off x="4044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11" name="Rectangle 40"/>
              <p:cNvSpPr/>
              <p:nvPr/>
            </p:nvSpPr>
            <p:spPr>
              <a:xfrm>
                <a:off x="3468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12" name="Rectangle 41"/>
              <p:cNvSpPr/>
              <p:nvPr/>
            </p:nvSpPr>
            <p:spPr>
              <a:xfrm>
                <a:off x="5180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13" name="Rectangle 42"/>
              <p:cNvSpPr/>
              <p:nvPr/>
            </p:nvSpPr>
            <p:spPr>
              <a:xfrm>
                <a:off x="4604" y="2229"/>
                <a:ext cx="288" cy="24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14" name="Line 43"/>
              <p:cNvSpPr/>
              <p:nvPr/>
            </p:nvSpPr>
            <p:spPr>
              <a:xfrm rot="5400000">
                <a:off x="1325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15" name="Line 44"/>
              <p:cNvSpPr/>
              <p:nvPr/>
            </p:nvSpPr>
            <p:spPr>
              <a:xfrm rot="5400000">
                <a:off x="1308" y="271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16" name="Freeform 45"/>
              <p:cNvSpPr/>
              <p:nvPr/>
            </p:nvSpPr>
            <p:spPr>
              <a:xfrm>
                <a:off x="1260" y="2709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17" name="Line 46"/>
              <p:cNvSpPr/>
              <p:nvPr/>
            </p:nvSpPr>
            <p:spPr>
              <a:xfrm rot="-5400000">
                <a:off x="1133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18" name="Line 47"/>
              <p:cNvSpPr/>
              <p:nvPr/>
            </p:nvSpPr>
            <p:spPr>
              <a:xfrm rot="-5400000">
                <a:off x="1212" y="2714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19" name="Freeform 48"/>
              <p:cNvSpPr/>
              <p:nvPr/>
            </p:nvSpPr>
            <p:spPr>
              <a:xfrm>
                <a:off x="1434" y="2353"/>
                <a:ext cx="112" cy="1"/>
              </a:xfrm>
              <a:custGeom>
                <a:avLst/>
                <a:gdLst>
                  <a:gd name="txL" fmla="*/ 0 w 112"/>
                  <a:gd name="txT" fmla="*/ 0 h 1"/>
                  <a:gd name="txR" fmla="*/ 112 w 11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2" y="0"/>
                  </a:cxn>
                </a:cxnLst>
                <a:rect l="txL" t="txT" r="txR" b="txB"/>
                <a:pathLst>
                  <a:path w="112" h="1">
                    <a:moveTo>
                      <a:pt x="0" y="0"/>
                    </a:moveTo>
                    <a:lnTo>
                      <a:pt x="11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20" name="Freeform 49"/>
              <p:cNvSpPr/>
              <p:nvPr/>
            </p:nvSpPr>
            <p:spPr>
              <a:xfrm>
                <a:off x="1059" y="1209"/>
                <a:ext cx="152" cy="1469"/>
              </a:xfrm>
              <a:custGeom>
                <a:avLst/>
                <a:gdLst>
                  <a:gd name="txL" fmla="*/ 0 w 152"/>
                  <a:gd name="txT" fmla="*/ 0 h 1469"/>
                  <a:gd name="txR" fmla="*/ 152 w 152"/>
                  <a:gd name="txB" fmla="*/ 1469 h 1469"/>
                </a:gdLst>
                <a:ahLst/>
                <a:cxnLst>
                  <a:cxn ang="0">
                    <a:pos x="152" y="1469"/>
                  </a:cxn>
                  <a:cxn ang="0">
                    <a:pos x="0" y="1469"/>
                  </a:cxn>
                  <a:cxn ang="0">
                    <a:pos x="0" y="0"/>
                  </a:cxn>
                  <a:cxn ang="0">
                    <a:pos x="95" y="1"/>
                  </a:cxn>
                </a:cxnLst>
                <a:rect l="txL" t="txT" r="txR" b="txB"/>
                <a:pathLst>
                  <a:path w="152" h="1469">
                    <a:moveTo>
                      <a:pt x="152" y="1469"/>
                    </a:moveTo>
                    <a:lnTo>
                      <a:pt x="0" y="1469"/>
                    </a:lnTo>
                    <a:lnTo>
                      <a:pt x="0" y="0"/>
                    </a:lnTo>
                    <a:lnTo>
                      <a:pt x="95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21" name="Freeform 50"/>
              <p:cNvSpPr/>
              <p:nvPr/>
            </p:nvSpPr>
            <p:spPr>
              <a:xfrm>
                <a:off x="1055" y="2353"/>
                <a:ext cx="102" cy="1"/>
              </a:xfrm>
              <a:custGeom>
                <a:avLst/>
                <a:gdLst>
                  <a:gd name="txL" fmla="*/ 0 w 102"/>
                  <a:gd name="txT" fmla="*/ 0 h 1"/>
                  <a:gd name="txR" fmla="*/ 102 w 102"/>
                  <a:gd name="txB" fmla="*/ 1 h 1"/>
                </a:gdLst>
                <a:ahLst/>
                <a:cxnLst>
                  <a:cxn ang="0">
                    <a:pos x="102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2" h="1">
                    <a:moveTo>
                      <a:pt x="102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22" name="Line 51"/>
              <p:cNvSpPr/>
              <p:nvPr/>
            </p:nvSpPr>
            <p:spPr>
              <a:xfrm rot="5400000">
                <a:off x="1896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23" name="Line 52"/>
              <p:cNvSpPr/>
              <p:nvPr/>
            </p:nvSpPr>
            <p:spPr>
              <a:xfrm rot="5400000">
                <a:off x="1879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24" name="Freeform 53"/>
              <p:cNvSpPr/>
              <p:nvPr/>
            </p:nvSpPr>
            <p:spPr>
              <a:xfrm>
                <a:off x="1831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25" name="Line 54"/>
              <p:cNvSpPr/>
              <p:nvPr/>
            </p:nvSpPr>
            <p:spPr>
              <a:xfrm rot="-5400000">
                <a:off x="1704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26" name="Line 55"/>
              <p:cNvSpPr/>
              <p:nvPr/>
            </p:nvSpPr>
            <p:spPr>
              <a:xfrm rot="-5400000">
                <a:off x="1783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27" name="Freeform 56"/>
              <p:cNvSpPr/>
              <p:nvPr/>
            </p:nvSpPr>
            <p:spPr>
              <a:xfrm>
                <a:off x="2005" y="2353"/>
                <a:ext cx="103" cy="1"/>
              </a:xfrm>
              <a:custGeom>
                <a:avLst/>
                <a:gdLst>
                  <a:gd name="txL" fmla="*/ 0 w 103"/>
                  <a:gd name="txT" fmla="*/ 0 h 1"/>
                  <a:gd name="txR" fmla="*/ 103 w 10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3" y="0"/>
                  </a:cxn>
                </a:cxnLst>
                <a:rect l="txL" t="txT" r="txR" b="txB"/>
                <a:pathLst>
                  <a:path w="103" h="1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28" name="Freeform 57"/>
              <p:cNvSpPr/>
              <p:nvPr/>
            </p:nvSpPr>
            <p:spPr>
              <a:xfrm>
                <a:off x="1611" y="2352"/>
                <a:ext cx="113" cy="1"/>
              </a:xfrm>
              <a:custGeom>
                <a:avLst/>
                <a:gdLst>
                  <a:gd name="txL" fmla="*/ 0 w 113"/>
                  <a:gd name="txT" fmla="*/ 0 h 1"/>
                  <a:gd name="txR" fmla="*/ 113 w 113"/>
                  <a:gd name="txB" fmla="*/ 1 h 1"/>
                </a:gdLst>
                <a:ahLst/>
                <a:cxnLst>
                  <a:cxn ang="0">
                    <a:pos x="113" y="1"/>
                  </a:cxn>
                  <a:cxn ang="0">
                    <a:pos x="0" y="0"/>
                  </a:cxn>
                </a:cxnLst>
                <a:rect l="txL" t="txT" r="txR" b="txB"/>
                <a:pathLst>
                  <a:path w="113" h="1">
                    <a:moveTo>
                      <a:pt x="113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29" name="Line 58"/>
              <p:cNvSpPr/>
              <p:nvPr/>
            </p:nvSpPr>
            <p:spPr>
              <a:xfrm rot="5400000">
                <a:off x="2477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30" name="Line 59"/>
              <p:cNvSpPr/>
              <p:nvPr/>
            </p:nvSpPr>
            <p:spPr>
              <a:xfrm rot="5400000">
                <a:off x="2460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31" name="Freeform 60"/>
              <p:cNvSpPr/>
              <p:nvPr/>
            </p:nvSpPr>
            <p:spPr>
              <a:xfrm>
                <a:off x="2412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32" name="Line 61"/>
              <p:cNvSpPr/>
              <p:nvPr/>
            </p:nvSpPr>
            <p:spPr>
              <a:xfrm rot="-5400000">
                <a:off x="2285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33" name="Line 62"/>
              <p:cNvSpPr/>
              <p:nvPr/>
            </p:nvSpPr>
            <p:spPr>
              <a:xfrm rot="-5400000">
                <a:off x="2364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34" name="Freeform 63"/>
              <p:cNvSpPr/>
              <p:nvPr/>
            </p:nvSpPr>
            <p:spPr>
              <a:xfrm>
                <a:off x="2586" y="2353"/>
                <a:ext cx="109" cy="1"/>
              </a:xfrm>
              <a:custGeom>
                <a:avLst/>
                <a:gdLst>
                  <a:gd name="txL" fmla="*/ 0 w 109"/>
                  <a:gd name="txT" fmla="*/ 0 h 1"/>
                  <a:gd name="txR" fmla="*/ 109 w 10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9" y="0"/>
                  </a:cxn>
                </a:cxnLst>
                <a:rect l="txL" t="txT" r="txR" b="txB"/>
                <a:pathLst>
                  <a:path w="109" h="1">
                    <a:moveTo>
                      <a:pt x="0" y="0"/>
                    </a:moveTo>
                    <a:lnTo>
                      <a:pt x="10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35" name="Freeform 64"/>
              <p:cNvSpPr/>
              <p:nvPr/>
            </p:nvSpPr>
            <p:spPr>
              <a:xfrm>
                <a:off x="2207" y="2353"/>
                <a:ext cx="89" cy="1"/>
              </a:xfrm>
              <a:custGeom>
                <a:avLst/>
                <a:gdLst>
                  <a:gd name="txL" fmla="*/ 0 w 89"/>
                  <a:gd name="txT" fmla="*/ 0 h 1"/>
                  <a:gd name="txR" fmla="*/ 89 w 89"/>
                  <a:gd name="txB" fmla="*/ 1 h 1"/>
                </a:gdLst>
                <a:ahLst/>
                <a:cxnLst>
                  <a:cxn ang="0">
                    <a:pos x="89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9" h="1">
                    <a:moveTo>
                      <a:pt x="89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36" name="Line 65"/>
              <p:cNvSpPr/>
              <p:nvPr/>
            </p:nvSpPr>
            <p:spPr>
              <a:xfrm rot="5400000">
                <a:off x="3053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37" name="Line 66"/>
              <p:cNvSpPr/>
              <p:nvPr/>
            </p:nvSpPr>
            <p:spPr>
              <a:xfrm rot="5400000">
                <a:off x="3036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38" name="Freeform 67"/>
              <p:cNvSpPr/>
              <p:nvPr/>
            </p:nvSpPr>
            <p:spPr>
              <a:xfrm>
                <a:off x="2988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39" name="Line 68"/>
              <p:cNvSpPr/>
              <p:nvPr/>
            </p:nvSpPr>
            <p:spPr>
              <a:xfrm rot="-5400000">
                <a:off x="2861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40" name="Line 69"/>
              <p:cNvSpPr/>
              <p:nvPr/>
            </p:nvSpPr>
            <p:spPr>
              <a:xfrm rot="-5400000">
                <a:off x="2940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41" name="Freeform 70"/>
              <p:cNvSpPr/>
              <p:nvPr/>
            </p:nvSpPr>
            <p:spPr>
              <a:xfrm>
                <a:off x="3162" y="2353"/>
                <a:ext cx="115" cy="1"/>
              </a:xfrm>
              <a:custGeom>
                <a:avLst/>
                <a:gdLst>
                  <a:gd name="txL" fmla="*/ 0 w 115"/>
                  <a:gd name="txT" fmla="*/ 0 h 1"/>
                  <a:gd name="txR" fmla="*/ 115 w 11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5" y="0"/>
                  </a:cxn>
                </a:cxnLst>
                <a:rect l="txL" t="txT" r="txR" b="txB"/>
                <a:pathLst>
                  <a:path w="115" h="1">
                    <a:moveTo>
                      <a:pt x="0" y="0"/>
                    </a:moveTo>
                    <a:lnTo>
                      <a:pt x="11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42" name="Freeform 71"/>
              <p:cNvSpPr/>
              <p:nvPr/>
            </p:nvSpPr>
            <p:spPr>
              <a:xfrm>
                <a:off x="2783" y="2353"/>
                <a:ext cx="90" cy="1"/>
              </a:xfrm>
              <a:custGeom>
                <a:avLst/>
                <a:gdLst>
                  <a:gd name="txL" fmla="*/ 0 w 90"/>
                  <a:gd name="txT" fmla="*/ 0 h 1"/>
                  <a:gd name="txR" fmla="*/ 90 w 90"/>
                  <a:gd name="txB" fmla="*/ 1 h 1"/>
                </a:gdLst>
                <a:ahLst/>
                <a:cxnLst>
                  <a:cxn ang="0">
                    <a:pos x="9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0" h="1">
                    <a:moveTo>
                      <a:pt x="9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43" name="Line 72"/>
              <p:cNvSpPr/>
              <p:nvPr/>
            </p:nvSpPr>
            <p:spPr>
              <a:xfrm rot="5400000">
                <a:off x="3629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44" name="Line 73"/>
              <p:cNvSpPr/>
              <p:nvPr/>
            </p:nvSpPr>
            <p:spPr>
              <a:xfrm rot="5400000">
                <a:off x="3612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45" name="Freeform 74"/>
              <p:cNvSpPr/>
              <p:nvPr/>
            </p:nvSpPr>
            <p:spPr>
              <a:xfrm>
                <a:off x="3564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46" name="Line 75"/>
              <p:cNvSpPr/>
              <p:nvPr/>
            </p:nvSpPr>
            <p:spPr>
              <a:xfrm rot="-5400000">
                <a:off x="3437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47" name="Line 76"/>
              <p:cNvSpPr/>
              <p:nvPr/>
            </p:nvSpPr>
            <p:spPr>
              <a:xfrm rot="-5400000">
                <a:off x="3516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48" name="Freeform 77"/>
              <p:cNvSpPr/>
              <p:nvPr/>
            </p:nvSpPr>
            <p:spPr>
              <a:xfrm>
                <a:off x="3751" y="2352"/>
                <a:ext cx="100" cy="1"/>
              </a:xfrm>
              <a:custGeom>
                <a:avLst/>
                <a:gdLst>
                  <a:gd name="txL" fmla="*/ 0 w 100"/>
                  <a:gd name="txT" fmla="*/ 0 h 1"/>
                  <a:gd name="txR" fmla="*/ 100 w 10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0" y="1"/>
                  </a:cxn>
                </a:cxnLst>
                <a:rect l="txL" t="txT" r="txR" b="txB"/>
                <a:pathLst>
                  <a:path w="100" h="1">
                    <a:moveTo>
                      <a:pt x="0" y="0"/>
                    </a:moveTo>
                    <a:lnTo>
                      <a:pt x="10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49" name="Freeform 78"/>
              <p:cNvSpPr/>
              <p:nvPr/>
            </p:nvSpPr>
            <p:spPr>
              <a:xfrm>
                <a:off x="3359" y="2353"/>
                <a:ext cx="108" cy="1"/>
              </a:xfrm>
              <a:custGeom>
                <a:avLst/>
                <a:gdLst>
                  <a:gd name="txL" fmla="*/ 0 w 108"/>
                  <a:gd name="txT" fmla="*/ 0 h 1"/>
                  <a:gd name="txR" fmla="*/ 108 w 108"/>
                  <a:gd name="txB" fmla="*/ 1 h 1"/>
                </a:gdLst>
                <a:ahLst/>
                <a:cxnLst>
                  <a:cxn ang="0">
                    <a:pos x="10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8" h="1">
                    <a:moveTo>
                      <a:pt x="10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50" name="Line 79"/>
              <p:cNvSpPr/>
              <p:nvPr/>
            </p:nvSpPr>
            <p:spPr>
              <a:xfrm rot="5400000">
                <a:off x="4205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51" name="Line 80"/>
              <p:cNvSpPr/>
              <p:nvPr/>
            </p:nvSpPr>
            <p:spPr>
              <a:xfrm rot="5400000">
                <a:off x="4188" y="2696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52" name="Freeform 81"/>
              <p:cNvSpPr/>
              <p:nvPr/>
            </p:nvSpPr>
            <p:spPr>
              <a:xfrm>
                <a:off x="4140" y="2695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53" name="Line 82"/>
              <p:cNvSpPr/>
              <p:nvPr/>
            </p:nvSpPr>
            <p:spPr>
              <a:xfrm rot="-5400000">
                <a:off x="4013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54" name="Line 83"/>
              <p:cNvSpPr/>
              <p:nvPr/>
            </p:nvSpPr>
            <p:spPr>
              <a:xfrm rot="-5400000">
                <a:off x="4092" y="270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755" name="Freeform 84"/>
              <p:cNvSpPr/>
              <p:nvPr/>
            </p:nvSpPr>
            <p:spPr>
              <a:xfrm>
                <a:off x="4336" y="2351"/>
                <a:ext cx="90" cy="2"/>
              </a:xfrm>
              <a:custGeom>
                <a:avLst/>
                <a:gdLst>
                  <a:gd name="txL" fmla="*/ 0 w 90"/>
                  <a:gd name="txT" fmla="*/ 0 h 2"/>
                  <a:gd name="txR" fmla="*/ 90 w 90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0" y="2"/>
                  </a:cxn>
                </a:cxnLst>
                <a:rect l="txL" t="txT" r="txR" b="txB"/>
                <a:pathLst>
                  <a:path w="90" h="2">
                    <a:moveTo>
                      <a:pt x="0" y="0"/>
                    </a:moveTo>
                    <a:lnTo>
                      <a:pt x="90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56" name="Freeform 85"/>
              <p:cNvSpPr/>
              <p:nvPr/>
            </p:nvSpPr>
            <p:spPr>
              <a:xfrm>
                <a:off x="3935" y="2353"/>
                <a:ext cx="104" cy="1"/>
              </a:xfrm>
              <a:custGeom>
                <a:avLst/>
                <a:gdLst>
                  <a:gd name="txL" fmla="*/ 0 w 104"/>
                  <a:gd name="txT" fmla="*/ 0 h 1"/>
                  <a:gd name="txR" fmla="*/ 104 w 104"/>
                  <a:gd name="txB" fmla="*/ 1 h 1"/>
                </a:gdLst>
                <a:ahLst/>
                <a:cxnLst>
                  <a:cxn ang="0">
                    <a:pos x="10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4" h="1">
                    <a:moveTo>
                      <a:pt x="10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3757" name="Group 86"/>
              <p:cNvGrpSpPr/>
              <p:nvPr/>
            </p:nvGrpSpPr>
            <p:grpSpPr>
              <a:xfrm>
                <a:off x="4668" y="2634"/>
                <a:ext cx="192" cy="158"/>
                <a:chOff x="4692" y="2634"/>
                <a:chExt cx="192" cy="158"/>
              </a:xfrm>
            </p:grpSpPr>
            <p:grpSp>
              <p:nvGrpSpPr>
                <p:cNvPr id="283904" name="Group 87"/>
                <p:cNvGrpSpPr/>
                <p:nvPr/>
              </p:nvGrpSpPr>
              <p:grpSpPr>
                <a:xfrm>
                  <a:off x="4836" y="2634"/>
                  <a:ext cx="48" cy="158"/>
                  <a:chOff x="4836" y="2634"/>
                  <a:chExt cx="48" cy="158"/>
                </a:xfrm>
              </p:grpSpPr>
              <p:sp>
                <p:nvSpPr>
                  <p:cNvPr id="283909" name="Line 88"/>
                  <p:cNvSpPr/>
                  <p:nvPr/>
                </p:nvSpPr>
                <p:spPr>
                  <a:xfrm rot="5400000">
                    <a:off x="4805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3910" name="Line 89"/>
                  <p:cNvSpPr/>
                  <p:nvPr/>
                </p:nvSpPr>
                <p:spPr>
                  <a:xfrm rot="5400000">
                    <a:off x="4788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3905" name="Freeform 90"/>
                <p:cNvSpPr/>
                <p:nvPr/>
              </p:nvSpPr>
              <p:spPr>
                <a:xfrm>
                  <a:off x="4740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3906" name="Group 91"/>
                <p:cNvGrpSpPr/>
                <p:nvPr/>
              </p:nvGrpSpPr>
              <p:grpSpPr>
                <a:xfrm>
                  <a:off x="4692" y="2634"/>
                  <a:ext cx="48" cy="158"/>
                  <a:chOff x="4692" y="2634"/>
                  <a:chExt cx="48" cy="158"/>
                </a:xfrm>
              </p:grpSpPr>
              <p:sp>
                <p:nvSpPr>
                  <p:cNvPr id="283907" name="Line 92"/>
                  <p:cNvSpPr/>
                  <p:nvPr/>
                </p:nvSpPr>
                <p:spPr>
                  <a:xfrm rot="-5400000">
                    <a:off x="4613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3908" name="Line 93"/>
                  <p:cNvSpPr/>
                  <p:nvPr/>
                </p:nvSpPr>
                <p:spPr>
                  <a:xfrm rot="-5400000">
                    <a:off x="4692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83758" name="Freeform 94"/>
              <p:cNvSpPr/>
              <p:nvPr/>
            </p:nvSpPr>
            <p:spPr>
              <a:xfrm>
                <a:off x="4890" y="2353"/>
                <a:ext cx="107" cy="1"/>
              </a:xfrm>
              <a:custGeom>
                <a:avLst/>
                <a:gdLst>
                  <a:gd name="txL" fmla="*/ 0 w 107"/>
                  <a:gd name="txT" fmla="*/ 0 h 1"/>
                  <a:gd name="txR" fmla="*/ 107 w 10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7" y="0"/>
                  </a:cxn>
                </a:cxnLst>
                <a:rect l="txL" t="txT" r="txR" b="txB"/>
                <a:pathLst>
                  <a:path w="107" h="1">
                    <a:moveTo>
                      <a:pt x="0" y="0"/>
                    </a:moveTo>
                    <a:lnTo>
                      <a:pt x="10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59" name="Freeform 95"/>
              <p:cNvSpPr/>
              <p:nvPr/>
            </p:nvSpPr>
            <p:spPr>
              <a:xfrm>
                <a:off x="4511" y="2353"/>
                <a:ext cx="96" cy="1"/>
              </a:xfrm>
              <a:custGeom>
                <a:avLst/>
                <a:gdLst>
                  <a:gd name="txL" fmla="*/ 0 w 96"/>
                  <a:gd name="txT" fmla="*/ 0 h 1"/>
                  <a:gd name="txR" fmla="*/ 96 w 96"/>
                  <a:gd name="txB" fmla="*/ 1 h 1"/>
                </a:gdLst>
                <a:ahLst/>
                <a:cxnLst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1">
                    <a:moveTo>
                      <a:pt x="96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3760" name="Group 96"/>
              <p:cNvGrpSpPr/>
              <p:nvPr/>
            </p:nvGrpSpPr>
            <p:grpSpPr>
              <a:xfrm>
                <a:off x="5235" y="2634"/>
                <a:ext cx="192" cy="158"/>
                <a:chOff x="5259" y="2634"/>
                <a:chExt cx="192" cy="158"/>
              </a:xfrm>
            </p:grpSpPr>
            <p:grpSp>
              <p:nvGrpSpPr>
                <p:cNvPr id="283897" name="Group 97"/>
                <p:cNvGrpSpPr/>
                <p:nvPr/>
              </p:nvGrpSpPr>
              <p:grpSpPr>
                <a:xfrm>
                  <a:off x="5403" y="2634"/>
                  <a:ext cx="48" cy="158"/>
                  <a:chOff x="5403" y="2634"/>
                  <a:chExt cx="48" cy="158"/>
                </a:xfrm>
              </p:grpSpPr>
              <p:sp>
                <p:nvSpPr>
                  <p:cNvPr id="283902" name="Line 98"/>
                  <p:cNvSpPr/>
                  <p:nvPr/>
                </p:nvSpPr>
                <p:spPr>
                  <a:xfrm rot="5400000">
                    <a:off x="5372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3903" name="Line 99"/>
                  <p:cNvSpPr/>
                  <p:nvPr/>
                </p:nvSpPr>
                <p:spPr>
                  <a:xfrm rot="5400000">
                    <a:off x="5355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3898" name="Freeform 100"/>
                <p:cNvSpPr/>
                <p:nvPr/>
              </p:nvSpPr>
              <p:spPr>
                <a:xfrm>
                  <a:off x="5307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3899" name="Group 101"/>
                <p:cNvGrpSpPr/>
                <p:nvPr/>
              </p:nvGrpSpPr>
              <p:grpSpPr>
                <a:xfrm>
                  <a:off x="5259" y="2634"/>
                  <a:ext cx="48" cy="158"/>
                  <a:chOff x="5259" y="2634"/>
                  <a:chExt cx="48" cy="158"/>
                </a:xfrm>
              </p:grpSpPr>
              <p:sp>
                <p:nvSpPr>
                  <p:cNvPr id="283900" name="Line 102"/>
                  <p:cNvSpPr/>
                  <p:nvPr/>
                </p:nvSpPr>
                <p:spPr>
                  <a:xfrm rot="-5400000">
                    <a:off x="5180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3901" name="Line 103"/>
                  <p:cNvSpPr/>
                  <p:nvPr/>
                </p:nvSpPr>
                <p:spPr>
                  <a:xfrm rot="-5400000">
                    <a:off x="5259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83761" name="Freeform 104"/>
              <p:cNvSpPr/>
              <p:nvPr/>
            </p:nvSpPr>
            <p:spPr>
              <a:xfrm>
                <a:off x="5467" y="2351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6" y="2"/>
                  </a:cxn>
                </a:cxnLst>
                <a:rect l="txL" t="txT" r="txR" b="txB"/>
                <a:pathLst>
                  <a:path w="96" h="2">
                    <a:moveTo>
                      <a:pt x="0" y="0"/>
                    </a:moveTo>
                    <a:lnTo>
                      <a:pt x="9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62" name="Freeform 105"/>
              <p:cNvSpPr/>
              <p:nvPr/>
            </p:nvSpPr>
            <p:spPr>
              <a:xfrm>
                <a:off x="5078" y="2353"/>
                <a:ext cx="101" cy="1"/>
              </a:xfrm>
              <a:custGeom>
                <a:avLst/>
                <a:gdLst>
                  <a:gd name="txL" fmla="*/ 0 w 101"/>
                  <a:gd name="txT" fmla="*/ 0 h 1"/>
                  <a:gd name="txR" fmla="*/ 101 w 101"/>
                  <a:gd name="txB" fmla="*/ 1 h 1"/>
                </a:gdLst>
                <a:ahLst/>
                <a:cxnLst>
                  <a:cxn ang="0">
                    <a:pos x="101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1" h="1">
                    <a:moveTo>
                      <a:pt x="101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63" name="Freeform 106"/>
              <p:cNvSpPr/>
              <p:nvPr/>
            </p:nvSpPr>
            <p:spPr>
              <a:xfrm>
                <a:off x="908" y="856"/>
                <a:ext cx="4419" cy="1"/>
              </a:xfrm>
              <a:custGeom>
                <a:avLst/>
                <a:gdLst>
                  <a:gd name="txL" fmla="*/ 0 w 4419"/>
                  <a:gd name="txT" fmla="*/ 0 h 1"/>
                  <a:gd name="txR" fmla="*/ 4419 w 4419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9" y="0"/>
                  </a:cxn>
                </a:cxnLst>
                <a:rect l="txL" t="txT" r="txR" b="txB"/>
                <a:pathLst>
                  <a:path w="4419" h="1">
                    <a:moveTo>
                      <a:pt x="0" y="1"/>
                    </a:moveTo>
                    <a:lnTo>
                      <a:pt x="441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64" name="Line 107"/>
              <p:cNvSpPr/>
              <p:nvPr/>
            </p:nvSpPr>
            <p:spPr>
              <a:xfrm>
                <a:off x="129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65" name="Line 108"/>
              <p:cNvSpPr/>
              <p:nvPr/>
            </p:nvSpPr>
            <p:spPr>
              <a:xfrm>
                <a:off x="186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66" name="Line 109"/>
              <p:cNvSpPr/>
              <p:nvPr/>
            </p:nvSpPr>
            <p:spPr>
              <a:xfrm>
                <a:off x="2444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67" name="Line 110"/>
              <p:cNvSpPr/>
              <p:nvPr/>
            </p:nvSpPr>
            <p:spPr>
              <a:xfrm>
                <a:off x="3020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68" name="Line 111"/>
              <p:cNvSpPr/>
              <p:nvPr/>
            </p:nvSpPr>
            <p:spPr>
              <a:xfrm>
                <a:off x="3596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69" name="Line 112"/>
              <p:cNvSpPr/>
              <p:nvPr/>
            </p:nvSpPr>
            <p:spPr>
              <a:xfrm>
                <a:off x="417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70" name="Line 113"/>
              <p:cNvSpPr/>
              <p:nvPr/>
            </p:nvSpPr>
            <p:spPr>
              <a:xfrm>
                <a:off x="474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71" name="Line 114"/>
              <p:cNvSpPr/>
              <p:nvPr/>
            </p:nvSpPr>
            <p:spPr>
              <a:xfrm>
                <a:off x="5324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83772" name="Freeform 115"/>
              <p:cNvSpPr/>
              <p:nvPr/>
            </p:nvSpPr>
            <p:spPr>
              <a:xfrm>
                <a:off x="1305" y="2708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1" y="0"/>
                  </a:cxn>
                  <a:cxn ang="0">
                    <a:pos x="0" y="166"/>
                  </a:cxn>
                </a:cxnLst>
                <a:rect l="txL" t="txT" r="txR" b="txB"/>
                <a:pathLst>
                  <a:path w="1" h="166">
                    <a:moveTo>
                      <a:pt x="1" y="0"/>
                    </a:moveTo>
                    <a:lnTo>
                      <a:pt x="0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73" name="Freeform 116"/>
              <p:cNvSpPr/>
              <p:nvPr/>
            </p:nvSpPr>
            <p:spPr>
              <a:xfrm>
                <a:off x="1880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74" name="Freeform 117"/>
              <p:cNvSpPr/>
              <p:nvPr/>
            </p:nvSpPr>
            <p:spPr>
              <a:xfrm>
                <a:off x="2454" y="2708"/>
                <a:ext cx="4" cy="166"/>
              </a:xfrm>
              <a:custGeom>
                <a:avLst/>
                <a:gdLst>
                  <a:gd name="txL" fmla="*/ 0 w 4"/>
                  <a:gd name="txT" fmla="*/ 0 h 166"/>
                  <a:gd name="txR" fmla="*/ 4 w 4"/>
                  <a:gd name="txB" fmla="*/ 166 h 166"/>
                </a:gdLst>
                <a:ahLst/>
                <a:cxnLst>
                  <a:cxn ang="0">
                    <a:pos x="4" y="0"/>
                  </a:cxn>
                  <a:cxn ang="0">
                    <a:pos x="0" y="166"/>
                  </a:cxn>
                </a:cxnLst>
                <a:rect l="txL" t="txT" r="txR" b="txB"/>
                <a:pathLst>
                  <a:path w="4" h="166">
                    <a:moveTo>
                      <a:pt x="4" y="0"/>
                    </a:moveTo>
                    <a:lnTo>
                      <a:pt x="0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75" name="Freeform 118"/>
              <p:cNvSpPr/>
              <p:nvPr/>
            </p:nvSpPr>
            <p:spPr>
              <a:xfrm>
                <a:off x="3606" y="2708"/>
                <a:ext cx="2" cy="175"/>
              </a:xfrm>
              <a:custGeom>
                <a:avLst/>
                <a:gdLst>
                  <a:gd name="txL" fmla="*/ 0 w 2"/>
                  <a:gd name="txT" fmla="*/ 0 h 175"/>
                  <a:gd name="txR" fmla="*/ 2 w 2"/>
                  <a:gd name="txB" fmla="*/ 175 h 175"/>
                </a:gdLst>
                <a:ahLst/>
                <a:cxnLst>
                  <a:cxn ang="0">
                    <a:pos x="2" y="0"/>
                  </a:cxn>
                  <a:cxn ang="0">
                    <a:pos x="0" y="175"/>
                  </a:cxn>
                </a:cxnLst>
                <a:rect l="txL" t="txT" r="txR" b="txB"/>
                <a:pathLst>
                  <a:path w="2" h="175">
                    <a:moveTo>
                      <a:pt x="2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76" name="Freeform 119"/>
              <p:cNvSpPr/>
              <p:nvPr/>
            </p:nvSpPr>
            <p:spPr>
              <a:xfrm>
                <a:off x="4760" y="2697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77" name="Freeform 120"/>
              <p:cNvSpPr/>
              <p:nvPr/>
            </p:nvSpPr>
            <p:spPr>
              <a:xfrm>
                <a:off x="908" y="1480"/>
                <a:ext cx="4422" cy="1"/>
              </a:xfrm>
              <a:custGeom>
                <a:avLst/>
                <a:gdLst>
                  <a:gd name="txL" fmla="*/ 0 w 4422"/>
                  <a:gd name="txT" fmla="*/ 0 h 1"/>
                  <a:gd name="txR" fmla="*/ 4422 w 4422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22" y="0"/>
                  </a:cxn>
                </a:cxnLst>
                <a:rect l="txL" t="txT" r="txR" b="txB"/>
                <a:pathLst>
                  <a:path w="4422" h="1">
                    <a:moveTo>
                      <a:pt x="0" y="1"/>
                    </a:moveTo>
                    <a:lnTo>
                      <a:pt x="442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78" name="Line 121"/>
              <p:cNvSpPr/>
              <p:nvPr/>
            </p:nvSpPr>
            <p:spPr>
              <a:xfrm>
                <a:off x="129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79" name="Line 122"/>
              <p:cNvSpPr/>
              <p:nvPr/>
            </p:nvSpPr>
            <p:spPr>
              <a:xfrm>
                <a:off x="186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80" name="Line 123"/>
              <p:cNvSpPr/>
              <p:nvPr/>
            </p:nvSpPr>
            <p:spPr>
              <a:xfrm>
                <a:off x="2444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81" name="Line 124"/>
              <p:cNvSpPr/>
              <p:nvPr/>
            </p:nvSpPr>
            <p:spPr>
              <a:xfrm>
                <a:off x="3020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82" name="Line 125"/>
              <p:cNvSpPr/>
              <p:nvPr/>
            </p:nvSpPr>
            <p:spPr>
              <a:xfrm>
                <a:off x="3596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83" name="Line 126"/>
              <p:cNvSpPr/>
              <p:nvPr/>
            </p:nvSpPr>
            <p:spPr>
              <a:xfrm>
                <a:off x="417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84" name="Line 127"/>
              <p:cNvSpPr/>
              <p:nvPr/>
            </p:nvSpPr>
            <p:spPr>
              <a:xfrm>
                <a:off x="474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85" name="Line 128"/>
              <p:cNvSpPr/>
              <p:nvPr/>
            </p:nvSpPr>
            <p:spPr>
              <a:xfrm>
                <a:off x="5324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83786" name="Freeform 129"/>
              <p:cNvSpPr/>
              <p:nvPr/>
            </p:nvSpPr>
            <p:spPr>
              <a:xfrm>
                <a:off x="908" y="2056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87" name="Line 130"/>
              <p:cNvSpPr/>
              <p:nvPr/>
            </p:nvSpPr>
            <p:spPr>
              <a:xfrm>
                <a:off x="129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88" name="Line 131"/>
              <p:cNvSpPr/>
              <p:nvPr/>
            </p:nvSpPr>
            <p:spPr>
              <a:xfrm>
                <a:off x="186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89" name="Line 132"/>
              <p:cNvSpPr/>
              <p:nvPr/>
            </p:nvSpPr>
            <p:spPr>
              <a:xfrm>
                <a:off x="2444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90" name="Line 133"/>
              <p:cNvSpPr/>
              <p:nvPr/>
            </p:nvSpPr>
            <p:spPr>
              <a:xfrm>
                <a:off x="3020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91" name="Line 134"/>
              <p:cNvSpPr/>
              <p:nvPr/>
            </p:nvSpPr>
            <p:spPr>
              <a:xfrm>
                <a:off x="3596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92" name="Line 135"/>
              <p:cNvSpPr/>
              <p:nvPr/>
            </p:nvSpPr>
            <p:spPr>
              <a:xfrm>
                <a:off x="417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93" name="Line 136"/>
              <p:cNvSpPr/>
              <p:nvPr/>
            </p:nvSpPr>
            <p:spPr>
              <a:xfrm>
                <a:off x="474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83794" name="Line 137"/>
              <p:cNvSpPr/>
              <p:nvPr/>
            </p:nvSpPr>
            <p:spPr>
              <a:xfrm>
                <a:off x="5324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83795" name="Freeform 138"/>
              <p:cNvSpPr/>
              <p:nvPr/>
            </p:nvSpPr>
            <p:spPr>
              <a:xfrm>
                <a:off x="909" y="2879"/>
                <a:ext cx="3860" cy="1"/>
              </a:xfrm>
              <a:custGeom>
                <a:avLst/>
                <a:gdLst>
                  <a:gd name="txL" fmla="*/ 0 w 3860"/>
                  <a:gd name="txT" fmla="*/ 0 h 1"/>
                  <a:gd name="txR" fmla="*/ 3860 w 3860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3860" y="0"/>
                  </a:cxn>
                </a:cxnLst>
                <a:rect l="txL" t="txT" r="txR" b="txB"/>
                <a:pathLst>
                  <a:path w="3860" h="1">
                    <a:moveTo>
                      <a:pt x="0" y="1"/>
                    </a:moveTo>
                    <a:lnTo>
                      <a:pt x="38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96" name="Freeform 139"/>
              <p:cNvSpPr/>
              <p:nvPr/>
            </p:nvSpPr>
            <p:spPr>
              <a:xfrm>
                <a:off x="912" y="3209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97" name="Rectangle 140"/>
              <p:cNvSpPr/>
              <p:nvPr/>
            </p:nvSpPr>
            <p:spPr>
              <a:xfrm>
                <a:off x="1141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798" name="Text Box 141"/>
              <p:cNvSpPr txBox="1"/>
              <p:nvPr/>
            </p:nvSpPr>
            <p:spPr>
              <a:xfrm>
                <a:off x="1172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799" name="Freeform 142"/>
              <p:cNvSpPr/>
              <p:nvPr/>
            </p:nvSpPr>
            <p:spPr>
              <a:xfrm>
                <a:off x="1402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00" name="Freeform 143"/>
              <p:cNvSpPr/>
              <p:nvPr/>
            </p:nvSpPr>
            <p:spPr>
              <a:xfrm>
                <a:off x="1613" y="1211"/>
                <a:ext cx="169" cy="1469"/>
              </a:xfrm>
              <a:custGeom>
                <a:avLst/>
                <a:gdLst>
                  <a:gd name="txL" fmla="*/ 0 w 169"/>
                  <a:gd name="txT" fmla="*/ 0 h 1469"/>
                  <a:gd name="txR" fmla="*/ 169 w 169"/>
                  <a:gd name="txB" fmla="*/ 1469 h 1469"/>
                </a:gdLst>
                <a:ahLst/>
                <a:cxnLst>
                  <a:cxn ang="0">
                    <a:pos x="169" y="1468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5" y="0"/>
                  </a:cxn>
                </a:cxnLst>
                <a:rect l="txL" t="txT" r="txR" b="txB"/>
                <a:pathLst>
                  <a:path w="169" h="1469">
                    <a:moveTo>
                      <a:pt x="169" y="1468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01" name="Freeform 144"/>
              <p:cNvSpPr/>
              <p:nvPr/>
            </p:nvSpPr>
            <p:spPr>
              <a:xfrm>
                <a:off x="1967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38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38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02" name="Freeform 145"/>
              <p:cNvSpPr/>
              <p:nvPr/>
            </p:nvSpPr>
            <p:spPr>
              <a:xfrm>
                <a:off x="2208" y="1211"/>
                <a:ext cx="155" cy="1467"/>
              </a:xfrm>
              <a:custGeom>
                <a:avLst/>
                <a:gdLst>
                  <a:gd name="txL" fmla="*/ 0 w 155"/>
                  <a:gd name="txT" fmla="*/ 0 h 1467"/>
                  <a:gd name="txR" fmla="*/ 155 w 155"/>
                  <a:gd name="txB" fmla="*/ 1467 h 1467"/>
                </a:gdLst>
                <a:ahLst/>
                <a:cxnLst>
                  <a:cxn ang="0">
                    <a:pos x="155" y="1467"/>
                  </a:cxn>
                  <a:cxn ang="0">
                    <a:pos x="3" y="1467"/>
                  </a:cxn>
                  <a:cxn ang="0">
                    <a:pos x="0" y="1"/>
                  </a:cxn>
                  <a:cxn ang="0">
                    <a:pos x="89" y="0"/>
                  </a:cxn>
                </a:cxnLst>
                <a:rect l="txL" t="txT" r="txR" b="txB"/>
                <a:pathLst>
                  <a:path w="155" h="1467">
                    <a:moveTo>
                      <a:pt x="155" y="1467"/>
                    </a:moveTo>
                    <a:lnTo>
                      <a:pt x="3" y="1467"/>
                    </a:lnTo>
                    <a:lnTo>
                      <a:pt x="0" y="1"/>
                    </a:lnTo>
                    <a:lnTo>
                      <a:pt x="8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03" name="Freeform 146"/>
              <p:cNvSpPr/>
              <p:nvPr/>
            </p:nvSpPr>
            <p:spPr>
              <a:xfrm>
                <a:off x="2557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4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04" name="Freeform 147"/>
              <p:cNvSpPr/>
              <p:nvPr/>
            </p:nvSpPr>
            <p:spPr>
              <a:xfrm>
                <a:off x="2787" y="1211"/>
                <a:ext cx="152" cy="1467"/>
              </a:xfrm>
              <a:custGeom>
                <a:avLst/>
                <a:gdLst>
                  <a:gd name="txL" fmla="*/ 0 w 152"/>
                  <a:gd name="txT" fmla="*/ 0 h 1467"/>
                  <a:gd name="txR" fmla="*/ 152 w 152"/>
                  <a:gd name="txB" fmla="*/ 1467 h 1467"/>
                </a:gdLst>
                <a:ahLst/>
                <a:cxnLst>
                  <a:cxn ang="0">
                    <a:pos x="152" y="1467"/>
                  </a:cxn>
                  <a:cxn ang="0">
                    <a:pos x="0" y="1467"/>
                  </a:cxn>
                  <a:cxn ang="0">
                    <a:pos x="0" y="1"/>
                  </a:cxn>
                  <a:cxn ang="0">
                    <a:pos x="77" y="0"/>
                  </a:cxn>
                </a:cxnLst>
                <a:rect l="txL" t="txT" r="txR" b="txB"/>
                <a:pathLst>
                  <a:path w="152" h="1467">
                    <a:moveTo>
                      <a:pt x="152" y="1467"/>
                    </a:moveTo>
                    <a:lnTo>
                      <a:pt x="0" y="1467"/>
                    </a:lnTo>
                    <a:lnTo>
                      <a:pt x="0" y="1"/>
                    </a:lnTo>
                    <a:lnTo>
                      <a:pt x="7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05" name="Freeform 148"/>
              <p:cNvSpPr/>
              <p:nvPr/>
            </p:nvSpPr>
            <p:spPr>
              <a:xfrm>
                <a:off x="3130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06" name="Freeform 149"/>
              <p:cNvSpPr/>
              <p:nvPr/>
            </p:nvSpPr>
            <p:spPr>
              <a:xfrm>
                <a:off x="3360" y="1209"/>
                <a:ext cx="155" cy="1469"/>
              </a:xfrm>
              <a:custGeom>
                <a:avLst/>
                <a:gdLst>
                  <a:gd name="txL" fmla="*/ 0 w 155"/>
                  <a:gd name="txT" fmla="*/ 0 h 1469"/>
                  <a:gd name="txR" fmla="*/ 155 w 155"/>
                  <a:gd name="txB" fmla="*/ 1469 h 1469"/>
                </a:gdLst>
                <a:ahLst/>
                <a:cxnLst>
                  <a:cxn ang="0">
                    <a:pos x="155" y="1469"/>
                  </a:cxn>
                  <a:cxn ang="0">
                    <a:pos x="3" y="1469"/>
                  </a:cxn>
                  <a:cxn ang="0">
                    <a:pos x="0" y="0"/>
                  </a:cxn>
                  <a:cxn ang="0">
                    <a:pos x="103" y="2"/>
                  </a:cxn>
                </a:cxnLst>
                <a:rect l="txL" t="txT" r="txR" b="txB"/>
                <a:pathLst>
                  <a:path w="155" h="1469">
                    <a:moveTo>
                      <a:pt x="155" y="1469"/>
                    </a:moveTo>
                    <a:lnTo>
                      <a:pt x="3" y="1469"/>
                    </a:lnTo>
                    <a:lnTo>
                      <a:pt x="0" y="0"/>
                    </a:lnTo>
                    <a:lnTo>
                      <a:pt x="103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07" name="Freeform 150"/>
              <p:cNvSpPr/>
              <p:nvPr/>
            </p:nvSpPr>
            <p:spPr>
              <a:xfrm>
                <a:off x="3710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42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42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08" name="Freeform 151"/>
              <p:cNvSpPr/>
              <p:nvPr/>
            </p:nvSpPr>
            <p:spPr>
              <a:xfrm>
                <a:off x="3939" y="1211"/>
                <a:ext cx="152" cy="1467"/>
              </a:xfrm>
              <a:custGeom>
                <a:avLst/>
                <a:gdLst>
                  <a:gd name="txL" fmla="*/ 0 w 152"/>
                  <a:gd name="txT" fmla="*/ 0 h 1467"/>
                  <a:gd name="txR" fmla="*/ 152 w 152"/>
                  <a:gd name="txB" fmla="*/ 1467 h 1467"/>
                </a:gdLst>
                <a:ahLst/>
                <a:cxnLst>
                  <a:cxn ang="0">
                    <a:pos x="152" y="1467"/>
                  </a:cxn>
                  <a:cxn ang="0">
                    <a:pos x="0" y="1467"/>
                  </a:cxn>
                  <a:cxn ang="0">
                    <a:pos x="0" y="1"/>
                  </a:cxn>
                  <a:cxn ang="0">
                    <a:pos x="103" y="0"/>
                  </a:cxn>
                </a:cxnLst>
                <a:rect l="txL" t="txT" r="txR" b="txB"/>
                <a:pathLst>
                  <a:path w="152" h="1467">
                    <a:moveTo>
                      <a:pt x="152" y="1467"/>
                    </a:moveTo>
                    <a:lnTo>
                      <a:pt x="0" y="1467"/>
                    </a:lnTo>
                    <a:lnTo>
                      <a:pt x="0" y="1"/>
                    </a:lnTo>
                    <a:lnTo>
                      <a:pt x="10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09" name="Freeform 152"/>
              <p:cNvSpPr/>
              <p:nvPr/>
            </p:nvSpPr>
            <p:spPr>
              <a:xfrm>
                <a:off x="4280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51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51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10" name="Freeform 153"/>
              <p:cNvSpPr/>
              <p:nvPr/>
            </p:nvSpPr>
            <p:spPr>
              <a:xfrm>
                <a:off x="4509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0" y="1467"/>
                  </a:cxn>
                  <a:cxn ang="0">
                    <a:pos x="0" y="0"/>
                  </a:cxn>
                  <a:cxn ang="0">
                    <a:pos x="95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0" y="1467"/>
                    </a:lnTo>
                    <a:lnTo>
                      <a:pt x="0" y="0"/>
                    </a:lnTo>
                    <a:lnTo>
                      <a:pt x="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11" name="Freeform 154"/>
              <p:cNvSpPr/>
              <p:nvPr/>
            </p:nvSpPr>
            <p:spPr>
              <a:xfrm>
                <a:off x="4861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12" name="Freeform 155"/>
              <p:cNvSpPr/>
              <p:nvPr/>
            </p:nvSpPr>
            <p:spPr>
              <a:xfrm>
                <a:off x="5069" y="1211"/>
                <a:ext cx="159" cy="1469"/>
              </a:xfrm>
              <a:custGeom>
                <a:avLst/>
                <a:gdLst>
                  <a:gd name="txL" fmla="*/ 0 w 159"/>
                  <a:gd name="txT" fmla="*/ 0 h 1469"/>
                  <a:gd name="txR" fmla="*/ 159 w 159"/>
                  <a:gd name="txB" fmla="*/ 1469 h 1469"/>
                </a:gdLst>
                <a:ahLst/>
                <a:cxnLst>
                  <a:cxn ang="0">
                    <a:pos x="159" y="1467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4" y="0"/>
                  </a:cxn>
                </a:cxnLst>
                <a:rect l="txL" t="txT" r="txR" b="txB"/>
                <a:pathLst>
                  <a:path w="159" h="1469">
                    <a:moveTo>
                      <a:pt x="159" y="1467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13" name="Freeform 156"/>
              <p:cNvSpPr/>
              <p:nvPr/>
            </p:nvSpPr>
            <p:spPr>
              <a:xfrm>
                <a:off x="5417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47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47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14" name="Freeform 157"/>
              <p:cNvSpPr/>
              <p:nvPr/>
            </p:nvSpPr>
            <p:spPr>
              <a:xfrm>
                <a:off x="1055" y="2738"/>
                <a:ext cx="730" cy="660"/>
              </a:xfrm>
              <a:custGeom>
                <a:avLst/>
                <a:gdLst>
                  <a:gd name="txL" fmla="*/ 0 w 730"/>
                  <a:gd name="txT" fmla="*/ 0 h 660"/>
                  <a:gd name="txR" fmla="*/ 730 w 730"/>
                  <a:gd name="txB" fmla="*/ 660 h 660"/>
                </a:gdLst>
                <a:ahLst/>
                <a:cxnLst>
                  <a:cxn ang="0">
                    <a:pos x="160" y="4"/>
                  </a:cxn>
                  <a:cxn ang="0">
                    <a:pos x="0" y="3"/>
                  </a:cxn>
                  <a:cxn ang="0">
                    <a:pos x="0" y="660"/>
                  </a:cxn>
                  <a:cxn ang="0">
                    <a:pos x="558" y="657"/>
                  </a:cxn>
                  <a:cxn ang="0">
                    <a:pos x="558" y="0"/>
                  </a:cxn>
                  <a:cxn ang="0">
                    <a:pos x="730" y="1"/>
                  </a:cxn>
                </a:cxnLst>
                <a:rect l="txL" t="txT" r="txR" b="txB"/>
                <a:pathLst>
                  <a:path w="730" h="660">
                    <a:moveTo>
                      <a:pt x="160" y="4"/>
                    </a:moveTo>
                    <a:lnTo>
                      <a:pt x="0" y="3"/>
                    </a:lnTo>
                    <a:lnTo>
                      <a:pt x="0" y="660"/>
                    </a:lnTo>
                    <a:lnTo>
                      <a:pt x="558" y="657"/>
                    </a:lnTo>
                    <a:lnTo>
                      <a:pt x="558" y="0"/>
                    </a:lnTo>
                    <a:lnTo>
                      <a:pt x="73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15" name="Freeform 158"/>
              <p:cNvSpPr/>
              <p:nvPr/>
            </p:nvSpPr>
            <p:spPr>
              <a:xfrm>
                <a:off x="2207" y="2744"/>
                <a:ext cx="729" cy="658"/>
              </a:xfrm>
              <a:custGeom>
                <a:avLst/>
                <a:gdLst>
                  <a:gd name="txL" fmla="*/ 0 w 729"/>
                  <a:gd name="txT" fmla="*/ 0 h 658"/>
                  <a:gd name="txR" fmla="*/ 729 w 729"/>
                  <a:gd name="txB" fmla="*/ 658 h 658"/>
                </a:gdLst>
                <a:ahLst/>
                <a:cxnLst>
                  <a:cxn ang="0">
                    <a:pos x="153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83" y="658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8">
                    <a:moveTo>
                      <a:pt x="153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83" y="658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16" name="Freeform 159"/>
              <p:cNvSpPr/>
              <p:nvPr/>
            </p:nvSpPr>
            <p:spPr>
              <a:xfrm>
                <a:off x="3356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58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58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17" name="Freeform 160"/>
              <p:cNvSpPr/>
              <p:nvPr/>
            </p:nvSpPr>
            <p:spPr>
              <a:xfrm>
                <a:off x="4508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61" y="2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61" y="2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18" name="Freeform 161"/>
              <p:cNvSpPr/>
              <p:nvPr/>
            </p:nvSpPr>
            <p:spPr>
              <a:xfrm>
                <a:off x="1400" y="2735"/>
                <a:ext cx="708" cy="571"/>
              </a:xfrm>
              <a:custGeom>
                <a:avLst/>
                <a:gdLst>
                  <a:gd name="txL" fmla="*/ 0 w 708"/>
                  <a:gd name="txT" fmla="*/ 0 h 571"/>
                  <a:gd name="txR" fmla="*/ 708 w 708"/>
                  <a:gd name="txB" fmla="*/ 571 h 571"/>
                </a:gdLst>
                <a:ahLst/>
                <a:cxnLst>
                  <a:cxn ang="0">
                    <a:pos x="0" y="0"/>
                  </a:cxn>
                  <a:cxn ang="0">
                    <a:pos x="132" y="0"/>
                  </a:cxn>
                  <a:cxn ang="0">
                    <a:pos x="133" y="571"/>
                  </a:cxn>
                  <a:cxn ang="0">
                    <a:pos x="708" y="570"/>
                  </a:cxn>
                  <a:cxn ang="0">
                    <a:pos x="708" y="9"/>
                  </a:cxn>
                  <a:cxn ang="0">
                    <a:pos x="573" y="9"/>
                  </a:cxn>
                </a:cxnLst>
                <a:rect l="txL" t="txT" r="txR" b="txB"/>
                <a:pathLst>
                  <a:path w="708" h="571">
                    <a:moveTo>
                      <a:pt x="0" y="0"/>
                    </a:moveTo>
                    <a:lnTo>
                      <a:pt x="132" y="0"/>
                    </a:lnTo>
                    <a:lnTo>
                      <a:pt x="133" y="571"/>
                    </a:lnTo>
                    <a:lnTo>
                      <a:pt x="708" y="570"/>
                    </a:lnTo>
                    <a:lnTo>
                      <a:pt x="708" y="9"/>
                    </a:lnTo>
                    <a:lnTo>
                      <a:pt x="573" y="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19" name="Freeform 162"/>
              <p:cNvSpPr/>
              <p:nvPr/>
            </p:nvSpPr>
            <p:spPr>
              <a:xfrm>
                <a:off x="2552" y="2735"/>
                <a:ext cx="726" cy="567"/>
              </a:xfrm>
              <a:custGeom>
                <a:avLst/>
                <a:gdLst>
                  <a:gd name="txL" fmla="*/ 0 w 726"/>
                  <a:gd name="txT" fmla="*/ 0 h 567"/>
                  <a:gd name="txR" fmla="*/ 726 w 726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48" y="1"/>
                  </a:cxn>
                  <a:cxn ang="0">
                    <a:pos x="147" y="567"/>
                  </a:cxn>
                  <a:cxn ang="0">
                    <a:pos x="726" y="567"/>
                  </a:cxn>
                  <a:cxn ang="0">
                    <a:pos x="726" y="6"/>
                  </a:cxn>
                  <a:cxn ang="0">
                    <a:pos x="579" y="6"/>
                  </a:cxn>
                </a:cxnLst>
                <a:rect l="txL" t="txT" r="txR" b="txB"/>
                <a:pathLst>
                  <a:path w="726" h="567">
                    <a:moveTo>
                      <a:pt x="0" y="0"/>
                    </a:moveTo>
                    <a:lnTo>
                      <a:pt x="148" y="1"/>
                    </a:lnTo>
                    <a:lnTo>
                      <a:pt x="147" y="567"/>
                    </a:lnTo>
                    <a:lnTo>
                      <a:pt x="726" y="567"/>
                    </a:lnTo>
                    <a:lnTo>
                      <a:pt x="726" y="6"/>
                    </a:lnTo>
                    <a:lnTo>
                      <a:pt x="579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20" name="Freeform 163"/>
              <p:cNvSpPr/>
              <p:nvPr/>
            </p:nvSpPr>
            <p:spPr>
              <a:xfrm>
                <a:off x="3704" y="2738"/>
                <a:ext cx="714" cy="567"/>
              </a:xfrm>
              <a:custGeom>
                <a:avLst/>
                <a:gdLst>
                  <a:gd name="txL" fmla="*/ 0 w 714"/>
                  <a:gd name="txT" fmla="*/ 0 h 567"/>
                  <a:gd name="txR" fmla="*/ 714 w 714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6" y="1"/>
                  </a:cxn>
                  <a:cxn ang="0">
                    <a:pos x="135" y="567"/>
                  </a:cxn>
                  <a:cxn ang="0">
                    <a:pos x="714" y="567"/>
                  </a:cxn>
                  <a:cxn ang="0">
                    <a:pos x="714" y="6"/>
                  </a:cxn>
                  <a:cxn ang="0">
                    <a:pos x="576" y="5"/>
                  </a:cxn>
                </a:cxnLst>
                <a:rect l="txL" t="txT" r="txR" b="txB"/>
                <a:pathLst>
                  <a:path w="714" h="567">
                    <a:moveTo>
                      <a:pt x="0" y="0"/>
                    </a:moveTo>
                    <a:lnTo>
                      <a:pt x="136" y="1"/>
                    </a:lnTo>
                    <a:lnTo>
                      <a:pt x="135" y="567"/>
                    </a:lnTo>
                    <a:lnTo>
                      <a:pt x="714" y="567"/>
                    </a:lnTo>
                    <a:lnTo>
                      <a:pt x="714" y="6"/>
                    </a:lnTo>
                    <a:lnTo>
                      <a:pt x="576" y="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21" name="Freeform 164"/>
              <p:cNvSpPr/>
              <p:nvPr/>
            </p:nvSpPr>
            <p:spPr>
              <a:xfrm>
                <a:off x="4859" y="2738"/>
                <a:ext cx="711" cy="567"/>
              </a:xfrm>
              <a:custGeom>
                <a:avLst/>
                <a:gdLst>
                  <a:gd name="txL" fmla="*/ 0 w 711"/>
                  <a:gd name="txT" fmla="*/ 0 h 567"/>
                  <a:gd name="txR" fmla="*/ 711 w 711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0" y="1"/>
                  </a:cxn>
                  <a:cxn ang="0">
                    <a:pos x="132" y="567"/>
                  </a:cxn>
                  <a:cxn ang="0">
                    <a:pos x="711" y="567"/>
                  </a:cxn>
                  <a:cxn ang="0">
                    <a:pos x="711" y="6"/>
                  </a:cxn>
                  <a:cxn ang="0">
                    <a:pos x="564" y="6"/>
                  </a:cxn>
                </a:cxnLst>
                <a:rect l="txL" t="txT" r="txR" b="txB"/>
                <a:pathLst>
                  <a:path w="711" h="567">
                    <a:moveTo>
                      <a:pt x="0" y="0"/>
                    </a:moveTo>
                    <a:lnTo>
                      <a:pt x="130" y="1"/>
                    </a:lnTo>
                    <a:lnTo>
                      <a:pt x="132" y="567"/>
                    </a:lnTo>
                    <a:lnTo>
                      <a:pt x="711" y="567"/>
                    </a:lnTo>
                    <a:lnTo>
                      <a:pt x="711" y="6"/>
                    </a:lnTo>
                    <a:lnTo>
                      <a:pt x="564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22" name="Freeform 165"/>
              <p:cNvSpPr/>
              <p:nvPr/>
            </p:nvSpPr>
            <p:spPr>
              <a:xfrm>
                <a:off x="1322" y="3398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23" name="Freeform 166"/>
              <p:cNvSpPr/>
              <p:nvPr/>
            </p:nvSpPr>
            <p:spPr>
              <a:xfrm>
                <a:off x="2491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24" name="Freeform 167"/>
              <p:cNvSpPr/>
              <p:nvPr/>
            </p:nvSpPr>
            <p:spPr>
              <a:xfrm>
                <a:off x="3643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25" name="Freeform 168"/>
              <p:cNvSpPr/>
              <p:nvPr/>
            </p:nvSpPr>
            <p:spPr>
              <a:xfrm>
                <a:off x="4795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26" name="Freeform 169"/>
              <p:cNvSpPr/>
              <p:nvPr/>
            </p:nvSpPr>
            <p:spPr>
              <a:xfrm>
                <a:off x="5276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27" name="Freeform 170"/>
              <p:cNvSpPr/>
              <p:nvPr/>
            </p:nvSpPr>
            <p:spPr>
              <a:xfrm>
                <a:off x="4124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28" name="Freeform 171"/>
              <p:cNvSpPr/>
              <p:nvPr/>
            </p:nvSpPr>
            <p:spPr>
              <a:xfrm>
                <a:off x="2972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29" name="Freeform 172"/>
              <p:cNvSpPr/>
              <p:nvPr/>
            </p:nvSpPr>
            <p:spPr>
              <a:xfrm>
                <a:off x="1819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30" name="Freeform 173"/>
              <p:cNvSpPr/>
              <p:nvPr/>
            </p:nvSpPr>
            <p:spPr>
              <a:xfrm>
                <a:off x="956" y="4025"/>
                <a:ext cx="4317" cy="1"/>
              </a:xfrm>
              <a:custGeom>
                <a:avLst/>
                <a:gdLst>
                  <a:gd name="txL" fmla="*/ 0 w 4317"/>
                  <a:gd name="txT" fmla="*/ 0 h 1"/>
                  <a:gd name="txR" fmla="*/ 4317 w 431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4317" y="0"/>
                  </a:cxn>
                </a:cxnLst>
                <a:rect l="txL" t="txT" r="txR" b="txB"/>
                <a:pathLst>
                  <a:path w="4317" h="1">
                    <a:moveTo>
                      <a:pt x="0" y="0"/>
                    </a:moveTo>
                    <a:lnTo>
                      <a:pt x="431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31" name="Freeform 174"/>
              <p:cNvSpPr/>
              <p:nvPr/>
            </p:nvSpPr>
            <p:spPr>
              <a:xfrm>
                <a:off x="956" y="4121"/>
                <a:ext cx="3837" cy="1"/>
              </a:xfrm>
              <a:custGeom>
                <a:avLst/>
                <a:gdLst>
                  <a:gd name="txL" fmla="*/ 0 w 3837"/>
                  <a:gd name="txT" fmla="*/ 0 h 1"/>
                  <a:gd name="txR" fmla="*/ 3837 w 383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837" y="0"/>
                  </a:cxn>
                </a:cxnLst>
                <a:rect l="txL" t="txT" r="txR" b="txB"/>
                <a:pathLst>
                  <a:path w="3837" h="1">
                    <a:moveTo>
                      <a:pt x="0" y="0"/>
                    </a:moveTo>
                    <a:lnTo>
                      <a:pt x="383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32" name="Freeform 175"/>
              <p:cNvSpPr/>
              <p:nvPr/>
            </p:nvSpPr>
            <p:spPr>
              <a:xfrm>
                <a:off x="1322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33" name="Freeform 176"/>
              <p:cNvSpPr/>
              <p:nvPr/>
            </p:nvSpPr>
            <p:spPr>
              <a:xfrm>
                <a:off x="2491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34" name="Freeform 177"/>
              <p:cNvSpPr/>
              <p:nvPr/>
            </p:nvSpPr>
            <p:spPr>
              <a:xfrm>
                <a:off x="3643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35" name="Freeform 178"/>
              <p:cNvSpPr/>
              <p:nvPr/>
            </p:nvSpPr>
            <p:spPr>
              <a:xfrm>
                <a:off x="4791" y="3881"/>
                <a:ext cx="4" cy="247"/>
              </a:xfrm>
              <a:custGeom>
                <a:avLst/>
                <a:gdLst>
                  <a:gd name="txL" fmla="*/ 0 w 4"/>
                  <a:gd name="txT" fmla="*/ 0 h 247"/>
                  <a:gd name="txR" fmla="*/ 4 w 4"/>
                  <a:gd name="txB" fmla="*/ 247 h 247"/>
                </a:gdLst>
                <a:ahLst/>
                <a:cxnLst>
                  <a:cxn ang="0">
                    <a:pos x="4" y="0"/>
                  </a:cxn>
                  <a:cxn ang="0">
                    <a:pos x="0" y="247"/>
                  </a:cxn>
                </a:cxnLst>
                <a:rect l="txL" t="txT" r="txR" b="txB"/>
                <a:pathLst>
                  <a:path w="4" h="247">
                    <a:moveTo>
                      <a:pt x="4" y="0"/>
                    </a:moveTo>
                    <a:lnTo>
                      <a:pt x="0" y="24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36" name="Freeform 179"/>
              <p:cNvSpPr/>
              <p:nvPr/>
            </p:nvSpPr>
            <p:spPr>
              <a:xfrm>
                <a:off x="5277" y="3881"/>
                <a:ext cx="1" cy="151"/>
              </a:xfrm>
              <a:custGeom>
                <a:avLst/>
                <a:gdLst>
                  <a:gd name="txL" fmla="*/ 0 w 1"/>
                  <a:gd name="txT" fmla="*/ 0 h 151"/>
                  <a:gd name="txR" fmla="*/ 1 w 1"/>
                  <a:gd name="txB" fmla="*/ 151 h 151"/>
                </a:gdLst>
                <a:ahLst/>
                <a:cxnLst>
                  <a:cxn ang="0">
                    <a:pos x="0" y="0"/>
                  </a:cxn>
                  <a:cxn ang="0">
                    <a:pos x="0" y="151"/>
                  </a:cxn>
                </a:cxnLst>
                <a:rect l="txL" t="txT" r="txR" b="txB"/>
                <a:pathLst>
                  <a:path w="1" h="151">
                    <a:moveTo>
                      <a:pt x="0" y="0"/>
                    </a:moveTo>
                    <a:lnTo>
                      <a:pt x="0" y="15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37" name="Line 180"/>
              <p:cNvSpPr/>
              <p:nvPr/>
            </p:nvSpPr>
            <p:spPr>
              <a:xfrm>
                <a:off x="4124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83838" name="Line 181"/>
              <p:cNvSpPr/>
              <p:nvPr/>
            </p:nvSpPr>
            <p:spPr>
              <a:xfrm>
                <a:off x="2973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83839" name="Line 182"/>
              <p:cNvSpPr/>
              <p:nvPr/>
            </p:nvSpPr>
            <p:spPr>
              <a:xfrm>
                <a:off x="1820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83840" name="Rectangle 183"/>
              <p:cNvSpPr/>
              <p:nvPr/>
            </p:nvSpPr>
            <p:spPr>
              <a:xfrm>
                <a:off x="2317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41" name="Text Box 184"/>
              <p:cNvSpPr txBox="1"/>
              <p:nvPr/>
            </p:nvSpPr>
            <p:spPr>
              <a:xfrm>
                <a:off x="2348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42" name="Rectangle 185"/>
              <p:cNvSpPr/>
              <p:nvPr/>
            </p:nvSpPr>
            <p:spPr>
              <a:xfrm>
                <a:off x="3469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43" name="Text Box 186"/>
              <p:cNvSpPr txBox="1"/>
              <p:nvPr/>
            </p:nvSpPr>
            <p:spPr>
              <a:xfrm>
                <a:off x="3500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44" name="Rectangle 187"/>
              <p:cNvSpPr/>
              <p:nvPr/>
            </p:nvSpPr>
            <p:spPr>
              <a:xfrm>
                <a:off x="4621" y="3600"/>
                <a:ext cx="823" cy="22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45" name="Text Box 188"/>
              <p:cNvSpPr txBox="1"/>
              <p:nvPr/>
            </p:nvSpPr>
            <p:spPr>
              <a:xfrm>
                <a:off x="4652" y="3576"/>
                <a:ext cx="75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46" name="Line 189"/>
              <p:cNvSpPr/>
              <p:nvPr/>
            </p:nvSpPr>
            <p:spPr>
              <a:xfrm>
                <a:off x="196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3847" name="Line 190"/>
              <p:cNvSpPr/>
              <p:nvPr/>
            </p:nvSpPr>
            <p:spPr>
              <a:xfrm>
                <a:off x="314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3848" name="Line 191"/>
              <p:cNvSpPr/>
              <p:nvPr/>
            </p:nvSpPr>
            <p:spPr>
              <a:xfrm>
                <a:off x="4293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3849" name="Line 192"/>
              <p:cNvSpPr/>
              <p:nvPr/>
            </p:nvSpPr>
            <p:spPr>
              <a:xfrm>
                <a:off x="5420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3850" name="Freeform 193"/>
              <p:cNvSpPr/>
              <p:nvPr/>
            </p:nvSpPr>
            <p:spPr>
              <a:xfrm>
                <a:off x="3033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51" name="Freeform 194"/>
              <p:cNvSpPr/>
              <p:nvPr/>
            </p:nvSpPr>
            <p:spPr>
              <a:xfrm>
                <a:off x="4185" y="2691"/>
                <a:ext cx="1" cy="525"/>
              </a:xfrm>
              <a:custGeom>
                <a:avLst/>
                <a:gdLst>
                  <a:gd name="txL" fmla="*/ 0 w 1"/>
                  <a:gd name="txT" fmla="*/ 0 h 525"/>
                  <a:gd name="txR" fmla="*/ 1 w 1"/>
                  <a:gd name="txB" fmla="*/ 525 h 525"/>
                </a:gdLst>
                <a:ahLst/>
                <a:cxnLst>
                  <a:cxn ang="0">
                    <a:pos x="0" y="0"/>
                  </a:cxn>
                  <a:cxn ang="0">
                    <a:pos x="0" y="525"/>
                  </a:cxn>
                </a:cxnLst>
                <a:rect l="txL" t="txT" r="txR" b="txB"/>
                <a:pathLst>
                  <a:path w="1" h="525">
                    <a:moveTo>
                      <a:pt x="0" y="0"/>
                    </a:moveTo>
                    <a:lnTo>
                      <a:pt x="0" y="52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52" name="Freeform 195"/>
              <p:cNvSpPr/>
              <p:nvPr/>
            </p:nvSpPr>
            <p:spPr>
              <a:xfrm>
                <a:off x="5325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3853" name="Text Box 196"/>
              <p:cNvSpPr txBox="1"/>
              <p:nvPr/>
            </p:nvSpPr>
            <p:spPr>
              <a:xfrm rot="5400000">
                <a:off x="1175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54" name="Text Box 197"/>
              <p:cNvSpPr txBox="1"/>
              <p:nvPr/>
            </p:nvSpPr>
            <p:spPr>
              <a:xfrm rot="5400000">
                <a:off x="1751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55" name="Text Box 198"/>
              <p:cNvSpPr txBox="1"/>
              <p:nvPr/>
            </p:nvSpPr>
            <p:spPr>
              <a:xfrm rot="5400000">
                <a:off x="2327" y="1623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56" name="Text Box 199"/>
              <p:cNvSpPr txBox="1"/>
              <p:nvPr/>
            </p:nvSpPr>
            <p:spPr>
              <a:xfrm rot="5400000">
                <a:off x="2903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57" name="Text Box 200"/>
              <p:cNvSpPr txBox="1"/>
              <p:nvPr/>
            </p:nvSpPr>
            <p:spPr>
              <a:xfrm rot="5400000">
                <a:off x="3478" y="1610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58" name="Text Box 201"/>
              <p:cNvSpPr txBox="1"/>
              <p:nvPr/>
            </p:nvSpPr>
            <p:spPr>
              <a:xfrm rot="5400000">
                <a:off x="4055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59" name="Text Box 202"/>
              <p:cNvSpPr txBox="1"/>
              <p:nvPr/>
            </p:nvSpPr>
            <p:spPr>
              <a:xfrm rot="5400000">
                <a:off x="4631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60" name="Text Box 203"/>
              <p:cNvSpPr txBox="1"/>
              <p:nvPr/>
            </p:nvSpPr>
            <p:spPr>
              <a:xfrm rot="5400000">
                <a:off x="5226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61" name="Text Box 204"/>
              <p:cNvSpPr txBox="1"/>
              <p:nvPr/>
            </p:nvSpPr>
            <p:spPr>
              <a:xfrm>
                <a:off x="660" y="791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62" name="Text Box 205"/>
              <p:cNvSpPr txBox="1"/>
              <p:nvPr/>
            </p:nvSpPr>
            <p:spPr>
              <a:xfrm>
                <a:off x="660" y="1383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63" name="Text Box 206"/>
              <p:cNvSpPr txBox="1"/>
              <p:nvPr/>
            </p:nvSpPr>
            <p:spPr>
              <a:xfrm>
                <a:off x="624" y="1959"/>
                <a:ext cx="259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63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64" name="Line 207"/>
              <p:cNvSpPr/>
              <p:nvPr/>
            </p:nvSpPr>
            <p:spPr>
              <a:xfrm>
                <a:off x="332" y="2537"/>
                <a:ext cx="57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865" name="Text Box 208"/>
              <p:cNvSpPr txBox="1"/>
              <p:nvPr/>
            </p:nvSpPr>
            <p:spPr>
              <a:xfrm>
                <a:off x="660" y="2727"/>
                <a:ext cx="187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66" name="Text Box 209"/>
              <p:cNvSpPr txBox="1"/>
              <p:nvPr/>
            </p:nvSpPr>
            <p:spPr>
              <a:xfrm>
                <a:off x="624" y="3159"/>
                <a:ext cx="259" cy="2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15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67" name="Text Box 210"/>
              <p:cNvSpPr txBox="1"/>
              <p:nvPr/>
            </p:nvSpPr>
            <p:spPr>
              <a:xfrm rot="5400000">
                <a:off x="647" y="1611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68" name="Text Box 211"/>
              <p:cNvSpPr txBox="1"/>
              <p:nvPr/>
            </p:nvSpPr>
            <p:spPr>
              <a:xfrm rot="5400000">
                <a:off x="647" y="2859"/>
                <a:ext cx="36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69" name="Text Box 212"/>
              <p:cNvSpPr txBox="1"/>
              <p:nvPr/>
            </p:nvSpPr>
            <p:spPr>
              <a:xfrm>
                <a:off x="349" y="1015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70" name="Text Box 213"/>
              <p:cNvSpPr txBox="1"/>
              <p:nvPr/>
            </p:nvSpPr>
            <p:spPr>
              <a:xfrm>
                <a:off x="349" y="1263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71" name="Text Box 214"/>
              <p:cNvSpPr txBox="1"/>
              <p:nvPr/>
            </p:nvSpPr>
            <p:spPr>
              <a:xfrm>
                <a:off x="349" y="1511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72" name="Text Box 215"/>
              <p:cNvSpPr txBox="1"/>
              <p:nvPr/>
            </p:nvSpPr>
            <p:spPr>
              <a:xfrm>
                <a:off x="349" y="1758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73" name="Text Box 216"/>
              <p:cNvSpPr txBox="1"/>
              <p:nvPr/>
            </p:nvSpPr>
            <p:spPr>
              <a:xfrm>
                <a:off x="349" y="2006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74" name="Text Box 217"/>
              <p:cNvSpPr txBox="1"/>
              <p:nvPr/>
            </p:nvSpPr>
            <p:spPr>
              <a:xfrm>
                <a:off x="376" y="2635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75" name="Text Box 218"/>
              <p:cNvSpPr txBox="1"/>
              <p:nvPr/>
            </p:nvSpPr>
            <p:spPr>
              <a:xfrm>
                <a:off x="376" y="2883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76" name="Text Box 219"/>
              <p:cNvSpPr txBox="1"/>
              <p:nvPr/>
            </p:nvSpPr>
            <p:spPr>
              <a:xfrm>
                <a:off x="376" y="3131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77" name="Text Box 220"/>
              <p:cNvSpPr txBox="1"/>
              <p:nvPr/>
            </p:nvSpPr>
            <p:spPr>
              <a:xfrm>
                <a:off x="376" y="3378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78" name="Text Box 221"/>
              <p:cNvSpPr txBox="1"/>
              <p:nvPr/>
            </p:nvSpPr>
            <p:spPr>
              <a:xfrm>
                <a:off x="376" y="3626"/>
                <a:ext cx="275" cy="24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79" name="Text Box 222"/>
              <p:cNvSpPr txBox="1"/>
              <p:nvPr/>
            </p:nvSpPr>
            <p:spPr>
              <a:xfrm>
                <a:off x="1946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80" name="Text Box 223"/>
              <p:cNvSpPr txBox="1"/>
              <p:nvPr/>
            </p:nvSpPr>
            <p:spPr>
              <a:xfrm>
                <a:off x="3106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81" name="Text Box 224"/>
              <p:cNvSpPr txBox="1"/>
              <p:nvPr/>
            </p:nvSpPr>
            <p:spPr>
              <a:xfrm>
                <a:off x="4258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82" name="Text Box 225"/>
              <p:cNvSpPr txBox="1"/>
              <p:nvPr/>
            </p:nvSpPr>
            <p:spPr>
              <a:xfrm>
                <a:off x="5416" y="3527"/>
                <a:ext cx="342" cy="20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16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83" name="Line 226"/>
              <p:cNvSpPr/>
              <p:nvPr/>
            </p:nvSpPr>
            <p:spPr>
              <a:xfrm>
                <a:off x="140" y="905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3884" name="Line 227"/>
              <p:cNvSpPr/>
              <p:nvPr/>
            </p:nvSpPr>
            <p:spPr>
              <a:xfrm>
                <a:off x="140" y="116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3885" name="Line 228"/>
              <p:cNvSpPr/>
              <p:nvPr/>
            </p:nvSpPr>
            <p:spPr>
              <a:xfrm>
                <a:off x="140" y="142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3886" name="Line 229"/>
              <p:cNvSpPr/>
              <p:nvPr/>
            </p:nvSpPr>
            <p:spPr>
              <a:xfrm>
                <a:off x="140" y="168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3887" name="Line 230"/>
              <p:cNvSpPr/>
              <p:nvPr/>
            </p:nvSpPr>
            <p:spPr>
              <a:xfrm>
                <a:off x="140" y="194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3888" name="Line 231"/>
              <p:cNvSpPr/>
              <p:nvPr/>
            </p:nvSpPr>
            <p:spPr>
              <a:xfrm>
                <a:off x="140" y="220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3889" name="Line 232"/>
              <p:cNvSpPr/>
              <p:nvPr/>
            </p:nvSpPr>
            <p:spPr>
              <a:xfrm>
                <a:off x="140" y="287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3890" name="Line 233"/>
              <p:cNvSpPr/>
              <p:nvPr/>
            </p:nvSpPr>
            <p:spPr>
              <a:xfrm>
                <a:off x="140" y="313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3891" name="Line 234"/>
              <p:cNvSpPr/>
              <p:nvPr/>
            </p:nvSpPr>
            <p:spPr>
              <a:xfrm>
                <a:off x="140" y="339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3892" name="Line 235"/>
              <p:cNvSpPr/>
              <p:nvPr/>
            </p:nvSpPr>
            <p:spPr>
              <a:xfrm>
                <a:off x="140" y="365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83893" name="Text Box 236"/>
              <p:cNvSpPr txBox="1"/>
              <p:nvPr/>
            </p:nvSpPr>
            <p:spPr>
              <a:xfrm>
                <a:off x="648" y="3890"/>
                <a:ext cx="35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WE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94" name="Line 237"/>
              <p:cNvSpPr/>
              <p:nvPr/>
            </p:nvSpPr>
            <p:spPr>
              <a:xfrm>
                <a:off x="682" y="3923"/>
                <a:ext cx="28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3895" name="Text Box 238"/>
              <p:cNvSpPr txBox="1"/>
              <p:nvPr/>
            </p:nvSpPr>
            <p:spPr>
              <a:xfrm>
                <a:off x="669" y="4025"/>
                <a:ext cx="32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CS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896" name="Line 239"/>
              <p:cNvSpPr/>
              <p:nvPr/>
            </p:nvSpPr>
            <p:spPr>
              <a:xfrm>
                <a:off x="726" y="4079"/>
                <a:ext cx="19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83682" name="Group 240"/>
            <p:cNvGrpSpPr/>
            <p:nvPr/>
          </p:nvGrpSpPr>
          <p:grpSpPr>
            <a:xfrm>
              <a:off x="140" y="674"/>
              <a:ext cx="195" cy="3011"/>
              <a:chOff x="140" y="674"/>
              <a:chExt cx="195" cy="3011"/>
            </a:xfrm>
          </p:grpSpPr>
          <p:sp>
            <p:nvSpPr>
              <p:cNvPr id="283683" name="Text Box 241"/>
              <p:cNvSpPr txBox="1"/>
              <p:nvPr/>
            </p:nvSpPr>
            <p:spPr>
              <a:xfrm>
                <a:off x="140" y="67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84" name="Text Box 242"/>
              <p:cNvSpPr txBox="1"/>
              <p:nvPr/>
            </p:nvSpPr>
            <p:spPr>
              <a:xfrm>
                <a:off x="140" y="933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85" name="Text Box 243"/>
              <p:cNvSpPr txBox="1"/>
              <p:nvPr/>
            </p:nvSpPr>
            <p:spPr>
              <a:xfrm>
                <a:off x="140" y="119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86" name="Text Box 244"/>
              <p:cNvSpPr txBox="1"/>
              <p:nvPr/>
            </p:nvSpPr>
            <p:spPr>
              <a:xfrm>
                <a:off x="140" y="145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87" name="Text Box 245"/>
              <p:cNvSpPr txBox="1"/>
              <p:nvPr/>
            </p:nvSpPr>
            <p:spPr>
              <a:xfrm>
                <a:off x="140" y="171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88" name="Text Box 246"/>
              <p:cNvSpPr txBox="1"/>
              <p:nvPr/>
            </p:nvSpPr>
            <p:spPr>
              <a:xfrm>
                <a:off x="140" y="197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89" name="Text Box 247"/>
              <p:cNvSpPr txBox="1"/>
              <p:nvPr/>
            </p:nvSpPr>
            <p:spPr>
              <a:xfrm>
                <a:off x="140" y="2657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90" name="Text Box 248"/>
              <p:cNvSpPr txBox="1"/>
              <p:nvPr/>
            </p:nvSpPr>
            <p:spPr>
              <a:xfrm>
                <a:off x="140" y="2916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91" name="Text Box 249"/>
              <p:cNvSpPr txBox="1"/>
              <p:nvPr/>
            </p:nvSpPr>
            <p:spPr>
              <a:xfrm>
                <a:off x="140" y="317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3692" name="Text Box 250"/>
              <p:cNvSpPr txBox="1"/>
              <p:nvPr/>
            </p:nvSpPr>
            <p:spPr>
              <a:xfrm>
                <a:off x="140" y="343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20411" name="Rectangle 25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3653" name="Text Box 252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2" name="Group 253"/>
          <p:cNvGrpSpPr/>
          <p:nvPr/>
        </p:nvGrpSpPr>
        <p:grpSpPr>
          <a:xfrm>
            <a:off x="2955925" y="1360488"/>
            <a:ext cx="7250113" cy="663575"/>
            <a:chOff x="902" y="857"/>
            <a:chExt cx="4567" cy="418"/>
          </a:xfrm>
        </p:grpSpPr>
        <p:grpSp>
          <p:nvGrpSpPr>
            <p:cNvPr id="283657" name="Group 254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83662" name="Group 255"/>
              <p:cNvGrpSpPr/>
              <p:nvPr/>
            </p:nvGrpSpPr>
            <p:grpSpPr>
              <a:xfrm>
                <a:off x="1152" y="1024"/>
                <a:ext cx="4317" cy="251"/>
                <a:chOff x="1176" y="1079"/>
                <a:chExt cx="4317" cy="251"/>
              </a:xfrm>
            </p:grpSpPr>
            <p:sp>
              <p:nvSpPr>
                <p:cNvPr id="283673" name="Rectangle 256"/>
                <p:cNvSpPr/>
                <p:nvPr/>
              </p:nvSpPr>
              <p:spPr>
                <a:xfrm>
                  <a:off x="175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15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3674" name="Rectangle 257"/>
                <p:cNvSpPr/>
                <p:nvPr/>
              </p:nvSpPr>
              <p:spPr>
                <a:xfrm>
                  <a:off x="117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3675" name="Rectangle 258"/>
                <p:cNvSpPr/>
                <p:nvPr/>
              </p:nvSpPr>
              <p:spPr>
                <a:xfrm>
                  <a:off x="2892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31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3676" name="Rectangle 259"/>
                <p:cNvSpPr/>
                <p:nvPr/>
              </p:nvSpPr>
              <p:spPr>
                <a:xfrm>
                  <a:off x="231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3677" name="Rectangle 260"/>
                <p:cNvSpPr/>
                <p:nvPr/>
              </p:nvSpPr>
              <p:spPr>
                <a:xfrm>
                  <a:off x="4067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47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3678" name="Rectangle 261"/>
                <p:cNvSpPr/>
                <p:nvPr/>
              </p:nvSpPr>
              <p:spPr>
                <a:xfrm>
                  <a:off x="3491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3679" name="Rectangle 262"/>
                <p:cNvSpPr/>
                <p:nvPr/>
              </p:nvSpPr>
              <p:spPr>
                <a:xfrm>
                  <a:off x="5205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63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3680" name="Rectangle 263"/>
                <p:cNvSpPr/>
                <p:nvPr/>
              </p:nvSpPr>
              <p:spPr>
                <a:xfrm>
                  <a:off x="4626" y="1079"/>
                  <a:ext cx="288" cy="251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48</a:t>
                  </a:r>
                  <a:endParaRPr lang="en-US" altLang="zh-CN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3663" name="Group 264"/>
              <p:cNvGrpSpPr/>
              <p:nvPr/>
            </p:nvGrpSpPr>
            <p:grpSpPr>
              <a:xfrm>
                <a:off x="902" y="857"/>
                <a:ext cx="4419" cy="145"/>
                <a:chOff x="902" y="857"/>
                <a:chExt cx="4419" cy="145"/>
              </a:xfrm>
            </p:grpSpPr>
            <p:sp>
              <p:nvSpPr>
                <p:cNvPr id="283664" name="Freeform 265"/>
                <p:cNvSpPr/>
                <p:nvPr/>
              </p:nvSpPr>
              <p:spPr>
                <a:xfrm>
                  <a:off x="902" y="857"/>
                  <a:ext cx="4419" cy="1"/>
                </a:xfrm>
                <a:custGeom>
                  <a:avLst/>
                  <a:gdLst>
                    <a:gd name="txL" fmla="*/ 0 w 4419"/>
                    <a:gd name="txT" fmla="*/ 0 h 1"/>
                    <a:gd name="txR" fmla="*/ 4419 w 4419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9" y="0"/>
                    </a:cxn>
                  </a:cxnLst>
                  <a:rect l="txL" t="txT" r="txR" b="txB"/>
                  <a:pathLst>
                    <a:path w="4419" h="1">
                      <a:moveTo>
                        <a:pt x="0" y="1"/>
                      </a:moveTo>
                      <a:lnTo>
                        <a:pt x="4419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3665" name="Line 266"/>
                <p:cNvSpPr/>
                <p:nvPr/>
              </p:nvSpPr>
              <p:spPr>
                <a:xfrm>
                  <a:off x="127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3666" name="Line 267"/>
                <p:cNvSpPr/>
                <p:nvPr/>
              </p:nvSpPr>
              <p:spPr>
                <a:xfrm>
                  <a:off x="184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3667" name="Line 268"/>
                <p:cNvSpPr/>
                <p:nvPr/>
              </p:nvSpPr>
              <p:spPr>
                <a:xfrm>
                  <a:off x="242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3668" name="Line 269"/>
                <p:cNvSpPr/>
                <p:nvPr/>
              </p:nvSpPr>
              <p:spPr>
                <a:xfrm>
                  <a:off x="3000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3669" name="Line 270"/>
                <p:cNvSpPr/>
                <p:nvPr/>
              </p:nvSpPr>
              <p:spPr>
                <a:xfrm>
                  <a:off x="3576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3670" name="Line 271"/>
                <p:cNvSpPr/>
                <p:nvPr/>
              </p:nvSpPr>
              <p:spPr>
                <a:xfrm>
                  <a:off x="4152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3671" name="Line 272"/>
                <p:cNvSpPr/>
                <p:nvPr/>
              </p:nvSpPr>
              <p:spPr>
                <a:xfrm>
                  <a:off x="4728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3672" name="Line 273"/>
                <p:cNvSpPr/>
                <p:nvPr/>
              </p:nvSpPr>
              <p:spPr>
                <a:xfrm>
                  <a:off x="5304" y="858"/>
                  <a:ext cx="0" cy="144"/>
                </a:xfrm>
                <a:prstGeom prst="line">
                  <a:avLst/>
                </a:prstGeom>
                <a:ln w="76200" cap="flat" cmpd="sng">
                  <a:solidFill>
                    <a:schemeClr val="folHlink"/>
                  </a:solidFill>
                  <a:prstDash val="solid"/>
                  <a:headEnd type="oval" w="sm" len="sm"/>
                  <a:tailEnd type="none" w="med" len="med"/>
                </a:ln>
              </p:spPr>
            </p:sp>
          </p:grpSp>
        </p:grpSp>
        <p:sp>
          <p:nvSpPr>
            <p:cNvPr id="283658" name="Text Box 274"/>
            <p:cNvSpPr txBox="1"/>
            <p:nvPr/>
          </p:nvSpPr>
          <p:spPr>
            <a:xfrm>
              <a:off x="140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3659" name="Text Box 275"/>
            <p:cNvSpPr txBox="1"/>
            <p:nvPr/>
          </p:nvSpPr>
          <p:spPr>
            <a:xfrm>
              <a:off x="254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3660" name="Text Box 276"/>
            <p:cNvSpPr txBox="1"/>
            <p:nvPr/>
          </p:nvSpPr>
          <p:spPr>
            <a:xfrm>
              <a:off x="3718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3661" name="Text Box 277"/>
            <p:cNvSpPr txBox="1"/>
            <p:nvPr/>
          </p:nvSpPr>
          <p:spPr>
            <a:xfrm>
              <a:off x="4860" y="870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83655" name="AutoShape 27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365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84674" name="Group 2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84990" name="Line 3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4991" name="Freeform 4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4992" name="Line 5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4993" name="Freeform 6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4994" name="Line 7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4995" name="Text Box 8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4996" name="Text Box 9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4997" name="Text Box 10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4998" name="Text Box 11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4999" name="Line 12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5000" name="Line 13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5001" name="Line 14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5002" name="Line 15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5003" name="Line 16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5004" name="Line 17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5005" name="Line 18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5006" name="Line 19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21204" name="Rectangle 2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4676" name="Text Box 21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84677" name="Group 22"/>
          <p:cNvGrpSpPr/>
          <p:nvPr/>
        </p:nvGrpSpPr>
        <p:grpSpPr>
          <a:xfrm>
            <a:off x="1746250" y="1069975"/>
            <a:ext cx="8918575" cy="5718176"/>
            <a:chOff x="140" y="674"/>
            <a:chExt cx="5618" cy="3602"/>
          </a:xfrm>
        </p:grpSpPr>
        <p:grpSp>
          <p:nvGrpSpPr>
            <p:cNvPr id="284734" name="Group 23"/>
            <p:cNvGrpSpPr/>
            <p:nvPr/>
          </p:nvGrpSpPr>
          <p:grpSpPr>
            <a:xfrm>
              <a:off x="140" y="674"/>
              <a:ext cx="5618" cy="3602"/>
              <a:chOff x="140" y="674"/>
              <a:chExt cx="5618" cy="3602"/>
            </a:xfrm>
          </p:grpSpPr>
          <p:grpSp>
            <p:nvGrpSpPr>
              <p:cNvPr id="284760" name="Group 24"/>
              <p:cNvGrpSpPr/>
              <p:nvPr/>
            </p:nvGrpSpPr>
            <p:grpSpPr>
              <a:xfrm>
                <a:off x="140" y="791"/>
                <a:ext cx="5618" cy="3485"/>
                <a:chOff x="140" y="791"/>
                <a:chExt cx="5618" cy="3485"/>
              </a:xfrm>
            </p:grpSpPr>
            <p:sp>
              <p:nvSpPr>
                <p:cNvPr id="284772" name="Rectangle 25"/>
                <p:cNvSpPr/>
                <p:nvPr/>
              </p:nvSpPr>
              <p:spPr>
                <a:xfrm>
                  <a:off x="332" y="2181"/>
                  <a:ext cx="576" cy="232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773" name="Rectangle 26"/>
                <p:cNvSpPr/>
                <p:nvPr/>
              </p:nvSpPr>
              <p:spPr>
                <a:xfrm>
                  <a:off x="1728" y="1028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74" name="Text Box 27"/>
                <p:cNvSpPr txBox="1"/>
                <p:nvPr/>
              </p:nvSpPr>
              <p:spPr>
                <a:xfrm>
                  <a:off x="1408" y="870"/>
                  <a:ext cx="371" cy="3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75" name="Rectangle 28"/>
                <p:cNvSpPr/>
                <p:nvPr/>
              </p:nvSpPr>
              <p:spPr>
                <a:xfrm>
                  <a:off x="1152" y="1028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76" name="Rectangle 29"/>
                <p:cNvSpPr/>
                <p:nvPr/>
              </p:nvSpPr>
              <p:spPr>
                <a:xfrm>
                  <a:off x="2869" y="1028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77" name="Text Box 30"/>
                <p:cNvSpPr txBox="1"/>
                <p:nvPr/>
              </p:nvSpPr>
              <p:spPr>
                <a:xfrm>
                  <a:off x="2549" y="870"/>
                  <a:ext cx="371" cy="3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78" name="Rectangle 31"/>
                <p:cNvSpPr/>
                <p:nvPr/>
              </p:nvSpPr>
              <p:spPr>
                <a:xfrm>
                  <a:off x="2293" y="1028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79" name="Rectangle 32"/>
                <p:cNvSpPr/>
                <p:nvPr/>
              </p:nvSpPr>
              <p:spPr>
                <a:xfrm>
                  <a:off x="4044" y="1028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47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80" name="Text Box 33"/>
                <p:cNvSpPr txBox="1"/>
                <p:nvPr/>
              </p:nvSpPr>
              <p:spPr>
                <a:xfrm>
                  <a:off x="3724" y="870"/>
                  <a:ext cx="371" cy="3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81" name="Rectangle 34"/>
                <p:cNvSpPr/>
                <p:nvPr/>
              </p:nvSpPr>
              <p:spPr>
                <a:xfrm>
                  <a:off x="3468" y="1028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82" name="Rectangle 35"/>
                <p:cNvSpPr/>
                <p:nvPr/>
              </p:nvSpPr>
              <p:spPr>
                <a:xfrm>
                  <a:off x="5180" y="1028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63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83" name="Text Box 36"/>
                <p:cNvSpPr txBox="1"/>
                <p:nvPr/>
              </p:nvSpPr>
              <p:spPr>
                <a:xfrm>
                  <a:off x="4860" y="870"/>
                  <a:ext cx="371" cy="36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84" name="Rectangle 37"/>
                <p:cNvSpPr/>
                <p:nvPr/>
              </p:nvSpPr>
              <p:spPr>
                <a:xfrm>
                  <a:off x="4604" y="1028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48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85" name="Rectangle 38"/>
                <p:cNvSpPr/>
                <p:nvPr/>
              </p:nvSpPr>
              <p:spPr>
                <a:xfrm>
                  <a:off x="1728" y="2229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86" name="Rectangle 39"/>
                <p:cNvSpPr/>
                <p:nvPr/>
              </p:nvSpPr>
              <p:spPr>
                <a:xfrm>
                  <a:off x="1152" y="2229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87" name="Rectangle 40"/>
                <p:cNvSpPr/>
                <p:nvPr/>
              </p:nvSpPr>
              <p:spPr>
                <a:xfrm>
                  <a:off x="2869" y="2229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88" name="Rectangle 41"/>
                <p:cNvSpPr/>
                <p:nvPr/>
              </p:nvSpPr>
              <p:spPr>
                <a:xfrm>
                  <a:off x="2293" y="2229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89" name="Rectangle 42"/>
                <p:cNvSpPr/>
                <p:nvPr/>
              </p:nvSpPr>
              <p:spPr>
                <a:xfrm>
                  <a:off x="4044" y="2229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47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90" name="Rectangle 43"/>
                <p:cNvSpPr/>
                <p:nvPr/>
              </p:nvSpPr>
              <p:spPr>
                <a:xfrm>
                  <a:off x="3468" y="2229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91" name="Rectangle 44"/>
                <p:cNvSpPr/>
                <p:nvPr/>
              </p:nvSpPr>
              <p:spPr>
                <a:xfrm>
                  <a:off x="5180" y="2229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63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92" name="Rectangle 45"/>
                <p:cNvSpPr/>
                <p:nvPr/>
              </p:nvSpPr>
              <p:spPr>
                <a:xfrm>
                  <a:off x="4604" y="2229"/>
                  <a:ext cx="288" cy="24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48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93" name="Line 46"/>
                <p:cNvSpPr/>
                <p:nvPr/>
              </p:nvSpPr>
              <p:spPr>
                <a:xfrm rot="5400000">
                  <a:off x="1325" y="2712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794" name="Line 47"/>
                <p:cNvSpPr/>
                <p:nvPr/>
              </p:nvSpPr>
              <p:spPr>
                <a:xfrm rot="5400000">
                  <a:off x="1308" y="2710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795" name="Freeform 48"/>
                <p:cNvSpPr/>
                <p:nvPr/>
              </p:nvSpPr>
              <p:spPr>
                <a:xfrm>
                  <a:off x="1260" y="2709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796" name="Line 49"/>
                <p:cNvSpPr/>
                <p:nvPr/>
              </p:nvSpPr>
              <p:spPr>
                <a:xfrm rot="-5400000">
                  <a:off x="1133" y="2712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797" name="Line 50"/>
                <p:cNvSpPr/>
                <p:nvPr/>
              </p:nvSpPr>
              <p:spPr>
                <a:xfrm rot="-5400000">
                  <a:off x="1212" y="2714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798" name="Freeform 51"/>
                <p:cNvSpPr/>
                <p:nvPr/>
              </p:nvSpPr>
              <p:spPr>
                <a:xfrm>
                  <a:off x="1434" y="2353"/>
                  <a:ext cx="112" cy="1"/>
                </a:xfrm>
                <a:custGeom>
                  <a:avLst/>
                  <a:gdLst>
                    <a:gd name="txL" fmla="*/ 0 w 112"/>
                    <a:gd name="txT" fmla="*/ 0 h 1"/>
                    <a:gd name="txR" fmla="*/ 112 w 11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12" y="0"/>
                    </a:cxn>
                  </a:cxnLst>
                  <a:rect l="txL" t="txT" r="txR" b="txB"/>
                  <a:pathLst>
                    <a:path w="112" h="1">
                      <a:moveTo>
                        <a:pt x="0" y="0"/>
                      </a:moveTo>
                      <a:lnTo>
                        <a:pt x="112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799" name="Freeform 52"/>
                <p:cNvSpPr/>
                <p:nvPr/>
              </p:nvSpPr>
              <p:spPr>
                <a:xfrm>
                  <a:off x="1059" y="1209"/>
                  <a:ext cx="152" cy="1469"/>
                </a:xfrm>
                <a:custGeom>
                  <a:avLst/>
                  <a:gdLst>
                    <a:gd name="txL" fmla="*/ 0 w 152"/>
                    <a:gd name="txT" fmla="*/ 0 h 1469"/>
                    <a:gd name="txR" fmla="*/ 152 w 152"/>
                    <a:gd name="txB" fmla="*/ 1469 h 1469"/>
                  </a:gdLst>
                  <a:ahLst/>
                  <a:cxnLst>
                    <a:cxn ang="0">
                      <a:pos x="152" y="1469"/>
                    </a:cxn>
                    <a:cxn ang="0">
                      <a:pos x="0" y="1469"/>
                    </a:cxn>
                    <a:cxn ang="0">
                      <a:pos x="0" y="0"/>
                    </a:cxn>
                    <a:cxn ang="0">
                      <a:pos x="95" y="1"/>
                    </a:cxn>
                  </a:cxnLst>
                  <a:rect l="txL" t="txT" r="txR" b="txB"/>
                  <a:pathLst>
                    <a:path w="152" h="1469">
                      <a:moveTo>
                        <a:pt x="152" y="1469"/>
                      </a:moveTo>
                      <a:lnTo>
                        <a:pt x="0" y="1469"/>
                      </a:lnTo>
                      <a:lnTo>
                        <a:pt x="0" y="0"/>
                      </a:lnTo>
                      <a:lnTo>
                        <a:pt x="95" y="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00" name="Freeform 53"/>
                <p:cNvSpPr/>
                <p:nvPr/>
              </p:nvSpPr>
              <p:spPr>
                <a:xfrm>
                  <a:off x="1055" y="2353"/>
                  <a:ext cx="102" cy="1"/>
                </a:xfrm>
                <a:custGeom>
                  <a:avLst/>
                  <a:gdLst>
                    <a:gd name="txL" fmla="*/ 0 w 102"/>
                    <a:gd name="txT" fmla="*/ 0 h 1"/>
                    <a:gd name="txR" fmla="*/ 102 w 102"/>
                    <a:gd name="txB" fmla="*/ 1 h 1"/>
                  </a:gdLst>
                  <a:ahLst/>
                  <a:cxnLst>
                    <a:cxn ang="0">
                      <a:pos x="102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02" h="1">
                      <a:moveTo>
                        <a:pt x="10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01" name="Line 54"/>
                <p:cNvSpPr/>
                <p:nvPr/>
              </p:nvSpPr>
              <p:spPr>
                <a:xfrm rot="5400000">
                  <a:off x="1896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02" name="Line 55"/>
                <p:cNvSpPr/>
                <p:nvPr/>
              </p:nvSpPr>
              <p:spPr>
                <a:xfrm rot="5400000">
                  <a:off x="1879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03" name="Freeform 56"/>
                <p:cNvSpPr/>
                <p:nvPr/>
              </p:nvSpPr>
              <p:spPr>
                <a:xfrm>
                  <a:off x="1831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04" name="Line 57"/>
                <p:cNvSpPr/>
                <p:nvPr/>
              </p:nvSpPr>
              <p:spPr>
                <a:xfrm rot="-5400000">
                  <a:off x="1704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05" name="Line 58"/>
                <p:cNvSpPr/>
                <p:nvPr/>
              </p:nvSpPr>
              <p:spPr>
                <a:xfrm rot="-5400000">
                  <a:off x="1783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06" name="Freeform 59"/>
                <p:cNvSpPr/>
                <p:nvPr/>
              </p:nvSpPr>
              <p:spPr>
                <a:xfrm>
                  <a:off x="2005" y="2353"/>
                  <a:ext cx="103" cy="1"/>
                </a:xfrm>
                <a:custGeom>
                  <a:avLst/>
                  <a:gdLst>
                    <a:gd name="txL" fmla="*/ 0 w 103"/>
                    <a:gd name="txT" fmla="*/ 0 h 1"/>
                    <a:gd name="txR" fmla="*/ 103 w 103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03" y="0"/>
                    </a:cxn>
                  </a:cxnLst>
                  <a:rect l="txL" t="txT" r="txR" b="txB"/>
                  <a:pathLst>
                    <a:path w="103" h="1">
                      <a:moveTo>
                        <a:pt x="0" y="0"/>
                      </a:moveTo>
                      <a:lnTo>
                        <a:pt x="103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07" name="Freeform 60"/>
                <p:cNvSpPr/>
                <p:nvPr/>
              </p:nvSpPr>
              <p:spPr>
                <a:xfrm>
                  <a:off x="1611" y="2352"/>
                  <a:ext cx="113" cy="1"/>
                </a:xfrm>
                <a:custGeom>
                  <a:avLst/>
                  <a:gdLst>
                    <a:gd name="txL" fmla="*/ 0 w 113"/>
                    <a:gd name="txT" fmla="*/ 0 h 1"/>
                    <a:gd name="txR" fmla="*/ 113 w 113"/>
                    <a:gd name="txB" fmla="*/ 1 h 1"/>
                  </a:gdLst>
                  <a:ahLst/>
                  <a:cxnLst>
                    <a:cxn ang="0">
                      <a:pos x="113" y="1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13" h="1">
                      <a:moveTo>
                        <a:pt x="113" y="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08" name="Line 61"/>
                <p:cNvSpPr/>
                <p:nvPr/>
              </p:nvSpPr>
              <p:spPr>
                <a:xfrm rot="5400000">
                  <a:off x="2477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09" name="Line 62"/>
                <p:cNvSpPr/>
                <p:nvPr/>
              </p:nvSpPr>
              <p:spPr>
                <a:xfrm rot="5400000">
                  <a:off x="2460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10" name="Freeform 63"/>
                <p:cNvSpPr/>
                <p:nvPr/>
              </p:nvSpPr>
              <p:spPr>
                <a:xfrm>
                  <a:off x="2412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11" name="Line 64"/>
                <p:cNvSpPr/>
                <p:nvPr/>
              </p:nvSpPr>
              <p:spPr>
                <a:xfrm rot="-5400000">
                  <a:off x="2285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12" name="Line 65"/>
                <p:cNvSpPr/>
                <p:nvPr/>
              </p:nvSpPr>
              <p:spPr>
                <a:xfrm rot="-5400000">
                  <a:off x="2364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13" name="Freeform 66"/>
                <p:cNvSpPr/>
                <p:nvPr/>
              </p:nvSpPr>
              <p:spPr>
                <a:xfrm>
                  <a:off x="2586" y="2353"/>
                  <a:ext cx="109" cy="1"/>
                </a:xfrm>
                <a:custGeom>
                  <a:avLst/>
                  <a:gdLst>
                    <a:gd name="txL" fmla="*/ 0 w 109"/>
                    <a:gd name="txT" fmla="*/ 0 h 1"/>
                    <a:gd name="txR" fmla="*/ 109 w 109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09" y="0"/>
                    </a:cxn>
                  </a:cxnLst>
                  <a:rect l="txL" t="txT" r="txR" b="txB"/>
                  <a:pathLst>
                    <a:path w="109" h="1">
                      <a:moveTo>
                        <a:pt x="0" y="0"/>
                      </a:moveTo>
                      <a:lnTo>
                        <a:pt x="109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14" name="Freeform 67"/>
                <p:cNvSpPr/>
                <p:nvPr/>
              </p:nvSpPr>
              <p:spPr>
                <a:xfrm>
                  <a:off x="2207" y="2353"/>
                  <a:ext cx="89" cy="1"/>
                </a:xfrm>
                <a:custGeom>
                  <a:avLst/>
                  <a:gdLst>
                    <a:gd name="txL" fmla="*/ 0 w 89"/>
                    <a:gd name="txT" fmla="*/ 0 h 1"/>
                    <a:gd name="txR" fmla="*/ 89 w 89"/>
                    <a:gd name="txB" fmla="*/ 1 h 1"/>
                  </a:gdLst>
                  <a:ahLst/>
                  <a:cxnLst>
                    <a:cxn ang="0">
                      <a:pos x="89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89" h="1">
                      <a:moveTo>
                        <a:pt x="89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15" name="Line 68"/>
                <p:cNvSpPr/>
                <p:nvPr/>
              </p:nvSpPr>
              <p:spPr>
                <a:xfrm rot="5400000">
                  <a:off x="3053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16" name="Line 69"/>
                <p:cNvSpPr/>
                <p:nvPr/>
              </p:nvSpPr>
              <p:spPr>
                <a:xfrm rot="5400000">
                  <a:off x="3036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17" name="Freeform 70"/>
                <p:cNvSpPr/>
                <p:nvPr/>
              </p:nvSpPr>
              <p:spPr>
                <a:xfrm>
                  <a:off x="2988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18" name="Line 71"/>
                <p:cNvSpPr/>
                <p:nvPr/>
              </p:nvSpPr>
              <p:spPr>
                <a:xfrm rot="-5400000">
                  <a:off x="2861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19" name="Line 72"/>
                <p:cNvSpPr/>
                <p:nvPr/>
              </p:nvSpPr>
              <p:spPr>
                <a:xfrm rot="-5400000">
                  <a:off x="2940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20" name="Freeform 73"/>
                <p:cNvSpPr/>
                <p:nvPr/>
              </p:nvSpPr>
              <p:spPr>
                <a:xfrm>
                  <a:off x="3162" y="2353"/>
                  <a:ext cx="115" cy="1"/>
                </a:xfrm>
                <a:custGeom>
                  <a:avLst/>
                  <a:gdLst>
                    <a:gd name="txL" fmla="*/ 0 w 115"/>
                    <a:gd name="txT" fmla="*/ 0 h 1"/>
                    <a:gd name="txR" fmla="*/ 115 w 115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15" y="0"/>
                    </a:cxn>
                  </a:cxnLst>
                  <a:rect l="txL" t="txT" r="txR" b="txB"/>
                  <a:pathLst>
                    <a:path w="115" h="1">
                      <a:moveTo>
                        <a:pt x="0" y="0"/>
                      </a:moveTo>
                      <a:lnTo>
                        <a:pt x="115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21" name="Freeform 74"/>
                <p:cNvSpPr/>
                <p:nvPr/>
              </p:nvSpPr>
              <p:spPr>
                <a:xfrm>
                  <a:off x="2783" y="2353"/>
                  <a:ext cx="90" cy="1"/>
                </a:xfrm>
                <a:custGeom>
                  <a:avLst/>
                  <a:gdLst>
                    <a:gd name="txL" fmla="*/ 0 w 90"/>
                    <a:gd name="txT" fmla="*/ 0 h 1"/>
                    <a:gd name="txR" fmla="*/ 90 w 90"/>
                    <a:gd name="txB" fmla="*/ 1 h 1"/>
                  </a:gdLst>
                  <a:ahLst/>
                  <a:cxnLst>
                    <a:cxn ang="0">
                      <a:pos x="9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90" h="1">
                      <a:moveTo>
                        <a:pt x="9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22" name="Line 75"/>
                <p:cNvSpPr/>
                <p:nvPr/>
              </p:nvSpPr>
              <p:spPr>
                <a:xfrm rot="5400000">
                  <a:off x="3629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23" name="Line 76"/>
                <p:cNvSpPr/>
                <p:nvPr/>
              </p:nvSpPr>
              <p:spPr>
                <a:xfrm rot="5400000">
                  <a:off x="3612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24" name="Freeform 77"/>
                <p:cNvSpPr/>
                <p:nvPr/>
              </p:nvSpPr>
              <p:spPr>
                <a:xfrm>
                  <a:off x="3564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25" name="Line 78"/>
                <p:cNvSpPr/>
                <p:nvPr/>
              </p:nvSpPr>
              <p:spPr>
                <a:xfrm rot="-5400000">
                  <a:off x="3437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26" name="Line 79"/>
                <p:cNvSpPr/>
                <p:nvPr/>
              </p:nvSpPr>
              <p:spPr>
                <a:xfrm rot="-5400000">
                  <a:off x="3516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27" name="Freeform 80"/>
                <p:cNvSpPr/>
                <p:nvPr/>
              </p:nvSpPr>
              <p:spPr>
                <a:xfrm>
                  <a:off x="3751" y="2352"/>
                  <a:ext cx="100" cy="1"/>
                </a:xfrm>
                <a:custGeom>
                  <a:avLst/>
                  <a:gdLst>
                    <a:gd name="txL" fmla="*/ 0 w 100"/>
                    <a:gd name="txT" fmla="*/ 0 h 1"/>
                    <a:gd name="txR" fmla="*/ 100 w 100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00" y="1"/>
                    </a:cxn>
                  </a:cxnLst>
                  <a:rect l="txL" t="txT" r="txR" b="txB"/>
                  <a:pathLst>
                    <a:path w="100" h="1">
                      <a:moveTo>
                        <a:pt x="0" y="0"/>
                      </a:moveTo>
                      <a:lnTo>
                        <a:pt x="100" y="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28" name="Freeform 81"/>
                <p:cNvSpPr/>
                <p:nvPr/>
              </p:nvSpPr>
              <p:spPr>
                <a:xfrm>
                  <a:off x="3359" y="2353"/>
                  <a:ext cx="108" cy="1"/>
                </a:xfrm>
                <a:custGeom>
                  <a:avLst/>
                  <a:gdLst>
                    <a:gd name="txL" fmla="*/ 0 w 108"/>
                    <a:gd name="txT" fmla="*/ 0 h 1"/>
                    <a:gd name="txR" fmla="*/ 108 w 108"/>
                    <a:gd name="txB" fmla="*/ 1 h 1"/>
                  </a:gdLst>
                  <a:ahLst/>
                  <a:cxnLst>
                    <a:cxn ang="0">
                      <a:pos x="108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08" h="1">
                      <a:moveTo>
                        <a:pt x="108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29" name="Line 82"/>
                <p:cNvSpPr/>
                <p:nvPr/>
              </p:nvSpPr>
              <p:spPr>
                <a:xfrm rot="5400000">
                  <a:off x="4205" y="2698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30" name="Line 83"/>
                <p:cNvSpPr/>
                <p:nvPr/>
              </p:nvSpPr>
              <p:spPr>
                <a:xfrm rot="5400000">
                  <a:off x="4188" y="2696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31" name="Freeform 84"/>
                <p:cNvSpPr/>
                <p:nvPr/>
              </p:nvSpPr>
              <p:spPr>
                <a:xfrm>
                  <a:off x="4140" y="2695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32" name="Line 85"/>
                <p:cNvSpPr/>
                <p:nvPr/>
              </p:nvSpPr>
              <p:spPr>
                <a:xfrm rot="-5400000">
                  <a:off x="4013" y="2698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33" name="Line 86"/>
                <p:cNvSpPr/>
                <p:nvPr/>
              </p:nvSpPr>
              <p:spPr>
                <a:xfrm rot="-5400000">
                  <a:off x="4092" y="2700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834" name="Freeform 87"/>
                <p:cNvSpPr/>
                <p:nvPr/>
              </p:nvSpPr>
              <p:spPr>
                <a:xfrm>
                  <a:off x="4336" y="2351"/>
                  <a:ext cx="90" cy="2"/>
                </a:xfrm>
                <a:custGeom>
                  <a:avLst/>
                  <a:gdLst>
                    <a:gd name="txL" fmla="*/ 0 w 90"/>
                    <a:gd name="txT" fmla="*/ 0 h 2"/>
                    <a:gd name="txR" fmla="*/ 90 w 90"/>
                    <a:gd name="txB" fmla="*/ 2 h 2"/>
                  </a:gdLst>
                  <a:ahLst/>
                  <a:cxnLst>
                    <a:cxn ang="0">
                      <a:pos x="0" y="0"/>
                    </a:cxn>
                    <a:cxn ang="0">
                      <a:pos x="90" y="2"/>
                    </a:cxn>
                  </a:cxnLst>
                  <a:rect l="txL" t="txT" r="txR" b="txB"/>
                  <a:pathLst>
                    <a:path w="90" h="2">
                      <a:moveTo>
                        <a:pt x="0" y="0"/>
                      </a:moveTo>
                      <a:lnTo>
                        <a:pt x="90" y="2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35" name="Freeform 88"/>
                <p:cNvSpPr/>
                <p:nvPr/>
              </p:nvSpPr>
              <p:spPr>
                <a:xfrm>
                  <a:off x="3935" y="2353"/>
                  <a:ext cx="104" cy="1"/>
                </a:xfrm>
                <a:custGeom>
                  <a:avLst/>
                  <a:gdLst>
                    <a:gd name="txL" fmla="*/ 0 w 104"/>
                    <a:gd name="txT" fmla="*/ 0 h 1"/>
                    <a:gd name="txR" fmla="*/ 104 w 104"/>
                    <a:gd name="txB" fmla="*/ 1 h 1"/>
                  </a:gdLst>
                  <a:ahLst/>
                  <a:cxnLst>
                    <a:cxn ang="0">
                      <a:pos x="104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04" h="1">
                      <a:moveTo>
                        <a:pt x="104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4836" name="Group 89"/>
                <p:cNvGrpSpPr/>
                <p:nvPr/>
              </p:nvGrpSpPr>
              <p:grpSpPr>
                <a:xfrm>
                  <a:off x="4668" y="2634"/>
                  <a:ext cx="192" cy="158"/>
                  <a:chOff x="4692" y="2634"/>
                  <a:chExt cx="192" cy="158"/>
                </a:xfrm>
              </p:grpSpPr>
              <p:grpSp>
                <p:nvGrpSpPr>
                  <p:cNvPr id="284983" name="Group 90"/>
                  <p:cNvGrpSpPr/>
                  <p:nvPr/>
                </p:nvGrpSpPr>
                <p:grpSpPr>
                  <a:xfrm>
                    <a:off x="4836" y="2634"/>
                    <a:ext cx="48" cy="158"/>
                    <a:chOff x="4836" y="2634"/>
                    <a:chExt cx="48" cy="158"/>
                  </a:xfrm>
                </p:grpSpPr>
                <p:sp>
                  <p:nvSpPr>
                    <p:cNvPr id="284988" name="Line 91"/>
                    <p:cNvSpPr/>
                    <p:nvPr/>
                  </p:nvSpPr>
                  <p:spPr>
                    <a:xfrm rot="5400000">
                      <a:off x="4805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4989" name="Line 92"/>
                    <p:cNvSpPr/>
                    <p:nvPr/>
                  </p:nvSpPr>
                  <p:spPr>
                    <a:xfrm rot="5400000">
                      <a:off x="4788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4984" name="Freeform 93"/>
                  <p:cNvSpPr/>
                  <p:nvPr/>
                </p:nvSpPr>
                <p:spPr>
                  <a:xfrm>
                    <a:off x="4740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4985" name="Group 94"/>
                  <p:cNvGrpSpPr/>
                  <p:nvPr/>
                </p:nvGrpSpPr>
                <p:grpSpPr>
                  <a:xfrm>
                    <a:off x="4692" y="2634"/>
                    <a:ext cx="48" cy="158"/>
                    <a:chOff x="4692" y="2634"/>
                    <a:chExt cx="48" cy="158"/>
                  </a:xfrm>
                </p:grpSpPr>
                <p:sp>
                  <p:nvSpPr>
                    <p:cNvPr id="284986" name="Line 95"/>
                    <p:cNvSpPr/>
                    <p:nvPr/>
                  </p:nvSpPr>
                  <p:spPr>
                    <a:xfrm rot="-5400000">
                      <a:off x="4613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4987" name="Line 96"/>
                    <p:cNvSpPr/>
                    <p:nvPr/>
                  </p:nvSpPr>
                  <p:spPr>
                    <a:xfrm rot="-5400000">
                      <a:off x="4692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284837" name="Freeform 97"/>
                <p:cNvSpPr/>
                <p:nvPr/>
              </p:nvSpPr>
              <p:spPr>
                <a:xfrm>
                  <a:off x="4890" y="2353"/>
                  <a:ext cx="107" cy="1"/>
                </a:xfrm>
                <a:custGeom>
                  <a:avLst/>
                  <a:gdLst>
                    <a:gd name="txL" fmla="*/ 0 w 107"/>
                    <a:gd name="txT" fmla="*/ 0 h 1"/>
                    <a:gd name="txR" fmla="*/ 107 w 107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07" y="0"/>
                    </a:cxn>
                  </a:cxnLst>
                  <a:rect l="txL" t="txT" r="txR" b="txB"/>
                  <a:pathLst>
                    <a:path w="107" h="1">
                      <a:moveTo>
                        <a:pt x="0" y="0"/>
                      </a:moveTo>
                      <a:lnTo>
                        <a:pt x="107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38" name="Freeform 98"/>
                <p:cNvSpPr/>
                <p:nvPr/>
              </p:nvSpPr>
              <p:spPr>
                <a:xfrm>
                  <a:off x="4511" y="2353"/>
                  <a:ext cx="96" cy="1"/>
                </a:xfrm>
                <a:custGeom>
                  <a:avLst/>
                  <a:gdLst>
                    <a:gd name="txL" fmla="*/ 0 w 96"/>
                    <a:gd name="txT" fmla="*/ 0 h 1"/>
                    <a:gd name="txR" fmla="*/ 96 w 96"/>
                    <a:gd name="txB" fmla="*/ 1 h 1"/>
                  </a:gdLst>
                  <a:ahLst/>
                  <a:cxnLst>
                    <a:cxn ang="0">
                      <a:pos x="96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96" h="1">
                      <a:moveTo>
                        <a:pt x="9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4839" name="Group 99"/>
                <p:cNvGrpSpPr/>
                <p:nvPr/>
              </p:nvGrpSpPr>
              <p:grpSpPr>
                <a:xfrm>
                  <a:off x="5235" y="2634"/>
                  <a:ext cx="192" cy="158"/>
                  <a:chOff x="5259" y="2634"/>
                  <a:chExt cx="192" cy="158"/>
                </a:xfrm>
              </p:grpSpPr>
              <p:grpSp>
                <p:nvGrpSpPr>
                  <p:cNvPr id="284976" name="Group 100"/>
                  <p:cNvGrpSpPr/>
                  <p:nvPr/>
                </p:nvGrpSpPr>
                <p:grpSpPr>
                  <a:xfrm>
                    <a:off x="5403" y="2634"/>
                    <a:ext cx="48" cy="158"/>
                    <a:chOff x="5403" y="2634"/>
                    <a:chExt cx="48" cy="158"/>
                  </a:xfrm>
                </p:grpSpPr>
                <p:sp>
                  <p:nvSpPr>
                    <p:cNvPr id="284981" name="Line 101"/>
                    <p:cNvSpPr/>
                    <p:nvPr/>
                  </p:nvSpPr>
                  <p:spPr>
                    <a:xfrm rot="5400000">
                      <a:off x="5372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4982" name="Line 102"/>
                    <p:cNvSpPr/>
                    <p:nvPr/>
                  </p:nvSpPr>
                  <p:spPr>
                    <a:xfrm rot="5400000">
                      <a:off x="5355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4977" name="Freeform 103"/>
                  <p:cNvSpPr/>
                  <p:nvPr/>
                </p:nvSpPr>
                <p:spPr>
                  <a:xfrm>
                    <a:off x="5307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4978" name="Group 104"/>
                  <p:cNvGrpSpPr/>
                  <p:nvPr/>
                </p:nvGrpSpPr>
                <p:grpSpPr>
                  <a:xfrm>
                    <a:off x="5259" y="2634"/>
                    <a:ext cx="48" cy="158"/>
                    <a:chOff x="5259" y="2634"/>
                    <a:chExt cx="48" cy="158"/>
                  </a:xfrm>
                </p:grpSpPr>
                <p:sp>
                  <p:nvSpPr>
                    <p:cNvPr id="284979" name="Line 105"/>
                    <p:cNvSpPr/>
                    <p:nvPr/>
                  </p:nvSpPr>
                  <p:spPr>
                    <a:xfrm rot="-5400000">
                      <a:off x="5180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4980" name="Line 106"/>
                    <p:cNvSpPr/>
                    <p:nvPr/>
                  </p:nvSpPr>
                  <p:spPr>
                    <a:xfrm rot="-5400000">
                      <a:off x="5259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284840" name="Freeform 107"/>
                <p:cNvSpPr/>
                <p:nvPr/>
              </p:nvSpPr>
              <p:spPr>
                <a:xfrm>
                  <a:off x="5467" y="2351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0"/>
                    </a:cxn>
                    <a:cxn ang="0">
                      <a:pos x="96" y="2"/>
                    </a:cxn>
                  </a:cxnLst>
                  <a:rect l="txL" t="txT" r="txR" b="txB"/>
                  <a:pathLst>
                    <a:path w="96" h="2">
                      <a:moveTo>
                        <a:pt x="0" y="0"/>
                      </a:moveTo>
                      <a:lnTo>
                        <a:pt x="96" y="2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41" name="Freeform 108"/>
                <p:cNvSpPr/>
                <p:nvPr/>
              </p:nvSpPr>
              <p:spPr>
                <a:xfrm>
                  <a:off x="5078" y="2353"/>
                  <a:ext cx="101" cy="1"/>
                </a:xfrm>
                <a:custGeom>
                  <a:avLst/>
                  <a:gdLst>
                    <a:gd name="txL" fmla="*/ 0 w 101"/>
                    <a:gd name="txT" fmla="*/ 0 h 1"/>
                    <a:gd name="txR" fmla="*/ 101 w 101"/>
                    <a:gd name="txB" fmla="*/ 1 h 1"/>
                  </a:gdLst>
                  <a:ahLst/>
                  <a:cxnLst>
                    <a:cxn ang="0">
                      <a:pos x="101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01" h="1">
                      <a:moveTo>
                        <a:pt x="101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42" name="Freeform 109"/>
                <p:cNvSpPr/>
                <p:nvPr/>
              </p:nvSpPr>
              <p:spPr>
                <a:xfrm>
                  <a:off x="908" y="856"/>
                  <a:ext cx="4419" cy="1"/>
                </a:xfrm>
                <a:custGeom>
                  <a:avLst/>
                  <a:gdLst>
                    <a:gd name="txL" fmla="*/ 0 w 4419"/>
                    <a:gd name="txT" fmla="*/ 0 h 1"/>
                    <a:gd name="txR" fmla="*/ 4419 w 4419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9" y="0"/>
                    </a:cxn>
                  </a:cxnLst>
                  <a:rect l="txL" t="txT" r="txR" b="txB"/>
                  <a:pathLst>
                    <a:path w="4419" h="1">
                      <a:moveTo>
                        <a:pt x="0" y="1"/>
                      </a:moveTo>
                      <a:lnTo>
                        <a:pt x="4419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43" name="Line 110"/>
                <p:cNvSpPr/>
                <p:nvPr/>
              </p:nvSpPr>
              <p:spPr>
                <a:xfrm>
                  <a:off x="1292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44" name="Line 111"/>
                <p:cNvSpPr/>
                <p:nvPr/>
              </p:nvSpPr>
              <p:spPr>
                <a:xfrm>
                  <a:off x="1868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45" name="Line 112"/>
                <p:cNvSpPr/>
                <p:nvPr/>
              </p:nvSpPr>
              <p:spPr>
                <a:xfrm>
                  <a:off x="2444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46" name="Line 113"/>
                <p:cNvSpPr/>
                <p:nvPr/>
              </p:nvSpPr>
              <p:spPr>
                <a:xfrm>
                  <a:off x="3020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47" name="Line 114"/>
                <p:cNvSpPr/>
                <p:nvPr/>
              </p:nvSpPr>
              <p:spPr>
                <a:xfrm>
                  <a:off x="3596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48" name="Line 115"/>
                <p:cNvSpPr/>
                <p:nvPr/>
              </p:nvSpPr>
              <p:spPr>
                <a:xfrm>
                  <a:off x="4172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49" name="Line 116"/>
                <p:cNvSpPr/>
                <p:nvPr/>
              </p:nvSpPr>
              <p:spPr>
                <a:xfrm>
                  <a:off x="4748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50" name="Line 117"/>
                <p:cNvSpPr/>
                <p:nvPr/>
              </p:nvSpPr>
              <p:spPr>
                <a:xfrm>
                  <a:off x="5324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med" len="med"/>
                </a:ln>
              </p:spPr>
            </p:sp>
            <p:sp>
              <p:nvSpPr>
                <p:cNvPr id="284851" name="Freeform 118"/>
                <p:cNvSpPr/>
                <p:nvPr/>
              </p:nvSpPr>
              <p:spPr>
                <a:xfrm>
                  <a:off x="1305" y="2708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1" y="0"/>
                    </a:cxn>
                    <a:cxn ang="0">
                      <a:pos x="0" y="166"/>
                    </a:cxn>
                  </a:cxnLst>
                  <a:rect l="txL" t="txT" r="txR" b="txB"/>
                  <a:pathLst>
                    <a:path w="1" h="166">
                      <a:moveTo>
                        <a:pt x="1" y="0"/>
                      </a:moveTo>
                      <a:lnTo>
                        <a:pt x="0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52" name="Freeform 119"/>
                <p:cNvSpPr/>
                <p:nvPr/>
              </p:nvSpPr>
              <p:spPr>
                <a:xfrm>
                  <a:off x="1880" y="2708"/>
                  <a:ext cx="47" cy="501"/>
                </a:xfrm>
                <a:custGeom>
                  <a:avLst/>
                  <a:gdLst>
                    <a:gd name="txL" fmla="*/ 0 w 1"/>
                    <a:gd name="txT" fmla="*/ 0 h 406"/>
                    <a:gd name="txR" fmla="*/ 1 w 1"/>
                    <a:gd name="txB" fmla="*/ 406 h 406"/>
                  </a:gdLst>
                  <a:ahLst/>
                  <a:cxnLst>
                    <a:cxn ang="0">
                      <a:pos x="0" y="0"/>
                    </a:cxn>
                    <a:cxn ang="0">
                      <a:pos x="0" y="406"/>
                    </a:cxn>
                  </a:cxnLst>
                  <a:rect l="txL" t="txT" r="txR" b="txB"/>
                  <a:pathLst>
                    <a:path w="1" h="406">
                      <a:moveTo>
                        <a:pt x="0" y="0"/>
                      </a:moveTo>
                      <a:lnTo>
                        <a:pt x="0" y="40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53" name="Freeform 120"/>
                <p:cNvSpPr/>
                <p:nvPr/>
              </p:nvSpPr>
              <p:spPr>
                <a:xfrm>
                  <a:off x="2454" y="2708"/>
                  <a:ext cx="4" cy="166"/>
                </a:xfrm>
                <a:custGeom>
                  <a:avLst/>
                  <a:gdLst>
                    <a:gd name="txL" fmla="*/ 0 w 4"/>
                    <a:gd name="txT" fmla="*/ 0 h 166"/>
                    <a:gd name="txR" fmla="*/ 4 w 4"/>
                    <a:gd name="txB" fmla="*/ 166 h 166"/>
                  </a:gdLst>
                  <a:ahLst/>
                  <a:cxnLst>
                    <a:cxn ang="0">
                      <a:pos x="4" y="0"/>
                    </a:cxn>
                    <a:cxn ang="0">
                      <a:pos x="0" y="166"/>
                    </a:cxn>
                  </a:cxnLst>
                  <a:rect l="txL" t="txT" r="txR" b="txB"/>
                  <a:pathLst>
                    <a:path w="4" h="166">
                      <a:moveTo>
                        <a:pt x="4" y="0"/>
                      </a:moveTo>
                      <a:lnTo>
                        <a:pt x="0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54" name="Freeform 121"/>
                <p:cNvSpPr/>
                <p:nvPr/>
              </p:nvSpPr>
              <p:spPr>
                <a:xfrm>
                  <a:off x="3606" y="2708"/>
                  <a:ext cx="2" cy="175"/>
                </a:xfrm>
                <a:custGeom>
                  <a:avLst/>
                  <a:gdLst>
                    <a:gd name="txL" fmla="*/ 0 w 2"/>
                    <a:gd name="txT" fmla="*/ 0 h 175"/>
                    <a:gd name="txR" fmla="*/ 2 w 2"/>
                    <a:gd name="txB" fmla="*/ 175 h 175"/>
                  </a:gdLst>
                  <a:ahLst/>
                  <a:cxnLst>
                    <a:cxn ang="0">
                      <a:pos x="2" y="0"/>
                    </a:cxn>
                    <a:cxn ang="0">
                      <a:pos x="0" y="175"/>
                    </a:cxn>
                  </a:cxnLst>
                  <a:rect l="txL" t="txT" r="txR" b="txB"/>
                  <a:pathLst>
                    <a:path w="2" h="175">
                      <a:moveTo>
                        <a:pt x="2" y="0"/>
                      </a:moveTo>
                      <a:lnTo>
                        <a:pt x="0" y="17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55" name="Freeform 122"/>
                <p:cNvSpPr/>
                <p:nvPr/>
              </p:nvSpPr>
              <p:spPr>
                <a:xfrm>
                  <a:off x="4760" y="2697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56" name="Freeform 123"/>
                <p:cNvSpPr/>
                <p:nvPr/>
              </p:nvSpPr>
              <p:spPr>
                <a:xfrm>
                  <a:off x="908" y="1480"/>
                  <a:ext cx="4422" cy="1"/>
                </a:xfrm>
                <a:custGeom>
                  <a:avLst/>
                  <a:gdLst>
                    <a:gd name="txL" fmla="*/ 0 w 4422"/>
                    <a:gd name="txT" fmla="*/ 0 h 1"/>
                    <a:gd name="txR" fmla="*/ 4422 w 4422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22" y="0"/>
                    </a:cxn>
                  </a:cxnLst>
                  <a:rect l="txL" t="txT" r="txR" b="txB"/>
                  <a:pathLst>
                    <a:path w="4422" h="1">
                      <a:moveTo>
                        <a:pt x="0" y="1"/>
                      </a:moveTo>
                      <a:lnTo>
                        <a:pt x="4422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57" name="Line 124"/>
                <p:cNvSpPr/>
                <p:nvPr/>
              </p:nvSpPr>
              <p:spPr>
                <a:xfrm>
                  <a:off x="1292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58" name="Line 125"/>
                <p:cNvSpPr/>
                <p:nvPr/>
              </p:nvSpPr>
              <p:spPr>
                <a:xfrm>
                  <a:off x="1868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59" name="Line 126"/>
                <p:cNvSpPr/>
                <p:nvPr/>
              </p:nvSpPr>
              <p:spPr>
                <a:xfrm>
                  <a:off x="2444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60" name="Line 127"/>
                <p:cNvSpPr/>
                <p:nvPr/>
              </p:nvSpPr>
              <p:spPr>
                <a:xfrm>
                  <a:off x="3020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61" name="Line 128"/>
                <p:cNvSpPr/>
                <p:nvPr/>
              </p:nvSpPr>
              <p:spPr>
                <a:xfrm>
                  <a:off x="3596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62" name="Line 129"/>
                <p:cNvSpPr/>
                <p:nvPr/>
              </p:nvSpPr>
              <p:spPr>
                <a:xfrm>
                  <a:off x="4172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63" name="Line 130"/>
                <p:cNvSpPr/>
                <p:nvPr/>
              </p:nvSpPr>
              <p:spPr>
                <a:xfrm>
                  <a:off x="4748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64" name="Line 131"/>
                <p:cNvSpPr/>
                <p:nvPr/>
              </p:nvSpPr>
              <p:spPr>
                <a:xfrm>
                  <a:off x="5324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med" len="med"/>
                </a:ln>
              </p:spPr>
            </p:sp>
            <p:sp>
              <p:nvSpPr>
                <p:cNvPr id="284865" name="Freeform 132"/>
                <p:cNvSpPr/>
                <p:nvPr/>
              </p:nvSpPr>
              <p:spPr>
                <a:xfrm>
                  <a:off x="908" y="2056"/>
                  <a:ext cx="4418" cy="1"/>
                </a:xfrm>
                <a:custGeom>
                  <a:avLst/>
                  <a:gdLst>
                    <a:gd name="txL" fmla="*/ 0 w 4418"/>
                    <a:gd name="txT" fmla="*/ 0 h 1"/>
                    <a:gd name="txR" fmla="*/ 4418 w 4418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8" y="0"/>
                    </a:cxn>
                  </a:cxnLst>
                  <a:rect l="txL" t="txT" r="txR" b="txB"/>
                  <a:pathLst>
                    <a:path w="4418" h="1">
                      <a:moveTo>
                        <a:pt x="0" y="1"/>
                      </a:moveTo>
                      <a:lnTo>
                        <a:pt x="4418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66" name="Line 133"/>
                <p:cNvSpPr/>
                <p:nvPr/>
              </p:nvSpPr>
              <p:spPr>
                <a:xfrm>
                  <a:off x="1292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67" name="Line 134"/>
                <p:cNvSpPr/>
                <p:nvPr/>
              </p:nvSpPr>
              <p:spPr>
                <a:xfrm>
                  <a:off x="1868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68" name="Line 135"/>
                <p:cNvSpPr/>
                <p:nvPr/>
              </p:nvSpPr>
              <p:spPr>
                <a:xfrm>
                  <a:off x="2444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69" name="Line 136"/>
                <p:cNvSpPr/>
                <p:nvPr/>
              </p:nvSpPr>
              <p:spPr>
                <a:xfrm>
                  <a:off x="3020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70" name="Line 137"/>
                <p:cNvSpPr/>
                <p:nvPr/>
              </p:nvSpPr>
              <p:spPr>
                <a:xfrm>
                  <a:off x="3596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71" name="Line 138"/>
                <p:cNvSpPr/>
                <p:nvPr/>
              </p:nvSpPr>
              <p:spPr>
                <a:xfrm>
                  <a:off x="4172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72" name="Line 139"/>
                <p:cNvSpPr/>
                <p:nvPr/>
              </p:nvSpPr>
              <p:spPr>
                <a:xfrm>
                  <a:off x="4748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4873" name="Line 140"/>
                <p:cNvSpPr/>
                <p:nvPr/>
              </p:nvSpPr>
              <p:spPr>
                <a:xfrm>
                  <a:off x="5324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med" len="med"/>
                </a:ln>
              </p:spPr>
            </p:sp>
            <p:sp>
              <p:nvSpPr>
                <p:cNvPr id="284874" name="Freeform 141"/>
                <p:cNvSpPr/>
                <p:nvPr/>
              </p:nvSpPr>
              <p:spPr>
                <a:xfrm>
                  <a:off x="909" y="2879"/>
                  <a:ext cx="3860" cy="1"/>
                </a:xfrm>
                <a:custGeom>
                  <a:avLst/>
                  <a:gdLst>
                    <a:gd name="txL" fmla="*/ 0 w 3860"/>
                    <a:gd name="txT" fmla="*/ 0 h 1"/>
                    <a:gd name="txR" fmla="*/ 3860 w 3860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3860" y="0"/>
                    </a:cxn>
                  </a:cxnLst>
                  <a:rect l="txL" t="txT" r="txR" b="txB"/>
                  <a:pathLst>
                    <a:path w="3860" h="1">
                      <a:moveTo>
                        <a:pt x="0" y="1"/>
                      </a:moveTo>
                      <a:lnTo>
                        <a:pt x="386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75" name="Freeform 142"/>
                <p:cNvSpPr/>
                <p:nvPr/>
              </p:nvSpPr>
              <p:spPr>
                <a:xfrm>
                  <a:off x="912" y="3209"/>
                  <a:ext cx="4418" cy="1"/>
                </a:xfrm>
                <a:custGeom>
                  <a:avLst/>
                  <a:gdLst>
                    <a:gd name="txL" fmla="*/ 0 w 4418"/>
                    <a:gd name="txT" fmla="*/ 0 h 1"/>
                    <a:gd name="txR" fmla="*/ 4418 w 4418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8" y="0"/>
                    </a:cxn>
                  </a:cxnLst>
                  <a:rect l="txL" t="txT" r="txR" b="txB"/>
                  <a:pathLst>
                    <a:path w="4418" h="1">
                      <a:moveTo>
                        <a:pt x="0" y="1"/>
                      </a:moveTo>
                      <a:lnTo>
                        <a:pt x="4418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76" name="Rectangle 143"/>
                <p:cNvSpPr/>
                <p:nvPr/>
              </p:nvSpPr>
              <p:spPr>
                <a:xfrm>
                  <a:off x="1141" y="3600"/>
                  <a:ext cx="823" cy="22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77" name="Text Box 144"/>
                <p:cNvSpPr txBox="1"/>
                <p:nvPr/>
              </p:nvSpPr>
              <p:spPr>
                <a:xfrm>
                  <a:off x="1172" y="3576"/>
                  <a:ext cx="75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878" name="Freeform 145"/>
                <p:cNvSpPr/>
                <p:nvPr/>
              </p:nvSpPr>
              <p:spPr>
                <a:xfrm>
                  <a:off x="1402" y="1211"/>
                  <a:ext cx="145" cy="1466"/>
                </a:xfrm>
                <a:custGeom>
                  <a:avLst/>
                  <a:gdLst>
                    <a:gd name="txL" fmla="*/ 0 w 145"/>
                    <a:gd name="txT" fmla="*/ 0 h 1466"/>
                    <a:gd name="txR" fmla="*/ 145 w 145"/>
                    <a:gd name="txB" fmla="*/ 1466 h 1466"/>
                  </a:gdLst>
                  <a:ahLst/>
                  <a:cxnLst>
                    <a:cxn ang="0">
                      <a:pos x="37" y="0"/>
                    </a:cxn>
                    <a:cxn ang="0">
                      <a:pos x="145" y="0"/>
                    </a:cxn>
                    <a:cxn ang="0">
                      <a:pos x="144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5" h="1466">
                      <a:moveTo>
                        <a:pt x="37" y="0"/>
                      </a:moveTo>
                      <a:lnTo>
                        <a:pt x="145" y="0"/>
                      </a:lnTo>
                      <a:lnTo>
                        <a:pt x="144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79" name="Freeform 146"/>
                <p:cNvSpPr/>
                <p:nvPr/>
              </p:nvSpPr>
              <p:spPr>
                <a:xfrm>
                  <a:off x="1613" y="1211"/>
                  <a:ext cx="169" cy="1469"/>
                </a:xfrm>
                <a:custGeom>
                  <a:avLst/>
                  <a:gdLst>
                    <a:gd name="txL" fmla="*/ 0 w 169"/>
                    <a:gd name="txT" fmla="*/ 0 h 1469"/>
                    <a:gd name="txR" fmla="*/ 169 w 169"/>
                    <a:gd name="txB" fmla="*/ 1469 h 1469"/>
                  </a:gdLst>
                  <a:ahLst/>
                  <a:cxnLst>
                    <a:cxn ang="0">
                      <a:pos x="169" y="1468"/>
                    </a:cxn>
                    <a:cxn ang="0">
                      <a:pos x="0" y="1469"/>
                    </a:cxn>
                    <a:cxn ang="0">
                      <a:pos x="1" y="0"/>
                    </a:cxn>
                    <a:cxn ang="0">
                      <a:pos x="105" y="0"/>
                    </a:cxn>
                  </a:cxnLst>
                  <a:rect l="txL" t="txT" r="txR" b="txB"/>
                  <a:pathLst>
                    <a:path w="169" h="1469">
                      <a:moveTo>
                        <a:pt x="169" y="1468"/>
                      </a:moveTo>
                      <a:lnTo>
                        <a:pt x="0" y="1469"/>
                      </a:lnTo>
                      <a:lnTo>
                        <a:pt x="1" y="0"/>
                      </a:lnTo>
                      <a:lnTo>
                        <a:pt x="105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80" name="Freeform 147"/>
                <p:cNvSpPr/>
                <p:nvPr/>
              </p:nvSpPr>
              <p:spPr>
                <a:xfrm>
                  <a:off x="1967" y="1211"/>
                  <a:ext cx="141" cy="1466"/>
                </a:xfrm>
                <a:custGeom>
                  <a:avLst/>
                  <a:gdLst>
                    <a:gd name="txL" fmla="*/ 0 w 141"/>
                    <a:gd name="txT" fmla="*/ 0 h 1466"/>
                    <a:gd name="txR" fmla="*/ 141 w 141"/>
                    <a:gd name="txB" fmla="*/ 1466 h 1466"/>
                  </a:gdLst>
                  <a:ahLst/>
                  <a:cxnLst>
                    <a:cxn ang="0">
                      <a:pos x="38" y="0"/>
                    </a:cxn>
                    <a:cxn ang="0">
                      <a:pos x="141" y="0"/>
                    </a:cxn>
                    <a:cxn ang="0">
                      <a:pos x="140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1" h="1466">
                      <a:moveTo>
                        <a:pt x="38" y="0"/>
                      </a:moveTo>
                      <a:lnTo>
                        <a:pt x="141" y="0"/>
                      </a:lnTo>
                      <a:lnTo>
                        <a:pt x="140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81" name="Freeform 148"/>
                <p:cNvSpPr/>
                <p:nvPr/>
              </p:nvSpPr>
              <p:spPr>
                <a:xfrm>
                  <a:off x="2208" y="1211"/>
                  <a:ext cx="155" cy="1467"/>
                </a:xfrm>
                <a:custGeom>
                  <a:avLst/>
                  <a:gdLst>
                    <a:gd name="txL" fmla="*/ 0 w 155"/>
                    <a:gd name="txT" fmla="*/ 0 h 1467"/>
                    <a:gd name="txR" fmla="*/ 155 w 155"/>
                    <a:gd name="txB" fmla="*/ 1467 h 1467"/>
                  </a:gdLst>
                  <a:ahLst/>
                  <a:cxnLst>
                    <a:cxn ang="0">
                      <a:pos x="155" y="1467"/>
                    </a:cxn>
                    <a:cxn ang="0">
                      <a:pos x="3" y="1467"/>
                    </a:cxn>
                    <a:cxn ang="0">
                      <a:pos x="0" y="1"/>
                    </a:cxn>
                    <a:cxn ang="0">
                      <a:pos x="89" y="0"/>
                    </a:cxn>
                  </a:cxnLst>
                  <a:rect l="txL" t="txT" r="txR" b="txB"/>
                  <a:pathLst>
                    <a:path w="155" h="1467">
                      <a:moveTo>
                        <a:pt x="155" y="1467"/>
                      </a:moveTo>
                      <a:lnTo>
                        <a:pt x="3" y="1467"/>
                      </a:lnTo>
                      <a:lnTo>
                        <a:pt x="0" y="1"/>
                      </a:lnTo>
                      <a:lnTo>
                        <a:pt x="89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82" name="Freeform 149"/>
                <p:cNvSpPr/>
                <p:nvPr/>
              </p:nvSpPr>
              <p:spPr>
                <a:xfrm>
                  <a:off x="2557" y="1211"/>
                  <a:ext cx="142" cy="1466"/>
                </a:xfrm>
                <a:custGeom>
                  <a:avLst/>
                  <a:gdLst>
                    <a:gd name="txL" fmla="*/ 0 w 142"/>
                    <a:gd name="txT" fmla="*/ 0 h 1466"/>
                    <a:gd name="txR" fmla="*/ 142 w 142"/>
                    <a:gd name="txB" fmla="*/ 1466 h 1466"/>
                  </a:gdLst>
                  <a:ahLst/>
                  <a:cxnLst>
                    <a:cxn ang="0">
                      <a:pos x="34" y="0"/>
                    </a:cxn>
                    <a:cxn ang="0">
                      <a:pos x="142" y="0"/>
                    </a:cxn>
                    <a:cxn ang="0">
                      <a:pos x="141" y="1466"/>
                    </a:cxn>
                    <a:cxn ang="0">
                      <a:pos x="0" y="1464"/>
                    </a:cxn>
                  </a:cxnLst>
                  <a:rect l="txL" t="txT" r="txR" b="txB"/>
                  <a:pathLst>
                    <a:path w="142" h="1466">
                      <a:moveTo>
                        <a:pt x="34" y="0"/>
                      </a:moveTo>
                      <a:lnTo>
                        <a:pt x="142" y="0"/>
                      </a:lnTo>
                      <a:lnTo>
                        <a:pt x="141" y="1466"/>
                      </a:lnTo>
                      <a:lnTo>
                        <a:pt x="0" y="1464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83" name="Freeform 150"/>
                <p:cNvSpPr/>
                <p:nvPr/>
              </p:nvSpPr>
              <p:spPr>
                <a:xfrm>
                  <a:off x="2787" y="1211"/>
                  <a:ext cx="152" cy="1467"/>
                </a:xfrm>
                <a:custGeom>
                  <a:avLst/>
                  <a:gdLst>
                    <a:gd name="txL" fmla="*/ 0 w 152"/>
                    <a:gd name="txT" fmla="*/ 0 h 1467"/>
                    <a:gd name="txR" fmla="*/ 152 w 152"/>
                    <a:gd name="txB" fmla="*/ 1467 h 1467"/>
                  </a:gdLst>
                  <a:ahLst/>
                  <a:cxnLst>
                    <a:cxn ang="0">
                      <a:pos x="152" y="1467"/>
                    </a:cxn>
                    <a:cxn ang="0">
                      <a:pos x="0" y="1467"/>
                    </a:cxn>
                    <a:cxn ang="0">
                      <a:pos x="0" y="1"/>
                    </a:cxn>
                    <a:cxn ang="0">
                      <a:pos x="77" y="0"/>
                    </a:cxn>
                  </a:cxnLst>
                  <a:rect l="txL" t="txT" r="txR" b="txB"/>
                  <a:pathLst>
                    <a:path w="152" h="1467">
                      <a:moveTo>
                        <a:pt x="152" y="1467"/>
                      </a:moveTo>
                      <a:lnTo>
                        <a:pt x="0" y="1467"/>
                      </a:lnTo>
                      <a:lnTo>
                        <a:pt x="0" y="1"/>
                      </a:lnTo>
                      <a:lnTo>
                        <a:pt x="77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84" name="Freeform 151"/>
                <p:cNvSpPr/>
                <p:nvPr/>
              </p:nvSpPr>
              <p:spPr>
                <a:xfrm>
                  <a:off x="3130" y="1211"/>
                  <a:ext cx="145" cy="1466"/>
                </a:xfrm>
                <a:custGeom>
                  <a:avLst/>
                  <a:gdLst>
                    <a:gd name="txL" fmla="*/ 0 w 145"/>
                    <a:gd name="txT" fmla="*/ 0 h 1466"/>
                    <a:gd name="txR" fmla="*/ 145 w 145"/>
                    <a:gd name="txB" fmla="*/ 1466 h 1466"/>
                  </a:gdLst>
                  <a:ahLst/>
                  <a:cxnLst>
                    <a:cxn ang="0">
                      <a:pos x="37" y="0"/>
                    </a:cxn>
                    <a:cxn ang="0">
                      <a:pos x="145" y="0"/>
                    </a:cxn>
                    <a:cxn ang="0">
                      <a:pos x="144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5" h="1466">
                      <a:moveTo>
                        <a:pt x="37" y="0"/>
                      </a:moveTo>
                      <a:lnTo>
                        <a:pt x="145" y="0"/>
                      </a:lnTo>
                      <a:lnTo>
                        <a:pt x="144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85" name="Freeform 152"/>
                <p:cNvSpPr/>
                <p:nvPr/>
              </p:nvSpPr>
              <p:spPr>
                <a:xfrm>
                  <a:off x="3360" y="1209"/>
                  <a:ext cx="155" cy="1469"/>
                </a:xfrm>
                <a:custGeom>
                  <a:avLst/>
                  <a:gdLst>
                    <a:gd name="txL" fmla="*/ 0 w 155"/>
                    <a:gd name="txT" fmla="*/ 0 h 1469"/>
                    <a:gd name="txR" fmla="*/ 155 w 155"/>
                    <a:gd name="txB" fmla="*/ 1469 h 1469"/>
                  </a:gdLst>
                  <a:ahLst/>
                  <a:cxnLst>
                    <a:cxn ang="0">
                      <a:pos x="155" y="1469"/>
                    </a:cxn>
                    <a:cxn ang="0">
                      <a:pos x="3" y="1469"/>
                    </a:cxn>
                    <a:cxn ang="0">
                      <a:pos x="0" y="0"/>
                    </a:cxn>
                    <a:cxn ang="0">
                      <a:pos x="103" y="2"/>
                    </a:cxn>
                  </a:cxnLst>
                  <a:rect l="txL" t="txT" r="txR" b="txB"/>
                  <a:pathLst>
                    <a:path w="155" h="1469">
                      <a:moveTo>
                        <a:pt x="155" y="1469"/>
                      </a:moveTo>
                      <a:lnTo>
                        <a:pt x="3" y="1469"/>
                      </a:lnTo>
                      <a:lnTo>
                        <a:pt x="0" y="0"/>
                      </a:lnTo>
                      <a:lnTo>
                        <a:pt x="103" y="2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86" name="Freeform 153"/>
                <p:cNvSpPr/>
                <p:nvPr/>
              </p:nvSpPr>
              <p:spPr>
                <a:xfrm>
                  <a:off x="3710" y="1211"/>
                  <a:ext cx="141" cy="1466"/>
                </a:xfrm>
                <a:custGeom>
                  <a:avLst/>
                  <a:gdLst>
                    <a:gd name="txL" fmla="*/ 0 w 141"/>
                    <a:gd name="txT" fmla="*/ 0 h 1466"/>
                    <a:gd name="txR" fmla="*/ 141 w 141"/>
                    <a:gd name="txB" fmla="*/ 1466 h 1466"/>
                  </a:gdLst>
                  <a:ahLst/>
                  <a:cxnLst>
                    <a:cxn ang="0">
                      <a:pos x="42" y="0"/>
                    </a:cxn>
                    <a:cxn ang="0">
                      <a:pos x="141" y="0"/>
                    </a:cxn>
                    <a:cxn ang="0">
                      <a:pos x="140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1" h="1466">
                      <a:moveTo>
                        <a:pt x="42" y="0"/>
                      </a:moveTo>
                      <a:lnTo>
                        <a:pt x="141" y="0"/>
                      </a:lnTo>
                      <a:lnTo>
                        <a:pt x="140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87" name="Freeform 154"/>
                <p:cNvSpPr/>
                <p:nvPr/>
              </p:nvSpPr>
              <p:spPr>
                <a:xfrm>
                  <a:off x="3939" y="1211"/>
                  <a:ext cx="152" cy="1467"/>
                </a:xfrm>
                <a:custGeom>
                  <a:avLst/>
                  <a:gdLst>
                    <a:gd name="txL" fmla="*/ 0 w 152"/>
                    <a:gd name="txT" fmla="*/ 0 h 1467"/>
                    <a:gd name="txR" fmla="*/ 152 w 152"/>
                    <a:gd name="txB" fmla="*/ 1467 h 1467"/>
                  </a:gdLst>
                  <a:ahLst/>
                  <a:cxnLst>
                    <a:cxn ang="0">
                      <a:pos x="152" y="1467"/>
                    </a:cxn>
                    <a:cxn ang="0">
                      <a:pos x="0" y="1467"/>
                    </a:cxn>
                    <a:cxn ang="0">
                      <a:pos x="0" y="1"/>
                    </a:cxn>
                    <a:cxn ang="0">
                      <a:pos x="103" y="0"/>
                    </a:cxn>
                  </a:cxnLst>
                  <a:rect l="txL" t="txT" r="txR" b="txB"/>
                  <a:pathLst>
                    <a:path w="152" h="1467">
                      <a:moveTo>
                        <a:pt x="152" y="1467"/>
                      </a:moveTo>
                      <a:lnTo>
                        <a:pt x="0" y="1467"/>
                      </a:lnTo>
                      <a:lnTo>
                        <a:pt x="0" y="1"/>
                      </a:lnTo>
                      <a:lnTo>
                        <a:pt x="103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88" name="Freeform 155"/>
                <p:cNvSpPr/>
                <p:nvPr/>
              </p:nvSpPr>
              <p:spPr>
                <a:xfrm>
                  <a:off x="4280" y="1211"/>
                  <a:ext cx="147" cy="1466"/>
                </a:xfrm>
                <a:custGeom>
                  <a:avLst/>
                  <a:gdLst>
                    <a:gd name="txL" fmla="*/ 0 w 147"/>
                    <a:gd name="txT" fmla="*/ 0 h 1466"/>
                    <a:gd name="txR" fmla="*/ 147 w 147"/>
                    <a:gd name="txB" fmla="*/ 1466 h 1466"/>
                  </a:gdLst>
                  <a:ahLst/>
                  <a:cxnLst>
                    <a:cxn ang="0">
                      <a:pos x="51" y="0"/>
                    </a:cxn>
                    <a:cxn ang="0">
                      <a:pos x="147" y="0"/>
                    </a:cxn>
                    <a:cxn ang="0">
                      <a:pos x="146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7" h="1466">
                      <a:moveTo>
                        <a:pt x="51" y="0"/>
                      </a:moveTo>
                      <a:lnTo>
                        <a:pt x="147" y="0"/>
                      </a:lnTo>
                      <a:lnTo>
                        <a:pt x="146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89" name="Freeform 156"/>
                <p:cNvSpPr/>
                <p:nvPr/>
              </p:nvSpPr>
              <p:spPr>
                <a:xfrm>
                  <a:off x="4509" y="1211"/>
                  <a:ext cx="158" cy="1467"/>
                </a:xfrm>
                <a:custGeom>
                  <a:avLst/>
                  <a:gdLst>
                    <a:gd name="txL" fmla="*/ 0 w 158"/>
                    <a:gd name="txT" fmla="*/ 0 h 1467"/>
                    <a:gd name="txR" fmla="*/ 158 w 158"/>
                    <a:gd name="txB" fmla="*/ 1467 h 1467"/>
                  </a:gdLst>
                  <a:ahLst/>
                  <a:cxnLst>
                    <a:cxn ang="0">
                      <a:pos x="158" y="1467"/>
                    </a:cxn>
                    <a:cxn ang="0">
                      <a:pos x="0" y="1467"/>
                    </a:cxn>
                    <a:cxn ang="0">
                      <a:pos x="0" y="0"/>
                    </a:cxn>
                    <a:cxn ang="0">
                      <a:pos x="95" y="0"/>
                    </a:cxn>
                  </a:cxnLst>
                  <a:rect l="txL" t="txT" r="txR" b="txB"/>
                  <a:pathLst>
                    <a:path w="158" h="1467">
                      <a:moveTo>
                        <a:pt x="158" y="1467"/>
                      </a:moveTo>
                      <a:lnTo>
                        <a:pt x="0" y="1467"/>
                      </a:lnTo>
                      <a:lnTo>
                        <a:pt x="0" y="0"/>
                      </a:lnTo>
                      <a:lnTo>
                        <a:pt x="95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90" name="Freeform 157"/>
                <p:cNvSpPr/>
                <p:nvPr/>
              </p:nvSpPr>
              <p:spPr>
                <a:xfrm>
                  <a:off x="4861" y="1211"/>
                  <a:ext cx="142" cy="1466"/>
                </a:xfrm>
                <a:custGeom>
                  <a:avLst/>
                  <a:gdLst>
                    <a:gd name="txL" fmla="*/ 0 w 142"/>
                    <a:gd name="txT" fmla="*/ 0 h 1466"/>
                    <a:gd name="txR" fmla="*/ 142 w 142"/>
                    <a:gd name="txB" fmla="*/ 1466 h 1466"/>
                  </a:gdLst>
                  <a:ahLst/>
                  <a:cxnLst>
                    <a:cxn ang="0">
                      <a:pos x="34" y="0"/>
                    </a:cxn>
                    <a:cxn ang="0">
                      <a:pos x="142" y="0"/>
                    </a:cxn>
                    <a:cxn ang="0">
                      <a:pos x="141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2" h="1466">
                      <a:moveTo>
                        <a:pt x="34" y="0"/>
                      </a:moveTo>
                      <a:lnTo>
                        <a:pt x="142" y="0"/>
                      </a:lnTo>
                      <a:lnTo>
                        <a:pt x="141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91" name="Freeform 158"/>
                <p:cNvSpPr/>
                <p:nvPr/>
              </p:nvSpPr>
              <p:spPr>
                <a:xfrm>
                  <a:off x="5069" y="1211"/>
                  <a:ext cx="159" cy="1469"/>
                </a:xfrm>
                <a:custGeom>
                  <a:avLst/>
                  <a:gdLst>
                    <a:gd name="txL" fmla="*/ 0 w 159"/>
                    <a:gd name="txT" fmla="*/ 0 h 1469"/>
                    <a:gd name="txR" fmla="*/ 159 w 159"/>
                    <a:gd name="txB" fmla="*/ 1469 h 1469"/>
                  </a:gdLst>
                  <a:ahLst/>
                  <a:cxnLst>
                    <a:cxn ang="0">
                      <a:pos x="159" y="1467"/>
                    </a:cxn>
                    <a:cxn ang="0">
                      <a:pos x="0" y="1469"/>
                    </a:cxn>
                    <a:cxn ang="0">
                      <a:pos x="1" y="0"/>
                    </a:cxn>
                    <a:cxn ang="0">
                      <a:pos x="104" y="0"/>
                    </a:cxn>
                  </a:cxnLst>
                  <a:rect l="txL" t="txT" r="txR" b="txB"/>
                  <a:pathLst>
                    <a:path w="159" h="1469">
                      <a:moveTo>
                        <a:pt x="159" y="1467"/>
                      </a:moveTo>
                      <a:lnTo>
                        <a:pt x="0" y="1469"/>
                      </a:lnTo>
                      <a:lnTo>
                        <a:pt x="1" y="0"/>
                      </a:lnTo>
                      <a:lnTo>
                        <a:pt x="104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92" name="Freeform 159"/>
                <p:cNvSpPr/>
                <p:nvPr/>
              </p:nvSpPr>
              <p:spPr>
                <a:xfrm>
                  <a:off x="5417" y="1211"/>
                  <a:ext cx="147" cy="1466"/>
                </a:xfrm>
                <a:custGeom>
                  <a:avLst/>
                  <a:gdLst>
                    <a:gd name="txL" fmla="*/ 0 w 147"/>
                    <a:gd name="txT" fmla="*/ 0 h 1466"/>
                    <a:gd name="txR" fmla="*/ 147 w 147"/>
                    <a:gd name="txB" fmla="*/ 1466 h 1466"/>
                  </a:gdLst>
                  <a:ahLst/>
                  <a:cxnLst>
                    <a:cxn ang="0">
                      <a:pos x="47" y="0"/>
                    </a:cxn>
                    <a:cxn ang="0">
                      <a:pos x="147" y="0"/>
                    </a:cxn>
                    <a:cxn ang="0">
                      <a:pos x="146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7" h="1466">
                      <a:moveTo>
                        <a:pt x="47" y="0"/>
                      </a:moveTo>
                      <a:lnTo>
                        <a:pt x="147" y="0"/>
                      </a:lnTo>
                      <a:lnTo>
                        <a:pt x="146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93" name="Freeform 160"/>
                <p:cNvSpPr/>
                <p:nvPr/>
              </p:nvSpPr>
              <p:spPr>
                <a:xfrm>
                  <a:off x="1055" y="2738"/>
                  <a:ext cx="730" cy="660"/>
                </a:xfrm>
                <a:custGeom>
                  <a:avLst/>
                  <a:gdLst>
                    <a:gd name="txL" fmla="*/ 0 w 730"/>
                    <a:gd name="txT" fmla="*/ 0 h 660"/>
                    <a:gd name="txR" fmla="*/ 730 w 730"/>
                    <a:gd name="txB" fmla="*/ 660 h 660"/>
                  </a:gdLst>
                  <a:ahLst/>
                  <a:cxnLst>
                    <a:cxn ang="0">
                      <a:pos x="160" y="4"/>
                    </a:cxn>
                    <a:cxn ang="0">
                      <a:pos x="0" y="3"/>
                    </a:cxn>
                    <a:cxn ang="0">
                      <a:pos x="0" y="660"/>
                    </a:cxn>
                    <a:cxn ang="0">
                      <a:pos x="558" y="657"/>
                    </a:cxn>
                    <a:cxn ang="0">
                      <a:pos x="558" y="0"/>
                    </a:cxn>
                    <a:cxn ang="0">
                      <a:pos x="730" y="1"/>
                    </a:cxn>
                  </a:cxnLst>
                  <a:rect l="txL" t="txT" r="txR" b="txB"/>
                  <a:pathLst>
                    <a:path w="730" h="660">
                      <a:moveTo>
                        <a:pt x="160" y="4"/>
                      </a:moveTo>
                      <a:lnTo>
                        <a:pt x="0" y="3"/>
                      </a:lnTo>
                      <a:lnTo>
                        <a:pt x="0" y="660"/>
                      </a:lnTo>
                      <a:lnTo>
                        <a:pt x="558" y="657"/>
                      </a:lnTo>
                      <a:lnTo>
                        <a:pt x="558" y="0"/>
                      </a:lnTo>
                      <a:lnTo>
                        <a:pt x="730" y="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94" name="Freeform 161"/>
                <p:cNvSpPr/>
                <p:nvPr/>
              </p:nvSpPr>
              <p:spPr>
                <a:xfrm>
                  <a:off x="2207" y="2744"/>
                  <a:ext cx="729" cy="658"/>
                </a:xfrm>
                <a:custGeom>
                  <a:avLst/>
                  <a:gdLst>
                    <a:gd name="txL" fmla="*/ 0 w 729"/>
                    <a:gd name="txT" fmla="*/ 0 h 658"/>
                    <a:gd name="txR" fmla="*/ 729 w 729"/>
                    <a:gd name="txB" fmla="*/ 658 h 658"/>
                  </a:gdLst>
                  <a:ahLst/>
                  <a:cxnLst>
                    <a:cxn ang="0">
                      <a:pos x="153" y="0"/>
                    </a:cxn>
                    <a:cxn ang="0">
                      <a:pos x="0" y="0"/>
                    </a:cxn>
                    <a:cxn ang="0">
                      <a:pos x="0" y="657"/>
                    </a:cxn>
                    <a:cxn ang="0">
                      <a:pos x="583" y="658"/>
                    </a:cxn>
                    <a:cxn ang="0">
                      <a:pos x="582" y="3"/>
                    </a:cxn>
                    <a:cxn ang="0">
                      <a:pos x="729" y="3"/>
                    </a:cxn>
                  </a:cxnLst>
                  <a:rect l="txL" t="txT" r="txR" b="txB"/>
                  <a:pathLst>
                    <a:path w="729" h="658">
                      <a:moveTo>
                        <a:pt x="153" y="0"/>
                      </a:moveTo>
                      <a:lnTo>
                        <a:pt x="0" y="0"/>
                      </a:lnTo>
                      <a:lnTo>
                        <a:pt x="0" y="657"/>
                      </a:lnTo>
                      <a:lnTo>
                        <a:pt x="583" y="658"/>
                      </a:lnTo>
                      <a:lnTo>
                        <a:pt x="582" y="3"/>
                      </a:lnTo>
                      <a:lnTo>
                        <a:pt x="729" y="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95" name="Freeform 162"/>
                <p:cNvSpPr/>
                <p:nvPr/>
              </p:nvSpPr>
              <p:spPr>
                <a:xfrm>
                  <a:off x="3356" y="2744"/>
                  <a:ext cx="729" cy="657"/>
                </a:xfrm>
                <a:custGeom>
                  <a:avLst/>
                  <a:gdLst>
                    <a:gd name="txL" fmla="*/ 0 w 729"/>
                    <a:gd name="txT" fmla="*/ 0 h 657"/>
                    <a:gd name="txR" fmla="*/ 729 w 729"/>
                    <a:gd name="txB" fmla="*/ 657 h 657"/>
                  </a:gdLst>
                  <a:ahLst/>
                  <a:cxnLst>
                    <a:cxn ang="0">
                      <a:pos x="158" y="0"/>
                    </a:cxn>
                    <a:cxn ang="0">
                      <a:pos x="0" y="0"/>
                    </a:cxn>
                    <a:cxn ang="0">
                      <a:pos x="0" y="657"/>
                    </a:cxn>
                    <a:cxn ang="0">
                      <a:pos x="579" y="654"/>
                    </a:cxn>
                    <a:cxn ang="0">
                      <a:pos x="582" y="3"/>
                    </a:cxn>
                    <a:cxn ang="0">
                      <a:pos x="729" y="3"/>
                    </a:cxn>
                  </a:cxnLst>
                  <a:rect l="txL" t="txT" r="txR" b="txB"/>
                  <a:pathLst>
                    <a:path w="729" h="657">
                      <a:moveTo>
                        <a:pt x="158" y="0"/>
                      </a:moveTo>
                      <a:lnTo>
                        <a:pt x="0" y="0"/>
                      </a:lnTo>
                      <a:lnTo>
                        <a:pt x="0" y="657"/>
                      </a:lnTo>
                      <a:lnTo>
                        <a:pt x="579" y="654"/>
                      </a:lnTo>
                      <a:lnTo>
                        <a:pt x="582" y="3"/>
                      </a:lnTo>
                      <a:lnTo>
                        <a:pt x="729" y="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96" name="Freeform 163"/>
                <p:cNvSpPr/>
                <p:nvPr/>
              </p:nvSpPr>
              <p:spPr>
                <a:xfrm>
                  <a:off x="4508" y="2744"/>
                  <a:ext cx="729" cy="657"/>
                </a:xfrm>
                <a:custGeom>
                  <a:avLst/>
                  <a:gdLst>
                    <a:gd name="txL" fmla="*/ 0 w 729"/>
                    <a:gd name="txT" fmla="*/ 0 h 657"/>
                    <a:gd name="txR" fmla="*/ 729 w 729"/>
                    <a:gd name="txB" fmla="*/ 657 h 657"/>
                  </a:gdLst>
                  <a:ahLst/>
                  <a:cxnLst>
                    <a:cxn ang="0">
                      <a:pos x="161" y="2"/>
                    </a:cxn>
                    <a:cxn ang="0">
                      <a:pos x="0" y="0"/>
                    </a:cxn>
                    <a:cxn ang="0">
                      <a:pos x="0" y="657"/>
                    </a:cxn>
                    <a:cxn ang="0">
                      <a:pos x="579" y="654"/>
                    </a:cxn>
                    <a:cxn ang="0">
                      <a:pos x="582" y="3"/>
                    </a:cxn>
                    <a:cxn ang="0">
                      <a:pos x="729" y="3"/>
                    </a:cxn>
                  </a:cxnLst>
                  <a:rect l="txL" t="txT" r="txR" b="txB"/>
                  <a:pathLst>
                    <a:path w="729" h="657">
                      <a:moveTo>
                        <a:pt x="161" y="2"/>
                      </a:moveTo>
                      <a:lnTo>
                        <a:pt x="0" y="0"/>
                      </a:lnTo>
                      <a:lnTo>
                        <a:pt x="0" y="657"/>
                      </a:lnTo>
                      <a:lnTo>
                        <a:pt x="579" y="654"/>
                      </a:lnTo>
                      <a:lnTo>
                        <a:pt x="582" y="3"/>
                      </a:lnTo>
                      <a:lnTo>
                        <a:pt x="729" y="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97" name="Freeform 164"/>
                <p:cNvSpPr/>
                <p:nvPr/>
              </p:nvSpPr>
              <p:spPr>
                <a:xfrm>
                  <a:off x="1400" y="2735"/>
                  <a:ext cx="708" cy="571"/>
                </a:xfrm>
                <a:custGeom>
                  <a:avLst/>
                  <a:gdLst>
                    <a:gd name="txL" fmla="*/ 0 w 708"/>
                    <a:gd name="txT" fmla="*/ 0 h 571"/>
                    <a:gd name="txR" fmla="*/ 708 w 708"/>
                    <a:gd name="txB" fmla="*/ 571 h 571"/>
                  </a:gdLst>
                  <a:ahLst/>
                  <a:cxnLst>
                    <a:cxn ang="0">
                      <a:pos x="0" y="0"/>
                    </a:cxn>
                    <a:cxn ang="0">
                      <a:pos x="132" y="0"/>
                    </a:cxn>
                    <a:cxn ang="0">
                      <a:pos x="133" y="571"/>
                    </a:cxn>
                    <a:cxn ang="0">
                      <a:pos x="708" y="570"/>
                    </a:cxn>
                    <a:cxn ang="0">
                      <a:pos x="708" y="9"/>
                    </a:cxn>
                    <a:cxn ang="0">
                      <a:pos x="573" y="9"/>
                    </a:cxn>
                  </a:cxnLst>
                  <a:rect l="txL" t="txT" r="txR" b="txB"/>
                  <a:pathLst>
                    <a:path w="708" h="571">
                      <a:moveTo>
                        <a:pt x="0" y="0"/>
                      </a:moveTo>
                      <a:lnTo>
                        <a:pt x="132" y="0"/>
                      </a:lnTo>
                      <a:lnTo>
                        <a:pt x="133" y="571"/>
                      </a:lnTo>
                      <a:lnTo>
                        <a:pt x="708" y="570"/>
                      </a:lnTo>
                      <a:lnTo>
                        <a:pt x="708" y="9"/>
                      </a:lnTo>
                      <a:lnTo>
                        <a:pt x="573" y="9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98" name="Freeform 165"/>
                <p:cNvSpPr/>
                <p:nvPr/>
              </p:nvSpPr>
              <p:spPr>
                <a:xfrm>
                  <a:off x="2552" y="2735"/>
                  <a:ext cx="726" cy="567"/>
                </a:xfrm>
                <a:custGeom>
                  <a:avLst/>
                  <a:gdLst>
                    <a:gd name="txL" fmla="*/ 0 w 726"/>
                    <a:gd name="txT" fmla="*/ 0 h 567"/>
                    <a:gd name="txR" fmla="*/ 726 w 726"/>
                    <a:gd name="txB" fmla="*/ 567 h 567"/>
                  </a:gdLst>
                  <a:ahLst/>
                  <a:cxnLst>
                    <a:cxn ang="0">
                      <a:pos x="0" y="0"/>
                    </a:cxn>
                    <a:cxn ang="0">
                      <a:pos x="148" y="1"/>
                    </a:cxn>
                    <a:cxn ang="0">
                      <a:pos x="147" y="567"/>
                    </a:cxn>
                    <a:cxn ang="0">
                      <a:pos x="726" y="567"/>
                    </a:cxn>
                    <a:cxn ang="0">
                      <a:pos x="726" y="6"/>
                    </a:cxn>
                    <a:cxn ang="0">
                      <a:pos x="579" y="6"/>
                    </a:cxn>
                  </a:cxnLst>
                  <a:rect l="txL" t="txT" r="txR" b="txB"/>
                  <a:pathLst>
                    <a:path w="726" h="567">
                      <a:moveTo>
                        <a:pt x="0" y="0"/>
                      </a:moveTo>
                      <a:lnTo>
                        <a:pt x="148" y="1"/>
                      </a:lnTo>
                      <a:lnTo>
                        <a:pt x="147" y="567"/>
                      </a:lnTo>
                      <a:lnTo>
                        <a:pt x="726" y="567"/>
                      </a:lnTo>
                      <a:lnTo>
                        <a:pt x="726" y="6"/>
                      </a:lnTo>
                      <a:lnTo>
                        <a:pt x="579" y="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899" name="Freeform 166"/>
                <p:cNvSpPr/>
                <p:nvPr/>
              </p:nvSpPr>
              <p:spPr>
                <a:xfrm>
                  <a:off x="3704" y="2738"/>
                  <a:ext cx="714" cy="567"/>
                </a:xfrm>
                <a:custGeom>
                  <a:avLst/>
                  <a:gdLst>
                    <a:gd name="txL" fmla="*/ 0 w 714"/>
                    <a:gd name="txT" fmla="*/ 0 h 567"/>
                    <a:gd name="txR" fmla="*/ 714 w 714"/>
                    <a:gd name="txB" fmla="*/ 567 h 567"/>
                  </a:gdLst>
                  <a:ahLst/>
                  <a:cxnLst>
                    <a:cxn ang="0">
                      <a:pos x="0" y="0"/>
                    </a:cxn>
                    <a:cxn ang="0">
                      <a:pos x="136" y="1"/>
                    </a:cxn>
                    <a:cxn ang="0">
                      <a:pos x="135" y="567"/>
                    </a:cxn>
                    <a:cxn ang="0">
                      <a:pos x="714" y="567"/>
                    </a:cxn>
                    <a:cxn ang="0">
                      <a:pos x="714" y="6"/>
                    </a:cxn>
                    <a:cxn ang="0">
                      <a:pos x="576" y="5"/>
                    </a:cxn>
                  </a:cxnLst>
                  <a:rect l="txL" t="txT" r="txR" b="txB"/>
                  <a:pathLst>
                    <a:path w="714" h="567">
                      <a:moveTo>
                        <a:pt x="0" y="0"/>
                      </a:moveTo>
                      <a:lnTo>
                        <a:pt x="136" y="1"/>
                      </a:lnTo>
                      <a:lnTo>
                        <a:pt x="135" y="567"/>
                      </a:lnTo>
                      <a:lnTo>
                        <a:pt x="714" y="567"/>
                      </a:lnTo>
                      <a:lnTo>
                        <a:pt x="714" y="6"/>
                      </a:lnTo>
                      <a:lnTo>
                        <a:pt x="576" y="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00" name="Freeform 167"/>
                <p:cNvSpPr/>
                <p:nvPr/>
              </p:nvSpPr>
              <p:spPr>
                <a:xfrm>
                  <a:off x="4859" y="2738"/>
                  <a:ext cx="711" cy="567"/>
                </a:xfrm>
                <a:custGeom>
                  <a:avLst/>
                  <a:gdLst>
                    <a:gd name="txL" fmla="*/ 0 w 711"/>
                    <a:gd name="txT" fmla="*/ 0 h 567"/>
                    <a:gd name="txR" fmla="*/ 711 w 711"/>
                    <a:gd name="txB" fmla="*/ 567 h 567"/>
                  </a:gdLst>
                  <a:ahLst/>
                  <a:cxnLst>
                    <a:cxn ang="0">
                      <a:pos x="0" y="0"/>
                    </a:cxn>
                    <a:cxn ang="0">
                      <a:pos x="130" y="1"/>
                    </a:cxn>
                    <a:cxn ang="0">
                      <a:pos x="132" y="567"/>
                    </a:cxn>
                    <a:cxn ang="0">
                      <a:pos x="711" y="567"/>
                    </a:cxn>
                    <a:cxn ang="0">
                      <a:pos x="711" y="6"/>
                    </a:cxn>
                    <a:cxn ang="0">
                      <a:pos x="564" y="6"/>
                    </a:cxn>
                  </a:cxnLst>
                  <a:rect l="txL" t="txT" r="txR" b="txB"/>
                  <a:pathLst>
                    <a:path w="711" h="567">
                      <a:moveTo>
                        <a:pt x="0" y="0"/>
                      </a:moveTo>
                      <a:lnTo>
                        <a:pt x="130" y="1"/>
                      </a:lnTo>
                      <a:lnTo>
                        <a:pt x="132" y="567"/>
                      </a:lnTo>
                      <a:lnTo>
                        <a:pt x="711" y="567"/>
                      </a:lnTo>
                      <a:lnTo>
                        <a:pt x="711" y="6"/>
                      </a:lnTo>
                      <a:lnTo>
                        <a:pt x="564" y="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01" name="Freeform 168"/>
                <p:cNvSpPr/>
                <p:nvPr/>
              </p:nvSpPr>
              <p:spPr>
                <a:xfrm>
                  <a:off x="1322" y="3398"/>
                  <a:ext cx="1" cy="150"/>
                </a:xfrm>
                <a:custGeom>
                  <a:avLst/>
                  <a:gdLst>
                    <a:gd name="txL" fmla="*/ 0 w 1"/>
                    <a:gd name="txT" fmla="*/ 0 h 150"/>
                    <a:gd name="txR" fmla="*/ 1 w 1"/>
                    <a:gd name="txB" fmla="*/ 150 h 150"/>
                  </a:gdLst>
                  <a:ahLst/>
                  <a:cxnLst>
                    <a:cxn ang="0">
                      <a:pos x="0" y="0"/>
                    </a:cxn>
                    <a:cxn ang="0">
                      <a:pos x="0" y="150"/>
                    </a:cxn>
                  </a:cxnLst>
                  <a:rect l="txL" t="txT" r="txR" b="txB"/>
                  <a:pathLst>
                    <a:path w="1" h="150">
                      <a:moveTo>
                        <a:pt x="0" y="0"/>
                      </a:moveTo>
                      <a:lnTo>
                        <a:pt x="0" y="15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02" name="Freeform 169"/>
                <p:cNvSpPr/>
                <p:nvPr/>
              </p:nvSpPr>
              <p:spPr>
                <a:xfrm>
                  <a:off x="2491" y="3401"/>
                  <a:ext cx="1" cy="150"/>
                </a:xfrm>
                <a:custGeom>
                  <a:avLst/>
                  <a:gdLst>
                    <a:gd name="txL" fmla="*/ 0 w 1"/>
                    <a:gd name="txT" fmla="*/ 0 h 150"/>
                    <a:gd name="txR" fmla="*/ 1 w 1"/>
                    <a:gd name="txB" fmla="*/ 150 h 150"/>
                  </a:gdLst>
                  <a:ahLst/>
                  <a:cxnLst>
                    <a:cxn ang="0">
                      <a:pos x="0" y="0"/>
                    </a:cxn>
                    <a:cxn ang="0">
                      <a:pos x="0" y="150"/>
                    </a:cxn>
                  </a:cxnLst>
                  <a:rect l="txL" t="txT" r="txR" b="txB"/>
                  <a:pathLst>
                    <a:path w="1" h="150">
                      <a:moveTo>
                        <a:pt x="0" y="0"/>
                      </a:moveTo>
                      <a:lnTo>
                        <a:pt x="0" y="15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03" name="Freeform 170"/>
                <p:cNvSpPr/>
                <p:nvPr/>
              </p:nvSpPr>
              <p:spPr>
                <a:xfrm>
                  <a:off x="3643" y="3401"/>
                  <a:ext cx="1" cy="150"/>
                </a:xfrm>
                <a:custGeom>
                  <a:avLst/>
                  <a:gdLst>
                    <a:gd name="txL" fmla="*/ 0 w 1"/>
                    <a:gd name="txT" fmla="*/ 0 h 150"/>
                    <a:gd name="txR" fmla="*/ 1 w 1"/>
                    <a:gd name="txB" fmla="*/ 150 h 150"/>
                  </a:gdLst>
                  <a:ahLst/>
                  <a:cxnLst>
                    <a:cxn ang="0">
                      <a:pos x="0" y="0"/>
                    </a:cxn>
                    <a:cxn ang="0">
                      <a:pos x="0" y="150"/>
                    </a:cxn>
                  </a:cxnLst>
                  <a:rect l="txL" t="txT" r="txR" b="txB"/>
                  <a:pathLst>
                    <a:path w="1" h="150">
                      <a:moveTo>
                        <a:pt x="0" y="0"/>
                      </a:moveTo>
                      <a:lnTo>
                        <a:pt x="0" y="15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04" name="Freeform 171"/>
                <p:cNvSpPr/>
                <p:nvPr/>
              </p:nvSpPr>
              <p:spPr>
                <a:xfrm>
                  <a:off x="4795" y="3401"/>
                  <a:ext cx="1" cy="150"/>
                </a:xfrm>
                <a:custGeom>
                  <a:avLst/>
                  <a:gdLst>
                    <a:gd name="txL" fmla="*/ 0 w 1"/>
                    <a:gd name="txT" fmla="*/ 0 h 150"/>
                    <a:gd name="txR" fmla="*/ 1 w 1"/>
                    <a:gd name="txB" fmla="*/ 150 h 150"/>
                  </a:gdLst>
                  <a:ahLst/>
                  <a:cxnLst>
                    <a:cxn ang="0">
                      <a:pos x="0" y="0"/>
                    </a:cxn>
                    <a:cxn ang="0">
                      <a:pos x="0" y="150"/>
                    </a:cxn>
                  </a:cxnLst>
                  <a:rect l="txL" t="txT" r="txR" b="txB"/>
                  <a:pathLst>
                    <a:path w="1" h="150">
                      <a:moveTo>
                        <a:pt x="0" y="0"/>
                      </a:moveTo>
                      <a:lnTo>
                        <a:pt x="0" y="15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05" name="Freeform 172"/>
                <p:cNvSpPr/>
                <p:nvPr/>
              </p:nvSpPr>
              <p:spPr>
                <a:xfrm>
                  <a:off x="5276" y="3305"/>
                  <a:ext cx="1" cy="246"/>
                </a:xfrm>
                <a:custGeom>
                  <a:avLst/>
                  <a:gdLst>
                    <a:gd name="txL" fmla="*/ 0 w 1"/>
                    <a:gd name="txT" fmla="*/ 0 h 246"/>
                    <a:gd name="txR" fmla="*/ 1 w 1"/>
                    <a:gd name="txB" fmla="*/ 246 h 246"/>
                  </a:gdLst>
                  <a:ahLst/>
                  <a:cxnLst>
                    <a:cxn ang="0">
                      <a:pos x="0" y="0"/>
                    </a:cxn>
                    <a:cxn ang="0">
                      <a:pos x="0" y="246"/>
                    </a:cxn>
                  </a:cxnLst>
                  <a:rect l="txL" t="txT" r="txR" b="txB"/>
                  <a:pathLst>
                    <a:path w="1" h="246">
                      <a:moveTo>
                        <a:pt x="0" y="0"/>
                      </a:moveTo>
                      <a:lnTo>
                        <a:pt x="0" y="24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06" name="Freeform 173"/>
                <p:cNvSpPr/>
                <p:nvPr/>
              </p:nvSpPr>
              <p:spPr>
                <a:xfrm>
                  <a:off x="4124" y="3305"/>
                  <a:ext cx="1" cy="246"/>
                </a:xfrm>
                <a:custGeom>
                  <a:avLst/>
                  <a:gdLst>
                    <a:gd name="txL" fmla="*/ 0 w 1"/>
                    <a:gd name="txT" fmla="*/ 0 h 246"/>
                    <a:gd name="txR" fmla="*/ 1 w 1"/>
                    <a:gd name="txB" fmla="*/ 246 h 246"/>
                  </a:gdLst>
                  <a:ahLst/>
                  <a:cxnLst>
                    <a:cxn ang="0">
                      <a:pos x="0" y="0"/>
                    </a:cxn>
                    <a:cxn ang="0">
                      <a:pos x="0" y="246"/>
                    </a:cxn>
                  </a:cxnLst>
                  <a:rect l="txL" t="txT" r="txR" b="txB"/>
                  <a:pathLst>
                    <a:path w="1" h="246">
                      <a:moveTo>
                        <a:pt x="0" y="0"/>
                      </a:moveTo>
                      <a:lnTo>
                        <a:pt x="0" y="24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07" name="Freeform 174"/>
                <p:cNvSpPr/>
                <p:nvPr/>
              </p:nvSpPr>
              <p:spPr>
                <a:xfrm>
                  <a:off x="2972" y="3305"/>
                  <a:ext cx="1" cy="246"/>
                </a:xfrm>
                <a:custGeom>
                  <a:avLst/>
                  <a:gdLst>
                    <a:gd name="txL" fmla="*/ 0 w 1"/>
                    <a:gd name="txT" fmla="*/ 0 h 246"/>
                    <a:gd name="txR" fmla="*/ 1 w 1"/>
                    <a:gd name="txB" fmla="*/ 246 h 246"/>
                  </a:gdLst>
                  <a:ahLst/>
                  <a:cxnLst>
                    <a:cxn ang="0">
                      <a:pos x="0" y="0"/>
                    </a:cxn>
                    <a:cxn ang="0">
                      <a:pos x="0" y="246"/>
                    </a:cxn>
                  </a:cxnLst>
                  <a:rect l="txL" t="txT" r="txR" b="txB"/>
                  <a:pathLst>
                    <a:path w="1" h="246">
                      <a:moveTo>
                        <a:pt x="0" y="0"/>
                      </a:moveTo>
                      <a:lnTo>
                        <a:pt x="0" y="24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08" name="Freeform 175"/>
                <p:cNvSpPr/>
                <p:nvPr/>
              </p:nvSpPr>
              <p:spPr>
                <a:xfrm>
                  <a:off x="1819" y="3305"/>
                  <a:ext cx="1" cy="246"/>
                </a:xfrm>
                <a:custGeom>
                  <a:avLst/>
                  <a:gdLst>
                    <a:gd name="txL" fmla="*/ 0 w 1"/>
                    <a:gd name="txT" fmla="*/ 0 h 246"/>
                    <a:gd name="txR" fmla="*/ 1 w 1"/>
                    <a:gd name="txB" fmla="*/ 246 h 246"/>
                  </a:gdLst>
                  <a:ahLst/>
                  <a:cxnLst>
                    <a:cxn ang="0">
                      <a:pos x="0" y="0"/>
                    </a:cxn>
                    <a:cxn ang="0">
                      <a:pos x="0" y="246"/>
                    </a:cxn>
                  </a:cxnLst>
                  <a:rect l="txL" t="txT" r="txR" b="txB"/>
                  <a:pathLst>
                    <a:path w="1" h="246">
                      <a:moveTo>
                        <a:pt x="0" y="0"/>
                      </a:moveTo>
                      <a:lnTo>
                        <a:pt x="0" y="24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09" name="Freeform 176"/>
                <p:cNvSpPr/>
                <p:nvPr/>
              </p:nvSpPr>
              <p:spPr>
                <a:xfrm>
                  <a:off x="956" y="4025"/>
                  <a:ext cx="4317" cy="1"/>
                </a:xfrm>
                <a:custGeom>
                  <a:avLst/>
                  <a:gdLst>
                    <a:gd name="txL" fmla="*/ 0 w 4317"/>
                    <a:gd name="txT" fmla="*/ 0 h 1"/>
                    <a:gd name="txR" fmla="*/ 4317 w 4317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4317" y="0"/>
                    </a:cxn>
                  </a:cxnLst>
                  <a:rect l="txL" t="txT" r="txR" b="txB"/>
                  <a:pathLst>
                    <a:path w="4317" h="1">
                      <a:moveTo>
                        <a:pt x="0" y="0"/>
                      </a:moveTo>
                      <a:lnTo>
                        <a:pt x="4317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10" name="Freeform 177"/>
                <p:cNvSpPr/>
                <p:nvPr/>
              </p:nvSpPr>
              <p:spPr>
                <a:xfrm>
                  <a:off x="956" y="4121"/>
                  <a:ext cx="3837" cy="1"/>
                </a:xfrm>
                <a:custGeom>
                  <a:avLst/>
                  <a:gdLst>
                    <a:gd name="txL" fmla="*/ 0 w 3837"/>
                    <a:gd name="txT" fmla="*/ 0 h 1"/>
                    <a:gd name="txR" fmla="*/ 3837 w 3837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3837" y="0"/>
                    </a:cxn>
                  </a:cxnLst>
                  <a:rect l="txL" t="txT" r="txR" b="txB"/>
                  <a:pathLst>
                    <a:path w="3837" h="1">
                      <a:moveTo>
                        <a:pt x="0" y="0"/>
                      </a:moveTo>
                      <a:lnTo>
                        <a:pt x="3837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11" name="Freeform 178"/>
                <p:cNvSpPr/>
                <p:nvPr/>
              </p:nvSpPr>
              <p:spPr>
                <a:xfrm>
                  <a:off x="1322" y="3881"/>
                  <a:ext cx="1" cy="243"/>
                </a:xfrm>
                <a:custGeom>
                  <a:avLst/>
                  <a:gdLst>
                    <a:gd name="txL" fmla="*/ 0 w 1"/>
                    <a:gd name="txT" fmla="*/ 0 h 243"/>
                    <a:gd name="txR" fmla="*/ 1 w 1"/>
                    <a:gd name="txB" fmla="*/ 243 h 243"/>
                  </a:gdLst>
                  <a:ahLst/>
                  <a:cxnLst>
                    <a:cxn ang="0">
                      <a:pos x="0" y="0"/>
                    </a:cxn>
                    <a:cxn ang="0">
                      <a:pos x="0" y="243"/>
                    </a:cxn>
                  </a:cxnLst>
                  <a:rect l="txL" t="txT" r="txR" b="txB"/>
                  <a:pathLst>
                    <a:path w="1" h="243">
                      <a:moveTo>
                        <a:pt x="0" y="0"/>
                      </a:moveTo>
                      <a:lnTo>
                        <a:pt x="0" y="24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12" name="Freeform 179"/>
                <p:cNvSpPr/>
                <p:nvPr/>
              </p:nvSpPr>
              <p:spPr>
                <a:xfrm>
                  <a:off x="2491" y="3881"/>
                  <a:ext cx="1" cy="243"/>
                </a:xfrm>
                <a:custGeom>
                  <a:avLst/>
                  <a:gdLst>
                    <a:gd name="txL" fmla="*/ 0 w 1"/>
                    <a:gd name="txT" fmla="*/ 0 h 243"/>
                    <a:gd name="txR" fmla="*/ 1 w 1"/>
                    <a:gd name="txB" fmla="*/ 243 h 243"/>
                  </a:gdLst>
                  <a:ahLst/>
                  <a:cxnLst>
                    <a:cxn ang="0">
                      <a:pos x="0" y="0"/>
                    </a:cxn>
                    <a:cxn ang="0">
                      <a:pos x="0" y="243"/>
                    </a:cxn>
                  </a:cxnLst>
                  <a:rect l="txL" t="txT" r="txR" b="txB"/>
                  <a:pathLst>
                    <a:path w="1" h="243">
                      <a:moveTo>
                        <a:pt x="0" y="0"/>
                      </a:moveTo>
                      <a:lnTo>
                        <a:pt x="0" y="24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13" name="Freeform 180"/>
                <p:cNvSpPr/>
                <p:nvPr/>
              </p:nvSpPr>
              <p:spPr>
                <a:xfrm>
                  <a:off x="3643" y="3881"/>
                  <a:ext cx="1" cy="243"/>
                </a:xfrm>
                <a:custGeom>
                  <a:avLst/>
                  <a:gdLst>
                    <a:gd name="txL" fmla="*/ 0 w 1"/>
                    <a:gd name="txT" fmla="*/ 0 h 243"/>
                    <a:gd name="txR" fmla="*/ 1 w 1"/>
                    <a:gd name="txB" fmla="*/ 243 h 243"/>
                  </a:gdLst>
                  <a:ahLst/>
                  <a:cxnLst>
                    <a:cxn ang="0">
                      <a:pos x="0" y="0"/>
                    </a:cxn>
                    <a:cxn ang="0">
                      <a:pos x="0" y="243"/>
                    </a:cxn>
                  </a:cxnLst>
                  <a:rect l="txL" t="txT" r="txR" b="txB"/>
                  <a:pathLst>
                    <a:path w="1" h="243">
                      <a:moveTo>
                        <a:pt x="0" y="0"/>
                      </a:moveTo>
                      <a:lnTo>
                        <a:pt x="0" y="24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14" name="Freeform 181"/>
                <p:cNvSpPr/>
                <p:nvPr/>
              </p:nvSpPr>
              <p:spPr>
                <a:xfrm>
                  <a:off x="4791" y="3881"/>
                  <a:ext cx="4" cy="247"/>
                </a:xfrm>
                <a:custGeom>
                  <a:avLst/>
                  <a:gdLst>
                    <a:gd name="txL" fmla="*/ 0 w 4"/>
                    <a:gd name="txT" fmla="*/ 0 h 247"/>
                    <a:gd name="txR" fmla="*/ 4 w 4"/>
                    <a:gd name="txB" fmla="*/ 247 h 247"/>
                  </a:gdLst>
                  <a:ahLst/>
                  <a:cxnLst>
                    <a:cxn ang="0">
                      <a:pos x="4" y="0"/>
                    </a:cxn>
                    <a:cxn ang="0">
                      <a:pos x="0" y="247"/>
                    </a:cxn>
                  </a:cxnLst>
                  <a:rect l="txL" t="txT" r="txR" b="txB"/>
                  <a:pathLst>
                    <a:path w="4" h="247">
                      <a:moveTo>
                        <a:pt x="4" y="0"/>
                      </a:moveTo>
                      <a:lnTo>
                        <a:pt x="0" y="247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15" name="Freeform 182"/>
                <p:cNvSpPr/>
                <p:nvPr/>
              </p:nvSpPr>
              <p:spPr>
                <a:xfrm>
                  <a:off x="5277" y="3881"/>
                  <a:ext cx="1" cy="151"/>
                </a:xfrm>
                <a:custGeom>
                  <a:avLst/>
                  <a:gdLst>
                    <a:gd name="txL" fmla="*/ 0 w 1"/>
                    <a:gd name="txT" fmla="*/ 0 h 151"/>
                    <a:gd name="txR" fmla="*/ 1 w 1"/>
                    <a:gd name="txB" fmla="*/ 151 h 151"/>
                  </a:gdLst>
                  <a:ahLst/>
                  <a:cxnLst>
                    <a:cxn ang="0">
                      <a:pos x="0" y="0"/>
                    </a:cxn>
                    <a:cxn ang="0">
                      <a:pos x="0" y="151"/>
                    </a:cxn>
                  </a:cxnLst>
                  <a:rect l="txL" t="txT" r="txR" b="txB"/>
                  <a:pathLst>
                    <a:path w="1" h="151">
                      <a:moveTo>
                        <a:pt x="0" y="0"/>
                      </a:moveTo>
                      <a:lnTo>
                        <a:pt x="0" y="15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16" name="Line 183"/>
                <p:cNvSpPr/>
                <p:nvPr/>
              </p:nvSpPr>
              <p:spPr>
                <a:xfrm>
                  <a:off x="4124" y="38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oval" w="sm" len="sm"/>
                </a:ln>
              </p:spPr>
            </p:sp>
            <p:sp>
              <p:nvSpPr>
                <p:cNvPr id="284917" name="Line 184"/>
                <p:cNvSpPr/>
                <p:nvPr/>
              </p:nvSpPr>
              <p:spPr>
                <a:xfrm>
                  <a:off x="2973" y="38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oval" w="sm" len="sm"/>
                </a:ln>
              </p:spPr>
            </p:sp>
            <p:sp>
              <p:nvSpPr>
                <p:cNvPr id="284918" name="Line 185"/>
                <p:cNvSpPr/>
                <p:nvPr/>
              </p:nvSpPr>
              <p:spPr>
                <a:xfrm>
                  <a:off x="1820" y="38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oval" w="sm" len="sm"/>
                </a:ln>
              </p:spPr>
            </p:sp>
            <p:sp>
              <p:nvSpPr>
                <p:cNvPr id="284919" name="Rectangle 186"/>
                <p:cNvSpPr/>
                <p:nvPr/>
              </p:nvSpPr>
              <p:spPr>
                <a:xfrm>
                  <a:off x="2317" y="3600"/>
                  <a:ext cx="823" cy="22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20" name="Text Box 187"/>
                <p:cNvSpPr txBox="1"/>
                <p:nvPr/>
              </p:nvSpPr>
              <p:spPr>
                <a:xfrm>
                  <a:off x="2348" y="3576"/>
                  <a:ext cx="75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21" name="Rectangle 188"/>
                <p:cNvSpPr/>
                <p:nvPr/>
              </p:nvSpPr>
              <p:spPr>
                <a:xfrm>
                  <a:off x="3469" y="3600"/>
                  <a:ext cx="823" cy="22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22" name="Text Box 189"/>
                <p:cNvSpPr txBox="1"/>
                <p:nvPr/>
              </p:nvSpPr>
              <p:spPr>
                <a:xfrm>
                  <a:off x="3500" y="3576"/>
                  <a:ext cx="75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23" name="Rectangle 190"/>
                <p:cNvSpPr/>
                <p:nvPr/>
              </p:nvSpPr>
              <p:spPr>
                <a:xfrm>
                  <a:off x="4621" y="3600"/>
                  <a:ext cx="823" cy="22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24" name="Text Box 191"/>
                <p:cNvSpPr txBox="1"/>
                <p:nvPr/>
              </p:nvSpPr>
              <p:spPr>
                <a:xfrm>
                  <a:off x="4652" y="3576"/>
                  <a:ext cx="75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25" name="Line 192"/>
                <p:cNvSpPr/>
                <p:nvPr/>
              </p:nvSpPr>
              <p:spPr>
                <a:xfrm>
                  <a:off x="1964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4926" name="Line 193"/>
                <p:cNvSpPr/>
                <p:nvPr/>
              </p:nvSpPr>
              <p:spPr>
                <a:xfrm>
                  <a:off x="3144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4927" name="Line 194"/>
                <p:cNvSpPr/>
                <p:nvPr/>
              </p:nvSpPr>
              <p:spPr>
                <a:xfrm>
                  <a:off x="4293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4928" name="Line 195"/>
                <p:cNvSpPr/>
                <p:nvPr/>
              </p:nvSpPr>
              <p:spPr>
                <a:xfrm>
                  <a:off x="5420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4929" name="Freeform 196"/>
                <p:cNvSpPr/>
                <p:nvPr/>
              </p:nvSpPr>
              <p:spPr>
                <a:xfrm>
                  <a:off x="3033" y="2708"/>
                  <a:ext cx="47" cy="501"/>
                </a:xfrm>
                <a:custGeom>
                  <a:avLst/>
                  <a:gdLst>
                    <a:gd name="txL" fmla="*/ 0 w 1"/>
                    <a:gd name="txT" fmla="*/ 0 h 406"/>
                    <a:gd name="txR" fmla="*/ 1 w 1"/>
                    <a:gd name="txB" fmla="*/ 406 h 406"/>
                  </a:gdLst>
                  <a:ahLst/>
                  <a:cxnLst>
                    <a:cxn ang="0">
                      <a:pos x="0" y="0"/>
                    </a:cxn>
                    <a:cxn ang="0">
                      <a:pos x="0" y="406"/>
                    </a:cxn>
                  </a:cxnLst>
                  <a:rect l="txL" t="txT" r="txR" b="txB"/>
                  <a:pathLst>
                    <a:path w="1" h="406">
                      <a:moveTo>
                        <a:pt x="0" y="0"/>
                      </a:moveTo>
                      <a:lnTo>
                        <a:pt x="0" y="40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30" name="Freeform 197"/>
                <p:cNvSpPr/>
                <p:nvPr/>
              </p:nvSpPr>
              <p:spPr>
                <a:xfrm>
                  <a:off x="4185" y="2691"/>
                  <a:ext cx="1" cy="525"/>
                </a:xfrm>
                <a:custGeom>
                  <a:avLst/>
                  <a:gdLst>
                    <a:gd name="txL" fmla="*/ 0 w 1"/>
                    <a:gd name="txT" fmla="*/ 0 h 525"/>
                    <a:gd name="txR" fmla="*/ 1 w 1"/>
                    <a:gd name="txB" fmla="*/ 525 h 525"/>
                  </a:gdLst>
                  <a:ahLst/>
                  <a:cxnLst>
                    <a:cxn ang="0">
                      <a:pos x="0" y="0"/>
                    </a:cxn>
                    <a:cxn ang="0">
                      <a:pos x="0" y="525"/>
                    </a:cxn>
                  </a:cxnLst>
                  <a:rect l="txL" t="txT" r="txR" b="txB"/>
                  <a:pathLst>
                    <a:path w="1" h="525">
                      <a:moveTo>
                        <a:pt x="0" y="0"/>
                      </a:moveTo>
                      <a:lnTo>
                        <a:pt x="0" y="52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31" name="Freeform 198"/>
                <p:cNvSpPr/>
                <p:nvPr/>
              </p:nvSpPr>
              <p:spPr>
                <a:xfrm>
                  <a:off x="5325" y="2708"/>
                  <a:ext cx="47" cy="501"/>
                </a:xfrm>
                <a:custGeom>
                  <a:avLst/>
                  <a:gdLst>
                    <a:gd name="txL" fmla="*/ 0 w 1"/>
                    <a:gd name="txT" fmla="*/ 0 h 406"/>
                    <a:gd name="txR" fmla="*/ 1 w 1"/>
                    <a:gd name="txB" fmla="*/ 406 h 406"/>
                  </a:gdLst>
                  <a:ahLst/>
                  <a:cxnLst>
                    <a:cxn ang="0">
                      <a:pos x="0" y="0"/>
                    </a:cxn>
                    <a:cxn ang="0">
                      <a:pos x="0" y="406"/>
                    </a:cxn>
                  </a:cxnLst>
                  <a:rect l="txL" t="txT" r="txR" b="txB"/>
                  <a:pathLst>
                    <a:path w="1" h="406">
                      <a:moveTo>
                        <a:pt x="0" y="0"/>
                      </a:moveTo>
                      <a:lnTo>
                        <a:pt x="0" y="40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932" name="Text Box 199"/>
                <p:cNvSpPr txBox="1"/>
                <p:nvPr/>
              </p:nvSpPr>
              <p:spPr>
                <a:xfrm rot="5400000">
                  <a:off x="1175" y="1623"/>
                  <a:ext cx="363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33" name="Text Box 200"/>
                <p:cNvSpPr txBox="1"/>
                <p:nvPr/>
              </p:nvSpPr>
              <p:spPr>
                <a:xfrm rot="5400000">
                  <a:off x="1751" y="1623"/>
                  <a:ext cx="363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34" name="Text Box 201"/>
                <p:cNvSpPr txBox="1"/>
                <p:nvPr/>
              </p:nvSpPr>
              <p:spPr>
                <a:xfrm rot="5400000">
                  <a:off x="2327" y="1623"/>
                  <a:ext cx="363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35" name="Text Box 202"/>
                <p:cNvSpPr txBox="1"/>
                <p:nvPr/>
              </p:nvSpPr>
              <p:spPr>
                <a:xfrm rot="5400000">
                  <a:off x="2903" y="1611"/>
                  <a:ext cx="363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36" name="Text Box 203"/>
                <p:cNvSpPr txBox="1"/>
                <p:nvPr/>
              </p:nvSpPr>
              <p:spPr>
                <a:xfrm rot="5400000">
                  <a:off x="3478" y="1610"/>
                  <a:ext cx="363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37" name="Text Box 204"/>
                <p:cNvSpPr txBox="1"/>
                <p:nvPr/>
              </p:nvSpPr>
              <p:spPr>
                <a:xfrm rot="5400000">
                  <a:off x="4055" y="1611"/>
                  <a:ext cx="363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38" name="Text Box 205"/>
                <p:cNvSpPr txBox="1"/>
                <p:nvPr/>
              </p:nvSpPr>
              <p:spPr>
                <a:xfrm rot="5400000">
                  <a:off x="4631" y="1611"/>
                  <a:ext cx="363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39" name="Text Box 206"/>
                <p:cNvSpPr txBox="1"/>
                <p:nvPr/>
              </p:nvSpPr>
              <p:spPr>
                <a:xfrm rot="5400000">
                  <a:off x="5226" y="1611"/>
                  <a:ext cx="363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40" name="Text Box 207"/>
                <p:cNvSpPr txBox="1"/>
                <p:nvPr/>
              </p:nvSpPr>
              <p:spPr>
                <a:xfrm>
                  <a:off x="660" y="791"/>
                  <a:ext cx="187" cy="2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41" name="Text Box 208"/>
                <p:cNvSpPr txBox="1"/>
                <p:nvPr/>
              </p:nvSpPr>
              <p:spPr>
                <a:xfrm>
                  <a:off x="660" y="1383"/>
                  <a:ext cx="187" cy="2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42" name="Text Box 209"/>
                <p:cNvSpPr txBox="1"/>
                <p:nvPr/>
              </p:nvSpPr>
              <p:spPr>
                <a:xfrm>
                  <a:off x="624" y="1959"/>
                  <a:ext cx="259" cy="2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63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43" name="Line 210"/>
                <p:cNvSpPr/>
                <p:nvPr/>
              </p:nvSpPr>
              <p:spPr>
                <a:xfrm>
                  <a:off x="332" y="2537"/>
                  <a:ext cx="57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944" name="Text Box 211"/>
                <p:cNvSpPr txBox="1"/>
                <p:nvPr/>
              </p:nvSpPr>
              <p:spPr>
                <a:xfrm>
                  <a:off x="660" y="2727"/>
                  <a:ext cx="187" cy="2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45" name="Text Box 212"/>
                <p:cNvSpPr txBox="1"/>
                <p:nvPr/>
              </p:nvSpPr>
              <p:spPr>
                <a:xfrm>
                  <a:off x="624" y="3159"/>
                  <a:ext cx="259" cy="2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46" name="Text Box 213"/>
                <p:cNvSpPr txBox="1"/>
                <p:nvPr/>
              </p:nvSpPr>
              <p:spPr>
                <a:xfrm rot="5400000">
                  <a:off x="647" y="1611"/>
                  <a:ext cx="363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47" name="Text Box 214"/>
                <p:cNvSpPr txBox="1"/>
                <p:nvPr/>
              </p:nvSpPr>
              <p:spPr>
                <a:xfrm rot="5400000">
                  <a:off x="647" y="2859"/>
                  <a:ext cx="363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48" name="Text Box 215"/>
                <p:cNvSpPr txBox="1"/>
                <p:nvPr/>
              </p:nvSpPr>
              <p:spPr>
                <a:xfrm>
                  <a:off x="349" y="1015"/>
                  <a:ext cx="27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行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49" name="Text Box 216"/>
                <p:cNvSpPr txBox="1"/>
                <p:nvPr/>
              </p:nvSpPr>
              <p:spPr>
                <a:xfrm>
                  <a:off x="349" y="1263"/>
                  <a:ext cx="27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50" name="Text Box 217"/>
                <p:cNvSpPr txBox="1"/>
                <p:nvPr/>
              </p:nvSpPr>
              <p:spPr>
                <a:xfrm>
                  <a:off x="349" y="1511"/>
                  <a:ext cx="27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址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51" name="Text Box 218"/>
                <p:cNvSpPr txBox="1"/>
                <p:nvPr/>
              </p:nvSpPr>
              <p:spPr>
                <a:xfrm>
                  <a:off x="349" y="1758"/>
                  <a:ext cx="27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译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52" name="Text Box 219"/>
                <p:cNvSpPr txBox="1"/>
                <p:nvPr/>
              </p:nvSpPr>
              <p:spPr>
                <a:xfrm>
                  <a:off x="349" y="2006"/>
                  <a:ext cx="27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码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53" name="Text Box 220"/>
                <p:cNvSpPr txBox="1"/>
                <p:nvPr/>
              </p:nvSpPr>
              <p:spPr>
                <a:xfrm>
                  <a:off x="376" y="2635"/>
                  <a:ext cx="27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列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54" name="Text Box 221"/>
                <p:cNvSpPr txBox="1"/>
                <p:nvPr/>
              </p:nvSpPr>
              <p:spPr>
                <a:xfrm>
                  <a:off x="376" y="2883"/>
                  <a:ext cx="27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55" name="Text Box 222"/>
                <p:cNvSpPr txBox="1"/>
                <p:nvPr/>
              </p:nvSpPr>
              <p:spPr>
                <a:xfrm>
                  <a:off x="376" y="3131"/>
                  <a:ext cx="27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址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56" name="Text Box 223"/>
                <p:cNvSpPr txBox="1"/>
                <p:nvPr/>
              </p:nvSpPr>
              <p:spPr>
                <a:xfrm>
                  <a:off x="376" y="3378"/>
                  <a:ext cx="27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译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57" name="Text Box 224"/>
                <p:cNvSpPr txBox="1"/>
                <p:nvPr/>
              </p:nvSpPr>
              <p:spPr>
                <a:xfrm>
                  <a:off x="376" y="3626"/>
                  <a:ext cx="275" cy="24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码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58" name="Text Box 225"/>
                <p:cNvSpPr txBox="1"/>
                <p:nvPr/>
              </p:nvSpPr>
              <p:spPr>
                <a:xfrm>
                  <a:off x="1946" y="3527"/>
                  <a:ext cx="342" cy="20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16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59" name="Text Box 226"/>
                <p:cNvSpPr txBox="1"/>
                <p:nvPr/>
              </p:nvSpPr>
              <p:spPr>
                <a:xfrm>
                  <a:off x="3106" y="3527"/>
                  <a:ext cx="342" cy="20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16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60" name="Text Box 227"/>
                <p:cNvSpPr txBox="1"/>
                <p:nvPr/>
              </p:nvSpPr>
              <p:spPr>
                <a:xfrm>
                  <a:off x="4258" y="3527"/>
                  <a:ext cx="342" cy="20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16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61" name="Text Box 228"/>
                <p:cNvSpPr txBox="1"/>
                <p:nvPr/>
              </p:nvSpPr>
              <p:spPr>
                <a:xfrm>
                  <a:off x="5416" y="3527"/>
                  <a:ext cx="342" cy="20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16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62" name="Line 229"/>
                <p:cNvSpPr/>
                <p:nvPr/>
              </p:nvSpPr>
              <p:spPr>
                <a:xfrm>
                  <a:off x="140" y="905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4963" name="Line 230"/>
                <p:cNvSpPr/>
                <p:nvPr/>
              </p:nvSpPr>
              <p:spPr>
                <a:xfrm>
                  <a:off x="140" y="1164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4964" name="Line 231"/>
                <p:cNvSpPr/>
                <p:nvPr/>
              </p:nvSpPr>
              <p:spPr>
                <a:xfrm>
                  <a:off x="140" y="1423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4965" name="Line 232"/>
                <p:cNvSpPr/>
                <p:nvPr/>
              </p:nvSpPr>
              <p:spPr>
                <a:xfrm>
                  <a:off x="140" y="1682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4966" name="Line 233"/>
                <p:cNvSpPr/>
                <p:nvPr/>
              </p:nvSpPr>
              <p:spPr>
                <a:xfrm>
                  <a:off x="140" y="1941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4967" name="Line 234"/>
                <p:cNvSpPr/>
                <p:nvPr/>
              </p:nvSpPr>
              <p:spPr>
                <a:xfrm>
                  <a:off x="140" y="2201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4968" name="Line 235"/>
                <p:cNvSpPr/>
                <p:nvPr/>
              </p:nvSpPr>
              <p:spPr>
                <a:xfrm>
                  <a:off x="140" y="2872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4969" name="Line 236"/>
                <p:cNvSpPr/>
                <p:nvPr/>
              </p:nvSpPr>
              <p:spPr>
                <a:xfrm>
                  <a:off x="140" y="3131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4970" name="Line 237"/>
                <p:cNvSpPr/>
                <p:nvPr/>
              </p:nvSpPr>
              <p:spPr>
                <a:xfrm>
                  <a:off x="140" y="3390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4971" name="Line 238"/>
                <p:cNvSpPr/>
                <p:nvPr/>
              </p:nvSpPr>
              <p:spPr>
                <a:xfrm>
                  <a:off x="140" y="3650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4972" name="Text Box 239"/>
                <p:cNvSpPr txBox="1"/>
                <p:nvPr/>
              </p:nvSpPr>
              <p:spPr>
                <a:xfrm>
                  <a:off x="648" y="3890"/>
                  <a:ext cx="355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WE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73" name="Line 240"/>
                <p:cNvSpPr/>
                <p:nvPr/>
              </p:nvSpPr>
              <p:spPr>
                <a:xfrm>
                  <a:off x="682" y="3923"/>
                  <a:ext cx="28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4974" name="Text Box 241"/>
                <p:cNvSpPr txBox="1"/>
                <p:nvPr/>
              </p:nvSpPr>
              <p:spPr>
                <a:xfrm>
                  <a:off x="669" y="4025"/>
                  <a:ext cx="32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CS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975" name="Line 242"/>
                <p:cNvSpPr/>
                <p:nvPr/>
              </p:nvSpPr>
              <p:spPr>
                <a:xfrm>
                  <a:off x="726" y="4079"/>
                  <a:ext cx="19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84761" name="Group 243"/>
              <p:cNvGrpSpPr/>
              <p:nvPr/>
            </p:nvGrpSpPr>
            <p:grpSpPr>
              <a:xfrm>
                <a:off x="140" y="674"/>
                <a:ext cx="195" cy="3011"/>
                <a:chOff x="140" y="674"/>
                <a:chExt cx="195" cy="3011"/>
              </a:xfrm>
            </p:grpSpPr>
            <p:sp>
              <p:nvSpPr>
                <p:cNvPr id="284762" name="Text Box 244"/>
                <p:cNvSpPr txBox="1"/>
                <p:nvPr/>
              </p:nvSpPr>
              <p:spPr>
                <a:xfrm>
                  <a:off x="140" y="674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63" name="Text Box 245"/>
                <p:cNvSpPr txBox="1"/>
                <p:nvPr/>
              </p:nvSpPr>
              <p:spPr>
                <a:xfrm>
                  <a:off x="140" y="933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64" name="Text Box 246"/>
                <p:cNvSpPr txBox="1"/>
                <p:nvPr/>
              </p:nvSpPr>
              <p:spPr>
                <a:xfrm>
                  <a:off x="140" y="1192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65" name="Text Box 247"/>
                <p:cNvSpPr txBox="1"/>
                <p:nvPr/>
              </p:nvSpPr>
              <p:spPr>
                <a:xfrm>
                  <a:off x="140" y="1451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66" name="Text Box 248"/>
                <p:cNvSpPr txBox="1"/>
                <p:nvPr/>
              </p:nvSpPr>
              <p:spPr>
                <a:xfrm>
                  <a:off x="140" y="1710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67" name="Text Box 249"/>
                <p:cNvSpPr txBox="1"/>
                <p:nvPr/>
              </p:nvSpPr>
              <p:spPr>
                <a:xfrm>
                  <a:off x="140" y="1970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68" name="Text Box 250"/>
                <p:cNvSpPr txBox="1"/>
                <p:nvPr/>
              </p:nvSpPr>
              <p:spPr>
                <a:xfrm>
                  <a:off x="140" y="2657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69" name="Text Box 251"/>
                <p:cNvSpPr txBox="1"/>
                <p:nvPr/>
              </p:nvSpPr>
              <p:spPr>
                <a:xfrm>
                  <a:off x="140" y="2916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70" name="Text Box 252"/>
                <p:cNvSpPr txBox="1"/>
                <p:nvPr/>
              </p:nvSpPr>
              <p:spPr>
                <a:xfrm>
                  <a:off x="140" y="3175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4771" name="Text Box 253"/>
                <p:cNvSpPr txBox="1"/>
                <p:nvPr/>
              </p:nvSpPr>
              <p:spPr>
                <a:xfrm>
                  <a:off x="140" y="3434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84735" name="Group 254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84736" name="Group 255"/>
              <p:cNvGrpSpPr/>
              <p:nvPr/>
            </p:nvGrpSpPr>
            <p:grpSpPr>
              <a:xfrm>
                <a:off x="902" y="857"/>
                <a:ext cx="4567" cy="418"/>
                <a:chOff x="902" y="857"/>
                <a:chExt cx="4567" cy="418"/>
              </a:xfrm>
            </p:grpSpPr>
            <p:grpSp>
              <p:nvGrpSpPr>
                <p:cNvPr id="284741" name="Group 256"/>
                <p:cNvGrpSpPr/>
                <p:nvPr/>
              </p:nvGrpSpPr>
              <p:grpSpPr>
                <a:xfrm>
                  <a:off x="1152" y="1024"/>
                  <a:ext cx="4317" cy="251"/>
                  <a:chOff x="1176" y="1079"/>
                  <a:chExt cx="4317" cy="251"/>
                </a:xfrm>
              </p:grpSpPr>
              <p:sp>
                <p:nvSpPr>
                  <p:cNvPr id="284752" name="Rectangle 257"/>
                  <p:cNvSpPr/>
                  <p:nvPr/>
                </p:nvSpPr>
                <p:spPr>
                  <a:xfrm>
                    <a:off x="175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4753" name="Rectangle 258"/>
                  <p:cNvSpPr/>
                  <p:nvPr/>
                </p:nvSpPr>
                <p:spPr>
                  <a:xfrm>
                    <a:off x="117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4754" name="Rectangle 259"/>
                  <p:cNvSpPr/>
                  <p:nvPr/>
                </p:nvSpPr>
                <p:spPr>
                  <a:xfrm>
                    <a:off x="289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4755" name="Rectangle 260"/>
                  <p:cNvSpPr/>
                  <p:nvPr/>
                </p:nvSpPr>
                <p:spPr>
                  <a:xfrm>
                    <a:off x="231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4756" name="Rectangle 261"/>
                  <p:cNvSpPr/>
                  <p:nvPr/>
                </p:nvSpPr>
                <p:spPr>
                  <a:xfrm>
                    <a:off x="4067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4757" name="Rectangle 262"/>
                  <p:cNvSpPr/>
                  <p:nvPr/>
                </p:nvSpPr>
                <p:spPr>
                  <a:xfrm>
                    <a:off x="3491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4758" name="Rectangle 263"/>
                  <p:cNvSpPr/>
                  <p:nvPr/>
                </p:nvSpPr>
                <p:spPr>
                  <a:xfrm>
                    <a:off x="5205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4759" name="Rectangle 264"/>
                  <p:cNvSpPr/>
                  <p:nvPr/>
                </p:nvSpPr>
                <p:spPr>
                  <a:xfrm>
                    <a:off x="462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84742" name="Group 265"/>
                <p:cNvGrpSpPr/>
                <p:nvPr/>
              </p:nvGrpSpPr>
              <p:grpSpPr>
                <a:xfrm>
                  <a:off x="902" y="857"/>
                  <a:ext cx="4419" cy="145"/>
                  <a:chOff x="902" y="857"/>
                  <a:chExt cx="4419" cy="145"/>
                </a:xfrm>
              </p:grpSpPr>
              <p:sp>
                <p:nvSpPr>
                  <p:cNvPr id="284743" name="Freeform 266"/>
                  <p:cNvSpPr/>
                  <p:nvPr/>
                </p:nvSpPr>
                <p:spPr>
                  <a:xfrm>
                    <a:off x="902" y="857"/>
                    <a:ext cx="4419" cy="1"/>
                  </a:xfrm>
                  <a:custGeom>
                    <a:avLst/>
                    <a:gdLst>
                      <a:gd name="txL" fmla="*/ 0 w 4419"/>
                      <a:gd name="txT" fmla="*/ 0 h 1"/>
                      <a:gd name="txR" fmla="*/ 4419 w 4419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9" y="0"/>
                      </a:cxn>
                    </a:cxnLst>
                    <a:rect l="txL" t="txT" r="txR" b="txB"/>
                    <a:pathLst>
                      <a:path w="4419" h="1">
                        <a:moveTo>
                          <a:pt x="0" y="1"/>
                        </a:moveTo>
                        <a:lnTo>
                          <a:pt x="4419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4744" name="Line 267"/>
                  <p:cNvSpPr/>
                  <p:nvPr/>
                </p:nvSpPr>
                <p:spPr>
                  <a:xfrm>
                    <a:off x="127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4745" name="Line 268"/>
                  <p:cNvSpPr/>
                  <p:nvPr/>
                </p:nvSpPr>
                <p:spPr>
                  <a:xfrm>
                    <a:off x="184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4746" name="Line 269"/>
                  <p:cNvSpPr/>
                  <p:nvPr/>
                </p:nvSpPr>
                <p:spPr>
                  <a:xfrm>
                    <a:off x="242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4747" name="Line 270"/>
                  <p:cNvSpPr/>
                  <p:nvPr/>
                </p:nvSpPr>
                <p:spPr>
                  <a:xfrm>
                    <a:off x="3000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4748" name="Line 271"/>
                  <p:cNvSpPr/>
                  <p:nvPr/>
                </p:nvSpPr>
                <p:spPr>
                  <a:xfrm>
                    <a:off x="3576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4749" name="Line 272"/>
                  <p:cNvSpPr/>
                  <p:nvPr/>
                </p:nvSpPr>
                <p:spPr>
                  <a:xfrm>
                    <a:off x="415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4750" name="Line 273"/>
                  <p:cNvSpPr/>
                  <p:nvPr/>
                </p:nvSpPr>
                <p:spPr>
                  <a:xfrm>
                    <a:off x="472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4751" name="Line 274"/>
                  <p:cNvSpPr/>
                  <p:nvPr/>
                </p:nvSpPr>
                <p:spPr>
                  <a:xfrm>
                    <a:off x="530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</p:grpSp>
          </p:grpSp>
          <p:sp>
            <p:nvSpPr>
              <p:cNvPr id="284737" name="Text Box 275"/>
              <p:cNvSpPr txBox="1"/>
              <p:nvPr/>
            </p:nvSpPr>
            <p:spPr>
              <a:xfrm>
                <a:off x="140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738" name="Text Box 276"/>
              <p:cNvSpPr txBox="1"/>
              <p:nvPr/>
            </p:nvSpPr>
            <p:spPr>
              <a:xfrm>
                <a:off x="254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739" name="Text Box 277"/>
              <p:cNvSpPr txBox="1"/>
              <p:nvPr/>
            </p:nvSpPr>
            <p:spPr>
              <a:xfrm>
                <a:off x="3718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4740" name="Text Box 278"/>
              <p:cNvSpPr txBox="1"/>
              <p:nvPr/>
            </p:nvSpPr>
            <p:spPr>
              <a:xfrm>
                <a:off x="486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7" name="Group 279"/>
          <p:cNvGrpSpPr/>
          <p:nvPr/>
        </p:nvGrpSpPr>
        <p:grpSpPr>
          <a:xfrm>
            <a:off x="2552700" y="6175375"/>
            <a:ext cx="563563" cy="368301"/>
            <a:chOff x="648" y="3890"/>
            <a:chExt cx="355" cy="232"/>
          </a:xfrm>
        </p:grpSpPr>
        <p:sp>
          <p:nvSpPr>
            <p:cNvPr id="284732" name="Text Box 280"/>
            <p:cNvSpPr txBox="1"/>
            <p:nvPr/>
          </p:nvSpPr>
          <p:spPr>
            <a:xfrm>
              <a:off x="648" y="3890"/>
              <a:ext cx="3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4733" name="Line 281"/>
            <p:cNvSpPr/>
            <p:nvPr/>
          </p:nvSpPr>
          <p:spPr>
            <a:xfrm>
              <a:off x="682" y="3922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8" name="Group 282"/>
          <p:cNvGrpSpPr/>
          <p:nvPr/>
        </p:nvGrpSpPr>
        <p:grpSpPr>
          <a:xfrm>
            <a:off x="2584450" y="6391275"/>
            <a:ext cx="508000" cy="398463"/>
            <a:chOff x="668" y="4026"/>
            <a:chExt cx="320" cy="251"/>
          </a:xfrm>
        </p:grpSpPr>
        <p:sp>
          <p:nvSpPr>
            <p:cNvPr id="284730" name="Text Box 283"/>
            <p:cNvSpPr txBox="1"/>
            <p:nvPr/>
          </p:nvSpPr>
          <p:spPr>
            <a:xfrm>
              <a:off x="668" y="4026"/>
              <a:ext cx="3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CS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4731" name="Line 284"/>
            <p:cNvSpPr/>
            <p:nvPr/>
          </p:nvSpPr>
          <p:spPr>
            <a:xfrm>
              <a:off x="724" y="4078"/>
              <a:ext cx="192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9" name="Group 285"/>
          <p:cNvGrpSpPr/>
          <p:nvPr/>
        </p:nvGrpSpPr>
        <p:grpSpPr>
          <a:xfrm>
            <a:off x="2976563" y="2617788"/>
            <a:ext cx="6613525" cy="1963737"/>
            <a:chOff x="915" y="1649"/>
            <a:chExt cx="4166" cy="1237"/>
          </a:xfrm>
        </p:grpSpPr>
        <p:grpSp>
          <p:nvGrpSpPr>
            <p:cNvPr id="284683" name="Group 286"/>
            <p:cNvGrpSpPr/>
            <p:nvPr/>
          </p:nvGrpSpPr>
          <p:grpSpPr>
            <a:xfrm>
              <a:off x="915" y="2633"/>
              <a:ext cx="3945" cy="253"/>
              <a:chOff x="915" y="2633"/>
              <a:chExt cx="3945" cy="253"/>
            </a:xfrm>
          </p:grpSpPr>
          <p:grpSp>
            <p:nvGrpSpPr>
              <p:cNvPr id="284692" name="Group 287"/>
              <p:cNvGrpSpPr/>
              <p:nvPr/>
            </p:nvGrpSpPr>
            <p:grpSpPr>
              <a:xfrm>
                <a:off x="915" y="2696"/>
                <a:ext cx="3858" cy="190"/>
                <a:chOff x="915" y="2696"/>
                <a:chExt cx="3858" cy="190"/>
              </a:xfrm>
            </p:grpSpPr>
            <p:sp>
              <p:nvSpPr>
                <p:cNvPr id="284725" name="Freeform 288"/>
                <p:cNvSpPr/>
                <p:nvPr/>
              </p:nvSpPr>
              <p:spPr>
                <a:xfrm>
                  <a:off x="1304" y="2707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726" name="Freeform 289"/>
                <p:cNvSpPr/>
                <p:nvPr/>
              </p:nvSpPr>
              <p:spPr>
                <a:xfrm>
                  <a:off x="2457" y="2710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727" name="Freeform 290"/>
                <p:cNvSpPr/>
                <p:nvPr/>
              </p:nvSpPr>
              <p:spPr>
                <a:xfrm>
                  <a:off x="3609" y="2710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728" name="Freeform 291"/>
                <p:cNvSpPr/>
                <p:nvPr/>
              </p:nvSpPr>
              <p:spPr>
                <a:xfrm>
                  <a:off x="4761" y="2696"/>
                  <a:ext cx="1" cy="178"/>
                </a:xfrm>
                <a:custGeom>
                  <a:avLst/>
                  <a:gdLst>
                    <a:gd name="txL" fmla="*/ 0 w 1"/>
                    <a:gd name="txT" fmla="*/ 0 h 178"/>
                    <a:gd name="txR" fmla="*/ 1 w 1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0" y="178"/>
                    </a:cxn>
                  </a:cxnLst>
                  <a:rect l="txL" t="txT" r="txR" b="txB"/>
                  <a:pathLst>
                    <a:path w="1" h="178">
                      <a:moveTo>
                        <a:pt x="0" y="0"/>
                      </a:moveTo>
                      <a:lnTo>
                        <a:pt x="0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4729" name="Freeform 292"/>
                <p:cNvSpPr/>
                <p:nvPr/>
              </p:nvSpPr>
              <p:spPr>
                <a:xfrm>
                  <a:off x="915" y="2865"/>
                  <a:ext cx="3858" cy="2"/>
                </a:xfrm>
                <a:custGeom>
                  <a:avLst/>
                  <a:gdLst>
                    <a:gd name="txL" fmla="*/ 0 w 3858"/>
                    <a:gd name="txT" fmla="*/ 0 h 2"/>
                    <a:gd name="txR" fmla="*/ 3858 w 3858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3858" y="0"/>
                    </a:cxn>
                  </a:cxnLst>
                  <a:rect l="txL" t="txT" r="txR" b="txB"/>
                  <a:pathLst>
                    <a:path w="3858" h="2">
                      <a:moveTo>
                        <a:pt x="0" y="2"/>
                      </a:moveTo>
                      <a:lnTo>
                        <a:pt x="385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84693" name="Group 293"/>
              <p:cNvGrpSpPr/>
              <p:nvPr/>
            </p:nvGrpSpPr>
            <p:grpSpPr>
              <a:xfrm>
                <a:off x="1213" y="2633"/>
                <a:ext cx="192" cy="158"/>
                <a:chOff x="1440" y="2928"/>
                <a:chExt cx="192" cy="158"/>
              </a:xfrm>
            </p:grpSpPr>
            <p:grpSp>
              <p:nvGrpSpPr>
                <p:cNvPr id="284718" name="Group 294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4723" name="Line 29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4724" name="Line 29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4719" name="Freeform 297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4720" name="Group 298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4721" name="Line 29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4722" name="Line 30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4694" name="Group 301"/>
              <p:cNvGrpSpPr/>
              <p:nvPr/>
            </p:nvGrpSpPr>
            <p:grpSpPr>
              <a:xfrm>
                <a:off x="2365" y="2635"/>
                <a:ext cx="192" cy="158"/>
                <a:chOff x="1440" y="2928"/>
                <a:chExt cx="192" cy="158"/>
              </a:xfrm>
            </p:grpSpPr>
            <p:grpSp>
              <p:nvGrpSpPr>
                <p:cNvPr id="284711" name="Group 302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4716" name="Line 303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4717" name="Line 304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4712" name="Freeform 305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4713" name="Group 306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4714" name="Line 30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4715" name="Line 30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4695" name="Group 309"/>
              <p:cNvGrpSpPr/>
              <p:nvPr/>
            </p:nvGrpSpPr>
            <p:grpSpPr>
              <a:xfrm>
                <a:off x="3517" y="2635"/>
                <a:ext cx="192" cy="158"/>
                <a:chOff x="1440" y="2928"/>
                <a:chExt cx="192" cy="158"/>
              </a:xfrm>
            </p:grpSpPr>
            <p:grpSp>
              <p:nvGrpSpPr>
                <p:cNvPr id="284704" name="Group 310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4709" name="Line 31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4710" name="Line 31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4705" name="Freeform 313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4706" name="Group 314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4707" name="Line 31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4708" name="Line 31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4696" name="Group 317"/>
              <p:cNvGrpSpPr/>
              <p:nvPr/>
            </p:nvGrpSpPr>
            <p:grpSpPr>
              <a:xfrm>
                <a:off x="4668" y="2635"/>
                <a:ext cx="192" cy="158"/>
                <a:chOff x="1440" y="2928"/>
                <a:chExt cx="192" cy="158"/>
              </a:xfrm>
            </p:grpSpPr>
            <p:grpSp>
              <p:nvGrpSpPr>
                <p:cNvPr id="284697" name="Group 318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4702" name="Line 31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4703" name="Line 32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4698" name="Freeform 321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4699" name="Group 322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4700" name="Line 323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4701" name="Line 324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84684" name="Rectangle 325"/>
            <p:cNvSpPr/>
            <p:nvPr/>
          </p:nvSpPr>
          <p:spPr>
            <a:xfrm>
              <a:off x="1152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4685" name="Text Box 326"/>
            <p:cNvSpPr txBox="1"/>
            <p:nvPr/>
          </p:nvSpPr>
          <p:spPr>
            <a:xfrm>
              <a:off x="1150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4686" name="Rectangle 327"/>
            <p:cNvSpPr/>
            <p:nvPr/>
          </p:nvSpPr>
          <p:spPr>
            <a:xfrm>
              <a:off x="2293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4687" name="Rectangle 328"/>
            <p:cNvSpPr/>
            <p:nvPr/>
          </p:nvSpPr>
          <p:spPr>
            <a:xfrm>
              <a:off x="4604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4688" name="Rectangle 329"/>
            <p:cNvSpPr/>
            <p:nvPr/>
          </p:nvSpPr>
          <p:spPr>
            <a:xfrm>
              <a:off x="3466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4689" name="Text Box 330"/>
            <p:cNvSpPr txBox="1"/>
            <p:nvPr/>
          </p:nvSpPr>
          <p:spPr>
            <a:xfrm>
              <a:off x="2314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4690" name="Text Box 331"/>
            <p:cNvSpPr txBox="1"/>
            <p:nvPr/>
          </p:nvSpPr>
          <p:spPr>
            <a:xfrm>
              <a:off x="3462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4691" name="Text Box 332"/>
            <p:cNvSpPr txBox="1"/>
            <p:nvPr/>
          </p:nvSpPr>
          <p:spPr>
            <a:xfrm>
              <a:off x="4617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84681" name="AutoShape 333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468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85698" name="Group 2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86067" name="Line 3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6068" name="Freeform 4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6069" name="Line 5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6070" name="Freeform 6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6071" name="Line 7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6072" name="Text Box 8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073" name="Text Box 9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074" name="Text Box 10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075" name="Text Box 11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6076" name="Line 12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6077" name="Line 13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6078" name="Line 14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6079" name="Line 15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6080" name="Line 16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6081" name="Line 17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6082" name="Line 18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6083" name="Line 19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22228" name="Rectangle 2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5700" name="Text Box 21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85701" name="Group 22"/>
          <p:cNvGrpSpPr/>
          <p:nvPr/>
        </p:nvGrpSpPr>
        <p:grpSpPr>
          <a:xfrm>
            <a:off x="4613275" y="5599113"/>
            <a:ext cx="6051550" cy="336550"/>
            <a:chOff x="1946" y="3527"/>
            <a:chExt cx="3812" cy="212"/>
          </a:xfrm>
        </p:grpSpPr>
        <p:sp>
          <p:nvSpPr>
            <p:cNvPr id="286063" name="Text Box 23"/>
            <p:cNvSpPr txBox="1"/>
            <p:nvPr/>
          </p:nvSpPr>
          <p:spPr>
            <a:xfrm>
              <a:off x="194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064" name="Text Box 24"/>
            <p:cNvSpPr txBox="1"/>
            <p:nvPr/>
          </p:nvSpPr>
          <p:spPr>
            <a:xfrm>
              <a:off x="310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065" name="Text Box 25"/>
            <p:cNvSpPr txBox="1"/>
            <p:nvPr/>
          </p:nvSpPr>
          <p:spPr>
            <a:xfrm>
              <a:off x="4258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066" name="Text Box 26"/>
            <p:cNvSpPr txBox="1"/>
            <p:nvPr/>
          </p:nvSpPr>
          <p:spPr>
            <a:xfrm>
              <a:off x="541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5702" name="Group 27"/>
          <p:cNvGrpSpPr/>
          <p:nvPr/>
        </p:nvGrpSpPr>
        <p:grpSpPr>
          <a:xfrm>
            <a:off x="2552700" y="6175375"/>
            <a:ext cx="563563" cy="368301"/>
            <a:chOff x="648" y="3890"/>
            <a:chExt cx="355" cy="232"/>
          </a:xfrm>
        </p:grpSpPr>
        <p:sp>
          <p:nvSpPr>
            <p:cNvPr id="286061" name="Text Box 28"/>
            <p:cNvSpPr txBox="1"/>
            <p:nvPr/>
          </p:nvSpPr>
          <p:spPr>
            <a:xfrm>
              <a:off x="648" y="3890"/>
              <a:ext cx="3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062" name="Line 29"/>
            <p:cNvSpPr/>
            <p:nvPr/>
          </p:nvSpPr>
          <p:spPr>
            <a:xfrm>
              <a:off x="682" y="3922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5703" name="Group 30"/>
          <p:cNvGrpSpPr/>
          <p:nvPr/>
        </p:nvGrpSpPr>
        <p:grpSpPr>
          <a:xfrm>
            <a:off x="2584450" y="6391275"/>
            <a:ext cx="508000" cy="398463"/>
            <a:chOff x="668" y="4026"/>
            <a:chExt cx="320" cy="251"/>
          </a:xfrm>
        </p:grpSpPr>
        <p:sp>
          <p:nvSpPr>
            <p:cNvPr id="286059" name="Text Box 31"/>
            <p:cNvSpPr txBox="1"/>
            <p:nvPr/>
          </p:nvSpPr>
          <p:spPr>
            <a:xfrm>
              <a:off x="668" y="4026"/>
              <a:ext cx="3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CS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060" name="Line 32"/>
            <p:cNvSpPr/>
            <p:nvPr/>
          </p:nvSpPr>
          <p:spPr>
            <a:xfrm>
              <a:off x="724" y="4078"/>
              <a:ext cx="192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5704" name="Group 33"/>
          <p:cNvGrpSpPr/>
          <p:nvPr/>
        </p:nvGrpSpPr>
        <p:grpSpPr>
          <a:xfrm>
            <a:off x="4641850" y="5932488"/>
            <a:ext cx="5773738" cy="0"/>
            <a:chOff x="1964" y="3737"/>
            <a:chExt cx="3637" cy="0"/>
          </a:xfrm>
        </p:grpSpPr>
        <p:sp>
          <p:nvSpPr>
            <p:cNvPr id="286055" name="Line 34"/>
            <p:cNvSpPr/>
            <p:nvPr/>
          </p:nvSpPr>
          <p:spPr>
            <a:xfrm>
              <a:off x="1964" y="3737"/>
              <a:ext cx="181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6056" name="Line 35"/>
            <p:cNvSpPr/>
            <p:nvPr/>
          </p:nvSpPr>
          <p:spPr>
            <a:xfrm>
              <a:off x="3144" y="3737"/>
              <a:ext cx="181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6057" name="Line 36"/>
            <p:cNvSpPr/>
            <p:nvPr/>
          </p:nvSpPr>
          <p:spPr>
            <a:xfrm>
              <a:off x="4293" y="3737"/>
              <a:ext cx="181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sm" len="sm"/>
              <a:tailEnd type="stealth" w="sm" len="sm"/>
            </a:ln>
          </p:spPr>
        </p:sp>
        <p:sp>
          <p:nvSpPr>
            <p:cNvPr id="286058" name="Line 37"/>
            <p:cNvSpPr/>
            <p:nvPr/>
          </p:nvSpPr>
          <p:spPr>
            <a:xfrm>
              <a:off x="5420" y="3737"/>
              <a:ext cx="181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sm" len="sm"/>
              <a:tailEnd type="stealth" w="sm" len="sm"/>
            </a:ln>
          </p:spPr>
        </p:sp>
      </p:grpSp>
      <p:grpSp>
        <p:nvGrpSpPr>
          <p:cNvPr id="285705" name="Group 38"/>
          <p:cNvGrpSpPr/>
          <p:nvPr/>
        </p:nvGrpSpPr>
        <p:grpSpPr>
          <a:xfrm>
            <a:off x="1746250" y="1069975"/>
            <a:ext cx="8669338" cy="5483225"/>
            <a:chOff x="140" y="674"/>
            <a:chExt cx="5461" cy="3454"/>
          </a:xfrm>
        </p:grpSpPr>
        <p:grpSp>
          <p:nvGrpSpPr>
            <p:cNvPr id="285806" name="Group 39"/>
            <p:cNvGrpSpPr/>
            <p:nvPr/>
          </p:nvGrpSpPr>
          <p:grpSpPr>
            <a:xfrm>
              <a:off x="140" y="674"/>
              <a:ext cx="5461" cy="3454"/>
              <a:chOff x="140" y="674"/>
              <a:chExt cx="5461" cy="3454"/>
            </a:xfrm>
          </p:grpSpPr>
          <p:grpSp>
            <p:nvGrpSpPr>
              <p:cNvPr id="285832" name="Group 40"/>
              <p:cNvGrpSpPr/>
              <p:nvPr/>
            </p:nvGrpSpPr>
            <p:grpSpPr>
              <a:xfrm>
                <a:off x="140" y="791"/>
                <a:ext cx="5461" cy="3337"/>
                <a:chOff x="140" y="791"/>
                <a:chExt cx="5461" cy="3337"/>
              </a:xfrm>
            </p:grpSpPr>
            <p:sp>
              <p:nvSpPr>
                <p:cNvPr id="285844" name="Rectangle 41"/>
                <p:cNvSpPr/>
                <p:nvPr/>
              </p:nvSpPr>
              <p:spPr>
                <a:xfrm>
                  <a:off x="332" y="2181"/>
                  <a:ext cx="576" cy="232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45" name="Rectangle 42"/>
                <p:cNvSpPr/>
                <p:nvPr/>
              </p:nvSpPr>
              <p:spPr>
                <a:xfrm>
                  <a:off x="1728" y="1025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46" name="Text Box 43"/>
                <p:cNvSpPr txBox="1"/>
                <p:nvPr/>
              </p:nvSpPr>
              <p:spPr>
                <a:xfrm>
                  <a:off x="1408" y="87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47" name="Rectangle 44"/>
                <p:cNvSpPr/>
                <p:nvPr/>
              </p:nvSpPr>
              <p:spPr>
                <a:xfrm>
                  <a:off x="1152" y="1025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48" name="Rectangle 45"/>
                <p:cNvSpPr/>
                <p:nvPr/>
              </p:nvSpPr>
              <p:spPr>
                <a:xfrm>
                  <a:off x="2869" y="1025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49" name="Text Box 46"/>
                <p:cNvSpPr txBox="1"/>
                <p:nvPr/>
              </p:nvSpPr>
              <p:spPr>
                <a:xfrm>
                  <a:off x="2549" y="87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50" name="Rectangle 47"/>
                <p:cNvSpPr/>
                <p:nvPr/>
              </p:nvSpPr>
              <p:spPr>
                <a:xfrm>
                  <a:off x="2293" y="1025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51" name="Rectangle 48"/>
                <p:cNvSpPr/>
                <p:nvPr/>
              </p:nvSpPr>
              <p:spPr>
                <a:xfrm>
                  <a:off x="4044" y="1025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47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52" name="Text Box 49"/>
                <p:cNvSpPr txBox="1"/>
                <p:nvPr/>
              </p:nvSpPr>
              <p:spPr>
                <a:xfrm>
                  <a:off x="3724" y="87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53" name="Rectangle 50"/>
                <p:cNvSpPr/>
                <p:nvPr/>
              </p:nvSpPr>
              <p:spPr>
                <a:xfrm>
                  <a:off x="3468" y="1025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54" name="Rectangle 51"/>
                <p:cNvSpPr/>
                <p:nvPr/>
              </p:nvSpPr>
              <p:spPr>
                <a:xfrm>
                  <a:off x="5180" y="1025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63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55" name="Text Box 52"/>
                <p:cNvSpPr txBox="1"/>
                <p:nvPr/>
              </p:nvSpPr>
              <p:spPr>
                <a:xfrm>
                  <a:off x="4860" y="87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56" name="Rectangle 53"/>
                <p:cNvSpPr/>
                <p:nvPr/>
              </p:nvSpPr>
              <p:spPr>
                <a:xfrm>
                  <a:off x="4604" y="1025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48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57" name="Rectangle 54"/>
                <p:cNvSpPr/>
                <p:nvPr/>
              </p:nvSpPr>
              <p:spPr>
                <a:xfrm>
                  <a:off x="1728" y="2226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58" name="Rectangle 55"/>
                <p:cNvSpPr/>
                <p:nvPr/>
              </p:nvSpPr>
              <p:spPr>
                <a:xfrm>
                  <a:off x="1152" y="2226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59" name="Rectangle 56"/>
                <p:cNvSpPr/>
                <p:nvPr/>
              </p:nvSpPr>
              <p:spPr>
                <a:xfrm>
                  <a:off x="2869" y="2226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60" name="Rectangle 57"/>
                <p:cNvSpPr/>
                <p:nvPr/>
              </p:nvSpPr>
              <p:spPr>
                <a:xfrm>
                  <a:off x="2293" y="2226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16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61" name="Rectangle 58"/>
                <p:cNvSpPr/>
                <p:nvPr/>
              </p:nvSpPr>
              <p:spPr>
                <a:xfrm>
                  <a:off x="4044" y="2226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47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62" name="Rectangle 59"/>
                <p:cNvSpPr/>
                <p:nvPr/>
              </p:nvSpPr>
              <p:spPr>
                <a:xfrm>
                  <a:off x="3468" y="2226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32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63" name="Rectangle 60"/>
                <p:cNvSpPr/>
                <p:nvPr/>
              </p:nvSpPr>
              <p:spPr>
                <a:xfrm>
                  <a:off x="5180" y="2226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63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64" name="Rectangle 61"/>
                <p:cNvSpPr/>
                <p:nvPr/>
              </p:nvSpPr>
              <p:spPr>
                <a:xfrm>
                  <a:off x="4604" y="2226"/>
                  <a:ext cx="288" cy="251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lIns="0" rIns="0" anchor="ctr" anchorCtr="0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48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65" name="Line 62"/>
                <p:cNvSpPr/>
                <p:nvPr/>
              </p:nvSpPr>
              <p:spPr>
                <a:xfrm rot="5400000">
                  <a:off x="1325" y="2712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66" name="Line 63"/>
                <p:cNvSpPr/>
                <p:nvPr/>
              </p:nvSpPr>
              <p:spPr>
                <a:xfrm rot="5400000">
                  <a:off x="1308" y="2710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67" name="Freeform 64"/>
                <p:cNvSpPr/>
                <p:nvPr/>
              </p:nvSpPr>
              <p:spPr>
                <a:xfrm>
                  <a:off x="1260" y="2709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68" name="Line 65"/>
                <p:cNvSpPr/>
                <p:nvPr/>
              </p:nvSpPr>
              <p:spPr>
                <a:xfrm rot="-5400000">
                  <a:off x="1133" y="2712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69" name="Line 66"/>
                <p:cNvSpPr/>
                <p:nvPr/>
              </p:nvSpPr>
              <p:spPr>
                <a:xfrm rot="-5400000">
                  <a:off x="1212" y="2714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70" name="Freeform 67"/>
                <p:cNvSpPr/>
                <p:nvPr/>
              </p:nvSpPr>
              <p:spPr>
                <a:xfrm>
                  <a:off x="1434" y="2353"/>
                  <a:ext cx="112" cy="1"/>
                </a:xfrm>
                <a:custGeom>
                  <a:avLst/>
                  <a:gdLst>
                    <a:gd name="txL" fmla="*/ 0 w 112"/>
                    <a:gd name="txT" fmla="*/ 0 h 1"/>
                    <a:gd name="txR" fmla="*/ 112 w 11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12" y="0"/>
                    </a:cxn>
                  </a:cxnLst>
                  <a:rect l="txL" t="txT" r="txR" b="txB"/>
                  <a:pathLst>
                    <a:path w="112" h="1">
                      <a:moveTo>
                        <a:pt x="0" y="0"/>
                      </a:moveTo>
                      <a:lnTo>
                        <a:pt x="112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71" name="Freeform 68"/>
                <p:cNvSpPr/>
                <p:nvPr/>
              </p:nvSpPr>
              <p:spPr>
                <a:xfrm>
                  <a:off x="1059" y="1209"/>
                  <a:ext cx="152" cy="1469"/>
                </a:xfrm>
                <a:custGeom>
                  <a:avLst/>
                  <a:gdLst>
                    <a:gd name="txL" fmla="*/ 0 w 152"/>
                    <a:gd name="txT" fmla="*/ 0 h 1469"/>
                    <a:gd name="txR" fmla="*/ 152 w 152"/>
                    <a:gd name="txB" fmla="*/ 1469 h 1469"/>
                  </a:gdLst>
                  <a:ahLst/>
                  <a:cxnLst>
                    <a:cxn ang="0">
                      <a:pos x="152" y="1469"/>
                    </a:cxn>
                    <a:cxn ang="0">
                      <a:pos x="0" y="1469"/>
                    </a:cxn>
                    <a:cxn ang="0">
                      <a:pos x="0" y="0"/>
                    </a:cxn>
                    <a:cxn ang="0">
                      <a:pos x="95" y="1"/>
                    </a:cxn>
                  </a:cxnLst>
                  <a:rect l="txL" t="txT" r="txR" b="txB"/>
                  <a:pathLst>
                    <a:path w="152" h="1469">
                      <a:moveTo>
                        <a:pt x="152" y="1469"/>
                      </a:moveTo>
                      <a:lnTo>
                        <a:pt x="0" y="1469"/>
                      </a:lnTo>
                      <a:lnTo>
                        <a:pt x="0" y="0"/>
                      </a:lnTo>
                      <a:lnTo>
                        <a:pt x="95" y="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72" name="Freeform 69"/>
                <p:cNvSpPr/>
                <p:nvPr/>
              </p:nvSpPr>
              <p:spPr>
                <a:xfrm>
                  <a:off x="1055" y="2353"/>
                  <a:ext cx="102" cy="1"/>
                </a:xfrm>
                <a:custGeom>
                  <a:avLst/>
                  <a:gdLst>
                    <a:gd name="txL" fmla="*/ 0 w 102"/>
                    <a:gd name="txT" fmla="*/ 0 h 1"/>
                    <a:gd name="txR" fmla="*/ 102 w 102"/>
                    <a:gd name="txB" fmla="*/ 1 h 1"/>
                  </a:gdLst>
                  <a:ahLst/>
                  <a:cxnLst>
                    <a:cxn ang="0">
                      <a:pos x="102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02" h="1">
                      <a:moveTo>
                        <a:pt x="10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73" name="Line 70"/>
                <p:cNvSpPr/>
                <p:nvPr/>
              </p:nvSpPr>
              <p:spPr>
                <a:xfrm rot="5400000">
                  <a:off x="1896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74" name="Line 71"/>
                <p:cNvSpPr/>
                <p:nvPr/>
              </p:nvSpPr>
              <p:spPr>
                <a:xfrm rot="5400000">
                  <a:off x="1879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75" name="Freeform 72"/>
                <p:cNvSpPr/>
                <p:nvPr/>
              </p:nvSpPr>
              <p:spPr>
                <a:xfrm>
                  <a:off x="1831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76" name="Line 73"/>
                <p:cNvSpPr/>
                <p:nvPr/>
              </p:nvSpPr>
              <p:spPr>
                <a:xfrm rot="-5400000">
                  <a:off x="1704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77" name="Line 74"/>
                <p:cNvSpPr/>
                <p:nvPr/>
              </p:nvSpPr>
              <p:spPr>
                <a:xfrm rot="-5400000">
                  <a:off x="1783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78" name="Freeform 75"/>
                <p:cNvSpPr/>
                <p:nvPr/>
              </p:nvSpPr>
              <p:spPr>
                <a:xfrm>
                  <a:off x="2005" y="2353"/>
                  <a:ext cx="103" cy="1"/>
                </a:xfrm>
                <a:custGeom>
                  <a:avLst/>
                  <a:gdLst>
                    <a:gd name="txL" fmla="*/ 0 w 103"/>
                    <a:gd name="txT" fmla="*/ 0 h 1"/>
                    <a:gd name="txR" fmla="*/ 103 w 103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03" y="0"/>
                    </a:cxn>
                  </a:cxnLst>
                  <a:rect l="txL" t="txT" r="txR" b="txB"/>
                  <a:pathLst>
                    <a:path w="103" h="1">
                      <a:moveTo>
                        <a:pt x="0" y="0"/>
                      </a:moveTo>
                      <a:lnTo>
                        <a:pt x="103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79" name="Freeform 76"/>
                <p:cNvSpPr/>
                <p:nvPr/>
              </p:nvSpPr>
              <p:spPr>
                <a:xfrm>
                  <a:off x="1611" y="2352"/>
                  <a:ext cx="113" cy="1"/>
                </a:xfrm>
                <a:custGeom>
                  <a:avLst/>
                  <a:gdLst>
                    <a:gd name="txL" fmla="*/ 0 w 113"/>
                    <a:gd name="txT" fmla="*/ 0 h 1"/>
                    <a:gd name="txR" fmla="*/ 113 w 113"/>
                    <a:gd name="txB" fmla="*/ 1 h 1"/>
                  </a:gdLst>
                  <a:ahLst/>
                  <a:cxnLst>
                    <a:cxn ang="0">
                      <a:pos x="113" y="1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13" h="1">
                      <a:moveTo>
                        <a:pt x="113" y="1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80" name="Line 77"/>
                <p:cNvSpPr/>
                <p:nvPr/>
              </p:nvSpPr>
              <p:spPr>
                <a:xfrm rot="5400000">
                  <a:off x="2477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81" name="Line 78"/>
                <p:cNvSpPr/>
                <p:nvPr/>
              </p:nvSpPr>
              <p:spPr>
                <a:xfrm rot="5400000">
                  <a:off x="2460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82" name="Freeform 79"/>
                <p:cNvSpPr/>
                <p:nvPr/>
              </p:nvSpPr>
              <p:spPr>
                <a:xfrm>
                  <a:off x="2412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83" name="Line 80"/>
                <p:cNvSpPr/>
                <p:nvPr/>
              </p:nvSpPr>
              <p:spPr>
                <a:xfrm rot="-5400000">
                  <a:off x="2285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84" name="Line 81"/>
                <p:cNvSpPr/>
                <p:nvPr/>
              </p:nvSpPr>
              <p:spPr>
                <a:xfrm rot="-5400000">
                  <a:off x="2364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85" name="Freeform 82"/>
                <p:cNvSpPr/>
                <p:nvPr/>
              </p:nvSpPr>
              <p:spPr>
                <a:xfrm>
                  <a:off x="2586" y="2353"/>
                  <a:ext cx="109" cy="1"/>
                </a:xfrm>
                <a:custGeom>
                  <a:avLst/>
                  <a:gdLst>
                    <a:gd name="txL" fmla="*/ 0 w 109"/>
                    <a:gd name="txT" fmla="*/ 0 h 1"/>
                    <a:gd name="txR" fmla="*/ 109 w 109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09" y="0"/>
                    </a:cxn>
                  </a:cxnLst>
                  <a:rect l="txL" t="txT" r="txR" b="txB"/>
                  <a:pathLst>
                    <a:path w="109" h="1">
                      <a:moveTo>
                        <a:pt x="0" y="0"/>
                      </a:moveTo>
                      <a:lnTo>
                        <a:pt x="109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86" name="Freeform 83"/>
                <p:cNvSpPr/>
                <p:nvPr/>
              </p:nvSpPr>
              <p:spPr>
                <a:xfrm>
                  <a:off x="2207" y="2353"/>
                  <a:ext cx="89" cy="1"/>
                </a:xfrm>
                <a:custGeom>
                  <a:avLst/>
                  <a:gdLst>
                    <a:gd name="txL" fmla="*/ 0 w 89"/>
                    <a:gd name="txT" fmla="*/ 0 h 1"/>
                    <a:gd name="txR" fmla="*/ 89 w 89"/>
                    <a:gd name="txB" fmla="*/ 1 h 1"/>
                  </a:gdLst>
                  <a:ahLst/>
                  <a:cxnLst>
                    <a:cxn ang="0">
                      <a:pos x="89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89" h="1">
                      <a:moveTo>
                        <a:pt x="89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87" name="Line 84"/>
                <p:cNvSpPr/>
                <p:nvPr/>
              </p:nvSpPr>
              <p:spPr>
                <a:xfrm rot="5400000">
                  <a:off x="3053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88" name="Line 85"/>
                <p:cNvSpPr/>
                <p:nvPr/>
              </p:nvSpPr>
              <p:spPr>
                <a:xfrm rot="5400000">
                  <a:off x="3036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89" name="Freeform 86"/>
                <p:cNvSpPr/>
                <p:nvPr/>
              </p:nvSpPr>
              <p:spPr>
                <a:xfrm>
                  <a:off x="2988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90" name="Line 87"/>
                <p:cNvSpPr/>
                <p:nvPr/>
              </p:nvSpPr>
              <p:spPr>
                <a:xfrm rot="-5400000">
                  <a:off x="2861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91" name="Line 88"/>
                <p:cNvSpPr/>
                <p:nvPr/>
              </p:nvSpPr>
              <p:spPr>
                <a:xfrm rot="-5400000">
                  <a:off x="2940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92" name="Freeform 89"/>
                <p:cNvSpPr/>
                <p:nvPr/>
              </p:nvSpPr>
              <p:spPr>
                <a:xfrm>
                  <a:off x="3162" y="2353"/>
                  <a:ext cx="115" cy="1"/>
                </a:xfrm>
                <a:custGeom>
                  <a:avLst/>
                  <a:gdLst>
                    <a:gd name="txL" fmla="*/ 0 w 115"/>
                    <a:gd name="txT" fmla="*/ 0 h 1"/>
                    <a:gd name="txR" fmla="*/ 115 w 115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15" y="0"/>
                    </a:cxn>
                  </a:cxnLst>
                  <a:rect l="txL" t="txT" r="txR" b="txB"/>
                  <a:pathLst>
                    <a:path w="115" h="1">
                      <a:moveTo>
                        <a:pt x="0" y="0"/>
                      </a:moveTo>
                      <a:lnTo>
                        <a:pt x="115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93" name="Freeform 90"/>
                <p:cNvSpPr/>
                <p:nvPr/>
              </p:nvSpPr>
              <p:spPr>
                <a:xfrm>
                  <a:off x="2783" y="2353"/>
                  <a:ext cx="90" cy="1"/>
                </a:xfrm>
                <a:custGeom>
                  <a:avLst/>
                  <a:gdLst>
                    <a:gd name="txL" fmla="*/ 0 w 90"/>
                    <a:gd name="txT" fmla="*/ 0 h 1"/>
                    <a:gd name="txR" fmla="*/ 90 w 90"/>
                    <a:gd name="txB" fmla="*/ 1 h 1"/>
                  </a:gdLst>
                  <a:ahLst/>
                  <a:cxnLst>
                    <a:cxn ang="0">
                      <a:pos x="90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90" h="1">
                      <a:moveTo>
                        <a:pt x="90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94" name="Line 91"/>
                <p:cNvSpPr/>
                <p:nvPr/>
              </p:nvSpPr>
              <p:spPr>
                <a:xfrm rot="5400000">
                  <a:off x="3629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95" name="Line 92"/>
                <p:cNvSpPr/>
                <p:nvPr/>
              </p:nvSpPr>
              <p:spPr>
                <a:xfrm rot="5400000">
                  <a:off x="3612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96" name="Freeform 93"/>
                <p:cNvSpPr/>
                <p:nvPr/>
              </p:nvSpPr>
              <p:spPr>
                <a:xfrm>
                  <a:off x="3564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897" name="Line 94"/>
                <p:cNvSpPr/>
                <p:nvPr/>
              </p:nvSpPr>
              <p:spPr>
                <a:xfrm rot="-5400000">
                  <a:off x="3437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98" name="Line 95"/>
                <p:cNvSpPr/>
                <p:nvPr/>
              </p:nvSpPr>
              <p:spPr>
                <a:xfrm rot="-5400000">
                  <a:off x="3516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99" name="Freeform 96"/>
                <p:cNvSpPr/>
                <p:nvPr/>
              </p:nvSpPr>
              <p:spPr>
                <a:xfrm>
                  <a:off x="3751" y="2352"/>
                  <a:ext cx="100" cy="1"/>
                </a:xfrm>
                <a:custGeom>
                  <a:avLst/>
                  <a:gdLst>
                    <a:gd name="txL" fmla="*/ 0 w 100"/>
                    <a:gd name="txT" fmla="*/ 0 h 1"/>
                    <a:gd name="txR" fmla="*/ 100 w 100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00" y="1"/>
                    </a:cxn>
                  </a:cxnLst>
                  <a:rect l="txL" t="txT" r="txR" b="txB"/>
                  <a:pathLst>
                    <a:path w="100" h="1">
                      <a:moveTo>
                        <a:pt x="0" y="0"/>
                      </a:moveTo>
                      <a:lnTo>
                        <a:pt x="100" y="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00" name="Freeform 97"/>
                <p:cNvSpPr/>
                <p:nvPr/>
              </p:nvSpPr>
              <p:spPr>
                <a:xfrm>
                  <a:off x="3359" y="2353"/>
                  <a:ext cx="108" cy="1"/>
                </a:xfrm>
                <a:custGeom>
                  <a:avLst/>
                  <a:gdLst>
                    <a:gd name="txL" fmla="*/ 0 w 108"/>
                    <a:gd name="txT" fmla="*/ 0 h 1"/>
                    <a:gd name="txR" fmla="*/ 108 w 108"/>
                    <a:gd name="txB" fmla="*/ 1 h 1"/>
                  </a:gdLst>
                  <a:ahLst/>
                  <a:cxnLst>
                    <a:cxn ang="0">
                      <a:pos x="108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08" h="1">
                      <a:moveTo>
                        <a:pt x="108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01" name="Line 98"/>
                <p:cNvSpPr/>
                <p:nvPr/>
              </p:nvSpPr>
              <p:spPr>
                <a:xfrm rot="5400000">
                  <a:off x="4205" y="2698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902" name="Line 99"/>
                <p:cNvSpPr/>
                <p:nvPr/>
              </p:nvSpPr>
              <p:spPr>
                <a:xfrm rot="5400000">
                  <a:off x="4188" y="2696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903" name="Freeform 100"/>
                <p:cNvSpPr/>
                <p:nvPr/>
              </p:nvSpPr>
              <p:spPr>
                <a:xfrm>
                  <a:off x="4140" y="2695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04" name="Line 101"/>
                <p:cNvSpPr/>
                <p:nvPr/>
              </p:nvSpPr>
              <p:spPr>
                <a:xfrm rot="-5400000">
                  <a:off x="4013" y="2698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905" name="Line 102"/>
                <p:cNvSpPr/>
                <p:nvPr/>
              </p:nvSpPr>
              <p:spPr>
                <a:xfrm rot="-5400000">
                  <a:off x="4092" y="2700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906" name="Freeform 103"/>
                <p:cNvSpPr/>
                <p:nvPr/>
              </p:nvSpPr>
              <p:spPr>
                <a:xfrm>
                  <a:off x="4336" y="2351"/>
                  <a:ext cx="90" cy="2"/>
                </a:xfrm>
                <a:custGeom>
                  <a:avLst/>
                  <a:gdLst>
                    <a:gd name="txL" fmla="*/ 0 w 90"/>
                    <a:gd name="txT" fmla="*/ 0 h 2"/>
                    <a:gd name="txR" fmla="*/ 90 w 90"/>
                    <a:gd name="txB" fmla="*/ 2 h 2"/>
                  </a:gdLst>
                  <a:ahLst/>
                  <a:cxnLst>
                    <a:cxn ang="0">
                      <a:pos x="0" y="0"/>
                    </a:cxn>
                    <a:cxn ang="0">
                      <a:pos x="90" y="2"/>
                    </a:cxn>
                  </a:cxnLst>
                  <a:rect l="txL" t="txT" r="txR" b="txB"/>
                  <a:pathLst>
                    <a:path w="90" h="2">
                      <a:moveTo>
                        <a:pt x="0" y="0"/>
                      </a:moveTo>
                      <a:lnTo>
                        <a:pt x="90" y="2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07" name="Freeform 104"/>
                <p:cNvSpPr/>
                <p:nvPr/>
              </p:nvSpPr>
              <p:spPr>
                <a:xfrm>
                  <a:off x="3935" y="2353"/>
                  <a:ext cx="104" cy="1"/>
                </a:xfrm>
                <a:custGeom>
                  <a:avLst/>
                  <a:gdLst>
                    <a:gd name="txL" fmla="*/ 0 w 104"/>
                    <a:gd name="txT" fmla="*/ 0 h 1"/>
                    <a:gd name="txR" fmla="*/ 104 w 104"/>
                    <a:gd name="txB" fmla="*/ 1 h 1"/>
                  </a:gdLst>
                  <a:ahLst/>
                  <a:cxnLst>
                    <a:cxn ang="0">
                      <a:pos x="104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04" h="1">
                      <a:moveTo>
                        <a:pt x="104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5908" name="Group 105"/>
                <p:cNvGrpSpPr/>
                <p:nvPr/>
              </p:nvGrpSpPr>
              <p:grpSpPr>
                <a:xfrm>
                  <a:off x="4668" y="2634"/>
                  <a:ext cx="192" cy="158"/>
                  <a:chOff x="4692" y="2634"/>
                  <a:chExt cx="192" cy="158"/>
                </a:xfrm>
              </p:grpSpPr>
              <p:grpSp>
                <p:nvGrpSpPr>
                  <p:cNvPr id="286048" name="Group 106"/>
                  <p:cNvGrpSpPr/>
                  <p:nvPr/>
                </p:nvGrpSpPr>
                <p:grpSpPr>
                  <a:xfrm>
                    <a:off x="4836" y="2634"/>
                    <a:ext cx="48" cy="158"/>
                    <a:chOff x="4836" y="2634"/>
                    <a:chExt cx="48" cy="158"/>
                  </a:xfrm>
                </p:grpSpPr>
                <p:sp>
                  <p:nvSpPr>
                    <p:cNvPr id="286053" name="Line 107"/>
                    <p:cNvSpPr/>
                    <p:nvPr/>
                  </p:nvSpPr>
                  <p:spPr>
                    <a:xfrm rot="5400000">
                      <a:off x="4805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054" name="Line 108"/>
                    <p:cNvSpPr/>
                    <p:nvPr/>
                  </p:nvSpPr>
                  <p:spPr>
                    <a:xfrm rot="5400000">
                      <a:off x="4788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6049" name="Freeform 109"/>
                  <p:cNvSpPr/>
                  <p:nvPr/>
                </p:nvSpPr>
                <p:spPr>
                  <a:xfrm>
                    <a:off x="4740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6050" name="Group 110"/>
                  <p:cNvGrpSpPr/>
                  <p:nvPr/>
                </p:nvGrpSpPr>
                <p:grpSpPr>
                  <a:xfrm>
                    <a:off x="4692" y="2634"/>
                    <a:ext cx="48" cy="158"/>
                    <a:chOff x="4692" y="2634"/>
                    <a:chExt cx="48" cy="158"/>
                  </a:xfrm>
                </p:grpSpPr>
                <p:sp>
                  <p:nvSpPr>
                    <p:cNvPr id="286051" name="Line 111"/>
                    <p:cNvSpPr/>
                    <p:nvPr/>
                  </p:nvSpPr>
                  <p:spPr>
                    <a:xfrm rot="-5400000">
                      <a:off x="4613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052" name="Line 112"/>
                    <p:cNvSpPr/>
                    <p:nvPr/>
                  </p:nvSpPr>
                  <p:spPr>
                    <a:xfrm rot="-5400000">
                      <a:off x="4692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285909" name="Freeform 113"/>
                <p:cNvSpPr/>
                <p:nvPr/>
              </p:nvSpPr>
              <p:spPr>
                <a:xfrm>
                  <a:off x="4890" y="2353"/>
                  <a:ext cx="107" cy="1"/>
                </a:xfrm>
                <a:custGeom>
                  <a:avLst/>
                  <a:gdLst>
                    <a:gd name="txL" fmla="*/ 0 w 107"/>
                    <a:gd name="txT" fmla="*/ 0 h 1"/>
                    <a:gd name="txR" fmla="*/ 107 w 107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07" y="0"/>
                    </a:cxn>
                  </a:cxnLst>
                  <a:rect l="txL" t="txT" r="txR" b="txB"/>
                  <a:pathLst>
                    <a:path w="107" h="1">
                      <a:moveTo>
                        <a:pt x="0" y="0"/>
                      </a:moveTo>
                      <a:lnTo>
                        <a:pt x="107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10" name="Freeform 114"/>
                <p:cNvSpPr/>
                <p:nvPr/>
              </p:nvSpPr>
              <p:spPr>
                <a:xfrm>
                  <a:off x="4511" y="2353"/>
                  <a:ext cx="96" cy="1"/>
                </a:xfrm>
                <a:custGeom>
                  <a:avLst/>
                  <a:gdLst>
                    <a:gd name="txL" fmla="*/ 0 w 96"/>
                    <a:gd name="txT" fmla="*/ 0 h 1"/>
                    <a:gd name="txR" fmla="*/ 96 w 96"/>
                    <a:gd name="txB" fmla="*/ 1 h 1"/>
                  </a:gdLst>
                  <a:ahLst/>
                  <a:cxnLst>
                    <a:cxn ang="0">
                      <a:pos x="96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96" h="1">
                      <a:moveTo>
                        <a:pt x="9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5911" name="Group 115"/>
                <p:cNvGrpSpPr/>
                <p:nvPr/>
              </p:nvGrpSpPr>
              <p:grpSpPr>
                <a:xfrm>
                  <a:off x="5235" y="2634"/>
                  <a:ext cx="192" cy="158"/>
                  <a:chOff x="5259" y="2634"/>
                  <a:chExt cx="192" cy="158"/>
                </a:xfrm>
              </p:grpSpPr>
              <p:grpSp>
                <p:nvGrpSpPr>
                  <p:cNvPr id="286041" name="Group 116"/>
                  <p:cNvGrpSpPr/>
                  <p:nvPr/>
                </p:nvGrpSpPr>
                <p:grpSpPr>
                  <a:xfrm>
                    <a:off x="5403" y="2634"/>
                    <a:ext cx="48" cy="158"/>
                    <a:chOff x="5403" y="2634"/>
                    <a:chExt cx="48" cy="158"/>
                  </a:xfrm>
                </p:grpSpPr>
                <p:sp>
                  <p:nvSpPr>
                    <p:cNvPr id="286046" name="Line 117"/>
                    <p:cNvSpPr/>
                    <p:nvPr/>
                  </p:nvSpPr>
                  <p:spPr>
                    <a:xfrm rot="5400000">
                      <a:off x="5372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047" name="Line 118"/>
                    <p:cNvSpPr/>
                    <p:nvPr/>
                  </p:nvSpPr>
                  <p:spPr>
                    <a:xfrm rot="5400000">
                      <a:off x="5355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6042" name="Freeform 119"/>
                  <p:cNvSpPr/>
                  <p:nvPr/>
                </p:nvSpPr>
                <p:spPr>
                  <a:xfrm>
                    <a:off x="5307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6043" name="Group 120"/>
                  <p:cNvGrpSpPr/>
                  <p:nvPr/>
                </p:nvGrpSpPr>
                <p:grpSpPr>
                  <a:xfrm>
                    <a:off x="5259" y="2634"/>
                    <a:ext cx="48" cy="158"/>
                    <a:chOff x="5259" y="2634"/>
                    <a:chExt cx="48" cy="158"/>
                  </a:xfrm>
                </p:grpSpPr>
                <p:sp>
                  <p:nvSpPr>
                    <p:cNvPr id="286044" name="Line 121"/>
                    <p:cNvSpPr/>
                    <p:nvPr/>
                  </p:nvSpPr>
                  <p:spPr>
                    <a:xfrm rot="-5400000">
                      <a:off x="5180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045" name="Line 122"/>
                    <p:cNvSpPr/>
                    <p:nvPr/>
                  </p:nvSpPr>
                  <p:spPr>
                    <a:xfrm rot="-5400000">
                      <a:off x="5259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285912" name="Freeform 123"/>
                <p:cNvSpPr/>
                <p:nvPr/>
              </p:nvSpPr>
              <p:spPr>
                <a:xfrm>
                  <a:off x="5467" y="2351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0"/>
                    </a:cxn>
                    <a:cxn ang="0">
                      <a:pos x="96" y="2"/>
                    </a:cxn>
                  </a:cxnLst>
                  <a:rect l="txL" t="txT" r="txR" b="txB"/>
                  <a:pathLst>
                    <a:path w="96" h="2">
                      <a:moveTo>
                        <a:pt x="0" y="0"/>
                      </a:moveTo>
                      <a:lnTo>
                        <a:pt x="96" y="2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13" name="Freeform 124"/>
                <p:cNvSpPr/>
                <p:nvPr/>
              </p:nvSpPr>
              <p:spPr>
                <a:xfrm>
                  <a:off x="5078" y="2353"/>
                  <a:ext cx="101" cy="1"/>
                </a:xfrm>
                <a:custGeom>
                  <a:avLst/>
                  <a:gdLst>
                    <a:gd name="txL" fmla="*/ 0 w 101"/>
                    <a:gd name="txT" fmla="*/ 0 h 1"/>
                    <a:gd name="txR" fmla="*/ 101 w 101"/>
                    <a:gd name="txB" fmla="*/ 1 h 1"/>
                  </a:gdLst>
                  <a:ahLst/>
                  <a:cxnLst>
                    <a:cxn ang="0">
                      <a:pos x="101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01" h="1">
                      <a:moveTo>
                        <a:pt x="101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14" name="Freeform 125"/>
                <p:cNvSpPr/>
                <p:nvPr/>
              </p:nvSpPr>
              <p:spPr>
                <a:xfrm>
                  <a:off x="908" y="856"/>
                  <a:ext cx="4419" cy="1"/>
                </a:xfrm>
                <a:custGeom>
                  <a:avLst/>
                  <a:gdLst>
                    <a:gd name="txL" fmla="*/ 0 w 4419"/>
                    <a:gd name="txT" fmla="*/ 0 h 1"/>
                    <a:gd name="txR" fmla="*/ 4419 w 4419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9" y="0"/>
                    </a:cxn>
                  </a:cxnLst>
                  <a:rect l="txL" t="txT" r="txR" b="txB"/>
                  <a:pathLst>
                    <a:path w="4419" h="1">
                      <a:moveTo>
                        <a:pt x="0" y="1"/>
                      </a:moveTo>
                      <a:lnTo>
                        <a:pt x="4419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15" name="Line 126"/>
                <p:cNvSpPr/>
                <p:nvPr/>
              </p:nvSpPr>
              <p:spPr>
                <a:xfrm>
                  <a:off x="1292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16" name="Line 127"/>
                <p:cNvSpPr/>
                <p:nvPr/>
              </p:nvSpPr>
              <p:spPr>
                <a:xfrm>
                  <a:off x="1868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17" name="Line 128"/>
                <p:cNvSpPr/>
                <p:nvPr/>
              </p:nvSpPr>
              <p:spPr>
                <a:xfrm>
                  <a:off x="2444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18" name="Line 129"/>
                <p:cNvSpPr/>
                <p:nvPr/>
              </p:nvSpPr>
              <p:spPr>
                <a:xfrm>
                  <a:off x="3020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19" name="Line 130"/>
                <p:cNvSpPr/>
                <p:nvPr/>
              </p:nvSpPr>
              <p:spPr>
                <a:xfrm>
                  <a:off x="3596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20" name="Line 131"/>
                <p:cNvSpPr/>
                <p:nvPr/>
              </p:nvSpPr>
              <p:spPr>
                <a:xfrm>
                  <a:off x="4172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21" name="Line 132"/>
                <p:cNvSpPr/>
                <p:nvPr/>
              </p:nvSpPr>
              <p:spPr>
                <a:xfrm>
                  <a:off x="4748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22" name="Line 133"/>
                <p:cNvSpPr/>
                <p:nvPr/>
              </p:nvSpPr>
              <p:spPr>
                <a:xfrm>
                  <a:off x="5324" y="8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med" len="med"/>
                </a:ln>
              </p:spPr>
            </p:sp>
            <p:sp>
              <p:nvSpPr>
                <p:cNvPr id="285923" name="Freeform 134"/>
                <p:cNvSpPr/>
                <p:nvPr/>
              </p:nvSpPr>
              <p:spPr>
                <a:xfrm>
                  <a:off x="1305" y="2708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1" y="0"/>
                    </a:cxn>
                    <a:cxn ang="0">
                      <a:pos x="0" y="166"/>
                    </a:cxn>
                  </a:cxnLst>
                  <a:rect l="txL" t="txT" r="txR" b="txB"/>
                  <a:pathLst>
                    <a:path w="1" h="166">
                      <a:moveTo>
                        <a:pt x="1" y="0"/>
                      </a:moveTo>
                      <a:lnTo>
                        <a:pt x="0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24" name="Freeform 135"/>
                <p:cNvSpPr/>
                <p:nvPr/>
              </p:nvSpPr>
              <p:spPr>
                <a:xfrm>
                  <a:off x="1880" y="2708"/>
                  <a:ext cx="47" cy="501"/>
                </a:xfrm>
                <a:custGeom>
                  <a:avLst/>
                  <a:gdLst>
                    <a:gd name="txL" fmla="*/ 0 w 1"/>
                    <a:gd name="txT" fmla="*/ 0 h 406"/>
                    <a:gd name="txR" fmla="*/ 1 w 1"/>
                    <a:gd name="txB" fmla="*/ 406 h 406"/>
                  </a:gdLst>
                  <a:ahLst/>
                  <a:cxnLst>
                    <a:cxn ang="0">
                      <a:pos x="0" y="0"/>
                    </a:cxn>
                    <a:cxn ang="0">
                      <a:pos x="0" y="406"/>
                    </a:cxn>
                  </a:cxnLst>
                  <a:rect l="txL" t="txT" r="txR" b="txB"/>
                  <a:pathLst>
                    <a:path w="1" h="406">
                      <a:moveTo>
                        <a:pt x="0" y="0"/>
                      </a:moveTo>
                      <a:lnTo>
                        <a:pt x="0" y="40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25" name="Freeform 136"/>
                <p:cNvSpPr/>
                <p:nvPr/>
              </p:nvSpPr>
              <p:spPr>
                <a:xfrm>
                  <a:off x="2454" y="2708"/>
                  <a:ext cx="4" cy="166"/>
                </a:xfrm>
                <a:custGeom>
                  <a:avLst/>
                  <a:gdLst>
                    <a:gd name="txL" fmla="*/ 0 w 4"/>
                    <a:gd name="txT" fmla="*/ 0 h 166"/>
                    <a:gd name="txR" fmla="*/ 4 w 4"/>
                    <a:gd name="txB" fmla="*/ 166 h 166"/>
                  </a:gdLst>
                  <a:ahLst/>
                  <a:cxnLst>
                    <a:cxn ang="0">
                      <a:pos x="4" y="0"/>
                    </a:cxn>
                    <a:cxn ang="0">
                      <a:pos x="0" y="166"/>
                    </a:cxn>
                  </a:cxnLst>
                  <a:rect l="txL" t="txT" r="txR" b="txB"/>
                  <a:pathLst>
                    <a:path w="4" h="166">
                      <a:moveTo>
                        <a:pt x="4" y="0"/>
                      </a:moveTo>
                      <a:lnTo>
                        <a:pt x="0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26" name="Freeform 137"/>
                <p:cNvSpPr/>
                <p:nvPr/>
              </p:nvSpPr>
              <p:spPr>
                <a:xfrm>
                  <a:off x="3606" y="2708"/>
                  <a:ext cx="2" cy="175"/>
                </a:xfrm>
                <a:custGeom>
                  <a:avLst/>
                  <a:gdLst>
                    <a:gd name="txL" fmla="*/ 0 w 2"/>
                    <a:gd name="txT" fmla="*/ 0 h 175"/>
                    <a:gd name="txR" fmla="*/ 2 w 2"/>
                    <a:gd name="txB" fmla="*/ 175 h 175"/>
                  </a:gdLst>
                  <a:ahLst/>
                  <a:cxnLst>
                    <a:cxn ang="0">
                      <a:pos x="2" y="0"/>
                    </a:cxn>
                    <a:cxn ang="0">
                      <a:pos x="0" y="175"/>
                    </a:cxn>
                  </a:cxnLst>
                  <a:rect l="txL" t="txT" r="txR" b="txB"/>
                  <a:pathLst>
                    <a:path w="2" h="175">
                      <a:moveTo>
                        <a:pt x="2" y="0"/>
                      </a:moveTo>
                      <a:lnTo>
                        <a:pt x="0" y="17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27" name="Freeform 138"/>
                <p:cNvSpPr/>
                <p:nvPr/>
              </p:nvSpPr>
              <p:spPr>
                <a:xfrm>
                  <a:off x="4760" y="2697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28" name="Freeform 139"/>
                <p:cNvSpPr/>
                <p:nvPr/>
              </p:nvSpPr>
              <p:spPr>
                <a:xfrm>
                  <a:off x="908" y="1480"/>
                  <a:ext cx="4422" cy="1"/>
                </a:xfrm>
                <a:custGeom>
                  <a:avLst/>
                  <a:gdLst>
                    <a:gd name="txL" fmla="*/ 0 w 4422"/>
                    <a:gd name="txT" fmla="*/ 0 h 1"/>
                    <a:gd name="txR" fmla="*/ 4422 w 4422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22" y="0"/>
                    </a:cxn>
                  </a:cxnLst>
                  <a:rect l="txL" t="txT" r="txR" b="txB"/>
                  <a:pathLst>
                    <a:path w="4422" h="1">
                      <a:moveTo>
                        <a:pt x="0" y="1"/>
                      </a:moveTo>
                      <a:lnTo>
                        <a:pt x="4422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29" name="Line 140"/>
                <p:cNvSpPr/>
                <p:nvPr/>
              </p:nvSpPr>
              <p:spPr>
                <a:xfrm>
                  <a:off x="1292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30" name="Line 141"/>
                <p:cNvSpPr/>
                <p:nvPr/>
              </p:nvSpPr>
              <p:spPr>
                <a:xfrm>
                  <a:off x="1868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31" name="Line 142"/>
                <p:cNvSpPr/>
                <p:nvPr/>
              </p:nvSpPr>
              <p:spPr>
                <a:xfrm>
                  <a:off x="2444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32" name="Line 143"/>
                <p:cNvSpPr/>
                <p:nvPr/>
              </p:nvSpPr>
              <p:spPr>
                <a:xfrm>
                  <a:off x="3020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33" name="Line 144"/>
                <p:cNvSpPr/>
                <p:nvPr/>
              </p:nvSpPr>
              <p:spPr>
                <a:xfrm>
                  <a:off x="3596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34" name="Line 145"/>
                <p:cNvSpPr/>
                <p:nvPr/>
              </p:nvSpPr>
              <p:spPr>
                <a:xfrm>
                  <a:off x="4172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35" name="Line 146"/>
                <p:cNvSpPr/>
                <p:nvPr/>
              </p:nvSpPr>
              <p:spPr>
                <a:xfrm>
                  <a:off x="4748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36" name="Line 147"/>
                <p:cNvSpPr/>
                <p:nvPr/>
              </p:nvSpPr>
              <p:spPr>
                <a:xfrm>
                  <a:off x="5324" y="14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med" len="med"/>
                </a:ln>
              </p:spPr>
            </p:sp>
            <p:sp>
              <p:nvSpPr>
                <p:cNvPr id="285937" name="Freeform 148"/>
                <p:cNvSpPr/>
                <p:nvPr/>
              </p:nvSpPr>
              <p:spPr>
                <a:xfrm>
                  <a:off x="908" y="2056"/>
                  <a:ext cx="4418" cy="1"/>
                </a:xfrm>
                <a:custGeom>
                  <a:avLst/>
                  <a:gdLst>
                    <a:gd name="txL" fmla="*/ 0 w 4418"/>
                    <a:gd name="txT" fmla="*/ 0 h 1"/>
                    <a:gd name="txR" fmla="*/ 4418 w 4418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8" y="0"/>
                    </a:cxn>
                  </a:cxnLst>
                  <a:rect l="txL" t="txT" r="txR" b="txB"/>
                  <a:pathLst>
                    <a:path w="4418" h="1">
                      <a:moveTo>
                        <a:pt x="0" y="1"/>
                      </a:moveTo>
                      <a:lnTo>
                        <a:pt x="4418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38" name="Line 149"/>
                <p:cNvSpPr/>
                <p:nvPr/>
              </p:nvSpPr>
              <p:spPr>
                <a:xfrm>
                  <a:off x="1292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39" name="Line 150"/>
                <p:cNvSpPr/>
                <p:nvPr/>
              </p:nvSpPr>
              <p:spPr>
                <a:xfrm>
                  <a:off x="1868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40" name="Line 151"/>
                <p:cNvSpPr/>
                <p:nvPr/>
              </p:nvSpPr>
              <p:spPr>
                <a:xfrm>
                  <a:off x="2444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41" name="Line 152"/>
                <p:cNvSpPr/>
                <p:nvPr/>
              </p:nvSpPr>
              <p:spPr>
                <a:xfrm>
                  <a:off x="3020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42" name="Line 153"/>
                <p:cNvSpPr/>
                <p:nvPr/>
              </p:nvSpPr>
              <p:spPr>
                <a:xfrm>
                  <a:off x="3596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43" name="Line 154"/>
                <p:cNvSpPr/>
                <p:nvPr/>
              </p:nvSpPr>
              <p:spPr>
                <a:xfrm>
                  <a:off x="4172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44" name="Line 155"/>
                <p:cNvSpPr/>
                <p:nvPr/>
              </p:nvSpPr>
              <p:spPr>
                <a:xfrm>
                  <a:off x="4748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oval" w="sm" len="sm"/>
                  <a:tailEnd type="none" w="med" len="med"/>
                </a:ln>
              </p:spPr>
            </p:sp>
            <p:sp>
              <p:nvSpPr>
                <p:cNvPr id="285945" name="Line 156"/>
                <p:cNvSpPr/>
                <p:nvPr/>
              </p:nvSpPr>
              <p:spPr>
                <a:xfrm>
                  <a:off x="5324" y="2057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sm" len="sm"/>
                  <a:tailEnd type="none" w="med" len="med"/>
                </a:ln>
              </p:spPr>
            </p:sp>
            <p:sp>
              <p:nvSpPr>
                <p:cNvPr id="285946" name="Freeform 157"/>
                <p:cNvSpPr/>
                <p:nvPr/>
              </p:nvSpPr>
              <p:spPr>
                <a:xfrm>
                  <a:off x="909" y="2879"/>
                  <a:ext cx="3860" cy="1"/>
                </a:xfrm>
                <a:custGeom>
                  <a:avLst/>
                  <a:gdLst>
                    <a:gd name="txL" fmla="*/ 0 w 3860"/>
                    <a:gd name="txT" fmla="*/ 0 h 1"/>
                    <a:gd name="txR" fmla="*/ 3860 w 3860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3860" y="0"/>
                    </a:cxn>
                  </a:cxnLst>
                  <a:rect l="txL" t="txT" r="txR" b="txB"/>
                  <a:pathLst>
                    <a:path w="3860" h="1">
                      <a:moveTo>
                        <a:pt x="0" y="1"/>
                      </a:moveTo>
                      <a:lnTo>
                        <a:pt x="386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47" name="Freeform 158"/>
                <p:cNvSpPr/>
                <p:nvPr/>
              </p:nvSpPr>
              <p:spPr>
                <a:xfrm>
                  <a:off x="912" y="3209"/>
                  <a:ext cx="4418" cy="1"/>
                </a:xfrm>
                <a:custGeom>
                  <a:avLst/>
                  <a:gdLst>
                    <a:gd name="txL" fmla="*/ 0 w 4418"/>
                    <a:gd name="txT" fmla="*/ 0 h 1"/>
                    <a:gd name="txR" fmla="*/ 4418 w 4418"/>
                    <a:gd name="txB" fmla="*/ 1 h 1"/>
                  </a:gdLst>
                  <a:ahLst/>
                  <a:cxnLst>
                    <a:cxn ang="0">
                      <a:pos x="0" y="1"/>
                    </a:cxn>
                    <a:cxn ang="0">
                      <a:pos x="4418" y="0"/>
                    </a:cxn>
                  </a:cxnLst>
                  <a:rect l="txL" t="txT" r="txR" b="txB"/>
                  <a:pathLst>
                    <a:path w="4418" h="1">
                      <a:moveTo>
                        <a:pt x="0" y="1"/>
                      </a:moveTo>
                      <a:lnTo>
                        <a:pt x="4418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48" name="Rectangle 159"/>
                <p:cNvSpPr/>
                <p:nvPr/>
              </p:nvSpPr>
              <p:spPr>
                <a:xfrm>
                  <a:off x="1141" y="3597"/>
                  <a:ext cx="823" cy="232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49" name="Text Box 160"/>
                <p:cNvSpPr txBox="1"/>
                <p:nvPr/>
              </p:nvSpPr>
              <p:spPr>
                <a:xfrm>
                  <a:off x="1172" y="3576"/>
                  <a:ext cx="75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950" name="Freeform 161"/>
                <p:cNvSpPr/>
                <p:nvPr/>
              </p:nvSpPr>
              <p:spPr>
                <a:xfrm>
                  <a:off x="1402" y="1211"/>
                  <a:ext cx="145" cy="1466"/>
                </a:xfrm>
                <a:custGeom>
                  <a:avLst/>
                  <a:gdLst>
                    <a:gd name="txL" fmla="*/ 0 w 145"/>
                    <a:gd name="txT" fmla="*/ 0 h 1466"/>
                    <a:gd name="txR" fmla="*/ 145 w 145"/>
                    <a:gd name="txB" fmla="*/ 1466 h 1466"/>
                  </a:gdLst>
                  <a:ahLst/>
                  <a:cxnLst>
                    <a:cxn ang="0">
                      <a:pos x="37" y="0"/>
                    </a:cxn>
                    <a:cxn ang="0">
                      <a:pos x="145" y="0"/>
                    </a:cxn>
                    <a:cxn ang="0">
                      <a:pos x="144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5" h="1466">
                      <a:moveTo>
                        <a:pt x="37" y="0"/>
                      </a:moveTo>
                      <a:lnTo>
                        <a:pt x="145" y="0"/>
                      </a:lnTo>
                      <a:lnTo>
                        <a:pt x="144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51" name="Freeform 162"/>
                <p:cNvSpPr/>
                <p:nvPr/>
              </p:nvSpPr>
              <p:spPr>
                <a:xfrm>
                  <a:off x="1613" y="1211"/>
                  <a:ext cx="169" cy="1469"/>
                </a:xfrm>
                <a:custGeom>
                  <a:avLst/>
                  <a:gdLst>
                    <a:gd name="txL" fmla="*/ 0 w 169"/>
                    <a:gd name="txT" fmla="*/ 0 h 1469"/>
                    <a:gd name="txR" fmla="*/ 169 w 169"/>
                    <a:gd name="txB" fmla="*/ 1469 h 1469"/>
                  </a:gdLst>
                  <a:ahLst/>
                  <a:cxnLst>
                    <a:cxn ang="0">
                      <a:pos x="169" y="1468"/>
                    </a:cxn>
                    <a:cxn ang="0">
                      <a:pos x="0" y="1469"/>
                    </a:cxn>
                    <a:cxn ang="0">
                      <a:pos x="1" y="0"/>
                    </a:cxn>
                    <a:cxn ang="0">
                      <a:pos x="105" y="0"/>
                    </a:cxn>
                  </a:cxnLst>
                  <a:rect l="txL" t="txT" r="txR" b="txB"/>
                  <a:pathLst>
                    <a:path w="169" h="1469">
                      <a:moveTo>
                        <a:pt x="169" y="1468"/>
                      </a:moveTo>
                      <a:lnTo>
                        <a:pt x="0" y="1469"/>
                      </a:lnTo>
                      <a:lnTo>
                        <a:pt x="1" y="0"/>
                      </a:lnTo>
                      <a:lnTo>
                        <a:pt x="105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52" name="Freeform 163"/>
                <p:cNvSpPr/>
                <p:nvPr/>
              </p:nvSpPr>
              <p:spPr>
                <a:xfrm>
                  <a:off x="1967" y="1211"/>
                  <a:ext cx="141" cy="1466"/>
                </a:xfrm>
                <a:custGeom>
                  <a:avLst/>
                  <a:gdLst>
                    <a:gd name="txL" fmla="*/ 0 w 141"/>
                    <a:gd name="txT" fmla="*/ 0 h 1466"/>
                    <a:gd name="txR" fmla="*/ 141 w 141"/>
                    <a:gd name="txB" fmla="*/ 1466 h 1466"/>
                  </a:gdLst>
                  <a:ahLst/>
                  <a:cxnLst>
                    <a:cxn ang="0">
                      <a:pos x="38" y="0"/>
                    </a:cxn>
                    <a:cxn ang="0">
                      <a:pos x="141" y="0"/>
                    </a:cxn>
                    <a:cxn ang="0">
                      <a:pos x="140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1" h="1466">
                      <a:moveTo>
                        <a:pt x="38" y="0"/>
                      </a:moveTo>
                      <a:lnTo>
                        <a:pt x="141" y="0"/>
                      </a:lnTo>
                      <a:lnTo>
                        <a:pt x="140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53" name="Freeform 164"/>
                <p:cNvSpPr/>
                <p:nvPr/>
              </p:nvSpPr>
              <p:spPr>
                <a:xfrm>
                  <a:off x="2208" y="1211"/>
                  <a:ext cx="155" cy="1467"/>
                </a:xfrm>
                <a:custGeom>
                  <a:avLst/>
                  <a:gdLst>
                    <a:gd name="txL" fmla="*/ 0 w 155"/>
                    <a:gd name="txT" fmla="*/ 0 h 1467"/>
                    <a:gd name="txR" fmla="*/ 155 w 155"/>
                    <a:gd name="txB" fmla="*/ 1467 h 1467"/>
                  </a:gdLst>
                  <a:ahLst/>
                  <a:cxnLst>
                    <a:cxn ang="0">
                      <a:pos x="155" y="1467"/>
                    </a:cxn>
                    <a:cxn ang="0">
                      <a:pos x="3" y="1467"/>
                    </a:cxn>
                    <a:cxn ang="0">
                      <a:pos x="0" y="1"/>
                    </a:cxn>
                    <a:cxn ang="0">
                      <a:pos x="89" y="0"/>
                    </a:cxn>
                  </a:cxnLst>
                  <a:rect l="txL" t="txT" r="txR" b="txB"/>
                  <a:pathLst>
                    <a:path w="155" h="1467">
                      <a:moveTo>
                        <a:pt x="155" y="1467"/>
                      </a:moveTo>
                      <a:lnTo>
                        <a:pt x="3" y="1467"/>
                      </a:lnTo>
                      <a:lnTo>
                        <a:pt x="0" y="1"/>
                      </a:lnTo>
                      <a:lnTo>
                        <a:pt x="89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54" name="Freeform 165"/>
                <p:cNvSpPr/>
                <p:nvPr/>
              </p:nvSpPr>
              <p:spPr>
                <a:xfrm>
                  <a:off x="2557" y="1211"/>
                  <a:ext cx="142" cy="1466"/>
                </a:xfrm>
                <a:custGeom>
                  <a:avLst/>
                  <a:gdLst>
                    <a:gd name="txL" fmla="*/ 0 w 142"/>
                    <a:gd name="txT" fmla="*/ 0 h 1466"/>
                    <a:gd name="txR" fmla="*/ 142 w 142"/>
                    <a:gd name="txB" fmla="*/ 1466 h 1466"/>
                  </a:gdLst>
                  <a:ahLst/>
                  <a:cxnLst>
                    <a:cxn ang="0">
                      <a:pos x="34" y="0"/>
                    </a:cxn>
                    <a:cxn ang="0">
                      <a:pos x="142" y="0"/>
                    </a:cxn>
                    <a:cxn ang="0">
                      <a:pos x="141" y="1466"/>
                    </a:cxn>
                    <a:cxn ang="0">
                      <a:pos x="0" y="1464"/>
                    </a:cxn>
                  </a:cxnLst>
                  <a:rect l="txL" t="txT" r="txR" b="txB"/>
                  <a:pathLst>
                    <a:path w="142" h="1466">
                      <a:moveTo>
                        <a:pt x="34" y="0"/>
                      </a:moveTo>
                      <a:lnTo>
                        <a:pt x="142" y="0"/>
                      </a:lnTo>
                      <a:lnTo>
                        <a:pt x="141" y="1466"/>
                      </a:lnTo>
                      <a:lnTo>
                        <a:pt x="0" y="1464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55" name="Freeform 166"/>
                <p:cNvSpPr/>
                <p:nvPr/>
              </p:nvSpPr>
              <p:spPr>
                <a:xfrm>
                  <a:off x="2787" y="1211"/>
                  <a:ext cx="152" cy="1467"/>
                </a:xfrm>
                <a:custGeom>
                  <a:avLst/>
                  <a:gdLst>
                    <a:gd name="txL" fmla="*/ 0 w 152"/>
                    <a:gd name="txT" fmla="*/ 0 h 1467"/>
                    <a:gd name="txR" fmla="*/ 152 w 152"/>
                    <a:gd name="txB" fmla="*/ 1467 h 1467"/>
                  </a:gdLst>
                  <a:ahLst/>
                  <a:cxnLst>
                    <a:cxn ang="0">
                      <a:pos x="152" y="1467"/>
                    </a:cxn>
                    <a:cxn ang="0">
                      <a:pos x="0" y="1467"/>
                    </a:cxn>
                    <a:cxn ang="0">
                      <a:pos x="0" y="1"/>
                    </a:cxn>
                    <a:cxn ang="0">
                      <a:pos x="77" y="0"/>
                    </a:cxn>
                  </a:cxnLst>
                  <a:rect l="txL" t="txT" r="txR" b="txB"/>
                  <a:pathLst>
                    <a:path w="152" h="1467">
                      <a:moveTo>
                        <a:pt x="152" y="1467"/>
                      </a:moveTo>
                      <a:lnTo>
                        <a:pt x="0" y="1467"/>
                      </a:lnTo>
                      <a:lnTo>
                        <a:pt x="0" y="1"/>
                      </a:lnTo>
                      <a:lnTo>
                        <a:pt x="77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56" name="Freeform 167"/>
                <p:cNvSpPr/>
                <p:nvPr/>
              </p:nvSpPr>
              <p:spPr>
                <a:xfrm>
                  <a:off x="3130" y="1211"/>
                  <a:ext cx="145" cy="1466"/>
                </a:xfrm>
                <a:custGeom>
                  <a:avLst/>
                  <a:gdLst>
                    <a:gd name="txL" fmla="*/ 0 w 145"/>
                    <a:gd name="txT" fmla="*/ 0 h 1466"/>
                    <a:gd name="txR" fmla="*/ 145 w 145"/>
                    <a:gd name="txB" fmla="*/ 1466 h 1466"/>
                  </a:gdLst>
                  <a:ahLst/>
                  <a:cxnLst>
                    <a:cxn ang="0">
                      <a:pos x="37" y="0"/>
                    </a:cxn>
                    <a:cxn ang="0">
                      <a:pos x="145" y="0"/>
                    </a:cxn>
                    <a:cxn ang="0">
                      <a:pos x="144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5" h="1466">
                      <a:moveTo>
                        <a:pt x="37" y="0"/>
                      </a:moveTo>
                      <a:lnTo>
                        <a:pt x="145" y="0"/>
                      </a:lnTo>
                      <a:lnTo>
                        <a:pt x="144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57" name="Freeform 168"/>
                <p:cNvSpPr/>
                <p:nvPr/>
              </p:nvSpPr>
              <p:spPr>
                <a:xfrm>
                  <a:off x="3360" y="1209"/>
                  <a:ext cx="155" cy="1469"/>
                </a:xfrm>
                <a:custGeom>
                  <a:avLst/>
                  <a:gdLst>
                    <a:gd name="txL" fmla="*/ 0 w 155"/>
                    <a:gd name="txT" fmla="*/ 0 h 1469"/>
                    <a:gd name="txR" fmla="*/ 155 w 155"/>
                    <a:gd name="txB" fmla="*/ 1469 h 1469"/>
                  </a:gdLst>
                  <a:ahLst/>
                  <a:cxnLst>
                    <a:cxn ang="0">
                      <a:pos x="155" y="1469"/>
                    </a:cxn>
                    <a:cxn ang="0">
                      <a:pos x="3" y="1469"/>
                    </a:cxn>
                    <a:cxn ang="0">
                      <a:pos x="0" y="0"/>
                    </a:cxn>
                    <a:cxn ang="0">
                      <a:pos x="103" y="2"/>
                    </a:cxn>
                  </a:cxnLst>
                  <a:rect l="txL" t="txT" r="txR" b="txB"/>
                  <a:pathLst>
                    <a:path w="155" h="1469">
                      <a:moveTo>
                        <a:pt x="155" y="1469"/>
                      </a:moveTo>
                      <a:lnTo>
                        <a:pt x="3" y="1469"/>
                      </a:lnTo>
                      <a:lnTo>
                        <a:pt x="0" y="0"/>
                      </a:lnTo>
                      <a:lnTo>
                        <a:pt x="103" y="2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58" name="Freeform 169"/>
                <p:cNvSpPr/>
                <p:nvPr/>
              </p:nvSpPr>
              <p:spPr>
                <a:xfrm>
                  <a:off x="3710" y="1211"/>
                  <a:ext cx="141" cy="1466"/>
                </a:xfrm>
                <a:custGeom>
                  <a:avLst/>
                  <a:gdLst>
                    <a:gd name="txL" fmla="*/ 0 w 141"/>
                    <a:gd name="txT" fmla="*/ 0 h 1466"/>
                    <a:gd name="txR" fmla="*/ 141 w 141"/>
                    <a:gd name="txB" fmla="*/ 1466 h 1466"/>
                  </a:gdLst>
                  <a:ahLst/>
                  <a:cxnLst>
                    <a:cxn ang="0">
                      <a:pos x="42" y="0"/>
                    </a:cxn>
                    <a:cxn ang="0">
                      <a:pos x="141" y="0"/>
                    </a:cxn>
                    <a:cxn ang="0">
                      <a:pos x="140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1" h="1466">
                      <a:moveTo>
                        <a:pt x="42" y="0"/>
                      </a:moveTo>
                      <a:lnTo>
                        <a:pt x="141" y="0"/>
                      </a:lnTo>
                      <a:lnTo>
                        <a:pt x="140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59" name="Freeform 170"/>
                <p:cNvSpPr/>
                <p:nvPr/>
              </p:nvSpPr>
              <p:spPr>
                <a:xfrm>
                  <a:off x="3939" y="1211"/>
                  <a:ext cx="152" cy="1467"/>
                </a:xfrm>
                <a:custGeom>
                  <a:avLst/>
                  <a:gdLst>
                    <a:gd name="txL" fmla="*/ 0 w 152"/>
                    <a:gd name="txT" fmla="*/ 0 h 1467"/>
                    <a:gd name="txR" fmla="*/ 152 w 152"/>
                    <a:gd name="txB" fmla="*/ 1467 h 1467"/>
                  </a:gdLst>
                  <a:ahLst/>
                  <a:cxnLst>
                    <a:cxn ang="0">
                      <a:pos x="152" y="1467"/>
                    </a:cxn>
                    <a:cxn ang="0">
                      <a:pos x="0" y="1467"/>
                    </a:cxn>
                    <a:cxn ang="0">
                      <a:pos x="0" y="1"/>
                    </a:cxn>
                    <a:cxn ang="0">
                      <a:pos x="103" y="0"/>
                    </a:cxn>
                  </a:cxnLst>
                  <a:rect l="txL" t="txT" r="txR" b="txB"/>
                  <a:pathLst>
                    <a:path w="152" h="1467">
                      <a:moveTo>
                        <a:pt x="152" y="1467"/>
                      </a:moveTo>
                      <a:lnTo>
                        <a:pt x="0" y="1467"/>
                      </a:lnTo>
                      <a:lnTo>
                        <a:pt x="0" y="1"/>
                      </a:lnTo>
                      <a:lnTo>
                        <a:pt x="103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60" name="Freeform 171"/>
                <p:cNvSpPr/>
                <p:nvPr/>
              </p:nvSpPr>
              <p:spPr>
                <a:xfrm>
                  <a:off x="4280" y="1211"/>
                  <a:ext cx="147" cy="1466"/>
                </a:xfrm>
                <a:custGeom>
                  <a:avLst/>
                  <a:gdLst>
                    <a:gd name="txL" fmla="*/ 0 w 147"/>
                    <a:gd name="txT" fmla="*/ 0 h 1466"/>
                    <a:gd name="txR" fmla="*/ 147 w 147"/>
                    <a:gd name="txB" fmla="*/ 1466 h 1466"/>
                  </a:gdLst>
                  <a:ahLst/>
                  <a:cxnLst>
                    <a:cxn ang="0">
                      <a:pos x="51" y="0"/>
                    </a:cxn>
                    <a:cxn ang="0">
                      <a:pos x="147" y="0"/>
                    </a:cxn>
                    <a:cxn ang="0">
                      <a:pos x="146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7" h="1466">
                      <a:moveTo>
                        <a:pt x="51" y="0"/>
                      </a:moveTo>
                      <a:lnTo>
                        <a:pt x="147" y="0"/>
                      </a:lnTo>
                      <a:lnTo>
                        <a:pt x="146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61" name="Freeform 172"/>
                <p:cNvSpPr/>
                <p:nvPr/>
              </p:nvSpPr>
              <p:spPr>
                <a:xfrm>
                  <a:off x="4509" y="1211"/>
                  <a:ext cx="158" cy="1467"/>
                </a:xfrm>
                <a:custGeom>
                  <a:avLst/>
                  <a:gdLst>
                    <a:gd name="txL" fmla="*/ 0 w 158"/>
                    <a:gd name="txT" fmla="*/ 0 h 1467"/>
                    <a:gd name="txR" fmla="*/ 158 w 158"/>
                    <a:gd name="txB" fmla="*/ 1467 h 1467"/>
                  </a:gdLst>
                  <a:ahLst/>
                  <a:cxnLst>
                    <a:cxn ang="0">
                      <a:pos x="158" y="1467"/>
                    </a:cxn>
                    <a:cxn ang="0">
                      <a:pos x="0" y="1467"/>
                    </a:cxn>
                    <a:cxn ang="0">
                      <a:pos x="0" y="0"/>
                    </a:cxn>
                    <a:cxn ang="0">
                      <a:pos x="95" y="0"/>
                    </a:cxn>
                  </a:cxnLst>
                  <a:rect l="txL" t="txT" r="txR" b="txB"/>
                  <a:pathLst>
                    <a:path w="158" h="1467">
                      <a:moveTo>
                        <a:pt x="158" y="1467"/>
                      </a:moveTo>
                      <a:lnTo>
                        <a:pt x="0" y="1467"/>
                      </a:lnTo>
                      <a:lnTo>
                        <a:pt x="0" y="0"/>
                      </a:lnTo>
                      <a:lnTo>
                        <a:pt x="95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62" name="Freeform 173"/>
                <p:cNvSpPr/>
                <p:nvPr/>
              </p:nvSpPr>
              <p:spPr>
                <a:xfrm>
                  <a:off x="4861" y="1211"/>
                  <a:ext cx="142" cy="1466"/>
                </a:xfrm>
                <a:custGeom>
                  <a:avLst/>
                  <a:gdLst>
                    <a:gd name="txL" fmla="*/ 0 w 142"/>
                    <a:gd name="txT" fmla="*/ 0 h 1466"/>
                    <a:gd name="txR" fmla="*/ 142 w 142"/>
                    <a:gd name="txB" fmla="*/ 1466 h 1466"/>
                  </a:gdLst>
                  <a:ahLst/>
                  <a:cxnLst>
                    <a:cxn ang="0">
                      <a:pos x="34" y="0"/>
                    </a:cxn>
                    <a:cxn ang="0">
                      <a:pos x="142" y="0"/>
                    </a:cxn>
                    <a:cxn ang="0">
                      <a:pos x="141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2" h="1466">
                      <a:moveTo>
                        <a:pt x="34" y="0"/>
                      </a:moveTo>
                      <a:lnTo>
                        <a:pt x="142" y="0"/>
                      </a:lnTo>
                      <a:lnTo>
                        <a:pt x="141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63" name="Freeform 174"/>
                <p:cNvSpPr/>
                <p:nvPr/>
              </p:nvSpPr>
              <p:spPr>
                <a:xfrm>
                  <a:off x="5069" y="1211"/>
                  <a:ext cx="159" cy="1469"/>
                </a:xfrm>
                <a:custGeom>
                  <a:avLst/>
                  <a:gdLst>
                    <a:gd name="txL" fmla="*/ 0 w 159"/>
                    <a:gd name="txT" fmla="*/ 0 h 1469"/>
                    <a:gd name="txR" fmla="*/ 159 w 159"/>
                    <a:gd name="txB" fmla="*/ 1469 h 1469"/>
                  </a:gdLst>
                  <a:ahLst/>
                  <a:cxnLst>
                    <a:cxn ang="0">
                      <a:pos x="159" y="1467"/>
                    </a:cxn>
                    <a:cxn ang="0">
                      <a:pos x="0" y="1469"/>
                    </a:cxn>
                    <a:cxn ang="0">
                      <a:pos x="1" y="0"/>
                    </a:cxn>
                    <a:cxn ang="0">
                      <a:pos x="104" y="0"/>
                    </a:cxn>
                  </a:cxnLst>
                  <a:rect l="txL" t="txT" r="txR" b="txB"/>
                  <a:pathLst>
                    <a:path w="159" h="1469">
                      <a:moveTo>
                        <a:pt x="159" y="1467"/>
                      </a:moveTo>
                      <a:lnTo>
                        <a:pt x="0" y="1469"/>
                      </a:lnTo>
                      <a:lnTo>
                        <a:pt x="1" y="0"/>
                      </a:lnTo>
                      <a:lnTo>
                        <a:pt x="104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64" name="Freeform 175"/>
                <p:cNvSpPr/>
                <p:nvPr/>
              </p:nvSpPr>
              <p:spPr>
                <a:xfrm>
                  <a:off x="5417" y="1211"/>
                  <a:ext cx="147" cy="1466"/>
                </a:xfrm>
                <a:custGeom>
                  <a:avLst/>
                  <a:gdLst>
                    <a:gd name="txL" fmla="*/ 0 w 147"/>
                    <a:gd name="txT" fmla="*/ 0 h 1466"/>
                    <a:gd name="txR" fmla="*/ 147 w 147"/>
                    <a:gd name="txB" fmla="*/ 1466 h 1466"/>
                  </a:gdLst>
                  <a:ahLst/>
                  <a:cxnLst>
                    <a:cxn ang="0">
                      <a:pos x="47" y="0"/>
                    </a:cxn>
                    <a:cxn ang="0">
                      <a:pos x="147" y="0"/>
                    </a:cxn>
                    <a:cxn ang="0">
                      <a:pos x="146" y="1466"/>
                    </a:cxn>
                    <a:cxn ang="0">
                      <a:pos x="0" y="1466"/>
                    </a:cxn>
                  </a:cxnLst>
                  <a:rect l="txL" t="txT" r="txR" b="txB"/>
                  <a:pathLst>
                    <a:path w="147" h="1466">
                      <a:moveTo>
                        <a:pt x="47" y="0"/>
                      </a:moveTo>
                      <a:lnTo>
                        <a:pt x="147" y="0"/>
                      </a:lnTo>
                      <a:lnTo>
                        <a:pt x="146" y="1466"/>
                      </a:lnTo>
                      <a:lnTo>
                        <a:pt x="0" y="14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65" name="Freeform 176"/>
                <p:cNvSpPr/>
                <p:nvPr/>
              </p:nvSpPr>
              <p:spPr>
                <a:xfrm>
                  <a:off x="1055" y="2738"/>
                  <a:ext cx="730" cy="660"/>
                </a:xfrm>
                <a:custGeom>
                  <a:avLst/>
                  <a:gdLst>
                    <a:gd name="txL" fmla="*/ 0 w 730"/>
                    <a:gd name="txT" fmla="*/ 0 h 660"/>
                    <a:gd name="txR" fmla="*/ 730 w 730"/>
                    <a:gd name="txB" fmla="*/ 660 h 660"/>
                  </a:gdLst>
                  <a:ahLst/>
                  <a:cxnLst>
                    <a:cxn ang="0">
                      <a:pos x="160" y="4"/>
                    </a:cxn>
                    <a:cxn ang="0">
                      <a:pos x="0" y="3"/>
                    </a:cxn>
                    <a:cxn ang="0">
                      <a:pos x="0" y="660"/>
                    </a:cxn>
                    <a:cxn ang="0">
                      <a:pos x="558" y="657"/>
                    </a:cxn>
                    <a:cxn ang="0">
                      <a:pos x="558" y="0"/>
                    </a:cxn>
                    <a:cxn ang="0">
                      <a:pos x="730" y="1"/>
                    </a:cxn>
                  </a:cxnLst>
                  <a:rect l="txL" t="txT" r="txR" b="txB"/>
                  <a:pathLst>
                    <a:path w="730" h="660">
                      <a:moveTo>
                        <a:pt x="160" y="4"/>
                      </a:moveTo>
                      <a:lnTo>
                        <a:pt x="0" y="3"/>
                      </a:lnTo>
                      <a:lnTo>
                        <a:pt x="0" y="660"/>
                      </a:lnTo>
                      <a:lnTo>
                        <a:pt x="558" y="657"/>
                      </a:lnTo>
                      <a:lnTo>
                        <a:pt x="558" y="0"/>
                      </a:lnTo>
                      <a:lnTo>
                        <a:pt x="730" y="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66" name="Freeform 177"/>
                <p:cNvSpPr/>
                <p:nvPr/>
              </p:nvSpPr>
              <p:spPr>
                <a:xfrm>
                  <a:off x="2207" y="2744"/>
                  <a:ext cx="729" cy="658"/>
                </a:xfrm>
                <a:custGeom>
                  <a:avLst/>
                  <a:gdLst>
                    <a:gd name="txL" fmla="*/ 0 w 729"/>
                    <a:gd name="txT" fmla="*/ 0 h 658"/>
                    <a:gd name="txR" fmla="*/ 729 w 729"/>
                    <a:gd name="txB" fmla="*/ 658 h 658"/>
                  </a:gdLst>
                  <a:ahLst/>
                  <a:cxnLst>
                    <a:cxn ang="0">
                      <a:pos x="153" y="0"/>
                    </a:cxn>
                    <a:cxn ang="0">
                      <a:pos x="0" y="0"/>
                    </a:cxn>
                    <a:cxn ang="0">
                      <a:pos x="0" y="657"/>
                    </a:cxn>
                    <a:cxn ang="0">
                      <a:pos x="583" y="658"/>
                    </a:cxn>
                    <a:cxn ang="0">
                      <a:pos x="582" y="3"/>
                    </a:cxn>
                    <a:cxn ang="0">
                      <a:pos x="729" y="3"/>
                    </a:cxn>
                  </a:cxnLst>
                  <a:rect l="txL" t="txT" r="txR" b="txB"/>
                  <a:pathLst>
                    <a:path w="729" h="658">
                      <a:moveTo>
                        <a:pt x="153" y="0"/>
                      </a:moveTo>
                      <a:lnTo>
                        <a:pt x="0" y="0"/>
                      </a:lnTo>
                      <a:lnTo>
                        <a:pt x="0" y="657"/>
                      </a:lnTo>
                      <a:lnTo>
                        <a:pt x="583" y="658"/>
                      </a:lnTo>
                      <a:lnTo>
                        <a:pt x="582" y="3"/>
                      </a:lnTo>
                      <a:lnTo>
                        <a:pt x="729" y="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67" name="Freeform 178"/>
                <p:cNvSpPr/>
                <p:nvPr/>
              </p:nvSpPr>
              <p:spPr>
                <a:xfrm>
                  <a:off x="3356" y="2744"/>
                  <a:ext cx="729" cy="657"/>
                </a:xfrm>
                <a:custGeom>
                  <a:avLst/>
                  <a:gdLst>
                    <a:gd name="txL" fmla="*/ 0 w 729"/>
                    <a:gd name="txT" fmla="*/ 0 h 657"/>
                    <a:gd name="txR" fmla="*/ 729 w 729"/>
                    <a:gd name="txB" fmla="*/ 657 h 657"/>
                  </a:gdLst>
                  <a:ahLst/>
                  <a:cxnLst>
                    <a:cxn ang="0">
                      <a:pos x="158" y="0"/>
                    </a:cxn>
                    <a:cxn ang="0">
                      <a:pos x="0" y="0"/>
                    </a:cxn>
                    <a:cxn ang="0">
                      <a:pos x="0" y="657"/>
                    </a:cxn>
                    <a:cxn ang="0">
                      <a:pos x="579" y="654"/>
                    </a:cxn>
                    <a:cxn ang="0">
                      <a:pos x="582" y="3"/>
                    </a:cxn>
                    <a:cxn ang="0">
                      <a:pos x="729" y="3"/>
                    </a:cxn>
                  </a:cxnLst>
                  <a:rect l="txL" t="txT" r="txR" b="txB"/>
                  <a:pathLst>
                    <a:path w="729" h="657">
                      <a:moveTo>
                        <a:pt x="158" y="0"/>
                      </a:moveTo>
                      <a:lnTo>
                        <a:pt x="0" y="0"/>
                      </a:lnTo>
                      <a:lnTo>
                        <a:pt x="0" y="657"/>
                      </a:lnTo>
                      <a:lnTo>
                        <a:pt x="579" y="654"/>
                      </a:lnTo>
                      <a:lnTo>
                        <a:pt x="582" y="3"/>
                      </a:lnTo>
                      <a:lnTo>
                        <a:pt x="729" y="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68" name="Freeform 179"/>
                <p:cNvSpPr/>
                <p:nvPr/>
              </p:nvSpPr>
              <p:spPr>
                <a:xfrm>
                  <a:off x="4508" y="2744"/>
                  <a:ext cx="729" cy="657"/>
                </a:xfrm>
                <a:custGeom>
                  <a:avLst/>
                  <a:gdLst>
                    <a:gd name="txL" fmla="*/ 0 w 729"/>
                    <a:gd name="txT" fmla="*/ 0 h 657"/>
                    <a:gd name="txR" fmla="*/ 729 w 729"/>
                    <a:gd name="txB" fmla="*/ 657 h 657"/>
                  </a:gdLst>
                  <a:ahLst/>
                  <a:cxnLst>
                    <a:cxn ang="0">
                      <a:pos x="161" y="2"/>
                    </a:cxn>
                    <a:cxn ang="0">
                      <a:pos x="0" y="0"/>
                    </a:cxn>
                    <a:cxn ang="0">
                      <a:pos x="0" y="657"/>
                    </a:cxn>
                    <a:cxn ang="0">
                      <a:pos x="579" y="654"/>
                    </a:cxn>
                    <a:cxn ang="0">
                      <a:pos x="582" y="3"/>
                    </a:cxn>
                    <a:cxn ang="0">
                      <a:pos x="729" y="3"/>
                    </a:cxn>
                  </a:cxnLst>
                  <a:rect l="txL" t="txT" r="txR" b="txB"/>
                  <a:pathLst>
                    <a:path w="729" h="657">
                      <a:moveTo>
                        <a:pt x="161" y="2"/>
                      </a:moveTo>
                      <a:lnTo>
                        <a:pt x="0" y="0"/>
                      </a:lnTo>
                      <a:lnTo>
                        <a:pt x="0" y="657"/>
                      </a:lnTo>
                      <a:lnTo>
                        <a:pt x="579" y="654"/>
                      </a:lnTo>
                      <a:lnTo>
                        <a:pt x="582" y="3"/>
                      </a:lnTo>
                      <a:lnTo>
                        <a:pt x="729" y="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69" name="Freeform 180"/>
                <p:cNvSpPr/>
                <p:nvPr/>
              </p:nvSpPr>
              <p:spPr>
                <a:xfrm>
                  <a:off x="1400" y="2735"/>
                  <a:ext cx="708" cy="571"/>
                </a:xfrm>
                <a:custGeom>
                  <a:avLst/>
                  <a:gdLst>
                    <a:gd name="txL" fmla="*/ 0 w 708"/>
                    <a:gd name="txT" fmla="*/ 0 h 571"/>
                    <a:gd name="txR" fmla="*/ 708 w 708"/>
                    <a:gd name="txB" fmla="*/ 571 h 571"/>
                  </a:gdLst>
                  <a:ahLst/>
                  <a:cxnLst>
                    <a:cxn ang="0">
                      <a:pos x="0" y="0"/>
                    </a:cxn>
                    <a:cxn ang="0">
                      <a:pos x="132" y="0"/>
                    </a:cxn>
                    <a:cxn ang="0">
                      <a:pos x="133" y="571"/>
                    </a:cxn>
                    <a:cxn ang="0">
                      <a:pos x="708" y="570"/>
                    </a:cxn>
                    <a:cxn ang="0">
                      <a:pos x="708" y="9"/>
                    </a:cxn>
                    <a:cxn ang="0">
                      <a:pos x="573" y="9"/>
                    </a:cxn>
                  </a:cxnLst>
                  <a:rect l="txL" t="txT" r="txR" b="txB"/>
                  <a:pathLst>
                    <a:path w="708" h="571">
                      <a:moveTo>
                        <a:pt x="0" y="0"/>
                      </a:moveTo>
                      <a:lnTo>
                        <a:pt x="132" y="0"/>
                      </a:lnTo>
                      <a:lnTo>
                        <a:pt x="133" y="571"/>
                      </a:lnTo>
                      <a:lnTo>
                        <a:pt x="708" y="570"/>
                      </a:lnTo>
                      <a:lnTo>
                        <a:pt x="708" y="9"/>
                      </a:lnTo>
                      <a:lnTo>
                        <a:pt x="573" y="9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70" name="Freeform 181"/>
                <p:cNvSpPr/>
                <p:nvPr/>
              </p:nvSpPr>
              <p:spPr>
                <a:xfrm>
                  <a:off x="2552" y="2735"/>
                  <a:ext cx="726" cy="567"/>
                </a:xfrm>
                <a:custGeom>
                  <a:avLst/>
                  <a:gdLst>
                    <a:gd name="txL" fmla="*/ 0 w 726"/>
                    <a:gd name="txT" fmla="*/ 0 h 567"/>
                    <a:gd name="txR" fmla="*/ 726 w 726"/>
                    <a:gd name="txB" fmla="*/ 567 h 567"/>
                  </a:gdLst>
                  <a:ahLst/>
                  <a:cxnLst>
                    <a:cxn ang="0">
                      <a:pos x="0" y="0"/>
                    </a:cxn>
                    <a:cxn ang="0">
                      <a:pos x="148" y="1"/>
                    </a:cxn>
                    <a:cxn ang="0">
                      <a:pos x="147" y="567"/>
                    </a:cxn>
                    <a:cxn ang="0">
                      <a:pos x="726" y="567"/>
                    </a:cxn>
                    <a:cxn ang="0">
                      <a:pos x="726" y="6"/>
                    </a:cxn>
                    <a:cxn ang="0">
                      <a:pos x="579" y="6"/>
                    </a:cxn>
                  </a:cxnLst>
                  <a:rect l="txL" t="txT" r="txR" b="txB"/>
                  <a:pathLst>
                    <a:path w="726" h="567">
                      <a:moveTo>
                        <a:pt x="0" y="0"/>
                      </a:moveTo>
                      <a:lnTo>
                        <a:pt x="148" y="1"/>
                      </a:lnTo>
                      <a:lnTo>
                        <a:pt x="147" y="567"/>
                      </a:lnTo>
                      <a:lnTo>
                        <a:pt x="726" y="567"/>
                      </a:lnTo>
                      <a:lnTo>
                        <a:pt x="726" y="6"/>
                      </a:lnTo>
                      <a:lnTo>
                        <a:pt x="579" y="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71" name="Freeform 182"/>
                <p:cNvSpPr/>
                <p:nvPr/>
              </p:nvSpPr>
              <p:spPr>
                <a:xfrm>
                  <a:off x="3704" y="2738"/>
                  <a:ext cx="714" cy="567"/>
                </a:xfrm>
                <a:custGeom>
                  <a:avLst/>
                  <a:gdLst>
                    <a:gd name="txL" fmla="*/ 0 w 714"/>
                    <a:gd name="txT" fmla="*/ 0 h 567"/>
                    <a:gd name="txR" fmla="*/ 714 w 714"/>
                    <a:gd name="txB" fmla="*/ 567 h 567"/>
                  </a:gdLst>
                  <a:ahLst/>
                  <a:cxnLst>
                    <a:cxn ang="0">
                      <a:pos x="0" y="0"/>
                    </a:cxn>
                    <a:cxn ang="0">
                      <a:pos x="136" y="1"/>
                    </a:cxn>
                    <a:cxn ang="0">
                      <a:pos x="135" y="567"/>
                    </a:cxn>
                    <a:cxn ang="0">
                      <a:pos x="714" y="567"/>
                    </a:cxn>
                    <a:cxn ang="0">
                      <a:pos x="714" y="6"/>
                    </a:cxn>
                    <a:cxn ang="0">
                      <a:pos x="576" y="5"/>
                    </a:cxn>
                  </a:cxnLst>
                  <a:rect l="txL" t="txT" r="txR" b="txB"/>
                  <a:pathLst>
                    <a:path w="714" h="567">
                      <a:moveTo>
                        <a:pt x="0" y="0"/>
                      </a:moveTo>
                      <a:lnTo>
                        <a:pt x="136" y="1"/>
                      </a:lnTo>
                      <a:lnTo>
                        <a:pt x="135" y="567"/>
                      </a:lnTo>
                      <a:lnTo>
                        <a:pt x="714" y="567"/>
                      </a:lnTo>
                      <a:lnTo>
                        <a:pt x="714" y="6"/>
                      </a:lnTo>
                      <a:lnTo>
                        <a:pt x="576" y="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72" name="Freeform 183"/>
                <p:cNvSpPr/>
                <p:nvPr/>
              </p:nvSpPr>
              <p:spPr>
                <a:xfrm>
                  <a:off x="4859" y="2738"/>
                  <a:ext cx="711" cy="567"/>
                </a:xfrm>
                <a:custGeom>
                  <a:avLst/>
                  <a:gdLst>
                    <a:gd name="txL" fmla="*/ 0 w 711"/>
                    <a:gd name="txT" fmla="*/ 0 h 567"/>
                    <a:gd name="txR" fmla="*/ 711 w 711"/>
                    <a:gd name="txB" fmla="*/ 567 h 567"/>
                  </a:gdLst>
                  <a:ahLst/>
                  <a:cxnLst>
                    <a:cxn ang="0">
                      <a:pos x="0" y="0"/>
                    </a:cxn>
                    <a:cxn ang="0">
                      <a:pos x="130" y="1"/>
                    </a:cxn>
                    <a:cxn ang="0">
                      <a:pos x="132" y="567"/>
                    </a:cxn>
                    <a:cxn ang="0">
                      <a:pos x="711" y="567"/>
                    </a:cxn>
                    <a:cxn ang="0">
                      <a:pos x="711" y="6"/>
                    </a:cxn>
                    <a:cxn ang="0">
                      <a:pos x="564" y="6"/>
                    </a:cxn>
                  </a:cxnLst>
                  <a:rect l="txL" t="txT" r="txR" b="txB"/>
                  <a:pathLst>
                    <a:path w="711" h="567">
                      <a:moveTo>
                        <a:pt x="0" y="0"/>
                      </a:moveTo>
                      <a:lnTo>
                        <a:pt x="130" y="1"/>
                      </a:lnTo>
                      <a:lnTo>
                        <a:pt x="132" y="567"/>
                      </a:lnTo>
                      <a:lnTo>
                        <a:pt x="711" y="567"/>
                      </a:lnTo>
                      <a:lnTo>
                        <a:pt x="711" y="6"/>
                      </a:lnTo>
                      <a:lnTo>
                        <a:pt x="564" y="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73" name="Freeform 184"/>
                <p:cNvSpPr/>
                <p:nvPr/>
              </p:nvSpPr>
              <p:spPr>
                <a:xfrm>
                  <a:off x="1322" y="3398"/>
                  <a:ext cx="1" cy="150"/>
                </a:xfrm>
                <a:custGeom>
                  <a:avLst/>
                  <a:gdLst>
                    <a:gd name="txL" fmla="*/ 0 w 1"/>
                    <a:gd name="txT" fmla="*/ 0 h 150"/>
                    <a:gd name="txR" fmla="*/ 1 w 1"/>
                    <a:gd name="txB" fmla="*/ 150 h 150"/>
                  </a:gdLst>
                  <a:ahLst/>
                  <a:cxnLst>
                    <a:cxn ang="0">
                      <a:pos x="0" y="0"/>
                    </a:cxn>
                    <a:cxn ang="0">
                      <a:pos x="0" y="150"/>
                    </a:cxn>
                  </a:cxnLst>
                  <a:rect l="txL" t="txT" r="txR" b="txB"/>
                  <a:pathLst>
                    <a:path w="1" h="150">
                      <a:moveTo>
                        <a:pt x="0" y="0"/>
                      </a:moveTo>
                      <a:lnTo>
                        <a:pt x="0" y="15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74" name="Freeform 185"/>
                <p:cNvSpPr/>
                <p:nvPr/>
              </p:nvSpPr>
              <p:spPr>
                <a:xfrm>
                  <a:off x="2491" y="3401"/>
                  <a:ext cx="1" cy="150"/>
                </a:xfrm>
                <a:custGeom>
                  <a:avLst/>
                  <a:gdLst>
                    <a:gd name="txL" fmla="*/ 0 w 1"/>
                    <a:gd name="txT" fmla="*/ 0 h 150"/>
                    <a:gd name="txR" fmla="*/ 1 w 1"/>
                    <a:gd name="txB" fmla="*/ 150 h 150"/>
                  </a:gdLst>
                  <a:ahLst/>
                  <a:cxnLst>
                    <a:cxn ang="0">
                      <a:pos x="0" y="0"/>
                    </a:cxn>
                    <a:cxn ang="0">
                      <a:pos x="0" y="150"/>
                    </a:cxn>
                  </a:cxnLst>
                  <a:rect l="txL" t="txT" r="txR" b="txB"/>
                  <a:pathLst>
                    <a:path w="1" h="150">
                      <a:moveTo>
                        <a:pt x="0" y="0"/>
                      </a:moveTo>
                      <a:lnTo>
                        <a:pt x="0" y="15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75" name="Freeform 186"/>
                <p:cNvSpPr/>
                <p:nvPr/>
              </p:nvSpPr>
              <p:spPr>
                <a:xfrm>
                  <a:off x="3643" y="3401"/>
                  <a:ext cx="1" cy="150"/>
                </a:xfrm>
                <a:custGeom>
                  <a:avLst/>
                  <a:gdLst>
                    <a:gd name="txL" fmla="*/ 0 w 1"/>
                    <a:gd name="txT" fmla="*/ 0 h 150"/>
                    <a:gd name="txR" fmla="*/ 1 w 1"/>
                    <a:gd name="txB" fmla="*/ 150 h 150"/>
                  </a:gdLst>
                  <a:ahLst/>
                  <a:cxnLst>
                    <a:cxn ang="0">
                      <a:pos x="0" y="0"/>
                    </a:cxn>
                    <a:cxn ang="0">
                      <a:pos x="0" y="150"/>
                    </a:cxn>
                  </a:cxnLst>
                  <a:rect l="txL" t="txT" r="txR" b="txB"/>
                  <a:pathLst>
                    <a:path w="1" h="150">
                      <a:moveTo>
                        <a:pt x="0" y="0"/>
                      </a:moveTo>
                      <a:lnTo>
                        <a:pt x="0" y="15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76" name="Freeform 187"/>
                <p:cNvSpPr/>
                <p:nvPr/>
              </p:nvSpPr>
              <p:spPr>
                <a:xfrm>
                  <a:off x="4795" y="3401"/>
                  <a:ext cx="1" cy="150"/>
                </a:xfrm>
                <a:custGeom>
                  <a:avLst/>
                  <a:gdLst>
                    <a:gd name="txL" fmla="*/ 0 w 1"/>
                    <a:gd name="txT" fmla="*/ 0 h 150"/>
                    <a:gd name="txR" fmla="*/ 1 w 1"/>
                    <a:gd name="txB" fmla="*/ 150 h 150"/>
                  </a:gdLst>
                  <a:ahLst/>
                  <a:cxnLst>
                    <a:cxn ang="0">
                      <a:pos x="0" y="0"/>
                    </a:cxn>
                    <a:cxn ang="0">
                      <a:pos x="0" y="150"/>
                    </a:cxn>
                  </a:cxnLst>
                  <a:rect l="txL" t="txT" r="txR" b="txB"/>
                  <a:pathLst>
                    <a:path w="1" h="150">
                      <a:moveTo>
                        <a:pt x="0" y="0"/>
                      </a:moveTo>
                      <a:lnTo>
                        <a:pt x="0" y="15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77" name="Freeform 188"/>
                <p:cNvSpPr/>
                <p:nvPr/>
              </p:nvSpPr>
              <p:spPr>
                <a:xfrm>
                  <a:off x="5276" y="3305"/>
                  <a:ext cx="1" cy="246"/>
                </a:xfrm>
                <a:custGeom>
                  <a:avLst/>
                  <a:gdLst>
                    <a:gd name="txL" fmla="*/ 0 w 1"/>
                    <a:gd name="txT" fmla="*/ 0 h 246"/>
                    <a:gd name="txR" fmla="*/ 1 w 1"/>
                    <a:gd name="txB" fmla="*/ 246 h 246"/>
                  </a:gdLst>
                  <a:ahLst/>
                  <a:cxnLst>
                    <a:cxn ang="0">
                      <a:pos x="0" y="0"/>
                    </a:cxn>
                    <a:cxn ang="0">
                      <a:pos x="0" y="246"/>
                    </a:cxn>
                  </a:cxnLst>
                  <a:rect l="txL" t="txT" r="txR" b="txB"/>
                  <a:pathLst>
                    <a:path w="1" h="246">
                      <a:moveTo>
                        <a:pt x="0" y="0"/>
                      </a:moveTo>
                      <a:lnTo>
                        <a:pt x="0" y="24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78" name="Freeform 189"/>
                <p:cNvSpPr/>
                <p:nvPr/>
              </p:nvSpPr>
              <p:spPr>
                <a:xfrm>
                  <a:off x="4124" y="3305"/>
                  <a:ext cx="1" cy="246"/>
                </a:xfrm>
                <a:custGeom>
                  <a:avLst/>
                  <a:gdLst>
                    <a:gd name="txL" fmla="*/ 0 w 1"/>
                    <a:gd name="txT" fmla="*/ 0 h 246"/>
                    <a:gd name="txR" fmla="*/ 1 w 1"/>
                    <a:gd name="txB" fmla="*/ 246 h 246"/>
                  </a:gdLst>
                  <a:ahLst/>
                  <a:cxnLst>
                    <a:cxn ang="0">
                      <a:pos x="0" y="0"/>
                    </a:cxn>
                    <a:cxn ang="0">
                      <a:pos x="0" y="246"/>
                    </a:cxn>
                  </a:cxnLst>
                  <a:rect l="txL" t="txT" r="txR" b="txB"/>
                  <a:pathLst>
                    <a:path w="1" h="246">
                      <a:moveTo>
                        <a:pt x="0" y="0"/>
                      </a:moveTo>
                      <a:lnTo>
                        <a:pt x="0" y="24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79" name="Freeform 190"/>
                <p:cNvSpPr/>
                <p:nvPr/>
              </p:nvSpPr>
              <p:spPr>
                <a:xfrm>
                  <a:off x="2972" y="3305"/>
                  <a:ext cx="1" cy="246"/>
                </a:xfrm>
                <a:custGeom>
                  <a:avLst/>
                  <a:gdLst>
                    <a:gd name="txL" fmla="*/ 0 w 1"/>
                    <a:gd name="txT" fmla="*/ 0 h 246"/>
                    <a:gd name="txR" fmla="*/ 1 w 1"/>
                    <a:gd name="txB" fmla="*/ 246 h 246"/>
                  </a:gdLst>
                  <a:ahLst/>
                  <a:cxnLst>
                    <a:cxn ang="0">
                      <a:pos x="0" y="0"/>
                    </a:cxn>
                    <a:cxn ang="0">
                      <a:pos x="0" y="246"/>
                    </a:cxn>
                  </a:cxnLst>
                  <a:rect l="txL" t="txT" r="txR" b="txB"/>
                  <a:pathLst>
                    <a:path w="1" h="246">
                      <a:moveTo>
                        <a:pt x="0" y="0"/>
                      </a:moveTo>
                      <a:lnTo>
                        <a:pt x="0" y="24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80" name="Freeform 191"/>
                <p:cNvSpPr/>
                <p:nvPr/>
              </p:nvSpPr>
              <p:spPr>
                <a:xfrm>
                  <a:off x="1819" y="3305"/>
                  <a:ext cx="1" cy="246"/>
                </a:xfrm>
                <a:custGeom>
                  <a:avLst/>
                  <a:gdLst>
                    <a:gd name="txL" fmla="*/ 0 w 1"/>
                    <a:gd name="txT" fmla="*/ 0 h 246"/>
                    <a:gd name="txR" fmla="*/ 1 w 1"/>
                    <a:gd name="txB" fmla="*/ 246 h 246"/>
                  </a:gdLst>
                  <a:ahLst/>
                  <a:cxnLst>
                    <a:cxn ang="0">
                      <a:pos x="0" y="0"/>
                    </a:cxn>
                    <a:cxn ang="0">
                      <a:pos x="0" y="246"/>
                    </a:cxn>
                  </a:cxnLst>
                  <a:rect l="txL" t="txT" r="txR" b="txB"/>
                  <a:pathLst>
                    <a:path w="1" h="246">
                      <a:moveTo>
                        <a:pt x="0" y="0"/>
                      </a:moveTo>
                      <a:lnTo>
                        <a:pt x="0" y="24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81" name="Freeform 192"/>
                <p:cNvSpPr/>
                <p:nvPr/>
              </p:nvSpPr>
              <p:spPr>
                <a:xfrm>
                  <a:off x="956" y="4025"/>
                  <a:ext cx="4317" cy="1"/>
                </a:xfrm>
                <a:custGeom>
                  <a:avLst/>
                  <a:gdLst>
                    <a:gd name="txL" fmla="*/ 0 w 4317"/>
                    <a:gd name="txT" fmla="*/ 0 h 1"/>
                    <a:gd name="txR" fmla="*/ 4317 w 4317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4317" y="0"/>
                    </a:cxn>
                  </a:cxnLst>
                  <a:rect l="txL" t="txT" r="txR" b="txB"/>
                  <a:pathLst>
                    <a:path w="4317" h="1">
                      <a:moveTo>
                        <a:pt x="0" y="0"/>
                      </a:moveTo>
                      <a:lnTo>
                        <a:pt x="4317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82" name="Freeform 193"/>
                <p:cNvSpPr/>
                <p:nvPr/>
              </p:nvSpPr>
              <p:spPr>
                <a:xfrm>
                  <a:off x="956" y="4121"/>
                  <a:ext cx="3837" cy="1"/>
                </a:xfrm>
                <a:custGeom>
                  <a:avLst/>
                  <a:gdLst>
                    <a:gd name="txL" fmla="*/ 0 w 3837"/>
                    <a:gd name="txT" fmla="*/ 0 h 1"/>
                    <a:gd name="txR" fmla="*/ 3837 w 3837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3837" y="0"/>
                    </a:cxn>
                  </a:cxnLst>
                  <a:rect l="txL" t="txT" r="txR" b="txB"/>
                  <a:pathLst>
                    <a:path w="3837" h="1">
                      <a:moveTo>
                        <a:pt x="0" y="0"/>
                      </a:moveTo>
                      <a:lnTo>
                        <a:pt x="3837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83" name="Freeform 194"/>
                <p:cNvSpPr/>
                <p:nvPr/>
              </p:nvSpPr>
              <p:spPr>
                <a:xfrm>
                  <a:off x="1322" y="3881"/>
                  <a:ext cx="1" cy="243"/>
                </a:xfrm>
                <a:custGeom>
                  <a:avLst/>
                  <a:gdLst>
                    <a:gd name="txL" fmla="*/ 0 w 1"/>
                    <a:gd name="txT" fmla="*/ 0 h 243"/>
                    <a:gd name="txR" fmla="*/ 1 w 1"/>
                    <a:gd name="txB" fmla="*/ 243 h 243"/>
                  </a:gdLst>
                  <a:ahLst/>
                  <a:cxnLst>
                    <a:cxn ang="0">
                      <a:pos x="0" y="0"/>
                    </a:cxn>
                    <a:cxn ang="0">
                      <a:pos x="0" y="243"/>
                    </a:cxn>
                  </a:cxnLst>
                  <a:rect l="txL" t="txT" r="txR" b="txB"/>
                  <a:pathLst>
                    <a:path w="1" h="243">
                      <a:moveTo>
                        <a:pt x="0" y="0"/>
                      </a:moveTo>
                      <a:lnTo>
                        <a:pt x="0" y="24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84" name="Freeform 195"/>
                <p:cNvSpPr/>
                <p:nvPr/>
              </p:nvSpPr>
              <p:spPr>
                <a:xfrm>
                  <a:off x="2491" y="3881"/>
                  <a:ext cx="1" cy="243"/>
                </a:xfrm>
                <a:custGeom>
                  <a:avLst/>
                  <a:gdLst>
                    <a:gd name="txL" fmla="*/ 0 w 1"/>
                    <a:gd name="txT" fmla="*/ 0 h 243"/>
                    <a:gd name="txR" fmla="*/ 1 w 1"/>
                    <a:gd name="txB" fmla="*/ 243 h 243"/>
                  </a:gdLst>
                  <a:ahLst/>
                  <a:cxnLst>
                    <a:cxn ang="0">
                      <a:pos x="0" y="0"/>
                    </a:cxn>
                    <a:cxn ang="0">
                      <a:pos x="0" y="243"/>
                    </a:cxn>
                  </a:cxnLst>
                  <a:rect l="txL" t="txT" r="txR" b="txB"/>
                  <a:pathLst>
                    <a:path w="1" h="243">
                      <a:moveTo>
                        <a:pt x="0" y="0"/>
                      </a:moveTo>
                      <a:lnTo>
                        <a:pt x="0" y="24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85" name="Freeform 196"/>
                <p:cNvSpPr/>
                <p:nvPr/>
              </p:nvSpPr>
              <p:spPr>
                <a:xfrm>
                  <a:off x="3643" y="3881"/>
                  <a:ext cx="1" cy="243"/>
                </a:xfrm>
                <a:custGeom>
                  <a:avLst/>
                  <a:gdLst>
                    <a:gd name="txL" fmla="*/ 0 w 1"/>
                    <a:gd name="txT" fmla="*/ 0 h 243"/>
                    <a:gd name="txR" fmla="*/ 1 w 1"/>
                    <a:gd name="txB" fmla="*/ 243 h 243"/>
                  </a:gdLst>
                  <a:ahLst/>
                  <a:cxnLst>
                    <a:cxn ang="0">
                      <a:pos x="0" y="0"/>
                    </a:cxn>
                    <a:cxn ang="0">
                      <a:pos x="0" y="243"/>
                    </a:cxn>
                  </a:cxnLst>
                  <a:rect l="txL" t="txT" r="txR" b="txB"/>
                  <a:pathLst>
                    <a:path w="1" h="243">
                      <a:moveTo>
                        <a:pt x="0" y="0"/>
                      </a:moveTo>
                      <a:lnTo>
                        <a:pt x="0" y="24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86" name="Freeform 197"/>
                <p:cNvSpPr/>
                <p:nvPr/>
              </p:nvSpPr>
              <p:spPr>
                <a:xfrm>
                  <a:off x="4791" y="3881"/>
                  <a:ext cx="4" cy="247"/>
                </a:xfrm>
                <a:custGeom>
                  <a:avLst/>
                  <a:gdLst>
                    <a:gd name="txL" fmla="*/ 0 w 4"/>
                    <a:gd name="txT" fmla="*/ 0 h 247"/>
                    <a:gd name="txR" fmla="*/ 4 w 4"/>
                    <a:gd name="txB" fmla="*/ 247 h 247"/>
                  </a:gdLst>
                  <a:ahLst/>
                  <a:cxnLst>
                    <a:cxn ang="0">
                      <a:pos x="4" y="0"/>
                    </a:cxn>
                    <a:cxn ang="0">
                      <a:pos x="0" y="247"/>
                    </a:cxn>
                  </a:cxnLst>
                  <a:rect l="txL" t="txT" r="txR" b="txB"/>
                  <a:pathLst>
                    <a:path w="4" h="247">
                      <a:moveTo>
                        <a:pt x="4" y="0"/>
                      </a:moveTo>
                      <a:lnTo>
                        <a:pt x="0" y="247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87" name="Freeform 198"/>
                <p:cNvSpPr/>
                <p:nvPr/>
              </p:nvSpPr>
              <p:spPr>
                <a:xfrm>
                  <a:off x="5277" y="3881"/>
                  <a:ext cx="1" cy="151"/>
                </a:xfrm>
                <a:custGeom>
                  <a:avLst/>
                  <a:gdLst>
                    <a:gd name="txL" fmla="*/ 0 w 1"/>
                    <a:gd name="txT" fmla="*/ 0 h 151"/>
                    <a:gd name="txR" fmla="*/ 1 w 1"/>
                    <a:gd name="txB" fmla="*/ 151 h 151"/>
                  </a:gdLst>
                  <a:ahLst/>
                  <a:cxnLst>
                    <a:cxn ang="0">
                      <a:pos x="0" y="0"/>
                    </a:cxn>
                    <a:cxn ang="0">
                      <a:pos x="0" y="151"/>
                    </a:cxn>
                  </a:cxnLst>
                  <a:rect l="txL" t="txT" r="txR" b="txB"/>
                  <a:pathLst>
                    <a:path w="1" h="151">
                      <a:moveTo>
                        <a:pt x="0" y="0"/>
                      </a:moveTo>
                      <a:lnTo>
                        <a:pt x="0" y="15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88" name="Line 199"/>
                <p:cNvSpPr/>
                <p:nvPr/>
              </p:nvSpPr>
              <p:spPr>
                <a:xfrm>
                  <a:off x="4124" y="38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oval" w="sm" len="sm"/>
                </a:ln>
              </p:spPr>
            </p:sp>
            <p:sp>
              <p:nvSpPr>
                <p:cNvPr id="285989" name="Line 200"/>
                <p:cNvSpPr/>
                <p:nvPr/>
              </p:nvSpPr>
              <p:spPr>
                <a:xfrm>
                  <a:off x="2973" y="38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oval" w="sm" len="sm"/>
                </a:ln>
              </p:spPr>
            </p:sp>
            <p:sp>
              <p:nvSpPr>
                <p:cNvPr id="285990" name="Line 201"/>
                <p:cNvSpPr/>
                <p:nvPr/>
              </p:nvSpPr>
              <p:spPr>
                <a:xfrm>
                  <a:off x="1820" y="3881"/>
                  <a:ext cx="0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oval" w="sm" len="sm"/>
                </a:ln>
              </p:spPr>
            </p:sp>
            <p:sp>
              <p:nvSpPr>
                <p:cNvPr id="285991" name="Rectangle 202"/>
                <p:cNvSpPr/>
                <p:nvPr/>
              </p:nvSpPr>
              <p:spPr>
                <a:xfrm>
                  <a:off x="2317" y="3597"/>
                  <a:ext cx="823" cy="232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92" name="Text Box 203"/>
                <p:cNvSpPr txBox="1"/>
                <p:nvPr/>
              </p:nvSpPr>
              <p:spPr>
                <a:xfrm>
                  <a:off x="2348" y="3576"/>
                  <a:ext cx="75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993" name="Rectangle 204"/>
                <p:cNvSpPr/>
                <p:nvPr/>
              </p:nvSpPr>
              <p:spPr>
                <a:xfrm>
                  <a:off x="3469" y="3597"/>
                  <a:ext cx="823" cy="232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94" name="Text Box 205"/>
                <p:cNvSpPr txBox="1"/>
                <p:nvPr/>
              </p:nvSpPr>
              <p:spPr>
                <a:xfrm>
                  <a:off x="3500" y="3576"/>
                  <a:ext cx="75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995" name="Rectangle 206"/>
                <p:cNvSpPr/>
                <p:nvPr/>
              </p:nvSpPr>
              <p:spPr>
                <a:xfrm>
                  <a:off x="4621" y="3597"/>
                  <a:ext cx="823" cy="232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996" name="Text Box 207"/>
                <p:cNvSpPr txBox="1"/>
                <p:nvPr/>
              </p:nvSpPr>
              <p:spPr>
                <a:xfrm>
                  <a:off x="4652" y="3576"/>
                  <a:ext cx="75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997" name="Line 208"/>
                <p:cNvSpPr/>
                <p:nvPr/>
              </p:nvSpPr>
              <p:spPr>
                <a:xfrm>
                  <a:off x="1964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5998" name="Line 209"/>
                <p:cNvSpPr/>
                <p:nvPr/>
              </p:nvSpPr>
              <p:spPr>
                <a:xfrm>
                  <a:off x="3144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5999" name="Line 210"/>
                <p:cNvSpPr/>
                <p:nvPr/>
              </p:nvSpPr>
              <p:spPr>
                <a:xfrm>
                  <a:off x="4293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6000" name="Line 211"/>
                <p:cNvSpPr/>
                <p:nvPr/>
              </p:nvSpPr>
              <p:spPr>
                <a:xfrm>
                  <a:off x="5420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6001" name="Freeform 212"/>
                <p:cNvSpPr/>
                <p:nvPr/>
              </p:nvSpPr>
              <p:spPr>
                <a:xfrm>
                  <a:off x="3033" y="2708"/>
                  <a:ext cx="47" cy="501"/>
                </a:xfrm>
                <a:custGeom>
                  <a:avLst/>
                  <a:gdLst>
                    <a:gd name="txL" fmla="*/ 0 w 1"/>
                    <a:gd name="txT" fmla="*/ 0 h 406"/>
                    <a:gd name="txR" fmla="*/ 1 w 1"/>
                    <a:gd name="txB" fmla="*/ 406 h 406"/>
                  </a:gdLst>
                  <a:ahLst/>
                  <a:cxnLst>
                    <a:cxn ang="0">
                      <a:pos x="0" y="0"/>
                    </a:cxn>
                    <a:cxn ang="0">
                      <a:pos x="0" y="406"/>
                    </a:cxn>
                  </a:cxnLst>
                  <a:rect l="txL" t="txT" r="txR" b="txB"/>
                  <a:pathLst>
                    <a:path w="1" h="406">
                      <a:moveTo>
                        <a:pt x="0" y="0"/>
                      </a:moveTo>
                      <a:lnTo>
                        <a:pt x="0" y="40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6002" name="Freeform 213"/>
                <p:cNvSpPr/>
                <p:nvPr/>
              </p:nvSpPr>
              <p:spPr>
                <a:xfrm>
                  <a:off x="4185" y="2691"/>
                  <a:ext cx="1" cy="525"/>
                </a:xfrm>
                <a:custGeom>
                  <a:avLst/>
                  <a:gdLst>
                    <a:gd name="txL" fmla="*/ 0 w 1"/>
                    <a:gd name="txT" fmla="*/ 0 h 525"/>
                    <a:gd name="txR" fmla="*/ 1 w 1"/>
                    <a:gd name="txB" fmla="*/ 525 h 525"/>
                  </a:gdLst>
                  <a:ahLst/>
                  <a:cxnLst>
                    <a:cxn ang="0">
                      <a:pos x="0" y="0"/>
                    </a:cxn>
                    <a:cxn ang="0">
                      <a:pos x="0" y="525"/>
                    </a:cxn>
                  </a:cxnLst>
                  <a:rect l="txL" t="txT" r="txR" b="txB"/>
                  <a:pathLst>
                    <a:path w="1" h="525">
                      <a:moveTo>
                        <a:pt x="0" y="0"/>
                      </a:moveTo>
                      <a:lnTo>
                        <a:pt x="0" y="52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6003" name="Freeform 214"/>
                <p:cNvSpPr/>
                <p:nvPr/>
              </p:nvSpPr>
              <p:spPr>
                <a:xfrm>
                  <a:off x="5325" y="2708"/>
                  <a:ext cx="47" cy="501"/>
                </a:xfrm>
                <a:custGeom>
                  <a:avLst/>
                  <a:gdLst>
                    <a:gd name="txL" fmla="*/ 0 w 1"/>
                    <a:gd name="txT" fmla="*/ 0 h 406"/>
                    <a:gd name="txR" fmla="*/ 1 w 1"/>
                    <a:gd name="txB" fmla="*/ 406 h 406"/>
                  </a:gdLst>
                  <a:ahLst/>
                  <a:cxnLst>
                    <a:cxn ang="0">
                      <a:pos x="0" y="0"/>
                    </a:cxn>
                    <a:cxn ang="0">
                      <a:pos x="0" y="406"/>
                    </a:cxn>
                  </a:cxnLst>
                  <a:rect l="txL" t="txT" r="txR" b="txB"/>
                  <a:pathLst>
                    <a:path w="1" h="406">
                      <a:moveTo>
                        <a:pt x="0" y="0"/>
                      </a:moveTo>
                      <a:lnTo>
                        <a:pt x="0" y="40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oval" w="sm" len="sm"/>
                  <a:tailEnd type="none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6004" name="Text Box 215"/>
                <p:cNvSpPr txBox="1"/>
                <p:nvPr/>
              </p:nvSpPr>
              <p:spPr>
                <a:xfrm rot="5400000">
                  <a:off x="1175" y="1623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05" name="Text Box 216"/>
                <p:cNvSpPr txBox="1"/>
                <p:nvPr/>
              </p:nvSpPr>
              <p:spPr>
                <a:xfrm rot="5400000">
                  <a:off x="1751" y="1623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06" name="Text Box 217"/>
                <p:cNvSpPr txBox="1"/>
                <p:nvPr/>
              </p:nvSpPr>
              <p:spPr>
                <a:xfrm rot="5400000">
                  <a:off x="2327" y="1623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07" name="Text Box 218"/>
                <p:cNvSpPr txBox="1"/>
                <p:nvPr/>
              </p:nvSpPr>
              <p:spPr>
                <a:xfrm rot="5400000">
                  <a:off x="2903" y="1611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08" name="Text Box 219"/>
                <p:cNvSpPr txBox="1"/>
                <p:nvPr/>
              </p:nvSpPr>
              <p:spPr>
                <a:xfrm rot="5400000">
                  <a:off x="3478" y="161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09" name="Text Box 220"/>
                <p:cNvSpPr txBox="1"/>
                <p:nvPr/>
              </p:nvSpPr>
              <p:spPr>
                <a:xfrm rot="5400000">
                  <a:off x="4055" y="1611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10" name="Text Box 221"/>
                <p:cNvSpPr txBox="1"/>
                <p:nvPr/>
              </p:nvSpPr>
              <p:spPr>
                <a:xfrm rot="5400000">
                  <a:off x="4631" y="1611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11" name="Text Box 222"/>
                <p:cNvSpPr txBox="1"/>
                <p:nvPr/>
              </p:nvSpPr>
              <p:spPr>
                <a:xfrm rot="5400000">
                  <a:off x="5226" y="1611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12" name="Text Box 223"/>
                <p:cNvSpPr txBox="1"/>
                <p:nvPr/>
              </p:nvSpPr>
              <p:spPr>
                <a:xfrm>
                  <a:off x="660" y="791"/>
                  <a:ext cx="187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13" name="Text Box 224"/>
                <p:cNvSpPr txBox="1"/>
                <p:nvPr/>
              </p:nvSpPr>
              <p:spPr>
                <a:xfrm>
                  <a:off x="660" y="1383"/>
                  <a:ext cx="187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14" name="Text Box 225"/>
                <p:cNvSpPr txBox="1"/>
                <p:nvPr/>
              </p:nvSpPr>
              <p:spPr>
                <a:xfrm>
                  <a:off x="624" y="1959"/>
                  <a:ext cx="259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63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15" name="Line 226"/>
                <p:cNvSpPr/>
                <p:nvPr/>
              </p:nvSpPr>
              <p:spPr>
                <a:xfrm>
                  <a:off x="332" y="2537"/>
                  <a:ext cx="576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6016" name="Text Box 227"/>
                <p:cNvSpPr txBox="1"/>
                <p:nvPr/>
              </p:nvSpPr>
              <p:spPr>
                <a:xfrm>
                  <a:off x="660" y="2727"/>
                  <a:ext cx="187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17" name="Text Box 228"/>
                <p:cNvSpPr txBox="1"/>
                <p:nvPr/>
              </p:nvSpPr>
              <p:spPr>
                <a:xfrm>
                  <a:off x="624" y="3159"/>
                  <a:ext cx="259" cy="23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</a:rPr>
                    <a:t>15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18" name="Text Box 229"/>
                <p:cNvSpPr txBox="1"/>
                <p:nvPr/>
              </p:nvSpPr>
              <p:spPr>
                <a:xfrm rot="5400000">
                  <a:off x="647" y="1611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19" name="Text Box 230"/>
                <p:cNvSpPr txBox="1"/>
                <p:nvPr/>
              </p:nvSpPr>
              <p:spPr>
                <a:xfrm rot="5400000">
                  <a:off x="647" y="285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20" name="Text Box 231"/>
                <p:cNvSpPr txBox="1"/>
                <p:nvPr/>
              </p:nvSpPr>
              <p:spPr>
                <a:xfrm>
                  <a:off x="349" y="101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行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21" name="Text Box 232"/>
                <p:cNvSpPr txBox="1"/>
                <p:nvPr/>
              </p:nvSpPr>
              <p:spPr>
                <a:xfrm>
                  <a:off x="349" y="126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22" name="Text Box 233"/>
                <p:cNvSpPr txBox="1"/>
                <p:nvPr/>
              </p:nvSpPr>
              <p:spPr>
                <a:xfrm>
                  <a:off x="349" y="151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址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23" name="Text Box 234"/>
                <p:cNvSpPr txBox="1"/>
                <p:nvPr/>
              </p:nvSpPr>
              <p:spPr>
                <a:xfrm>
                  <a:off x="349" y="1758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译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24" name="Text Box 235"/>
                <p:cNvSpPr txBox="1"/>
                <p:nvPr/>
              </p:nvSpPr>
              <p:spPr>
                <a:xfrm>
                  <a:off x="349" y="2006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码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25" name="Text Box 236"/>
                <p:cNvSpPr txBox="1"/>
                <p:nvPr/>
              </p:nvSpPr>
              <p:spPr>
                <a:xfrm>
                  <a:off x="376" y="263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列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26" name="Text Box 237"/>
                <p:cNvSpPr txBox="1"/>
                <p:nvPr/>
              </p:nvSpPr>
              <p:spPr>
                <a:xfrm>
                  <a:off x="376" y="288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27" name="Text Box 238"/>
                <p:cNvSpPr txBox="1"/>
                <p:nvPr/>
              </p:nvSpPr>
              <p:spPr>
                <a:xfrm>
                  <a:off x="376" y="313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址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28" name="Text Box 239"/>
                <p:cNvSpPr txBox="1"/>
                <p:nvPr/>
              </p:nvSpPr>
              <p:spPr>
                <a:xfrm>
                  <a:off x="376" y="3378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译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29" name="Text Box 240"/>
                <p:cNvSpPr txBox="1"/>
                <p:nvPr/>
              </p:nvSpPr>
              <p:spPr>
                <a:xfrm>
                  <a:off x="376" y="3626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码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030" name="Line 241"/>
                <p:cNvSpPr/>
                <p:nvPr/>
              </p:nvSpPr>
              <p:spPr>
                <a:xfrm>
                  <a:off x="140" y="905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6031" name="Line 242"/>
                <p:cNvSpPr/>
                <p:nvPr/>
              </p:nvSpPr>
              <p:spPr>
                <a:xfrm>
                  <a:off x="140" y="1164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6032" name="Line 243"/>
                <p:cNvSpPr/>
                <p:nvPr/>
              </p:nvSpPr>
              <p:spPr>
                <a:xfrm>
                  <a:off x="140" y="1423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6033" name="Line 244"/>
                <p:cNvSpPr/>
                <p:nvPr/>
              </p:nvSpPr>
              <p:spPr>
                <a:xfrm>
                  <a:off x="140" y="1682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6034" name="Line 245"/>
                <p:cNvSpPr/>
                <p:nvPr/>
              </p:nvSpPr>
              <p:spPr>
                <a:xfrm>
                  <a:off x="140" y="1941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6035" name="Line 246"/>
                <p:cNvSpPr/>
                <p:nvPr/>
              </p:nvSpPr>
              <p:spPr>
                <a:xfrm>
                  <a:off x="140" y="2201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6036" name="Line 247"/>
                <p:cNvSpPr/>
                <p:nvPr/>
              </p:nvSpPr>
              <p:spPr>
                <a:xfrm>
                  <a:off x="140" y="2872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6037" name="Line 248"/>
                <p:cNvSpPr/>
                <p:nvPr/>
              </p:nvSpPr>
              <p:spPr>
                <a:xfrm>
                  <a:off x="140" y="3131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6038" name="Line 249"/>
                <p:cNvSpPr/>
                <p:nvPr/>
              </p:nvSpPr>
              <p:spPr>
                <a:xfrm>
                  <a:off x="140" y="3390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6039" name="Line 250"/>
                <p:cNvSpPr/>
                <p:nvPr/>
              </p:nvSpPr>
              <p:spPr>
                <a:xfrm>
                  <a:off x="140" y="3650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sm" len="sm"/>
                </a:ln>
              </p:spPr>
            </p:sp>
            <p:sp>
              <p:nvSpPr>
                <p:cNvPr id="286040" name="Line 251"/>
                <p:cNvSpPr/>
                <p:nvPr/>
              </p:nvSpPr>
              <p:spPr>
                <a:xfrm>
                  <a:off x="726" y="4079"/>
                  <a:ext cx="192" cy="0"/>
                </a:xfrm>
                <a:prstGeom prst="line">
                  <a:avLst/>
                </a:prstGeom>
                <a:ln w="28575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285833" name="Group 252"/>
              <p:cNvGrpSpPr/>
              <p:nvPr/>
            </p:nvGrpSpPr>
            <p:grpSpPr>
              <a:xfrm>
                <a:off x="140" y="674"/>
                <a:ext cx="195" cy="3011"/>
                <a:chOff x="140" y="674"/>
                <a:chExt cx="195" cy="3011"/>
              </a:xfrm>
            </p:grpSpPr>
            <p:sp>
              <p:nvSpPr>
                <p:cNvPr id="285834" name="Text Box 253"/>
                <p:cNvSpPr txBox="1"/>
                <p:nvPr/>
              </p:nvSpPr>
              <p:spPr>
                <a:xfrm>
                  <a:off x="140" y="674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35" name="Text Box 254"/>
                <p:cNvSpPr txBox="1"/>
                <p:nvPr/>
              </p:nvSpPr>
              <p:spPr>
                <a:xfrm>
                  <a:off x="140" y="933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36" name="Text Box 255"/>
                <p:cNvSpPr txBox="1"/>
                <p:nvPr/>
              </p:nvSpPr>
              <p:spPr>
                <a:xfrm>
                  <a:off x="140" y="1192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37" name="Text Box 256"/>
                <p:cNvSpPr txBox="1"/>
                <p:nvPr/>
              </p:nvSpPr>
              <p:spPr>
                <a:xfrm>
                  <a:off x="140" y="1451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38" name="Text Box 257"/>
                <p:cNvSpPr txBox="1"/>
                <p:nvPr/>
              </p:nvSpPr>
              <p:spPr>
                <a:xfrm>
                  <a:off x="140" y="1710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39" name="Text Box 258"/>
                <p:cNvSpPr txBox="1"/>
                <p:nvPr/>
              </p:nvSpPr>
              <p:spPr>
                <a:xfrm>
                  <a:off x="140" y="1970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40" name="Text Box 259"/>
                <p:cNvSpPr txBox="1"/>
                <p:nvPr/>
              </p:nvSpPr>
              <p:spPr>
                <a:xfrm>
                  <a:off x="140" y="2657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41" name="Text Box 260"/>
                <p:cNvSpPr txBox="1"/>
                <p:nvPr/>
              </p:nvSpPr>
              <p:spPr>
                <a:xfrm>
                  <a:off x="140" y="2916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42" name="Text Box 261"/>
                <p:cNvSpPr txBox="1"/>
                <p:nvPr/>
              </p:nvSpPr>
              <p:spPr>
                <a:xfrm>
                  <a:off x="140" y="3175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5843" name="Text Box 262"/>
                <p:cNvSpPr txBox="1"/>
                <p:nvPr/>
              </p:nvSpPr>
              <p:spPr>
                <a:xfrm>
                  <a:off x="140" y="3434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85807" name="Group 263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85808" name="Group 264"/>
              <p:cNvGrpSpPr/>
              <p:nvPr/>
            </p:nvGrpSpPr>
            <p:grpSpPr>
              <a:xfrm>
                <a:off x="902" y="857"/>
                <a:ext cx="4567" cy="418"/>
                <a:chOff x="902" y="857"/>
                <a:chExt cx="4567" cy="418"/>
              </a:xfrm>
            </p:grpSpPr>
            <p:grpSp>
              <p:nvGrpSpPr>
                <p:cNvPr id="285813" name="Group 265"/>
                <p:cNvGrpSpPr/>
                <p:nvPr/>
              </p:nvGrpSpPr>
              <p:grpSpPr>
                <a:xfrm>
                  <a:off x="1152" y="1024"/>
                  <a:ext cx="4317" cy="251"/>
                  <a:chOff x="1176" y="1079"/>
                  <a:chExt cx="4317" cy="251"/>
                </a:xfrm>
              </p:grpSpPr>
              <p:sp>
                <p:nvSpPr>
                  <p:cNvPr id="285824" name="Rectangle 266"/>
                  <p:cNvSpPr/>
                  <p:nvPr/>
                </p:nvSpPr>
                <p:spPr>
                  <a:xfrm>
                    <a:off x="175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5825" name="Rectangle 267"/>
                  <p:cNvSpPr/>
                  <p:nvPr/>
                </p:nvSpPr>
                <p:spPr>
                  <a:xfrm>
                    <a:off x="117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5826" name="Rectangle 268"/>
                  <p:cNvSpPr/>
                  <p:nvPr/>
                </p:nvSpPr>
                <p:spPr>
                  <a:xfrm>
                    <a:off x="289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5827" name="Rectangle 269"/>
                  <p:cNvSpPr/>
                  <p:nvPr/>
                </p:nvSpPr>
                <p:spPr>
                  <a:xfrm>
                    <a:off x="231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5828" name="Rectangle 270"/>
                  <p:cNvSpPr/>
                  <p:nvPr/>
                </p:nvSpPr>
                <p:spPr>
                  <a:xfrm>
                    <a:off x="4067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5829" name="Rectangle 271"/>
                  <p:cNvSpPr/>
                  <p:nvPr/>
                </p:nvSpPr>
                <p:spPr>
                  <a:xfrm>
                    <a:off x="3491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5830" name="Rectangle 272"/>
                  <p:cNvSpPr/>
                  <p:nvPr/>
                </p:nvSpPr>
                <p:spPr>
                  <a:xfrm>
                    <a:off x="5205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5831" name="Rectangle 273"/>
                  <p:cNvSpPr/>
                  <p:nvPr/>
                </p:nvSpPr>
                <p:spPr>
                  <a:xfrm>
                    <a:off x="462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85814" name="Group 274"/>
                <p:cNvGrpSpPr/>
                <p:nvPr/>
              </p:nvGrpSpPr>
              <p:grpSpPr>
                <a:xfrm>
                  <a:off x="902" y="857"/>
                  <a:ext cx="4419" cy="145"/>
                  <a:chOff x="902" y="857"/>
                  <a:chExt cx="4419" cy="145"/>
                </a:xfrm>
              </p:grpSpPr>
              <p:sp>
                <p:nvSpPr>
                  <p:cNvPr id="285815" name="Freeform 275"/>
                  <p:cNvSpPr/>
                  <p:nvPr/>
                </p:nvSpPr>
                <p:spPr>
                  <a:xfrm>
                    <a:off x="902" y="857"/>
                    <a:ext cx="4419" cy="1"/>
                  </a:xfrm>
                  <a:custGeom>
                    <a:avLst/>
                    <a:gdLst>
                      <a:gd name="txL" fmla="*/ 0 w 4419"/>
                      <a:gd name="txT" fmla="*/ 0 h 1"/>
                      <a:gd name="txR" fmla="*/ 4419 w 4419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9" y="0"/>
                      </a:cxn>
                    </a:cxnLst>
                    <a:rect l="txL" t="txT" r="txR" b="txB"/>
                    <a:pathLst>
                      <a:path w="4419" h="1">
                        <a:moveTo>
                          <a:pt x="0" y="1"/>
                        </a:moveTo>
                        <a:lnTo>
                          <a:pt x="4419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5816" name="Line 276"/>
                  <p:cNvSpPr/>
                  <p:nvPr/>
                </p:nvSpPr>
                <p:spPr>
                  <a:xfrm>
                    <a:off x="127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5817" name="Line 277"/>
                  <p:cNvSpPr/>
                  <p:nvPr/>
                </p:nvSpPr>
                <p:spPr>
                  <a:xfrm>
                    <a:off x="184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5818" name="Line 278"/>
                  <p:cNvSpPr/>
                  <p:nvPr/>
                </p:nvSpPr>
                <p:spPr>
                  <a:xfrm>
                    <a:off x="242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5819" name="Line 279"/>
                  <p:cNvSpPr/>
                  <p:nvPr/>
                </p:nvSpPr>
                <p:spPr>
                  <a:xfrm>
                    <a:off x="3000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5820" name="Line 280"/>
                  <p:cNvSpPr/>
                  <p:nvPr/>
                </p:nvSpPr>
                <p:spPr>
                  <a:xfrm>
                    <a:off x="3576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5821" name="Line 281"/>
                  <p:cNvSpPr/>
                  <p:nvPr/>
                </p:nvSpPr>
                <p:spPr>
                  <a:xfrm>
                    <a:off x="415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5822" name="Line 282"/>
                  <p:cNvSpPr/>
                  <p:nvPr/>
                </p:nvSpPr>
                <p:spPr>
                  <a:xfrm>
                    <a:off x="472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5823" name="Line 283"/>
                  <p:cNvSpPr/>
                  <p:nvPr/>
                </p:nvSpPr>
                <p:spPr>
                  <a:xfrm>
                    <a:off x="530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</p:grpSp>
          </p:grpSp>
          <p:sp>
            <p:nvSpPr>
              <p:cNvPr id="285809" name="Text Box 284"/>
              <p:cNvSpPr txBox="1"/>
              <p:nvPr/>
            </p:nvSpPr>
            <p:spPr>
              <a:xfrm>
                <a:off x="140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810" name="Text Box 285"/>
              <p:cNvSpPr txBox="1"/>
              <p:nvPr/>
            </p:nvSpPr>
            <p:spPr>
              <a:xfrm>
                <a:off x="254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811" name="Text Box 286"/>
              <p:cNvSpPr txBox="1"/>
              <p:nvPr/>
            </p:nvSpPr>
            <p:spPr>
              <a:xfrm>
                <a:off x="3718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812" name="Text Box 287"/>
              <p:cNvSpPr txBox="1"/>
              <p:nvPr/>
            </p:nvSpPr>
            <p:spPr>
              <a:xfrm>
                <a:off x="486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5706" name="Group 288"/>
          <p:cNvGrpSpPr/>
          <p:nvPr/>
        </p:nvGrpSpPr>
        <p:grpSpPr>
          <a:xfrm>
            <a:off x="2976563" y="4178300"/>
            <a:ext cx="6261100" cy="403225"/>
            <a:chOff x="915" y="2632"/>
            <a:chExt cx="3944" cy="254"/>
          </a:xfrm>
        </p:grpSpPr>
        <p:grpSp>
          <p:nvGrpSpPr>
            <p:cNvPr id="285768" name="Group 289"/>
            <p:cNvGrpSpPr/>
            <p:nvPr/>
          </p:nvGrpSpPr>
          <p:grpSpPr>
            <a:xfrm>
              <a:off x="915" y="2696"/>
              <a:ext cx="3858" cy="190"/>
              <a:chOff x="915" y="2696"/>
              <a:chExt cx="3858" cy="190"/>
            </a:xfrm>
          </p:grpSpPr>
          <p:sp>
            <p:nvSpPr>
              <p:cNvPr id="285801" name="Freeform 290"/>
              <p:cNvSpPr/>
              <p:nvPr/>
            </p:nvSpPr>
            <p:spPr>
              <a:xfrm>
                <a:off x="1304" y="2707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5802" name="Freeform 291"/>
              <p:cNvSpPr/>
              <p:nvPr/>
            </p:nvSpPr>
            <p:spPr>
              <a:xfrm>
                <a:off x="2457" y="2710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5803" name="Freeform 292"/>
              <p:cNvSpPr/>
              <p:nvPr/>
            </p:nvSpPr>
            <p:spPr>
              <a:xfrm>
                <a:off x="3609" y="2710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5804" name="Freeform 293"/>
              <p:cNvSpPr/>
              <p:nvPr/>
            </p:nvSpPr>
            <p:spPr>
              <a:xfrm>
                <a:off x="4761" y="2696"/>
                <a:ext cx="1" cy="178"/>
              </a:xfrm>
              <a:custGeom>
                <a:avLst/>
                <a:gdLst>
                  <a:gd name="txL" fmla="*/ 0 w 1"/>
                  <a:gd name="txT" fmla="*/ 0 h 178"/>
                  <a:gd name="txR" fmla="*/ 1 w 1"/>
                  <a:gd name="txB" fmla="*/ 178 h 178"/>
                </a:gdLst>
                <a:ahLst/>
                <a:cxnLst>
                  <a:cxn ang="0">
                    <a:pos x="0" y="0"/>
                  </a:cxn>
                  <a:cxn ang="0">
                    <a:pos x="0" y="178"/>
                  </a:cxn>
                </a:cxnLst>
                <a:rect l="txL" t="txT" r="txR" b="txB"/>
                <a:pathLst>
                  <a:path w="1" h="178">
                    <a:moveTo>
                      <a:pt x="0" y="0"/>
                    </a:moveTo>
                    <a:lnTo>
                      <a:pt x="0" y="178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5805" name="Freeform 294"/>
              <p:cNvSpPr/>
              <p:nvPr/>
            </p:nvSpPr>
            <p:spPr>
              <a:xfrm>
                <a:off x="915" y="2865"/>
                <a:ext cx="3858" cy="2"/>
              </a:xfrm>
              <a:custGeom>
                <a:avLst/>
                <a:gdLst>
                  <a:gd name="txL" fmla="*/ 0 w 3858"/>
                  <a:gd name="txT" fmla="*/ 0 h 2"/>
                  <a:gd name="txR" fmla="*/ 3858 w 3858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3858" y="0"/>
                  </a:cxn>
                </a:cxnLst>
                <a:rect l="txL" t="txT" r="txR" b="txB"/>
                <a:pathLst>
                  <a:path w="3858" h="2">
                    <a:moveTo>
                      <a:pt x="0" y="2"/>
                    </a:moveTo>
                    <a:lnTo>
                      <a:pt x="3858" y="0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5769" name="Group 295"/>
            <p:cNvGrpSpPr/>
            <p:nvPr/>
          </p:nvGrpSpPr>
          <p:grpSpPr>
            <a:xfrm>
              <a:off x="1212" y="2632"/>
              <a:ext cx="192" cy="158"/>
              <a:chOff x="1212" y="2632"/>
              <a:chExt cx="192" cy="158"/>
            </a:xfrm>
          </p:grpSpPr>
          <p:grpSp>
            <p:nvGrpSpPr>
              <p:cNvPr id="285794" name="Group 296"/>
              <p:cNvGrpSpPr/>
              <p:nvPr/>
            </p:nvGrpSpPr>
            <p:grpSpPr>
              <a:xfrm>
                <a:off x="1356" y="2632"/>
                <a:ext cx="48" cy="158"/>
                <a:chOff x="1356" y="2632"/>
                <a:chExt cx="48" cy="158"/>
              </a:xfrm>
            </p:grpSpPr>
            <p:sp>
              <p:nvSpPr>
                <p:cNvPr id="285799" name="Line 297"/>
                <p:cNvSpPr/>
                <p:nvPr/>
              </p:nvSpPr>
              <p:spPr>
                <a:xfrm rot="5400000">
                  <a:off x="1325" y="2711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800" name="Line 298"/>
                <p:cNvSpPr/>
                <p:nvPr/>
              </p:nvSpPr>
              <p:spPr>
                <a:xfrm rot="5400000">
                  <a:off x="1308" y="2709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5795" name="Freeform 299"/>
              <p:cNvSpPr/>
              <p:nvPr/>
            </p:nvSpPr>
            <p:spPr>
              <a:xfrm>
                <a:off x="1260" y="2708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5796" name="Group 300"/>
              <p:cNvGrpSpPr/>
              <p:nvPr/>
            </p:nvGrpSpPr>
            <p:grpSpPr>
              <a:xfrm>
                <a:off x="1212" y="2632"/>
                <a:ext cx="48" cy="158"/>
                <a:chOff x="1212" y="2632"/>
                <a:chExt cx="48" cy="158"/>
              </a:xfrm>
            </p:grpSpPr>
            <p:sp>
              <p:nvSpPr>
                <p:cNvPr id="285797" name="Line 301"/>
                <p:cNvSpPr/>
                <p:nvPr/>
              </p:nvSpPr>
              <p:spPr>
                <a:xfrm rot="-5400000">
                  <a:off x="1133" y="2711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798" name="Line 302"/>
                <p:cNvSpPr/>
                <p:nvPr/>
              </p:nvSpPr>
              <p:spPr>
                <a:xfrm rot="-5400000">
                  <a:off x="1212" y="2713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85770" name="Group 303"/>
            <p:cNvGrpSpPr/>
            <p:nvPr/>
          </p:nvGrpSpPr>
          <p:grpSpPr>
            <a:xfrm>
              <a:off x="2364" y="2634"/>
              <a:ext cx="192" cy="158"/>
              <a:chOff x="2364" y="2634"/>
              <a:chExt cx="192" cy="158"/>
            </a:xfrm>
          </p:grpSpPr>
          <p:grpSp>
            <p:nvGrpSpPr>
              <p:cNvPr id="285787" name="Group 304"/>
              <p:cNvGrpSpPr/>
              <p:nvPr/>
            </p:nvGrpSpPr>
            <p:grpSpPr>
              <a:xfrm>
                <a:off x="2508" y="2634"/>
                <a:ext cx="48" cy="158"/>
                <a:chOff x="2508" y="2634"/>
                <a:chExt cx="48" cy="158"/>
              </a:xfrm>
            </p:grpSpPr>
            <p:sp>
              <p:nvSpPr>
                <p:cNvPr id="285792" name="Line 305"/>
                <p:cNvSpPr/>
                <p:nvPr/>
              </p:nvSpPr>
              <p:spPr>
                <a:xfrm rot="5400000">
                  <a:off x="2477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793" name="Line 306"/>
                <p:cNvSpPr/>
                <p:nvPr/>
              </p:nvSpPr>
              <p:spPr>
                <a:xfrm rot="5400000">
                  <a:off x="2460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5788" name="Freeform 307"/>
              <p:cNvSpPr/>
              <p:nvPr/>
            </p:nvSpPr>
            <p:spPr>
              <a:xfrm>
                <a:off x="2412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5789" name="Group 308"/>
              <p:cNvGrpSpPr/>
              <p:nvPr/>
            </p:nvGrpSpPr>
            <p:grpSpPr>
              <a:xfrm>
                <a:off x="2364" y="2634"/>
                <a:ext cx="48" cy="158"/>
                <a:chOff x="2364" y="2634"/>
                <a:chExt cx="48" cy="158"/>
              </a:xfrm>
            </p:grpSpPr>
            <p:sp>
              <p:nvSpPr>
                <p:cNvPr id="285790" name="Line 309"/>
                <p:cNvSpPr/>
                <p:nvPr/>
              </p:nvSpPr>
              <p:spPr>
                <a:xfrm rot="-5400000">
                  <a:off x="2285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791" name="Line 310"/>
                <p:cNvSpPr/>
                <p:nvPr/>
              </p:nvSpPr>
              <p:spPr>
                <a:xfrm rot="-5400000">
                  <a:off x="2364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85771" name="Group 311"/>
            <p:cNvGrpSpPr/>
            <p:nvPr/>
          </p:nvGrpSpPr>
          <p:grpSpPr>
            <a:xfrm>
              <a:off x="3516" y="2634"/>
              <a:ext cx="192" cy="158"/>
              <a:chOff x="3516" y="2634"/>
              <a:chExt cx="192" cy="158"/>
            </a:xfrm>
          </p:grpSpPr>
          <p:grpSp>
            <p:nvGrpSpPr>
              <p:cNvPr id="285780" name="Group 312"/>
              <p:cNvGrpSpPr/>
              <p:nvPr/>
            </p:nvGrpSpPr>
            <p:grpSpPr>
              <a:xfrm>
                <a:off x="3660" y="2634"/>
                <a:ext cx="48" cy="158"/>
                <a:chOff x="3660" y="2634"/>
                <a:chExt cx="48" cy="158"/>
              </a:xfrm>
            </p:grpSpPr>
            <p:sp>
              <p:nvSpPr>
                <p:cNvPr id="285785" name="Line 313"/>
                <p:cNvSpPr/>
                <p:nvPr/>
              </p:nvSpPr>
              <p:spPr>
                <a:xfrm rot="5400000">
                  <a:off x="3629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786" name="Line 314"/>
                <p:cNvSpPr/>
                <p:nvPr/>
              </p:nvSpPr>
              <p:spPr>
                <a:xfrm rot="5400000">
                  <a:off x="3612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5781" name="Freeform 315"/>
              <p:cNvSpPr/>
              <p:nvPr/>
            </p:nvSpPr>
            <p:spPr>
              <a:xfrm>
                <a:off x="3564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5782" name="Group 316"/>
              <p:cNvGrpSpPr/>
              <p:nvPr/>
            </p:nvGrpSpPr>
            <p:grpSpPr>
              <a:xfrm>
                <a:off x="3516" y="2634"/>
                <a:ext cx="48" cy="158"/>
                <a:chOff x="3516" y="2634"/>
                <a:chExt cx="48" cy="158"/>
              </a:xfrm>
            </p:grpSpPr>
            <p:sp>
              <p:nvSpPr>
                <p:cNvPr id="285783" name="Line 317"/>
                <p:cNvSpPr/>
                <p:nvPr/>
              </p:nvSpPr>
              <p:spPr>
                <a:xfrm rot="-5400000">
                  <a:off x="3437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784" name="Line 318"/>
                <p:cNvSpPr/>
                <p:nvPr/>
              </p:nvSpPr>
              <p:spPr>
                <a:xfrm rot="-5400000">
                  <a:off x="3516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85772" name="Group 319"/>
            <p:cNvGrpSpPr/>
            <p:nvPr/>
          </p:nvGrpSpPr>
          <p:grpSpPr>
            <a:xfrm>
              <a:off x="4667" y="2634"/>
              <a:ext cx="192" cy="158"/>
              <a:chOff x="4667" y="2634"/>
              <a:chExt cx="192" cy="158"/>
            </a:xfrm>
          </p:grpSpPr>
          <p:grpSp>
            <p:nvGrpSpPr>
              <p:cNvPr id="285773" name="Group 320"/>
              <p:cNvGrpSpPr/>
              <p:nvPr/>
            </p:nvGrpSpPr>
            <p:grpSpPr>
              <a:xfrm>
                <a:off x="4811" y="2634"/>
                <a:ext cx="48" cy="158"/>
                <a:chOff x="4811" y="2634"/>
                <a:chExt cx="48" cy="158"/>
              </a:xfrm>
            </p:grpSpPr>
            <p:sp>
              <p:nvSpPr>
                <p:cNvPr id="285778" name="Line 321"/>
                <p:cNvSpPr/>
                <p:nvPr/>
              </p:nvSpPr>
              <p:spPr>
                <a:xfrm rot="5400000">
                  <a:off x="4780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779" name="Line 322"/>
                <p:cNvSpPr/>
                <p:nvPr/>
              </p:nvSpPr>
              <p:spPr>
                <a:xfrm rot="5400000">
                  <a:off x="4763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5774" name="Freeform 323"/>
              <p:cNvSpPr/>
              <p:nvPr/>
            </p:nvSpPr>
            <p:spPr>
              <a:xfrm>
                <a:off x="4715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5775" name="Group 324"/>
              <p:cNvGrpSpPr/>
              <p:nvPr/>
            </p:nvGrpSpPr>
            <p:grpSpPr>
              <a:xfrm>
                <a:off x="4667" y="2634"/>
                <a:ext cx="48" cy="158"/>
                <a:chOff x="4667" y="2634"/>
                <a:chExt cx="48" cy="158"/>
              </a:xfrm>
            </p:grpSpPr>
            <p:sp>
              <p:nvSpPr>
                <p:cNvPr id="285776" name="Line 325"/>
                <p:cNvSpPr/>
                <p:nvPr/>
              </p:nvSpPr>
              <p:spPr>
                <a:xfrm rot="-5400000">
                  <a:off x="4588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5777" name="Line 326"/>
                <p:cNvSpPr/>
                <p:nvPr/>
              </p:nvSpPr>
              <p:spPr>
                <a:xfrm rot="-5400000">
                  <a:off x="4667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277525" name="Group 327"/>
          <p:cNvGrpSpPr/>
          <p:nvPr/>
        </p:nvGrpSpPr>
        <p:grpSpPr>
          <a:xfrm>
            <a:off x="4613275" y="5599113"/>
            <a:ext cx="6051550" cy="336550"/>
            <a:chOff x="1946" y="3527"/>
            <a:chExt cx="3812" cy="212"/>
          </a:xfrm>
        </p:grpSpPr>
        <p:grpSp>
          <p:nvGrpSpPr>
            <p:cNvPr id="285758" name="Group 328"/>
            <p:cNvGrpSpPr/>
            <p:nvPr/>
          </p:nvGrpSpPr>
          <p:grpSpPr>
            <a:xfrm>
              <a:off x="1964" y="3737"/>
              <a:ext cx="3637" cy="0"/>
              <a:chOff x="1964" y="3737"/>
              <a:chExt cx="3637" cy="0"/>
            </a:xfrm>
          </p:grpSpPr>
          <p:sp>
            <p:nvSpPr>
              <p:cNvPr id="285764" name="Line 329"/>
              <p:cNvSpPr/>
              <p:nvPr/>
            </p:nvSpPr>
            <p:spPr>
              <a:xfrm>
                <a:off x="196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5765" name="Line 330"/>
              <p:cNvSpPr/>
              <p:nvPr/>
            </p:nvSpPr>
            <p:spPr>
              <a:xfrm>
                <a:off x="314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5766" name="Line 331"/>
              <p:cNvSpPr/>
              <p:nvPr/>
            </p:nvSpPr>
            <p:spPr>
              <a:xfrm>
                <a:off x="4293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5767" name="Line 332"/>
              <p:cNvSpPr/>
              <p:nvPr/>
            </p:nvSpPr>
            <p:spPr>
              <a:xfrm>
                <a:off x="5420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</p:grpSp>
        <p:grpSp>
          <p:nvGrpSpPr>
            <p:cNvPr id="285759" name="Group 333"/>
            <p:cNvGrpSpPr/>
            <p:nvPr/>
          </p:nvGrpSpPr>
          <p:grpSpPr>
            <a:xfrm>
              <a:off x="1946" y="3527"/>
              <a:ext cx="3812" cy="212"/>
              <a:chOff x="1946" y="3527"/>
              <a:chExt cx="3812" cy="212"/>
            </a:xfrm>
          </p:grpSpPr>
          <p:sp>
            <p:nvSpPr>
              <p:cNvPr id="285760" name="Text Box 334"/>
              <p:cNvSpPr txBox="1"/>
              <p:nvPr/>
            </p:nvSpPr>
            <p:spPr>
              <a:xfrm>
                <a:off x="194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761" name="Text Box 335"/>
              <p:cNvSpPr txBox="1"/>
              <p:nvPr/>
            </p:nvSpPr>
            <p:spPr>
              <a:xfrm>
                <a:off x="310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762" name="Text Box 336"/>
              <p:cNvSpPr txBox="1"/>
              <p:nvPr/>
            </p:nvSpPr>
            <p:spPr>
              <a:xfrm>
                <a:off x="4258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5763" name="Text Box 337"/>
              <p:cNvSpPr txBox="1"/>
              <p:nvPr/>
            </p:nvSpPr>
            <p:spPr>
              <a:xfrm>
                <a:off x="541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5708" name="Group 338"/>
          <p:cNvGrpSpPr/>
          <p:nvPr/>
        </p:nvGrpSpPr>
        <p:grpSpPr>
          <a:xfrm>
            <a:off x="2976563" y="2617788"/>
            <a:ext cx="6613525" cy="1963737"/>
            <a:chOff x="915" y="1649"/>
            <a:chExt cx="4166" cy="1237"/>
          </a:xfrm>
        </p:grpSpPr>
        <p:grpSp>
          <p:nvGrpSpPr>
            <p:cNvPr id="285711" name="Group 339"/>
            <p:cNvGrpSpPr/>
            <p:nvPr/>
          </p:nvGrpSpPr>
          <p:grpSpPr>
            <a:xfrm>
              <a:off x="915" y="2633"/>
              <a:ext cx="3945" cy="253"/>
              <a:chOff x="915" y="2633"/>
              <a:chExt cx="3945" cy="253"/>
            </a:xfrm>
          </p:grpSpPr>
          <p:grpSp>
            <p:nvGrpSpPr>
              <p:cNvPr id="285720" name="Group 340"/>
              <p:cNvGrpSpPr/>
              <p:nvPr/>
            </p:nvGrpSpPr>
            <p:grpSpPr>
              <a:xfrm>
                <a:off x="915" y="2696"/>
                <a:ext cx="3858" cy="190"/>
                <a:chOff x="915" y="2696"/>
                <a:chExt cx="3858" cy="190"/>
              </a:xfrm>
            </p:grpSpPr>
            <p:sp>
              <p:nvSpPr>
                <p:cNvPr id="285753" name="Freeform 341"/>
                <p:cNvSpPr/>
                <p:nvPr/>
              </p:nvSpPr>
              <p:spPr>
                <a:xfrm>
                  <a:off x="1304" y="2707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754" name="Freeform 342"/>
                <p:cNvSpPr/>
                <p:nvPr/>
              </p:nvSpPr>
              <p:spPr>
                <a:xfrm>
                  <a:off x="2457" y="2710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755" name="Freeform 343"/>
                <p:cNvSpPr/>
                <p:nvPr/>
              </p:nvSpPr>
              <p:spPr>
                <a:xfrm>
                  <a:off x="3609" y="2710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756" name="Freeform 344"/>
                <p:cNvSpPr/>
                <p:nvPr/>
              </p:nvSpPr>
              <p:spPr>
                <a:xfrm>
                  <a:off x="4761" y="2696"/>
                  <a:ext cx="1" cy="178"/>
                </a:xfrm>
                <a:custGeom>
                  <a:avLst/>
                  <a:gdLst>
                    <a:gd name="txL" fmla="*/ 0 w 1"/>
                    <a:gd name="txT" fmla="*/ 0 h 178"/>
                    <a:gd name="txR" fmla="*/ 1 w 1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0" y="178"/>
                    </a:cxn>
                  </a:cxnLst>
                  <a:rect l="txL" t="txT" r="txR" b="txB"/>
                  <a:pathLst>
                    <a:path w="1" h="178">
                      <a:moveTo>
                        <a:pt x="0" y="0"/>
                      </a:moveTo>
                      <a:lnTo>
                        <a:pt x="0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5757" name="Freeform 345"/>
                <p:cNvSpPr/>
                <p:nvPr/>
              </p:nvSpPr>
              <p:spPr>
                <a:xfrm>
                  <a:off x="915" y="2865"/>
                  <a:ext cx="3858" cy="2"/>
                </a:xfrm>
                <a:custGeom>
                  <a:avLst/>
                  <a:gdLst>
                    <a:gd name="txL" fmla="*/ 0 w 3858"/>
                    <a:gd name="txT" fmla="*/ 0 h 2"/>
                    <a:gd name="txR" fmla="*/ 3858 w 3858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3858" y="0"/>
                    </a:cxn>
                  </a:cxnLst>
                  <a:rect l="txL" t="txT" r="txR" b="txB"/>
                  <a:pathLst>
                    <a:path w="3858" h="2">
                      <a:moveTo>
                        <a:pt x="0" y="2"/>
                      </a:moveTo>
                      <a:lnTo>
                        <a:pt x="385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85721" name="Group 346"/>
              <p:cNvGrpSpPr/>
              <p:nvPr/>
            </p:nvGrpSpPr>
            <p:grpSpPr>
              <a:xfrm>
                <a:off x="1213" y="2633"/>
                <a:ext cx="192" cy="158"/>
                <a:chOff x="1440" y="2928"/>
                <a:chExt cx="192" cy="158"/>
              </a:xfrm>
            </p:grpSpPr>
            <p:grpSp>
              <p:nvGrpSpPr>
                <p:cNvPr id="285746" name="Group 347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5751" name="Line 348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5752" name="Line 349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5747" name="Freeform 350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5748" name="Group 351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5749" name="Line 352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5750" name="Line 353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5722" name="Group 354"/>
              <p:cNvGrpSpPr/>
              <p:nvPr/>
            </p:nvGrpSpPr>
            <p:grpSpPr>
              <a:xfrm>
                <a:off x="2365" y="2635"/>
                <a:ext cx="192" cy="158"/>
                <a:chOff x="1440" y="2928"/>
                <a:chExt cx="192" cy="158"/>
              </a:xfrm>
            </p:grpSpPr>
            <p:grpSp>
              <p:nvGrpSpPr>
                <p:cNvPr id="285739" name="Group 355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5744" name="Line 356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5745" name="Line 357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5740" name="Freeform 358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5741" name="Group 359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5742" name="Line 360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5743" name="Line 361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5723" name="Group 362"/>
              <p:cNvGrpSpPr/>
              <p:nvPr/>
            </p:nvGrpSpPr>
            <p:grpSpPr>
              <a:xfrm>
                <a:off x="3517" y="2635"/>
                <a:ext cx="192" cy="158"/>
                <a:chOff x="1440" y="2928"/>
                <a:chExt cx="192" cy="158"/>
              </a:xfrm>
            </p:grpSpPr>
            <p:grpSp>
              <p:nvGrpSpPr>
                <p:cNvPr id="285732" name="Group 363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5737" name="Line 364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5738" name="Line 365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5733" name="Freeform 366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5734" name="Group 367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5735" name="Line 368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5736" name="Line 369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5724" name="Group 370"/>
              <p:cNvGrpSpPr/>
              <p:nvPr/>
            </p:nvGrpSpPr>
            <p:grpSpPr>
              <a:xfrm>
                <a:off x="4668" y="2635"/>
                <a:ext cx="192" cy="158"/>
                <a:chOff x="1440" y="2928"/>
                <a:chExt cx="192" cy="158"/>
              </a:xfrm>
            </p:grpSpPr>
            <p:grpSp>
              <p:nvGrpSpPr>
                <p:cNvPr id="285725" name="Group 371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5730" name="Line 372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5731" name="Line 373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5726" name="Freeform 374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5727" name="Group 375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5728" name="Line 376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5729" name="Line 377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85712" name="Rectangle 378"/>
            <p:cNvSpPr/>
            <p:nvPr/>
          </p:nvSpPr>
          <p:spPr>
            <a:xfrm>
              <a:off x="1152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5713" name="Text Box 379"/>
            <p:cNvSpPr txBox="1"/>
            <p:nvPr/>
          </p:nvSpPr>
          <p:spPr>
            <a:xfrm>
              <a:off x="1150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5714" name="Rectangle 380"/>
            <p:cNvSpPr/>
            <p:nvPr/>
          </p:nvSpPr>
          <p:spPr>
            <a:xfrm>
              <a:off x="2293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5715" name="Rectangle 381"/>
            <p:cNvSpPr/>
            <p:nvPr/>
          </p:nvSpPr>
          <p:spPr>
            <a:xfrm>
              <a:off x="4604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5716" name="Rectangle 382"/>
            <p:cNvSpPr/>
            <p:nvPr/>
          </p:nvSpPr>
          <p:spPr>
            <a:xfrm>
              <a:off x="3466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5717" name="Text Box 383"/>
            <p:cNvSpPr txBox="1"/>
            <p:nvPr/>
          </p:nvSpPr>
          <p:spPr>
            <a:xfrm>
              <a:off x="2314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5718" name="Text Box 384"/>
            <p:cNvSpPr txBox="1"/>
            <p:nvPr/>
          </p:nvSpPr>
          <p:spPr>
            <a:xfrm>
              <a:off x="3462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5719" name="Text Box 385"/>
            <p:cNvSpPr txBox="1"/>
            <p:nvPr/>
          </p:nvSpPr>
          <p:spPr>
            <a:xfrm>
              <a:off x="4617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85709" name="AutoShape 38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571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86722" name="Group 2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87100" name="Line 3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7101" name="Freeform 4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102" name="Line 5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7103" name="Freeform 6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7104" name="Line 7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7105" name="Text Box 8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106" name="Text Box 9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107" name="Text Box 10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108" name="Text Box 11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7109" name="Line 12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110" name="Line 13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111" name="Line 14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112" name="Line 15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113" name="Line 16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114" name="Line 17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115" name="Line 18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7116" name="Line 19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23252" name="Rectangle 2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24" name="Text Box 21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86725" name="Group 22"/>
          <p:cNvGrpSpPr/>
          <p:nvPr/>
        </p:nvGrpSpPr>
        <p:grpSpPr>
          <a:xfrm>
            <a:off x="4613275" y="5599113"/>
            <a:ext cx="6051550" cy="336550"/>
            <a:chOff x="1946" y="3527"/>
            <a:chExt cx="3812" cy="212"/>
          </a:xfrm>
        </p:grpSpPr>
        <p:sp>
          <p:nvSpPr>
            <p:cNvPr id="287096" name="Text Box 23"/>
            <p:cNvSpPr txBox="1"/>
            <p:nvPr/>
          </p:nvSpPr>
          <p:spPr>
            <a:xfrm>
              <a:off x="194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97" name="Text Box 24"/>
            <p:cNvSpPr txBox="1"/>
            <p:nvPr/>
          </p:nvSpPr>
          <p:spPr>
            <a:xfrm>
              <a:off x="310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98" name="Text Box 25"/>
            <p:cNvSpPr txBox="1"/>
            <p:nvPr/>
          </p:nvSpPr>
          <p:spPr>
            <a:xfrm>
              <a:off x="4258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99" name="Text Box 26"/>
            <p:cNvSpPr txBox="1"/>
            <p:nvPr/>
          </p:nvSpPr>
          <p:spPr>
            <a:xfrm>
              <a:off x="541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6726" name="Group 27"/>
          <p:cNvGrpSpPr/>
          <p:nvPr/>
        </p:nvGrpSpPr>
        <p:grpSpPr>
          <a:xfrm>
            <a:off x="2552700" y="6175375"/>
            <a:ext cx="563563" cy="368301"/>
            <a:chOff x="648" y="3890"/>
            <a:chExt cx="355" cy="232"/>
          </a:xfrm>
        </p:grpSpPr>
        <p:sp>
          <p:nvSpPr>
            <p:cNvPr id="287094" name="Text Box 28"/>
            <p:cNvSpPr txBox="1"/>
            <p:nvPr/>
          </p:nvSpPr>
          <p:spPr>
            <a:xfrm>
              <a:off x="648" y="3890"/>
              <a:ext cx="3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95" name="Line 29"/>
            <p:cNvSpPr/>
            <p:nvPr/>
          </p:nvSpPr>
          <p:spPr>
            <a:xfrm>
              <a:off x="682" y="3922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6727" name="Group 30"/>
          <p:cNvGrpSpPr/>
          <p:nvPr/>
        </p:nvGrpSpPr>
        <p:grpSpPr>
          <a:xfrm>
            <a:off x="2584450" y="6391275"/>
            <a:ext cx="508000" cy="398463"/>
            <a:chOff x="668" y="4026"/>
            <a:chExt cx="320" cy="251"/>
          </a:xfrm>
        </p:grpSpPr>
        <p:sp>
          <p:nvSpPr>
            <p:cNvPr id="287092" name="Text Box 31"/>
            <p:cNvSpPr txBox="1"/>
            <p:nvPr/>
          </p:nvSpPr>
          <p:spPr>
            <a:xfrm>
              <a:off x="668" y="4026"/>
              <a:ext cx="3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CS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093" name="Line 32"/>
            <p:cNvSpPr/>
            <p:nvPr/>
          </p:nvSpPr>
          <p:spPr>
            <a:xfrm>
              <a:off x="724" y="4078"/>
              <a:ext cx="192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6728" name="Group 33"/>
          <p:cNvGrpSpPr/>
          <p:nvPr/>
        </p:nvGrpSpPr>
        <p:grpSpPr>
          <a:xfrm>
            <a:off x="1746250" y="1069975"/>
            <a:ext cx="8669338" cy="5483225"/>
            <a:chOff x="140" y="674"/>
            <a:chExt cx="5461" cy="3454"/>
          </a:xfrm>
        </p:grpSpPr>
        <p:grpSp>
          <p:nvGrpSpPr>
            <p:cNvPr id="286803" name="Group 34"/>
            <p:cNvGrpSpPr/>
            <p:nvPr/>
          </p:nvGrpSpPr>
          <p:grpSpPr>
            <a:xfrm>
              <a:off x="140" y="674"/>
              <a:ext cx="5461" cy="3454"/>
              <a:chOff x="140" y="674"/>
              <a:chExt cx="5461" cy="3454"/>
            </a:xfrm>
          </p:grpSpPr>
          <p:grpSp>
            <p:nvGrpSpPr>
              <p:cNvPr id="286829" name="Group 35"/>
              <p:cNvGrpSpPr/>
              <p:nvPr/>
            </p:nvGrpSpPr>
            <p:grpSpPr>
              <a:xfrm>
                <a:off x="140" y="674"/>
                <a:ext cx="5461" cy="3454"/>
                <a:chOff x="140" y="674"/>
                <a:chExt cx="5461" cy="3454"/>
              </a:xfrm>
            </p:grpSpPr>
            <p:grpSp>
              <p:nvGrpSpPr>
                <p:cNvPr id="286869" name="Group 36"/>
                <p:cNvGrpSpPr/>
                <p:nvPr/>
              </p:nvGrpSpPr>
              <p:grpSpPr>
                <a:xfrm>
                  <a:off x="140" y="791"/>
                  <a:ext cx="5461" cy="3337"/>
                  <a:chOff x="140" y="791"/>
                  <a:chExt cx="5461" cy="3337"/>
                </a:xfrm>
              </p:grpSpPr>
              <p:sp>
                <p:nvSpPr>
                  <p:cNvPr id="286881" name="Rectangle 37"/>
                  <p:cNvSpPr/>
                  <p:nvPr/>
                </p:nvSpPr>
                <p:spPr>
                  <a:xfrm>
                    <a:off x="332" y="2181"/>
                    <a:ext cx="576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882" name="Rectangle 38"/>
                  <p:cNvSpPr/>
                  <p:nvPr/>
                </p:nvSpPr>
                <p:spPr>
                  <a:xfrm>
                    <a:off x="1728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83" name="Text Box 39"/>
                  <p:cNvSpPr txBox="1"/>
                  <p:nvPr/>
                </p:nvSpPr>
                <p:spPr>
                  <a:xfrm>
                    <a:off x="1408" y="870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84" name="Rectangle 40"/>
                  <p:cNvSpPr/>
                  <p:nvPr/>
                </p:nvSpPr>
                <p:spPr>
                  <a:xfrm>
                    <a:off x="1152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85" name="Rectangle 41"/>
                  <p:cNvSpPr/>
                  <p:nvPr/>
                </p:nvSpPr>
                <p:spPr>
                  <a:xfrm>
                    <a:off x="2869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86" name="Text Box 42"/>
                  <p:cNvSpPr txBox="1"/>
                  <p:nvPr/>
                </p:nvSpPr>
                <p:spPr>
                  <a:xfrm>
                    <a:off x="2549" y="870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87" name="Rectangle 43"/>
                  <p:cNvSpPr/>
                  <p:nvPr/>
                </p:nvSpPr>
                <p:spPr>
                  <a:xfrm>
                    <a:off x="2293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88" name="Rectangle 44"/>
                  <p:cNvSpPr/>
                  <p:nvPr/>
                </p:nvSpPr>
                <p:spPr>
                  <a:xfrm>
                    <a:off x="4044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89" name="Text Box 45"/>
                  <p:cNvSpPr txBox="1"/>
                  <p:nvPr/>
                </p:nvSpPr>
                <p:spPr>
                  <a:xfrm>
                    <a:off x="3724" y="870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90" name="Rectangle 46"/>
                  <p:cNvSpPr/>
                  <p:nvPr/>
                </p:nvSpPr>
                <p:spPr>
                  <a:xfrm>
                    <a:off x="3468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91" name="Rectangle 47"/>
                  <p:cNvSpPr/>
                  <p:nvPr/>
                </p:nvSpPr>
                <p:spPr>
                  <a:xfrm>
                    <a:off x="5180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92" name="Text Box 48"/>
                  <p:cNvSpPr txBox="1"/>
                  <p:nvPr/>
                </p:nvSpPr>
                <p:spPr>
                  <a:xfrm>
                    <a:off x="4860" y="870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93" name="Rectangle 49"/>
                  <p:cNvSpPr/>
                  <p:nvPr/>
                </p:nvSpPr>
                <p:spPr>
                  <a:xfrm>
                    <a:off x="4604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94" name="Rectangle 50"/>
                  <p:cNvSpPr/>
                  <p:nvPr/>
                </p:nvSpPr>
                <p:spPr>
                  <a:xfrm>
                    <a:off x="1728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95" name="Rectangle 51"/>
                  <p:cNvSpPr/>
                  <p:nvPr/>
                </p:nvSpPr>
                <p:spPr>
                  <a:xfrm>
                    <a:off x="1152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96" name="Rectangle 52"/>
                  <p:cNvSpPr/>
                  <p:nvPr/>
                </p:nvSpPr>
                <p:spPr>
                  <a:xfrm>
                    <a:off x="2869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97" name="Rectangle 53"/>
                  <p:cNvSpPr/>
                  <p:nvPr/>
                </p:nvSpPr>
                <p:spPr>
                  <a:xfrm>
                    <a:off x="2293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98" name="Rectangle 54"/>
                  <p:cNvSpPr/>
                  <p:nvPr/>
                </p:nvSpPr>
                <p:spPr>
                  <a:xfrm>
                    <a:off x="4044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99" name="Rectangle 55"/>
                  <p:cNvSpPr/>
                  <p:nvPr/>
                </p:nvSpPr>
                <p:spPr>
                  <a:xfrm>
                    <a:off x="3468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900" name="Rectangle 56"/>
                  <p:cNvSpPr/>
                  <p:nvPr/>
                </p:nvSpPr>
                <p:spPr>
                  <a:xfrm>
                    <a:off x="5180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901" name="Rectangle 57"/>
                  <p:cNvSpPr/>
                  <p:nvPr/>
                </p:nvSpPr>
                <p:spPr>
                  <a:xfrm>
                    <a:off x="4604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902" name="Line 58"/>
                  <p:cNvSpPr/>
                  <p:nvPr/>
                </p:nvSpPr>
                <p:spPr>
                  <a:xfrm rot="5400000">
                    <a:off x="1325" y="2712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03" name="Line 59"/>
                  <p:cNvSpPr/>
                  <p:nvPr/>
                </p:nvSpPr>
                <p:spPr>
                  <a:xfrm rot="5400000">
                    <a:off x="1308" y="2710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04" name="Freeform 60"/>
                  <p:cNvSpPr/>
                  <p:nvPr/>
                </p:nvSpPr>
                <p:spPr>
                  <a:xfrm>
                    <a:off x="1260" y="2709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05" name="Line 61"/>
                  <p:cNvSpPr/>
                  <p:nvPr/>
                </p:nvSpPr>
                <p:spPr>
                  <a:xfrm rot="-5400000">
                    <a:off x="1133" y="2712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06" name="Line 62"/>
                  <p:cNvSpPr/>
                  <p:nvPr/>
                </p:nvSpPr>
                <p:spPr>
                  <a:xfrm rot="-5400000">
                    <a:off x="1212" y="2714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07" name="Freeform 63"/>
                  <p:cNvSpPr/>
                  <p:nvPr/>
                </p:nvSpPr>
                <p:spPr>
                  <a:xfrm>
                    <a:off x="1434" y="2353"/>
                    <a:ext cx="112" cy="1"/>
                  </a:xfrm>
                  <a:custGeom>
                    <a:avLst/>
                    <a:gdLst>
                      <a:gd name="txL" fmla="*/ 0 w 112"/>
                      <a:gd name="txT" fmla="*/ 0 h 1"/>
                      <a:gd name="txR" fmla="*/ 112 w 11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12" y="0"/>
                      </a:cxn>
                    </a:cxnLst>
                    <a:rect l="txL" t="txT" r="txR" b="txB"/>
                    <a:pathLst>
                      <a:path w="112" h="1">
                        <a:moveTo>
                          <a:pt x="0" y="0"/>
                        </a:moveTo>
                        <a:lnTo>
                          <a:pt x="112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08" name="Freeform 64"/>
                  <p:cNvSpPr/>
                  <p:nvPr/>
                </p:nvSpPr>
                <p:spPr>
                  <a:xfrm>
                    <a:off x="1059" y="1209"/>
                    <a:ext cx="152" cy="1469"/>
                  </a:xfrm>
                  <a:custGeom>
                    <a:avLst/>
                    <a:gdLst>
                      <a:gd name="txL" fmla="*/ 0 w 152"/>
                      <a:gd name="txT" fmla="*/ 0 h 1469"/>
                      <a:gd name="txR" fmla="*/ 152 w 152"/>
                      <a:gd name="txB" fmla="*/ 1469 h 1469"/>
                    </a:gdLst>
                    <a:ahLst/>
                    <a:cxnLst>
                      <a:cxn ang="0">
                        <a:pos x="152" y="1469"/>
                      </a:cxn>
                      <a:cxn ang="0">
                        <a:pos x="0" y="1469"/>
                      </a:cxn>
                      <a:cxn ang="0">
                        <a:pos x="0" y="0"/>
                      </a:cxn>
                      <a:cxn ang="0">
                        <a:pos x="95" y="1"/>
                      </a:cxn>
                    </a:cxnLst>
                    <a:rect l="txL" t="txT" r="txR" b="txB"/>
                    <a:pathLst>
                      <a:path w="152" h="1469">
                        <a:moveTo>
                          <a:pt x="152" y="1469"/>
                        </a:moveTo>
                        <a:lnTo>
                          <a:pt x="0" y="1469"/>
                        </a:lnTo>
                        <a:lnTo>
                          <a:pt x="0" y="0"/>
                        </a:lnTo>
                        <a:lnTo>
                          <a:pt x="95" y="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09" name="Freeform 65"/>
                  <p:cNvSpPr/>
                  <p:nvPr/>
                </p:nvSpPr>
                <p:spPr>
                  <a:xfrm>
                    <a:off x="1055" y="2353"/>
                    <a:ext cx="102" cy="1"/>
                  </a:xfrm>
                  <a:custGeom>
                    <a:avLst/>
                    <a:gdLst>
                      <a:gd name="txL" fmla="*/ 0 w 102"/>
                      <a:gd name="txT" fmla="*/ 0 h 1"/>
                      <a:gd name="txR" fmla="*/ 102 w 102"/>
                      <a:gd name="txB" fmla="*/ 1 h 1"/>
                    </a:gdLst>
                    <a:ahLst/>
                    <a:cxnLst>
                      <a:cxn ang="0">
                        <a:pos x="102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2" h="1">
                        <a:moveTo>
                          <a:pt x="102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10" name="Line 66"/>
                  <p:cNvSpPr/>
                  <p:nvPr/>
                </p:nvSpPr>
                <p:spPr>
                  <a:xfrm rot="5400000">
                    <a:off x="1896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11" name="Line 67"/>
                  <p:cNvSpPr/>
                  <p:nvPr/>
                </p:nvSpPr>
                <p:spPr>
                  <a:xfrm rot="5400000">
                    <a:off x="1879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12" name="Freeform 68"/>
                  <p:cNvSpPr/>
                  <p:nvPr/>
                </p:nvSpPr>
                <p:spPr>
                  <a:xfrm>
                    <a:off x="1831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13" name="Line 69"/>
                  <p:cNvSpPr/>
                  <p:nvPr/>
                </p:nvSpPr>
                <p:spPr>
                  <a:xfrm rot="-5400000">
                    <a:off x="1704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14" name="Line 70"/>
                  <p:cNvSpPr/>
                  <p:nvPr/>
                </p:nvSpPr>
                <p:spPr>
                  <a:xfrm rot="-5400000">
                    <a:off x="1783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15" name="Freeform 71"/>
                  <p:cNvSpPr/>
                  <p:nvPr/>
                </p:nvSpPr>
                <p:spPr>
                  <a:xfrm>
                    <a:off x="2005" y="2353"/>
                    <a:ext cx="103" cy="1"/>
                  </a:xfrm>
                  <a:custGeom>
                    <a:avLst/>
                    <a:gdLst>
                      <a:gd name="txL" fmla="*/ 0 w 103"/>
                      <a:gd name="txT" fmla="*/ 0 h 1"/>
                      <a:gd name="txR" fmla="*/ 103 w 103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3" y="0"/>
                      </a:cxn>
                    </a:cxnLst>
                    <a:rect l="txL" t="txT" r="txR" b="txB"/>
                    <a:pathLst>
                      <a:path w="103" h="1">
                        <a:moveTo>
                          <a:pt x="0" y="0"/>
                        </a:moveTo>
                        <a:lnTo>
                          <a:pt x="103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16" name="Freeform 72"/>
                  <p:cNvSpPr/>
                  <p:nvPr/>
                </p:nvSpPr>
                <p:spPr>
                  <a:xfrm>
                    <a:off x="1611" y="2352"/>
                    <a:ext cx="113" cy="1"/>
                  </a:xfrm>
                  <a:custGeom>
                    <a:avLst/>
                    <a:gdLst>
                      <a:gd name="txL" fmla="*/ 0 w 113"/>
                      <a:gd name="txT" fmla="*/ 0 h 1"/>
                      <a:gd name="txR" fmla="*/ 113 w 113"/>
                      <a:gd name="txB" fmla="*/ 1 h 1"/>
                    </a:gdLst>
                    <a:ahLst/>
                    <a:cxnLst>
                      <a:cxn ang="0">
                        <a:pos x="113" y="1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13" h="1">
                        <a:moveTo>
                          <a:pt x="113" y="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17" name="Line 73"/>
                  <p:cNvSpPr/>
                  <p:nvPr/>
                </p:nvSpPr>
                <p:spPr>
                  <a:xfrm rot="5400000">
                    <a:off x="2477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18" name="Line 74"/>
                  <p:cNvSpPr/>
                  <p:nvPr/>
                </p:nvSpPr>
                <p:spPr>
                  <a:xfrm rot="5400000">
                    <a:off x="2460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19" name="Freeform 75"/>
                  <p:cNvSpPr/>
                  <p:nvPr/>
                </p:nvSpPr>
                <p:spPr>
                  <a:xfrm>
                    <a:off x="2412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20" name="Line 76"/>
                  <p:cNvSpPr/>
                  <p:nvPr/>
                </p:nvSpPr>
                <p:spPr>
                  <a:xfrm rot="-5400000">
                    <a:off x="2285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21" name="Line 77"/>
                  <p:cNvSpPr/>
                  <p:nvPr/>
                </p:nvSpPr>
                <p:spPr>
                  <a:xfrm rot="-5400000">
                    <a:off x="2364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22" name="Freeform 78"/>
                  <p:cNvSpPr/>
                  <p:nvPr/>
                </p:nvSpPr>
                <p:spPr>
                  <a:xfrm>
                    <a:off x="2586" y="2353"/>
                    <a:ext cx="109" cy="1"/>
                  </a:xfrm>
                  <a:custGeom>
                    <a:avLst/>
                    <a:gdLst>
                      <a:gd name="txL" fmla="*/ 0 w 109"/>
                      <a:gd name="txT" fmla="*/ 0 h 1"/>
                      <a:gd name="txR" fmla="*/ 109 w 109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9" y="0"/>
                      </a:cxn>
                    </a:cxnLst>
                    <a:rect l="txL" t="txT" r="txR" b="txB"/>
                    <a:pathLst>
                      <a:path w="109" h="1">
                        <a:moveTo>
                          <a:pt x="0" y="0"/>
                        </a:moveTo>
                        <a:lnTo>
                          <a:pt x="10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23" name="Freeform 79"/>
                  <p:cNvSpPr/>
                  <p:nvPr/>
                </p:nvSpPr>
                <p:spPr>
                  <a:xfrm>
                    <a:off x="2207" y="2353"/>
                    <a:ext cx="89" cy="1"/>
                  </a:xfrm>
                  <a:custGeom>
                    <a:avLst/>
                    <a:gdLst>
                      <a:gd name="txL" fmla="*/ 0 w 89"/>
                      <a:gd name="txT" fmla="*/ 0 h 1"/>
                      <a:gd name="txR" fmla="*/ 89 w 89"/>
                      <a:gd name="txB" fmla="*/ 1 h 1"/>
                    </a:gdLst>
                    <a:ahLst/>
                    <a:cxnLst>
                      <a:cxn ang="0">
                        <a:pos x="89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89" h="1">
                        <a:moveTo>
                          <a:pt x="89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24" name="Line 80"/>
                  <p:cNvSpPr/>
                  <p:nvPr/>
                </p:nvSpPr>
                <p:spPr>
                  <a:xfrm rot="5400000">
                    <a:off x="3053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25" name="Line 81"/>
                  <p:cNvSpPr/>
                  <p:nvPr/>
                </p:nvSpPr>
                <p:spPr>
                  <a:xfrm rot="5400000">
                    <a:off x="3036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26" name="Freeform 82"/>
                  <p:cNvSpPr/>
                  <p:nvPr/>
                </p:nvSpPr>
                <p:spPr>
                  <a:xfrm>
                    <a:off x="2988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27" name="Line 83"/>
                  <p:cNvSpPr/>
                  <p:nvPr/>
                </p:nvSpPr>
                <p:spPr>
                  <a:xfrm rot="-5400000">
                    <a:off x="2861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28" name="Line 84"/>
                  <p:cNvSpPr/>
                  <p:nvPr/>
                </p:nvSpPr>
                <p:spPr>
                  <a:xfrm rot="-5400000">
                    <a:off x="2940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29" name="Freeform 85"/>
                  <p:cNvSpPr/>
                  <p:nvPr/>
                </p:nvSpPr>
                <p:spPr>
                  <a:xfrm>
                    <a:off x="3162" y="2353"/>
                    <a:ext cx="115" cy="1"/>
                  </a:xfrm>
                  <a:custGeom>
                    <a:avLst/>
                    <a:gdLst>
                      <a:gd name="txL" fmla="*/ 0 w 115"/>
                      <a:gd name="txT" fmla="*/ 0 h 1"/>
                      <a:gd name="txR" fmla="*/ 115 w 115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15" y="0"/>
                      </a:cxn>
                    </a:cxnLst>
                    <a:rect l="txL" t="txT" r="txR" b="txB"/>
                    <a:pathLst>
                      <a:path w="115" h="1">
                        <a:moveTo>
                          <a:pt x="0" y="0"/>
                        </a:moveTo>
                        <a:lnTo>
                          <a:pt x="11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30" name="Freeform 86"/>
                  <p:cNvSpPr/>
                  <p:nvPr/>
                </p:nvSpPr>
                <p:spPr>
                  <a:xfrm>
                    <a:off x="2783" y="2353"/>
                    <a:ext cx="90" cy="1"/>
                  </a:xfrm>
                  <a:custGeom>
                    <a:avLst/>
                    <a:gdLst>
                      <a:gd name="txL" fmla="*/ 0 w 90"/>
                      <a:gd name="txT" fmla="*/ 0 h 1"/>
                      <a:gd name="txR" fmla="*/ 90 w 90"/>
                      <a:gd name="txB" fmla="*/ 1 h 1"/>
                    </a:gdLst>
                    <a:ahLst/>
                    <a:cxnLst>
                      <a:cxn ang="0">
                        <a:pos x="90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90" h="1">
                        <a:moveTo>
                          <a:pt x="90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31" name="Line 87"/>
                  <p:cNvSpPr/>
                  <p:nvPr/>
                </p:nvSpPr>
                <p:spPr>
                  <a:xfrm rot="5400000">
                    <a:off x="3629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32" name="Line 88"/>
                  <p:cNvSpPr/>
                  <p:nvPr/>
                </p:nvSpPr>
                <p:spPr>
                  <a:xfrm rot="5400000">
                    <a:off x="3612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33" name="Freeform 89"/>
                  <p:cNvSpPr/>
                  <p:nvPr/>
                </p:nvSpPr>
                <p:spPr>
                  <a:xfrm>
                    <a:off x="3564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34" name="Line 90"/>
                  <p:cNvSpPr/>
                  <p:nvPr/>
                </p:nvSpPr>
                <p:spPr>
                  <a:xfrm rot="-5400000">
                    <a:off x="3437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35" name="Line 91"/>
                  <p:cNvSpPr/>
                  <p:nvPr/>
                </p:nvSpPr>
                <p:spPr>
                  <a:xfrm rot="-5400000">
                    <a:off x="3516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36" name="Freeform 92"/>
                  <p:cNvSpPr/>
                  <p:nvPr/>
                </p:nvSpPr>
                <p:spPr>
                  <a:xfrm>
                    <a:off x="3751" y="2352"/>
                    <a:ext cx="100" cy="1"/>
                  </a:xfrm>
                  <a:custGeom>
                    <a:avLst/>
                    <a:gdLst>
                      <a:gd name="txL" fmla="*/ 0 w 100"/>
                      <a:gd name="txT" fmla="*/ 0 h 1"/>
                      <a:gd name="txR" fmla="*/ 100 w 100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0" y="1"/>
                      </a:cxn>
                    </a:cxnLst>
                    <a:rect l="txL" t="txT" r="txR" b="txB"/>
                    <a:pathLst>
                      <a:path w="100" h="1">
                        <a:moveTo>
                          <a:pt x="0" y="0"/>
                        </a:moveTo>
                        <a:lnTo>
                          <a:pt x="100" y="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37" name="Freeform 93"/>
                  <p:cNvSpPr/>
                  <p:nvPr/>
                </p:nvSpPr>
                <p:spPr>
                  <a:xfrm>
                    <a:off x="3359" y="2353"/>
                    <a:ext cx="108" cy="1"/>
                  </a:xfrm>
                  <a:custGeom>
                    <a:avLst/>
                    <a:gdLst>
                      <a:gd name="txL" fmla="*/ 0 w 108"/>
                      <a:gd name="txT" fmla="*/ 0 h 1"/>
                      <a:gd name="txR" fmla="*/ 108 w 108"/>
                      <a:gd name="txB" fmla="*/ 1 h 1"/>
                    </a:gdLst>
                    <a:ahLst/>
                    <a:cxnLst>
                      <a:cxn ang="0">
                        <a:pos x="108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8" h="1">
                        <a:moveTo>
                          <a:pt x="108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38" name="Line 94"/>
                  <p:cNvSpPr/>
                  <p:nvPr/>
                </p:nvSpPr>
                <p:spPr>
                  <a:xfrm rot="5400000">
                    <a:off x="4205" y="2698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39" name="Line 95"/>
                  <p:cNvSpPr/>
                  <p:nvPr/>
                </p:nvSpPr>
                <p:spPr>
                  <a:xfrm rot="5400000">
                    <a:off x="4188" y="2696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40" name="Freeform 96"/>
                  <p:cNvSpPr/>
                  <p:nvPr/>
                </p:nvSpPr>
                <p:spPr>
                  <a:xfrm>
                    <a:off x="4140" y="2695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41" name="Line 97"/>
                  <p:cNvSpPr/>
                  <p:nvPr/>
                </p:nvSpPr>
                <p:spPr>
                  <a:xfrm rot="-5400000">
                    <a:off x="4013" y="2698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42" name="Line 98"/>
                  <p:cNvSpPr/>
                  <p:nvPr/>
                </p:nvSpPr>
                <p:spPr>
                  <a:xfrm rot="-5400000">
                    <a:off x="4092" y="2700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943" name="Freeform 99"/>
                  <p:cNvSpPr/>
                  <p:nvPr/>
                </p:nvSpPr>
                <p:spPr>
                  <a:xfrm>
                    <a:off x="4336" y="2351"/>
                    <a:ext cx="90" cy="2"/>
                  </a:xfrm>
                  <a:custGeom>
                    <a:avLst/>
                    <a:gdLst>
                      <a:gd name="txL" fmla="*/ 0 w 90"/>
                      <a:gd name="txT" fmla="*/ 0 h 2"/>
                      <a:gd name="txR" fmla="*/ 90 w 90"/>
                      <a:gd name="txB" fmla="*/ 2 h 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0" y="2"/>
                      </a:cxn>
                    </a:cxnLst>
                    <a:rect l="txL" t="txT" r="txR" b="txB"/>
                    <a:pathLst>
                      <a:path w="90" h="2">
                        <a:moveTo>
                          <a:pt x="0" y="0"/>
                        </a:moveTo>
                        <a:lnTo>
                          <a:pt x="90" y="2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44" name="Freeform 100"/>
                  <p:cNvSpPr/>
                  <p:nvPr/>
                </p:nvSpPr>
                <p:spPr>
                  <a:xfrm>
                    <a:off x="3935" y="2353"/>
                    <a:ext cx="104" cy="1"/>
                  </a:xfrm>
                  <a:custGeom>
                    <a:avLst/>
                    <a:gdLst>
                      <a:gd name="txL" fmla="*/ 0 w 104"/>
                      <a:gd name="txT" fmla="*/ 0 h 1"/>
                      <a:gd name="txR" fmla="*/ 104 w 104"/>
                      <a:gd name="txB" fmla="*/ 1 h 1"/>
                    </a:gdLst>
                    <a:ahLst/>
                    <a:cxnLst>
                      <a:cxn ang="0">
                        <a:pos x="104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4" h="1">
                        <a:moveTo>
                          <a:pt x="104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6945" name="Group 101"/>
                  <p:cNvGrpSpPr/>
                  <p:nvPr/>
                </p:nvGrpSpPr>
                <p:grpSpPr>
                  <a:xfrm>
                    <a:off x="4668" y="2634"/>
                    <a:ext cx="192" cy="158"/>
                    <a:chOff x="4692" y="2634"/>
                    <a:chExt cx="192" cy="158"/>
                  </a:xfrm>
                </p:grpSpPr>
                <p:grpSp>
                  <p:nvGrpSpPr>
                    <p:cNvPr id="287085" name="Group 102"/>
                    <p:cNvGrpSpPr/>
                    <p:nvPr/>
                  </p:nvGrpSpPr>
                  <p:grpSpPr>
                    <a:xfrm>
                      <a:off x="4836" y="2634"/>
                      <a:ext cx="48" cy="158"/>
                      <a:chOff x="4836" y="2634"/>
                      <a:chExt cx="48" cy="158"/>
                    </a:xfrm>
                  </p:grpSpPr>
                  <p:sp>
                    <p:nvSpPr>
                      <p:cNvPr id="287090" name="Line 103"/>
                      <p:cNvSpPr/>
                      <p:nvPr/>
                    </p:nvSpPr>
                    <p:spPr>
                      <a:xfrm rot="5400000">
                        <a:off x="4805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7091" name="Line 104"/>
                      <p:cNvSpPr/>
                      <p:nvPr/>
                    </p:nvSpPr>
                    <p:spPr>
                      <a:xfrm rot="5400000">
                        <a:off x="4788" y="2711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87086" name="Freeform 105"/>
                    <p:cNvSpPr/>
                    <p:nvPr/>
                  </p:nvSpPr>
                  <p:spPr>
                    <a:xfrm>
                      <a:off x="4740" y="2710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87087" name="Group 106"/>
                    <p:cNvGrpSpPr/>
                    <p:nvPr/>
                  </p:nvGrpSpPr>
                  <p:grpSpPr>
                    <a:xfrm>
                      <a:off x="4692" y="2634"/>
                      <a:ext cx="48" cy="158"/>
                      <a:chOff x="4692" y="2634"/>
                      <a:chExt cx="48" cy="158"/>
                    </a:xfrm>
                  </p:grpSpPr>
                  <p:sp>
                    <p:nvSpPr>
                      <p:cNvPr id="287088" name="Line 107"/>
                      <p:cNvSpPr/>
                      <p:nvPr/>
                    </p:nvSpPr>
                    <p:spPr>
                      <a:xfrm rot="-5400000">
                        <a:off x="4613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7089" name="Line 108"/>
                      <p:cNvSpPr/>
                      <p:nvPr/>
                    </p:nvSpPr>
                    <p:spPr>
                      <a:xfrm rot="-5400000">
                        <a:off x="4692" y="2715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286946" name="Freeform 109"/>
                  <p:cNvSpPr/>
                  <p:nvPr/>
                </p:nvSpPr>
                <p:spPr>
                  <a:xfrm>
                    <a:off x="4890" y="2353"/>
                    <a:ext cx="107" cy="1"/>
                  </a:xfrm>
                  <a:custGeom>
                    <a:avLst/>
                    <a:gdLst>
                      <a:gd name="txL" fmla="*/ 0 w 107"/>
                      <a:gd name="txT" fmla="*/ 0 h 1"/>
                      <a:gd name="txR" fmla="*/ 107 w 107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7" y="0"/>
                      </a:cxn>
                    </a:cxnLst>
                    <a:rect l="txL" t="txT" r="txR" b="txB"/>
                    <a:pathLst>
                      <a:path w="107" h="1">
                        <a:moveTo>
                          <a:pt x="0" y="0"/>
                        </a:moveTo>
                        <a:lnTo>
                          <a:pt x="10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47" name="Freeform 110"/>
                  <p:cNvSpPr/>
                  <p:nvPr/>
                </p:nvSpPr>
                <p:spPr>
                  <a:xfrm>
                    <a:off x="4511" y="2353"/>
                    <a:ext cx="96" cy="1"/>
                  </a:xfrm>
                  <a:custGeom>
                    <a:avLst/>
                    <a:gdLst>
                      <a:gd name="txL" fmla="*/ 0 w 96"/>
                      <a:gd name="txT" fmla="*/ 0 h 1"/>
                      <a:gd name="txR" fmla="*/ 96 w 96"/>
                      <a:gd name="txB" fmla="*/ 1 h 1"/>
                    </a:gdLst>
                    <a:ahLst/>
                    <a:cxnLst>
                      <a:cxn ang="0">
                        <a:pos x="96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96" h="1">
                        <a:moveTo>
                          <a:pt x="96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6948" name="Group 111"/>
                  <p:cNvGrpSpPr/>
                  <p:nvPr/>
                </p:nvGrpSpPr>
                <p:grpSpPr>
                  <a:xfrm>
                    <a:off x="5235" y="2634"/>
                    <a:ext cx="192" cy="158"/>
                    <a:chOff x="5259" y="2634"/>
                    <a:chExt cx="192" cy="158"/>
                  </a:xfrm>
                </p:grpSpPr>
                <p:grpSp>
                  <p:nvGrpSpPr>
                    <p:cNvPr id="287078" name="Group 112"/>
                    <p:cNvGrpSpPr/>
                    <p:nvPr/>
                  </p:nvGrpSpPr>
                  <p:grpSpPr>
                    <a:xfrm>
                      <a:off x="5403" y="2634"/>
                      <a:ext cx="48" cy="158"/>
                      <a:chOff x="5403" y="2634"/>
                      <a:chExt cx="48" cy="158"/>
                    </a:xfrm>
                  </p:grpSpPr>
                  <p:sp>
                    <p:nvSpPr>
                      <p:cNvPr id="287083" name="Line 113"/>
                      <p:cNvSpPr/>
                      <p:nvPr/>
                    </p:nvSpPr>
                    <p:spPr>
                      <a:xfrm rot="5400000">
                        <a:off x="5372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7084" name="Line 114"/>
                      <p:cNvSpPr/>
                      <p:nvPr/>
                    </p:nvSpPr>
                    <p:spPr>
                      <a:xfrm rot="5400000">
                        <a:off x="5355" y="2711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87079" name="Freeform 115"/>
                    <p:cNvSpPr/>
                    <p:nvPr/>
                  </p:nvSpPr>
                  <p:spPr>
                    <a:xfrm>
                      <a:off x="5307" y="2710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87080" name="Group 116"/>
                    <p:cNvGrpSpPr/>
                    <p:nvPr/>
                  </p:nvGrpSpPr>
                  <p:grpSpPr>
                    <a:xfrm>
                      <a:off x="5259" y="2634"/>
                      <a:ext cx="48" cy="158"/>
                      <a:chOff x="5259" y="2634"/>
                      <a:chExt cx="48" cy="158"/>
                    </a:xfrm>
                  </p:grpSpPr>
                  <p:sp>
                    <p:nvSpPr>
                      <p:cNvPr id="287081" name="Line 117"/>
                      <p:cNvSpPr/>
                      <p:nvPr/>
                    </p:nvSpPr>
                    <p:spPr>
                      <a:xfrm rot="-5400000">
                        <a:off x="5180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7082" name="Line 118"/>
                      <p:cNvSpPr/>
                      <p:nvPr/>
                    </p:nvSpPr>
                    <p:spPr>
                      <a:xfrm rot="-5400000">
                        <a:off x="5259" y="2715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286949" name="Freeform 119"/>
                  <p:cNvSpPr/>
                  <p:nvPr/>
                </p:nvSpPr>
                <p:spPr>
                  <a:xfrm>
                    <a:off x="5467" y="2351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2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0"/>
                        </a:moveTo>
                        <a:lnTo>
                          <a:pt x="96" y="2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50" name="Freeform 120"/>
                  <p:cNvSpPr/>
                  <p:nvPr/>
                </p:nvSpPr>
                <p:spPr>
                  <a:xfrm>
                    <a:off x="5078" y="2353"/>
                    <a:ext cx="101" cy="1"/>
                  </a:xfrm>
                  <a:custGeom>
                    <a:avLst/>
                    <a:gdLst>
                      <a:gd name="txL" fmla="*/ 0 w 101"/>
                      <a:gd name="txT" fmla="*/ 0 h 1"/>
                      <a:gd name="txR" fmla="*/ 101 w 101"/>
                      <a:gd name="txB" fmla="*/ 1 h 1"/>
                    </a:gdLst>
                    <a:ahLst/>
                    <a:cxnLst>
                      <a:cxn ang="0">
                        <a:pos x="101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1" h="1">
                        <a:moveTo>
                          <a:pt x="101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51" name="Freeform 121"/>
                  <p:cNvSpPr/>
                  <p:nvPr/>
                </p:nvSpPr>
                <p:spPr>
                  <a:xfrm>
                    <a:off x="908" y="856"/>
                    <a:ext cx="4419" cy="1"/>
                  </a:xfrm>
                  <a:custGeom>
                    <a:avLst/>
                    <a:gdLst>
                      <a:gd name="txL" fmla="*/ 0 w 4419"/>
                      <a:gd name="txT" fmla="*/ 0 h 1"/>
                      <a:gd name="txR" fmla="*/ 4419 w 4419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9" y="0"/>
                      </a:cxn>
                    </a:cxnLst>
                    <a:rect l="txL" t="txT" r="txR" b="txB"/>
                    <a:pathLst>
                      <a:path w="4419" h="1">
                        <a:moveTo>
                          <a:pt x="0" y="1"/>
                        </a:moveTo>
                        <a:lnTo>
                          <a:pt x="441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52" name="Line 122"/>
                  <p:cNvSpPr/>
                  <p:nvPr/>
                </p:nvSpPr>
                <p:spPr>
                  <a:xfrm>
                    <a:off x="1292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53" name="Line 123"/>
                  <p:cNvSpPr/>
                  <p:nvPr/>
                </p:nvSpPr>
                <p:spPr>
                  <a:xfrm>
                    <a:off x="1868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54" name="Line 124"/>
                  <p:cNvSpPr/>
                  <p:nvPr/>
                </p:nvSpPr>
                <p:spPr>
                  <a:xfrm>
                    <a:off x="2444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55" name="Line 125"/>
                  <p:cNvSpPr/>
                  <p:nvPr/>
                </p:nvSpPr>
                <p:spPr>
                  <a:xfrm>
                    <a:off x="3020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56" name="Line 126"/>
                  <p:cNvSpPr/>
                  <p:nvPr/>
                </p:nvSpPr>
                <p:spPr>
                  <a:xfrm>
                    <a:off x="3596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57" name="Line 127"/>
                  <p:cNvSpPr/>
                  <p:nvPr/>
                </p:nvSpPr>
                <p:spPr>
                  <a:xfrm>
                    <a:off x="4172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58" name="Line 128"/>
                  <p:cNvSpPr/>
                  <p:nvPr/>
                </p:nvSpPr>
                <p:spPr>
                  <a:xfrm>
                    <a:off x="4748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59" name="Line 129"/>
                  <p:cNvSpPr/>
                  <p:nvPr/>
                </p:nvSpPr>
                <p:spPr>
                  <a:xfrm>
                    <a:off x="5324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med" len="med"/>
                  </a:ln>
                </p:spPr>
              </p:sp>
              <p:sp>
                <p:nvSpPr>
                  <p:cNvPr id="286960" name="Freeform 130"/>
                  <p:cNvSpPr/>
                  <p:nvPr/>
                </p:nvSpPr>
                <p:spPr>
                  <a:xfrm>
                    <a:off x="1305" y="2708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1" y="0"/>
                      </a:cxn>
                      <a:cxn ang="0">
                        <a:pos x="0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1" y="0"/>
                        </a:moveTo>
                        <a:lnTo>
                          <a:pt x="0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61" name="Freeform 131"/>
                  <p:cNvSpPr/>
                  <p:nvPr/>
                </p:nvSpPr>
                <p:spPr>
                  <a:xfrm>
                    <a:off x="1880" y="2708"/>
                    <a:ext cx="47" cy="501"/>
                  </a:xfrm>
                  <a:custGeom>
                    <a:avLst/>
                    <a:gdLst>
                      <a:gd name="txL" fmla="*/ 0 w 1"/>
                      <a:gd name="txT" fmla="*/ 0 h 406"/>
                      <a:gd name="txR" fmla="*/ 1 w 1"/>
                      <a:gd name="txB" fmla="*/ 406 h 40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06"/>
                      </a:cxn>
                    </a:cxnLst>
                    <a:rect l="txL" t="txT" r="txR" b="txB"/>
                    <a:pathLst>
                      <a:path w="1" h="406">
                        <a:moveTo>
                          <a:pt x="0" y="0"/>
                        </a:moveTo>
                        <a:lnTo>
                          <a:pt x="0" y="40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62" name="Freeform 132"/>
                  <p:cNvSpPr/>
                  <p:nvPr/>
                </p:nvSpPr>
                <p:spPr>
                  <a:xfrm>
                    <a:off x="2454" y="2708"/>
                    <a:ext cx="4" cy="166"/>
                  </a:xfrm>
                  <a:custGeom>
                    <a:avLst/>
                    <a:gdLst>
                      <a:gd name="txL" fmla="*/ 0 w 4"/>
                      <a:gd name="txT" fmla="*/ 0 h 166"/>
                      <a:gd name="txR" fmla="*/ 4 w 4"/>
                      <a:gd name="txB" fmla="*/ 166 h 166"/>
                    </a:gdLst>
                    <a:ahLst/>
                    <a:cxnLst>
                      <a:cxn ang="0">
                        <a:pos x="4" y="0"/>
                      </a:cxn>
                      <a:cxn ang="0">
                        <a:pos x="0" y="166"/>
                      </a:cxn>
                    </a:cxnLst>
                    <a:rect l="txL" t="txT" r="txR" b="txB"/>
                    <a:pathLst>
                      <a:path w="4" h="166">
                        <a:moveTo>
                          <a:pt x="4" y="0"/>
                        </a:moveTo>
                        <a:lnTo>
                          <a:pt x="0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63" name="Freeform 133"/>
                  <p:cNvSpPr/>
                  <p:nvPr/>
                </p:nvSpPr>
                <p:spPr>
                  <a:xfrm>
                    <a:off x="3606" y="2708"/>
                    <a:ext cx="2" cy="175"/>
                  </a:xfrm>
                  <a:custGeom>
                    <a:avLst/>
                    <a:gdLst>
                      <a:gd name="txL" fmla="*/ 0 w 2"/>
                      <a:gd name="txT" fmla="*/ 0 h 175"/>
                      <a:gd name="txR" fmla="*/ 2 w 2"/>
                      <a:gd name="txB" fmla="*/ 175 h 175"/>
                    </a:gdLst>
                    <a:ahLst/>
                    <a:cxnLst>
                      <a:cxn ang="0">
                        <a:pos x="2" y="0"/>
                      </a:cxn>
                      <a:cxn ang="0">
                        <a:pos x="0" y="175"/>
                      </a:cxn>
                    </a:cxnLst>
                    <a:rect l="txL" t="txT" r="txR" b="txB"/>
                    <a:pathLst>
                      <a:path w="2" h="175">
                        <a:moveTo>
                          <a:pt x="2" y="0"/>
                        </a:moveTo>
                        <a:lnTo>
                          <a:pt x="0" y="17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64" name="Freeform 134"/>
                  <p:cNvSpPr/>
                  <p:nvPr/>
                </p:nvSpPr>
                <p:spPr>
                  <a:xfrm>
                    <a:off x="4760" y="2697"/>
                    <a:ext cx="1" cy="176"/>
                  </a:xfrm>
                  <a:custGeom>
                    <a:avLst/>
                    <a:gdLst>
                      <a:gd name="txL" fmla="*/ 0 w 1"/>
                      <a:gd name="txT" fmla="*/ 0 h 176"/>
                      <a:gd name="txR" fmla="*/ 1 w 1"/>
                      <a:gd name="txB" fmla="*/ 176 h 17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6"/>
                      </a:cxn>
                    </a:cxnLst>
                    <a:rect l="txL" t="txT" r="txR" b="txB"/>
                    <a:pathLst>
                      <a:path w="1" h="176">
                        <a:moveTo>
                          <a:pt x="0" y="0"/>
                        </a:moveTo>
                        <a:lnTo>
                          <a:pt x="0" y="17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65" name="Freeform 135"/>
                  <p:cNvSpPr/>
                  <p:nvPr/>
                </p:nvSpPr>
                <p:spPr>
                  <a:xfrm>
                    <a:off x="908" y="1480"/>
                    <a:ext cx="4422" cy="1"/>
                  </a:xfrm>
                  <a:custGeom>
                    <a:avLst/>
                    <a:gdLst>
                      <a:gd name="txL" fmla="*/ 0 w 4422"/>
                      <a:gd name="txT" fmla="*/ 0 h 1"/>
                      <a:gd name="txR" fmla="*/ 4422 w 4422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22" y="0"/>
                      </a:cxn>
                    </a:cxnLst>
                    <a:rect l="txL" t="txT" r="txR" b="txB"/>
                    <a:pathLst>
                      <a:path w="4422" h="1">
                        <a:moveTo>
                          <a:pt x="0" y="1"/>
                        </a:moveTo>
                        <a:lnTo>
                          <a:pt x="4422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66" name="Line 136"/>
                  <p:cNvSpPr/>
                  <p:nvPr/>
                </p:nvSpPr>
                <p:spPr>
                  <a:xfrm>
                    <a:off x="1292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67" name="Line 137"/>
                  <p:cNvSpPr/>
                  <p:nvPr/>
                </p:nvSpPr>
                <p:spPr>
                  <a:xfrm>
                    <a:off x="1868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68" name="Line 138"/>
                  <p:cNvSpPr/>
                  <p:nvPr/>
                </p:nvSpPr>
                <p:spPr>
                  <a:xfrm>
                    <a:off x="2444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69" name="Line 139"/>
                  <p:cNvSpPr/>
                  <p:nvPr/>
                </p:nvSpPr>
                <p:spPr>
                  <a:xfrm>
                    <a:off x="3020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70" name="Line 140"/>
                  <p:cNvSpPr/>
                  <p:nvPr/>
                </p:nvSpPr>
                <p:spPr>
                  <a:xfrm>
                    <a:off x="3596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71" name="Line 141"/>
                  <p:cNvSpPr/>
                  <p:nvPr/>
                </p:nvSpPr>
                <p:spPr>
                  <a:xfrm>
                    <a:off x="4172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72" name="Line 142"/>
                  <p:cNvSpPr/>
                  <p:nvPr/>
                </p:nvSpPr>
                <p:spPr>
                  <a:xfrm>
                    <a:off x="4748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73" name="Line 143"/>
                  <p:cNvSpPr/>
                  <p:nvPr/>
                </p:nvSpPr>
                <p:spPr>
                  <a:xfrm>
                    <a:off x="5324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med" len="med"/>
                  </a:ln>
                </p:spPr>
              </p:sp>
              <p:sp>
                <p:nvSpPr>
                  <p:cNvPr id="286974" name="Freeform 144"/>
                  <p:cNvSpPr/>
                  <p:nvPr/>
                </p:nvSpPr>
                <p:spPr>
                  <a:xfrm>
                    <a:off x="908" y="2056"/>
                    <a:ext cx="4418" cy="1"/>
                  </a:xfrm>
                  <a:custGeom>
                    <a:avLst/>
                    <a:gdLst>
                      <a:gd name="txL" fmla="*/ 0 w 4418"/>
                      <a:gd name="txT" fmla="*/ 0 h 1"/>
                      <a:gd name="txR" fmla="*/ 4418 w 4418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8" y="0"/>
                      </a:cxn>
                    </a:cxnLst>
                    <a:rect l="txL" t="txT" r="txR" b="txB"/>
                    <a:pathLst>
                      <a:path w="4418" h="1">
                        <a:moveTo>
                          <a:pt x="0" y="1"/>
                        </a:moveTo>
                        <a:lnTo>
                          <a:pt x="4418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75" name="Line 145"/>
                  <p:cNvSpPr/>
                  <p:nvPr/>
                </p:nvSpPr>
                <p:spPr>
                  <a:xfrm>
                    <a:off x="1292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76" name="Line 146"/>
                  <p:cNvSpPr/>
                  <p:nvPr/>
                </p:nvSpPr>
                <p:spPr>
                  <a:xfrm>
                    <a:off x="1868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77" name="Line 147"/>
                  <p:cNvSpPr/>
                  <p:nvPr/>
                </p:nvSpPr>
                <p:spPr>
                  <a:xfrm>
                    <a:off x="2444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78" name="Line 148"/>
                  <p:cNvSpPr/>
                  <p:nvPr/>
                </p:nvSpPr>
                <p:spPr>
                  <a:xfrm>
                    <a:off x="3020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79" name="Line 149"/>
                  <p:cNvSpPr/>
                  <p:nvPr/>
                </p:nvSpPr>
                <p:spPr>
                  <a:xfrm>
                    <a:off x="3596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80" name="Line 150"/>
                  <p:cNvSpPr/>
                  <p:nvPr/>
                </p:nvSpPr>
                <p:spPr>
                  <a:xfrm>
                    <a:off x="4172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81" name="Line 151"/>
                  <p:cNvSpPr/>
                  <p:nvPr/>
                </p:nvSpPr>
                <p:spPr>
                  <a:xfrm>
                    <a:off x="4748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982" name="Line 152"/>
                  <p:cNvSpPr/>
                  <p:nvPr/>
                </p:nvSpPr>
                <p:spPr>
                  <a:xfrm>
                    <a:off x="5324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med" len="med"/>
                  </a:ln>
                </p:spPr>
              </p:sp>
              <p:sp>
                <p:nvSpPr>
                  <p:cNvPr id="286983" name="Freeform 153"/>
                  <p:cNvSpPr/>
                  <p:nvPr/>
                </p:nvSpPr>
                <p:spPr>
                  <a:xfrm>
                    <a:off x="909" y="2879"/>
                    <a:ext cx="3860" cy="1"/>
                  </a:xfrm>
                  <a:custGeom>
                    <a:avLst/>
                    <a:gdLst>
                      <a:gd name="txL" fmla="*/ 0 w 3860"/>
                      <a:gd name="txT" fmla="*/ 0 h 1"/>
                      <a:gd name="txR" fmla="*/ 3860 w 3860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3860" y="0"/>
                      </a:cxn>
                    </a:cxnLst>
                    <a:rect l="txL" t="txT" r="txR" b="txB"/>
                    <a:pathLst>
                      <a:path w="3860" h="1">
                        <a:moveTo>
                          <a:pt x="0" y="1"/>
                        </a:moveTo>
                        <a:lnTo>
                          <a:pt x="386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84" name="Freeform 154"/>
                  <p:cNvSpPr/>
                  <p:nvPr/>
                </p:nvSpPr>
                <p:spPr>
                  <a:xfrm>
                    <a:off x="912" y="3209"/>
                    <a:ext cx="4418" cy="1"/>
                  </a:xfrm>
                  <a:custGeom>
                    <a:avLst/>
                    <a:gdLst>
                      <a:gd name="txL" fmla="*/ 0 w 4418"/>
                      <a:gd name="txT" fmla="*/ 0 h 1"/>
                      <a:gd name="txR" fmla="*/ 4418 w 4418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8" y="0"/>
                      </a:cxn>
                    </a:cxnLst>
                    <a:rect l="txL" t="txT" r="txR" b="txB"/>
                    <a:pathLst>
                      <a:path w="4418" h="1">
                        <a:moveTo>
                          <a:pt x="0" y="1"/>
                        </a:moveTo>
                        <a:lnTo>
                          <a:pt x="4418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85" name="Rectangle 155"/>
                  <p:cNvSpPr/>
                  <p:nvPr/>
                </p:nvSpPr>
                <p:spPr>
                  <a:xfrm>
                    <a:off x="1141" y="3597"/>
                    <a:ext cx="823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86" name="Text Box 156"/>
                  <p:cNvSpPr txBox="1"/>
                  <p:nvPr/>
                </p:nvSpPr>
                <p:spPr>
                  <a:xfrm>
                    <a:off x="1172" y="3576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987" name="Freeform 157"/>
                  <p:cNvSpPr/>
                  <p:nvPr/>
                </p:nvSpPr>
                <p:spPr>
                  <a:xfrm>
                    <a:off x="1402" y="1211"/>
                    <a:ext cx="145" cy="1466"/>
                  </a:xfrm>
                  <a:custGeom>
                    <a:avLst/>
                    <a:gdLst>
                      <a:gd name="txL" fmla="*/ 0 w 145"/>
                      <a:gd name="txT" fmla="*/ 0 h 1466"/>
                      <a:gd name="txR" fmla="*/ 145 w 145"/>
                      <a:gd name="txB" fmla="*/ 1466 h 1466"/>
                    </a:gdLst>
                    <a:ahLst/>
                    <a:cxnLst>
                      <a:cxn ang="0">
                        <a:pos x="37" y="0"/>
                      </a:cxn>
                      <a:cxn ang="0">
                        <a:pos x="145" y="0"/>
                      </a:cxn>
                      <a:cxn ang="0">
                        <a:pos x="144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5" h="1466">
                        <a:moveTo>
                          <a:pt x="37" y="0"/>
                        </a:moveTo>
                        <a:lnTo>
                          <a:pt x="145" y="0"/>
                        </a:lnTo>
                        <a:lnTo>
                          <a:pt x="144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88" name="Freeform 158"/>
                  <p:cNvSpPr/>
                  <p:nvPr/>
                </p:nvSpPr>
                <p:spPr>
                  <a:xfrm>
                    <a:off x="1613" y="1211"/>
                    <a:ext cx="169" cy="1469"/>
                  </a:xfrm>
                  <a:custGeom>
                    <a:avLst/>
                    <a:gdLst>
                      <a:gd name="txL" fmla="*/ 0 w 169"/>
                      <a:gd name="txT" fmla="*/ 0 h 1469"/>
                      <a:gd name="txR" fmla="*/ 169 w 169"/>
                      <a:gd name="txB" fmla="*/ 1469 h 1469"/>
                    </a:gdLst>
                    <a:ahLst/>
                    <a:cxnLst>
                      <a:cxn ang="0">
                        <a:pos x="169" y="1468"/>
                      </a:cxn>
                      <a:cxn ang="0">
                        <a:pos x="0" y="1469"/>
                      </a:cxn>
                      <a:cxn ang="0">
                        <a:pos x="1" y="0"/>
                      </a:cxn>
                      <a:cxn ang="0">
                        <a:pos x="105" y="0"/>
                      </a:cxn>
                    </a:cxnLst>
                    <a:rect l="txL" t="txT" r="txR" b="txB"/>
                    <a:pathLst>
                      <a:path w="169" h="1469">
                        <a:moveTo>
                          <a:pt x="169" y="1468"/>
                        </a:moveTo>
                        <a:lnTo>
                          <a:pt x="0" y="1469"/>
                        </a:lnTo>
                        <a:lnTo>
                          <a:pt x="1" y="0"/>
                        </a:lnTo>
                        <a:lnTo>
                          <a:pt x="10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89" name="Freeform 159"/>
                  <p:cNvSpPr/>
                  <p:nvPr/>
                </p:nvSpPr>
                <p:spPr>
                  <a:xfrm>
                    <a:off x="1967" y="1211"/>
                    <a:ext cx="141" cy="1466"/>
                  </a:xfrm>
                  <a:custGeom>
                    <a:avLst/>
                    <a:gdLst>
                      <a:gd name="txL" fmla="*/ 0 w 141"/>
                      <a:gd name="txT" fmla="*/ 0 h 1466"/>
                      <a:gd name="txR" fmla="*/ 141 w 141"/>
                      <a:gd name="txB" fmla="*/ 1466 h 1466"/>
                    </a:gdLst>
                    <a:ahLst/>
                    <a:cxnLst>
                      <a:cxn ang="0">
                        <a:pos x="38" y="0"/>
                      </a:cxn>
                      <a:cxn ang="0">
                        <a:pos x="141" y="0"/>
                      </a:cxn>
                      <a:cxn ang="0">
                        <a:pos x="140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1" h="1466">
                        <a:moveTo>
                          <a:pt x="38" y="0"/>
                        </a:moveTo>
                        <a:lnTo>
                          <a:pt x="141" y="0"/>
                        </a:lnTo>
                        <a:lnTo>
                          <a:pt x="140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90" name="Freeform 160"/>
                  <p:cNvSpPr/>
                  <p:nvPr/>
                </p:nvSpPr>
                <p:spPr>
                  <a:xfrm>
                    <a:off x="2208" y="1211"/>
                    <a:ext cx="155" cy="1467"/>
                  </a:xfrm>
                  <a:custGeom>
                    <a:avLst/>
                    <a:gdLst>
                      <a:gd name="txL" fmla="*/ 0 w 155"/>
                      <a:gd name="txT" fmla="*/ 0 h 1467"/>
                      <a:gd name="txR" fmla="*/ 155 w 155"/>
                      <a:gd name="txB" fmla="*/ 1467 h 1467"/>
                    </a:gdLst>
                    <a:ahLst/>
                    <a:cxnLst>
                      <a:cxn ang="0">
                        <a:pos x="155" y="1467"/>
                      </a:cxn>
                      <a:cxn ang="0">
                        <a:pos x="3" y="1467"/>
                      </a:cxn>
                      <a:cxn ang="0">
                        <a:pos x="0" y="1"/>
                      </a:cxn>
                      <a:cxn ang="0">
                        <a:pos x="89" y="0"/>
                      </a:cxn>
                    </a:cxnLst>
                    <a:rect l="txL" t="txT" r="txR" b="txB"/>
                    <a:pathLst>
                      <a:path w="155" h="1467">
                        <a:moveTo>
                          <a:pt x="155" y="1467"/>
                        </a:moveTo>
                        <a:lnTo>
                          <a:pt x="3" y="1467"/>
                        </a:lnTo>
                        <a:lnTo>
                          <a:pt x="0" y="1"/>
                        </a:lnTo>
                        <a:lnTo>
                          <a:pt x="8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91" name="Freeform 161"/>
                  <p:cNvSpPr/>
                  <p:nvPr/>
                </p:nvSpPr>
                <p:spPr>
                  <a:xfrm>
                    <a:off x="2557" y="1211"/>
                    <a:ext cx="142" cy="1466"/>
                  </a:xfrm>
                  <a:custGeom>
                    <a:avLst/>
                    <a:gdLst>
                      <a:gd name="txL" fmla="*/ 0 w 142"/>
                      <a:gd name="txT" fmla="*/ 0 h 1466"/>
                      <a:gd name="txR" fmla="*/ 142 w 142"/>
                      <a:gd name="txB" fmla="*/ 1466 h 1466"/>
                    </a:gdLst>
                    <a:ahLst/>
                    <a:cxnLst>
                      <a:cxn ang="0">
                        <a:pos x="34" y="0"/>
                      </a:cxn>
                      <a:cxn ang="0">
                        <a:pos x="142" y="0"/>
                      </a:cxn>
                      <a:cxn ang="0">
                        <a:pos x="141" y="1466"/>
                      </a:cxn>
                      <a:cxn ang="0">
                        <a:pos x="0" y="1464"/>
                      </a:cxn>
                    </a:cxnLst>
                    <a:rect l="txL" t="txT" r="txR" b="txB"/>
                    <a:pathLst>
                      <a:path w="142" h="1466">
                        <a:moveTo>
                          <a:pt x="34" y="0"/>
                        </a:moveTo>
                        <a:lnTo>
                          <a:pt x="142" y="0"/>
                        </a:lnTo>
                        <a:lnTo>
                          <a:pt x="141" y="1466"/>
                        </a:lnTo>
                        <a:lnTo>
                          <a:pt x="0" y="1464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92" name="Freeform 162"/>
                  <p:cNvSpPr/>
                  <p:nvPr/>
                </p:nvSpPr>
                <p:spPr>
                  <a:xfrm>
                    <a:off x="2787" y="1211"/>
                    <a:ext cx="152" cy="1467"/>
                  </a:xfrm>
                  <a:custGeom>
                    <a:avLst/>
                    <a:gdLst>
                      <a:gd name="txL" fmla="*/ 0 w 152"/>
                      <a:gd name="txT" fmla="*/ 0 h 1467"/>
                      <a:gd name="txR" fmla="*/ 152 w 152"/>
                      <a:gd name="txB" fmla="*/ 1467 h 1467"/>
                    </a:gdLst>
                    <a:ahLst/>
                    <a:cxnLst>
                      <a:cxn ang="0">
                        <a:pos x="152" y="1467"/>
                      </a:cxn>
                      <a:cxn ang="0">
                        <a:pos x="0" y="1467"/>
                      </a:cxn>
                      <a:cxn ang="0">
                        <a:pos x="0" y="1"/>
                      </a:cxn>
                      <a:cxn ang="0">
                        <a:pos x="77" y="0"/>
                      </a:cxn>
                    </a:cxnLst>
                    <a:rect l="txL" t="txT" r="txR" b="txB"/>
                    <a:pathLst>
                      <a:path w="152" h="1467">
                        <a:moveTo>
                          <a:pt x="152" y="1467"/>
                        </a:moveTo>
                        <a:lnTo>
                          <a:pt x="0" y="1467"/>
                        </a:lnTo>
                        <a:lnTo>
                          <a:pt x="0" y="1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93" name="Freeform 163"/>
                  <p:cNvSpPr/>
                  <p:nvPr/>
                </p:nvSpPr>
                <p:spPr>
                  <a:xfrm>
                    <a:off x="3130" y="1211"/>
                    <a:ext cx="145" cy="1466"/>
                  </a:xfrm>
                  <a:custGeom>
                    <a:avLst/>
                    <a:gdLst>
                      <a:gd name="txL" fmla="*/ 0 w 145"/>
                      <a:gd name="txT" fmla="*/ 0 h 1466"/>
                      <a:gd name="txR" fmla="*/ 145 w 145"/>
                      <a:gd name="txB" fmla="*/ 1466 h 1466"/>
                    </a:gdLst>
                    <a:ahLst/>
                    <a:cxnLst>
                      <a:cxn ang="0">
                        <a:pos x="37" y="0"/>
                      </a:cxn>
                      <a:cxn ang="0">
                        <a:pos x="145" y="0"/>
                      </a:cxn>
                      <a:cxn ang="0">
                        <a:pos x="144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5" h="1466">
                        <a:moveTo>
                          <a:pt x="37" y="0"/>
                        </a:moveTo>
                        <a:lnTo>
                          <a:pt x="145" y="0"/>
                        </a:lnTo>
                        <a:lnTo>
                          <a:pt x="144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94" name="Freeform 164"/>
                  <p:cNvSpPr/>
                  <p:nvPr/>
                </p:nvSpPr>
                <p:spPr>
                  <a:xfrm>
                    <a:off x="3360" y="1209"/>
                    <a:ext cx="155" cy="1469"/>
                  </a:xfrm>
                  <a:custGeom>
                    <a:avLst/>
                    <a:gdLst>
                      <a:gd name="txL" fmla="*/ 0 w 155"/>
                      <a:gd name="txT" fmla="*/ 0 h 1469"/>
                      <a:gd name="txR" fmla="*/ 155 w 155"/>
                      <a:gd name="txB" fmla="*/ 1469 h 1469"/>
                    </a:gdLst>
                    <a:ahLst/>
                    <a:cxnLst>
                      <a:cxn ang="0">
                        <a:pos x="155" y="1469"/>
                      </a:cxn>
                      <a:cxn ang="0">
                        <a:pos x="3" y="1469"/>
                      </a:cxn>
                      <a:cxn ang="0">
                        <a:pos x="0" y="0"/>
                      </a:cxn>
                      <a:cxn ang="0">
                        <a:pos x="103" y="2"/>
                      </a:cxn>
                    </a:cxnLst>
                    <a:rect l="txL" t="txT" r="txR" b="txB"/>
                    <a:pathLst>
                      <a:path w="155" h="1469">
                        <a:moveTo>
                          <a:pt x="155" y="1469"/>
                        </a:moveTo>
                        <a:lnTo>
                          <a:pt x="3" y="1469"/>
                        </a:lnTo>
                        <a:lnTo>
                          <a:pt x="0" y="0"/>
                        </a:lnTo>
                        <a:lnTo>
                          <a:pt x="103" y="2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95" name="Freeform 165"/>
                  <p:cNvSpPr/>
                  <p:nvPr/>
                </p:nvSpPr>
                <p:spPr>
                  <a:xfrm>
                    <a:off x="3710" y="1211"/>
                    <a:ext cx="141" cy="1466"/>
                  </a:xfrm>
                  <a:custGeom>
                    <a:avLst/>
                    <a:gdLst>
                      <a:gd name="txL" fmla="*/ 0 w 141"/>
                      <a:gd name="txT" fmla="*/ 0 h 1466"/>
                      <a:gd name="txR" fmla="*/ 141 w 141"/>
                      <a:gd name="txB" fmla="*/ 1466 h 1466"/>
                    </a:gdLst>
                    <a:ahLst/>
                    <a:cxnLst>
                      <a:cxn ang="0">
                        <a:pos x="42" y="0"/>
                      </a:cxn>
                      <a:cxn ang="0">
                        <a:pos x="141" y="0"/>
                      </a:cxn>
                      <a:cxn ang="0">
                        <a:pos x="140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1" h="1466">
                        <a:moveTo>
                          <a:pt x="42" y="0"/>
                        </a:moveTo>
                        <a:lnTo>
                          <a:pt x="141" y="0"/>
                        </a:lnTo>
                        <a:lnTo>
                          <a:pt x="140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96" name="Freeform 166"/>
                  <p:cNvSpPr/>
                  <p:nvPr/>
                </p:nvSpPr>
                <p:spPr>
                  <a:xfrm>
                    <a:off x="3939" y="1211"/>
                    <a:ext cx="152" cy="1467"/>
                  </a:xfrm>
                  <a:custGeom>
                    <a:avLst/>
                    <a:gdLst>
                      <a:gd name="txL" fmla="*/ 0 w 152"/>
                      <a:gd name="txT" fmla="*/ 0 h 1467"/>
                      <a:gd name="txR" fmla="*/ 152 w 152"/>
                      <a:gd name="txB" fmla="*/ 1467 h 1467"/>
                    </a:gdLst>
                    <a:ahLst/>
                    <a:cxnLst>
                      <a:cxn ang="0">
                        <a:pos x="152" y="1467"/>
                      </a:cxn>
                      <a:cxn ang="0">
                        <a:pos x="0" y="1467"/>
                      </a:cxn>
                      <a:cxn ang="0">
                        <a:pos x="0" y="1"/>
                      </a:cxn>
                      <a:cxn ang="0">
                        <a:pos x="103" y="0"/>
                      </a:cxn>
                    </a:cxnLst>
                    <a:rect l="txL" t="txT" r="txR" b="txB"/>
                    <a:pathLst>
                      <a:path w="152" h="1467">
                        <a:moveTo>
                          <a:pt x="152" y="1467"/>
                        </a:moveTo>
                        <a:lnTo>
                          <a:pt x="0" y="1467"/>
                        </a:lnTo>
                        <a:lnTo>
                          <a:pt x="0" y="1"/>
                        </a:lnTo>
                        <a:lnTo>
                          <a:pt x="103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97" name="Freeform 167"/>
                  <p:cNvSpPr/>
                  <p:nvPr/>
                </p:nvSpPr>
                <p:spPr>
                  <a:xfrm>
                    <a:off x="4280" y="1211"/>
                    <a:ext cx="147" cy="1466"/>
                  </a:xfrm>
                  <a:custGeom>
                    <a:avLst/>
                    <a:gdLst>
                      <a:gd name="txL" fmla="*/ 0 w 147"/>
                      <a:gd name="txT" fmla="*/ 0 h 1466"/>
                      <a:gd name="txR" fmla="*/ 147 w 147"/>
                      <a:gd name="txB" fmla="*/ 1466 h 1466"/>
                    </a:gdLst>
                    <a:ahLst/>
                    <a:cxnLst>
                      <a:cxn ang="0">
                        <a:pos x="51" y="0"/>
                      </a:cxn>
                      <a:cxn ang="0">
                        <a:pos x="147" y="0"/>
                      </a:cxn>
                      <a:cxn ang="0">
                        <a:pos x="146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7" h="1466">
                        <a:moveTo>
                          <a:pt x="51" y="0"/>
                        </a:moveTo>
                        <a:lnTo>
                          <a:pt x="147" y="0"/>
                        </a:lnTo>
                        <a:lnTo>
                          <a:pt x="146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98" name="Freeform 168"/>
                  <p:cNvSpPr/>
                  <p:nvPr/>
                </p:nvSpPr>
                <p:spPr>
                  <a:xfrm>
                    <a:off x="4509" y="1211"/>
                    <a:ext cx="158" cy="1467"/>
                  </a:xfrm>
                  <a:custGeom>
                    <a:avLst/>
                    <a:gdLst>
                      <a:gd name="txL" fmla="*/ 0 w 158"/>
                      <a:gd name="txT" fmla="*/ 0 h 1467"/>
                      <a:gd name="txR" fmla="*/ 158 w 158"/>
                      <a:gd name="txB" fmla="*/ 1467 h 1467"/>
                    </a:gdLst>
                    <a:ahLst/>
                    <a:cxnLst>
                      <a:cxn ang="0">
                        <a:pos x="158" y="1467"/>
                      </a:cxn>
                      <a:cxn ang="0">
                        <a:pos x="0" y="1467"/>
                      </a:cxn>
                      <a:cxn ang="0">
                        <a:pos x="0" y="0"/>
                      </a:cxn>
                      <a:cxn ang="0">
                        <a:pos x="95" y="0"/>
                      </a:cxn>
                    </a:cxnLst>
                    <a:rect l="txL" t="txT" r="txR" b="txB"/>
                    <a:pathLst>
                      <a:path w="158" h="1467">
                        <a:moveTo>
                          <a:pt x="158" y="1467"/>
                        </a:moveTo>
                        <a:lnTo>
                          <a:pt x="0" y="1467"/>
                        </a:lnTo>
                        <a:lnTo>
                          <a:pt x="0" y="0"/>
                        </a:lnTo>
                        <a:lnTo>
                          <a:pt x="9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999" name="Freeform 169"/>
                  <p:cNvSpPr/>
                  <p:nvPr/>
                </p:nvSpPr>
                <p:spPr>
                  <a:xfrm>
                    <a:off x="4861" y="1211"/>
                    <a:ext cx="142" cy="1466"/>
                  </a:xfrm>
                  <a:custGeom>
                    <a:avLst/>
                    <a:gdLst>
                      <a:gd name="txL" fmla="*/ 0 w 142"/>
                      <a:gd name="txT" fmla="*/ 0 h 1466"/>
                      <a:gd name="txR" fmla="*/ 142 w 142"/>
                      <a:gd name="txB" fmla="*/ 1466 h 1466"/>
                    </a:gdLst>
                    <a:ahLst/>
                    <a:cxnLst>
                      <a:cxn ang="0">
                        <a:pos x="34" y="0"/>
                      </a:cxn>
                      <a:cxn ang="0">
                        <a:pos x="142" y="0"/>
                      </a:cxn>
                      <a:cxn ang="0">
                        <a:pos x="141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2" h="1466">
                        <a:moveTo>
                          <a:pt x="34" y="0"/>
                        </a:moveTo>
                        <a:lnTo>
                          <a:pt x="142" y="0"/>
                        </a:lnTo>
                        <a:lnTo>
                          <a:pt x="141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00" name="Freeform 170"/>
                  <p:cNvSpPr/>
                  <p:nvPr/>
                </p:nvSpPr>
                <p:spPr>
                  <a:xfrm>
                    <a:off x="5069" y="1211"/>
                    <a:ext cx="159" cy="1469"/>
                  </a:xfrm>
                  <a:custGeom>
                    <a:avLst/>
                    <a:gdLst>
                      <a:gd name="txL" fmla="*/ 0 w 159"/>
                      <a:gd name="txT" fmla="*/ 0 h 1469"/>
                      <a:gd name="txR" fmla="*/ 159 w 159"/>
                      <a:gd name="txB" fmla="*/ 1469 h 1469"/>
                    </a:gdLst>
                    <a:ahLst/>
                    <a:cxnLst>
                      <a:cxn ang="0">
                        <a:pos x="159" y="1467"/>
                      </a:cxn>
                      <a:cxn ang="0">
                        <a:pos x="0" y="1469"/>
                      </a:cxn>
                      <a:cxn ang="0">
                        <a:pos x="1" y="0"/>
                      </a:cxn>
                      <a:cxn ang="0">
                        <a:pos x="104" y="0"/>
                      </a:cxn>
                    </a:cxnLst>
                    <a:rect l="txL" t="txT" r="txR" b="txB"/>
                    <a:pathLst>
                      <a:path w="159" h="1469">
                        <a:moveTo>
                          <a:pt x="159" y="1467"/>
                        </a:moveTo>
                        <a:lnTo>
                          <a:pt x="0" y="1469"/>
                        </a:lnTo>
                        <a:lnTo>
                          <a:pt x="1" y="0"/>
                        </a:lnTo>
                        <a:lnTo>
                          <a:pt x="104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01" name="Freeform 171"/>
                  <p:cNvSpPr/>
                  <p:nvPr/>
                </p:nvSpPr>
                <p:spPr>
                  <a:xfrm>
                    <a:off x="5417" y="1211"/>
                    <a:ext cx="147" cy="1466"/>
                  </a:xfrm>
                  <a:custGeom>
                    <a:avLst/>
                    <a:gdLst>
                      <a:gd name="txL" fmla="*/ 0 w 147"/>
                      <a:gd name="txT" fmla="*/ 0 h 1466"/>
                      <a:gd name="txR" fmla="*/ 147 w 147"/>
                      <a:gd name="txB" fmla="*/ 1466 h 1466"/>
                    </a:gdLst>
                    <a:ahLst/>
                    <a:cxnLst>
                      <a:cxn ang="0">
                        <a:pos x="47" y="0"/>
                      </a:cxn>
                      <a:cxn ang="0">
                        <a:pos x="147" y="0"/>
                      </a:cxn>
                      <a:cxn ang="0">
                        <a:pos x="146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7" h="1466">
                        <a:moveTo>
                          <a:pt x="47" y="0"/>
                        </a:moveTo>
                        <a:lnTo>
                          <a:pt x="147" y="0"/>
                        </a:lnTo>
                        <a:lnTo>
                          <a:pt x="146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02" name="Freeform 172"/>
                  <p:cNvSpPr/>
                  <p:nvPr/>
                </p:nvSpPr>
                <p:spPr>
                  <a:xfrm>
                    <a:off x="1055" y="2738"/>
                    <a:ext cx="730" cy="660"/>
                  </a:xfrm>
                  <a:custGeom>
                    <a:avLst/>
                    <a:gdLst>
                      <a:gd name="txL" fmla="*/ 0 w 730"/>
                      <a:gd name="txT" fmla="*/ 0 h 660"/>
                      <a:gd name="txR" fmla="*/ 730 w 730"/>
                      <a:gd name="txB" fmla="*/ 660 h 660"/>
                    </a:gdLst>
                    <a:ahLst/>
                    <a:cxnLst>
                      <a:cxn ang="0">
                        <a:pos x="160" y="4"/>
                      </a:cxn>
                      <a:cxn ang="0">
                        <a:pos x="0" y="3"/>
                      </a:cxn>
                      <a:cxn ang="0">
                        <a:pos x="0" y="660"/>
                      </a:cxn>
                      <a:cxn ang="0">
                        <a:pos x="558" y="657"/>
                      </a:cxn>
                      <a:cxn ang="0">
                        <a:pos x="558" y="0"/>
                      </a:cxn>
                      <a:cxn ang="0">
                        <a:pos x="730" y="1"/>
                      </a:cxn>
                    </a:cxnLst>
                    <a:rect l="txL" t="txT" r="txR" b="txB"/>
                    <a:pathLst>
                      <a:path w="730" h="660">
                        <a:moveTo>
                          <a:pt x="160" y="4"/>
                        </a:moveTo>
                        <a:lnTo>
                          <a:pt x="0" y="3"/>
                        </a:lnTo>
                        <a:lnTo>
                          <a:pt x="0" y="660"/>
                        </a:lnTo>
                        <a:lnTo>
                          <a:pt x="558" y="657"/>
                        </a:lnTo>
                        <a:lnTo>
                          <a:pt x="558" y="0"/>
                        </a:lnTo>
                        <a:lnTo>
                          <a:pt x="730" y="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03" name="Freeform 173"/>
                  <p:cNvSpPr/>
                  <p:nvPr/>
                </p:nvSpPr>
                <p:spPr>
                  <a:xfrm>
                    <a:off x="2207" y="2744"/>
                    <a:ext cx="729" cy="658"/>
                  </a:xfrm>
                  <a:custGeom>
                    <a:avLst/>
                    <a:gdLst>
                      <a:gd name="txL" fmla="*/ 0 w 729"/>
                      <a:gd name="txT" fmla="*/ 0 h 658"/>
                      <a:gd name="txR" fmla="*/ 729 w 729"/>
                      <a:gd name="txB" fmla="*/ 658 h 658"/>
                    </a:gdLst>
                    <a:ahLst/>
                    <a:cxnLst>
                      <a:cxn ang="0">
                        <a:pos x="153" y="0"/>
                      </a:cxn>
                      <a:cxn ang="0">
                        <a:pos x="0" y="0"/>
                      </a:cxn>
                      <a:cxn ang="0">
                        <a:pos x="0" y="657"/>
                      </a:cxn>
                      <a:cxn ang="0">
                        <a:pos x="583" y="658"/>
                      </a:cxn>
                      <a:cxn ang="0">
                        <a:pos x="582" y="3"/>
                      </a:cxn>
                      <a:cxn ang="0">
                        <a:pos x="729" y="3"/>
                      </a:cxn>
                    </a:cxnLst>
                    <a:rect l="txL" t="txT" r="txR" b="txB"/>
                    <a:pathLst>
                      <a:path w="729" h="658">
                        <a:moveTo>
                          <a:pt x="153" y="0"/>
                        </a:moveTo>
                        <a:lnTo>
                          <a:pt x="0" y="0"/>
                        </a:lnTo>
                        <a:lnTo>
                          <a:pt x="0" y="657"/>
                        </a:lnTo>
                        <a:lnTo>
                          <a:pt x="583" y="658"/>
                        </a:lnTo>
                        <a:lnTo>
                          <a:pt x="582" y="3"/>
                        </a:lnTo>
                        <a:lnTo>
                          <a:pt x="729" y="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04" name="Freeform 174"/>
                  <p:cNvSpPr/>
                  <p:nvPr/>
                </p:nvSpPr>
                <p:spPr>
                  <a:xfrm>
                    <a:off x="3356" y="2744"/>
                    <a:ext cx="729" cy="657"/>
                  </a:xfrm>
                  <a:custGeom>
                    <a:avLst/>
                    <a:gdLst>
                      <a:gd name="txL" fmla="*/ 0 w 729"/>
                      <a:gd name="txT" fmla="*/ 0 h 657"/>
                      <a:gd name="txR" fmla="*/ 729 w 729"/>
                      <a:gd name="txB" fmla="*/ 657 h 657"/>
                    </a:gdLst>
                    <a:ahLst/>
                    <a:cxnLst>
                      <a:cxn ang="0">
                        <a:pos x="158" y="0"/>
                      </a:cxn>
                      <a:cxn ang="0">
                        <a:pos x="0" y="0"/>
                      </a:cxn>
                      <a:cxn ang="0">
                        <a:pos x="0" y="657"/>
                      </a:cxn>
                      <a:cxn ang="0">
                        <a:pos x="579" y="654"/>
                      </a:cxn>
                      <a:cxn ang="0">
                        <a:pos x="582" y="3"/>
                      </a:cxn>
                      <a:cxn ang="0">
                        <a:pos x="729" y="3"/>
                      </a:cxn>
                    </a:cxnLst>
                    <a:rect l="txL" t="txT" r="txR" b="txB"/>
                    <a:pathLst>
                      <a:path w="729" h="657">
                        <a:moveTo>
                          <a:pt x="158" y="0"/>
                        </a:moveTo>
                        <a:lnTo>
                          <a:pt x="0" y="0"/>
                        </a:lnTo>
                        <a:lnTo>
                          <a:pt x="0" y="657"/>
                        </a:lnTo>
                        <a:lnTo>
                          <a:pt x="579" y="654"/>
                        </a:lnTo>
                        <a:lnTo>
                          <a:pt x="582" y="3"/>
                        </a:lnTo>
                        <a:lnTo>
                          <a:pt x="729" y="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05" name="Freeform 175"/>
                  <p:cNvSpPr/>
                  <p:nvPr/>
                </p:nvSpPr>
                <p:spPr>
                  <a:xfrm>
                    <a:off x="4508" y="2744"/>
                    <a:ext cx="729" cy="657"/>
                  </a:xfrm>
                  <a:custGeom>
                    <a:avLst/>
                    <a:gdLst>
                      <a:gd name="txL" fmla="*/ 0 w 729"/>
                      <a:gd name="txT" fmla="*/ 0 h 657"/>
                      <a:gd name="txR" fmla="*/ 729 w 729"/>
                      <a:gd name="txB" fmla="*/ 657 h 657"/>
                    </a:gdLst>
                    <a:ahLst/>
                    <a:cxnLst>
                      <a:cxn ang="0">
                        <a:pos x="161" y="2"/>
                      </a:cxn>
                      <a:cxn ang="0">
                        <a:pos x="0" y="0"/>
                      </a:cxn>
                      <a:cxn ang="0">
                        <a:pos x="0" y="657"/>
                      </a:cxn>
                      <a:cxn ang="0">
                        <a:pos x="579" y="654"/>
                      </a:cxn>
                      <a:cxn ang="0">
                        <a:pos x="582" y="3"/>
                      </a:cxn>
                      <a:cxn ang="0">
                        <a:pos x="729" y="3"/>
                      </a:cxn>
                    </a:cxnLst>
                    <a:rect l="txL" t="txT" r="txR" b="txB"/>
                    <a:pathLst>
                      <a:path w="729" h="657">
                        <a:moveTo>
                          <a:pt x="161" y="2"/>
                        </a:moveTo>
                        <a:lnTo>
                          <a:pt x="0" y="0"/>
                        </a:lnTo>
                        <a:lnTo>
                          <a:pt x="0" y="657"/>
                        </a:lnTo>
                        <a:lnTo>
                          <a:pt x="579" y="654"/>
                        </a:lnTo>
                        <a:lnTo>
                          <a:pt x="582" y="3"/>
                        </a:lnTo>
                        <a:lnTo>
                          <a:pt x="729" y="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06" name="Freeform 176"/>
                  <p:cNvSpPr/>
                  <p:nvPr/>
                </p:nvSpPr>
                <p:spPr>
                  <a:xfrm>
                    <a:off x="1400" y="2735"/>
                    <a:ext cx="708" cy="571"/>
                  </a:xfrm>
                  <a:custGeom>
                    <a:avLst/>
                    <a:gdLst>
                      <a:gd name="txL" fmla="*/ 0 w 708"/>
                      <a:gd name="txT" fmla="*/ 0 h 571"/>
                      <a:gd name="txR" fmla="*/ 708 w 708"/>
                      <a:gd name="txB" fmla="*/ 571 h 57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32" y="0"/>
                      </a:cxn>
                      <a:cxn ang="0">
                        <a:pos x="133" y="571"/>
                      </a:cxn>
                      <a:cxn ang="0">
                        <a:pos x="708" y="570"/>
                      </a:cxn>
                      <a:cxn ang="0">
                        <a:pos x="708" y="9"/>
                      </a:cxn>
                      <a:cxn ang="0">
                        <a:pos x="573" y="9"/>
                      </a:cxn>
                    </a:cxnLst>
                    <a:rect l="txL" t="txT" r="txR" b="txB"/>
                    <a:pathLst>
                      <a:path w="708" h="571">
                        <a:moveTo>
                          <a:pt x="0" y="0"/>
                        </a:moveTo>
                        <a:lnTo>
                          <a:pt x="132" y="0"/>
                        </a:lnTo>
                        <a:lnTo>
                          <a:pt x="133" y="571"/>
                        </a:lnTo>
                        <a:lnTo>
                          <a:pt x="708" y="570"/>
                        </a:lnTo>
                        <a:lnTo>
                          <a:pt x="708" y="9"/>
                        </a:lnTo>
                        <a:lnTo>
                          <a:pt x="573" y="9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07" name="Freeform 177"/>
                  <p:cNvSpPr/>
                  <p:nvPr/>
                </p:nvSpPr>
                <p:spPr>
                  <a:xfrm>
                    <a:off x="2552" y="2735"/>
                    <a:ext cx="726" cy="567"/>
                  </a:xfrm>
                  <a:custGeom>
                    <a:avLst/>
                    <a:gdLst>
                      <a:gd name="txL" fmla="*/ 0 w 726"/>
                      <a:gd name="txT" fmla="*/ 0 h 567"/>
                      <a:gd name="txR" fmla="*/ 726 w 726"/>
                      <a:gd name="txB" fmla="*/ 567 h 567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48" y="1"/>
                      </a:cxn>
                      <a:cxn ang="0">
                        <a:pos x="147" y="567"/>
                      </a:cxn>
                      <a:cxn ang="0">
                        <a:pos x="726" y="567"/>
                      </a:cxn>
                      <a:cxn ang="0">
                        <a:pos x="726" y="6"/>
                      </a:cxn>
                      <a:cxn ang="0">
                        <a:pos x="579" y="6"/>
                      </a:cxn>
                    </a:cxnLst>
                    <a:rect l="txL" t="txT" r="txR" b="txB"/>
                    <a:pathLst>
                      <a:path w="726" h="567">
                        <a:moveTo>
                          <a:pt x="0" y="0"/>
                        </a:moveTo>
                        <a:lnTo>
                          <a:pt x="148" y="1"/>
                        </a:lnTo>
                        <a:lnTo>
                          <a:pt x="147" y="567"/>
                        </a:lnTo>
                        <a:lnTo>
                          <a:pt x="726" y="567"/>
                        </a:lnTo>
                        <a:lnTo>
                          <a:pt x="726" y="6"/>
                        </a:lnTo>
                        <a:lnTo>
                          <a:pt x="579" y="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08" name="Freeform 178"/>
                  <p:cNvSpPr/>
                  <p:nvPr/>
                </p:nvSpPr>
                <p:spPr>
                  <a:xfrm>
                    <a:off x="3704" y="2738"/>
                    <a:ext cx="714" cy="567"/>
                  </a:xfrm>
                  <a:custGeom>
                    <a:avLst/>
                    <a:gdLst>
                      <a:gd name="txL" fmla="*/ 0 w 714"/>
                      <a:gd name="txT" fmla="*/ 0 h 567"/>
                      <a:gd name="txR" fmla="*/ 714 w 714"/>
                      <a:gd name="txB" fmla="*/ 567 h 567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36" y="1"/>
                      </a:cxn>
                      <a:cxn ang="0">
                        <a:pos x="135" y="567"/>
                      </a:cxn>
                      <a:cxn ang="0">
                        <a:pos x="714" y="567"/>
                      </a:cxn>
                      <a:cxn ang="0">
                        <a:pos x="714" y="6"/>
                      </a:cxn>
                      <a:cxn ang="0">
                        <a:pos x="576" y="5"/>
                      </a:cxn>
                    </a:cxnLst>
                    <a:rect l="txL" t="txT" r="txR" b="txB"/>
                    <a:pathLst>
                      <a:path w="714" h="567">
                        <a:moveTo>
                          <a:pt x="0" y="0"/>
                        </a:moveTo>
                        <a:lnTo>
                          <a:pt x="136" y="1"/>
                        </a:lnTo>
                        <a:lnTo>
                          <a:pt x="135" y="567"/>
                        </a:lnTo>
                        <a:lnTo>
                          <a:pt x="714" y="567"/>
                        </a:lnTo>
                        <a:lnTo>
                          <a:pt x="714" y="6"/>
                        </a:lnTo>
                        <a:lnTo>
                          <a:pt x="576" y="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09" name="Freeform 179"/>
                  <p:cNvSpPr/>
                  <p:nvPr/>
                </p:nvSpPr>
                <p:spPr>
                  <a:xfrm>
                    <a:off x="4859" y="2738"/>
                    <a:ext cx="711" cy="567"/>
                  </a:xfrm>
                  <a:custGeom>
                    <a:avLst/>
                    <a:gdLst>
                      <a:gd name="txL" fmla="*/ 0 w 711"/>
                      <a:gd name="txT" fmla="*/ 0 h 567"/>
                      <a:gd name="txR" fmla="*/ 711 w 711"/>
                      <a:gd name="txB" fmla="*/ 567 h 567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30" y="1"/>
                      </a:cxn>
                      <a:cxn ang="0">
                        <a:pos x="132" y="567"/>
                      </a:cxn>
                      <a:cxn ang="0">
                        <a:pos x="711" y="567"/>
                      </a:cxn>
                      <a:cxn ang="0">
                        <a:pos x="711" y="6"/>
                      </a:cxn>
                      <a:cxn ang="0">
                        <a:pos x="564" y="6"/>
                      </a:cxn>
                    </a:cxnLst>
                    <a:rect l="txL" t="txT" r="txR" b="txB"/>
                    <a:pathLst>
                      <a:path w="711" h="567">
                        <a:moveTo>
                          <a:pt x="0" y="0"/>
                        </a:moveTo>
                        <a:lnTo>
                          <a:pt x="130" y="1"/>
                        </a:lnTo>
                        <a:lnTo>
                          <a:pt x="132" y="567"/>
                        </a:lnTo>
                        <a:lnTo>
                          <a:pt x="711" y="567"/>
                        </a:lnTo>
                        <a:lnTo>
                          <a:pt x="711" y="6"/>
                        </a:lnTo>
                        <a:lnTo>
                          <a:pt x="564" y="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10" name="Freeform 180"/>
                  <p:cNvSpPr/>
                  <p:nvPr/>
                </p:nvSpPr>
                <p:spPr>
                  <a:xfrm>
                    <a:off x="1322" y="3398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11" name="Freeform 181"/>
                  <p:cNvSpPr/>
                  <p:nvPr/>
                </p:nvSpPr>
                <p:spPr>
                  <a:xfrm>
                    <a:off x="2491" y="3401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12" name="Freeform 182"/>
                  <p:cNvSpPr/>
                  <p:nvPr/>
                </p:nvSpPr>
                <p:spPr>
                  <a:xfrm>
                    <a:off x="3643" y="3401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13" name="Freeform 183"/>
                  <p:cNvSpPr/>
                  <p:nvPr/>
                </p:nvSpPr>
                <p:spPr>
                  <a:xfrm>
                    <a:off x="4795" y="3401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14" name="Freeform 184"/>
                  <p:cNvSpPr/>
                  <p:nvPr/>
                </p:nvSpPr>
                <p:spPr>
                  <a:xfrm>
                    <a:off x="5276" y="3305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15" name="Freeform 185"/>
                  <p:cNvSpPr/>
                  <p:nvPr/>
                </p:nvSpPr>
                <p:spPr>
                  <a:xfrm>
                    <a:off x="4124" y="3305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16" name="Freeform 186"/>
                  <p:cNvSpPr/>
                  <p:nvPr/>
                </p:nvSpPr>
                <p:spPr>
                  <a:xfrm>
                    <a:off x="2972" y="3305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17" name="Freeform 187"/>
                  <p:cNvSpPr/>
                  <p:nvPr/>
                </p:nvSpPr>
                <p:spPr>
                  <a:xfrm>
                    <a:off x="1819" y="3305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18" name="Freeform 188"/>
                  <p:cNvSpPr/>
                  <p:nvPr/>
                </p:nvSpPr>
                <p:spPr>
                  <a:xfrm>
                    <a:off x="956" y="4025"/>
                    <a:ext cx="4317" cy="1"/>
                  </a:xfrm>
                  <a:custGeom>
                    <a:avLst/>
                    <a:gdLst>
                      <a:gd name="txL" fmla="*/ 0 w 4317"/>
                      <a:gd name="txT" fmla="*/ 0 h 1"/>
                      <a:gd name="txR" fmla="*/ 4317 w 4317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317" y="0"/>
                      </a:cxn>
                    </a:cxnLst>
                    <a:rect l="txL" t="txT" r="txR" b="txB"/>
                    <a:pathLst>
                      <a:path w="4317" h="1">
                        <a:moveTo>
                          <a:pt x="0" y="0"/>
                        </a:moveTo>
                        <a:lnTo>
                          <a:pt x="431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19" name="Freeform 189"/>
                  <p:cNvSpPr/>
                  <p:nvPr/>
                </p:nvSpPr>
                <p:spPr>
                  <a:xfrm>
                    <a:off x="956" y="4121"/>
                    <a:ext cx="3837" cy="1"/>
                  </a:xfrm>
                  <a:custGeom>
                    <a:avLst/>
                    <a:gdLst>
                      <a:gd name="txL" fmla="*/ 0 w 3837"/>
                      <a:gd name="txT" fmla="*/ 0 h 1"/>
                      <a:gd name="txR" fmla="*/ 3837 w 3837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3837" y="0"/>
                      </a:cxn>
                    </a:cxnLst>
                    <a:rect l="txL" t="txT" r="txR" b="txB"/>
                    <a:pathLst>
                      <a:path w="3837" h="1">
                        <a:moveTo>
                          <a:pt x="0" y="0"/>
                        </a:moveTo>
                        <a:lnTo>
                          <a:pt x="383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20" name="Freeform 190"/>
                  <p:cNvSpPr/>
                  <p:nvPr/>
                </p:nvSpPr>
                <p:spPr>
                  <a:xfrm>
                    <a:off x="1322" y="3881"/>
                    <a:ext cx="1" cy="243"/>
                  </a:xfrm>
                  <a:custGeom>
                    <a:avLst/>
                    <a:gdLst>
                      <a:gd name="txL" fmla="*/ 0 w 1"/>
                      <a:gd name="txT" fmla="*/ 0 h 243"/>
                      <a:gd name="txR" fmla="*/ 1 w 1"/>
                      <a:gd name="txB" fmla="*/ 243 h 243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3"/>
                      </a:cxn>
                    </a:cxnLst>
                    <a:rect l="txL" t="txT" r="txR" b="txB"/>
                    <a:pathLst>
                      <a:path w="1" h="243">
                        <a:moveTo>
                          <a:pt x="0" y="0"/>
                        </a:moveTo>
                        <a:lnTo>
                          <a:pt x="0" y="24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21" name="Freeform 191"/>
                  <p:cNvSpPr/>
                  <p:nvPr/>
                </p:nvSpPr>
                <p:spPr>
                  <a:xfrm>
                    <a:off x="2491" y="3881"/>
                    <a:ext cx="1" cy="243"/>
                  </a:xfrm>
                  <a:custGeom>
                    <a:avLst/>
                    <a:gdLst>
                      <a:gd name="txL" fmla="*/ 0 w 1"/>
                      <a:gd name="txT" fmla="*/ 0 h 243"/>
                      <a:gd name="txR" fmla="*/ 1 w 1"/>
                      <a:gd name="txB" fmla="*/ 243 h 243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3"/>
                      </a:cxn>
                    </a:cxnLst>
                    <a:rect l="txL" t="txT" r="txR" b="txB"/>
                    <a:pathLst>
                      <a:path w="1" h="243">
                        <a:moveTo>
                          <a:pt x="0" y="0"/>
                        </a:moveTo>
                        <a:lnTo>
                          <a:pt x="0" y="24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22" name="Freeform 192"/>
                  <p:cNvSpPr/>
                  <p:nvPr/>
                </p:nvSpPr>
                <p:spPr>
                  <a:xfrm>
                    <a:off x="3643" y="3881"/>
                    <a:ext cx="1" cy="243"/>
                  </a:xfrm>
                  <a:custGeom>
                    <a:avLst/>
                    <a:gdLst>
                      <a:gd name="txL" fmla="*/ 0 w 1"/>
                      <a:gd name="txT" fmla="*/ 0 h 243"/>
                      <a:gd name="txR" fmla="*/ 1 w 1"/>
                      <a:gd name="txB" fmla="*/ 243 h 243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3"/>
                      </a:cxn>
                    </a:cxnLst>
                    <a:rect l="txL" t="txT" r="txR" b="txB"/>
                    <a:pathLst>
                      <a:path w="1" h="243">
                        <a:moveTo>
                          <a:pt x="0" y="0"/>
                        </a:moveTo>
                        <a:lnTo>
                          <a:pt x="0" y="24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23" name="Freeform 193"/>
                  <p:cNvSpPr/>
                  <p:nvPr/>
                </p:nvSpPr>
                <p:spPr>
                  <a:xfrm>
                    <a:off x="4791" y="3881"/>
                    <a:ext cx="4" cy="247"/>
                  </a:xfrm>
                  <a:custGeom>
                    <a:avLst/>
                    <a:gdLst>
                      <a:gd name="txL" fmla="*/ 0 w 4"/>
                      <a:gd name="txT" fmla="*/ 0 h 247"/>
                      <a:gd name="txR" fmla="*/ 4 w 4"/>
                      <a:gd name="txB" fmla="*/ 247 h 247"/>
                    </a:gdLst>
                    <a:ahLst/>
                    <a:cxnLst>
                      <a:cxn ang="0">
                        <a:pos x="4" y="0"/>
                      </a:cxn>
                      <a:cxn ang="0">
                        <a:pos x="0" y="247"/>
                      </a:cxn>
                    </a:cxnLst>
                    <a:rect l="txL" t="txT" r="txR" b="txB"/>
                    <a:pathLst>
                      <a:path w="4" h="247">
                        <a:moveTo>
                          <a:pt x="4" y="0"/>
                        </a:moveTo>
                        <a:lnTo>
                          <a:pt x="0" y="247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24" name="Freeform 194"/>
                  <p:cNvSpPr/>
                  <p:nvPr/>
                </p:nvSpPr>
                <p:spPr>
                  <a:xfrm>
                    <a:off x="5277" y="3881"/>
                    <a:ext cx="1" cy="151"/>
                  </a:xfrm>
                  <a:custGeom>
                    <a:avLst/>
                    <a:gdLst>
                      <a:gd name="txL" fmla="*/ 0 w 1"/>
                      <a:gd name="txT" fmla="*/ 0 h 151"/>
                      <a:gd name="txR" fmla="*/ 1 w 1"/>
                      <a:gd name="txB" fmla="*/ 151 h 15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1"/>
                      </a:cxn>
                    </a:cxnLst>
                    <a:rect l="txL" t="txT" r="txR" b="txB"/>
                    <a:pathLst>
                      <a:path w="1" h="151">
                        <a:moveTo>
                          <a:pt x="0" y="0"/>
                        </a:moveTo>
                        <a:lnTo>
                          <a:pt x="0" y="15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25" name="Line 195"/>
                  <p:cNvSpPr/>
                  <p:nvPr/>
                </p:nvSpPr>
                <p:spPr>
                  <a:xfrm>
                    <a:off x="4124" y="38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oval" w="sm" len="sm"/>
                  </a:ln>
                </p:spPr>
              </p:sp>
              <p:sp>
                <p:nvSpPr>
                  <p:cNvPr id="287026" name="Line 196"/>
                  <p:cNvSpPr/>
                  <p:nvPr/>
                </p:nvSpPr>
                <p:spPr>
                  <a:xfrm>
                    <a:off x="2973" y="38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oval" w="sm" len="sm"/>
                  </a:ln>
                </p:spPr>
              </p:sp>
              <p:sp>
                <p:nvSpPr>
                  <p:cNvPr id="287027" name="Line 197"/>
                  <p:cNvSpPr/>
                  <p:nvPr/>
                </p:nvSpPr>
                <p:spPr>
                  <a:xfrm>
                    <a:off x="1820" y="38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oval" w="sm" len="sm"/>
                  </a:ln>
                </p:spPr>
              </p:sp>
              <p:sp>
                <p:nvSpPr>
                  <p:cNvPr id="287028" name="Rectangle 198"/>
                  <p:cNvSpPr/>
                  <p:nvPr/>
                </p:nvSpPr>
                <p:spPr>
                  <a:xfrm>
                    <a:off x="2317" y="3597"/>
                    <a:ext cx="823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29" name="Text Box 199"/>
                  <p:cNvSpPr txBox="1"/>
                  <p:nvPr/>
                </p:nvSpPr>
                <p:spPr>
                  <a:xfrm>
                    <a:off x="2348" y="3576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30" name="Rectangle 200"/>
                  <p:cNvSpPr/>
                  <p:nvPr/>
                </p:nvSpPr>
                <p:spPr>
                  <a:xfrm>
                    <a:off x="3469" y="3597"/>
                    <a:ext cx="823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31" name="Text Box 201"/>
                  <p:cNvSpPr txBox="1"/>
                  <p:nvPr/>
                </p:nvSpPr>
                <p:spPr>
                  <a:xfrm>
                    <a:off x="3500" y="3576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32" name="Rectangle 202"/>
                  <p:cNvSpPr/>
                  <p:nvPr/>
                </p:nvSpPr>
                <p:spPr>
                  <a:xfrm>
                    <a:off x="4621" y="3597"/>
                    <a:ext cx="823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33" name="Text Box 203"/>
                  <p:cNvSpPr txBox="1"/>
                  <p:nvPr/>
                </p:nvSpPr>
                <p:spPr>
                  <a:xfrm>
                    <a:off x="4652" y="3576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34" name="Line 204"/>
                  <p:cNvSpPr/>
                  <p:nvPr/>
                </p:nvSpPr>
                <p:spPr>
                  <a:xfrm>
                    <a:off x="1964" y="3737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7035" name="Line 205"/>
                  <p:cNvSpPr/>
                  <p:nvPr/>
                </p:nvSpPr>
                <p:spPr>
                  <a:xfrm>
                    <a:off x="3144" y="3737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7036" name="Line 206"/>
                  <p:cNvSpPr/>
                  <p:nvPr/>
                </p:nvSpPr>
                <p:spPr>
                  <a:xfrm>
                    <a:off x="4293" y="3737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7037" name="Line 207"/>
                  <p:cNvSpPr/>
                  <p:nvPr/>
                </p:nvSpPr>
                <p:spPr>
                  <a:xfrm>
                    <a:off x="5420" y="3737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7038" name="Freeform 208"/>
                  <p:cNvSpPr/>
                  <p:nvPr/>
                </p:nvSpPr>
                <p:spPr>
                  <a:xfrm>
                    <a:off x="3033" y="2708"/>
                    <a:ext cx="47" cy="501"/>
                  </a:xfrm>
                  <a:custGeom>
                    <a:avLst/>
                    <a:gdLst>
                      <a:gd name="txL" fmla="*/ 0 w 1"/>
                      <a:gd name="txT" fmla="*/ 0 h 406"/>
                      <a:gd name="txR" fmla="*/ 1 w 1"/>
                      <a:gd name="txB" fmla="*/ 406 h 40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06"/>
                      </a:cxn>
                    </a:cxnLst>
                    <a:rect l="txL" t="txT" r="txR" b="txB"/>
                    <a:pathLst>
                      <a:path w="1" h="406">
                        <a:moveTo>
                          <a:pt x="0" y="0"/>
                        </a:moveTo>
                        <a:lnTo>
                          <a:pt x="0" y="40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39" name="Freeform 209"/>
                  <p:cNvSpPr/>
                  <p:nvPr/>
                </p:nvSpPr>
                <p:spPr>
                  <a:xfrm>
                    <a:off x="4185" y="2691"/>
                    <a:ext cx="1" cy="525"/>
                  </a:xfrm>
                  <a:custGeom>
                    <a:avLst/>
                    <a:gdLst>
                      <a:gd name="txL" fmla="*/ 0 w 1"/>
                      <a:gd name="txT" fmla="*/ 0 h 525"/>
                      <a:gd name="txR" fmla="*/ 1 w 1"/>
                      <a:gd name="txB" fmla="*/ 525 h 525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525"/>
                      </a:cxn>
                    </a:cxnLst>
                    <a:rect l="txL" t="txT" r="txR" b="txB"/>
                    <a:pathLst>
                      <a:path w="1" h="525">
                        <a:moveTo>
                          <a:pt x="0" y="0"/>
                        </a:moveTo>
                        <a:lnTo>
                          <a:pt x="0" y="52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40" name="Freeform 210"/>
                  <p:cNvSpPr/>
                  <p:nvPr/>
                </p:nvSpPr>
                <p:spPr>
                  <a:xfrm>
                    <a:off x="5325" y="2708"/>
                    <a:ext cx="47" cy="501"/>
                  </a:xfrm>
                  <a:custGeom>
                    <a:avLst/>
                    <a:gdLst>
                      <a:gd name="txL" fmla="*/ 0 w 1"/>
                      <a:gd name="txT" fmla="*/ 0 h 406"/>
                      <a:gd name="txR" fmla="*/ 1 w 1"/>
                      <a:gd name="txB" fmla="*/ 406 h 40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06"/>
                      </a:cxn>
                    </a:cxnLst>
                    <a:rect l="txL" t="txT" r="txR" b="txB"/>
                    <a:pathLst>
                      <a:path w="1" h="406">
                        <a:moveTo>
                          <a:pt x="0" y="0"/>
                        </a:moveTo>
                        <a:lnTo>
                          <a:pt x="0" y="40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041" name="Text Box 211"/>
                  <p:cNvSpPr txBox="1"/>
                  <p:nvPr/>
                </p:nvSpPr>
                <p:spPr>
                  <a:xfrm rot="5400000">
                    <a:off x="1175" y="1623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42" name="Text Box 212"/>
                  <p:cNvSpPr txBox="1"/>
                  <p:nvPr/>
                </p:nvSpPr>
                <p:spPr>
                  <a:xfrm rot="5400000">
                    <a:off x="1751" y="1623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43" name="Text Box 213"/>
                  <p:cNvSpPr txBox="1"/>
                  <p:nvPr/>
                </p:nvSpPr>
                <p:spPr>
                  <a:xfrm rot="5400000">
                    <a:off x="2327" y="1623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44" name="Text Box 214"/>
                  <p:cNvSpPr txBox="1"/>
                  <p:nvPr/>
                </p:nvSpPr>
                <p:spPr>
                  <a:xfrm rot="5400000">
                    <a:off x="2903" y="1611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45" name="Text Box 215"/>
                  <p:cNvSpPr txBox="1"/>
                  <p:nvPr/>
                </p:nvSpPr>
                <p:spPr>
                  <a:xfrm rot="5400000">
                    <a:off x="3478" y="1610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46" name="Text Box 216"/>
                  <p:cNvSpPr txBox="1"/>
                  <p:nvPr/>
                </p:nvSpPr>
                <p:spPr>
                  <a:xfrm rot="5400000">
                    <a:off x="4055" y="1611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47" name="Text Box 217"/>
                  <p:cNvSpPr txBox="1"/>
                  <p:nvPr/>
                </p:nvSpPr>
                <p:spPr>
                  <a:xfrm rot="5400000">
                    <a:off x="4631" y="1611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48" name="Text Box 218"/>
                  <p:cNvSpPr txBox="1"/>
                  <p:nvPr/>
                </p:nvSpPr>
                <p:spPr>
                  <a:xfrm rot="5400000">
                    <a:off x="5226" y="1611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49" name="Text Box 219"/>
                  <p:cNvSpPr txBox="1"/>
                  <p:nvPr/>
                </p:nvSpPr>
                <p:spPr>
                  <a:xfrm>
                    <a:off x="660" y="791"/>
                    <a:ext cx="187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50" name="Text Box 220"/>
                  <p:cNvSpPr txBox="1"/>
                  <p:nvPr/>
                </p:nvSpPr>
                <p:spPr>
                  <a:xfrm>
                    <a:off x="660" y="1383"/>
                    <a:ext cx="187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1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51" name="Text Box 221"/>
                  <p:cNvSpPr txBox="1"/>
                  <p:nvPr/>
                </p:nvSpPr>
                <p:spPr>
                  <a:xfrm>
                    <a:off x="624" y="1959"/>
                    <a:ext cx="259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52" name="Line 222"/>
                  <p:cNvSpPr/>
                  <p:nvPr/>
                </p:nvSpPr>
                <p:spPr>
                  <a:xfrm>
                    <a:off x="332" y="2537"/>
                    <a:ext cx="57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053" name="Text Box 223"/>
                  <p:cNvSpPr txBox="1"/>
                  <p:nvPr/>
                </p:nvSpPr>
                <p:spPr>
                  <a:xfrm>
                    <a:off x="660" y="2727"/>
                    <a:ext cx="187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54" name="Text Box 224"/>
                  <p:cNvSpPr txBox="1"/>
                  <p:nvPr/>
                </p:nvSpPr>
                <p:spPr>
                  <a:xfrm>
                    <a:off x="624" y="3159"/>
                    <a:ext cx="259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55" name="Text Box 225"/>
                  <p:cNvSpPr txBox="1"/>
                  <p:nvPr/>
                </p:nvSpPr>
                <p:spPr>
                  <a:xfrm rot="5400000">
                    <a:off x="647" y="1611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56" name="Text Box 226"/>
                  <p:cNvSpPr txBox="1"/>
                  <p:nvPr/>
                </p:nvSpPr>
                <p:spPr>
                  <a:xfrm rot="5400000">
                    <a:off x="647" y="2859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57" name="Text Box 227"/>
                  <p:cNvSpPr txBox="1"/>
                  <p:nvPr/>
                </p:nvSpPr>
                <p:spPr>
                  <a:xfrm>
                    <a:off x="349" y="1015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行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58" name="Text Box 228"/>
                  <p:cNvSpPr txBox="1"/>
                  <p:nvPr/>
                </p:nvSpPr>
                <p:spPr>
                  <a:xfrm>
                    <a:off x="349" y="1263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地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59" name="Text Box 229"/>
                  <p:cNvSpPr txBox="1"/>
                  <p:nvPr/>
                </p:nvSpPr>
                <p:spPr>
                  <a:xfrm>
                    <a:off x="349" y="1511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址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60" name="Text Box 230"/>
                  <p:cNvSpPr txBox="1"/>
                  <p:nvPr/>
                </p:nvSpPr>
                <p:spPr>
                  <a:xfrm>
                    <a:off x="349" y="1758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译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61" name="Text Box 231"/>
                  <p:cNvSpPr txBox="1"/>
                  <p:nvPr/>
                </p:nvSpPr>
                <p:spPr>
                  <a:xfrm>
                    <a:off x="349" y="2006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码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62" name="Text Box 232"/>
                  <p:cNvSpPr txBox="1"/>
                  <p:nvPr/>
                </p:nvSpPr>
                <p:spPr>
                  <a:xfrm>
                    <a:off x="376" y="2635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列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63" name="Text Box 233"/>
                  <p:cNvSpPr txBox="1"/>
                  <p:nvPr/>
                </p:nvSpPr>
                <p:spPr>
                  <a:xfrm>
                    <a:off x="376" y="2883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地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64" name="Text Box 234"/>
                  <p:cNvSpPr txBox="1"/>
                  <p:nvPr/>
                </p:nvSpPr>
                <p:spPr>
                  <a:xfrm>
                    <a:off x="376" y="3131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址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65" name="Text Box 235"/>
                  <p:cNvSpPr txBox="1"/>
                  <p:nvPr/>
                </p:nvSpPr>
                <p:spPr>
                  <a:xfrm>
                    <a:off x="376" y="3378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译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66" name="Text Box 236"/>
                  <p:cNvSpPr txBox="1"/>
                  <p:nvPr/>
                </p:nvSpPr>
                <p:spPr>
                  <a:xfrm>
                    <a:off x="376" y="3626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码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067" name="Line 237"/>
                  <p:cNvSpPr/>
                  <p:nvPr/>
                </p:nvSpPr>
                <p:spPr>
                  <a:xfrm>
                    <a:off x="140" y="905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7068" name="Line 238"/>
                  <p:cNvSpPr/>
                  <p:nvPr/>
                </p:nvSpPr>
                <p:spPr>
                  <a:xfrm>
                    <a:off x="140" y="1164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7069" name="Line 239"/>
                  <p:cNvSpPr/>
                  <p:nvPr/>
                </p:nvSpPr>
                <p:spPr>
                  <a:xfrm>
                    <a:off x="140" y="1423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7070" name="Line 240"/>
                  <p:cNvSpPr/>
                  <p:nvPr/>
                </p:nvSpPr>
                <p:spPr>
                  <a:xfrm>
                    <a:off x="140" y="1682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7071" name="Line 241"/>
                  <p:cNvSpPr/>
                  <p:nvPr/>
                </p:nvSpPr>
                <p:spPr>
                  <a:xfrm>
                    <a:off x="140" y="1941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7072" name="Line 242"/>
                  <p:cNvSpPr/>
                  <p:nvPr/>
                </p:nvSpPr>
                <p:spPr>
                  <a:xfrm>
                    <a:off x="140" y="2201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7073" name="Line 243"/>
                  <p:cNvSpPr/>
                  <p:nvPr/>
                </p:nvSpPr>
                <p:spPr>
                  <a:xfrm>
                    <a:off x="140" y="2872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7074" name="Line 244"/>
                  <p:cNvSpPr/>
                  <p:nvPr/>
                </p:nvSpPr>
                <p:spPr>
                  <a:xfrm>
                    <a:off x="140" y="3131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7075" name="Line 245"/>
                  <p:cNvSpPr/>
                  <p:nvPr/>
                </p:nvSpPr>
                <p:spPr>
                  <a:xfrm>
                    <a:off x="140" y="3390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7076" name="Line 246"/>
                  <p:cNvSpPr/>
                  <p:nvPr/>
                </p:nvSpPr>
                <p:spPr>
                  <a:xfrm>
                    <a:off x="140" y="3650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7077" name="Line 247"/>
                  <p:cNvSpPr/>
                  <p:nvPr/>
                </p:nvSpPr>
                <p:spPr>
                  <a:xfrm>
                    <a:off x="726" y="4079"/>
                    <a:ext cx="192" cy="0"/>
                  </a:xfrm>
                  <a:prstGeom prst="line">
                    <a:avLst/>
                  </a:prstGeom>
                  <a:ln w="28575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86870" name="Group 248"/>
                <p:cNvGrpSpPr/>
                <p:nvPr/>
              </p:nvGrpSpPr>
              <p:grpSpPr>
                <a:xfrm>
                  <a:off x="140" y="674"/>
                  <a:ext cx="195" cy="3011"/>
                  <a:chOff x="140" y="674"/>
                  <a:chExt cx="195" cy="3011"/>
                </a:xfrm>
              </p:grpSpPr>
              <p:sp>
                <p:nvSpPr>
                  <p:cNvPr id="286871" name="Text Box 249"/>
                  <p:cNvSpPr txBox="1"/>
                  <p:nvPr/>
                </p:nvSpPr>
                <p:spPr>
                  <a:xfrm>
                    <a:off x="140" y="674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72" name="Text Box 250"/>
                  <p:cNvSpPr txBox="1"/>
                  <p:nvPr/>
                </p:nvSpPr>
                <p:spPr>
                  <a:xfrm>
                    <a:off x="140" y="933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73" name="Text Box 251"/>
                  <p:cNvSpPr txBox="1"/>
                  <p:nvPr/>
                </p:nvSpPr>
                <p:spPr>
                  <a:xfrm>
                    <a:off x="140" y="1192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74" name="Text Box 252"/>
                  <p:cNvSpPr txBox="1"/>
                  <p:nvPr/>
                </p:nvSpPr>
                <p:spPr>
                  <a:xfrm>
                    <a:off x="140" y="1451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75" name="Text Box 253"/>
                  <p:cNvSpPr txBox="1"/>
                  <p:nvPr/>
                </p:nvSpPr>
                <p:spPr>
                  <a:xfrm>
                    <a:off x="140" y="1710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76" name="Text Box 254"/>
                  <p:cNvSpPr txBox="1"/>
                  <p:nvPr/>
                </p:nvSpPr>
                <p:spPr>
                  <a:xfrm>
                    <a:off x="140" y="1970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77" name="Text Box 255"/>
                  <p:cNvSpPr txBox="1"/>
                  <p:nvPr/>
                </p:nvSpPr>
                <p:spPr>
                  <a:xfrm>
                    <a:off x="140" y="2657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78" name="Text Box 256"/>
                  <p:cNvSpPr txBox="1"/>
                  <p:nvPr/>
                </p:nvSpPr>
                <p:spPr>
                  <a:xfrm>
                    <a:off x="140" y="2916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79" name="Text Box 257"/>
                  <p:cNvSpPr txBox="1"/>
                  <p:nvPr/>
                </p:nvSpPr>
                <p:spPr>
                  <a:xfrm>
                    <a:off x="140" y="3175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80" name="Text Box 258"/>
                  <p:cNvSpPr txBox="1"/>
                  <p:nvPr/>
                </p:nvSpPr>
                <p:spPr>
                  <a:xfrm>
                    <a:off x="140" y="3434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86830" name="Group 259"/>
              <p:cNvGrpSpPr/>
              <p:nvPr/>
            </p:nvGrpSpPr>
            <p:grpSpPr>
              <a:xfrm>
                <a:off x="915" y="2632"/>
                <a:ext cx="3944" cy="254"/>
                <a:chOff x="915" y="2632"/>
                <a:chExt cx="3944" cy="254"/>
              </a:xfrm>
            </p:grpSpPr>
            <p:grpSp>
              <p:nvGrpSpPr>
                <p:cNvPr id="286831" name="Group 260"/>
                <p:cNvGrpSpPr/>
                <p:nvPr/>
              </p:nvGrpSpPr>
              <p:grpSpPr>
                <a:xfrm>
                  <a:off x="915" y="2696"/>
                  <a:ext cx="3858" cy="190"/>
                  <a:chOff x="915" y="2696"/>
                  <a:chExt cx="3858" cy="190"/>
                </a:xfrm>
              </p:grpSpPr>
              <p:sp>
                <p:nvSpPr>
                  <p:cNvPr id="286864" name="Freeform 261"/>
                  <p:cNvSpPr/>
                  <p:nvPr/>
                </p:nvSpPr>
                <p:spPr>
                  <a:xfrm>
                    <a:off x="1304" y="2707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0" y="0"/>
                        </a:moveTo>
                        <a:lnTo>
                          <a:pt x="1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865" name="Freeform 262"/>
                  <p:cNvSpPr/>
                  <p:nvPr/>
                </p:nvSpPr>
                <p:spPr>
                  <a:xfrm>
                    <a:off x="2457" y="2710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0" y="0"/>
                        </a:moveTo>
                        <a:lnTo>
                          <a:pt x="1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866" name="Freeform 263"/>
                  <p:cNvSpPr/>
                  <p:nvPr/>
                </p:nvSpPr>
                <p:spPr>
                  <a:xfrm>
                    <a:off x="3609" y="2710"/>
                    <a:ext cx="1" cy="176"/>
                  </a:xfrm>
                  <a:custGeom>
                    <a:avLst/>
                    <a:gdLst>
                      <a:gd name="txL" fmla="*/ 0 w 1"/>
                      <a:gd name="txT" fmla="*/ 0 h 176"/>
                      <a:gd name="txR" fmla="*/ 1 w 1"/>
                      <a:gd name="txB" fmla="*/ 176 h 17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6"/>
                      </a:cxn>
                    </a:cxnLst>
                    <a:rect l="txL" t="txT" r="txR" b="txB"/>
                    <a:pathLst>
                      <a:path w="1" h="176">
                        <a:moveTo>
                          <a:pt x="0" y="0"/>
                        </a:moveTo>
                        <a:lnTo>
                          <a:pt x="0" y="17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867" name="Freeform 264"/>
                  <p:cNvSpPr/>
                  <p:nvPr/>
                </p:nvSpPr>
                <p:spPr>
                  <a:xfrm>
                    <a:off x="4761" y="2696"/>
                    <a:ext cx="1" cy="178"/>
                  </a:xfrm>
                  <a:custGeom>
                    <a:avLst/>
                    <a:gdLst>
                      <a:gd name="txL" fmla="*/ 0 w 1"/>
                      <a:gd name="txT" fmla="*/ 0 h 178"/>
                      <a:gd name="txR" fmla="*/ 1 w 1"/>
                      <a:gd name="txB" fmla="*/ 178 h 178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8"/>
                      </a:cxn>
                    </a:cxnLst>
                    <a:rect l="txL" t="txT" r="txR" b="txB"/>
                    <a:pathLst>
                      <a:path w="1" h="178">
                        <a:moveTo>
                          <a:pt x="0" y="0"/>
                        </a:moveTo>
                        <a:lnTo>
                          <a:pt x="0" y="178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868" name="Freeform 265"/>
                  <p:cNvSpPr/>
                  <p:nvPr/>
                </p:nvSpPr>
                <p:spPr>
                  <a:xfrm>
                    <a:off x="915" y="2865"/>
                    <a:ext cx="3858" cy="2"/>
                  </a:xfrm>
                  <a:custGeom>
                    <a:avLst/>
                    <a:gdLst>
                      <a:gd name="txL" fmla="*/ 0 w 3858"/>
                      <a:gd name="txT" fmla="*/ 0 h 2"/>
                      <a:gd name="txR" fmla="*/ 3858 w 3858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3858" y="0"/>
                      </a:cxn>
                    </a:cxnLst>
                    <a:rect l="txL" t="txT" r="txR" b="txB"/>
                    <a:pathLst>
                      <a:path w="3858" h="2">
                        <a:moveTo>
                          <a:pt x="0" y="2"/>
                        </a:moveTo>
                        <a:lnTo>
                          <a:pt x="3858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86832" name="Group 266"/>
                <p:cNvGrpSpPr/>
                <p:nvPr/>
              </p:nvGrpSpPr>
              <p:grpSpPr>
                <a:xfrm>
                  <a:off x="1212" y="2632"/>
                  <a:ext cx="192" cy="158"/>
                  <a:chOff x="1212" y="2632"/>
                  <a:chExt cx="192" cy="158"/>
                </a:xfrm>
              </p:grpSpPr>
              <p:grpSp>
                <p:nvGrpSpPr>
                  <p:cNvPr id="286857" name="Group 267"/>
                  <p:cNvGrpSpPr/>
                  <p:nvPr/>
                </p:nvGrpSpPr>
                <p:grpSpPr>
                  <a:xfrm>
                    <a:off x="1356" y="2632"/>
                    <a:ext cx="48" cy="158"/>
                    <a:chOff x="1356" y="2632"/>
                    <a:chExt cx="48" cy="158"/>
                  </a:xfrm>
                </p:grpSpPr>
                <p:sp>
                  <p:nvSpPr>
                    <p:cNvPr id="286862" name="Line 268"/>
                    <p:cNvSpPr/>
                    <p:nvPr/>
                  </p:nvSpPr>
                  <p:spPr>
                    <a:xfrm rot="5400000">
                      <a:off x="1325" y="2711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863" name="Line 269"/>
                    <p:cNvSpPr/>
                    <p:nvPr/>
                  </p:nvSpPr>
                  <p:spPr>
                    <a:xfrm rot="5400000">
                      <a:off x="1308" y="2709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6858" name="Freeform 270"/>
                  <p:cNvSpPr/>
                  <p:nvPr/>
                </p:nvSpPr>
                <p:spPr>
                  <a:xfrm>
                    <a:off x="1260" y="2708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6859" name="Group 271"/>
                  <p:cNvGrpSpPr/>
                  <p:nvPr/>
                </p:nvGrpSpPr>
                <p:grpSpPr>
                  <a:xfrm>
                    <a:off x="1212" y="2632"/>
                    <a:ext cx="48" cy="158"/>
                    <a:chOff x="1212" y="2632"/>
                    <a:chExt cx="48" cy="158"/>
                  </a:xfrm>
                </p:grpSpPr>
                <p:sp>
                  <p:nvSpPr>
                    <p:cNvPr id="286860" name="Line 272"/>
                    <p:cNvSpPr/>
                    <p:nvPr/>
                  </p:nvSpPr>
                  <p:spPr>
                    <a:xfrm rot="-5400000">
                      <a:off x="1133" y="2711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861" name="Line 273"/>
                    <p:cNvSpPr/>
                    <p:nvPr/>
                  </p:nvSpPr>
                  <p:spPr>
                    <a:xfrm rot="-5400000">
                      <a:off x="1212" y="2713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86833" name="Group 274"/>
                <p:cNvGrpSpPr/>
                <p:nvPr/>
              </p:nvGrpSpPr>
              <p:grpSpPr>
                <a:xfrm>
                  <a:off x="2364" y="2634"/>
                  <a:ext cx="192" cy="158"/>
                  <a:chOff x="2364" y="2634"/>
                  <a:chExt cx="192" cy="158"/>
                </a:xfrm>
              </p:grpSpPr>
              <p:grpSp>
                <p:nvGrpSpPr>
                  <p:cNvPr id="286850" name="Group 275"/>
                  <p:cNvGrpSpPr/>
                  <p:nvPr/>
                </p:nvGrpSpPr>
                <p:grpSpPr>
                  <a:xfrm>
                    <a:off x="2508" y="2634"/>
                    <a:ext cx="48" cy="158"/>
                    <a:chOff x="2508" y="2634"/>
                    <a:chExt cx="48" cy="158"/>
                  </a:xfrm>
                </p:grpSpPr>
                <p:sp>
                  <p:nvSpPr>
                    <p:cNvPr id="286855" name="Line 276"/>
                    <p:cNvSpPr/>
                    <p:nvPr/>
                  </p:nvSpPr>
                  <p:spPr>
                    <a:xfrm rot="5400000">
                      <a:off x="2477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856" name="Line 277"/>
                    <p:cNvSpPr/>
                    <p:nvPr/>
                  </p:nvSpPr>
                  <p:spPr>
                    <a:xfrm rot="5400000">
                      <a:off x="2460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6851" name="Freeform 278"/>
                  <p:cNvSpPr/>
                  <p:nvPr/>
                </p:nvSpPr>
                <p:spPr>
                  <a:xfrm>
                    <a:off x="2412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6852" name="Group 279"/>
                  <p:cNvGrpSpPr/>
                  <p:nvPr/>
                </p:nvGrpSpPr>
                <p:grpSpPr>
                  <a:xfrm>
                    <a:off x="2364" y="2634"/>
                    <a:ext cx="48" cy="158"/>
                    <a:chOff x="2364" y="2634"/>
                    <a:chExt cx="48" cy="158"/>
                  </a:xfrm>
                </p:grpSpPr>
                <p:sp>
                  <p:nvSpPr>
                    <p:cNvPr id="286853" name="Line 280"/>
                    <p:cNvSpPr/>
                    <p:nvPr/>
                  </p:nvSpPr>
                  <p:spPr>
                    <a:xfrm rot="-5400000">
                      <a:off x="2285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854" name="Line 281"/>
                    <p:cNvSpPr/>
                    <p:nvPr/>
                  </p:nvSpPr>
                  <p:spPr>
                    <a:xfrm rot="-5400000">
                      <a:off x="2364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86834" name="Group 282"/>
                <p:cNvGrpSpPr/>
                <p:nvPr/>
              </p:nvGrpSpPr>
              <p:grpSpPr>
                <a:xfrm>
                  <a:off x="3516" y="2634"/>
                  <a:ext cx="192" cy="158"/>
                  <a:chOff x="3516" y="2634"/>
                  <a:chExt cx="192" cy="158"/>
                </a:xfrm>
              </p:grpSpPr>
              <p:grpSp>
                <p:nvGrpSpPr>
                  <p:cNvPr id="286843" name="Group 283"/>
                  <p:cNvGrpSpPr/>
                  <p:nvPr/>
                </p:nvGrpSpPr>
                <p:grpSpPr>
                  <a:xfrm>
                    <a:off x="3660" y="2634"/>
                    <a:ext cx="48" cy="158"/>
                    <a:chOff x="3660" y="2634"/>
                    <a:chExt cx="48" cy="158"/>
                  </a:xfrm>
                </p:grpSpPr>
                <p:sp>
                  <p:nvSpPr>
                    <p:cNvPr id="286848" name="Line 284"/>
                    <p:cNvSpPr/>
                    <p:nvPr/>
                  </p:nvSpPr>
                  <p:spPr>
                    <a:xfrm rot="5400000">
                      <a:off x="3629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849" name="Line 285"/>
                    <p:cNvSpPr/>
                    <p:nvPr/>
                  </p:nvSpPr>
                  <p:spPr>
                    <a:xfrm rot="5400000">
                      <a:off x="3612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6844" name="Freeform 286"/>
                  <p:cNvSpPr/>
                  <p:nvPr/>
                </p:nvSpPr>
                <p:spPr>
                  <a:xfrm>
                    <a:off x="3564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6845" name="Group 287"/>
                  <p:cNvGrpSpPr/>
                  <p:nvPr/>
                </p:nvGrpSpPr>
                <p:grpSpPr>
                  <a:xfrm>
                    <a:off x="3516" y="2634"/>
                    <a:ext cx="48" cy="158"/>
                    <a:chOff x="3516" y="2634"/>
                    <a:chExt cx="48" cy="158"/>
                  </a:xfrm>
                </p:grpSpPr>
                <p:sp>
                  <p:nvSpPr>
                    <p:cNvPr id="286846" name="Line 288"/>
                    <p:cNvSpPr/>
                    <p:nvPr/>
                  </p:nvSpPr>
                  <p:spPr>
                    <a:xfrm rot="-5400000">
                      <a:off x="3437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847" name="Line 289"/>
                    <p:cNvSpPr/>
                    <p:nvPr/>
                  </p:nvSpPr>
                  <p:spPr>
                    <a:xfrm rot="-5400000">
                      <a:off x="3516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86835" name="Group 290"/>
                <p:cNvGrpSpPr/>
                <p:nvPr/>
              </p:nvGrpSpPr>
              <p:grpSpPr>
                <a:xfrm>
                  <a:off x="4667" y="2634"/>
                  <a:ext cx="192" cy="158"/>
                  <a:chOff x="4667" y="2634"/>
                  <a:chExt cx="192" cy="158"/>
                </a:xfrm>
              </p:grpSpPr>
              <p:grpSp>
                <p:nvGrpSpPr>
                  <p:cNvPr id="286836" name="Group 291"/>
                  <p:cNvGrpSpPr/>
                  <p:nvPr/>
                </p:nvGrpSpPr>
                <p:grpSpPr>
                  <a:xfrm>
                    <a:off x="4811" y="2634"/>
                    <a:ext cx="48" cy="158"/>
                    <a:chOff x="4811" y="2634"/>
                    <a:chExt cx="48" cy="158"/>
                  </a:xfrm>
                </p:grpSpPr>
                <p:sp>
                  <p:nvSpPr>
                    <p:cNvPr id="286841" name="Line 292"/>
                    <p:cNvSpPr/>
                    <p:nvPr/>
                  </p:nvSpPr>
                  <p:spPr>
                    <a:xfrm rot="5400000">
                      <a:off x="4780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842" name="Line 293"/>
                    <p:cNvSpPr/>
                    <p:nvPr/>
                  </p:nvSpPr>
                  <p:spPr>
                    <a:xfrm rot="5400000">
                      <a:off x="4763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6837" name="Freeform 294"/>
                  <p:cNvSpPr/>
                  <p:nvPr/>
                </p:nvSpPr>
                <p:spPr>
                  <a:xfrm>
                    <a:off x="4715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6838" name="Group 295"/>
                  <p:cNvGrpSpPr/>
                  <p:nvPr/>
                </p:nvGrpSpPr>
                <p:grpSpPr>
                  <a:xfrm>
                    <a:off x="4667" y="2634"/>
                    <a:ext cx="48" cy="158"/>
                    <a:chOff x="4667" y="2634"/>
                    <a:chExt cx="48" cy="158"/>
                  </a:xfrm>
                </p:grpSpPr>
                <p:sp>
                  <p:nvSpPr>
                    <p:cNvPr id="286839" name="Line 296"/>
                    <p:cNvSpPr/>
                    <p:nvPr/>
                  </p:nvSpPr>
                  <p:spPr>
                    <a:xfrm rot="-5400000">
                      <a:off x="4588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6840" name="Line 297"/>
                    <p:cNvSpPr/>
                    <p:nvPr/>
                  </p:nvSpPr>
                  <p:spPr>
                    <a:xfrm rot="-5400000">
                      <a:off x="4667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</p:grpSp>
        <p:grpSp>
          <p:nvGrpSpPr>
            <p:cNvPr id="286804" name="Group 298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86805" name="Group 299"/>
              <p:cNvGrpSpPr/>
              <p:nvPr/>
            </p:nvGrpSpPr>
            <p:grpSpPr>
              <a:xfrm>
                <a:off x="902" y="857"/>
                <a:ext cx="4567" cy="418"/>
                <a:chOff x="902" y="857"/>
                <a:chExt cx="4567" cy="418"/>
              </a:xfrm>
            </p:grpSpPr>
            <p:grpSp>
              <p:nvGrpSpPr>
                <p:cNvPr id="286810" name="Group 300"/>
                <p:cNvGrpSpPr/>
                <p:nvPr/>
              </p:nvGrpSpPr>
              <p:grpSpPr>
                <a:xfrm>
                  <a:off x="1152" y="1024"/>
                  <a:ext cx="4317" cy="251"/>
                  <a:chOff x="1176" y="1079"/>
                  <a:chExt cx="4317" cy="251"/>
                </a:xfrm>
              </p:grpSpPr>
              <p:sp>
                <p:nvSpPr>
                  <p:cNvPr id="286821" name="Rectangle 301"/>
                  <p:cNvSpPr/>
                  <p:nvPr/>
                </p:nvSpPr>
                <p:spPr>
                  <a:xfrm>
                    <a:off x="175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22" name="Rectangle 302"/>
                  <p:cNvSpPr/>
                  <p:nvPr/>
                </p:nvSpPr>
                <p:spPr>
                  <a:xfrm>
                    <a:off x="117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23" name="Rectangle 303"/>
                  <p:cNvSpPr/>
                  <p:nvPr/>
                </p:nvSpPr>
                <p:spPr>
                  <a:xfrm>
                    <a:off x="289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24" name="Rectangle 304"/>
                  <p:cNvSpPr/>
                  <p:nvPr/>
                </p:nvSpPr>
                <p:spPr>
                  <a:xfrm>
                    <a:off x="231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25" name="Rectangle 305"/>
                  <p:cNvSpPr/>
                  <p:nvPr/>
                </p:nvSpPr>
                <p:spPr>
                  <a:xfrm>
                    <a:off x="4067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26" name="Rectangle 306"/>
                  <p:cNvSpPr/>
                  <p:nvPr/>
                </p:nvSpPr>
                <p:spPr>
                  <a:xfrm>
                    <a:off x="3491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27" name="Rectangle 307"/>
                  <p:cNvSpPr/>
                  <p:nvPr/>
                </p:nvSpPr>
                <p:spPr>
                  <a:xfrm>
                    <a:off x="5205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6828" name="Rectangle 308"/>
                  <p:cNvSpPr/>
                  <p:nvPr/>
                </p:nvSpPr>
                <p:spPr>
                  <a:xfrm>
                    <a:off x="462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86811" name="Group 309"/>
                <p:cNvGrpSpPr/>
                <p:nvPr/>
              </p:nvGrpSpPr>
              <p:grpSpPr>
                <a:xfrm>
                  <a:off x="902" y="857"/>
                  <a:ext cx="4419" cy="145"/>
                  <a:chOff x="902" y="857"/>
                  <a:chExt cx="4419" cy="145"/>
                </a:xfrm>
              </p:grpSpPr>
              <p:sp>
                <p:nvSpPr>
                  <p:cNvPr id="286812" name="Freeform 310"/>
                  <p:cNvSpPr/>
                  <p:nvPr/>
                </p:nvSpPr>
                <p:spPr>
                  <a:xfrm>
                    <a:off x="902" y="857"/>
                    <a:ext cx="4419" cy="1"/>
                  </a:xfrm>
                  <a:custGeom>
                    <a:avLst/>
                    <a:gdLst>
                      <a:gd name="txL" fmla="*/ 0 w 4419"/>
                      <a:gd name="txT" fmla="*/ 0 h 1"/>
                      <a:gd name="txR" fmla="*/ 4419 w 4419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9" y="0"/>
                      </a:cxn>
                    </a:cxnLst>
                    <a:rect l="txL" t="txT" r="txR" b="txB"/>
                    <a:pathLst>
                      <a:path w="4419" h="1">
                        <a:moveTo>
                          <a:pt x="0" y="1"/>
                        </a:moveTo>
                        <a:lnTo>
                          <a:pt x="4419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6813" name="Line 311"/>
                  <p:cNvSpPr/>
                  <p:nvPr/>
                </p:nvSpPr>
                <p:spPr>
                  <a:xfrm>
                    <a:off x="127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814" name="Line 312"/>
                  <p:cNvSpPr/>
                  <p:nvPr/>
                </p:nvSpPr>
                <p:spPr>
                  <a:xfrm>
                    <a:off x="184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815" name="Line 313"/>
                  <p:cNvSpPr/>
                  <p:nvPr/>
                </p:nvSpPr>
                <p:spPr>
                  <a:xfrm>
                    <a:off x="242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816" name="Line 314"/>
                  <p:cNvSpPr/>
                  <p:nvPr/>
                </p:nvSpPr>
                <p:spPr>
                  <a:xfrm>
                    <a:off x="3000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817" name="Line 315"/>
                  <p:cNvSpPr/>
                  <p:nvPr/>
                </p:nvSpPr>
                <p:spPr>
                  <a:xfrm>
                    <a:off x="3576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818" name="Line 316"/>
                  <p:cNvSpPr/>
                  <p:nvPr/>
                </p:nvSpPr>
                <p:spPr>
                  <a:xfrm>
                    <a:off x="415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819" name="Line 317"/>
                  <p:cNvSpPr/>
                  <p:nvPr/>
                </p:nvSpPr>
                <p:spPr>
                  <a:xfrm>
                    <a:off x="472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6820" name="Line 318"/>
                  <p:cNvSpPr/>
                  <p:nvPr/>
                </p:nvSpPr>
                <p:spPr>
                  <a:xfrm>
                    <a:off x="530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</p:grpSp>
          </p:grpSp>
          <p:sp>
            <p:nvSpPr>
              <p:cNvPr id="286806" name="Text Box 319"/>
              <p:cNvSpPr txBox="1"/>
              <p:nvPr/>
            </p:nvSpPr>
            <p:spPr>
              <a:xfrm>
                <a:off x="140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07" name="Text Box 320"/>
              <p:cNvSpPr txBox="1"/>
              <p:nvPr/>
            </p:nvSpPr>
            <p:spPr>
              <a:xfrm>
                <a:off x="254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08" name="Text Box 321"/>
              <p:cNvSpPr txBox="1"/>
              <p:nvPr/>
            </p:nvSpPr>
            <p:spPr>
              <a:xfrm>
                <a:off x="3718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809" name="Text Box 322"/>
              <p:cNvSpPr txBox="1"/>
              <p:nvPr/>
            </p:nvSpPr>
            <p:spPr>
              <a:xfrm>
                <a:off x="486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6729" name="Group 323"/>
          <p:cNvGrpSpPr/>
          <p:nvPr/>
        </p:nvGrpSpPr>
        <p:grpSpPr>
          <a:xfrm>
            <a:off x="4613275" y="5599113"/>
            <a:ext cx="6051550" cy="336550"/>
            <a:chOff x="1946" y="3527"/>
            <a:chExt cx="3812" cy="212"/>
          </a:xfrm>
        </p:grpSpPr>
        <p:grpSp>
          <p:nvGrpSpPr>
            <p:cNvPr id="286793" name="Group 324"/>
            <p:cNvGrpSpPr/>
            <p:nvPr/>
          </p:nvGrpSpPr>
          <p:grpSpPr>
            <a:xfrm>
              <a:off x="1964" y="3737"/>
              <a:ext cx="3637" cy="0"/>
              <a:chOff x="1964" y="3737"/>
              <a:chExt cx="3637" cy="0"/>
            </a:xfrm>
          </p:grpSpPr>
          <p:sp>
            <p:nvSpPr>
              <p:cNvPr id="286799" name="Line 325"/>
              <p:cNvSpPr/>
              <p:nvPr/>
            </p:nvSpPr>
            <p:spPr>
              <a:xfrm>
                <a:off x="196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6800" name="Line 326"/>
              <p:cNvSpPr/>
              <p:nvPr/>
            </p:nvSpPr>
            <p:spPr>
              <a:xfrm>
                <a:off x="314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6801" name="Line 327"/>
              <p:cNvSpPr/>
              <p:nvPr/>
            </p:nvSpPr>
            <p:spPr>
              <a:xfrm>
                <a:off x="4293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6802" name="Line 328"/>
              <p:cNvSpPr/>
              <p:nvPr/>
            </p:nvSpPr>
            <p:spPr>
              <a:xfrm>
                <a:off x="5420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</p:grpSp>
        <p:grpSp>
          <p:nvGrpSpPr>
            <p:cNvPr id="286794" name="Group 329"/>
            <p:cNvGrpSpPr/>
            <p:nvPr/>
          </p:nvGrpSpPr>
          <p:grpSpPr>
            <a:xfrm>
              <a:off x="1946" y="3527"/>
              <a:ext cx="3812" cy="212"/>
              <a:chOff x="1946" y="3527"/>
              <a:chExt cx="3812" cy="212"/>
            </a:xfrm>
          </p:grpSpPr>
          <p:sp>
            <p:nvSpPr>
              <p:cNvPr id="286795" name="Text Box 330"/>
              <p:cNvSpPr txBox="1"/>
              <p:nvPr/>
            </p:nvSpPr>
            <p:spPr>
              <a:xfrm>
                <a:off x="194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796" name="Text Box 331"/>
              <p:cNvSpPr txBox="1"/>
              <p:nvPr/>
            </p:nvSpPr>
            <p:spPr>
              <a:xfrm>
                <a:off x="310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797" name="Text Box 332"/>
              <p:cNvSpPr txBox="1"/>
              <p:nvPr/>
            </p:nvSpPr>
            <p:spPr>
              <a:xfrm>
                <a:off x="4258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6798" name="Text Box 333"/>
              <p:cNvSpPr txBox="1"/>
              <p:nvPr/>
            </p:nvSpPr>
            <p:spPr>
              <a:xfrm>
                <a:off x="541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23238" name="Group 334"/>
          <p:cNvGrpSpPr/>
          <p:nvPr/>
        </p:nvGrpSpPr>
        <p:grpSpPr>
          <a:xfrm>
            <a:off x="3336925" y="5699125"/>
            <a:ext cx="6832600" cy="414338"/>
            <a:chOff x="1142" y="3590"/>
            <a:chExt cx="4304" cy="261"/>
          </a:xfrm>
        </p:grpSpPr>
        <p:grpSp>
          <p:nvGrpSpPr>
            <p:cNvPr id="286781" name="Group 335"/>
            <p:cNvGrpSpPr/>
            <p:nvPr/>
          </p:nvGrpSpPr>
          <p:grpSpPr>
            <a:xfrm>
              <a:off x="1142" y="3590"/>
              <a:ext cx="823" cy="240"/>
              <a:chOff x="1142" y="3590"/>
              <a:chExt cx="823" cy="240"/>
            </a:xfrm>
          </p:grpSpPr>
          <p:sp>
            <p:nvSpPr>
              <p:cNvPr id="286791" name="Rectangle 336"/>
              <p:cNvSpPr/>
              <p:nvPr/>
            </p:nvSpPr>
            <p:spPr>
              <a:xfrm>
                <a:off x="1142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792" name="Text Box 337"/>
              <p:cNvSpPr txBox="1"/>
              <p:nvPr/>
            </p:nvSpPr>
            <p:spPr>
              <a:xfrm>
                <a:off x="1200" y="3590"/>
                <a:ext cx="755" cy="1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782" name="Group 338"/>
            <p:cNvGrpSpPr/>
            <p:nvPr/>
          </p:nvGrpSpPr>
          <p:grpSpPr>
            <a:xfrm>
              <a:off x="2318" y="3598"/>
              <a:ext cx="823" cy="232"/>
              <a:chOff x="2318" y="3598"/>
              <a:chExt cx="823" cy="232"/>
            </a:xfrm>
          </p:grpSpPr>
          <p:sp>
            <p:nvSpPr>
              <p:cNvPr id="286789" name="Rectangle 339"/>
              <p:cNvSpPr/>
              <p:nvPr/>
            </p:nvSpPr>
            <p:spPr>
              <a:xfrm>
                <a:off x="2318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790" name="Text Box 340"/>
              <p:cNvSpPr txBox="1"/>
              <p:nvPr/>
            </p:nvSpPr>
            <p:spPr>
              <a:xfrm>
                <a:off x="2352" y="3600"/>
                <a:ext cx="755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783" name="Group 341"/>
            <p:cNvGrpSpPr/>
            <p:nvPr/>
          </p:nvGrpSpPr>
          <p:grpSpPr>
            <a:xfrm>
              <a:off x="3470" y="3598"/>
              <a:ext cx="823" cy="232"/>
              <a:chOff x="3470" y="3598"/>
              <a:chExt cx="823" cy="232"/>
            </a:xfrm>
          </p:grpSpPr>
          <p:sp>
            <p:nvSpPr>
              <p:cNvPr id="286787" name="Rectangle 342"/>
              <p:cNvSpPr/>
              <p:nvPr/>
            </p:nvSpPr>
            <p:spPr>
              <a:xfrm>
                <a:off x="3470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788" name="Text Box 343"/>
              <p:cNvSpPr txBox="1"/>
              <p:nvPr/>
            </p:nvSpPr>
            <p:spPr>
              <a:xfrm>
                <a:off x="3504" y="3600"/>
                <a:ext cx="755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784" name="Group 344"/>
            <p:cNvGrpSpPr/>
            <p:nvPr/>
          </p:nvGrpSpPr>
          <p:grpSpPr>
            <a:xfrm>
              <a:off x="4623" y="3598"/>
              <a:ext cx="823" cy="253"/>
              <a:chOff x="4623" y="3598"/>
              <a:chExt cx="823" cy="253"/>
            </a:xfrm>
          </p:grpSpPr>
          <p:sp>
            <p:nvSpPr>
              <p:cNvPr id="286785" name="Rectangle 345"/>
              <p:cNvSpPr/>
              <p:nvPr/>
            </p:nvSpPr>
            <p:spPr>
              <a:xfrm>
                <a:off x="4623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6786" name="Text Box 346"/>
              <p:cNvSpPr txBox="1"/>
              <p:nvPr/>
            </p:nvSpPr>
            <p:spPr>
              <a:xfrm>
                <a:off x="4656" y="360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6731" name="Group 347"/>
          <p:cNvGrpSpPr/>
          <p:nvPr/>
        </p:nvGrpSpPr>
        <p:grpSpPr>
          <a:xfrm>
            <a:off x="2976563" y="2617788"/>
            <a:ext cx="6613525" cy="1963737"/>
            <a:chOff x="915" y="1649"/>
            <a:chExt cx="4166" cy="1237"/>
          </a:xfrm>
        </p:grpSpPr>
        <p:grpSp>
          <p:nvGrpSpPr>
            <p:cNvPr id="286734" name="Group 348"/>
            <p:cNvGrpSpPr/>
            <p:nvPr/>
          </p:nvGrpSpPr>
          <p:grpSpPr>
            <a:xfrm>
              <a:off x="915" y="2633"/>
              <a:ext cx="3945" cy="253"/>
              <a:chOff x="915" y="2633"/>
              <a:chExt cx="3945" cy="253"/>
            </a:xfrm>
          </p:grpSpPr>
          <p:grpSp>
            <p:nvGrpSpPr>
              <p:cNvPr id="286743" name="Group 349"/>
              <p:cNvGrpSpPr/>
              <p:nvPr/>
            </p:nvGrpSpPr>
            <p:grpSpPr>
              <a:xfrm>
                <a:off x="915" y="2696"/>
                <a:ext cx="3858" cy="190"/>
                <a:chOff x="915" y="2696"/>
                <a:chExt cx="3858" cy="190"/>
              </a:xfrm>
            </p:grpSpPr>
            <p:sp>
              <p:nvSpPr>
                <p:cNvPr id="286776" name="Freeform 350"/>
                <p:cNvSpPr/>
                <p:nvPr/>
              </p:nvSpPr>
              <p:spPr>
                <a:xfrm>
                  <a:off x="1304" y="2707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6777" name="Freeform 351"/>
                <p:cNvSpPr/>
                <p:nvPr/>
              </p:nvSpPr>
              <p:spPr>
                <a:xfrm>
                  <a:off x="2457" y="2710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6778" name="Freeform 352"/>
                <p:cNvSpPr/>
                <p:nvPr/>
              </p:nvSpPr>
              <p:spPr>
                <a:xfrm>
                  <a:off x="3609" y="2710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6779" name="Freeform 353"/>
                <p:cNvSpPr/>
                <p:nvPr/>
              </p:nvSpPr>
              <p:spPr>
                <a:xfrm>
                  <a:off x="4761" y="2696"/>
                  <a:ext cx="1" cy="178"/>
                </a:xfrm>
                <a:custGeom>
                  <a:avLst/>
                  <a:gdLst>
                    <a:gd name="txL" fmla="*/ 0 w 1"/>
                    <a:gd name="txT" fmla="*/ 0 h 178"/>
                    <a:gd name="txR" fmla="*/ 1 w 1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0" y="178"/>
                    </a:cxn>
                  </a:cxnLst>
                  <a:rect l="txL" t="txT" r="txR" b="txB"/>
                  <a:pathLst>
                    <a:path w="1" h="178">
                      <a:moveTo>
                        <a:pt x="0" y="0"/>
                      </a:moveTo>
                      <a:lnTo>
                        <a:pt x="0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6780" name="Freeform 354"/>
                <p:cNvSpPr/>
                <p:nvPr/>
              </p:nvSpPr>
              <p:spPr>
                <a:xfrm>
                  <a:off x="915" y="2865"/>
                  <a:ext cx="3858" cy="2"/>
                </a:xfrm>
                <a:custGeom>
                  <a:avLst/>
                  <a:gdLst>
                    <a:gd name="txL" fmla="*/ 0 w 3858"/>
                    <a:gd name="txT" fmla="*/ 0 h 2"/>
                    <a:gd name="txR" fmla="*/ 3858 w 3858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3858" y="0"/>
                    </a:cxn>
                  </a:cxnLst>
                  <a:rect l="txL" t="txT" r="txR" b="txB"/>
                  <a:pathLst>
                    <a:path w="3858" h="2">
                      <a:moveTo>
                        <a:pt x="0" y="2"/>
                      </a:moveTo>
                      <a:lnTo>
                        <a:pt x="385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86744" name="Group 355"/>
              <p:cNvGrpSpPr/>
              <p:nvPr/>
            </p:nvGrpSpPr>
            <p:grpSpPr>
              <a:xfrm>
                <a:off x="1213" y="2633"/>
                <a:ext cx="192" cy="158"/>
                <a:chOff x="1440" y="2928"/>
                <a:chExt cx="192" cy="158"/>
              </a:xfrm>
            </p:grpSpPr>
            <p:grpSp>
              <p:nvGrpSpPr>
                <p:cNvPr id="286769" name="Group 356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6774" name="Line 35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775" name="Line 35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6770" name="Freeform 359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6771" name="Group 360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6772" name="Line 36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773" name="Line 36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6745" name="Group 363"/>
              <p:cNvGrpSpPr/>
              <p:nvPr/>
            </p:nvGrpSpPr>
            <p:grpSpPr>
              <a:xfrm>
                <a:off x="2365" y="2635"/>
                <a:ext cx="192" cy="158"/>
                <a:chOff x="1440" y="2928"/>
                <a:chExt cx="192" cy="158"/>
              </a:xfrm>
            </p:grpSpPr>
            <p:grpSp>
              <p:nvGrpSpPr>
                <p:cNvPr id="286762" name="Group 364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6767" name="Line 36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768" name="Line 36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6763" name="Freeform 367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6764" name="Group 368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6765" name="Line 36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766" name="Line 37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6746" name="Group 371"/>
              <p:cNvGrpSpPr/>
              <p:nvPr/>
            </p:nvGrpSpPr>
            <p:grpSpPr>
              <a:xfrm>
                <a:off x="3517" y="2635"/>
                <a:ext cx="192" cy="158"/>
                <a:chOff x="1440" y="2928"/>
                <a:chExt cx="192" cy="158"/>
              </a:xfrm>
            </p:grpSpPr>
            <p:grpSp>
              <p:nvGrpSpPr>
                <p:cNvPr id="286755" name="Group 372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6760" name="Line 373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761" name="Line 374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6756" name="Freeform 375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6757" name="Group 376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6758" name="Line 37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759" name="Line 37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6747" name="Group 379"/>
              <p:cNvGrpSpPr/>
              <p:nvPr/>
            </p:nvGrpSpPr>
            <p:grpSpPr>
              <a:xfrm>
                <a:off x="4668" y="2635"/>
                <a:ext cx="192" cy="158"/>
                <a:chOff x="1440" y="2928"/>
                <a:chExt cx="192" cy="158"/>
              </a:xfrm>
            </p:grpSpPr>
            <p:grpSp>
              <p:nvGrpSpPr>
                <p:cNvPr id="286748" name="Group 380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6753" name="Line 38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754" name="Line 38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6749" name="Freeform 383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6750" name="Group 384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6751" name="Line 38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6752" name="Line 38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86735" name="Rectangle 387"/>
            <p:cNvSpPr/>
            <p:nvPr/>
          </p:nvSpPr>
          <p:spPr>
            <a:xfrm>
              <a:off x="1152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736" name="Text Box 388"/>
            <p:cNvSpPr txBox="1"/>
            <p:nvPr/>
          </p:nvSpPr>
          <p:spPr>
            <a:xfrm>
              <a:off x="1150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737" name="Rectangle 389"/>
            <p:cNvSpPr/>
            <p:nvPr/>
          </p:nvSpPr>
          <p:spPr>
            <a:xfrm>
              <a:off x="2293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738" name="Rectangle 390"/>
            <p:cNvSpPr/>
            <p:nvPr/>
          </p:nvSpPr>
          <p:spPr>
            <a:xfrm>
              <a:off x="4604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739" name="Rectangle 391"/>
            <p:cNvSpPr/>
            <p:nvPr/>
          </p:nvSpPr>
          <p:spPr>
            <a:xfrm>
              <a:off x="3466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740" name="Text Box 392"/>
            <p:cNvSpPr txBox="1"/>
            <p:nvPr/>
          </p:nvSpPr>
          <p:spPr>
            <a:xfrm>
              <a:off x="2314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741" name="Text Box 393"/>
            <p:cNvSpPr txBox="1"/>
            <p:nvPr/>
          </p:nvSpPr>
          <p:spPr>
            <a:xfrm>
              <a:off x="3462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742" name="Text Box 394"/>
            <p:cNvSpPr txBox="1"/>
            <p:nvPr/>
          </p:nvSpPr>
          <p:spPr>
            <a:xfrm>
              <a:off x="4617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86732" name="AutoShape 395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673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87746" name="Group 2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88136" name="Line 3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8137" name="Freeform 4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8138" name="Line 5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8139" name="Freeform 6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8140" name="Line 7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8141" name="Text Box 8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8142" name="Text Box 9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8143" name="Text Box 10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8144" name="Text Box 11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8145" name="Line 12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8146" name="Line 13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8147" name="Line 14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8148" name="Line 15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8149" name="Line 16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8150" name="Line 17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8151" name="Line 18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8152" name="Line 19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24276" name="Rectangle 2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748" name="Text Box 21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87749" name="Group 22"/>
          <p:cNvGrpSpPr/>
          <p:nvPr/>
        </p:nvGrpSpPr>
        <p:grpSpPr>
          <a:xfrm>
            <a:off x="4613275" y="5599113"/>
            <a:ext cx="6051550" cy="336550"/>
            <a:chOff x="1946" y="3527"/>
            <a:chExt cx="3812" cy="212"/>
          </a:xfrm>
        </p:grpSpPr>
        <p:sp>
          <p:nvSpPr>
            <p:cNvPr id="288132" name="Text Box 23"/>
            <p:cNvSpPr txBox="1"/>
            <p:nvPr/>
          </p:nvSpPr>
          <p:spPr>
            <a:xfrm>
              <a:off x="194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8133" name="Text Box 24"/>
            <p:cNvSpPr txBox="1"/>
            <p:nvPr/>
          </p:nvSpPr>
          <p:spPr>
            <a:xfrm>
              <a:off x="310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8134" name="Text Box 25"/>
            <p:cNvSpPr txBox="1"/>
            <p:nvPr/>
          </p:nvSpPr>
          <p:spPr>
            <a:xfrm>
              <a:off x="4258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8135" name="Text Box 26"/>
            <p:cNvSpPr txBox="1"/>
            <p:nvPr/>
          </p:nvSpPr>
          <p:spPr>
            <a:xfrm>
              <a:off x="541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7750" name="Group 27"/>
          <p:cNvGrpSpPr/>
          <p:nvPr/>
        </p:nvGrpSpPr>
        <p:grpSpPr>
          <a:xfrm>
            <a:off x="2552700" y="6175375"/>
            <a:ext cx="563563" cy="368301"/>
            <a:chOff x="648" y="3890"/>
            <a:chExt cx="355" cy="232"/>
          </a:xfrm>
        </p:grpSpPr>
        <p:sp>
          <p:nvSpPr>
            <p:cNvPr id="288130" name="Text Box 28"/>
            <p:cNvSpPr txBox="1"/>
            <p:nvPr/>
          </p:nvSpPr>
          <p:spPr>
            <a:xfrm>
              <a:off x="648" y="3890"/>
              <a:ext cx="35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8131" name="Line 29"/>
            <p:cNvSpPr/>
            <p:nvPr/>
          </p:nvSpPr>
          <p:spPr>
            <a:xfrm>
              <a:off x="682" y="3922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7751" name="Group 30"/>
          <p:cNvGrpSpPr/>
          <p:nvPr/>
        </p:nvGrpSpPr>
        <p:grpSpPr>
          <a:xfrm>
            <a:off x="2584450" y="6391275"/>
            <a:ext cx="508000" cy="398463"/>
            <a:chOff x="668" y="4026"/>
            <a:chExt cx="320" cy="251"/>
          </a:xfrm>
        </p:grpSpPr>
        <p:sp>
          <p:nvSpPr>
            <p:cNvPr id="288128" name="Text Box 31"/>
            <p:cNvSpPr txBox="1"/>
            <p:nvPr/>
          </p:nvSpPr>
          <p:spPr>
            <a:xfrm>
              <a:off x="668" y="4026"/>
              <a:ext cx="3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CS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8129" name="Line 32"/>
            <p:cNvSpPr/>
            <p:nvPr/>
          </p:nvSpPr>
          <p:spPr>
            <a:xfrm>
              <a:off x="724" y="4078"/>
              <a:ext cx="192" cy="0"/>
            </a:xfrm>
            <a:prstGeom prst="line">
              <a:avLst/>
            </a:prstGeom>
            <a:ln w="9525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7752" name="Group 33"/>
          <p:cNvGrpSpPr/>
          <p:nvPr/>
        </p:nvGrpSpPr>
        <p:grpSpPr>
          <a:xfrm>
            <a:off x="1746250" y="1069975"/>
            <a:ext cx="8669338" cy="5483225"/>
            <a:chOff x="140" y="674"/>
            <a:chExt cx="5461" cy="3454"/>
          </a:xfrm>
        </p:grpSpPr>
        <p:grpSp>
          <p:nvGrpSpPr>
            <p:cNvPr id="287839" name="Group 34"/>
            <p:cNvGrpSpPr/>
            <p:nvPr/>
          </p:nvGrpSpPr>
          <p:grpSpPr>
            <a:xfrm>
              <a:off x="140" y="674"/>
              <a:ext cx="5461" cy="3454"/>
              <a:chOff x="140" y="674"/>
              <a:chExt cx="5461" cy="3454"/>
            </a:xfrm>
          </p:grpSpPr>
          <p:grpSp>
            <p:nvGrpSpPr>
              <p:cNvPr id="287865" name="Group 35"/>
              <p:cNvGrpSpPr/>
              <p:nvPr/>
            </p:nvGrpSpPr>
            <p:grpSpPr>
              <a:xfrm>
                <a:off x="140" y="674"/>
                <a:ext cx="5461" cy="3454"/>
                <a:chOff x="140" y="674"/>
                <a:chExt cx="5461" cy="3454"/>
              </a:xfrm>
            </p:grpSpPr>
            <p:grpSp>
              <p:nvGrpSpPr>
                <p:cNvPr id="287905" name="Group 36"/>
                <p:cNvGrpSpPr/>
                <p:nvPr/>
              </p:nvGrpSpPr>
              <p:grpSpPr>
                <a:xfrm>
                  <a:off x="140" y="791"/>
                  <a:ext cx="5461" cy="3337"/>
                  <a:chOff x="140" y="791"/>
                  <a:chExt cx="5461" cy="3337"/>
                </a:xfrm>
              </p:grpSpPr>
              <p:sp>
                <p:nvSpPr>
                  <p:cNvPr id="287917" name="Rectangle 37"/>
                  <p:cNvSpPr/>
                  <p:nvPr/>
                </p:nvSpPr>
                <p:spPr>
                  <a:xfrm>
                    <a:off x="332" y="2181"/>
                    <a:ext cx="576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18" name="Rectangle 38"/>
                  <p:cNvSpPr/>
                  <p:nvPr/>
                </p:nvSpPr>
                <p:spPr>
                  <a:xfrm>
                    <a:off x="1728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19" name="Text Box 39"/>
                  <p:cNvSpPr txBox="1"/>
                  <p:nvPr/>
                </p:nvSpPr>
                <p:spPr>
                  <a:xfrm>
                    <a:off x="1408" y="870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20" name="Rectangle 40"/>
                  <p:cNvSpPr/>
                  <p:nvPr/>
                </p:nvSpPr>
                <p:spPr>
                  <a:xfrm>
                    <a:off x="1152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21" name="Rectangle 41"/>
                  <p:cNvSpPr/>
                  <p:nvPr/>
                </p:nvSpPr>
                <p:spPr>
                  <a:xfrm>
                    <a:off x="2869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22" name="Text Box 42"/>
                  <p:cNvSpPr txBox="1"/>
                  <p:nvPr/>
                </p:nvSpPr>
                <p:spPr>
                  <a:xfrm>
                    <a:off x="2549" y="870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23" name="Rectangle 43"/>
                  <p:cNvSpPr/>
                  <p:nvPr/>
                </p:nvSpPr>
                <p:spPr>
                  <a:xfrm>
                    <a:off x="2293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24" name="Rectangle 44"/>
                  <p:cNvSpPr/>
                  <p:nvPr/>
                </p:nvSpPr>
                <p:spPr>
                  <a:xfrm>
                    <a:off x="4044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25" name="Text Box 45"/>
                  <p:cNvSpPr txBox="1"/>
                  <p:nvPr/>
                </p:nvSpPr>
                <p:spPr>
                  <a:xfrm>
                    <a:off x="3724" y="870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26" name="Rectangle 46"/>
                  <p:cNvSpPr/>
                  <p:nvPr/>
                </p:nvSpPr>
                <p:spPr>
                  <a:xfrm>
                    <a:off x="3468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27" name="Rectangle 47"/>
                  <p:cNvSpPr/>
                  <p:nvPr/>
                </p:nvSpPr>
                <p:spPr>
                  <a:xfrm>
                    <a:off x="5180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28" name="Text Box 48"/>
                  <p:cNvSpPr txBox="1"/>
                  <p:nvPr/>
                </p:nvSpPr>
                <p:spPr>
                  <a:xfrm>
                    <a:off x="4860" y="870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29" name="Rectangle 49"/>
                  <p:cNvSpPr/>
                  <p:nvPr/>
                </p:nvSpPr>
                <p:spPr>
                  <a:xfrm>
                    <a:off x="4604" y="1025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0" name="Rectangle 50"/>
                  <p:cNvSpPr/>
                  <p:nvPr/>
                </p:nvSpPr>
                <p:spPr>
                  <a:xfrm>
                    <a:off x="1728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1" name="Rectangle 51"/>
                  <p:cNvSpPr/>
                  <p:nvPr/>
                </p:nvSpPr>
                <p:spPr>
                  <a:xfrm>
                    <a:off x="1152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2" name="Rectangle 52"/>
                  <p:cNvSpPr/>
                  <p:nvPr/>
                </p:nvSpPr>
                <p:spPr>
                  <a:xfrm>
                    <a:off x="2869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3" name="Rectangle 53"/>
                  <p:cNvSpPr/>
                  <p:nvPr/>
                </p:nvSpPr>
                <p:spPr>
                  <a:xfrm>
                    <a:off x="2293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4" name="Rectangle 54"/>
                  <p:cNvSpPr/>
                  <p:nvPr/>
                </p:nvSpPr>
                <p:spPr>
                  <a:xfrm>
                    <a:off x="4044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5" name="Rectangle 55"/>
                  <p:cNvSpPr/>
                  <p:nvPr/>
                </p:nvSpPr>
                <p:spPr>
                  <a:xfrm>
                    <a:off x="3468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6" name="Rectangle 56"/>
                  <p:cNvSpPr/>
                  <p:nvPr/>
                </p:nvSpPr>
                <p:spPr>
                  <a:xfrm>
                    <a:off x="5180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7" name="Rectangle 57"/>
                  <p:cNvSpPr/>
                  <p:nvPr/>
                </p:nvSpPr>
                <p:spPr>
                  <a:xfrm>
                    <a:off x="4604" y="2226"/>
                    <a:ext cx="288" cy="251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8" name="Line 58"/>
                  <p:cNvSpPr/>
                  <p:nvPr/>
                </p:nvSpPr>
                <p:spPr>
                  <a:xfrm rot="5400000">
                    <a:off x="1325" y="2712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39" name="Line 59"/>
                  <p:cNvSpPr/>
                  <p:nvPr/>
                </p:nvSpPr>
                <p:spPr>
                  <a:xfrm rot="5400000">
                    <a:off x="1308" y="2710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40" name="Freeform 60"/>
                  <p:cNvSpPr/>
                  <p:nvPr/>
                </p:nvSpPr>
                <p:spPr>
                  <a:xfrm>
                    <a:off x="1260" y="2709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41" name="Line 61"/>
                  <p:cNvSpPr/>
                  <p:nvPr/>
                </p:nvSpPr>
                <p:spPr>
                  <a:xfrm rot="-5400000">
                    <a:off x="1133" y="2712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42" name="Line 62"/>
                  <p:cNvSpPr/>
                  <p:nvPr/>
                </p:nvSpPr>
                <p:spPr>
                  <a:xfrm rot="-5400000">
                    <a:off x="1212" y="2714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43" name="Freeform 63"/>
                  <p:cNvSpPr/>
                  <p:nvPr/>
                </p:nvSpPr>
                <p:spPr>
                  <a:xfrm>
                    <a:off x="1434" y="2353"/>
                    <a:ext cx="112" cy="1"/>
                  </a:xfrm>
                  <a:custGeom>
                    <a:avLst/>
                    <a:gdLst>
                      <a:gd name="txL" fmla="*/ 0 w 112"/>
                      <a:gd name="txT" fmla="*/ 0 h 1"/>
                      <a:gd name="txR" fmla="*/ 112 w 11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12" y="0"/>
                      </a:cxn>
                    </a:cxnLst>
                    <a:rect l="txL" t="txT" r="txR" b="txB"/>
                    <a:pathLst>
                      <a:path w="112" h="1">
                        <a:moveTo>
                          <a:pt x="0" y="0"/>
                        </a:moveTo>
                        <a:lnTo>
                          <a:pt x="112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44" name="Freeform 64"/>
                  <p:cNvSpPr/>
                  <p:nvPr/>
                </p:nvSpPr>
                <p:spPr>
                  <a:xfrm>
                    <a:off x="1059" y="1209"/>
                    <a:ext cx="152" cy="1469"/>
                  </a:xfrm>
                  <a:custGeom>
                    <a:avLst/>
                    <a:gdLst>
                      <a:gd name="txL" fmla="*/ 0 w 152"/>
                      <a:gd name="txT" fmla="*/ 0 h 1469"/>
                      <a:gd name="txR" fmla="*/ 152 w 152"/>
                      <a:gd name="txB" fmla="*/ 1469 h 1469"/>
                    </a:gdLst>
                    <a:ahLst/>
                    <a:cxnLst>
                      <a:cxn ang="0">
                        <a:pos x="152" y="1469"/>
                      </a:cxn>
                      <a:cxn ang="0">
                        <a:pos x="0" y="1469"/>
                      </a:cxn>
                      <a:cxn ang="0">
                        <a:pos x="0" y="0"/>
                      </a:cxn>
                      <a:cxn ang="0">
                        <a:pos x="95" y="1"/>
                      </a:cxn>
                    </a:cxnLst>
                    <a:rect l="txL" t="txT" r="txR" b="txB"/>
                    <a:pathLst>
                      <a:path w="152" h="1469">
                        <a:moveTo>
                          <a:pt x="152" y="1469"/>
                        </a:moveTo>
                        <a:lnTo>
                          <a:pt x="0" y="1469"/>
                        </a:lnTo>
                        <a:lnTo>
                          <a:pt x="0" y="0"/>
                        </a:lnTo>
                        <a:lnTo>
                          <a:pt x="95" y="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45" name="Freeform 65"/>
                  <p:cNvSpPr/>
                  <p:nvPr/>
                </p:nvSpPr>
                <p:spPr>
                  <a:xfrm>
                    <a:off x="1055" y="2353"/>
                    <a:ext cx="102" cy="1"/>
                  </a:xfrm>
                  <a:custGeom>
                    <a:avLst/>
                    <a:gdLst>
                      <a:gd name="txL" fmla="*/ 0 w 102"/>
                      <a:gd name="txT" fmla="*/ 0 h 1"/>
                      <a:gd name="txR" fmla="*/ 102 w 102"/>
                      <a:gd name="txB" fmla="*/ 1 h 1"/>
                    </a:gdLst>
                    <a:ahLst/>
                    <a:cxnLst>
                      <a:cxn ang="0">
                        <a:pos x="102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2" h="1">
                        <a:moveTo>
                          <a:pt x="102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46" name="Line 66"/>
                  <p:cNvSpPr/>
                  <p:nvPr/>
                </p:nvSpPr>
                <p:spPr>
                  <a:xfrm rot="5400000">
                    <a:off x="1896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47" name="Line 67"/>
                  <p:cNvSpPr/>
                  <p:nvPr/>
                </p:nvSpPr>
                <p:spPr>
                  <a:xfrm rot="5400000">
                    <a:off x="1879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48" name="Freeform 68"/>
                  <p:cNvSpPr/>
                  <p:nvPr/>
                </p:nvSpPr>
                <p:spPr>
                  <a:xfrm>
                    <a:off x="1831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49" name="Line 69"/>
                  <p:cNvSpPr/>
                  <p:nvPr/>
                </p:nvSpPr>
                <p:spPr>
                  <a:xfrm rot="-5400000">
                    <a:off x="1704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50" name="Line 70"/>
                  <p:cNvSpPr/>
                  <p:nvPr/>
                </p:nvSpPr>
                <p:spPr>
                  <a:xfrm rot="-5400000">
                    <a:off x="1783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51" name="Freeform 71"/>
                  <p:cNvSpPr/>
                  <p:nvPr/>
                </p:nvSpPr>
                <p:spPr>
                  <a:xfrm>
                    <a:off x="2005" y="2353"/>
                    <a:ext cx="103" cy="1"/>
                  </a:xfrm>
                  <a:custGeom>
                    <a:avLst/>
                    <a:gdLst>
                      <a:gd name="txL" fmla="*/ 0 w 103"/>
                      <a:gd name="txT" fmla="*/ 0 h 1"/>
                      <a:gd name="txR" fmla="*/ 103 w 103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3" y="0"/>
                      </a:cxn>
                    </a:cxnLst>
                    <a:rect l="txL" t="txT" r="txR" b="txB"/>
                    <a:pathLst>
                      <a:path w="103" h="1">
                        <a:moveTo>
                          <a:pt x="0" y="0"/>
                        </a:moveTo>
                        <a:lnTo>
                          <a:pt x="103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52" name="Freeform 72"/>
                  <p:cNvSpPr/>
                  <p:nvPr/>
                </p:nvSpPr>
                <p:spPr>
                  <a:xfrm>
                    <a:off x="1611" y="2352"/>
                    <a:ext cx="113" cy="1"/>
                  </a:xfrm>
                  <a:custGeom>
                    <a:avLst/>
                    <a:gdLst>
                      <a:gd name="txL" fmla="*/ 0 w 113"/>
                      <a:gd name="txT" fmla="*/ 0 h 1"/>
                      <a:gd name="txR" fmla="*/ 113 w 113"/>
                      <a:gd name="txB" fmla="*/ 1 h 1"/>
                    </a:gdLst>
                    <a:ahLst/>
                    <a:cxnLst>
                      <a:cxn ang="0">
                        <a:pos x="113" y="1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13" h="1">
                        <a:moveTo>
                          <a:pt x="113" y="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53" name="Line 73"/>
                  <p:cNvSpPr/>
                  <p:nvPr/>
                </p:nvSpPr>
                <p:spPr>
                  <a:xfrm rot="5400000">
                    <a:off x="2477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54" name="Line 74"/>
                  <p:cNvSpPr/>
                  <p:nvPr/>
                </p:nvSpPr>
                <p:spPr>
                  <a:xfrm rot="5400000">
                    <a:off x="2460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55" name="Freeform 75"/>
                  <p:cNvSpPr/>
                  <p:nvPr/>
                </p:nvSpPr>
                <p:spPr>
                  <a:xfrm>
                    <a:off x="2412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56" name="Line 76"/>
                  <p:cNvSpPr/>
                  <p:nvPr/>
                </p:nvSpPr>
                <p:spPr>
                  <a:xfrm rot="-5400000">
                    <a:off x="2285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57" name="Line 77"/>
                  <p:cNvSpPr/>
                  <p:nvPr/>
                </p:nvSpPr>
                <p:spPr>
                  <a:xfrm rot="-5400000">
                    <a:off x="2364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58" name="Freeform 78"/>
                  <p:cNvSpPr/>
                  <p:nvPr/>
                </p:nvSpPr>
                <p:spPr>
                  <a:xfrm>
                    <a:off x="2586" y="2353"/>
                    <a:ext cx="109" cy="1"/>
                  </a:xfrm>
                  <a:custGeom>
                    <a:avLst/>
                    <a:gdLst>
                      <a:gd name="txL" fmla="*/ 0 w 109"/>
                      <a:gd name="txT" fmla="*/ 0 h 1"/>
                      <a:gd name="txR" fmla="*/ 109 w 109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9" y="0"/>
                      </a:cxn>
                    </a:cxnLst>
                    <a:rect l="txL" t="txT" r="txR" b="txB"/>
                    <a:pathLst>
                      <a:path w="109" h="1">
                        <a:moveTo>
                          <a:pt x="0" y="0"/>
                        </a:moveTo>
                        <a:lnTo>
                          <a:pt x="10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59" name="Freeform 79"/>
                  <p:cNvSpPr/>
                  <p:nvPr/>
                </p:nvSpPr>
                <p:spPr>
                  <a:xfrm>
                    <a:off x="2207" y="2353"/>
                    <a:ext cx="89" cy="1"/>
                  </a:xfrm>
                  <a:custGeom>
                    <a:avLst/>
                    <a:gdLst>
                      <a:gd name="txL" fmla="*/ 0 w 89"/>
                      <a:gd name="txT" fmla="*/ 0 h 1"/>
                      <a:gd name="txR" fmla="*/ 89 w 89"/>
                      <a:gd name="txB" fmla="*/ 1 h 1"/>
                    </a:gdLst>
                    <a:ahLst/>
                    <a:cxnLst>
                      <a:cxn ang="0">
                        <a:pos x="89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89" h="1">
                        <a:moveTo>
                          <a:pt x="89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60" name="Line 80"/>
                  <p:cNvSpPr/>
                  <p:nvPr/>
                </p:nvSpPr>
                <p:spPr>
                  <a:xfrm rot="5400000">
                    <a:off x="3053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61" name="Line 81"/>
                  <p:cNvSpPr/>
                  <p:nvPr/>
                </p:nvSpPr>
                <p:spPr>
                  <a:xfrm rot="5400000">
                    <a:off x="3036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62" name="Freeform 82"/>
                  <p:cNvSpPr/>
                  <p:nvPr/>
                </p:nvSpPr>
                <p:spPr>
                  <a:xfrm>
                    <a:off x="2988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63" name="Line 83"/>
                  <p:cNvSpPr/>
                  <p:nvPr/>
                </p:nvSpPr>
                <p:spPr>
                  <a:xfrm rot="-5400000">
                    <a:off x="2861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64" name="Line 84"/>
                  <p:cNvSpPr/>
                  <p:nvPr/>
                </p:nvSpPr>
                <p:spPr>
                  <a:xfrm rot="-5400000">
                    <a:off x="2940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65" name="Freeform 85"/>
                  <p:cNvSpPr/>
                  <p:nvPr/>
                </p:nvSpPr>
                <p:spPr>
                  <a:xfrm>
                    <a:off x="3162" y="2353"/>
                    <a:ext cx="115" cy="1"/>
                  </a:xfrm>
                  <a:custGeom>
                    <a:avLst/>
                    <a:gdLst>
                      <a:gd name="txL" fmla="*/ 0 w 115"/>
                      <a:gd name="txT" fmla="*/ 0 h 1"/>
                      <a:gd name="txR" fmla="*/ 115 w 115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15" y="0"/>
                      </a:cxn>
                    </a:cxnLst>
                    <a:rect l="txL" t="txT" r="txR" b="txB"/>
                    <a:pathLst>
                      <a:path w="115" h="1">
                        <a:moveTo>
                          <a:pt x="0" y="0"/>
                        </a:moveTo>
                        <a:lnTo>
                          <a:pt x="11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66" name="Freeform 86"/>
                  <p:cNvSpPr/>
                  <p:nvPr/>
                </p:nvSpPr>
                <p:spPr>
                  <a:xfrm>
                    <a:off x="2783" y="2353"/>
                    <a:ext cx="90" cy="1"/>
                  </a:xfrm>
                  <a:custGeom>
                    <a:avLst/>
                    <a:gdLst>
                      <a:gd name="txL" fmla="*/ 0 w 90"/>
                      <a:gd name="txT" fmla="*/ 0 h 1"/>
                      <a:gd name="txR" fmla="*/ 90 w 90"/>
                      <a:gd name="txB" fmla="*/ 1 h 1"/>
                    </a:gdLst>
                    <a:ahLst/>
                    <a:cxnLst>
                      <a:cxn ang="0">
                        <a:pos x="90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90" h="1">
                        <a:moveTo>
                          <a:pt x="90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67" name="Line 87"/>
                  <p:cNvSpPr/>
                  <p:nvPr/>
                </p:nvSpPr>
                <p:spPr>
                  <a:xfrm rot="5400000">
                    <a:off x="3629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68" name="Line 88"/>
                  <p:cNvSpPr/>
                  <p:nvPr/>
                </p:nvSpPr>
                <p:spPr>
                  <a:xfrm rot="5400000">
                    <a:off x="3612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69" name="Freeform 89"/>
                  <p:cNvSpPr/>
                  <p:nvPr/>
                </p:nvSpPr>
                <p:spPr>
                  <a:xfrm>
                    <a:off x="3564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70" name="Line 90"/>
                  <p:cNvSpPr/>
                  <p:nvPr/>
                </p:nvSpPr>
                <p:spPr>
                  <a:xfrm rot="-5400000">
                    <a:off x="3437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71" name="Line 91"/>
                  <p:cNvSpPr/>
                  <p:nvPr/>
                </p:nvSpPr>
                <p:spPr>
                  <a:xfrm rot="-5400000">
                    <a:off x="3516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72" name="Freeform 92"/>
                  <p:cNvSpPr/>
                  <p:nvPr/>
                </p:nvSpPr>
                <p:spPr>
                  <a:xfrm>
                    <a:off x="3751" y="2352"/>
                    <a:ext cx="100" cy="1"/>
                  </a:xfrm>
                  <a:custGeom>
                    <a:avLst/>
                    <a:gdLst>
                      <a:gd name="txL" fmla="*/ 0 w 100"/>
                      <a:gd name="txT" fmla="*/ 0 h 1"/>
                      <a:gd name="txR" fmla="*/ 100 w 100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0" y="1"/>
                      </a:cxn>
                    </a:cxnLst>
                    <a:rect l="txL" t="txT" r="txR" b="txB"/>
                    <a:pathLst>
                      <a:path w="100" h="1">
                        <a:moveTo>
                          <a:pt x="0" y="0"/>
                        </a:moveTo>
                        <a:lnTo>
                          <a:pt x="100" y="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73" name="Freeform 93"/>
                  <p:cNvSpPr/>
                  <p:nvPr/>
                </p:nvSpPr>
                <p:spPr>
                  <a:xfrm>
                    <a:off x="3359" y="2353"/>
                    <a:ext cx="108" cy="1"/>
                  </a:xfrm>
                  <a:custGeom>
                    <a:avLst/>
                    <a:gdLst>
                      <a:gd name="txL" fmla="*/ 0 w 108"/>
                      <a:gd name="txT" fmla="*/ 0 h 1"/>
                      <a:gd name="txR" fmla="*/ 108 w 108"/>
                      <a:gd name="txB" fmla="*/ 1 h 1"/>
                    </a:gdLst>
                    <a:ahLst/>
                    <a:cxnLst>
                      <a:cxn ang="0">
                        <a:pos x="108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8" h="1">
                        <a:moveTo>
                          <a:pt x="108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74" name="Line 94"/>
                  <p:cNvSpPr/>
                  <p:nvPr/>
                </p:nvSpPr>
                <p:spPr>
                  <a:xfrm rot="5400000">
                    <a:off x="4205" y="2698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75" name="Line 95"/>
                  <p:cNvSpPr/>
                  <p:nvPr/>
                </p:nvSpPr>
                <p:spPr>
                  <a:xfrm rot="5400000">
                    <a:off x="4188" y="2696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76" name="Freeform 96"/>
                  <p:cNvSpPr/>
                  <p:nvPr/>
                </p:nvSpPr>
                <p:spPr>
                  <a:xfrm>
                    <a:off x="4140" y="2695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77" name="Line 97"/>
                  <p:cNvSpPr/>
                  <p:nvPr/>
                </p:nvSpPr>
                <p:spPr>
                  <a:xfrm rot="-5400000">
                    <a:off x="4013" y="2698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78" name="Line 98"/>
                  <p:cNvSpPr/>
                  <p:nvPr/>
                </p:nvSpPr>
                <p:spPr>
                  <a:xfrm rot="-5400000">
                    <a:off x="4092" y="2700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979" name="Freeform 99"/>
                  <p:cNvSpPr/>
                  <p:nvPr/>
                </p:nvSpPr>
                <p:spPr>
                  <a:xfrm>
                    <a:off x="4336" y="2351"/>
                    <a:ext cx="90" cy="2"/>
                  </a:xfrm>
                  <a:custGeom>
                    <a:avLst/>
                    <a:gdLst>
                      <a:gd name="txL" fmla="*/ 0 w 90"/>
                      <a:gd name="txT" fmla="*/ 0 h 2"/>
                      <a:gd name="txR" fmla="*/ 90 w 90"/>
                      <a:gd name="txB" fmla="*/ 2 h 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0" y="2"/>
                      </a:cxn>
                    </a:cxnLst>
                    <a:rect l="txL" t="txT" r="txR" b="txB"/>
                    <a:pathLst>
                      <a:path w="90" h="2">
                        <a:moveTo>
                          <a:pt x="0" y="0"/>
                        </a:moveTo>
                        <a:lnTo>
                          <a:pt x="90" y="2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80" name="Freeform 100"/>
                  <p:cNvSpPr/>
                  <p:nvPr/>
                </p:nvSpPr>
                <p:spPr>
                  <a:xfrm>
                    <a:off x="3935" y="2353"/>
                    <a:ext cx="104" cy="1"/>
                  </a:xfrm>
                  <a:custGeom>
                    <a:avLst/>
                    <a:gdLst>
                      <a:gd name="txL" fmla="*/ 0 w 104"/>
                      <a:gd name="txT" fmla="*/ 0 h 1"/>
                      <a:gd name="txR" fmla="*/ 104 w 104"/>
                      <a:gd name="txB" fmla="*/ 1 h 1"/>
                    </a:gdLst>
                    <a:ahLst/>
                    <a:cxnLst>
                      <a:cxn ang="0">
                        <a:pos x="104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4" h="1">
                        <a:moveTo>
                          <a:pt x="104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7981" name="Group 101"/>
                  <p:cNvGrpSpPr/>
                  <p:nvPr/>
                </p:nvGrpSpPr>
                <p:grpSpPr>
                  <a:xfrm>
                    <a:off x="4668" y="2634"/>
                    <a:ext cx="192" cy="158"/>
                    <a:chOff x="4692" y="2634"/>
                    <a:chExt cx="192" cy="158"/>
                  </a:xfrm>
                </p:grpSpPr>
                <p:grpSp>
                  <p:nvGrpSpPr>
                    <p:cNvPr id="288121" name="Group 102"/>
                    <p:cNvGrpSpPr/>
                    <p:nvPr/>
                  </p:nvGrpSpPr>
                  <p:grpSpPr>
                    <a:xfrm>
                      <a:off x="4836" y="2634"/>
                      <a:ext cx="48" cy="158"/>
                      <a:chOff x="4836" y="2634"/>
                      <a:chExt cx="48" cy="158"/>
                    </a:xfrm>
                  </p:grpSpPr>
                  <p:sp>
                    <p:nvSpPr>
                      <p:cNvPr id="288126" name="Line 103"/>
                      <p:cNvSpPr/>
                      <p:nvPr/>
                    </p:nvSpPr>
                    <p:spPr>
                      <a:xfrm rot="5400000">
                        <a:off x="4805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8127" name="Line 104"/>
                      <p:cNvSpPr/>
                      <p:nvPr/>
                    </p:nvSpPr>
                    <p:spPr>
                      <a:xfrm rot="5400000">
                        <a:off x="4788" y="2711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88122" name="Freeform 105"/>
                    <p:cNvSpPr/>
                    <p:nvPr/>
                  </p:nvSpPr>
                  <p:spPr>
                    <a:xfrm>
                      <a:off x="4740" y="2710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88123" name="Group 106"/>
                    <p:cNvGrpSpPr/>
                    <p:nvPr/>
                  </p:nvGrpSpPr>
                  <p:grpSpPr>
                    <a:xfrm>
                      <a:off x="4692" y="2634"/>
                      <a:ext cx="48" cy="158"/>
                      <a:chOff x="4692" y="2634"/>
                      <a:chExt cx="48" cy="158"/>
                    </a:xfrm>
                  </p:grpSpPr>
                  <p:sp>
                    <p:nvSpPr>
                      <p:cNvPr id="288124" name="Line 107"/>
                      <p:cNvSpPr/>
                      <p:nvPr/>
                    </p:nvSpPr>
                    <p:spPr>
                      <a:xfrm rot="-5400000">
                        <a:off x="4613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8125" name="Line 108"/>
                      <p:cNvSpPr/>
                      <p:nvPr/>
                    </p:nvSpPr>
                    <p:spPr>
                      <a:xfrm rot="-5400000">
                        <a:off x="4692" y="2715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287982" name="Freeform 109"/>
                  <p:cNvSpPr/>
                  <p:nvPr/>
                </p:nvSpPr>
                <p:spPr>
                  <a:xfrm>
                    <a:off x="4890" y="2353"/>
                    <a:ext cx="107" cy="1"/>
                  </a:xfrm>
                  <a:custGeom>
                    <a:avLst/>
                    <a:gdLst>
                      <a:gd name="txL" fmla="*/ 0 w 107"/>
                      <a:gd name="txT" fmla="*/ 0 h 1"/>
                      <a:gd name="txR" fmla="*/ 107 w 107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7" y="0"/>
                      </a:cxn>
                    </a:cxnLst>
                    <a:rect l="txL" t="txT" r="txR" b="txB"/>
                    <a:pathLst>
                      <a:path w="107" h="1">
                        <a:moveTo>
                          <a:pt x="0" y="0"/>
                        </a:moveTo>
                        <a:lnTo>
                          <a:pt x="10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83" name="Freeform 110"/>
                  <p:cNvSpPr/>
                  <p:nvPr/>
                </p:nvSpPr>
                <p:spPr>
                  <a:xfrm>
                    <a:off x="4511" y="2353"/>
                    <a:ext cx="96" cy="1"/>
                  </a:xfrm>
                  <a:custGeom>
                    <a:avLst/>
                    <a:gdLst>
                      <a:gd name="txL" fmla="*/ 0 w 96"/>
                      <a:gd name="txT" fmla="*/ 0 h 1"/>
                      <a:gd name="txR" fmla="*/ 96 w 96"/>
                      <a:gd name="txB" fmla="*/ 1 h 1"/>
                    </a:gdLst>
                    <a:ahLst/>
                    <a:cxnLst>
                      <a:cxn ang="0">
                        <a:pos x="96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96" h="1">
                        <a:moveTo>
                          <a:pt x="96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7984" name="Group 111"/>
                  <p:cNvGrpSpPr/>
                  <p:nvPr/>
                </p:nvGrpSpPr>
                <p:grpSpPr>
                  <a:xfrm>
                    <a:off x="5235" y="2634"/>
                    <a:ext cx="192" cy="158"/>
                    <a:chOff x="5259" y="2634"/>
                    <a:chExt cx="192" cy="158"/>
                  </a:xfrm>
                </p:grpSpPr>
                <p:grpSp>
                  <p:nvGrpSpPr>
                    <p:cNvPr id="288114" name="Group 112"/>
                    <p:cNvGrpSpPr/>
                    <p:nvPr/>
                  </p:nvGrpSpPr>
                  <p:grpSpPr>
                    <a:xfrm>
                      <a:off x="5403" y="2634"/>
                      <a:ext cx="48" cy="158"/>
                      <a:chOff x="5403" y="2634"/>
                      <a:chExt cx="48" cy="158"/>
                    </a:xfrm>
                  </p:grpSpPr>
                  <p:sp>
                    <p:nvSpPr>
                      <p:cNvPr id="288119" name="Line 113"/>
                      <p:cNvSpPr/>
                      <p:nvPr/>
                    </p:nvSpPr>
                    <p:spPr>
                      <a:xfrm rot="5400000">
                        <a:off x="5372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8120" name="Line 114"/>
                      <p:cNvSpPr/>
                      <p:nvPr/>
                    </p:nvSpPr>
                    <p:spPr>
                      <a:xfrm rot="5400000">
                        <a:off x="5355" y="2711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88115" name="Freeform 115"/>
                    <p:cNvSpPr/>
                    <p:nvPr/>
                  </p:nvSpPr>
                  <p:spPr>
                    <a:xfrm>
                      <a:off x="5307" y="2710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88116" name="Group 116"/>
                    <p:cNvGrpSpPr/>
                    <p:nvPr/>
                  </p:nvGrpSpPr>
                  <p:grpSpPr>
                    <a:xfrm>
                      <a:off x="5259" y="2634"/>
                      <a:ext cx="48" cy="158"/>
                      <a:chOff x="5259" y="2634"/>
                      <a:chExt cx="48" cy="158"/>
                    </a:xfrm>
                  </p:grpSpPr>
                  <p:sp>
                    <p:nvSpPr>
                      <p:cNvPr id="288117" name="Line 117"/>
                      <p:cNvSpPr/>
                      <p:nvPr/>
                    </p:nvSpPr>
                    <p:spPr>
                      <a:xfrm rot="-5400000">
                        <a:off x="5180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8118" name="Line 118"/>
                      <p:cNvSpPr/>
                      <p:nvPr/>
                    </p:nvSpPr>
                    <p:spPr>
                      <a:xfrm rot="-5400000">
                        <a:off x="5259" y="2715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287985" name="Freeform 119"/>
                  <p:cNvSpPr/>
                  <p:nvPr/>
                </p:nvSpPr>
                <p:spPr>
                  <a:xfrm>
                    <a:off x="5467" y="2351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2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0"/>
                        </a:moveTo>
                        <a:lnTo>
                          <a:pt x="96" y="2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86" name="Freeform 120"/>
                  <p:cNvSpPr/>
                  <p:nvPr/>
                </p:nvSpPr>
                <p:spPr>
                  <a:xfrm>
                    <a:off x="5078" y="2353"/>
                    <a:ext cx="101" cy="1"/>
                  </a:xfrm>
                  <a:custGeom>
                    <a:avLst/>
                    <a:gdLst>
                      <a:gd name="txL" fmla="*/ 0 w 101"/>
                      <a:gd name="txT" fmla="*/ 0 h 1"/>
                      <a:gd name="txR" fmla="*/ 101 w 101"/>
                      <a:gd name="txB" fmla="*/ 1 h 1"/>
                    </a:gdLst>
                    <a:ahLst/>
                    <a:cxnLst>
                      <a:cxn ang="0">
                        <a:pos x="101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1" h="1">
                        <a:moveTo>
                          <a:pt x="101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87" name="Freeform 121"/>
                  <p:cNvSpPr/>
                  <p:nvPr/>
                </p:nvSpPr>
                <p:spPr>
                  <a:xfrm>
                    <a:off x="908" y="856"/>
                    <a:ext cx="4419" cy="1"/>
                  </a:xfrm>
                  <a:custGeom>
                    <a:avLst/>
                    <a:gdLst>
                      <a:gd name="txL" fmla="*/ 0 w 4419"/>
                      <a:gd name="txT" fmla="*/ 0 h 1"/>
                      <a:gd name="txR" fmla="*/ 4419 w 4419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9" y="0"/>
                      </a:cxn>
                    </a:cxnLst>
                    <a:rect l="txL" t="txT" r="txR" b="txB"/>
                    <a:pathLst>
                      <a:path w="4419" h="1">
                        <a:moveTo>
                          <a:pt x="0" y="1"/>
                        </a:moveTo>
                        <a:lnTo>
                          <a:pt x="441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88" name="Line 122"/>
                  <p:cNvSpPr/>
                  <p:nvPr/>
                </p:nvSpPr>
                <p:spPr>
                  <a:xfrm>
                    <a:off x="1292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989" name="Line 123"/>
                  <p:cNvSpPr/>
                  <p:nvPr/>
                </p:nvSpPr>
                <p:spPr>
                  <a:xfrm>
                    <a:off x="1868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990" name="Line 124"/>
                  <p:cNvSpPr/>
                  <p:nvPr/>
                </p:nvSpPr>
                <p:spPr>
                  <a:xfrm>
                    <a:off x="2444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991" name="Line 125"/>
                  <p:cNvSpPr/>
                  <p:nvPr/>
                </p:nvSpPr>
                <p:spPr>
                  <a:xfrm>
                    <a:off x="3020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992" name="Line 126"/>
                  <p:cNvSpPr/>
                  <p:nvPr/>
                </p:nvSpPr>
                <p:spPr>
                  <a:xfrm>
                    <a:off x="3596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993" name="Line 127"/>
                  <p:cNvSpPr/>
                  <p:nvPr/>
                </p:nvSpPr>
                <p:spPr>
                  <a:xfrm>
                    <a:off x="4172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994" name="Line 128"/>
                  <p:cNvSpPr/>
                  <p:nvPr/>
                </p:nvSpPr>
                <p:spPr>
                  <a:xfrm>
                    <a:off x="4748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995" name="Line 129"/>
                  <p:cNvSpPr/>
                  <p:nvPr/>
                </p:nvSpPr>
                <p:spPr>
                  <a:xfrm>
                    <a:off x="5324" y="8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med" len="med"/>
                  </a:ln>
                </p:spPr>
              </p:sp>
              <p:sp>
                <p:nvSpPr>
                  <p:cNvPr id="287996" name="Freeform 130"/>
                  <p:cNvSpPr/>
                  <p:nvPr/>
                </p:nvSpPr>
                <p:spPr>
                  <a:xfrm>
                    <a:off x="1305" y="2708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1" y="0"/>
                      </a:cxn>
                      <a:cxn ang="0">
                        <a:pos x="0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1" y="0"/>
                        </a:moveTo>
                        <a:lnTo>
                          <a:pt x="0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97" name="Freeform 131"/>
                  <p:cNvSpPr/>
                  <p:nvPr/>
                </p:nvSpPr>
                <p:spPr>
                  <a:xfrm>
                    <a:off x="1880" y="2708"/>
                    <a:ext cx="47" cy="501"/>
                  </a:xfrm>
                  <a:custGeom>
                    <a:avLst/>
                    <a:gdLst>
                      <a:gd name="txL" fmla="*/ 0 w 1"/>
                      <a:gd name="txT" fmla="*/ 0 h 406"/>
                      <a:gd name="txR" fmla="*/ 1 w 1"/>
                      <a:gd name="txB" fmla="*/ 406 h 40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06"/>
                      </a:cxn>
                    </a:cxnLst>
                    <a:rect l="txL" t="txT" r="txR" b="txB"/>
                    <a:pathLst>
                      <a:path w="1" h="406">
                        <a:moveTo>
                          <a:pt x="0" y="0"/>
                        </a:moveTo>
                        <a:lnTo>
                          <a:pt x="0" y="40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98" name="Freeform 132"/>
                  <p:cNvSpPr/>
                  <p:nvPr/>
                </p:nvSpPr>
                <p:spPr>
                  <a:xfrm>
                    <a:off x="2454" y="2708"/>
                    <a:ext cx="4" cy="166"/>
                  </a:xfrm>
                  <a:custGeom>
                    <a:avLst/>
                    <a:gdLst>
                      <a:gd name="txL" fmla="*/ 0 w 4"/>
                      <a:gd name="txT" fmla="*/ 0 h 166"/>
                      <a:gd name="txR" fmla="*/ 4 w 4"/>
                      <a:gd name="txB" fmla="*/ 166 h 166"/>
                    </a:gdLst>
                    <a:ahLst/>
                    <a:cxnLst>
                      <a:cxn ang="0">
                        <a:pos x="4" y="0"/>
                      </a:cxn>
                      <a:cxn ang="0">
                        <a:pos x="0" y="166"/>
                      </a:cxn>
                    </a:cxnLst>
                    <a:rect l="txL" t="txT" r="txR" b="txB"/>
                    <a:pathLst>
                      <a:path w="4" h="166">
                        <a:moveTo>
                          <a:pt x="4" y="0"/>
                        </a:moveTo>
                        <a:lnTo>
                          <a:pt x="0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99" name="Freeform 133"/>
                  <p:cNvSpPr/>
                  <p:nvPr/>
                </p:nvSpPr>
                <p:spPr>
                  <a:xfrm>
                    <a:off x="3606" y="2708"/>
                    <a:ext cx="2" cy="175"/>
                  </a:xfrm>
                  <a:custGeom>
                    <a:avLst/>
                    <a:gdLst>
                      <a:gd name="txL" fmla="*/ 0 w 2"/>
                      <a:gd name="txT" fmla="*/ 0 h 175"/>
                      <a:gd name="txR" fmla="*/ 2 w 2"/>
                      <a:gd name="txB" fmla="*/ 175 h 175"/>
                    </a:gdLst>
                    <a:ahLst/>
                    <a:cxnLst>
                      <a:cxn ang="0">
                        <a:pos x="2" y="0"/>
                      </a:cxn>
                      <a:cxn ang="0">
                        <a:pos x="0" y="175"/>
                      </a:cxn>
                    </a:cxnLst>
                    <a:rect l="txL" t="txT" r="txR" b="txB"/>
                    <a:pathLst>
                      <a:path w="2" h="175">
                        <a:moveTo>
                          <a:pt x="2" y="0"/>
                        </a:moveTo>
                        <a:lnTo>
                          <a:pt x="0" y="17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00" name="Freeform 134"/>
                  <p:cNvSpPr/>
                  <p:nvPr/>
                </p:nvSpPr>
                <p:spPr>
                  <a:xfrm>
                    <a:off x="4760" y="2697"/>
                    <a:ext cx="1" cy="176"/>
                  </a:xfrm>
                  <a:custGeom>
                    <a:avLst/>
                    <a:gdLst>
                      <a:gd name="txL" fmla="*/ 0 w 1"/>
                      <a:gd name="txT" fmla="*/ 0 h 176"/>
                      <a:gd name="txR" fmla="*/ 1 w 1"/>
                      <a:gd name="txB" fmla="*/ 176 h 17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6"/>
                      </a:cxn>
                    </a:cxnLst>
                    <a:rect l="txL" t="txT" r="txR" b="txB"/>
                    <a:pathLst>
                      <a:path w="1" h="176">
                        <a:moveTo>
                          <a:pt x="0" y="0"/>
                        </a:moveTo>
                        <a:lnTo>
                          <a:pt x="0" y="17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01" name="Freeform 135"/>
                  <p:cNvSpPr/>
                  <p:nvPr/>
                </p:nvSpPr>
                <p:spPr>
                  <a:xfrm>
                    <a:off x="908" y="1480"/>
                    <a:ext cx="4422" cy="1"/>
                  </a:xfrm>
                  <a:custGeom>
                    <a:avLst/>
                    <a:gdLst>
                      <a:gd name="txL" fmla="*/ 0 w 4422"/>
                      <a:gd name="txT" fmla="*/ 0 h 1"/>
                      <a:gd name="txR" fmla="*/ 4422 w 4422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22" y="0"/>
                      </a:cxn>
                    </a:cxnLst>
                    <a:rect l="txL" t="txT" r="txR" b="txB"/>
                    <a:pathLst>
                      <a:path w="4422" h="1">
                        <a:moveTo>
                          <a:pt x="0" y="1"/>
                        </a:moveTo>
                        <a:lnTo>
                          <a:pt x="4422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02" name="Line 136"/>
                  <p:cNvSpPr/>
                  <p:nvPr/>
                </p:nvSpPr>
                <p:spPr>
                  <a:xfrm>
                    <a:off x="1292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03" name="Line 137"/>
                  <p:cNvSpPr/>
                  <p:nvPr/>
                </p:nvSpPr>
                <p:spPr>
                  <a:xfrm>
                    <a:off x="1868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04" name="Line 138"/>
                  <p:cNvSpPr/>
                  <p:nvPr/>
                </p:nvSpPr>
                <p:spPr>
                  <a:xfrm>
                    <a:off x="2444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05" name="Line 139"/>
                  <p:cNvSpPr/>
                  <p:nvPr/>
                </p:nvSpPr>
                <p:spPr>
                  <a:xfrm>
                    <a:off x="3020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06" name="Line 140"/>
                  <p:cNvSpPr/>
                  <p:nvPr/>
                </p:nvSpPr>
                <p:spPr>
                  <a:xfrm>
                    <a:off x="3596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07" name="Line 141"/>
                  <p:cNvSpPr/>
                  <p:nvPr/>
                </p:nvSpPr>
                <p:spPr>
                  <a:xfrm>
                    <a:off x="4172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08" name="Line 142"/>
                  <p:cNvSpPr/>
                  <p:nvPr/>
                </p:nvSpPr>
                <p:spPr>
                  <a:xfrm>
                    <a:off x="4748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09" name="Line 143"/>
                  <p:cNvSpPr/>
                  <p:nvPr/>
                </p:nvSpPr>
                <p:spPr>
                  <a:xfrm>
                    <a:off x="5324" y="14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med" len="med"/>
                  </a:ln>
                </p:spPr>
              </p:sp>
              <p:sp>
                <p:nvSpPr>
                  <p:cNvPr id="288010" name="Freeform 144"/>
                  <p:cNvSpPr/>
                  <p:nvPr/>
                </p:nvSpPr>
                <p:spPr>
                  <a:xfrm>
                    <a:off x="908" y="2056"/>
                    <a:ext cx="4418" cy="1"/>
                  </a:xfrm>
                  <a:custGeom>
                    <a:avLst/>
                    <a:gdLst>
                      <a:gd name="txL" fmla="*/ 0 w 4418"/>
                      <a:gd name="txT" fmla="*/ 0 h 1"/>
                      <a:gd name="txR" fmla="*/ 4418 w 4418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8" y="0"/>
                      </a:cxn>
                    </a:cxnLst>
                    <a:rect l="txL" t="txT" r="txR" b="txB"/>
                    <a:pathLst>
                      <a:path w="4418" h="1">
                        <a:moveTo>
                          <a:pt x="0" y="1"/>
                        </a:moveTo>
                        <a:lnTo>
                          <a:pt x="4418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11" name="Line 145"/>
                  <p:cNvSpPr/>
                  <p:nvPr/>
                </p:nvSpPr>
                <p:spPr>
                  <a:xfrm>
                    <a:off x="1292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12" name="Line 146"/>
                  <p:cNvSpPr/>
                  <p:nvPr/>
                </p:nvSpPr>
                <p:spPr>
                  <a:xfrm>
                    <a:off x="1868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13" name="Line 147"/>
                  <p:cNvSpPr/>
                  <p:nvPr/>
                </p:nvSpPr>
                <p:spPr>
                  <a:xfrm>
                    <a:off x="2444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14" name="Line 148"/>
                  <p:cNvSpPr/>
                  <p:nvPr/>
                </p:nvSpPr>
                <p:spPr>
                  <a:xfrm>
                    <a:off x="3020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15" name="Line 149"/>
                  <p:cNvSpPr/>
                  <p:nvPr/>
                </p:nvSpPr>
                <p:spPr>
                  <a:xfrm>
                    <a:off x="3596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16" name="Line 150"/>
                  <p:cNvSpPr/>
                  <p:nvPr/>
                </p:nvSpPr>
                <p:spPr>
                  <a:xfrm>
                    <a:off x="4172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17" name="Line 151"/>
                  <p:cNvSpPr/>
                  <p:nvPr/>
                </p:nvSpPr>
                <p:spPr>
                  <a:xfrm>
                    <a:off x="4748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8018" name="Line 152"/>
                  <p:cNvSpPr/>
                  <p:nvPr/>
                </p:nvSpPr>
                <p:spPr>
                  <a:xfrm>
                    <a:off x="5324" y="2057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med" len="med"/>
                  </a:ln>
                </p:spPr>
              </p:sp>
              <p:sp>
                <p:nvSpPr>
                  <p:cNvPr id="288019" name="Freeform 153"/>
                  <p:cNvSpPr/>
                  <p:nvPr/>
                </p:nvSpPr>
                <p:spPr>
                  <a:xfrm>
                    <a:off x="909" y="2879"/>
                    <a:ext cx="3860" cy="1"/>
                  </a:xfrm>
                  <a:custGeom>
                    <a:avLst/>
                    <a:gdLst>
                      <a:gd name="txL" fmla="*/ 0 w 3860"/>
                      <a:gd name="txT" fmla="*/ 0 h 1"/>
                      <a:gd name="txR" fmla="*/ 3860 w 3860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3860" y="0"/>
                      </a:cxn>
                    </a:cxnLst>
                    <a:rect l="txL" t="txT" r="txR" b="txB"/>
                    <a:pathLst>
                      <a:path w="3860" h="1">
                        <a:moveTo>
                          <a:pt x="0" y="1"/>
                        </a:moveTo>
                        <a:lnTo>
                          <a:pt x="386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20" name="Freeform 154"/>
                  <p:cNvSpPr/>
                  <p:nvPr/>
                </p:nvSpPr>
                <p:spPr>
                  <a:xfrm>
                    <a:off x="912" y="3209"/>
                    <a:ext cx="4418" cy="1"/>
                  </a:xfrm>
                  <a:custGeom>
                    <a:avLst/>
                    <a:gdLst>
                      <a:gd name="txL" fmla="*/ 0 w 4418"/>
                      <a:gd name="txT" fmla="*/ 0 h 1"/>
                      <a:gd name="txR" fmla="*/ 4418 w 4418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8" y="0"/>
                      </a:cxn>
                    </a:cxnLst>
                    <a:rect l="txL" t="txT" r="txR" b="txB"/>
                    <a:pathLst>
                      <a:path w="4418" h="1">
                        <a:moveTo>
                          <a:pt x="0" y="1"/>
                        </a:moveTo>
                        <a:lnTo>
                          <a:pt x="4418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21" name="Rectangle 155"/>
                  <p:cNvSpPr/>
                  <p:nvPr/>
                </p:nvSpPr>
                <p:spPr>
                  <a:xfrm>
                    <a:off x="1141" y="3597"/>
                    <a:ext cx="823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22" name="Text Box 156"/>
                  <p:cNvSpPr txBox="1"/>
                  <p:nvPr/>
                </p:nvSpPr>
                <p:spPr>
                  <a:xfrm>
                    <a:off x="1172" y="3576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23" name="Freeform 157"/>
                  <p:cNvSpPr/>
                  <p:nvPr/>
                </p:nvSpPr>
                <p:spPr>
                  <a:xfrm>
                    <a:off x="1402" y="1211"/>
                    <a:ext cx="145" cy="1466"/>
                  </a:xfrm>
                  <a:custGeom>
                    <a:avLst/>
                    <a:gdLst>
                      <a:gd name="txL" fmla="*/ 0 w 145"/>
                      <a:gd name="txT" fmla="*/ 0 h 1466"/>
                      <a:gd name="txR" fmla="*/ 145 w 145"/>
                      <a:gd name="txB" fmla="*/ 1466 h 1466"/>
                    </a:gdLst>
                    <a:ahLst/>
                    <a:cxnLst>
                      <a:cxn ang="0">
                        <a:pos x="37" y="0"/>
                      </a:cxn>
                      <a:cxn ang="0">
                        <a:pos x="145" y="0"/>
                      </a:cxn>
                      <a:cxn ang="0">
                        <a:pos x="144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5" h="1466">
                        <a:moveTo>
                          <a:pt x="37" y="0"/>
                        </a:moveTo>
                        <a:lnTo>
                          <a:pt x="145" y="0"/>
                        </a:lnTo>
                        <a:lnTo>
                          <a:pt x="144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24" name="Freeform 158"/>
                  <p:cNvSpPr/>
                  <p:nvPr/>
                </p:nvSpPr>
                <p:spPr>
                  <a:xfrm>
                    <a:off x="1613" y="1211"/>
                    <a:ext cx="169" cy="1469"/>
                  </a:xfrm>
                  <a:custGeom>
                    <a:avLst/>
                    <a:gdLst>
                      <a:gd name="txL" fmla="*/ 0 w 169"/>
                      <a:gd name="txT" fmla="*/ 0 h 1469"/>
                      <a:gd name="txR" fmla="*/ 169 w 169"/>
                      <a:gd name="txB" fmla="*/ 1469 h 1469"/>
                    </a:gdLst>
                    <a:ahLst/>
                    <a:cxnLst>
                      <a:cxn ang="0">
                        <a:pos x="169" y="1468"/>
                      </a:cxn>
                      <a:cxn ang="0">
                        <a:pos x="0" y="1469"/>
                      </a:cxn>
                      <a:cxn ang="0">
                        <a:pos x="1" y="0"/>
                      </a:cxn>
                      <a:cxn ang="0">
                        <a:pos x="105" y="0"/>
                      </a:cxn>
                    </a:cxnLst>
                    <a:rect l="txL" t="txT" r="txR" b="txB"/>
                    <a:pathLst>
                      <a:path w="169" h="1469">
                        <a:moveTo>
                          <a:pt x="169" y="1468"/>
                        </a:moveTo>
                        <a:lnTo>
                          <a:pt x="0" y="1469"/>
                        </a:lnTo>
                        <a:lnTo>
                          <a:pt x="1" y="0"/>
                        </a:lnTo>
                        <a:lnTo>
                          <a:pt x="10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25" name="Freeform 159"/>
                  <p:cNvSpPr/>
                  <p:nvPr/>
                </p:nvSpPr>
                <p:spPr>
                  <a:xfrm>
                    <a:off x="1967" y="1211"/>
                    <a:ext cx="141" cy="1466"/>
                  </a:xfrm>
                  <a:custGeom>
                    <a:avLst/>
                    <a:gdLst>
                      <a:gd name="txL" fmla="*/ 0 w 141"/>
                      <a:gd name="txT" fmla="*/ 0 h 1466"/>
                      <a:gd name="txR" fmla="*/ 141 w 141"/>
                      <a:gd name="txB" fmla="*/ 1466 h 1466"/>
                    </a:gdLst>
                    <a:ahLst/>
                    <a:cxnLst>
                      <a:cxn ang="0">
                        <a:pos x="38" y="0"/>
                      </a:cxn>
                      <a:cxn ang="0">
                        <a:pos x="141" y="0"/>
                      </a:cxn>
                      <a:cxn ang="0">
                        <a:pos x="140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1" h="1466">
                        <a:moveTo>
                          <a:pt x="38" y="0"/>
                        </a:moveTo>
                        <a:lnTo>
                          <a:pt x="141" y="0"/>
                        </a:lnTo>
                        <a:lnTo>
                          <a:pt x="140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26" name="Freeform 160"/>
                  <p:cNvSpPr/>
                  <p:nvPr/>
                </p:nvSpPr>
                <p:spPr>
                  <a:xfrm>
                    <a:off x="2208" y="1211"/>
                    <a:ext cx="155" cy="1467"/>
                  </a:xfrm>
                  <a:custGeom>
                    <a:avLst/>
                    <a:gdLst>
                      <a:gd name="txL" fmla="*/ 0 w 155"/>
                      <a:gd name="txT" fmla="*/ 0 h 1467"/>
                      <a:gd name="txR" fmla="*/ 155 w 155"/>
                      <a:gd name="txB" fmla="*/ 1467 h 1467"/>
                    </a:gdLst>
                    <a:ahLst/>
                    <a:cxnLst>
                      <a:cxn ang="0">
                        <a:pos x="155" y="1467"/>
                      </a:cxn>
                      <a:cxn ang="0">
                        <a:pos x="3" y="1467"/>
                      </a:cxn>
                      <a:cxn ang="0">
                        <a:pos x="0" y="1"/>
                      </a:cxn>
                      <a:cxn ang="0">
                        <a:pos x="89" y="0"/>
                      </a:cxn>
                    </a:cxnLst>
                    <a:rect l="txL" t="txT" r="txR" b="txB"/>
                    <a:pathLst>
                      <a:path w="155" h="1467">
                        <a:moveTo>
                          <a:pt x="155" y="1467"/>
                        </a:moveTo>
                        <a:lnTo>
                          <a:pt x="3" y="1467"/>
                        </a:lnTo>
                        <a:lnTo>
                          <a:pt x="0" y="1"/>
                        </a:lnTo>
                        <a:lnTo>
                          <a:pt x="8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27" name="Freeform 161"/>
                  <p:cNvSpPr/>
                  <p:nvPr/>
                </p:nvSpPr>
                <p:spPr>
                  <a:xfrm>
                    <a:off x="2557" y="1211"/>
                    <a:ext cx="142" cy="1466"/>
                  </a:xfrm>
                  <a:custGeom>
                    <a:avLst/>
                    <a:gdLst>
                      <a:gd name="txL" fmla="*/ 0 w 142"/>
                      <a:gd name="txT" fmla="*/ 0 h 1466"/>
                      <a:gd name="txR" fmla="*/ 142 w 142"/>
                      <a:gd name="txB" fmla="*/ 1466 h 1466"/>
                    </a:gdLst>
                    <a:ahLst/>
                    <a:cxnLst>
                      <a:cxn ang="0">
                        <a:pos x="34" y="0"/>
                      </a:cxn>
                      <a:cxn ang="0">
                        <a:pos x="142" y="0"/>
                      </a:cxn>
                      <a:cxn ang="0">
                        <a:pos x="141" y="1466"/>
                      </a:cxn>
                      <a:cxn ang="0">
                        <a:pos x="0" y="1464"/>
                      </a:cxn>
                    </a:cxnLst>
                    <a:rect l="txL" t="txT" r="txR" b="txB"/>
                    <a:pathLst>
                      <a:path w="142" h="1466">
                        <a:moveTo>
                          <a:pt x="34" y="0"/>
                        </a:moveTo>
                        <a:lnTo>
                          <a:pt x="142" y="0"/>
                        </a:lnTo>
                        <a:lnTo>
                          <a:pt x="141" y="1466"/>
                        </a:lnTo>
                        <a:lnTo>
                          <a:pt x="0" y="1464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28" name="Freeform 162"/>
                  <p:cNvSpPr/>
                  <p:nvPr/>
                </p:nvSpPr>
                <p:spPr>
                  <a:xfrm>
                    <a:off x="2787" y="1211"/>
                    <a:ext cx="152" cy="1467"/>
                  </a:xfrm>
                  <a:custGeom>
                    <a:avLst/>
                    <a:gdLst>
                      <a:gd name="txL" fmla="*/ 0 w 152"/>
                      <a:gd name="txT" fmla="*/ 0 h 1467"/>
                      <a:gd name="txR" fmla="*/ 152 w 152"/>
                      <a:gd name="txB" fmla="*/ 1467 h 1467"/>
                    </a:gdLst>
                    <a:ahLst/>
                    <a:cxnLst>
                      <a:cxn ang="0">
                        <a:pos x="152" y="1467"/>
                      </a:cxn>
                      <a:cxn ang="0">
                        <a:pos x="0" y="1467"/>
                      </a:cxn>
                      <a:cxn ang="0">
                        <a:pos x="0" y="1"/>
                      </a:cxn>
                      <a:cxn ang="0">
                        <a:pos x="77" y="0"/>
                      </a:cxn>
                    </a:cxnLst>
                    <a:rect l="txL" t="txT" r="txR" b="txB"/>
                    <a:pathLst>
                      <a:path w="152" h="1467">
                        <a:moveTo>
                          <a:pt x="152" y="1467"/>
                        </a:moveTo>
                        <a:lnTo>
                          <a:pt x="0" y="1467"/>
                        </a:lnTo>
                        <a:lnTo>
                          <a:pt x="0" y="1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29" name="Freeform 163"/>
                  <p:cNvSpPr/>
                  <p:nvPr/>
                </p:nvSpPr>
                <p:spPr>
                  <a:xfrm>
                    <a:off x="3130" y="1211"/>
                    <a:ext cx="145" cy="1466"/>
                  </a:xfrm>
                  <a:custGeom>
                    <a:avLst/>
                    <a:gdLst>
                      <a:gd name="txL" fmla="*/ 0 w 145"/>
                      <a:gd name="txT" fmla="*/ 0 h 1466"/>
                      <a:gd name="txR" fmla="*/ 145 w 145"/>
                      <a:gd name="txB" fmla="*/ 1466 h 1466"/>
                    </a:gdLst>
                    <a:ahLst/>
                    <a:cxnLst>
                      <a:cxn ang="0">
                        <a:pos x="37" y="0"/>
                      </a:cxn>
                      <a:cxn ang="0">
                        <a:pos x="145" y="0"/>
                      </a:cxn>
                      <a:cxn ang="0">
                        <a:pos x="144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5" h="1466">
                        <a:moveTo>
                          <a:pt x="37" y="0"/>
                        </a:moveTo>
                        <a:lnTo>
                          <a:pt x="145" y="0"/>
                        </a:lnTo>
                        <a:lnTo>
                          <a:pt x="144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30" name="Freeform 164"/>
                  <p:cNvSpPr/>
                  <p:nvPr/>
                </p:nvSpPr>
                <p:spPr>
                  <a:xfrm>
                    <a:off x="3360" y="1209"/>
                    <a:ext cx="155" cy="1469"/>
                  </a:xfrm>
                  <a:custGeom>
                    <a:avLst/>
                    <a:gdLst>
                      <a:gd name="txL" fmla="*/ 0 w 155"/>
                      <a:gd name="txT" fmla="*/ 0 h 1469"/>
                      <a:gd name="txR" fmla="*/ 155 w 155"/>
                      <a:gd name="txB" fmla="*/ 1469 h 1469"/>
                    </a:gdLst>
                    <a:ahLst/>
                    <a:cxnLst>
                      <a:cxn ang="0">
                        <a:pos x="155" y="1469"/>
                      </a:cxn>
                      <a:cxn ang="0">
                        <a:pos x="3" y="1469"/>
                      </a:cxn>
                      <a:cxn ang="0">
                        <a:pos x="0" y="0"/>
                      </a:cxn>
                      <a:cxn ang="0">
                        <a:pos x="103" y="2"/>
                      </a:cxn>
                    </a:cxnLst>
                    <a:rect l="txL" t="txT" r="txR" b="txB"/>
                    <a:pathLst>
                      <a:path w="155" h="1469">
                        <a:moveTo>
                          <a:pt x="155" y="1469"/>
                        </a:moveTo>
                        <a:lnTo>
                          <a:pt x="3" y="1469"/>
                        </a:lnTo>
                        <a:lnTo>
                          <a:pt x="0" y="0"/>
                        </a:lnTo>
                        <a:lnTo>
                          <a:pt x="103" y="2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31" name="Freeform 165"/>
                  <p:cNvSpPr/>
                  <p:nvPr/>
                </p:nvSpPr>
                <p:spPr>
                  <a:xfrm>
                    <a:off x="3710" y="1211"/>
                    <a:ext cx="141" cy="1466"/>
                  </a:xfrm>
                  <a:custGeom>
                    <a:avLst/>
                    <a:gdLst>
                      <a:gd name="txL" fmla="*/ 0 w 141"/>
                      <a:gd name="txT" fmla="*/ 0 h 1466"/>
                      <a:gd name="txR" fmla="*/ 141 w 141"/>
                      <a:gd name="txB" fmla="*/ 1466 h 1466"/>
                    </a:gdLst>
                    <a:ahLst/>
                    <a:cxnLst>
                      <a:cxn ang="0">
                        <a:pos x="42" y="0"/>
                      </a:cxn>
                      <a:cxn ang="0">
                        <a:pos x="141" y="0"/>
                      </a:cxn>
                      <a:cxn ang="0">
                        <a:pos x="140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1" h="1466">
                        <a:moveTo>
                          <a:pt x="42" y="0"/>
                        </a:moveTo>
                        <a:lnTo>
                          <a:pt x="141" y="0"/>
                        </a:lnTo>
                        <a:lnTo>
                          <a:pt x="140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32" name="Freeform 166"/>
                  <p:cNvSpPr/>
                  <p:nvPr/>
                </p:nvSpPr>
                <p:spPr>
                  <a:xfrm>
                    <a:off x="3939" y="1211"/>
                    <a:ext cx="152" cy="1467"/>
                  </a:xfrm>
                  <a:custGeom>
                    <a:avLst/>
                    <a:gdLst>
                      <a:gd name="txL" fmla="*/ 0 w 152"/>
                      <a:gd name="txT" fmla="*/ 0 h 1467"/>
                      <a:gd name="txR" fmla="*/ 152 w 152"/>
                      <a:gd name="txB" fmla="*/ 1467 h 1467"/>
                    </a:gdLst>
                    <a:ahLst/>
                    <a:cxnLst>
                      <a:cxn ang="0">
                        <a:pos x="152" y="1467"/>
                      </a:cxn>
                      <a:cxn ang="0">
                        <a:pos x="0" y="1467"/>
                      </a:cxn>
                      <a:cxn ang="0">
                        <a:pos x="0" y="1"/>
                      </a:cxn>
                      <a:cxn ang="0">
                        <a:pos x="103" y="0"/>
                      </a:cxn>
                    </a:cxnLst>
                    <a:rect l="txL" t="txT" r="txR" b="txB"/>
                    <a:pathLst>
                      <a:path w="152" h="1467">
                        <a:moveTo>
                          <a:pt x="152" y="1467"/>
                        </a:moveTo>
                        <a:lnTo>
                          <a:pt x="0" y="1467"/>
                        </a:lnTo>
                        <a:lnTo>
                          <a:pt x="0" y="1"/>
                        </a:lnTo>
                        <a:lnTo>
                          <a:pt x="103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33" name="Freeform 167"/>
                  <p:cNvSpPr/>
                  <p:nvPr/>
                </p:nvSpPr>
                <p:spPr>
                  <a:xfrm>
                    <a:off x="4280" y="1211"/>
                    <a:ext cx="147" cy="1466"/>
                  </a:xfrm>
                  <a:custGeom>
                    <a:avLst/>
                    <a:gdLst>
                      <a:gd name="txL" fmla="*/ 0 w 147"/>
                      <a:gd name="txT" fmla="*/ 0 h 1466"/>
                      <a:gd name="txR" fmla="*/ 147 w 147"/>
                      <a:gd name="txB" fmla="*/ 1466 h 1466"/>
                    </a:gdLst>
                    <a:ahLst/>
                    <a:cxnLst>
                      <a:cxn ang="0">
                        <a:pos x="51" y="0"/>
                      </a:cxn>
                      <a:cxn ang="0">
                        <a:pos x="147" y="0"/>
                      </a:cxn>
                      <a:cxn ang="0">
                        <a:pos x="146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7" h="1466">
                        <a:moveTo>
                          <a:pt x="51" y="0"/>
                        </a:moveTo>
                        <a:lnTo>
                          <a:pt x="147" y="0"/>
                        </a:lnTo>
                        <a:lnTo>
                          <a:pt x="146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34" name="Freeform 168"/>
                  <p:cNvSpPr/>
                  <p:nvPr/>
                </p:nvSpPr>
                <p:spPr>
                  <a:xfrm>
                    <a:off x="4509" y="1211"/>
                    <a:ext cx="158" cy="1467"/>
                  </a:xfrm>
                  <a:custGeom>
                    <a:avLst/>
                    <a:gdLst>
                      <a:gd name="txL" fmla="*/ 0 w 158"/>
                      <a:gd name="txT" fmla="*/ 0 h 1467"/>
                      <a:gd name="txR" fmla="*/ 158 w 158"/>
                      <a:gd name="txB" fmla="*/ 1467 h 1467"/>
                    </a:gdLst>
                    <a:ahLst/>
                    <a:cxnLst>
                      <a:cxn ang="0">
                        <a:pos x="158" y="1467"/>
                      </a:cxn>
                      <a:cxn ang="0">
                        <a:pos x="0" y="1467"/>
                      </a:cxn>
                      <a:cxn ang="0">
                        <a:pos x="0" y="0"/>
                      </a:cxn>
                      <a:cxn ang="0">
                        <a:pos x="95" y="0"/>
                      </a:cxn>
                    </a:cxnLst>
                    <a:rect l="txL" t="txT" r="txR" b="txB"/>
                    <a:pathLst>
                      <a:path w="158" h="1467">
                        <a:moveTo>
                          <a:pt x="158" y="1467"/>
                        </a:moveTo>
                        <a:lnTo>
                          <a:pt x="0" y="1467"/>
                        </a:lnTo>
                        <a:lnTo>
                          <a:pt x="0" y="0"/>
                        </a:lnTo>
                        <a:lnTo>
                          <a:pt x="9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35" name="Freeform 169"/>
                  <p:cNvSpPr/>
                  <p:nvPr/>
                </p:nvSpPr>
                <p:spPr>
                  <a:xfrm>
                    <a:off x="4861" y="1211"/>
                    <a:ext cx="142" cy="1466"/>
                  </a:xfrm>
                  <a:custGeom>
                    <a:avLst/>
                    <a:gdLst>
                      <a:gd name="txL" fmla="*/ 0 w 142"/>
                      <a:gd name="txT" fmla="*/ 0 h 1466"/>
                      <a:gd name="txR" fmla="*/ 142 w 142"/>
                      <a:gd name="txB" fmla="*/ 1466 h 1466"/>
                    </a:gdLst>
                    <a:ahLst/>
                    <a:cxnLst>
                      <a:cxn ang="0">
                        <a:pos x="34" y="0"/>
                      </a:cxn>
                      <a:cxn ang="0">
                        <a:pos x="142" y="0"/>
                      </a:cxn>
                      <a:cxn ang="0">
                        <a:pos x="141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2" h="1466">
                        <a:moveTo>
                          <a:pt x="34" y="0"/>
                        </a:moveTo>
                        <a:lnTo>
                          <a:pt x="142" y="0"/>
                        </a:lnTo>
                        <a:lnTo>
                          <a:pt x="141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36" name="Freeform 170"/>
                  <p:cNvSpPr/>
                  <p:nvPr/>
                </p:nvSpPr>
                <p:spPr>
                  <a:xfrm>
                    <a:off x="5069" y="1211"/>
                    <a:ext cx="159" cy="1469"/>
                  </a:xfrm>
                  <a:custGeom>
                    <a:avLst/>
                    <a:gdLst>
                      <a:gd name="txL" fmla="*/ 0 w 159"/>
                      <a:gd name="txT" fmla="*/ 0 h 1469"/>
                      <a:gd name="txR" fmla="*/ 159 w 159"/>
                      <a:gd name="txB" fmla="*/ 1469 h 1469"/>
                    </a:gdLst>
                    <a:ahLst/>
                    <a:cxnLst>
                      <a:cxn ang="0">
                        <a:pos x="159" y="1467"/>
                      </a:cxn>
                      <a:cxn ang="0">
                        <a:pos x="0" y="1469"/>
                      </a:cxn>
                      <a:cxn ang="0">
                        <a:pos x="1" y="0"/>
                      </a:cxn>
                      <a:cxn ang="0">
                        <a:pos x="104" y="0"/>
                      </a:cxn>
                    </a:cxnLst>
                    <a:rect l="txL" t="txT" r="txR" b="txB"/>
                    <a:pathLst>
                      <a:path w="159" h="1469">
                        <a:moveTo>
                          <a:pt x="159" y="1467"/>
                        </a:moveTo>
                        <a:lnTo>
                          <a:pt x="0" y="1469"/>
                        </a:lnTo>
                        <a:lnTo>
                          <a:pt x="1" y="0"/>
                        </a:lnTo>
                        <a:lnTo>
                          <a:pt x="104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37" name="Freeform 171"/>
                  <p:cNvSpPr/>
                  <p:nvPr/>
                </p:nvSpPr>
                <p:spPr>
                  <a:xfrm>
                    <a:off x="5417" y="1211"/>
                    <a:ext cx="147" cy="1466"/>
                  </a:xfrm>
                  <a:custGeom>
                    <a:avLst/>
                    <a:gdLst>
                      <a:gd name="txL" fmla="*/ 0 w 147"/>
                      <a:gd name="txT" fmla="*/ 0 h 1466"/>
                      <a:gd name="txR" fmla="*/ 147 w 147"/>
                      <a:gd name="txB" fmla="*/ 1466 h 1466"/>
                    </a:gdLst>
                    <a:ahLst/>
                    <a:cxnLst>
                      <a:cxn ang="0">
                        <a:pos x="47" y="0"/>
                      </a:cxn>
                      <a:cxn ang="0">
                        <a:pos x="147" y="0"/>
                      </a:cxn>
                      <a:cxn ang="0">
                        <a:pos x="146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7" h="1466">
                        <a:moveTo>
                          <a:pt x="47" y="0"/>
                        </a:moveTo>
                        <a:lnTo>
                          <a:pt x="147" y="0"/>
                        </a:lnTo>
                        <a:lnTo>
                          <a:pt x="146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38" name="Freeform 172"/>
                  <p:cNvSpPr/>
                  <p:nvPr/>
                </p:nvSpPr>
                <p:spPr>
                  <a:xfrm>
                    <a:off x="1055" y="2738"/>
                    <a:ext cx="730" cy="660"/>
                  </a:xfrm>
                  <a:custGeom>
                    <a:avLst/>
                    <a:gdLst>
                      <a:gd name="txL" fmla="*/ 0 w 730"/>
                      <a:gd name="txT" fmla="*/ 0 h 660"/>
                      <a:gd name="txR" fmla="*/ 730 w 730"/>
                      <a:gd name="txB" fmla="*/ 660 h 660"/>
                    </a:gdLst>
                    <a:ahLst/>
                    <a:cxnLst>
                      <a:cxn ang="0">
                        <a:pos x="160" y="4"/>
                      </a:cxn>
                      <a:cxn ang="0">
                        <a:pos x="0" y="3"/>
                      </a:cxn>
                      <a:cxn ang="0">
                        <a:pos x="0" y="660"/>
                      </a:cxn>
                      <a:cxn ang="0">
                        <a:pos x="558" y="657"/>
                      </a:cxn>
                      <a:cxn ang="0">
                        <a:pos x="558" y="0"/>
                      </a:cxn>
                      <a:cxn ang="0">
                        <a:pos x="730" y="1"/>
                      </a:cxn>
                    </a:cxnLst>
                    <a:rect l="txL" t="txT" r="txR" b="txB"/>
                    <a:pathLst>
                      <a:path w="730" h="660">
                        <a:moveTo>
                          <a:pt x="160" y="4"/>
                        </a:moveTo>
                        <a:lnTo>
                          <a:pt x="0" y="3"/>
                        </a:lnTo>
                        <a:lnTo>
                          <a:pt x="0" y="660"/>
                        </a:lnTo>
                        <a:lnTo>
                          <a:pt x="558" y="657"/>
                        </a:lnTo>
                        <a:lnTo>
                          <a:pt x="558" y="0"/>
                        </a:lnTo>
                        <a:lnTo>
                          <a:pt x="730" y="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39" name="Freeform 173"/>
                  <p:cNvSpPr/>
                  <p:nvPr/>
                </p:nvSpPr>
                <p:spPr>
                  <a:xfrm>
                    <a:off x="2207" y="2744"/>
                    <a:ext cx="729" cy="658"/>
                  </a:xfrm>
                  <a:custGeom>
                    <a:avLst/>
                    <a:gdLst>
                      <a:gd name="txL" fmla="*/ 0 w 729"/>
                      <a:gd name="txT" fmla="*/ 0 h 658"/>
                      <a:gd name="txR" fmla="*/ 729 w 729"/>
                      <a:gd name="txB" fmla="*/ 658 h 658"/>
                    </a:gdLst>
                    <a:ahLst/>
                    <a:cxnLst>
                      <a:cxn ang="0">
                        <a:pos x="153" y="0"/>
                      </a:cxn>
                      <a:cxn ang="0">
                        <a:pos x="0" y="0"/>
                      </a:cxn>
                      <a:cxn ang="0">
                        <a:pos x="0" y="657"/>
                      </a:cxn>
                      <a:cxn ang="0">
                        <a:pos x="583" y="658"/>
                      </a:cxn>
                      <a:cxn ang="0">
                        <a:pos x="582" y="3"/>
                      </a:cxn>
                      <a:cxn ang="0">
                        <a:pos x="729" y="3"/>
                      </a:cxn>
                    </a:cxnLst>
                    <a:rect l="txL" t="txT" r="txR" b="txB"/>
                    <a:pathLst>
                      <a:path w="729" h="658">
                        <a:moveTo>
                          <a:pt x="153" y="0"/>
                        </a:moveTo>
                        <a:lnTo>
                          <a:pt x="0" y="0"/>
                        </a:lnTo>
                        <a:lnTo>
                          <a:pt x="0" y="657"/>
                        </a:lnTo>
                        <a:lnTo>
                          <a:pt x="583" y="658"/>
                        </a:lnTo>
                        <a:lnTo>
                          <a:pt x="582" y="3"/>
                        </a:lnTo>
                        <a:lnTo>
                          <a:pt x="729" y="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40" name="Freeform 174"/>
                  <p:cNvSpPr/>
                  <p:nvPr/>
                </p:nvSpPr>
                <p:spPr>
                  <a:xfrm>
                    <a:off x="3356" y="2744"/>
                    <a:ext cx="729" cy="657"/>
                  </a:xfrm>
                  <a:custGeom>
                    <a:avLst/>
                    <a:gdLst>
                      <a:gd name="txL" fmla="*/ 0 w 729"/>
                      <a:gd name="txT" fmla="*/ 0 h 657"/>
                      <a:gd name="txR" fmla="*/ 729 w 729"/>
                      <a:gd name="txB" fmla="*/ 657 h 657"/>
                    </a:gdLst>
                    <a:ahLst/>
                    <a:cxnLst>
                      <a:cxn ang="0">
                        <a:pos x="158" y="0"/>
                      </a:cxn>
                      <a:cxn ang="0">
                        <a:pos x="0" y="0"/>
                      </a:cxn>
                      <a:cxn ang="0">
                        <a:pos x="0" y="657"/>
                      </a:cxn>
                      <a:cxn ang="0">
                        <a:pos x="579" y="654"/>
                      </a:cxn>
                      <a:cxn ang="0">
                        <a:pos x="582" y="3"/>
                      </a:cxn>
                      <a:cxn ang="0">
                        <a:pos x="729" y="3"/>
                      </a:cxn>
                    </a:cxnLst>
                    <a:rect l="txL" t="txT" r="txR" b="txB"/>
                    <a:pathLst>
                      <a:path w="729" h="657">
                        <a:moveTo>
                          <a:pt x="158" y="0"/>
                        </a:moveTo>
                        <a:lnTo>
                          <a:pt x="0" y="0"/>
                        </a:lnTo>
                        <a:lnTo>
                          <a:pt x="0" y="657"/>
                        </a:lnTo>
                        <a:lnTo>
                          <a:pt x="579" y="654"/>
                        </a:lnTo>
                        <a:lnTo>
                          <a:pt x="582" y="3"/>
                        </a:lnTo>
                        <a:lnTo>
                          <a:pt x="729" y="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41" name="Freeform 175"/>
                  <p:cNvSpPr/>
                  <p:nvPr/>
                </p:nvSpPr>
                <p:spPr>
                  <a:xfrm>
                    <a:off x="4508" y="2744"/>
                    <a:ext cx="729" cy="657"/>
                  </a:xfrm>
                  <a:custGeom>
                    <a:avLst/>
                    <a:gdLst>
                      <a:gd name="txL" fmla="*/ 0 w 729"/>
                      <a:gd name="txT" fmla="*/ 0 h 657"/>
                      <a:gd name="txR" fmla="*/ 729 w 729"/>
                      <a:gd name="txB" fmla="*/ 657 h 657"/>
                    </a:gdLst>
                    <a:ahLst/>
                    <a:cxnLst>
                      <a:cxn ang="0">
                        <a:pos x="161" y="2"/>
                      </a:cxn>
                      <a:cxn ang="0">
                        <a:pos x="0" y="0"/>
                      </a:cxn>
                      <a:cxn ang="0">
                        <a:pos x="0" y="657"/>
                      </a:cxn>
                      <a:cxn ang="0">
                        <a:pos x="579" y="654"/>
                      </a:cxn>
                      <a:cxn ang="0">
                        <a:pos x="582" y="3"/>
                      </a:cxn>
                      <a:cxn ang="0">
                        <a:pos x="729" y="3"/>
                      </a:cxn>
                    </a:cxnLst>
                    <a:rect l="txL" t="txT" r="txR" b="txB"/>
                    <a:pathLst>
                      <a:path w="729" h="657">
                        <a:moveTo>
                          <a:pt x="161" y="2"/>
                        </a:moveTo>
                        <a:lnTo>
                          <a:pt x="0" y="0"/>
                        </a:lnTo>
                        <a:lnTo>
                          <a:pt x="0" y="657"/>
                        </a:lnTo>
                        <a:lnTo>
                          <a:pt x="579" y="654"/>
                        </a:lnTo>
                        <a:lnTo>
                          <a:pt x="582" y="3"/>
                        </a:lnTo>
                        <a:lnTo>
                          <a:pt x="729" y="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42" name="Freeform 176"/>
                  <p:cNvSpPr/>
                  <p:nvPr/>
                </p:nvSpPr>
                <p:spPr>
                  <a:xfrm>
                    <a:off x="1400" y="2735"/>
                    <a:ext cx="708" cy="571"/>
                  </a:xfrm>
                  <a:custGeom>
                    <a:avLst/>
                    <a:gdLst>
                      <a:gd name="txL" fmla="*/ 0 w 708"/>
                      <a:gd name="txT" fmla="*/ 0 h 571"/>
                      <a:gd name="txR" fmla="*/ 708 w 708"/>
                      <a:gd name="txB" fmla="*/ 571 h 57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32" y="0"/>
                      </a:cxn>
                      <a:cxn ang="0">
                        <a:pos x="133" y="571"/>
                      </a:cxn>
                      <a:cxn ang="0">
                        <a:pos x="708" y="570"/>
                      </a:cxn>
                      <a:cxn ang="0">
                        <a:pos x="708" y="9"/>
                      </a:cxn>
                      <a:cxn ang="0">
                        <a:pos x="573" y="9"/>
                      </a:cxn>
                    </a:cxnLst>
                    <a:rect l="txL" t="txT" r="txR" b="txB"/>
                    <a:pathLst>
                      <a:path w="708" h="571">
                        <a:moveTo>
                          <a:pt x="0" y="0"/>
                        </a:moveTo>
                        <a:lnTo>
                          <a:pt x="132" y="0"/>
                        </a:lnTo>
                        <a:lnTo>
                          <a:pt x="133" y="571"/>
                        </a:lnTo>
                        <a:lnTo>
                          <a:pt x="708" y="570"/>
                        </a:lnTo>
                        <a:lnTo>
                          <a:pt x="708" y="9"/>
                        </a:lnTo>
                        <a:lnTo>
                          <a:pt x="573" y="9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43" name="Freeform 177"/>
                  <p:cNvSpPr/>
                  <p:nvPr/>
                </p:nvSpPr>
                <p:spPr>
                  <a:xfrm>
                    <a:off x="2552" y="2735"/>
                    <a:ext cx="726" cy="567"/>
                  </a:xfrm>
                  <a:custGeom>
                    <a:avLst/>
                    <a:gdLst>
                      <a:gd name="txL" fmla="*/ 0 w 726"/>
                      <a:gd name="txT" fmla="*/ 0 h 567"/>
                      <a:gd name="txR" fmla="*/ 726 w 726"/>
                      <a:gd name="txB" fmla="*/ 567 h 567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48" y="1"/>
                      </a:cxn>
                      <a:cxn ang="0">
                        <a:pos x="147" y="567"/>
                      </a:cxn>
                      <a:cxn ang="0">
                        <a:pos x="726" y="567"/>
                      </a:cxn>
                      <a:cxn ang="0">
                        <a:pos x="726" y="6"/>
                      </a:cxn>
                      <a:cxn ang="0">
                        <a:pos x="579" y="6"/>
                      </a:cxn>
                    </a:cxnLst>
                    <a:rect l="txL" t="txT" r="txR" b="txB"/>
                    <a:pathLst>
                      <a:path w="726" h="567">
                        <a:moveTo>
                          <a:pt x="0" y="0"/>
                        </a:moveTo>
                        <a:lnTo>
                          <a:pt x="148" y="1"/>
                        </a:lnTo>
                        <a:lnTo>
                          <a:pt x="147" y="567"/>
                        </a:lnTo>
                        <a:lnTo>
                          <a:pt x="726" y="567"/>
                        </a:lnTo>
                        <a:lnTo>
                          <a:pt x="726" y="6"/>
                        </a:lnTo>
                        <a:lnTo>
                          <a:pt x="579" y="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44" name="Freeform 178"/>
                  <p:cNvSpPr/>
                  <p:nvPr/>
                </p:nvSpPr>
                <p:spPr>
                  <a:xfrm>
                    <a:off x="3704" y="2738"/>
                    <a:ext cx="714" cy="567"/>
                  </a:xfrm>
                  <a:custGeom>
                    <a:avLst/>
                    <a:gdLst>
                      <a:gd name="txL" fmla="*/ 0 w 714"/>
                      <a:gd name="txT" fmla="*/ 0 h 567"/>
                      <a:gd name="txR" fmla="*/ 714 w 714"/>
                      <a:gd name="txB" fmla="*/ 567 h 567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36" y="1"/>
                      </a:cxn>
                      <a:cxn ang="0">
                        <a:pos x="135" y="567"/>
                      </a:cxn>
                      <a:cxn ang="0">
                        <a:pos x="714" y="567"/>
                      </a:cxn>
                      <a:cxn ang="0">
                        <a:pos x="714" y="6"/>
                      </a:cxn>
                      <a:cxn ang="0">
                        <a:pos x="576" y="5"/>
                      </a:cxn>
                    </a:cxnLst>
                    <a:rect l="txL" t="txT" r="txR" b="txB"/>
                    <a:pathLst>
                      <a:path w="714" h="567">
                        <a:moveTo>
                          <a:pt x="0" y="0"/>
                        </a:moveTo>
                        <a:lnTo>
                          <a:pt x="136" y="1"/>
                        </a:lnTo>
                        <a:lnTo>
                          <a:pt x="135" y="567"/>
                        </a:lnTo>
                        <a:lnTo>
                          <a:pt x="714" y="567"/>
                        </a:lnTo>
                        <a:lnTo>
                          <a:pt x="714" y="6"/>
                        </a:lnTo>
                        <a:lnTo>
                          <a:pt x="576" y="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45" name="Freeform 179"/>
                  <p:cNvSpPr/>
                  <p:nvPr/>
                </p:nvSpPr>
                <p:spPr>
                  <a:xfrm>
                    <a:off x="4859" y="2738"/>
                    <a:ext cx="711" cy="567"/>
                  </a:xfrm>
                  <a:custGeom>
                    <a:avLst/>
                    <a:gdLst>
                      <a:gd name="txL" fmla="*/ 0 w 711"/>
                      <a:gd name="txT" fmla="*/ 0 h 567"/>
                      <a:gd name="txR" fmla="*/ 711 w 711"/>
                      <a:gd name="txB" fmla="*/ 567 h 567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30" y="1"/>
                      </a:cxn>
                      <a:cxn ang="0">
                        <a:pos x="132" y="567"/>
                      </a:cxn>
                      <a:cxn ang="0">
                        <a:pos x="711" y="567"/>
                      </a:cxn>
                      <a:cxn ang="0">
                        <a:pos x="711" y="6"/>
                      </a:cxn>
                      <a:cxn ang="0">
                        <a:pos x="564" y="6"/>
                      </a:cxn>
                    </a:cxnLst>
                    <a:rect l="txL" t="txT" r="txR" b="txB"/>
                    <a:pathLst>
                      <a:path w="711" h="567">
                        <a:moveTo>
                          <a:pt x="0" y="0"/>
                        </a:moveTo>
                        <a:lnTo>
                          <a:pt x="130" y="1"/>
                        </a:lnTo>
                        <a:lnTo>
                          <a:pt x="132" y="567"/>
                        </a:lnTo>
                        <a:lnTo>
                          <a:pt x="711" y="567"/>
                        </a:lnTo>
                        <a:lnTo>
                          <a:pt x="711" y="6"/>
                        </a:lnTo>
                        <a:lnTo>
                          <a:pt x="564" y="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46" name="Freeform 180"/>
                  <p:cNvSpPr/>
                  <p:nvPr/>
                </p:nvSpPr>
                <p:spPr>
                  <a:xfrm>
                    <a:off x="1322" y="3398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47" name="Freeform 181"/>
                  <p:cNvSpPr/>
                  <p:nvPr/>
                </p:nvSpPr>
                <p:spPr>
                  <a:xfrm>
                    <a:off x="2491" y="3401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48" name="Freeform 182"/>
                  <p:cNvSpPr/>
                  <p:nvPr/>
                </p:nvSpPr>
                <p:spPr>
                  <a:xfrm>
                    <a:off x="3643" y="3401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49" name="Freeform 183"/>
                  <p:cNvSpPr/>
                  <p:nvPr/>
                </p:nvSpPr>
                <p:spPr>
                  <a:xfrm>
                    <a:off x="4795" y="3401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50" name="Freeform 184"/>
                  <p:cNvSpPr/>
                  <p:nvPr/>
                </p:nvSpPr>
                <p:spPr>
                  <a:xfrm>
                    <a:off x="5276" y="3305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51" name="Freeform 185"/>
                  <p:cNvSpPr/>
                  <p:nvPr/>
                </p:nvSpPr>
                <p:spPr>
                  <a:xfrm>
                    <a:off x="4124" y="3305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52" name="Freeform 186"/>
                  <p:cNvSpPr/>
                  <p:nvPr/>
                </p:nvSpPr>
                <p:spPr>
                  <a:xfrm>
                    <a:off x="2972" y="3305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53" name="Freeform 187"/>
                  <p:cNvSpPr/>
                  <p:nvPr/>
                </p:nvSpPr>
                <p:spPr>
                  <a:xfrm>
                    <a:off x="1819" y="3305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54" name="Freeform 188"/>
                  <p:cNvSpPr/>
                  <p:nvPr/>
                </p:nvSpPr>
                <p:spPr>
                  <a:xfrm>
                    <a:off x="956" y="4025"/>
                    <a:ext cx="4317" cy="1"/>
                  </a:xfrm>
                  <a:custGeom>
                    <a:avLst/>
                    <a:gdLst>
                      <a:gd name="txL" fmla="*/ 0 w 4317"/>
                      <a:gd name="txT" fmla="*/ 0 h 1"/>
                      <a:gd name="txR" fmla="*/ 4317 w 4317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317" y="0"/>
                      </a:cxn>
                    </a:cxnLst>
                    <a:rect l="txL" t="txT" r="txR" b="txB"/>
                    <a:pathLst>
                      <a:path w="4317" h="1">
                        <a:moveTo>
                          <a:pt x="0" y="0"/>
                        </a:moveTo>
                        <a:lnTo>
                          <a:pt x="431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55" name="Freeform 189"/>
                  <p:cNvSpPr/>
                  <p:nvPr/>
                </p:nvSpPr>
                <p:spPr>
                  <a:xfrm>
                    <a:off x="956" y="4121"/>
                    <a:ext cx="3837" cy="1"/>
                  </a:xfrm>
                  <a:custGeom>
                    <a:avLst/>
                    <a:gdLst>
                      <a:gd name="txL" fmla="*/ 0 w 3837"/>
                      <a:gd name="txT" fmla="*/ 0 h 1"/>
                      <a:gd name="txR" fmla="*/ 3837 w 3837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3837" y="0"/>
                      </a:cxn>
                    </a:cxnLst>
                    <a:rect l="txL" t="txT" r="txR" b="txB"/>
                    <a:pathLst>
                      <a:path w="3837" h="1">
                        <a:moveTo>
                          <a:pt x="0" y="0"/>
                        </a:moveTo>
                        <a:lnTo>
                          <a:pt x="383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56" name="Freeform 190"/>
                  <p:cNvSpPr/>
                  <p:nvPr/>
                </p:nvSpPr>
                <p:spPr>
                  <a:xfrm>
                    <a:off x="1322" y="3881"/>
                    <a:ext cx="1" cy="243"/>
                  </a:xfrm>
                  <a:custGeom>
                    <a:avLst/>
                    <a:gdLst>
                      <a:gd name="txL" fmla="*/ 0 w 1"/>
                      <a:gd name="txT" fmla="*/ 0 h 243"/>
                      <a:gd name="txR" fmla="*/ 1 w 1"/>
                      <a:gd name="txB" fmla="*/ 243 h 243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3"/>
                      </a:cxn>
                    </a:cxnLst>
                    <a:rect l="txL" t="txT" r="txR" b="txB"/>
                    <a:pathLst>
                      <a:path w="1" h="243">
                        <a:moveTo>
                          <a:pt x="0" y="0"/>
                        </a:moveTo>
                        <a:lnTo>
                          <a:pt x="0" y="24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57" name="Freeform 191"/>
                  <p:cNvSpPr/>
                  <p:nvPr/>
                </p:nvSpPr>
                <p:spPr>
                  <a:xfrm>
                    <a:off x="2491" y="3881"/>
                    <a:ext cx="1" cy="243"/>
                  </a:xfrm>
                  <a:custGeom>
                    <a:avLst/>
                    <a:gdLst>
                      <a:gd name="txL" fmla="*/ 0 w 1"/>
                      <a:gd name="txT" fmla="*/ 0 h 243"/>
                      <a:gd name="txR" fmla="*/ 1 w 1"/>
                      <a:gd name="txB" fmla="*/ 243 h 243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3"/>
                      </a:cxn>
                    </a:cxnLst>
                    <a:rect l="txL" t="txT" r="txR" b="txB"/>
                    <a:pathLst>
                      <a:path w="1" h="243">
                        <a:moveTo>
                          <a:pt x="0" y="0"/>
                        </a:moveTo>
                        <a:lnTo>
                          <a:pt x="0" y="24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58" name="Freeform 192"/>
                  <p:cNvSpPr/>
                  <p:nvPr/>
                </p:nvSpPr>
                <p:spPr>
                  <a:xfrm>
                    <a:off x="3643" y="3881"/>
                    <a:ext cx="1" cy="243"/>
                  </a:xfrm>
                  <a:custGeom>
                    <a:avLst/>
                    <a:gdLst>
                      <a:gd name="txL" fmla="*/ 0 w 1"/>
                      <a:gd name="txT" fmla="*/ 0 h 243"/>
                      <a:gd name="txR" fmla="*/ 1 w 1"/>
                      <a:gd name="txB" fmla="*/ 243 h 243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3"/>
                      </a:cxn>
                    </a:cxnLst>
                    <a:rect l="txL" t="txT" r="txR" b="txB"/>
                    <a:pathLst>
                      <a:path w="1" h="243">
                        <a:moveTo>
                          <a:pt x="0" y="0"/>
                        </a:moveTo>
                        <a:lnTo>
                          <a:pt x="0" y="24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59" name="Freeform 193"/>
                  <p:cNvSpPr/>
                  <p:nvPr/>
                </p:nvSpPr>
                <p:spPr>
                  <a:xfrm>
                    <a:off x="4791" y="3881"/>
                    <a:ext cx="4" cy="247"/>
                  </a:xfrm>
                  <a:custGeom>
                    <a:avLst/>
                    <a:gdLst>
                      <a:gd name="txL" fmla="*/ 0 w 4"/>
                      <a:gd name="txT" fmla="*/ 0 h 247"/>
                      <a:gd name="txR" fmla="*/ 4 w 4"/>
                      <a:gd name="txB" fmla="*/ 247 h 247"/>
                    </a:gdLst>
                    <a:ahLst/>
                    <a:cxnLst>
                      <a:cxn ang="0">
                        <a:pos x="4" y="0"/>
                      </a:cxn>
                      <a:cxn ang="0">
                        <a:pos x="0" y="247"/>
                      </a:cxn>
                    </a:cxnLst>
                    <a:rect l="txL" t="txT" r="txR" b="txB"/>
                    <a:pathLst>
                      <a:path w="4" h="247">
                        <a:moveTo>
                          <a:pt x="4" y="0"/>
                        </a:moveTo>
                        <a:lnTo>
                          <a:pt x="0" y="247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60" name="Freeform 194"/>
                  <p:cNvSpPr/>
                  <p:nvPr/>
                </p:nvSpPr>
                <p:spPr>
                  <a:xfrm>
                    <a:off x="5277" y="3881"/>
                    <a:ext cx="1" cy="151"/>
                  </a:xfrm>
                  <a:custGeom>
                    <a:avLst/>
                    <a:gdLst>
                      <a:gd name="txL" fmla="*/ 0 w 1"/>
                      <a:gd name="txT" fmla="*/ 0 h 151"/>
                      <a:gd name="txR" fmla="*/ 1 w 1"/>
                      <a:gd name="txB" fmla="*/ 151 h 15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1"/>
                      </a:cxn>
                    </a:cxnLst>
                    <a:rect l="txL" t="txT" r="txR" b="txB"/>
                    <a:pathLst>
                      <a:path w="1" h="151">
                        <a:moveTo>
                          <a:pt x="0" y="0"/>
                        </a:moveTo>
                        <a:lnTo>
                          <a:pt x="0" y="15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61" name="Line 195"/>
                  <p:cNvSpPr/>
                  <p:nvPr/>
                </p:nvSpPr>
                <p:spPr>
                  <a:xfrm>
                    <a:off x="4124" y="38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oval" w="sm" len="sm"/>
                  </a:ln>
                </p:spPr>
              </p:sp>
              <p:sp>
                <p:nvSpPr>
                  <p:cNvPr id="288062" name="Line 196"/>
                  <p:cNvSpPr/>
                  <p:nvPr/>
                </p:nvSpPr>
                <p:spPr>
                  <a:xfrm>
                    <a:off x="2973" y="38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oval" w="sm" len="sm"/>
                  </a:ln>
                </p:spPr>
              </p:sp>
              <p:sp>
                <p:nvSpPr>
                  <p:cNvPr id="288063" name="Line 197"/>
                  <p:cNvSpPr/>
                  <p:nvPr/>
                </p:nvSpPr>
                <p:spPr>
                  <a:xfrm>
                    <a:off x="1820" y="3881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oval" w="sm" len="sm"/>
                  </a:ln>
                </p:spPr>
              </p:sp>
              <p:sp>
                <p:nvSpPr>
                  <p:cNvPr id="288064" name="Rectangle 198"/>
                  <p:cNvSpPr/>
                  <p:nvPr/>
                </p:nvSpPr>
                <p:spPr>
                  <a:xfrm>
                    <a:off x="2317" y="3597"/>
                    <a:ext cx="823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65" name="Text Box 199"/>
                  <p:cNvSpPr txBox="1"/>
                  <p:nvPr/>
                </p:nvSpPr>
                <p:spPr>
                  <a:xfrm>
                    <a:off x="2348" y="3576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66" name="Rectangle 200"/>
                  <p:cNvSpPr/>
                  <p:nvPr/>
                </p:nvSpPr>
                <p:spPr>
                  <a:xfrm>
                    <a:off x="3469" y="3597"/>
                    <a:ext cx="823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67" name="Text Box 201"/>
                  <p:cNvSpPr txBox="1"/>
                  <p:nvPr/>
                </p:nvSpPr>
                <p:spPr>
                  <a:xfrm>
                    <a:off x="3500" y="3576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68" name="Rectangle 202"/>
                  <p:cNvSpPr/>
                  <p:nvPr/>
                </p:nvSpPr>
                <p:spPr>
                  <a:xfrm>
                    <a:off x="4621" y="3597"/>
                    <a:ext cx="823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69" name="Text Box 203"/>
                  <p:cNvSpPr txBox="1"/>
                  <p:nvPr/>
                </p:nvSpPr>
                <p:spPr>
                  <a:xfrm>
                    <a:off x="4652" y="3576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70" name="Line 204"/>
                  <p:cNvSpPr/>
                  <p:nvPr/>
                </p:nvSpPr>
                <p:spPr>
                  <a:xfrm>
                    <a:off x="1964" y="3737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8071" name="Line 205"/>
                  <p:cNvSpPr/>
                  <p:nvPr/>
                </p:nvSpPr>
                <p:spPr>
                  <a:xfrm>
                    <a:off x="3144" y="3737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8072" name="Line 206"/>
                  <p:cNvSpPr/>
                  <p:nvPr/>
                </p:nvSpPr>
                <p:spPr>
                  <a:xfrm>
                    <a:off x="4293" y="3737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8073" name="Line 207"/>
                  <p:cNvSpPr/>
                  <p:nvPr/>
                </p:nvSpPr>
                <p:spPr>
                  <a:xfrm>
                    <a:off x="5420" y="3737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8074" name="Freeform 208"/>
                  <p:cNvSpPr/>
                  <p:nvPr/>
                </p:nvSpPr>
                <p:spPr>
                  <a:xfrm>
                    <a:off x="3033" y="2708"/>
                    <a:ext cx="47" cy="501"/>
                  </a:xfrm>
                  <a:custGeom>
                    <a:avLst/>
                    <a:gdLst>
                      <a:gd name="txL" fmla="*/ 0 w 1"/>
                      <a:gd name="txT" fmla="*/ 0 h 406"/>
                      <a:gd name="txR" fmla="*/ 1 w 1"/>
                      <a:gd name="txB" fmla="*/ 406 h 40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06"/>
                      </a:cxn>
                    </a:cxnLst>
                    <a:rect l="txL" t="txT" r="txR" b="txB"/>
                    <a:pathLst>
                      <a:path w="1" h="406">
                        <a:moveTo>
                          <a:pt x="0" y="0"/>
                        </a:moveTo>
                        <a:lnTo>
                          <a:pt x="0" y="40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75" name="Freeform 209"/>
                  <p:cNvSpPr/>
                  <p:nvPr/>
                </p:nvSpPr>
                <p:spPr>
                  <a:xfrm>
                    <a:off x="4185" y="2691"/>
                    <a:ext cx="1" cy="525"/>
                  </a:xfrm>
                  <a:custGeom>
                    <a:avLst/>
                    <a:gdLst>
                      <a:gd name="txL" fmla="*/ 0 w 1"/>
                      <a:gd name="txT" fmla="*/ 0 h 525"/>
                      <a:gd name="txR" fmla="*/ 1 w 1"/>
                      <a:gd name="txB" fmla="*/ 525 h 525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525"/>
                      </a:cxn>
                    </a:cxnLst>
                    <a:rect l="txL" t="txT" r="txR" b="txB"/>
                    <a:pathLst>
                      <a:path w="1" h="525">
                        <a:moveTo>
                          <a:pt x="0" y="0"/>
                        </a:moveTo>
                        <a:lnTo>
                          <a:pt x="0" y="52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76" name="Freeform 210"/>
                  <p:cNvSpPr/>
                  <p:nvPr/>
                </p:nvSpPr>
                <p:spPr>
                  <a:xfrm>
                    <a:off x="5325" y="2708"/>
                    <a:ext cx="47" cy="501"/>
                  </a:xfrm>
                  <a:custGeom>
                    <a:avLst/>
                    <a:gdLst>
                      <a:gd name="txL" fmla="*/ 0 w 1"/>
                      <a:gd name="txT" fmla="*/ 0 h 406"/>
                      <a:gd name="txR" fmla="*/ 1 w 1"/>
                      <a:gd name="txB" fmla="*/ 406 h 40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06"/>
                      </a:cxn>
                    </a:cxnLst>
                    <a:rect l="txL" t="txT" r="txR" b="txB"/>
                    <a:pathLst>
                      <a:path w="1" h="406">
                        <a:moveTo>
                          <a:pt x="0" y="0"/>
                        </a:moveTo>
                        <a:lnTo>
                          <a:pt x="0" y="40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077" name="Text Box 211"/>
                  <p:cNvSpPr txBox="1"/>
                  <p:nvPr/>
                </p:nvSpPr>
                <p:spPr>
                  <a:xfrm rot="5400000">
                    <a:off x="1175" y="1623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78" name="Text Box 212"/>
                  <p:cNvSpPr txBox="1"/>
                  <p:nvPr/>
                </p:nvSpPr>
                <p:spPr>
                  <a:xfrm rot="5400000">
                    <a:off x="1751" y="1623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79" name="Text Box 213"/>
                  <p:cNvSpPr txBox="1"/>
                  <p:nvPr/>
                </p:nvSpPr>
                <p:spPr>
                  <a:xfrm rot="5400000">
                    <a:off x="2327" y="1623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80" name="Text Box 214"/>
                  <p:cNvSpPr txBox="1"/>
                  <p:nvPr/>
                </p:nvSpPr>
                <p:spPr>
                  <a:xfrm rot="5400000">
                    <a:off x="2903" y="1611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81" name="Text Box 215"/>
                  <p:cNvSpPr txBox="1"/>
                  <p:nvPr/>
                </p:nvSpPr>
                <p:spPr>
                  <a:xfrm rot="5400000">
                    <a:off x="3478" y="1610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82" name="Text Box 216"/>
                  <p:cNvSpPr txBox="1"/>
                  <p:nvPr/>
                </p:nvSpPr>
                <p:spPr>
                  <a:xfrm rot="5400000">
                    <a:off x="4055" y="1611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83" name="Text Box 217"/>
                  <p:cNvSpPr txBox="1"/>
                  <p:nvPr/>
                </p:nvSpPr>
                <p:spPr>
                  <a:xfrm rot="5400000">
                    <a:off x="4631" y="1611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84" name="Text Box 218"/>
                  <p:cNvSpPr txBox="1"/>
                  <p:nvPr/>
                </p:nvSpPr>
                <p:spPr>
                  <a:xfrm rot="5400000">
                    <a:off x="5226" y="1611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85" name="Text Box 219"/>
                  <p:cNvSpPr txBox="1"/>
                  <p:nvPr/>
                </p:nvSpPr>
                <p:spPr>
                  <a:xfrm>
                    <a:off x="660" y="791"/>
                    <a:ext cx="187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86" name="Text Box 220"/>
                  <p:cNvSpPr txBox="1"/>
                  <p:nvPr/>
                </p:nvSpPr>
                <p:spPr>
                  <a:xfrm>
                    <a:off x="660" y="1383"/>
                    <a:ext cx="187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1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87" name="Text Box 221"/>
                  <p:cNvSpPr txBox="1"/>
                  <p:nvPr/>
                </p:nvSpPr>
                <p:spPr>
                  <a:xfrm>
                    <a:off x="624" y="1959"/>
                    <a:ext cx="259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88" name="Line 222"/>
                  <p:cNvSpPr/>
                  <p:nvPr/>
                </p:nvSpPr>
                <p:spPr>
                  <a:xfrm>
                    <a:off x="332" y="2537"/>
                    <a:ext cx="57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089" name="Text Box 223"/>
                  <p:cNvSpPr txBox="1"/>
                  <p:nvPr/>
                </p:nvSpPr>
                <p:spPr>
                  <a:xfrm>
                    <a:off x="660" y="2727"/>
                    <a:ext cx="187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90" name="Text Box 224"/>
                  <p:cNvSpPr txBox="1"/>
                  <p:nvPr/>
                </p:nvSpPr>
                <p:spPr>
                  <a:xfrm>
                    <a:off x="624" y="3159"/>
                    <a:ext cx="259" cy="23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91" name="Text Box 225"/>
                  <p:cNvSpPr txBox="1"/>
                  <p:nvPr/>
                </p:nvSpPr>
                <p:spPr>
                  <a:xfrm rot="5400000">
                    <a:off x="647" y="1611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92" name="Text Box 226"/>
                  <p:cNvSpPr txBox="1"/>
                  <p:nvPr/>
                </p:nvSpPr>
                <p:spPr>
                  <a:xfrm rot="5400000">
                    <a:off x="647" y="2859"/>
                    <a:ext cx="371" cy="36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93" name="Text Box 227"/>
                  <p:cNvSpPr txBox="1"/>
                  <p:nvPr/>
                </p:nvSpPr>
                <p:spPr>
                  <a:xfrm>
                    <a:off x="349" y="1015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行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94" name="Text Box 228"/>
                  <p:cNvSpPr txBox="1"/>
                  <p:nvPr/>
                </p:nvSpPr>
                <p:spPr>
                  <a:xfrm>
                    <a:off x="349" y="1263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地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95" name="Text Box 229"/>
                  <p:cNvSpPr txBox="1"/>
                  <p:nvPr/>
                </p:nvSpPr>
                <p:spPr>
                  <a:xfrm>
                    <a:off x="349" y="1511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址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96" name="Text Box 230"/>
                  <p:cNvSpPr txBox="1"/>
                  <p:nvPr/>
                </p:nvSpPr>
                <p:spPr>
                  <a:xfrm>
                    <a:off x="349" y="1758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译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97" name="Text Box 231"/>
                  <p:cNvSpPr txBox="1"/>
                  <p:nvPr/>
                </p:nvSpPr>
                <p:spPr>
                  <a:xfrm>
                    <a:off x="349" y="2006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码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98" name="Text Box 232"/>
                  <p:cNvSpPr txBox="1"/>
                  <p:nvPr/>
                </p:nvSpPr>
                <p:spPr>
                  <a:xfrm>
                    <a:off x="376" y="2635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列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099" name="Text Box 233"/>
                  <p:cNvSpPr txBox="1"/>
                  <p:nvPr/>
                </p:nvSpPr>
                <p:spPr>
                  <a:xfrm>
                    <a:off x="376" y="2883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地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100" name="Text Box 234"/>
                  <p:cNvSpPr txBox="1"/>
                  <p:nvPr/>
                </p:nvSpPr>
                <p:spPr>
                  <a:xfrm>
                    <a:off x="376" y="3131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址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101" name="Text Box 235"/>
                  <p:cNvSpPr txBox="1"/>
                  <p:nvPr/>
                </p:nvSpPr>
                <p:spPr>
                  <a:xfrm>
                    <a:off x="376" y="3378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译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102" name="Text Box 236"/>
                  <p:cNvSpPr txBox="1"/>
                  <p:nvPr/>
                </p:nvSpPr>
                <p:spPr>
                  <a:xfrm>
                    <a:off x="376" y="3626"/>
                    <a:ext cx="27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码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103" name="Line 237"/>
                  <p:cNvSpPr/>
                  <p:nvPr/>
                </p:nvSpPr>
                <p:spPr>
                  <a:xfrm>
                    <a:off x="140" y="905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8104" name="Line 238"/>
                  <p:cNvSpPr/>
                  <p:nvPr/>
                </p:nvSpPr>
                <p:spPr>
                  <a:xfrm>
                    <a:off x="140" y="1164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8105" name="Line 239"/>
                  <p:cNvSpPr/>
                  <p:nvPr/>
                </p:nvSpPr>
                <p:spPr>
                  <a:xfrm>
                    <a:off x="140" y="1423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8106" name="Line 240"/>
                  <p:cNvSpPr/>
                  <p:nvPr/>
                </p:nvSpPr>
                <p:spPr>
                  <a:xfrm>
                    <a:off x="140" y="1682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8107" name="Line 241"/>
                  <p:cNvSpPr/>
                  <p:nvPr/>
                </p:nvSpPr>
                <p:spPr>
                  <a:xfrm>
                    <a:off x="140" y="1941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8108" name="Line 242"/>
                  <p:cNvSpPr/>
                  <p:nvPr/>
                </p:nvSpPr>
                <p:spPr>
                  <a:xfrm>
                    <a:off x="140" y="2201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8109" name="Line 243"/>
                  <p:cNvSpPr/>
                  <p:nvPr/>
                </p:nvSpPr>
                <p:spPr>
                  <a:xfrm>
                    <a:off x="140" y="2872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8110" name="Line 244"/>
                  <p:cNvSpPr/>
                  <p:nvPr/>
                </p:nvSpPr>
                <p:spPr>
                  <a:xfrm>
                    <a:off x="140" y="3131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8111" name="Line 245"/>
                  <p:cNvSpPr/>
                  <p:nvPr/>
                </p:nvSpPr>
                <p:spPr>
                  <a:xfrm>
                    <a:off x="140" y="3390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8112" name="Line 246"/>
                  <p:cNvSpPr/>
                  <p:nvPr/>
                </p:nvSpPr>
                <p:spPr>
                  <a:xfrm>
                    <a:off x="140" y="3650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8113" name="Line 247"/>
                  <p:cNvSpPr/>
                  <p:nvPr/>
                </p:nvSpPr>
                <p:spPr>
                  <a:xfrm>
                    <a:off x="726" y="4079"/>
                    <a:ext cx="192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87906" name="Group 248"/>
                <p:cNvGrpSpPr/>
                <p:nvPr/>
              </p:nvGrpSpPr>
              <p:grpSpPr>
                <a:xfrm>
                  <a:off x="140" y="674"/>
                  <a:ext cx="195" cy="3011"/>
                  <a:chOff x="140" y="674"/>
                  <a:chExt cx="195" cy="3011"/>
                </a:xfrm>
              </p:grpSpPr>
              <p:sp>
                <p:nvSpPr>
                  <p:cNvPr id="287907" name="Text Box 249"/>
                  <p:cNvSpPr txBox="1"/>
                  <p:nvPr/>
                </p:nvSpPr>
                <p:spPr>
                  <a:xfrm>
                    <a:off x="140" y="674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08" name="Text Box 250"/>
                  <p:cNvSpPr txBox="1"/>
                  <p:nvPr/>
                </p:nvSpPr>
                <p:spPr>
                  <a:xfrm>
                    <a:off x="140" y="933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09" name="Text Box 251"/>
                  <p:cNvSpPr txBox="1"/>
                  <p:nvPr/>
                </p:nvSpPr>
                <p:spPr>
                  <a:xfrm>
                    <a:off x="140" y="1192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10" name="Text Box 252"/>
                  <p:cNvSpPr txBox="1"/>
                  <p:nvPr/>
                </p:nvSpPr>
                <p:spPr>
                  <a:xfrm>
                    <a:off x="140" y="1451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11" name="Text Box 253"/>
                  <p:cNvSpPr txBox="1"/>
                  <p:nvPr/>
                </p:nvSpPr>
                <p:spPr>
                  <a:xfrm>
                    <a:off x="140" y="1710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12" name="Text Box 254"/>
                  <p:cNvSpPr txBox="1"/>
                  <p:nvPr/>
                </p:nvSpPr>
                <p:spPr>
                  <a:xfrm>
                    <a:off x="140" y="1970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13" name="Text Box 255"/>
                  <p:cNvSpPr txBox="1"/>
                  <p:nvPr/>
                </p:nvSpPr>
                <p:spPr>
                  <a:xfrm>
                    <a:off x="140" y="2657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14" name="Text Box 256"/>
                  <p:cNvSpPr txBox="1"/>
                  <p:nvPr/>
                </p:nvSpPr>
                <p:spPr>
                  <a:xfrm>
                    <a:off x="140" y="2916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15" name="Text Box 257"/>
                  <p:cNvSpPr txBox="1"/>
                  <p:nvPr/>
                </p:nvSpPr>
                <p:spPr>
                  <a:xfrm>
                    <a:off x="140" y="3175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16" name="Text Box 258"/>
                  <p:cNvSpPr txBox="1"/>
                  <p:nvPr/>
                </p:nvSpPr>
                <p:spPr>
                  <a:xfrm>
                    <a:off x="140" y="3434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87866" name="Group 259"/>
              <p:cNvGrpSpPr/>
              <p:nvPr/>
            </p:nvGrpSpPr>
            <p:grpSpPr>
              <a:xfrm>
                <a:off x="915" y="2632"/>
                <a:ext cx="3944" cy="254"/>
                <a:chOff x="915" y="2632"/>
                <a:chExt cx="3944" cy="254"/>
              </a:xfrm>
            </p:grpSpPr>
            <p:grpSp>
              <p:nvGrpSpPr>
                <p:cNvPr id="287867" name="Group 260"/>
                <p:cNvGrpSpPr/>
                <p:nvPr/>
              </p:nvGrpSpPr>
              <p:grpSpPr>
                <a:xfrm>
                  <a:off x="915" y="2696"/>
                  <a:ext cx="3858" cy="190"/>
                  <a:chOff x="915" y="2696"/>
                  <a:chExt cx="3858" cy="190"/>
                </a:xfrm>
              </p:grpSpPr>
              <p:sp>
                <p:nvSpPr>
                  <p:cNvPr id="287900" name="Freeform 261"/>
                  <p:cNvSpPr/>
                  <p:nvPr/>
                </p:nvSpPr>
                <p:spPr>
                  <a:xfrm>
                    <a:off x="1304" y="2707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0" y="0"/>
                        </a:moveTo>
                        <a:lnTo>
                          <a:pt x="1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01" name="Freeform 262"/>
                  <p:cNvSpPr/>
                  <p:nvPr/>
                </p:nvSpPr>
                <p:spPr>
                  <a:xfrm>
                    <a:off x="2457" y="2710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0" y="0"/>
                        </a:moveTo>
                        <a:lnTo>
                          <a:pt x="1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02" name="Freeform 263"/>
                  <p:cNvSpPr/>
                  <p:nvPr/>
                </p:nvSpPr>
                <p:spPr>
                  <a:xfrm>
                    <a:off x="3609" y="2710"/>
                    <a:ext cx="1" cy="176"/>
                  </a:xfrm>
                  <a:custGeom>
                    <a:avLst/>
                    <a:gdLst>
                      <a:gd name="txL" fmla="*/ 0 w 1"/>
                      <a:gd name="txT" fmla="*/ 0 h 176"/>
                      <a:gd name="txR" fmla="*/ 1 w 1"/>
                      <a:gd name="txB" fmla="*/ 176 h 17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6"/>
                      </a:cxn>
                    </a:cxnLst>
                    <a:rect l="txL" t="txT" r="txR" b="txB"/>
                    <a:pathLst>
                      <a:path w="1" h="176">
                        <a:moveTo>
                          <a:pt x="0" y="0"/>
                        </a:moveTo>
                        <a:lnTo>
                          <a:pt x="0" y="17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03" name="Freeform 264"/>
                  <p:cNvSpPr/>
                  <p:nvPr/>
                </p:nvSpPr>
                <p:spPr>
                  <a:xfrm>
                    <a:off x="4761" y="2696"/>
                    <a:ext cx="1" cy="178"/>
                  </a:xfrm>
                  <a:custGeom>
                    <a:avLst/>
                    <a:gdLst>
                      <a:gd name="txL" fmla="*/ 0 w 1"/>
                      <a:gd name="txT" fmla="*/ 0 h 178"/>
                      <a:gd name="txR" fmla="*/ 1 w 1"/>
                      <a:gd name="txB" fmla="*/ 178 h 178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8"/>
                      </a:cxn>
                    </a:cxnLst>
                    <a:rect l="txL" t="txT" r="txR" b="txB"/>
                    <a:pathLst>
                      <a:path w="1" h="178">
                        <a:moveTo>
                          <a:pt x="0" y="0"/>
                        </a:moveTo>
                        <a:lnTo>
                          <a:pt x="0" y="178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904" name="Freeform 265"/>
                  <p:cNvSpPr/>
                  <p:nvPr/>
                </p:nvSpPr>
                <p:spPr>
                  <a:xfrm>
                    <a:off x="915" y="2865"/>
                    <a:ext cx="3858" cy="2"/>
                  </a:xfrm>
                  <a:custGeom>
                    <a:avLst/>
                    <a:gdLst>
                      <a:gd name="txL" fmla="*/ 0 w 3858"/>
                      <a:gd name="txT" fmla="*/ 0 h 2"/>
                      <a:gd name="txR" fmla="*/ 3858 w 3858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3858" y="0"/>
                      </a:cxn>
                    </a:cxnLst>
                    <a:rect l="txL" t="txT" r="txR" b="txB"/>
                    <a:pathLst>
                      <a:path w="3858" h="2">
                        <a:moveTo>
                          <a:pt x="0" y="2"/>
                        </a:moveTo>
                        <a:lnTo>
                          <a:pt x="3858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87868" name="Group 266"/>
                <p:cNvGrpSpPr/>
                <p:nvPr/>
              </p:nvGrpSpPr>
              <p:grpSpPr>
                <a:xfrm>
                  <a:off x="1212" y="2632"/>
                  <a:ext cx="192" cy="158"/>
                  <a:chOff x="1212" y="2632"/>
                  <a:chExt cx="192" cy="158"/>
                </a:xfrm>
              </p:grpSpPr>
              <p:grpSp>
                <p:nvGrpSpPr>
                  <p:cNvPr id="287893" name="Group 267"/>
                  <p:cNvGrpSpPr/>
                  <p:nvPr/>
                </p:nvGrpSpPr>
                <p:grpSpPr>
                  <a:xfrm>
                    <a:off x="1356" y="2632"/>
                    <a:ext cx="48" cy="158"/>
                    <a:chOff x="1356" y="2632"/>
                    <a:chExt cx="48" cy="158"/>
                  </a:xfrm>
                </p:grpSpPr>
                <p:sp>
                  <p:nvSpPr>
                    <p:cNvPr id="287898" name="Line 268"/>
                    <p:cNvSpPr/>
                    <p:nvPr/>
                  </p:nvSpPr>
                  <p:spPr>
                    <a:xfrm rot="5400000">
                      <a:off x="1325" y="2711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7899" name="Line 269"/>
                    <p:cNvSpPr/>
                    <p:nvPr/>
                  </p:nvSpPr>
                  <p:spPr>
                    <a:xfrm rot="5400000">
                      <a:off x="1308" y="2709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7894" name="Freeform 270"/>
                  <p:cNvSpPr/>
                  <p:nvPr/>
                </p:nvSpPr>
                <p:spPr>
                  <a:xfrm>
                    <a:off x="1260" y="2708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7895" name="Group 271"/>
                  <p:cNvGrpSpPr/>
                  <p:nvPr/>
                </p:nvGrpSpPr>
                <p:grpSpPr>
                  <a:xfrm>
                    <a:off x="1212" y="2632"/>
                    <a:ext cx="48" cy="158"/>
                    <a:chOff x="1212" y="2632"/>
                    <a:chExt cx="48" cy="158"/>
                  </a:xfrm>
                </p:grpSpPr>
                <p:sp>
                  <p:nvSpPr>
                    <p:cNvPr id="287896" name="Line 272"/>
                    <p:cNvSpPr/>
                    <p:nvPr/>
                  </p:nvSpPr>
                  <p:spPr>
                    <a:xfrm rot="-5400000">
                      <a:off x="1133" y="2711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7897" name="Line 273"/>
                    <p:cNvSpPr/>
                    <p:nvPr/>
                  </p:nvSpPr>
                  <p:spPr>
                    <a:xfrm rot="-5400000">
                      <a:off x="1212" y="2713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87869" name="Group 274"/>
                <p:cNvGrpSpPr/>
                <p:nvPr/>
              </p:nvGrpSpPr>
              <p:grpSpPr>
                <a:xfrm>
                  <a:off x="2364" y="2634"/>
                  <a:ext cx="192" cy="158"/>
                  <a:chOff x="2364" y="2634"/>
                  <a:chExt cx="192" cy="158"/>
                </a:xfrm>
              </p:grpSpPr>
              <p:grpSp>
                <p:nvGrpSpPr>
                  <p:cNvPr id="287886" name="Group 275"/>
                  <p:cNvGrpSpPr/>
                  <p:nvPr/>
                </p:nvGrpSpPr>
                <p:grpSpPr>
                  <a:xfrm>
                    <a:off x="2508" y="2634"/>
                    <a:ext cx="48" cy="158"/>
                    <a:chOff x="2508" y="2634"/>
                    <a:chExt cx="48" cy="158"/>
                  </a:xfrm>
                </p:grpSpPr>
                <p:sp>
                  <p:nvSpPr>
                    <p:cNvPr id="287891" name="Line 276"/>
                    <p:cNvSpPr/>
                    <p:nvPr/>
                  </p:nvSpPr>
                  <p:spPr>
                    <a:xfrm rot="5400000">
                      <a:off x="2477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7892" name="Line 277"/>
                    <p:cNvSpPr/>
                    <p:nvPr/>
                  </p:nvSpPr>
                  <p:spPr>
                    <a:xfrm rot="5400000">
                      <a:off x="2460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7887" name="Freeform 278"/>
                  <p:cNvSpPr/>
                  <p:nvPr/>
                </p:nvSpPr>
                <p:spPr>
                  <a:xfrm>
                    <a:off x="2412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7888" name="Group 279"/>
                  <p:cNvGrpSpPr/>
                  <p:nvPr/>
                </p:nvGrpSpPr>
                <p:grpSpPr>
                  <a:xfrm>
                    <a:off x="2364" y="2634"/>
                    <a:ext cx="48" cy="158"/>
                    <a:chOff x="2364" y="2634"/>
                    <a:chExt cx="48" cy="158"/>
                  </a:xfrm>
                </p:grpSpPr>
                <p:sp>
                  <p:nvSpPr>
                    <p:cNvPr id="287889" name="Line 280"/>
                    <p:cNvSpPr/>
                    <p:nvPr/>
                  </p:nvSpPr>
                  <p:spPr>
                    <a:xfrm rot="-5400000">
                      <a:off x="2285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7890" name="Line 281"/>
                    <p:cNvSpPr/>
                    <p:nvPr/>
                  </p:nvSpPr>
                  <p:spPr>
                    <a:xfrm rot="-5400000">
                      <a:off x="2364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87870" name="Group 282"/>
                <p:cNvGrpSpPr/>
                <p:nvPr/>
              </p:nvGrpSpPr>
              <p:grpSpPr>
                <a:xfrm>
                  <a:off x="3516" y="2634"/>
                  <a:ext cx="192" cy="158"/>
                  <a:chOff x="3516" y="2634"/>
                  <a:chExt cx="192" cy="158"/>
                </a:xfrm>
              </p:grpSpPr>
              <p:grpSp>
                <p:nvGrpSpPr>
                  <p:cNvPr id="287879" name="Group 283"/>
                  <p:cNvGrpSpPr/>
                  <p:nvPr/>
                </p:nvGrpSpPr>
                <p:grpSpPr>
                  <a:xfrm>
                    <a:off x="3660" y="2634"/>
                    <a:ext cx="48" cy="158"/>
                    <a:chOff x="3660" y="2634"/>
                    <a:chExt cx="48" cy="158"/>
                  </a:xfrm>
                </p:grpSpPr>
                <p:sp>
                  <p:nvSpPr>
                    <p:cNvPr id="287884" name="Line 284"/>
                    <p:cNvSpPr/>
                    <p:nvPr/>
                  </p:nvSpPr>
                  <p:spPr>
                    <a:xfrm rot="5400000">
                      <a:off x="3629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7885" name="Line 285"/>
                    <p:cNvSpPr/>
                    <p:nvPr/>
                  </p:nvSpPr>
                  <p:spPr>
                    <a:xfrm rot="5400000">
                      <a:off x="3612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7880" name="Freeform 286"/>
                  <p:cNvSpPr/>
                  <p:nvPr/>
                </p:nvSpPr>
                <p:spPr>
                  <a:xfrm>
                    <a:off x="3564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7881" name="Group 287"/>
                  <p:cNvGrpSpPr/>
                  <p:nvPr/>
                </p:nvGrpSpPr>
                <p:grpSpPr>
                  <a:xfrm>
                    <a:off x="3516" y="2634"/>
                    <a:ext cx="48" cy="158"/>
                    <a:chOff x="3516" y="2634"/>
                    <a:chExt cx="48" cy="158"/>
                  </a:xfrm>
                </p:grpSpPr>
                <p:sp>
                  <p:nvSpPr>
                    <p:cNvPr id="287882" name="Line 288"/>
                    <p:cNvSpPr/>
                    <p:nvPr/>
                  </p:nvSpPr>
                  <p:spPr>
                    <a:xfrm rot="-5400000">
                      <a:off x="3437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7883" name="Line 289"/>
                    <p:cNvSpPr/>
                    <p:nvPr/>
                  </p:nvSpPr>
                  <p:spPr>
                    <a:xfrm rot="-5400000">
                      <a:off x="3516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87871" name="Group 290"/>
                <p:cNvGrpSpPr/>
                <p:nvPr/>
              </p:nvGrpSpPr>
              <p:grpSpPr>
                <a:xfrm>
                  <a:off x="4667" y="2634"/>
                  <a:ext cx="192" cy="158"/>
                  <a:chOff x="4667" y="2634"/>
                  <a:chExt cx="192" cy="158"/>
                </a:xfrm>
              </p:grpSpPr>
              <p:grpSp>
                <p:nvGrpSpPr>
                  <p:cNvPr id="287872" name="Group 291"/>
                  <p:cNvGrpSpPr/>
                  <p:nvPr/>
                </p:nvGrpSpPr>
                <p:grpSpPr>
                  <a:xfrm>
                    <a:off x="4811" y="2634"/>
                    <a:ext cx="48" cy="158"/>
                    <a:chOff x="4811" y="2634"/>
                    <a:chExt cx="48" cy="158"/>
                  </a:xfrm>
                </p:grpSpPr>
                <p:sp>
                  <p:nvSpPr>
                    <p:cNvPr id="287877" name="Line 292"/>
                    <p:cNvSpPr/>
                    <p:nvPr/>
                  </p:nvSpPr>
                  <p:spPr>
                    <a:xfrm rot="5400000">
                      <a:off x="4780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7878" name="Line 293"/>
                    <p:cNvSpPr/>
                    <p:nvPr/>
                  </p:nvSpPr>
                  <p:spPr>
                    <a:xfrm rot="5400000">
                      <a:off x="4763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7873" name="Freeform 294"/>
                  <p:cNvSpPr/>
                  <p:nvPr/>
                </p:nvSpPr>
                <p:spPr>
                  <a:xfrm>
                    <a:off x="4715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7874" name="Group 295"/>
                  <p:cNvGrpSpPr/>
                  <p:nvPr/>
                </p:nvGrpSpPr>
                <p:grpSpPr>
                  <a:xfrm>
                    <a:off x="4667" y="2634"/>
                    <a:ext cx="48" cy="158"/>
                    <a:chOff x="4667" y="2634"/>
                    <a:chExt cx="48" cy="158"/>
                  </a:xfrm>
                </p:grpSpPr>
                <p:sp>
                  <p:nvSpPr>
                    <p:cNvPr id="287875" name="Line 296"/>
                    <p:cNvSpPr/>
                    <p:nvPr/>
                  </p:nvSpPr>
                  <p:spPr>
                    <a:xfrm rot="-5400000">
                      <a:off x="4588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7876" name="Line 297"/>
                    <p:cNvSpPr/>
                    <p:nvPr/>
                  </p:nvSpPr>
                  <p:spPr>
                    <a:xfrm rot="-5400000">
                      <a:off x="4667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</p:grpSp>
        <p:grpSp>
          <p:nvGrpSpPr>
            <p:cNvPr id="287840" name="Group 298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87841" name="Group 299"/>
              <p:cNvGrpSpPr/>
              <p:nvPr/>
            </p:nvGrpSpPr>
            <p:grpSpPr>
              <a:xfrm>
                <a:off x="902" y="857"/>
                <a:ext cx="4567" cy="418"/>
                <a:chOff x="902" y="857"/>
                <a:chExt cx="4567" cy="418"/>
              </a:xfrm>
            </p:grpSpPr>
            <p:grpSp>
              <p:nvGrpSpPr>
                <p:cNvPr id="287846" name="Group 300"/>
                <p:cNvGrpSpPr/>
                <p:nvPr/>
              </p:nvGrpSpPr>
              <p:grpSpPr>
                <a:xfrm>
                  <a:off x="1152" y="1024"/>
                  <a:ext cx="4317" cy="251"/>
                  <a:chOff x="1176" y="1079"/>
                  <a:chExt cx="4317" cy="251"/>
                </a:xfrm>
              </p:grpSpPr>
              <p:sp>
                <p:nvSpPr>
                  <p:cNvPr id="287857" name="Rectangle 301"/>
                  <p:cNvSpPr/>
                  <p:nvPr/>
                </p:nvSpPr>
                <p:spPr>
                  <a:xfrm>
                    <a:off x="175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858" name="Rectangle 302"/>
                  <p:cNvSpPr/>
                  <p:nvPr/>
                </p:nvSpPr>
                <p:spPr>
                  <a:xfrm>
                    <a:off x="117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859" name="Rectangle 303"/>
                  <p:cNvSpPr/>
                  <p:nvPr/>
                </p:nvSpPr>
                <p:spPr>
                  <a:xfrm>
                    <a:off x="289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860" name="Rectangle 304"/>
                  <p:cNvSpPr/>
                  <p:nvPr/>
                </p:nvSpPr>
                <p:spPr>
                  <a:xfrm>
                    <a:off x="231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861" name="Rectangle 305"/>
                  <p:cNvSpPr/>
                  <p:nvPr/>
                </p:nvSpPr>
                <p:spPr>
                  <a:xfrm>
                    <a:off x="4067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862" name="Rectangle 306"/>
                  <p:cNvSpPr/>
                  <p:nvPr/>
                </p:nvSpPr>
                <p:spPr>
                  <a:xfrm>
                    <a:off x="3491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863" name="Rectangle 307"/>
                  <p:cNvSpPr/>
                  <p:nvPr/>
                </p:nvSpPr>
                <p:spPr>
                  <a:xfrm>
                    <a:off x="5205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864" name="Rectangle 308"/>
                  <p:cNvSpPr/>
                  <p:nvPr/>
                </p:nvSpPr>
                <p:spPr>
                  <a:xfrm>
                    <a:off x="462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87847" name="Group 309"/>
                <p:cNvGrpSpPr/>
                <p:nvPr/>
              </p:nvGrpSpPr>
              <p:grpSpPr>
                <a:xfrm>
                  <a:off x="902" y="857"/>
                  <a:ext cx="4419" cy="145"/>
                  <a:chOff x="902" y="857"/>
                  <a:chExt cx="4419" cy="145"/>
                </a:xfrm>
              </p:grpSpPr>
              <p:sp>
                <p:nvSpPr>
                  <p:cNvPr id="287848" name="Freeform 310"/>
                  <p:cNvSpPr/>
                  <p:nvPr/>
                </p:nvSpPr>
                <p:spPr>
                  <a:xfrm>
                    <a:off x="902" y="857"/>
                    <a:ext cx="4419" cy="1"/>
                  </a:xfrm>
                  <a:custGeom>
                    <a:avLst/>
                    <a:gdLst>
                      <a:gd name="txL" fmla="*/ 0 w 4419"/>
                      <a:gd name="txT" fmla="*/ 0 h 1"/>
                      <a:gd name="txR" fmla="*/ 4419 w 4419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9" y="0"/>
                      </a:cxn>
                    </a:cxnLst>
                    <a:rect l="txL" t="txT" r="txR" b="txB"/>
                    <a:pathLst>
                      <a:path w="4419" h="1">
                        <a:moveTo>
                          <a:pt x="0" y="1"/>
                        </a:moveTo>
                        <a:lnTo>
                          <a:pt x="4419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7849" name="Line 311"/>
                  <p:cNvSpPr/>
                  <p:nvPr/>
                </p:nvSpPr>
                <p:spPr>
                  <a:xfrm>
                    <a:off x="127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850" name="Line 312"/>
                  <p:cNvSpPr/>
                  <p:nvPr/>
                </p:nvSpPr>
                <p:spPr>
                  <a:xfrm>
                    <a:off x="184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851" name="Line 313"/>
                  <p:cNvSpPr/>
                  <p:nvPr/>
                </p:nvSpPr>
                <p:spPr>
                  <a:xfrm>
                    <a:off x="242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852" name="Line 314"/>
                  <p:cNvSpPr/>
                  <p:nvPr/>
                </p:nvSpPr>
                <p:spPr>
                  <a:xfrm>
                    <a:off x="3000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853" name="Line 315"/>
                  <p:cNvSpPr/>
                  <p:nvPr/>
                </p:nvSpPr>
                <p:spPr>
                  <a:xfrm>
                    <a:off x="3576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854" name="Line 316"/>
                  <p:cNvSpPr/>
                  <p:nvPr/>
                </p:nvSpPr>
                <p:spPr>
                  <a:xfrm>
                    <a:off x="415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855" name="Line 317"/>
                  <p:cNvSpPr/>
                  <p:nvPr/>
                </p:nvSpPr>
                <p:spPr>
                  <a:xfrm>
                    <a:off x="472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7856" name="Line 318"/>
                  <p:cNvSpPr/>
                  <p:nvPr/>
                </p:nvSpPr>
                <p:spPr>
                  <a:xfrm>
                    <a:off x="530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</p:grpSp>
          </p:grpSp>
          <p:sp>
            <p:nvSpPr>
              <p:cNvPr id="287842" name="Text Box 319"/>
              <p:cNvSpPr txBox="1"/>
              <p:nvPr/>
            </p:nvSpPr>
            <p:spPr>
              <a:xfrm>
                <a:off x="140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43" name="Text Box 320"/>
              <p:cNvSpPr txBox="1"/>
              <p:nvPr/>
            </p:nvSpPr>
            <p:spPr>
              <a:xfrm>
                <a:off x="254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44" name="Text Box 321"/>
              <p:cNvSpPr txBox="1"/>
              <p:nvPr/>
            </p:nvSpPr>
            <p:spPr>
              <a:xfrm>
                <a:off x="3718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45" name="Text Box 322"/>
              <p:cNvSpPr txBox="1"/>
              <p:nvPr/>
            </p:nvSpPr>
            <p:spPr>
              <a:xfrm>
                <a:off x="486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87753" name="Line 323"/>
          <p:cNvSpPr/>
          <p:nvPr/>
        </p:nvSpPr>
        <p:spPr>
          <a:xfrm>
            <a:off x="2673350" y="6473825"/>
            <a:ext cx="3048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87754" name="Group 324"/>
          <p:cNvGrpSpPr/>
          <p:nvPr/>
        </p:nvGrpSpPr>
        <p:grpSpPr>
          <a:xfrm>
            <a:off x="4613275" y="5599113"/>
            <a:ext cx="6051550" cy="336550"/>
            <a:chOff x="1946" y="3527"/>
            <a:chExt cx="3812" cy="212"/>
          </a:xfrm>
        </p:grpSpPr>
        <p:grpSp>
          <p:nvGrpSpPr>
            <p:cNvPr id="287829" name="Group 325"/>
            <p:cNvGrpSpPr/>
            <p:nvPr/>
          </p:nvGrpSpPr>
          <p:grpSpPr>
            <a:xfrm>
              <a:off x="1964" y="3737"/>
              <a:ext cx="3637" cy="0"/>
              <a:chOff x="1964" y="3737"/>
              <a:chExt cx="3637" cy="0"/>
            </a:xfrm>
          </p:grpSpPr>
          <p:sp>
            <p:nvSpPr>
              <p:cNvPr id="287835" name="Line 326"/>
              <p:cNvSpPr/>
              <p:nvPr/>
            </p:nvSpPr>
            <p:spPr>
              <a:xfrm>
                <a:off x="196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7836" name="Line 327"/>
              <p:cNvSpPr/>
              <p:nvPr/>
            </p:nvSpPr>
            <p:spPr>
              <a:xfrm>
                <a:off x="314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7837" name="Line 328"/>
              <p:cNvSpPr/>
              <p:nvPr/>
            </p:nvSpPr>
            <p:spPr>
              <a:xfrm>
                <a:off x="4293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87838" name="Line 329"/>
              <p:cNvSpPr/>
              <p:nvPr/>
            </p:nvSpPr>
            <p:spPr>
              <a:xfrm>
                <a:off x="5420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stealth" w="sm" len="sm"/>
                <a:tailEnd type="stealth" w="sm" len="sm"/>
              </a:ln>
            </p:spPr>
          </p:sp>
        </p:grpSp>
        <p:grpSp>
          <p:nvGrpSpPr>
            <p:cNvPr id="287830" name="Group 330"/>
            <p:cNvGrpSpPr/>
            <p:nvPr/>
          </p:nvGrpSpPr>
          <p:grpSpPr>
            <a:xfrm>
              <a:off x="1946" y="3527"/>
              <a:ext cx="3812" cy="212"/>
              <a:chOff x="1946" y="3527"/>
              <a:chExt cx="3812" cy="212"/>
            </a:xfrm>
          </p:grpSpPr>
          <p:sp>
            <p:nvSpPr>
              <p:cNvPr id="287831" name="Text Box 331"/>
              <p:cNvSpPr txBox="1"/>
              <p:nvPr/>
            </p:nvSpPr>
            <p:spPr>
              <a:xfrm>
                <a:off x="194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32" name="Text Box 332"/>
              <p:cNvSpPr txBox="1"/>
              <p:nvPr/>
            </p:nvSpPr>
            <p:spPr>
              <a:xfrm>
                <a:off x="310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33" name="Text Box 333"/>
              <p:cNvSpPr txBox="1"/>
              <p:nvPr/>
            </p:nvSpPr>
            <p:spPr>
              <a:xfrm>
                <a:off x="4258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834" name="Text Box 334"/>
              <p:cNvSpPr txBox="1"/>
              <p:nvPr/>
            </p:nvSpPr>
            <p:spPr>
              <a:xfrm>
                <a:off x="5416" y="3527"/>
                <a:ext cx="342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7755" name="Group 335"/>
          <p:cNvGrpSpPr/>
          <p:nvPr/>
        </p:nvGrpSpPr>
        <p:grpSpPr>
          <a:xfrm>
            <a:off x="3336925" y="5699125"/>
            <a:ext cx="6832600" cy="414338"/>
            <a:chOff x="1142" y="3590"/>
            <a:chExt cx="4304" cy="261"/>
          </a:xfrm>
        </p:grpSpPr>
        <p:grpSp>
          <p:nvGrpSpPr>
            <p:cNvPr id="287817" name="Group 336"/>
            <p:cNvGrpSpPr/>
            <p:nvPr/>
          </p:nvGrpSpPr>
          <p:grpSpPr>
            <a:xfrm>
              <a:off x="1142" y="3590"/>
              <a:ext cx="823" cy="240"/>
              <a:chOff x="1142" y="3590"/>
              <a:chExt cx="823" cy="240"/>
            </a:xfrm>
          </p:grpSpPr>
          <p:sp>
            <p:nvSpPr>
              <p:cNvPr id="287827" name="Rectangle 337"/>
              <p:cNvSpPr/>
              <p:nvPr/>
            </p:nvSpPr>
            <p:spPr>
              <a:xfrm>
                <a:off x="1142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828" name="Text Box 338"/>
              <p:cNvSpPr txBox="1"/>
              <p:nvPr/>
            </p:nvSpPr>
            <p:spPr>
              <a:xfrm>
                <a:off x="1200" y="3590"/>
                <a:ext cx="755" cy="18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7818" name="Group 339"/>
            <p:cNvGrpSpPr/>
            <p:nvPr/>
          </p:nvGrpSpPr>
          <p:grpSpPr>
            <a:xfrm>
              <a:off x="2318" y="3598"/>
              <a:ext cx="823" cy="232"/>
              <a:chOff x="2318" y="3598"/>
              <a:chExt cx="823" cy="232"/>
            </a:xfrm>
          </p:grpSpPr>
          <p:sp>
            <p:nvSpPr>
              <p:cNvPr id="287825" name="Rectangle 340"/>
              <p:cNvSpPr/>
              <p:nvPr/>
            </p:nvSpPr>
            <p:spPr>
              <a:xfrm>
                <a:off x="2318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826" name="Text Box 341"/>
              <p:cNvSpPr txBox="1"/>
              <p:nvPr/>
            </p:nvSpPr>
            <p:spPr>
              <a:xfrm>
                <a:off x="2352" y="3600"/>
                <a:ext cx="755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7819" name="Group 342"/>
            <p:cNvGrpSpPr/>
            <p:nvPr/>
          </p:nvGrpSpPr>
          <p:grpSpPr>
            <a:xfrm>
              <a:off x="3470" y="3598"/>
              <a:ext cx="823" cy="232"/>
              <a:chOff x="3470" y="3598"/>
              <a:chExt cx="823" cy="232"/>
            </a:xfrm>
          </p:grpSpPr>
          <p:sp>
            <p:nvSpPr>
              <p:cNvPr id="287823" name="Rectangle 343"/>
              <p:cNvSpPr/>
              <p:nvPr/>
            </p:nvSpPr>
            <p:spPr>
              <a:xfrm>
                <a:off x="3470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824" name="Text Box 344"/>
              <p:cNvSpPr txBox="1"/>
              <p:nvPr/>
            </p:nvSpPr>
            <p:spPr>
              <a:xfrm>
                <a:off x="3504" y="3600"/>
                <a:ext cx="755" cy="1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7820" name="Group 345"/>
            <p:cNvGrpSpPr/>
            <p:nvPr/>
          </p:nvGrpSpPr>
          <p:grpSpPr>
            <a:xfrm>
              <a:off x="4623" y="3598"/>
              <a:ext cx="823" cy="253"/>
              <a:chOff x="4623" y="3598"/>
              <a:chExt cx="823" cy="253"/>
            </a:xfrm>
          </p:grpSpPr>
          <p:sp>
            <p:nvSpPr>
              <p:cNvPr id="287821" name="Rectangle 346"/>
              <p:cNvSpPr/>
              <p:nvPr/>
            </p:nvSpPr>
            <p:spPr>
              <a:xfrm>
                <a:off x="4623" y="3598"/>
                <a:ext cx="823" cy="232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822" name="Text Box 347"/>
              <p:cNvSpPr txBox="1"/>
              <p:nvPr/>
            </p:nvSpPr>
            <p:spPr>
              <a:xfrm>
                <a:off x="4656" y="360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79838" name="Group 348"/>
          <p:cNvGrpSpPr/>
          <p:nvPr/>
        </p:nvGrpSpPr>
        <p:grpSpPr>
          <a:xfrm>
            <a:off x="3198813" y="4343400"/>
            <a:ext cx="6707187" cy="1295400"/>
            <a:chOff x="1055" y="2736"/>
            <a:chExt cx="4225" cy="816"/>
          </a:xfrm>
        </p:grpSpPr>
        <p:grpSp>
          <p:nvGrpSpPr>
            <p:cNvPr id="287807" name="Group 349"/>
            <p:cNvGrpSpPr/>
            <p:nvPr/>
          </p:nvGrpSpPr>
          <p:grpSpPr>
            <a:xfrm>
              <a:off x="1391" y="2736"/>
              <a:ext cx="3889" cy="816"/>
              <a:chOff x="1428" y="2784"/>
              <a:chExt cx="3889" cy="816"/>
            </a:xfrm>
          </p:grpSpPr>
          <p:sp>
            <p:nvSpPr>
              <p:cNvPr id="287813" name="Freeform 350"/>
              <p:cNvSpPr/>
              <p:nvPr/>
            </p:nvSpPr>
            <p:spPr>
              <a:xfrm>
                <a:off x="1428" y="2784"/>
                <a:ext cx="432" cy="816"/>
              </a:xfrm>
              <a:custGeom>
                <a:avLst/>
                <a:gdLst>
                  <a:gd name="txL" fmla="*/ 0 w 432"/>
                  <a:gd name="txT" fmla="*/ 0 h 816"/>
                  <a:gd name="txR" fmla="*/ 432 w 432"/>
                  <a:gd name="txB" fmla="*/ 816 h 816"/>
                </a:gdLst>
                <a:ahLst/>
                <a:cxnLst>
                  <a:cxn ang="0">
                    <a:pos x="0" y="0"/>
                  </a:cxn>
                  <a:cxn ang="0">
                    <a:pos x="144" y="0"/>
                  </a:cxn>
                  <a:cxn ang="0">
                    <a:pos x="144" y="576"/>
                  </a:cxn>
                  <a:cxn ang="0">
                    <a:pos x="432" y="576"/>
                  </a:cxn>
                  <a:cxn ang="0">
                    <a:pos x="432" y="816"/>
                  </a:cxn>
                </a:cxnLst>
                <a:rect l="txL" t="txT" r="txR" b="txB"/>
                <a:pathLst>
                  <a:path w="432" h="816">
                    <a:moveTo>
                      <a:pt x="0" y="0"/>
                    </a:moveTo>
                    <a:lnTo>
                      <a:pt x="144" y="0"/>
                    </a:lnTo>
                    <a:lnTo>
                      <a:pt x="144" y="576"/>
                    </a:lnTo>
                    <a:lnTo>
                      <a:pt x="432" y="576"/>
                    </a:lnTo>
                    <a:lnTo>
                      <a:pt x="432" y="816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814" name="Freeform 351"/>
              <p:cNvSpPr/>
              <p:nvPr/>
            </p:nvSpPr>
            <p:spPr>
              <a:xfrm>
                <a:off x="4885" y="2784"/>
                <a:ext cx="432" cy="816"/>
              </a:xfrm>
              <a:custGeom>
                <a:avLst/>
                <a:gdLst>
                  <a:gd name="txL" fmla="*/ 0 w 432"/>
                  <a:gd name="txT" fmla="*/ 0 h 816"/>
                  <a:gd name="txR" fmla="*/ 432 w 432"/>
                  <a:gd name="txB" fmla="*/ 816 h 816"/>
                </a:gdLst>
                <a:ahLst/>
                <a:cxnLst>
                  <a:cxn ang="0">
                    <a:pos x="0" y="0"/>
                  </a:cxn>
                  <a:cxn ang="0">
                    <a:pos x="144" y="0"/>
                  </a:cxn>
                  <a:cxn ang="0">
                    <a:pos x="144" y="576"/>
                  </a:cxn>
                  <a:cxn ang="0">
                    <a:pos x="432" y="576"/>
                  </a:cxn>
                  <a:cxn ang="0">
                    <a:pos x="432" y="816"/>
                  </a:cxn>
                </a:cxnLst>
                <a:rect l="txL" t="txT" r="txR" b="txB"/>
                <a:pathLst>
                  <a:path w="432" h="816">
                    <a:moveTo>
                      <a:pt x="0" y="0"/>
                    </a:moveTo>
                    <a:lnTo>
                      <a:pt x="144" y="0"/>
                    </a:lnTo>
                    <a:lnTo>
                      <a:pt x="144" y="576"/>
                    </a:lnTo>
                    <a:lnTo>
                      <a:pt x="432" y="576"/>
                    </a:lnTo>
                    <a:lnTo>
                      <a:pt x="432" y="816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815" name="Freeform 352"/>
              <p:cNvSpPr/>
              <p:nvPr/>
            </p:nvSpPr>
            <p:spPr>
              <a:xfrm>
                <a:off x="3733" y="2784"/>
                <a:ext cx="432" cy="816"/>
              </a:xfrm>
              <a:custGeom>
                <a:avLst/>
                <a:gdLst>
                  <a:gd name="txL" fmla="*/ 0 w 432"/>
                  <a:gd name="txT" fmla="*/ 0 h 816"/>
                  <a:gd name="txR" fmla="*/ 432 w 432"/>
                  <a:gd name="txB" fmla="*/ 816 h 816"/>
                </a:gdLst>
                <a:ahLst/>
                <a:cxnLst>
                  <a:cxn ang="0">
                    <a:pos x="0" y="0"/>
                  </a:cxn>
                  <a:cxn ang="0">
                    <a:pos x="144" y="0"/>
                  </a:cxn>
                  <a:cxn ang="0">
                    <a:pos x="144" y="576"/>
                  </a:cxn>
                  <a:cxn ang="0">
                    <a:pos x="432" y="576"/>
                  </a:cxn>
                  <a:cxn ang="0">
                    <a:pos x="432" y="816"/>
                  </a:cxn>
                </a:cxnLst>
                <a:rect l="txL" t="txT" r="txR" b="txB"/>
                <a:pathLst>
                  <a:path w="432" h="816">
                    <a:moveTo>
                      <a:pt x="0" y="0"/>
                    </a:moveTo>
                    <a:lnTo>
                      <a:pt x="144" y="0"/>
                    </a:lnTo>
                    <a:lnTo>
                      <a:pt x="144" y="576"/>
                    </a:lnTo>
                    <a:lnTo>
                      <a:pt x="432" y="576"/>
                    </a:lnTo>
                    <a:lnTo>
                      <a:pt x="432" y="816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816" name="Freeform 353"/>
              <p:cNvSpPr/>
              <p:nvPr/>
            </p:nvSpPr>
            <p:spPr>
              <a:xfrm>
                <a:off x="2579" y="2784"/>
                <a:ext cx="432" cy="816"/>
              </a:xfrm>
              <a:custGeom>
                <a:avLst/>
                <a:gdLst>
                  <a:gd name="txL" fmla="*/ 0 w 432"/>
                  <a:gd name="txT" fmla="*/ 0 h 816"/>
                  <a:gd name="txR" fmla="*/ 432 w 432"/>
                  <a:gd name="txB" fmla="*/ 816 h 816"/>
                </a:gdLst>
                <a:ahLst/>
                <a:cxnLst>
                  <a:cxn ang="0">
                    <a:pos x="0" y="0"/>
                  </a:cxn>
                  <a:cxn ang="0">
                    <a:pos x="144" y="0"/>
                  </a:cxn>
                  <a:cxn ang="0">
                    <a:pos x="144" y="576"/>
                  </a:cxn>
                  <a:cxn ang="0">
                    <a:pos x="432" y="576"/>
                  </a:cxn>
                  <a:cxn ang="0">
                    <a:pos x="432" y="816"/>
                  </a:cxn>
                </a:cxnLst>
                <a:rect l="txL" t="txT" r="txR" b="txB"/>
                <a:pathLst>
                  <a:path w="432" h="816">
                    <a:moveTo>
                      <a:pt x="0" y="0"/>
                    </a:moveTo>
                    <a:lnTo>
                      <a:pt x="144" y="0"/>
                    </a:lnTo>
                    <a:lnTo>
                      <a:pt x="144" y="576"/>
                    </a:lnTo>
                    <a:lnTo>
                      <a:pt x="432" y="576"/>
                    </a:lnTo>
                    <a:lnTo>
                      <a:pt x="432" y="816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7808" name="Group 354"/>
            <p:cNvGrpSpPr/>
            <p:nvPr/>
          </p:nvGrpSpPr>
          <p:grpSpPr>
            <a:xfrm>
              <a:off x="1055" y="2748"/>
              <a:ext cx="3750" cy="804"/>
              <a:chOff x="1055" y="2748"/>
              <a:chExt cx="3750" cy="804"/>
            </a:xfrm>
          </p:grpSpPr>
          <p:sp>
            <p:nvSpPr>
              <p:cNvPr id="287809" name="Freeform 355"/>
              <p:cNvSpPr/>
              <p:nvPr/>
            </p:nvSpPr>
            <p:spPr>
              <a:xfrm>
                <a:off x="1055" y="2748"/>
                <a:ext cx="280" cy="795"/>
              </a:xfrm>
              <a:custGeom>
                <a:avLst/>
                <a:gdLst>
                  <a:gd name="txL" fmla="*/ 0 w 280"/>
                  <a:gd name="txT" fmla="*/ 0 h 795"/>
                  <a:gd name="txR" fmla="*/ 280 w 280"/>
                  <a:gd name="txB" fmla="*/ 795 h 795"/>
                </a:gdLst>
                <a:ahLst/>
                <a:cxnLst>
                  <a:cxn ang="0">
                    <a:pos x="276" y="795"/>
                  </a:cxn>
                  <a:cxn ang="0">
                    <a:pos x="280" y="657"/>
                  </a:cxn>
                  <a:cxn ang="0">
                    <a:pos x="0" y="660"/>
                  </a:cxn>
                  <a:cxn ang="0">
                    <a:pos x="3" y="0"/>
                  </a:cxn>
                  <a:cxn ang="0">
                    <a:pos x="144" y="0"/>
                  </a:cxn>
                </a:cxnLst>
                <a:rect l="txL" t="txT" r="txR" b="txB"/>
                <a:pathLst>
                  <a:path w="280" h="795">
                    <a:moveTo>
                      <a:pt x="276" y="795"/>
                    </a:moveTo>
                    <a:lnTo>
                      <a:pt x="280" y="657"/>
                    </a:lnTo>
                    <a:lnTo>
                      <a:pt x="0" y="660"/>
                    </a:lnTo>
                    <a:lnTo>
                      <a:pt x="3" y="0"/>
                    </a:lnTo>
                    <a:lnTo>
                      <a:pt x="144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810" name="Freeform 356"/>
              <p:cNvSpPr/>
              <p:nvPr/>
            </p:nvSpPr>
            <p:spPr>
              <a:xfrm>
                <a:off x="2207" y="2757"/>
                <a:ext cx="294" cy="795"/>
              </a:xfrm>
              <a:custGeom>
                <a:avLst/>
                <a:gdLst>
                  <a:gd name="txL" fmla="*/ 0 w 294"/>
                  <a:gd name="txT" fmla="*/ 0 h 795"/>
                  <a:gd name="txR" fmla="*/ 294 w 294"/>
                  <a:gd name="txB" fmla="*/ 795 h 795"/>
                </a:gdLst>
                <a:ahLst/>
                <a:cxnLst>
                  <a:cxn ang="0">
                    <a:pos x="294" y="795"/>
                  </a:cxn>
                  <a:cxn ang="0">
                    <a:pos x="294" y="657"/>
                  </a:cxn>
                  <a:cxn ang="0">
                    <a:pos x="0" y="657"/>
                  </a:cxn>
                  <a:cxn ang="0">
                    <a:pos x="3" y="0"/>
                  </a:cxn>
                  <a:cxn ang="0">
                    <a:pos x="144" y="0"/>
                  </a:cxn>
                </a:cxnLst>
                <a:rect l="txL" t="txT" r="txR" b="txB"/>
                <a:pathLst>
                  <a:path w="294" h="795">
                    <a:moveTo>
                      <a:pt x="294" y="795"/>
                    </a:moveTo>
                    <a:lnTo>
                      <a:pt x="294" y="657"/>
                    </a:lnTo>
                    <a:lnTo>
                      <a:pt x="0" y="657"/>
                    </a:lnTo>
                    <a:lnTo>
                      <a:pt x="3" y="0"/>
                    </a:lnTo>
                    <a:lnTo>
                      <a:pt x="144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811" name="Freeform 357"/>
              <p:cNvSpPr/>
              <p:nvPr/>
            </p:nvSpPr>
            <p:spPr>
              <a:xfrm>
                <a:off x="3359" y="2757"/>
                <a:ext cx="294" cy="795"/>
              </a:xfrm>
              <a:custGeom>
                <a:avLst/>
                <a:gdLst>
                  <a:gd name="txL" fmla="*/ 0 w 294"/>
                  <a:gd name="txT" fmla="*/ 0 h 795"/>
                  <a:gd name="txR" fmla="*/ 294 w 294"/>
                  <a:gd name="txB" fmla="*/ 795 h 795"/>
                </a:gdLst>
                <a:ahLst/>
                <a:cxnLst>
                  <a:cxn ang="0">
                    <a:pos x="294" y="795"/>
                  </a:cxn>
                  <a:cxn ang="0">
                    <a:pos x="294" y="657"/>
                  </a:cxn>
                  <a:cxn ang="0">
                    <a:pos x="0" y="657"/>
                  </a:cxn>
                  <a:cxn ang="0">
                    <a:pos x="3" y="0"/>
                  </a:cxn>
                  <a:cxn ang="0">
                    <a:pos x="144" y="0"/>
                  </a:cxn>
                </a:cxnLst>
                <a:rect l="txL" t="txT" r="txR" b="txB"/>
                <a:pathLst>
                  <a:path w="294" h="795">
                    <a:moveTo>
                      <a:pt x="294" y="795"/>
                    </a:moveTo>
                    <a:lnTo>
                      <a:pt x="294" y="657"/>
                    </a:lnTo>
                    <a:lnTo>
                      <a:pt x="0" y="657"/>
                    </a:lnTo>
                    <a:lnTo>
                      <a:pt x="3" y="0"/>
                    </a:lnTo>
                    <a:lnTo>
                      <a:pt x="144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7812" name="Freeform 358"/>
              <p:cNvSpPr/>
              <p:nvPr/>
            </p:nvSpPr>
            <p:spPr>
              <a:xfrm>
                <a:off x="4511" y="2757"/>
                <a:ext cx="294" cy="795"/>
              </a:xfrm>
              <a:custGeom>
                <a:avLst/>
                <a:gdLst>
                  <a:gd name="txL" fmla="*/ 0 w 294"/>
                  <a:gd name="txT" fmla="*/ 0 h 795"/>
                  <a:gd name="txR" fmla="*/ 294 w 294"/>
                  <a:gd name="txB" fmla="*/ 795 h 795"/>
                </a:gdLst>
                <a:ahLst/>
                <a:cxnLst>
                  <a:cxn ang="0">
                    <a:pos x="294" y="795"/>
                  </a:cxn>
                  <a:cxn ang="0">
                    <a:pos x="294" y="657"/>
                  </a:cxn>
                  <a:cxn ang="0">
                    <a:pos x="0" y="657"/>
                  </a:cxn>
                  <a:cxn ang="0">
                    <a:pos x="3" y="0"/>
                  </a:cxn>
                  <a:cxn ang="0">
                    <a:pos x="144" y="0"/>
                  </a:cxn>
                </a:cxnLst>
                <a:rect l="txL" t="txT" r="txR" b="txB"/>
                <a:pathLst>
                  <a:path w="294" h="795">
                    <a:moveTo>
                      <a:pt x="294" y="795"/>
                    </a:moveTo>
                    <a:lnTo>
                      <a:pt x="294" y="657"/>
                    </a:lnTo>
                    <a:lnTo>
                      <a:pt x="0" y="657"/>
                    </a:lnTo>
                    <a:lnTo>
                      <a:pt x="3" y="0"/>
                    </a:lnTo>
                    <a:lnTo>
                      <a:pt x="144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87757" name="Group 359"/>
          <p:cNvGrpSpPr/>
          <p:nvPr/>
        </p:nvGrpSpPr>
        <p:grpSpPr>
          <a:xfrm>
            <a:off x="2976563" y="2617788"/>
            <a:ext cx="6613525" cy="1963737"/>
            <a:chOff x="915" y="1649"/>
            <a:chExt cx="4166" cy="1237"/>
          </a:xfrm>
        </p:grpSpPr>
        <p:grpSp>
          <p:nvGrpSpPr>
            <p:cNvPr id="287760" name="Group 360"/>
            <p:cNvGrpSpPr/>
            <p:nvPr/>
          </p:nvGrpSpPr>
          <p:grpSpPr>
            <a:xfrm>
              <a:off x="915" y="2633"/>
              <a:ext cx="3945" cy="253"/>
              <a:chOff x="915" y="2633"/>
              <a:chExt cx="3945" cy="253"/>
            </a:xfrm>
          </p:grpSpPr>
          <p:grpSp>
            <p:nvGrpSpPr>
              <p:cNvPr id="287769" name="Group 361"/>
              <p:cNvGrpSpPr/>
              <p:nvPr/>
            </p:nvGrpSpPr>
            <p:grpSpPr>
              <a:xfrm>
                <a:off x="915" y="2696"/>
                <a:ext cx="3858" cy="190"/>
                <a:chOff x="915" y="2696"/>
                <a:chExt cx="3858" cy="190"/>
              </a:xfrm>
            </p:grpSpPr>
            <p:sp>
              <p:nvSpPr>
                <p:cNvPr id="287802" name="Freeform 362"/>
                <p:cNvSpPr/>
                <p:nvPr/>
              </p:nvSpPr>
              <p:spPr>
                <a:xfrm>
                  <a:off x="1304" y="2707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7803" name="Freeform 363"/>
                <p:cNvSpPr/>
                <p:nvPr/>
              </p:nvSpPr>
              <p:spPr>
                <a:xfrm>
                  <a:off x="2457" y="2710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7804" name="Freeform 364"/>
                <p:cNvSpPr/>
                <p:nvPr/>
              </p:nvSpPr>
              <p:spPr>
                <a:xfrm>
                  <a:off x="3609" y="2710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7805" name="Freeform 365"/>
                <p:cNvSpPr/>
                <p:nvPr/>
              </p:nvSpPr>
              <p:spPr>
                <a:xfrm>
                  <a:off x="4761" y="2696"/>
                  <a:ext cx="1" cy="178"/>
                </a:xfrm>
                <a:custGeom>
                  <a:avLst/>
                  <a:gdLst>
                    <a:gd name="txL" fmla="*/ 0 w 1"/>
                    <a:gd name="txT" fmla="*/ 0 h 178"/>
                    <a:gd name="txR" fmla="*/ 1 w 1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0" y="178"/>
                    </a:cxn>
                  </a:cxnLst>
                  <a:rect l="txL" t="txT" r="txR" b="txB"/>
                  <a:pathLst>
                    <a:path w="1" h="178">
                      <a:moveTo>
                        <a:pt x="0" y="0"/>
                      </a:moveTo>
                      <a:lnTo>
                        <a:pt x="0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7806" name="Freeform 366"/>
                <p:cNvSpPr/>
                <p:nvPr/>
              </p:nvSpPr>
              <p:spPr>
                <a:xfrm>
                  <a:off x="915" y="2865"/>
                  <a:ext cx="3858" cy="2"/>
                </a:xfrm>
                <a:custGeom>
                  <a:avLst/>
                  <a:gdLst>
                    <a:gd name="txL" fmla="*/ 0 w 3858"/>
                    <a:gd name="txT" fmla="*/ 0 h 2"/>
                    <a:gd name="txR" fmla="*/ 3858 w 3858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3858" y="0"/>
                    </a:cxn>
                  </a:cxnLst>
                  <a:rect l="txL" t="txT" r="txR" b="txB"/>
                  <a:pathLst>
                    <a:path w="3858" h="2">
                      <a:moveTo>
                        <a:pt x="0" y="2"/>
                      </a:moveTo>
                      <a:lnTo>
                        <a:pt x="385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87770" name="Group 367"/>
              <p:cNvGrpSpPr/>
              <p:nvPr/>
            </p:nvGrpSpPr>
            <p:grpSpPr>
              <a:xfrm>
                <a:off x="1213" y="2633"/>
                <a:ext cx="192" cy="158"/>
                <a:chOff x="1440" y="2928"/>
                <a:chExt cx="192" cy="158"/>
              </a:xfrm>
            </p:grpSpPr>
            <p:grpSp>
              <p:nvGrpSpPr>
                <p:cNvPr id="287795" name="Group 368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7800" name="Line 36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801" name="Line 37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7796" name="Freeform 371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7797" name="Group 372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7798" name="Line 373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799" name="Line 374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7771" name="Group 375"/>
              <p:cNvGrpSpPr/>
              <p:nvPr/>
            </p:nvGrpSpPr>
            <p:grpSpPr>
              <a:xfrm>
                <a:off x="2365" y="2635"/>
                <a:ext cx="192" cy="158"/>
                <a:chOff x="1440" y="2928"/>
                <a:chExt cx="192" cy="158"/>
              </a:xfrm>
            </p:grpSpPr>
            <p:grpSp>
              <p:nvGrpSpPr>
                <p:cNvPr id="287788" name="Group 376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7793" name="Line 37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794" name="Line 37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7789" name="Freeform 379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7790" name="Group 380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7791" name="Line 38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792" name="Line 38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7772" name="Group 383"/>
              <p:cNvGrpSpPr/>
              <p:nvPr/>
            </p:nvGrpSpPr>
            <p:grpSpPr>
              <a:xfrm>
                <a:off x="3517" y="2635"/>
                <a:ext cx="192" cy="158"/>
                <a:chOff x="1440" y="2928"/>
                <a:chExt cx="192" cy="158"/>
              </a:xfrm>
            </p:grpSpPr>
            <p:grpSp>
              <p:nvGrpSpPr>
                <p:cNvPr id="287781" name="Group 384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7786" name="Line 38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787" name="Line 38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7782" name="Freeform 387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7783" name="Group 388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7784" name="Line 38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785" name="Line 39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7773" name="Group 391"/>
              <p:cNvGrpSpPr/>
              <p:nvPr/>
            </p:nvGrpSpPr>
            <p:grpSpPr>
              <a:xfrm>
                <a:off x="4668" y="2635"/>
                <a:ext cx="192" cy="158"/>
                <a:chOff x="1440" y="2928"/>
                <a:chExt cx="192" cy="158"/>
              </a:xfrm>
            </p:grpSpPr>
            <p:grpSp>
              <p:nvGrpSpPr>
                <p:cNvPr id="287774" name="Group 392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7779" name="Line 393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780" name="Line 394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7775" name="Freeform 395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7776" name="Group 396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7777" name="Line 39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7778" name="Line 39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87761" name="Rectangle 399"/>
            <p:cNvSpPr/>
            <p:nvPr/>
          </p:nvSpPr>
          <p:spPr>
            <a:xfrm>
              <a:off x="1152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62" name="Text Box 400"/>
            <p:cNvSpPr txBox="1"/>
            <p:nvPr/>
          </p:nvSpPr>
          <p:spPr>
            <a:xfrm>
              <a:off x="1150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63" name="Rectangle 401"/>
            <p:cNvSpPr/>
            <p:nvPr/>
          </p:nvSpPr>
          <p:spPr>
            <a:xfrm>
              <a:off x="2293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64" name="Rectangle 402"/>
            <p:cNvSpPr/>
            <p:nvPr/>
          </p:nvSpPr>
          <p:spPr>
            <a:xfrm>
              <a:off x="4604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65" name="Rectangle 403"/>
            <p:cNvSpPr/>
            <p:nvPr/>
          </p:nvSpPr>
          <p:spPr>
            <a:xfrm>
              <a:off x="3466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66" name="Text Box 404"/>
            <p:cNvSpPr txBox="1"/>
            <p:nvPr/>
          </p:nvSpPr>
          <p:spPr>
            <a:xfrm>
              <a:off x="2314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67" name="Text Box 405"/>
            <p:cNvSpPr txBox="1"/>
            <p:nvPr/>
          </p:nvSpPr>
          <p:spPr>
            <a:xfrm>
              <a:off x="3462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7768" name="Text Box 406"/>
            <p:cNvSpPr txBox="1"/>
            <p:nvPr/>
          </p:nvSpPr>
          <p:spPr>
            <a:xfrm>
              <a:off x="4617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87758" name="AutoShape 40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775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7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88770" name="Group 2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89175" name="Line 3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9176" name="Freeform 4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9177" name="Line 5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9178" name="Freeform 6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9179" name="Line 7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89180" name="Text Box 8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9181" name="Text Box 9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9182" name="Text Box 10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9183" name="Text Box 11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89184" name="Line 12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9185" name="Line 13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9186" name="Line 14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9187" name="Line 15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9188" name="Line 16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9189" name="Line 17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9190" name="Line 18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89191" name="Line 19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25300" name="Rectangle 2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8772" name="Text Box 21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88773" name="Group 22"/>
          <p:cNvGrpSpPr/>
          <p:nvPr/>
        </p:nvGrpSpPr>
        <p:grpSpPr>
          <a:xfrm>
            <a:off x="4613275" y="5599113"/>
            <a:ext cx="6051550" cy="336550"/>
            <a:chOff x="1946" y="3527"/>
            <a:chExt cx="3812" cy="212"/>
          </a:xfrm>
        </p:grpSpPr>
        <p:sp>
          <p:nvSpPr>
            <p:cNvPr id="289171" name="Text Box 23"/>
            <p:cNvSpPr txBox="1"/>
            <p:nvPr/>
          </p:nvSpPr>
          <p:spPr>
            <a:xfrm>
              <a:off x="194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9172" name="Text Box 24"/>
            <p:cNvSpPr txBox="1"/>
            <p:nvPr/>
          </p:nvSpPr>
          <p:spPr>
            <a:xfrm>
              <a:off x="310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9173" name="Text Box 25"/>
            <p:cNvSpPr txBox="1"/>
            <p:nvPr/>
          </p:nvSpPr>
          <p:spPr>
            <a:xfrm>
              <a:off x="4258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89174" name="Text Box 26"/>
            <p:cNvSpPr txBox="1"/>
            <p:nvPr/>
          </p:nvSpPr>
          <p:spPr>
            <a:xfrm>
              <a:off x="541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8774" name="Group 27"/>
          <p:cNvGrpSpPr/>
          <p:nvPr/>
        </p:nvGrpSpPr>
        <p:grpSpPr>
          <a:xfrm>
            <a:off x="1752600" y="1066800"/>
            <a:ext cx="8912225" cy="5710238"/>
            <a:chOff x="144" y="672"/>
            <a:chExt cx="5614" cy="3597"/>
          </a:xfrm>
        </p:grpSpPr>
        <p:grpSp>
          <p:nvGrpSpPr>
            <p:cNvPr id="288844" name="Group 28"/>
            <p:cNvGrpSpPr/>
            <p:nvPr/>
          </p:nvGrpSpPr>
          <p:grpSpPr>
            <a:xfrm>
              <a:off x="144" y="672"/>
              <a:ext cx="5461" cy="3597"/>
              <a:chOff x="144" y="672"/>
              <a:chExt cx="5461" cy="3597"/>
            </a:xfrm>
          </p:grpSpPr>
          <p:grpSp>
            <p:nvGrpSpPr>
              <p:cNvPr id="288856" name="Group 29"/>
              <p:cNvGrpSpPr/>
              <p:nvPr/>
            </p:nvGrpSpPr>
            <p:grpSpPr>
              <a:xfrm>
                <a:off x="144" y="672"/>
                <a:ext cx="5461" cy="3597"/>
                <a:chOff x="144" y="672"/>
                <a:chExt cx="5461" cy="3597"/>
              </a:xfrm>
            </p:grpSpPr>
            <p:grpSp>
              <p:nvGrpSpPr>
                <p:cNvPr id="288945" name="Group 30"/>
                <p:cNvGrpSpPr/>
                <p:nvPr/>
              </p:nvGrpSpPr>
              <p:grpSpPr>
                <a:xfrm>
                  <a:off x="144" y="789"/>
                  <a:ext cx="5461" cy="3480"/>
                  <a:chOff x="144" y="789"/>
                  <a:chExt cx="5461" cy="3480"/>
                </a:xfrm>
              </p:grpSpPr>
              <p:sp>
                <p:nvSpPr>
                  <p:cNvPr id="288957" name="Rectangle 31"/>
                  <p:cNvSpPr/>
                  <p:nvPr/>
                </p:nvSpPr>
                <p:spPr>
                  <a:xfrm>
                    <a:off x="336" y="2179"/>
                    <a:ext cx="576" cy="232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58" name="Rectangle 32"/>
                  <p:cNvSpPr/>
                  <p:nvPr/>
                </p:nvSpPr>
                <p:spPr>
                  <a:xfrm>
                    <a:off x="1732" y="1026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59" name="Text Box 33"/>
                  <p:cNvSpPr txBox="1"/>
                  <p:nvPr/>
                </p:nvSpPr>
                <p:spPr>
                  <a:xfrm>
                    <a:off x="1412" y="868"/>
                    <a:ext cx="370" cy="36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60" name="Rectangle 34"/>
                  <p:cNvSpPr/>
                  <p:nvPr/>
                </p:nvSpPr>
                <p:spPr>
                  <a:xfrm>
                    <a:off x="1156" y="1026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61" name="Rectangle 35"/>
                  <p:cNvSpPr/>
                  <p:nvPr/>
                </p:nvSpPr>
                <p:spPr>
                  <a:xfrm>
                    <a:off x="2873" y="1026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62" name="Text Box 36"/>
                  <p:cNvSpPr txBox="1"/>
                  <p:nvPr/>
                </p:nvSpPr>
                <p:spPr>
                  <a:xfrm>
                    <a:off x="2553" y="868"/>
                    <a:ext cx="370" cy="36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63" name="Rectangle 37"/>
                  <p:cNvSpPr/>
                  <p:nvPr/>
                </p:nvSpPr>
                <p:spPr>
                  <a:xfrm>
                    <a:off x="2297" y="1026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64" name="Rectangle 38"/>
                  <p:cNvSpPr/>
                  <p:nvPr/>
                </p:nvSpPr>
                <p:spPr>
                  <a:xfrm>
                    <a:off x="4048" y="1026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65" name="Text Box 39"/>
                  <p:cNvSpPr txBox="1"/>
                  <p:nvPr/>
                </p:nvSpPr>
                <p:spPr>
                  <a:xfrm>
                    <a:off x="3728" y="868"/>
                    <a:ext cx="370" cy="36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66" name="Rectangle 40"/>
                  <p:cNvSpPr/>
                  <p:nvPr/>
                </p:nvSpPr>
                <p:spPr>
                  <a:xfrm>
                    <a:off x="3472" y="1026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67" name="Rectangle 41"/>
                  <p:cNvSpPr/>
                  <p:nvPr/>
                </p:nvSpPr>
                <p:spPr>
                  <a:xfrm>
                    <a:off x="5184" y="1026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68" name="Text Box 42"/>
                  <p:cNvSpPr txBox="1"/>
                  <p:nvPr/>
                </p:nvSpPr>
                <p:spPr>
                  <a:xfrm>
                    <a:off x="4864" y="868"/>
                    <a:ext cx="370" cy="36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69" name="Rectangle 43"/>
                  <p:cNvSpPr/>
                  <p:nvPr/>
                </p:nvSpPr>
                <p:spPr>
                  <a:xfrm>
                    <a:off x="4608" y="1026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70" name="Rectangle 44"/>
                  <p:cNvSpPr/>
                  <p:nvPr/>
                </p:nvSpPr>
                <p:spPr>
                  <a:xfrm>
                    <a:off x="1732" y="2227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71" name="Rectangle 45"/>
                  <p:cNvSpPr/>
                  <p:nvPr/>
                </p:nvSpPr>
                <p:spPr>
                  <a:xfrm>
                    <a:off x="1156" y="2227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72" name="Rectangle 46"/>
                  <p:cNvSpPr/>
                  <p:nvPr/>
                </p:nvSpPr>
                <p:spPr>
                  <a:xfrm>
                    <a:off x="2873" y="2227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73" name="Rectangle 47"/>
                  <p:cNvSpPr/>
                  <p:nvPr/>
                </p:nvSpPr>
                <p:spPr>
                  <a:xfrm>
                    <a:off x="2297" y="2227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74" name="Rectangle 48"/>
                  <p:cNvSpPr/>
                  <p:nvPr/>
                </p:nvSpPr>
                <p:spPr>
                  <a:xfrm>
                    <a:off x="4048" y="2227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75" name="Rectangle 49"/>
                  <p:cNvSpPr/>
                  <p:nvPr/>
                </p:nvSpPr>
                <p:spPr>
                  <a:xfrm>
                    <a:off x="3472" y="2227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76" name="Rectangle 50"/>
                  <p:cNvSpPr/>
                  <p:nvPr/>
                </p:nvSpPr>
                <p:spPr>
                  <a:xfrm>
                    <a:off x="5184" y="2227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77" name="Rectangle 51"/>
                  <p:cNvSpPr/>
                  <p:nvPr/>
                </p:nvSpPr>
                <p:spPr>
                  <a:xfrm>
                    <a:off x="4608" y="2227"/>
                    <a:ext cx="288" cy="246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78" name="Line 52"/>
                  <p:cNvSpPr/>
                  <p:nvPr/>
                </p:nvSpPr>
                <p:spPr>
                  <a:xfrm rot="5400000">
                    <a:off x="1329" y="2710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79" name="Line 53"/>
                  <p:cNvSpPr/>
                  <p:nvPr/>
                </p:nvSpPr>
                <p:spPr>
                  <a:xfrm rot="5400000">
                    <a:off x="1312" y="2708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80" name="Freeform 54"/>
                  <p:cNvSpPr/>
                  <p:nvPr/>
                </p:nvSpPr>
                <p:spPr>
                  <a:xfrm>
                    <a:off x="1264" y="2707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81" name="Line 55"/>
                  <p:cNvSpPr/>
                  <p:nvPr/>
                </p:nvSpPr>
                <p:spPr>
                  <a:xfrm rot="-5400000">
                    <a:off x="1137" y="2710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82" name="Line 56"/>
                  <p:cNvSpPr/>
                  <p:nvPr/>
                </p:nvSpPr>
                <p:spPr>
                  <a:xfrm rot="-5400000">
                    <a:off x="1216" y="2712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83" name="Freeform 57"/>
                  <p:cNvSpPr/>
                  <p:nvPr/>
                </p:nvSpPr>
                <p:spPr>
                  <a:xfrm>
                    <a:off x="1438" y="2351"/>
                    <a:ext cx="112" cy="1"/>
                  </a:xfrm>
                  <a:custGeom>
                    <a:avLst/>
                    <a:gdLst>
                      <a:gd name="txL" fmla="*/ 0 w 112"/>
                      <a:gd name="txT" fmla="*/ 0 h 1"/>
                      <a:gd name="txR" fmla="*/ 112 w 11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12" y="0"/>
                      </a:cxn>
                    </a:cxnLst>
                    <a:rect l="txL" t="txT" r="txR" b="txB"/>
                    <a:pathLst>
                      <a:path w="112" h="1">
                        <a:moveTo>
                          <a:pt x="0" y="0"/>
                        </a:moveTo>
                        <a:lnTo>
                          <a:pt x="112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84" name="Freeform 58"/>
                  <p:cNvSpPr/>
                  <p:nvPr/>
                </p:nvSpPr>
                <p:spPr>
                  <a:xfrm>
                    <a:off x="1063" y="1207"/>
                    <a:ext cx="152" cy="1469"/>
                  </a:xfrm>
                  <a:custGeom>
                    <a:avLst/>
                    <a:gdLst>
                      <a:gd name="txL" fmla="*/ 0 w 152"/>
                      <a:gd name="txT" fmla="*/ 0 h 1469"/>
                      <a:gd name="txR" fmla="*/ 152 w 152"/>
                      <a:gd name="txB" fmla="*/ 1469 h 1469"/>
                    </a:gdLst>
                    <a:ahLst/>
                    <a:cxnLst>
                      <a:cxn ang="0">
                        <a:pos x="152" y="1469"/>
                      </a:cxn>
                      <a:cxn ang="0">
                        <a:pos x="0" y="1469"/>
                      </a:cxn>
                      <a:cxn ang="0">
                        <a:pos x="0" y="0"/>
                      </a:cxn>
                      <a:cxn ang="0">
                        <a:pos x="95" y="1"/>
                      </a:cxn>
                    </a:cxnLst>
                    <a:rect l="txL" t="txT" r="txR" b="txB"/>
                    <a:pathLst>
                      <a:path w="152" h="1469">
                        <a:moveTo>
                          <a:pt x="152" y="1469"/>
                        </a:moveTo>
                        <a:lnTo>
                          <a:pt x="0" y="1469"/>
                        </a:lnTo>
                        <a:lnTo>
                          <a:pt x="0" y="0"/>
                        </a:lnTo>
                        <a:lnTo>
                          <a:pt x="95" y="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85" name="Freeform 59"/>
                  <p:cNvSpPr/>
                  <p:nvPr/>
                </p:nvSpPr>
                <p:spPr>
                  <a:xfrm>
                    <a:off x="1059" y="2351"/>
                    <a:ext cx="102" cy="1"/>
                  </a:xfrm>
                  <a:custGeom>
                    <a:avLst/>
                    <a:gdLst>
                      <a:gd name="txL" fmla="*/ 0 w 102"/>
                      <a:gd name="txT" fmla="*/ 0 h 1"/>
                      <a:gd name="txR" fmla="*/ 102 w 102"/>
                      <a:gd name="txB" fmla="*/ 1 h 1"/>
                    </a:gdLst>
                    <a:ahLst/>
                    <a:cxnLst>
                      <a:cxn ang="0">
                        <a:pos x="102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2" h="1">
                        <a:moveTo>
                          <a:pt x="102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86" name="Line 60"/>
                  <p:cNvSpPr/>
                  <p:nvPr/>
                </p:nvSpPr>
                <p:spPr>
                  <a:xfrm rot="5400000">
                    <a:off x="1900" y="2711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87" name="Line 61"/>
                  <p:cNvSpPr/>
                  <p:nvPr/>
                </p:nvSpPr>
                <p:spPr>
                  <a:xfrm rot="5400000">
                    <a:off x="1883" y="2709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88" name="Freeform 62"/>
                  <p:cNvSpPr/>
                  <p:nvPr/>
                </p:nvSpPr>
                <p:spPr>
                  <a:xfrm>
                    <a:off x="1835" y="2708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89" name="Line 63"/>
                  <p:cNvSpPr/>
                  <p:nvPr/>
                </p:nvSpPr>
                <p:spPr>
                  <a:xfrm rot="-5400000">
                    <a:off x="1708" y="2711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90" name="Line 64"/>
                  <p:cNvSpPr/>
                  <p:nvPr/>
                </p:nvSpPr>
                <p:spPr>
                  <a:xfrm rot="-5400000">
                    <a:off x="1787" y="2713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91" name="Freeform 65"/>
                  <p:cNvSpPr/>
                  <p:nvPr/>
                </p:nvSpPr>
                <p:spPr>
                  <a:xfrm>
                    <a:off x="2009" y="2351"/>
                    <a:ext cx="103" cy="1"/>
                  </a:xfrm>
                  <a:custGeom>
                    <a:avLst/>
                    <a:gdLst>
                      <a:gd name="txL" fmla="*/ 0 w 103"/>
                      <a:gd name="txT" fmla="*/ 0 h 1"/>
                      <a:gd name="txR" fmla="*/ 103 w 103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3" y="0"/>
                      </a:cxn>
                    </a:cxnLst>
                    <a:rect l="txL" t="txT" r="txR" b="txB"/>
                    <a:pathLst>
                      <a:path w="103" h="1">
                        <a:moveTo>
                          <a:pt x="0" y="0"/>
                        </a:moveTo>
                        <a:lnTo>
                          <a:pt x="103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92" name="Freeform 66"/>
                  <p:cNvSpPr/>
                  <p:nvPr/>
                </p:nvSpPr>
                <p:spPr>
                  <a:xfrm>
                    <a:off x="1615" y="2350"/>
                    <a:ext cx="113" cy="1"/>
                  </a:xfrm>
                  <a:custGeom>
                    <a:avLst/>
                    <a:gdLst>
                      <a:gd name="txL" fmla="*/ 0 w 113"/>
                      <a:gd name="txT" fmla="*/ 0 h 1"/>
                      <a:gd name="txR" fmla="*/ 113 w 113"/>
                      <a:gd name="txB" fmla="*/ 1 h 1"/>
                    </a:gdLst>
                    <a:ahLst/>
                    <a:cxnLst>
                      <a:cxn ang="0">
                        <a:pos x="113" y="1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13" h="1">
                        <a:moveTo>
                          <a:pt x="113" y="1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93" name="Line 67"/>
                  <p:cNvSpPr/>
                  <p:nvPr/>
                </p:nvSpPr>
                <p:spPr>
                  <a:xfrm rot="5400000">
                    <a:off x="2481" y="2711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94" name="Line 68"/>
                  <p:cNvSpPr/>
                  <p:nvPr/>
                </p:nvSpPr>
                <p:spPr>
                  <a:xfrm rot="5400000">
                    <a:off x="2464" y="2709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95" name="Freeform 69"/>
                  <p:cNvSpPr/>
                  <p:nvPr/>
                </p:nvSpPr>
                <p:spPr>
                  <a:xfrm>
                    <a:off x="2416" y="2708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96" name="Line 70"/>
                  <p:cNvSpPr/>
                  <p:nvPr/>
                </p:nvSpPr>
                <p:spPr>
                  <a:xfrm rot="-5400000">
                    <a:off x="2289" y="2711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97" name="Line 71"/>
                  <p:cNvSpPr/>
                  <p:nvPr/>
                </p:nvSpPr>
                <p:spPr>
                  <a:xfrm rot="-5400000">
                    <a:off x="2368" y="2713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998" name="Freeform 72"/>
                  <p:cNvSpPr/>
                  <p:nvPr/>
                </p:nvSpPr>
                <p:spPr>
                  <a:xfrm>
                    <a:off x="2590" y="2351"/>
                    <a:ext cx="109" cy="1"/>
                  </a:xfrm>
                  <a:custGeom>
                    <a:avLst/>
                    <a:gdLst>
                      <a:gd name="txL" fmla="*/ 0 w 109"/>
                      <a:gd name="txT" fmla="*/ 0 h 1"/>
                      <a:gd name="txR" fmla="*/ 109 w 109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9" y="0"/>
                      </a:cxn>
                    </a:cxnLst>
                    <a:rect l="txL" t="txT" r="txR" b="txB"/>
                    <a:pathLst>
                      <a:path w="109" h="1">
                        <a:moveTo>
                          <a:pt x="0" y="0"/>
                        </a:moveTo>
                        <a:lnTo>
                          <a:pt x="10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99" name="Freeform 73"/>
                  <p:cNvSpPr/>
                  <p:nvPr/>
                </p:nvSpPr>
                <p:spPr>
                  <a:xfrm>
                    <a:off x="2211" y="2351"/>
                    <a:ext cx="89" cy="1"/>
                  </a:xfrm>
                  <a:custGeom>
                    <a:avLst/>
                    <a:gdLst>
                      <a:gd name="txL" fmla="*/ 0 w 89"/>
                      <a:gd name="txT" fmla="*/ 0 h 1"/>
                      <a:gd name="txR" fmla="*/ 89 w 89"/>
                      <a:gd name="txB" fmla="*/ 1 h 1"/>
                    </a:gdLst>
                    <a:ahLst/>
                    <a:cxnLst>
                      <a:cxn ang="0">
                        <a:pos x="89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89" h="1">
                        <a:moveTo>
                          <a:pt x="89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00" name="Line 74"/>
                  <p:cNvSpPr/>
                  <p:nvPr/>
                </p:nvSpPr>
                <p:spPr>
                  <a:xfrm rot="5400000">
                    <a:off x="3057" y="2711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01" name="Line 75"/>
                  <p:cNvSpPr/>
                  <p:nvPr/>
                </p:nvSpPr>
                <p:spPr>
                  <a:xfrm rot="5400000">
                    <a:off x="3040" y="2709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02" name="Freeform 76"/>
                  <p:cNvSpPr/>
                  <p:nvPr/>
                </p:nvSpPr>
                <p:spPr>
                  <a:xfrm>
                    <a:off x="2992" y="2708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03" name="Line 77"/>
                  <p:cNvSpPr/>
                  <p:nvPr/>
                </p:nvSpPr>
                <p:spPr>
                  <a:xfrm rot="-5400000">
                    <a:off x="2865" y="2711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04" name="Line 78"/>
                  <p:cNvSpPr/>
                  <p:nvPr/>
                </p:nvSpPr>
                <p:spPr>
                  <a:xfrm rot="-5400000">
                    <a:off x="2944" y="2713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05" name="Freeform 79"/>
                  <p:cNvSpPr/>
                  <p:nvPr/>
                </p:nvSpPr>
                <p:spPr>
                  <a:xfrm>
                    <a:off x="3166" y="2351"/>
                    <a:ext cx="115" cy="1"/>
                  </a:xfrm>
                  <a:custGeom>
                    <a:avLst/>
                    <a:gdLst>
                      <a:gd name="txL" fmla="*/ 0 w 115"/>
                      <a:gd name="txT" fmla="*/ 0 h 1"/>
                      <a:gd name="txR" fmla="*/ 115 w 115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15" y="0"/>
                      </a:cxn>
                    </a:cxnLst>
                    <a:rect l="txL" t="txT" r="txR" b="txB"/>
                    <a:pathLst>
                      <a:path w="115" h="1">
                        <a:moveTo>
                          <a:pt x="0" y="0"/>
                        </a:moveTo>
                        <a:lnTo>
                          <a:pt x="11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06" name="Freeform 80"/>
                  <p:cNvSpPr/>
                  <p:nvPr/>
                </p:nvSpPr>
                <p:spPr>
                  <a:xfrm>
                    <a:off x="2787" y="2351"/>
                    <a:ext cx="90" cy="1"/>
                  </a:xfrm>
                  <a:custGeom>
                    <a:avLst/>
                    <a:gdLst>
                      <a:gd name="txL" fmla="*/ 0 w 90"/>
                      <a:gd name="txT" fmla="*/ 0 h 1"/>
                      <a:gd name="txR" fmla="*/ 90 w 90"/>
                      <a:gd name="txB" fmla="*/ 1 h 1"/>
                    </a:gdLst>
                    <a:ahLst/>
                    <a:cxnLst>
                      <a:cxn ang="0">
                        <a:pos x="90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90" h="1">
                        <a:moveTo>
                          <a:pt x="90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07" name="Line 81"/>
                  <p:cNvSpPr/>
                  <p:nvPr/>
                </p:nvSpPr>
                <p:spPr>
                  <a:xfrm rot="5400000">
                    <a:off x="3633" y="2711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08" name="Line 82"/>
                  <p:cNvSpPr/>
                  <p:nvPr/>
                </p:nvSpPr>
                <p:spPr>
                  <a:xfrm rot="5400000">
                    <a:off x="3616" y="2709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09" name="Freeform 83"/>
                  <p:cNvSpPr/>
                  <p:nvPr/>
                </p:nvSpPr>
                <p:spPr>
                  <a:xfrm>
                    <a:off x="3568" y="2708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10" name="Line 84"/>
                  <p:cNvSpPr/>
                  <p:nvPr/>
                </p:nvSpPr>
                <p:spPr>
                  <a:xfrm rot="-5400000">
                    <a:off x="3441" y="2711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11" name="Line 85"/>
                  <p:cNvSpPr/>
                  <p:nvPr/>
                </p:nvSpPr>
                <p:spPr>
                  <a:xfrm rot="-5400000">
                    <a:off x="3520" y="2713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12" name="Freeform 86"/>
                  <p:cNvSpPr/>
                  <p:nvPr/>
                </p:nvSpPr>
                <p:spPr>
                  <a:xfrm>
                    <a:off x="3755" y="2350"/>
                    <a:ext cx="100" cy="1"/>
                  </a:xfrm>
                  <a:custGeom>
                    <a:avLst/>
                    <a:gdLst>
                      <a:gd name="txL" fmla="*/ 0 w 100"/>
                      <a:gd name="txT" fmla="*/ 0 h 1"/>
                      <a:gd name="txR" fmla="*/ 100 w 100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0" y="1"/>
                      </a:cxn>
                    </a:cxnLst>
                    <a:rect l="txL" t="txT" r="txR" b="txB"/>
                    <a:pathLst>
                      <a:path w="100" h="1">
                        <a:moveTo>
                          <a:pt x="0" y="0"/>
                        </a:moveTo>
                        <a:lnTo>
                          <a:pt x="100" y="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13" name="Freeform 87"/>
                  <p:cNvSpPr/>
                  <p:nvPr/>
                </p:nvSpPr>
                <p:spPr>
                  <a:xfrm>
                    <a:off x="3363" y="2351"/>
                    <a:ext cx="108" cy="1"/>
                  </a:xfrm>
                  <a:custGeom>
                    <a:avLst/>
                    <a:gdLst>
                      <a:gd name="txL" fmla="*/ 0 w 108"/>
                      <a:gd name="txT" fmla="*/ 0 h 1"/>
                      <a:gd name="txR" fmla="*/ 108 w 108"/>
                      <a:gd name="txB" fmla="*/ 1 h 1"/>
                    </a:gdLst>
                    <a:ahLst/>
                    <a:cxnLst>
                      <a:cxn ang="0">
                        <a:pos x="108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8" h="1">
                        <a:moveTo>
                          <a:pt x="108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14" name="Line 88"/>
                  <p:cNvSpPr/>
                  <p:nvPr/>
                </p:nvSpPr>
                <p:spPr>
                  <a:xfrm rot="5400000">
                    <a:off x="4209" y="2696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15" name="Line 89"/>
                  <p:cNvSpPr/>
                  <p:nvPr/>
                </p:nvSpPr>
                <p:spPr>
                  <a:xfrm rot="5400000">
                    <a:off x="4192" y="2694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16" name="Freeform 90"/>
                  <p:cNvSpPr/>
                  <p:nvPr/>
                </p:nvSpPr>
                <p:spPr>
                  <a:xfrm>
                    <a:off x="4144" y="2693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17" name="Line 91"/>
                  <p:cNvSpPr/>
                  <p:nvPr/>
                </p:nvSpPr>
                <p:spPr>
                  <a:xfrm rot="-5400000">
                    <a:off x="4017" y="2696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18" name="Line 92"/>
                  <p:cNvSpPr/>
                  <p:nvPr/>
                </p:nvSpPr>
                <p:spPr>
                  <a:xfrm rot="-5400000">
                    <a:off x="4096" y="2698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019" name="Freeform 93"/>
                  <p:cNvSpPr/>
                  <p:nvPr/>
                </p:nvSpPr>
                <p:spPr>
                  <a:xfrm>
                    <a:off x="4340" y="2349"/>
                    <a:ext cx="90" cy="2"/>
                  </a:xfrm>
                  <a:custGeom>
                    <a:avLst/>
                    <a:gdLst>
                      <a:gd name="txL" fmla="*/ 0 w 90"/>
                      <a:gd name="txT" fmla="*/ 0 h 2"/>
                      <a:gd name="txR" fmla="*/ 90 w 90"/>
                      <a:gd name="txB" fmla="*/ 2 h 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0" y="2"/>
                      </a:cxn>
                    </a:cxnLst>
                    <a:rect l="txL" t="txT" r="txR" b="txB"/>
                    <a:pathLst>
                      <a:path w="90" h="2">
                        <a:moveTo>
                          <a:pt x="0" y="0"/>
                        </a:moveTo>
                        <a:lnTo>
                          <a:pt x="90" y="2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20" name="Freeform 94"/>
                  <p:cNvSpPr/>
                  <p:nvPr/>
                </p:nvSpPr>
                <p:spPr>
                  <a:xfrm>
                    <a:off x="3939" y="2351"/>
                    <a:ext cx="104" cy="1"/>
                  </a:xfrm>
                  <a:custGeom>
                    <a:avLst/>
                    <a:gdLst>
                      <a:gd name="txL" fmla="*/ 0 w 104"/>
                      <a:gd name="txT" fmla="*/ 0 h 1"/>
                      <a:gd name="txR" fmla="*/ 104 w 104"/>
                      <a:gd name="txB" fmla="*/ 1 h 1"/>
                    </a:gdLst>
                    <a:ahLst/>
                    <a:cxnLst>
                      <a:cxn ang="0">
                        <a:pos x="104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4" h="1">
                        <a:moveTo>
                          <a:pt x="104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9021" name="Group 95"/>
                  <p:cNvGrpSpPr/>
                  <p:nvPr/>
                </p:nvGrpSpPr>
                <p:grpSpPr>
                  <a:xfrm>
                    <a:off x="4672" y="2632"/>
                    <a:ext cx="192" cy="158"/>
                    <a:chOff x="4692" y="2634"/>
                    <a:chExt cx="192" cy="158"/>
                  </a:xfrm>
                </p:grpSpPr>
                <p:grpSp>
                  <p:nvGrpSpPr>
                    <p:cNvPr id="289164" name="Group 96"/>
                    <p:cNvGrpSpPr/>
                    <p:nvPr/>
                  </p:nvGrpSpPr>
                  <p:grpSpPr>
                    <a:xfrm>
                      <a:off x="4836" y="2634"/>
                      <a:ext cx="48" cy="158"/>
                      <a:chOff x="4836" y="2634"/>
                      <a:chExt cx="48" cy="158"/>
                    </a:xfrm>
                  </p:grpSpPr>
                  <p:sp>
                    <p:nvSpPr>
                      <p:cNvPr id="289169" name="Line 97"/>
                      <p:cNvSpPr/>
                      <p:nvPr/>
                    </p:nvSpPr>
                    <p:spPr>
                      <a:xfrm rot="5400000">
                        <a:off x="4805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9170" name="Line 98"/>
                      <p:cNvSpPr/>
                      <p:nvPr/>
                    </p:nvSpPr>
                    <p:spPr>
                      <a:xfrm rot="5400000">
                        <a:off x="4788" y="2711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89165" name="Freeform 99"/>
                    <p:cNvSpPr/>
                    <p:nvPr/>
                  </p:nvSpPr>
                  <p:spPr>
                    <a:xfrm>
                      <a:off x="4740" y="2710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89166" name="Group 100"/>
                    <p:cNvGrpSpPr/>
                    <p:nvPr/>
                  </p:nvGrpSpPr>
                  <p:grpSpPr>
                    <a:xfrm>
                      <a:off x="4692" y="2634"/>
                      <a:ext cx="48" cy="158"/>
                      <a:chOff x="4692" y="2634"/>
                      <a:chExt cx="48" cy="158"/>
                    </a:xfrm>
                  </p:grpSpPr>
                  <p:sp>
                    <p:nvSpPr>
                      <p:cNvPr id="289167" name="Line 101"/>
                      <p:cNvSpPr/>
                      <p:nvPr/>
                    </p:nvSpPr>
                    <p:spPr>
                      <a:xfrm rot="-5400000">
                        <a:off x="4613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9168" name="Line 102"/>
                      <p:cNvSpPr/>
                      <p:nvPr/>
                    </p:nvSpPr>
                    <p:spPr>
                      <a:xfrm rot="-5400000">
                        <a:off x="4692" y="2715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289022" name="Freeform 103"/>
                  <p:cNvSpPr/>
                  <p:nvPr/>
                </p:nvSpPr>
                <p:spPr>
                  <a:xfrm>
                    <a:off x="4894" y="2351"/>
                    <a:ext cx="107" cy="1"/>
                  </a:xfrm>
                  <a:custGeom>
                    <a:avLst/>
                    <a:gdLst>
                      <a:gd name="txL" fmla="*/ 0 w 107"/>
                      <a:gd name="txT" fmla="*/ 0 h 1"/>
                      <a:gd name="txR" fmla="*/ 107 w 107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07" y="0"/>
                      </a:cxn>
                    </a:cxnLst>
                    <a:rect l="txL" t="txT" r="txR" b="txB"/>
                    <a:pathLst>
                      <a:path w="107" h="1">
                        <a:moveTo>
                          <a:pt x="0" y="0"/>
                        </a:moveTo>
                        <a:lnTo>
                          <a:pt x="10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23" name="Freeform 104"/>
                  <p:cNvSpPr/>
                  <p:nvPr/>
                </p:nvSpPr>
                <p:spPr>
                  <a:xfrm>
                    <a:off x="4515" y="2351"/>
                    <a:ext cx="96" cy="1"/>
                  </a:xfrm>
                  <a:custGeom>
                    <a:avLst/>
                    <a:gdLst>
                      <a:gd name="txL" fmla="*/ 0 w 96"/>
                      <a:gd name="txT" fmla="*/ 0 h 1"/>
                      <a:gd name="txR" fmla="*/ 96 w 96"/>
                      <a:gd name="txB" fmla="*/ 1 h 1"/>
                    </a:gdLst>
                    <a:ahLst/>
                    <a:cxnLst>
                      <a:cxn ang="0">
                        <a:pos x="96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96" h="1">
                        <a:moveTo>
                          <a:pt x="96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9024" name="Group 105"/>
                  <p:cNvGrpSpPr/>
                  <p:nvPr/>
                </p:nvGrpSpPr>
                <p:grpSpPr>
                  <a:xfrm>
                    <a:off x="5239" y="2632"/>
                    <a:ext cx="192" cy="158"/>
                    <a:chOff x="5259" y="2634"/>
                    <a:chExt cx="192" cy="158"/>
                  </a:xfrm>
                </p:grpSpPr>
                <p:grpSp>
                  <p:nvGrpSpPr>
                    <p:cNvPr id="289157" name="Group 106"/>
                    <p:cNvGrpSpPr/>
                    <p:nvPr/>
                  </p:nvGrpSpPr>
                  <p:grpSpPr>
                    <a:xfrm>
                      <a:off x="5403" y="2634"/>
                      <a:ext cx="48" cy="158"/>
                      <a:chOff x="5403" y="2634"/>
                      <a:chExt cx="48" cy="158"/>
                    </a:xfrm>
                  </p:grpSpPr>
                  <p:sp>
                    <p:nvSpPr>
                      <p:cNvPr id="289162" name="Line 107"/>
                      <p:cNvSpPr/>
                      <p:nvPr/>
                    </p:nvSpPr>
                    <p:spPr>
                      <a:xfrm rot="5400000">
                        <a:off x="5372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9163" name="Line 108"/>
                      <p:cNvSpPr/>
                      <p:nvPr/>
                    </p:nvSpPr>
                    <p:spPr>
                      <a:xfrm rot="5400000">
                        <a:off x="5355" y="2711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sp>
                  <p:nvSpPr>
                    <p:cNvPr id="289158" name="Freeform 109"/>
                    <p:cNvSpPr/>
                    <p:nvPr/>
                  </p:nvSpPr>
                  <p:spPr>
                    <a:xfrm>
                      <a:off x="5307" y="2710"/>
                      <a:ext cx="96" cy="2"/>
                    </a:xfrm>
                    <a:custGeom>
                      <a:avLst/>
                      <a:gdLst>
                        <a:gd name="txL" fmla="*/ 0 w 96"/>
                        <a:gd name="txT" fmla="*/ 0 h 2"/>
                        <a:gd name="txR" fmla="*/ 96 w 96"/>
                        <a:gd name="txB" fmla="*/ 2 h 2"/>
                      </a:gdLst>
                      <a:ahLst/>
                      <a:cxnLst>
                        <a:cxn ang="0">
                          <a:pos x="0" y="2"/>
                        </a:cxn>
                        <a:cxn ang="0">
                          <a:pos x="96" y="0"/>
                        </a:cxn>
                      </a:cxnLst>
                      <a:rect l="txL" t="txT" r="txR" b="txB"/>
                      <a:pathLst>
                        <a:path w="96" h="2">
                          <a:moveTo>
                            <a:pt x="0" y="2"/>
                          </a:moveTo>
                          <a:lnTo>
                            <a:pt x="96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89159" name="Group 110"/>
                    <p:cNvGrpSpPr/>
                    <p:nvPr/>
                  </p:nvGrpSpPr>
                  <p:grpSpPr>
                    <a:xfrm>
                      <a:off x="5259" y="2634"/>
                      <a:ext cx="48" cy="158"/>
                      <a:chOff x="5259" y="2634"/>
                      <a:chExt cx="48" cy="158"/>
                    </a:xfrm>
                  </p:grpSpPr>
                  <p:sp>
                    <p:nvSpPr>
                      <p:cNvPr id="289160" name="Line 111"/>
                      <p:cNvSpPr/>
                      <p:nvPr/>
                    </p:nvSpPr>
                    <p:spPr>
                      <a:xfrm rot="-5400000">
                        <a:off x="5180" y="2713"/>
                        <a:ext cx="158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89161" name="Line 112"/>
                      <p:cNvSpPr/>
                      <p:nvPr/>
                    </p:nvSpPr>
                    <p:spPr>
                      <a:xfrm rot="-5400000">
                        <a:off x="5259" y="2715"/>
                        <a:ext cx="96" cy="0"/>
                      </a:xfrm>
                      <a:prstGeom prst="line">
                        <a:avLst/>
                      </a:prstGeom>
                      <a:ln w="381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  <p:sp>
                <p:nvSpPr>
                  <p:cNvPr id="289025" name="Freeform 113"/>
                  <p:cNvSpPr/>
                  <p:nvPr/>
                </p:nvSpPr>
                <p:spPr>
                  <a:xfrm>
                    <a:off x="5471" y="2349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96" y="2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0"/>
                        </a:moveTo>
                        <a:lnTo>
                          <a:pt x="96" y="2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26" name="Freeform 114"/>
                  <p:cNvSpPr/>
                  <p:nvPr/>
                </p:nvSpPr>
                <p:spPr>
                  <a:xfrm>
                    <a:off x="5082" y="2351"/>
                    <a:ext cx="101" cy="1"/>
                  </a:xfrm>
                  <a:custGeom>
                    <a:avLst/>
                    <a:gdLst>
                      <a:gd name="txL" fmla="*/ 0 w 101"/>
                      <a:gd name="txT" fmla="*/ 0 h 1"/>
                      <a:gd name="txR" fmla="*/ 101 w 101"/>
                      <a:gd name="txB" fmla="*/ 1 h 1"/>
                    </a:gdLst>
                    <a:ahLst/>
                    <a:cxnLst>
                      <a:cxn ang="0">
                        <a:pos x="101" y="0"/>
                      </a:cxn>
                      <a:cxn ang="0">
                        <a:pos x="0" y="0"/>
                      </a:cxn>
                    </a:cxnLst>
                    <a:rect l="txL" t="txT" r="txR" b="txB"/>
                    <a:pathLst>
                      <a:path w="101" h="1">
                        <a:moveTo>
                          <a:pt x="101" y="0"/>
                        </a:moveTo>
                        <a:lnTo>
                          <a:pt x="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27" name="Freeform 115"/>
                  <p:cNvSpPr/>
                  <p:nvPr/>
                </p:nvSpPr>
                <p:spPr>
                  <a:xfrm>
                    <a:off x="912" y="854"/>
                    <a:ext cx="4419" cy="1"/>
                  </a:xfrm>
                  <a:custGeom>
                    <a:avLst/>
                    <a:gdLst>
                      <a:gd name="txL" fmla="*/ 0 w 4419"/>
                      <a:gd name="txT" fmla="*/ 0 h 1"/>
                      <a:gd name="txR" fmla="*/ 4419 w 4419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9" y="0"/>
                      </a:cxn>
                    </a:cxnLst>
                    <a:rect l="txL" t="txT" r="txR" b="txB"/>
                    <a:pathLst>
                      <a:path w="4419" h="1">
                        <a:moveTo>
                          <a:pt x="0" y="1"/>
                        </a:moveTo>
                        <a:lnTo>
                          <a:pt x="441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28" name="Line 116"/>
                  <p:cNvSpPr/>
                  <p:nvPr/>
                </p:nvSpPr>
                <p:spPr>
                  <a:xfrm>
                    <a:off x="1296" y="8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29" name="Line 117"/>
                  <p:cNvSpPr/>
                  <p:nvPr/>
                </p:nvSpPr>
                <p:spPr>
                  <a:xfrm>
                    <a:off x="1872" y="8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30" name="Line 118"/>
                  <p:cNvSpPr/>
                  <p:nvPr/>
                </p:nvSpPr>
                <p:spPr>
                  <a:xfrm>
                    <a:off x="2448" y="8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31" name="Line 119"/>
                  <p:cNvSpPr/>
                  <p:nvPr/>
                </p:nvSpPr>
                <p:spPr>
                  <a:xfrm>
                    <a:off x="3024" y="8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32" name="Line 120"/>
                  <p:cNvSpPr/>
                  <p:nvPr/>
                </p:nvSpPr>
                <p:spPr>
                  <a:xfrm>
                    <a:off x="3600" y="8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33" name="Line 121"/>
                  <p:cNvSpPr/>
                  <p:nvPr/>
                </p:nvSpPr>
                <p:spPr>
                  <a:xfrm>
                    <a:off x="4176" y="8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34" name="Line 122"/>
                  <p:cNvSpPr/>
                  <p:nvPr/>
                </p:nvSpPr>
                <p:spPr>
                  <a:xfrm>
                    <a:off x="4752" y="8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35" name="Line 123"/>
                  <p:cNvSpPr/>
                  <p:nvPr/>
                </p:nvSpPr>
                <p:spPr>
                  <a:xfrm>
                    <a:off x="5328" y="8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med" len="med"/>
                  </a:ln>
                </p:spPr>
              </p:sp>
              <p:sp>
                <p:nvSpPr>
                  <p:cNvPr id="289036" name="Freeform 124"/>
                  <p:cNvSpPr/>
                  <p:nvPr/>
                </p:nvSpPr>
                <p:spPr>
                  <a:xfrm>
                    <a:off x="1309" y="2706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1" y="0"/>
                      </a:cxn>
                      <a:cxn ang="0">
                        <a:pos x="0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1" y="0"/>
                        </a:moveTo>
                        <a:lnTo>
                          <a:pt x="0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37" name="Freeform 125"/>
                  <p:cNvSpPr/>
                  <p:nvPr/>
                </p:nvSpPr>
                <p:spPr>
                  <a:xfrm>
                    <a:off x="1884" y="2706"/>
                    <a:ext cx="47" cy="501"/>
                  </a:xfrm>
                  <a:custGeom>
                    <a:avLst/>
                    <a:gdLst>
                      <a:gd name="txL" fmla="*/ 0 w 1"/>
                      <a:gd name="txT" fmla="*/ 0 h 406"/>
                      <a:gd name="txR" fmla="*/ 1 w 1"/>
                      <a:gd name="txB" fmla="*/ 406 h 40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06"/>
                      </a:cxn>
                    </a:cxnLst>
                    <a:rect l="txL" t="txT" r="txR" b="txB"/>
                    <a:pathLst>
                      <a:path w="1" h="406">
                        <a:moveTo>
                          <a:pt x="0" y="0"/>
                        </a:moveTo>
                        <a:lnTo>
                          <a:pt x="0" y="40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38" name="Freeform 126"/>
                  <p:cNvSpPr/>
                  <p:nvPr/>
                </p:nvSpPr>
                <p:spPr>
                  <a:xfrm>
                    <a:off x="2458" y="2706"/>
                    <a:ext cx="4" cy="166"/>
                  </a:xfrm>
                  <a:custGeom>
                    <a:avLst/>
                    <a:gdLst>
                      <a:gd name="txL" fmla="*/ 0 w 4"/>
                      <a:gd name="txT" fmla="*/ 0 h 166"/>
                      <a:gd name="txR" fmla="*/ 4 w 4"/>
                      <a:gd name="txB" fmla="*/ 166 h 166"/>
                    </a:gdLst>
                    <a:ahLst/>
                    <a:cxnLst>
                      <a:cxn ang="0">
                        <a:pos x="4" y="0"/>
                      </a:cxn>
                      <a:cxn ang="0">
                        <a:pos x="0" y="166"/>
                      </a:cxn>
                    </a:cxnLst>
                    <a:rect l="txL" t="txT" r="txR" b="txB"/>
                    <a:pathLst>
                      <a:path w="4" h="166">
                        <a:moveTo>
                          <a:pt x="4" y="0"/>
                        </a:moveTo>
                        <a:lnTo>
                          <a:pt x="0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39" name="Freeform 127"/>
                  <p:cNvSpPr/>
                  <p:nvPr/>
                </p:nvSpPr>
                <p:spPr>
                  <a:xfrm>
                    <a:off x="3610" y="2706"/>
                    <a:ext cx="2" cy="175"/>
                  </a:xfrm>
                  <a:custGeom>
                    <a:avLst/>
                    <a:gdLst>
                      <a:gd name="txL" fmla="*/ 0 w 2"/>
                      <a:gd name="txT" fmla="*/ 0 h 175"/>
                      <a:gd name="txR" fmla="*/ 2 w 2"/>
                      <a:gd name="txB" fmla="*/ 175 h 175"/>
                    </a:gdLst>
                    <a:ahLst/>
                    <a:cxnLst>
                      <a:cxn ang="0">
                        <a:pos x="2" y="0"/>
                      </a:cxn>
                      <a:cxn ang="0">
                        <a:pos x="0" y="175"/>
                      </a:cxn>
                    </a:cxnLst>
                    <a:rect l="txL" t="txT" r="txR" b="txB"/>
                    <a:pathLst>
                      <a:path w="2" h="175">
                        <a:moveTo>
                          <a:pt x="2" y="0"/>
                        </a:moveTo>
                        <a:lnTo>
                          <a:pt x="0" y="17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40" name="Freeform 128"/>
                  <p:cNvSpPr/>
                  <p:nvPr/>
                </p:nvSpPr>
                <p:spPr>
                  <a:xfrm>
                    <a:off x="4764" y="2695"/>
                    <a:ext cx="1" cy="176"/>
                  </a:xfrm>
                  <a:custGeom>
                    <a:avLst/>
                    <a:gdLst>
                      <a:gd name="txL" fmla="*/ 0 w 1"/>
                      <a:gd name="txT" fmla="*/ 0 h 176"/>
                      <a:gd name="txR" fmla="*/ 1 w 1"/>
                      <a:gd name="txB" fmla="*/ 176 h 17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6"/>
                      </a:cxn>
                    </a:cxnLst>
                    <a:rect l="txL" t="txT" r="txR" b="txB"/>
                    <a:pathLst>
                      <a:path w="1" h="176">
                        <a:moveTo>
                          <a:pt x="0" y="0"/>
                        </a:moveTo>
                        <a:lnTo>
                          <a:pt x="0" y="17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41" name="Freeform 129"/>
                  <p:cNvSpPr/>
                  <p:nvPr/>
                </p:nvSpPr>
                <p:spPr>
                  <a:xfrm>
                    <a:off x="912" y="1478"/>
                    <a:ext cx="4422" cy="1"/>
                  </a:xfrm>
                  <a:custGeom>
                    <a:avLst/>
                    <a:gdLst>
                      <a:gd name="txL" fmla="*/ 0 w 4422"/>
                      <a:gd name="txT" fmla="*/ 0 h 1"/>
                      <a:gd name="txR" fmla="*/ 4422 w 4422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22" y="0"/>
                      </a:cxn>
                    </a:cxnLst>
                    <a:rect l="txL" t="txT" r="txR" b="txB"/>
                    <a:pathLst>
                      <a:path w="4422" h="1">
                        <a:moveTo>
                          <a:pt x="0" y="1"/>
                        </a:moveTo>
                        <a:lnTo>
                          <a:pt x="4422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42" name="Line 130"/>
                  <p:cNvSpPr/>
                  <p:nvPr/>
                </p:nvSpPr>
                <p:spPr>
                  <a:xfrm>
                    <a:off x="1296" y="14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43" name="Line 131"/>
                  <p:cNvSpPr/>
                  <p:nvPr/>
                </p:nvSpPr>
                <p:spPr>
                  <a:xfrm>
                    <a:off x="1872" y="14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44" name="Line 132"/>
                  <p:cNvSpPr/>
                  <p:nvPr/>
                </p:nvSpPr>
                <p:spPr>
                  <a:xfrm>
                    <a:off x="2448" y="14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45" name="Line 133"/>
                  <p:cNvSpPr/>
                  <p:nvPr/>
                </p:nvSpPr>
                <p:spPr>
                  <a:xfrm>
                    <a:off x="3024" y="14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46" name="Line 134"/>
                  <p:cNvSpPr/>
                  <p:nvPr/>
                </p:nvSpPr>
                <p:spPr>
                  <a:xfrm>
                    <a:off x="3600" y="14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47" name="Line 135"/>
                  <p:cNvSpPr/>
                  <p:nvPr/>
                </p:nvSpPr>
                <p:spPr>
                  <a:xfrm>
                    <a:off x="4176" y="14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48" name="Line 136"/>
                  <p:cNvSpPr/>
                  <p:nvPr/>
                </p:nvSpPr>
                <p:spPr>
                  <a:xfrm>
                    <a:off x="4752" y="14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49" name="Line 137"/>
                  <p:cNvSpPr/>
                  <p:nvPr/>
                </p:nvSpPr>
                <p:spPr>
                  <a:xfrm>
                    <a:off x="5328" y="14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med" len="med"/>
                  </a:ln>
                </p:spPr>
              </p:sp>
              <p:sp>
                <p:nvSpPr>
                  <p:cNvPr id="289050" name="Freeform 138"/>
                  <p:cNvSpPr/>
                  <p:nvPr/>
                </p:nvSpPr>
                <p:spPr>
                  <a:xfrm>
                    <a:off x="912" y="2054"/>
                    <a:ext cx="4418" cy="1"/>
                  </a:xfrm>
                  <a:custGeom>
                    <a:avLst/>
                    <a:gdLst>
                      <a:gd name="txL" fmla="*/ 0 w 4418"/>
                      <a:gd name="txT" fmla="*/ 0 h 1"/>
                      <a:gd name="txR" fmla="*/ 4418 w 4418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8" y="0"/>
                      </a:cxn>
                    </a:cxnLst>
                    <a:rect l="txL" t="txT" r="txR" b="txB"/>
                    <a:pathLst>
                      <a:path w="4418" h="1">
                        <a:moveTo>
                          <a:pt x="0" y="1"/>
                        </a:moveTo>
                        <a:lnTo>
                          <a:pt x="4418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51" name="Line 139"/>
                  <p:cNvSpPr/>
                  <p:nvPr/>
                </p:nvSpPr>
                <p:spPr>
                  <a:xfrm>
                    <a:off x="1296" y="20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52" name="Line 140"/>
                  <p:cNvSpPr/>
                  <p:nvPr/>
                </p:nvSpPr>
                <p:spPr>
                  <a:xfrm>
                    <a:off x="1872" y="20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53" name="Line 141"/>
                  <p:cNvSpPr/>
                  <p:nvPr/>
                </p:nvSpPr>
                <p:spPr>
                  <a:xfrm>
                    <a:off x="2448" y="20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54" name="Line 142"/>
                  <p:cNvSpPr/>
                  <p:nvPr/>
                </p:nvSpPr>
                <p:spPr>
                  <a:xfrm>
                    <a:off x="3024" y="20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55" name="Line 143"/>
                  <p:cNvSpPr/>
                  <p:nvPr/>
                </p:nvSpPr>
                <p:spPr>
                  <a:xfrm>
                    <a:off x="3600" y="20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56" name="Line 144"/>
                  <p:cNvSpPr/>
                  <p:nvPr/>
                </p:nvSpPr>
                <p:spPr>
                  <a:xfrm>
                    <a:off x="4176" y="20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57" name="Line 145"/>
                  <p:cNvSpPr/>
                  <p:nvPr/>
                </p:nvSpPr>
                <p:spPr>
                  <a:xfrm>
                    <a:off x="4752" y="20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058" name="Line 146"/>
                  <p:cNvSpPr/>
                  <p:nvPr/>
                </p:nvSpPr>
                <p:spPr>
                  <a:xfrm>
                    <a:off x="5328" y="2055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sm" len="sm"/>
                    <a:tailEnd type="none" w="med" len="med"/>
                  </a:ln>
                </p:spPr>
              </p:sp>
              <p:sp>
                <p:nvSpPr>
                  <p:cNvPr id="289059" name="Freeform 147"/>
                  <p:cNvSpPr/>
                  <p:nvPr/>
                </p:nvSpPr>
                <p:spPr>
                  <a:xfrm>
                    <a:off x="913" y="2877"/>
                    <a:ext cx="3860" cy="1"/>
                  </a:xfrm>
                  <a:custGeom>
                    <a:avLst/>
                    <a:gdLst>
                      <a:gd name="txL" fmla="*/ 0 w 3860"/>
                      <a:gd name="txT" fmla="*/ 0 h 1"/>
                      <a:gd name="txR" fmla="*/ 3860 w 3860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3860" y="0"/>
                      </a:cxn>
                    </a:cxnLst>
                    <a:rect l="txL" t="txT" r="txR" b="txB"/>
                    <a:pathLst>
                      <a:path w="3860" h="1">
                        <a:moveTo>
                          <a:pt x="0" y="1"/>
                        </a:moveTo>
                        <a:lnTo>
                          <a:pt x="3860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60" name="Freeform 148"/>
                  <p:cNvSpPr/>
                  <p:nvPr/>
                </p:nvSpPr>
                <p:spPr>
                  <a:xfrm>
                    <a:off x="916" y="3207"/>
                    <a:ext cx="4418" cy="1"/>
                  </a:xfrm>
                  <a:custGeom>
                    <a:avLst/>
                    <a:gdLst>
                      <a:gd name="txL" fmla="*/ 0 w 4418"/>
                      <a:gd name="txT" fmla="*/ 0 h 1"/>
                      <a:gd name="txR" fmla="*/ 4418 w 4418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8" y="0"/>
                      </a:cxn>
                    </a:cxnLst>
                    <a:rect l="txL" t="txT" r="txR" b="txB"/>
                    <a:pathLst>
                      <a:path w="4418" h="1">
                        <a:moveTo>
                          <a:pt x="0" y="1"/>
                        </a:moveTo>
                        <a:lnTo>
                          <a:pt x="4418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61" name="Rectangle 149"/>
                  <p:cNvSpPr/>
                  <p:nvPr/>
                </p:nvSpPr>
                <p:spPr>
                  <a:xfrm>
                    <a:off x="1145" y="3598"/>
                    <a:ext cx="823" cy="227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62" name="Text Box 150"/>
                  <p:cNvSpPr txBox="1"/>
                  <p:nvPr/>
                </p:nvSpPr>
                <p:spPr>
                  <a:xfrm>
                    <a:off x="1176" y="3574"/>
                    <a:ext cx="754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063" name="Freeform 151"/>
                  <p:cNvSpPr/>
                  <p:nvPr/>
                </p:nvSpPr>
                <p:spPr>
                  <a:xfrm>
                    <a:off x="1406" y="1209"/>
                    <a:ext cx="145" cy="1466"/>
                  </a:xfrm>
                  <a:custGeom>
                    <a:avLst/>
                    <a:gdLst>
                      <a:gd name="txL" fmla="*/ 0 w 145"/>
                      <a:gd name="txT" fmla="*/ 0 h 1466"/>
                      <a:gd name="txR" fmla="*/ 145 w 145"/>
                      <a:gd name="txB" fmla="*/ 1466 h 1466"/>
                    </a:gdLst>
                    <a:ahLst/>
                    <a:cxnLst>
                      <a:cxn ang="0">
                        <a:pos x="37" y="0"/>
                      </a:cxn>
                      <a:cxn ang="0">
                        <a:pos x="145" y="0"/>
                      </a:cxn>
                      <a:cxn ang="0">
                        <a:pos x="144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5" h="1466">
                        <a:moveTo>
                          <a:pt x="37" y="0"/>
                        </a:moveTo>
                        <a:lnTo>
                          <a:pt x="145" y="0"/>
                        </a:lnTo>
                        <a:lnTo>
                          <a:pt x="144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64" name="Freeform 152"/>
                  <p:cNvSpPr/>
                  <p:nvPr/>
                </p:nvSpPr>
                <p:spPr>
                  <a:xfrm>
                    <a:off x="1617" y="1209"/>
                    <a:ext cx="169" cy="1469"/>
                  </a:xfrm>
                  <a:custGeom>
                    <a:avLst/>
                    <a:gdLst>
                      <a:gd name="txL" fmla="*/ 0 w 169"/>
                      <a:gd name="txT" fmla="*/ 0 h 1469"/>
                      <a:gd name="txR" fmla="*/ 169 w 169"/>
                      <a:gd name="txB" fmla="*/ 1469 h 1469"/>
                    </a:gdLst>
                    <a:ahLst/>
                    <a:cxnLst>
                      <a:cxn ang="0">
                        <a:pos x="169" y="1468"/>
                      </a:cxn>
                      <a:cxn ang="0">
                        <a:pos x="0" y="1469"/>
                      </a:cxn>
                      <a:cxn ang="0">
                        <a:pos x="1" y="0"/>
                      </a:cxn>
                      <a:cxn ang="0">
                        <a:pos x="105" y="0"/>
                      </a:cxn>
                    </a:cxnLst>
                    <a:rect l="txL" t="txT" r="txR" b="txB"/>
                    <a:pathLst>
                      <a:path w="169" h="1469">
                        <a:moveTo>
                          <a:pt x="169" y="1468"/>
                        </a:moveTo>
                        <a:lnTo>
                          <a:pt x="0" y="1469"/>
                        </a:lnTo>
                        <a:lnTo>
                          <a:pt x="1" y="0"/>
                        </a:lnTo>
                        <a:lnTo>
                          <a:pt x="10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65" name="Freeform 153"/>
                  <p:cNvSpPr/>
                  <p:nvPr/>
                </p:nvSpPr>
                <p:spPr>
                  <a:xfrm>
                    <a:off x="1971" y="1209"/>
                    <a:ext cx="141" cy="1466"/>
                  </a:xfrm>
                  <a:custGeom>
                    <a:avLst/>
                    <a:gdLst>
                      <a:gd name="txL" fmla="*/ 0 w 141"/>
                      <a:gd name="txT" fmla="*/ 0 h 1466"/>
                      <a:gd name="txR" fmla="*/ 141 w 141"/>
                      <a:gd name="txB" fmla="*/ 1466 h 1466"/>
                    </a:gdLst>
                    <a:ahLst/>
                    <a:cxnLst>
                      <a:cxn ang="0">
                        <a:pos x="38" y="0"/>
                      </a:cxn>
                      <a:cxn ang="0">
                        <a:pos x="141" y="0"/>
                      </a:cxn>
                      <a:cxn ang="0">
                        <a:pos x="140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1" h="1466">
                        <a:moveTo>
                          <a:pt x="38" y="0"/>
                        </a:moveTo>
                        <a:lnTo>
                          <a:pt x="141" y="0"/>
                        </a:lnTo>
                        <a:lnTo>
                          <a:pt x="140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66" name="Freeform 154"/>
                  <p:cNvSpPr/>
                  <p:nvPr/>
                </p:nvSpPr>
                <p:spPr>
                  <a:xfrm>
                    <a:off x="2212" y="1209"/>
                    <a:ext cx="155" cy="1467"/>
                  </a:xfrm>
                  <a:custGeom>
                    <a:avLst/>
                    <a:gdLst>
                      <a:gd name="txL" fmla="*/ 0 w 155"/>
                      <a:gd name="txT" fmla="*/ 0 h 1467"/>
                      <a:gd name="txR" fmla="*/ 155 w 155"/>
                      <a:gd name="txB" fmla="*/ 1467 h 1467"/>
                    </a:gdLst>
                    <a:ahLst/>
                    <a:cxnLst>
                      <a:cxn ang="0">
                        <a:pos x="155" y="1467"/>
                      </a:cxn>
                      <a:cxn ang="0">
                        <a:pos x="3" y="1467"/>
                      </a:cxn>
                      <a:cxn ang="0">
                        <a:pos x="0" y="1"/>
                      </a:cxn>
                      <a:cxn ang="0">
                        <a:pos x="89" y="0"/>
                      </a:cxn>
                    </a:cxnLst>
                    <a:rect l="txL" t="txT" r="txR" b="txB"/>
                    <a:pathLst>
                      <a:path w="155" h="1467">
                        <a:moveTo>
                          <a:pt x="155" y="1467"/>
                        </a:moveTo>
                        <a:lnTo>
                          <a:pt x="3" y="1467"/>
                        </a:lnTo>
                        <a:lnTo>
                          <a:pt x="0" y="1"/>
                        </a:lnTo>
                        <a:lnTo>
                          <a:pt x="89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67" name="Freeform 155"/>
                  <p:cNvSpPr/>
                  <p:nvPr/>
                </p:nvSpPr>
                <p:spPr>
                  <a:xfrm>
                    <a:off x="2561" y="1209"/>
                    <a:ext cx="142" cy="1466"/>
                  </a:xfrm>
                  <a:custGeom>
                    <a:avLst/>
                    <a:gdLst>
                      <a:gd name="txL" fmla="*/ 0 w 142"/>
                      <a:gd name="txT" fmla="*/ 0 h 1466"/>
                      <a:gd name="txR" fmla="*/ 142 w 142"/>
                      <a:gd name="txB" fmla="*/ 1466 h 1466"/>
                    </a:gdLst>
                    <a:ahLst/>
                    <a:cxnLst>
                      <a:cxn ang="0">
                        <a:pos x="34" y="0"/>
                      </a:cxn>
                      <a:cxn ang="0">
                        <a:pos x="142" y="0"/>
                      </a:cxn>
                      <a:cxn ang="0">
                        <a:pos x="141" y="1466"/>
                      </a:cxn>
                      <a:cxn ang="0">
                        <a:pos x="0" y="1464"/>
                      </a:cxn>
                    </a:cxnLst>
                    <a:rect l="txL" t="txT" r="txR" b="txB"/>
                    <a:pathLst>
                      <a:path w="142" h="1466">
                        <a:moveTo>
                          <a:pt x="34" y="0"/>
                        </a:moveTo>
                        <a:lnTo>
                          <a:pt x="142" y="0"/>
                        </a:lnTo>
                        <a:lnTo>
                          <a:pt x="141" y="1466"/>
                        </a:lnTo>
                        <a:lnTo>
                          <a:pt x="0" y="1464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68" name="Freeform 156"/>
                  <p:cNvSpPr/>
                  <p:nvPr/>
                </p:nvSpPr>
                <p:spPr>
                  <a:xfrm>
                    <a:off x="2791" y="1209"/>
                    <a:ext cx="152" cy="1467"/>
                  </a:xfrm>
                  <a:custGeom>
                    <a:avLst/>
                    <a:gdLst>
                      <a:gd name="txL" fmla="*/ 0 w 152"/>
                      <a:gd name="txT" fmla="*/ 0 h 1467"/>
                      <a:gd name="txR" fmla="*/ 152 w 152"/>
                      <a:gd name="txB" fmla="*/ 1467 h 1467"/>
                    </a:gdLst>
                    <a:ahLst/>
                    <a:cxnLst>
                      <a:cxn ang="0">
                        <a:pos x="152" y="1467"/>
                      </a:cxn>
                      <a:cxn ang="0">
                        <a:pos x="0" y="1467"/>
                      </a:cxn>
                      <a:cxn ang="0">
                        <a:pos x="0" y="1"/>
                      </a:cxn>
                      <a:cxn ang="0">
                        <a:pos x="77" y="0"/>
                      </a:cxn>
                    </a:cxnLst>
                    <a:rect l="txL" t="txT" r="txR" b="txB"/>
                    <a:pathLst>
                      <a:path w="152" h="1467">
                        <a:moveTo>
                          <a:pt x="152" y="1467"/>
                        </a:moveTo>
                        <a:lnTo>
                          <a:pt x="0" y="1467"/>
                        </a:lnTo>
                        <a:lnTo>
                          <a:pt x="0" y="1"/>
                        </a:lnTo>
                        <a:lnTo>
                          <a:pt x="7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69" name="Freeform 157"/>
                  <p:cNvSpPr/>
                  <p:nvPr/>
                </p:nvSpPr>
                <p:spPr>
                  <a:xfrm>
                    <a:off x="3134" y="1209"/>
                    <a:ext cx="145" cy="1466"/>
                  </a:xfrm>
                  <a:custGeom>
                    <a:avLst/>
                    <a:gdLst>
                      <a:gd name="txL" fmla="*/ 0 w 145"/>
                      <a:gd name="txT" fmla="*/ 0 h 1466"/>
                      <a:gd name="txR" fmla="*/ 145 w 145"/>
                      <a:gd name="txB" fmla="*/ 1466 h 1466"/>
                    </a:gdLst>
                    <a:ahLst/>
                    <a:cxnLst>
                      <a:cxn ang="0">
                        <a:pos x="37" y="0"/>
                      </a:cxn>
                      <a:cxn ang="0">
                        <a:pos x="145" y="0"/>
                      </a:cxn>
                      <a:cxn ang="0">
                        <a:pos x="144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5" h="1466">
                        <a:moveTo>
                          <a:pt x="37" y="0"/>
                        </a:moveTo>
                        <a:lnTo>
                          <a:pt x="145" y="0"/>
                        </a:lnTo>
                        <a:lnTo>
                          <a:pt x="144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70" name="Freeform 158"/>
                  <p:cNvSpPr/>
                  <p:nvPr/>
                </p:nvSpPr>
                <p:spPr>
                  <a:xfrm>
                    <a:off x="3364" y="1207"/>
                    <a:ext cx="155" cy="1469"/>
                  </a:xfrm>
                  <a:custGeom>
                    <a:avLst/>
                    <a:gdLst>
                      <a:gd name="txL" fmla="*/ 0 w 155"/>
                      <a:gd name="txT" fmla="*/ 0 h 1469"/>
                      <a:gd name="txR" fmla="*/ 155 w 155"/>
                      <a:gd name="txB" fmla="*/ 1469 h 1469"/>
                    </a:gdLst>
                    <a:ahLst/>
                    <a:cxnLst>
                      <a:cxn ang="0">
                        <a:pos x="155" y="1469"/>
                      </a:cxn>
                      <a:cxn ang="0">
                        <a:pos x="3" y="1469"/>
                      </a:cxn>
                      <a:cxn ang="0">
                        <a:pos x="0" y="0"/>
                      </a:cxn>
                      <a:cxn ang="0">
                        <a:pos x="103" y="2"/>
                      </a:cxn>
                    </a:cxnLst>
                    <a:rect l="txL" t="txT" r="txR" b="txB"/>
                    <a:pathLst>
                      <a:path w="155" h="1469">
                        <a:moveTo>
                          <a:pt x="155" y="1469"/>
                        </a:moveTo>
                        <a:lnTo>
                          <a:pt x="3" y="1469"/>
                        </a:lnTo>
                        <a:lnTo>
                          <a:pt x="0" y="0"/>
                        </a:lnTo>
                        <a:lnTo>
                          <a:pt x="103" y="2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71" name="Freeform 159"/>
                  <p:cNvSpPr/>
                  <p:nvPr/>
                </p:nvSpPr>
                <p:spPr>
                  <a:xfrm>
                    <a:off x="3714" y="1209"/>
                    <a:ext cx="141" cy="1466"/>
                  </a:xfrm>
                  <a:custGeom>
                    <a:avLst/>
                    <a:gdLst>
                      <a:gd name="txL" fmla="*/ 0 w 141"/>
                      <a:gd name="txT" fmla="*/ 0 h 1466"/>
                      <a:gd name="txR" fmla="*/ 141 w 141"/>
                      <a:gd name="txB" fmla="*/ 1466 h 1466"/>
                    </a:gdLst>
                    <a:ahLst/>
                    <a:cxnLst>
                      <a:cxn ang="0">
                        <a:pos x="42" y="0"/>
                      </a:cxn>
                      <a:cxn ang="0">
                        <a:pos x="141" y="0"/>
                      </a:cxn>
                      <a:cxn ang="0">
                        <a:pos x="140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1" h="1466">
                        <a:moveTo>
                          <a:pt x="42" y="0"/>
                        </a:moveTo>
                        <a:lnTo>
                          <a:pt x="141" y="0"/>
                        </a:lnTo>
                        <a:lnTo>
                          <a:pt x="140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72" name="Freeform 160"/>
                  <p:cNvSpPr/>
                  <p:nvPr/>
                </p:nvSpPr>
                <p:spPr>
                  <a:xfrm>
                    <a:off x="3943" y="1209"/>
                    <a:ext cx="152" cy="1467"/>
                  </a:xfrm>
                  <a:custGeom>
                    <a:avLst/>
                    <a:gdLst>
                      <a:gd name="txL" fmla="*/ 0 w 152"/>
                      <a:gd name="txT" fmla="*/ 0 h 1467"/>
                      <a:gd name="txR" fmla="*/ 152 w 152"/>
                      <a:gd name="txB" fmla="*/ 1467 h 1467"/>
                    </a:gdLst>
                    <a:ahLst/>
                    <a:cxnLst>
                      <a:cxn ang="0">
                        <a:pos x="152" y="1467"/>
                      </a:cxn>
                      <a:cxn ang="0">
                        <a:pos x="0" y="1467"/>
                      </a:cxn>
                      <a:cxn ang="0">
                        <a:pos x="0" y="1"/>
                      </a:cxn>
                      <a:cxn ang="0">
                        <a:pos x="103" y="0"/>
                      </a:cxn>
                    </a:cxnLst>
                    <a:rect l="txL" t="txT" r="txR" b="txB"/>
                    <a:pathLst>
                      <a:path w="152" h="1467">
                        <a:moveTo>
                          <a:pt x="152" y="1467"/>
                        </a:moveTo>
                        <a:lnTo>
                          <a:pt x="0" y="1467"/>
                        </a:lnTo>
                        <a:lnTo>
                          <a:pt x="0" y="1"/>
                        </a:lnTo>
                        <a:lnTo>
                          <a:pt x="103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73" name="Freeform 161"/>
                  <p:cNvSpPr/>
                  <p:nvPr/>
                </p:nvSpPr>
                <p:spPr>
                  <a:xfrm>
                    <a:off x="4284" y="1209"/>
                    <a:ext cx="147" cy="1466"/>
                  </a:xfrm>
                  <a:custGeom>
                    <a:avLst/>
                    <a:gdLst>
                      <a:gd name="txL" fmla="*/ 0 w 147"/>
                      <a:gd name="txT" fmla="*/ 0 h 1466"/>
                      <a:gd name="txR" fmla="*/ 147 w 147"/>
                      <a:gd name="txB" fmla="*/ 1466 h 1466"/>
                    </a:gdLst>
                    <a:ahLst/>
                    <a:cxnLst>
                      <a:cxn ang="0">
                        <a:pos x="51" y="0"/>
                      </a:cxn>
                      <a:cxn ang="0">
                        <a:pos x="147" y="0"/>
                      </a:cxn>
                      <a:cxn ang="0">
                        <a:pos x="146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7" h="1466">
                        <a:moveTo>
                          <a:pt x="51" y="0"/>
                        </a:moveTo>
                        <a:lnTo>
                          <a:pt x="147" y="0"/>
                        </a:lnTo>
                        <a:lnTo>
                          <a:pt x="146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74" name="Freeform 162"/>
                  <p:cNvSpPr/>
                  <p:nvPr/>
                </p:nvSpPr>
                <p:spPr>
                  <a:xfrm>
                    <a:off x="4513" y="1209"/>
                    <a:ext cx="158" cy="1467"/>
                  </a:xfrm>
                  <a:custGeom>
                    <a:avLst/>
                    <a:gdLst>
                      <a:gd name="txL" fmla="*/ 0 w 158"/>
                      <a:gd name="txT" fmla="*/ 0 h 1467"/>
                      <a:gd name="txR" fmla="*/ 158 w 158"/>
                      <a:gd name="txB" fmla="*/ 1467 h 1467"/>
                    </a:gdLst>
                    <a:ahLst/>
                    <a:cxnLst>
                      <a:cxn ang="0">
                        <a:pos x="158" y="1467"/>
                      </a:cxn>
                      <a:cxn ang="0">
                        <a:pos x="0" y="1467"/>
                      </a:cxn>
                      <a:cxn ang="0">
                        <a:pos x="0" y="0"/>
                      </a:cxn>
                      <a:cxn ang="0">
                        <a:pos x="95" y="0"/>
                      </a:cxn>
                    </a:cxnLst>
                    <a:rect l="txL" t="txT" r="txR" b="txB"/>
                    <a:pathLst>
                      <a:path w="158" h="1467">
                        <a:moveTo>
                          <a:pt x="158" y="1467"/>
                        </a:moveTo>
                        <a:lnTo>
                          <a:pt x="0" y="1467"/>
                        </a:lnTo>
                        <a:lnTo>
                          <a:pt x="0" y="0"/>
                        </a:lnTo>
                        <a:lnTo>
                          <a:pt x="95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75" name="Freeform 163"/>
                  <p:cNvSpPr/>
                  <p:nvPr/>
                </p:nvSpPr>
                <p:spPr>
                  <a:xfrm>
                    <a:off x="4865" y="1209"/>
                    <a:ext cx="142" cy="1466"/>
                  </a:xfrm>
                  <a:custGeom>
                    <a:avLst/>
                    <a:gdLst>
                      <a:gd name="txL" fmla="*/ 0 w 142"/>
                      <a:gd name="txT" fmla="*/ 0 h 1466"/>
                      <a:gd name="txR" fmla="*/ 142 w 142"/>
                      <a:gd name="txB" fmla="*/ 1466 h 1466"/>
                    </a:gdLst>
                    <a:ahLst/>
                    <a:cxnLst>
                      <a:cxn ang="0">
                        <a:pos x="34" y="0"/>
                      </a:cxn>
                      <a:cxn ang="0">
                        <a:pos x="142" y="0"/>
                      </a:cxn>
                      <a:cxn ang="0">
                        <a:pos x="141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2" h="1466">
                        <a:moveTo>
                          <a:pt x="34" y="0"/>
                        </a:moveTo>
                        <a:lnTo>
                          <a:pt x="142" y="0"/>
                        </a:lnTo>
                        <a:lnTo>
                          <a:pt x="141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76" name="Freeform 164"/>
                  <p:cNvSpPr/>
                  <p:nvPr/>
                </p:nvSpPr>
                <p:spPr>
                  <a:xfrm>
                    <a:off x="5073" y="1209"/>
                    <a:ext cx="159" cy="1469"/>
                  </a:xfrm>
                  <a:custGeom>
                    <a:avLst/>
                    <a:gdLst>
                      <a:gd name="txL" fmla="*/ 0 w 159"/>
                      <a:gd name="txT" fmla="*/ 0 h 1469"/>
                      <a:gd name="txR" fmla="*/ 159 w 159"/>
                      <a:gd name="txB" fmla="*/ 1469 h 1469"/>
                    </a:gdLst>
                    <a:ahLst/>
                    <a:cxnLst>
                      <a:cxn ang="0">
                        <a:pos x="159" y="1467"/>
                      </a:cxn>
                      <a:cxn ang="0">
                        <a:pos x="0" y="1469"/>
                      </a:cxn>
                      <a:cxn ang="0">
                        <a:pos x="1" y="0"/>
                      </a:cxn>
                      <a:cxn ang="0">
                        <a:pos x="104" y="0"/>
                      </a:cxn>
                    </a:cxnLst>
                    <a:rect l="txL" t="txT" r="txR" b="txB"/>
                    <a:pathLst>
                      <a:path w="159" h="1469">
                        <a:moveTo>
                          <a:pt x="159" y="1467"/>
                        </a:moveTo>
                        <a:lnTo>
                          <a:pt x="0" y="1469"/>
                        </a:lnTo>
                        <a:lnTo>
                          <a:pt x="1" y="0"/>
                        </a:lnTo>
                        <a:lnTo>
                          <a:pt x="104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77" name="Freeform 165"/>
                  <p:cNvSpPr/>
                  <p:nvPr/>
                </p:nvSpPr>
                <p:spPr>
                  <a:xfrm>
                    <a:off x="5421" y="1209"/>
                    <a:ext cx="147" cy="1466"/>
                  </a:xfrm>
                  <a:custGeom>
                    <a:avLst/>
                    <a:gdLst>
                      <a:gd name="txL" fmla="*/ 0 w 147"/>
                      <a:gd name="txT" fmla="*/ 0 h 1466"/>
                      <a:gd name="txR" fmla="*/ 147 w 147"/>
                      <a:gd name="txB" fmla="*/ 1466 h 1466"/>
                    </a:gdLst>
                    <a:ahLst/>
                    <a:cxnLst>
                      <a:cxn ang="0">
                        <a:pos x="47" y="0"/>
                      </a:cxn>
                      <a:cxn ang="0">
                        <a:pos x="147" y="0"/>
                      </a:cxn>
                      <a:cxn ang="0">
                        <a:pos x="146" y="1466"/>
                      </a:cxn>
                      <a:cxn ang="0">
                        <a:pos x="0" y="1466"/>
                      </a:cxn>
                    </a:cxnLst>
                    <a:rect l="txL" t="txT" r="txR" b="txB"/>
                    <a:pathLst>
                      <a:path w="147" h="1466">
                        <a:moveTo>
                          <a:pt x="47" y="0"/>
                        </a:moveTo>
                        <a:lnTo>
                          <a:pt x="147" y="0"/>
                        </a:lnTo>
                        <a:lnTo>
                          <a:pt x="146" y="1466"/>
                        </a:lnTo>
                        <a:lnTo>
                          <a:pt x="0" y="14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78" name="Freeform 166"/>
                  <p:cNvSpPr/>
                  <p:nvPr/>
                </p:nvSpPr>
                <p:spPr>
                  <a:xfrm>
                    <a:off x="1059" y="2736"/>
                    <a:ext cx="730" cy="660"/>
                  </a:xfrm>
                  <a:custGeom>
                    <a:avLst/>
                    <a:gdLst>
                      <a:gd name="txL" fmla="*/ 0 w 730"/>
                      <a:gd name="txT" fmla="*/ 0 h 660"/>
                      <a:gd name="txR" fmla="*/ 730 w 730"/>
                      <a:gd name="txB" fmla="*/ 660 h 660"/>
                    </a:gdLst>
                    <a:ahLst/>
                    <a:cxnLst>
                      <a:cxn ang="0">
                        <a:pos x="160" y="4"/>
                      </a:cxn>
                      <a:cxn ang="0">
                        <a:pos x="0" y="3"/>
                      </a:cxn>
                      <a:cxn ang="0">
                        <a:pos x="0" y="660"/>
                      </a:cxn>
                      <a:cxn ang="0">
                        <a:pos x="558" y="657"/>
                      </a:cxn>
                      <a:cxn ang="0">
                        <a:pos x="558" y="0"/>
                      </a:cxn>
                      <a:cxn ang="0">
                        <a:pos x="730" y="1"/>
                      </a:cxn>
                    </a:cxnLst>
                    <a:rect l="txL" t="txT" r="txR" b="txB"/>
                    <a:pathLst>
                      <a:path w="730" h="660">
                        <a:moveTo>
                          <a:pt x="160" y="4"/>
                        </a:moveTo>
                        <a:lnTo>
                          <a:pt x="0" y="3"/>
                        </a:lnTo>
                        <a:lnTo>
                          <a:pt x="0" y="660"/>
                        </a:lnTo>
                        <a:lnTo>
                          <a:pt x="558" y="657"/>
                        </a:lnTo>
                        <a:lnTo>
                          <a:pt x="558" y="0"/>
                        </a:lnTo>
                        <a:lnTo>
                          <a:pt x="730" y="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79" name="Freeform 167"/>
                  <p:cNvSpPr/>
                  <p:nvPr/>
                </p:nvSpPr>
                <p:spPr>
                  <a:xfrm>
                    <a:off x="2211" y="2742"/>
                    <a:ext cx="729" cy="658"/>
                  </a:xfrm>
                  <a:custGeom>
                    <a:avLst/>
                    <a:gdLst>
                      <a:gd name="txL" fmla="*/ 0 w 729"/>
                      <a:gd name="txT" fmla="*/ 0 h 658"/>
                      <a:gd name="txR" fmla="*/ 729 w 729"/>
                      <a:gd name="txB" fmla="*/ 658 h 658"/>
                    </a:gdLst>
                    <a:ahLst/>
                    <a:cxnLst>
                      <a:cxn ang="0">
                        <a:pos x="153" y="0"/>
                      </a:cxn>
                      <a:cxn ang="0">
                        <a:pos x="0" y="0"/>
                      </a:cxn>
                      <a:cxn ang="0">
                        <a:pos x="0" y="657"/>
                      </a:cxn>
                      <a:cxn ang="0">
                        <a:pos x="583" y="658"/>
                      </a:cxn>
                      <a:cxn ang="0">
                        <a:pos x="582" y="3"/>
                      </a:cxn>
                      <a:cxn ang="0">
                        <a:pos x="729" y="3"/>
                      </a:cxn>
                    </a:cxnLst>
                    <a:rect l="txL" t="txT" r="txR" b="txB"/>
                    <a:pathLst>
                      <a:path w="729" h="658">
                        <a:moveTo>
                          <a:pt x="153" y="0"/>
                        </a:moveTo>
                        <a:lnTo>
                          <a:pt x="0" y="0"/>
                        </a:lnTo>
                        <a:lnTo>
                          <a:pt x="0" y="657"/>
                        </a:lnTo>
                        <a:lnTo>
                          <a:pt x="583" y="658"/>
                        </a:lnTo>
                        <a:lnTo>
                          <a:pt x="582" y="3"/>
                        </a:lnTo>
                        <a:lnTo>
                          <a:pt x="729" y="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80" name="Freeform 168"/>
                  <p:cNvSpPr/>
                  <p:nvPr/>
                </p:nvSpPr>
                <p:spPr>
                  <a:xfrm>
                    <a:off x="3360" y="2742"/>
                    <a:ext cx="729" cy="657"/>
                  </a:xfrm>
                  <a:custGeom>
                    <a:avLst/>
                    <a:gdLst>
                      <a:gd name="txL" fmla="*/ 0 w 729"/>
                      <a:gd name="txT" fmla="*/ 0 h 657"/>
                      <a:gd name="txR" fmla="*/ 729 w 729"/>
                      <a:gd name="txB" fmla="*/ 657 h 657"/>
                    </a:gdLst>
                    <a:ahLst/>
                    <a:cxnLst>
                      <a:cxn ang="0">
                        <a:pos x="158" y="0"/>
                      </a:cxn>
                      <a:cxn ang="0">
                        <a:pos x="0" y="0"/>
                      </a:cxn>
                      <a:cxn ang="0">
                        <a:pos x="0" y="657"/>
                      </a:cxn>
                      <a:cxn ang="0">
                        <a:pos x="579" y="654"/>
                      </a:cxn>
                      <a:cxn ang="0">
                        <a:pos x="582" y="3"/>
                      </a:cxn>
                      <a:cxn ang="0">
                        <a:pos x="729" y="3"/>
                      </a:cxn>
                    </a:cxnLst>
                    <a:rect l="txL" t="txT" r="txR" b="txB"/>
                    <a:pathLst>
                      <a:path w="729" h="657">
                        <a:moveTo>
                          <a:pt x="158" y="0"/>
                        </a:moveTo>
                        <a:lnTo>
                          <a:pt x="0" y="0"/>
                        </a:lnTo>
                        <a:lnTo>
                          <a:pt x="0" y="657"/>
                        </a:lnTo>
                        <a:lnTo>
                          <a:pt x="579" y="654"/>
                        </a:lnTo>
                        <a:lnTo>
                          <a:pt x="582" y="3"/>
                        </a:lnTo>
                        <a:lnTo>
                          <a:pt x="729" y="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81" name="Freeform 169"/>
                  <p:cNvSpPr/>
                  <p:nvPr/>
                </p:nvSpPr>
                <p:spPr>
                  <a:xfrm>
                    <a:off x="4512" y="2742"/>
                    <a:ext cx="729" cy="657"/>
                  </a:xfrm>
                  <a:custGeom>
                    <a:avLst/>
                    <a:gdLst>
                      <a:gd name="txL" fmla="*/ 0 w 729"/>
                      <a:gd name="txT" fmla="*/ 0 h 657"/>
                      <a:gd name="txR" fmla="*/ 729 w 729"/>
                      <a:gd name="txB" fmla="*/ 657 h 657"/>
                    </a:gdLst>
                    <a:ahLst/>
                    <a:cxnLst>
                      <a:cxn ang="0">
                        <a:pos x="161" y="2"/>
                      </a:cxn>
                      <a:cxn ang="0">
                        <a:pos x="0" y="0"/>
                      </a:cxn>
                      <a:cxn ang="0">
                        <a:pos x="0" y="657"/>
                      </a:cxn>
                      <a:cxn ang="0">
                        <a:pos x="579" y="654"/>
                      </a:cxn>
                      <a:cxn ang="0">
                        <a:pos x="582" y="3"/>
                      </a:cxn>
                      <a:cxn ang="0">
                        <a:pos x="729" y="3"/>
                      </a:cxn>
                    </a:cxnLst>
                    <a:rect l="txL" t="txT" r="txR" b="txB"/>
                    <a:pathLst>
                      <a:path w="729" h="657">
                        <a:moveTo>
                          <a:pt x="161" y="2"/>
                        </a:moveTo>
                        <a:lnTo>
                          <a:pt x="0" y="0"/>
                        </a:lnTo>
                        <a:lnTo>
                          <a:pt x="0" y="657"/>
                        </a:lnTo>
                        <a:lnTo>
                          <a:pt x="579" y="654"/>
                        </a:lnTo>
                        <a:lnTo>
                          <a:pt x="582" y="3"/>
                        </a:lnTo>
                        <a:lnTo>
                          <a:pt x="729" y="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82" name="Freeform 170"/>
                  <p:cNvSpPr/>
                  <p:nvPr/>
                </p:nvSpPr>
                <p:spPr>
                  <a:xfrm>
                    <a:off x="1404" y="2733"/>
                    <a:ext cx="708" cy="571"/>
                  </a:xfrm>
                  <a:custGeom>
                    <a:avLst/>
                    <a:gdLst>
                      <a:gd name="txL" fmla="*/ 0 w 708"/>
                      <a:gd name="txT" fmla="*/ 0 h 571"/>
                      <a:gd name="txR" fmla="*/ 708 w 708"/>
                      <a:gd name="txB" fmla="*/ 571 h 57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32" y="0"/>
                      </a:cxn>
                      <a:cxn ang="0">
                        <a:pos x="133" y="571"/>
                      </a:cxn>
                      <a:cxn ang="0">
                        <a:pos x="708" y="570"/>
                      </a:cxn>
                      <a:cxn ang="0">
                        <a:pos x="708" y="9"/>
                      </a:cxn>
                      <a:cxn ang="0">
                        <a:pos x="573" y="9"/>
                      </a:cxn>
                    </a:cxnLst>
                    <a:rect l="txL" t="txT" r="txR" b="txB"/>
                    <a:pathLst>
                      <a:path w="708" h="571">
                        <a:moveTo>
                          <a:pt x="0" y="0"/>
                        </a:moveTo>
                        <a:lnTo>
                          <a:pt x="132" y="0"/>
                        </a:lnTo>
                        <a:lnTo>
                          <a:pt x="133" y="571"/>
                        </a:lnTo>
                        <a:lnTo>
                          <a:pt x="708" y="570"/>
                        </a:lnTo>
                        <a:lnTo>
                          <a:pt x="708" y="9"/>
                        </a:lnTo>
                        <a:lnTo>
                          <a:pt x="573" y="9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83" name="Freeform 171"/>
                  <p:cNvSpPr/>
                  <p:nvPr/>
                </p:nvSpPr>
                <p:spPr>
                  <a:xfrm>
                    <a:off x="2556" y="2733"/>
                    <a:ext cx="726" cy="567"/>
                  </a:xfrm>
                  <a:custGeom>
                    <a:avLst/>
                    <a:gdLst>
                      <a:gd name="txL" fmla="*/ 0 w 726"/>
                      <a:gd name="txT" fmla="*/ 0 h 567"/>
                      <a:gd name="txR" fmla="*/ 726 w 726"/>
                      <a:gd name="txB" fmla="*/ 567 h 567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48" y="1"/>
                      </a:cxn>
                      <a:cxn ang="0">
                        <a:pos x="147" y="567"/>
                      </a:cxn>
                      <a:cxn ang="0">
                        <a:pos x="726" y="567"/>
                      </a:cxn>
                      <a:cxn ang="0">
                        <a:pos x="726" y="6"/>
                      </a:cxn>
                      <a:cxn ang="0">
                        <a:pos x="579" y="6"/>
                      </a:cxn>
                    </a:cxnLst>
                    <a:rect l="txL" t="txT" r="txR" b="txB"/>
                    <a:pathLst>
                      <a:path w="726" h="567">
                        <a:moveTo>
                          <a:pt x="0" y="0"/>
                        </a:moveTo>
                        <a:lnTo>
                          <a:pt x="148" y="1"/>
                        </a:lnTo>
                        <a:lnTo>
                          <a:pt x="147" y="567"/>
                        </a:lnTo>
                        <a:lnTo>
                          <a:pt x="726" y="567"/>
                        </a:lnTo>
                        <a:lnTo>
                          <a:pt x="726" y="6"/>
                        </a:lnTo>
                        <a:lnTo>
                          <a:pt x="579" y="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84" name="Freeform 172"/>
                  <p:cNvSpPr/>
                  <p:nvPr/>
                </p:nvSpPr>
                <p:spPr>
                  <a:xfrm>
                    <a:off x="3708" y="2736"/>
                    <a:ext cx="714" cy="567"/>
                  </a:xfrm>
                  <a:custGeom>
                    <a:avLst/>
                    <a:gdLst>
                      <a:gd name="txL" fmla="*/ 0 w 714"/>
                      <a:gd name="txT" fmla="*/ 0 h 567"/>
                      <a:gd name="txR" fmla="*/ 714 w 714"/>
                      <a:gd name="txB" fmla="*/ 567 h 567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36" y="1"/>
                      </a:cxn>
                      <a:cxn ang="0">
                        <a:pos x="135" y="567"/>
                      </a:cxn>
                      <a:cxn ang="0">
                        <a:pos x="714" y="567"/>
                      </a:cxn>
                      <a:cxn ang="0">
                        <a:pos x="714" y="6"/>
                      </a:cxn>
                      <a:cxn ang="0">
                        <a:pos x="576" y="5"/>
                      </a:cxn>
                    </a:cxnLst>
                    <a:rect l="txL" t="txT" r="txR" b="txB"/>
                    <a:pathLst>
                      <a:path w="714" h="567">
                        <a:moveTo>
                          <a:pt x="0" y="0"/>
                        </a:moveTo>
                        <a:lnTo>
                          <a:pt x="136" y="1"/>
                        </a:lnTo>
                        <a:lnTo>
                          <a:pt x="135" y="567"/>
                        </a:lnTo>
                        <a:lnTo>
                          <a:pt x="714" y="567"/>
                        </a:lnTo>
                        <a:lnTo>
                          <a:pt x="714" y="6"/>
                        </a:lnTo>
                        <a:lnTo>
                          <a:pt x="576" y="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85" name="Freeform 173"/>
                  <p:cNvSpPr/>
                  <p:nvPr/>
                </p:nvSpPr>
                <p:spPr>
                  <a:xfrm>
                    <a:off x="4863" y="2736"/>
                    <a:ext cx="711" cy="567"/>
                  </a:xfrm>
                  <a:custGeom>
                    <a:avLst/>
                    <a:gdLst>
                      <a:gd name="txL" fmla="*/ 0 w 711"/>
                      <a:gd name="txT" fmla="*/ 0 h 567"/>
                      <a:gd name="txR" fmla="*/ 711 w 711"/>
                      <a:gd name="txB" fmla="*/ 567 h 567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30" y="1"/>
                      </a:cxn>
                      <a:cxn ang="0">
                        <a:pos x="132" y="567"/>
                      </a:cxn>
                      <a:cxn ang="0">
                        <a:pos x="711" y="567"/>
                      </a:cxn>
                      <a:cxn ang="0">
                        <a:pos x="711" y="6"/>
                      </a:cxn>
                      <a:cxn ang="0">
                        <a:pos x="564" y="6"/>
                      </a:cxn>
                    </a:cxnLst>
                    <a:rect l="txL" t="txT" r="txR" b="txB"/>
                    <a:pathLst>
                      <a:path w="711" h="567">
                        <a:moveTo>
                          <a:pt x="0" y="0"/>
                        </a:moveTo>
                        <a:lnTo>
                          <a:pt x="130" y="1"/>
                        </a:lnTo>
                        <a:lnTo>
                          <a:pt x="132" y="567"/>
                        </a:lnTo>
                        <a:lnTo>
                          <a:pt x="711" y="567"/>
                        </a:lnTo>
                        <a:lnTo>
                          <a:pt x="711" y="6"/>
                        </a:lnTo>
                        <a:lnTo>
                          <a:pt x="564" y="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86" name="Freeform 174"/>
                  <p:cNvSpPr/>
                  <p:nvPr/>
                </p:nvSpPr>
                <p:spPr>
                  <a:xfrm>
                    <a:off x="1326" y="3396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87" name="Freeform 175"/>
                  <p:cNvSpPr/>
                  <p:nvPr/>
                </p:nvSpPr>
                <p:spPr>
                  <a:xfrm>
                    <a:off x="2495" y="3399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88" name="Freeform 176"/>
                  <p:cNvSpPr/>
                  <p:nvPr/>
                </p:nvSpPr>
                <p:spPr>
                  <a:xfrm>
                    <a:off x="3647" y="3399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89" name="Freeform 177"/>
                  <p:cNvSpPr/>
                  <p:nvPr/>
                </p:nvSpPr>
                <p:spPr>
                  <a:xfrm>
                    <a:off x="4799" y="3399"/>
                    <a:ext cx="1" cy="150"/>
                  </a:xfrm>
                  <a:custGeom>
                    <a:avLst/>
                    <a:gdLst>
                      <a:gd name="txL" fmla="*/ 0 w 1"/>
                      <a:gd name="txT" fmla="*/ 0 h 150"/>
                      <a:gd name="txR" fmla="*/ 1 w 1"/>
                      <a:gd name="txB" fmla="*/ 150 h 150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0"/>
                      </a:cxn>
                    </a:cxnLst>
                    <a:rect l="txL" t="txT" r="txR" b="txB"/>
                    <a:pathLst>
                      <a:path w="1" h="150">
                        <a:moveTo>
                          <a:pt x="0" y="0"/>
                        </a:moveTo>
                        <a:lnTo>
                          <a:pt x="0" y="15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90" name="Freeform 178"/>
                  <p:cNvSpPr/>
                  <p:nvPr/>
                </p:nvSpPr>
                <p:spPr>
                  <a:xfrm>
                    <a:off x="5280" y="3303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91" name="Freeform 179"/>
                  <p:cNvSpPr/>
                  <p:nvPr/>
                </p:nvSpPr>
                <p:spPr>
                  <a:xfrm>
                    <a:off x="4128" y="3303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92" name="Freeform 180"/>
                  <p:cNvSpPr/>
                  <p:nvPr/>
                </p:nvSpPr>
                <p:spPr>
                  <a:xfrm>
                    <a:off x="2976" y="3303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93" name="Freeform 181"/>
                  <p:cNvSpPr/>
                  <p:nvPr/>
                </p:nvSpPr>
                <p:spPr>
                  <a:xfrm>
                    <a:off x="1823" y="3303"/>
                    <a:ext cx="1" cy="246"/>
                  </a:xfrm>
                  <a:custGeom>
                    <a:avLst/>
                    <a:gdLst>
                      <a:gd name="txL" fmla="*/ 0 w 1"/>
                      <a:gd name="txT" fmla="*/ 0 h 246"/>
                      <a:gd name="txR" fmla="*/ 1 w 1"/>
                      <a:gd name="txB" fmla="*/ 246 h 24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6"/>
                      </a:cxn>
                    </a:cxnLst>
                    <a:rect l="txL" t="txT" r="txR" b="txB"/>
                    <a:pathLst>
                      <a:path w="1" h="246">
                        <a:moveTo>
                          <a:pt x="0" y="0"/>
                        </a:moveTo>
                        <a:lnTo>
                          <a:pt x="0" y="24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94" name="Freeform 182"/>
                  <p:cNvSpPr/>
                  <p:nvPr/>
                </p:nvSpPr>
                <p:spPr>
                  <a:xfrm>
                    <a:off x="960" y="4023"/>
                    <a:ext cx="4317" cy="1"/>
                  </a:xfrm>
                  <a:custGeom>
                    <a:avLst/>
                    <a:gdLst>
                      <a:gd name="txL" fmla="*/ 0 w 4317"/>
                      <a:gd name="txT" fmla="*/ 0 h 1"/>
                      <a:gd name="txR" fmla="*/ 4317 w 4317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4317" y="0"/>
                      </a:cxn>
                    </a:cxnLst>
                    <a:rect l="txL" t="txT" r="txR" b="txB"/>
                    <a:pathLst>
                      <a:path w="4317" h="1">
                        <a:moveTo>
                          <a:pt x="0" y="0"/>
                        </a:moveTo>
                        <a:lnTo>
                          <a:pt x="431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95" name="Freeform 183"/>
                  <p:cNvSpPr/>
                  <p:nvPr/>
                </p:nvSpPr>
                <p:spPr>
                  <a:xfrm>
                    <a:off x="960" y="4119"/>
                    <a:ext cx="3837" cy="1"/>
                  </a:xfrm>
                  <a:custGeom>
                    <a:avLst/>
                    <a:gdLst>
                      <a:gd name="txL" fmla="*/ 0 w 3837"/>
                      <a:gd name="txT" fmla="*/ 0 h 1"/>
                      <a:gd name="txR" fmla="*/ 3837 w 3837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3837" y="0"/>
                      </a:cxn>
                    </a:cxnLst>
                    <a:rect l="txL" t="txT" r="txR" b="txB"/>
                    <a:pathLst>
                      <a:path w="3837" h="1">
                        <a:moveTo>
                          <a:pt x="0" y="0"/>
                        </a:moveTo>
                        <a:lnTo>
                          <a:pt x="3837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96" name="Freeform 184"/>
                  <p:cNvSpPr/>
                  <p:nvPr/>
                </p:nvSpPr>
                <p:spPr>
                  <a:xfrm>
                    <a:off x="1326" y="3879"/>
                    <a:ext cx="1" cy="243"/>
                  </a:xfrm>
                  <a:custGeom>
                    <a:avLst/>
                    <a:gdLst>
                      <a:gd name="txL" fmla="*/ 0 w 1"/>
                      <a:gd name="txT" fmla="*/ 0 h 243"/>
                      <a:gd name="txR" fmla="*/ 1 w 1"/>
                      <a:gd name="txB" fmla="*/ 243 h 243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3"/>
                      </a:cxn>
                    </a:cxnLst>
                    <a:rect l="txL" t="txT" r="txR" b="txB"/>
                    <a:pathLst>
                      <a:path w="1" h="243">
                        <a:moveTo>
                          <a:pt x="0" y="0"/>
                        </a:moveTo>
                        <a:lnTo>
                          <a:pt x="0" y="24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97" name="Freeform 185"/>
                  <p:cNvSpPr/>
                  <p:nvPr/>
                </p:nvSpPr>
                <p:spPr>
                  <a:xfrm>
                    <a:off x="2495" y="3879"/>
                    <a:ext cx="1" cy="243"/>
                  </a:xfrm>
                  <a:custGeom>
                    <a:avLst/>
                    <a:gdLst>
                      <a:gd name="txL" fmla="*/ 0 w 1"/>
                      <a:gd name="txT" fmla="*/ 0 h 243"/>
                      <a:gd name="txR" fmla="*/ 1 w 1"/>
                      <a:gd name="txB" fmla="*/ 243 h 243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3"/>
                      </a:cxn>
                    </a:cxnLst>
                    <a:rect l="txL" t="txT" r="txR" b="txB"/>
                    <a:pathLst>
                      <a:path w="1" h="243">
                        <a:moveTo>
                          <a:pt x="0" y="0"/>
                        </a:moveTo>
                        <a:lnTo>
                          <a:pt x="0" y="24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98" name="Freeform 186"/>
                  <p:cNvSpPr/>
                  <p:nvPr/>
                </p:nvSpPr>
                <p:spPr>
                  <a:xfrm>
                    <a:off x="3647" y="3879"/>
                    <a:ext cx="1" cy="243"/>
                  </a:xfrm>
                  <a:custGeom>
                    <a:avLst/>
                    <a:gdLst>
                      <a:gd name="txL" fmla="*/ 0 w 1"/>
                      <a:gd name="txT" fmla="*/ 0 h 243"/>
                      <a:gd name="txR" fmla="*/ 1 w 1"/>
                      <a:gd name="txB" fmla="*/ 243 h 243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243"/>
                      </a:cxn>
                    </a:cxnLst>
                    <a:rect l="txL" t="txT" r="txR" b="txB"/>
                    <a:pathLst>
                      <a:path w="1" h="243">
                        <a:moveTo>
                          <a:pt x="0" y="0"/>
                        </a:moveTo>
                        <a:lnTo>
                          <a:pt x="0" y="243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099" name="Freeform 187"/>
                  <p:cNvSpPr/>
                  <p:nvPr/>
                </p:nvSpPr>
                <p:spPr>
                  <a:xfrm>
                    <a:off x="4795" y="3879"/>
                    <a:ext cx="4" cy="247"/>
                  </a:xfrm>
                  <a:custGeom>
                    <a:avLst/>
                    <a:gdLst>
                      <a:gd name="txL" fmla="*/ 0 w 4"/>
                      <a:gd name="txT" fmla="*/ 0 h 247"/>
                      <a:gd name="txR" fmla="*/ 4 w 4"/>
                      <a:gd name="txB" fmla="*/ 247 h 247"/>
                    </a:gdLst>
                    <a:ahLst/>
                    <a:cxnLst>
                      <a:cxn ang="0">
                        <a:pos x="4" y="0"/>
                      </a:cxn>
                      <a:cxn ang="0">
                        <a:pos x="0" y="247"/>
                      </a:cxn>
                    </a:cxnLst>
                    <a:rect l="txL" t="txT" r="txR" b="txB"/>
                    <a:pathLst>
                      <a:path w="4" h="247">
                        <a:moveTo>
                          <a:pt x="4" y="0"/>
                        </a:moveTo>
                        <a:lnTo>
                          <a:pt x="0" y="247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100" name="Freeform 188"/>
                  <p:cNvSpPr/>
                  <p:nvPr/>
                </p:nvSpPr>
                <p:spPr>
                  <a:xfrm>
                    <a:off x="5281" y="3879"/>
                    <a:ext cx="1" cy="151"/>
                  </a:xfrm>
                  <a:custGeom>
                    <a:avLst/>
                    <a:gdLst>
                      <a:gd name="txL" fmla="*/ 0 w 1"/>
                      <a:gd name="txT" fmla="*/ 0 h 151"/>
                      <a:gd name="txR" fmla="*/ 1 w 1"/>
                      <a:gd name="txB" fmla="*/ 151 h 15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51"/>
                      </a:cxn>
                    </a:cxnLst>
                    <a:rect l="txL" t="txT" r="txR" b="txB"/>
                    <a:pathLst>
                      <a:path w="1" h="151">
                        <a:moveTo>
                          <a:pt x="0" y="0"/>
                        </a:moveTo>
                        <a:lnTo>
                          <a:pt x="0" y="151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101" name="Line 189"/>
                  <p:cNvSpPr/>
                  <p:nvPr/>
                </p:nvSpPr>
                <p:spPr>
                  <a:xfrm>
                    <a:off x="4128" y="38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oval" w="sm" len="sm"/>
                  </a:ln>
                </p:spPr>
              </p:sp>
              <p:sp>
                <p:nvSpPr>
                  <p:cNvPr id="289102" name="Line 190"/>
                  <p:cNvSpPr/>
                  <p:nvPr/>
                </p:nvSpPr>
                <p:spPr>
                  <a:xfrm>
                    <a:off x="2977" y="38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oval" w="sm" len="sm"/>
                  </a:ln>
                </p:spPr>
              </p:sp>
              <p:sp>
                <p:nvSpPr>
                  <p:cNvPr id="289103" name="Line 191"/>
                  <p:cNvSpPr/>
                  <p:nvPr/>
                </p:nvSpPr>
                <p:spPr>
                  <a:xfrm>
                    <a:off x="1824" y="3879"/>
                    <a:ext cx="0" cy="144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oval" w="sm" len="sm"/>
                  </a:ln>
                </p:spPr>
              </p:sp>
              <p:sp>
                <p:nvSpPr>
                  <p:cNvPr id="289104" name="Rectangle 192"/>
                  <p:cNvSpPr/>
                  <p:nvPr/>
                </p:nvSpPr>
                <p:spPr>
                  <a:xfrm>
                    <a:off x="2321" y="3598"/>
                    <a:ext cx="823" cy="227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105" name="Text Box 193"/>
                  <p:cNvSpPr txBox="1"/>
                  <p:nvPr/>
                </p:nvSpPr>
                <p:spPr>
                  <a:xfrm>
                    <a:off x="2352" y="3574"/>
                    <a:ext cx="754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06" name="Rectangle 194"/>
                  <p:cNvSpPr/>
                  <p:nvPr/>
                </p:nvSpPr>
                <p:spPr>
                  <a:xfrm>
                    <a:off x="3473" y="3598"/>
                    <a:ext cx="823" cy="227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107" name="Text Box 195"/>
                  <p:cNvSpPr txBox="1"/>
                  <p:nvPr/>
                </p:nvSpPr>
                <p:spPr>
                  <a:xfrm>
                    <a:off x="3504" y="3574"/>
                    <a:ext cx="754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08" name="Rectangle 196"/>
                  <p:cNvSpPr/>
                  <p:nvPr/>
                </p:nvSpPr>
                <p:spPr>
                  <a:xfrm>
                    <a:off x="4625" y="3598"/>
                    <a:ext cx="823" cy="227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109" name="Text Box 197"/>
                  <p:cNvSpPr txBox="1"/>
                  <p:nvPr/>
                </p:nvSpPr>
                <p:spPr>
                  <a:xfrm>
                    <a:off x="4656" y="3574"/>
                    <a:ext cx="754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10" name="Line 198"/>
                  <p:cNvSpPr/>
                  <p:nvPr/>
                </p:nvSpPr>
                <p:spPr>
                  <a:xfrm>
                    <a:off x="1968" y="3735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9111" name="Line 199"/>
                  <p:cNvSpPr/>
                  <p:nvPr/>
                </p:nvSpPr>
                <p:spPr>
                  <a:xfrm>
                    <a:off x="3148" y="3735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9112" name="Line 200"/>
                  <p:cNvSpPr/>
                  <p:nvPr/>
                </p:nvSpPr>
                <p:spPr>
                  <a:xfrm>
                    <a:off x="4297" y="3735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9113" name="Line 201"/>
                  <p:cNvSpPr/>
                  <p:nvPr/>
                </p:nvSpPr>
                <p:spPr>
                  <a:xfrm>
                    <a:off x="5424" y="3735"/>
                    <a:ext cx="181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stealth" w="sm" len="sm"/>
                    <a:tailEnd type="stealth" w="sm" len="sm"/>
                  </a:ln>
                </p:spPr>
              </p:sp>
              <p:sp>
                <p:nvSpPr>
                  <p:cNvPr id="289114" name="Freeform 202"/>
                  <p:cNvSpPr/>
                  <p:nvPr/>
                </p:nvSpPr>
                <p:spPr>
                  <a:xfrm>
                    <a:off x="3037" y="2706"/>
                    <a:ext cx="47" cy="501"/>
                  </a:xfrm>
                  <a:custGeom>
                    <a:avLst/>
                    <a:gdLst>
                      <a:gd name="txL" fmla="*/ 0 w 1"/>
                      <a:gd name="txT" fmla="*/ 0 h 406"/>
                      <a:gd name="txR" fmla="*/ 1 w 1"/>
                      <a:gd name="txB" fmla="*/ 406 h 40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06"/>
                      </a:cxn>
                    </a:cxnLst>
                    <a:rect l="txL" t="txT" r="txR" b="txB"/>
                    <a:pathLst>
                      <a:path w="1" h="406">
                        <a:moveTo>
                          <a:pt x="0" y="0"/>
                        </a:moveTo>
                        <a:lnTo>
                          <a:pt x="0" y="40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115" name="Freeform 203"/>
                  <p:cNvSpPr/>
                  <p:nvPr/>
                </p:nvSpPr>
                <p:spPr>
                  <a:xfrm>
                    <a:off x="4189" y="2689"/>
                    <a:ext cx="1" cy="525"/>
                  </a:xfrm>
                  <a:custGeom>
                    <a:avLst/>
                    <a:gdLst>
                      <a:gd name="txL" fmla="*/ 0 w 1"/>
                      <a:gd name="txT" fmla="*/ 0 h 525"/>
                      <a:gd name="txR" fmla="*/ 1 w 1"/>
                      <a:gd name="txB" fmla="*/ 525 h 525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525"/>
                      </a:cxn>
                    </a:cxnLst>
                    <a:rect l="txL" t="txT" r="txR" b="txB"/>
                    <a:pathLst>
                      <a:path w="1" h="525">
                        <a:moveTo>
                          <a:pt x="0" y="0"/>
                        </a:moveTo>
                        <a:lnTo>
                          <a:pt x="0" y="525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116" name="Freeform 204"/>
                  <p:cNvSpPr/>
                  <p:nvPr/>
                </p:nvSpPr>
                <p:spPr>
                  <a:xfrm>
                    <a:off x="5329" y="2706"/>
                    <a:ext cx="47" cy="501"/>
                  </a:xfrm>
                  <a:custGeom>
                    <a:avLst/>
                    <a:gdLst>
                      <a:gd name="txL" fmla="*/ 0 w 1"/>
                      <a:gd name="txT" fmla="*/ 0 h 406"/>
                      <a:gd name="txR" fmla="*/ 1 w 1"/>
                      <a:gd name="txB" fmla="*/ 406 h 40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406"/>
                      </a:cxn>
                    </a:cxnLst>
                    <a:rect l="txL" t="txT" r="txR" b="txB"/>
                    <a:pathLst>
                      <a:path w="1" h="406">
                        <a:moveTo>
                          <a:pt x="0" y="0"/>
                        </a:moveTo>
                        <a:lnTo>
                          <a:pt x="0" y="40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tx1"/>
                    </a:solidFill>
                    <a:prstDash val="solid"/>
                    <a:round/>
                    <a:headEnd type="oval" w="sm" len="sm"/>
                    <a:tailEnd type="none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117" name="Text Box 205"/>
                  <p:cNvSpPr txBox="1"/>
                  <p:nvPr/>
                </p:nvSpPr>
                <p:spPr>
                  <a:xfrm rot="5400000">
                    <a:off x="1179" y="1621"/>
                    <a:ext cx="363" cy="36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18" name="Text Box 206"/>
                  <p:cNvSpPr txBox="1"/>
                  <p:nvPr/>
                </p:nvSpPr>
                <p:spPr>
                  <a:xfrm rot="5400000">
                    <a:off x="1755" y="1621"/>
                    <a:ext cx="363" cy="36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19" name="Text Box 207"/>
                  <p:cNvSpPr txBox="1"/>
                  <p:nvPr/>
                </p:nvSpPr>
                <p:spPr>
                  <a:xfrm rot="5400000">
                    <a:off x="2331" y="1621"/>
                    <a:ext cx="363" cy="36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20" name="Text Box 208"/>
                  <p:cNvSpPr txBox="1"/>
                  <p:nvPr/>
                </p:nvSpPr>
                <p:spPr>
                  <a:xfrm rot="5400000">
                    <a:off x="2907" y="1609"/>
                    <a:ext cx="363" cy="36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21" name="Text Box 209"/>
                  <p:cNvSpPr txBox="1"/>
                  <p:nvPr/>
                </p:nvSpPr>
                <p:spPr>
                  <a:xfrm rot="5400000">
                    <a:off x="3482" y="1608"/>
                    <a:ext cx="363" cy="36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22" name="Text Box 210"/>
                  <p:cNvSpPr txBox="1"/>
                  <p:nvPr/>
                </p:nvSpPr>
                <p:spPr>
                  <a:xfrm rot="5400000">
                    <a:off x="4059" y="1609"/>
                    <a:ext cx="363" cy="36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23" name="Text Box 211"/>
                  <p:cNvSpPr txBox="1"/>
                  <p:nvPr/>
                </p:nvSpPr>
                <p:spPr>
                  <a:xfrm rot="5400000">
                    <a:off x="4635" y="1609"/>
                    <a:ext cx="363" cy="36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24" name="Text Box 212"/>
                  <p:cNvSpPr txBox="1"/>
                  <p:nvPr/>
                </p:nvSpPr>
                <p:spPr>
                  <a:xfrm rot="5400000">
                    <a:off x="5230" y="1609"/>
                    <a:ext cx="363" cy="36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25" name="Text Box 213"/>
                  <p:cNvSpPr txBox="1"/>
                  <p:nvPr/>
                </p:nvSpPr>
                <p:spPr>
                  <a:xfrm>
                    <a:off x="665" y="789"/>
                    <a:ext cx="187" cy="2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26" name="Text Box 214"/>
                  <p:cNvSpPr txBox="1"/>
                  <p:nvPr/>
                </p:nvSpPr>
                <p:spPr>
                  <a:xfrm>
                    <a:off x="665" y="1381"/>
                    <a:ext cx="187" cy="2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1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27" name="Text Box 215"/>
                  <p:cNvSpPr txBox="1"/>
                  <p:nvPr/>
                </p:nvSpPr>
                <p:spPr>
                  <a:xfrm>
                    <a:off x="629" y="1957"/>
                    <a:ext cx="259" cy="2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28" name="Line 216"/>
                  <p:cNvSpPr/>
                  <p:nvPr/>
                </p:nvSpPr>
                <p:spPr>
                  <a:xfrm>
                    <a:off x="336" y="2535"/>
                    <a:ext cx="57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129" name="Text Box 217"/>
                  <p:cNvSpPr txBox="1"/>
                  <p:nvPr/>
                </p:nvSpPr>
                <p:spPr>
                  <a:xfrm>
                    <a:off x="665" y="2725"/>
                    <a:ext cx="187" cy="2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0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30" name="Text Box 218"/>
                  <p:cNvSpPr txBox="1"/>
                  <p:nvPr/>
                </p:nvSpPr>
                <p:spPr>
                  <a:xfrm>
                    <a:off x="629" y="3157"/>
                    <a:ext cx="259" cy="2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31" name="Text Box 219"/>
                  <p:cNvSpPr txBox="1"/>
                  <p:nvPr/>
                </p:nvSpPr>
                <p:spPr>
                  <a:xfrm rot="5400000">
                    <a:off x="651" y="1609"/>
                    <a:ext cx="363" cy="36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32" name="Text Box 220"/>
                  <p:cNvSpPr txBox="1"/>
                  <p:nvPr/>
                </p:nvSpPr>
                <p:spPr>
                  <a:xfrm rot="5400000">
                    <a:off x="651" y="2857"/>
                    <a:ext cx="363" cy="36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32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33" name="Text Box 221"/>
                  <p:cNvSpPr txBox="1"/>
                  <p:nvPr/>
                </p:nvSpPr>
                <p:spPr>
                  <a:xfrm>
                    <a:off x="353" y="1013"/>
                    <a:ext cx="275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行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34" name="Text Box 222"/>
                  <p:cNvSpPr txBox="1"/>
                  <p:nvPr/>
                </p:nvSpPr>
                <p:spPr>
                  <a:xfrm>
                    <a:off x="353" y="1261"/>
                    <a:ext cx="275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地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35" name="Text Box 223"/>
                  <p:cNvSpPr txBox="1"/>
                  <p:nvPr/>
                </p:nvSpPr>
                <p:spPr>
                  <a:xfrm>
                    <a:off x="353" y="1509"/>
                    <a:ext cx="275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址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36" name="Text Box 224"/>
                  <p:cNvSpPr txBox="1"/>
                  <p:nvPr/>
                </p:nvSpPr>
                <p:spPr>
                  <a:xfrm>
                    <a:off x="353" y="1756"/>
                    <a:ext cx="275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译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37" name="Text Box 225"/>
                  <p:cNvSpPr txBox="1"/>
                  <p:nvPr/>
                </p:nvSpPr>
                <p:spPr>
                  <a:xfrm>
                    <a:off x="353" y="2004"/>
                    <a:ext cx="275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码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38" name="Text Box 226"/>
                  <p:cNvSpPr txBox="1"/>
                  <p:nvPr/>
                </p:nvSpPr>
                <p:spPr>
                  <a:xfrm>
                    <a:off x="380" y="2633"/>
                    <a:ext cx="275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列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39" name="Text Box 227"/>
                  <p:cNvSpPr txBox="1"/>
                  <p:nvPr/>
                </p:nvSpPr>
                <p:spPr>
                  <a:xfrm>
                    <a:off x="380" y="2881"/>
                    <a:ext cx="275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地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40" name="Text Box 228"/>
                  <p:cNvSpPr txBox="1"/>
                  <p:nvPr/>
                </p:nvSpPr>
                <p:spPr>
                  <a:xfrm>
                    <a:off x="380" y="3129"/>
                    <a:ext cx="275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址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41" name="Text Box 229"/>
                  <p:cNvSpPr txBox="1"/>
                  <p:nvPr/>
                </p:nvSpPr>
                <p:spPr>
                  <a:xfrm>
                    <a:off x="380" y="3376"/>
                    <a:ext cx="275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译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42" name="Text Box 230"/>
                  <p:cNvSpPr txBox="1"/>
                  <p:nvPr/>
                </p:nvSpPr>
                <p:spPr>
                  <a:xfrm>
                    <a:off x="380" y="3624"/>
                    <a:ext cx="275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码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43" name="Line 231"/>
                  <p:cNvSpPr/>
                  <p:nvPr/>
                </p:nvSpPr>
                <p:spPr>
                  <a:xfrm>
                    <a:off x="144" y="903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9144" name="Line 232"/>
                  <p:cNvSpPr/>
                  <p:nvPr/>
                </p:nvSpPr>
                <p:spPr>
                  <a:xfrm>
                    <a:off x="144" y="1162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9145" name="Line 233"/>
                  <p:cNvSpPr/>
                  <p:nvPr/>
                </p:nvSpPr>
                <p:spPr>
                  <a:xfrm>
                    <a:off x="144" y="1421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9146" name="Line 234"/>
                  <p:cNvSpPr/>
                  <p:nvPr/>
                </p:nvSpPr>
                <p:spPr>
                  <a:xfrm>
                    <a:off x="144" y="1680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9147" name="Line 235"/>
                  <p:cNvSpPr/>
                  <p:nvPr/>
                </p:nvSpPr>
                <p:spPr>
                  <a:xfrm>
                    <a:off x="144" y="1939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9148" name="Line 236"/>
                  <p:cNvSpPr/>
                  <p:nvPr/>
                </p:nvSpPr>
                <p:spPr>
                  <a:xfrm>
                    <a:off x="144" y="2199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9149" name="Line 237"/>
                  <p:cNvSpPr/>
                  <p:nvPr/>
                </p:nvSpPr>
                <p:spPr>
                  <a:xfrm>
                    <a:off x="144" y="2870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9150" name="Line 238"/>
                  <p:cNvSpPr/>
                  <p:nvPr/>
                </p:nvSpPr>
                <p:spPr>
                  <a:xfrm>
                    <a:off x="144" y="3129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9151" name="Line 239"/>
                  <p:cNvSpPr/>
                  <p:nvPr/>
                </p:nvSpPr>
                <p:spPr>
                  <a:xfrm>
                    <a:off x="144" y="3388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9152" name="Line 240"/>
                  <p:cNvSpPr/>
                  <p:nvPr/>
                </p:nvSpPr>
                <p:spPr>
                  <a:xfrm>
                    <a:off x="144" y="3648"/>
                    <a:ext cx="19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stealth" w="sm" len="sm"/>
                  </a:ln>
                </p:spPr>
              </p:sp>
              <p:sp>
                <p:nvSpPr>
                  <p:cNvPr id="289153" name="Text Box 241"/>
                  <p:cNvSpPr txBox="1"/>
                  <p:nvPr/>
                </p:nvSpPr>
                <p:spPr>
                  <a:xfrm>
                    <a:off x="653" y="3888"/>
                    <a:ext cx="354" cy="22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WE</a:t>
                    </a:r>
                    <a:endParaRPr lang="en-US" altLang="zh-CN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54" name="Line 242"/>
                  <p:cNvSpPr/>
                  <p:nvPr/>
                </p:nvSpPr>
                <p:spPr>
                  <a:xfrm>
                    <a:off x="686" y="3921"/>
                    <a:ext cx="288" cy="0"/>
                  </a:xfrm>
                  <a:prstGeom prst="line">
                    <a:avLst/>
                  </a:prstGeom>
                  <a:ln w="28575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155" name="Text Box 243"/>
                  <p:cNvSpPr txBox="1"/>
                  <p:nvPr/>
                </p:nvSpPr>
                <p:spPr>
                  <a:xfrm>
                    <a:off x="673" y="4023"/>
                    <a:ext cx="319" cy="24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CS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156" name="Line 244"/>
                  <p:cNvSpPr/>
                  <p:nvPr/>
                </p:nvSpPr>
                <p:spPr>
                  <a:xfrm>
                    <a:off x="730" y="4077"/>
                    <a:ext cx="192" cy="0"/>
                  </a:xfrm>
                  <a:prstGeom prst="line">
                    <a:avLst/>
                  </a:prstGeom>
                  <a:ln w="28575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88946" name="Group 245"/>
                <p:cNvGrpSpPr/>
                <p:nvPr/>
              </p:nvGrpSpPr>
              <p:grpSpPr>
                <a:xfrm>
                  <a:off x="144" y="672"/>
                  <a:ext cx="195" cy="3011"/>
                  <a:chOff x="140" y="674"/>
                  <a:chExt cx="195" cy="3011"/>
                </a:xfrm>
              </p:grpSpPr>
              <p:sp>
                <p:nvSpPr>
                  <p:cNvPr id="288947" name="Text Box 246"/>
                  <p:cNvSpPr txBox="1"/>
                  <p:nvPr/>
                </p:nvSpPr>
                <p:spPr>
                  <a:xfrm>
                    <a:off x="140" y="674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48" name="Text Box 247"/>
                  <p:cNvSpPr txBox="1"/>
                  <p:nvPr/>
                </p:nvSpPr>
                <p:spPr>
                  <a:xfrm>
                    <a:off x="140" y="933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49" name="Text Box 248"/>
                  <p:cNvSpPr txBox="1"/>
                  <p:nvPr/>
                </p:nvSpPr>
                <p:spPr>
                  <a:xfrm>
                    <a:off x="140" y="1192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50" name="Text Box 249"/>
                  <p:cNvSpPr txBox="1"/>
                  <p:nvPr/>
                </p:nvSpPr>
                <p:spPr>
                  <a:xfrm>
                    <a:off x="140" y="1451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51" name="Text Box 250"/>
                  <p:cNvSpPr txBox="1"/>
                  <p:nvPr/>
                </p:nvSpPr>
                <p:spPr>
                  <a:xfrm>
                    <a:off x="140" y="1710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52" name="Text Box 251"/>
                  <p:cNvSpPr txBox="1"/>
                  <p:nvPr/>
                </p:nvSpPr>
                <p:spPr>
                  <a:xfrm>
                    <a:off x="140" y="1970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53" name="Text Box 252"/>
                  <p:cNvSpPr txBox="1"/>
                  <p:nvPr/>
                </p:nvSpPr>
                <p:spPr>
                  <a:xfrm>
                    <a:off x="140" y="2657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54" name="Text Box 253"/>
                  <p:cNvSpPr txBox="1"/>
                  <p:nvPr/>
                </p:nvSpPr>
                <p:spPr>
                  <a:xfrm>
                    <a:off x="140" y="2916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55" name="Text Box 254"/>
                  <p:cNvSpPr txBox="1"/>
                  <p:nvPr/>
                </p:nvSpPr>
                <p:spPr>
                  <a:xfrm>
                    <a:off x="140" y="3175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956" name="Text Box 255"/>
                  <p:cNvSpPr txBox="1"/>
                  <p:nvPr/>
                </p:nvSpPr>
                <p:spPr>
                  <a:xfrm>
                    <a:off x="140" y="3434"/>
                    <a:ext cx="19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folHlink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88857" name="Group 256"/>
              <p:cNvGrpSpPr/>
              <p:nvPr/>
            </p:nvGrpSpPr>
            <p:grpSpPr>
              <a:xfrm>
                <a:off x="906" y="855"/>
                <a:ext cx="4567" cy="418"/>
                <a:chOff x="906" y="855"/>
                <a:chExt cx="4567" cy="418"/>
              </a:xfrm>
            </p:grpSpPr>
            <p:grpSp>
              <p:nvGrpSpPr>
                <p:cNvPr id="288921" name="Group 257"/>
                <p:cNvGrpSpPr/>
                <p:nvPr/>
              </p:nvGrpSpPr>
              <p:grpSpPr>
                <a:xfrm>
                  <a:off x="906" y="855"/>
                  <a:ext cx="4567" cy="418"/>
                  <a:chOff x="902" y="857"/>
                  <a:chExt cx="4567" cy="418"/>
                </a:xfrm>
              </p:grpSpPr>
              <p:grpSp>
                <p:nvGrpSpPr>
                  <p:cNvPr id="288926" name="Group 258"/>
                  <p:cNvGrpSpPr/>
                  <p:nvPr/>
                </p:nvGrpSpPr>
                <p:grpSpPr>
                  <a:xfrm>
                    <a:off x="1152" y="1024"/>
                    <a:ext cx="4317" cy="251"/>
                    <a:chOff x="1176" y="1079"/>
                    <a:chExt cx="4317" cy="251"/>
                  </a:xfrm>
                </p:grpSpPr>
                <p:sp>
                  <p:nvSpPr>
                    <p:cNvPr id="288937" name="Rectangle 259"/>
                    <p:cNvSpPr/>
                    <p:nvPr/>
                  </p:nvSpPr>
                  <p:spPr>
                    <a:xfrm>
                      <a:off x="1752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15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938" name="Rectangle 260"/>
                    <p:cNvSpPr/>
                    <p:nvPr/>
                  </p:nvSpPr>
                  <p:spPr>
                    <a:xfrm>
                      <a:off x="1176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939" name="Rectangle 261"/>
                    <p:cNvSpPr/>
                    <p:nvPr/>
                  </p:nvSpPr>
                  <p:spPr>
                    <a:xfrm>
                      <a:off x="2892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31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940" name="Rectangle 262"/>
                    <p:cNvSpPr/>
                    <p:nvPr/>
                  </p:nvSpPr>
                  <p:spPr>
                    <a:xfrm>
                      <a:off x="2316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16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941" name="Rectangle 263"/>
                    <p:cNvSpPr/>
                    <p:nvPr/>
                  </p:nvSpPr>
                  <p:spPr>
                    <a:xfrm>
                      <a:off x="4067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47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942" name="Rectangle 264"/>
                    <p:cNvSpPr/>
                    <p:nvPr/>
                  </p:nvSpPr>
                  <p:spPr>
                    <a:xfrm>
                      <a:off x="3491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32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943" name="Rectangle 265"/>
                    <p:cNvSpPr/>
                    <p:nvPr/>
                  </p:nvSpPr>
                  <p:spPr>
                    <a:xfrm>
                      <a:off x="5205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63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944" name="Rectangle 266"/>
                    <p:cNvSpPr/>
                    <p:nvPr/>
                  </p:nvSpPr>
                  <p:spPr>
                    <a:xfrm>
                      <a:off x="4626" y="1079"/>
                      <a:ext cx="288" cy="251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38100" cap="flat" cmpd="sng">
                      <a:solidFill>
                        <a:schemeClr val="folHlink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lIns="0" rIns="0" anchor="ctr" anchorCtr="0"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</a:rPr>
                        <a:t>48</a:t>
                      </a:r>
                      <a:endPara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288927" name="Group 267"/>
                  <p:cNvGrpSpPr/>
                  <p:nvPr/>
                </p:nvGrpSpPr>
                <p:grpSpPr>
                  <a:xfrm>
                    <a:off x="902" y="857"/>
                    <a:ext cx="4419" cy="145"/>
                    <a:chOff x="902" y="857"/>
                    <a:chExt cx="4419" cy="145"/>
                  </a:xfrm>
                </p:grpSpPr>
                <p:sp>
                  <p:nvSpPr>
                    <p:cNvPr id="288928" name="Freeform 268"/>
                    <p:cNvSpPr/>
                    <p:nvPr/>
                  </p:nvSpPr>
                  <p:spPr>
                    <a:xfrm>
                      <a:off x="902" y="857"/>
                      <a:ext cx="4419" cy="1"/>
                    </a:xfrm>
                    <a:custGeom>
                      <a:avLst/>
                      <a:gdLst>
                        <a:gd name="txL" fmla="*/ 0 w 4419"/>
                        <a:gd name="txT" fmla="*/ 0 h 1"/>
                        <a:gd name="txR" fmla="*/ 4419 w 4419"/>
                        <a:gd name="txB" fmla="*/ 1 h 1"/>
                      </a:gdLst>
                      <a:ahLst/>
                      <a:cxnLst>
                        <a:cxn ang="0">
                          <a:pos x="0" y="1"/>
                        </a:cxn>
                        <a:cxn ang="0">
                          <a:pos x="4419" y="0"/>
                        </a:cxn>
                      </a:cxnLst>
                      <a:rect l="txL" t="txT" r="txR" b="txB"/>
                      <a:pathLst>
                        <a:path w="4419" h="1">
                          <a:moveTo>
                            <a:pt x="0" y="1"/>
                          </a:moveTo>
                          <a:lnTo>
                            <a:pt x="4419" y="0"/>
                          </a:lnTo>
                        </a:path>
                      </a:pathLst>
                    </a:custGeom>
                    <a:noFill/>
                    <a:ln w="76200" cap="flat" cmpd="sng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88929" name="Line 269"/>
                    <p:cNvSpPr/>
                    <p:nvPr/>
                  </p:nvSpPr>
                  <p:spPr>
                    <a:xfrm>
                      <a:off x="1272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88930" name="Line 270"/>
                    <p:cNvSpPr/>
                    <p:nvPr/>
                  </p:nvSpPr>
                  <p:spPr>
                    <a:xfrm>
                      <a:off x="1848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88931" name="Line 271"/>
                    <p:cNvSpPr/>
                    <p:nvPr/>
                  </p:nvSpPr>
                  <p:spPr>
                    <a:xfrm>
                      <a:off x="2424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88932" name="Line 272"/>
                    <p:cNvSpPr/>
                    <p:nvPr/>
                  </p:nvSpPr>
                  <p:spPr>
                    <a:xfrm>
                      <a:off x="3000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88933" name="Line 273"/>
                    <p:cNvSpPr/>
                    <p:nvPr/>
                  </p:nvSpPr>
                  <p:spPr>
                    <a:xfrm>
                      <a:off x="3576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88934" name="Line 274"/>
                    <p:cNvSpPr/>
                    <p:nvPr/>
                  </p:nvSpPr>
                  <p:spPr>
                    <a:xfrm>
                      <a:off x="4152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88935" name="Line 275"/>
                    <p:cNvSpPr/>
                    <p:nvPr/>
                  </p:nvSpPr>
                  <p:spPr>
                    <a:xfrm>
                      <a:off x="4728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  <p:sp>
                  <p:nvSpPr>
                    <p:cNvPr id="288936" name="Line 276"/>
                    <p:cNvSpPr/>
                    <p:nvPr/>
                  </p:nvSpPr>
                  <p:spPr>
                    <a:xfrm>
                      <a:off x="5304" y="858"/>
                      <a:ext cx="0" cy="144"/>
                    </a:xfrm>
                    <a:prstGeom prst="line">
                      <a:avLst/>
                    </a:prstGeom>
                    <a:ln w="76200" cap="flat" cmpd="sng">
                      <a:solidFill>
                        <a:schemeClr val="folHlink"/>
                      </a:solidFill>
                      <a:prstDash val="solid"/>
                      <a:headEnd type="oval" w="sm" len="sm"/>
                      <a:tailEnd type="none" w="med" len="med"/>
                    </a:ln>
                  </p:spPr>
                </p:sp>
              </p:grpSp>
            </p:grpSp>
            <p:sp>
              <p:nvSpPr>
                <p:cNvPr id="288922" name="Text Box 277"/>
                <p:cNvSpPr txBox="1"/>
                <p:nvPr/>
              </p:nvSpPr>
              <p:spPr>
                <a:xfrm>
                  <a:off x="1404" y="868"/>
                  <a:ext cx="371" cy="3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923" name="Text Box 278"/>
                <p:cNvSpPr txBox="1"/>
                <p:nvPr/>
              </p:nvSpPr>
              <p:spPr>
                <a:xfrm>
                  <a:off x="2544" y="868"/>
                  <a:ext cx="371" cy="3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924" name="Text Box 279"/>
                <p:cNvSpPr txBox="1"/>
                <p:nvPr/>
              </p:nvSpPr>
              <p:spPr>
                <a:xfrm>
                  <a:off x="3722" y="868"/>
                  <a:ext cx="371" cy="3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925" name="Text Box 280"/>
                <p:cNvSpPr txBox="1"/>
                <p:nvPr/>
              </p:nvSpPr>
              <p:spPr>
                <a:xfrm>
                  <a:off x="4864" y="868"/>
                  <a:ext cx="371" cy="35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8858" name="Group 281"/>
              <p:cNvGrpSpPr/>
              <p:nvPr/>
            </p:nvGrpSpPr>
            <p:grpSpPr>
              <a:xfrm>
                <a:off x="1146" y="3588"/>
                <a:ext cx="4304" cy="240"/>
                <a:chOff x="1146" y="3588"/>
                <a:chExt cx="4304" cy="240"/>
              </a:xfrm>
            </p:grpSpPr>
            <p:grpSp>
              <p:nvGrpSpPr>
                <p:cNvPr id="288909" name="Group 282"/>
                <p:cNvGrpSpPr/>
                <p:nvPr/>
              </p:nvGrpSpPr>
              <p:grpSpPr>
                <a:xfrm>
                  <a:off x="1146" y="3588"/>
                  <a:ext cx="823" cy="240"/>
                  <a:chOff x="1142" y="3590"/>
                  <a:chExt cx="823" cy="240"/>
                </a:xfrm>
              </p:grpSpPr>
              <p:sp>
                <p:nvSpPr>
                  <p:cNvPr id="288919" name="Rectangle 283"/>
                  <p:cNvSpPr/>
                  <p:nvPr/>
                </p:nvSpPr>
                <p:spPr>
                  <a:xfrm>
                    <a:off x="1142" y="3598"/>
                    <a:ext cx="823" cy="232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20" name="Text Box 284"/>
                  <p:cNvSpPr txBox="1"/>
                  <p:nvPr/>
                </p:nvSpPr>
                <p:spPr>
                  <a:xfrm>
                    <a:off x="1200" y="3590"/>
                    <a:ext cx="755" cy="18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88910" name="Group 285"/>
                <p:cNvGrpSpPr/>
                <p:nvPr/>
              </p:nvGrpSpPr>
              <p:grpSpPr>
                <a:xfrm>
                  <a:off x="2322" y="3596"/>
                  <a:ext cx="823" cy="232"/>
                  <a:chOff x="2318" y="3598"/>
                  <a:chExt cx="823" cy="232"/>
                </a:xfrm>
              </p:grpSpPr>
              <p:sp>
                <p:nvSpPr>
                  <p:cNvPr id="288917" name="Rectangle 286"/>
                  <p:cNvSpPr/>
                  <p:nvPr/>
                </p:nvSpPr>
                <p:spPr>
                  <a:xfrm>
                    <a:off x="2318" y="3598"/>
                    <a:ext cx="823" cy="232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18" name="Text Box 287"/>
                  <p:cNvSpPr txBox="1"/>
                  <p:nvPr/>
                </p:nvSpPr>
                <p:spPr>
                  <a:xfrm>
                    <a:off x="2352" y="3600"/>
                    <a:ext cx="755" cy="1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88911" name="Group 288"/>
                <p:cNvGrpSpPr/>
                <p:nvPr/>
              </p:nvGrpSpPr>
              <p:grpSpPr>
                <a:xfrm>
                  <a:off x="3474" y="3596"/>
                  <a:ext cx="823" cy="232"/>
                  <a:chOff x="3470" y="3598"/>
                  <a:chExt cx="823" cy="232"/>
                </a:xfrm>
              </p:grpSpPr>
              <p:sp>
                <p:nvSpPr>
                  <p:cNvPr id="288915" name="Rectangle 289"/>
                  <p:cNvSpPr/>
                  <p:nvPr/>
                </p:nvSpPr>
                <p:spPr>
                  <a:xfrm>
                    <a:off x="3470" y="3598"/>
                    <a:ext cx="823" cy="232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16" name="Text Box 290"/>
                  <p:cNvSpPr txBox="1"/>
                  <p:nvPr/>
                </p:nvSpPr>
                <p:spPr>
                  <a:xfrm>
                    <a:off x="3504" y="3600"/>
                    <a:ext cx="755" cy="1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88912" name="Group 291"/>
                <p:cNvGrpSpPr/>
                <p:nvPr/>
              </p:nvGrpSpPr>
              <p:grpSpPr>
                <a:xfrm>
                  <a:off x="4627" y="3596"/>
                  <a:ext cx="823" cy="232"/>
                  <a:chOff x="4623" y="3598"/>
                  <a:chExt cx="823" cy="232"/>
                </a:xfrm>
              </p:grpSpPr>
              <p:sp>
                <p:nvSpPr>
                  <p:cNvPr id="288913" name="Rectangle 292"/>
                  <p:cNvSpPr/>
                  <p:nvPr/>
                </p:nvSpPr>
                <p:spPr>
                  <a:xfrm>
                    <a:off x="4623" y="3598"/>
                    <a:ext cx="823" cy="232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anchor="ctr" anchorCtr="0">
                    <a:spAutoFit/>
                  </a:bodyPr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14" name="Text Box 293"/>
                  <p:cNvSpPr txBox="1"/>
                  <p:nvPr/>
                </p:nvSpPr>
                <p:spPr>
                  <a:xfrm>
                    <a:off x="4656" y="3600"/>
                    <a:ext cx="755" cy="1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读写电路</a:t>
                    </a:r>
                    <a:endParaRPr lang="zh-CN" altLang="en-US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88859" name="Group 294"/>
              <p:cNvGrpSpPr/>
              <p:nvPr/>
            </p:nvGrpSpPr>
            <p:grpSpPr>
              <a:xfrm>
                <a:off x="919" y="2630"/>
                <a:ext cx="3944" cy="254"/>
                <a:chOff x="919" y="2630"/>
                <a:chExt cx="3944" cy="254"/>
              </a:xfrm>
            </p:grpSpPr>
            <p:grpSp>
              <p:nvGrpSpPr>
                <p:cNvPr id="288871" name="Group 295"/>
                <p:cNvGrpSpPr/>
                <p:nvPr/>
              </p:nvGrpSpPr>
              <p:grpSpPr>
                <a:xfrm>
                  <a:off x="919" y="2694"/>
                  <a:ext cx="3858" cy="190"/>
                  <a:chOff x="915" y="2696"/>
                  <a:chExt cx="3858" cy="190"/>
                </a:xfrm>
              </p:grpSpPr>
              <p:sp>
                <p:nvSpPr>
                  <p:cNvPr id="288904" name="Freeform 296"/>
                  <p:cNvSpPr/>
                  <p:nvPr/>
                </p:nvSpPr>
                <p:spPr>
                  <a:xfrm>
                    <a:off x="1304" y="2707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0" y="0"/>
                        </a:moveTo>
                        <a:lnTo>
                          <a:pt x="1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05" name="Freeform 297"/>
                  <p:cNvSpPr/>
                  <p:nvPr/>
                </p:nvSpPr>
                <p:spPr>
                  <a:xfrm>
                    <a:off x="2457" y="2710"/>
                    <a:ext cx="1" cy="166"/>
                  </a:xfrm>
                  <a:custGeom>
                    <a:avLst/>
                    <a:gdLst>
                      <a:gd name="txL" fmla="*/ 0 w 1"/>
                      <a:gd name="txT" fmla="*/ 0 h 166"/>
                      <a:gd name="txR" fmla="*/ 1 w 1"/>
                      <a:gd name="txB" fmla="*/ 166 h 16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" y="166"/>
                      </a:cxn>
                    </a:cxnLst>
                    <a:rect l="txL" t="txT" r="txR" b="txB"/>
                    <a:pathLst>
                      <a:path w="1" h="166">
                        <a:moveTo>
                          <a:pt x="0" y="0"/>
                        </a:moveTo>
                        <a:lnTo>
                          <a:pt x="1" y="16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06" name="Freeform 298"/>
                  <p:cNvSpPr/>
                  <p:nvPr/>
                </p:nvSpPr>
                <p:spPr>
                  <a:xfrm>
                    <a:off x="3609" y="2710"/>
                    <a:ext cx="1" cy="176"/>
                  </a:xfrm>
                  <a:custGeom>
                    <a:avLst/>
                    <a:gdLst>
                      <a:gd name="txL" fmla="*/ 0 w 1"/>
                      <a:gd name="txT" fmla="*/ 0 h 176"/>
                      <a:gd name="txR" fmla="*/ 1 w 1"/>
                      <a:gd name="txB" fmla="*/ 176 h 17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6"/>
                      </a:cxn>
                    </a:cxnLst>
                    <a:rect l="txL" t="txT" r="txR" b="txB"/>
                    <a:pathLst>
                      <a:path w="1" h="176">
                        <a:moveTo>
                          <a:pt x="0" y="0"/>
                        </a:moveTo>
                        <a:lnTo>
                          <a:pt x="0" y="176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oval" w="sm" len="sm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07" name="Freeform 299"/>
                  <p:cNvSpPr/>
                  <p:nvPr/>
                </p:nvSpPr>
                <p:spPr>
                  <a:xfrm>
                    <a:off x="4761" y="2696"/>
                    <a:ext cx="1" cy="178"/>
                  </a:xfrm>
                  <a:custGeom>
                    <a:avLst/>
                    <a:gdLst>
                      <a:gd name="txL" fmla="*/ 0 w 1"/>
                      <a:gd name="txT" fmla="*/ 0 h 178"/>
                      <a:gd name="txR" fmla="*/ 1 w 1"/>
                      <a:gd name="txB" fmla="*/ 178 h 178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0" y="178"/>
                      </a:cxn>
                    </a:cxnLst>
                    <a:rect l="txL" t="txT" r="txR" b="txB"/>
                    <a:pathLst>
                      <a:path w="1" h="178">
                        <a:moveTo>
                          <a:pt x="0" y="0"/>
                        </a:moveTo>
                        <a:lnTo>
                          <a:pt x="0" y="178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oval" w="sm" len="sm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908" name="Freeform 300"/>
                  <p:cNvSpPr/>
                  <p:nvPr/>
                </p:nvSpPr>
                <p:spPr>
                  <a:xfrm>
                    <a:off x="915" y="2865"/>
                    <a:ext cx="3858" cy="2"/>
                  </a:xfrm>
                  <a:custGeom>
                    <a:avLst/>
                    <a:gdLst>
                      <a:gd name="txL" fmla="*/ 0 w 3858"/>
                      <a:gd name="txT" fmla="*/ 0 h 2"/>
                      <a:gd name="txR" fmla="*/ 3858 w 3858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3858" y="0"/>
                      </a:cxn>
                    </a:cxnLst>
                    <a:rect l="txL" t="txT" r="txR" b="txB"/>
                    <a:pathLst>
                      <a:path w="3858" h="2">
                        <a:moveTo>
                          <a:pt x="0" y="2"/>
                        </a:moveTo>
                        <a:lnTo>
                          <a:pt x="3858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88872" name="Group 301"/>
                <p:cNvGrpSpPr/>
                <p:nvPr/>
              </p:nvGrpSpPr>
              <p:grpSpPr>
                <a:xfrm>
                  <a:off x="1216" y="2630"/>
                  <a:ext cx="192" cy="158"/>
                  <a:chOff x="1212" y="2632"/>
                  <a:chExt cx="192" cy="158"/>
                </a:xfrm>
              </p:grpSpPr>
              <p:grpSp>
                <p:nvGrpSpPr>
                  <p:cNvPr id="288897" name="Group 302"/>
                  <p:cNvGrpSpPr/>
                  <p:nvPr/>
                </p:nvGrpSpPr>
                <p:grpSpPr>
                  <a:xfrm>
                    <a:off x="1356" y="2632"/>
                    <a:ext cx="48" cy="158"/>
                    <a:chOff x="1356" y="2632"/>
                    <a:chExt cx="48" cy="158"/>
                  </a:xfrm>
                </p:grpSpPr>
                <p:sp>
                  <p:nvSpPr>
                    <p:cNvPr id="288902" name="Line 303"/>
                    <p:cNvSpPr/>
                    <p:nvPr/>
                  </p:nvSpPr>
                  <p:spPr>
                    <a:xfrm rot="5400000">
                      <a:off x="1325" y="2711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8903" name="Line 304"/>
                    <p:cNvSpPr/>
                    <p:nvPr/>
                  </p:nvSpPr>
                  <p:spPr>
                    <a:xfrm rot="5400000">
                      <a:off x="1308" y="2709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8898" name="Freeform 305"/>
                  <p:cNvSpPr/>
                  <p:nvPr/>
                </p:nvSpPr>
                <p:spPr>
                  <a:xfrm>
                    <a:off x="1260" y="2708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8899" name="Group 306"/>
                  <p:cNvGrpSpPr/>
                  <p:nvPr/>
                </p:nvGrpSpPr>
                <p:grpSpPr>
                  <a:xfrm>
                    <a:off x="1212" y="2632"/>
                    <a:ext cx="48" cy="158"/>
                    <a:chOff x="1212" y="2632"/>
                    <a:chExt cx="48" cy="158"/>
                  </a:xfrm>
                </p:grpSpPr>
                <p:sp>
                  <p:nvSpPr>
                    <p:cNvPr id="288900" name="Line 307"/>
                    <p:cNvSpPr/>
                    <p:nvPr/>
                  </p:nvSpPr>
                  <p:spPr>
                    <a:xfrm rot="-5400000">
                      <a:off x="1133" y="2711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8901" name="Line 308"/>
                    <p:cNvSpPr/>
                    <p:nvPr/>
                  </p:nvSpPr>
                  <p:spPr>
                    <a:xfrm rot="-5400000">
                      <a:off x="1212" y="2713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88873" name="Group 309"/>
                <p:cNvGrpSpPr/>
                <p:nvPr/>
              </p:nvGrpSpPr>
              <p:grpSpPr>
                <a:xfrm>
                  <a:off x="2368" y="2632"/>
                  <a:ext cx="192" cy="158"/>
                  <a:chOff x="2364" y="2634"/>
                  <a:chExt cx="192" cy="158"/>
                </a:xfrm>
              </p:grpSpPr>
              <p:grpSp>
                <p:nvGrpSpPr>
                  <p:cNvPr id="288890" name="Group 310"/>
                  <p:cNvGrpSpPr/>
                  <p:nvPr/>
                </p:nvGrpSpPr>
                <p:grpSpPr>
                  <a:xfrm>
                    <a:off x="2508" y="2634"/>
                    <a:ext cx="48" cy="158"/>
                    <a:chOff x="2508" y="2634"/>
                    <a:chExt cx="48" cy="158"/>
                  </a:xfrm>
                </p:grpSpPr>
                <p:sp>
                  <p:nvSpPr>
                    <p:cNvPr id="288895" name="Line 311"/>
                    <p:cNvSpPr/>
                    <p:nvPr/>
                  </p:nvSpPr>
                  <p:spPr>
                    <a:xfrm rot="5400000">
                      <a:off x="2477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8896" name="Line 312"/>
                    <p:cNvSpPr/>
                    <p:nvPr/>
                  </p:nvSpPr>
                  <p:spPr>
                    <a:xfrm rot="5400000">
                      <a:off x="2460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8891" name="Freeform 313"/>
                  <p:cNvSpPr/>
                  <p:nvPr/>
                </p:nvSpPr>
                <p:spPr>
                  <a:xfrm>
                    <a:off x="2412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8892" name="Group 314"/>
                  <p:cNvGrpSpPr/>
                  <p:nvPr/>
                </p:nvGrpSpPr>
                <p:grpSpPr>
                  <a:xfrm>
                    <a:off x="2364" y="2634"/>
                    <a:ext cx="48" cy="158"/>
                    <a:chOff x="2364" y="2634"/>
                    <a:chExt cx="48" cy="158"/>
                  </a:xfrm>
                </p:grpSpPr>
                <p:sp>
                  <p:nvSpPr>
                    <p:cNvPr id="288893" name="Line 315"/>
                    <p:cNvSpPr/>
                    <p:nvPr/>
                  </p:nvSpPr>
                  <p:spPr>
                    <a:xfrm rot="-5400000">
                      <a:off x="2285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8894" name="Line 316"/>
                    <p:cNvSpPr/>
                    <p:nvPr/>
                  </p:nvSpPr>
                  <p:spPr>
                    <a:xfrm rot="-5400000">
                      <a:off x="2364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88874" name="Group 317"/>
                <p:cNvGrpSpPr/>
                <p:nvPr/>
              </p:nvGrpSpPr>
              <p:grpSpPr>
                <a:xfrm>
                  <a:off x="3520" y="2632"/>
                  <a:ext cx="192" cy="158"/>
                  <a:chOff x="3516" y="2634"/>
                  <a:chExt cx="192" cy="158"/>
                </a:xfrm>
              </p:grpSpPr>
              <p:grpSp>
                <p:nvGrpSpPr>
                  <p:cNvPr id="288883" name="Group 318"/>
                  <p:cNvGrpSpPr/>
                  <p:nvPr/>
                </p:nvGrpSpPr>
                <p:grpSpPr>
                  <a:xfrm>
                    <a:off x="3660" y="2634"/>
                    <a:ext cx="48" cy="158"/>
                    <a:chOff x="3660" y="2634"/>
                    <a:chExt cx="48" cy="158"/>
                  </a:xfrm>
                </p:grpSpPr>
                <p:sp>
                  <p:nvSpPr>
                    <p:cNvPr id="288888" name="Line 319"/>
                    <p:cNvSpPr/>
                    <p:nvPr/>
                  </p:nvSpPr>
                  <p:spPr>
                    <a:xfrm rot="5400000">
                      <a:off x="3629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8889" name="Line 320"/>
                    <p:cNvSpPr/>
                    <p:nvPr/>
                  </p:nvSpPr>
                  <p:spPr>
                    <a:xfrm rot="5400000">
                      <a:off x="3612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8884" name="Freeform 321"/>
                  <p:cNvSpPr/>
                  <p:nvPr/>
                </p:nvSpPr>
                <p:spPr>
                  <a:xfrm>
                    <a:off x="3564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8885" name="Group 322"/>
                  <p:cNvGrpSpPr/>
                  <p:nvPr/>
                </p:nvGrpSpPr>
                <p:grpSpPr>
                  <a:xfrm>
                    <a:off x="3516" y="2634"/>
                    <a:ext cx="48" cy="158"/>
                    <a:chOff x="3516" y="2634"/>
                    <a:chExt cx="48" cy="158"/>
                  </a:xfrm>
                </p:grpSpPr>
                <p:sp>
                  <p:nvSpPr>
                    <p:cNvPr id="288886" name="Line 323"/>
                    <p:cNvSpPr/>
                    <p:nvPr/>
                  </p:nvSpPr>
                  <p:spPr>
                    <a:xfrm rot="-5400000">
                      <a:off x="3437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8887" name="Line 324"/>
                    <p:cNvSpPr/>
                    <p:nvPr/>
                  </p:nvSpPr>
                  <p:spPr>
                    <a:xfrm rot="-5400000">
                      <a:off x="3516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grpSp>
              <p:nvGrpSpPr>
                <p:cNvPr id="288875" name="Group 325"/>
                <p:cNvGrpSpPr/>
                <p:nvPr/>
              </p:nvGrpSpPr>
              <p:grpSpPr>
                <a:xfrm>
                  <a:off x="4671" y="2632"/>
                  <a:ext cx="192" cy="158"/>
                  <a:chOff x="4667" y="2634"/>
                  <a:chExt cx="192" cy="158"/>
                </a:xfrm>
              </p:grpSpPr>
              <p:grpSp>
                <p:nvGrpSpPr>
                  <p:cNvPr id="288876" name="Group 326"/>
                  <p:cNvGrpSpPr/>
                  <p:nvPr/>
                </p:nvGrpSpPr>
                <p:grpSpPr>
                  <a:xfrm>
                    <a:off x="4811" y="2634"/>
                    <a:ext cx="48" cy="158"/>
                    <a:chOff x="4811" y="2634"/>
                    <a:chExt cx="48" cy="158"/>
                  </a:xfrm>
                </p:grpSpPr>
                <p:sp>
                  <p:nvSpPr>
                    <p:cNvPr id="288881" name="Line 327"/>
                    <p:cNvSpPr/>
                    <p:nvPr/>
                  </p:nvSpPr>
                  <p:spPr>
                    <a:xfrm rot="5400000">
                      <a:off x="4780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8882" name="Line 328"/>
                    <p:cNvSpPr/>
                    <p:nvPr/>
                  </p:nvSpPr>
                  <p:spPr>
                    <a:xfrm rot="5400000">
                      <a:off x="4763" y="2711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sp>
                <p:nvSpPr>
                  <p:cNvPr id="288877" name="Freeform 329"/>
                  <p:cNvSpPr/>
                  <p:nvPr/>
                </p:nvSpPr>
                <p:spPr>
                  <a:xfrm>
                    <a:off x="4715" y="2710"/>
                    <a:ext cx="96" cy="2"/>
                  </a:xfrm>
                  <a:custGeom>
                    <a:avLst/>
                    <a:gdLst>
                      <a:gd name="txL" fmla="*/ 0 w 96"/>
                      <a:gd name="txT" fmla="*/ 0 h 2"/>
                      <a:gd name="txR" fmla="*/ 96 w 96"/>
                      <a:gd name="txB" fmla="*/ 2 h 2"/>
                    </a:gdLst>
                    <a:ahLst/>
                    <a:cxnLst>
                      <a:cxn ang="0">
                        <a:pos x="0" y="2"/>
                      </a:cxn>
                      <a:cxn ang="0">
                        <a:pos x="96" y="0"/>
                      </a:cxn>
                    </a:cxnLst>
                    <a:rect l="txL" t="txT" r="txR" b="txB"/>
                    <a:pathLst>
                      <a:path w="96" h="2">
                        <a:moveTo>
                          <a:pt x="0" y="2"/>
                        </a:moveTo>
                        <a:lnTo>
                          <a:pt x="96" y="0"/>
                        </a:lnTo>
                      </a:path>
                    </a:pathLst>
                  </a:custGeom>
                  <a:noFill/>
                  <a:ln w="381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grpSp>
                <p:nvGrpSpPr>
                  <p:cNvPr id="288878" name="Group 330"/>
                  <p:cNvGrpSpPr/>
                  <p:nvPr/>
                </p:nvGrpSpPr>
                <p:grpSpPr>
                  <a:xfrm>
                    <a:off x="4667" y="2634"/>
                    <a:ext cx="48" cy="158"/>
                    <a:chOff x="4667" y="2634"/>
                    <a:chExt cx="48" cy="158"/>
                  </a:xfrm>
                </p:grpSpPr>
                <p:sp>
                  <p:nvSpPr>
                    <p:cNvPr id="288879" name="Line 331"/>
                    <p:cNvSpPr/>
                    <p:nvPr/>
                  </p:nvSpPr>
                  <p:spPr>
                    <a:xfrm rot="-5400000">
                      <a:off x="4588" y="2713"/>
                      <a:ext cx="158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88880" name="Line 332"/>
                    <p:cNvSpPr/>
                    <p:nvPr/>
                  </p:nvSpPr>
                  <p:spPr>
                    <a:xfrm rot="-5400000">
                      <a:off x="4667" y="2715"/>
                      <a:ext cx="9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  <p:grpSp>
            <p:nvGrpSpPr>
              <p:cNvPr id="288860" name="Group 333"/>
              <p:cNvGrpSpPr/>
              <p:nvPr/>
            </p:nvGrpSpPr>
            <p:grpSpPr>
              <a:xfrm>
                <a:off x="1059" y="2734"/>
                <a:ext cx="4225" cy="816"/>
                <a:chOff x="1059" y="2734"/>
                <a:chExt cx="4225" cy="816"/>
              </a:xfrm>
            </p:grpSpPr>
            <p:grpSp>
              <p:nvGrpSpPr>
                <p:cNvPr id="288861" name="Group 334"/>
                <p:cNvGrpSpPr/>
                <p:nvPr/>
              </p:nvGrpSpPr>
              <p:grpSpPr>
                <a:xfrm>
                  <a:off x="1395" y="2734"/>
                  <a:ext cx="3889" cy="816"/>
                  <a:chOff x="1395" y="2734"/>
                  <a:chExt cx="3889" cy="816"/>
                </a:xfrm>
              </p:grpSpPr>
              <p:sp>
                <p:nvSpPr>
                  <p:cNvPr id="288867" name="Freeform 335"/>
                  <p:cNvSpPr/>
                  <p:nvPr/>
                </p:nvSpPr>
                <p:spPr>
                  <a:xfrm>
                    <a:off x="1395" y="2734"/>
                    <a:ext cx="432" cy="816"/>
                  </a:xfrm>
                  <a:custGeom>
                    <a:avLst/>
                    <a:gdLst>
                      <a:gd name="txL" fmla="*/ 0 w 432"/>
                      <a:gd name="txT" fmla="*/ 0 h 816"/>
                      <a:gd name="txR" fmla="*/ 432 w 432"/>
                      <a:gd name="txB" fmla="*/ 816 h 81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44" y="0"/>
                      </a:cxn>
                      <a:cxn ang="0">
                        <a:pos x="144" y="576"/>
                      </a:cxn>
                      <a:cxn ang="0">
                        <a:pos x="432" y="576"/>
                      </a:cxn>
                      <a:cxn ang="0">
                        <a:pos x="432" y="816"/>
                      </a:cxn>
                    </a:cxnLst>
                    <a:rect l="txL" t="txT" r="txR" b="txB"/>
                    <a:pathLst>
                      <a:path w="432" h="816">
                        <a:moveTo>
                          <a:pt x="0" y="0"/>
                        </a:moveTo>
                        <a:lnTo>
                          <a:pt x="144" y="0"/>
                        </a:lnTo>
                        <a:lnTo>
                          <a:pt x="144" y="576"/>
                        </a:lnTo>
                        <a:lnTo>
                          <a:pt x="432" y="576"/>
                        </a:lnTo>
                        <a:lnTo>
                          <a:pt x="432" y="816"/>
                        </a:lnTo>
                      </a:path>
                    </a:pathLst>
                  </a:custGeom>
                  <a:noFill/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868" name="Freeform 336"/>
                  <p:cNvSpPr/>
                  <p:nvPr/>
                </p:nvSpPr>
                <p:spPr>
                  <a:xfrm>
                    <a:off x="4852" y="2734"/>
                    <a:ext cx="432" cy="816"/>
                  </a:xfrm>
                  <a:custGeom>
                    <a:avLst/>
                    <a:gdLst>
                      <a:gd name="txL" fmla="*/ 0 w 432"/>
                      <a:gd name="txT" fmla="*/ 0 h 816"/>
                      <a:gd name="txR" fmla="*/ 432 w 432"/>
                      <a:gd name="txB" fmla="*/ 816 h 81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44" y="0"/>
                      </a:cxn>
                      <a:cxn ang="0">
                        <a:pos x="144" y="576"/>
                      </a:cxn>
                      <a:cxn ang="0">
                        <a:pos x="432" y="576"/>
                      </a:cxn>
                      <a:cxn ang="0">
                        <a:pos x="432" y="816"/>
                      </a:cxn>
                    </a:cxnLst>
                    <a:rect l="txL" t="txT" r="txR" b="txB"/>
                    <a:pathLst>
                      <a:path w="432" h="816">
                        <a:moveTo>
                          <a:pt x="0" y="0"/>
                        </a:moveTo>
                        <a:lnTo>
                          <a:pt x="144" y="0"/>
                        </a:lnTo>
                        <a:lnTo>
                          <a:pt x="144" y="576"/>
                        </a:lnTo>
                        <a:lnTo>
                          <a:pt x="432" y="576"/>
                        </a:lnTo>
                        <a:lnTo>
                          <a:pt x="432" y="816"/>
                        </a:lnTo>
                      </a:path>
                    </a:pathLst>
                  </a:custGeom>
                  <a:noFill/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869" name="Freeform 337"/>
                  <p:cNvSpPr/>
                  <p:nvPr/>
                </p:nvSpPr>
                <p:spPr>
                  <a:xfrm>
                    <a:off x="3700" y="2734"/>
                    <a:ext cx="432" cy="816"/>
                  </a:xfrm>
                  <a:custGeom>
                    <a:avLst/>
                    <a:gdLst>
                      <a:gd name="txL" fmla="*/ 0 w 432"/>
                      <a:gd name="txT" fmla="*/ 0 h 816"/>
                      <a:gd name="txR" fmla="*/ 432 w 432"/>
                      <a:gd name="txB" fmla="*/ 816 h 81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44" y="0"/>
                      </a:cxn>
                      <a:cxn ang="0">
                        <a:pos x="144" y="576"/>
                      </a:cxn>
                      <a:cxn ang="0">
                        <a:pos x="432" y="576"/>
                      </a:cxn>
                      <a:cxn ang="0">
                        <a:pos x="432" y="816"/>
                      </a:cxn>
                    </a:cxnLst>
                    <a:rect l="txL" t="txT" r="txR" b="txB"/>
                    <a:pathLst>
                      <a:path w="432" h="816">
                        <a:moveTo>
                          <a:pt x="0" y="0"/>
                        </a:moveTo>
                        <a:lnTo>
                          <a:pt x="144" y="0"/>
                        </a:lnTo>
                        <a:lnTo>
                          <a:pt x="144" y="576"/>
                        </a:lnTo>
                        <a:lnTo>
                          <a:pt x="432" y="576"/>
                        </a:lnTo>
                        <a:lnTo>
                          <a:pt x="432" y="816"/>
                        </a:lnTo>
                      </a:path>
                    </a:pathLst>
                  </a:custGeom>
                  <a:noFill/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870" name="Freeform 338"/>
                  <p:cNvSpPr/>
                  <p:nvPr/>
                </p:nvSpPr>
                <p:spPr>
                  <a:xfrm>
                    <a:off x="2546" y="2734"/>
                    <a:ext cx="432" cy="816"/>
                  </a:xfrm>
                  <a:custGeom>
                    <a:avLst/>
                    <a:gdLst>
                      <a:gd name="txL" fmla="*/ 0 w 432"/>
                      <a:gd name="txT" fmla="*/ 0 h 816"/>
                      <a:gd name="txR" fmla="*/ 432 w 432"/>
                      <a:gd name="txB" fmla="*/ 816 h 816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144" y="0"/>
                      </a:cxn>
                      <a:cxn ang="0">
                        <a:pos x="144" y="576"/>
                      </a:cxn>
                      <a:cxn ang="0">
                        <a:pos x="432" y="576"/>
                      </a:cxn>
                      <a:cxn ang="0">
                        <a:pos x="432" y="816"/>
                      </a:cxn>
                    </a:cxnLst>
                    <a:rect l="txL" t="txT" r="txR" b="txB"/>
                    <a:pathLst>
                      <a:path w="432" h="816">
                        <a:moveTo>
                          <a:pt x="0" y="0"/>
                        </a:moveTo>
                        <a:lnTo>
                          <a:pt x="144" y="0"/>
                        </a:lnTo>
                        <a:lnTo>
                          <a:pt x="144" y="576"/>
                        </a:lnTo>
                        <a:lnTo>
                          <a:pt x="432" y="576"/>
                        </a:lnTo>
                        <a:lnTo>
                          <a:pt x="432" y="816"/>
                        </a:lnTo>
                      </a:path>
                    </a:pathLst>
                  </a:custGeom>
                  <a:noFill/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88862" name="Group 339"/>
                <p:cNvGrpSpPr/>
                <p:nvPr/>
              </p:nvGrpSpPr>
              <p:grpSpPr>
                <a:xfrm>
                  <a:off x="1059" y="2746"/>
                  <a:ext cx="3750" cy="804"/>
                  <a:chOff x="1059" y="2746"/>
                  <a:chExt cx="3750" cy="804"/>
                </a:xfrm>
              </p:grpSpPr>
              <p:sp>
                <p:nvSpPr>
                  <p:cNvPr id="288863" name="Freeform 340"/>
                  <p:cNvSpPr/>
                  <p:nvPr/>
                </p:nvSpPr>
                <p:spPr>
                  <a:xfrm>
                    <a:off x="1059" y="2746"/>
                    <a:ext cx="280" cy="795"/>
                  </a:xfrm>
                  <a:custGeom>
                    <a:avLst/>
                    <a:gdLst>
                      <a:gd name="txL" fmla="*/ 0 w 280"/>
                      <a:gd name="txT" fmla="*/ 0 h 795"/>
                      <a:gd name="txR" fmla="*/ 280 w 280"/>
                      <a:gd name="txB" fmla="*/ 795 h 795"/>
                    </a:gdLst>
                    <a:ahLst/>
                    <a:cxnLst>
                      <a:cxn ang="0">
                        <a:pos x="276" y="795"/>
                      </a:cxn>
                      <a:cxn ang="0">
                        <a:pos x="280" y="657"/>
                      </a:cxn>
                      <a:cxn ang="0">
                        <a:pos x="0" y="660"/>
                      </a:cxn>
                      <a:cxn ang="0">
                        <a:pos x="3" y="0"/>
                      </a:cxn>
                      <a:cxn ang="0">
                        <a:pos x="144" y="0"/>
                      </a:cxn>
                    </a:cxnLst>
                    <a:rect l="txL" t="txT" r="txR" b="txB"/>
                    <a:pathLst>
                      <a:path w="280" h="795">
                        <a:moveTo>
                          <a:pt x="276" y="795"/>
                        </a:moveTo>
                        <a:lnTo>
                          <a:pt x="280" y="657"/>
                        </a:lnTo>
                        <a:lnTo>
                          <a:pt x="0" y="660"/>
                        </a:lnTo>
                        <a:lnTo>
                          <a:pt x="3" y="0"/>
                        </a:lnTo>
                        <a:lnTo>
                          <a:pt x="144" y="0"/>
                        </a:lnTo>
                      </a:path>
                    </a:pathLst>
                  </a:custGeom>
                  <a:noFill/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864" name="Freeform 341"/>
                  <p:cNvSpPr/>
                  <p:nvPr/>
                </p:nvSpPr>
                <p:spPr>
                  <a:xfrm>
                    <a:off x="2211" y="2755"/>
                    <a:ext cx="294" cy="795"/>
                  </a:xfrm>
                  <a:custGeom>
                    <a:avLst/>
                    <a:gdLst>
                      <a:gd name="txL" fmla="*/ 0 w 294"/>
                      <a:gd name="txT" fmla="*/ 0 h 795"/>
                      <a:gd name="txR" fmla="*/ 294 w 294"/>
                      <a:gd name="txB" fmla="*/ 795 h 795"/>
                    </a:gdLst>
                    <a:ahLst/>
                    <a:cxnLst>
                      <a:cxn ang="0">
                        <a:pos x="294" y="795"/>
                      </a:cxn>
                      <a:cxn ang="0">
                        <a:pos x="294" y="657"/>
                      </a:cxn>
                      <a:cxn ang="0">
                        <a:pos x="0" y="657"/>
                      </a:cxn>
                      <a:cxn ang="0">
                        <a:pos x="3" y="0"/>
                      </a:cxn>
                      <a:cxn ang="0">
                        <a:pos x="144" y="0"/>
                      </a:cxn>
                    </a:cxnLst>
                    <a:rect l="txL" t="txT" r="txR" b="txB"/>
                    <a:pathLst>
                      <a:path w="294" h="795">
                        <a:moveTo>
                          <a:pt x="294" y="795"/>
                        </a:moveTo>
                        <a:lnTo>
                          <a:pt x="294" y="657"/>
                        </a:lnTo>
                        <a:lnTo>
                          <a:pt x="0" y="657"/>
                        </a:lnTo>
                        <a:lnTo>
                          <a:pt x="3" y="0"/>
                        </a:lnTo>
                        <a:lnTo>
                          <a:pt x="144" y="0"/>
                        </a:lnTo>
                      </a:path>
                    </a:pathLst>
                  </a:custGeom>
                  <a:noFill/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865" name="Freeform 342"/>
                  <p:cNvSpPr/>
                  <p:nvPr/>
                </p:nvSpPr>
                <p:spPr>
                  <a:xfrm>
                    <a:off x="3363" y="2755"/>
                    <a:ext cx="294" cy="795"/>
                  </a:xfrm>
                  <a:custGeom>
                    <a:avLst/>
                    <a:gdLst>
                      <a:gd name="txL" fmla="*/ 0 w 294"/>
                      <a:gd name="txT" fmla="*/ 0 h 795"/>
                      <a:gd name="txR" fmla="*/ 294 w 294"/>
                      <a:gd name="txB" fmla="*/ 795 h 795"/>
                    </a:gdLst>
                    <a:ahLst/>
                    <a:cxnLst>
                      <a:cxn ang="0">
                        <a:pos x="294" y="795"/>
                      </a:cxn>
                      <a:cxn ang="0">
                        <a:pos x="294" y="657"/>
                      </a:cxn>
                      <a:cxn ang="0">
                        <a:pos x="0" y="657"/>
                      </a:cxn>
                      <a:cxn ang="0">
                        <a:pos x="3" y="0"/>
                      </a:cxn>
                      <a:cxn ang="0">
                        <a:pos x="144" y="0"/>
                      </a:cxn>
                    </a:cxnLst>
                    <a:rect l="txL" t="txT" r="txR" b="txB"/>
                    <a:pathLst>
                      <a:path w="294" h="795">
                        <a:moveTo>
                          <a:pt x="294" y="795"/>
                        </a:moveTo>
                        <a:lnTo>
                          <a:pt x="294" y="657"/>
                        </a:lnTo>
                        <a:lnTo>
                          <a:pt x="0" y="657"/>
                        </a:lnTo>
                        <a:lnTo>
                          <a:pt x="3" y="0"/>
                        </a:lnTo>
                        <a:lnTo>
                          <a:pt x="144" y="0"/>
                        </a:lnTo>
                      </a:path>
                    </a:pathLst>
                  </a:custGeom>
                  <a:noFill/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8866" name="Freeform 343"/>
                  <p:cNvSpPr/>
                  <p:nvPr/>
                </p:nvSpPr>
                <p:spPr>
                  <a:xfrm>
                    <a:off x="4515" y="2755"/>
                    <a:ext cx="294" cy="795"/>
                  </a:xfrm>
                  <a:custGeom>
                    <a:avLst/>
                    <a:gdLst>
                      <a:gd name="txL" fmla="*/ 0 w 294"/>
                      <a:gd name="txT" fmla="*/ 0 h 795"/>
                      <a:gd name="txR" fmla="*/ 294 w 294"/>
                      <a:gd name="txB" fmla="*/ 795 h 795"/>
                    </a:gdLst>
                    <a:ahLst/>
                    <a:cxnLst>
                      <a:cxn ang="0">
                        <a:pos x="294" y="795"/>
                      </a:cxn>
                      <a:cxn ang="0">
                        <a:pos x="294" y="657"/>
                      </a:cxn>
                      <a:cxn ang="0">
                        <a:pos x="0" y="657"/>
                      </a:cxn>
                      <a:cxn ang="0">
                        <a:pos x="3" y="0"/>
                      </a:cxn>
                      <a:cxn ang="0">
                        <a:pos x="144" y="0"/>
                      </a:cxn>
                    </a:cxnLst>
                    <a:rect l="txL" t="txT" r="txR" b="txB"/>
                    <a:pathLst>
                      <a:path w="294" h="795">
                        <a:moveTo>
                          <a:pt x="294" y="795"/>
                        </a:moveTo>
                        <a:lnTo>
                          <a:pt x="294" y="657"/>
                        </a:lnTo>
                        <a:lnTo>
                          <a:pt x="0" y="657"/>
                        </a:lnTo>
                        <a:lnTo>
                          <a:pt x="3" y="0"/>
                        </a:lnTo>
                        <a:lnTo>
                          <a:pt x="144" y="0"/>
                        </a:lnTo>
                      </a:path>
                    </a:pathLst>
                  </a:custGeom>
                  <a:noFill/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288845" name="Group 344"/>
            <p:cNvGrpSpPr/>
            <p:nvPr/>
          </p:nvGrpSpPr>
          <p:grpSpPr>
            <a:xfrm>
              <a:off x="1946" y="3527"/>
              <a:ext cx="3812" cy="212"/>
              <a:chOff x="1946" y="3527"/>
              <a:chExt cx="3812" cy="212"/>
            </a:xfrm>
          </p:grpSpPr>
          <p:grpSp>
            <p:nvGrpSpPr>
              <p:cNvPr id="288846" name="Group 345"/>
              <p:cNvGrpSpPr/>
              <p:nvPr/>
            </p:nvGrpSpPr>
            <p:grpSpPr>
              <a:xfrm>
                <a:off x="1964" y="3737"/>
                <a:ext cx="3637" cy="0"/>
                <a:chOff x="1964" y="3737"/>
                <a:chExt cx="3637" cy="0"/>
              </a:xfrm>
            </p:grpSpPr>
            <p:sp>
              <p:nvSpPr>
                <p:cNvPr id="288852" name="Line 346"/>
                <p:cNvSpPr/>
                <p:nvPr/>
              </p:nvSpPr>
              <p:spPr>
                <a:xfrm>
                  <a:off x="1964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8853" name="Line 347"/>
                <p:cNvSpPr/>
                <p:nvPr/>
              </p:nvSpPr>
              <p:spPr>
                <a:xfrm>
                  <a:off x="3144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8854" name="Line 348"/>
                <p:cNvSpPr/>
                <p:nvPr/>
              </p:nvSpPr>
              <p:spPr>
                <a:xfrm>
                  <a:off x="4293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8855" name="Line 349"/>
                <p:cNvSpPr/>
                <p:nvPr/>
              </p:nvSpPr>
              <p:spPr>
                <a:xfrm>
                  <a:off x="5420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</p:grpSp>
          <p:grpSp>
            <p:nvGrpSpPr>
              <p:cNvPr id="288847" name="Group 350"/>
              <p:cNvGrpSpPr/>
              <p:nvPr/>
            </p:nvGrpSpPr>
            <p:grpSpPr>
              <a:xfrm>
                <a:off x="1946" y="3527"/>
                <a:ext cx="3812" cy="212"/>
                <a:chOff x="1946" y="3527"/>
                <a:chExt cx="3812" cy="212"/>
              </a:xfrm>
            </p:grpSpPr>
            <p:sp>
              <p:nvSpPr>
                <p:cNvPr id="288848" name="Text Box 351"/>
                <p:cNvSpPr txBox="1"/>
                <p:nvPr/>
              </p:nvSpPr>
              <p:spPr>
                <a:xfrm>
                  <a:off x="1946" y="3527"/>
                  <a:ext cx="34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849" name="Text Box 352"/>
                <p:cNvSpPr txBox="1"/>
                <p:nvPr/>
              </p:nvSpPr>
              <p:spPr>
                <a:xfrm>
                  <a:off x="3106" y="3527"/>
                  <a:ext cx="34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850" name="Text Box 353"/>
                <p:cNvSpPr txBox="1"/>
                <p:nvPr/>
              </p:nvSpPr>
              <p:spPr>
                <a:xfrm>
                  <a:off x="4258" y="3527"/>
                  <a:ext cx="34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3</a:t>
                  </a:r>
                  <a:endPara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851" name="Text Box 354"/>
                <p:cNvSpPr txBox="1"/>
                <p:nvPr/>
              </p:nvSpPr>
              <p:spPr>
                <a:xfrm>
                  <a:off x="5416" y="3527"/>
                  <a:ext cx="34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4</a:t>
                  </a:r>
                  <a:endPara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225292" name="Group 355"/>
          <p:cNvGrpSpPr/>
          <p:nvPr/>
        </p:nvGrpSpPr>
        <p:grpSpPr>
          <a:xfrm>
            <a:off x="3192463" y="1903413"/>
            <a:ext cx="6275387" cy="2357437"/>
            <a:chOff x="1051" y="1199"/>
            <a:chExt cx="3953" cy="1485"/>
          </a:xfrm>
        </p:grpSpPr>
        <p:grpSp>
          <p:nvGrpSpPr>
            <p:cNvPr id="288826" name="Group 356"/>
            <p:cNvGrpSpPr/>
            <p:nvPr/>
          </p:nvGrpSpPr>
          <p:grpSpPr>
            <a:xfrm>
              <a:off x="1051" y="2355"/>
              <a:ext cx="3942" cy="5"/>
              <a:chOff x="1058" y="2355"/>
              <a:chExt cx="3942" cy="5"/>
            </a:xfrm>
          </p:grpSpPr>
          <p:sp>
            <p:nvSpPr>
              <p:cNvPr id="288836" name="Freeform 357"/>
              <p:cNvSpPr/>
              <p:nvPr/>
            </p:nvSpPr>
            <p:spPr>
              <a:xfrm>
                <a:off x="1437" y="2359"/>
                <a:ext cx="112" cy="1"/>
              </a:xfrm>
              <a:custGeom>
                <a:avLst/>
                <a:gdLst>
                  <a:gd name="txL" fmla="*/ 0 w 112"/>
                  <a:gd name="txT" fmla="*/ 0 h 1"/>
                  <a:gd name="txR" fmla="*/ 112 w 11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2" y="0"/>
                  </a:cxn>
                </a:cxnLst>
                <a:rect l="txL" t="txT" r="txR" b="txB"/>
                <a:pathLst>
                  <a:path w="112" h="1">
                    <a:moveTo>
                      <a:pt x="0" y="0"/>
                    </a:moveTo>
                    <a:lnTo>
                      <a:pt x="112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837" name="Freeform 358"/>
              <p:cNvSpPr/>
              <p:nvPr/>
            </p:nvSpPr>
            <p:spPr>
              <a:xfrm>
                <a:off x="1058" y="2359"/>
                <a:ext cx="102" cy="1"/>
              </a:xfrm>
              <a:custGeom>
                <a:avLst/>
                <a:gdLst>
                  <a:gd name="txL" fmla="*/ 0 w 102"/>
                  <a:gd name="txT" fmla="*/ 0 h 1"/>
                  <a:gd name="txR" fmla="*/ 102 w 102"/>
                  <a:gd name="txB" fmla="*/ 1 h 1"/>
                </a:gdLst>
                <a:ahLst/>
                <a:cxnLst>
                  <a:cxn ang="0">
                    <a:pos x="102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2" h="1">
                    <a:moveTo>
                      <a:pt x="102" y="0"/>
                    </a:moveTo>
                    <a:lnTo>
                      <a:pt x="0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838" name="Freeform 359"/>
              <p:cNvSpPr/>
              <p:nvPr/>
            </p:nvSpPr>
            <p:spPr>
              <a:xfrm>
                <a:off x="2589" y="2359"/>
                <a:ext cx="109" cy="1"/>
              </a:xfrm>
              <a:custGeom>
                <a:avLst/>
                <a:gdLst>
                  <a:gd name="txL" fmla="*/ 0 w 109"/>
                  <a:gd name="txT" fmla="*/ 0 h 1"/>
                  <a:gd name="txR" fmla="*/ 109 w 10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9" y="0"/>
                  </a:cxn>
                </a:cxnLst>
                <a:rect l="txL" t="txT" r="txR" b="txB"/>
                <a:pathLst>
                  <a:path w="109" h="1">
                    <a:moveTo>
                      <a:pt x="0" y="0"/>
                    </a:moveTo>
                    <a:lnTo>
                      <a:pt x="109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839" name="Freeform 360"/>
              <p:cNvSpPr/>
              <p:nvPr/>
            </p:nvSpPr>
            <p:spPr>
              <a:xfrm>
                <a:off x="2210" y="2359"/>
                <a:ext cx="89" cy="1"/>
              </a:xfrm>
              <a:custGeom>
                <a:avLst/>
                <a:gdLst>
                  <a:gd name="txL" fmla="*/ 0 w 89"/>
                  <a:gd name="txT" fmla="*/ 0 h 1"/>
                  <a:gd name="txR" fmla="*/ 89 w 89"/>
                  <a:gd name="txB" fmla="*/ 1 h 1"/>
                </a:gdLst>
                <a:ahLst/>
                <a:cxnLst>
                  <a:cxn ang="0">
                    <a:pos x="89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9" h="1">
                    <a:moveTo>
                      <a:pt x="89" y="0"/>
                    </a:moveTo>
                    <a:lnTo>
                      <a:pt x="0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840" name="Freeform 361"/>
              <p:cNvSpPr/>
              <p:nvPr/>
            </p:nvSpPr>
            <p:spPr>
              <a:xfrm>
                <a:off x="3756" y="2355"/>
                <a:ext cx="99" cy="3"/>
              </a:xfrm>
              <a:custGeom>
                <a:avLst/>
                <a:gdLst>
                  <a:gd name="txL" fmla="*/ 0 w 99"/>
                  <a:gd name="txT" fmla="*/ 0 h 3"/>
                  <a:gd name="txR" fmla="*/ 99 w 99"/>
                  <a:gd name="txB" fmla="*/ 3 h 3"/>
                </a:gdLst>
                <a:ahLst/>
                <a:cxnLst>
                  <a:cxn ang="0">
                    <a:pos x="0" y="3"/>
                  </a:cxn>
                  <a:cxn ang="0">
                    <a:pos x="99" y="0"/>
                  </a:cxn>
                </a:cxnLst>
                <a:rect l="txL" t="txT" r="txR" b="txB"/>
                <a:pathLst>
                  <a:path w="99" h="3">
                    <a:moveTo>
                      <a:pt x="0" y="3"/>
                    </a:moveTo>
                    <a:lnTo>
                      <a:pt x="99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841" name="Freeform 362"/>
              <p:cNvSpPr/>
              <p:nvPr/>
            </p:nvSpPr>
            <p:spPr>
              <a:xfrm>
                <a:off x="3362" y="2359"/>
                <a:ext cx="108" cy="1"/>
              </a:xfrm>
              <a:custGeom>
                <a:avLst/>
                <a:gdLst>
                  <a:gd name="txL" fmla="*/ 0 w 108"/>
                  <a:gd name="txT" fmla="*/ 0 h 1"/>
                  <a:gd name="txR" fmla="*/ 108 w 108"/>
                  <a:gd name="txB" fmla="*/ 1 h 1"/>
                </a:gdLst>
                <a:ahLst/>
                <a:cxnLst>
                  <a:cxn ang="0">
                    <a:pos x="10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8" h="1">
                    <a:moveTo>
                      <a:pt x="108" y="0"/>
                    </a:moveTo>
                    <a:lnTo>
                      <a:pt x="0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842" name="Freeform 363"/>
              <p:cNvSpPr/>
              <p:nvPr/>
            </p:nvSpPr>
            <p:spPr>
              <a:xfrm>
                <a:off x="4893" y="2359"/>
                <a:ext cx="107" cy="1"/>
              </a:xfrm>
              <a:custGeom>
                <a:avLst/>
                <a:gdLst>
                  <a:gd name="txL" fmla="*/ 0 w 107"/>
                  <a:gd name="txT" fmla="*/ 0 h 1"/>
                  <a:gd name="txR" fmla="*/ 107 w 10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7" y="0"/>
                  </a:cxn>
                </a:cxnLst>
                <a:rect l="txL" t="txT" r="txR" b="txB"/>
                <a:pathLst>
                  <a:path w="107" h="1">
                    <a:moveTo>
                      <a:pt x="0" y="0"/>
                    </a:moveTo>
                    <a:lnTo>
                      <a:pt x="107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843" name="Freeform 364"/>
              <p:cNvSpPr/>
              <p:nvPr/>
            </p:nvSpPr>
            <p:spPr>
              <a:xfrm>
                <a:off x="4514" y="2359"/>
                <a:ext cx="96" cy="1"/>
              </a:xfrm>
              <a:custGeom>
                <a:avLst/>
                <a:gdLst>
                  <a:gd name="txL" fmla="*/ 0 w 96"/>
                  <a:gd name="txT" fmla="*/ 0 h 1"/>
                  <a:gd name="txR" fmla="*/ 96 w 96"/>
                  <a:gd name="txB" fmla="*/ 1 h 1"/>
                </a:gdLst>
                <a:ahLst/>
                <a:cxnLst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1">
                    <a:moveTo>
                      <a:pt x="96" y="0"/>
                    </a:moveTo>
                    <a:lnTo>
                      <a:pt x="0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8827" name="Group 365"/>
            <p:cNvGrpSpPr/>
            <p:nvPr/>
          </p:nvGrpSpPr>
          <p:grpSpPr>
            <a:xfrm>
              <a:off x="1055" y="1215"/>
              <a:ext cx="3608" cy="1469"/>
              <a:chOff x="1055" y="1215"/>
              <a:chExt cx="3608" cy="1469"/>
            </a:xfrm>
          </p:grpSpPr>
          <p:sp>
            <p:nvSpPr>
              <p:cNvPr id="288832" name="Freeform 366"/>
              <p:cNvSpPr/>
              <p:nvPr/>
            </p:nvSpPr>
            <p:spPr>
              <a:xfrm>
                <a:off x="1055" y="1215"/>
                <a:ext cx="152" cy="1469"/>
              </a:xfrm>
              <a:custGeom>
                <a:avLst/>
                <a:gdLst>
                  <a:gd name="txL" fmla="*/ 0 w 152"/>
                  <a:gd name="txT" fmla="*/ 0 h 1469"/>
                  <a:gd name="txR" fmla="*/ 152 w 152"/>
                  <a:gd name="txB" fmla="*/ 1469 h 1469"/>
                </a:gdLst>
                <a:ahLst/>
                <a:cxnLst>
                  <a:cxn ang="0">
                    <a:pos x="152" y="1469"/>
                  </a:cxn>
                  <a:cxn ang="0">
                    <a:pos x="0" y="1469"/>
                  </a:cxn>
                  <a:cxn ang="0">
                    <a:pos x="4" y="0"/>
                  </a:cxn>
                  <a:cxn ang="0">
                    <a:pos x="95" y="1"/>
                  </a:cxn>
                </a:cxnLst>
                <a:rect l="txL" t="txT" r="txR" b="txB"/>
                <a:pathLst>
                  <a:path w="152" h="1469">
                    <a:moveTo>
                      <a:pt x="152" y="1469"/>
                    </a:moveTo>
                    <a:lnTo>
                      <a:pt x="0" y="1469"/>
                    </a:lnTo>
                    <a:lnTo>
                      <a:pt x="4" y="0"/>
                    </a:lnTo>
                    <a:lnTo>
                      <a:pt x="95" y="1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833" name="Freeform 367"/>
              <p:cNvSpPr/>
              <p:nvPr/>
            </p:nvSpPr>
            <p:spPr>
              <a:xfrm>
                <a:off x="2207" y="1217"/>
                <a:ext cx="152" cy="1467"/>
              </a:xfrm>
              <a:custGeom>
                <a:avLst/>
                <a:gdLst>
                  <a:gd name="txL" fmla="*/ 0 w 152"/>
                  <a:gd name="txT" fmla="*/ 0 h 1467"/>
                  <a:gd name="txR" fmla="*/ 152 w 152"/>
                  <a:gd name="txB" fmla="*/ 1467 h 1467"/>
                </a:gdLst>
                <a:ahLst/>
                <a:cxnLst>
                  <a:cxn ang="0">
                    <a:pos x="152" y="1467"/>
                  </a:cxn>
                  <a:cxn ang="0">
                    <a:pos x="0" y="1467"/>
                  </a:cxn>
                  <a:cxn ang="0">
                    <a:pos x="1" y="1"/>
                  </a:cxn>
                  <a:cxn ang="0">
                    <a:pos x="86" y="0"/>
                  </a:cxn>
                </a:cxnLst>
                <a:rect l="txL" t="txT" r="txR" b="txB"/>
                <a:pathLst>
                  <a:path w="152" h="1467">
                    <a:moveTo>
                      <a:pt x="152" y="1467"/>
                    </a:moveTo>
                    <a:lnTo>
                      <a:pt x="0" y="1467"/>
                    </a:lnTo>
                    <a:lnTo>
                      <a:pt x="1" y="1"/>
                    </a:lnTo>
                    <a:lnTo>
                      <a:pt x="86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834" name="Freeform 368"/>
              <p:cNvSpPr/>
              <p:nvPr/>
            </p:nvSpPr>
            <p:spPr>
              <a:xfrm>
                <a:off x="3359" y="1218"/>
                <a:ext cx="152" cy="1466"/>
              </a:xfrm>
              <a:custGeom>
                <a:avLst/>
                <a:gdLst>
                  <a:gd name="txL" fmla="*/ 0 w 152"/>
                  <a:gd name="txT" fmla="*/ 0 h 1466"/>
                  <a:gd name="txR" fmla="*/ 152 w 152"/>
                  <a:gd name="txB" fmla="*/ 1466 h 1466"/>
                </a:gdLst>
                <a:ahLst/>
                <a:cxnLst>
                  <a:cxn ang="0">
                    <a:pos x="152" y="1466"/>
                  </a:cxn>
                  <a:cxn ang="0">
                    <a:pos x="0" y="1466"/>
                  </a:cxn>
                  <a:cxn ang="0">
                    <a:pos x="1" y="0"/>
                  </a:cxn>
                  <a:cxn ang="0">
                    <a:pos x="109" y="0"/>
                  </a:cxn>
                </a:cxnLst>
                <a:rect l="txL" t="txT" r="txR" b="txB"/>
                <a:pathLst>
                  <a:path w="152" h="1466">
                    <a:moveTo>
                      <a:pt x="152" y="1466"/>
                    </a:moveTo>
                    <a:lnTo>
                      <a:pt x="0" y="1466"/>
                    </a:lnTo>
                    <a:lnTo>
                      <a:pt x="1" y="0"/>
                    </a:lnTo>
                    <a:lnTo>
                      <a:pt x="109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8835" name="Freeform 369"/>
              <p:cNvSpPr/>
              <p:nvPr/>
            </p:nvSpPr>
            <p:spPr>
              <a:xfrm>
                <a:off x="4505" y="1217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0" y="1467"/>
                  </a:cxn>
                  <a:cxn ang="0">
                    <a:pos x="0" y="0"/>
                  </a:cxn>
                  <a:cxn ang="0">
                    <a:pos x="95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0" y="1467"/>
                    </a:lnTo>
                    <a:lnTo>
                      <a:pt x="0" y="0"/>
                    </a:lnTo>
                    <a:lnTo>
                      <a:pt x="95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88828" name="Freeform 370"/>
            <p:cNvSpPr/>
            <p:nvPr/>
          </p:nvSpPr>
          <p:spPr>
            <a:xfrm>
              <a:off x="1397" y="1202"/>
              <a:ext cx="145" cy="1466"/>
            </a:xfrm>
            <a:custGeom>
              <a:avLst/>
              <a:gdLst>
                <a:gd name="txL" fmla="*/ 0 w 145"/>
                <a:gd name="txT" fmla="*/ 0 h 1466"/>
                <a:gd name="txR" fmla="*/ 145 w 145"/>
                <a:gd name="txB" fmla="*/ 1466 h 1466"/>
              </a:gdLst>
              <a:ahLst/>
              <a:cxnLst>
                <a:cxn ang="0">
                  <a:pos x="37" y="0"/>
                </a:cxn>
                <a:cxn ang="0">
                  <a:pos x="145" y="0"/>
                </a:cxn>
                <a:cxn ang="0">
                  <a:pos x="144" y="1466"/>
                </a:cxn>
                <a:cxn ang="0">
                  <a:pos x="0" y="1466"/>
                </a:cxn>
              </a:cxnLst>
              <a:rect l="txL" t="txT" r="txR" b="txB"/>
              <a:pathLst>
                <a:path w="145" h="1466">
                  <a:moveTo>
                    <a:pt x="37" y="0"/>
                  </a:moveTo>
                  <a:lnTo>
                    <a:pt x="145" y="0"/>
                  </a:lnTo>
                  <a:lnTo>
                    <a:pt x="144" y="1466"/>
                  </a:lnTo>
                  <a:lnTo>
                    <a:pt x="0" y="1466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8829" name="Freeform 371"/>
            <p:cNvSpPr/>
            <p:nvPr/>
          </p:nvSpPr>
          <p:spPr>
            <a:xfrm>
              <a:off x="2550" y="1199"/>
              <a:ext cx="150" cy="1474"/>
            </a:xfrm>
            <a:custGeom>
              <a:avLst/>
              <a:gdLst>
                <a:gd name="txL" fmla="*/ 0 w 150"/>
                <a:gd name="txT" fmla="*/ 0 h 1474"/>
                <a:gd name="txR" fmla="*/ 150 w 150"/>
                <a:gd name="txB" fmla="*/ 1474 h 1474"/>
              </a:gdLst>
              <a:ahLst/>
              <a:cxnLst>
                <a:cxn ang="0">
                  <a:pos x="42" y="0"/>
                </a:cxn>
                <a:cxn ang="0">
                  <a:pos x="150" y="0"/>
                </a:cxn>
                <a:cxn ang="0">
                  <a:pos x="147" y="1474"/>
                </a:cxn>
                <a:cxn ang="0">
                  <a:pos x="0" y="1474"/>
                </a:cxn>
              </a:cxnLst>
              <a:rect l="txL" t="txT" r="txR" b="txB"/>
              <a:pathLst>
                <a:path w="150" h="1474">
                  <a:moveTo>
                    <a:pt x="42" y="0"/>
                  </a:moveTo>
                  <a:lnTo>
                    <a:pt x="150" y="0"/>
                  </a:lnTo>
                  <a:lnTo>
                    <a:pt x="147" y="1474"/>
                  </a:lnTo>
                  <a:lnTo>
                    <a:pt x="0" y="1474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8830" name="Freeform 372"/>
            <p:cNvSpPr/>
            <p:nvPr/>
          </p:nvSpPr>
          <p:spPr>
            <a:xfrm>
              <a:off x="3705" y="1199"/>
              <a:ext cx="141" cy="1471"/>
            </a:xfrm>
            <a:custGeom>
              <a:avLst/>
              <a:gdLst>
                <a:gd name="txL" fmla="*/ 0 w 141"/>
                <a:gd name="txT" fmla="*/ 0 h 1471"/>
                <a:gd name="txR" fmla="*/ 141 w 141"/>
                <a:gd name="txB" fmla="*/ 1471 h 1471"/>
              </a:gdLst>
              <a:ahLst/>
              <a:cxnLst>
                <a:cxn ang="0">
                  <a:pos x="33" y="0"/>
                </a:cxn>
                <a:cxn ang="0">
                  <a:pos x="141" y="0"/>
                </a:cxn>
                <a:cxn ang="0">
                  <a:pos x="141" y="1471"/>
                </a:cxn>
                <a:cxn ang="0">
                  <a:pos x="0" y="1471"/>
                </a:cxn>
              </a:cxnLst>
              <a:rect l="txL" t="txT" r="txR" b="txB"/>
              <a:pathLst>
                <a:path w="141" h="1471">
                  <a:moveTo>
                    <a:pt x="33" y="0"/>
                  </a:moveTo>
                  <a:lnTo>
                    <a:pt x="141" y="0"/>
                  </a:lnTo>
                  <a:lnTo>
                    <a:pt x="141" y="1471"/>
                  </a:lnTo>
                  <a:lnTo>
                    <a:pt x="0" y="1471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88831" name="Freeform 373"/>
            <p:cNvSpPr/>
            <p:nvPr/>
          </p:nvSpPr>
          <p:spPr>
            <a:xfrm>
              <a:off x="4854" y="1199"/>
              <a:ext cx="150" cy="1480"/>
            </a:xfrm>
            <a:custGeom>
              <a:avLst/>
              <a:gdLst>
                <a:gd name="txL" fmla="*/ 0 w 150"/>
                <a:gd name="txT" fmla="*/ 0 h 1480"/>
                <a:gd name="txR" fmla="*/ 150 w 150"/>
                <a:gd name="txB" fmla="*/ 1480 h 1480"/>
              </a:gdLst>
              <a:ahLst/>
              <a:cxnLst>
                <a:cxn ang="0">
                  <a:pos x="42" y="0"/>
                </a:cxn>
                <a:cxn ang="0">
                  <a:pos x="150" y="0"/>
                </a:cxn>
                <a:cxn ang="0">
                  <a:pos x="147" y="1480"/>
                </a:cxn>
                <a:cxn ang="0">
                  <a:pos x="0" y="1477"/>
                </a:cxn>
              </a:cxnLst>
              <a:rect l="txL" t="txT" r="txR" b="txB"/>
              <a:pathLst>
                <a:path w="150" h="1480">
                  <a:moveTo>
                    <a:pt x="42" y="0"/>
                  </a:moveTo>
                  <a:lnTo>
                    <a:pt x="150" y="0"/>
                  </a:lnTo>
                  <a:lnTo>
                    <a:pt x="147" y="1480"/>
                  </a:lnTo>
                  <a:lnTo>
                    <a:pt x="0" y="1477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88776" name="Group 374"/>
          <p:cNvGrpSpPr/>
          <p:nvPr/>
        </p:nvGrpSpPr>
        <p:grpSpPr>
          <a:xfrm>
            <a:off x="2976563" y="2617788"/>
            <a:ext cx="6613525" cy="1963737"/>
            <a:chOff x="915" y="1649"/>
            <a:chExt cx="4166" cy="1237"/>
          </a:xfrm>
        </p:grpSpPr>
        <p:grpSp>
          <p:nvGrpSpPr>
            <p:cNvPr id="288779" name="Group 375"/>
            <p:cNvGrpSpPr/>
            <p:nvPr/>
          </p:nvGrpSpPr>
          <p:grpSpPr>
            <a:xfrm>
              <a:off x="915" y="2633"/>
              <a:ext cx="3945" cy="253"/>
              <a:chOff x="915" y="2633"/>
              <a:chExt cx="3945" cy="253"/>
            </a:xfrm>
          </p:grpSpPr>
          <p:grpSp>
            <p:nvGrpSpPr>
              <p:cNvPr id="288788" name="Group 376"/>
              <p:cNvGrpSpPr/>
              <p:nvPr/>
            </p:nvGrpSpPr>
            <p:grpSpPr>
              <a:xfrm>
                <a:off x="915" y="2696"/>
                <a:ext cx="3858" cy="190"/>
                <a:chOff x="915" y="2696"/>
                <a:chExt cx="3858" cy="190"/>
              </a:xfrm>
            </p:grpSpPr>
            <p:sp>
              <p:nvSpPr>
                <p:cNvPr id="288821" name="Freeform 377"/>
                <p:cNvSpPr/>
                <p:nvPr/>
              </p:nvSpPr>
              <p:spPr>
                <a:xfrm>
                  <a:off x="1304" y="2707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8822" name="Freeform 378"/>
                <p:cNvSpPr/>
                <p:nvPr/>
              </p:nvSpPr>
              <p:spPr>
                <a:xfrm>
                  <a:off x="2457" y="2710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8823" name="Freeform 379"/>
                <p:cNvSpPr/>
                <p:nvPr/>
              </p:nvSpPr>
              <p:spPr>
                <a:xfrm>
                  <a:off x="3609" y="2710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8824" name="Freeform 380"/>
                <p:cNvSpPr/>
                <p:nvPr/>
              </p:nvSpPr>
              <p:spPr>
                <a:xfrm>
                  <a:off x="4761" y="2696"/>
                  <a:ext cx="1" cy="178"/>
                </a:xfrm>
                <a:custGeom>
                  <a:avLst/>
                  <a:gdLst>
                    <a:gd name="txL" fmla="*/ 0 w 1"/>
                    <a:gd name="txT" fmla="*/ 0 h 178"/>
                    <a:gd name="txR" fmla="*/ 1 w 1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0" y="178"/>
                    </a:cxn>
                  </a:cxnLst>
                  <a:rect l="txL" t="txT" r="txR" b="txB"/>
                  <a:pathLst>
                    <a:path w="1" h="178">
                      <a:moveTo>
                        <a:pt x="0" y="0"/>
                      </a:moveTo>
                      <a:lnTo>
                        <a:pt x="0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8825" name="Freeform 381"/>
                <p:cNvSpPr/>
                <p:nvPr/>
              </p:nvSpPr>
              <p:spPr>
                <a:xfrm>
                  <a:off x="915" y="2865"/>
                  <a:ext cx="3858" cy="2"/>
                </a:xfrm>
                <a:custGeom>
                  <a:avLst/>
                  <a:gdLst>
                    <a:gd name="txL" fmla="*/ 0 w 3858"/>
                    <a:gd name="txT" fmla="*/ 0 h 2"/>
                    <a:gd name="txR" fmla="*/ 3858 w 3858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3858" y="0"/>
                    </a:cxn>
                  </a:cxnLst>
                  <a:rect l="txL" t="txT" r="txR" b="txB"/>
                  <a:pathLst>
                    <a:path w="3858" h="2">
                      <a:moveTo>
                        <a:pt x="0" y="2"/>
                      </a:moveTo>
                      <a:lnTo>
                        <a:pt x="385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88789" name="Group 382"/>
              <p:cNvGrpSpPr/>
              <p:nvPr/>
            </p:nvGrpSpPr>
            <p:grpSpPr>
              <a:xfrm>
                <a:off x="1213" y="2633"/>
                <a:ext cx="192" cy="158"/>
                <a:chOff x="1440" y="2928"/>
                <a:chExt cx="192" cy="158"/>
              </a:xfrm>
            </p:grpSpPr>
            <p:grpSp>
              <p:nvGrpSpPr>
                <p:cNvPr id="288814" name="Group 383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8819" name="Line 384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820" name="Line 385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8815" name="Freeform 386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8816" name="Group 387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8817" name="Line 388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818" name="Line 389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8790" name="Group 390"/>
              <p:cNvGrpSpPr/>
              <p:nvPr/>
            </p:nvGrpSpPr>
            <p:grpSpPr>
              <a:xfrm>
                <a:off x="2365" y="2635"/>
                <a:ext cx="192" cy="158"/>
                <a:chOff x="1440" y="2928"/>
                <a:chExt cx="192" cy="158"/>
              </a:xfrm>
            </p:grpSpPr>
            <p:grpSp>
              <p:nvGrpSpPr>
                <p:cNvPr id="288807" name="Group 391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8812" name="Line 392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813" name="Line 393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8808" name="Freeform 394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8809" name="Group 395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8810" name="Line 396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811" name="Line 397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8791" name="Group 398"/>
              <p:cNvGrpSpPr/>
              <p:nvPr/>
            </p:nvGrpSpPr>
            <p:grpSpPr>
              <a:xfrm>
                <a:off x="3517" y="2635"/>
                <a:ext cx="192" cy="158"/>
                <a:chOff x="1440" y="2928"/>
                <a:chExt cx="192" cy="158"/>
              </a:xfrm>
            </p:grpSpPr>
            <p:grpSp>
              <p:nvGrpSpPr>
                <p:cNvPr id="288800" name="Group 399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8805" name="Line 400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806" name="Line 401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8801" name="Freeform 402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8802" name="Group 403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8803" name="Line 404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804" name="Line 405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8792" name="Group 406"/>
              <p:cNvGrpSpPr/>
              <p:nvPr/>
            </p:nvGrpSpPr>
            <p:grpSpPr>
              <a:xfrm>
                <a:off x="4668" y="2635"/>
                <a:ext cx="192" cy="158"/>
                <a:chOff x="1440" y="2928"/>
                <a:chExt cx="192" cy="158"/>
              </a:xfrm>
            </p:grpSpPr>
            <p:grpSp>
              <p:nvGrpSpPr>
                <p:cNvPr id="288793" name="Group 407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8798" name="Line 408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799" name="Line 409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8794" name="Freeform 410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8795" name="Group 411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8796" name="Line 412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797" name="Line 413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88780" name="Rectangle 414"/>
            <p:cNvSpPr/>
            <p:nvPr/>
          </p:nvSpPr>
          <p:spPr>
            <a:xfrm>
              <a:off x="1152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8781" name="Text Box 415"/>
            <p:cNvSpPr txBox="1"/>
            <p:nvPr/>
          </p:nvSpPr>
          <p:spPr>
            <a:xfrm>
              <a:off x="1150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8782" name="Rectangle 416"/>
            <p:cNvSpPr/>
            <p:nvPr/>
          </p:nvSpPr>
          <p:spPr>
            <a:xfrm>
              <a:off x="2293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8783" name="Rectangle 417"/>
            <p:cNvSpPr/>
            <p:nvPr/>
          </p:nvSpPr>
          <p:spPr>
            <a:xfrm>
              <a:off x="4604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8784" name="Rectangle 418"/>
            <p:cNvSpPr/>
            <p:nvPr/>
          </p:nvSpPr>
          <p:spPr>
            <a:xfrm>
              <a:off x="3466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8785" name="Text Box 419"/>
            <p:cNvSpPr txBox="1"/>
            <p:nvPr/>
          </p:nvSpPr>
          <p:spPr>
            <a:xfrm>
              <a:off x="2314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8786" name="Text Box 420"/>
            <p:cNvSpPr txBox="1"/>
            <p:nvPr/>
          </p:nvSpPr>
          <p:spPr>
            <a:xfrm>
              <a:off x="3462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8787" name="Text Box 421"/>
            <p:cNvSpPr txBox="1"/>
            <p:nvPr/>
          </p:nvSpPr>
          <p:spPr>
            <a:xfrm>
              <a:off x="4617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88777" name="AutoShape 42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877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2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89794" name="Group 2"/>
          <p:cNvGrpSpPr/>
          <p:nvPr/>
        </p:nvGrpSpPr>
        <p:grpSpPr>
          <a:xfrm>
            <a:off x="3108325" y="854075"/>
            <a:ext cx="7292975" cy="403225"/>
            <a:chOff x="1022" y="538"/>
            <a:chExt cx="4594" cy="254"/>
          </a:xfrm>
        </p:grpSpPr>
        <p:sp>
          <p:nvSpPr>
            <p:cNvPr id="290204" name="Line 3"/>
            <p:cNvSpPr/>
            <p:nvPr/>
          </p:nvSpPr>
          <p:spPr>
            <a:xfrm flipV="1">
              <a:off x="2180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90205" name="Freeform 4"/>
            <p:cNvSpPr/>
            <p:nvPr/>
          </p:nvSpPr>
          <p:spPr>
            <a:xfrm>
              <a:off x="3332" y="605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" y="0"/>
                </a:cxn>
              </a:cxnLst>
              <a:rect l="txL" t="txT" r="txR" b="txB"/>
              <a:pathLst>
                <a:path w="1" h="187">
                  <a:moveTo>
                    <a:pt x="0" y="187"/>
                  </a:moveTo>
                  <a:lnTo>
                    <a:pt x="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0206" name="Line 5"/>
            <p:cNvSpPr/>
            <p:nvPr/>
          </p:nvSpPr>
          <p:spPr>
            <a:xfrm flipV="1">
              <a:off x="4484" y="606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90207" name="Freeform 6"/>
            <p:cNvSpPr/>
            <p:nvPr/>
          </p:nvSpPr>
          <p:spPr>
            <a:xfrm>
              <a:off x="1022" y="607"/>
              <a:ext cx="4" cy="181"/>
            </a:xfrm>
            <a:custGeom>
              <a:avLst/>
              <a:gdLst>
                <a:gd name="txL" fmla="*/ 0 w 4"/>
                <a:gd name="txT" fmla="*/ 0 h 181"/>
                <a:gd name="txR" fmla="*/ 4 w 4"/>
                <a:gd name="txB" fmla="*/ 181 h 181"/>
              </a:gdLst>
              <a:ahLst/>
              <a:cxnLst>
                <a:cxn ang="0">
                  <a:pos x="4" y="181"/>
                </a:cxn>
                <a:cxn ang="0">
                  <a:pos x="0" y="0"/>
                </a:cxn>
              </a:cxnLst>
              <a:rect l="txL" t="txT" r="txR" b="txB"/>
              <a:pathLst>
                <a:path w="4" h="181">
                  <a:moveTo>
                    <a:pt x="4" y="18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lgDashDot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0208" name="Line 7"/>
            <p:cNvSpPr/>
            <p:nvPr/>
          </p:nvSpPr>
          <p:spPr>
            <a:xfrm flipV="1">
              <a:off x="5616" y="599"/>
              <a:ext cx="0" cy="18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lgDashDot"/>
              <a:headEnd type="none" w="med" len="med"/>
              <a:tailEnd type="none" w="med" len="med"/>
            </a:ln>
          </p:spPr>
        </p:sp>
        <p:sp>
          <p:nvSpPr>
            <p:cNvPr id="290209" name="Text Box 8"/>
            <p:cNvSpPr txBox="1"/>
            <p:nvPr/>
          </p:nvSpPr>
          <p:spPr>
            <a:xfrm>
              <a:off x="1334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第一组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0210" name="Text Box 9"/>
            <p:cNvSpPr txBox="1"/>
            <p:nvPr/>
          </p:nvSpPr>
          <p:spPr>
            <a:xfrm>
              <a:off x="2425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第二组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0211" name="Text Box 10"/>
            <p:cNvSpPr txBox="1"/>
            <p:nvPr/>
          </p:nvSpPr>
          <p:spPr>
            <a:xfrm>
              <a:off x="3577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第三组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0212" name="Text Box 11"/>
            <p:cNvSpPr txBox="1"/>
            <p:nvPr/>
          </p:nvSpPr>
          <p:spPr>
            <a:xfrm>
              <a:off x="4729" y="5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第四组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0213" name="Line 12"/>
            <p:cNvSpPr/>
            <p:nvPr/>
          </p:nvSpPr>
          <p:spPr>
            <a:xfrm flipH="1">
              <a:off x="103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214" name="Line 13"/>
            <p:cNvSpPr/>
            <p:nvPr/>
          </p:nvSpPr>
          <p:spPr>
            <a:xfrm flipH="1">
              <a:off x="218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215" name="Line 14"/>
            <p:cNvSpPr/>
            <p:nvPr/>
          </p:nvSpPr>
          <p:spPr>
            <a:xfrm flipH="1">
              <a:off x="33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216" name="Line 15"/>
            <p:cNvSpPr/>
            <p:nvPr/>
          </p:nvSpPr>
          <p:spPr>
            <a:xfrm flipH="1">
              <a:off x="447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217" name="Line 16"/>
            <p:cNvSpPr/>
            <p:nvPr/>
          </p:nvSpPr>
          <p:spPr>
            <a:xfrm rot="-10800000" flipH="1">
              <a:off x="1992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218" name="Line 17"/>
            <p:cNvSpPr/>
            <p:nvPr/>
          </p:nvSpPr>
          <p:spPr>
            <a:xfrm rot="-10800000" flipH="1">
              <a:off x="314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219" name="Line 18"/>
            <p:cNvSpPr/>
            <p:nvPr/>
          </p:nvSpPr>
          <p:spPr>
            <a:xfrm rot="-10800000" flipH="1">
              <a:off x="4296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220" name="Line 19"/>
            <p:cNvSpPr/>
            <p:nvPr/>
          </p:nvSpPr>
          <p:spPr>
            <a:xfrm rot="-10800000" flipH="1">
              <a:off x="5424" y="672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26324" name="Rectangle 2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9796" name="Text Box 21"/>
          <p:cNvSpPr txBox="1"/>
          <p:nvPr/>
        </p:nvSpPr>
        <p:spPr>
          <a:xfrm>
            <a:off x="2133600" y="152400"/>
            <a:ext cx="7315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en-US" altLang="zh-CN" sz="3200" b="1" dirty="0">
                <a:latin typeface="Times New Roman" panose="02020603050405020304" pitchFamily="18" charset="0"/>
              </a:rPr>
              <a:t>Intel 2114 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矩阵 </a:t>
            </a:r>
            <a:r>
              <a:rPr lang="en-US" altLang="zh-CN" sz="3200" b="1" dirty="0">
                <a:latin typeface="Times New Roman" panose="02020603050405020304" pitchFamily="18" charset="0"/>
              </a:rPr>
              <a:t>(64 × 64)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89797" name="Group 22"/>
          <p:cNvGrpSpPr/>
          <p:nvPr/>
        </p:nvGrpSpPr>
        <p:grpSpPr>
          <a:xfrm>
            <a:off x="4613275" y="5599113"/>
            <a:ext cx="6051550" cy="336550"/>
            <a:chOff x="1946" y="3527"/>
            <a:chExt cx="3812" cy="212"/>
          </a:xfrm>
        </p:grpSpPr>
        <p:sp>
          <p:nvSpPr>
            <p:cNvPr id="290200" name="Text Box 23"/>
            <p:cNvSpPr txBox="1"/>
            <p:nvPr/>
          </p:nvSpPr>
          <p:spPr>
            <a:xfrm>
              <a:off x="194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90201" name="Text Box 24"/>
            <p:cNvSpPr txBox="1"/>
            <p:nvPr/>
          </p:nvSpPr>
          <p:spPr>
            <a:xfrm>
              <a:off x="310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90202" name="Text Box 25"/>
            <p:cNvSpPr txBox="1"/>
            <p:nvPr/>
          </p:nvSpPr>
          <p:spPr>
            <a:xfrm>
              <a:off x="4258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90203" name="Text Box 26"/>
            <p:cNvSpPr txBox="1"/>
            <p:nvPr/>
          </p:nvSpPr>
          <p:spPr>
            <a:xfrm>
              <a:off x="5416" y="3527"/>
              <a:ext cx="342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I/O</a:t>
              </a: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9798" name="Group 27"/>
          <p:cNvGrpSpPr/>
          <p:nvPr/>
        </p:nvGrpSpPr>
        <p:grpSpPr>
          <a:xfrm>
            <a:off x="1746250" y="1069975"/>
            <a:ext cx="8669338" cy="5718176"/>
            <a:chOff x="140" y="674"/>
            <a:chExt cx="5461" cy="3602"/>
          </a:xfrm>
        </p:grpSpPr>
        <p:grpSp>
          <p:nvGrpSpPr>
            <p:cNvPr id="289974" name="Group 28"/>
            <p:cNvGrpSpPr/>
            <p:nvPr/>
          </p:nvGrpSpPr>
          <p:grpSpPr>
            <a:xfrm>
              <a:off x="140" y="791"/>
              <a:ext cx="5461" cy="3485"/>
              <a:chOff x="140" y="791"/>
              <a:chExt cx="5461" cy="3485"/>
            </a:xfrm>
          </p:grpSpPr>
          <p:sp>
            <p:nvSpPr>
              <p:cNvPr id="289986" name="Rectangle 29"/>
              <p:cNvSpPr/>
              <p:nvPr/>
            </p:nvSpPr>
            <p:spPr>
              <a:xfrm>
                <a:off x="332" y="2181"/>
                <a:ext cx="576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9987" name="Rectangle 30"/>
              <p:cNvSpPr/>
              <p:nvPr/>
            </p:nvSpPr>
            <p:spPr>
              <a:xfrm>
                <a:off x="1728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88" name="Text Box 31"/>
              <p:cNvSpPr txBox="1"/>
              <p:nvPr/>
            </p:nvSpPr>
            <p:spPr>
              <a:xfrm>
                <a:off x="1408" y="87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89" name="Rectangle 32"/>
              <p:cNvSpPr/>
              <p:nvPr/>
            </p:nvSpPr>
            <p:spPr>
              <a:xfrm>
                <a:off x="1152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90" name="Rectangle 33"/>
              <p:cNvSpPr/>
              <p:nvPr/>
            </p:nvSpPr>
            <p:spPr>
              <a:xfrm>
                <a:off x="2869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91" name="Text Box 34"/>
              <p:cNvSpPr txBox="1"/>
              <p:nvPr/>
            </p:nvSpPr>
            <p:spPr>
              <a:xfrm>
                <a:off x="2549" y="87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92" name="Rectangle 35"/>
              <p:cNvSpPr/>
              <p:nvPr/>
            </p:nvSpPr>
            <p:spPr>
              <a:xfrm>
                <a:off x="2293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93" name="Rectangle 36"/>
              <p:cNvSpPr/>
              <p:nvPr/>
            </p:nvSpPr>
            <p:spPr>
              <a:xfrm>
                <a:off x="4044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94" name="Text Box 37"/>
              <p:cNvSpPr txBox="1"/>
              <p:nvPr/>
            </p:nvSpPr>
            <p:spPr>
              <a:xfrm>
                <a:off x="3724" y="87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95" name="Rectangle 38"/>
              <p:cNvSpPr/>
              <p:nvPr/>
            </p:nvSpPr>
            <p:spPr>
              <a:xfrm>
                <a:off x="3468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96" name="Rectangle 39"/>
              <p:cNvSpPr/>
              <p:nvPr/>
            </p:nvSpPr>
            <p:spPr>
              <a:xfrm>
                <a:off x="5180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97" name="Text Box 40"/>
              <p:cNvSpPr txBox="1"/>
              <p:nvPr/>
            </p:nvSpPr>
            <p:spPr>
              <a:xfrm>
                <a:off x="4860" y="87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98" name="Rectangle 41"/>
              <p:cNvSpPr/>
              <p:nvPr/>
            </p:nvSpPr>
            <p:spPr>
              <a:xfrm>
                <a:off x="4604" y="1025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99" name="Rectangle 42"/>
              <p:cNvSpPr/>
              <p:nvPr/>
            </p:nvSpPr>
            <p:spPr>
              <a:xfrm>
                <a:off x="1728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000" name="Rectangle 43"/>
              <p:cNvSpPr/>
              <p:nvPr/>
            </p:nvSpPr>
            <p:spPr>
              <a:xfrm>
                <a:off x="1152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001" name="Rectangle 44"/>
              <p:cNvSpPr/>
              <p:nvPr/>
            </p:nvSpPr>
            <p:spPr>
              <a:xfrm>
                <a:off x="2869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002" name="Rectangle 45"/>
              <p:cNvSpPr/>
              <p:nvPr/>
            </p:nvSpPr>
            <p:spPr>
              <a:xfrm>
                <a:off x="2293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003" name="Rectangle 46"/>
              <p:cNvSpPr/>
              <p:nvPr/>
            </p:nvSpPr>
            <p:spPr>
              <a:xfrm>
                <a:off x="4044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47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004" name="Rectangle 47"/>
              <p:cNvSpPr/>
              <p:nvPr/>
            </p:nvSpPr>
            <p:spPr>
              <a:xfrm>
                <a:off x="3468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005" name="Rectangle 48"/>
              <p:cNvSpPr/>
              <p:nvPr/>
            </p:nvSpPr>
            <p:spPr>
              <a:xfrm>
                <a:off x="5180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63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006" name="Rectangle 49"/>
              <p:cNvSpPr/>
              <p:nvPr/>
            </p:nvSpPr>
            <p:spPr>
              <a:xfrm>
                <a:off x="4604" y="2226"/>
                <a:ext cx="288" cy="25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0" rIns="0" anchor="ctr" anchorCtr="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48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007" name="Line 50"/>
              <p:cNvSpPr/>
              <p:nvPr/>
            </p:nvSpPr>
            <p:spPr>
              <a:xfrm rot="5400000">
                <a:off x="1325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08" name="Line 51"/>
              <p:cNvSpPr/>
              <p:nvPr/>
            </p:nvSpPr>
            <p:spPr>
              <a:xfrm rot="5400000">
                <a:off x="1308" y="271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09" name="Freeform 52"/>
              <p:cNvSpPr/>
              <p:nvPr/>
            </p:nvSpPr>
            <p:spPr>
              <a:xfrm>
                <a:off x="1260" y="2709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10" name="Line 53"/>
              <p:cNvSpPr/>
              <p:nvPr/>
            </p:nvSpPr>
            <p:spPr>
              <a:xfrm rot="-5400000">
                <a:off x="1133" y="2712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11" name="Line 54"/>
              <p:cNvSpPr/>
              <p:nvPr/>
            </p:nvSpPr>
            <p:spPr>
              <a:xfrm rot="-5400000">
                <a:off x="1212" y="2714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12" name="Freeform 55"/>
              <p:cNvSpPr/>
              <p:nvPr/>
            </p:nvSpPr>
            <p:spPr>
              <a:xfrm>
                <a:off x="1434" y="2353"/>
                <a:ext cx="112" cy="1"/>
              </a:xfrm>
              <a:custGeom>
                <a:avLst/>
                <a:gdLst>
                  <a:gd name="txL" fmla="*/ 0 w 112"/>
                  <a:gd name="txT" fmla="*/ 0 h 1"/>
                  <a:gd name="txR" fmla="*/ 112 w 11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2" y="0"/>
                  </a:cxn>
                </a:cxnLst>
                <a:rect l="txL" t="txT" r="txR" b="txB"/>
                <a:pathLst>
                  <a:path w="112" h="1">
                    <a:moveTo>
                      <a:pt x="0" y="0"/>
                    </a:moveTo>
                    <a:lnTo>
                      <a:pt x="11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13" name="Freeform 56"/>
              <p:cNvSpPr/>
              <p:nvPr/>
            </p:nvSpPr>
            <p:spPr>
              <a:xfrm>
                <a:off x="1059" y="1209"/>
                <a:ext cx="152" cy="1469"/>
              </a:xfrm>
              <a:custGeom>
                <a:avLst/>
                <a:gdLst>
                  <a:gd name="txL" fmla="*/ 0 w 152"/>
                  <a:gd name="txT" fmla="*/ 0 h 1469"/>
                  <a:gd name="txR" fmla="*/ 152 w 152"/>
                  <a:gd name="txB" fmla="*/ 1469 h 1469"/>
                </a:gdLst>
                <a:ahLst/>
                <a:cxnLst>
                  <a:cxn ang="0">
                    <a:pos x="152" y="1469"/>
                  </a:cxn>
                  <a:cxn ang="0">
                    <a:pos x="0" y="1469"/>
                  </a:cxn>
                  <a:cxn ang="0">
                    <a:pos x="0" y="0"/>
                  </a:cxn>
                  <a:cxn ang="0">
                    <a:pos x="95" y="1"/>
                  </a:cxn>
                </a:cxnLst>
                <a:rect l="txL" t="txT" r="txR" b="txB"/>
                <a:pathLst>
                  <a:path w="152" h="1469">
                    <a:moveTo>
                      <a:pt x="152" y="1469"/>
                    </a:moveTo>
                    <a:lnTo>
                      <a:pt x="0" y="1469"/>
                    </a:lnTo>
                    <a:lnTo>
                      <a:pt x="0" y="0"/>
                    </a:lnTo>
                    <a:lnTo>
                      <a:pt x="95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14" name="Freeform 57"/>
              <p:cNvSpPr/>
              <p:nvPr/>
            </p:nvSpPr>
            <p:spPr>
              <a:xfrm>
                <a:off x="1055" y="2353"/>
                <a:ext cx="102" cy="1"/>
              </a:xfrm>
              <a:custGeom>
                <a:avLst/>
                <a:gdLst>
                  <a:gd name="txL" fmla="*/ 0 w 102"/>
                  <a:gd name="txT" fmla="*/ 0 h 1"/>
                  <a:gd name="txR" fmla="*/ 102 w 102"/>
                  <a:gd name="txB" fmla="*/ 1 h 1"/>
                </a:gdLst>
                <a:ahLst/>
                <a:cxnLst>
                  <a:cxn ang="0">
                    <a:pos x="102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2" h="1">
                    <a:moveTo>
                      <a:pt x="102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15" name="Line 58"/>
              <p:cNvSpPr/>
              <p:nvPr/>
            </p:nvSpPr>
            <p:spPr>
              <a:xfrm rot="5400000">
                <a:off x="1896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16" name="Line 59"/>
              <p:cNvSpPr/>
              <p:nvPr/>
            </p:nvSpPr>
            <p:spPr>
              <a:xfrm rot="5400000">
                <a:off x="1879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17" name="Freeform 60"/>
              <p:cNvSpPr/>
              <p:nvPr/>
            </p:nvSpPr>
            <p:spPr>
              <a:xfrm>
                <a:off x="1831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18" name="Line 61"/>
              <p:cNvSpPr/>
              <p:nvPr/>
            </p:nvSpPr>
            <p:spPr>
              <a:xfrm rot="-5400000">
                <a:off x="1704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19" name="Line 62"/>
              <p:cNvSpPr/>
              <p:nvPr/>
            </p:nvSpPr>
            <p:spPr>
              <a:xfrm rot="-5400000">
                <a:off x="1783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20" name="Freeform 63"/>
              <p:cNvSpPr/>
              <p:nvPr/>
            </p:nvSpPr>
            <p:spPr>
              <a:xfrm>
                <a:off x="2005" y="2353"/>
                <a:ext cx="103" cy="1"/>
              </a:xfrm>
              <a:custGeom>
                <a:avLst/>
                <a:gdLst>
                  <a:gd name="txL" fmla="*/ 0 w 103"/>
                  <a:gd name="txT" fmla="*/ 0 h 1"/>
                  <a:gd name="txR" fmla="*/ 103 w 10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3" y="0"/>
                  </a:cxn>
                </a:cxnLst>
                <a:rect l="txL" t="txT" r="txR" b="txB"/>
                <a:pathLst>
                  <a:path w="103" h="1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21" name="Freeform 64"/>
              <p:cNvSpPr/>
              <p:nvPr/>
            </p:nvSpPr>
            <p:spPr>
              <a:xfrm>
                <a:off x="1611" y="2352"/>
                <a:ext cx="113" cy="1"/>
              </a:xfrm>
              <a:custGeom>
                <a:avLst/>
                <a:gdLst>
                  <a:gd name="txL" fmla="*/ 0 w 113"/>
                  <a:gd name="txT" fmla="*/ 0 h 1"/>
                  <a:gd name="txR" fmla="*/ 113 w 113"/>
                  <a:gd name="txB" fmla="*/ 1 h 1"/>
                </a:gdLst>
                <a:ahLst/>
                <a:cxnLst>
                  <a:cxn ang="0">
                    <a:pos x="113" y="1"/>
                  </a:cxn>
                  <a:cxn ang="0">
                    <a:pos x="0" y="0"/>
                  </a:cxn>
                </a:cxnLst>
                <a:rect l="txL" t="txT" r="txR" b="txB"/>
                <a:pathLst>
                  <a:path w="113" h="1">
                    <a:moveTo>
                      <a:pt x="113" y="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22" name="Line 65"/>
              <p:cNvSpPr/>
              <p:nvPr/>
            </p:nvSpPr>
            <p:spPr>
              <a:xfrm rot="5400000">
                <a:off x="2477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23" name="Line 66"/>
              <p:cNvSpPr/>
              <p:nvPr/>
            </p:nvSpPr>
            <p:spPr>
              <a:xfrm rot="5400000">
                <a:off x="2460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24" name="Freeform 67"/>
              <p:cNvSpPr/>
              <p:nvPr/>
            </p:nvSpPr>
            <p:spPr>
              <a:xfrm>
                <a:off x="2412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25" name="Line 68"/>
              <p:cNvSpPr/>
              <p:nvPr/>
            </p:nvSpPr>
            <p:spPr>
              <a:xfrm rot="-5400000">
                <a:off x="2285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26" name="Line 69"/>
              <p:cNvSpPr/>
              <p:nvPr/>
            </p:nvSpPr>
            <p:spPr>
              <a:xfrm rot="-5400000">
                <a:off x="2364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27" name="Freeform 70"/>
              <p:cNvSpPr/>
              <p:nvPr/>
            </p:nvSpPr>
            <p:spPr>
              <a:xfrm>
                <a:off x="2586" y="2353"/>
                <a:ext cx="109" cy="1"/>
              </a:xfrm>
              <a:custGeom>
                <a:avLst/>
                <a:gdLst>
                  <a:gd name="txL" fmla="*/ 0 w 109"/>
                  <a:gd name="txT" fmla="*/ 0 h 1"/>
                  <a:gd name="txR" fmla="*/ 109 w 10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9" y="0"/>
                  </a:cxn>
                </a:cxnLst>
                <a:rect l="txL" t="txT" r="txR" b="txB"/>
                <a:pathLst>
                  <a:path w="109" h="1">
                    <a:moveTo>
                      <a:pt x="0" y="0"/>
                    </a:moveTo>
                    <a:lnTo>
                      <a:pt x="10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28" name="Freeform 71"/>
              <p:cNvSpPr/>
              <p:nvPr/>
            </p:nvSpPr>
            <p:spPr>
              <a:xfrm>
                <a:off x="2207" y="2353"/>
                <a:ext cx="89" cy="1"/>
              </a:xfrm>
              <a:custGeom>
                <a:avLst/>
                <a:gdLst>
                  <a:gd name="txL" fmla="*/ 0 w 89"/>
                  <a:gd name="txT" fmla="*/ 0 h 1"/>
                  <a:gd name="txR" fmla="*/ 89 w 89"/>
                  <a:gd name="txB" fmla="*/ 1 h 1"/>
                </a:gdLst>
                <a:ahLst/>
                <a:cxnLst>
                  <a:cxn ang="0">
                    <a:pos x="89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89" h="1">
                    <a:moveTo>
                      <a:pt x="89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29" name="Line 72"/>
              <p:cNvSpPr/>
              <p:nvPr/>
            </p:nvSpPr>
            <p:spPr>
              <a:xfrm rot="5400000">
                <a:off x="3053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30" name="Line 73"/>
              <p:cNvSpPr/>
              <p:nvPr/>
            </p:nvSpPr>
            <p:spPr>
              <a:xfrm rot="5400000">
                <a:off x="3036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31" name="Freeform 74"/>
              <p:cNvSpPr/>
              <p:nvPr/>
            </p:nvSpPr>
            <p:spPr>
              <a:xfrm>
                <a:off x="2988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32" name="Line 75"/>
              <p:cNvSpPr/>
              <p:nvPr/>
            </p:nvSpPr>
            <p:spPr>
              <a:xfrm rot="-5400000">
                <a:off x="2861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33" name="Line 76"/>
              <p:cNvSpPr/>
              <p:nvPr/>
            </p:nvSpPr>
            <p:spPr>
              <a:xfrm rot="-5400000">
                <a:off x="2940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34" name="Freeform 77"/>
              <p:cNvSpPr/>
              <p:nvPr/>
            </p:nvSpPr>
            <p:spPr>
              <a:xfrm>
                <a:off x="3162" y="2353"/>
                <a:ext cx="115" cy="1"/>
              </a:xfrm>
              <a:custGeom>
                <a:avLst/>
                <a:gdLst>
                  <a:gd name="txL" fmla="*/ 0 w 115"/>
                  <a:gd name="txT" fmla="*/ 0 h 1"/>
                  <a:gd name="txR" fmla="*/ 115 w 11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15" y="0"/>
                  </a:cxn>
                </a:cxnLst>
                <a:rect l="txL" t="txT" r="txR" b="txB"/>
                <a:pathLst>
                  <a:path w="115" h="1">
                    <a:moveTo>
                      <a:pt x="0" y="0"/>
                    </a:moveTo>
                    <a:lnTo>
                      <a:pt x="11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35" name="Freeform 78"/>
              <p:cNvSpPr/>
              <p:nvPr/>
            </p:nvSpPr>
            <p:spPr>
              <a:xfrm>
                <a:off x="2783" y="2353"/>
                <a:ext cx="90" cy="1"/>
              </a:xfrm>
              <a:custGeom>
                <a:avLst/>
                <a:gdLst>
                  <a:gd name="txL" fmla="*/ 0 w 90"/>
                  <a:gd name="txT" fmla="*/ 0 h 1"/>
                  <a:gd name="txR" fmla="*/ 90 w 90"/>
                  <a:gd name="txB" fmla="*/ 1 h 1"/>
                </a:gdLst>
                <a:ahLst/>
                <a:cxnLst>
                  <a:cxn ang="0">
                    <a:pos x="9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0" h="1">
                    <a:moveTo>
                      <a:pt x="90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36" name="Line 79"/>
              <p:cNvSpPr/>
              <p:nvPr/>
            </p:nvSpPr>
            <p:spPr>
              <a:xfrm rot="5400000">
                <a:off x="3629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37" name="Line 80"/>
              <p:cNvSpPr/>
              <p:nvPr/>
            </p:nvSpPr>
            <p:spPr>
              <a:xfrm rot="5400000">
                <a:off x="3612" y="2711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38" name="Freeform 81"/>
              <p:cNvSpPr/>
              <p:nvPr/>
            </p:nvSpPr>
            <p:spPr>
              <a:xfrm>
                <a:off x="3564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39" name="Line 82"/>
              <p:cNvSpPr/>
              <p:nvPr/>
            </p:nvSpPr>
            <p:spPr>
              <a:xfrm rot="-5400000">
                <a:off x="3437" y="2713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40" name="Line 83"/>
              <p:cNvSpPr/>
              <p:nvPr/>
            </p:nvSpPr>
            <p:spPr>
              <a:xfrm rot="-5400000">
                <a:off x="3516" y="2715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41" name="Freeform 84"/>
              <p:cNvSpPr/>
              <p:nvPr/>
            </p:nvSpPr>
            <p:spPr>
              <a:xfrm>
                <a:off x="3751" y="2352"/>
                <a:ext cx="100" cy="1"/>
              </a:xfrm>
              <a:custGeom>
                <a:avLst/>
                <a:gdLst>
                  <a:gd name="txL" fmla="*/ 0 w 100"/>
                  <a:gd name="txT" fmla="*/ 0 h 1"/>
                  <a:gd name="txR" fmla="*/ 100 w 10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0" y="1"/>
                  </a:cxn>
                </a:cxnLst>
                <a:rect l="txL" t="txT" r="txR" b="txB"/>
                <a:pathLst>
                  <a:path w="100" h="1">
                    <a:moveTo>
                      <a:pt x="0" y="0"/>
                    </a:moveTo>
                    <a:lnTo>
                      <a:pt x="10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42" name="Freeform 85"/>
              <p:cNvSpPr/>
              <p:nvPr/>
            </p:nvSpPr>
            <p:spPr>
              <a:xfrm>
                <a:off x="3359" y="2353"/>
                <a:ext cx="108" cy="1"/>
              </a:xfrm>
              <a:custGeom>
                <a:avLst/>
                <a:gdLst>
                  <a:gd name="txL" fmla="*/ 0 w 108"/>
                  <a:gd name="txT" fmla="*/ 0 h 1"/>
                  <a:gd name="txR" fmla="*/ 108 w 108"/>
                  <a:gd name="txB" fmla="*/ 1 h 1"/>
                </a:gdLst>
                <a:ahLst/>
                <a:cxnLst>
                  <a:cxn ang="0">
                    <a:pos x="10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8" h="1">
                    <a:moveTo>
                      <a:pt x="10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43" name="Line 86"/>
              <p:cNvSpPr/>
              <p:nvPr/>
            </p:nvSpPr>
            <p:spPr>
              <a:xfrm rot="5400000">
                <a:off x="4205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44" name="Line 87"/>
              <p:cNvSpPr/>
              <p:nvPr/>
            </p:nvSpPr>
            <p:spPr>
              <a:xfrm rot="5400000">
                <a:off x="4188" y="2696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45" name="Freeform 88"/>
              <p:cNvSpPr/>
              <p:nvPr/>
            </p:nvSpPr>
            <p:spPr>
              <a:xfrm>
                <a:off x="4140" y="2695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46" name="Line 89"/>
              <p:cNvSpPr/>
              <p:nvPr/>
            </p:nvSpPr>
            <p:spPr>
              <a:xfrm rot="-5400000">
                <a:off x="4013" y="2698"/>
                <a:ext cx="15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47" name="Line 90"/>
              <p:cNvSpPr/>
              <p:nvPr/>
            </p:nvSpPr>
            <p:spPr>
              <a:xfrm rot="-5400000">
                <a:off x="4092" y="2700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048" name="Freeform 91"/>
              <p:cNvSpPr/>
              <p:nvPr/>
            </p:nvSpPr>
            <p:spPr>
              <a:xfrm>
                <a:off x="4336" y="2351"/>
                <a:ext cx="90" cy="2"/>
              </a:xfrm>
              <a:custGeom>
                <a:avLst/>
                <a:gdLst>
                  <a:gd name="txL" fmla="*/ 0 w 90"/>
                  <a:gd name="txT" fmla="*/ 0 h 2"/>
                  <a:gd name="txR" fmla="*/ 90 w 90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0" y="2"/>
                  </a:cxn>
                </a:cxnLst>
                <a:rect l="txL" t="txT" r="txR" b="txB"/>
                <a:pathLst>
                  <a:path w="90" h="2">
                    <a:moveTo>
                      <a:pt x="0" y="0"/>
                    </a:moveTo>
                    <a:lnTo>
                      <a:pt x="90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49" name="Freeform 92"/>
              <p:cNvSpPr/>
              <p:nvPr/>
            </p:nvSpPr>
            <p:spPr>
              <a:xfrm>
                <a:off x="3935" y="2353"/>
                <a:ext cx="104" cy="1"/>
              </a:xfrm>
              <a:custGeom>
                <a:avLst/>
                <a:gdLst>
                  <a:gd name="txL" fmla="*/ 0 w 104"/>
                  <a:gd name="txT" fmla="*/ 0 h 1"/>
                  <a:gd name="txR" fmla="*/ 104 w 104"/>
                  <a:gd name="txB" fmla="*/ 1 h 1"/>
                </a:gdLst>
                <a:ahLst/>
                <a:cxnLst>
                  <a:cxn ang="0">
                    <a:pos x="10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4" h="1">
                    <a:moveTo>
                      <a:pt x="10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90050" name="Group 93"/>
              <p:cNvGrpSpPr/>
              <p:nvPr/>
            </p:nvGrpSpPr>
            <p:grpSpPr>
              <a:xfrm>
                <a:off x="4668" y="2634"/>
                <a:ext cx="192" cy="158"/>
                <a:chOff x="4692" y="2634"/>
                <a:chExt cx="192" cy="158"/>
              </a:xfrm>
            </p:grpSpPr>
            <p:grpSp>
              <p:nvGrpSpPr>
                <p:cNvPr id="290193" name="Group 94"/>
                <p:cNvGrpSpPr/>
                <p:nvPr/>
              </p:nvGrpSpPr>
              <p:grpSpPr>
                <a:xfrm>
                  <a:off x="4836" y="2634"/>
                  <a:ext cx="48" cy="158"/>
                  <a:chOff x="4836" y="2634"/>
                  <a:chExt cx="48" cy="158"/>
                </a:xfrm>
              </p:grpSpPr>
              <p:sp>
                <p:nvSpPr>
                  <p:cNvPr id="290198" name="Line 95"/>
                  <p:cNvSpPr/>
                  <p:nvPr/>
                </p:nvSpPr>
                <p:spPr>
                  <a:xfrm rot="5400000">
                    <a:off x="4805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0199" name="Line 96"/>
                  <p:cNvSpPr/>
                  <p:nvPr/>
                </p:nvSpPr>
                <p:spPr>
                  <a:xfrm rot="5400000">
                    <a:off x="4788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90194" name="Freeform 97"/>
                <p:cNvSpPr/>
                <p:nvPr/>
              </p:nvSpPr>
              <p:spPr>
                <a:xfrm>
                  <a:off x="4740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90195" name="Group 98"/>
                <p:cNvGrpSpPr/>
                <p:nvPr/>
              </p:nvGrpSpPr>
              <p:grpSpPr>
                <a:xfrm>
                  <a:off x="4692" y="2634"/>
                  <a:ext cx="48" cy="158"/>
                  <a:chOff x="4692" y="2634"/>
                  <a:chExt cx="48" cy="158"/>
                </a:xfrm>
              </p:grpSpPr>
              <p:sp>
                <p:nvSpPr>
                  <p:cNvPr id="290196" name="Line 99"/>
                  <p:cNvSpPr/>
                  <p:nvPr/>
                </p:nvSpPr>
                <p:spPr>
                  <a:xfrm rot="-5400000">
                    <a:off x="4613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0197" name="Line 100"/>
                  <p:cNvSpPr/>
                  <p:nvPr/>
                </p:nvSpPr>
                <p:spPr>
                  <a:xfrm rot="-5400000">
                    <a:off x="4692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90051" name="Freeform 101"/>
              <p:cNvSpPr/>
              <p:nvPr/>
            </p:nvSpPr>
            <p:spPr>
              <a:xfrm>
                <a:off x="4890" y="2353"/>
                <a:ext cx="107" cy="1"/>
              </a:xfrm>
              <a:custGeom>
                <a:avLst/>
                <a:gdLst>
                  <a:gd name="txL" fmla="*/ 0 w 107"/>
                  <a:gd name="txT" fmla="*/ 0 h 1"/>
                  <a:gd name="txR" fmla="*/ 107 w 10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07" y="0"/>
                  </a:cxn>
                </a:cxnLst>
                <a:rect l="txL" t="txT" r="txR" b="txB"/>
                <a:pathLst>
                  <a:path w="107" h="1">
                    <a:moveTo>
                      <a:pt x="0" y="0"/>
                    </a:moveTo>
                    <a:lnTo>
                      <a:pt x="10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52" name="Freeform 102"/>
              <p:cNvSpPr/>
              <p:nvPr/>
            </p:nvSpPr>
            <p:spPr>
              <a:xfrm>
                <a:off x="4511" y="2353"/>
                <a:ext cx="96" cy="1"/>
              </a:xfrm>
              <a:custGeom>
                <a:avLst/>
                <a:gdLst>
                  <a:gd name="txL" fmla="*/ 0 w 96"/>
                  <a:gd name="txT" fmla="*/ 0 h 1"/>
                  <a:gd name="txR" fmla="*/ 96 w 96"/>
                  <a:gd name="txB" fmla="*/ 1 h 1"/>
                </a:gdLst>
                <a:ahLst/>
                <a:cxnLst>
                  <a:cxn ang="0">
                    <a:pos x="96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6" h="1">
                    <a:moveTo>
                      <a:pt x="96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90053" name="Group 103"/>
              <p:cNvGrpSpPr/>
              <p:nvPr/>
            </p:nvGrpSpPr>
            <p:grpSpPr>
              <a:xfrm>
                <a:off x="5235" y="2634"/>
                <a:ext cx="192" cy="158"/>
                <a:chOff x="5259" y="2634"/>
                <a:chExt cx="192" cy="158"/>
              </a:xfrm>
            </p:grpSpPr>
            <p:grpSp>
              <p:nvGrpSpPr>
                <p:cNvPr id="290186" name="Group 104"/>
                <p:cNvGrpSpPr/>
                <p:nvPr/>
              </p:nvGrpSpPr>
              <p:grpSpPr>
                <a:xfrm>
                  <a:off x="5403" y="2634"/>
                  <a:ext cx="48" cy="158"/>
                  <a:chOff x="5403" y="2634"/>
                  <a:chExt cx="48" cy="158"/>
                </a:xfrm>
              </p:grpSpPr>
              <p:sp>
                <p:nvSpPr>
                  <p:cNvPr id="290191" name="Line 105"/>
                  <p:cNvSpPr/>
                  <p:nvPr/>
                </p:nvSpPr>
                <p:spPr>
                  <a:xfrm rot="5400000">
                    <a:off x="5372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0192" name="Line 106"/>
                  <p:cNvSpPr/>
                  <p:nvPr/>
                </p:nvSpPr>
                <p:spPr>
                  <a:xfrm rot="5400000">
                    <a:off x="5355" y="2711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90187" name="Freeform 107"/>
                <p:cNvSpPr/>
                <p:nvPr/>
              </p:nvSpPr>
              <p:spPr>
                <a:xfrm>
                  <a:off x="5307" y="2710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90188" name="Group 108"/>
                <p:cNvGrpSpPr/>
                <p:nvPr/>
              </p:nvGrpSpPr>
              <p:grpSpPr>
                <a:xfrm>
                  <a:off x="5259" y="2634"/>
                  <a:ext cx="48" cy="158"/>
                  <a:chOff x="5259" y="2634"/>
                  <a:chExt cx="48" cy="158"/>
                </a:xfrm>
              </p:grpSpPr>
              <p:sp>
                <p:nvSpPr>
                  <p:cNvPr id="290189" name="Line 109"/>
                  <p:cNvSpPr/>
                  <p:nvPr/>
                </p:nvSpPr>
                <p:spPr>
                  <a:xfrm rot="-5400000">
                    <a:off x="5180" y="2713"/>
                    <a:ext cx="158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0190" name="Line 110"/>
                  <p:cNvSpPr/>
                  <p:nvPr/>
                </p:nvSpPr>
                <p:spPr>
                  <a:xfrm rot="-5400000">
                    <a:off x="5259" y="2715"/>
                    <a:ext cx="96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290054" name="Freeform 111"/>
              <p:cNvSpPr/>
              <p:nvPr/>
            </p:nvSpPr>
            <p:spPr>
              <a:xfrm>
                <a:off x="5467" y="2351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96" y="2"/>
                  </a:cxn>
                </a:cxnLst>
                <a:rect l="txL" t="txT" r="txR" b="txB"/>
                <a:pathLst>
                  <a:path w="96" h="2">
                    <a:moveTo>
                      <a:pt x="0" y="0"/>
                    </a:moveTo>
                    <a:lnTo>
                      <a:pt x="9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55" name="Freeform 112"/>
              <p:cNvSpPr/>
              <p:nvPr/>
            </p:nvSpPr>
            <p:spPr>
              <a:xfrm>
                <a:off x="5078" y="2353"/>
                <a:ext cx="101" cy="1"/>
              </a:xfrm>
              <a:custGeom>
                <a:avLst/>
                <a:gdLst>
                  <a:gd name="txL" fmla="*/ 0 w 101"/>
                  <a:gd name="txT" fmla="*/ 0 h 1"/>
                  <a:gd name="txR" fmla="*/ 101 w 101"/>
                  <a:gd name="txB" fmla="*/ 1 h 1"/>
                </a:gdLst>
                <a:ahLst/>
                <a:cxnLst>
                  <a:cxn ang="0">
                    <a:pos x="101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1" h="1">
                    <a:moveTo>
                      <a:pt x="101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56" name="Freeform 113"/>
              <p:cNvSpPr/>
              <p:nvPr/>
            </p:nvSpPr>
            <p:spPr>
              <a:xfrm>
                <a:off x="908" y="856"/>
                <a:ext cx="4419" cy="1"/>
              </a:xfrm>
              <a:custGeom>
                <a:avLst/>
                <a:gdLst>
                  <a:gd name="txL" fmla="*/ 0 w 4419"/>
                  <a:gd name="txT" fmla="*/ 0 h 1"/>
                  <a:gd name="txR" fmla="*/ 4419 w 4419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9" y="0"/>
                  </a:cxn>
                </a:cxnLst>
                <a:rect l="txL" t="txT" r="txR" b="txB"/>
                <a:pathLst>
                  <a:path w="4419" h="1">
                    <a:moveTo>
                      <a:pt x="0" y="1"/>
                    </a:moveTo>
                    <a:lnTo>
                      <a:pt x="441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57" name="Line 114"/>
              <p:cNvSpPr/>
              <p:nvPr/>
            </p:nvSpPr>
            <p:spPr>
              <a:xfrm>
                <a:off x="129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58" name="Line 115"/>
              <p:cNvSpPr/>
              <p:nvPr/>
            </p:nvSpPr>
            <p:spPr>
              <a:xfrm>
                <a:off x="186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59" name="Line 116"/>
              <p:cNvSpPr/>
              <p:nvPr/>
            </p:nvSpPr>
            <p:spPr>
              <a:xfrm>
                <a:off x="2444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60" name="Line 117"/>
              <p:cNvSpPr/>
              <p:nvPr/>
            </p:nvSpPr>
            <p:spPr>
              <a:xfrm>
                <a:off x="3020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61" name="Line 118"/>
              <p:cNvSpPr/>
              <p:nvPr/>
            </p:nvSpPr>
            <p:spPr>
              <a:xfrm>
                <a:off x="3596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62" name="Line 119"/>
              <p:cNvSpPr/>
              <p:nvPr/>
            </p:nvSpPr>
            <p:spPr>
              <a:xfrm>
                <a:off x="4172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63" name="Line 120"/>
              <p:cNvSpPr/>
              <p:nvPr/>
            </p:nvSpPr>
            <p:spPr>
              <a:xfrm>
                <a:off x="4748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64" name="Line 121"/>
              <p:cNvSpPr/>
              <p:nvPr/>
            </p:nvSpPr>
            <p:spPr>
              <a:xfrm>
                <a:off x="5324" y="8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90065" name="Freeform 122"/>
              <p:cNvSpPr/>
              <p:nvPr/>
            </p:nvSpPr>
            <p:spPr>
              <a:xfrm>
                <a:off x="1305" y="2708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1" y="0"/>
                  </a:cxn>
                  <a:cxn ang="0">
                    <a:pos x="0" y="166"/>
                  </a:cxn>
                </a:cxnLst>
                <a:rect l="txL" t="txT" r="txR" b="txB"/>
                <a:pathLst>
                  <a:path w="1" h="166">
                    <a:moveTo>
                      <a:pt x="1" y="0"/>
                    </a:moveTo>
                    <a:lnTo>
                      <a:pt x="0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66" name="Freeform 123"/>
              <p:cNvSpPr/>
              <p:nvPr/>
            </p:nvSpPr>
            <p:spPr>
              <a:xfrm>
                <a:off x="1880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67" name="Freeform 124"/>
              <p:cNvSpPr/>
              <p:nvPr/>
            </p:nvSpPr>
            <p:spPr>
              <a:xfrm>
                <a:off x="2454" y="2708"/>
                <a:ext cx="4" cy="166"/>
              </a:xfrm>
              <a:custGeom>
                <a:avLst/>
                <a:gdLst>
                  <a:gd name="txL" fmla="*/ 0 w 4"/>
                  <a:gd name="txT" fmla="*/ 0 h 166"/>
                  <a:gd name="txR" fmla="*/ 4 w 4"/>
                  <a:gd name="txB" fmla="*/ 166 h 166"/>
                </a:gdLst>
                <a:ahLst/>
                <a:cxnLst>
                  <a:cxn ang="0">
                    <a:pos x="4" y="0"/>
                  </a:cxn>
                  <a:cxn ang="0">
                    <a:pos x="0" y="166"/>
                  </a:cxn>
                </a:cxnLst>
                <a:rect l="txL" t="txT" r="txR" b="txB"/>
                <a:pathLst>
                  <a:path w="4" h="166">
                    <a:moveTo>
                      <a:pt x="4" y="0"/>
                    </a:moveTo>
                    <a:lnTo>
                      <a:pt x="0" y="1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68" name="Freeform 125"/>
              <p:cNvSpPr/>
              <p:nvPr/>
            </p:nvSpPr>
            <p:spPr>
              <a:xfrm>
                <a:off x="3606" y="2708"/>
                <a:ext cx="2" cy="175"/>
              </a:xfrm>
              <a:custGeom>
                <a:avLst/>
                <a:gdLst>
                  <a:gd name="txL" fmla="*/ 0 w 2"/>
                  <a:gd name="txT" fmla="*/ 0 h 175"/>
                  <a:gd name="txR" fmla="*/ 2 w 2"/>
                  <a:gd name="txB" fmla="*/ 175 h 175"/>
                </a:gdLst>
                <a:ahLst/>
                <a:cxnLst>
                  <a:cxn ang="0">
                    <a:pos x="2" y="0"/>
                  </a:cxn>
                  <a:cxn ang="0">
                    <a:pos x="0" y="175"/>
                  </a:cxn>
                </a:cxnLst>
                <a:rect l="txL" t="txT" r="txR" b="txB"/>
                <a:pathLst>
                  <a:path w="2" h="175">
                    <a:moveTo>
                      <a:pt x="2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69" name="Freeform 126"/>
              <p:cNvSpPr/>
              <p:nvPr/>
            </p:nvSpPr>
            <p:spPr>
              <a:xfrm>
                <a:off x="4760" y="2697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70" name="Freeform 127"/>
              <p:cNvSpPr/>
              <p:nvPr/>
            </p:nvSpPr>
            <p:spPr>
              <a:xfrm>
                <a:off x="908" y="1480"/>
                <a:ext cx="4422" cy="1"/>
              </a:xfrm>
              <a:custGeom>
                <a:avLst/>
                <a:gdLst>
                  <a:gd name="txL" fmla="*/ 0 w 4422"/>
                  <a:gd name="txT" fmla="*/ 0 h 1"/>
                  <a:gd name="txR" fmla="*/ 4422 w 4422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22" y="0"/>
                  </a:cxn>
                </a:cxnLst>
                <a:rect l="txL" t="txT" r="txR" b="txB"/>
                <a:pathLst>
                  <a:path w="4422" h="1">
                    <a:moveTo>
                      <a:pt x="0" y="1"/>
                    </a:moveTo>
                    <a:lnTo>
                      <a:pt x="442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71" name="Line 128"/>
              <p:cNvSpPr/>
              <p:nvPr/>
            </p:nvSpPr>
            <p:spPr>
              <a:xfrm>
                <a:off x="129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72" name="Line 129"/>
              <p:cNvSpPr/>
              <p:nvPr/>
            </p:nvSpPr>
            <p:spPr>
              <a:xfrm>
                <a:off x="186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73" name="Line 130"/>
              <p:cNvSpPr/>
              <p:nvPr/>
            </p:nvSpPr>
            <p:spPr>
              <a:xfrm>
                <a:off x="2444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74" name="Line 131"/>
              <p:cNvSpPr/>
              <p:nvPr/>
            </p:nvSpPr>
            <p:spPr>
              <a:xfrm>
                <a:off x="3020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75" name="Line 132"/>
              <p:cNvSpPr/>
              <p:nvPr/>
            </p:nvSpPr>
            <p:spPr>
              <a:xfrm>
                <a:off x="3596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76" name="Line 133"/>
              <p:cNvSpPr/>
              <p:nvPr/>
            </p:nvSpPr>
            <p:spPr>
              <a:xfrm>
                <a:off x="4172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77" name="Line 134"/>
              <p:cNvSpPr/>
              <p:nvPr/>
            </p:nvSpPr>
            <p:spPr>
              <a:xfrm>
                <a:off x="4748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78" name="Line 135"/>
              <p:cNvSpPr/>
              <p:nvPr/>
            </p:nvSpPr>
            <p:spPr>
              <a:xfrm>
                <a:off x="5324" y="14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90079" name="Freeform 136"/>
              <p:cNvSpPr/>
              <p:nvPr/>
            </p:nvSpPr>
            <p:spPr>
              <a:xfrm>
                <a:off x="908" y="2056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80" name="Line 137"/>
              <p:cNvSpPr/>
              <p:nvPr/>
            </p:nvSpPr>
            <p:spPr>
              <a:xfrm>
                <a:off x="129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81" name="Line 138"/>
              <p:cNvSpPr/>
              <p:nvPr/>
            </p:nvSpPr>
            <p:spPr>
              <a:xfrm>
                <a:off x="186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82" name="Line 139"/>
              <p:cNvSpPr/>
              <p:nvPr/>
            </p:nvSpPr>
            <p:spPr>
              <a:xfrm>
                <a:off x="2444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83" name="Line 140"/>
              <p:cNvSpPr/>
              <p:nvPr/>
            </p:nvSpPr>
            <p:spPr>
              <a:xfrm>
                <a:off x="3020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84" name="Line 141"/>
              <p:cNvSpPr/>
              <p:nvPr/>
            </p:nvSpPr>
            <p:spPr>
              <a:xfrm>
                <a:off x="3596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85" name="Line 142"/>
              <p:cNvSpPr/>
              <p:nvPr/>
            </p:nvSpPr>
            <p:spPr>
              <a:xfrm>
                <a:off x="4172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86" name="Line 143"/>
              <p:cNvSpPr/>
              <p:nvPr/>
            </p:nvSpPr>
            <p:spPr>
              <a:xfrm>
                <a:off x="4748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0087" name="Line 144"/>
              <p:cNvSpPr/>
              <p:nvPr/>
            </p:nvSpPr>
            <p:spPr>
              <a:xfrm>
                <a:off x="5324" y="2057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290088" name="Freeform 145"/>
              <p:cNvSpPr/>
              <p:nvPr/>
            </p:nvSpPr>
            <p:spPr>
              <a:xfrm>
                <a:off x="909" y="2879"/>
                <a:ext cx="3860" cy="1"/>
              </a:xfrm>
              <a:custGeom>
                <a:avLst/>
                <a:gdLst>
                  <a:gd name="txL" fmla="*/ 0 w 3860"/>
                  <a:gd name="txT" fmla="*/ 0 h 1"/>
                  <a:gd name="txR" fmla="*/ 3860 w 3860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3860" y="0"/>
                  </a:cxn>
                </a:cxnLst>
                <a:rect l="txL" t="txT" r="txR" b="txB"/>
                <a:pathLst>
                  <a:path w="3860" h="1">
                    <a:moveTo>
                      <a:pt x="0" y="1"/>
                    </a:moveTo>
                    <a:lnTo>
                      <a:pt x="386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89" name="Freeform 146"/>
              <p:cNvSpPr/>
              <p:nvPr/>
            </p:nvSpPr>
            <p:spPr>
              <a:xfrm>
                <a:off x="912" y="3209"/>
                <a:ext cx="4418" cy="1"/>
              </a:xfrm>
              <a:custGeom>
                <a:avLst/>
                <a:gdLst>
                  <a:gd name="txL" fmla="*/ 0 w 4418"/>
                  <a:gd name="txT" fmla="*/ 0 h 1"/>
                  <a:gd name="txR" fmla="*/ 4418 w 4418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18" y="0"/>
                  </a:cxn>
                </a:cxnLst>
                <a:rect l="txL" t="txT" r="txR" b="txB"/>
                <a:pathLst>
                  <a:path w="4418" h="1">
                    <a:moveTo>
                      <a:pt x="0" y="1"/>
                    </a:moveTo>
                    <a:lnTo>
                      <a:pt x="441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90" name="Rectangle 147"/>
              <p:cNvSpPr/>
              <p:nvPr/>
            </p:nvSpPr>
            <p:spPr>
              <a:xfrm>
                <a:off x="1141" y="3597"/>
                <a:ext cx="823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91" name="Text Box 148"/>
              <p:cNvSpPr txBox="1"/>
              <p:nvPr/>
            </p:nvSpPr>
            <p:spPr>
              <a:xfrm>
                <a:off x="1172" y="357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092" name="Freeform 149"/>
              <p:cNvSpPr/>
              <p:nvPr/>
            </p:nvSpPr>
            <p:spPr>
              <a:xfrm>
                <a:off x="1402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93" name="Freeform 150"/>
              <p:cNvSpPr/>
              <p:nvPr/>
            </p:nvSpPr>
            <p:spPr>
              <a:xfrm>
                <a:off x="1613" y="1211"/>
                <a:ext cx="169" cy="1469"/>
              </a:xfrm>
              <a:custGeom>
                <a:avLst/>
                <a:gdLst>
                  <a:gd name="txL" fmla="*/ 0 w 169"/>
                  <a:gd name="txT" fmla="*/ 0 h 1469"/>
                  <a:gd name="txR" fmla="*/ 169 w 169"/>
                  <a:gd name="txB" fmla="*/ 1469 h 1469"/>
                </a:gdLst>
                <a:ahLst/>
                <a:cxnLst>
                  <a:cxn ang="0">
                    <a:pos x="169" y="1468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5" y="0"/>
                  </a:cxn>
                </a:cxnLst>
                <a:rect l="txL" t="txT" r="txR" b="txB"/>
                <a:pathLst>
                  <a:path w="169" h="1469">
                    <a:moveTo>
                      <a:pt x="169" y="1468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94" name="Freeform 151"/>
              <p:cNvSpPr/>
              <p:nvPr/>
            </p:nvSpPr>
            <p:spPr>
              <a:xfrm>
                <a:off x="1967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38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38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95" name="Freeform 152"/>
              <p:cNvSpPr/>
              <p:nvPr/>
            </p:nvSpPr>
            <p:spPr>
              <a:xfrm>
                <a:off x="2208" y="1211"/>
                <a:ext cx="155" cy="1467"/>
              </a:xfrm>
              <a:custGeom>
                <a:avLst/>
                <a:gdLst>
                  <a:gd name="txL" fmla="*/ 0 w 155"/>
                  <a:gd name="txT" fmla="*/ 0 h 1467"/>
                  <a:gd name="txR" fmla="*/ 155 w 155"/>
                  <a:gd name="txB" fmla="*/ 1467 h 1467"/>
                </a:gdLst>
                <a:ahLst/>
                <a:cxnLst>
                  <a:cxn ang="0">
                    <a:pos x="155" y="1467"/>
                  </a:cxn>
                  <a:cxn ang="0">
                    <a:pos x="3" y="1467"/>
                  </a:cxn>
                  <a:cxn ang="0">
                    <a:pos x="0" y="1"/>
                  </a:cxn>
                  <a:cxn ang="0">
                    <a:pos x="89" y="0"/>
                  </a:cxn>
                </a:cxnLst>
                <a:rect l="txL" t="txT" r="txR" b="txB"/>
                <a:pathLst>
                  <a:path w="155" h="1467">
                    <a:moveTo>
                      <a:pt x="155" y="1467"/>
                    </a:moveTo>
                    <a:lnTo>
                      <a:pt x="3" y="1467"/>
                    </a:lnTo>
                    <a:lnTo>
                      <a:pt x="0" y="1"/>
                    </a:lnTo>
                    <a:lnTo>
                      <a:pt x="89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96" name="Freeform 153"/>
              <p:cNvSpPr/>
              <p:nvPr/>
            </p:nvSpPr>
            <p:spPr>
              <a:xfrm>
                <a:off x="2557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4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97" name="Freeform 154"/>
              <p:cNvSpPr/>
              <p:nvPr/>
            </p:nvSpPr>
            <p:spPr>
              <a:xfrm>
                <a:off x="2787" y="1211"/>
                <a:ext cx="152" cy="1467"/>
              </a:xfrm>
              <a:custGeom>
                <a:avLst/>
                <a:gdLst>
                  <a:gd name="txL" fmla="*/ 0 w 152"/>
                  <a:gd name="txT" fmla="*/ 0 h 1467"/>
                  <a:gd name="txR" fmla="*/ 152 w 152"/>
                  <a:gd name="txB" fmla="*/ 1467 h 1467"/>
                </a:gdLst>
                <a:ahLst/>
                <a:cxnLst>
                  <a:cxn ang="0">
                    <a:pos x="152" y="1467"/>
                  </a:cxn>
                  <a:cxn ang="0">
                    <a:pos x="0" y="1467"/>
                  </a:cxn>
                  <a:cxn ang="0">
                    <a:pos x="0" y="1"/>
                  </a:cxn>
                  <a:cxn ang="0">
                    <a:pos x="77" y="0"/>
                  </a:cxn>
                </a:cxnLst>
                <a:rect l="txL" t="txT" r="txR" b="txB"/>
                <a:pathLst>
                  <a:path w="152" h="1467">
                    <a:moveTo>
                      <a:pt x="152" y="1467"/>
                    </a:moveTo>
                    <a:lnTo>
                      <a:pt x="0" y="1467"/>
                    </a:lnTo>
                    <a:lnTo>
                      <a:pt x="0" y="1"/>
                    </a:lnTo>
                    <a:lnTo>
                      <a:pt x="7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98" name="Freeform 155"/>
              <p:cNvSpPr/>
              <p:nvPr/>
            </p:nvSpPr>
            <p:spPr>
              <a:xfrm>
                <a:off x="3130" y="1211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099" name="Freeform 156"/>
              <p:cNvSpPr/>
              <p:nvPr/>
            </p:nvSpPr>
            <p:spPr>
              <a:xfrm>
                <a:off x="3360" y="1209"/>
                <a:ext cx="155" cy="1469"/>
              </a:xfrm>
              <a:custGeom>
                <a:avLst/>
                <a:gdLst>
                  <a:gd name="txL" fmla="*/ 0 w 155"/>
                  <a:gd name="txT" fmla="*/ 0 h 1469"/>
                  <a:gd name="txR" fmla="*/ 155 w 155"/>
                  <a:gd name="txB" fmla="*/ 1469 h 1469"/>
                </a:gdLst>
                <a:ahLst/>
                <a:cxnLst>
                  <a:cxn ang="0">
                    <a:pos x="155" y="1469"/>
                  </a:cxn>
                  <a:cxn ang="0">
                    <a:pos x="3" y="1469"/>
                  </a:cxn>
                  <a:cxn ang="0">
                    <a:pos x="0" y="0"/>
                  </a:cxn>
                  <a:cxn ang="0">
                    <a:pos x="103" y="2"/>
                  </a:cxn>
                </a:cxnLst>
                <a:rect l="txL" t="txT" r="txR" b="txB"/>
                <a:pathLst>
                  <a:path w="155" h="1469">
                    <a:moveTo>
                      <a:pt x="155" y="1469"/>
                    </a:moveTo>
                    <a:lnTo>
                      <a:pt x="3" y="1469"/>
                    </a:lnTo>
                    <a:lnTo>
                      <a:pt x="0" y="0"/>
                    </a:lnTo>
                    <a:lnTo>
                      <a:pt x="103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00" name="Freeform 157"/>
              <p:cNvSpPr/>
              <p:nvPr/>
            </p:nvSpPr>
            <p:spPr>
              <a:xfrm>
                <a:off x="3710" y="1211"/>
                <a:ext cx="141" cy="1466"/>
              </a:xfrm>
              <a:custGeom>
                <a:avLst/>
                <a:gdLst>
                  <a:gd name="txL" fmla="*/ 0 w 141"/>
                  <a:gd name="txT" fmla="*/ 0 h 1466"/>
                  <a:gd name="txR" fmla="*/ 141 w 141"/>
                  <a:gd name="txB" fmla="*/ 1466 h 1466"/>
                </a:gdLst>
                <a:ahLst/>
                <a:cxnLst>
                  <a:cxn ang="0">
                    <a:pos x="42" y="0"/>
                  </a:cxn>
                  <a:cxn ang="0">
                    <a:pos x="141" y="0"/>
                  </a:cxn>
                  <a:cxn ang="0">
                    <a:pos x="140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1" h="1466">
                    <a:moveTo>
                      <a:pt x="42" y="0"/>
                    </a:moveTo>
                    <a:lnTo>
                      <a:pt x="141" y="0"/>
                    </a:lnTo>
                    <a:lnTo>
                      <a:pt x="140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01" name="Freeform 158"/>
              <p:cNvSpPr/>
              <p:nvPr/>
            </p:nvSpPr>
            <p:spPr>
              <a:xfrm>
                <a:off x="3939" y="1211"/>
                <a:ext cx="152" cy="1467"/>
              </a:xfrm>
              <a:custGeom>
                <a:avLst/>
                <a:gdLst>
                  <a:gd name="txL" fmla="*/ 0 w 152"/>
                  <a:gd name="txT" fmla="*/ 0 h 1467"/>
                  <a:gd name="txR" fmla="*/ 152 w 152"/>
                  <a:gd name="txB" fmla="*/ 1467 h 1467"/>
                </a:gdLst>
                <a:ahLst/>
                <a:cxnLst>
                  <a:cxn ang="0">
                    <a:pos x="152" y="1467"/>
                  </a:cxn>
                  <a:cxn ang="0">
                    <a:pos x="0" y="1467"/>
                  </a:cxn>
                  <a:cxn ang="0">
                    <a:pos x="0" y="1"/>
                  </a:cxn>
                  <a:cxn ang="0">
                    <a:pos x="103" y="0"/>
                  </a:cxn>
                </a:cxnLst>
                <a:rect l="txL" t="txT" r="txR" b="txB"/>
                <a:pathLst>
                  <a:path w="152" h="1467">
                    <a:moveTo>
                      <a:pt x="152" y="1467"/>
                    </a:moveTo>
                    <a:lnTo>
                      <a:pt x="0" y="1467"/>
                    </a:lnTo>
                    <a:lnTo>
                      <a:pt x="0" y="1"/>
                    </a:lnTo>
                    <a:lnTo>
                      <a:pt x="10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02" name="Freeform 159"/>
              <p:cNvSpPr/>
              <p:nvPr/>
            </p:nvSpPr>
            <p:spPr>
              <a:xfrm>
                <a:off x="4280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51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51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03" name="Freeform 160"/>
              <p:cNvSpPr/>
              <p:nvPr/>
            </p:nvSpPr>
            <p:spPr>
              <a:xfrm>
                <a:off x="4509" y="1211"/>
                <a:ext cx="158" cy="1467"/>
              </a:xfrm>
              <a:custGeom>
                <a:avLst/>
                <a:gdLst>
                  <a:gd name="txL" fmla="*/ 0 w 158"/>
                  <a:gd name="txT" fmla="*/ 0 h 1467"/>
                  <a:gd name="txR" fmla="*/ 158 w 158"/>
                  <a:gd name="txB" fmla="*/ 1467 h 1467"/>
                </a:gdLst>
                <a:ahLst/>
                <a:cxnLst>
                  <a:cxn ang="0">
                    <a:pos x="158" y="1467"/>
                  </a:cxn>
                  <a:cxn ang="0">
                    <a:pos x="0" y="1467"/>
                  </a:cxn>
                  <a:cxn ang="0">
                    <a:pos x="0" y="0"/>
                  </a:cxn>
                  <a:cxn ang="0">
                    <a:pos x="95" y="0"/>
                  </a:cxn>
                </a:cxnLst>
                <a:rect l="txL" t="txT" r="txR" b="txB"/>
                <a:pathLst>
                  <a:path w="158" h="1467">
                    <a:moveTo>
                      <a:pt x="158" y="1467"/>
                    </a:moveTo>
                    <a:lnTo>
                      <a:pt x="0" y="1467"/>
                    </a:lnTo>
                    <a:lnTo>
                      <a:pt x="0" y="0"/>
                    </a:lnTo>
                    <a:lnTo>
                      <a:pt x="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04" name="Freeform 161"/>
              <p:cNvSpPr/>
              <p:nvPr/>
            </p:nvSpPr>
            <p:spPr>
              <a:xfrm>
                <a:off x="4861" y="1211"/>
                <a:ext cx="142" cy="1466"/>
              </a:xfrm>
              <a:custGeom>
                <a:avLst/>
                <a:gdLst>
                  <a:gd name="txL" fmla="*/ 0 w 142"/>
                  <a:gd name="txT" fmla="*/ 0 h 1466"/>
                  <a:gd name="txR" fmla="*/ 142 w 142"/>
                  <a:gd name="txB" fmla="*/ 1466 h 1466"/>
                </a:gdLst>
                <a:ahLst/>
                <a:cxnLst>
                  <a:cxn ang="0">
                    <a:pos x="34" y="0"/>
                  </a:cxn>
                  <a:cxn ang="0">
                    <a:pos x="142" y="0"/>
                  </a:cxn>
                  <a:cxn ang="0">
                    <a:pos x="141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2" h="1466">
                    <a:moveTo>
                      <a:pt x="34" y="0"/>
                    </a:moveTo>
                    <a:lnTo>
                      <a:pt x="142" y="0"/>
                    </a:lnTo>
                    <a:lnTo>
                      <a:pt x="141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05" name="Freeform 162"/>
              <p:cNvSpPr/>
              <p:nvPr/>
            </p:nvSpPr>
            <p:spPr>
              <a:xfrm>
                <a:off x="5069" y="1211"/>
                <a:ext cx="159" cy="1469"/>
              </a:xfrm>
              <a:custGeom>
                <a:avLst/>
                <a:gdLst>
                  <a:gd name="txL" fmla="*/ 0 w 159"/>
                  <a:gd name="txT" fmla="*/ 0 h 1469"/>
                  <a:gd name="txR" fmla="*/ 159 w 159"/>
                  <a:gd name="txB" fmla="*/ 1469 h 1469"/>
                </a:gdLst>
                <a:ahLst/>
                <a:cxnLst>
                  <a:cxn ang="0">
                    <a:pos x="159" y="1467"/>
                  </a:cxn>
                  <a:cxn ang="0">
                    <a:pos x="0" y="1469"/>
                  </a:cxn>
                  <a:cxn ang="0">
                    <a:pos x="1" y="0"/>
                  </a:cxn>
                  <a:cxn ang="0">
                    <a:pos x="104" y="0"/>
                  </a:cxn>
                </a:cxnLst>
                <a:rect l="txL" t="txT" r="txR" b="txB"/>
                <a:pathLst>
                  <a:path w="159" h="1469">
                    <a:moveTo>
                      <a:pt x="159" y="1467"/>
                    </a:moveTo>
                    <a:lnTo>
                      <a:pt x="0" y="1469"/>
                    </a:lnTo>
                    <a:lnTo>
                      <a:pt x="1" y="0"/>
                    </a:lnTo>
                    <a:lnTo>
                      <a:pt x="10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06" name="Freeform 163"/>
              <p:cNvSpPr/>
              <p:nvPr/>
            </p:nvSpPr>
            <p:spPr>
              <a:xfrm>
                <a:off x="5417" y="1211"/>
                <a:ext cx="147" cy="1466"/>
              </a:xfrm>
              <a:custGeom>
                <a:avLst/>
                <a:gdLst>
                  <a:gd name="txL" fmla="*/ 0 w 147"/>
                  <a:gd name="txT" fmla="*/ 0 h 1466"/>
                  <a:gd name="txR" fmla="*/ 147 w 147"/>
                  <a:gd name="txB" fmla="*/ 1466 h 1466"/>
                </a:gdLst>
                <a:ahLst/>
                <a:cxnLst>
                  <a:cxn ang="0">
                    <a:pos x="47" y="0"/>
                  </a:cxn>
                  <a:cxn ang="0">
                    <a:pos x="147" y="0"/>
                  </a:cxn>
                  <a:cxn ang="0">
                    <a:pos x="146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7" h="1466">
                    <a:moveTo>
                      <a:pt x="47" y="0"/>
                    </a:moveTo>
                    <a:lnTo>
                      <a:pt x="147" y="0"/>
                    </a:lnTo>
                    <a:lnTo>
                      <a:pt x="146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07" name="Freeform 164"/>
              <p:cNvSpPr/>
              <p:nvPr/>
            </p:nvSpPr>
            <p:spPr>
              <a:xfrm>
                <a:off x="1055" y="2738"/>
                <a:ext cx="730" cy="660"/>
              </a:xfrm>
              <a:custGeom>
                <a:avLst/>
                <a:gdLst>
                  <a:gd name="txL" fmla="*/ 0 w 730"/>
                  <a:gd name="txT" fmla="*/ 0 h 660"/>
                  <a:gd name="txR" fmla="*/ 730 w 730"/>
                  <a:gd name="txB" fmla="*/ 660 h 660"/>
                </a:gdLst>
                <a:ahLst/>
                <a:cxnLst>
                  <a:cxn ang="0">
                    <a:pos x="160" y="4"/>
                  </a:cxn>
                  <a:cxn ang="0">
                    <a:pos x="0" y="3"/>
                  </a:cxn>
                  <a:cxn ang="0">
                    <a:pos x="0" y="660"/>
                  </a:cxn>
                  <a:cxn ang="0">
                    <a:pos x="558" y="657"/>
                  </a:cxn>
                  <a:cxn ang="0">
                    <a:pos x="558" y="0"/>
                  </a:cxn>
                  <a:cxn ang="0">
                    <a:pos x="730" y="1"/>
                  </a:cxn>
                </a:cxnLst>
                <a:rect l="txL" t="txT" r="txR" b="txB"/>
                <a:pathLst>
                  <a:path w="730" h="660">
                    <a:moveTo>
                      <a:pt x="160" y="4"/>
                    </a:moveTo>
                    <a:lnTo>
                      <a:pt x="0" y="3"/>
                    </a:lnTo>
                    <a:lnTo>
                      <a:pt x="0" y="660"/>
                    </a:lnTo>
                    <a:lnTo>
                      <a:pt x="558" y="657"/>
                    </a:lnTo>
                    <a:lnTo>
                      <a:pt x="558" y="0"/>
                    </a:lnTo>
                    <a:lnTo>
                      <a:pt x="730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08" name="Freeform 165"/>
              <p:cNvSpPr/>
              <p:nvPr/>
            </p:nvSpPr>
            <p:spPr>
              <a:xfrm>
                <a:off x="2207" y="2744"/>
                <a:ext cx="729" cy="658"/>
              </a:xfrm>
              <a:custGeom>
                <a:avLst/>
                <a:gdLst>
                  <a:gd name="txL" fmla="*/ 0 w 729"/>
                  <a:gd name="txT" fmla="*/ 0 h 658"/>
                  <a:gd name="txR" fmla="*/ 729 w 729"/>
                  <a:gd name="txB" fmla="*/ 658 h 658"/>
                </a:gdLst>
                <a:ahLst/>
                <a:cxnLst>
                  <a:cxn ang="0">
                    <a:pos x="153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83" y="658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8">
                    <a:moveTo>
                      <a:pt x="153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83" y="658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09" name="Freeform 166"/>
              <p:cNvSpPr/>
              <p:nvPr/>
            </p:nvSpPr>
            <p:spPr>
              <a:xfrm>
                <a:off x="3356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58" y="0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58" y="0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10" name="Freeform 167"/>
              <p:cNvSpPr/>
              <p:nvPr/>
            </p:nvSpPr>
            <p:spPr>
              <a:xfrm>
                <a:off x="4508" y="2744"/>
                <a:ext cx="729" cy="657"/>
              </a:xfrm>
              <a:custGeom>
                <a:avLst/>
                <a:gdLst>
                  <a:gd name="txL" fmla="*/ 0 w 729"/>
                  <a:gd name="txT" fmla="*/ 0 h 657"/>
                  <a:gd name="txR" fmla="*/ 729 w 729"/>
                  <a:gd name="txB" fmla="*/ 657 h 657"/>
                </a:gdLst>
                <a:ahLst/>
                <a:cxnLst>
                  <a:cxn ang="0">
                    <a:pos x="161" y="2"/>
                  </a:cxn>
                  <a:cxn ang="0">
                    <a:pos x="0" y="0"/>
                  </a:cxn>
                  <a:cxn ang="0">
                    <a:pos x="0" y="657"/>
                  </a:cxn>
                  <a:cxn ang="0">
                    <a:pos x="579" y="654"/>
                  </a:cxn>
                  <a:cxn ang="0">
                    <a:pos x="582" y="3"/>
                  </a:cxn>
                  <a:cxn ang="0">
                    <a:pos x="729" y="3"/>
                  </a:cxn>
                </a:cxnLst>
                <a:rect l="txL" t="txT" r="txR" b="txB"/>
                <a:pathLst>
                  <a:path w="729" h="657">
                    <a:moveTo>
                      <a:pt x="161" y="2"/>
                    </a:moveTo>
                    <a:lnTo>
                      <a:pt x="0" y="0"/>
                    </a:lnTo>
                    <a:lnTo>
                      <a:pt x="0" y="657"/>
                    </a:lnTo>
                    <a:lnTo>
                      <a:pt x="579" y="654"/>
                    </a:lnTo>
                    <a:lnTo>
                      <a:pt x="582" y="3"/>
                    </a:lnTo>
                    <a:lnTo>
                      <a:pt x="72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11" name="Freeform 168"/>
              <p:cNvSpPr/>
              <p:nvPr/>
            </p:nvSpPr>
            <p:spPr>
              <a:xfrm>
                <a:off x="1400" y="2735"/>
                <a:ext cx="708" cy="571"/>
              </a:xfrm>
              <a:custGeom>
                <a:avLst/>
                <a:gdLst>
                  <a:gd name="txL" fmla="*/ 0 w 708"/>
                  <a:gd name="txT" fmla="*/ 0 h 571"/>
                  <a:gd name="txR" fmla="*/ 708 w 708"/>
                  <a:gd name="txB" fmla="*/ 571 h 571"/>
                </a:gdLst>
                <a:ahLst/>
                <a:cxnLst>
                  <a:cxn ang="0">
                    <a:pos x="0" y="0"/>
                  </a:cxn>
                  <a:cxn ang="0">
                    <a:pos x="132" y="0"/>
                  </a:cxn>
                  <a:cxn ang="0">
                    <a:pos x="133" y="571"/>
                  </a:cxn>
                  <a:cxn ang="0">
                    <a:pos x="708" y="570"/>
                  </a:cxn>
                  <a:cxn ang="0">
                    <a:pos x="708" y="9"/>
                  </a:cxn>
                  <a:cxn ang="0">
                    <a:pos x="573" y="9"/>
                  </a:cxn>
                </a:cxnLst>
                <a:rect l="txL" t="txT" r="txR" b="txB"/>
                <a:pathLst>
                  <a:path w="708" h="571">
                    <a:moveTo>
                      <a:pt x="0" y="0"/>
                    </a:moveTo>
                    <a:lnTo>
                      <a:pt x="132" y="0"/>
                    </a:lnTo>
                    <a:lnTo>
                      <a:pt x="133" y="571"/>
                    </a:lnTo>
                    <a:lnTo>
                      <a:pt x="708" y="570"/>
                    </a:lnTo>
                    <a:lnTo>
                      <a:pt x="708" y="9"/>
                    </a:lnTo>
                    <a:lnTo>
                      <a:pt x="573" y="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12" name="Freeform 169"/>
              <p:cNvSpPr/>
              <p:nvPr/>
            </p:nvSpPr>
            <p:spPr>
              <a:xfrm>
                <a:off x="2552" y="2735"/>
                <a:ext cx="726" cy="567"/>
              </a:xfrm>
              <a:custGeom>
                <a:avLst/>
                <a:gdLst>
                  <a:gd name="txL" fmla="*/ 0 w 726"/>
                  <a:gd name="txT" fmla="*/ 0 h 567"/>
                  <a:gd name="txR" fmla="*/ 726 w 726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48" y="1"/>
                  </a:cxn>
                  <a:cxn ang="0">
                    <a:pos x="147" y="567"/>
                  </a:cxn>
                  <a:cxn ang="0">
                    <a:pos x="726" y="567"/>
                  </a:cxn>
                  <a:cxn ang="0">
                    <a:pos x="726" y="6"/>
                  </a:cxn>
                  <a:cxn ang="0">
                    <a:pos x="579" y="6"/>
                  </a:cxn>
                </a:cxnLst>
                <a:rect l="txL" t="txT" r="txR" b="txB"/>
                <a:pathLst>
                  <a:path w="726" h="567">
                    <a:moveTo>
                      <a:pt x="0" y="0"/>
                    </a:moveTo>
                    <a:lnTo>
                      <a:pt x="148" y="1"/>
                    </a:lnTo>
                    <a:lnTo>
                      <a:pt x="147" y="567"/>
                    </a:lnTo>
                    <a:lnTo>
                      <a:pt x="726" y="567"/>
                    </a:lnTo>
                    <a:lnTo>
                      <a:pt x="726" y="6"/>
                    </a:lnTo>
                    <a:lnTo>
                      <a:pt x="579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13" name="Freeform 170"/>
              <p:cNvSpPr/>
              <p:nvPr/>
            </p:nvSpPr>
            <p:spPr>
              <a:xfrm>
                <a:off x="3704" y="2738"/>
                <a:ext cx="714" cy="567"/>
              </a:xfrm>
              <a:custGeom>
                <a:avLst/>
                <a:gdLst>
                  <a:gd name="txL" fmla="*/ 0 w 714"/>
                  <a:gd name="txT" fmla="*/ 0 h 567"/>
                  <a:gd name="txR" fmla="*/ 714 w 714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6" y="1"/>
                  </a:cxn>
                  <a:cxn ang="0">
                    <a:pos x="135" y="567"/>
                  </a:cxn>
                  <a:cxn ang="0">
                    <a:pos x="714" y="567"/>
                  </a:cxn>
                  <a:cxn ang="0">
                    <a:pos x="714" y="6"/>
                  </a:cxn>
                  <a:cxn ang="0">
                    <a:pos x="576" y="5"/>
                  </a:cxn>
                </a:cxnLst>
                <a:rect l="txL" t="txT" r="txR" b="txB"/>
                <a:pathLst>
                  <a:path w="714" h="567">
                    <a:moveTo>
                      <a:pt x="0" y="0"/>
                    </a:moveTo>
                    <a:lnTo>
                      <a:pt x="136" y="1"/>
                    </a:lnTo>
                    <a:lnTo>
                      <a:pt x="135" y="567"/>
                    </a:lnTo>
                    <a:lnTo>
                      <a:pt x="714" y="567"/>
                    </a:lnTo>
                    <a:lnTo>
                      <a:pt x="714" y="6"/>
                    </a:lnTo>
                    <a:lnTo>
                      <a:pt x="576" y="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14" name="Freeform 171"/>
              <p:cNvSpPr/>
              <p:nvPr/>
            </p:nvSpPr>
            <p:spPr>
              <a:xfrm>
                <a:off x="4859" y="2738"/>
                <a:ext cx="711" cy="567"/>
              </a:xfrm>
              <a:custGeom>
                <a:avLst/>
                <a:gdLst>
                  <a:gd name="txL" fmla="*/ 0 w 711"/>
                  <a:gd name="txT" fmla="*/ 0 h 567"/>
                  <a:gd name="txR" fmla="*/ 711 w 711"/>
                  <a:gd name="txB" fmla="*/ 567 h 567"/>
                </a:gdLst>
                <a:ahLst/>
                <a:cxnLst>
                  <a:cxn ang="0">
                    <a:pos x="0" y="0"/>
                  </a:cxn>
                  <a:cxn ang="0">
                    <a:pos x="130" y="1"/>
                  </a:cxn>
                  <a:cxn ang="0">
                    <a:pos x="132" y="567"/>
                  </a:cxn>
                  <a:cxn ang="0">
                    <a:pos x="711" y="567"/>
                  </a:cxn>
                  <a:cxn ang="0">
                    <a:pos x="711" y="6"/>
                  </a:cxn>
                  <a:cxn ang="0">
                    <a:pos x="564" y="6"/>
                  </a:cxn>
                </a:cxnLst>
                <a:rect l="txL" t="txT" r="txR" b="txB"/>
                <a:pathLst>
                  <a:path w="711" h="567">
                    <a:moveTo>
                      <a:pt x="0" y="0"/>
                    </a:moveTo>
                    <a:lnTo>
                      <a:pt x="130" y="1"/>
                    </a:lnTo>
                    <a:lnTo>
                      <a:pt x="132" y="567"/>
                    </a:lnTo>
                    <a:lnTo>
                      <a:pt x="711" y="567"/>
                    </a:lnTo>
                    <a:lnTo>
                      <a:pt x="711" y="6"/>
                    </a:lnTo>
                    <a:lnTo>
                      <a:pt x="564" y="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15" name="Freeform 172"/>
              <p:cNvSpPr/>
              <p:nvPr/>
            </p:nvSpPr>
            <p:spPr>
              <a:xfrm>
                <a:off x="1322" y="3398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16" name="Freeform 173"/>
              <p:cNvSpPr/>
              <p:nvPr/>
            </p:nvSpPr>
            <p:spPr>
              <a:xfrm>
                <a:off x="2491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17" name="Freeform 174"/>
              <p:cNvSpPr/>
              <p:nvPr/>
            </p:nvSpPr>
            <p:spPr>
              <a:xfrm>
                <a:off x="3643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18" name="Freeform 175"/>
              <p:cNvSpPr/>
              <p:nvPr/>
            </p:nvSpPr>
            <p:spPr>
              <a:xfrm>
                <a:off x="4795" y="3401"/>
                <a:ext cx="1" cy="150"/>
              </a:xfrm>
              <a:custGeom>
                <a:avLst/>
                <a:gdLst>
                  <a:gd name="txL" fmla="*/ 0 w 1"/>
                  <a:gd name="txT" fmla="*/ 0 h 150"/>
                  <a:gd name="txR" fmla="*/ 1 w 1"/>
                  <a:gd name="txB" fmla="*/ 150 h 150"/>
                </a:gdLst>
                <a:ahLst/>
                <a:cxnLst>
                  <a:cxn ang="0">
                    <a:pos x="0" y="0"/>
                  </a:cxn>
                  <a:cxn ang="0">
                    <a:pos x="0" y="150"/>
                  </a:cxn>
                </a:cxnLst>
                <a:rect l="txL" t="txT" r="txR" b="txB"/>
                <a:pathLst>
                  <a:path w="1" h="150">
                    <a:moveTo>
                      <a:pt x="0" y="0"/>
                    </a:moveTo>
                    <a:lnTo>
                      <a:pt x="0" y="1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19" name="Freeform 176"/>
              <p:cNvSpPr/>
              <p:nvPr/>
            </p:nvSpPr>
            <p:spPr>
              <a:xfrm>
                <a:off x="5276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20" name="Freeform 177"/>
              <p:cNvSpPr/>
              <p:nvPr/>
            </p:nvSpPr>
            <p:spPr>
              <a:xfrm>
                <a:off x="4124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21" name="Freeform 178"/>
              <p:cNvSpPr/>
              <p:nvPr/>
            </p:nvSpPr>
            <p:spPr>
              <a:xfrm>
                <a:off x="2972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22" name="Freeform 179"/>
              <p:cNvSpPr/>
              <p:nvPr/>
            </p:nvSpPr>
            <p:spPr>
              <a:xfrm>
                <a:off x="1819" y="3305"/>
                <a:ext cx="1" cy="246"/>
              </a:xfrm>
              <a:custGeom>
                <a:avLst/>
                <a:gdLst>
                  <a:gd name="txL" fmla="*/ 0 w 1"/>
                  <a:gd name="txT" fmla="*/ 0 h 246"/>
                  <a:gd name="txR" fmla="*/ 1 w 1"/>
                  <a:gd name="txB" fmla="*/ 246 h 246"/>
                </a:gdLst>
                <a:ahLst/>
                <a:cxnLst>
                  <a:cxn ang="0">
                    <a:pos x="0" y="0"/>
                  </a:cxn>
                  <a:cxn ang="0">
                    <a:pos x="0" y="246"/>
                  </a:cxn>
                </a:cxnLst>
                <a:rect l="txL" t="txT" r="txR" b="txB"/>
                <a:pathLst>
                  <a:path w="1" h="246">
                    <a:moveTo>
                      <a:pt x="0" y="0"/>
                    </a:moveTo>
                    <a:lnTo>
                      <a:pt x="0" y="24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23" name="Freeform 180"/>
              <p:cNvSpPr/>
              <p:nvPr/>
            </p:nvSpPr>
            <p:spPr>
              <a:xfrm>
                <a:off x="956" y="4025"/>
                <a:ext cx="4317" cy="1"/>
              </a:xfrm>
              <a:custGeom>
                <a:avLst/>
                <a:gdLst>
                  <a:gd name="txL" fmla="*/ 0 w 4317"/>
                  <a:gd name="txT" fmla="*/ 0 h 1"/>
                  <a:gd name="txR" fmla="*/ 4317 w 431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4317" y="0"/>
                  </a:cxn>
                </a:cxnLst>
                <a:rect l="txL" t="txT" r="txR" b="txB"/>
                <a:pathLst>
                  <a:path w="4317" h="1">
                    <a:moveTo>
                      <a:pt x="0" y="0"/>
                    </a:moveTo>
                    <a:lnTo>
                      <a:pt x="431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24" name="Freeform 181"/>
              <p:cNvSpPr/>
              <p:nvPr/>
            </p:nvSpPr>
            <p:spPr>
              <a:xfrm>
                <a:off x="956" y="4121"/>
                <a:ext cx="3837" cy="1"/>
              </a:xfrm>
              <a:custGeom>
                <a:avLst/>
                <a:gdLst>
                  <a:gd name="txL" fmla="*/ 0 w 3837"/>
                  <a:gd name="txT" fmla="*/ 0 h 1"/>
                  <a:gd name="txR" fmla="*/ 3837 w 383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837" y="0"/>
                  </a:cxn>
                </a:cxnLst>
                <a:rect l="txL" t="txT" r="txR" b="txB"/>
                <a:pathLst>
                  <a:path w="3837" h="1">
                    <a:moveTo>
                      <a:pt x="0" y="0"/>
                    </a:moveTo>
                    <a:lnTo>
                      <a:pt x="3837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25" name="Freeform 182"/>
              <p:cNvSpPr/>
              <p:nvPr/>
            </p:nvSpPr>
            <p:spPr>
              <a:xfrm>
                <a:off x="1322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26" name="Freeform 183"/>
              <p:cNvSpPr/>
              <p:nvPr/>
            </p:nvSpPr>
            <p:spPr>
              <a:xfrm>
                <a:off x="2491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27" name="Freeform 184"/>
              <p:cNvSpPr/>
              <p:nvPr/>
            </p:nvSpPr>
            <p:spPr>
              <a:xfrm>
                <a:off x="3643" y="3881"/>
                <a:ext cx="1" cy="243"/>
              </a:xfrm>
              <a:custGeom>
                <a:avLst/>
                <a:gdLst>
                  <a:gd name="txL" fmla="*/ 0 w 1"/>
                  <a:gd name="txT" fmla="*/ 0 h 243"/>
                  <a:gd name="txR" fmla="*/ 1 w 1"/>
                  <a:gd name="txB" fmla="*/ 243 h 243"/>
                </a:gdLst>
                <a:ahLst/>
                <a:cxnLst>
                  <a:cxn ang="0">
                    <a:pos x="0" y="0"/>
                  </a:cxn>
                  <a:cxn ang="0">
                    <a:pos x="0" y="243"/>
                  </a:cxn>
                </a:cxnLst>
                <a:rect l="txL" t="txT" r="txR" b="txB"/>
                <a:pathLst>
                  <a:path w="1" h="243">
                    <a:moveTo>
                      <a:pt x="0" y="0"/>
                    </a:moveTo>
                    <a:lnTo>
                      <a:pt x="0" y="2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28" name="Freeform 185"/>
              <p:cNvSpPr/>
              <p:nvPr/>
            </p:nvSpPr>
            <p:spPr>
              <a:xfrm>
                <a:off x="4791" y="3881"/>
                <a:ext cx="4" cy="247"/>
              </a:xfrm>
              <a:custGeom>
                <a:avLst/>
                <a:gdLst>
                  <a:gd name="txL" fmla="*/ 0 w 4"/>
                  <a:gd name="txT" fmla="*/ 0 h 247"/>
                  <a:gd name="txR" fmla="*/ 4 w 4"/>
                  <a:gd name="txB" fmla="*/ 247 h 247"/>
                </a:gdLst>
                <a:ahLst/>
                <a:cxnLst>
                  <a:cxn ang="0">
                    <a:pos x="4" y="0"/>
                  </a:cxn>
                  <a:cxn ang="0">
                    <a:pos x="0" y="247"/>
                  </a:cxn>
                </a:cxnLst>
                <a:rect l="txL" t="txT" r="txR" b="txB"/>
                <a:pathLst>
                  <a:path w="4" h="247">
                    <a:moveTo>
                      <a:pt x="4" y="0"/>
                    </a:moveTo>
                    <a:lnTo>
                      <a:pt x="0" y="24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29" name="Freeform 186"/>
              <p:cNvSpPr/>
              <p:nvPr/>
            </p:nvSpPr>
            <p:spPr>
              <a:xfrm>
                <a:off x="5277" y="3881"/>
                <a:ext cx="1" cy="151"/>
              </a:xfrm>
              <a:custGeom>
                <a:avLst/>
                <a:gdLst>
                  <a:gd name="txL" fmla="*/ 0 w 1"/>
                  <a:gd name="txT" fmla="*/ 0 h 151"/>
                  <a:gd name="txR" fmla="*/ 1 w 1"/>
                  <a:gd name="txB" fmla="*/ 151 h 151"/>
                </a:gdLst>
                <a:ahLst/>
                <a:cxnLst>
                  <a:cxn ang="0">
                    <a:pos x="0" y="0"/>
                  </a:cxn>
                  <a:cxn ang="0">
                    <a:pos x="0" y="151"/>
                  </a:cxn>
                </a:cxnLst>
                <a:rect l="txL" t="txT" r="txR" b="txB"/>
                <a:pathLst>
                  <a:path w="1" h="151">
                    <a:moveTo>
                      <a:pt x="0" y="0"/>
                    </a:moveTo>
                    <a:lnTo>
                      <a:pt x="0" y="15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30" name="Line 187"/>
              <p:cNvSpPr/>
              <p:nvPr/>
            </p:nvSpPr>
            <p:spPr>
              <a:xfrm>
                <a:off x="4124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90131" name="Line 188"/>
              <p:cNvSpPr/>
              <p:nvPr/>
            </p:nvSpPr>
            <p:spPr>
              <a:xfrm>
                <a:off x="2973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90132" name="Line 189"/>
              <p:cNvSpPr/>
              <p:nvPr/>
            </p:nvSpPr>
            <p:spPr>
              <a:xfrm>
                <a:off x="1820" y="3881"/>
                <a:ext cx="0" cy="14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290133" name="Rectangle 190"/>
              <p:cNvSpPr/>
              <p:nvPr/>
            </p:nvSpPr>
            <p:spPr>
              <a:xfrm>
                <a:off x="2317" y="3597"/>
                <a:ext cx="823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34" name="Text Box 191"/>
              <p:cNvSpPr txBox="1"/>
              <p:nvPr/>
            </p:nvSpPr>
            <p:spPr>
              <a:xfrm>
                <a:off x="2348" y="357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35" name="Rectangle 192"/>
              <p:cNvSpPr/>
              <p:nvPr/>
            </p:nvSpPr>
            <p:spPr>
              <a:xfrm>
                <a:off x="3469" y="3597"/>
                <a:ext cx="823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36" name="Text Box 193"/>
              <p:cNvSpPr txBox="1"/>
              <p:nvPr/>
            </p:nvSpPr>
            <p:spPr>
              <a:xfrm>
                <a:off x="3500" y="357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37" name="Rectangle 194"/>
              <p:cNvSpPr/>
              <p:nvPr/>
            </p:nvSpPr>
            <p:spPr>
              <a:xfrm>
                <a:off x="4621" y="3597"/>
                <a:ext cx="823" cy="2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38" name="Text Box 195"/>
              <p:cNvSpPr txBox="1"/>
              <p:nvPr/>
            </p:nvSpPr>
            <p:spPr>
              <a:xfrm>
                <a:off x="4652" y="357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读写电路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39" name="Line 196"/>
              <p:cNvSpPr/>
              <p:nvPr/>
            </p:nvSpPr>
            <p:spPr>
              <a:xfrm>
                <a:off x="196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90140" name="Line 197"/>
              <p:cNvSpPr/>
              <p:nvPr/>
            </p:nvSpPr>
            <p:spPr>
              <a:xfrm>
                <a:off x="3144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90141" name="Line 198"/>
              <p:cNvSpPr/>
              <p:nvPr/>
            </p:nvSpPr>
            <p:spPr>
              <a:xfrm>
                <a:off x="4293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90142" name="Line 199"/>
              <p:cNvSpPr/>
              <p:nvPr/>
            </p:nvSpPr>
            <p:spPr>
              <a:xfrm>
                <a:off x="5420" y="3737"/>
                <a:ext cx="181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290143" name="Freeform 200"/>
              <p:cNvSpPr/>
              <p:nvPr/>
            </p:nvSpPr>
            <p:spPr>
              <a:xfrm>
                <a:off x="3033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44" name="Freeform 201"/>
              <p:cNvSpPr/>
              <p:nvPr/>
            </p:nvSpPr>
            <p:spPr>
              <a:xfrm>
                <a:off x="4185" y="2691"/>
                <a:ext cx="1" cy="525"/>
              </a:xfrm>
              <a:custGeom>
                <a:avLst/>
                <a:gdLst>
                  <a:gd name="txL" fmla="*/ 0 w 1"/>
                  <a:gd name="txT" fmla="*/ 0 h 525"/>
                  <a:gd name="txR" fmla="*/ 1 w 1"/>
                  <a:gd name="txB" fmla="*/ 525 h 525"/>
                </a:gdLst>
                <a:ahLst/>
                <a:cxnLst>
                  <a:cxn ang="0">
                    <a:pos x="0" y="0"/>
                  </a:cxn>
                  <a:cxn ang="0">
                    <a:pos x="0" y="525"/>
                  </a:cxn>
                </a:cxnLst>
                <a:rect l="txL" t="txT" r="txR" b="txB"/>
                <a:pathLst>
                  <a:path w="1" h="525">
                    <a:moveTo>
                      <a:pt x="0" y="0"/>
                    </a:moveTo>
                    <a:lnTo>
                      <a:pt x="0" y="52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45" name="Freeform 202"/>
              <p:cNvSpPr/>
              <p:nvPr/>
            </p:nvSpPr>
            <p:spPr>
              <a:xfrm>
                <a:off x="5325" y="2708"/>
                <a:ext cx="47" cy="501"/>
              </a:xfrm>
              <a:custGeom>
                <a:avLst/>
                <a:gdLst>
                  <a:gd name="txL" fmla="*/ 0 w 1"/>
                  <a:gd name="txT" fmla="*/ 0 h 406"/>
                  <a:gd name="txR" fmla="*/ 1 w 1"/>
                  <a:gd name="txB" fmla="*/ 406 h 406"/>
                </a:gdLst>
                <a:ahLst/>
                <a:cxnLst>
                  <a:cxn ang="0">
                    <a:pos x="0" y="0"/>
                  </a:cxn>
                  <a:cxn ang="0">
                    <a:pos x="0" y="406"/>
                  </a:cxn>
                </a:cxnLst>
                <a:rect l="txL" t="txT" r="txR" b="txB"/>
                <a:pathLst>
                  <a:path w="1" h="406">
                    <a:moveTo>
                      <a:pt x="0" y="0"/>
                    </a:moveTo>
                    <a:lnTo>
                      <a:pt x="0" y="4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0146" name="Text Box 203"/>
              <p:cNvSpPr txBox="1"/>
              <p:nvPr/>
            </p:nvSpPr>
            <p:spPr>
              <a:xfrm rot="5400000">
                <a:off x="1175" y="1623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47" name="Text Box 204"/>
              <p:cNvSpPr txBox="1"/>
              <p:nvPr/>
            </p:nvSpPr>
            <p:spPr>
              <a:xfrm rot="5400000">
                <a:off x="1751" y="1623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48" name="Text Box 205"/>
              <p:cNvSpPr txBox="1"/>
              <p:nvPr/>
            </p:nvSpPr>
            <p:spPr>
              <a:xfrm rot="5400000">
                <a:off x="2327" y="1623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49" name="Text Box 206"/>
              <p:cNvSpPr txBox="1"/>
              <p:nvPr/>
            </p:nvSpPr>
            <p:spPr>
              <a:xfrm rot="5400000">
                <a:off x="2903" y="161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50" name="Text Box 207"/>
              <p:cNvSpPr txBox="1"/>
              <p:nvPr/>
            </p:nvSpPr>
            <p:spPr>
              <a:xfrm rot="5400000">
                <a:off x="3478" y="161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51" name="Text Box 208"/>
              <p:cNvSpPr txBox="1"/>
              <p:nvPr/>
            </p:nvSpPr>
            <p:spPr>
              <a:xfrm rot="5400000">
                <a:off x="4055" y="161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52" name="Text Box 209"/>
              <p:cNvSpPr txBox="1"/>
              <p:nvPr/>
            </p:nvSpPr>
            <p:spPr>
              <a:xfrm rot="5400000">
                <a:off x="4631" y="161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53" name="Text Box 210"/>
              <p:cNvSpPr txBox="1"/>
              <p:nvPr/>
            </p:nvSpPr>
            <p:spPr>
              <a:xfrm rot="5400000">
                <a:off x="5226" y="161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54" name="Text Box 211"/>
              <p:cNvSpPr txBox="1"/>
              <p:nvPr/>
            </p:nvSpPr>
            <p:spPr>
              <a:xfrm>
                <a:off x="660" y="791"/>
                <a:ext cx="18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55" name="Text Box 212"/>
              <p:cNvSpPr txBox="1"/>
              <p:nvPr/>
            </p:nvSpPr>
            <p:spPr>
              <a:xfrm>
                <a:off x="660" y="1383"/>
                <a:ext cx="18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56" name="Text Box 213"/>
              <p:cNvSpPr txBox="1"/>
              <p:nvPr/>
            </p:nvSpPr>
            <p:spPr>
              <a:xfrm>
                <a:off x="624" y="1959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63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57" name="Line 214"/>
              <p:cNvSpPr/>
              <p:nvPr/>
            </p:nvSpPr>
            <p:spPr>
              <a:xfrm>
                <a:off x="332" y="2537"/>
                <a:ext cx="57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158" name="Text Box 215"/>
              <p:cNvSpPr txBox="1"/>
              <p:nvPr/>
            </p:nvSpPr>
            <p:spPr>
              <a:xfrm>
                <a:off x="660" y="2727"/>
                <a:ext cx="187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59" name="Text Box 216"/>
              <p:cNvSpPr txBox="1"/>
              <p:nvPr/>
            </p:nvSpPr>
            <p:spPr>
              <a:xfrm>
                <a:off x="624" y="3159"/>
                <a:ext cx="259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</a:rPr>
                  <a:t>15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60" name="Text Box 217"/>
              <p:cNvSpPr txBox="1"/>
              <p:nvPr/>
            </p:nvSpPr>
            <p:spPr>
              <a:xfrm rot="5400000">
                <a:off x="647" y="1611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61" name="Text Box 218"/>
              <p:cNvSpPr txBox="1"/>
              <p:nvPr/>
            </p:nvSpPr>
            <p:spPr>
              <a:xfrm rot="5400000">
                <a:off x="647" y="2859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62" name="Text Box 219"/>
              <p:cNvSpPr txBox="1"/>
              <p:nvPr/>
            </p:nvSpPr>
            <p:spPr>
              <a:xfrm>
                <a:off x="349" y="1015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63" name="Text Box 220"/>
              <p:cNvSpPr txBox="1"/>
              <p:nvPr/>
            </p:nvSpPr>
            <p:spPr>
              <a:xfrm>
                <a:off x="349" y="1263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64" name="Text Box 221"/>
              <p:cNvSpPr txBox="1"/>
              <p:nvPr/>
            </p:nvSpPr>
            <p:spPr>
              <a:xfrm>
                <a:off x="349" y="1511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65" name="Text Box 222"/>
              <p:cNvSpPr txBox="1"/>
              <p:nvPr/>
            </p:nvSpPr>
            <p:spPr>
              <a:xfrm>
                <a:off x="349" y="1758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66" name="Text Box 223"/>
              <p:cNvSpPr txBox="1"/>
              <p:nvPr/>
            </p:nvSpPr>
            <p:spPr>
              <a:xfrm>
                <a:off x="349" y="200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67" name="Text Box 224"/>
              <p:cNvSpPr txBox="1"/>
              <p:nvPr/>
            </p:nvSpPr>
            <p:spPr>
              <a:xfrm>
                <a:off x="376" y="2635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68" name="Text Box 225"/>
              <p:cNvSpPr txBox="1"/>
              <p:nvPr/>
            </p:nvSpPr>
            <p:spPr>
              <a:xfrm>
                <a:off x="376" y="2883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69" name="Text Box 226"/>
              <p:cNvSpPr txBox="1"/>
              <p:nvPr/>
            </p:nvSpPr>
            <p:spPr>
              <a:xfrm>
                <a:off x="376" y="3131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70" name="Text Box 227"/>
              <p:cNvSpPr txBox="1"/>
              <p:nvPr/>
            </p:nvSpPr>
            <p:spPr>
              <a:xfrm>
                <a:off x="376" y="3378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71" name="Text Box 228"/>
              <p:cNvSpPr txBox="1"/>
              <p:nvPr/>
            </p:nvSpPr>
            <p:spPr>
              <a:xfrm>
                <a:off x="376" y="362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72" name="Line 229"/>
              <p:cNvSpPr/>
              <p:nvPr/>
            </p:nvSpPr>
            <p:spPr>
              <a:xfrm>
                <a:off x="140" y="905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90173" name="Line 230"/>
              <p:cNvSpPr/>
              <p:nvPr/>
            </p:nvSpPr>
            <p:spPr>
              <a:xfrm>
                <a:off x="140" y="116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90174" name="Line 231"/>
              <p:cNvSpPr/>
              <p:nvPr/>
            </p:nvSpPr>
            <p:spPr>
              <a:xfrm>
                <a:off x="140" y="142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90175" name="Line 232"/>
              <p:cNvSpPr/>
              <p:nvPr/>
            </p:nvSpPr>
            <p:spPr>
              <a:xfrm>
                <a:off x="140" y="168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90176" name="Line 233"/>
              <p:cNvSpPr/>
              <p:nvPr/>
            </p:nvSpPr>
            <p:spPr>
              <a:xfrm>
                <a:off x="140" y="194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90177" name="Line 234"/>
              <p:cNvSpPr/>
              <p:nvPr/>
            </p:nvSpPr>
            <p:spPr>
              <a:xfrm>
                <a:off x="140" y="220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90178" name="Line 235"/>
              <p:cNvSpPr/>
              <p:nvPr/>
            </p:nvSpPr>
            <p:spPr>
              <a:xfrm>
                <a:off x="140" y="287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90179" name="Line 236"/>
              <p:cNvSpPr/>
              <p:nvPr/>
            </p:nvSpPr>
            <p:spPr>
              <a:xfrm>
                <a:off x="140" y="313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90180" name="Line 237"/>
              <p:cNvSpPr/>
              <p:nvPr/>
            </p:nvSpPr>
            <p:spPr>
              <a:xfrm>
                <a:off x="140" y="339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90181" name="Line 238"/>
              <p:cNvSpPr/>
              <p:nvPr/>
            </p:nvSpPr>
            <p:spPr>
              <a:xfrm>
                <a:off x="140" y="365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sm" len="sm"/>
              </a:ln>
            </p:spPr>
          </p:sp>
          <p:sp>
            <p:nvSpPr>
              <p:cNvPr id="290182" name="Text Box 239"/>
              <p:cNvSpPr txBox="1"/>
              <p:nvPr/>
            </p:nvSpPr>
            <p:spPr>
              <a:xfrm>
                <a:off x="648" y="3890"/>
                <a:ext cx="355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WE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83" name="Line 240"/>
              <p:cNvSpPr/>
              <p:nvPr/>
            </p:nvSpPr>
            <p:spPr>
              <a:xfrm>
                <a:off x="682" y="3923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0184" name="Text Box 241"/>
              <p:cNvSpPr txBox="1"/>
              <p:nvPr/>
            </p:nvSpPr>
            <p:spPr>
              <a:xfrm>
                <a:off x="669" y="4025"/>
                <a:ext cx="32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CS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185" name="Line 242"/>
              <p:cNvSpPr/>
              <p:nvPr/>
            </p:nvSpPr>
            <p:spPr>
              <a:xfrm>
                <a:off x="726" y="4079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89975" name="Group 243"/>
            <p:cNvGrpSpPr/>
            <p:nvPr/>
          </p:nvGrpSpPr>
          <p:grpSpPr>
            <a:xfrm>
              <a:off x="140" y="674"/>
              <a:ext cx="195" cy="3011"/>
              <a:chOff x="140" y="674"/>
              <a:chExt cx="195" cy="3011"/>
            </a:xfrm>
          </p:grpSpPr>
          <p:sp>
            <p:nvSpPr>
              <p:cNvPr id="289976" name="Text Box 244"/>
              <p:cNvSpPr txBox="1"/>
              <p:nvPr/>
            </p:nvSpPr>
            <p:spPr>
              <a:xfrm>
                <a:off x="140" y="67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77" name="Text Box 245"/>
              <p:cNvSpPr txBox="1"/>
              <p:nvPr/>
            </p:nvSpPr>
            <p:spPr>
              <a:xfrm>
                <a:off x="140" y="933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78" name="Text Box 246"/>
              <p:cNvSpPr txBox="1"/>
              <p:nvPr/>
            </p:nvSpPr>
            <p:spPr>
              <a:xfrm>
                <a:off x="140" y="119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79" name="Text Box 247"/>
              <p:cNvSpPr txBox="1"/>
              <p:nvPr/>
            </p:nvSpPr>
            <p:spPr>
              <a:xfrm>
                <a:off x="140" y="145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80" name="Text Box 248"/>
              <p:cNvSpPr txBox="1"/>
              <p:nvPr/>
            </p:nvSpPr>
            <p:spPr>
              <a:xfrm>
                <a:off x="140" y="171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81" name="Text Box 249"/>
              <p:cNvSpPr txBox="1"/>
              <p:nvPr/>
            </p:nvSpPr>
            <p:spPr>
              <a:xfrm>
                <a:off x="140" y="197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82" name="Text Box 250"/>
              <p:cNvSpPr txBox="1"/>
              <p:nvPr/>
            </p:nvSpPr>
            <p:spPr>
              <a:xfrm>
                <a:off x="140" y="2657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83" name="Text Box 251"/>
              <p:cNvSpPr txBox="1"/>
              <p:nvPr/>
            </p:nvSpPr>
            <p:spPr>
              <a:xfrm>
                <a:off x="140" y="2916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84" name="Text Box 252"/>
              <p:cNvSpPr txBox="1"/>
              <p:nvPr/>
            </p:nvSpPr>
            <p:spPr>
              <a:xfrm>
                <a:off x="140" y="317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85" name="Text Box 253"/>
              <p:cNvSpPr txBox="1"/>
              <p:nvPr/>
            </p:nvSpPr>
            <p:spPr>
              <a:xfrm>
                <a:off x="140" y="343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89799" name="Group 254"/>
          <p:cNvGrpSpPr/>
          <p:nvPr/>
        </p:nvGrpSpPr>
        <p:grpSpPr>
          <a:xfrm>
            <a:off x="2955925" y="1360488"/>
            <a:ext cx="7708900" cy="4575175"/>
            <a:chOff x="902" y="857"/>
            <a:chExt cx="4856" cy="2882"/>
          </a:xfrm>
        </p:grpSpPr>
        <p:grpSp>
          <p:nvGrpSpPr>
            <p:cNvPr id="289938" name="Group 255"/>
            <p:cNvGrpSpPr/>
            <p:nvPr/>
          </p:nvGrpSpPr>
          <p:grpSpPr>
            <a:xfrm>
              <a:off x="902" y="857"/>
              <a:ext cx="4567" cy="418"/>
              <a:chOff x="902" y="857"/>
              <a:chExt cx="4567" cy="418"/>
            </a:xfrm>
          </p:grpSpPr>
          <p:grpSp>
            <p:nvGrpSpPr>
              <p:cNvPr id="289950" name="Group 256"/>
              <p:cNvGrpSpPr/>
              <p:nvPr/>
            </p:nvGrpSpPr>
            <p:grpSpPr>
              <a:xfrm>
                <a:off x="902" y="857"/>
                <a:ext cx="4567" cy="418"/>
                <a:chOff x="902" y="857"/>
                <a:chExt cx="4567" cy="418"/>
              </a:xfrm>
            </p:grpSpPr>
            <p:grpSp>
              <p:nvGrpSpPr>
                <p:cNvPr id="289955" name="Group 257"/>
                <p:cNvGrpSpPr/>
                <p:nvPr/>
              </p:nvGrpSpPr>
              <p:grpSpPr>
                <a:xfrm>
                  <a:off x="1152" y="1024"/>
                  <a:ext cx="4317" cy="251"/>
                  <a:chOff x="1176" y="1079"/>
                  <a:chExt cx="4317" cy="251"/>
                </a:xfrm>
              </p:grpSpPr>
              <p:sp>
                <p:nvSpPr>
                  <p:cNvPr id="289966" name="Rectangle 258"/>
                  <p:cNvSpPr/>
                  <p:nvPr/>
                </p:nvSpPr>
                <p:spPr>
                  <a:xfrm>
                    <a:off x="175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15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967" name="Rectangle 259"/>
                  <p:cNvSpPr/>
                  <p:nvPr/>
                </p:nvSpPr>
                <p:spPr>
                  <a:xfrm>
                    <a:off x="117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0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968" name="Rectangle 260"/>
                  <p:cNvSpPr/>
                  <p:nvPr/>
                </p:nvSpPr>
                <p:spPr>
                  <a:xfrm>
                    <a:off x="2892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31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969" name="Rectangle 261"/>
                  <p:cNvSpPr/>
                  <p:nvPr/>
                </p:nvSpPr>
                <p:spPr>
                  <a:xfrm>
                    <a:off x="231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16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970" name="Rectangle 262"/>
                  <p:cNvSpPr/>
                  <p:nvPr/>
                </p:nvSpPr>
                <p:spPr>
                  <a:xfrm>
                    <a:off x="4067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47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971" name="Rectangle 263"/>
                  <p:cNvSpPr/>
                  <p:nvPr/>
                </p:nvSpPr>
                <p:spPr>
                  <a:xfrm>
                    <a:off x="3491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32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972" name="Rectangle 264"/>
                  <p:cNvSpPr/>
                  <p:nvPr/>
                </p:nvSpPr>
                <p:spPr>
                  <a:xfrm>
                    <a:off x="5205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63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9973" name="Rectangle 265"/>
                  <p:cNvSpPr/>
                  <p:nvPr/>
                </p:nvSpPr>
                <p:spPr>
                  <a:xfrm>
                    <a:off x="4626" y="1079"/>
                    <a:ext cx="288" cy="251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38100" cap="flat" cmpd="sng">
                    <a:solidFill>
                      <a:schemeClr val="folHlink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rIns="0" anchor="ctr" anchorCtr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chemeClr val="bg2"/>
                        </a:solidFill>
                        <a:latin typeface="Times New Roman" panose="02020603050405020304" pitchFamily="18" charset="0"/>
                      </a:rPr>
                      <a:t>48</a:t>
                    </a:r>
                    <a:endParaRPr lang="en-US" altLang="zh-CN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89956" name="Group 266"/>
                <p:cNvGrpSpPr/>
                <p:nvPr/>
              </p:nvGrpSpPr>
              <p:grpSpPr>
                <a:xfrm>
                  <a:off x="902" y="857"/>
                  <a:ext cx="4419" cy="145"/>
                  <a:chOff x="902" y="857"/>
                  <a:chExt cx="4419" cy="145"/>
                </a:xfrm>
              </p:grpSpPr>
              <p:sp>
                <p:nvSpPr>
                  <p:cNvPr id="289957" name="Freeform 267"/>
                  <p:cNvSpPr/>
                  <p:nvPr/>
                </p:nvSpPr>
                <p:spPr>
                  <a:xfrm>
                    <a:off x="902" y="857"/>
                    <a:ext cx="4419" cy="1"/>
                  </a:xfrm>
                  <a:custGeom>
                    <a:avLst/>
                    <a:gdLst>
                      <a:gd name="txL" fmla="*/ 0 w 4419"/>
                      <a:gd name="txT" fmla="*/ 0 h 1"/>
                      <a:gd name="txR" fmla="*/ 4419 w 4419"/>
                      <a:gd name="txB" fmla="*/ 1 h 1"/>
                    </a:gdLst>
                    <a:ahLst/>
                    <a:cxnLst>
                      <a:cxn ang="0">
                        <a:pos x="0" y="1"/>
                      </a:cxn>
                      <a:cxn ang="0">
                        <a:pos x="4419" y="0"/>
                      </a:cxn>
                    </a:cxnLst>
                    <a:rect l="txL" t="txT" r="txR" b="txB"/>
                    <a:pathLst>
                      <a:path w="4419" h="1">
                        <a:moveTo>
                          <a:pt x="0" y="1"/>
                        </a:moveTo>
                        <a:lnTo>
                          <a:pt x="4419" y="0"/>
                        </a:lnTo>
                      </a:path>
                    </a:pathLst>
                  </a:custGeom>
                  <a:noFill/>
                  <a:ln w="7620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89958" name="Line 268"/>
                  <p:cNvSpPr/>
                  <p:nvPr/>
                </p:nvSpPr>
                <p:spPr>
                  <a:xfrm>
                    <a:off x="127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959" name="Line 269"/>
                  <p:cNvSpPr/>
                  <p:nvPr/>
                </p:nvSpPr>
                <p:spPr>
                  <a:xfrm>
                    <a:off x="184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960" name="Line 270"/>
                  <p:cNvSpPr/>
                  <p:nvPr/>
                </p:nvSpPr>
                <p:spPr>
                  <a:xfrm>
                    <a:off x="242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961" name="Line 271"/>
                  <p:cNvSpPr/>
                  <p:nvPr/>
                </p:nvSpPr>
                <p:spPr>
                  <a:xfrm>
                    <a:off x="3000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962" name="Line 272"/>
                  <p:cNvSpPr/>
                  <p:nvPr/>
                </p:nvSpPr>
                <p:spPr>
                  <a:xfrm>
                    <a:off x="3576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963" name="Line 273"/>
                  <p:cNvSpPr/>
                  <p:nvPr/>
                </p:nvSpPr>
                <p:spPr>
                  <a:xfrm>
                    <a:off x="4152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964" name="Line 274"/>
                  <p:cNvSpPr/>
                  <p:nvPr/>
                </p:nvSpPr>
                <p:spPr>
                  <a:xfrm>
                    <a:off x="4728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  <p:sp>
                <p:nvSpPr>
                  <p:cNvPr id="289965" name="Line 275"/>
                  <p:cNvSpPr/>
                  <p:nvPr/>
                </p:nvSpPr>
                <p:spPr>
                  <a:xfrm>
                    <a:off x="5304" y="858"/>
                    <a:ext cx="0" cy="144"/>
                  </a:xfrm>
                  <a:prstGeom prst="line">
                    <a:avLst/>
                  </a:prstGeom>
                  <a:ln w="76200" cap="flat" cmpd="sng">
                    <a:solidFill>
                      <a:schemeClr val="folHlink"/>
                    </a:solidFill>
                    <a:prstDash val="solid"/>
                    <a:headEnd type="oval" w="sm" len="sm"/>
                    <a:tailEnd type="none" w="med" len="med"/>
                  </a:ln>
                </p:spPr>
              </p:sp>
            </p:grpSp>
          </p:grpSp>
          <p:sp>
            <p:nvSpPr>
              <p:cNvPr id="289951" name="Text Box 276"/>
              <p:cNvSpPr txBox="1"/>
              <p:nvPr/>
            </p:nvSpPr>
            <p:spPr>
              <a:xfrm>
                <a:off x="140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52" name="Text Box 277"/>
              <p:cNvSpPr txBox="1"/>
              <p:nvPr/>
            </p:nvSpPr>
            <p:spPr>
              <a:xfrm>
                <a:off x="254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53" name="Text Box 278"/>
              <p:cNvSpPr txBox="1"/>
              <p:nvPr/>
            </p:nvSpPr>
            <p:spPr>
              <a:xfrm>
                <a:off x="3718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954" name="Text Box 279"/>
              <p:cNvSpPr txBox="1"/>
              <p:nvPr/>
            </p:nvSpPr>
            <p:spPr>
              <a:xfrm>
                <a:off x="4860" y="870"/>
                <a:ext cx="371" cy="35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9939" name="Group 280"/>
            <p:cNvGrpSpPr/>
            <p:nvPr/>
          </p:nvGrpSpPr>
          <p:grpSpPr>
            <a:xfrm>
              <a:off x="1946" y="3527"/>
              <a:ext cx="3812" cy="212"/>
              <a:chOff x="1946" y="3527"/>
              <a:chExt cx="3812" cy="212"/>
            </a:xfrm>
          </p:grpSpPr>
          <p:grpSp>
            <p:nvGrpSpPr>
              <p:cNvPr id="289940" name="Group 281"/>
              <p:cNvGrpSpPr/>
              <p:nvPr/>
            </p:nvGrpSpPr>
            <p:grpSpPr>
              <a:xfrm>
                <a:off x="1964" y="3737"/>
                <a:ext cx="3637" cy="0"/>
                <a:chOff x="1964" y="3737"/>
                <a:chExt cx="3637" cy="0"/>
              </a:xfrm>
            </p:grpSpPr>
            <p:sp>
              <p:nvSpPr>
                <p:cNvPr id="289946" name="Line 282"/>
                <p:cNvSpPr/>
                <p:nvPr/>
              </p:nvSpPr>
              <p:spPr>
                <a:xfrm>
                  <a:off x="1964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9947" name="Line 283"/>
                <p:cNvSpPr/>
                <p:nvPr/>
              </p:nvSpPr>
              <p:spPr>
                <a:xfrm>
                  <a:off x="3144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9948" name="Line 284"/>
                <p:cNvSpPr/>
                <p:nvPr/>
              </p:nvSpPr>
              <p:spPr>
                <a:xfrm>
                  <a:off x="4293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  <p:sp>
              <p:nvSpPr>
                <p:cNvPr id="289949" name="Line 285"/>
                <p:cNvSpPr/>
                <p:nvPr/>
              </p:nvSpPr>
              <p:spPr>
                <a:xfrm>
                  <a:off x="5420" y="3737"/>
                  <a:ext cx="181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stealth" w="sm" len="sm"/>
                  <a:tailEnd type="stealth" w="sm" len="sm"/>
                </a:ln>
              </p:spPr>
            </p:sp>
          </p:grpSp>
          <p:grpSp>
            <p:nvGrpSpPr>
              <p:cNvPr id="289941" name="Group 286"/>
              <p:cNvGrpSpPr/>
              <p:nvPr/>
            </p:nvGrpSpPr>
            <p:grpSpPr>
              <a:xfrm>
                <a:off x="1946" y="3527"/>
                <a:ext cx="3812" cy="212"/>
                <a:chOff x="1946" y="3527"/>
                <a:chExt cx="3812" cy="212"/>
              </a:xfrm>
            </p:grpSpPr>
            <p:sp>
              <p:nvSpPr>
                <p:cNvPr id="289942" name="Text Box 287"/>
                <p:cNvSpPr txBox="1"/>
                <p:nvPr/>
              </p:nvSpPr>
              <p:spPr>
                <a:xfrm>
                  <a:off x="1946" y="3527"/>
                  <a:ext cx="34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1</a:t>
                  </a:r>
                  <a:endPara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943" name="Text Box 288"/>
                <p:cNvSpPr txBox="1"/>
                <p:nvPr/>
              </p:nvSpPr>
              <p:spPr>
                <a:xfrm>
                  <a:off x="3106" y="3527"/>
                  <a:ext cx="34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2</a:t>
                  </a:r>
                  <a:endPara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944" name="Text Box 289"/>
                <p:cNvSpPr txBox="1"/>
                <p:nvPr/>
              </p:nvSpPr>
              <p:spPr>
                <a:xfrm>
                  <a:off x="4258" y="3527"/>
                  <a:ext cx="34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3</a:t>
                  </a:r>
                  <a:endPara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945" name="Text Box 290"/>
                <p:cNvSpPr txBox="1"/>
                <p:nvPr/>
              </p:nvSpPr>
              <p:spPr>
                <a:xfrm>
                  <a:off x="5416" y="3527"/>
                  <a:ext cx="342" cy="21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6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I/O</a:t>
                  </a:r>
                  <a:r>
                    <a:rPr lang="en-US" altLang="zh-CN" sz="1600" b="1" baseline="-25000" dirty="0">
                      <a:solidFill>
                        <a:schemeClr val="folHlink"/>
                      </a:solidFill>
                      <a:latin typeface="Times New Roman" panose="02020603050405020304" pitchFamily="18" charset="0"/>
                    </a:rPr>
                    <a:t>4</a:t>
                  </a:r>
                  <a:endParaRPr lang="en-US" altLang="zh-CN" sz="1600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289800" name="Group 291"/>
          <p:cNvGrpSpPr/>
          <p:nvPr/>
        </p:nvGrpSpPr>
        <p:grpSpPr>
          <a:xfrm>
            <a:off x="3192463" y="1903413"/>
            <a:ext cx="6977062" cy="4210050"/>
            <a:chOff x="1051" y="1199"/>
            <a:chExt cx="4395" cy="2652"/>
          </a:xfrm>
        </p:grpSpPr>
        <p:grpSp>
          <p:nvGrpSpPr>
            <p:cNvPr id="289895" name="Group 292"/>
            <p:cNvGrpSpPr/>
            <p:nvPr/>
          </p:nvGrpSpPr>
          <p:grpSpPr>
            <a:xfrm>
              <a:off x="1142" y="3590"/>
              <a:ext cx="4304" cy="261"/>
              <a:chOff x="1142" y="3590"/>
              <a:chExt cx="4304" cy="261"/>
            </a:xfrm>
          </p:grpSpPr>
          <p:grpSp>
            <p:nvGrpSpPr>
              <p:cNvPr id="289926" name="Group 293"/>
              <p:cNvGrpSpPr/>
              <p:nvPr/>
            </p:nvGrpSpPr>
            <p:grpSpPr>
              <a:xfrm>
                <a:off x="1142" y="3590"/>
                <a:ext cx="823" cy="240"/>
                <a:chOff x="1142" y="3590"/>
                <a:chExt cx="823" cy="240"/>
              </a:xfrm>
            </p:grpSpPr>
            <p:sp>
              <p:nvSpPr>
                <p:cNvPr id="289936" name="Rectangle 294"/>
                <p:cNvSpPr/>
                <p:nvPr/>
              </p:nvSpPr>
              <p:spPr>
                <a:xfrm>
                  <a:off x="1142" y="3598"/>
                  <a:ext cx="823" cy="232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37" name="Text Box 295"/>
                <p:cNvSpPr txBox="1"/>
                <p:nvPr/>
              </p:nvSpPr>
              <p:spPr>
                <a:xfrm>
                  <a:off x="1200" y="3590"/>
                  <a:ext cx="755" cy="18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9927" name="Group 296"/>
              <p:cNvGrpSpPr/>
              <p:nvPr/>
            </p:nvGrpSpPr>
            <p:grpSpPr>
              <a:xfrm>
                <a:off x="2318" y="3598"/>
                <a:ext cx="823" cy="232"/>
                <a:chOff x="2318" y="3598"/>
                <a:chExt cx="823" cy="232"/>
              </a:xfrm>
            </p:grpSpPr>
            <p:sp>
              <p:nvSpPr>
                <p:cNvPr id="289934" name="Rectangle 297"/>
                <p:cNvSpPr/>
                <p:nvPr/>
              </p:nvSpPr>
              <p:spPr>
                <a:xfrm>
                  <a:off x="2318" y="3598"/>
                  <a:ext cx="823" cy="232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35" name="Text Box 298"/>
                <p:cNvSpPr txBox="1"/>
                <p:nvPr/>
              </p:nvSpPr>
              <p:spPr>
                <a:xfrm>
                  <a:off x="2352" y="3600"/>
                  <a:ext cx="755" cy="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9928" name="Group 299"/>
              <p:cNvGrpSpPr/>
              <p:nvPr/>
            </p:nvGrpSpPr>
            <p:grpSpPr>
              <a:xfrm>
                <a:off x="3470" y="3598"/>
                <a:ext cx="823" cy="232"/>
                <a:chOff x="3470" y="3598"/>
                <a:chExt cx="823" cy="232"/>
              </a:xfrm>
            </p:grpSpPr>
            <p:sp>
              <p:nvSpPr>
                <p:cNvPr id="289932" name="Rectangle 300"/>
                <p:cNvSpPr/>
                <p:nvPr/>
              </p:nvSpPr>
              <p:spPr>
                <a:xfrm>
                  <a:off x="3470" y="3598"/>
                  <a:ext cx="823" cy="232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33" name="Text Box 301"/>
                <p:cNvSpPr txBox="1"/>
                <p:nvPr/>
              </p:nvSpPr>
              <p:spPr>
                <a:xfrm>
                  <a:off x="3504" y="3600"/>
                  <a:ext cx="755" cy="1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89929" name="Group 302"/>
              <p:cNvGrpSpPr/>
              <p:nvPr/>
            </p:nvGrpSpPr>
            <p:grpSpPr>
              <a:xfrm>
                <a:off x="4623" y="3598"/>
                <a:ext cx="823" cy="253"/>
                <a:chOff x="4623" y="3598"/>
                <a:chExt cx="823" cy="253"/>
              </a:xfrm>
            </p:grpSpPr>
            <p:sp>
              <p:nvSpPr>
                <p:cNvPr id="289930" name="Rectangle 303"/>
                <p:cNvSpPr/>
                <p:nvPr/>
              </p:nvSpPr>
              <p:spPr>
                <a:xfrm>
                  <a:off x="4623" y="3598"/>
                  <a:ext cx="823" cy="232"/>
                </a:xfrm>
                <a:prstGeom prst="rect">
                  <a:avLst/>
                </a:pr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anchor="ctr" anchorCtr="0">
                  <a:spAutoFit/>
                </a:bodyPr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31" name="Text Box 304"/>
                <p:cNvSpPr txBox="1"/>
                <p:nvPr/>
              </p:nvSpPr>
              <p:spPr>
                <a:xfrm>
                  <a:off x="4656" y="3600"/>
                  <a:ext cx="75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solidFill>
                        <a:schemeClr val="bg2"/>
                      </a:solidFill>
                      <a:latin typeface="Times New Roman" panose="02020603050405020304" pitchFamily="18" charset="0"/>
                    </a:rPr>
                    <a:t>读写电路</a:t>
                  </a:r>
                  <a:endPara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89896" name="Group 305"/>
            <p:cNvGrpSpPr/>
            <p:nvPr/>
          </p:nvGrpSpPr>
          <p:grpSpPr>
            <a:xfrm>
              <a:off x="1055" y="2736"/>
              <a:ext cx="4225" cy="816"/>
              <a:chOff x="1055" y="2736"/>
              <a:chExt cx="4225" cy="816"/>
            </a:xfrm>
          </p:grpSpPr>
          <p:grpSp>
            <p:nvGrpSpPr>
              <p:cNvPr id="289916" name="Group 306"/>
              <p:cNvGrpSpPr/>
              <p:nvPr/>
            </p:nvGrpSpPr>
            <p:grpSpPr>
              <a:xfrm>
                <a:off x="1391" y="2736"/>
                <a:ext cx="3889" cy="816"/>
                <a:chOff x="1391" y="2736"/>
                <a:chExt cx="3889" cy="816"/>
              </a:xfrm>
            </p:grpSpPr>
            <p:sp>
              <p:nvSpPr>
                <p:cNvPr id="289922" name="Freeform 307"/>
                <p:cNvSpPr/>
                <p:nvPr/>
              </p:nvSpPr>
              <p:spPr>
                <a:xfrm>
                  <a:off x="1391" y="2736"/>
                  <a:ext cx="432" cy="816"/>
                </a:xfrm>
                <a:custGeom>
                  <a:avLst/>
                  <a:gdLst>
                    <a:gd name="txL" fmla="*/ 0 w 432"/>
                    <a:gd name="txT" fmla="*/ 0 h 816"/>
                    <a:gd name="txR" fmla="*/ 432 w 432"/>
                    <a:gd name="txB" fmla="*/ 816 h 816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576"/>
                    </a:cxn>
                    <a:cxn ang="0">
                      <a:pos x="432" y="576"/>
                    </a:cxn>
                    <a:cxn ang="0">
                      <a:pos x="432" y="816"/>
                    </a:cxn>
                  </a:cxnLst>
                  <a:rect l="txL" t="txT" r="txR" b="txB"/>
                  <a:pathLst>
                    <a:path w="432" h="816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576"/>
                      </a:lnTo>
                      <a:lnTo>
                        <a:pt x="432" y="576"/>
                      </a:lnTo>
                      <a:lnTo>
                        <a:pt x="432" y="816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23" name="Freeform 308"/>
                <p:cNvSpPr/>
                <p:nvPr/>
              </p:nvSpPr>
              <p:spPr>
                <a:xfrm>
                  <a:off x="4848" y="2736"/>
                  <a:ext cx="432" cy="816"/>
                </a:xfrm>
                <a:custGeom>
                  <a:avLst/>
                  <a:gdLst>
                    <a:gd name="txL" fmla="*/ 0 w 432"/>
                    <a:gd name="txT" fmla="*/ 0 h 816"/>
                    <a:gd name="txR" fmla="*/ 432 w 432"/>
                    <a:gd name="txB" fmla="*/ 816 h 816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576"/>
                    </a:cxn>
                    <a:cxn ang="0">
                      <a:pos x="432" y="576"/>
                    </a:cxn>
                    <a:cxn ang="0">
                      <a:pos x="432" y="816"/>
                    </a:cxn>
                  </a:cxnLst>
                  <a:rect l="txL" t="txT" r="txR" b="txB"/>
                  <a:pathLst>
                    <a:path w="432" h="816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576"/>
                      </a:lnTo>
                      <a:lnTo>
                        <a:pt x="432" y="576"/>
                      </a:lnTo>
                      <a:lnTo>
                        <a:pt x="432" y="816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24" name="Freeform 309"/>
                <p:cNvSpPr/>
                <p:nvPr/>
              </p:nvSpPr>
              <p:spPr>
                <a:xfrm>
                  <a:off x="3696" y="2736"/>
                  <a:ext cx="432" cy="816"/>
                </a:xfrm>
                <a:custGeom>
                  <a:avLst/>
                  <a:gdLst>
                    <a:gd name="txL" fmla="*/ 0 w 432"/>
                    <a:gd name="txT" fmla="*/ 0 h 816"/>
                    <a:gd name="txR" fmla="*/ 432 w 432"/>
                    <a:gd name="txB" fmla="*/ 816 h 816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576"/>
                    </a:cxn>
                    <a:cxn ang="0">
                      <a:pos x="432" y="576"/>
                    </a:cxn>
                    <a:cxn ang="0">
                      <a:pos x="432" y="816"/>
                    </a:cxn>
                  </a:cxnLst>
                  <a:rect l="txL" t="txT" r="txR" b="txB"/>
                  <a:pathLst>
                    <a:path w="432" h="816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576"/>
                      </a:lnTo>
                      <a:lnTo>
                        <a:pt x="432" y="576"/>
                      </a:lnTo>
                      <a:lnTo>
                        <a:pt x="432" y="816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25" name="Freeform 310"/>
                <p:cNvSpPr/>
                <p:nvPr/>
              </p:nvSpPr>
              <p:spPr>
                <a:xfrm>
                  <a:off x="2542" y="2736"/>
                  <a:ext cx="432" cy="816"/>
                </a:xfrm>
                <a:custGeom>
                  <a:avLst/>
                  <a:gdLst>
                    <a:gd name="txL" fmla="*/ 0 w 432"/>
                    <a:gd name="txT" fmla="*/ 0 h 816"/>
                    <a:gd name="txR" fmla="*/ 432 w 432"/>
                    <a:gd name="txB" fmla="*/ 816 h 816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576"/>
                    </a:cxn>
                    <a:cxn ang="0">
                      <a:pos x="432" y="576"/>
                    </a:cxn>
                    <a:cxn ang="0">
                      <a:pos x="432" y="816"/>
                    </a:cxn>
                  </a:cxnLst>
                  <a:rect l="txL" t="txT" r="txR" b="txB"/>
                  <a:pathLst>
                    <a:path w="432" h="816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576"/>
                      </a:lnTo>
                      <a:lnTo>
                        <a:pt x="432" y="576"/>
                      </a:lnTo>
                      <a:lnTo>
                        <a:pt x="432" y="816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89917" name="Group 311"/>
              <p:cNvGrpSpPr/>
              <p:nvPr/>
            </p:nvGrpSpPr>
            <p:grpSpPr>
              <a:xfrm>
                <a:off x="1055" y="2748"/>
                <a:ext cx="3750" cy="804"/>
                <a:chOff x="1055" y="2748"/>
                <a:chExt cx="3750" cy="804"/>
              </a:xfrm>
            </p:grpSpPr>
            <p:sp>
              <p:nvSpPr>
                <p:cNvPr id="289918" name="Freeform 312"/>
                <p:cNvSpPr/>
                <p:nvPr/>
              </p:nvSpPr>
              <p:spPr>
                <a:xfrm>
                  <a:off x="1055" y="2748"/>
                  <a:ext cx="280" cy="795"/>
                </a:xfrm>
                <a:custGeom>
                  <a:avLst/>
                  <a:gdLst>
                    <a:gd name="txL" fmla="*/ 0 w 280"/>
                    <a:gd name="txT" fmla="*/ 0 h 795"/>
                    <a:gd name="txR" fmla="*/ 280 w 280"/>
                    <a:gd name="txB" fmla="*/ 795 h 795"/>
                  </a:gdLst>
                  <a:ahLst/>
                  <a:cxnLst>
                    <a:cxn ang="0">
                      <a:pos x="276" y="795"/>
                    </a:cxn>
                    <a:cxn ang="0">
                      <a:pos x="280" y="657"/>
                    </a:cxn>
                    <a:cxn ang="0">
                      <a:pos x="0" y="660"/>
                    </a:cxn>
                    <a:cxn ang="0">
                      <a:pos x="3" y="0"/>
                    </a:cxn>
                    <a:cxn ang="0">
                      <a:pos x="144" y="0"/>
                    </a:cxn>
                  </a:cxnLst>
                  <a:rect l="txL" t="txT" r="txR" b="txB"/>
                  <a:pathLst>
                    <a:path w="280" h="795">
                      <a:moveTo>
                        <a:pt x="276" y="795"/>
                      </a:moveTo>
                      <a:lnTo>
                        <a:pt x="280" y="657"/>
                      </a:lnTo>
                      <a:lnTo>
                        <a:pt x="0" y="660"/>
                      </a:lnTo>
                      <a:lnTo>
                        <a:pt x="3" y="0"/>
                      </a:lnTo>
                      <a:lnTo>
                        <a:pt x="144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19" name="Freeform 313"/>
                <p:cNvSpPr/>
                <p:nvPr/>
              </p:nvSpPr>
              <p:spPr>
                <a:xfrm>
                  <a:off x="2207" y="2757"/>
                  <a:ext cx="294" cy="795"/>
                </a:xfrm>
                <a:custGeom>
                  <a:avLst/>
                  <a:gdLst>
                    <a:gd name="txL" fmla="*/ 0 w 294"/>
                    <a:gd name="txT" fmla="*/ 0 h 795"/>
                    <a:gd name="txR" fmla="*/ 294 w 294"/>
                    <a:gd name="txB" fmla="*/ 795 h 795"/>
                  </a:gdLst>
                  <a:ahLst/>
                  <a:cxnLst>
                    <a:cxn ang="0">
                      <a:pos x="294" y="795"/>
                    </a:cxn>
                    <a:cxn ang="0">
                      <a:pos x="294" y="657"/>
                    </a:cxn>
                    <a:cxn ang="0">
                      <a:pos x="0" y="657"/>
                    </a:cxn>
                    <a:cxn ang="0">
                      <a:pos x="3" y="0"/>
                    </a:cxn>
                    <a:cxn ang="0">
                      <a:pos x="144" y="0"/>
                    </a:cxn>
                  </a:cxnLst>
                  <a:rect l="txL" t="txT" r="txR" b="txB"/>
                  <a:pathLst>
                    <a:path w="294" h="795">
                      <a:moveTo>
                        <a:pt x="294" y="795"/>
                      </a:moveTo>
                      <a:lnTo>
                        <a:pt x="294" y="657"/>
                      </a:lnTo>
                      <a:lnTo>
                        <a:pt x="0" y="657"/>
                      </a:lnTo>
                      <a:lnTo>
                        <a:pt x="3" y="0"/>
                      </a:lnTo>
                      <a:lnTo>
                        <a:pt x="144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20" name="Freeform 314"/>
                <p:cNvSpPr/>
                <p:nvPr/>
              </p:nvSpPr>
              <p:spPr>
                <a:xfrm>
                  <a:off x="3359" y="2757"/>
                  <a:ext cx="294" cy="795"/>
                </a:xfrm>
                <a:custGeom>
                  <a:avLst/>
                  <a:gdLst>
                    <a:gd name="txL" fmla="*/ 0 w 294"/>
                    <a:gd name="txT" fmla="*/ 0 h 795"/>
                    <a:gd name="txR" fmla="*/ 294 w 294"/>
                    <a:gd name="txB" fmla="*/ 795 h 795"/>
                  </a:gdLst>
                  <a:ahLst/>
                  <a:cxnLst>
                    <a:cxn ang="0">
                      <a:pos x="294" y="795"/>
                    </a:cxn>
                    <a:cxn ang="0">
                      <a:pos x="294" y="657"/>
                    </a:cxn>
                    <a:cxn ang="0">
                      <a:pos x="0" y="657"/>
                    </a:cxn>
                    <a:cxn ang="0">
                      <a:pos x="3" y="0"/>
                    </a:cxn>
                    <a:cxn ang="0">
                      <a:pos x="144" y="0"/>
                    </a:cxn>
                  </a:cxnLst>
                  <a:rect l="txL" t="txT" r="txR" b="txB"/>
                  <a:pathLst>
                    <a:path w="294" h="795">
                      <a:moveTo>
                        <a:pt x="294" y="795"/>
                      </a:moveTo>
                      <a:lnTo>
                        <a:pt x="294" y="657"/>
                      </a:lnTo>
                      <a:lnTo>
                        <a:pt x="0" y="657"/>
                      </a:lnTo>
                      <a:lnTo>
                        <a:pt x="3" y="0"/>
                      </a:lnTo>
                      <a:lnTo>
                        <a:pt x="144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21" name="Freeform 315"/>
                <p:cNvSpPr/>
                <p:nvPr/>
              </p:nvSpPr>
              <p:spPr>
                <a:xfrm>
                  <a:off x="4511" y="2757"/>
                  <a:ext cx="294" cy="795"/>
                </a:xfrm>
                <a:custGeom>
                  <a:avLst/>
                  <a:gdLst>
                    <a:gd name="txL" fmla="*/ 0 w 294"/>
                    <a:gd name="txT" fmla="*/ 0 h 795"/>
                    <a:gd name="txR" fmla="*/ 294 w 294"/>
                    <a:gd name="txB" fmla="*/ 795 h 795"/>
                  </a:gdLst>
                  <a:ahLst/>
                  <a:cxnLst>
                    <a:cxn ang="0">
                      <a:pos x="294" y="795"/>
                    </a:cxn>
                    <a:cxn ang="0">
                      <a:pos x="294" y="657"/>
                    </a:cxn>
                    <a:cxn ang="0">
                      <a:pos x="0" y="657"/>
                    </a:cxn>
                    <a:cxn ang="0">
                      <a:pos x="3" y="0"/>
                    </a:cxn>
                    <a:cxn ang="0">
                      <a:pos x="144" y="0"/>
                    </a:cxn>
                  </a:cxnLst>
                  <a:rect l="txL" t="txT" r="txR" b="txB"/>
                  <a:pathLst>
                    <a:path w="294" h="795">
                      <a:moveTo>
                        <a:pt x="294" y="795"/>
                      </a:moveTo>
                      <a:lnTo>
                        <a:pt x="294" y="657"/>
                      </a:lnTo>
                      <a:lnTo>
                        <a:pt x="0" y="657"/>
                      </a:lnTo>
                      <a:lnTo>
                        <a:pt x="3" y="0"/>
                      </a:lnTo>
                      <a:lnTo>
                        <a:pt x="144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89897" name="Group 316"/>
            <p:cNvGrpSpPr/>
            <p:nvPr/>
          </p:nvGrpSpPr>
          <p:grpSpPr>
            <a:xfrm>
              <a:off x="1051" y="1199"/>
              <a:ext cx="3953" cy="1485"/>
              <a:chOff x="1051" y="1199"/>
              <a:chExt cx="3953" cy="1485"/>
            </a:xfrm>
          </p:grpSpPr>
          <p:grpSp>
            <p:nvGrpSpPr>
              <p:cNvPr id="289898" name="Group 317"/>
              <p:cNvGrpSpPr/>
              <p:nvPr/>
            </p:nvGrpSpPr>
            <p:grpSpPr>
              <a:xfrm>
                <a:off x="1051" y="2355"/>
                <a:ext cx="3942" cy="5"/>
                <a:chOff x="1051" y="2355"/>
                <a:chExt cx="3942" cy="5"/>
              </a:xfrm>
            </p:grpSpPr>
            <p:sp>
              <p:nvSpPr>
                <p:cNvPr id="289908" name="Freeform 318"/>
                <p:cNvSpPr/>
                <p:nvPr/>
              </p:nvSpPr>
              <p:spPr>
                <a:xfrm>
                  <a:off x="1430" y="2359"/>
                  <a:ext cx="112" cy="1"/>
                </a:xfrm>
                <a:custGeom>
                  <a:avLst/>
                  <a:gdLst>
                    <a:gd name="txL" fmla="*/ 0 w 112"/>
                    <a:gd name="txT" fmla="*/ 0 h 1"/>
                    <a:gd name="txR" fmla="*/ 112 w 11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12" y="0"/>
                    </a:cxn>
                  </a:cxnLst>
                  <a:rect l="txL" t="txT" r="txR" b="txB"/>
                  <a:pathLst>
                    <a:path w="112" h="1">
                      <a:moveTo>
                        <a:pt x="0" y="0"/>
                      </a:moveTo>
                      <a:lnTo>
                        <a:pt x="112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09" name="Freeform 319"/>
                <p:cNvSpPr/>
                <p:nvPr/>
              </p:nvSpPr>
              <p:spPr>
                <a:xfrm>
                  <a:off x="1051" y="2359"/>
                  <a:ext cx="102" cy="1"/>
                </a:xfrm>
                <a:custGeom>
                  <a:avLst/>
                  <a:gdLst>
                    <a:gd name="txL" fmla="*/ 0 w 102"/>
                    <a:gd name="txT" fmla="*/ 0 h 1"/>
                    <a:gd name="txR" fmla="*/ 102 w 102"/>
                    <a:gd name="txB" fmla="*/ 1 h 1"/>
                  </a:gdLst>
                  <a:ahLst/>
                  <a:cxnLst>
                    <a:cxn ang="0">
                      <a:pos x="102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02" h="1">
                      <a:moveTo>
                        <a:pt x="102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10" name="Freeform 320"/>
                <p:cNvSpPr/>
                <p:nvPr/>
              </p:nvSpPr>
              <p:spPr>
                <a:xfrm>
                  <a:off x="2582" y="2359"/>
                  <a:ext cx="109" cy="1"/>
                </a:xfrm>
                <a:custGeom>
                  <a:avLst/>
                  <a:gdLst>
                    <a:gd name="txL" fmla="*/ 0 w 109"/>
                    <a:gd name="txT" fmla="*/ 0 h 1"/>
                    <a:gd name="txR" fmla="*/ 109 w 109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09" y="0"/>
                    </a:cxn>
                  </a:cxnLst>
                  <a:rect l="txL" t="txT" r="txR" b="txB"/>
                  <a:pathLst>
                    <a:path w="109" h="1">
                      <a:moveTo>
                        <a:pt x="0" y="0"/>
                      </a:moveTo>
                      <a:lnTo>
                        <a:pt x="109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11" name="Freeform 321"/>
                <p:cNvSpPr/>
                <p:nvPr/>
              </p:nvSpPr>
              <p:spPr>
                <a:xfrm>
                  <a:off x="2203" y="2359"/>
                  <a:ext cx="89" cy="1"/>
                </a:xfrm>
                <a:custGeom>
                  <a:avLst/>
                  <a:gdLst>
                    <a:gd name="txL" fmla="*/ 0 w 89"/>
                    <a:gd name="txT" fmla="*/ 0 h 1"/>
                    <a:gd name="txR" fmla="*/ 89 w 89"/>
                    <a:gd name="txB" fmla="*/ 1 h 1"/>
                  </a:gdLst>
                  <a:ahLst/>
                  <a:cxnLst>
                    <a:cxn ang="0">
                      <a:pos x="89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89" h="1">
                      <a:moveTo>
                        <a:pt x="89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12" name="Freeform 322"/>
                <p:cNvSpPr/>
                <p:nvPr/>
              </p:nvSpPr>
              <p:spPr>
                <a:xfrm>
                  <a:off x="3749" y="2355"/>
                  <a:ext cx="99" cy="3"/>
                </a:xfrm>
                <a:custGeom>
                  <a:avLst/>
                  <a:gdLst>
                    <a:gd name="txL" fmla="*/ 0 w 99"/>
                    <a:gd name="txT" fmla="*/ 0 h 3"/>
                    <a:gd name="txR" fmla="*/ 99 w 99"/>
                    <a:gd name="txB" fmla="*/ 3 h 3"/>
                  </a:gdLst>
                  <a:ahLst/>
                  <a:cxnLst>
                    <a:cxn ang="0">
                      <a:pos x="0" y="3"/>
                    </a:cxn>
                    <a:cxn ang="0">
                      <a:pos x="99" y="0"/>
                    </a:cxn>
                  </a:cxnLst>
                  <a:rect l="txL" t="txT" r="txR" b="txB"/>
                  <a:pathLst>
                    <a:path w="99" h="3">
                      <a:moveTo>
                        <a:pt x="0" y="3"/>
                      </a:moveTo>
                      <a:lnTo>
                        <a:pt x="99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13" name="Freeform 323"/>
                <p:cNvSpPr/>
                <p:nvPr/>
              </p:nvSpPr>
              <p:spPr>
                <a:xfrm>
                  <a:off x="3355" y="2359"/>
                  <a:ext cx="108" cy="1"/>
                </a:xfrm>
                <a:custGeom>
                  <a:avLst/>
                  <a:gdLst>
                    <a:gd name="txL" fmla="*/ 0 w 108"/>
                    <a:gd name="txT" fmla="*/ 0 h 1"/>
                    <a:gd name="txR" fmla="*/ 108 w 108"/>
                    <a:gd name="txB" fmla="*/ 1 h 1"/>
                  </a:gdLst>
                  <a:ahLst/>
                  <a:cxnLst>
                    <a:cxn ang="0">
                      <a:pos x="108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08" h="1">
                      <a:moveTo>
                        <a:pt x="108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14" name="Freeform 324"/>
                <p:cNvSpPr/>
                <p:nvPr/>
              </p:nvSpPr>
              <p:spPr>
                <a:xfrm>
                  <a:off x="4886" y="2359"/>
                  <a:ext cx="107" cy="1"/>
                </a:xfrm>
                <a:custGeom>
                  <a:avLst/>
                  <a:gdLst>
                    <a:gd name="txL" fmla="*/ 0 w 107"/>
                    <a:gd name="txT" fmla="*/ 0 h 1"/>
                    <a:gd name="txR" fmla="*/ 107 w 107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07" y="0"/>
                    </a:cxn>
                  </a:cxnLst>
                  <a:rect l="txL" t="txT" r="txR" b="txB"/>
                  <a:pathLst>
                    <a:path w="107" h="1">
                      <a:moveTo>
                        <a:pt x="0" y="0"/>
                      </a:moveTo>
                      <a:lnTo>
                        <a:pt x="107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15" name="Freeform 325"/>
                <p:cNvSpPr/>
                <p:nvPr/>
              </p:nvSpPr>
              <p:spPr>
                <a:xfrm>
                  <a:off x="4507" y="2359"/>
                  <a:ext cx="96" cy="1"/>
                </a:xfrm>
                <a:custGeom>
                  <a:avLst/>
                  <a:gdLst>
                    <a:gd name="txL" fmla="*/ 0 w 96"/>
                    <a:gd name="txT" fmla="*/ 0 h 1"/>
                    <a:gd name="txR" fmla="*/ 96 w 96"/>
                    <a:gd name="txB" fmla="*/ 1 h 1"/>
                  </a:gdLst>
                  <a:ahLst/>
                  <a:cxnLst>
                    <a:cxn ang="0">
                      <a:pos x="96" y="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96" h="1">
                      <a:moveTo>
                        <a:pt x="9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89899" name="Group 326"/>
              <p:cNvGrpSpPr/>
              <p:nvPr/>
            </p:nvGrpSpPr>
            <p:grpSpPr>
              <a:xfrm>
                <a:off x="1055" y="1215"/>
                <a:ext cx="3608" cy="1469"/>
                <a:chOff x="1055" y="1215"/>
                <a:chExt cx="3608" cy="1469"/>
              </a:xfrm>
            </p:grpSpPr>
            <p:sp>
              <p:nvSpPr>
                <p:cNvPr id="289904" name="Freeform 327"/>
                <p:cNvSpPr/>
                <p:nvPr/>
              </p:nvSpPr>
              <p:spPr>
                <a:xfrm>
                  <a:off x="1055" y="1215"/>
                  <a:ext cx="152" cy="1469"/>
                </a:xfrm>
                <a:custGeom>
                  <a:avLst/>
                  <a:gdLst>
                    <a:gd name="txL" fmla="*/ 0 w 152"/>
                    <a:gd name="txT" fmla="*/ 0 h 1469"/>
                    <a:gd name="txR" fmla="*/ 152 w 152"/>
                    <a:gd name="txB" fmla="*/ 1469 h 1469"/>
                  </a:gdLst>
                  <a:ahLst/>
                  <a:cxnLst>
                    <a:cxn ang="0">
                      <a:pos x="152" y="1469"/>
                    </a:cxn>
                    <a:cxn ang="0">
                      <a:pos x="0" y="1469"/>
                    </a:cxn>
                    <a:cxn ang="0">
                      <a:pos x="4" y="0"/>
                    </a:cxn>
                    <a:cxn ang="0">
                      <a:pos x="95" y="1"/>
                    </a:cxn>
                  </a:cxnLst>
                  <a:rect l="txL" t="txT" r="txR" b="txB"/>
                  <a:pathLst>
                    <a:path w="152" h="1469">
                      <a:moveTo>
                        <a:pt x="152" y="1469"/>
                      </a:moveTo>
                      <a:lnTo>
                        <a:pt x="0" y="1469"/>
                      </a:lnTo>
                      <a:lnTo>
                        <a:pt x="4" y="0"/>
                      </a:lnTo>
                      <a:lnTo>
                        <a:pt x="95" y="1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05" name="Freeform 328"/>
                <p:cNvSpPr/>
                <p:nvPr/>
              </p:nvSpPr>
              <p:spPr>
                <a:xfrm>
                  <a:off x="2207" y="1217"/>
                  <a:ext cx="152" cy="1467"/>
                </a:xfrm>
                <a:custGeom>
                  <a:avLst/>
                  <a:gdLst>
                    <a:gd name="txL" fmla="*/ 0 w 152"/>
                    <a:gd name="txT" fmla="*/ 0 h 1467"/>
                    <a:gd name="txR" fmla="*/ 152 w 152"/>
                    <a:gd name="txB" fmla="*/ 1467 h 1467"/>
                  </a:gdLst>
                  <a:ahLst/>
                  <a:cxnLst>
                    <a:cxn ang="0">
                      <a:pos x="152" y="1467"/>
                    </a:cxn>
                    <a:cxn ang="0">
                      <a:pos x="0" y="1467"/>
                    </a:cxn>
                    <a:cxn ang="0">
                      <a:pos x="1" y="1"/>
                    </a:cxn>
                    <a:cxn ang="0">
                      <a:pos x="86" y="0"/>
                    </a:cxn>
                  </a:cxnLst>
                  <a:rect l="txL" t="txT" r="txR" b="txB"/>
                  <a:pathLst>
                    <a:path w="152" h="1467">
                      <a:moveTo>
                        <a:pt x="152" y="1467"/>
                      </a:moveTo>
                      <a:lnTo>
                        <a:pt x="0" y="1467"/>
                      </a:lnTo>
                      <a:lnTo>
                        <a:pt x="1" y="1"/>
                      </a:lnTo>
                      <a:lnTo>
                        <a:pt x="86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06" name="Freeform 329"/>
                <p:cNvSpPr/>
                <p:nvPr/>
              </p:nvSpPr>
              <p:spPr>
                <a:xfrm>
                  <a:off x="3359" y="1218"/>
                  <a:ext cx="152" cy="1466"/>
                </a:xfrm>
                <a:custGeom>
                  <a:avLst/>
                  <a:gdLst>
                    <a:gd name="txL" fmla="*/ 0 w 152"/>
                    <a:gd name="txT" fmla="*/ 0 h 1466"/>
                    <a:gd name="txR" fmla="*/ 152 w 152"/>
                    <a:gd name="txB" fmla="*/ 1466 h 1466"/>
                  </a:gdLst>
                  <a:ahLst/>
                  <a:cxnLst>
                    <a:cxn ang="0">
                      <a:pos x="152" y="1466"/>
                    </a:cxn>
                    <a:cxn ang="0">
                      <a:pos x="0" y="1466"/>
                    </a:cxn>
                    <a:cxn ang="0">
                      <a:pos x="1" y="0"/>
                    </a:cxn>
                    <a:cxn ang="0">
                      <a:pos x="109" y="0"/>
                    </a:cxn>
                  </a:cxnLst>
                  <a:rect l="txL" t="txT" r="txR" b="txB"/>
                  <a:pathLst>
                    <a:path w="152" h="1466">
                      <a:moveTo>
                        <a:pt x="152" y="1466"/>
                      </a:moveTo>
                      <a:lnTo>
                        <a:pt x="0" y="1466"/>
                      </a:lnTo>
                      <a:lnTo>
                        <a:pt x="1" y="0"/>
                      </a:lnTo>
                      <a:lnTo>
                        <a:pt x="109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907" name="Freeform 330"/>
                <p:cNvSpPr/>
                <p:nvPr/>
              </p:nvSpPr>
              <p:spPr>
                <a:xfrm>
                  <a:off x="4505" y="1217"/>
                  <a:ext cx="158" cy="1467"/>
                </a:xfrm>
                <a:custGeom>
                  <a:avLst/>
                  <a:gdLst>
                    <a:gd name="txL" fmla="*/ 0 w 158"/>
                    <a:gd name="txT" fmla="*/ 0 h 1467"/>
                    <a:gd name="txR" fmla="*/ 158 w 158"/>
                    <a:gd name="txB" fmla="*/ 1467 h 1467"/>
                  </a:gdLst>
                  <a:ahLst/>
                  <a:cxnLst>
                    <a:cxn ang="0">
                      <a:pos x="158" y="1467"/>
                    </a:cxn>
                    <a:cxn ang="0">
                      <a:pos x="0" y="1467"/>
                    </a:cxn>
                    <a:cxn ang="0">
                      <a:pos x="0" y="0"/>
                    </a:cxn>
                    <a:cxn ang="0">
                      <a:pos x="95" y="0"/>
                    </a:cxn>
                  </a:cxnLst>
                  <a:rect l="txL" t="txT" r="txR" b="txB"/>
                  <a:pathLst>
                    <a:path w="158" h="1467">
                      <a:moveTo>
                        <a:pt x="158" y="1467"/>
                      </a:moveTo>
                      <a:lnTo>
                        <a:pt x="0" y="1467"/>
                      </a:lnTo>
                      <a:lnTo>
                        <a:pt x="0" y="0"/>
                      </a:lnTo>
                      <a:lnTo>
                        <a:pt x="95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89900" name="Freeform 331"/>
              <p:cNvSpPr/>
              <p:nvPr/>
            </p:nvSpPr>
            <p:spPr>
              <a:xfrm>
                <a:off x="1397" y="1202"/>
                <a:ext cx="145" cy="1466"/>
              </a:xfrm>
              <a:custGeom>
                <a:avLst/>
                <a:gdLst>
                  <a:gd name="txL" fmla="*/ 0 w 145"/>
                  <a:gd name="txT" fmla="*/ 0 h 1466"/>
                  <a:gd name="txR" fmla="*/ 145 w 145"/>
                  <a:gd name="txB" fmla="*/ 1466 h 1466"/>
                </a:gdLst>
                <a:ahLst/>
                <a:cxnLst>
                  <a:cxn ang="0">
                    <a:pos x="37" y="0"/>
                  </a:cxn>
                  <a:cxn ang="0">
                    <a:pos x="145" y="0"/>
                  </a:cxn>
                  <a:cxn ang="0">
                    <a:pos x="144" y="1466"/>
                  </a:cxn>
                  <a:cxn ang="0">
                    <a:pos x="0" y="1466"/>
                  </a:cxn>
                </a:cxnLst>
                <a:rect l="txL" t="txT" r="txR" b="txB"/>
                <a:pathLst>
                  <a:path w="145" h="1466">
                    <a:moveTo>
                      <a:pt x="37" y="0"/>
                    </a:moveTo>
                    <a:lnTo>
                      <a:pt x="145" y="0"/>
                    </a:lnTo>
                    <a:lnTo>
                      <a:pt x="144" y="1466"/>
                    </a:lnTo>
                    <a:lnTo>
                      <a:pt x="0" y="1466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9901" name="Freeform 332"/>
              <p:cNvSpPr/>
              <p:nvPr/>
            </p:nvSpPr>
            <p:spPr>
              <a:xfrm>
                <a:off x="2550" y="1199"/>
                <a:ext cx="150" cy="1474"/>
              </a:xfrm>
              <a:custGeom>
                <a:avLst/>
                <a:gdLst>
                  <a:gd name="txL" fmla="*/ 0 w 150"/>
                  <a:gd name="txT" fmla="*/ 0 h 1474"/>
                  <a:gd name="txR" fmla="*/ 150 w 150"/>
                  <a:gd name="txB" fmla="*/ 1474 h 1474"/>
                </a:gdLst>
                <a:ahLst/>
                <a:cxnLst>
                  <a:cxn ang="0">
                    <a:pos x="42" y="0"/>
                  </a:cxn>
                  <a:cxn ang="0">
                    <a:pos x="150" y="0"/>
                  </a:cxn>
                  <a:cxn ang="0">
                    <a:pos x="147" y="1474"/>
                  </a:cxn>
                  <a:cxn ang="0">
                    <a:pos x="0" y="1474"/>
                  </a:cxn>
                </a:cxnLst>
                <a:rect l="txL" t="txT" r="txR" b="txB"/>
                <a:pathLst>
                  <a:path w="150" h="1474">
                    <a:moveTo>
                      <a:pt x="42" y="0"/>
                    </a:moveTo>
                    <a:lnTo>
                      <a:pt x="150" y="0"/>
                    </a:lnTo>
                    <a:lnTo>
                      <a:pt x="147" y="1474"/>
                    </a:lnTo>
                    <a:lnTo>
                      <a:pt x="0" y="1474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9902" name="Freeform 333"/>
              <p:cNvSpPr/>
              <p:nvPr/>
            </p:nvSpPr>
            <p:spPr>
              <a:xfrm>
                <a:off x="3705" y="1199"/>
                <a:ext cx="141" cy="1471"/>
              </a:xfrm>
              <a:custGeom>
                <a:avLst/>
                <a:gdLst>
                  <a:gd name="txL" fmla="*/ 0 w 141"/>
                  <a:gd name="txT" fmla="*/ 0 h 1471"/>
                  <a:gd name="txR" fmla="*/ 141 w 141"/>
                  <a:gd name="txB" fmla="*/ 1471 h 1471"/>
                </a:gdLst>
                <a:ahLst/>
                <a:cxnLst>
                  <a:cxn ang="0">
                    <a:pos x="33" y="0"/>
                  </a:cxn>
                  <a:cxn ang="0">
                    <a:pos x="141" y="0"/>
                  </a:cxn>
                  <a:cxn ang="0">
                    <a:pos x="141" y="1471"/>
                  </a:cxn>
                  <a:cxn ang="0">
                    <a:pos x="0" y="1471"/>
                  </a:cxn>
                </a:cxnLst>
                <a:rect l="txL" t="txT" r="txR" b="txB"/>
                <a:pathLst>
                  <a:path w="141" h="1471">
                    <a:moveTo>
                      <a:pt x="33" y="0"/>
                    </a:moveTo>
                    <a:lnTo>
                      <a:pt x="141" y="0"/>
                    </a:lnTo>
                    <a:lnTo>
                      <a:pt x="141" y="1471"/>
                    </a:lnTo>
                    <a:lnTo>
                      <a:pt x="0" y="1471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9903" name="Freeform 334"/>
              <p:cNvSpPr/>
              <p:nvPr/>
            </p:nvSpPr>
            <p:spPr>
              <a:xfrm>
                <a:off x="4854" y="1199"/>
                <a:ext cx="150" cy="1480"/>
              </a:xfrm>
              <a:custGeom>
                <a:avLst/>
                <a:gdLst>
                  <a:gd name="txL" fmla="*/ 0 w 150"/>
                  <a:gd name="txT" fmla="*/ 0 h 1480"/>
                  <a:gd name="txR" fmla="*/ 150 w 150"/>
                  <a:gd name="txB" fmla="*/ 1480 h 1480"/>
                </a:gdLst>
                <a:ahLst/>
                <a:cxnLst>
                  <a:cxn ang="0">
                    <a:pos x="42" y="0"/>
                  </a:cxn>
                  <a:cxn ang="0">
                    <a:pos x="150" y="0"/>
                  </a:cxn>
                  <a:cxn ang="0">
                    <a:pos x="147" y="1480"/>
                  </a:cxn>
                  <a:cxn ang="0">
                    <a:pos x="0" y="1477"/>
                  </a:cxn>
                </a:cxnLst>
                <a:rect l="txL" t="txT" r="txR" b="txB"/>
                <a:pathLst>
                  <a:path w="150" h="1480">
                    <a:moveTo>
                      <a:pt x="42" y="0"/>
                    </a:moveTo>
                    <a:lnTo>
                      <a:pt x="150" y="0"/>
                    </a:lnTo>
                    <a:lnTo>
                      <a:pt x="147" y="1480"/>
                    </a:lnTo>
                    <a:lnTo>
                      <a:pt x="0" y="1477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89801" name="Group 335"/>
          <p:cNvGrpSpPr/>
          <p:nvPr/>
        </p:nvGrpSpPr>
        <p:grpSpPr>
          <a:xfrm>
            <a:off x="2976563" y="4178300"/>
            <a:ext cx="6261100" cy="403225"/>
            <a:chOff x="915" y="2632"/>
            <a:chExt cx="3944" cy="254"/>
          </a:xfrm>
        </p:grpSpPr>
        <p:grpSp>
          <p:nvGrpSpPr>
            <p:cNvPr id="289857" name="Group 336"/>
            <p:cNvGrpSpPr/>
            <p:nvPr/>
          </p:nvGrpSpPr>
          <p:grpSpPr>
            <a:xfrm>
              <a:off x="915" y="2696"/>
              <a:ext cx="3858" cy="190"/>
              <a:chOff x="915" y="2696"/>
              <a:chExt cx="3858" cy="190"/>
            </a:xfrm>
          </p:grpSpPr>
          <p:sp>
            <p:nvSpPr>
              <p:cNvPr id="289890" name="Freeform 337"/>
              <p:cNvSpPr/>
              <p:nvPr/>
            </p:nvSpPr>
            <p:spPr>
              <a:xfrm>
                <a:off x="1304" y="2707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9891" name="Freeform 338"/>
              <p:cNvSpPr/>
              <p:nvPr/>
            </p:nvSpPr>
            <p:spPr>
              <a:xfrm>
                <a:off x="2457" y="2710"/>
                <a:ext cx="1" cy="166"/>
              </a:xfrm>
              <a:custGeom>
                <a:avLst/>
                <a:gdLst>
                  <a:gd name="txL" fmla="*/ 0 w 1"/>
                  <a:gd name="txT" fmla="*/ 0 h 166"/>
                  <a:gd name="txR" fmla="*/ 1 w 1"/>
                  <a:gd name="txB" fmla="*/ 166 h 166"/>
                </a:gdLst>
                <a:ahLst/>
                <a:cxnLst>
                  <a:cxn ang="0">
                    <a:pos x="0" y="0"/>
                  </a:cxn>
                  <a:cxn ang="0">
                    <a:pos x="1" y="166"/>
                  </a:cxn>
                </a:cxnLst>
                <a:rect l="txL" t="txT" r="txR" b="txB"/>
                <a:pathLst>
                  <a:path w="1" h="166">
                    <a:moveTo>
                      <a:pt x="0" y="0"/>
                    </a:moveTo>
                    <a:lnTo>
                      <a:pt x="1" y="16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9892" name="Freeform 339"/>
              <p:cNvSpPr/>
              <p:nvPr/>
            </p:nvSpPr>
            <p:spPr>
              <a:xfrm>
                <a:off x="3609" y="2710"/>
                <a:ext cx="1" cy="176"/>
              </a:xfrm>
              <a:custGeom>
                <a:avLst/>
                <a:gdLst>
                  <a:gd name="txL" fmla="*/ 0 w 1"/>
                  <a:gd name="txT" fmla="*/ 0 h 176"/>
                  <a:gd name="txR" fmla="*/ 1 w 1"/>
                  <a:gd name="txB" fmla="*/ 176 h 176"/>
                </a:gdLst>
                <a:ahLst/>
                <a:cxnLst>
                  <a:cxn ang="0">
                    <a:pos x="0" y="0"/>
                  </a:cxn>
                  <a:cxn ang="0">
                    <a:pos x="0" y="176"/>
                  </a:cxn>
                </a:cxnLst>
                <a:rect l="txL" t="txT" r="txR" b="txB"/>
                <a:pathLst>
                  <a:path w="1" h="176">
                    <a:moveTo>
                      <a:pt x="0" y="0"/>
                    </a:moveTo>
                    <a:lnTo>
                      <a:pt x="0" y="176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9893" name="Freeform 340"/>
              <p:cNvSpPr/>
              <p:nvPr/>
            </p:nvSpPr>
            <p:spPr>
              <a:xfrm>
                <a:off x="4761" y="2696"/>
                <a:ext cx="1" cy="178"/>
              </a:xfrm>
              <a:custGeom>
                <a:avLst/>
                <a:gdLst>
                  <a:gd name="txL" fmla="*/ 0 w 1"/>
                  <a:gd name="txT" fmla="*/ 0 h 178"/>
                  <a:gd name="txR" fmla="*/ 1 w 1"/>
                  <a:gd name="txB" fmla="*/ 178 h 178"/>
                </a:gdLst>
                <a:ahLst/>
                <a:cxnLst>
                  <a:cxn ang="0">
                    <a:pos x="0" y="0"/>
                  </a:cxn>
                  <a:cxn ang="0">
                    <a:pos x="0" y="178"/>
                  </a:cxn>
                </a:cxnLst>
                <a:rect l="txL" t="txT" r="txR" b="txB"/>
                <a:pathLst>
                  <a:path w="1" h="178">
                    <a:moveTo>
                      <a:pt x="0" y="0"/>
                    </a:moveTo>
                    <a:lnTo>
                      <a:pt x="0" y="178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89894" name="Freeform 341"/>
              <p:cNvSpPr/>
              <p:nvPr/>
            </p:nvSpPr>
            <p:spPr>
              <a:xfrm>
                <a:off x="915" y="2865"/>
                <a:ext cx="3858" cy="2"/>
              </a:xfrm>
              <a:custGeom>
                <a:avLst/>
                <a:gdLst>
                  <a:gd name="txL" fmla="*/ 0 w 3858"/>
                  <a:gd name="txT" fmla="*/ 0 h 2"/>
                  <a:gd name="txR" fmla="*/ 3858 w 3858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3858" y="0"/>
                  </a:cxn>
                </a:cxnLst>
                <a:rect l="txL" t="txT" r="txR" b="txB"/>
                <a:pathLst>
                  <a:path w="3858" h="2">
                    <a:moveTo>
                      <a:pt x="0" y="2"/>
                    </a:moveTo>
                    <a:lnTo>
                      <a:pt x="3858" y="0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89858" name="Group 342"/>
            <p:cNvGrpSpPr/>
            <p:nvPr/>
          </p:nvGrpSpPr>
          <p:grpSpPr>
            <a:xfrm>
              <a:off x="1212" y="2632"/>
              <a:ext cx="192" cy="158"/>
              <a:chOff x="1212" y="2632"/>
              <a:chExt cx="192" cy="158"/>
            </a:xfrm>
          </p:grpSpPr>
          <p:grpSp>
            <p:nvGrpSpPr>
              <p:cNvPr id="289883" name="Group 343"/>
              <p:cNvGrpSpPr/>
              <p:nvPr/>
            </p:nvGrpSpPr>
            <p:grpSpPr>
              <a:xfrm>
                <a:off x="1356" y="2632"/>
                <a:ext cx="48" cy="158"/>
                <a:chOff x="1356" y="2632"/>
                <a:chExt cx="48" cy="158"/>
              </a:xfrm>
            </p:grpSpPr>
            <p:sp>
              <p:nvSpPr>
                <p:cNvPr id="289888" name="Line 344"/>
                <p:cNvSpPr/>
                <p:nvPr/>
              </p:nvSpPr>
              <p:spPr>
                <a:xfrm rot="5400000">
                  <a:off x="1325" y="2711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9889" name="Line 345"/>
                <p:cNvSpPr/>
                <p:nvPr/>
              </p:nvSpPr>
              <p:spPr>
                <a:xfrm rot="5400000">
                  <a:off x="1308" y="2709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9884" name="Freeform 346"/>
              <p:cNvSpPr/>
              <p:nvPr/>
            </p:nvSpPr>
            <p:spPr>
              <a:xfrm>
                <a:off x="1260" y="2708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9885" name="Group 347"/>
              <p:cNvGrpSpPr/>
              <p:nvPr/>
            </p:nvGrpSpPr>
            <p:grpSpPr>
              <a:xfrm>
                <a:off x="1212" y="2632"/>
                <a:ext cx="48" cy="158"/>
                <a:chOff x="1212" y="2632"/>
                <a:chExt cx="48" cy="158"/>
              </a:xfrm>
            </p:grpSpPr>
            <p:sp>
              <p:nvSpPr>
                <p:cNvPr id="289886" name="Line 348"/>
                <p:cNvSpPr/>
                <p:nvPr/>
              </p:nvSpPr>
              <p:spPr>
                <a:xfrm rot="-5400000">
                  <a:off x="1133" y="2711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9887" name="Line 349"/>
                <p:cNvSpPr/>
                <p:nvPr/>
              </p:nvSpPr>
              <p:spPr>
                <a:xfrm rot="-5400000">
                  <a:off x="1212" y="2713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89859" name="Group 350"/>
            <p:cNvGrpSpPr/>
            <p:nvPr/>
          </p:nvGrpSpPr>
          <p:grpSpPr>
            <a:xfrm>
              <a:off x="2364" y="2634"/>
              <a:ext cx="192" cy="158"/>
              <a:chOff x="2364" y="2634"/>
              <a:chExt cx="192" cy="158"/>
            </a:xfrm>
          </p:grpSpPr>
          <p:grpSp>
            <p:nvGrpSpPr>
              <p:cNvPr id="289876" name="Group 351"/>
              <p:cNvGrpSpPr/>
              <p:nvPr/>
            </p:nvGrpSpPr>
            <p:grpSpPr>
              <a:xfrm>
                <a:off x="2508" y="2634"/>
                <a:ext cx="48" cy="158"/>
                <a:chOff x="2508" y="2634"/>
                <a:chExt cx="48" cy="158"/>
              </a:xfrm>
            </p:grpSpPr>
            <p:sp>
              <p:nvSpPr>
                <p:cNvPr id="289881" name="Line 352"/>
                <p:cNvSpPr/>
                <p:nvPr/>
              </p:nvSpPr>
              <p:spPr>
                <a:xfrm rot="5400000">
                  <a:off x="2477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9882" name="Line 353"/>
                <p:cNvSpPr/>
                <p:nvPr/>
              </p:nvSpPr>
              <p:spPr>
                <a:xfrm rot="5400000">
                  <a:off x="2460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9877" name="Freeform 354"/>
              <p:cNvSpPr/>
              <p:nvPr/>
            </p:nvSpPr>
            <p:spPr>
              <a:xfrm>
                <a:off x="2412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9878" name="Group 355"/>
              <p:cNvGrpSpPr/>
              <p:nvPr/>
            </p:nvGrpSpPr>
            <p:grpSpPr>
              <a:xfrm>
                <a:off x="2364" y="2634"/>
                <a:ext cx="48" cy="158"/>
                <a:chOff x="2364" y="2634"/>
                <a:chExt cx="48" cy="158"/>
              </a:xfrm>
            </p:grpSpPr>
            <p:sp>
              <p:nvSpPr>
                <p:cNvPr id="289879" name="Line 356"/>
                <p:cNvSpPr/>
                <p:nvPr/>
              </p:nvSpPr>
              <p:spPr>
                <a:xfrm rot="-5400000">
                  <a:off x="2285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9880" name="Line 357"/>
                <p:cNvSpPr/>
                <p:nvPr/>
              </p:nvSpPr>
              <p:spPr>
                <a:xfrm rot="-5400000">
                  <a:off x="2364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89860" name="Group 358"/>
            <p:cNvGrpSpPr/>
            <p:nvPr/>
          </p:nvGrpSpPr>
          <p:grpSpPr>
            <a:xfrm>
              <a:off x="3516" y="2634"/>
              <a:ext cx="192" cy="158"/>
              <a:chOff x="3516" y="2634"/>
              <a:chExt cx="192" cy="158"/>
            </a:xfrm>
          </p:grpSpPr>
          <p:grpSp>
            <p:nvGrpSpPr>
              <p:cNvPr id="289869" name="Group 359"/>
              <p:cNvGrpSpPr/>
              <p:nvPr/>
            </p:nvGrpSpPr>
            <p:grpSpPr>
              <a:xfrm>
                <a:off x="3660" y="2634"/>
                <a:ext cx="48" cy="158"/>
                <a:chOff x="3660" y="2634"/>
                <a:chExt cx="48" cy="158"/>
              </a:xfrm>
            </p:grpSpPr>
            <p:sp>
              <p:nvSpPr>
                <p:cNvPr id="289874" name="Line 360"/>
                <p:cNvSpPr/>
                <p:nvPr/>
              </p:nvSpPr>
              <p:spPr>
                <a:xfrm rot="5400000">
                  <a:off x="3629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9875" name="Line 361"/>
                <p:cNvSpPr/>
                <p:nvPr/>
              </p:nvSpPr>
              <p:spPr>
                <a:xfrm rot="5400000">
                  <a:off x="3612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9870" name="Freeform 362"/>
              <p:cNvSpPr/>
              <p:nvPr/>
            </p:nvSpPr>
            <p:spPr>
              <a:xfrm>
                <a:off x="3564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9871" name="Group 363"/>
              <p:cNvGrpSpPr/>
              <p:nvPr/>
            </p:nvGrpSpPr>
            <p:grpSpPr>
              <a:xfrm>
                <a:off x="3516" y="2634"/>
                <a:ext cx="48" cy="158"/>
                <a:chOff x="3516" y="2634"/>
                <a:chExt cx="48" cy="158"/>
              </a:xfrm>
            </p:grpSpPr>
            <p:sp>
              <p:nvSpPr>
                <p:cNvPr id="289872" name="Line 364"/>
                <p:cNvSpPr/>
                <p:nvPr/>
              </p:nvSpPr>
              <p:spPr>
                <a:xfrm rot="-5400000">
                  <a:off x="3437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9873" name="Line 365"/>
                <p:cNvSpPr/>
                <p:nvPr/>
              </p:nvSpPr>
              <p:spPr>
                <a:xfrm rot="-5400000">
                  <a:off x="3516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289861" name="Group 366"/>
            <p:cNvGrpSpPr/>
            <p:nvPr/>
          </p:nvGrpSpPr>
          <p:grpSpPr>
            <a:xfrm>
              <a:off x="4667" y="2634"/>
              <a:ext cx="192" cy="158"/>
              <a:chOff x="4667" y="2634"/>
              <a:chExt cx="192" cy="158"/>
            </a:xfrm>
          </p:grpSpPr>
          <p:grpSp>
            <p:nvGrpSpPr>
              <p:cNvPr id="289862" name="Group 367"/>
              <p:cNvGrpSpPr/>
              <p:nvPr/>
            </p:nvGrpSpPr>
            <p:grpSpPr>
              <a:xfrm>
                <a:off x="4811" y="2634"/>
                <a:ext cx="48" cy="158"/>
                <a:chOff x="4811" y="2634"/>
                <a:chExt cx="48" cy="158"/>
              </a:xfrm>
            </p:grpSpPr>
            <p:sp>
              <p:nvSpPr>
                <p:cNvPr id="289867" name="Line 368"/>
                <p:cNvSpPr/>
                <p:nvPr/>
              </p:nvSpPr>
              <p:spPr>
                <a:xfrm rot="5400000">
                  <a:off x="4780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9868" name="Line 369"/>
                <p:cNvSpPr/>
                <p:nvPr/>
              </p:nvSpPr>
              <p:spPr>
                <a:xfrm rot="5400000">
                  <a:off x="4763" y="2711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289863" name="Freeform 370"/>
              <p:cNvSpPr/>
              <p:nvPr/>
            </p:nvSpPr>
            <p:spPr>
              <a:xfrm>
                <a:off x="4715" y="2710"/>
                <a:ext cx="96" cy="2"/>
              </a:xfrm>
              <a:custGeom>
                <a:avLst/>
                <a:gdLst>
                  <a:gd name="txL" fmla="*/ 0 w 96"/>
                  <a:gd name="txT" fmla="*/ 0 h 2"/>
                  <a:gd name="txR" fmla="*/ 96 w 96"/>
                  <a:gd name="txB" fmla="*/ 2 h 2"/>
                </a:gdLst>
                <a:ahLst/>
                <a:cxnLst>
                  <a:cxn ang="0">
                    <a:pos x="0" y="2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">
                    <a:moveTo>
                      <a:pt x="0" y="2"/>
                    </a:moveTo>
                    <a:lnTo>
                      <a:pt x="96" y="0"/>
                    </a:lnTo>
                  </a:path>
                </a:pathLst>
              </a:custGeom>
              <a:noFill/>
              <a:ln w="381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89864" name="Group 371"/>
              <p:cNvGrpSpPr/>
              <p:nvPr/>
            </p:nvGrpSpPr>
            <p:grpSpPr>
              <a:xfrm>
                <a:off x="4667" y="2634"/>
                <a:ext cx="48" cy="158"/>
                <a:chOff x="4667" y="2634"/>
                <a:chExt cx="48" cy="158"/>
              </a:xfrm>
            </p:grpSpPr>
            <p:sp>
              <p:nvSpPr>
                <p:cNvPr id="289865" name="Line 372"/>
                <p:cNvSpPr/>
                <p:nvPr/>
              </p:nvSpPr>
              <p:spPr>
                <a:xfrm rot="-5400000">
                  <a:off x="4588" y="2713"/>
                  <a:ext cx="158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9866" name="Line 373"/>
                <p:cNvSpPr/>
                <p:nvPr/>
              </p:nvSpPr>
              <p:spPr>
                <a:xfrm rot="-5400000">
                  <a:off x="4667" y="2715"/>
                  <a:ext cx="96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281942" name="Group 374"/>
          <p:cNvGrpSpPr/>
          <p:nvPr/>
        </p:nvGrpSpPr>
        <p:grpSpPr>
          <a:xfrm>
            <a:off x="3352800" y="1625600"/>
            <a:ext cx="5934075" cy="398463"/>
            <a:chOff x="1156" y="1024"/>
            <a:chExt cx="3738" cy="251"/>
          </a:xfrm>
        </p:grpSpPr>
        <p:sp>
          <p:nvSpPr>
            <p:cNvPr id="289853" name="Rectangle 375"/>
            <p:cNvSpPr/>
            <p:nvPr/>
          </p:nvSpPr>
          <p:spPr>
            <a:xfrm>
              <a:off x="1156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9854" name="Rectangle 376"/>
            <p:cNvSpPr/>
            <p:nvPr/>
          </p:nvSpPr>
          <p:spPr>
            <a:xfrm>
              <a:off x="2296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9855" name="Rectangle 377"/>
            <p:cNvSpPr/>
            <p:nvPr/>
          </p:nvSpPr>
          <p:spPr>
            <a:xfrm>
              <a:off x="3471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9856" name="Rectangle 378"/>
            <p:cNvSpPr/>
            <p:nvPr/>
          </p:nvSpPr>
          <p:spPr>
            <a:xfrm>
              <a:off x="4606" y="1024"/>
              <a:ext cx="288" cy="251"/>
            </a:xfrm>
            <a:prstGeom prst="rect">
              <a:avLst/>
            </a:prstGeom>
            <a:solidFill>
              <a:srgbClr val="CC9900"/>
            </a:solidFill>
            <a:ln w="38100" cap="flat" cmpd="sng">
              <a:solidFill>
                <a:srgbClr val="CC99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9803" name="Group 379"/>
          <p:cNvGrpSpPr/>
          <p:nvPr/>
        </p:nvGrpSpPr>
        <p:grpSpPr>
          <a:xfrm>
            <a:off x="2976563" y="2617788"/>
            <a:ext cx="6613525" cy="1963737"/>
            <a:chOff x="915" y="1649"/>
            <a:chExt cx="4166" cy="1237"/>
          </a:xfrm>
        </p:grpSpPr>
        <p:grpSp>
          <p:nvGrpSpPr>
            <p:cNvPr id="289806" name="Group 380"/>
            <p:cNvGrpSpPr/>
            <p:nvPr/>
          </p:nvGrpSpPr>
          <p:grpSpPr>
            <a:xfrm>
              <a:off x="915" y="2633"/>
              <a:ext cx="3945" cy="253"/>
              <a:chOff x="915" y="2633"/>
              <a:chExt cx="3945" cy="253"/>
            </a:xfrm>
          </p:grpSpPr>
          <p:grpSp>
            <p:nvGrpSpPr>
              <p:cNvPr id="289815" name="Group 381"/>
              <p:cNvGrpSpPr/>
              <p:nvPr/>
            </p:nvGrpSpPr>
            <p:grpSpPr>
              <a:xfrm>
                <a:off x="915" y="2696"/>
                <a:ext cx="3858" cy="190"/>
                <a:chOff x="915" y="2696"/>
                <a:chExt cx="3858" cy="190"/>
              </a:xfrm>
            </p:grpSpPr>
            <p:sp>
              <p:nvSpPr>
                <p:cNvPr id="289848" name="Freeform 382"/>
                <p:cNvSpPr/>
                <p:nvPr/>
              </p:nvSpPr>
              <p:spPr>
                <a:xfrm>
                  <a:off x="1304" y="2707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849" name="Freeform 383"/>
                <p:cNvSpPr/>
                <p:nvPr/>
              </p:nvSpPr>
              <p:spPr>
                <a:xfrm>
                  <a:off x="2457" y="2710"/>
                  <a:ext cx="1" cy="166"/>
                </a:xfrm>
                <a:custGeom>
                  <a:avLst/>
                  <a:gdLst>
                    <a:gd name="txL" fmla="*/ 0 w 1"/>
                    <a:gd name="txT" fmla="*/ 0 h 166"/>
                    <a:gd name="txR" fmla="*/ 1 w 1"/>
                    <a:gd name="txB" fmla="*/ 166 h 166"/>
                  </a:gdLst>
                  <a:ahLst/>
                  <a:cxnLst>
                    <a:cxn ang="0">
                      <a:pos x="0" y="0"/>
                    </a:cxn>
                    <a:cxn ang="0">
                      <a:pos x="1" y="166"/>
                    </a:cxn>
                  </a:cxnLst>
                  <a:rect l="txL" t="txT" r="txR" b="txB"/>
                  <a:pathLst>
                    <a:path w="1" h="166">
                      <a:moveTo>
                        <a:pt x="0" y="0"/>
                      </a:moveTo>
                      <a:lnTo>
                        <a:pt x="1" y="16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850" name="Freeform 384"/>
                <p:cNvSpPr/>
                <p:nvPr/>
              </p:nvSpPr>
              <p:spPr>
                <a:xfrm>
                  <a:off x="3609" y="2710"/>
                  <a:ext cx="1" cy="176"/>
                </a:xfrm>
                <a:custGeom>
                  <a:avLst/>
                  <a:gdLst>
                    <a:gd name="txL" fmla="*/ 0 w 1"/>
                    <a:gd name="txT" fmla="*/ 0 h 176"/>
                    <a:gd name="txR" fmla="*/ 1 w 1"/>
                    <a:gd name="txB" fmla="*/ 176 h 176"/>
                  </a:gdLst>
                  <a:ahLst/>
                  <a:cxnLst>
                    <a:cxn ang="0">
                      <a:pos x="0" y="0"/>
                    </a:cxn>
                    <a:cxn ang="0">
                      <a:pos x="0" y="176"/>
                    </a:cxn>
                  </a:cxnLst>
                  <a:rect l="txL" t="txT" r="txR" b="txB"/>
                  <a:pathLst>
                    <a:path w="1" h="176">
                      <a:moveTo>
                        <a:pt x="0" y="0"/>
                      </a:moveTo>
                      <a:lnTo>
                        <a:pt x="0" y="1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851" name="Freeform 385"/>
                <p:cNvSpPr/>
                <p:nvPr/>
              </p:nvSpPr>
              <p:spPr>
                <a:xfrm>
                  <a:off x="4761" y="2696"/>
                  <a:ext cx="1" cy="178"/>
                </a:xfrm>
                <a:custGeom>
                  <a:avLst/>
                  <a:gdLst>
                    <a:gd name="txL" fmla="*/ 0 w 1"/>
                    <a:gd name="txT" fmla="*/ 0 h 178"/>
                    <a:gd name="txR" fmla="*/ 1 w 1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0" y="178"/>
                    </a:cxn>
                  </a:cxnLst>
                  <a:rect l="txL" t="txT" r="txR" b="txB"/>
                  <a:pathLst>
                    <a:path w="1" h="178">
                      <a:moveTo>
                        <a:pt x="0" y="0"/>
                      </a:moveTo>
                      <a:lnTo>
                        <a:pt x="0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oval" w="sm" len="sm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89852" name="Freeform 386"/>
                <p:cNvSpPr/>
                <p:nvPr/>
              </p:nvSpPr>
              <p:spPr>
                <a:xfrm>
                  <a:off x="915" y="2865"/>
                  <a:ext cx="3858" cy="2"/>
                </a:xfrm>
                <a:custGeom>
                  <a:avLst/>
                  <a:gdLst>
                    <a:gd name="txL" fmla="*/ 0 w 3858"/>
                    <a:gd name="txT" fmla="*/ 0 h 2"/>
                    <a:gd name="txR" fmla="*/ 3858 w 3858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3858" y="0"/>
                    </a:cxn>
                  </a:cxnLst>
                  <a:rect l="txL" t="txT" r="txR" b="txB"/>
                  <a:pathLst>
                    <a:path w="3858" h="2">
                      <a:moveTo>
                        <a:pt x="0" y="2"/>
                      </a:moveTo>
                      <a:lnTo>
                        <a:pt x="385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89816" name="Group 387"/>
              <p:cNvGrpSpPr/>
              <p:nvPr/>
            </p:nvGrpSpPr>
            <p:grpSpPr>
              <a:xfrm>
                <a:off x="1213" y="2633"/>
                <a:ext cx="192" cy="158"/>
                <a:chOff x="1440" y="2928"/>
                <a:chExt cx="192" cy="158"/>
              </a:xfrm>
            </p:grpSpPr>
            <p:grpSp>
              <p:nvGrpSpPr>
                <p:cNvPr id="289841" name="Group 388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9846" name="Line 38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847" name="Line 39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9842" name="Freeform 391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9843" name="Group 392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9844" name="Line 393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845" name="Line 394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9817" name="Group 395"/>
              <p:cNvGrpSpPr/>
              <p:nvPr/>
            </p:nvGrpSpPr>
            <p:grpSpPr>
              <a:xfrm>
                <a:off x="2365" y="2635"/>
                <a:ext cx="192" cy="158"/>
                <a:chOff x="1440" y="2928"/>
                <a:chExt cx="192" cy="158"/>
              </a:xfrm>
            </p:grpSpPr>
            <p:grpSp>
              <p:nvGrpSpPr>
                <p:cNvPr id="289834" name="Group 396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9839" name="Line 39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840" name="Line 39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9835" name="Freeform 399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9836" name="Group 400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9837" name="Line 401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838" name="Line 402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9818" name="Group 403"/>
              <p:cNvGrpSpPr/>
              <p:nvPr/>
            </p:nvGrpSpPr>
            <p:grpSpPr>
              <a:xfrm>
                <a:off x="3517" y="2635"/>
                <a:ext cx="192" cy="158"/>
                <a:chOff x="1440" y="2928"/>
                <a:chExt cx="192" cy="158"/>
              </a:xfrm>
            </p:grpSpPr>
            <p:grpSp>
              <p:nvGrpSpPr>
                <p:cNvPr id="289827" name="Group 404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9832" name="Line 405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833" name="Line 406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9828" name="Freeform 407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9829" name="Group 408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9830" name="Line 409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831" name="Line 410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289819" name="Group 411"/>
              <p:cNvGrpSpPr/>
              <p:nvPr/>
            </p:nvGrpSpPr>
            <p:grpSpPr>
              <a:xfrm>
                <a:off x="4668" y="2635"/>
                <a:ext cx="192" cy="158"/>
                <a:chOff x="1440" y="2928"/>
                <a:chExt cx="192" cy="158"/>
              </a:xfrm>
            </p:grpSpPr>
            <p:grpSp>
              <p:nvGrpSpPr>
                <p:cNvPr id="289820" name="Group 412"/>
                <p:cNvGrpSpPr/>
                <p:nvPr/>
              </p:nvGrpSpPr>
              <p:grpSpPr>
                <a:xfrm rot="5400000">
                  <a:off x="1529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9825" name="Line 413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826" name="Line 414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289821" name="Freeform 415"/>
                <p:cNvSpPr/>
                <p:nvPr/>
              </p:nvSpPr>
              <p:spPr>
                <a:xfrm>
                  <a:off x="1487" y="3003"/>
                  <a:ext cx="96" cy="2"/>
                </a:xfrm>
                <a:custGeom>
                  <a:avLst/>
                  <a:gdLst>
                    <a:gd name="txL" fmla="*/ 0 w 96"/>
                    <a:gd name="txT" fmla="*/ 0 h 2"/>
                    <a:gd name="txR" fmla="*/ 96 w 96"/>
                    <a:gd name="txB" fmla="*/ 2 h 2"/>
                  </a:gdLst>
                  <a:ahLst/>
                  <a:cxnLst>
                    <a:cxn ang="0">
                      <a:pos x="0" y="2"/>
                    </a:cxn>
                    <a:cxn ang="0">
                      <a:pos x="96" y="0"/>
                    </a:cxn>
                  </a:cxnLst>
                  <a:rect l="txL" t="txT" r="txR" b="txB"/>
                  <a:pathLst>
                    <a:path w="96" h="2">
                      <a:moveTo>
                        <a:pt x="0" y="2"/>
                      </a:moveTo>
                      <a:lnTo>
                        <a:pt x="9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89822" name="Group 416"/>
                <p:cNvGrpSpPr/>
                <p:nvPr/>
              </p:nvGrpSpPr>
              <p:grpSpPr>
                <a:xfrm rot="-5400000">
                  <a:off x="1385" y="2983"/>
                  <a:ext cx="158" cy="48"/>
                  <a:chOff x="3459" y="1296"/>
                  <a:chExt cx="243" cy="48"/>
                </a:xfrm>
              </p:grpSpPr>
              <p:sp>
                <p:nvSpPr>
                  <p:cNvPr id="289823" name="Line 417"/>
                  <p:cNvSpPr/>
                  <p:nvPr/>
                </p:nvSpPr>
                <p:spPr>
                  <a:xfrm>
                    <a:off x="3459" y="1296"/>
                    <a:ext cx="243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9824" name="Line 418"/>
                  <p:cNvSpPr/>
                  <p:nvPr/>
                </p:nvSpPr>
                <p:spPr>
                  <a:xfrm>
                    <a:off x="3504" y="1344"/>
                    <a:ext cx="147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89807" name="Rectangle 419"/>
            <p:cNvSpPr/>
            <p:nvPr/>
          </p:nvSpPr>
          <p:spPr>
            <a:xfrm>
              <a:off x="1152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9808" name="Text Box 420"/>
            <p:cNvSpPr txBox="1"/>
            <p:nvPr/>
          </p:nvSpPr>
          <p:spPr>
            <a:xfrm>
              <a:off x="1150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9809" name="Rectangle 421"/>
            <p:cNvSpPr/>
            <p:nvPr/>
          </p:nvSpPr>
          <p:spPr>
            <a:xfrm>
              <a:off x="2293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16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9810" name="Rectangle 422"/>
            <p:cNvSpPr/>
            <p:nvPr/>
          </p:nvSpPr>
          <p:spPr>
            <a:xfrm>
              <a:off x="4604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48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9811" name="Rectangle 423"/>
            <p:cNvSpPr/>
            <p:nvPr/>
          </p:nvSpPr>
          <p:spPr>
            <a:xfrm>
              <a:off x="3466" y="2228"/>
              <a:ext cx="288" cy="251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rIns="0" anchor="ctr" anchorCtr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32</a:t>
              </a:r>
              <a:endParaRPr lang="en-US" altLang="zh-CN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9812" name="Text Box 424"/>
            <p:cNvSpPr txBox="1"/>
            <p:nvPr/>
          </p:nvSpPr>
          <p:spPr>
            <a:xfrm>
              <a:off x="2314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9813" name="Text Box 425"/>
            <p:cNvSpPr txBox="1"/>
            <p:nvPr/>
          </p:nvSpPr>
          <p:spPr>
            <a:xfrm>
              <a:off x="3462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9814" name="Text Box 426"/>
            <p:cNvSpPr txBox="1"/>
            <p:nvPr/>
          </p:nvSpPr>
          <p:spPr>
            <a:xfrm>
              <a:off x="4617" y="1649"/>
              <a:ext cx="464" cy="363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89804" name="AutoShape 42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8980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1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90818" name="Group 2"/>
          <p:cNvGrpSpPr/>
          <p:nvPr/>
        </p:nvGrpSpPr>
        <p:grpSpPr>
          <a:xfrm>
            <a:off x="1600200" y="1133475"/>
            <a:ext cx="8462963" cy="5029200"/>
            <a:chOff x="48" y="714"/>
            <a:chExt cx="5331" cy="3168"/>
          </a:xfrm>
        </p:grpSpPr>
        <p:grpSp>
          <p:nvGrpSpPr>
            <p:cNvPr id="290884" name="Group 3"/>
            <p:cNvGrpSpPr/>
            <p:nvPr/>
          </p:nvGrpSpPr>
          <p:grpSpPr>
            <a:xfrm>
              <a:off x="48" y="714"/>
              <a:ext cx="5331" cy="3168"/>
              <a:chOff x="48" y="714"/>
              <a:chExt cx="5331" cy="3168"/>
            </a:xfrm>
          </p:grpSpPr>
          <p:sp>
            <p:nvSpPr>
              <p:cNvPr id="290886" name="Line 4"/>
              <p:cNvSpPr/>
              <p:nvPr/>
            </p:nvSpPr>
            <p:spPr>
              <a:xfrm>
                <a:off x="4752" y="2634"/>
                <a:ext cx="0" cy="768"/>
              </a:xfrm>
              <a:prstGeom prst="line">
                <a:avLst/>
              </a:prstGeom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90887" name="Group 5"/>
              <p:cNvGrpSpPr/>
              <p:nvPr/>
            </p:nvGrpSpPr>
            <p:grpSpPr>
              <a:xfrm>
                <a:off x="48" y="714"/>
                <a:ext cx="5331" cy="3168"/>
                <a:chOff x="48" y="714"/>
                <a:chExt cx="5331" cy="3168"/>
              </a:xfrm>
            </p:grpSpPr>
            <p:grpSp>
              <p:nvGrpSpPr>
                <p:cNvPr id="290888" name="Group 6"/>
                <p:cNvGrpSpPr/>
                <p:nvPr/>
              </p:nvGrpSpPr>
              <p:grpSpPr>
                <a:xfrm>
                  <a:off x="48" y="1338"/>
                  <a:ext cx="5331" cy="1704"/>
                  <a:chOff x="48" y="1338"/>
                  <a:chExt cx="5331" cy="1704"/>
                </a:xfrm>
              </p:grpSpPr>
              <p:grpSp>
                <p:nvGrpSpPr>
                  <p:cNvPr id="290907" name="Group 7"/>
                  <p:cNvGrpSpPr/>
                  <p:nvPr/>
                </p:nvGrpSpPr>
                <p:grpSpPr>
                  <a:xfrm>
                    <a:off x="522" y="1338"/>
                    <a:ext cx="4757" cy="345"/>
                    <a:chOff x="522" y="1338"/>
                    <a:chExt cx="4757" cy="345"/>
                  </a:xfrm>
                </p:grpSpPr>
                <p:sp>
                  <p:nvSpPr>
                    <p:cNvPr id="290925" name="Freeform 8"/>
                    <p:cNvSpPr/>
                    <p:nvPr/>
                  </p:nvSpPr>
                  <p:spPr>
                    <a:xfrm>
                      <a:off x="1368" y="1339"/>
                      <a:ext cx="2771" cy="336"/>
                    </a:xfrm>
                    <a:custGeom>
                      <a:avLst/>
                      <a:gdLst>
                        <a:gd name="txL" fmla="*/ 0 w 2771"/>
                        <a:gd name="txT" fmla="*/ 0 h 336"/>
                        <a:gd name="txR" fmla="*/ 2771 w 2771"/>
                        <a:gd name="txB" fmla="*/ 336 h 336"/>
                      </a:gdLst>
                      <a:ahLst/>
                      <a:cxnLst>
                        <a:cxn ang="0">
                          <a:pos x="168" y="0"/>
                        </a:cxn>
                        <a:cxn ang="0">
                          <a:pos x="0" y="170"/>
                        </a:cxn>
                        <a:cxn ang="0">
                          <a:pos x="168" y="336"/>
                        </a:cxn>
                        <a:cxn ang="0">
                          <a:pos x="2603" y="336"/>
                        </a:cxn>
                        <a:cxn ang="0">
                          <a:pos x="2771" y="170"/>
                        </a:cxn>
                        <a:cxn ang="0">
                          <a:pos x="2603" y="0"/>
                        </a:cxn>
                        <a:cxn ang="0">
                          <a:pos x="168" y="0"/>
                        </a:cxn>
                      </a:cxnLst>
                      <a:rect l="txL" t="txT" r="txR" b="txB"/>
                      <a:pathLst>
                        <a:path w="2771" h="336">
                          <a:moveTo>
                            <a:pt x="168" y="0"/>
                          </a:moveTo>
                          <a:lnTo>
                            <a:pt x="0" y="170"/>
                          </a:lnTo>
                          <a:lnTo>
                            <a:pt x="168" y="336"/>
                          </a:lnTo>
                          <a:lnTo>
                            <a:pt x="2603" y="336"/>
                          </a:lnTo>
                          <a:lnTo>
                            <a:pt x="2771" y="170"/>
                          </a:lnTo>
                          <a:lnTo>
                            <a:pt x="2603" y="0"/>
                          </a:lnTo>
                          <a:lnTo>
                            <a:pt x="168" y="0"/>
                          </a:lnTo>
                          <a:close/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0926" name="Freeform 9"/>
                    <p:cNvSpPr/>
                    <p:nvPr/>
                  </p:nvSpPr>
                  <p:spPr>
                    <a:xfrm>
                      <a:off x="531" y="1338"/>
                      <a:ext cx="848" cy="175"/>
                    </a:xfrm>
                    <a:custGeom>
                      <a:avLst/>
                      <a:gdLst>
                        <a:gd name="txL" fmla="*/ 0 w 848"/>
                        <a:gd name="txT" fmla="*/ 0 h 175"/>
                        <a:gd name="txR" fmla="*/ 848 w 848"/>
                        <a:gd name="txB" fmla="*/ 175 h 175"/>
                      </a:gdLst>
                      <a:ahLst/>
                      <a:cxnLst>
                        <a:cxn ang="0">
                          <a:pos x="848" y="162"/>
                        </a:cxn>
                        <a:cxn ang="0">
                          <a:pos x="840" y="175"/>
                        </a:cxn>
                        <a:cxn ang="0">
                          <a:pos x="665" y="0"/>
                        </a:cxn>
                        <a:cxn ang="0">
                          <a:pos x="0" y="0"/>
                        </a:cxn>
                      </a:cxnLst>
                      <a:rect l="txL" t="txT" r="txR" b="txB"/>
                      <a:pathLst>
                        <a:path w="848" h="175">
                          <a:moveTo>
                            <a:pt x="848" y="162"/>
                          </a:moveTo>
                          <a:lnTo>
                            <a:pt x="840" y="175"/>
                          </a:lnTo>
                          <a:lnTo>
                            <a:pt x="665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0927" name="Freeform 10"/>
                    <p:cNvSpPr/>
                    <p:nvPr/>
                  </p:nvSpPr>
                  <p:spPr>
                    <a:xfrm>
                      <a:off x="522" y="1504"/>
                      <a:ext cx="846" cy="179"/>
                    </a:xfrm>
                    <a:custGeom>
                      <a:avLst/>
                      <a:gdLst>
                        <a:gd name="txL" fmla="*/ 0 w 846"/>
                        <a:gd name="txT" fmla="*/ 0 h 179"/>
                        <a:gd name="txR" fmla="*/ 846 w 846"/>
                        <a:gd name="txB" fmla="*/ 179 h 179"/>
                      </a:gdLst>
                      <a:ahLst/>
                      <a:cxnLst>
                        <a:cxn ang="0">
                          <a:pos x="846" y="0"/>
                        </a:cxn>
                        <a:cxn ang="0">
                          <a:pos x="669" y="179"/>
                        </a:cxn>
                        <a:cxn ang="0">
                          <a:pos x="0" y="179"/>
                        </a:cxn>
                      </a:cxnLst>
                      <a:rect l="txL" t="txT" r="txR" b="txB"/>
                      <a:pathLst>
                        <a:path w="846" h="179">
                          <a:moveTo>
                            <a:pt x="846" y="0"/>
                          </a:moveTo>
                          <a:lnTo>
                            <a:pt x="669" y="179"/>
                          </a:lnTo>
                          <a:lnTo>
                            <a:pt x="0" y="179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0928" name="Freeform 11"/>
                    <p:cNvSpPr/>
                    <p:nvPr/>
                  </p:nvSpPr>
                  <p:spPr>
                    <a:xfrm>
                      <a:off x="4136" y="1338"/>
                      <a:ext cx="1140" cy="171"/>
                    </a:xfrm>
                    <a:custGeom>
                      <a:avLst/>
                      <a:gdLst>
                        <a:gd name="txL" fmla="*/ 0 w 1140"/>
                        <a:gd name="txT" fmla="*/ 0 h 171"/>
                        <a:gd name="txR" fmla="*/ 1140 w 1140"/>
                        <a:gd name="txB" fmla="*/ 171 h 171"/>
                      </a:gdLst>
                      <a:ahLst/>
                      <a:cxnLst>
                        <a:cxn ang="0">
                          <a:pos x="0" y="171"/>
                        </a:cxn>
                        <a:cxn ang="0">
                          <a:pos x="171" y="1"/>
                        </a:cxn>
                        <a:cxn ang="0">
                          <a:pos x="268" y="1"/>
                        </a:cxn>
                        <a:cxn ang="0">
                          <a:pos x="1140" y="0"/>
                        </a:cxn>
                      </a:cxnLst>
                      <a:rect l="txL" t="txT" r="txR" b="txB"/>
                      <a:pathLst>
                        <a:path w="1140" h="171">
                          <a:moveTo>
                            <a:pt x="0" y="171"/>
                          </a:moveTo>
                          <a:lnTo>
                            <a:pt x="171" y="1"/>
                          </a:lnTo>
                          <a:lnTo>
                            <a:pt x="268" y="1"/>
                          </a:lnTo>
                          <a:lnTo>
                            <a:pt x="1140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0929" name="Freeform 12"/>
                    <p:cNvSpPr/>
                    <p:nvPr/>
                  </p:nvSpPr>
                  <p:spPr>
                    <a:xfrm>
                      <a:off x="4133" y="1504"/>
                      <a:ext cx="1146" cy="176"/>
                    </a:xfrm>
                    <a:custGeom>
                      <a:avLst/>
                      <a:gdLst>
                        <a:gd name="txL" fmla="*/ 0 w 1146"/>
                        <a:gd name="txT" fmla="*/ 0 h 176"/>
                        <a:gd name="txR" fmla="*/ 1146 w 1146"/>
                        <a:gd name="txB" fmla="*/ 176 h 176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74" y="176"/>
                        </a:cxn>
                        <a:cxn ang="0">
                          <a:pos x="1146" y="176"/>
                        </a:cxn>
                      </a:cxnLst>
                      <a:rect l="txL" t="txT" r="txR" b="txB"/>
                      <a:pathLst>
                        <a:path w="1146" h="176">
                          <a:moveTo>
                            <a:pt x="0" y="0"/>
                          </a:moveTo>
                          <a:lnTo>
                            <a:pt x="174" y="176"/>
                          </a:lnTo>
                          <a:lnTo>
                            <a:pt x="1146" y="176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90908" name="Group 13"/>
                  <p:cNvGrpSpPr/>
                  <p:nvPr/>
                </p:nvGrpSpPr>
                <p:grpSpPr>
                  <a:xfrm>
                    <a:off x="528" y="2007"/>
                    <a:ext cx="4848" cy="249"/>
                    <a:chOff x="528" y="2007"/>
                    <a:chExt cx="4848" cy="249"/>
                  </a:xfrm>
                </p:grpSpPr>
                <p:sp>
                  <p:nvSpPr>
                    <p:cNvPr id="290922" name="Freeform 14"/>
                    <p:cNvSpPr/>
                    <p:nvPr/>
                  </p:nvSpPr>
                  <p:spPr>
                    <a:xfrm>
                      <a:off x="528" y="2007"/>
                      <a:ext cx="4844" cy="242"/>
                    </a:xfrm>
                    <a:custGeom>
                      <a:avLst/>
                      <a:gdLst>
                        <a:gd name="txL" fmla="*/ 0 w 4844"/>
                        <a:gd name="txT" fmla="*/ 0 h 242"/>
                        <a:gd name="txR" fmla="*/ 4844 w 4844"/>
                        <a:gd name="txB" fmla="*/ 242 h 242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301" y="5"/>
                        </a:cxn>
                        <a:cxn ang="0">
                          <a:pos x="1539" y="242"/>
                        </a:cxn>
                        <a:cxn ang="0">
                          <a:pos x="2210" y="242"/>
                        </a:cxn>
                        <a:cxn ang="0">
                          <a:pos x="2448" y="3"/>
                        </a:cxn>
                        <a:cxn ang="0">
                          <a:pos x="4844" y="5"/>
                        </a:cxn>
                      </a:cxnLst>
                      <a:rect l="txL" t="txT" r="txR" b="txB"/>
                      <a:pathLst>
                        <a:path w="4844" h="242">
                          <a:moveTo>
                            <a:pt x="0" y="0"/>
                          </a:moveTo>
                          <a:lnTo>
                            <a:pt x="1301" y="5"/>
                          </a:lnTo>
                          <a:lnTo>
                            <a:pt x="1539" y="242"/>
                          </a:lnTo>
                          <a:lnTo>
                            <a:pt x="2210" y="242"/>
                          </a:lnTo>
                          <a:lnTo>
                            <a:pt x="2448" y="3"/>
                          </a:lnTo>
                          <a:lnTo>
                            <a:pt x="4844" y="5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0923" name="Freeform 15"/>
                    <p:cNvSpPr/>
                    <p:nvPr/>
                  </p:nvSpPr>
                  <p:spPr>
                    <a:xfrm>
                      <a:off x="528" y="2016"/>
                      <a:ext cx="1536" cy="240"/>
                    </a:xfrm>
                    <a:custGeom>
                      <a:avLst/>
                      <a:gdLst>
                        <a:gd name="txL" fmla="*/ 0 w 1536"/>
                        <a:gd name="txT" fmla="*/ 0 h 240"/>
                        <a:gd name="txR" fmla="*/ 1536 w 1536"/>
                        <a:gd name="txB" fmla="*/ 240 h 240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1296" y="0"/>
                        </a:cxn>
                        <a:cxn ang="0">
                          <a:pos x="1536" y="240"/>
                        </a:cxn>
                        <a:cxn ang="0">
                          <a:pos x="0" y="240"/>
                        </a:cxn>
                      </a:cxnLst>
                      <a:rect l="txL" t="txT" r="txR" b="txB"/>
                      <a:pathLst>
                        <a:path w="1536" h="240">
                          <a:moveTo>
                            <a:pt x="0" y="0"/>
                          </a:moveTo>
                          <a:lnTo>
                            <a:pt x="1296" y="0"/>
                          </a:lnTo>
                          <a:lnTo>
                            <a:pt x="1536" y="240"/>
                          </a:lnTo>
                          <a:lnTo>
                            <a:pt x="0" y="240"/>
                          </a:lnTo>
                        </a:path>
                      </a:pathLst>
                    </a:custGeom>
                    <a:solidFill>
                      <a:schemeClr val="tx1">
                        <a:alpha val="50195"/>
                      </a:schemeClr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90924" name="Freeform 16"/>
                    <p:cNvSpPr/>
                    <p:nvPr/>
                  </p:nvSpPr>
                  <p:spPr>
                    <a:xfrm>
                      <a:off x="2736" y="2010"/>
                      <a:ext cx="2640" cy="240"/>
                    </a:xfrm>
                    <a:custGeom>
                      <a:avLst/>
                      <a:gdLst>
                        <a:gd name="txL" fmla="*/ 0 w 2640"/>
                        <a:gd name="txT" fmla="*/ 0 h 240"/>
                        <a:gd name="txR" fmla="*/ 2640 w 2640"/>
                        <a:gd name="txB" fmla="*/ 240 h 240"/>
                      </a:gdLst>
                      <a:ahLst/>
                      <a:cxnLst>
                        <a:cxn ang="0">
                          <a:pos x="2640" y="0"/>
                        </a:cxn>
                        <a:cxn ang="0">
                          <a:pos x="240" y="0"/>
                        </a:cxn>
                        <a:cxn ang="0">
                          <a:pos x="0" y="240"/>
                        </a:cxn>
                        <a:cxn ang="0">
                          <a:pos x="2640" y="240"/>
                        </a:cxn>
                      </a:cxnLst>
                      <a:rect l="txL" t="txT" r="txR" b="txB"/>
                      <a:pathLst>
                        <a:path w="2640" h="240">
                          <a:moveTo>
                            <a:pt x="2640" y="0"/>
                          </a:moveTo>
                          <a:lnTo>
                            <a:pt x="240" y="0"/>
                          </a:lnTo>
                          <a:lnTo>
                            <a:pt x="0" y="240"/>
                          </a:lnTo>
                          <a:lnTo>
                            <a:pt x="2640" y="240"/>
                          </a:lnTo>
                        </a:path>
                      </a:pathLst>
                    </a:custGeom>
                    <a:solidFill>
                      <a:schemeClr val="tx1">
                        <a:alpha val="50195"/>
                      </a:schemeClr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90909" name="Group 17"/>
                  <p:cNvGrpSpPr/>
                  <p:nvPr/>
                </p:nvGrpSpPr>
                <p:grpSpPr>
                  <a:xfrm>
                    <a:off x="525" y="2685"/>
                    <a:ext cx="4854" cy="357"/>
                    <a:chOff x="525" y="2685"/>
                    <a:chExt cx="4854" cy="357"/>
                  </a:xfrm>
                </p:grpSpPr>
                <p:sp>
                  <p:nvSpPr>
                    <p:cNvPr id="290915" name="Freeform 18"/>
                    <p:cNvSpPr/>
                    <p:nvPr/>
                  </p:nvSpPr>
                  <p:spPr>
                    <a:xfrm>
                      <a:off x="4752" y="2865"/>
                      <a:ext cx="624" cy="1"/>
                    </a:xfrm>
                    <a:custGeom>
                      <a:avLst/>
                      <a:gdLst>
                        <a:gd name="txL" fmla="*/ 0 w 624"/>
                        <a:gd name="txT" fmla="*/ 0 h 1"/>
                        <a:gd name="txR" fmla="*/ 624 w 624"/>
                        <a:gd name="txB" fmla="*/ 1 h 1"/>
                      </a:gdLst>
                      <a:ahLst/>
                      <a:cxnLst>
                        <a:cxn ang="0">
                          <a:pos x="0" y="0"/>
                        </a:cxn>
                        <a:cxn ang="0">
                          <a:pos x="624" y="0"/>
                        </a:cxn>
                      </a:cxnLst>
                      <a:rect l="txL" t="txT" r="txR" b="txB"/>
                      <a:pathLst>
                        <a:path w="624" h="1">
                          <a:moveTo>
                            <a:pt x="0" y="0"/>
                          </a:moveTo>
                          <a:lnTo>
                            <a:pt x="624" y="0"/>
                          </a:lnTo>
                        </a:path>
                      </a:pathLst>
                    </a:custGeom>
                    <a:noFill/>
                    <a:ln w="38100" cap="flat" cmpd="sng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290916" name="Group 19"/>
                    <p:cNvGrpSpPr/>
                    <p:nvPr/>
                  </p:nvGrpSpPr>
                  <p:grpSpPr>
                    <a:xfrm>
                      <a:off x="525" y="2685"/>
                      <a:ext cx="4854" cy="357"/>
                      <a:chOff x="525" y="2685"/>
                      <a:chExt cx="4854" cy="357"/>
                    </a:xfrm>
                  </p:grpSpPr>
                  <p:sp>
                    <p:nvSpPr>
                      <p:cNvPr id="290917" name="Freeform 20"/>
                      <p:cNvSpPr/>
                      <p:nvPr/>
                    </p:nvSpPr>
                    <p:spPr>
                      <a:xfrm>
                        <a:off x="527" y="2864"/>
                        <a:ext cx="2067" cy="1"/>
                      </a:xfrm>
                      <a:custGeom>
                        <a:avLst/>
                        <a:gdLst>
                          <a:gd name="txL" fmla="*/ 0 w 2067"/>
                          <a:gd name="txT" fmla="*/ 0 h 1"/>
                          <a:gd name="txR" fmla="*/ 2067 w 2067"/>
                          <a:gd name="txB" fmla="*/ 1 h 1"/>
                        </a:gdLst>
                        <a:ahLst/>
                        <a:cxnLst>
                          <a:cxn ang="0">
                            <a:pos x="0" y="0"/>
                          </a:cxn>
                          <a:cxn ang="0">
                            <a:pos x="2067" y="0"/>
                          </a:cxn>
                        </a:cxnLst>
                        <a:rect l="txL" t="txT" r="txR" b="txB"/>
                        <a:pathLst>
                          <a:path w="2067" h="1">
                            <a:moveTo>
                              <a:pt x="0" y="0"/>
                            </a:moveTo>
                            <a:lnTo>
                              <a:pt x="2067" y="0"/>
                            </a:lnTo>
                          </a:path>
                        </a:pathLst>
                      </a:custGeom>
                      <a:noFill/>
                      <a:ln w="38100" cap="flat" cmpd="sng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 dirty="0">
                          <a:latin typeface="Arial" panose="020B0604020202020204" pitchFamily="34" charset="0"/>
                        </a:endParaRPr>
                      </a:p>
                    </p:txBody>
                  </p:sp>
                  <p:grpSp>
                    <p:nvGrpSpPr>
                      <p:cNvPr id="290918" name="Group 21"/>
                      <p:cNvGrpSpPr/>
                      <p:nvPr/>
                    </p:nvGrpSpPr>
                    <p:grpSpPr>
                      <a:xfrm>
                        <a:off x="525" y="2685"/>
                        <a:ext cx="4854" cy="357"/>
                        <a:chOff x="525" y="2685"/>
                        <a:chExt cx="4854" cy="357"/>
                      </a:xfrm>
                    </p:grpSpPr>
                    <p:sp>
                      <p:nvSpPr>
                        <p:cNvPr id="290919" name="Freeform 22"/>
                        <p:cNvSpPr/>
                        <p:nvPr/>
                      </p:nvSpPr>
                      <p:spPr>
                        <a:xfrm>
                          <a:off x="2589" y="2691"/>
                          <a:ext cx="2160" cy="342"/>
                        </a:xfrm>
                        <a:custGeom>
                          <a:avLst/>
                          <a:gdLst>
                            <a:gd name="txL" fmla="*/ 0 w 2160"/>
                            <a:gd name="txT" fmla="*/ 0 h 342"/>
                            <a:gd name="txR" fmla="*/ 2160 w 2160"/>
                            <a:gd name="txB" fmla="*/ 342 h 342"/>
                          </a:gdLst>
                          <a:ahLst/>
                          <a:cxnLst>
                            <a:cxn ang="0">
                              <a:pos x="170" y="0"/>
                            </a:cxn>
                            <a:cxn ang="0">
                              <a:pos x="0" y="171"/>
                            </a:cxn>
                            <a:cxn ang="0">
                              <a:pos x="170" y="342"/>
                            </a:cxn>
                            <a:cxn ang="0">
                              <a:pos x="1991" y="342"/>
                            </a:cxn>
                            <a:cxn ang="0">
                              <a:pos x="2160" y="171"/>
                            </a:cxn>
                            <a:cxn ang="0">
                              <a:pos x="1991" y="0"/>
                            </a:cxn>
                            <a:cxn ang="0">
                              <a:pos x="170" y="0"/>
                            </a:cxn>
                          </a:cxnLst>
                          <a:rect l="txL" t="txT" r="txR" b="txB"/>
                          <a:pathLst>
                            <a:path w="2160" h="342">
                              <a:moveTo>
                                <a:pt x="170" y="0"/>
                              </a:moveTo>
                              <a:lnTo>
                                <a:pt x="0" y="171"/>
                              </a:lnTo>
                              <a:lnTo>
                                <a:pt x="170" y="342"/>
                              </a:lnTo>
                              <a:lnTo>
                                <a:pt x="1991" y="342"/>
                              </a:lnTo>
                              <a:lnTo>
                                <a:pt x="2160" y="171"/>
                              </a:lnTo>
                              <a:lnTo>
                                <a:pt x="1991" y="0"/>
                              </a:lnTo>
                              <a:lnTo>
                                <a:pt x="170" y="0"/>
                              </a:lnTo>
                              <a:close/>
                            </a:path>
                          </a:pathLst>
                        </a:custGeom>
                        <a:noFill/>
                        <a:ln w="38100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 dirty="0">
                            <a:latin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290920" name="Freeform 23"/>
                        <p:cNvSpPr/>
                        <p:nvPr/>
                      </p:nvSpPr>
                      <p:spPr>
                        <a:xfrm>
                          <a:off x="525" y="2685"/>
                          <a:ext cx="2244" cy="357"/>
                        </a:xfrm>
                        <a:custGeom>
                          <a:avLst/>
                          <a:gdLst>
                            <a:gd name="txL" fmla="*/ 0 w 2244"/>
                            <a:gd name="txT" fmla="*/ 0 h 357"/>
                            <a:gd name="txR" fmla="*/ 2244 w 2244"/>
                            <a:gd name="txB" fmla="*/ 357 h 357"/>
                          </a:gdLst>
                          <a:ahLst/>
                          <a:cxnLst>
                            <a:cxn ang="0">
                              <a:pos x="2067" y="177"/>
                            </a:cxn>
                            <a:cxn ang="0">
                              <a:pos x="2244" y="0"/>
                            </a:cxn>
                            <a:cxn ang="0">
                              <a:pos x="3" y="0"/>
                            </a:cxn>
                            <a:cxn ang="0">
                              <a:pos x="0" y="357"/>
                            </a:cxn>
                            <a:cxn ang="0">
                              <a:pos x="2241" y="357"/>
                            </a:cxn>
                          </a:cxnLst>
                          <a:rect l="txL" t="txT" r="txR" b="txB"/>
                          <a:pathLst>
                            <a:path w="2244" h="357">
                              <a:moveTo>
                                <a:pt x="2067" y="177"/>
                              </a:moveTo>
                              <a:lnTo>
                                <a:pt x="2244" y="0"/>
                              </a:lnTo>
                              <a:lnTo>
                                <a:pt x="3" y="0"/>
                              </a:lnTo>
                              <a:lnTo>
                                <a:pt x="0" y="357"/>
                              </a:lnTo>
                              <a:lnTo>
                                <a:pt x="2241" y="357"/>
                              </a:lnTo>
                            </a:path>
                          </a:pathLst>
                        </a:custGeom>
                        <a:solidFill>
                          <a:schemeClr val="tx1">
                            <a:alpha val="50195"/>
                          </a:schemeClr>
                        </a:soli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 dirty="0">
                            <a:latin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290921" name="Freeform 24"/>
                        <p:cNvSpPr/>
                        <p:nvPr/>
                      </p:nvSpPr>
                      <p:spPr>
                        <a:xfrm>
                          <a:off x="4563" y="2685"/>
                          <a:ext cx="816" cy="357"/>
                        </a:xfrm>
                        <a:custGeom>
                          <a:avLst/>
                          <a:gdLst>
                            <a:gd name="txL" fmla="*/ 0 w 816"/>
                            <a:gd name="txT" fmla="*/ 0 h 357"/>
                            <a:gd name="txR" fmla="*/ 816 w 816"/>
                            <a:gd name="txB" fmla="*/ 357 h 357"/>
                          </a:gdLst>
                          <a:ahLst/>
                          <a:cxnLst>
                            <a:cxn ang="0">
                              <a:pos x="0" y="0"/>
                            </a:cxn>
                            <a:cxn ang="0">
                              <a:pos x="815" y="0"/>
                            </a:cxn>
                            <a:cxn ang="0">
                              <a:pos x="816" y="357"/>
                            </a:cxn>
                            <a:cxn ang="0">
                              <a:pos x="9" y="357"/>
                            </a:cxn>
                            <a:cxn ang="0">
                              <a:pos x="186" y="180"/>
                            </a:cxn>
                          </a:cxnLst>
                          <a:rect l="txL" t="txT" r="txR" b="txB"/>
                          <a:pathLst>
                            <a:path w="816" h="357">
                              <a:moveTo>
                                <a:pt x="0" y="0"/>
                              </a:moveTo>
                              <a:lnTo>
                                <a:pt x="815" y="0"/>
                              </a:lnTo>
                              <a:lnTo>
                                <a:pt x="816" y="357"/>
                              </a:lnTo>
                              <a:lnTo>
                                <a:pt x="9" y="357"/>
                              </a:lnTo>
                              <a:lnTo>
                                <a:pt x="186" y="180"/>
                              </a:lnTo>
                            </a:path>
                          </a:pathLst>
                        </a:custGeom>
                        <a:solidFill>
                          <a:schemeClr val="tx1">
                            <a:alpha val="50195"/>
                          </a:schemeClr>
                        </a:solidFill>
                        <a:ln w="9525" cap="flat" cmpd="sng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p>
                          <a:endParaRPr lang="zh-CN" altLang="en-US" dirty="0">
                            <a:latin typeface="Arial" panose="020B0604020202020204" pitchFamily="34" charset="0"/>
                          </a:endParaRPr>
                        </a:p>
                      </p:txBody>
                    </p:sp>
                  </p:grpSp>
                </p:grpSp>
              </p:grpSp>
              <p:grpSp>
                <p:nvGrpSpPr>
                  <p:cNvPr id="290910" name="Group 25"/>
                  <p:cNvGrpSpPr/>
                  <p:nvPr/>
                </p:nvGrpSpPr>
                <p:grpSpPr>
                  <a:xfrm>
                    <a:off x="48" y="1400"/>
                    <a:ext cx="493" cy="1635"/>
                    <a:chOff x="48" y="1400"/>
                    <a:chExt cx="493" cy="1635"/>
                  </a:xfrm>
                </p:grpSpPr>
                <p:sp>
                  <p:nvSpPr>
                    <p:cNvPr id="290911" name="Text Box 26"/>
                    <p:cNvSpPr txBox="1"/>
                    <p:nvPr/>
                  </p:nvSpPr>
                  <p:spPr>
                    <a:xfrm>
                      <a:off x="106" y="1400"/>
                      <a:ext cx="254" cy="29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A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90912" name="Text Box 27"/>
                    <p:cNvSpPr txBox="1"/>
                    <p:nvPr/>
                  </p:nvSpPr>
                  <p:spPr>
                    <a:xfrm>
                      <a:off x="48" y="2043"/>
                      <a:ext cx="361" cy="29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CS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90913" name="Text Box 28"/>
                    <p:cNvSpPr txBox="1"/>
                    <p:nvPr/>
                  </p:nvSpPr>
                  <p:spPr>
                    <a:xfrm>
                      <a:off x="48" y="2708"/>
                      <a:ext cx="254" cy="29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400" b="1" dirty="0">
                          <a:latin typeface="Times New Roman" panose="02020603050405020304" pitchFamily="18" charset="0"/>
                        </a:rPr>
                        <a:t>D</a:t>
                      </a:r>
                      <a:endParaRPr lang="en-US" altLang="zh-CN" sz="2400" b="1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90914" name="Text Box 29"/>
                    <p:cNvSpPr txBox="1"/>
                    <p:nvPr/>
                  </p:nvSpPr>
                  <p:spPr>
                    <a:xfrm>
                      <a:off x="183" y="2842"/>
                      <a:ext cx="358" cy="193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</a:rPr>
                        <a:t>OUT</a:t>
                      </a:r>
                      <a:endParaRPr lang="en-US" altLang="zh-CN" sz="14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90889" name="Group 30"/>
                <p:cNvGrpSpPr/>
                <p:nvPr/>
              </p:nvGrpSpPr>
              <p:grpSpPr>
                <a:xfrm>
                  <a:off x="632" y="714"/>
                  <a:ext cx="4737" cy="3168"/>
                  <a:chOff x="632" y="714"/>
                  <a:chExt cx="4737" cy="3168"/>
                </a:xfrm>
              </p:grpSpPr>
              <p:sp>
                <p:nvSpPr>
                  <p:cNvPr id="290890" name="Line 31"/>
                  <p:cNvSpPr/>
                  <p:nvPr/>
                </p:nvSpPr>
                <p:spPr>
                  <a:xfrm rot="10800000">
                    <a:off x="2880" y="3594"/>
                    <a:ext cx="480" cy="0"/>
                  </a:xfrm>
                  <a:prstGeom prst="line">
                    <a:avLst/>
                  </a:prstGeom>
                  <a:ln w="3810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stealth" w="med" len="med"/>
                  </a:ln>
                </p:spPr>
              </p:sp>
              <p:sp>
                <p:nvSpPr>
                  <p:cNvPr id="290891" name="Line 32"/>
                  <p:cNvSpPr/>
                  <p:nvPr/>
                </p:nvSpPr>
                <p:spPr>
                  <a:xfrm>
                    <a:off x="1366" y="810"/>
                    <a:ext cx="0" cy="2832"/>
                  </a:xfrm>
                  <a:prstGeom prst="line">
                    <a:avLst/>
                  </a:prstGeom>
                  <a:ln w="1905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0892" name="Line 33"/>
                  <p:cNvSpPr/>
                  <p:nvPr/>
                </p:nvSpPr>
                <p:spPr>
                  <a:xfrm>
                    <a:off x="4128" y="810"/>
                    <a:ext cx="0" cy="1920"/>
                  </a:xfrm>
                  <a:prstGeom prst="line">
                    <a:avLst/>
                  </a:prstGeom>
                  <a:ln w="1905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0893" name="Text Box 34"/>
                  <p:cNvSpPr txBox="1"/>
                  <p:nvPr/>
                </p:nvSpPr>
                <p:spPr>
                  <a:xfrm>
                    <a:off x="632" y="714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地址有效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0894" name="Text Box 35"/>
                  <p:cNvSpPr txBox="1"/>
                  <p:nvPr/>
                </p:nvSpPr>
                <p:spPr>
                  <a:xfrm>
                    <a:off x="4104" y="747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地址失效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290895" name="Group 36"/>
                  <p:cNvGrpSpPr/>
                  <p:nvPr/>
                </p:nvGrpSpPr>
                <p:grpSpPr>
                  <a:xfrm>
                    <a:off x="2976" y="1712"/>
                    <a:ext cx="1043" cy="251"/>
                    <a:chOff x="2976" y="1712"/>
                    <a:chExt cx="1043" cy="251"/>
                  </a:xfrm>
                </p:grpSpPr>
                <p:sp>
                  <p:nvSpPr>
                    <p:cNvPr id="290905" name="Line 37"/>
                    <p:cNvSpPr/>
                    <p:nvPr/>
                  </p:nvSpPr>
                  <p:spPr>
                    <a:xfrm flipH="1">
                      <a:off x="2976" y="1856"/>
                      <a:ext cx="336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290906" name="Text Box 38"/>
                    <p:cNvSpPr txBox="1"/>
                    <p:nvPr/>
                  </p:nvSpPr>
                  <p:spPr>
                    <a:xfrm>
                      <a:off x="3264" y="1712"/>
                      <a:ext cx="75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片选失效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290896" name="Line 39"/>
                  <p:cNvSpPr/>
                  <p:nvPr/>
                </p:nvSpPr>
                <p:spPr>
                  <a:xfrm>
                    <a:off x="2976" y="1242"/>
                    <a:ext cx="0" cy="2352"/>
                  </a:xfrm>
                  <a:prstGeom prst="line">
                    <a:avLst/>
                  </a:prstGeom>
                  <a:ln w="1905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0897" name="Line 40"/>
                  <p:cNvSpPr/>
                  <p:nvPr/>
                </p:nvSpPr>
                <p:spPr>
                  <a:xfrm>
                    <a:off x="2592" y="2682"/>
                    <a:ext cx="0" cy="1056"/>
                  </a:xfrm>
                  <a:prstGeom prst="line">
                    <a:avLst/>
                  </a:prstGeom>
                  <a:ln w="1905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90898" name="Group 41"/>
                  <p:cNvGrpSpPr/>
                  <p:nvPr/>
                </p:nvGrpSpPr>
                <p:grpSpPr>
                  <a:xfrm>
                    <a:off x="1352" y="3440"/>
                    <a:ext cx="1240" cy="251"/>
                    <a:chOff x="1352" y="3440"/>
                    <a:chExt cx="1240" cy="251"/>
                  </a:xfrm>
                </p:grpSpPr>
                <p:sp>
                  <p:nvSpPr>
                    <p:cNvPr id="290903" name="Line 42"/>
                    <p:cNvSpPr/>
                    <p:nvPr/>
                  </p:nvSpPr>
                  <p:spPr>
                    <a:xfrm>
                      <a:off x="2112" y="3594"/>
                      <a:ext cx="480" cy="0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folHlink"/>
                      </a:solidFill>
                      <a:prstDash val="solid"/>
                      <a:headEnd type="none" w="med" len="med"/>
                      <a:tailEnd type="stealth" w="med" len="med"/>
                    </a:ln>
                  </p:spPr>
                </p:sp>
                <p:sp>
                  <p:nvSpPr>
                    <p:cNvPr id="290904" name="Text Box 43"/>
                    <p:cNvSpPr txBox="1"/>
                    <p:nvPr/>
                  </p:nvSpPr>
                  <p:spPr>
                    <a:xfrm>
                      <a:off x="1352" y="3440"/>
                      <a:ext cx="755" cy="25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wrap="none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数据有效</a:t>
                      </a:r>
                      <a:endParaRPr lang="zh-CN" altLang="en-US" sz="2000" b="1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290899" name="Line 44"/>
                  <p:cNvSpPr/>
                  <p:nvPr/>
                </p:nvSpPr>
                <p:spPr>
                  <a:xfrm>
                    <a:off x="2880" y="1002"/>
                    <a:ext cx="0" cy="2880"/>
                  </a:xfrm>
                  <a:prstGeom prst="line">
                    <a:avLst/>
                  </a:prstGeom>
                  <a:ln w="19050" cap="flat" cmpd="sng">
                    <a:solidFill>
                      <a:schemeClr val="folHlink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90900" name="Text Box 45"/>
                  <p:cNvSpPr txBox="1"/>
                  <p:nvPr/>
                </p:nvSpPr>
                <p:spPr>
                  <a:xfrm>
                    <a:off x="3368" y="3450"/>
                    <a:ext cx="75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数据稳定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0901" name="Text Box 46"/>
                  <p:cNvSpPr txBox="1"/>
                  <p:nvPr/>
                </p:nvSpPr>
                <p:spPr>
                  <a:xfrm>
                    <a:off x="4934" y="3237"/>
                    <a:ext cx="435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</a:rPr>
                      <a:t>高阻</a:t>
                    </a:r>
                    <a:endParaRPr lang="zh-CN" altLang="en-US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0902" name="Line 47"/>
                  <p:cNvSpPr/>
                  <p:nvPr/>
                </p:nvSpPr>
                <p:spPr>
                  <a:xfrm>
                    <a:off x="4752" y="2874"/>
                    <a:ext cx="336" cy="336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90885" name="Line 48"/>
            <p:cNvSpPr/>
            <p:nvPr/>
          </p:nvSpPr>
          <p:spPr>
            <a:xfrm>
              <a:off x="96" y="206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0819" name="Text Box 49"/>
          <p:cNvSpPr txBox="1"/>
          <p:nvPr/>
        </p:nvSpPr>
        <p:spPr>
          <a:xfrm>
            <a:off x="2057400" y="228600"/>
            <a:ext cx="5410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(3) </a:t>
            </a:r>
            <a:r>
              <a:rPr lang="zh-CN" altLang="en-US" sz="3200" b="1" dirty="0">
                <a:latin typeface="Times New Roman" panose="02020603050405020304" pitchFamily="18" charset="0"/>
              </a:rPr>
              <a:t>静态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读 </a:t>
            </a:r>
            <a:r>
              <a:rPr lang="zh-CN" altLang="en-US" sz="3200" b="1" dirty="0">
                <a:latin typeface="Times New Roman" panose="02020603050405020304" pitchFamily="18" charset="0"/>
              </a:rPr>
              <a:t>时序 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5" name="Group 50"/>
          <p:cNvGrpSpPr/>
          <p:nvPr/>
        </p:nvGrpSpPr>
        <p:grpSpPr>
          <a:xfrm>
            <a:off x="3733800" y="1457325"/>
            <a:ext cx="2362200" cy="633413"/>
            <a:chOff x="1392" y="918"/>
            <a:chExt cx="1488" cy="399"/>
          </a:xfrm>
        </p:grpSpPr>
        <p:grpSp>
          <p:nvGrpSpPr>
            <p:cNvPr id="290879" name="Group 51"/>
            <p:cNvGrpSpPr/>
            <p:nvPr/>
          </p:nvGrpSpPr>
          <p:grpSpPr>
            <a:xfrm>
              <a:off x="1968" y="918"/>
              <a:ext cx="289" cy="399"/>
              <a:chOff x="4455" y="588"/>
              <a:chExt cx="289" cy="399"/>
            </a:xfrm>
          </p:grpSpPr>
          <p:sp>
            <p:nvSpPr>
              <p:cNvPr id="290882" name="Text Box 52"/>
              <p:cNvSpPr txBox="1"/>
              <p:nvPr/>
            </p:nvSpPr>
            <p:spPr>
              <a:xfrm>
                <a:off x="4455" y="588"/>
                <a:ext cx="18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883" name="Text Box 53"/>
              <p:cNvSpPr txBox="1"/>
              <p:nvPr/>
            </p:nvSpPr>
            <p:spPr>
              <a:xfrm>
                <a:off x="4560" y="813"/>
                <a:ext cx="184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A</a:t>
                </a:r>
                <a:endPara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0880" name="Line 54"/>
            <p:cNvSpPr/>
            <p:nvPr/>
          </p:nvSpPr>
          <p:spPr>
            <a:xfrm>
              <a:off x="2400" y="1146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881" name="Line 55"/>
            <p:cNvSpPr/>
            <p:nvPr/>
          </p:nvSpPr>
          <p:spPr>
            <a:xfrm rot="10800000">
              <a:off x="1392" y="1146"/>
              <a:ext cx="48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27384" name="Line 56"/>
          <p:cNvSpPr/>
          <p:nvPr/>
        </p:nvSpPr>
        <p:spPr>
          <a:xfrm>
            <a:off x="4572000" y="2895600"/>
            <a:ext cx="0" cy="2595563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7" name="Group 57"/>
          <p:cNvGrpSpPr/>
          <p:nvPr/>
        </p:nvGrpSpPr>
        <p:grpSpPr>
          <a:xfrm>
            <a:off x="4572000" y="3590925"/>
            <a:ext cx="1524000" cy="633413"/>
            <a:chOff x="1920" y="2262"/>
            <a:chExt cx="960" cy="399"/>
          </a:xfrm>
        </p:grpSpPr>
        <p:grpSp>
          <p:nvGrpSpPr>
            <p:cNvPr id="290874" name="Group 58"/>
            <p:cNvGrpSpPr/>
            <p:nvPr/>
          </p:nvGrpSpPr>
          <p:grpSpPr>
            <a:xfrm>
              <a:off x="2208" y="2262"/>
              <a:ext cx="364" cy="399"/>
              <a:chOff x="4455" y="588"/>
              <a:chExt cx="364" cy="399"/>
            </a:xfrm>
          </p:grpSpPr>
          <p:sp>
            <p:nvSpPr>
              <p:cNvPr id="290877" name="Text Box 59"/>
              <p:cNvSpPr txBox="1"/>
              <p:nvPr/>
            </p:nvSpPr>
            <p:spPr>
              <a:xfrm>
                <a:off x="4455" y="588"/>
                <a:ext cx="18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878" name="Text Box 60"/>
              <p:cNvSpPr txBox="1"/>
              <p:nvPr/>
            </p:nvSpPr>
            <p:spPr>
              <a:xfrm>
                <a:off x="4560" y="813"/>
                <a:ext cx="259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CO</a:t>
                </a:r>
                <a:endPara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0875" name="Line 61"/>
            <p:cNvSpPr/>
            <p:nvPr/>
          </p:nvSpPr>
          <p:spPr>
            <a:xfrm>
              <a:off x="2592" y="2440"/>
              <a:ext cx="288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876" name="Line 62"/>
            <p:cNvSpPr/>
            <p:nvPr/>
          </p:nvSpPr>
          <p:spPr>
            <a:xfrm rot="10800000">
              <a:off x="1920" y="2440"/>
              <a:ext cx="288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27391" name="Line 63"/>
          <p:cNvSpPr/>
          <p:nvPr/>
        </p:nvSpPr>
        <p:spPr>
          <a:xfrm>
            <a:off x="8839200" y="3738563"/>
            <a:ext cx="0" cy="76200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9" name="Group 64"/>
          <p:cNvGrpSpPr/>
          <p:nvPr/>
        </p:nvGrpSpPr>
        <p:grpSpPr>
          <a:xfrm>
            <a:off x="7772400" y="3594100"/>
            <a:ext cx="1371600" cy="633413"/>
            <a:chOff x="3936" y="2264"/>
            <a:chExt cx="864" cy="399"/>
          </a:xfrm>
        </p:grpSpPr>
        <p:grpSp>
          <p:nvGrpSpPr>
            <p:cNvPr id="290869" name="Group 65"/>
            <p:cNvGrpSpPr/>
            <p:nvPr/>
          </p:nvGrpSpPr>
          <p:grpSpPr>
            <a:xfrm>
              <a:off x="4168" y="2264"/>
              <a:ext cx="439" cy="399"/>
              <a:chOff x="4455" y="588"/>
              <a:chExt cx="439" cy="399"/>
            </a:xfrm>
          </p:grpSpPr>
          <p:sp>
            <p:nvSpPr>
              <p:cNvPr id="290872" name="Text Box 66"/>
              <p:cNvSpPr txBox="1"/>
              <p:nvPr/>
            </p:nvSpPr>
            <p:spPr>
              <a:xfrm>
                <a:off x="4455" y="588"/>
                <a:ext cx="18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873" name="Text Box 67"/>
              <p:cNvSpPr txBox="1"/>
              <p:nvPr/>
            </p:nvSpPr>
            <p:spPr>
              <a:xfrm>
                <a:off x="4560" y="813"/>
                <a:ext cx="334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OHA</a:t>
                </a:r>
                <a:endPara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0870" name="Line 68"/>
            <p:cNvSpPr/>
            <p:nvPr/>
          </p:nvSpPr>
          <p:spPr>
            <a:xfrm flipH="1">
              <a:off x="4608" y="2440"/>
              <a:ext cx="192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871" name="Line 69"/>
            <p:cNvSpPr/>
            <p:nvPr/>
          </p:nvSpPr>
          <p:spPr>
            <a:xfrm rot="-10800000" flipH="1">
              <a:off x="3936" y="2440"/>
              <a:ext cx="192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1" name="Group 70"/>
          <p:cNvGrpSpPr/>
          <p:nvPr/>
        </p:nvGrpSpPr>
        <p:grpSpPr>
          <a:xfrm>
            <a:off x="6248400" y="4889500"/>
            <a:ext cx="2819400" cy="633413"/>
            <a:chOff x="2976" y="3080"/>
            <a:chExt cx="1776" cy="399"/>
          </a:xfrm>
        </p:grpSpPr>
        <p:sp>
          <p:nvSpPr>
            <p:cNvPr id="290864" name="Line 71"/>
            <p:cNvSpPr/>
            <p:nvPr/>
          </p:nvSpPr>
          <p:spPr>
            <a:xfrm>
              <a:off x="4128" y="3210"/>
              <a:ext cx="624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0865" name="Line 72"/>
            <p:cNvSpPr/>
            <p:nvPr/>
          </p:nvSpPr>
          <p:spPr>
            <a:xfrm rot="10800000">
              <a:off x="2976" y="3210"/>
              <a:ext cx="624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grpSp>
          <p:nvGrpSpPr>
            <p:cNvPr id="290866" name="Group 73"/>
            <p:cNvGrpSpPr/>
            <p:nvPr/>
          </p:nvGrpSpPr>
          <p:grpSpPr>
            <a:xfrm>
              <a:off x="3651" y="3080"/>
              <a:ext cx="428" cy="399"/>
              <a:chOff x="4455" y="588"/>
              <a:chExt cx="428" cy="399"/>
            </a:xfrm>
          </p:grpSpPr>
          <p:sp>
            <p:nvSpPr>
              <p:cNvPr id="290867" name="Text Box 74"/>
              <p:cNvSpPr txBox="1"/>
              <p:nvPr/>
            </p:nvSpPr>
            <p:spPr>
              <a:xfrm>
                <a:off x="4455" y="588"/>
                <a:ext cx="18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868" name="Text Box 75"/>
              <p:cNvSpPr txBox="1"/>
              <p:nvPr/>
            </p:nvSpPr>
            <p:spPr>
              <a:xfrm>
                <a:off x="4560" y="813"/>
                <a:ext cx="323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OTD</a:t>
                </a:r>
                <a:endPara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3" name="Group 76"/>
          <p:cNvGrpSpPr/>
          <p:nvPr/>
        </p:nvGrpSpPr>
        <p:grpSpPr>
          <a:xfrm>
            <a:off x="3695700" y="1027113"/>
            <a:ext cx="4343400" cy="633413"/>
            <a:chOff x="1368" y="647"/>
            <a:chExt cx="2736" cy="399"/>
          </a:xfrm>
        </p:grpSpPr>
        <p:sp>
          <p:nvSpPr>
            <p:cNvPr id="290859" name="Line 77"/>
            <p:cNvSpPr/>
            <p:nvPr/>
          </p:nvSpPr>
          <p:spPr>
            <a:xfrm>
              <a:off x="3048" y="875"/>
              <a:ext cx="1056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grpSp>
          <p:nvGrpSpPr>
            <p:cNvPr id="290860" name="Group 78"/>
            <p:cNvGrpSpPr/>
            <p:nvPr/>
          </p:nvGrpSpPr>
          <p:grpSpPr>
            <a:xfrm>
              <a:off x="2501" y="647"/>
              <a:ext cx="359" cy="399"/>
              <a:chOff x="4455" y="588"/>
              <a:chExt cx="359" cy="399"/>
            </a:xfrm>
          </p:grpSpPr>
          <p:sp>
            <p:nvSpPr>
              <p:cNvPr id="290862" name="Text Box 79"/>
              <p:cNvSpPr txBox="1"/>
              <p:nvPr/>
            </p:nvSpPr>
            <p:spPr>
              <a:xfrm>
                <a:off x="4455" y="588"/>
                <a:ext cx="18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0863" name="Text Box 80"/>
              <p:cNvSpPr txBox="1"/>
              <p:nvPr/>
            </p:nvSpPr>
            <p:spPr>
              <a:xfrm>
                <a:off x="4560" y="813"/>
                <a:ext cx="254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RC</a:t>
                </a:r>
                <a:endPara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0861" name="Line 81"/>
            <p:cNvSpPr/>
            <p:nvPr/>
          </p:nvSpPr>
          <p:spPr>
            <a:xfrm rot="10800000">
              <a:off x="1368" y="875"/>
              <a:ext cx="1056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5" name="Group 82"/>
          <p:cNvGrpSpPr/>
          <p:nvPr/>
        </p:nvGrpSpPr>
        <p:grpSpPr>
          <a:xfrm>
            <a:off x="2838450" y="2720975"/>
            <a:ext cx="1714500" cy="398463"/>
            <a:chOff x="828" y="1714"/>
            <a:chExt cx="1080" cy="251"/>
          </a:xfrm>
        </p:grpSpPr>
        <p:sp>
          <p:nvSpPr>
            <p:cNvPr id="290857" name="Text Box 83"/>
            <p:cNvSpPr txBox="1"/>
            <p:nvPr/>
          </p:nvSpPr>
          <p:spPr>
            <a:xfrm>
              <a:off x="828" y="1714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片选有效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0858" name="Line 84"/>
            <p:cNvSpPr/>
            <p:nvPr/>
          </p:nvSpPr>
          <p:spPr>
            <a:xfrm>
              <a:off x="1572" y="1848"/>
              <a:ext cx="336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27413" name="Rectangle 8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" name="Group 86"/>
          <p:cNvGrpSpPr/>
          <p:nvPr/>
        </p:nvGrpSpPr>
        <p:grpSpPr>
          <a:xfrm>
            <a:off x="2514600" y="6040438"/>
            <a:ext cx="6948488" cy="584200"/>
            <a:chOff x="624" y="3805"/>
            <a:chExt cx="4377" cy="368"/>
          </a:xfrm>
        </p:grpSpPr>
        <p:sp>
          <p:nvSpPr>
            <p:cNvPr id="290855" name="Rectangle 87"/>
            <p:cNvSpPr/>
            <p:nvPr/>
          </p:nvSpPr>
          <p:spPr>
            <a:xfrm>
              <a:off x="624" y="3805"/>
              <a:ext cx="4377" cy="368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r>
                <a:rPr lang="zh-CN" altLang="en-US" sz="32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读周期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2800" b="1" i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t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RC</a:t>
              </a:r>
              <a:r>
                <a:rPr lang="en-US" altLang="zh-CN" sz="2800" b="1" baseline="-25000" dirty="0">
                  <a:latin typeface="宋体" panose="02010600030101010101" pitchFamily="2" charset="-122"/>
                </a:rPr>
                <a:t>  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地址有效    下一次地址有效</a:t>
              </a:r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sp>
          <p:nvSpPr>
            <p:cNvPr id="290856" name="Line 88"/>
            <p:cNvSpPr/>
            <p:nvPr/>
          </p:nvSpPr>
          <p:spPr>
            <a:xfrm>
              <a:off x="2985" y="4032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7" name="Group 89"/>
          <p:cNvGrpSpPr/>
          <p:nvPr/>
        </p:nvGrpSpPr>
        <p:grpSpPr>
          <a:xfrm>
            <a:off x="2514600" y="6040438"/>
            <a:ext cx="7467600" cy="584200"/>
            <a:chOff x="624" y="3805"/>
            <a:chExt cx="4704" cy="368"/>
          </a:xfrm>
        </p:grpSpPr>
        <p:sp>
          <p:nvSpPr>
            <p:cNvPr id="290850" name="Rectangle 90"/>
            <p:cNvSpPr/>
            <p:nvPr/>
          </p:nvSpPr>
          <p:spPr>
            <a:xfrm>
              <a:off x="624" y="3896"/>
              <a:ext cx="4368" cy="2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0851" name="Group 91"/>
            <p:cNvGrpSpPr/>
            <p:nvPr/>
          </p:nvGrpSpPr>
          <p:grpSpPr>
            <a:xfrm>
              <a:off x="853" y="3805"/>
              <a:ext cx="4475" cy="368"/>
              <a:chOff x="853" y="3805"/>
              <a:chExt cx="4475" cy="368"/>
            </a:xfrm>
          </p:grpSpPr>
          <p:sp>
            <p:nvSpPr>
              <p:cNvPr id="290852" name="Rectangle 92"/>
              <p:cNvSpPr/>
              <p:nvPr/>
            </p:nvSpPr>
            <p:spPr>
              <a:xfrm>
                <a:off x="853" y="3805"/>
                <a:ext cx="289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3200" b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读时间</a:t>
                </a:r>
                <a:r>
                  <a:rPr lang="zh-CN" altLang="en-US" sz="2800" b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  </a:t>
                </a:r>
                <a:r>
                  <a:rPr lang="en-US" altLang="zh-CN" sz="2800" b="1" i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A</a:t>
                </a:r>
                <a:r>
                  <a:rPr lang="en-US" altLang="zh-CN" sz="2800" b="1" baseline="-25000" dirty="0">
                    <a:latin typeface="宋体" panose="02010600030101010101" pitchFamily="2" charset="-122"/>
                  </a:rPr>
                  <a:t>  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地址有效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0853" name="Line 93"/>
              <p:cNvSpPr/>
              <p:nvPr/>
            </p:nvSpPr>
            <p:spPr>
              <a:xfrm>
                <a:off x="3312" y="4032"/>
                <a:ext cx="3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0854" name="Rectangle 94"/>
              <p:cNvSpPr/>
              <p:nvPr/>
            </p:nvSpPr>
            <p:spPr>
              <a:xfrm>
                <a:off x="3744" y="3835"/>
                <a:ext cx="1584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800" b="1" dirty="0">
                    <a:latin typeface="宋体" panose="02010600030101010101" pitchFamily="2" charset="-122"/>
                  </a:rPr>
                  <a:t>数据稳定 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29" name="Group 95"/>
          <p:cNvGrpSpPr/>
          <p:nvPr/>
        </p:nvGrpSpPr>
        <p:grpSpPr>
          <a:xfrm>
            <a:off x="2514600" y="6040438"/>
            <a:ext cx="6934200" cy="522288"/>
            <a:chOff x="624" y="3805"/>
            <a:chExt cx="4368" cy="329"/>
          </a:xfrm>
        </p:grpSpPr>
        <p:sp>
          <p:nvSpPr>
            <p:cNvPr id="290845" name="Rectangle 96"/>
            <p:cNvSpPr/>
            <p:nvPr/>
          </p:nvSpPr>
          <p:spPr>
            <a:xfrm>
              <a:off x="624" y="3857"/>
              <a:ext cx="4368" cy="2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0846" name="Group 97"/>
            <p:cNvGrpSpPr/>
            <p:nvPr/>
          </p:nvGrpSpPr>
          <p:grpSpPr>
            <a:xfrm>
              <a:off x="1573" y="3805"/>
              <a:ext cx="2779" cy="329"/>
              <a:chOff x="1573" y="3805"/>
              <a:chExt cx="2779" cy="329"/>
            </a:xfrm>
          </p:grpSpPr>
          <p:sp>
            <p:nvSpPr>
              <p:cNvPr id="290847" name="Rectangle 98"/>
              <p:cNvSpPr/>
              <p:nvPr/>
            </p:nvSpPr>
            <p:spPr>
              <a:xfrm>
                <a:off x="1573" y="3805"/>
                <a:ext cx="139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CO</a:t>
                </a:r>
                <a:r>
                  <a:rPr lang="en-US" altLang="zh-CN" sz="2800" b="1" baseline="-25000" dirty="0">
                    <a:latin typeface="宋体" panose="02010600030101010101" pitchFamily="2" charset="-122"/>
                  </a:rPr>
                  <a:t> 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片选有效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0848" name="Line 99"/>
              <p:cNvSpPr/>
              <p:nvPr/>
            </p:nvSpPr>
            <p:spPr>
              <a:xfrm>
                <a:off x="3002" y="3984"/>
                <a:ext cx="3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0849" name="Rectangle 100"/>
              <p:cNvSpPr/>
              <p:nvPr/>
            </p:nvSpPr>
            <p:spPr>
              <a:xfrm>
                <a:off x="3341" y="3805"/>
                <a:ext cx="101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latin typeface="宋体" panose="02010600030101010101" pitchFamily="2" charset="-122"/>
                  </a:rPr>
                  <a:t>数据稳定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31" name="Group 101"/>
          <p:cNvGrpSpPr/>
          <p:nvPr/>
        </p:nvGrpSpPr>
        <p:grpSpPr>
          <a:xfrm>
            <a:off x="2514600" y="6040438"/>
            <a:ext cx="7010400" cy="522288"/>
            <a:chOff x="624" y="3805"/>
            <a:chExt cx="4416" cy="329"/>
          </a:xfrm>
        </p:grpSpPr>
        <p:sp>
          <p:nvSpPr>
            <p:cNvPr id="290840" name="Rectangle 102"/>
            <p:cNvSpPr/>
            <p:nvPr/>
          </p:nvSpPr>
          <p:spPr>
            <a:xfrm>
              <a:off x="624" y="3857"/>
              <a:ext cx="4368" cy="2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0841" name="Group 103"/>
            <p:cNvGrpSpPr/>
            <p:nvPr/>
          </p:nvGrpSpPr>
          <p:grpSpPr>
            <a:xfrm>
              <a:off x="1536" y="3805"/>
              <a:ext cx="3504" cy="329"/>
              <a:chOff x="1536" y="3805"/>
              <a:chExt cx="3504" cy="329"/>
            </a:xfrm>
          </p:grpSpPr>
          <p:sp>
            <p:nvSpPr>
              <p:cNvPr id="290842" name="Rectangle 104"/>
              <p:cNvSpPr/>
              <p:nvPr/>
            </p:nvSpPr>
            <p:spPr>
              <a:xfrm>
                <a:off x="1536" y="3805"/>
                <a:ext cx="138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OTD</a:t>
                </a:r>
                <a:r>
                  <a:rPr lang="en-US" altLang="zh-CN" sz="2800" b="1" baseline="-25000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片选失效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0843" name="Line 105"/>
              <p:cNvSpPr/>
              <p:nvPr/>
            </p:nvSpPr>
            <p:spPr>
              <a:xfrm>
                <a:off x="2965" y="3984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0844" name="Rectangle 106"/>
              <p:cNvSpPr/>
              <p:nvPr/>
            </p:nvSpPr>
            <p:spPr>
              <a:xfrm>
                <a:off x="3304" y="3805"/>
                <a:ext cx="173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800" b="1" dirty="0">
                    <a:latin typeface="宋体" panose="02010600030101010101" pitchFamily="2" charset="-122"/>
                  </a:rPr>
                  <a:t>输出高阻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282625" name="Group 107"/>
          <p:cNvGrpSpPr/>
          <p:nvPr/>
        </p:nvGrpSpPr>
        <p:grpSpPr>
          <a:xfrm>
            <a:off x="2514600" y="6040438"/>
            <a:ext cx="6934200" cy="522288"/>
            <a:chOff x="624" y="3805"/>
            <a:chExt cx="4368" cy="329"/>
          </a:xfrm>
        </p:grpSpPr>
        <p:sp>
          <p:nvSpPr>
            <p:cNvPr id="290836" name="Rectangle 108"/>
            <p:cNvSpPr/>
            <p:nvPr/>
          </p:nvSpPr>
          <p:spPr>
            <a:xfrm>
              <a:off x="624" y="3863"/>
              <a:ext cx="4368" cy="2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0837" name="Group 109"/>
            <p:cNvGrpSpPr/>
            <p:nvPr/>
          </p:nvGrpSpPr>
          <p:grpSpPr>
            <a:xfrm>
              <a:off x="1573" y="3805"/>
              <a:ext cx="3227" cy="329"/>
              <a:chOff x="1573" y="3805"/>
              <a:chExt cx="3227" cy="329"/>
            </a:xfrm>
          </p:grpSpPr>
          <p:sp>
            <p:nvSpPr>
              <p:cNvPr id="290838" name="Rectangle 110"/>
              <p:cNvSpPr/>
              <p:nvPr/>
            </p:nvSpPr>
            <p:spPr>
              <a:xfrm>
                <a:off x="1573" y="3805"/>
                <a:ext cx="183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i="1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OHA</a:t>
                </a:r>
                <a:r>
                  <a:rPr lang="en-US" altLang="zh-CN" sz="2800" b="1" baseline="-25000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地址失效后的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0839" name="Rectangle 111"/>
              <p:cNvSpPr/>
              <p:nvPr/>
            </p:nvSpPr>
            <p:spPr>
              <a:xfrm>
                <a:off x="3341" y="3805"/>
                <a:ext cx="145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latin typeface="宋体" panose="02010600030101010101" pitchFamily="2" charset="-122"/>
                  </a:rPr>
                  <a:t>数据维持时间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290834" name="AutoShape 11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083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2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82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22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91842" name="Group 2"/>
          <p:cNvGrpSpPr/>
          <p:nvPr/>
        </p:nvGrpSpPr>
        <p:grpSpPr>
          <a:xfrm>
            <a:off x="1676400" y="1371600"/>
            <a:ext cx="8847138" cy="4556126"/>
            <a:chOff x="96" y="864"/>
            <a:chExt cx="5573" cy="2870"/>
          </a:xfrm>
        </p:grpSpPr>
        <p:grpSp>
          <p:nvGrpSpPr>
            <p:cNvPr id="291923" name="Group 3"/>
            <p:cNvGrpSpPr/>
            <p:nvPr/>
          </p:nvGrpSpPr>
          <p:grpSpPr>
            <a:xfrm>
              <a:off x="96" y="864"/>
              <a:ext cx="5573" cy="2870"/>
              <a:chOff x="96" y="864"/>
              <a:chExt cx="5573" cy="2870"/>
            </a:xfrm>
          </p:grpSpPr>
          <p:grpSp>
            <p:nvGrpSpPr>
              <p:cNvPr id="291925" name="Group 4"/>
              <p:cNvGrpSpPr/>
              <p:nvPr/>
            </p:nvGrpSpPr>
            <p:grpSpPr>
              <a:xfrm>
                <a:off x="525" y="1627"/>
                <a:ext cx="5139" cy="254"/>
                <a:chOff x="525" y="1627"/>
                <a:chExt cx="5139" cy="254"/>
              </a:xfrm>
            </p:grpSpPr>
            <p:sp>
              <p:nvSpPr>
                <p:cNvPr id="291960" name="Freeform 5"/>
                <p:cNvSpPr/>
                <p:nvPr/>
              </p:nvSpPr>
              <p:spPr>
                <a:xfrm>
                  <a:off x="528" y="1627"/>
                  <a:ext cx="5121" cy="243"/>
                </a:xfrm>
                <a:custGeom>
                  <a:avLst/>
                  <a:gdLst>
                    <a:gd name="txL" fmla="*/ 0 w 5121"/>
                    <a:gd name="txT" fmla="*/ 0 h 243"/>
                    <a:gd name="txR" fmla="*/ 5121 w 5121"/>
                    <a:gd name="txB" fmla="*/ 243 h 243"/>
                  </a:gdLst>
                  <a:ahLst/>
                  <a:cxnLst>
                    <a:cxn ang="0">
                      <a:pos x="0" y="3"/>
                    </a:cxn>
                    <a:cxn ang="0">
                      <a:pos x="1104" y="0"/>
                    </a:cxn>
                    <a:cxn ang="0">
                      <a:pos x="1346" y="243"/>
                    </a:cxn>
                    <a:cxn ang="0">
                      <a:pos x="3273" y="242"/>
                    </a:cxn>
                    <a:cxn ang="0">
                      <a:pos x="3509" y="6"/>
                    </a:cxn>
                    <a:cxn ang="0">
                      <a:pos x="5121" y="5"/>
                    </a:cxn>
                  </a:cxnLst>
                  <a:rect l="txL" t="txT" r="txR" b="txB"/>
                  <a:pathLst>
                    <a:path w="5121" h="243">
                      <a:moveTo>
                        <a:pt x="0" y="3"/>
                      </a:moveTo>
                      <a:lnTo>
                        <a:pt x="1104" y="0"/>
                      </a:lnTo>
                      <a:lnTo>
                        <a:pt x="1346" y="243"/>
                      </a:lnTo>
                      <a:lnTo>
                        <a:pt x="3273" y="242"/>
                      </a:lnTo>
                      <a:lnTo>
                        <a:pt x="3509" y="6"/>
                      </a:lnTo>
                      <a:lnTo>
                        <a:pt x="5121" y="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61" name="Freeform 6"/>
                <p:cNvSpPr/>
                <p:nvPr/>
              </p:nvSpPr>
              <p:spPr>
                <a:xfrm>
                  <a:off x="525" y="1627"/>
                  <a:ext cx="1349" cy="254"/>
                </a:xfrm>
                <a:custGeom>
                  <a:avLst/>
                  <a:gdLst>
                    <a:gd name="txL" fmla="*/ 0 w 1349"/>
                    <a:gd name="txT" fmla="*/ 0 h 254"/>
                    <a:gd name="txR" fmla="*/ 1349 w 1349"/>
                    <a:gd name="txB" fmla="*/ 254 h 254"/>
                  </a:gdLst>
                  <a:ahLst/>
                  <a:cxnLst>
                    <a:cxn ang="0">
                      <a:pos x="3" y="0"/>
                    </a:cxn>
                    <a:cxn ang="0">
                      <a:pos x="1097" y="0"/>
                    </a:cxn>
                    <a:cxn ang="0">
                      <a:pos x="1349" y="254"/>
                    </a:cxn>
                    <a:cxn ang="0">
                      <a:pos x="0" y="254"/>
                    </a:cxn>
                  </a:cxnLst>
                  <a:rect l="txL" t="txT" r="txR" b="txB"/>
                  <a:pathLst>
                    <a:path w="1349" h="254">
                      <a:moveTo>
                        <a:pt x="3" y="0"/>
                      </a:moveTo>
                      <a:lnTo>
                        <a:pt x="1097" y="0"/>
                      </a:lnTo>
                      <a:lnTo>
                        <a:pt x="1349" y="254"/>
                      </a:lnTo>
                      <a:lnTo>
                        <a:pt x="0" y="254"/>
                      </a:lnTo>
                    </a:path>
                  </a:pathLst>
                </a:custGeom>
                <a:solidFill>
                  <a:schemeClr val="tx1">
                    <a:alpha val="50195"/>
                  </a:schemeClr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62" name="Freeform 7"/>
                <p:cNvSpPr/>
                <p:nvPr/>
              </p:nvSpPr>
              <p:spPr>
                <a:xfrm>
                  <a:off x="3791" y="1627"/>
                  <a:ext cx="1873" cy="254"/>
                </a:xfrm>
                <a:custGeom>
                  <a:avLst/>
                  <a:gdLst>
                    <a:gd name="txL" fmla="*/ 0 w 1873"/>
                    <a:gd name="txT" fmla="*/ 0 h 254"/>
                    <a:gd name="txR" fmla="*/ 1873 w 1873"/>
                    <a:gd name="txB" fmla="*/ 254 h 254"/>
                  </a:gdLst>
                  <a:ahLst/>
                  <a:cxnLst>
                    <a:cxn ang="0">
                      <a:pos x="1873" y="0"/>
                    </a:cxn>
                    <a:cxn ang="0">
                      <a:pos x="258" y="0"/>
                    </a:cxn>
                    <a:cxn ang="0">
                      <a:pos x="0" y="254"/>
                    </a:cxn>
                    <a:cxn ang="0">
                      <a:pos x="1870" y="254"/>
                    </a:cxn>
                  </a:cxnLst>
                  <a:rect l="txL" t="txT" r="txR" b="txB"/>
                  <a:pathLst>
                    <a:path w="1873" h="254">
                      <a:moveTo>
                        <a:pt x="1873" y="0"/>
                      </a:moveTo>
                      <a:lnTo>
                        <a:pt x="258" y="0"/>
                      </a:lnTo>
                      <a:lnTo>
                        <a:pt x="0" y="254"/>
                      </a:lnTo>
                      <a:lnTo>
                        <a:pt x="1870" y="254"/>
                      </a:lnTo>
                    </a:path>
                  </a:pathLst>
                </a:custGeom>
                <a:solidFill>
                  <a:schemeClr val="tx1">
                    <a:alpha val="50195"/>
                  </a:schemeClr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91926" name="Group 8"/>
              <p:cNvGrpSpPr/>
              <p:nvPr/>
            </p:nvGrpSpPr>
            <p:grpSpPr>
              <a:xfrm>
                <a:off x="558" y="864"/>
                <a:ext cx="5055" cy="342"/>
                <a:chOff x="558" y="864"/>
                <a:chExt cx="5055" cy="342"/>
              </a:xfrm>
            </p:grpSpPr>
            <p:sp>
              <p:nvSpPr>
                <p:cNvPr id="291955" name="Freeform 9"/>
                <p:cNvSpPr/>
                <p:nvPr/>
              </p:nvSpPr>
              <p:spPr>
                <a:xfrm>
                  <a:off x="723" y="864"/>
                  <a:ext cx="4329" cy="333"/>
                </a:xfrm>
                <a:custGeom>
                  <a:avLst/>
                  <a:gdLst>
                    <a:gd name="txL" fmla="*/ 0 w 4329"/>
                    <a:gd name="txT" fmla="*/ 0 h 333"/>
                    <a:gd name="txR" fmla="*/ 4329 w 4329"/>
                    <a:gd name="txB" fmla="*/ 333 h 333"/>
                  </a:gdLst>
                  <a:ahLst/>
                  <a:cxnLst>
                    <a:cxn ang="0">
                      <a:pos x="168" y="1"/>
                    </a:cxn>
                    <a:cxn ang="0">
                      <a:pos x="0" y="167"/>
                    </a:cxn>
                    <a:cxn ang="0">
                      <a:pos x="167" y="332"/>
                    </a:cxn>
                    <a:cxn ang="0">
                      <a:pos x="4167" y="333"/>
                    </a:cxn>
                    <a:cxn ang="0">
                      <a:pos x="4329" y="174"/>
                    </a:cxn>
                    <a:cxn ang="0">
                      <a:pos x="4152" y="0"/>
                    </a:cxn>
                    <a:cxn ang="0">
                      <a:pos x="168" y="1"/>
                    </a:cxn>
                  </a:cxnLst>
                  <a:rect l="txL" t="txT" r="txR" b="txB"/>
                  <a:pathLst>
                    <a:path w="4329" h="333">
                      <a:moveTo>
                        <a:pt x="168" y="1"/>
                      </a:moveTo>
                      <a:lnTo>
                        <a:pt x="0" y="167"/>
                      </a:lnTo>
                      <a:lnTo>
                        <a:pt x="167" y="332"/>
                      </a:lnTo>
                      <a:lnTo>
                        <a:pt x="4167" y="333"/>
                      </a:lnTo>
                      <a:lnTo>
                        <a:pt x="4329" y="174"/>
                      </a:lnTo>
                      <a:lnTo>
                        <a:pt x="4152" y="0"/>
                      </a:lnTo>
                      <a:lnTo>
                        <a:pt x="168" y="1"/>
                      </a:lnTo>
                      <a:close/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56" name="Freeform 10"/>
                <p:cNvSpPr/>
                <p:nvPr/>
              </p:nvSpPr>
              <p:spPr>
                <a:xfrm>
                  <a:off x="5040" y="866"/>
                  <a:ext cx="561" cy="170"/>
                </a:xfrm>
                <a:custGeom>
                  <a:avLst/>
                  <a:gdLst>
                    <a:gd name="txL" fmla="*/ 0 w 561"/>
                    <a:gd name="txT" fmla="*/ 0 h 170"/>
                    <a:gd name="txR" fmla="*/ 561 w 561"/>
                    <a:gd name="txB" fmla="*/ 170 h 170"/>
                  </a:gdLst>
                  <a:ahLst/>
                  <a:cxnLst>
                    <a:cxn ang="0">
                      <a:pos x="0" y="170"/>
                    </a:cxn>
                    <a:cxn ang="0">
                      <a:pos x="171" y="0"/>
                    </a:cxn>
                    <a:cxn ang="0">
                      <a:pos x="268" y="0"/>
                    </a:cxn>
                    <a:cxn ang="0">
                      <a:pos x="561" y="1"/>
                    </a:cxn>
                  </a:cxnLst>
                  <a:rect l="txL" t="txT" r="txR" b="txB"/>
                  <a:pathLst>
                    <a:path w="561" h="170">
                      <a:moveTo>
                        <a:pt x="0" y="170"/>
                      </a:moveTo>
                      <a:lnTo>
                        <a:pt x="171" y="0"/>
                      </a:lnTo>
                      <a:lnTo>
                        <a:pt x="268" y="0"/>
                      </a:lnTo>
                      <a:lnTo>
                        <a:pt x="561" y="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57" name="Freeform 11"/>
                <p:cNvSpPr/>
                <p:nvPr/>
              </p:nvSpPr>
              <p:spPr>
                <a:xfrm>
                  <a:off x="5040" y="1031"/>
                  <a:ext cx="573" cy="175"/>
                </a:xfrm>
                <a:custGeom>
                  <a:avLst/>
                  <a:gdLst>
                    <a:gd name="txL" fmla="*/ 0 w 573"/>
                    <a:gd name="txT" fmla="*/ 0 h 175"/>
                    <a:gd name="txR" fmla="*/ 573 w 573"/>
                    <a:gd name="txB" fmla="*/ 175 h 175"/>
                  </a:gdLst>
                  <a:ahLst/>
                  <a:cxnLst>
                    <a:cxn ang="0">
                      <a:pos x="0" y="0"/>
                    </a:cxn>
                    <a:cxn ang="0">
                      <a:pos x="177" y="175"/>
                    </a:cxn>
                    <a:cxn ang="0">
                      <a:pos x="573" y="175"/>
                    </a:cxn>
                  </a:cxnLst>
                  <a:rect l="txL" t="txT" r="txR" b="txB"/>
                  <a:pathLst>
                    <a:path w="573" h="175">
                      <a:moveTo>
                        <a:pt x="0" y="0"/>
                      </a:moveTo>
                      <a:lnTo>
                        <a:pt x="177" y="175"/>
                      </a:lnTo>
                      <a:lnTo>
                        <a:pt x="573" y="17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58" name="Freeform 12"/>
                <p:cNvSpPr/>
                <p:nvPr/>
              </p:nvSpPr>
              <p:spPr>
                <a:xfrm>
                  <a:off x="558" y="864"/>
                  <a:ext cx="170" cy="170"/>
                </a:xfrm>
                <a:custGeom>
                  <a:avLst/>
                  <a:gdLst>
                    <a:gd name="txL" fmla="*/ 0 w 170"/>
                    <a:gd name="txT" fmla="*/ 0 h 170"/>
                    <a:gd name="txR" fmla="*/ 170 w 170"/>
                    <a:gd name="txB" fmla="*/ 170 h 170"/>
                  </a:gdLst>
                  <a:ahLst/>
                  <a:cxnLst>
                    <a:cxn ang="0">
                      <a:pos x="170" y="170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170" h="170">
                      <a:moveTo>
                        <a:pt x="170" y="17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59" name="Freeform 13"/>
                <p:cNvSpPr/>
                <p:nvPr/>
              </p:nvSpPr>
              <p:spPr>
                <a:xfrm>
                  <a:off x="560" y="1038"/>
                  <a:ext cx="162" cy="163"/>
                </a:xfrm>
                <a:custGeom>
                  <a:avLst/>
                  <a:gdLst>
                    <a:gd name="txL" fmla="*/ 0 w 162"/>
                    <a:gd name="txT" fmla="*/ 0 h 163"/>
                    <a:gd name="txR" fmla="*/ 162 w 162"/>
                    <a:gd name="txB" fmla="*/ 163 h 163"/>
                  </a:gdLst>
                  <a:ahLst/>
                  <a:cxnLst>
                    <a:cxn ang="0">
                      <a:pos x="0" y="163"/>
                    </a:cxn>
                    <a:cxn ang="0">
                      <a:pos x="162" y="0"/>
                    </a:cxn>
                  </a:cxnLst>
                  <a:rect l="txL" t="txT" r="txR" b="txB"/>
                  <a:pathLst>
                    <a:path w="162" h="163">
                      <a:moveTo>
                        <a:pt x="0" y="163"/>
                      </a:moveTo>
                      <a:lnTo>
                        <a:pt x="162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91927" name="Group 14"/>
              <p:cNvGrpSpPr/>
              <p:nvPr/>
            </p:nvGrpSpPr>
            <p:grpSpPr>
              <a:xfrm>
                <a:off x="527" y="3312"/>
                <a:ext cx="5142" cy="363"/>
                <a:chOff x="527" y="3312"/>
                <a:chExt cx="5142" cy="363"/>
              </a:xfrm>
            </p:grpSpPr>
            <p:sp>
              <p:nvSpPr>
                <p:cNvPr id="291951" name="Freeform 15"/>
                <p:cNvSpPr/>
                <p:nvPr/>
              </p:nvSpPr>
              <p:spPr>
                <a:xfrm>
                  <a:off x="3030" y="3317"/>
                  <a:ext cx="2634" cy="176"/>
                </a:xfrm>
                <a:custGeom>
                  <a:avLst/>
                  <a:gdLst>
                    <a:gd name="txL" fmla="*/ 0 w 2634"/>
                    <a:gd name="txT" fmla="*/ 0 h 176"/>
                    <a:gd name="txR" fmla="*/ 2634 w 2634"/>
                    <a:gd name="txB" fmla="*/ 176 h 176"/>
                  </a:gdLst>
                  <a:ahLst/>
                  <a:cxnLst>
                    <a:cxn ang="0">
                      <a:pos x="0" y="176"/>
                    </a:cxn>
                    <a:cxn ang="0">
                      <a:pos x="176" y="3"/>
                    </a:cxn>
                    <a:cxn ang="0">
                      <a:pos x="272" y="3"/>
                    </a:cxn>
                    <a:cxn ang="0">
                      <a:pos x="2634" y="0"/>
                    </a:cxn>
                  </a:cxnLst>
                  <a:rect l="txL" t="txT" r="txR" b="txB"/>
                  <a:pathLst>
                    <a:path w="2634" h="176">
                      <a:moveTo>
                        <a:pt x="0" y="176"/>
                      </a:moveTo>
                      <a:lnTo>
                        <a:pt x="176" y="3"/>
                      </a:lnTo>
                      <a:lnTo>
                        <a:pt x="272" y="3"/>
                      </a:lnTo>
                      <a:lnTo>
                        <a:pt x="2634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52" name="Freeform 16"/>
                <p:cNvSpPr/>
                <p:nvPr/>
              </p:nvSpPr>
              <p:spPr>
                <a:xfrm>
                  <a:off x="3027" y="3488"/>
                  <a:ext cx="2642" cy="178"/>
                </a:xfrm>
                <a:custGeom>
                  <a:avLst/>
                  <a:gdLst>
                    <a:gd name="txL" fmla="*/ 0 w 2642"/>
                    <a:gd name="txT" fmla="*/ 0 h 178"/>
                    <a:gd name="txR" fmla="*/ 2642 w 2642"/>
                    <a:gd name="txB" fmla="*/ 178 h 178"/>
                  </a:gdLst>
                  <a:ahLst/>
                  <a:cxnLst>
                    <a:cxn ang="0">
                      <a:pos x="0" y="0"/>
                    </a:cxn>
                    <a:cxn ang="0">
                      <a:pos x="174" y="176"/>
                    </a:cxn>
                    <a:cxn ang="0">
                      <a:pos x="2642" y="178"/>
                    </a:cxn>
                  </a:cxnLst>
                  <a:rect l="txL" t="txT" r="txR" b="txB"/>
                  <a:pathLst>
                    <a:path w="2642" h="178">
                      <a:moveTo>
                        <a:pt x="0" y="0"/>
                      </a:moveTo>
                      <a:lnTo>
                        <a:pt x="174" y="176"/>
                      </a:lnTo>
                      <a:lnTo>
                        <a:pt x="2642" y="178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53" name="Freeform 17"/>
                <p:cNvSpPr/>
                <p:nvPr/>
              </p:nvSpPr>
              <p:spPr>
                <a:xfrm>
                  <a:off x="527" y="3486"/>
                  <a:ext cx="2513" cy="2"/>
                </a:xfrm>
                <a:custGeom>
                  <a:avLst/>
                  <a:gdLst>
                    <a:gd name="txL" fmla="*/ 0 w 2513"/>
                    <a:gd name="txT" fmla="*/ 0 h 2"/>
                    <a:gd name="txR" fmla="*/ 2513 w 2513"/>
                    <a:gd name="txB" fmla="*/ 2 h 2"/>
                  </a:gdLst>
                  <a:ahLst/>
                  <a:cxnLst>
                    <a:cxn ang="0">
                      <a:pos x="2513" y="2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2513" h="2">
                      <a:moveTo>
                        <a:pt x="2513" y="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54" name="Freeform 18"/>
                <p:cNvSpPr/>
                <p:nvPr/>
              </p:nvSpPr>
              <p:spPr>
                <a:xfrm>
                  <a:off x="528" y="3312"/>
                  <a:ext cx="2685" cy="363"/>
                </a:xfrm>
                <a:custGeom>
                  <a:avLst/>
                  <a:gdLst>
                    <a:gd name="txL" fmla="*/ 0 w 2685"/>
                    <a:gd name="txT" fmla="*/ 0 h 363"/>
                    <a:gd name="txR" fmla="*/ 2685 w 2685"/>
                    <a:gd name="txB" fmla="*/ 363 h 363"/>
                  </a:gdLst>
                  <a:ahLst/>
                  <a:cxnLst>
                    <a:cxn ang="0">
                      <a:pos x="2514" y="180"/>
                    </a:cxn>
                    <a:cxn ang="0">
                      <a:pos x="2685" y="0"/>
                    </a:cxn>
                    <a:cxn ang="0">
                      <a:pos x="0" y="0"/>
                    </a:cxn>
                    <a:cxn ang="0">
                      <a:pos x="0" y="362"/>
                    </a:cxn>
                    <a:cxn ang="0">
                      <a:pos x="2682" y="363"/>
                    </a:cxn>
                  </a:cxnLst>
                  <a:rect l="txL" t="txT" r="txR" b="txB"/>
                  <a:pathLst>
                    <a:path w="2685" h="363">
                      <a:moveTo>
                        <a:pt x="2514" y="180"/>
                      </a:moveTo>
                      <a:lnTo>
                        <a:pt x="2685" y="0"/>
                      </a:lnTo>
                      <a:lnTo>
                        <a:pt x="0" y="0"/>
                      </a:lnTo>
                      <a:lnTo>
                        <a:pt x="0" y="362"/>
                      </a:lnTo>
                      <a:lnTo>
                        <a:pt x="2682" y="363"/>
                      </a:lnTo>
                    </a:path>
                  </a:pathLst>
                </a:custGeom>
                <a:solidFill>
                  <a:schemeClr val="tx1">
                    <a:alpha val="50195"/>
                  </a:schemeClr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91928" name="Group 19"/>
              <p:cNvGrpSpPr/>
              <p:nvPr/>
            </p:nvGrpSpPr>
            <p:grpSpPr>
              <a:xfrm>
                <a:off x="516" y="2496"/>
                <a:ext cx="5151" cy="354"/>
                <a:chOff x="516" y="2496"/>
                <a:chExt cx="5151" cy="354"/>
              </a:xfrm>
            </p:grpSpPr>
            <p:sp>
              <p:nvSpPr>
                <p:cNvPr id="291947" name="Freeform 20"/>
                <p:cNvSpPr/>
                <p:nvPr/>
              </p:nvSpPr>
              <p:spPr>
                <a:xfrm>
                  <a:off x="525" y="2674"/>
                  <a:ext cx="1966" cy="170"/>
                </a:xfrm>
                <a:custGeom>
                  <a:avLst/>
                  <a:gdLst>
                    <a:gd name="txL" fmla="*/ 0 w 1966"/>
                    <a:gd name="txT" fmla="*/ 0 h 170"/>
                    <a:gd name="txR" fmla="*/ 1966 w 1966"/>
                    <a:gd name="txB" fmla="*/ 170 h 170"/>
                  </a:gdLst>
                  <a:ahLst/>
                  <a:cxnLst>
                    <a:cxn ang="0">
                      <a:pos x="1966" y="0"/>
                    </a:cxn>
                    <a:cxn ang="0">
                      <a:pos x="1795" y="170"/>
                    </a:cxn>
                    <a:cxn ang="0">
                      <a:pos x="1698" y="170"/>
                    </a:cxn>
                    <a:cxn ang="0">
                      <a:pos x="0" y="167"/>
                    </a:cxn>
                  </a:cxnLst>
                  <a:rect l="txL" t="txT" r="txR" b="txB"/>
                  <a:pathLst>
                    <a:path w="1966" h="170">
                      <a:moveTo>
                        <a:pt x="1966" y="0"/>
                      </a:moveTo>
                      <a:lnTo>
                        <a:pt x="1795" y="170"/>
                      </a:lnTo>
                      <a:lnTo>
                        <a:pt x="1698" y="170"/>
                      </a:lnTo>
                      <a:lnTo>
                        <a:pt x="0" y="167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48" name="Freeform 21"/>
                <p:cNvSpPr/>
                <p:nvPr/>
              </p:nvSpPr>
              <p:spPr>
                <a:xfrm>
                  <a:off x="516" y="2503"/>
                  <a:ext cx="1978" cy="176"/>
                </a:xfrm>
                <a:custGeom>
                  <a:avLst/>
                  <a:gdLst>
                    <a:gd name="txL" fmla="*/ 0 w 1978"/>
                    <a:gd name="txT" fmla="*/ 0 h 176"/>
                    <a:gd name="txR" fmla="*/ 1978 w 1978"/>
                    <a:gd name="txB" fmla="*/ 176 h 176"/>
                  </a:gdLst>
                  <a:ahLst/>
                  <a:cxnLst>
                    <a:cxn ang="0">
                      <a:pos x="1978" y="176"/>
                    </a:cxn>
                    <a:cxn ang="0">
                      <a:pos x="1804" y="0"/>
                    </a:cxn>
                    <a:cxn ang="0">
                      <a:pos x="0" y="2"/>
                    </a:cxn>
                  </a:cxnLst>
                  <a:rect l="txL" t="txT" r="txR" b="txB"/>
                  <a:pathLst>
                    <a:path w="1978" h="176">
                      <a:moveTo>
                        <a:pt x="1978" y="176"/>
                      </a:moveTo>
                      <a:lnTo>
                        <a:pt x="1804" y="0"/>
                      </a:lnTo>
                      <a:lnTo>
                        <a:pt x="0" y="2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49" name="Freeform 22"/>
                <p:cNvSpPr/>
                <p:nvPr/>
              </p:nvSpPr>
              <p:spPr>
                <a:xfrm>
                  <a:off x="2481" y="2675"/>
                  <a:ext cx="3186" cy="4"/>
                </a:xfrm>
                <a:custGeom>
                  <a:avLst/>
                  <a:gdLst>
                    <a:gd name="txL" fmla="*/ 0 w 3186"/>
                    <a:gd name="txT" fmla="*/ 0 h 4"/>
                    <a:gd name="txR" fmla="*/ 3186 w 3186"/>
                    <a:gd name="txB" fmla="*/ 4 h 4"/>
                  </a:gdLst>
                  <a:ahLst/>
                  <a:cxnLst>
                    <a:cxn ang="0">
                      <a:pos x="0" y="4"/>
                    </a:cxn>
                    <a:cxn ang="0">
                      <a:pos x="3186" y="0"/>
                    </a:cxn>
                  </a:cxnLst>
                  <a:rect l="txL" t="txT" r="txR" b="txB"/>
                  <a:pathLst>
                    <a:path w="3186" h="4">
                      <a:moveTo>
                        <a:pt x="0" y="4"/>
                      </a:moveTo>
                      <a:lnTo>
                        <a:pt x="3186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50" name="Freeform 23"/>
                <p:cNvSpPr/>
                <p:nvPr/>
              </p:nvSpPr>
              <p:spPr>
                <a:xfrm>
                  <a:off x="2304" y="2496"/>
                  <a:ext cx="3360" cy="354"/>
                </a:xfrm>
                <a:custGeom>
                  <a:avLst/>
                  <a:gdLst>
                    <a:gd name="txL" fmla="*/ 0 w 3360"/>
                    <a:gd name="txT" fmla="*/ 0 h 354"/>
                    <a:gd name="txR" fmla="*/ 3360 w 3360"/>
                    <a:gd name="txB" fmla="*/ 354 h 354"/>
                  </a:gdLst>
                  <a:ahLst/>
                  <a:cxnLst>
                    <a:cxn ang="0">
                      <a:pos x="6" y="0"/>
                    </a:cxn>
                    <a:cxn ang="0">
                      <a:pos x="3360" y="3"/>
                    </a:cxn>
                    <a:cxn ang="0">
                      <a:pos x="3360" y="354"/>
                    </a:cxn>
                    <a:cxn ang="0">
                      <a:pos x="15" y="354"/>
                    </a:cxn>
                    <a:cxn ang="0">
                      <a:pos x="0" y="351"/>
                    </a:cxn>
                    <a:cxn ang="0">
                      <a:pos x="183" y="177"/>
                    </a:cxn>
                  </a:cxnLst>
                  <a:rect l="txL" t="txT" r="txR" b="txB"/>
                  <a:pathLst>
                    <a:path w="3360" h="354">
                      <a:moveTo>
                        <a:pt x="6" y="0"/>
                      </a:moveTo>
                      <a:lnTo>
                        <a:pt x="3360" y="3"/>
                      </a:lnTo>
                      <a:lnTo>
                        <a:pt x="3360" y="354"/>
                      </a:lnTo>
                      <a:lnTo>
                        <a:pt x="15" y="354"/>
                      </a:lnTo>
                      <a:lnTo>
                        <a:pt x="0" y="351"/>
                      </a:lnTo>
                      <a:lnTo>
                        <a:pt x="183" y="177"/>
                      </a:lnTo>
                    </a:path>
                  </a:pathLst>
                </a:custGeom>
                <a:solidFill>
                  <a:schemeClr val="tx1">
                    <a:alpha val="50195"/>
                  </a:schemeClr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291929" name="Group 24"/>
              <p:cNvGrpSpPr/>
              <p:nvPr/>
            </p:nvGrpSpPr>
            <p:grpSpPr>
              <a:xfrm>
                <a:off x="96" y="896"/>
                <a:ext cx="506" cy="2838"/>
                <a:chOff x="96" y="896"/>
                <a:chExt cx="506" cy="2838"/>
              </a:xfrm>
            </p:grpSpPr>
            <p:sp>
              <p:nvSpPr>
                <p:cNvPr id="291934" name="Text Box 25"/>
                <p:cNvSpPr txBox="1"/>
                <p:nvPr/>
              </p:nvSpPr>
              <p:spPr>
                <a:xfrm>
                  <a:off x="202" y="896"/>
                  <a:ext cx="2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A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91935" name="Group 26"/>
                <p:cNvGrpSpPr/>
                <p:nvPr/>
              </p:nvGrpSpPr>
              <p:grpSpPr>
                <a:xfrm>
                  <a:off x="138" y="1664"/>
                  <a:ext cx="361" cy="290"/>
                  <a:chOff x="138" y="1664"/>
                  <a:chExt cx="361" cy="290"/>
                </a:xfrm>
              </p:grpSpPr>
              <p:sp>
                <p:nvSpPr>
                  <p:cNvPr id="291945" name="Text Box 27"/>
                  <p:cNvSpPr txBox="1"/>
                  <p:nvPr/>
                </p:nvSpPr>
                <p:spPr>
                  <a:xfrm>
                    <a:off x="138" y="1664"/>
                    <a:ext cx="361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CS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1946" name="Line 28"/>
                  <p:cNvSpPr/>
                  <p:nvPr/>
                </p:nvSpPr>
                <p:spPr>
                  <a:xfrm>
                    <a:off x="196" y="1686"/>
                    <a:ext cx="240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1936" name="Group 29"/>
                <p:cNvGrpSpPr/>
                <p:nvPr/>
              </p:nvGrpSpPr>
              <p:grpSpPr>
                <a:xfrm>
                  <a:off x="96" y="2016"/>
                  <a:ext cx="435" cy="290"/>
                  <a:chOff x="138" y="2138"/>
                  <a:chExt cx="435" cy="290"/>
                </a:xfrm>
              </p:grpSpPr>
              <p:sp>
                <p:nvSpPr>
                  <p:cNvPr id="291943" name="Text Box 30"/>
                  <p:cNvSpPr txBox="1"/>
                  <p:nvPr/>
                </p:nvSpPr>
                <p:spPr>
                  <a:xfrm>
                    <a:off x="138" y="2138"/>
                    <a:ext cx="435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WE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1944" name="Line 31"/>
                  <p:cNvSpPr/>
                  <p:nvPr/>
                </p:nvSpPr>
                <p:spPr>
                  <a:xfrm>
                    <a:off x="186" y="2160"/>
                    <a:ext cx="28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291937" name="Group 32"/>
                <p:cNvGrpSpPr/>
                <p:nvPr/>
              </p:nvGrpSpPr>
              <p:grpSpPr>
                <a:xfrm>
                  <a:off x="138" y="2640"/>
                  <a:ext cx="464" cy="399"/>
                  <a:chOff x="138" y="2714"/>
                  <a:chExt cx="464" cy="399"/>
                </a:xfrm>
              </p:grpSpPr>
              <p:sp>
                <p:nvSpPr>
                  <p:cNvPr id="291941" name="Text Box 33"/>
                  <p:cNvSpPr txBox="1"/>
                  <p:nvPr/>
                </p:nvSpPr>
                <p:spPr>
                  <a:xfrm>
                    <a:off x="138" y="2714"/>
                    <a:ext cx="254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D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1942" name="Text Box 34"/>
                  <p:cNvSpPr txBox="1"/>
                  <p:nvPr/>
                </p:nvSpPr>
                <p:spPr>
                  <a:xfrm>
                    <a:off x="244" y="2920"/>
                    <a:ext cx="358" cy="19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400" b="1" dirty="0">
                        <a:latin typeface="Times New Roman" panose="02020603050405020304" pitchFamily="18" charset="0"/>
                      </a:rPr>
                      <a:t>OUT</a:t>
                    </a:r>
                    <a:endParaRPr lang="en-US" altLang="zh-CN" sz="14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291938" name="Group 35"/>
                <p:cNvGrpSpPr/>
                <p:nvPr/>
              </p:nvGrpSpPr>
              <p:grpSpPr>
                <a:xfrm>
                  <a:off x="138" y="3344"/>
                  <a:ext cx="393" cy="390"/>
                  <a:chOff x="138" y="3344"/>
                  <a:chExt cx="393" cy="390"/>
                </a:xfrm>
              </p:grpSpPr>
              <p:sp>
                <p:nvSpPr>
                  <p:cNvPr id="291939" name="Text Box 36"/>
                  <p:cNvSpPr txBox="1"/>
                  <p:nvPr/>
                </p:nvSpPr>
                <p:spPr>
                  <a:xfrm>
                    <a:off x="138" y="3344"/>
                    <a:ext cx="253" cy="29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D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1940" name="Text Box 37"/>
                  <p:cNvSpPr txBox="1"/>
                  <p:nvPr/>
                </p:nvSpPr>
                <p:spPr>
                  <a:xfrm>
                    <a:off x="292" y="3541"/>
                    <a:ext cx="239" cy="19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wrap="none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1400" b="1" dirty="0">
                        <a:latin typeface="Times New Roman" panose="02020603050405020304" pitchFamily="18" charset="0"/>
                      </a:rPr>
                      <a:t>IN</a:t>
                    </a:r>
                    <a:endParaRPr lang="en-US" altLang="zh-CN" sz="14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291930" name="Group 38"/>
              <p:cNvGrpSpPr/>
              <p:nvPr/>
            </p:nvGrpSpPr>
            <p:grpSpPr>
              <a:xfrm>
                <a:off x="527" y="2013"/>
                <a:ext cx="5140" cy="255"/>
                <a:chOff x="527" y="2013"/>
                <a:chExt cx="5140" cy="255"/>
              </a:xfrm>
            </p:grpSpPr>
            <p:sp>
              <p:nvSpPr>
                <p:cNvPr id="291931" name="Freeform 39"/>
                <p:cNvSpPr/>
                <p:nvPr/>
              </p:nvSpPr>
              <p:spPr>
                <a:xfrm>
                  <a:off x="528" y="2016"/>
                  <a:ext cx="5139" cy="243"/>
                </a:xfrm>
                <a:custGeom>
                  <a:avLst/>
                  <a:gdLst>
                    <a:gd name="txL" fmla="*/ 0 w 5139"/>
                    <a:gd name="txT" fmla="*/ 0 h 243"/>
                    <a:gd name="txR" fmla="*/ 5139 w 5139"/>
                    <a:gd name="txB" fmla="*/ 243 h 243"/>
                  </a:gdLst>
                  <a:ahLst/>
                  <a:cxnLst>
                    <a:cxn ang="0">
                      <a:pos x="0" y="3"/>
                    </a:cxn>
                    <a:cxn ang="0">
                      <a:pos x="1104" y="0"/>
                    </a:cxn>
                    <a:cxn ang="0">
                      <a:pos x="1346" y="243"/>
                    </a:cxn>
                    <a:cxn ang="0">
                      <a:pos x="3273" y="242"/>
                    </a:cxn>
                    <a:cxn ang="0">
                      <a:pos x="3509" y="6"/>
                    </a:cxn>
                    <a:cxn ang="0">
                      <a:pos x="5139" y="6"/>
                    </a:cxn>
                  </a:cxnLst>
                  <a:rect l="txL" t="txT" r="txR" b="txB"/>
                  <a:pathLst>
                    <a:path w="5139" h="243">
                      <a:moveTo>
                        <a:pt x="0" y="3"/>
                      </a:moveTo>
                      <a:lnTo>
                        <a:pt x="1104" y="0"/>
                      </a:lnTo>
                      <a:lnTo>
                        <a:pt x="1346" y="243"/>
                      </a:lnTo>
                      <a:lnTo>
                        <a:pt x="3273" y="242"/>
                      </a:lnTo>
                      <a:lnTo>
                        <a:pt x="3509" y="6"/>
                      </a:lnTo>
                      <a:lnTo>
                        <a:pt x="5139" y="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32" name="Freeform 40"/>
                <p:cNvSpPr/>
                <p:nvPr/>
              </p:nvSpPr>
              <p:spPr>
                <a:xfrm>
                  <a:off x="527" y="2016"/>
                  <a:ext cx="1350" cy="252"/>
                </a:xfrm>
                <a:custGeom>
                  <a:avLst/>
                  <a:gdLst>
                    <a:gd name="txL" fmla="*/ 0 w 1350"/>
                    <a:gd name="txT" fmla="*/ 0 h 252"/>
                    <a:gd name="txR" fmla="*/ 1350 w 1350"/>
                    <a:gd name="txB" fmla="*/ 252 h 252"/>
                  </a:gdLst>
                  <a:ahLst/>
                  <a:cxnLst>
                    <a:cxn ang="0">
                      <a:pos x="1" y="0"/>
                    </a:cxn>
                    <a:cxn ang="0">
                      <a:pos x="1095" y="0"/>
                    </a:cxn>
                    <a:cxn ang="0">
                      <a:pos x="1350" y="252"/>
                    </a:cxn>
                    <a:cxn ang="0">
                      <a:pos x="0" y="252"/>
                    </a:cxn>
                  </a:cxnLst>
                  <a:rect l="txL" t="txT" r="txR" b="txB"/>
                  <a:pathLst>
                    <a:path w="1350" h="252">
                      <a:moveTo>
                        <a:pt x="1" y="0"/>
                      </a:moveTo>
                      <a:lnTo>
                        <a:pt x="1095" y="0"/>
                      </a:lnTo>
                      <a:lnTo>
                        <a:pt x="1350" y="252"/>
                      </a:lnTo>
                      <a:lnTo>
                        <a:pt x="0" y="252"/>
                      </a:lnTo>
                    </a:path>
                  </a:pathLst>
                </a:custGeom>
                <a:solidFill>
                  <a:schemeClr val="tx1">
                    <a:alpha val="50195"/>
                  </a:schemeClr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91933" name="Freeform 41"/>
                <p:cNvSpPr/>
                <p:nvPr/>
              </p:nvSpPr>
              <p:spPr>
                <a:xfrm>
                  <a:off x="3794" y="2013"/>
                  <a:ext cx="1867" cy="255"/>
                </a:xfrm>
                <a:custGeom>
                  <a:avLst/>
                  <a:gdLst>
                    <a:gd name="txL" fmla="*/ 0 w 1867"/>
                    <a:gd name="txT" fmla="*/ 0 h 255"/>
                    <a:gd name="txR" fmla="*/ 1867 w 1867"/>
                    <a:gd name="txB" fmla="*/ 255 h 255"/>
                  </a:gdLst>
                  <a:ahLst/>
                  <a:cxnLst>
                    <a:cxn ang="0">
                      <a:pos x="1867" y="12"/>
                    </a:cxn>
                    <a:cxn ang="0">
                      <a:pos x="262" y="0"/>
                    </a:cxn>
                    <a:cxn ang="0">
                      <a:pos x="0" y="255"/>
                    </a:cxn>
                    <a:cxn ang="0">
                      <a:pos x="1867" y="255"/>
                    </a:cxn>
                  </a:cxnLst>
                  <a:rect l="txL" t="txT" r="txR" b="txB"/>
                  <a:pathLst>
                    <a:path w="1867" h="255">
                      <a:moveTo>
                        <a:pt x="1867" y="12"/>
                      </a:moveTo>
                      <a:lnTo>
                        <a:pt x="262" y="0"/>
                      </a:lnTo>
                      <a:lnTo>
                        <a:pt x="0" y="255"/>
                      </a:lnTo>
                      <a:lnTo>
                        <a:pt x="1867" y="255"/>
                      </a:lnTo>
                    </a:path>
                  </a:pathLst>
                </a:custGeom>
                <a:solidFill>
                  <a:schemeClr val="tx1">
                    <a:alpha val="50195"/>
                  </a:schemeClr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291924" name="Rectangle 42"/>
            <p:cNvSpPr/>
            <p:nvPr/>
          </p:nvSpPr>
          <p:spPr>
            <a:xfrm>
              <a:off x="4830" y="3378"/>
              <a:ext cx="834" cy="232"/>
            </a:xfrm>
            <a:prstGeom prst="rect">
              <a:avLst/>
            </a:prstGeom>
            <a:solidFill>
              <a:schemeClr val="tx1">
                <a:alpha val="50195"/>
              </a:schemeClr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91843" name="Text Box 43"/>
          <p:cNvSpPr txBox="1"/>
          <p:nvPr/>
        </p:nvSpPr>
        <p:spPr>
          <a:xfrm>
            <a:off x="2057400" y="228600"/>
            <a:ext cx="5638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(4) </a:t>
            </a:r>
            <a:r>
              <a:rPr lang="zh-CN" altLang="en-US" sz="3200" b="1" dirty="0">
                <a:latin typeface="Times New Roman" panose="02020603050405020304" pitchFamily="18" charset="0"/>
              </a:rPr>
              <a:t>静态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(2114)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时序 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4" name="Group 44"/>
          <p:cNvGrpSpPr/>
          <p:nvPr/>
        </p:nvGrpSpPr>
        <p:grpSpPr>
          <a:xfrm>
            <a:off x="2667000" y="784225"/>
            <a:ext cx="6858000" cy="633413"/>
            <a:chOff x="720" y="494"/>
            <a:chExt cx="4320" cy="399"/>
          </a:xfrm>
        </p:grpSpPr>
        <p:sp>
          <p:nvSpPr>
            <p:cNvPr id="291918" name="Line 45"/>
            <p:cNvSpPr/>
            <p:nvPr/>
          </p:nvSpPr>
          <p:spPr>
            <a:xfrm flipV="1">
              <a:off x="3600" y="720"/>
              <a:ext cx="1440" cy="2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grpSp>
          <p:nvGrpSpPr>
            <p:cNvPr id="291919" name="Group 46"/>
            <p:cNvGrpSpPr/>
            <p:nvPr/>
          </p:nvGrpSpPr>
          <p:grpSpPr>
            <a:xfrm>
              <a:off x="2808" y="494"/>
              <a:ext cx="385" cy="399"/>
              <a:chOff x="4455" y="588"/>
              <a:chExt cx="385" cy="399"/>
            </a:xfrm>
          </p:grpSpPr>
          <p:sp>
            <p:nvSpPr>
              <p:cNvPr id="291921" name="Text Box 47"/>
              <p:cNvSpPr txBox="1"/>
              <p:nvPr/>
            </p:nvSpPr>
            <p:spPr>
              <a:xfrm>
                <a:off x="4455" y="588"/>
                <a:ext cx="18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1922" name="Text Box 48"/>
              <p:cNvSpPr txBox="1"/>
              <p:nvPr/>
            </p:nvSpPr>
            <p:spPr>
              <a:xfrm>
                <a:off x="4560" y="813"/>
                <a:ext cx="280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WC</a:t>
                </a:r>
                <a:endPara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1920" name="Line 49"/>
            <p:cNvSpPr/>
            <p:nvPr/>
          </p:nvSpPr>
          <p:spPr>
            <a:xfrm rot="10800000">
              <a:off x="720" y="720"/>
              <a:ext cx="1728" cy="2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6" name="Group 50"/>
          <p:cNvGrpSpPr/>
          <p:nvPr/>
        </p:nvGrpSpPr>
        <p:grpSpPr>
          <a:xfrm>
            <a:off x="4489450" y="2003425"/>
            <a:ext cx="3278188" cy="633413"/>
            <a:chOff x="1868" y="1262"/>
            <a:chExt cx="2065" cy="399"/>
          </a:xfrm>
        </p:grpSpPr>
        <p:sp>
          <p:nvSpPr>
            <p:cNvPr id="291913" name="Freeform 51"/>
            <p:cNvSpPr/>
            <p:nvPr/>
          </p:nvSpPr>
          <p:spPr>
            <a:xfrm>
              <a:off x="3072" y="1394"/>
              <a:ext cx="861" cy="4"/>
            </a:xfrm>
            <a:custGeom>
              <a:avLst/>
              <a:gdLst>
                <a:gd name="txL" fmla="*/ 0 w 861"/>
                <a:gd name="txT" fmla="*/ 0 h 4"/>
                <a:gd name="txR" fmla="*/ 861 w 861"/>
                <a:gd name="txB" fmla="*/ 4 h 4"/>
              </a:gdLst>
              <a:ahLst/>
              <a:cxnLst>
                <a:cxn ang="0">
                  <a:pos x="0" y="0"/>
                </a:cxn>
                <a:cxn ang="0">
                  <a:pos x="861" y="4"/>
                </a:cxn>
              </a:cxnLst>
              <a:rect l="txL" t="txT" r="txR" b="txB"/>
              <a:pathLst>
                <a:path w="861" h="4">
                  <a:moveTo>
                    <a:pt x="0" y="0"/>
                  </a:moveTo>
                  <a:lnTo>
                    <a:pt x="861" y="4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1914" name="Group 52"/>
            <p:cNvGrpSpPr/>
            <p:nvPr/>
          </p:nvGrpSpPr>
          <p:grpSpPr>
            <a:xfrm>
              <a:off x="2707" y="1262"/>
              <a:ext cx="316" cy="399"/>
              <a:chOff x="4455" y="588"/>
              <a:chExt cx="316" cy="399"/>
            </a:xfrm>
          </p:grpSpPr>
          <p:sp>
            <p:nvSpPr>
              <p:cNvPr id="291916" name="Text Box 53"/>
              <p:cNvSpPr txBox="1"/>
              <p:nvPr/>
            </p:nvSpPr>
            <p:spPr>
              <a:xfrm>
                <a:off x="4455" y="588"/>
                <a:ext cx="18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1917" name="Text Box 54"/>
              <p:cNvSpPr txBox="1"/>
              <p:nvPr/>
            </p:nvSpPr>
            <p:spPr>
              <a:xfrm>
                <a:off x="4560" y="813"/>
                <a:ext cx="211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W</a:t>
                </a:r>
                <a:endPara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1915" name="Freeform 55"/>
            <p:cNvSpPr/>
            <p:nvPr/>
          </p:nvSpPr>
          <p:spPr>
            <a:xfrm>
              <a:off x="1868" y="1391"/>
              <a:ext cx="724" cy="1"/>
            </a:xfrm>
            <a:custGeom>
              <a:avLst/>
              <a:gdLst>
                <a:gd name="txL" fmla="*/ 0 w 724"/>
                <a:gd name="txT" fmla="*/ 0 h 1"/>
                <a:gd name="txR" fmla="*/ 724 w 724"/>
                <a:gd name="txB" fmla="*/ 1 h 1"/>
              </a:gdLst>
              <a:ahLst/>
              <a:cxnLst>
                <a:cxn ang="0">
                  <a:pos x="724" y="1"/>
                </a:cxn>
                <a:cxn ang="0">
                  <a:pos x="0" y="0"/>
                </a:cxn>
              </a:cxnLst>
              <a:rect l="txL" t="txT" r="txR" b="txB"/>
              <a:pathLst>
                <a:path w="724" h="1">
                  <a:moveTo>
                    <a:pt x="724" y="1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56"/>
          <p:cNvGrpSpPr/>
          <p:nvPr/>
        </p:nvGrpSpPr>
        <p:grpSpPr>
          <a:xfrm>
            <a:off x="2667000" y="2003425"/>
            <a:ext cx="1828800" cy="633413"/>
            <a:chOff x="720" y="1262"/>
            <a:chExt cx="1152" cy="399"/>
          </a:xfrm>
        </p:grpSpPr>
        <p:grpSp>
          <p:nvGrpSpPr>
            <p:cNvPr id="291908" name="Group 57"/>
            <p:cNvGrpSpPr/>
            <p:nvPr/>
          </p:nvGrpSpPr>
          <p:grpSpPr>
            <a:xfrm>
              <a:off x="1115" y="1262"/>
              <a:ext cx="375" cy="399"/>
              <a:chOff x="4455" y="588"/>
              <a:chExt cx="375" cy="399"/>
            </a:xfrm>
          </p:grpSpPr>
          <p:sp>
            <p:nvSpPr>
              <p:cNvPr id="291911" name="Text Box 58"/>
              <p:cNvSpPr txBox="1"/>
              <p:nvPr/>
            </p:nvSpPr>
            <p:spPr>
              <a:xfrm>
                <a:off x="4455" y="588"/>
                <a:ext cx="18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1912" name="Text Box 59"/>
              <p:cNvSpPr txBox="1"/>
              <p:nvPr/>
            </p:nvSpPr>
            <p:spPr>
              <a:xfrm>
                <a:off x="4560" y="813"/>
                <a:ext cx="270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AW</a:t>
                </a:r>
                <a:endPara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1909" name="Line 60"/>
            <p:cNvSpPr/>
            <p:nvPr/>
          </p:nvSpPr>
          <p:spPr>
            <a:xfrm>
              <a:off x="1584" y="1392"/>
              <a:ext cx="288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1910" name="Line 61"/>
            <p:cNvSpPr/>
            <p:nvPr/>
          </p:nvSpPr>
          <p:spPr>
            <a:xfrm rot="10800000">
              <a:off x="720" y="1392"/>
              <a:ext cx="288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0" name="Group 62"/>
          <p:cNvGrpSpPr/>
          <p:nvPr/>
        </p:nvGrpSpPr>
        <p:grpSpPr>
          <a:xfrm>
            <a:off x="6610350" y="4678363"/>
            <a:ext cx="1162050" cy="633413"/>
            <a:chOff x="3204" y="2947"/>
            <a:chExt cx="732" cy="399"/>
          </a:xfrm>
        </p:grpSpPr>
        <p:sp>
          <p:nvSpPr>
            <p:cNvPr id="291905" name="Text Box 63"/>
            <p:cNvSpPr txBox="1"/>
            <p:nvPr/>
          </p:nvSpPr>
          <p:spPr>
            <a:xfrm>
              <a:off x="3391" y="2947"/>
              <a:ext cx="18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endParaRPr lang="en-US" altLang="zh-CN" sz="3200" b="1" i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1906" name="Text Box 64"/>
            <p:cNvSpPr txBox="1"/>
            <p:nvPr/>
          </p:nvSpPr>
          <p:spPr>
            <a:xfrm>
              <a:off x="3496" y="3172"/>
              <a:ext cx="28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DW</a:t>
              </a:r>
              <a:endParaRPr lang="en-US" altLang="zh-CN" sz="1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1907" name="Freeform 65"/>
            <p:cNvSpPr/>
            <p:nvPr/>
          </p:nvSpPr>
          <p:spPr>
            <a:xfrm>
              <a:off x="3204" y="2976"/>
              <a:ext cx="732" cy="5"/>
            </a:xfrm>
            <a:custGeom>
              <a:avLst/>
              <a:gdLst>
                <a:gd name="txL" fmla="*/ 0 w 732"/>
                <a:gd name="txT" fmla="*/ 0 h 5"/>
                <a:gd name="txR" fmla="*/ 732 w 732"/>
                <a:gd name="txB" fmla="*/ 5 h 5"/>
              </a:gdLst>
              <a:ahLst/>
              <a:cxnLst>
                <a:cxn ang="0">
                  <a:pos x="0" y="0"/>
                </a:cxn>
                <a:cxn ang="0">
                  <a:pos x="723" y="0"/>
                </a:cxn>
                <a:cxn ang="0">
                  <a:pos x="732" y="5"/>
                </a:cxn>
              </a:cxnLst>
              <a:rect l="txL" t="txT" r="txR" b="txB"/>
              <a:pathLst>
                <a:path w="732" h="5">
                  <a:moveTo>
                    <a:pt x="0" y="0"/>
                  </a:moveTo>
                  <a:lnTo>
                    <a:pt x="723" y="0"/>
                  </a:lnTo>
                  <a:lnTo>
                    <a:pt x="732" y="5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66"/>
          <p:cNvGrpSpPr/>
          <p:nvPr/>
        </p:nvGrpSpPr>
        <p:grpSpPr>
          <a:xfrm>
            <a:off x="7772400" y="4670425"/>
            <a:ext cx="1403350" cy="633413"/>
            <a:chOff x="3936" y="2942"/>
            <a:chExt cx="1002" cy="399"/>
          </a:xfrm>
        </p:grpSpPr>
        <p:grpSp>
          <p:nvGrpSpPr>
            <p:cNvPr id="291901" name="Group 67"/>
            <p:cNvGrpSpPr/>
            <p:nvPr/>
          </p:nvGrpSpPr>
          <p:grpSpPr>
            <a:xfrm>
              <a:off x="4243" y="2942"/>
              <a:ext cx="399" cy="399"/>
              <a:chOff x="4455" y="588"/>
              <a:chExt cx="399" cy="399"/>
            </a:xfrm>
          </p:grpSpPr>
          <p:sp>
            <p:nvSpPr>
              <p:cNvPr id="291903" name="Text Box 68"/>
              <p:cNvSpPr txBox="1"/>
              <p:nvPr/>
            </p:nvSpPr>
            <p:spPr>
              <a:xfrm>
                <a:off x="4455" y="588"/>
                <a:ext cx="21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1904" name="Text Box 69"/>
              <p:cNvSpPr txBox="1"/>
              <p:nvPr/>
            </p:nvSpPr>
            <p:spPr>
              <a:xfrm>
                <a:off x="4560" y="813"/>
                <a:ext cx="294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DH</a:t>
                </a:r>
                <a:endPara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1902" name="Freeform 70"/>
            <p:cNvSpPr/>
            <p:nvPr/>
          </p:nvSpPr>
          <p:spPr>
            <a:xfrm>
              <a:off x="3936" y="2970"/>
              <a:ext cx="1002" cy="1"/>
            </a:xfrm>
            <a:custGeom>
              <a:avLst/>
              <a:gdLst>
                <a:gd name="txL" fmla="*/ 0 w 1002"/>
                <a:gd name="txT" fmla="*/ 0 h 1"/>
                <a:gd name="txR" fmla="*/ 1002 w 100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002" y="0"/>
                </a:cxn>
              </a:cxnLst>
              <a:rect l="txL" t="txT" r="txR" b="txB"/>
              <a:pathLst>
                <a:path w="1002" h="1">
                  <a:moveTo>
                    <a:pt x="0" y="0"/>
                  </a:moveTo>
                  <a:lnTo>
                    <a:pt x="1002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Group 71"/>
          <p:cNvGrpSpPr/>
          <p:nvPr/>
        </p:nvGrpSpPr>
        <p:grpSpPr>
          <a:xfrm>
            <a:off x="7772400" y="2003425"/>
            <a:ext cx="1752600" cy="633413"/>
            <a:chOff x="3936" y="1262"/>
            <a:chExt cx="1104" cy="399"/>
          </a:xfrm>
        </p:grpSpPr>
        <p:grpSp>
          <p:nvGrpSpPr>
            <p:cNvPr id="291896" name="Group 72"/>
            <p:cNvGrpSpPr/>
            <p:nvPr/>
          </p:nvGrpSpPr>
          <p:grpSpPr>
            <a:xfrm>
              <a:off x="4291" y="1262"/>
              <a:ext cx="385" cy="399"/>
              <a:chOff x="4455" y="588"/>
              <a:chExt cx="385" cy="399"/>
            </a:xfrm>
          </p:grpSpPr>
          <p:sp>
            <p:nvSpPr>
              <p:cNvPr id="291899" name="Text Box 73"/>
              <p:cNvSpPr txBox="1"/>
              <p:nvPr/>
            </p:nvSpPr>
            <p:spPr>
              <a:xfrm>
                <a:off x="4455" y="588"/>
                <a:ext cx="18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t</a:t>
                </a:r>
                <a:endPara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1900" name="Text Box 74"/>
              <p:cNvSpPr txBox="1"/>
              <p:nvPr/>
            </p:nvSpPr>
            <p:spPr>
              <a:xfrm>
                <a:off x="4560" y="813"/>
                <a:ext cx="280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WR</a:t>
                </a:r>
                <a:endParaRPr lang="en-US" altLang="zh-CN" sz="1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1897" name="Line 75"/>
            <p:cNvSpPr/>
            <p:nvPr/>
          </p:nvSpPr>
          <p:spPr>
            <a:xfrm>
              <a:off x="4752" y="1392"/>
              <a:ext cx="288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291898" name="Line 76"/>
            <p:cNvSpPr/>
            <p:nvPr/>
          </p:nvSpPr>
          <p:spPr>
            <a:xfrm rot="10800000">
              <a:off x="3936" y="1392"/>
              <a:ext cx="288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25" name="Group 77"/>
          <p:cNvGrpSpPr/>
          <p:nvPr/>
        </p:nvGrpSpPr>
        <p:grpSpPr>
          <a:xfrm>
            <a:off x="2667000" y="1066800"/>
            <a:ext cx="6858000" cy="2133600"/>
            <a:chOff x="720" y="672"/>
            <a:chExt cx="4320" cy="1344"/>
          </a:xfrm>
        </p:grpSpPr>
        <p:sp>
          <p:nvSpPr>
            <p:cNvPr id="291894" name="Line 78"/>
            <p:cNvSpPr/>
            <p:nvPr/>
          </p:nvSpPr>
          <p:spPr>
            <a:xfrm>
              <a:off x="720" y="672"/>
              <a:ext cx="0" cy="1344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1895" name="Line 79"/>
            <p:cNvSpPr/>
            <p:nvPr/>
          </p:nvSpPr>
          <p:spPr>
            <a:xfrm>
              <a:off x="5040" y="672"/>
              <a:ext cx="0" cy="912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6" name="Group 80"/>
          <p:cNvGrpSpPr/>
          <p:nvPr/>
        </p:nvGrpSpPr>
        <p:grpSpPr>
          <a:xfrm>
            <a:off x="4495800" y="2057400"/>
            <a:ext cx="3276600" cy="3124200"/>
            <a:chOff x="1872" y="1296"/>
            <a:chExt cx="2064" cy="1968"/>
          </a:xfrm>
        </p:grpSpPr>
        <p:sp>
          <p:nvSpPr>
            <p:cNvPr id="291892" name="Line 81"/>
            <p:cNvSpPr/>
            <p:nvPr/>
          </p:nvSpPr>
          <p:spPr>
            <a:xfrm>
              <a:off x="1872" y="1296"/>
              <a:ext cx="0" cy="120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1893" name="Line 82"/>
            <p:cNvSpPr/>
            <p:nvPr/>
          </p:nvSpPr>
          <p:spPr>
            <a:xfrm>
              <a:off x="3936" y="1344"/>
              <a:ext cx="0" cy="192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28435" name="Line 83"/>
          <p:cNvSpPr/>
          <p:nvPr/>
        </p:nvSpPr>
        <p:spPr>
          <a:xfrm>
            <a:off x="6629400" y="3886200"/>
            <a:ext cx="0" cy="198120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8436" name="Line 84"/>
          <p:cNvSpPr/>
          <p:nvPr/>
        </p:nvSpPr>
        <p:spPr>
          <a:xfrm>
            <a:off x="9191625" y="3886200"/>
            <a:ext cx="0" cy="1295400"/>
          </a:xfrm>
          <a:prstGeom prst="line">
            <a:avLst/>
          </a:prstGeom>
          <a:ln w="1905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7" name="Group 85"/>
          <p:cNvGrpSpPr/>
          <p:nvPr/>
        </p:nvGrpSpPr>
        <p:grpSpPr>
          <a:xfrm>
            <a:off x="2514600" y="6048375"/>
            <a:ext cx="7391400" cy="584200"/>
            <a:chOff x="624" y="3810"/>
            <a:chExt cx="4656" cy="368"/>
          </a:xfrm>
        </p:grpSpPr>
        <p:sp>
          <p:nvSpPr>
            <p:cNvPr id="291887" name="Rectangle 86"/>
            <p:cNvSpPr/>
            <p:nvPr/>
          </p:nvSpPr>
          <p:spPr>
            <a:xfrm>
              <a:off x="624" y="3889"/>
              <a:ext cx="4656" cy="2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1888" name="Group 87"/>
            <p:cNvGrpSpPr/>
            <p:nvPr/>
          </p:nvGrpSpPr>
          <p:grpSpPr>
            <a:xfrm>
              <a:off x="672" y="3810"/>
              <a:ext cx="4523" cy="368"/>
              <a:chOff x="672" y="3810"/>
              <a:chExt cx="4523" cy="368"/>
            </a:xfrm>
          </p:grpSpPr>
          <p:sp>
            <p:nvSpPr>
              <p:cNvPr id="291889" name="Rectangle 88"/>
              <p:cNvSpPr/>
              <p:nvPr/>
            </p:nvSpPr>
            <p:spPr>
              <a:xfrm>
                <a:off x="672" y="3810"/>
                <a:ext cx="2466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3200" b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写周期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2800" b="1" i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WC</a:t>
                </a:r>
                <a:r>
                  <a:rPr lang="en-US" altLang="zh-CN" sz="2800" b="1" baseline="-25000" dirty="0">
                    <a:latin typeface="宋体" panose="02010600030101010101" pitchFamily="2" charset="-122"/>
                  </a:rPr>
                  <a:t>  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地址有效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1890" name="Line 89"/>
              <p:cNvSpPr/>
              <p:nvPr/>
            </p:nvSpPr>
            <p:spPr>
              <a:xfrm>
                <a:off x="3168" y="4023"/>
                <a:ext cx="3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1891" name="Rectangle 90"/>
              <p:cNvSpPr/>
              <p:nvPr/>
            </p:nvSpPr>
            <p:spPr>
              <a:xfrm>
                <a:off x="3504" y="3843"/>
                <a:ext cx="169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800" b="1" dirty="0">
                    <a:latin typeface="宋体" panose="02010600030101010101" pitchFamily="2" charset="-122"/>
                  </a:rPr>
                  <a:t>下一次地址有效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228443" name="Rectangle 9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9" name="Group 92"/>
          <p:cNvGrpSpPr/>
          <p:nvPr/>
        </p:nvGrpSpPr>
        <p:grpSpPr>
          <a:xfrm>
            <a:off x="2514600" y="6061075"/>
            <a:ext cx="7391400" cy="584200"/>
            <a:chOff x="672" y="4195"/>
            <a:chExt cx="4656" cy="368"/>
          </a:xfrm>
        </p:grpSpPr>
        <p:sp>
          <p:nvSpPr>
            <p:cNvPr id="291883" name="Rectangle 93"/>
            <p:cNvSpPr/>
            <p:nvPr/>
          </p:nvSpPr>
          <p:spPr>
            <a:xfrm>
              <a:off x="672" y="4242"/>
              <a:ext cx="4656" cy="2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1884" name="Group 94"/>
            <p:cNvGrpSpPr/>
            <p:nvPr/>
          </p:nvGrpSpPr>
          <p:grpSpPr>
            <a:xfrm>
              <a:off x="912" y="4195"/>
              <a:ext cx="4080" cy="368"/>
              <a:chOff x="912" y="4195"/>
              <a:chExt cx="4080" cy="368"/>
            </a:xfrm>
          </p:grpSpPr>
          <p:sp>
            <p:nvSpPr>
              <p:cNvPr id="291885" name="Rectangle 95"/>
              <p:cNvSpPr/>
              <p:nvPr/>
            </p:nvSpPr>
            <p:spPr>
              <a:xfrm>
                <a:off x="912" y="4195"/>
                <a:ext cx="4080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3200" b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写时间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2800" b="1" i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W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2800" b="1" baseline="-25000" dirty="0">
                    <a:latin typeface="宋体" panose="02010600030101010101" pitchFamily="2" charset="-122"/>
                  </a:rPr>
                  <a:t> 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写命令 </a:t>
                </a:r>
                <a:r>
                  <a:rPr lang="en-US" altLang="zh-CN" sz="2200" b="1" dirty="0">
                    <a:latin typeface="宋体" panose="02010600030101010101" pitchFamily="2" charset="-122"/>
                  </a:rPr>
                  <a:t>WE</a:t>
                </a:r>
                <a:r>
                  <a:rPr lang="en-US" altLang="zh-CN" sz="2000" b="1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的有效时间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1886" name="Line 96"/>
              <p:cNvSpPr/>
              <p:nvPr/>
            </p:nvSpPr>
            <p:spPr>
              <a:xfrm>
                <a:off x="3168" y="4282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1" name="Group 97"/>
          <p:cNvGrpSpPr/>
          <p:nvPr/>
        </p:nvGrpSpPr>
        <p:grpSpPr>
          <a:xfrm>
            <a:off x="2514600" y="6048375"/>
            <a:ext cx="7391400" cy="522288"/>
            <a:chOff x="624" y="3840"/>
            <a:chExt cx="4656" cy="329"/>
          </a:xfrm>
        </p:grpSpPr>
        <p:sp>
          <p:nvSpPr>
            <p:cNvPr id="291878" name="Rectangle 98"/>
            <p:cNvSpPr/>
            <p:nvPr/>
          </p:nvSpPr>
          <p:spPr>
            <a:xfrm>
              <a:off x="624" y="3895"/>
              <a:ext cx="4656" cy="2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1879" name="Group 99"/>
            <p:cNvGrpSpPr/>
            <p:nvPr/>
          </p:nvGrpSpPr>
          <p:grpSpPr>
            <a:xfrm>
              <a:off x="1008" y="3840"/>
              <a:ext cx="4022" cy="329"/>
              <a:chOff x="1008" y="3840"/>
              <a:chExt cx="4022" cy="329"/>
            </a:xfrm>
          </p:grpSpPr>
          <p:sp>
            <p:nvSpPr>
              <p:cNvPr id="291880" name="Rectangle 100"/>
              <p:cNvSpPr/>
              <p:nvPr/>
            </p:nvSpPr>
            <p:spPr>
              <a:xfrm>
                <a:off x="1008" y="3840"/>
                <a:ext cx="201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800" b="1" i="1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AW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 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地址有效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1881" name="Line 101"/>
              <p:cNvSpPr/>
              <p:nvPr/>
            </p:nvSpPr>
            <p:spPr>
              <a:xfrm>
                <a:off x="2544" y="4032"/>
                <a:ext cx="336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1882" name="Rectangle 102"/>
              <p:cNvSpPr/>
              <p:nvPr/>
            </p:nvSpPr>
            <p:spPr>
              <a:xfrm>
                <a:off x="2899" y="3840"/>
                <a:ext cx="2131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latin typeface="宋体" panose="02010600030101010101" pitchFamily="2" charset="-122"/>
                  </a:rPr>
                  <a:t>片选有效的滞后时间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283649" name="Group 103"/>
          <p:cNvGrpSpPr/>
          <p:nvPr/>
        </p:nvGrpSpPr>
        <p:grpSpPr>
          <a:xfrm>
            <a:off x="2514600" y="6110288"/>
            <a:ext cx="7391400" cy="522288"/>
            <a:chOff x="624" y="3855"/>
            <a:chExt cx="4656" cy="329"/>
          </a:xfrm>
        </p:grpSpPr>
        <p:sp>
          <p:nvSpPr>
            <p:cNvPr id="291873" name="Rectangle 104"/>
            <p:cNvSpPr/>
            <p:nvPr/>
          </p:nvSpPr>
          <p:spPr>
            <a:xfrm>
              <a:off x="624" y="3895"/>
              <a:ext cx="4656" cy="2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1874" name="Group 105"/>
            <p:cNvGrpSpPr/>
            <p:nvPr/>
          </p:nvGrpSpPr>
          <p:grpSpPr>
            <a:xfrm>
              <a:off x="1296" y="3855"/>
              <a:ext cx="3574" cy="329"/>
              <a:chOff x="1296" y="3855"/>
              <a:chExt cx="3574" cy="329"/>
            </a:xfrm>
          </p:grpSpPr>
          <p:sp>
            <p:nvSpPr>
              <p:cNvPr id="291875" name="Rectangle 106"/>
              <p:cNvSpPr/>
              <p:nvPr/>
            </p:nvSpPr>
            <p:spPr>
              <a:xfrm>
                <a:off x="1296" y="3855"/>
                <a:ext cx="2016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800" b="1" i="1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WR</a:t>
                </a:r>
                <a:r>
                  <a:rPr lang="en-US" altLang="zh-CN" sz="2800" b="1" dirty="0">
                    <a:latin typeface="宋体" panose="02010600030101010101" pitchFamily="2" charset="-122"/>
                  </a:rPr>
                  <a:t> 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片选失效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1876" name="Line 107"/>
              <p:cNvSpPr/>
              <p:nvPr/>
            </p:nvSpPr>
            <p:spPr>
              <a:xfrm>
                <a:off x="2832" y="4047"/>
                <a:ext cx="3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1877" name="Rectangle 108"/>
              <p:cNvSpPr/>
              <p:nvPr/>
            </p:nvSpPr>
            <p:spPr>
              <a:xfrm>
                <a:off x="3187" y="3855"/>
                <a:ext cx="168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800" b="1" dirty="0">
                    <a:latin typeface="宋体" panose="02010600030101010101" pitchFamily="2" charset="-122"/>
                  </a:rPr>
                  <a:t>下一次地址有效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</p:grpSp>
      </p:grpSp>
      <p:grpSp>
        <p:nvGrpSpPr>
          <p:cNvPr id="283651" name="Group 109"/>
          <p:cNvGrpSpPr/>
          <p:nvPr/>
        </p:nvGrpSpPr>
        <p:grpSpPr>
          <a:xfrm>
            <a:off x="2514600" y="6119813"/>
            <a:ext cx="7391400" cy="522288"/>
            <a:chOff x="624" y="3855"/>
            <a:chExt cx="4656" cy="329"/>
          </a:xfrm>
        </p:grpSpPr>
        <p:sp>
          <p:nvSpPr>
            <p:cNvPr id="291867" name="Rectangle 110"/>
            <p:cNvSpPr/>
            <p:nvPr/>
          </p:nvSpPr>
          <p:spPr>
            <a:xfrm>
              <a:off x="624" y="3895"/>
              <a:ext cx="4656" cy="2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1868" name="Group 111"/>
            <p:cNvGrpSpPr/>
            <p:nvPr/>
          </p:nvGrpSpPr>
          <p:grpSpPr>
            <a:xfrm>
              <a:off x="1392" y="3855"/>
              <a:ext cx="2911" cy="329"/>
              <a:chOff x="1392" y="3855"/>
              <a:chExt cx="2911" cy="329"/>
            </a:xfrm>
          </p:grpSpPr>
          <p:sp>
            <p:nvSpPr>
              <p:cNvPr id="291869" name="Rectangle 112"/>
              <p:cNvSpPr/>
              <p:nvPr/>
            </p:nvSpPr>
            <p:spPr>
              <a:xfrm>
                <a:off x="1392" y="3855"/>
                <a:ext cx="196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800" b="1" i="1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DW  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数据稳定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1870" name="Line 113"/>
              <p:cNvSpPr/>
              <p:nvPr/>
            </p:nvSpPr>
            <p:spPr>
              <a:xfrm>
                <a:off x="2976" y="4047"/>
                <a:ext cx="33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1871" name="Rectangle 114"/>
              <p:cNvSpPr/>
              <p:nvPr/>
            </p:nvSpPr>
            <p:spPr>
              <a:xfrm>
                <a:off x="3360" y="3855"/>
                <a:ext cx="943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2200" b="1" dirty="0">
                    <a:latin typeface="宋体" panose="02010600030101010101" pitchFamily="2" charset="-122"/>
                  </a:rPr>
                  <a:t>WE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失效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1872" name="Line 115"/>
              <p:cNvSpPr/>
              <p:nvPr/>
            </p:nvSpPr>
            <p:spPr>
              <a:xfrm>
                <a:off x="3504" y="3975"/>
                <a:ext cx="24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83661" name="Group 116"/>
          <p:cNvGrpSpPr/>
          <p:nvPr/>
        </p:nvGrpSpPr>
        <p:grpSpPr>
          <a:xfrm>
            <a:off x="2514600" y="6110288"/>
            <a:ext cx="7391400" cy="522288"/>
            <a:chOff x="624" y="3993"/>
            <a:chExt cx="4656" cy="329"/>
          </a:xfrm>
        </p:grpSpPr>
        <p:sp>
          <p:nvSpPr>
            <p:cNvPr id="291863" name="Rectangle 117"/>
            <p:cNvSpPr/>
            <p:nvPr/>
          </p:nvSpPr>
          <p:spPr>
            <a:xfrm>
              <a:off x="624" y="4033"/>
              <a:ext cx="4656" cy="23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1864" name="Group 118"/>
            <p:cNvGrpSpPr/>
            <p:nvPr/>
          </p:nvGrpSpPr>
          <p:grpSpPr>
            <a:xfrm>
              <a:off x="1392" y="3993"/>
              <a:ext cx="3408" cy="329"/>
              <a:chOff x="1392" y="3849"/>
              <a:chExt cx="3408" cy="329"/>
            </a:xfrm>
          </p:grpSpPr>
          <p:sp>
            <p:nvSpPr>
              <p:cNvPr id="291865" name="Rectangle 119"/>
              <p:cNvSpPr/>
              <p:nvPr/>
            </p:nvSpPr>
            <p:spPr>
              <a:xfrm>
                <a:off x="1392" y="3849"/>
                <a:ext cx="340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800" b="1" i="1" dirty="0">
                    <a:latin typeface="宋体" panose="02010600030101010101" pitchFamily="2" charset="-122"/>
                  </a:rPr>
                  <a:t>t</a:t>
                </a:r>
                <a:r>
                  <a:rPr lang="en-US" altLang="zh-CN" sz="2400" b="1" baseline="-25000" dirty="0">
                    <a:latin typeface="宋体" panose="02010600030101010101" pitchFamily="2" charset="-122"/>
                  </a:rPr>
                  <a:t>DH</a:t>
                </a:r>
                <a:r>
                  <a:rPr lang="en-US" altLang="zh-CN" sz="2200" b="1" dirty="0">
                    <a:latin typeface="宋体" panose="02010600030101010101" pitchFamily="2" charset="-122"/>
                  </a:rPr>
                  <a:t>  </a:t>
                </a:r>
                <a:r>
                  <a:rPr lang="en-US" altLang="zh-CN" sz="1000" b="1" dirty="0">
                    <a:latin typeface="宋体" panose="02010600030101010101" pitchFamily="2" charset="-122"/>
                  </a:rPr>
                  <a:t> </a:t>
                </a:r>
                <a:r>
                  <a:rPr lang="en-US" altLang="zh-CN" sz="2200" b="1" dirty="0">
                    <a:latin typeface="宋体" panose="02010600030101010101" pitchFamily="2" charset="-122"/>
                  </a:rPr>
                  <a:t>WE </a:t>
                </a:r>
                <a:r>
                  <a:rPr lang="zh-CN" altLang="en-US" sz="2800" b="1" dirty="0">
                    <a:latin typeface="宋体" panose="02010600030101010101" pitchFamily="2" charset="-122"/>
                  </a:rPr>
                  <a:t>失效后的数据维持时间</a:t>
                </a:r>
                <a:endParaRPr lang="zh-CN" altLang="en-US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91866" name="Line 120"/>
              <p:cNvSpPr/>
              <p:nvPr/>
            </p:nvSpPr>
            <p:spPr>
              <a:xfrm>
                <a:off x="1872" y="3936"/>
                <a:ext cx="28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291861" name="AutoShape 12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186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3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3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22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3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22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92866" name="Group 2"/>
          <p:cNvGrpSpPr/>
          <p:nvPr/>
        </p:nvGrpSpPr>
        <p:grpSpPr>
          <a:xfrm>
            <a:off x="1539875" y="1793875"/>
            <a:ext cx="5646738" cy="3786188"/>
            <a:chOff x="10" y="1130"/>
            <a:chExt cx="3557" cy="2385"/>
          </a:xfrm>
        </p:grpSpPr>
        <p:sp>
          <p:nvSpPr>
            <p:cNvPr id="292969" name="Text Box 3"/>
            <p:cNvSpPr txBox="1"/>
            <p:nvPr/>
          </p:nvSpPr>
          <p:spPr>
            <a:xfrm>
              <a:off x="3332" y="1239"/>
              <a:ext cx="235" cy="1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baseline="-25000" dirty="0">
                  <a:latin typeface="Times New Roman" panose="02020603050405020304" pitchFamily="18" charset="0"/>
                </a:rPr>
                <a:t>DD</a:t>
              </a:r>
              <a:endParaRPr lang="en-US" altLang="zh-CN" sz="16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92970" name="Line 4"/>
            <p:cNvSpPr/>
            <p:nvPr/>
          </p:nvSpPr>
          <p:spPr>
            <a:xfrm>
              <a:off x="384" y="1440"/>
              <a:ext cx="249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71" name="Freeform 5"/>
            <p:cNvSpPr/>
            <p:nvPr/>
          </p:nvSpPr>
          <p:spPr>
            <a:xfrm>
              <a:off x="384" y="2922"/>
              <a:ext cx="2502" cy="3"/>
            </a:xfrm>
            <a:custGeom>
              <a:avLst/>
              <a:gdLst>
                <a:gd name="txL" fmla="*/ 0 w 2502"/>
                <a:gd name="txT" fmla="*/ 0 h 3"/>
                <a:gd name="txR" fmla="*/ 2502 w 2502"/>
                <a:gd name="txB" fmla="*/ 3 h 3"/>
              </a:gdLst>
              <a:ahLst/>
              <a:cxnLst>
                <a:cxn ang="0">
                  <a:pos x="0" y="3"/>
                </a:cxn>
                <a:cxn ang="0">
                  <a:pos x="2502" y="0"/>
                </a:cxn>
              </a:cxnLst>
              <a:rect l="txL" t="txT" r="txR" b="txB"/>
              <a:pathLst>
                <a:path w="2502" h="3">
                  <a:moveTo>
                    <a:pt x="0" y="3"/>
                  </a:moveTo>
                  <a:lnTo>
                    <a:pt x="250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2972" name="Group 6"/>
            <p:cNvGrpSpPr/>
            <p:nvPr/>
          </p:nvGrpSpPr>
          <p:grpSpPr>
            <a:xfrm>
              <a:off x="1872" y="1632"/>
              <a:ext cx="49" cy="231"/>
              <a:chOff x="1872" y="1632"/>
              <a:chExt cx="49" cy="231"/>
            </a:xfrm>
          </p:grpSpPr>
          <p:sp>
            <p:nvSpPr>
              <p:cNvPr id="293013" name="Freeform 7"/>
              <p:cNvSpPr/>
              <p:nvPr/>
            </p:nvSpPr>
            <p:spPr>
              <a:xfrm>
                <a:off x="1872" y="1690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3014" name="Freeform 8"/>
              <p:cNvSpPr/>
              <p:nvPr/>
            </p:nvSpPr>
            <p:spPr>
              <a:xfrm>
                <a:off x="1920" y="1632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2973" name="Freeform 9"/>
            <p:cNvSpPr/>
            <p:nvPr/>
          </p:nvSpPr>
          <p:spPr>
            <a:xfrm>
              <a:off x="1584" y="1440"/>
              <a:ext cx="291" cy="308"/>
            </a:xfrm>
            <a:custGeom>
              <a:avLst/>
              <a:gdLst>
                <a:gd name="txL" fmla="*/ 0 w 291"/>
                <a:gd name="txT" fmla="*/ 0 h 212"/>
                <a:gd name="txR" fmla="*/ 291 w 291"/>
                <a:gd name="txB" fmla="*/ 212 h 212"/>
              </a:gdLst>
              <a:ahLst/>
              <a:cxnLst>
                <a:cxn ang="0">
                  <a:pos x="0" y="0"/>
                </a:cxn>
                <a:cxn ang="0">
                  <a:pos x="0" y="212"/>
                </a:cxn>
                <a:cxn ang="0">
                  <a:pos x="291" y="212"/>
                </a:cxn>
              </a:cxnLst>
              <a:rect l="txL" t="txT" r="txR" b="txB"/>
              <a:pathLst>
                <a:path w="291" h="212">
                  <a:moveTo>
                    <a:pt x="0" y="0"/>
                  </a:moveTo>
                  <a:lnTo>
                    <a:pt x="0" y="212"/>
                  </a:lnTo>
                  <a:lnTo>
                    <a:pt x="291" y="21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74" name="Freeform 10"/>
            <p:cNvSpPr/>
            <p:nvPr/>
          </p:nvSpPr>
          <p:spPr>
            <a:xfrm>
              <a:off x="2447" y="1248"/>
              <a:ext cx="1" cy="2027"/>
            </a:xfrm>
            <a:custGeom>
              <a:avLst/>
              <a:gdLst>
                <a:gd name="txL" fmla="*/ 0 w 1"/>
                <a:gd name="txT" fmla="*/ 0 h 2027"/>
                <a:gd name="txR" fmla="*/ 1 w 1"/>
                <a:gd name="txB" fmla="*/ 2027 h 2027"/>
              </a:gdLst>
              <a:ahLst/>
              <a:cxnLst>
                <a:cxn ang="0">
                  <a:pos x="1" y="0"/>
                </a:cxn>
                <a:cxn ang="0">
                  <a:pos x="0" y="2027"/>
                </a:cxn>
              </a:cxnLst>
              <a:rect l="txL" t="txT" r="txR" b="txB"/>
              <a:pathLst>
                <a:path w="1" h="2027">
                  <a:moveTo>
                    <a:pt x="1" y="0"/>
                  </a:moveTo>
                  <a:lnTo>
                    <a:pt x="0" y="202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75" name="Freeform 11"/>
            <p:cNvSpPr/>
            <p:nvPr/>
          </p:nvSpPr>
          <p:spPr>
            <a:xfrm>
              <a:off x="1917" y="1697"/>
              <a:ext cx="536" cy="1"/>
            </a:xfrm>
            <a:custGeom>
              <a:avLst/>
              <a:gdLst>
                <a:gd name="txL" fmla="*/ 0 w 536"/>
                <a:gd name="txT" fmla="*/ 0 h 1"/>
                <a:gd name="txR" fmla="*/ 536 w 53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536" y="0"/>
                </a:cxn>
              </a:cxnLst>
              <a:rect l="txL" t="txT" r="txR" b="txB"/>
              <a:pathLst>
                <a:path w="536" h="1">
                  <a:moveTo>
                    <a:pt x="0" y="0"/>
                  </a:moveTo>
                  <a:lnTo>
                    <a:pt x="53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2976" name="Group 12"/>
            <p:cNvGrpSpPr/>
            <p:nvPr/>
          </p:nvGrpSpPr>
          <p:grpSpPr>
            <a:xfrm>
              <a:off x="1872" y="2121"/>
              <a:ext cx="49" cy="231"/>
              <a:chOff x="1872" y="2121"/>
              <a:chExt cx="49" cy="231"/>
            </a:xfrm>
          </p:grpSpPr>
          <p:sp>
            <p:nvSpPr>
              <p:cNvPr id="293011" name="Freeform 13"/>
              <p:cNvSpPr/>
              <p:nvPr/>
            </p:nvSpPr>
            <p:spPr>
              <a:xfrm>
                <a:off x="1872" y="2179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3012" name="Freeform 14"/>
              <p:cNvSpPr/>
              <p:nvPr/>
            </p:nvSpPr>
            <p:spPr>
              <a:xfrm>
                <a:off x="1920" y="2121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2977" name="Freeform 15"/>
            <p:cNvSpPr/>
            <p:nvPr/>
          </p:nvSpPr>
          <p:spPr>
            <a:xfrm>
              <a:off x="1917" y="1797"/>
              <a:ext cx="288" cy="395"/>
            </a:xfrm>
            <a:custGeom>
              <a:avLst/>
              <a:gdLst>
                <a:gd name="txL" fmla="*/ 0 w 288"/>
                <a:gd name="txT" fmla="*/ 0 h 395"/>
                <a:gd name="txR" fmla="*/ 288 w 288"/>
                <a:gd name="txB" fmla="*/ 395 h 395"/>
              </a:gdLst>
              <a:ahLst/>
              <a:cxnLst>
                <a:cxn ang="0">
                  <a:pos x="0" y="2"/>
                </a:cxn>
                <a:cxn ang="0">
                  <a:pos x="288" y="0"/>
                </a:cxn>
                <a:cxn ang="0">
                  <a:pos x="287" y="395"/>
                </a:cxn>
                <a:cxn ang="0">
                  <a:pos x="6" y="395"/>
                </a:cxn>
              </a:cxnLst>
              <a:rect l="txL" t="txT" r="txR" b="txB"/>
              <a:pathLst>
                <a:path w="288" h="395">
                  <a:moveTo>
                    <a:pt x="0" y="2"/>
                  </a:moveTo>
                  <a:lnTo>
                    <a:pt x="288" y="0"/>
                  </a:lnTo>
                  <a:lnTo>
                    <a:pt x="287" y="395"/>
                  </a:lnTo>
                  <a:lnTo>
                    <a:pt x="6" y="39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78" name="Freeform 16"/>
            <p:cNvSpPr/>
            <p:nvPr/>
          </p:nvSpPr>
          <p:spPr>
            <a:xfrm>
              <a:off x="1917" y="2291"/>
              <a:ext cx="291" cy="253"/>
            </a:xfrm>
            <a:custGeom>
              <a:avLst/>
              <a:gdLst>
                <a:gd name="txL" fmla="*/ 0 w 291"/>
                <a:gd name="txT" fmla="*/ 0 h 253"/>
                <a:gd name="txR" fmla="*/ 291 w 291"/>
                <a:gd name="txB" fmla="*/ 253 h 253"/>
              </a:gdLst>
              <a:ahLst/>
              <a:cxnLst>
                <a:cxn ang="0">
                  <a:pos x="0" y="0"/>
                </a:cxn>
                <a:cxn ang="0">
                  <a:pos x="290" y="0"/>
                </a:cxn>
                <a:cxn ang="0">
                  <a:pos x="291" y="253"/>
                </a:cxn>
              </a:cxnLst>
              <a:rect l="txL" t="txT" r="txR" b="txB"/>
              <a:pathLst>
                <a:path w="291" h="253">
                  <a:moveTo>
                    <a:pt x="0" y="0"/>
                  </a:moveTo>
                  <a:lnTo>
                    <a:pt x="290" y="0"/>
                  </a:lnTo>
                  <a:lnTo>
                    <a:pt x="291" y="25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79" name="Line 17"/>
            <p:cNvSpPr/>
            <p:nvPr/>
          </p:nvSpPr>
          <p:spPr>
            <a:xfrm>
              <a:off x="2112" y="2544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80" name="Freeform 18"/>
            <p:cNvSpPr/>
            <p:nvPr/>
          </p:nvSpPr>
          <p:spPr>
            <a:xfrm>
              <a:off x="768" y="1248"/>
              <a:ext cx="1" cy="2037"/>
            </a:xfrm>
            <a:custGeom>
              <a:avLst/>
              <a:gdLst>
                <a:gd name="txL" fmla="*/ 0 w 1"/>
                <a:gd name="txT" fmla="*/ 0 h 2037"/>
                <a:gd name="txR" fmla="*/ 1 w 1"/>
                <a:gd name="txB" fmla="*/ 2037 h 2037"/>
              </a:gdLst>
              <a:ahLst/>
              <a:cxnLst>
                <a:cxn ang="0">
                  <a:pos x="0" y="0"/>
                </a:cxn>
                <a:cxn ang="0">
                  <a:pos x="0" y="2037"/>
                </a:cxn>
              </a:cxnLst>
              <a:rect l="txL" t="txT" r="txR" b="txB"/>
              <a:pathLst>
                <a:path w="1" h="2037">
                  <a:moveTo>
                    <a:pt x="0" y="0"/>
                  </a:moveTo>
                  <a:lnTo>
                    <a:pt x="0" y="203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2981" name="Group 19"/>
            <p:cNvGrpSpPr/>
            <p:nvPr/>
          </p:nvGrpSpPr>
          <p:grpSpPr>
            <a:xfrm>
              <a:off x="1007" y="2398"/>
              <a:ext cx="231" cy="49"/>
              <a:chOff x="1007" y="2398"/>
              <a:chExt cx="231" cy="49"/>
            </a:xfrm>
          </p:grpSpPr>
          <p:sp>
            <p:nvSpPr>
              <p:cNvPr id="293009" name="Freeform 20"/>
              <p:cNvSpPr/>
              <p:nvPr/>
            </p:nvSpPr>
            <p:spPr>
              <a:xfrm rot="-5400000">
                <a:off x="1107" y="2369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3010" name="Freeform 21"/>
              <p:cNvSpPr/>
              <p:nvPr/>
            </p:nvSpPr>
            <p:spPr>
              <a:xfrm rot="-5400000">
                <a:off x="1105" y="2266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2982" name="Freeform 22"/>
            <p:cNvSpPr/>
            <p:nvPr/>
          </p:nvSpPr>
          <p:spPr>
            <a:xfrm>
              <a:off x="1391" y="2495"/>
              <a:ext cx="282" cy="1"/>
            </a:xfrm>
            <a:custGeom>
              <a:avLst/>
              <a:gdLst>
                <a:gd name="txL" fmla="*/ 0 w 282"/>
                <a:gd name="txT" fmla="*/ 0 h 1"/>
                <a:gd name="txR" fmla="*/ 282 w 28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82" y="0"/>
                </a:cxn>
              </a:cxnLst>
              <a:rect l="txL" t="txT" r="txR" b="txB"/>
              <a:pathLst>
                <a:path w="282" h="1">
                  <a:moveTo>
                    <a:pt x="0" y="0"/>
                  </a:moveTo>
                  <a:lnTo>
                    <a:pt x="28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83" name="Freeform 23"/>
            <p:cNvSpPr/>
            <p:nvPr/>
          </p:nvSpPr>
          <p:spPr>
            <a:xfrm>
              <a:off x="1389" y="2591"/>
              <a:ext cx="284" cy="1"/>
            </a:xfrm>
            <a:custGeom>
              <a:avLst/>
              <a:gdLst>
                <a:gd name="txL" fmla="*/ 0 w 284"/>
                <a:gd name="txT" fmla="*/ 0 h 1"/>
                <a:gd name="txR" fmla="*/ 284 w 28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84" y="0"/>
                </a:cxn>
              </a:cxnLst>
              <a:rect l="txL" t="txT" r="txR" b="txB"/>
              <a:pathLst>
                <a:path w="284" h="1">
                  <a:moveTo>
                    <a:pt x="0" y="0"/>
                  </a:moveTo>
                  <a:lnTo>
                    <a:pt x="28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84" name="Freeform 24"/>
            <p:cNvSpPr/>
            <p:nvPr/>
          </p:nvSpPr>
          <p:spPr>
            <a:xfrm>
              <a:off x="1164" y="2235"/>
              <a:ext cx="707" cy="159"/>
            </a:xfrm>
            <a:custGeom>
              <a:avLst/>
              <a:gdLst>
                <a:gd name="txL" fmla="*/ 0 w 707"/>
                <a:gd name="txT" fmla="*/ 0 h 159"/>
                <a:gd name="txR" fmla="*/ 707 w 707"/>
                <a:gd name="txB" fmla="*/ 159 h 159"/>
              </a:gdLst>
              <a:ahLst/>
              <a:cxnLst>
                <a:cxn ang="0">
                  <a:pos x="707" y="0"/>
                </a:cxn>
                <a:cxn ang="0">
                  <a:pos x="0" y="3"/>
                </a:cxn>
                <a:cxn ang="0">
                  <a:pos x="0" y="159"/>
                </a:cxn>
              </a:cxnLst>
              <a:rect l="txL" t="txT" r="txR" b="txB"/>
              <a:pathLst>
                <a:path w="707" h="159">
                  <a:moveTo>
                    <a:pt x="707" y="0"/>
                  </a:moveTo>
                  <a:lnTo>
                    <a:pt x="0" y="3"/>
                  </a:lnTo>
                  <a:lnTo>
                    <a:pt x="0" y="15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85" name="Freeform 25"/>
            <p:cNvSpPr/>
            <p:nvPr/>
          </p:nvSpPr>
          <p:spPr>
            <a:xfrm>
              <a:off x="1535" y="2237"/>
              <a:ext cx="1" cy="259"/>
            </a:xfrm>
            <a:custGeom>
              <a:avLst/>
              <a:gdLst>
                <a:gd name="txL" fmla="*/ 0 w 1"/>
                <a:gd name="txT" fmla="*/ 0 h 259"/>
                <a:gd name="txR" fmla="*/ 1 w 1"/>
                <a:gd name="txB" fmla="*/ 259 h 259"/>
              </a:gdLst>
              <a:ahLst/>
              <a:cxnLst>
                <a:cxn ang="0">
                  <a:pos x="0" y="0"/>
                </a:cxn>
                <a:cxn ang="0">
                  <a:pos x="0" y="259"/>
                </a:cxn>
              </a:cxnLst>
              <a:rect l="txL" t="txT" r="txR" b="txB"/>
              <a:pathLst>
                <a:path w="1" h="259">
                  <a:moveTo>
                    <a:pt x="0" y="0"/>
                  </a:moveTo>
                  <a:lnTo>
                    <a:pt x="0" y="25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86" name="Freeform 26"/>
            <p:cNvSpPr/>
            <p:nvPr/>
          </p:nvSpPr>
          <p:spPr>
            <a:xfrm>
              <a:off x="1116" y="2454"/>
              <a:ext cx="3" cy="468"/>
            </a:xfrm>
            <a:custGeom>
              <a:avLst/>
              <a:gdLst>
                <a:gd name="txL" fmla="*/ 0 w 3"/>
                <a:gd name="txT" fmla="*/ 0 h 468"/>
                <a:gd name="txR" fmla="*/ 3 w 3"/>
                <a:gd name="txB" fmla="*/ 468 h 468"/>
              </a:gdLst>
              <a:ahLst/>
              <a:cxnLst>
                <a:cxn ang="0">
                  <a:pos x="3" y="0"/>
                </a:cxn>
                <a:cxn ang="0">
                  <a:pos x="0" y="468"/>
                </a:cxn>
              </a:cxnLst>
              <a:rect l="txL" t="txT" r="txR" b="txB"/>
              <a:pathLst>
                <a:path w="3" h="468">
                  <a:moveTo>
                    <a:pt x="3" y="0"/>
                  </a:moveTo>
                  <a:lnTo>
                    <a:pt x="0" y="46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87" name="Line 27"/>
            <p:cNvSpPr/>
            <p:nvPr/>
          </p:nvSpPr>
          <p:spPr>
            <a:xfrm>
              <a:off x="1536" y="2592"/>
              <a:ext cx="0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88" name="Line 28"/>
            <p:cNvSpPr/>
            <p:nvPr/>
          </p:nvSpPr>
          <p:spPr>
            <a:xfrm>
              <a:off x="1440" y="2736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89" name="Freeform 29"/>
            <p:cNvSpPr/>
            <p:nvPr/>
          </p:nvSpPr>
          <p:spPr>
            <a:xfrm>
              <a:off x="771" y="2235"/>
              <a:ext cx="306" cy="162"/>
            </a:xfrm>
            <a:custGeom>
              <a:avLst/>
              <a:gdLst>
                <a:gd name="txL" fmla="*/ 0 w 306"/>
                <a:gd name="txT" fmla="*/ 0 h 162"/>
                <a:gd name="txR" fmla="*/ 306 w 306"/>
                <a:gd name="txB" fmla="*/ 162 h 162"/>
              </a:gdLst>
              <a:ahLst/>
              <a:cxnLst>
                <a:cxn ang="0">
                  <a:pos x="306" y="162"/>
                </a:cxn>
                <a:cxn ang="0">
                  <a:pos x="306" y="0"/>
                </a:cxn>
                <a:cxn ang="0">
                  <a:pos x="0" y="0"/>
                </a:cxn>
              </a:cxnLst>
              <a:rect l="txL" t="txT" r="txR" b="txB"/>
              <a:pathLst>
                <a:path w="306" h="162">
                  <a:moveTo>
                    <a:pt x="306" y="162"/>
                  </a:moveTo>
                  <a:lnTo>
                    <a:pt x="306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2990" name="Group 30"/>
            <p:cNvGrpSpPr/>
            <p:nvPr/>
          </p:nvGrpSpPr>
          <p:grpSpPr>
            <a:xfrm>
              <a:off x="2600" y="1871"/>
              <a:ext cx="231" cy="49"/>
              <a:chOff x="2600" y="1871"/>
              <a:chExt cx="231" cy="49"/>
            </a:xfrm>
          </p:grpSpPr>
          <p:sp>
            <p:nvSpPr>
              <p:cNvPr id="293007" name="Freeform 31"/>
              <p:cNvSpPr/>
              <p:nvPr/>
            </p:nvSpPr>
            <p:spPr>
              <a:xfrm rot="-5400000">
                <a:off x="2700" y="1842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3008" name="Freeform 32"/>
              <p:cNvSpPr/>
              <p:nvPr/>
            </p:nvSpPr>
            <p:spPr>
              <a:xfrm rot="-5400000">
                <a:off x="2698" y="1739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2991" name="Freeform 33"/>
            <p:cNvSpPr/>
            <p:nvPr/>
          </p:nvSpPr>
          <p:spPr>
            <a:xfrm>
              <a:off x="2457" y="1692"/>
              <a:ext cx="210" cy="183"/>
            </a:xfrm>
            <a:custGeom>
              <a:avLst/>
              <a:gdLst>
                <a:gd name="txL" fmla="*/ 0 w 210"/>
                <a:gd name="txT" fmla="*/ 0 h 183"/>
                <a:gd name="txR" fmla="*/ 210 w 210"/>
                <a:gd name="txB" fmla="*/ 183 h 183"/>
              </a:gdLst>
              <a:ahLst/>
              <a:cxnLst>
                <a:cxn ang="0">
                  <a:pos x="0" y="0"/>
                </a:cxn>
                <a:cxn ang="0">
                  <a:pos x="210" y="0"/>
                </a:cxn>
                <a:cxn ang="0">
                  <a:pos x="210" y="183"/>
                </a:cxn>
              </a:cxnLst>
              <a:rect l="txL" t="txT" r="txR" b="txB"/>
              <a:pathLst>
                <a:path w="210" h="183">
                  <a:moveTo>
                    <a:pt x="0" y="0"/>
                  </a:moveTo>
                  <a:lnTo>
                    <a:pt x="210" y="0"/>
                  </a:lnTo>
                  <a:lnTo>
                    <a:pt x="210" y="18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92" name="Freeform 34"/>
            <p:cNvSpPr/>
            <p:nvPr/>
          </p:nvSpPr>
          <p:spPr>
            <a:xfrm>
              <a:off x="2769" y="1230"/>
              <a:ext cx="414" cy="639"/>
            </a:xfrm>
            <a:custGeom>
              <a:avLst/>
              <a:gdLst>
                <a:gd name="txL" fmla="*/ 0 w 414"/>
                <a:gd name="txT" fmla="*/ 0 h 639"/>
                <a:gd name="txR" fmla="*/ 414 w 414"/>
                <a:gd name="txB" fmla="*/ 639 h 639"/>
              </a:gdLst>
              <a:ahLst/>
              <a:cxnLst>
                <a:cxn ang="0">
                  <a:pos x="0" y="639"/>
                </a:cxn>
                <a:cxn ang="0">
                  <a:pos x="0" y="465"/>
                </a:cxn>
                <a:cxn ang="0">
                  <a:pos x="414" y="465"/>
                </a:cxn>
                <a:cxn ang="0">
                  <a:pos x="414" y="0"/>
                </a:cxn>
              </a:cxnLst>
              <a:rect l="txL" t="txT" r="txR" b="txB"/>
              <a:pathLst>
                <a:path w="414" h="639">
                  <a:moveTo>
                    <a:pt x="0" y="639"/>
                  </a:moveTo>
                  <a:lnTo>
                    <a:pt x="0" y="465"/>
                  </a:lnTo>
                  <a:lnTo>
                    <a:pt x="414" y="465"/>
                  </a:lnTo>
                  <a:lnTo>
                    <a:pt x="414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93" name="Freeform 35"/>
            <p:cNvSpPr/>
            <p:nvPr/>
          </p:nvSpPr>
          <p:spPr>
            <a:xfrm>
              <a:off x="2721" y="1923"/>
              <a:ext cx="441" cy="186"/>
            </a:xfrm>
            <a:custGeom>
              <a:avLst/>
              <a:gdLst>
                <a:gd name="txL" fmla="*/ 0 w 441"/>
                <a:gd name="txT" fmla="*/ 0 h 186"/>
                <a:gd name="txR" fmla="*/ 441 w 441"/>
                <a:gd name="txB" fmla="*/ 186 h 186"/>
              </a:gdLst>
              <a:ahLst/>
              <a:cxnLst>
                <a:cxn ang="0">
                  <a:pos x="0" y="0"/>
                </a:cxn>
                <a:cxn ang="0">
                  <a:pos x="0" y="186"/>
                </a:cxn>
                <a:cxn ang="0">
                  <a:pos x="441" y="186"/>
                </a:cxn>
              </a:cxnLst>
              <a:rect l="txL" t="txT" r="txR" b="txB"/>
              <a:pathLst>
                <a:path w="441" h="186">
                  <a:moveTo>
                    <a:pt x="0" y="0"/>
                  </a:moveTo>
                  <a:lnTo>
                    <a:pt x="0" y="186"/>
                  </a:lnTo>
                  <a:lnTo>
                    <a:pt x="441" y="18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94" name="Text Box 36"/>
            <p:cNvSpPr txBox="1"/>
            <p:nvPr/>
          </p:nvSpPr>
          <p:spPr>
            <a:xfrm>
              <a:off x="2490" y="2112"/>
              <a:ext cx="91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预充电信号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2995" name="Text Box 37"/>
            <p:cNvSpPr txBox="1"/>
            <p:nvPr/>
          </p:nvSpPr>
          <p:spPr>
            <a:xfrm>
              <a:off x="10" y="1440"/>
              <a:ext cx="755" cy="2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lnSpc>
                  <a:spcPct val="95000"/>
                </a:lnSpc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读选择线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2996" name="Text Box 38"/>
            <p:cNvSpPr txBox="1"/>
            <p:nvPr/>
          </p:nvSpPr>
          <p:spPr>
            <a:xfrm>
              <a:off x="434" y="3264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写数据线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2997" name="Text Box 39"/>
            <p:cNvSpPr txBox="1"/>
            <p:nvPr/>
          </p:nvSpPr>
          <p:spPr>
            <a:xfrm>
              <a:off x="10" y="2947"/>
              <a:ext cx="755" cy="2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写选择线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2998" name="Text Box 40"/>
            <p:cNvSpPr txBox="1"/>
            <p:nvPr/>
          </p:nvSpPr>
          <p:spPr>
            <a:xfrm>
              <a:off x="1882" y="3264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读数据线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2999" name="Text Box 41"/>
            <p:cNvSpPr txBox="1"/>
            <p:nvPr/>
          </p:nvSpPr>
          <p:spPr>
            <a:xfrm>
              <a:off x="3155" y="1130"/>
              <a:ext cx="2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</a:rPr>
                <a:t>V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93000" name="Text Box 42"/>
            <p:cNvSpPr txBox="1"/>
            <p:nvPr/>
          </p:nvSpPr>
          <p:spPr>
            <a:xfrm>
              <a:off x="1168" y="2447"/>
              <a:ext cx="22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3001" name="Text Box 43"/>
            <p:cNvSpPr txBox="1"/>
            <p:nvPr/>
          </p:nvSpPr>
          <p:spPr>
            <a:xfrm>
              <a:off x="1283" y="2516"/>
              <a:ext cx="179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g</a:t>
              </a:r>
              <a:endParaRPr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3002" name="Text Box 44"/>
            <p:cNvSpPr txBox="1"/>
            <p:nvPr/>
          </p:nvSpPr>
          <p:spPr>
            <a:xfrm>
              <a:off x="2817" y="1807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93003" name="Text Box 45"/>
            <p:cNvSpPr txBox="1"/>
            <p:nvPr/>
          </p:nvSpPr>
          <p:spPr>
            <a:xfrm>
              <a:off x="2950" y="183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endParaRPr lang="zh-CN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3004" name="Text Box 46"/>
            <p:cNvSpPr txBox="1"/>
            <p:nvPr/>
          </p:nvSpPr>
          <p:spPr>
            <a:xfrm>
              <a:off x="830" y="2306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93005" name="Text Box 47"/>
            <p:cNvSpPr txBox="1"/>
            <p:nvPr/>
          </p:nvSpPr>
          <p:spPr>
            <a:xfrm>
              <a:off x="1633" y="147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93006" name="Text Box 48"/>
            <p:cNvSpPr txBox="1"/>
            <p:nvPr/>
          </p:nvSpPr>
          <p:spPr>
            <a:xfrm>
              <a:off x="1633" y="196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2867" name="Group 49"/>
          <p:cNvGrpSpPr/>
          <p:nvPr/>
        </p:nvGrpSpPr>
        <p:grpSpPr>
          <a:xfrm>
            <a:off x="5410200" y="2667000"/>
            <a:ext cx="614363" cy="2532063"/>
            <a:chOff x="2448" y="1680"/>
            <a:chExt cx="387" cy="1595"/>
          </a:xfrm>
        </p:grpSpPr>
        <p:sp>
          <p:nvSpPr>
            <p:cNvPr id="292965" name="Freeform 50"/>
            <p:cNvSpPr/>
            <p:nvPr/>
          </p:nvSpPr>
          <p:spPr>
            <a:xfrm>
              <a:off x="2448" y="1680"/>
              <a:ext cx="1" cy="1595"/>
            </a:xfrm>
            <a:custGeom>
              <a:avLst/>
              <a:gdLst>
                <a:gd name="txL" fmla="*/ 0 w 1"/>
                <a:gd name="txT" fmla="*/ 0 h 1595"/>
                <a:gd name="txR" fmla="*/ 1 w 1"/>
                <a:gd name="txB" fmla="*/ 1595 h 1595"/>
              </a:gdLst>
              <a:ahLst/>
              <a:cxnLst>
                <a:cxn ang="0">
                  <a:pos x="0" y="0"/>
                </a:cxn>
                <a:cxn ang="0">
                  <a:pos x="0" y="1595"/>
                </a:cxn>
              </a:cxnLst>
              <a:rect l="txL" t="txT" r="txR" b="txB"/>
              <a:pathLst>
                <a:path w="1" h="1595">
                  <a:moveTo>
                    <a:pt x="0" y="0"/>
                  </a:moveTo>
                  <a:lnTo>
                    <a:pt x="0" y="1595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2966" name="Group 51"/>
            <p:cNvGrpSpPr/>
            <p:nvPr/>
          </p:nvGrpSpPr>
          <p:grpSpPr>
            <a:xfrm>
              <a:off x="2544" y="2371"/>
              <a:ext cx="291" cy="368"/>
              <a:chOff x="1680" y="2371"/>
              <a:chExt cx="291" cy="368"/>
            </a:xfrm>
          </p:grpSpPr>
          <p:sp>
            <p:nvSpPr>
              <p:cNvPr id="292967" name="Rectangle 52"/>
              <p:cNvSpPr/>
              <p:nvPr/>
            </p:nvSpPr>
            <p:spPr>
              <a:xfrm>
                <a:off x="1680" y="2452"/>
                <a:ext cx="195" cy="2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2968" name="Text Box 53"/>
              <p:cNvSpPr txBox="1"/>
              <p:nvPr/>
            </p:nvSpPr>
            <p:spPr>
              <a:xfrm>
                <a:off x="1728" y="2371"/>
                <a:ext cx="243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2868" name="Text Box 54"/>
          <p:cNvSpPr txBox="1"/>
          <p:nvPr/>
        </p:nvSpPr>
        <p:spPr>
          <a:xfrm>
            <a:off x="2590800" y="1143000"/>
            <a:ext cx="5410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(1)  </a:t>
            </a:r>
            <a:r>
              <a:rPr lang="zh-CN" altLang="en-US" sz="3200" b="1" dirty="0">
                <a:latin typeface="Times New Roman" panose="02020603050405020304" pitchFamily="18" charset="0"/>
              </a:rPr>
              <a:t>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基本单元电路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92869" name="Text Box 55"/>
          <p:cNvSpPr txBox="1"/>
          <p:nvPr/>
        </p:nvSpPr>
        <p:spPr>
          <a:xfrm>
            <a:off x="1981200" y="457200"/>
            <a:ext cx="522732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2. </a:t>
            </a:r>
            <a:r>
              <a:rPr lang="zh-CN" altLang="en-US" sz="3200" b="1" dirty="0">
                <a:latin typeface="Times New Roman" panose="02020603050405020304" pitchFamily="18" charset="0"/>
              </a:rPr>
              <a:t>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( DRAM 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三管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9432" name="Text Box 56"/>
          <p:cNvSpPr txBox="1"/>
          <p:nvPr/>
        </p:nvSpPr>
        <p:spPr>
          <a:xfrm>
            <a:off x="2057400" y="5619750"/>
            <a:ext cx="3657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读出与原存信息相反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29433" name="Text Box 57"/>
          <p:cNvSpPr txBox="1"/>
          <p:nvPr/>
        </p:nvSpPr>
        <p:spPr>
          <a:xfrm>
            <a:off x="5791200" y="5619750"/>
            <a:ext cx="4876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读出时数据线有电流 为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1”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2872" name="Group 58"/>
          <p:cNvGrpSpPr/>
          <p:nvPr/>
        </p:nvGrpSpPr>
        <p:grpSpPr>
          <a:xfrm>
            <a:off x="6970713" y="1978025"/>
            <a:ext cx="3011488" cy="2989263"/>
            <a:chOff x="3431" y="1246"/>
            <a:chExt cx="1897" cy="1883"/>
          </a:xfrm>
        </p:grpSpPr>
        <p:sp>
          <p:nvSpPr>
            <p:cNvPr id="292948" name="Line 59"/>
            <p:cNvSpPr/>
            <p:nvPr/>
          </p:nvSpPr>
          <p:spPr>
            <a:xfrm>
              <a:off x="3744" y="1536"/>
              <a:ext cx="15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49" name="Line 60"/>
            <p:cNvSpPr/>
            <p:nvPr/>
          </p:nvSpPr>
          <p:spPr>
            <a:xfrm>
              <a:off x="3936" y="1248"/>
              <a:ext cx="0" cy="177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0" name="Freeform 61"/>
            <p:cNvSpPr/>
            <p:nvPr/>
          </p:nvSpPr>
          <p:spPr>
            <a:xfrm>
              <a:off x="4449" y="1536"/>
              <a:ext cx="351" cy="540"/>
            </a:xfrm>
            <a:custGeom>
              <a:avLst/>
              <a:gdLst>
                <a:gd name="txL" fmla="*/ 0 w 351"/>
                <a:gd name="txT" fmla="*/ 0 h 540"/>
                <a:gd name="txR" fmla="*/ 351 w 351"/>
                <a:gd name="txB" fmla="*/ 540 h 540"/>
              </a:gdLst>
              <a:ahLst/>
              <a:cxnLst>
                <a:cxn ang="0">
                  <a:pos x="351" y="0"/>
                </a:cxn>
                <a:cxn ang="0">
                  <a:pos x="351" y="540"/>
                </a:cxn>
                <a:cxn ang="0">
                  <a:pos x="0" y="540"/>
                </a:cxn>
              </a:cxnLst>
              <a:rect l="txL" t="txT" r="txR" b="txB"/>
              <a:pathLst>
                <a:path w="351" h="540">
                  <a:moveTo>
                    <a:pt x="351" y="0"/>
                  </a:moveTo>
                  <a:lnTo>
                    <a:pt x="351" y="540"/>
                  </a:lnTo>
                  <a:lnTo>
                    <a:pt x="0" y="54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292951" name="Group 62"/>
            <p:cNvGrpSpPr/>
            <p:nvPr/>
          </p:nvGrpSpPr>
          <p:grpSpPr>
            <a:xfrm>
              <a:off x="4397" y="2004"/>
              <a:ext cx="49" cy="231"/>
              <a:chOff x="1586" y="1334"/>
              <a:chExt cx="49" cy="231"/>
            </a:xfrm>
          </p:grpSpPr>
          <p:sp>
            <p:nvSpPr>
              <p:cNvPr id="292963" name="Freeform 63"/>
              <p:cNvSpPr/>
              <p:nvPr/>
            </p:nvSpPr>
            <p:spPr>
              <a:xfrm>
                <a:off x="1586" y="1392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2964" name="Freeform 64"/>
              <p:cNvSpPr/>
              <p:nvPr/>
            </p:nvSpPr>
            <p:spPr>
              <a:xfrm>
                <a:off x="1634" y="1334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2952" name="Freeform 65"/>
            <p:cNvSpPr/>
            <p:nvPr/>
          </p:nvSpPr>
          <p:spPr>
            <a:xfrm rot="10800000">
              <a:off x="3936" y="2112"/>
              <a:ext cx="465" cy="1"/>
            </a:xfrm>
            <a:custGeom>
              <a:avLst/>
              <a:gdLst>
                <a:gd name="txL" fmla="*/ 0 w 465"/>
                <a:gd name="txT" fmla="*/ 0 h 1"/>
                <a:gd name="txR" fmla="*/ 465 w 465"/>
                <a:gd name="txB" fmla="*/ 1 h 1"/>
              </a:gdLst>
              <a:ahLst/>
              <a:cxnLst>
                <a:cxn ang="0">
                  <a:pos x="465" y="0"/>
                </a:cxn>
                <a:cxn ang="0">
                  <a:pos x="0" y="0"/>
                </a:cxn>
              </a:cxnLst>
              <a:rect l="txL" t="txT" r="txR" b="txB"/>
              <a:pathLst>
                <a:path w="465" h="1">
                  <a:moveTo>
                    <a:pt x="465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53" name="Freeform 66"/>
            <p:cNvSpPr/>
            <p:nvPr/>
          </p:nvSpPr>
          <p:spPr>
            <a:xfrm>
              <a:off x="4455" y="2163"/>
              <a:ext cx="342" cy="330"/>
            </a:xfrm>
            <a:custGeom>
              <a:avLst/>
              <a:gdLst>
                <a:gd name="txL" fmla="*/ 0 w 342"/>
                <a:gd name="txT" fmla="*/ 0 h 330"/>
                <a:gd name="txR" fmla="*/ 342 w 342"/>
                <a:gd name="txB" fmla="*/ 330 h 330"/>
              </a:gdLst>
              <a:ahLst/>
              <a:cxnLst>
                <a:cxn ang="0">
                  <a:pos x="0" y="0"/>
                </a:cxn>
                <a:cxn ang="0">
                  <a:pos x="342" y="0"/>
                </a:cxn>
                <a:cxn ang="0">
                  <a:pos x="342" y="330"/>
                </a:cxn>
              </a:cxnLst>
              <a:rect l="txL" t="txT" r="txR" b="txB"/>
              <a:pathLst>
                <a:path w="342" h="330">
                  <a:moveTo>
                    <a:pt x="0" y="0"/>
                  </a:moveTo>
                  <a:lnTo>
                    <a:pt x="342" y="0"/>
                  </a:lnTo>
                  <a:lnTo>
                    <a:pt x="342" y="33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54" name="Freeform 67"/>
            <p:cNvSpPr/>
            <p:nvPr/>
          </p:nvSpPr>
          <p:spPr>
            <a:xfrm>
              <a:off x="4656" y="2496"/>
              <a:ext cx="282" cy="1"/>
            </a:xfrm>
            <a:custGeom>
              <a:avLst/>
              <a:gdLst>
                <a:gd name="txL" fmla="*/ 0 w 282"/>
                <a:gd name="txT" fmla="*/ 0 h 1"/>
                <a:gd name="txR" fmla="*/ 282 w 28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82" y="0"/>
                </a:cxn>
              </a:cxnLst>
              <a:rect l="txL" t="txT" r="txR" b="txB"/>
              <a:pathLst>
                <a:path w="282" h="1">
                  <a:moveTo>
                    <a:pt x="0" y="0"/>
                  </a:moveTo>
                  <a:lnTo>
                    <a:pt x="28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55" name="Freeform 68"/>
            <p:cNvSpPr/>
            <p:nvPr/>
          </p:nvSpPr>
          <p:spPr>
            <a:xfrm>
              <a:off x="4656" y="2591"/>
              <a:ext cx="282" cy="1"/>
            </a:xfrm>
            <a:custGeom>
              <a:avLst/>
              <a:gdLst>
                <a:gd name="txL" fmla="*/ 0 w 282"/>
                <a:gd name="txT" fmla="*/ 0 h 1"/>
                <a:gd name="txR" fmla="*/ 282 w 28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82" y="0"/>
                </a:cxn>
              </a:cxnLst>
              <a:rect l="txL" t="txT" r="txR" b="txB"/>
              <a:pathLst>
                <a:path w="282" h="1">
                  <a:moveTo>
                    <a:pt x="0" y="0"/>
                  </a:moveTo>
                  <a:lnTo>
                    <a:pt x="28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56" name="Line 69"/>
            <p:cNvSpPr/>
            <p:nvPr/>
          </p:nvSpPr>
          <p:spPr>
            <a:xfrm>
              <a:off x="4800" y="2592"/>
              <a:ext cx="0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7" name="Line 70"/>
            <p:cNvSpPr/>
            <p:nvPr/>
          </p:nvSpPr>
          <p:spPr>
            <a:xfrm>
              <a:off x="4704" y="2928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58" name="Text Box 71"/>
            <p:cNvSpPr txBox="1"/>
            <p:nvPr/>
          </p:nvSpPr>
          <p:spPr>
            <a:xfrm>
              <a:off x="4598" y="1246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数据线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2959" name="Text Box 72"/>
            <p:cNvSpPr txBox="1"/>
            <p:nvPr/>
          </p:nvSpPr>
          <p:spPr>
            <a:xfrm>
              <a:off x="5008" y="2431"/>
              <a:ext cx="22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000" b="1" i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2960" name="Text Box 73"/>
            <p:cNvSpPr txBox="1"/>
            <p:nvPr/>
          </p:nvSpPr>
          <p:spPr>
            <a:xfrm>
              <a:off x="5124" y="2470"/>
              <a:ext cx="17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2961" name="Text Box 74"/>
            <p:cNvSpPr txBox="1"/>
            <p:nvPr/>
          </p:nvSpPr>
          <p:spPr>
            <a:xfrm>
              <a:off x="4209" y="1785"/>
              <a:ext cx="22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T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92962" name="Text Box 75"/>
            <p:cNvSpPr txBox="1"/>
            <p:nvPr/>
          </p:nvSpPr>
          <p:spPr>
            <a:xfrm>
              <a:off x="3431" y="2878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字线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76"/>
          <p:cNvGrpSpPr/>
          <p:nvPr/>
        </p:nvGrpSpPr>
        <p:grpSpPr>
          <a:xfrm rot="-5400000">
            <a:off x="5797550" y="2827338"/>
            <a:ext cx="77788" cy="366712"/>
            <a:chOff x="1586" y="1334"/>
            <a:chExt cx="49" cy="231"/>
          </a:xfrm>
        </p:grpSpPr>
        <p:sp>
          <p:nvSpPr>
            <p:cNvPr id="292946" name="Freeform 77"/>
            <p:cNvSpPr/>
            <p:nvPr/>
          </p:nvSpPr>
          <p:spPr>
            <a:xfrm>
              <a:off x="1586" y="1392"/>
              <a:ext cx="1" cy="120"/>
            </a:xfrm>
            <a:custGeom>
              <a:avLst/>
              <a:gdLst>
                <a:gd name="txL" fmla="*/ 0 w 1"/>
                <a:gd name="txT" fmla="*/ 0 h 120"/>
                <a:gd name="txR" fmla="*/ 1 w 1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0" y="120"/>
                </a:cxn>
              </a:cxnLst>
              <a:rect l="txL" t="txT" r="txR" b="txB"/>
              <a:pathLst>
                <a:path w="1" h="120">
                  <a:moveTo>
                    <a:pt x="0" y="0"/>
                  </a:moveTo>
                  <a:lnTo>
                    <a:pt x="0" y="120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47" name="Freeform 78"/>
            <p:cNvSpPr/>
            <p:nvPr/>
          </p:nvSpPr>
          <p:spPr>
            <a:xfrm>
              <a:off x="1634" y="1334"/>
              <a:ext cx="1" cy="231"/>
            </a:xfrm>
            <a:custGeom>
              <a:avLst/>
              <a:gdLst>
                <a:gd name="txL" fmla="*/ 0 w 1"/>
                <a:gd name="txT" fmla="*/ 0 h 231"/>
                <a:gd name="txR" fmla="*/ 1 w 1"/>
                <a:gd name="txB" fmla="*/ 231 h 231"/>
              </a:gdLst>
              <a:ahLst/>
              <a:cxnLst>
                <a:cxn ang="0">
                  <a:pos x="0" y="0"/>
                </a:cxn>
                <a:cxn ang="0">
                  <a:pos x="0" y="231"/>
                </a:cxn>
              </a:cxnLst>
              <a:rect l="txL" t="txT" r="txR" b="txB"/>
              <a:pathLst>
                <a:path w="1" h="231">
                  <a:moveTo>
                    <a:pt x="0" y="0"/>
                  </a:moveTo>
                  <a:lnTo>
                    <a:pt x="0" y="231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29455" name="Freeform 79"/>
          <p:cNvSpPr/>
          <p:nvPr/>
        </p:nvSpPr>
        <p:spPr>
          <a:xfrm>
            <a:off x="5843588" y="3052763"/>
            <a:ext cx="700087" cy="295275"/>
          </a:xfrm>
          <a:custGeom>
            <a:avLst/>
            <a:gdLst>
              <a:gd name="txL" fmla="*/ 0 w 441"/>
              <a:gd name="txT" fmla="*/ 0 h 186"/>
              <a:gd name="txR" fmla="*/ 441 w 441"/>
              <a:gd name="txB" fmla="*/ 186 h 186"/>
            </a:gdLst>
            <a:ahLst/>
            <a:cxnLst>
              <a:cxn ang="0">
                <a:pos x="0" y="0"/>
              </a:cxn>
              <a:cxn ang="0">
                <a:pos x="0" y="186"/>
              </a:cxn>
              <a:cxn ang="0">
                <a:pos x="441" y="186"/>
              </a:cxn>
            </a:cxnLst>
            <a:rect l="txL" t="txT" r="txR" b="txB"/>
            <a:pathLst>
              <a:path w="441" h="186">
                <a:moveTo>
                  <a:pt x="0" y="0"/>
                </a:moveTo>
                <a:lnTo>
                  <a:pt x="0" y="186"/>
                </a:lnTo>
                <a:lnTo>
                  <a:pt x="441" y="186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2" name="Group 80"/>
          <p:cNvGrpSpPr/>
          <p:nvPr/>
        </p:nvGrpSpPr>
        <p:grpSpPr>
          <a:xfrm>
            <a:off x="5919788" y="1787525"/>
            <a:ext cx="1266825" cy="1173163"/>
            <a:chOff x="2769" y="1133"/>
            <a:chExt cx="798" cy="739"/>
          </a:xfrm>
        </p:grpSpPr>
        <p:sp>
          <p:nvSpPr>
            <p:cNvPr id="292943" name="Text Box 81"/>
            <p:cNvSpPr txBox="1"/>
            <p:nvPr/>
          </p:nvSpPr>
          <p:spPr>
            <a:xfrm>
              <a:off x="3332" y="1242"/>
              <a:ext cx="235" cy="1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DD</a:t>
              </a:r>
              <a:endParaRPr lang="en-US" altLang="zh-CN" sz="16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2944" name="Freeform 82"/>
            <p:cNvSpPr/>
            <p:nvPr/>
          </p:nvSpPr>
          <p:spPr>
            <a:xfrm>
              <a:off x="2769" y="1224"/>
              <a:ext cx="402" cy="648"/>
            </a:xfrm>
            <a:custGeom>
              <a:avLst/>
              <a:gdLst>
                <a:gd name="txL" fmla="*/ 0 w 402"/>
                <a:gd name="txT" fmla="*/ 0 h 648"/>
                <a:gd name="txR" fmla="*/ 402 w 402"/>
                <a:gd name="txB" fmla="*/ 648 h 648"/>
              </a:gdLst>
              <a:ahLst/>
              <a:cxnLst>
                <a:cxn ang="0">
                  <a:pos x="0" y="648"/>
                </a:cxn>
                <a:cxn ang="0">
                  <a:pos x="0" y="465"/>
                </a:cxn>
                <a:cxn ang="0">
                  <a:pos x="402" y="465"/>
                </a:cxn>
                <a:cxn ang="0">
                  <a:pos x="402" y="0"/>
                </a:cxn>
              </a:cxnLst>
              <a:rect l="txL" t="txT" r="txR" b="txB"/>
              <a:pathLst>
                <a:path w="402" h="648">
                  <a:moveTo>
                    <a:pt x="0" y="648"/>
                  </a:moveTo>
                  <a:lnTo>
                    <a:pt x="0" y="465"/>
                  </a:lnTo>
                  <a:lnTo>
                    <a:pt x="402" y="465"/>
                  </a:lnTo>
                  <a:lnTo>
                    <a:pt x="402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45" name="Text Box 83"/>
            <p:cNvSpPr txBox="1"/>
            <p:nvPr/>
          </p:nvSpPr>
          <p:spPr>
            <a:xfrm>
              <a:off x="3155" y="1133"/>
              <a:ext cx="2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V</a:t>
              </a:r>
              <a:endPara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29460" name="Freeform 84"/>
          <p:cNvSpPr/>
          <p:nvPr/>
        </p:nvSpPr>
        <p:spPr>
          <a:xfrm>
            <a:off x="5424488" y="2686050"/>
            <a:ext cx="333375" cy="290513"/>
          </a:xfrm>
          <a:custGeom>
            <a:avLst/>
            <a:gdLst>
              <a:gd name="txL" fmla="*/ 0 w 210"/>
              <a:gd name="txT" fmla="*/ 0 h 183"/>
              <a:gd name="txR" fmla="*/ 210 w 210"/>
              <a:gd name="txB" fmla="*/ 183 h 183"/>
            </a:gdLst>
            <a:ahLst/>
            <a:cxnLst>
              <a:cxn ang="0">
                <a:pos x="0" y="0"/>
              </a:cxn>
              <a:cxn ang="0">
                <a:pos x="210" y="0"/>
              </a:cxn>
              <a:cxn ang="0">
                <a:pos x="210" y="183"/>
              </a:cxn>
            </a:cxnLst>
            <a:rect l="txL" t="txT" r="txR" b="txB"/>
            <a:pathLst>
              <a:path w="210" h="183">
                <a:moveTo>
                  <a:pt x="0" y="0"/>
                </a:moveTo>
                <a:lnTo>
                  <a:pt x="210" y="0"/>
                </a:lnTo>
                <a:lnTo>
                  <a:pt x="210" y="183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9461" name="Line 85"/>
          <p:cNvSpPr/>
          <p:nvPr/>
        </p:nvSpPr>
        <p:spPr>
          <a:xfrm>
            <a:off x="2133600" y="2286000"/>
            <a:ext cx="1905000" cy="0"/>
          </a:xfrm>
          <a:prstGeom prst="line">
            <a:avLst/>
          </a:prstGeom>
          <a:ln w="762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3" name="Group 86"/>
          <p:cNvGrpSpPr/>
          <p:nvPr/>
        </p:nvGrpSpPr>
        <p:grpSpPr>
          <a:xfrm>
            <a:off x="4495800" y="2590800"/>
            <a:ext cx="77788" cy="366713"/>
            <a:chOff x="1586" y="1334"/>
            <a:chExt cx="49" cy="231"/>
          </a:xfrm>
        </p:grpSpPr>
        <p:sp>
          <p:nvSpPr>
            <p:cNvPr id="292941" name="Freeform 87"/>
            <p:cNvSpPr/>
            <p:nvPr/>
          </p:nvSpPr>
          <p:spPr>
            <a:xfrm>
              <a:off x="1586" y="1392"/>
              <a:ext cx="1" cy="120"/>
            </a:xfrm>
            <a:custGeom>
              <a:avLst/>
              <a:gdLst>
                <a:gd name="txL" fmla="*/ 0 w 1"/>
                <a:gd name="txT" fmla="*/ 0 h 120"/>
                <a:gd name="txR" fmla="*/ 1 w 1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0" y="120"/>
                </a:cxn>
              </a:cxnLst>
              <a:rect l="txL" t="txT" r="txR" b="txB"/>
              <a:pathLst>
                <a:path w="1" h="120">
                  <a:moveTo>
                    <a:pt x="0" y="0"/>
                  </a:moveTo>
                  <a:lnTo>
                    <a:pt x="0" y="120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42" name="Freeform 88"/>
            <p:cNvSpPr/>
            <p:nvPr/>
          </p:nvSpPr>
          <p:spPr>
            <a:xfrm>
              <a:off x="1634" y="1334"/>
              <a:ext cx="1" cy="231"/>
            </a:xfrm>
            <a:custGeom>
              <a:avLst/>
              <a:gdLst>
                <a:gd name="txL" fmla="*/ 0 w 1"/>
                <a:gd name="txT" fmla="*/ 0 h 231"/>
                <a:gd name="txR" fmla="*/ 1 w 1"/>
                <a:gd name="txB" fmla="*/ 231 h 231"/>
              </a:gdLst>
              <a:ahLst/>
              <a:cxnLst>
                <a:cxn ang="0">
                  <a:pos x="0" y="0"/>
                </a:cxn>
                <a:cxn ang="0">
                  <a:pos x="0" y="231"/>
                </a:cxn>
              </a:cxnLst>
              <a:rect l="txL" t="txT" r="txR" b="txB"/>
              <a:pathLst>
                <a:path w="1" h="231">
                  <a:moveTo>
                    <a:pt x="0" y="0"/>
                  </a:moveTo>
                  <a:lnTo>
                    <a:pt x="0" y="231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29465" name="Freeform 89"/>
          <p:cNvSpPr/>
          <p:nvPr/>
        </p:nvSpPr>
        <p:spPr>
          <a:xfrm>
            <a:off x="4572000" y="2681288"/>
            <a:ext cx="857250" cy="1587"/>
          </a:xfrm>
          <a:custGeom>
            <a:avLst/>
            <a:gdLst>
              <a:gd name="txL" fmla="*/ 0 w 540"/>
              <a:gd name="txT" fmla="*/ 0 h 1"/>
              <a:gd name="txR" fmla="*/ 540 w 540"/>
              <a:gd name="txB" fmla="*/ 1 h 1"/>
            </a:gdLst>
            <a:ahLst/>
            <a:cxnLst>
              <a:cxn ang="0">
                <a:pos x="0" y="0"/>
              </a:cxn>
              <a:cxn ang="0">
                <a:pos x="540" y="0"/>
              </a:cxn>
            </a:cxnLst>
            <a:rect l="txL" t="txT" r="txR" b="txB"/>
            <a:pathLst>
              <a:path w="540" h="1">
                <a:moveTo>
                  <a:pt x="0" y="0"/>
                </a:moveTo>
                <a:lnTo>
                  <a:pt x="540" y="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4" name="Group 90"/>
          <p:cNvGrpSpPr/>
          <p:nvPr/>
        </p:nvGrpSpPr>
        <p:grpSpPr>
          <a:xfrm>
            <a:off x="4495800" y="3367088"/>
            <a:ext cx="77788" cy="366712"/>
            <a:chOff x="1586" y="1334"/>
            <a:chExt cx="49" cy="231"/>
          </a:xfrm>
        </p:grpSpPr>
        <p:sp>
          <p:nvSpPr>
            <p:cNvPr id="292939" name="Freeform 91"/>
            <p:cNvSpPr/>
            <p:nvPr/>
          </p:nvSpPr>
          <p:spPr>
            <a:xfrm>
              <a:off x="1586" y="1392"/>
              <a:ext cx="1" cy="120"/>
            </a:xfrm>
            <a:custGeom>
              <a:avLst/>
              <a:gdLst>
                <a:gd name="txL" fmla="*/ 0 w 1"/>
                <a:gd name="txT" fmla="*/ 0 h 120"/>
                <a:gd name="txR" fmla="*/ 1 w 1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0" y="120"/>
                </a:cxn>
              </a:cxnLst>
              <a:rect l="txL" t="txT" r="txR" b="txB"/>
              <a:pathLst>
                <a:path w="1" h="120">
                  <a:moveTo>
                    <a:pt x="0" y="0"/>
                  </a:moveTo>
                  <a:lnTo>
                    <a:pt x="0" y="120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40" name="Freeform 92"/>
            <p:cNvSpPr/>
            <p:nvPr/>
          </p:nvSpPr>
          <p:spPr>
            <a:xfrm>
              <a:off x="1634" y="1334"/>
              <a:ext cx="1" cy="231"/>
            </a:xfrm>
            <a:custGeom>
              <a:avLst/>
              <a:gdLst>
                <a:gd name="txL" fmla="*/ 0 w 1"/>
                <a:gd name="txT" fmla="*/ 0 h 231"/>
                <a:gd name="txR" fmla="*/ 1 w 1"/>
                <a:gd name="txB" fmla="*/ 231 h 231"/>
              </a:gdLst>
              <a:ahLst/>
              <a:cxnLst>
                <a:cxn ang="0">
                  <a:pos x="0" y="0"/>
                </a:cxn>
                <a:cxn ang="0">
                  <a:pos x="0" y="231"/>
                </a:cxn>
              </a:cxnLst>
              <a:rect l="txL" t="txT" r="txR" b="txB"/>
              <a:pathLst>
                <a:path w="1" h="231">
                  <a:moveTo>
                    <a:pt x="0" y="0"/>
                  </a:moveTo>
                  <a:lnTo>
                    <a:pt x="0" y="231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29469" name="Freeform 93"/>
          <p:cNvSpPr/>
          <p:nvPr/>
        </p:nvSpPr>
        <p:spPr>
          <a:xfrm>
            <a:off x="4567238" y="2852738"/>
            <a:ext cx="457200" cy="627062"/>
          </a:xfrm>
          <a:custGeom>
            <a:avLst/>
            <a:gdLst>
              <a:gd name="txL" fmla="*/ 0 w 288"/>
              <a:gd name="txT" fmla="*/ 0 h 395"/>
              <a:gd name="txR" fmla="*/ 288 w 288"/>
              <a:gd name="txB" fmla="*/ 395 h 395"/>
            </a:gdLst>
            <a:ahLst/>
            <a:cxnLst>
              <a:cxn ang="0">
                <a:pos x="0" y="2"/>
              </a:cxn>
              <a:cxn ang="0">
                <a:pos x="288" y="0"/>
              </a:cxn>
              <a:cxn ang="0">
                <a:pos x="287" y="395"/>
              </a:cxn>
              <a:cxn ang="0">
                <a:pos x="6" y="395"/>
              </a:cxn>
            </a:cxnLst>
            <a:rect l="txL" t="txT" r="txR" b="txB"/>
            <a:pathLst>
              <a:path w="288" h="395">
                <a:moveTo>
                  <a:pt x="0" y="2"/>
                </a:moveTo>
                <a:lnTo>
                  <a:pt x="288" y="0"/>
                </a:lnTo>
                <a:lnTo>
                  <a:pt x="287" y="395"/>
                </a:lnTo>
                <a:lnTo>
                  <a:pt x="6" y="395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9470" name="Freeform 94"/>
          <p:cNvSpPr/>
          <p:nvPr/>
        </p:nvSpPr>
        <p:spPr>
          <a:xfrm>
            <a:off x="4567238" y="3636963"/>
            <a:ext cx="461962" cy="401637"/>
          </a:xfrm>
          <a:custGeom>
            <a:avLst/>
            <a:gdLst>
              <a:gd name="txL" fmla="*/ 0 w 291"/>
              <a:gd name="txT" fmla="*/ 0 h 253"/>
              <a:gd name="txR" fmla="*/ 291 w 291"/>
              <a:gd name="txB" fmla="*/ 253 h 253"/>
            </a:gdLst>
            <a:ahLst/>
            <a:cxnLst>
              <a:cxn ang="0">
                <a:pos x="0" y="0"/>
              </a:cxn>
              <a:cxn ang="0">
                <a:pos x="290" y="0"/>
              </a:cxn>
              <a:cxn ang="0">
                <a:pos x="291" y="253"/>
              </a:cxn>
            </a:cxnLst>
            <a:rect l="txL" t="txT" r="txR" b="txB"/>
            <a:pathLst>
              <a:path w="291" h="253">
                <a:moveTo>
                  <a:pt x="0" y="0"/>
                </a:moveTo>
                <a:lnTo>
                  <a:pt x="290" y="0"/>
                </a:lnTo>
                <a:lnTo>
                  <a:pt x="291" y="253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9471" name="Line 95"/>
          <p:cNvSpPr/>
          <p:nvPr/>
        </p:nvSpPr>
        <p:spPr>
          <a:xfrm>
            <a:off x="4876800" y="4038600"/>
            <a:ext cx="304800" cy="0"/>
          </a:xfrm>
          <a:prstGeom prst="line">
            <a:avLst/>
          </a:prstGeom>
          <a:ln w="762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5" name="Group 96"/>
          <p:cNvGrpSpPr/>
          <p:nvPr/>
        </p:nvGrpSpPr>
        <p:grpSpPr>
          <a:xfrm>
            <a:off x="4191000" y="3763963"/>
            <a:ext cx="461963" cy="584199"/>
            <a:chOff x="1680" y="2371"/>
            <a:chExt cx="291" cy="368"/>
          </a:xfrm>
        </p:grpSpPr>
        <p:sp>
          <p:nvSpPr>
            <p:cNvPr id="292937" name="Rectangle 97"/>
            <p:cNvSpPr/>
            <p:nvPr/>
          </p:nvSpPr>
          <p:spPr>
            <a:xfrm>
              <a:off x="1680" y="2452"/>
              <a:ext cx="195" cy="232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38" name="Text Box 98"/>
            <p:cNvSpPr txBox="1"/>
            <p:nvPr/>
          </p:nvSpPr>
          <p:spPr>
            <a:xfrm>
              <a:off x="1728" y="2371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6" name="Group 99"/>
          <p:cNvGrpSpPr/>
          <p:nvPr/>
        </p:nvGrpSpPr>
        <p:grpSpPr>
          <a:xfrm>
            <a:off x="4191000" y="3763963"/>
            <a:ext cx="461963" cy="584199"/>
            <a:chOff x="1680" y="2371"/>
            <a:chExt cx="291" cy="368"/>
          </a:xfrm>
        </p:grpSpPr>
        <p:sp>
          <p:nvSpPr>
            <p:cNvPr id="292935" name="Rectangle 100"/>
            <p:cNvSpPr/>
            <p:nvPr/>
          </p:nvSpPr>
          <p:spPr>
            <a:xfrm>
              <a:off x="1680" y="2452"/>
              <a:ext cx="195" cy="232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36" name="Text Box 101"/>
            <p:cNvSpPr txBox="1"/>
            <p:nvPr/>
          </p:nvSpPr>
          <p:spPr>
            <a:xfrm>
              <a:off x="1728" y="2371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102"/>
          <p:cNvGrpSpPr/>
          <p:nvPr/>
        </p:nvGrpSpPr>
        <p:grpSpPr>
          <a:xfrm>
            <a:off x="8229600" y="3733800"/>
            <a:ext cx="461963" cy="584201"/>
            <a:chOff x="1680" y="2371"/>
            <a:chExt cx="291" cy="368"/>
          </a:xfrm>
        </p:grpSpPr>
        <p:sp>
          <p:nvSpPr>
            <p:cNvPr id="292933" name="Rectangle 103"/>
            <p:cNvSpPr/>
            <p:nvPr/>
          </p:nvSpPr>
          <p:spPr>
            <a:xfrm>
              <a:off x="1680" y="2452"/>
              <a:ext cx="195" cy="232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34" name="Text Box 104"/>
            <p:cNvSpPr txBox="1"/>
            <p:nvPr/>
          </p:nvSpPr>
          <p:spPr>
            <a:xfrm>
              <a:off x="1728" y="2371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" name="Group 105"/>
          <p:cNvGrpSpPr/>
          <p:nvPr/>
        </p:nvGrpSpPr>
        <p:grpSpPr>
          <a:xfrm>
            <a:off x="8229600" y="3733800"/>
            <a:ext cx="461963" cy="584201"/>
            <a:chOff x="1680" y="2371"/>
            <a:chExt cx="291" cy="368"/>
          </a:xfrm>
        </p:grpSpPr>
        <p:sp>
          <p:nvSpPr>
            <p:cNvPr id="292931" name="Rectangle 106"/>
            <p:cNvSpPr/>
            <p:nvPr/>
          </p:nvSpPr>
          <p:spPr>
            <a:xfrm>
              <a:off x="1680" y="2452"/>
              <a:ext cx="195" cy="232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32" name="Text Box 107"/>
            <p:cNvSpPr txBox="1"/>
            <p:nvPr/>
          </p:nvSpPr>
          <p:spPr>
            <a:xfrm>
              <a:off x="1728" y="2371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108"/>
          <p:cNvGrpSpPr/>
          <p:nvPr/>
        </p:nvGrpSpPr>
        <p:grpSpPr>
          <a:xfrm>
            <a:off x="7772400" y="1981200"/>
            <a:ext cx="738188" cy="2819400"/>
            <a:chOff x="3936" y="1248"/>
            <a:chExt cx="465" cy="1776"/>
          </a:xfrm>
        </p:grpSpPr>
        <p:sp>
          <p:nvSpPr>
            <p:cNvPr id="292929" name="Line 109"/>
            <p:cNvSpPr/>
            <p:nvPr/>
          </p:nvSpPr>
          <p:spPr>
            <a:xfrm>
              <a:off x="3936" y="1248"/>
              <a:ext cx="0" cy="1776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30" name="Freeform 110"/>
            <p:cNvSpPr/>
            <p:nvPr/>
          </p:nvSpPr>
          <p:spPr>
            <a:xfrm rot="10800000">
              <a:off x="3936" y="2112"/>
              <a:ext cx="465" cy="1"/>
            </a:xfrm>
            <a:custGeom>
              <a:avLst/>
              <a:gdLst>
                <a:gd name="txL" fmla="*/ 0 w 465"/>
                <a:gd name="txT" fmla="*/ 0 h 1"/>
                <a:gd name="txR" fmla="*/ 465 w 465"/>
                <a:gd name="txB" fmla="*/ 1 h 1"/>
              </a:gdLst>
              <a:ahLst/>
              <a:cxnLst>
                <a:cxn ang="0">
                  <a:pos x="465" y="0"/>
                </a:cxn>
                <a:cxn ang="0">
                  <a:pos x="0" y="0"/>
                </a:cxn>
              </a:cxnLst>
              <a:rect l="txL" t="txT" r="txR" b="txB"/>
              <a:pathLst>
                <a:path w="465" h="1">
                  <a:moveTo>
                    <a:pt x="465" y="0"/>
                  </a:moveTo>
                  <a:lnTo>
                    <a:pt x="0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oup 111"/>
          <p:cNvGrpSpPr/>
          <p:nvPr/>
        </p:nvGrpSpPr>
        <p:grpSpPr>
          <a:xfrm>
            <a:off x="8504238" y="3181350"/>
            <a:ext cx="77787" cy="366713"/>
            <a:chOff x="1586" y="1334"/>
            <a:chExt cx="49" cy="231"/>
          </a:xfrm>
        </p:grpSpPr>
        <p:sp>
          <p:nvSpPr>
            <p:cNvPr id="292927" name="Freeform 112"/>
            <p:cNvSpPr/>
            <p:nvPr/>
          </p:nvSpPr>
          <p:spPr>
            <a:xfrm>
              <a:off x="1586" y="1392"/>
              <a:ext cx="1" cy="120"/>
            </a:xfrm>
            <a:custGeom>
              <a:avLst/>
              <a:gdLst>
                <a:gd name="txL" fmla="*/ 0 w 1"/>
                <a:gd name="txT" fmla="*/ 0 h 120"/>
                <a:gd name="txR" fmla="*/ 1 w 1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0" y="120"/>
                </a:cxn>
              </a:cxnLst>
              <a:rect l="txL" t="txT" r="txR" b="txB"/>
              <a:pathLst>
                <a:path w="1" h="120">
                  <a:moveTo>
                    <a:pt x="0" y="0"/>
                  </a:moveTo>
                  <a:lnTo>
                    <a:pt x="0" y="120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28" name="Freeform 113"/>
            <p:cNvSpPr/>
            <p:nvPr/>
          </p:nvSpPr>
          <p:spPr>
            <a:xfrm>
              <a:off x="1634" y="1334"/>
              <a:ext cx="1" cy="231"/>
            </a:xfrm>
            <a:custGeom>
              <a:avLst/>
              <a:gdLst>
                <a:gd name="txL" fmla="*/ 0 w 1"/>
                <a:gd name="txT" fmla="*/ 0 h 231"/>
                <a:gd name="txR" fmla="*/ 1 w 1"/>
                <a:gd name="txB" fmla="*/ 231 h 231"/>
              </a:gdLst>
              <a:ahLst/>
              <a:cxnLst>
                <a:cxn ang="0">
                  <a:pos x="0" y="0"/>
                </a:cxn>
                <a:cxn ang="0">
                  <a:pos x="0" y="231"/>
                </a:cxn>
              </a:cxnLst>
              <a:rect l="txL" t="txT" r="txR" b="txB"/>
              <a:pathLst>
                <a:path w="1" h="231">
                  <a:moveTo>
                    <a:pt x="0" y="0"/>
                  </a:moveTo>
                  <a:lnTo>
                    <a:pt x="0" y="231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29490" name="Freeform 114"/>
          <p:cNvSpPr/>
          <p:nvPr/>
        </p:nvSpPr>
        <p:spPr>
          <a:xfrm>
            <a:off x="8596313" y="3433763"/>
            <a:ext cx="542925" cy="523875"/>
          </a:xfrm>
          <a:custGeom>
            <a:avLst/>
            <a:gdLst>
              <a:gd name="txL" fmla="*/ 0 w 342"/>
              <a:gd name="txT" fmla="*/ 0 h 330"/>
              <a:gd name="txR" fmla="*/ 342 w 342"/>
              <a:gd name="txB" fmla="*/ 330 h 330"/>
            </a:gdLst>
            <a:ahLst/>
            <a:cxnLst>
              <a:cxn ang="0">
                <a:pos x="0" y="0"/>
              </a:cxn>
              <a:cxn ang="0">
                <a:pos x="342" y="0"/>
              </a:cxn>
              <a:cxn ang="0">
                <a:pos x="342" y="330"/>
              </a:cxn>
            </a:cxnLst>
            <a:rect l="txL" t="txT" r="txR" b="txB"/>
            <a:pathLst>
              <a:path w="342" h="330">
                <a:moveTo>
                  <a:pt x="0" y="0"/>
                </a:moveTo>
                <a:lnTo>
                  <a:pt x="342" y="0"/>
                </a:lnTo>
                <a:lnTo>
                  <a:pt x="342" y="33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1" name="Group 115"/>
          <p:cNvGrpSpPr/>
          <p:nvPr/>
        </p:nvGrpSpPr>
        <p:grpSpPr>
          <a:xfrm>
            <a:off x="8915400" y="3962400"/>
            <a:ext cx="447675" cy="152400"/>
            <a:chOff x="4656" y="2496"/>
            <a:chExt cx="282" cy="96"/>
          </a:xfrm>
        </p:grpSpPr>
        <p:sp>
          <p:nvSpPr>
            <p:cNvPr id="292925" name="Freeform 116"/>
            <p:cNvSpPr/>
            <p:nvPr/>
          </p:nvSpPr>
          <p:spPr>
            <a:xfrm>
              <a:off x="4656" y="2496"/>
              <a:ext cx="282" cy="1"/>
            </a:xfrm>
            <a:custGeom>
              <a:avLst/>
              <a:gdLst>
                <a:gd name="txL" fmla="*/ 0 w 282"/>
                <a:gd name="txT" fmla="*/ 0 h 1"/>
                <a:gd name="txR" fmla="*/ 282 w 28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82" y="0"/>
                </a:cxn>
              </a:cxnLst>
              <a:rect l="txL" t="txT" r="txR" b="txB"/>
              <a:pathLst>
                <a:path w="282" h="1">
                  <a:moveTo>
                    <a:pt x="0" y="0"/>
                  </a:moveTo>
                  <a:lnTo>
                    <a:pt x="282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26" name="Freeform 117"/>
            <p:cNvSpPr/>
            <p:nvPr/>
          </p:nvSpPr>
          <p:spPr>
            <a:xfrm>
              <a:off x="4656" y="2591"/>
              <a:ext cx="282" cy="1"/>
            </a:xfrm>
            <a:custGeom>
              <a:avLst/>
              <a:gdLst>
                <a:gd name="txL" fmla="*/ 0 w 282"/>
                <a:gd name="txT" fmla="*/ 0 h 1"/>
                <a:gd name="txR" fmla="*/ 282 w 28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82" y="0"/>
                </a:cxn>
              </a:cxnLst>
              <a:rect l="txL" t="txT" r="txR" b="txB"/>
              <a:pathLst>
                <a:path w="282" h="1">
                  <a:moveTo>
                    <a:pt x="0" y="0"/>
                  </a:moveTo>
                  <a:lnTo>
                    <a:pt x="282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29494" name="Line 118"/>
          <p:cNvSpPr/>
          <p:nvPr/>
        </p:nvSpPr>
        <p:spPr>
          <a:xfrm>
            <a:off x="9144000" y="4114800"/>
            <a:ext cx="0" cy="533400"/>
          </a:xfrm>
          <a:prstGeom prst="line">
            <a:avLst/>
          </a:prstGeom>
          <a:ln w="762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9495" name="Line 119"/>
          <p:cNvSpPr/>
          <p:nvPr/>
        </p:nvSpPr>
        <p:spPr>
          <a:xfrm>
            <a:off x="8991600" y="4648200"/>
            <a:ext cx="304800" cy="0"/>
          </a:xfrm>
          <a:prstGeom prst="line">
            <a:avLst/>
          </a:prstGeom>
          <a:ln w="762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9496" name="Line 120"/>
          <p:cNvSpPr/>
          <p:nvPr/>
        </p:nvSpPr>
        <p:spPr>
          <a:xfrm>
            <a:off x="7467600" y="2438400"/>
            <a:ext cx="2590800" cy="0"/>
          </a:xfrm>
          <a:prstGeom prst="line">
            <a:avLst/>
          </a:prstGeom>
          <a:ln w="762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9497" name="Freeform 121"/>
          <p:cNvSpPr/>
          <p:nvPr/>
        </p:nvSpPr>
        <p:spPr>
          <a:xfrm>
            <a:off x="8586788" y="2438400"/>
            <a:ext cx="557212" cy="857250"/>
          </a:xfrm>
          <a:custGeom>
            <a:avLst/>
            <a:gdLst>
              <a:gd name="txL" fmla="*/ 0 w 351"/>
              <a:gd name="txT" fmla="*/ 0 h 540"/>
              <a:gd name="txR" fmla="*/ 351 w 351"/>
              <a:gd name="txB" fmla="*/ 540 h 540"/>
            </a:gdLst>
            <a:ahLst/>
            <a:cxnLst>
              <a:cxn ang="0">
                <a:pos x="351" y="0"/>
              </a:cxn>
              <a:cxn ang="0">
                <a:pos x="351" y="540"/>
              </a:cxn>
              <a:cxn ang="0">
                <a:pos x="0" y="540"/>
              </a:cxn>
            </a:cxnLst>
            <a:rect l="txL" t="txT" r="txR" b="txB"/>
            <a:pathLst>
              <a:path w="351" h="540">
                <a:moveTo>
                  <a:pt x="351" y="0"/>
                </a:moveTo>
                <a:lnTo>
                  <a:pt x="351" y="540"/>
                </a:lnTo>
                <a:lnTo>
                  <a:pt x="0" y="54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2" name="Group 122"/>
          <p:cNvGrpSpPr/>
          <p:nvPr/>
        </p:nvGrpSpPr>
        <p:grpSpPr>
          <a:xfrm>
            <a:off x="5562600" y="3752850"/>
            <a:ext cx="461963" cy="582861"/>
            <a:chOff x="3168" y="2352"/>
            <a:chExt cx="291" cy="379"/>
          </a:xfrm>
        </p:grpSpPr>
        <p:sp>
          <p:nvSpPr>
            <p:cNvPr id="292923" name="Rectangle 123"/>
            <p:cNvSpPr/>
            <p:nvPr/>
          </p:nvSpPr>
          <p:spPr>
            <a:xfrm>
              <a:off x="3168" y="2440"/>
              <a:ext cx="195" cy="239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24" name="Text Box 124"/>
            <p:cNvSpPr txBox="1"/>
            <p:nvPr/>
          </p:nvSpPr>
          <p:spPr>
            <a:xfrm>
              <a:off x="3216" y="2352"/>
              <a:ext cx="243" cy="3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29501" name="Freeform 125"/>
          <p:cNvSpPr/>
          <p:nvPr/>
        </p:nvSpPr>
        <p:spPr>
          <a:xfrm>
            <a:off x="5410200" y="2667000"/>
            <a:ext cx="1588" cy="2528888"/>
          </a:xfrm>
          <a:custGeom>
            <a:avLst/>
            <a:gdLst>
              <a:gd name="txL" fmla="*/ 0 w 1"/>
              <a:gd name="txT" fmla="*/ 0 h 1593"/>
              <a:gd name="txR" fmla="*/ 1 w 1"/>
              <a:gd name="txB" fmla="*/ 1593 h 1593"/>
            </a:gdLst>
            <a:ahLst/>
            <a:cxnLst>
              <a:cxn ang="0">
                <a:pos x="0" y="0"/>
              </a:cxn>
              <a:cxn ang="0">
                <a:pos x="0" y="1593"/>
              </a:cxn>
            </a:cxnLst>
            <a:rect l="txL" t="txT" r="txR" b="txB"/>
            <a:pathLst>
              <a:path w="1" h="1593">
                <a:moveTo>
                  <a:pt x="0" y="0"/>
                </a:moveTo>
                <a:lnTo>
                  <a:pt x="0" y="1593"/>
                </a:lnTo>
              </a:path>
            </a:pathLst>
          </a:custGeom>
          <a:noFill/>
          <a:ln w="76200" cap="flat" cmpd="sng">
            <a:solidFill>
              <a:srgbClr val="C28F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3" name="Group 126"/>
          <p:cNvGrpSpPr/>
          <p:nvPr/>
        </p:nvGrpSpPr>
        <p:grpSpPr>
          <a:xfrm>
            <a:off x="5562600" y="3760788"/>
            <a:ext cx="461963" cy="584199"/>
            <a:chOff x="1680" y="2371"/>
            <a:chExt cx="291" cy="368"/>
          </a:xfrm>
        </p:grpSpPr>
        <p:sp>
          <p:nvSpPr>
            <p:cNvPr id="292921" name="Rectangle 127"/>
            <p:cNvSpPr/>
            <p:nvPr/>
          </p:nvSpPr>
          <p:spPr>
            <a:xfrm>
              <a:off x="1680" y="2452"/>
              <a:ext cx="195" cy="232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22" name="Text Box 128"/>
            <p:cNvSpPr txBox="1"/>
            <p:nvPr/>
          </p:nvSpPr>
          <p:spPr>
            <a:xfrm>
              <a:off x="1728" y="2371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9505" name="Line 129"/>
          <p:cNvSpPr/>
          <p:nvPr/>
        </p:nvSpPr>
        <p:spPr>
          <a:xfrm flipV="1">
            <a:off x="5410200" y="1981200"/>
            <a:ext cx="0" cy="685800"/>
          </a:xfrm>
          <a:prstGeom prst="line">
            <a:avLst/>
          </a:prstGeom>
          <a:ln w="762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4" name="Group 130"/>
          <p:cNvGrpSpPr/>
          <p:nvPr/>
        </p:nvGrpSpPr>
        <p:grpSpPr>
          <a:xfrm>
            <a:off x="4038600" y="2273300"/>
            <a:ext cx="2057400" cy="488950"/>
            <a:chOff x="1584" y="1536"/>
            <a:chExt cx="1296" cy="212"/>
          </a:xfrm>
        </p:grpSpPr>
        <p:sp>
          <p:nvSpPr>
            <p:cNvPr id="292919" name="Freeform 131"/>
            <p:cNvSpPr/>
            <p:nvPr/>
          </p:nvSpPr>
          <p:spPr>
            <a:xfrm>
              <a:off x="1584" y="1536"/>
              <a:ext cx="291" cy="212"/>
            </a:xfrm>
            <a:custGeom>
              <a:avLst/>
              <a:gdLst>
                <a:gd name="txL" fmla="*/ 0 w 291"/>
                <a:gd name="txT" fmla="*/ 0 h 212"/>
                <a:gd name="txR" fmla="*/ 291 w 291"/>
                <a:gd name="txB" fmla="*/ 212 h 212"/>
              </a:gdLst>
              <a:ahLst/>
              <a:cxnLst>
                <a:cxn ang="0">
                  <a:pos x="0" y="0"/>
                </a:cxn>
                <a:cxn ang="0">
                  <a:pos x="0" y="212"/>
                </a:cxn>
                <a:cxn ang="0">
                  <a:pos x="291" y="212"/>
                </a:cxn>
              </a:cxnLst>
              <a:rect l="txL" t="txT" r="txR" b="txB"/>
              <a:pathLst>
                <a:path w="291" h="212">
                  <a:moveTo>
                    <a:pt x="0" y="0"/>
                  </a:moveTo>
                  <a:lnTo>
                    <a:pt x="0" y="212"/>
                  </a:lnTo>
                  <a:lnTo>
                    <a:pt x="291" y="212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2920" name="Line 132"/>
            <p:cNvSpPr/>
            <p:nvPr/>
          </p:nvSpPr>
          <p:spPr>
            <a:xfrm>
              <a:off x="1584" y="1536"/>
              <a:ext cx="1296" cy="0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29509" name="Rectangle 133"/>
          <p:cNvSpPr/>
          <p:nvPr/>
        </p:nvSpPr>
        <p:spPr>
          <a:xfrm>
            <a:off x="2057400" y="6153150"/>
            <a:ext cx="3581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sz="2400" b="1" dirty="0">
                <a:latin typeface="Times New Roman" panose="02020603050405020304" pitchFamily="18" charset="0"/>
              </a:rPr>
              <a:t>写入与输入信息相同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29510" name="Text Box 134"/>
          <p:cNvSpPr txBox="1"/>
          <p:nvPr/>
        </p:nvSpPr>
        <p:spPr>
          <a:xfrm>
            <a:off x="5791200" y="6153150"/>
            <a:ext cx="48768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写入时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S </a:t>
            </a:r>
            <a:r>
              <a:rPr lang="zh-CN" altLang="en-US" sz="2400" b="1" dirty="0">
                <a:latin typeface="Times New Roman" panose="02020603050405020304" pitchFamily="18" charset="0"/>
              </a:rPr>
              <a:t>充电 为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1” </a:t>
            </a:r>
            <a:r>
              <a:rPr lang="zh-CN" altLang="en-US" sz="2400" b="1" dirty="0">
                <a:latin typeface="Times New Roman" panose="02020603050405020304" pitchFamily="18" charset="0"/>
              </a:rPr>
              <a:t>放电 为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0”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5" name="Group 135"/>
          <p:cNvGrpSpPr/>
          <p:nvPr/>
        </p:nvGrpSpPr>
        <p:grpSpPr>
          <a:xfrm>
            <a:off x="4608513" y="1981200"/>
            <a:ext cx="839787" cy="703263"/>
            <a:chOff x="1943" y="1248"/>
            <a:chExt cx="529" cy="443"/>
          </a:xfrm>
        </p:grpSpPr>
        <p:sp>
          <p:nvSpPr>
            <p:cNvPr id="292917" name="Line 136"/>
            <p:cNvSpPr/>
            <p:nvPr/>
          </p:nvSpPr>
          <p:spPr>
            <a:xfrm flipV="1">
              <a:off x="2448" y="1248"/>
              <a:ext cx="0" cy="432"/>
            </a:xfrm>
            <a:prstGeom prst="line">
              <a:avLst/>
            </a:prstGeom>
            <a:ln w="76200" cap="flat" cmpd="sng">
              <a:solidFill>
                <a:srgbClr val="C28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2918" name="Freeform 137"/>
            <p:cNvSpPr/>
            <p:nvPr/>
          </p:nvSpPr>
          <p:spPr>
            <a:xfrm>
              <a:off x="1943" y="1689"/>
              <a:ext cx="529" cy="2"/>
            </a:xfrm>
            <a:custGeom>
              <a:avLst/>
              <a:gdLst>
                <a:gd name="txL" fmla="*/ 0 w 529"/>
                <a:gd name="txT" fmla="*/ 0 h 2"/>
                <a:gd name="txR" fmla="*/ 529 w 529"/>
                <a:gd name="txB" fmla="*/ 2 h 2"/>
              </a:gdLst>
              <a:ahLst/>
              <a:cxnLst>
                <a:cxn ang="0">
                  <a:pos x="0" y="2"/>
                </a:cxn>
                <a:cxn ang="0">
                  <a:pos x="529" y="0"/>
                </a:cxn>
              </a:cxnLst>
              <a:rect l="txL" t="txT" r="txR" b="txB"/>
              <a:pathLst>
                <a:path w="529" h="2">
                  <a:moveTo>
                    <a:pt x="0" y="2"/>
                  </a:moveTo>
                  <a:lnTo>
                    <a:pt x="529" y="0"/>
                  </a:lnTo>
                </a:path>
              </a:pathLst>
            </a:custGeom>
            <a:noFill/>
            <a:ln w="76200" cap="flat" cmpd="sng">
              <a:solidFill>
                <a:srgbClr val="C28F00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29514" name="Freeform 138"/>
          <p:cNvSpPr/>
          <p:nvPr/>
        </p:nvSpPr>
        <p:spPr>
          <a:xfrm>
            <a:off x="4608513" y="2852738"/>
            <a:ext cx="411162" cy="627062"/>
          </a:xfrm>
          <a:custGeom>
            <a:avLst/>
            <a:gdLst>
              <a:gd name="txL" fmla="*/ 0 w 259"/>
              <a:gd name="txT" fmla="*/ 0 h 395"/>
              <a:gd name="txR" fmla="*/ 259 w 259"/>
              <a:gd name="txB" fmla="*/ 395 h 395"/>
            </a:gdLst>
            <a:ahLst/>
            <a:cxnLst>
              <a:cxn ang="0">
                <a:pos x="0" y="2"/>
              </a:cxn>
              <a:cxn ang="0">
                <a:pos x="259" y="0"/>
              </a:cxn>
              <a:cxn ang="0">
                <a:pos x="258" y="395"/>
              </a:cxn>
              <a:cxn ang="0">
                <a:pos x="3" y="393"/>
              </a:cxn>
            </a:cxnLst>
            <a:rect l="txL" t="txT" r="txR" b="txB"/>
            <a:pathLst>
              <a:path w="259" h="395">
                <a:moveTo>
                  <a:pt x="0" y="2"/>
                </a:moveTo>
                <a:lnTo>
                  <a:pt x="259" y="0"/>
                </a:lnTo>
                <a:lnTo>
                  <a:pt x="258" y="395"/>
                </a:lnTo>
                <a:lnTo>
                  <a:pt x="3" y="393"/>
                </a:lnTo>
              </a:path>
            </a:pathLst>
          </a:custGeom>
          <a:noFill/>
          <a:ln w="76200" cap="flat" cmpd="sng">
            <a:solidFill>
              <a:srgbClr val="C28F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9515" name="Freeform 139"/>
          <p:cNvSpPr/>
          <p:nvPr/>
        </p:nvSpPr>
        <p:spPr>
          <a:xfrm>
            <a:off x="4610100" y="3633788"/>
            <a:ext cx="419100" cy="404812"/>
          </a:xfrm>
          <a:custGeom>
            <a:avLst/>
            <a:gdLst>
              <a:gd name="txL" fmla="*/ 0 w 264"/>
              <a:gd name="txT" fmla="*/ 0 h 255"/>
              <a:gd name="txR" fmla="*/ 264 w 264"/>
              <a:gd name="txB" fmla="*/ 255 h 255"/>
            </a:gdLst>
            <a:ahLst/>
            <a:cxnLst>
              <a:cxn ang="0">
                <a:pos x="0" y="0"/>
              </a:cxn>
              <a:cxn ang="0">
                <a:pos x="263" y="2"/>
              </a:cxn>
              <a:cxn ang="0">
                <a:pos x="264" y="255"/>
              </a:cxn>
            </a:cxnLst>
            <a:rect l="txL" t="txT" r="txR" b="txB"/>
            <a:pathLst>
              <a:path w="264" h="255">
                <a:moveTo>
                  <a:pt x="0" y="0"/>
                </a:moveTo>
                <a:lnTo>
                  <a:pt x="263" y="2"/>
                </a:lnTo>
                <a:lnTo>
                  <a:pt x="264" y="255"/>
                </a:lnTo>
              </a:path>
            </a:pathLst>
          </a:custGeom>
          <a:noFill/>
          <a:ln w="76200" cap="flat" cmpd="sng">
            <a:solidFill>
              <a:srgbClr val="C28F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29516" name="Line 140"/>
          <p:cNvSpPr/>
          <p:nvPr/>
        </p:nvSpPr>
        <p:spPr>
          <a:xfrm>
            <a:off x="4876800" y="4038600"/>
            <a:ext cx="304800" cy="0"/>
          </a:xfrm>
          <a:prstGeom prst="line">
            <a:avLst/>
          </a:prstGeom>
          <a:ln w="76200" cap="flat" cmpd="sng">
            <a:solidFill>
              <a:srgbClr val="C28F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9517" name="Rectangle 14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" name="Group 142"/>
          <p:cNvGrpSpPr/>
          <p:nvPr/>
        </p:nvGrpSpPr>
        <p:grpSpPr>
          <a:xfrm>
            <a:off x="2841626" y="2346325"/>
            <a:ext cx="1709738" cy="1712913"/>
            <a:chOff x="830" y="1478"/>
            <a:chExt cx="1077" cy="1079"/>
          </a:xfrm>
        </p:grpSpPr>
        <p:sp>
          <p:nvSpPr>
            <p:cNvPr id="292914" name="Text Box 143"/>
            <p:cNvSpPr txBox="1"/>
            <p:nvPr/>
          </p:nvSpPr>
          <p:spPr>
            <a:xfrm>
              <a:off x="830" y="2306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2915" name="Text Box 144"/>
            <p:cNvSpPr txBox="1"/>
            <p:nvPr/>
          </p:nvSpPr>
          <p:spPr>
            <a:xfrm>
              <a:off x="1633" y="147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2916" name="Text Box 145"/>
            <p:cNvSpPr txBox="1"/>
            <p:nvPr/>
          </p:nvSpPr>
          <p:spPr>
            <a:xfrm>
              <a:off x="1633" y="1968"/>
              <a:ext cx="27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29522" name="Text Box 146"/>
          <p:cNvSpPr txBox="1"/>
          <p:nvPr/>
        </p:nvSpPr>
        <p:spPr>
          <a:xfrm>
            <a:off x="8204994" y="2833688"/>
            <a:ext cx="352425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>
              <a:spcBef>
                <a:spcPct val="50000"/>
              </a:spcBef>
            </a:pPr>
            <a:r>
              <a: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endParaRPr lang="en-US" altLang="zh-CN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9523" name="AutoShape 147"/>
          <p:cNvSpPr/>
          <p:nvPr/>
        </p:nvSpPr>
        <p:spPr>
          <a:xfrm>
            <a:off x="8001000" y="1600200"/>
            <a:ext cx="1066800" cy="381000"/>
          </a:xfrm>
          <a:prstGeom prst="wedgeRoundRectCallout">
            <a:avLst>
              <a:gd name="adj1" fmla="val -50894"/>
              <a:gd name="adj2" fmla="val 160000"/>
              <a:gd name="adj3" fmla="val 16667"/>
            </a:avLst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18800" tIns="1080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无电流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29524" name="AutoShape 148"/>
          <p:cNvSpPr/>
          <p:nvPr/>
        </p:nvSpPr>
        <p:spPr>
          <a:xfrm>
            <a:off x="8001000" y="1600200"/>
            <a:ext cx="1066800" cy="381000"/>
          </a:xfrm>
          <a:prstGeom prst="wedgeRoundRectCallout">
            <a:avLst>
              <a:gd name="adj1" fmla="val -50894"/>
              <a:gd name="adj2" fmla="val 160000"/>
              <a:gd name="adj3" fmla="val 16667"/>
            </a:avLst>
          </a:prstGeom>
          <a:noFill/>
          <a:ln w="1905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18800" tIns="10800"/>
          <a:p>
            <a:pPr algn="ctr"/>
            <a:r>
              <a:rPr lang="zh-CN" altLang="en-US" sz="2000" b="1" dirty="0">
                <a:latin typeface="Times New Roman" panose="02020603050405020304" pitchFamily="18" charset="0"/>
              </a:rPr>
              <a:t>有电流</a:t>
            </a:r>
            <a:endParaRPr lang="zh-CN" altLang="en-US" sz="2000" b="1" dirty="0">
              <a:latin typeface="Times New Roman" panose="02020603050405020304" pitchFamily="18" charset="0"/>
            </a:endParaRPr>
          </a:p>
        </p:txBody>
      </p:sp>
      <p:sp>
        <p:nvSpPr>
          <p:cNvPr id="292912" name="AutoShape 14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291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" dur="500"/>
                                        <p:tgtEl>
                                          <p:spTgt spid="229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7" dur="500"/>
                                        <p:tgtEl>
                                          <p:spTgt spid="22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2" dur="500"/>
                                        <p:tgtEl>
                                          <p:spTgt spid="22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2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22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22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22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2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6" dur="500"/>
                                        <p:tgtEl>
                                          <p:spTgt spid="22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22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8" dur="500"/>
                                        <p:tgtEl>
                                          <p:spTgt spid="229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2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2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22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2295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22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0" dur="500"/>
                                        <p:tgtEl>
                                          <p:spTgt spid="22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000"/>
                            </p:stCondLst>
                            <p:childTnLst>
                              <p:par>
                                <p:cTn id="15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9" dur="500"/>
                                        <p:tgtEl>
                                          <p:spTgt spid="22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4" dur="500"/>
                                        <p:tgtEl>
                                          <p:spTgt spid="229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8" dur="500"/>
                                        <p:tgtEl>
                                          <p:spTgt spid="22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500"/>
                                        <p:tgtEl>
                                          <p:spTgt spid="2295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22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22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432" grpId="0"/>
      <p:bldP spid="229433" grpId="0"/>
      <p:bldP spid="229455" grpId="0" bldLvl="0" animBg="1"/>
      <p:bldP spid="229460" grpId="0" bldLvl="0" animBg="1"/>
      <p:bldP spid="229465" grpId="0" bldLvl="0" animBg="1"/>
      <p:bldP spid="229469" grpId="0" bldLvl="0" animBg="1"/>
      <p:bldP spid="229470" grpId="0" bldLvl="0" animBg="1"/>
      <p:bldP spid="229490" grpId="0" bldLvl="0" animBg="1"/>
      <p:bldP spid="229497" grpId="0" bldLvl="0" animBg="1"/>
      <p:bldP spid="229501" grpId="0" bldLvl="0" animBg="1"/>
      <p:bldP spid="229509" grpId="0"/>
      <p:bldP spid="229510" grpId="0"/>
      <p:bldP spid="229514" grpId="0" bldLvl="0" animBg="1"/>
      <p:bldP spid="229515" grpId="0" bldLvl="0" animBg="1"/>
      <p:bldP spid="229522" grpId="0"/>
      <p:bldP spid="229523" grpId="0" bldLvl="0" animBg="1"/>
      <p:bldP spid="229524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3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ＤＲＡＭ优点</a:t>
            </a:r>
            <a:endParaRPr lang="zh-CN" altLang="en-US" dirty="0"/>
          </a:p>
        </p:txBody>
      </p:sp>
      <p:sp>
        <p:nvSpPr>
          <p:cNvPr id="29389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集成度高</a:t>
            </a:r>
            <a:endParaRPr lang="zh-CN" altLang="en-US" dirty="0"/>
          </a:p>
          <a:p>
            <a:pPr eaLnBrk="1" hangingPunct="1"/>
            <a:r>
              <a:rPr lang="zh-CN" altLang="en-US" dirty="0"/>
              <a:t>功耗低</a:t>
            </a:r>
            <a:endParaRPr lang="zh-CN" altLang="en-US" dirty="0"/>
          </a:p>
        </p:txBody>
      </p:sp>
      <p:sp>
        <p:nvSpPr>
          <p:cNvPr id="29389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1524000" y="1400175"/>
            <a:ext cx="9142413" cy="5440363"/>
            <a:chOff x="0" y="882"/>
            <a:chExt cx="5759" cy="3427"/>
          </a:xfrm>
        </p:grpSpPr>
        <p:grpSp>
          <p:nvGrpSpPr>
            <p:cNvPr id="294964" name="Group 3"/>
            <p:cNvGrpSpPr/>
            <p:nvPr/>
          </p:nvGrpSpPr>
          <p:grpSpPr>
            <a:xfrm>
              <a:off x="3296" y="1995"/>
              <a:ext cx="435" cy="430"/>
              <a:chOff x="3296" y="1995"/>
              <a:chExt cx="435" cy="430"/>
            </a:xfrm>
          </p:grpSpPr>
          <p:sp>
            <p:nvSpPr>
              <p:cNvPr id="295101" name="Text Box 4"/>
              <p:cNvSpPr txBox="1"/>
              <p:nvPr/>
            </p:nvSpPr>
            <p:spPr>
              <a:xfrm>
                <a:off x="3296" y="1995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单元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102" name="Text Box 5"/>
              <p:cNvSpPr txBox="1"/>
              <p:nvPr/>
            </p:nvSpPr>
            <p:spPr>
              <a:xfrm>
                <a:off x="3296" y="2174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电路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4965" name="Group 6"/>
            <p:cNvGrpSpPr/>
            <p:nvPr/>
          </p:nvGrpSpPr>
          <p:grpSpPr>
            <a:xfrm>
              <a:off x="0" y="882"/>
              <a:ext cx="5759" cy="3427"/>
              <a:chOff x="0" y="882"/>
              <a:chExt cx="5759" cy="3427"/>
            </a:xfrm>
          </p:grpSpPr>
          <p:sp>
            <p:nvSpPr>
              <p:cNvPr id="294966" name="Rectangle 7"/>
              <p:cNvSpPr/>
              <p:nvPr/>
            </p:nvSpPr>
            <p:spPr>
              <a:xfrm>
                <a:off x="462" y="882"/>
                <a:ext cx="693" cy="248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67" name="Freeform 8"/>
              <p:cNvSpPr/>
              <p:nvPr/>
            </p:nvSpPr>
            <p:spPr>
              <a:xfrm>
                <a:off x="1155" y="1057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68" name="Rectangle 9"/>
              <p:cNvSpPr/>
              <p:nvPr/>
            </p:nvSpPr>
            <p:spPr>
              <a:xfrm>
                <a:off x="1615" y="1144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69" name="Freeform 10"/>
              <p:cNvSpPr/>
              <p:nvPr/>
            </p:nvSpPr>
            <p:spPr>
              <a:xfrm>
                <a:off x="4351" y="1057"/>
                <a:ext cx="1" cy="79"/>
              </a:xfrm>
              <a:custGeom>
                <a:avLst/>
                <a:gdLst>
                  <a:gd name="txL" fmla="*/ 0 w 1"/>
                  <a:gd name="txT" fmla="*/ 0 h 87"/>
                  <a:gd name="txR" fmla="*/ 1 w 1"/>
                  <a:gd name="txB" fmla="*/ 87 h 87"/>
                </a:gdLst>
                <a:ahLst/>
                <a:cxnLst>
                  <a:cxn ang="0">
                    <a:pos x="0" y="0"/>
                  </a:cxn>
                  <a:cxn ang="0">
                    <a:pos x="0" y="87"/>
                  </a:cxn>
                </a:cxnLst>
                <a:rect l="txL" t="txT" r="txR" b="txB"/>
                <a:pathLst>
                  <a:path w="1" h="87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70" name="Freeform 11"/>
              <p:cNvSpPr/>
              <p:nvPr/>
            </p:nvSpPr>
            <p:spPr>
              <a:xfrm>
                <a:off x="1155" y="1361"/>
                <a:ext cx="3659" cy="3"/>
              </a:xfrm>
              <a:custGeom>
                <a:avLst/>
                <a:gdLst>
                  <a:gd name="txL" fmla="*/ 0 w 3659"/>
                  <a:gd name="txT" fmla="*/ 0 h 3"/>
                  <a:gd name="txR" fmla="*/ 3659 w 3659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3659" y="3"/>
                  </a:cxn>
                </a:cxnLst>
                <a:rect l="txL" t="txT" r="txR" b="txB"/>
                <a:pathLst>
                  <a:path w="3659" h="3">
                    <a:moveTo>
                      <a:pt x="0" y="0"/>
                    </a:moveTo>
                    <a:lnTo>
                      <a:pt x="365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71" name="Freeform 12"/>
              <p:cNvSpPr/>
              <p:nvPr/>
            </p:nvSpPr>
            <p:spPr>
              <a:xfrm>
                <a:off x="2727" y="1053"/>
                <a:ext cx="1" cy="86"/>
              </a:xfrm>
              <a:custGeom>
                <a:avLst/>
                <a:gdLst>
                  <a:gd name="txL" fmla="*/ 0 w 1"/>
                  <a:gd name="txT" fmla="*/ 0 h 86"/>
                  <a:gd name="txR" fmla="*/ 1 w 1"/>
                  <a:gd name="txB" fmla="*/ 86 h 86"/>
                </a:gdLst>
                <a:ahLst/>
                <a:cxnLst>
                  <a:cxn ang="0">
                    <a:pos x="0" y="0"/>
                  </a:cxn>
                  <a:cxn ang="0">
                    <a:pos x="1" y="86"/>
                  </a:cxn>
                </a:cxnLst>
                <a:rect l="txL" t="txT" r="txR" b="txB"/>
                <a:pathLst>
                  <a:path w="1" h="86">
                    <a:moveTo>
                      <a:pt x="0" y="0"/>
                    </a:moveTo>
                    <a:lnTo>
                      <a:pt x="1" y="8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72" name="Freeform 13"/>
              <p:cNvSpPr/>
              <p:nvPr/>
            </p:nvSpPr>
            <p:spPr>
              <a:xfrm>
                <a:off x="1791" y="1051"/>
                <a:ext cx="1" cy="92"/>
              </a:xfrm>
              <a:custGeom>
                <a:avLst/>
                <a:gdLst>
                  <a:gd name="txL" fmla="*/ 0 w 1"/>
                  <a:gd name="txT" fmla="*/ 0 h 92"/>
                  <a:gd name="txR" fmla="*/ 1 w 1"/>
                  <a:gd name="txB" fmla="*/ 92 h 92"/>
                </a:gdLst>
                <a:ahLst/>
                <a:cxnLst>
                  <a:cxn ang="0">
                    <a:pos x="0" y="0"/>
                  </a:cxn>
                  <a:cxn ang="0">
                    <a:pos x="0" y="92"/>
                  </a:cxn>
                </a:cxnLst>
                <a:rect l="txL" t="txT" r="txR" b="tx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73" name="Freeform 14"/>
              <p:cNvSpPr/>
              <p:nvPr/>
            </p:nvSpPr>
            <p:spPr>
              <a:xfrm>
                <a:off x="1788" y="1278"/>
                <a:ext cx="1" cy="85"/>
              </a:xfrm>
              <a:custGeom>
                <a:avLst/>
                <a:gdLst>
                  <a:gd name="txL" fmla="*/ 0 w 1"/>
                  <a:gd name="txT" fmla="*/ 0 h 93"/>
                  <a:gd name="txR" fmla="*/ 1 w 1"/>
                  <a:gd name="txB" fmla="*/ 93 h 93"/>
                </a:gdLst>
                <a:ahLst/>
                <a:cxnLst>
                  <a:cxn ang="0">
                    <a:pos x="0" y="93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3">
                    <a:moveTo>
                      <a:pt x="0" y="9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74" name="Freeform 15"/>
              <p:cNvSpPr/>
              <p:nvPr/>
            </p:nvSpPr>
            <p:spPr>
              <a:xfrm>
                <a:off x="2736" y="1266"/>
                <a:ext cx="3" cy="95"/>
              </a:xfrm>
              <a:custGeom>
                <a:avLst/>
                <a:gdLst>
                  <a:gd name="txL" fmla="*/ 0 w 3"/>
                  <a:gd name="txT" fmla="*/ 0 h 105"/>
                  <a:gd name="txR" fmla="*/ 3 w 3"/>
                  <a:gd name="txB" fmla="*/ 105 h 105"/>
                </a:gdLst>
                <a:ahLst/>
                <a:cxnLst>
                  <a:cxn ang="0">
                    <a:pos x="0" y="105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105">
                    <a:moveTo>
                      <a:pt x="0" y="105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75" name="Line 16"/>
              <p:cNvSpPr/>
              <p:nvPr/>
            </p:nvSpPr>
            <p:spPr>
              <a:xfrm rot="10800000">
                <a:off x="4351" y="127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76" name="Freeform 17"/>
              <p:cNvSpPr/>
              <p:nvPr/>
            </p:nvSpPr>
            <p:spPr>
              <a:xfrm>
                <a:off x="1155" y="1625"/>
                <a:ext cx="3653" cy="1"/>
              </a:xfrm>
              <a:custGeom>
                <a:avLst/>
                <a:gdLst>
                  <a:gd name="txL" fmla="*/ 0 w 3543"/>
                  <a:gd name="txT" fmla="*/ 0 h 1"/>
                  <a:gd name="txR" fmla="*/ 3543 w 35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43" y="0"/>
                  </a:cxn>
                </a:cxnLst>
                <a:rect l="txL" t="txT" r="txR" b="txB"/>
                <a:pathLst>
                  <a:path w="3543" h="1">
                    <a:moveTo>
                      <a:pt x="0" y="0"/>
                    </a:moveTo>
                    <a:lnTo>
                      <a:pt x="354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77" name="Line 18"/>
              <p:cNvSpPr/>
              <p:nvPr/>
            </p:nvSpPr>
            <p:spPr>
              <a:xfrm>
                <a:off x="4351" y="1625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78" name="Freeform 19"/>
              <p:cNvSpPr/>
              <p:nvPr/>
            </p:nvSpPr>
            <p:spPr>
              <a:xfrm>
                <a:off x="1155" y="1929"/>
                <a:ext cx="3656" cy="1"/>
              </a:xfrm>
              <a:custGeom>
                <a:avLst/>
                <a:gdLst>
                  <a:gd name="txL" fmla="*/ 0 w 3546"/>
                  <a:gd name="txT" fmla="*/ 0 h 2"/>
                  <a:gd name="txR" fmla="*/ 3546 w 354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3546" y="2"/>
                  </a:cxn>
                </a:cxnLst>
                <a:rect l="txL" t="txT" r="txR" b="txB"/>
                <a:pathLst>
                  <a:path w="3546" h="2">
                    <a:moveTo>
                      <a:pt x="0" y="0"/>
                    </a:moveTo>
                    <a:lnTo>
                      <a:pt x="354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79" name="Line 20"/>
              <p:cNvSpPr/>
              <p:nvPr/>
            </p:nvSpPr>
            <p:spPr>
              <a:xfrm>
                <a:off x="2725" y="1625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80" name="Line 21"/>
              <p:cNvSpPr/>
              <p:nvPr/>
            </p:nvSpPr>
            <p:spPr>
              <a:xfrm>
                <a:off x="1788" y="1625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81" name="Line 22"/>
              <p:cNvSpPr/>
              <p:nvPr/>
            </p:nvSpPr>
            <p:spPr>
              <a:xfrm rot="10800000">
                <a:off x="1788" y="1844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82" name="Line 23"/>
              <p:cNvSpPr/>
              <p:nvPr/>
            </p:nvSpPr>
            <p:spPr>
              <a:xfrm rot="10800000">
                <a:off x="2725" y="1846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83" name="Line 24"/>
              <p:cNvSpPr/>
              <p:nvPr/>
            </p:nvSpPr>
            <p:spPr>
              <a:xfrm rot="10800000">
                <a:off x="4351" y="1846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84" name="Freeform 25"/>
              <p:cNvSpPr/>
              <p:nvPr/>
            </p:nvSpPr>
            <p:spPr>
              <a:xfrm>
                <a:off x="1155" y="2498"/>
                <a:ext cx="3675" cy="1"/>
              </a:xfrm>
              <a:custGeom>
                <a:avLst/>
                <a:gdLst>
                  <a:gd name="txL" fmla="*/ 0 w 3564"/>
                  <a:gd name="txT" fmla="*/ 0 h 1"/>
                  <a:gd name="txR" fmla="*/ 3564 w 356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64" y="0"/>
                  </a:cxn>
                </a:cxnLst>
                <a:rect l="txL" t="txT" r="txR" b="txB"/>
                <a:pathLst>
                  <a:path w="3564" h="1">
                    <a:moveTo>
                      <a:pt x="0" y="0"/>
                    </a:moveTo>
                    <a:lnTo>
                      <a:pt x="356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85" name="Line 26"/>
              <p:cNvSpPr/>
              <p:nvPr/>
            </p:nvSpPr>
            <p:spPr>
              <a:xfrm>
                <a:off x="4351" y="249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86" name="Freeform 27"/>
              <p:cNvSpPr/>
              <p:nvPr/>
            </p:nvSpPr>
            <p:spPr>
              <a:xfrm>
                <a:off x="1155" y="2802"/>
                <a:ext cx="3647" cy="1"/>
              </a:xfrm>
              <a:custGeom>
                <a:avLst/>
                <a:gdLst>
                  <a:gd name="txL" fmla="*/ 0 w 3647"/>
                  <a:gd name="txT" fmla="*/ 0 h 1"/>
                  <a:gd name="txR" fmla="*/ 3647 w 364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647" y="1"/>
                  </a:cxn>
                </a:cxnLst>
                <a:rect l="txL" t="txT" r="txR" b="txB"/>
                <a:pathLst>
                  <a:path w="3647" h="1">
                    <a:moveTo>
                      <a:pt x="0" y="0"/>
                    </a:moveTo>
                    <a:lnTo>
                      <a:pt x="364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87" name="Line 28"/>
              <p:cNvSpPr/>
              <p:nvPr/>
            </p:nvSpPr>
            <p:spPr>
              <a:xfrm>
                <a:off x="2725" y="249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88" name="Line 29"/>
              <p:cNvSpPr/>
              <p:nvPr/>
            </p:nvSpPr>
            <p:spPr>
              <a:xfrm>
                <a:off x="1788" y="249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89" name="Line 30"/>
              <p:cNvSpPr/>
              <p:nvPr/>
            </p:nvSpPr>
            <p:spPr>
              <a:xfrm rot="10800000">
                <a:off x="1788" y="2718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90" name="Line 31"/>
              <p:cNvSpPr/>
              <p:nvPr/>
            </p:nvSpPr>
            <p:spPr>
              <a:xfrm rot="10800000">
                <a:off x="2725" y="272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91" name="Line 32"/>
              <p:cNvSpPr/>
              <p:nvPr/>
            </p:nvSpPr>
            <p:spPr>
              <a:xfrm rot="10800000">
                <a:off x="4351" y="272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92" name="AutoShape 33"/>
              <p:cNvSpPr/>
              <p:nvPr/>
            </p:nvSpPr>
            <p:spPr>
              <a:xfrm rot="-5400000">
                <a:off x="1683" y="2832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93" name="Freeform 34"/>
              <p:cNvSpPr/>
              <p:nvPr/>
            </p:nvSpPr>
            <p:spPr>
              <a:xfrm>
                <a:off x="1416" y="1214"/>
                <a:ext cx="198" cy="2026"/>
              </a:xfrm>
              <a:custGeom>
                <a:avLst/>
                <a:gdLst>
                  <a:gd name="txL" fmla="*/ 0 w 198"/>
                  <a:gd name="txT" fmla="*/ 0 h 2026"/>
                  <a:gd name="txR" fmla="*/ 198 w 198"/>
                  <a:gd name="txB" fmla="*/ 2026 h 2026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6" y="2026"/>
                  </a:cxn>
                </a:cxnLst>
                <a:rect l="txL" t="txT" r="txR" b="txB"/>
                <a:pathLst>
                  <a:path w="198" h="2026">
                    <a:moveTo>
                      <a:pt x="198" y="0"/>
                    </a:moveTo>
                    <a:lnTo>
                      <a:pt x="0" y="0"/>
                    </a:lnTo>
                    <a:lnTo>
                      <a:pt x="6" y="202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94" name="Freeform 35"/>
              <p:cNvSpPr/>
              <p:nvPr/>
            </p:nvSpPr>
            <p:spPr>
              <a:xfrm>
                <a:off x="1419" y="1770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95" name="Freeform 36"/>
              <p:cNvSpPr/>
              <p:nvPr/>
            </p:nvSpPr>
            <p:spPr>
              <a:xfrm>
                <a:off x="1422" y="2651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96" name="Line 37"/>
              <p:cNvSpPr/>
              <p:nvPr/>
            </p:nvSpPr>
            <p:spPr>
              <a:xfrm>
                <a:off x="1419" y="3023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4997" name="Freeform 38"/>
              <p:cNvSpPr/>
              <p:nvPr/>
            </p:nvSpPr>
            <p:spPr>
              <a:xfrm>
                <a:off x="3979" y="1214"/>
                <a:ext cx="198" cy="2023"/>
              </a:xfrm>
              <a:custGeom>
                <a:avLst/>
                <a:gdLst>
                  <a:gd name="txL" fmla="*/ 0 w 198"/>
                  <a:gd name="txT" fmla="*/ 0 h 2023"/>
                  <a:gd name="txR" fmla="*/ 198 w 198"/>
                  <a:gd name="txB" fmla="*/ 2023 h 2023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2" y="2023"/>
                  </a:cxn>
                </a:cxnLst>
                <a:rect l="txL" t="txT" r="txR" b="txB"/>
                <a:pathLst>
                  <a:path w="198" h="2023">
                    <a:moveTo>
                      <a:pt x="198" y="0"/>
                    </a:moveTo>
                    <a:lnTo>
                      <a:pt x="0" y="0"/>
                    </a:lnTo>
                    <a:lnTo>
                      <a:pt x="2" y="202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98" name="Freeform 39"/>
              <p:cNvSpPr/>
              <p:nvPr/>
            </p:nvSpPr>
            <p:spPr>
              <a:xfrm>
                <a:off x="3982" y="1770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99" name="Freeform 40"/>
              <p:cNvSpPr/>
              <p:nvPr/>
            </p:nvSpPr>
            <p:spPr>
              <a:xfrm>
                <a:off x="3985" y="2651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00" name="Line 41"/>
              <p:cNvSpPr/>
              <p:nvPr/>
            </p:nvSpPr>
            <p:spPr>
              <a:xfrm>
                <a:off x="3982" y="3023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001" name="Freeform 42"/>
              <p:cNvSpPr/>
              <p:nvPr/>
            </p:nvSpPr>
            <p:spPr>
              <a:xfrm>
                <a:off x="2347" y="1214"/>
                <a:ext cx="198" cy="2024"/>
              </a:xfrm>
              <a:custGeom>
                <a:avLst/>
                <a:gdLst>
                  <a:gd name="txL" fmla="*/ 0 w 192"/>
                  <a:gd name="txT" fmla="*/ 0 h 2224"/>
                  <a:gd name="txR" fmla="*/ 192 w 192"/>
                  <a:gd name="txB" fmla="*/ 2224 h 2224"/>
                </a:gdLst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2" y="2224"/>
                  </a:cxn>
                </a:cxnLst>
                <a:rect l="txL" t="txT" r="txR" b="txB"/>
                <a:pathLst>
                  <a:path w="192" h="2224">
                    <a:moveTo>
                      <a:pt x="192" y="0"/>
                    </a:moveTo>
                    <a:lnTo>
                      <a:pt x="0" y="0"/>
                    </a:lnTo>
                    <a:lnTo>
                      <a:pt x="2" y="222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02" name="Freeform 43"/>
              <p:cNvSpPr/>
              <p:nvPr/>
            </p:nvSpPr>
            <p:spPr>
              <a:xfrm>
                <a:off x="2350" y="1770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03" name="Freeform 44"/>
              <p:cNvSpPr/>
              <p:nvPr/>
            </p:nvSpPr>
            <p:spPr>
              <a:xfrm>
                <a:off x="2353" y="2651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04" name="Line 45"/>
              <p:cNvSpPr/>
              <p:nvPr/>
            </p:nvSpPr>
            <p:spPr>
              <a:xfrm>
                <a:off x="2350" y="3023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005" name="Freeform 46"/>
              <p:cNvSpPr/>
              <p:nvPr/>
            </p:nvSpPr>
            <p:spPr>
              <a:xfrm>
                <a:off x="1964" y="1201"/>
                <a:ext cx="198" cy="2030"/>
              </a:xfrm>
              <a:custGeom>
                <a:avLst/>
                <a:gdLst>
                  <a:gd name="txL" fmla="*/ 0 w 198"/>
                  <a:gd name="txT" fmla="*/ 0 h 2030"/>
                  <a:gd name="txR" fmla="*/ 198 w 198"/>
                  <a:gd name="txB" fmla="*/ 2030 h 2030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193" y="2030"/>
                  </a:cxn>
                </a:cxnLst>
                <a:rect l="txL" t="txT" r="txR" b="txB"/>
                <a:pathLst>
                  <a:path w="198" h="2030">
                    <a:moveTo>
                      <a:pt x="0" y="0"/>
                    </a:moveTo>
                    <a:lnTo>
                      <a:pt x="198" y="0"/>
                    </a:lnTo>
                    <a:lnTo>
                      <a:pt x="193" y="20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06" name="Freeform 47"/>
              <p:cNvSpPr/>
              <p:nvPr/>
            </p:nvSpPr>
            <p:spPr>
              <a:xfrm rot="10800000">
                <a:off x="1959" y="1770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07" name="Freeform 48"/>
              <p:cNvSpPr/>
              <p:nvPr/>
            </p:nvSpPr>
            <p:spPr>
              <a:xfrm rot="10800000">
                <a:off x="1959" y="2651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08" name="Freeform 49"/>
              <p:cNvSpPr/>
              <p:nvPr/>
            </p:nvSpPr>
            <p:spPr>
              <a:xfrm>
                <a:off x="1958" y="3023"/>
                <a:ext cx="200" cy="1"/>
              </a:xfrm>
              <a:custGeom>
                <a:avLst/>
                <a:gdLst>
                  <a:gd name="txL" fmla="*/ 0 w 194"/>
                  <a:gd name="txT" fmla="*/ 0 h 1"/>
                  <a:gd name="txR" fmla="*/ 194 w 194"/>
                  <a:gd name="txB" fmla="*/ 1 h 1"/>
                </a:gdLst>
                <a:ahLst/>
                <a:cxnLst>
                  <a:cxn ang="0">
                    <a:pos x="19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4" h="1">
                    <a:moveTo>
                      <a:pt x="19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09" name="Freeform 50"/>
              <p:cNvSpPr/>
              <p:nvPr/>
            </p:nvSpPr>
            <p:spPr>
              <a:xfrm>
                <a:off x="2893" y="1201"/>
                <a:ext cx="199" cy="2047"/>
              </a:xfrm>
              <a:custGeom>
                <a:avLst/>
                <a:gdLst>
                  <a:gd name="txL" fmla="*/ 0 w 193"/>
                  <a:gd name="txT" fmla="*/ 0 h 2250"/>
                  <a:gd name="txR" fmla="*/ 193 w 193"/>
                  <a:gd name="txB" fmla="*/ 2250 h 2250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3" y="2250"/>
                  </a:cxn>
                </a:cxnLst>
                <a:rect l="txL" t="txT" r="txR" b="txB"/>
                <a:pathLst>
                  <a:path w="193" h="2250">
                    <a:moveTo>
                      <a:pt x="0" y="0"/>
                    </a:moveTo>
                    <a:lnTo>
                      <a:pt x="192" y="0"/>
                    </a:lnTo>
                    <a:lnTo>
                      <a:pt x="193" y="22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10" name="Freeform 51"/>
              <p:cNvSpPr/>
              <p:nvPr/>
            </p:nvSpPr>
            <p:spPr>
              <a:xfrm rot="10800000">
                <a:off x="2890" y="1770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11" name="Freeform 52"/>
              <p:cNvSpPr/>
              <p:nvPr/>
            </p:nvSpPr>
            <p:spPr>
              <a:xfrm rot="10800000">
                <a:off x="2890" y="2651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12" name="Freeform 53"/>
              <p:cNvSpPr/>
              <p:nvPr/>
            </p:nvSpPr>
            <p:spPr>
              <a:xfrm>
                <a:off x="2895" y="3023"/>
                <a:ext cx="194" cy="1"/>
              </a:xfrm>
              <a:custGeom>
                <a:avLst/>
                <a:gdLst>
                  <a:gd name="txL" fmla="*/ 0 w 188"/>
                  <a:gd name="txT" fmla="*/ 0 h 1"/>
                  <a:gd name="txR" fmla="*/ 188 w 188"/>
                  <a:gd name="txB" fmla="*/ 1 h 1"/>
                </a:gdLst>
                <a:ahLst/>
                <a:cxnLst>
                  <a:cxn ang="0">
                    <a:pos x="18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13" name="Freeform 54"/>
              <p:cNvSpPr/>
              <p:nvPr/>
            </p:nvSpPr>
            <p:spPr>
              <a:xfrm>
                <a:off x="4531" y="1201"/>
                <a:ext cx="203" cy="2027"/>
              </a:xfrm>
              <a:custGeom>
                <a:avLst/>
                <a:gdLst>
                  <a:gd name="txL" fmla="*/ 0 w 203"/>
                  <a:gd name="txT" fmla="*/ 0 h 2027"/>
                  <a:gd name="txR" fmla="*/ 203 w 203"/>
                  <a:gd name="txB" fmla="*/ 2027 h 2027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203" y="2027"/>
                  </a:cxn>
                </a:cxnLst>
                <a:rect l="txL" t="txT" r="txR" b="txB"/>
                <a:pathLst>
                  <a:path w="203" h="2027">
                    <a:moveTo>
                      <a:pt x="0" y="0"/>
                    </a:moveTo>
                    <a:lnTo>
                      <a:pt x="198" y="0"/>
                    </a:lnTo>
                    <a:lnTo>
                      <a:pt x="203" y="202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14" name="Freeform 55"/>
              <p:cNvSpPr/>
              <p:nvPr/>
            </p:nvSpPr>
            <p:spPr>
              <a:xfrm rot="10800000">
                <a:off x="4528" y="1770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15" name="Freeform 56"/>
              <p:cNvSpPr/>
              <p:nvPr/>
            </p:nvSpPr>
            <p:spPr>
              <a:xfrm rot="10800000">
                <a:off x="4528" y="2651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16" name="Freeform 57"/>
              <p:cNvSpPr/>
              <p:nvPr/>
            </p:nvSpPr>
            <p:spPr>
              <a:xfrm rot="10800000">
                <a:off x="4524" y="3021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17" name="Rectangle 58"/>
              <p:cNvSpPr/>
              <p:nvPr/>
            </p:nvSpPr>
            <p:spPr>
              <a:xfrm>
                <a:off x="1204" y="3242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tIns="36000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读  写  控  制  电  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18" name="Rectangle 59"/>
              <p:cNvSpPr/>
              <p:nvPr/>
            </p:nvSpPr>
            <p:spPr>
              <a:xfrm>
                <a:off x="1204" y="3722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  地  址  译  码 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19" name="Text Box 60"/>
              <p:cNvSpPr txBox="1"/>
              <p:nvPr/>
            </p:nvSpPr>
            <p:spPr>
              <a:xfrm rot="5400000">
                <a:off x="1671" y="2014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20" name="Text Box 61"/>
              <p:cNvSpPr txBox="1"/>
              <p:nvPr/>
            </p:nvSpPr>
            <p:spPr>
              <a:xfrm rot="5400000">
                <a:off x="2602" y="2014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21" name="Text Box 62"/>
              <p:cNvSpPr txBox="1"/>
              <p:nvPr/>
            </p:nvSpPr>
            <p:spPr>
              <a:xfrm rot="5400000">
                <a:off x="4234" y="2014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22" name="Rectangle 63"/>
              <p:cNvSpPr/>
              <p:nvPr/>
            </p:nvSpPr>
            <p:spPr>
              <a:xfrm>
                <a:off x="1615" y="1709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23" name="Rectangle 64"/>
              <p:cNvSpPr/>
              <p:nvPr/>
            </p:nvSpPr>
            <p:spPr>
              <a:xfrm>
                <a:off x="1615" y="258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24" name="Rectangle 65"/>
              <p:cNvSpPr/>
              <p:nvPr/>
            </p:nvSpPr>
            <p:spPr>
              <a:xfrm>
                <a:off x="2546" y="1144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25" name="Rectangle 66"/>
              <p:cNvSpPr/>
              <p:nvPr/>
            </p:nvSpPr>
            <p:spPr>
              <a:xfrm>
                <a:off x="2546" y="1709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26" name="Rectangle 67"/>
              <p:cNvSpPr/>
              <p:nvPr/>
            </p:nvSpPr>
            <p:spPr>
              <a:xfrm>
                <a:off x="2546" y="258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27" name="Rectangle 68"/>
              <p:cNvSpPr/>
              <p:nvPr/>
            </p:nvSpPr>
            <p:spPr>
              <a:xfrm>
                <a:off x="4178" y="1144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28" name="Rectangle 69"/>
              <p:cNvSpPr/>
              <p:nvPr/>
            </p:nvSpPr>
            <p:spPr>
              <a:xfrm>
                <a:off x="4178" y="1709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29" name="Rectangle 70"/>
              <p:cNvSpPr/>
              <p:nvPr/>
            </p:nvSpPr>
            <p:spPr>
              <a:xfrm>
                <a:off x="4178" y="258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30" name="AutoShape 71"/>
              <p:cNvSpPr/>
              <p:nvPr/>
            </p:nvSpPr>
            <p:spPr>
              <a:xfrm rot="-5400000">
                <a:off x="2614" y="2832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31" name="AutoShape 72"/>
              <p:cNvSpPr/>
              <p:nvPr/>
            </p:nvSpPr>
            <p:spPr>
              <a:xfrm rot="-5400000">
                <a:off x="4246" y="2832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032" name="Text Box 73"/>
              <p:cNvSpPr txBox="1"/>
              <p:nvPr/>
            </p:nvSpPr>
            <p:spPr>
              <a:xfrm>
                <a:off x="4796" y="927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33" name="Text Box 74"/>
              <p:cNvSpPr txBox="1"/>
              <p:nvPr/>
            </p:nvSpPr>
            <p:spPr>
              <a:xfrm>
                <a:off x="4806" y="121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写选择线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34" name="Line 75"/>
              <p:cNvSpPr/>
              <p:nvPr/>
            </p:nvSpPr>
            <p:spPr>
              <a:xfrm>
                <a:off x="4817" y="3372"/>
                <a:ext cx="3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295035" name="Text Box 76"/>
              <p:cNvSpPr txBox="1"/>
              <p:nvPr/>
            </p:nvSpPr>
            <p:spPr>
              <a:xfrm>
                <a:off x="4906" y="3090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36" name="Text Box 77"/>
              <p:cNvSpPr txBox="1"/>
              <p:nvPr/>
            </p:nvSpPr>
            <p:spPr>
              <a:xfrm>
                <a:off x="503" y="1002"/>
                <a:ext cx="307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37" name="Text Box 78"/>
              <p:cNvSpPr txBox="1"/>
              <p:nvPr/>
            </p:nvSpPr>
            <p:spPr>
              <a:xfrm>
                <a:off x="907" y="93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38" name="Text Box 79"/>
              <p:cNvSpPr txBox="1"/>
              <p:nvPr/>
            </p:nvSpPr>
            <p:spPr>
              <a:xfrm>
                <a:off x="907" y="1218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39" name="Text Box 80"/>
              <p:cNvSpPr txBox="1"/>
              <p:nvPr/>
            </p:nvSpPr>
            <p:spPr>
              <a:xfrm>
                <a:off x="907" y="152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40" name="Text Box 81"/>
              <p:cNvSpPr txBox="1"/>
              <p:nvPr/>
            </p:nvSpPr>
            <p:spPr>
              <a:xfrm>
                <a:off x="907" y="1827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41" name="Text Box 82"/>
              <p:cNvSpPr txBox="1"/>
              <p:nvPr/>
            </p:nvSpPr>
            <p:spPr>
              <a:xfrm>
                <a:off x="854" y="236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42" name="Text Box 83"/>
              <p:cNvSpPr txBox="1"/>
              <p:nvPr/>
            </p:nvSpPr>
            <p:spPr>
              <a:xfrm>
                <a:off x="858" y="2658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43" name="Line 84"/>
              <p:cNvSpPr/>
              <p:nvPr/>
            </p:nvSpPr>
            <p:spPr>
              <a:xfrm>
                <a:off x="1887" y="3515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5044" name="Line 85"/>
              <p:cNvSpPr/>
              <p:nvPr/>
            </p:nvSpPr>
            <p:spPr>
              <a:xfrm>
                <a:off x="2832" y="3515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5045" name="Text Box 86"/>
              <p:cNvSpPr txBox="1"/>
              <p:nvPr/>
            </p:nvSpPr>
            <p:spPr>
              <a:xfrm>
                <a:off x="2613" y="3486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5046" name="Group 87"/>
              <p:cNvGrpSpPr/>
              <p:nvPr/>
            </p:nvGrpSpPr>
            <p:grpSpPr>
              <a:xfrm>
                <a:off x="0" y="1160"/>
                <a:ext cx="462" cy="251"/>
                <a:chOff x="0" y="933"/>
                <a:chExt cx="462" cy="251"/>
              </a:xfrm>
            </p:grpSpPr>
            <p:sp>
              <p:nvSpPr>
                <p:cNvPr id="295099" name="Line 88"/>
                <p:cNvSpPr/>
                <p:nvPr/>
              </p:nvSpPr>
              <p:spPr>
                <a:xfrm>
                  <a:off x="214" y="991"/>
                  <a:ext cx="24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5100" name="Text Box 89"/>
                <p:cNvSpPr txBox="1"/>
                <p:nvPr/>
              </p:nvSpPr>
              <p:spPr>
                <a:xfrm>
                  <a:off x="0" y="933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9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5047" name="Group 90"/>
              <p:cNvGrpSpPr/>
              <p:nvPr/>
            </p:nvGrpSpPr>
            <p:grpSpPr>
              <a:xfrm>
                <a:off x="16" y="1606"/>
                <a:ext cx="446" cy="251"/>
                <a:chOff x="16" y="1371"/>
                <a:chExt cx="446" cy="251"/>
              </a:xfrm>
            </p:grpSpPr>
            <p:sp>
              <p:nvSpPr>
                <p:cNvPr id="295097" name="Line 91"/>
                <p:cNvSpPr/>
                <p:nvPr/>
              </p:nvSpPr>
              <p:spPr>
                <a:xfrm>
                  <a:off x="214" y="1439"/>
                  <a:ext cx="24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5098" name="Text Box 92"/>
                <p:cNvSpPr txBox="1"/>
                <p:nvPr/>
              </p:nvSpPr>
              <p:spPr>
                <a:xfrm>
                  <a:off x="16" y="137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8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5048" name="Group 93"/>
              <p:cNvGrpSpPr/>
              <p:nvPr/>
            </p:nvGrpSpPr>
            <p:grpSpPr>
              <a:xfrm>
                <a:off x="16" y="2053"/>
                <a:ext cx="446" cy="251"/>
                <a:chOff x="16" y="1809"/>
                <a:chExt cx="446" cy="251"/>
              </a:xfrm>
            </p:grpSpPr>
            <p:sp>
              <p:nvSpPr>
                <p:cNvPr id="295095" name="Line 94"/>
                <p:cNvSpPr/>
                <p:nvPr/>
              </p:nvSpPr>
              <p:spPr>
                <a:xfrm>
                  <a:off x="214" y="1886"/>
                  <a:ext cx="24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5096" name="Text Box 95"/>
                <p:cNvSpPr txBox="1"/>
                <p:nvPr/>
              </p:nvSpPr>
              <p:spPr>
                <a:xfrm>
                  <a:off x="16" y="1809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7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5049" name="Group 96"/>
              <p:cNvGrpSpPr/>
              <p:nvPr/>
            </p:nvGrpSpPr>
            <p:grpSpPr>
              <a:xfrm>
                <a:off x="16" y="2499"/>
                <a:ext cx="446" cy="251"/>
                <a:chOff x="16" y="2276"/>
                <a:chExt cx="446" cy="251"/>
              </a:xfrm>
            </p:grpSpPr>
            <p:sp>
              <p:nvSpPr>
                <p:cNvPr id="295093" name="Line 97"/>
                <p:cNvSpPr/>
                <p:nvPr/>
              </p:nvSpPr>
              <p:spPr>
                <a:xfrm>
                  <a:off x="214" y="2334"/>
                  <a:ext cx="24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5094" name="Text Box 98"/>
                <p:cNvSpPr txBox="1"/>
                <p:nvPr/>
              </p:nvSpPr>
              <p:spPr>
                <a:xfrm>
                  <a:off x="16" y="2276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6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5050" name="Group 99"/>
              <p:cNvGrpSpPr/>
              <p:nvPr/>
            </p:nvGrpSpPr>
            <p:grpSpPr>
              <a:xfrm>
                <a:off x="16" y="2946"/>
                <a:ext cx="446" cy="251"/>
                <a:chOff x="16" y="2725"/>
                <a:chExt cx="446" cy="251"/>
              </a:xfrm>
            </p:grpSpPr>
            <p:sp>
              <p:nvSpPr>
                <p:cNvPr id="295091" name="Line 100"/>
                <p:cNvSpPr/>
                <p:nvPr/>
              </p:nvSpPr>
              <p:spPr>
                <a:xfrm>
                  <a:off x="214" y="2782"/>
                  <a:ext cx="24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5092" name="Text Box 101"/>
                <p:cNvSpPr txBox="1"/>
                <p:nvPr/>
              </p:nvSpPr>
              <p:spPr>
                <a:xfrm>
                  <a:off x="16" y="2725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5051" name="Line 102"/>
              <p:cNvSpPr/>
              <p:nvPr/>
            </p:nvSpPr>
            <p:spPr>
              <a:xfrm>
                <a:off x="4473" y="3515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5052" name="Text Box 103"/>
              <p:cNvSpPr txBox="1"/>
              <p:nvPr/>
            </p:nvSpPr>
            <p:spPr>
              <a:xfrm>
                <a:off x="4176" y="348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5053" name="Group 104"/>
              <p:cNvGrpSpPr/>
              <p:nvPr/>
            </p:nvGrpSpPr>
            <p:grpSpPr>
              <a:xfrm>
                <a:off x="1492" y="3984"/>
                <a:ext cx="283" cy="324"/>
                <a:chOff x="1584" y="3918"/>
                <a:chExt cx="283" cy="324"/>
              </a:xfrm>
            </p:grpSpPr>
            <p:sp>
              <p:nvSpPr>
                <p:cNvPr id="295089" name="Line 105"/>
                <p:cNvSpPr/>
                <p:nvPr/>
              </p:nvSpPr>
              <p:spPr>
                <a:xfrm rot="-5400000">
                  <a:off x="149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5090" name="Text Box 106"/>
                <p:cNvSpPr txBox="1"/>
                <p:nvPr/>
              </p:nvSpPr>
              <p:spPr>
                <a:xfrm>
                  <a:off x="1584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5054" name="Group 107"/>
              <p:cNvGrpSpPr/>
              <p:nvPr/>
            </p:nvGrpSpPr>
            <p:grpSpPr>
              <a:xfrm>
                <a:off x="2234" y="3984"/>
                <a:ext cx="284" cy="325"/>
                <a:chOff x="2355" y="3918"/>
                <a:chExt cx="284" cy="325"/>
              </a:xfrm>
            </p:grpSpPr>
            <p:sp>
              <p:nvSpPr>
                <p:cNvPr id="295087" name="Line 108"/>
                <p:cNvSpPr/>
                <p:nvPr/>
              </p:nvSpPr>
              <p:spPr>
                <a:xfrm rot="-5400000">
                  <a:off x="224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5088" name="Text Box 109"/>
                <p:cNvSpPr txBox="1"/>
                <p:nvPr/>
              </p:nvSpPr>
              <p:spPr>
                <a:xfrm>
                  <a:off x="2356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5055" name="Group 110"/>
              <p:cNvGrpSpPr/>
              <p:nvPr/>
            </p:nvGrpSpPr>
            <p:grpSpPr>
              <a:xfrm>
                <a:off x="2978" y="3984"/>
                <a:ext cx="283" cy="325"/>
                <a:chOff x="3102" y="3918"/>
                <a:chExt cx="283" cy="325"/>
              </a:xfrm>
            </p:grpSpPr>
            <p:sp>
              <p:nvSpPr>
                <p:cNvPr id="295085" name="Line 111"/>
                <p:cNvSpPr/>
                <p:nvPr/>
              </p:nvSpPr>
              <p:spPr>
                <a:xfrm rot="-5400000">
                  <a:off x="300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5086" name="Text Box 112"/>
                <p:cNvSpPr txBox="1"/>
                <p:nvPr/>
              </p:nvSpPr>
              <p:spPr>
                <a:xfrm>
                  <a:off x="3102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5056" name="Group 113"/>
              <p:cNvGrpSpPr/>
              <p:nvPr/>
            </p:nvGrpSpPr>
            <p:grpSpPr>
              <a:xfrm>
                <a:off x="3721" y="3984"/>
                <a:ext cx="283" cy="325"/>
                <a:chOff x="3844" y="3918"/>
                <a:chExt cx="283" cy="325"/>
              </a:xfrm>
            </p:grpSpPr>
            <p:sp>
              <p:nvSpPr>
                <p:cNvPr id="295083" name="Line 114"/>
                <p:cNvSpPr/>
                <p:nvPr/>
              </p:nvSpPr>
              <p:spPr>
                <a:xfrm rot="-5400000">
                  <a:off x="375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5084" name="Text Box 115"/>
                <p:cNvSpPr txBox="1"/>
                <p:nvPr/>
              </p:nvSpPr>
              <p:spPr>
                <a:xfrm>
                  <a:off x="3844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5057" name="Group 116"/>
              <p:cNvGrpSpPr/>
              <p:nvPr/>
            </p:nvGrpSpPr>
            <p:grpSpPr>
              <a:xfrm>
                <a:off x="4464" y="3984"/>
                <a:ext cx="283" cy="324"/>
                <a:chOff x="4603" y="3918"/>
                <a:chExt cx="283" cy="324"/>
              </a:xfrm>
            </p:grpSpPr>
            <p:sp>
              <p:nvSpPr>
                <p:cNvPr id="295081" name="Line 117"/>
                <p:cNvSpPr/>
                <p:nvPr/>
              </p:nvSpPr>
              <p:spPr>
                <a:xfrm rot="-5400000">
                  <a:off x="4510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5082" name="Text Box 118"/>
                <p:cNvSpPr txBox="1"/>
                <p:nvPr/>
              </p:nvSpPr>
              <p:spPr>
                <a:xfrm>
                  <a:off x="4603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5058" name="Line 119"/>
              <p:cNvSpPr/>
              <p:nvPr/>
            </p:nvSpPr>
            <p:spPr>
              <a:xfrm>
                <a:off x="2689" y="1756"/>
                <a:ext cx="643" cy="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5059" name="Line 120"/>
              <p:cNvSpPr/>
              <p:nvPr/>
            </p:nvSpPr>
            <p:spPr>
              <a:xfrm>
                <a:off x="3976" y="2105"/>
                <a:ext cx="990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5060" name="Line 121"/>
              <p:cNvSpPr/>
              <p:nvPr/>
            </p:nvSpPr>
            <p:spPr>
              <a:xfrm>
                <a:off x="4718" y="1450"/>
                <a:ext cx="693" cy="1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5061" name="Text Box 122"/>
              <p:cNvSpPr txBox="1"/>
              <p:nvPr/>
            </p:nvSpPr>
            <p:spPr>
              <a:xfrm>
                <a:off x="4844" y="2794"/>
                <a:ext cx="9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刷新放大器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62" name="Line 123"/>
              <p:cNvSpPr/>
              <p:nvPr/>
            </p:nvSpPr>
            <p:spPr>
              <a:xfrm flipV="1">
                <a:off x="4520" y="3023"/>
                <a:ext cx="495" cy="4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95063" name="Group 124"/>
              <p:cNvGrpSpPr/>
              <p:nvPr/>
            </p:nvGrpSpPr>
            <p:grpSpPr>
              <a:xfrm>
                <a:off x="4916" y="1792"/>
                <a:ext cx="275" cy="894"/>
                <a:chOff x="4920" y="1790"/>
                <a:chExt cx="275" cy="894"/>
              </a:xfrm>
            </p:grpSpPr>
            <p:sp>
              <p:nvSpPr>
                <p:cNvPr id="295077" name="Text Box 125"/>
                <p:cNvSpPr txBox="1"/>
                <p:nvPr/>
              </p:nvSpPr>
              <p:spPr>
                <a:xfrm>
                  <a:off x="4920" y="1790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写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5078" name="Text Box 126"/>
                <p:cNvSpPr txBox="1"/>
                <p:nvPr/>
              </p:nvSpPr>
              <p:spPr>
                <a:xfrm>
                  <a:off x="4920" y="200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5079" name="Text Box 127"/>
                <p:cNvSpPr txBox="1"/>
                <p:nvPr/>
              </p:nvSpPr>
              <p:spPr>
                <a:xfrm>
                  <a:off x="4920" y="2219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5080" name="Text Box 128"/>
                <p:cNvSpPr txBox="1"/>
                <p:nvPr/>
              </p:nvSpPr>
              <p:spPr>
                <a:xfrm>
                  <a:off x="4920" y="243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5064" name="Group 129"/>
              <p:cNvGrpSpPr/>
              <p:nvPr/>
            </p:nvGrpSpPr>
            <p:grpSpPr>
              <a:xfrm>
                <a:off x="5372" y="1571"/>
                <a:ext cx="275" cy="880"/>
                <a:chOff x="5394" y="1612"/>
                <a:chExt cx="275" cy="880"/>
              </a:xfrm>
            </p:grpSpPr>
            <p:sp>
              <p:nvSpPr>
                <p:cNvPr id="295073" name="Text Box 130"/>
                <p:cNvSpPr txBox="1"/>
                <p:nvPr/>
              </p:nvSpPr>
              <p:spPr>
                <a:xfrm>
                  <a:off x="5394" y="161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5074" name="Text Box 131"/>
                <p:cNvSpPr txBox="1"/>
                <p:nvPr/>
              </p:nvSpPr>
              <p:spPr>
                <a:xfrm>
                  <a:off x="5394" y="182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5075" name="Text Box 132"/>
                <p:cNvSpPr txBox="1"/>
                <p:nvPr/>
              </p:nvSpPr>
              <p:spPr>
                <a:xfrm>
                  <a:off x="5394" y="203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5076" name="Text Box 133"/>
                <p:cNvSpPr txBox="1"/>
                <p:nvPr/>
              </p:nvSpPr>
              <p:spPr>
                <a:xfrm>
                  <a:off x="5394" y="224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5065" name="Group 134"/>
              <p:cNvGrpSpPr/>
              <p:nvPr/>
            </p:nvGrpSpPr>
            <p:grpSpPr>
              <a:xfrm>
                <a:off x="3320" y="981"/>
                <a:ext cx="371" cy="2173"/>
                <a:chOff x="3324" y="979"/>
                <a:chExt cx="371" cy="2173"/>
              </a:xfrm>
            </p:grpSpPr>
            <p:sp>
              <p:nvSpPr>
                <p:cNvPr id="295069" name="Text Box 135"/>
                <p:cNvSpPr txBox="1"/>
                <p:nvPr/>
              </p:nvSpPr>
              <p:spPr>
                <a:xfrm>
                  <a:off x="3324" y="97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5070" name="Text Box 136"/>
                <p:cNvSpPr txBox="1"/>
                <p:nvPr/>
              </p:nvSpPr>
              <p:spPr>
                <a:xfrm>
                  <a:off x="3324" y="1507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5071" name="Text Box 137"/>
                <p:cNvSpPr txBox="1"/>
                <p:nvPr/>
              </p:nvSpPr>
              <p:spPr>
                <a:xfrm>
                  <a:off x="3324" y="240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5072" name="Text Box 138"/>
                <p:cNvSpPr txBox="1"/>
                <p:nvPr/>
              </p:nvSpPr>
              <p:spPr>
                <a:xfrm>
                  <a:off x="3324" y="2784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5066" name="Text Box 139"/>
              <p:cNvSpPr txBox="1"/>
              <p:nvPr/>
            </p:nvSpPr>
            <p:spPr>
              <a:xfrm rot="5400000">
                <a:off x="916" y="204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67" name="Text Box 140"/>
              <p:cNvSpPr txBox="1"/>
              <p:nvPr/>
            </p:nvSpPr>
            <p:spPr>
              <a:xfrm>
                <a:off x="1678" y="3486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5068" name="Text Box 141"/>
              <p:cNvSpPr txBox="1"/>
              <p:nvPr/>
            </p:nvSpPr>
            <p:spPr>
              <a:xfrm>
                <a:off x="3350" y="3378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4915" name="Text Box 142"/>
          <p:cNvSpPr txBox="1"/>
          <p:nvPr/>
        </p:nvSpPr>
        <p:spPr>
          <a:xfrm>
            <a:off x="1752600" y="152400"/>
            <a:ext cx="5410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(2)  </a:t>
            </a:r>
            <a:r>
              <a:rPr lang="zh-CN" altLang="en-US" sz="3200" b="1" dirty="0">
                <a:latin typeface="Times New Roman" panose="02020603050405020304" pitchFamily="18" charset="0"/>
              </a:rPr>
              <a:t>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芯片举例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30543" name="Text Box 143"/>
          <p:cNvSpPr txBox="1"/>
          <p:nvPr/>
        </p:nvSpPr>
        <p:spPr>
          <a:xfrm>
            <a:off x="2286000" y="762000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① </a:t>
            </a:r>
            <a:r>
              <a:rPr lang="zh-CN" altLang="en-US" sz="3200" b="1" dirty="0">
                <a:latin typeface="Times New Roman" panose="02020603050405020304" pitchFamily="18" charset="0"/>
              </a:rPr>
              <a:t>三管动态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en-US" altLang="zh-CN" sz="3200" b="1" dirty="0">
                <a:latin typeface="Times New Roman" panose="02020603050405020304" pitchFamily="18" charset="0"/>
              </a:rPr>
              <a:t>(Intel 1103)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读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8" name="Group 144"/>
          <p:cNvGrpSpPr/>
          <p:nvPr/>
        </p:nvGrpSpPr>
        <p:grpSpPr>
          <a:xfrm>
            <a:off x="1884363" y="1895475"/>
            <a:ext cx="360312" cy="3365215"/>
            <a:chOff x="300" y="720"/>
            <a:chExt cx="220" cy="2329"/>
          </a:xfrm>
        </p:grpSpPr>
        <p:sp>
          <p:nvSpPr>
            <p:cNvPr id="294959" name="Text Box 145"/>
            <p:cNvSpPr txBox="1"/>
            <p:nvPr/>
          </p:nvSpPr>
          <p:spPr>
            <a:xfrm>
              <a:off x="300" y="720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60" name="Text Box 146"/>
            <p:cNvSpPr txBox="1"/>
            <p:nvPr/>
          </p:nvSpPr>
          <p:spPr>
            <a:xfrm>
              <a:off x="300" y="1212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61" name="Text Box 147"/>
            <p:cNvSpPr txBox="1"/>
            <p:nvPr/>
          </p:nvSpPr>
          <p:spPr>
            <a:xfrm>
              <a:off x="300" y="1705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62" name="Text Box 148"/>
            <p:cNvSpPr txBox="1"/>
            <p:nvPr/>
          </p:nvSpPr>
          <p:spPr>
            <a:xfrm>
              <a:off x="300" y="2196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63" name="Text Box 149"/>
            <p:cNvSpPr txBox="1"/>
            <p:nvPr/>
          </p:nvSpPr>
          <p:spPr>
            <a:xfrm>
              <a:off x="300" y="2688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" name="Group 150"/>
          <p:cNvGrpSpPr/>
          <p:nvPr/>
        </p:nvGrpSpPr>
        <p:grpSpPr>
          <a:xfrm>
            <a:off x="3505200" y="6251575"/>
            <a:ext cx="5152976" cy="522005"/>
            <a:chOff x="1452" y="3984"/>
            <a:chExt cx="3148" cy="361"/>
          </a:xfrm>
        </p:grpSpPr>
        <p:sp>
          <p:nvSpPr>
            <p:cNvPr id="294954" name="Text Box 151"/>
            <p:cNvSpPr txBox="1"/>
            <p:nvPr/>
          </p:nvSpPr>
          <p:spPr>
            <a:xfrm>
              <a:off x="1452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55" name="Text Box 152"/>
            <p:cNvSpPr txBox="1"/>
            <p:nvPr/>
          </p:nvSpPr>
          <p:spPr>
            <a:xfrm>
              <a:off x="4380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56" name="Text Box 153"/>
            <p:cNvSpPr txBox="1"/>
            <p:nvPr/>
          </p:nvSpPr>
          <p:spPr>
            <a:xfrm>
              <a:off x="3648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57" name="Text Box 154"/>
            <p:cNvSpPr txBox="1"/>
            <p:nvPr/>
          </p:nvSpPr>
          <p:spPr>
            <a:xfrm>
              <a:off x="2917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58" name="Text Box 155"/>
            <p:cNvSpPr txBox="1"/>
            <p:nvPr/>
          </p:nvSpPr>
          <p:spPr>
            <a:xfrm>
              <a:off x="2186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0" name="Group 156"/>
          <p:cNvGrpSpPr/>
          <p:nvPr/>
        </p:nvGrpSpPr>
        <p:grpSpPr>
          <a:xfrm>
            <a:off x="4178300" y="5500688"/>
            <a:ext cx="334963" cy="460375"/>
            <a:chOff x="1233" y="3465"/>
            <a:chExt cx="211" cy="290"/>
          </a:xfrm>
        </p:grpSpPr>
        <p:sp>
          <p:nvSpPr>
            <p:cNvPr id="294952" name="Text Box 157"/>
            <p:cNvSpPr txBox="1"/>
            <p:nvPr/>
          </p:nvSpPr>
          <p:spPr>
            <a:xfrm>
              <a:off x="1233" y="3465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53" name="Freeform 158"/>
            <p:cNvSpPr/>
            <p:nvPr/>
          </p:nvSpPr>
          <p:spPr>
            <a:xfrm>
              <a:off x="1436" y="3512"/>
              <a:ext cx="1" cy="208"/>
            </a:xfrm>
            <a:custGeom>
              <a:avLst/>
              <a:gdLst>
                <a:gd name="txL" fmla="*/ 0 w 1"/>
                <a:gd name="txT" fmla="*/ 0 h 208"/>
                <a:gd name="txR" fmla="*/ 1 w 1"/>
                <a:gd name="txB" fmla="*/ 208 h 208"/>
              </a:gdLst>
              <a:ahLst/>
              <a:cxnLst>
                <a:cxn ang="0">
                  <a:pos x="0" y="0"/>
                </a:cxn>
                <a:cxn ang="0">
                  <a:pos x="0" y="208"/>
                </a:cxn>
              </a:cxnLst>
              <a:rect l="txL" t="txT" r="txR" b="txB"/>
              <a:pathLst>
                <a:path w="1" h="208">
                  <a:moveTo>
                    <a:pt x="0" y="0"/>
                  </a:moveTo>
                  <a:lnTo>
                    <a:pt x="0" y="208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30559" name="Freeform 159"/>
          <p:cNvSpPr/>
          <p:nvPr/>
        </p:nvSpPr>
        <p:spPr>
          <a:xfrm>
            <a:off x="4632325" y="1903413"/>
            <a:ext cx="314325" cy="3230562"/>
          </a:xfrm>
          <a:custGeom>
            <a:avLst/>
            <a:gdLst>
              <a:gd name="txL" fmla="*/ 0 w 192"/>
              <a:gd name="txT" fmla="*/ 0 h 2236"/>
              <a:gd name="txR" fmla="*/ 192 w 192"/>
              <a:gd name="txB" fmla="*/ 2236 h 2236"/>
            </a:gdLst>
            <a:ahLst/>
            <a:cxnLst>
              <a:cxn ang="0">
                <a:pos x="0" y="0"/>
              </a:cxn>
              <a:cxn ang="0">
                <a:pos x="192" y="0"/>
              </a:cxn>
              <a:cxn ang="0">
                <a:pos x="189" y="2236"/>
              </a:cxn>
            </a:cxnLst>
            <a:rect l="txL" t="txT" r="txR" b="txB"/>
            <a:pathLst>
              <a:path w="192" h="2236">
                <a:moveTo>
                  <a:pt x="0" y="0"/>
                </a:moveTo>
                <a:lnTo>
                  <a:pt x="192" y="0"/>
                </a:lnTo>
                <a:lnTo>
                  <a:pt x="189" y="2236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1" name="Group 160"/>
          <p:cNvGrpSpPr/>
          <p:nvPr/>
        </p:nvGrpSpPr>
        <p:grpSpPr>
          <a:xfrm>
            <a:off x="9170988" y="4902200"/>
            <a:ext cx="628650" cy="460094"/>
            <a:chOff x="4775" y="2954"/>
            <a:chExt cx="384" cy="318"/>
          </a:xfrm>
        </p:grpSpPr>
        <p:sp>
          <p:nvSpPr>
            <p:cNvPr id="294950" name="Line 161"/>
            <p:cNvSpPr/>
            <p:nvPr/>
          </p:nvSpPr>
          <p:spPr>
            <a:xfrm>
              <a:off x="4775" y="3264"/>
              <a:ext cx="384" cy="0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294951" name="Text Box 162"/>
            <p:cNvSpPr txBox="1"/>
            <p:nvPr/>
          </p:nvSpPr>
          <p:spPr>
            <a:xfrm>
              <a:off x="4861" y="2954"/>
              <a:ext cx="24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" name="Group 163"/>
          <p:cNvGrpSpPr/>
          <p:nvPr/>
        </p:nvGrpSpPr>
        <p:grpSpPr>
          <a:xfrm>
            <a:off x="3351213" y="1554163"/>
            <a:ext cx="5775325" cy="584199"/>
            <a:chOff x="1159" y="979"/>
            <a:chExt cx="3638" cy="368"/>
          </a:xfrm>
        </p:grpSpPr>
        <p:grpSp>
          <p:nvGrpSpPr>
            <p:cNvPr id="294941" name="Group 164"/>
            <p:cNvGrpSpPr/>
            <p:nvPr/>
          </p:nvGrpSpPr>
          <p:grpSpPr>
            <a:xfrm>
              <a:off x="1159" y="1049"/>
              <a:ext cx="3638" cy="227"/>
              <a:chOff x="1159" y="1049"/>
              <a:chExt cx="3638" cy="227"/>
            </a:xfrm>
          </p:grpSpPr>
          <p:sp>
            <p:nvSpPr>
              <p:cNvPr id="294943" name="Freeform 165"/>
              <p:cNvSpPr/>
              <p:nvPr/>
            </p:nvSpPr>
            <p:spPr>
              <a:xfrm>
                <a:off x="1159" y="1054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44" name="Rectangle 166"/>
              <p:cNvSpPr/>
              <p:nvPr/>
            </p:nvSpPr>
            <p:spPr>
              <a:xfrm>
                <a:off x="1619" y="1142"/>
                <a:ext cx="346" cy="134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45" name="Freeform 167"/>
              <p:cNvSpPr/>
              <p:nvPr/>
            </p:nvSpPr>
            <p:spPr>
              <a:xfrm>
                <a:off x="4356" y="1054"/>
                <a:ext cx="1" cy="85"/>
              </a:xfrm>
              <a:custGeom>
                <a:avLst/>
                <a:gdLst>
                  <a:gd name="txL" fmla="*/ 0 w 1"/>
                  <a:gd name="txT" fmla="*/ 0 h 85"/>
                  <a:gd name="txR" fmla="*/ 1 w 1"/>
                  <a:gd name="txB" fmla="*/ 85 h 85"/>
                </a:gdLst>
                <a:ahLst/>
                <a:cxnLst>
                  <a:cxn ang="0">
                    <a:pos x="0" y="0"/>
                  </a:cxn>
                  <a:cxn ang="0">
                    <a:pos x="0" y="85"/>
                  </a:cxn>
                </a:cxnLst>
                <a:rect l="txL" t="txT" r="txR" b="txB"/>
                <a:pathLst>
                  <a:path w="1" h="85">
                    <a:moveTo>
                      <a:pt x="0" y="0"/>
                    </a:moveTo>
                    <a:lnTo>
                      <a:pt x="0" y="85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46" name="Freeform 168"/>
              <p:cNvSpPr/>
              <p:nvPr/>
            </p:nvSpPr>
            <p:spPr>
              <a:xfrm>
                <a:off x="2733" y="1053"/>
                <a:ext cx="1" cy="84"/>
              </a:xfrm>
              <a:custGeom>
                <a:avLst/>
                <a:gdLst>
                  <a:gd name="txL" fmla="*/ 0 w 1"/>
                  <a:gd name="txT" fmla="*/ 0 h 84"/>
                  <a:gd name="txR" fmla="*/ 1 w 1"/>
                  <a:gd name="txB" fmla="*/ 84 h 84"/>
                </a:gdLst>
                <a:ahLst/>
                <a:cxnLst>
                  <a:cxn ang="0">
                    <a:pos x="0" y="0"/>
                  </a:cxn>
                  <a:cxn ang="0">
                    <a:pos x="0" y="84"/>
                  </a:cxn>
                </a:cxnLst>
                <a:rect l="txL" t="txT" r="txR" b="txB"/>
                <a:pathLst>
                  <a:path w="1" h="84">
                    <a:moveTo>
                      <a:pt x="0" y="0"/>
                    </a:moveTo>
                    <a:lnTo>
                      <a:pt x="0" y="84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47" name="Freeform 169"/>
              <p:cNvSpPr/>
              <p:nvPr/>
            </p:nvSpPr>
            <p:spPr>
              <a:xfrm>
                <a:off x="1792" y="1049"/>
                <a:ext cx="3" cy="93"/>
              </a:xfrm>
              <a:custGeom>
                <a:avLst/>
                <a:gdLst>
                  <a:gd name="txL" fmla="*/ 0 w 3"/>
                  <a:gd name="txT" fmla="*/ 0 h 102"/>
                  <a:gd name="txR" fmla="*/ 3 w 3"/>
                  <a:gd name="txB" fmla="*/ 102 h 102"/>
                </a:gdLst>
                <a:ahLst/>
                <a:cxnLst>
                  <a:cxn ang="0">
                    <a:pos x="3" y="0"/>
                  </a:cxn>
                  <a:cxn ang="0">
                    <a:pos x="0" y="102"/>
                  </a:cxn>
                </a:cxnLst>
                <a:rect l="txL" t="txT" r="txR" b="txB"/>
                <a:pathLst>
                  <a:path w="3" h="102">
                    <a:moveTo>
                      <a:pt x="3" y="0"/>
                    </a:moveTo>
                    <a:lnTo>
                      <a:pt x="0" y="102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48" name="Rectangle 170"/>
              <p:cNvSpPr/>
              <p:nvPr/>
            </p:nvSpPr>
            <p:spPr>
              <a:xfrm>
                <a:off x="2550" y="1142"/>
                <a:ext cx="347" cy="134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4949" name="Rectangle 171"/>
              <p:cNvSpPr/>
              <p:nvPr/>
            </p:nvSpPr>
            <p:spPr>
              <a:xfrm>
                <a:off x="4182" y="1142"/>
                <a:ext cx="347" cy="134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94942" name="Text Box 172"/>
            <p:cNvSpPr txBox="1"/>
            <p:nvPr/>
          </p:nvSpPr>
          <p:spPr>
            <a:xfrm>
              <a:off x="3324" y="979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" name="Group 173"/>
          <p:cNvGrpSpPr/>
          <p:nvPr/>
        </p:nvGrpSpPr>
        <p:grpSpPr>
          <a:xfrm>
            <a:off x="4170363" y="5505450"/>
            <a:ext cx="334963" cy="460375"/>
            <a:chOff x="768" y="3561"/>
            <a:chExt cx="211" cy="290"/>
          </a:xfrm>
        </p:grpSpPr>
        <p:sp>
          <p:nvSpPr>
            <p:cNvPr id="294939" name="Text Box 174"/>
            <p:cNvSpPr txBox="1"/>
            <p:nvPr/>
          </p:nvSpPr>
          <p:spPr>
            <a:xfrm>
              <a:off x="768" y="3561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C28F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rgbClr val="C28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40" name="Freeform 175"/>
            <p:cNvSpPr/>
            <p:nvPr/>
          </p:nvSpPr>
          <p:spPr>
            <a:xfrm>
              <a:off x="971" y="3608"/>
              <a:ext cx="1" cy="208"/>
            </a:xfrm>
            <a:custGeom>
              <a:avLst/>
              <a:gdLst>
                <a:gd name="txL" fmla="*/ 0 w 1"/>
                <a:gd name="txT" fmla="*/ 0 h 208"/>
                <a:gd name="txR" fmla="*/ 1 w 1"/>
                <a:gd name="txB" fmla="*/ 208 h 208"/>
              </a:gdLst>
              <a:ahLst/>
              <a:cxnLst>
                <a:cxn ang="0">
                  <a:pos x="0" y="0"/>
                </a:cxn>
                <a:cxn ang="0">
                  <a:pos x="0" y="208"/>
                </a:cxn>
              </a:cxnLst>
              <a:rect l="txL" t="txT" r="txR" b="txB"/>
              <a:pathLst>
                <a:path w="1" h="208">
                  <a:moveTo>
                    <a:pt x="0" y="0"/>
                  </a:moveTo>
                  <a:lnTo>
                    <a:pt x="0" y="208"/>
                  </a:lnTo>
                </a:path>
              </a:pathLst>
            </a:custGeom>
            <a:noFill/>
            <a:ln w="76200" cap="flat" cmpd="sng">
              <a:solidFill>
                <a:srgbClr val="C28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176"/>
          <p:cNvGrpSpPr/>
          <p:nvPr/>
        </p:nvGrpSpPr>
        <p:grpSpPr>
          <a:xfrm>
            <a:off x="4175125" y="5505450"/>
            <a:ext cx="334963" cy="460375"/>
            <a:chOff x="1233" y="3465"/>
            <a:chExt cx="211" cy="290"/>
          </a:xfrm>
        </p:grpSpPr>
        <p:sp>
          <p:nvSpPr>
            <p:cNvPr id="294937" name="Text Box 177"/>
            <p:cNvSpPr txBox="1"/>
            <p:nvPr/>
          </p:nvSpPr>
          <p:spPr>
            <a:xfrm>
              <a:off x="1233" y="3465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38" name="Freeform 178"/>
            <p:cNvSpPr/>
            <p:nvPr/>
          </p:nvSpPr>
          <p:spPr>
            <a:xfrm>
              <a:off x="1436" y="3512"/>
              <a:ext cx="1" cy="208"/>
            </a:xfrm>
            <a:custGeom>
              <a:avLst/>
              <a:gdLst>
                <a:gd name="txL" fmla="*/ 0 w 1"/>
                <a:gd name="txT" fmla="*/ 0 h 208"/>
                <a:gd name="txR" fmla="*/ 1 w 1"/>
                <a:gd name="txB" fmla="*/ 208 h 208"/>
              </a:gdLst>
              <a:ahLst/>
              <a:cxnLst>
                <a:cxn ang="0">
                  <a:pos x="0" y="0"/>
                </a:cxn>
                <a:cxn ang="0">
                  <a:pos x="0" y="208"/>
                </a:cxn>
              </a:cxnLst>
              <a:rect l="txL" t="txT" r="txR" b="txB"/>
              <a:pathLst>
                <a:path w="1" h="208">
                  <a:moveTo>
                    <a:pt x="0" y="0"/>
                  </a:moveTo>
                  <a:lnTo>
                    <a:pt x="0" y="208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30579" name="Rectangle 17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6" name="Group 180"/>
          <p:cNvGrpSpPr/>
          <p:nvPr/>
        </p:nvGrpSpPr>
        <p:grpSpPr>
          <a:xfrm>
            <a:off x="6756400" y="3167063"/>
            <a:ext cx="690563" cy="682624"/>
            <a:chOff x="3296" y="1995"/>
            <a:chExt cx="435" cy="430"/>
          </a:xfrm>
        </p:grpSpPr>
        <p:sp>
          <p:nvSpPr>
            <p:cNvPr id="294935" name="Text Box 181"/>
            <p:cNvSpPr txBox="1"/>
            <p:nvPr/>
          </p:nvSpPr>
          <p:spPr>
            <a:xfrm>
              <a:off x="3296" y="1995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单元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4936" name="Text Box 182"/>
            <p:cNvSpPr txBox="1"/>
            <p:nvPr/>
          </p:nvSpPr>
          <p:spPr>
            <a:xfrm>
              <a:off x="3296" y="2174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电路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30583" name="Rectangle 183"/>
          <p:cNvSpPr/>
          <p:nvPr/>
        </p:nvSpPr>
        <p:spPr>
          <a:xfrm>
            <a:off x="3435350" y="5141913"/>
            <a:ext cx="5735638" cy="415925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读  写  控  制  电  路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0584" name="Rectangle 184"/>
          <p:cNvSpPr/>
          <p:nvPr/>
        </p:nvSpPr>
        <p:spPr>
          <a:xfrm>
            <a:off x="4087813" y="1812925"/>
            <a:ext cx="549275" cy="212725"/>
          </a:xfrm>
          <a:prstGeom prst="rect">
            <a:avLst/>
          </a:prstGeom>
          <a:solidFill>
            <a:srgbClr val="C28F00"/>
          </a:solidFill>
          <a:ln w="38100" cap="flat" cmpd="sng">
            <a:solidFill>
              <a:srgbClr val="C28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27" name="Group 185"/>
          <p:cNvGrpSpPr/>
          <p:nvPr/>
        </p:nvGrpSpPr>
        <p:grpSpPr>
          <a:xfrm>
            <a:off x="4079875" y="2711450"/>
            <a:ext cx="793750" cy="1597025"/>
            <a:chOff x="1610" y="1708"/>
            <a:chExt cx="500" cy="1006"/>
          </a:xfrm>
        </p:grpSpPr>
        <p:sp>
          <p:nvSpPr>
            <p:cNvPr id="294932" name="Rectangle 186"/>
            <p:cNvSpPr/>
            <p:nvPr/>
          </p:nvSpPr>
          <p:spPr>
            <a:xfrm>
              <a:off x="1610" y="2580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4933" name="Rectangle 187"/>
            <p:cNvSpPr/>
            <p:nvPr/>
          </p:nvSpPr>
          <p:spPr>
            <a:xfrm>
              <a:off x="1610" y="1708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4934" name="Text Box 188"/>
            <p:cNvSpPr txBox="1"/>
            <p:nvPr/>
          </p:nvSpPr>
          <p:spPr>
            <a:xfrm>
              <a:off x="1646" y="2044"/>
              <a:ext cx="464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94930" name="AutoShape 18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4931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30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230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30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543" grpId="0"/>
      <p:bldP spid="230559" grpId="0" bldLvl="0" animBg="1"/>
      <p:bldP spid="230583" grpId="0" bldLvl="0" animBg="1"/>
      <p:bldP spid="230584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1524000" y="1295400"/>
            <a:ext cx="9142413" cy="5440363"/>
            <a:chOff x="0" y="816"/>
            <a:chExt cx="5759" cy="3427"/>
          </a:xfrm>
        </p:grpSpPr>
        <p:grpSp>
          <p:nvGrpSpPr>
            <p:cNvPr id="295943" name="Group 3"/>
            <p:cNvGrpSpPr/>
            <p:nvPr/>
          </p:nvGrpSpPr>
          <p:grpSpPr>
            <a:xfrm>
              <a:off x="0" y="1094"/>
              <a:ext cx="462" cy="251"/>
              <a:chOff x="0" y="933"/>
              <a:chExt cx="462" cy="251"/>
            </a:xfrm>
          </p:grpSpPr>
          <p:sp>
            <p:nvSpPr>
              <p:cNvPr id="296079" name="Line 4"/>
              <p:cNvSpPr/>
              <p:nvPr/>
            </p:nvSpPr>
            <p:spPr>
              <a:xfrm>
                <a:off x="214" y="991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6080" name="Text Box 5"/>
              <p:cNvSpPr txBox="1"/>
              <p:nvPr/>
            </p:nvSpPr>
            <p:spPr>
              <a:xfrm>
                <a:off x="0" y="9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5944" name="Group 6"/>
            <p:cNvGrpSpPr/>
            <p:nvPr/>
          </p:nvGrpSpPr>
          <p:grpSpPr>
            <a:xfrm>
              <a:off x="16" y="1540"/>
              <a:ext cx="446" cy="251"/>
              <a:chOff x="16" y="1371"/>
              <a:chExt cx="446" cy="251"/>
            </a:xfrm>
          </p:grpSpPr>
          <p:sp>
            <p:nvSpPr>
              <p:cNvPr id="296077" name="Line 7"/>
              <p:cNvSpPr/>
              <p:nvPr/>
            </p:nvSpPr>
            <p:spPr>
              <a:xfrm>
                <a:off x="214" y="1439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6078" name="Text Box 8"/>
              <p:cNvSpPr txBox="1"/>
              <p:nvPr/>
            </p:nvSpPr>
            <p:spPr>
              <a:xfrm>
                <a:off x="16" y="137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5945" name="Group 9"/>
            <p:cNvGrpSpPr/>
            <p:nvPr/>
          </p:nvGrpSpPr>
          <p:grpSpPr>
            <a:xfrm>
              <a:off x="16" y="1987"/>
              <a:ext cx="446" cy="251"/>
              <a:chOff x="16" y="1809"/>
              <a:chExt cx="446" cy="251"/>
            </a:xfrm>
          </p:grpSpPr>
          <p:sp>
            <p:nvSpPr>
              <p:cNvPr id="296075" name="Line 10"/>
              <p:cNvSpPr/>
              <p:nvPr/>
            </p:nvSpPr>
            <p:spPr>
              <a:xfrm>
                <a:off x="214" y="1886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6076" name="Text Box 11"/>
              <p:cNvSpPr txBox="1"/>
              <p:nvPr/>
            </p:nvSpPr>
            <p:spPr>
              <a:xfrm>
                <a:off x="16" y="1809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5946" name="Group 12"/>
            <p:cNvGrpSpPr/>
            <p:nvPr/>
          </p:nvGrpSpPr>
          <p:grpSpPr>
            <a:xfrm>
              <a:off x="16" y="2433"/>
              <a:ext cx="446" cy="251"/>
              <a:chOff x="16" y="2276"/>
              <a:chExt cx="446" cy="251"/>
            </a:xfrm>
          </p:grpSpPr>
          <p:sp>
            <p:nvSpPr>
              <p:cNvPr id="296073" name="Line 13"/>
              <p:cNvSpPr/>
              <p:nvPr/>
            </p:nvSpPr>
            <p:spPr>
              <a:xfrm>
                <a:off x="214" y="2334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6074" name="Text Box 14"/>
              <p:cNvSpPr txBox="1"/>
              <p:nvPr/>
            </p:nvSpPr>
            <p:spPr>
              <a:xfrm>
                <a:off x="16" y="2276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5947" name="Group 15"/>
            <p:cNvGrpSpPr/>
            <p:nvPr/>
          </p:nvGrpSpPr>
          <p:grpSpPr>
            <a:xfrm>
              <a:off x="16" y="2880"/>
              <a:ext cx="446" cy="251"/>
              <a:chOff x="16" y="2725"/>
              <a:chExt cx="446" cy="251"/>
            </a:xfrm>
          </p:grpSpPr>
          <p:sp>
            <p:nvSpPr>
              <p:cNvPr id="296071" name="Line 16"/>
              <p:cNvSpPr/>
              <p:nvPr/>
            </p:nvSpPr>
            <p:spPr>
              <a:xfrm>
                <a:off x="214" y="2782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6072" name="Text Box 17"/>
              <p:cNvSpPr txBox="1"/>
              <p:nvPr/>
            </p:nvSpPr>
            <p:spPr>
              <a:xfrm>
                <a:off x="16" y="27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5948" name="Group 18"/>
            <p:cNvGrpSpPr/>
            <p:nvPr/>
          </p:nvGrpSpPr>
          <p:grpSpPr>
            <a:xfrm>
              <a:off x="462" y="816"/>
              <a:ext cx="5297" cy="3427"/>
              <a:chOff x="462" y="816"/>
              <a:chExt cx="5297" cy="3427"/>
            </a:xfrm>
          </p:grpSpPr>
          <p:sp>
            <p:nvSpPr>
              <p:cNvPr id="295949" name="Rectangle 19"/>
              <p:cNvSpPr/>
              <p:nvPr/>
            </p:nvSpPr>
            <p:spPr>
              <a:xfrm>
                <a:off x="462" y="816"/>
                <a:ext cx="693" cy="248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50" name="Freeform 20"/>
              <p:cNvSpPr/>
              <p:nvPr/>
            </p:nvSpPr>
            <p:spPr>
              <a:xfrm>
                <a:off x="1155" y="991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51" name="Rectangle 21"/>
              <p:cNvSpPr/>
              <p:nvPr/>
            </p:nvSpPr>
            <p:spPr>
              <a:xfrm>
                <a:off x="1615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52" name="Freeform 22"/>
              <p:cNvSpPr/>
              <p:nvPr/>
            </p:nvSpPr>
            <p:spPr>
              <a:xfrm>
                <a:off x="4351" y="991"/>
                <a:ext cx="1" cy="79"/>
              </a:xfrm>
              <a:custGeom>
                <a:avLst/>
                <a:gdLst>
                  <a:gd name="txL" fmla="*/ 0 w 1"/>
                  <a:gd name="txT" fmla="*/ 0 h 87"/>
                  <a:gd name="txR" fmla="*/ 1 w 1"/>
                  <a:gd name="txB" fmla="*/ 87 h 87"/>
                </a:gdLst>
                <a:ahLst/>
                <a:cxnLst>
                  <a:cxn ang="0">
                    <a:pos x="0" y="0"/>
                  </a:cxn>
                  <a:cxn ang="0">
                    <a:pos x="0" y="87"/>
                  </a:cxn>
                </a:cxnLst>
                <a:rect l="txL" t="txT" r="txR" b="txB"/>
                <a:pathLst>
                  <a:path w="1" h="87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53" name="Freeform 23"/>
              <p:cNvSpPr/>
              <p:nvPr/>
            </p:nvSpPr>
            <p:spPr>
              <a:xfrm>
                <a:off x="1155" y="1295"/>
                <a:ext cx="3659" cy="3"/>
              </a:xfrm>
              <a:custGeom>
                <a:avLst/>
                <a:gdLst>
                  <a:gd name="txL" fmla="*/ 0 w 3659"/>
                  <a:gd name="txT" fmla="*/ 0 h 3"/>
                  <a:gd name="txR" fmla="*/ 3659 w 3659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3659" y="3"/>
                  </a:cxn>
                </a:cxnLst>
                <a:rect l="txL" t="txT" r="txR" b="txB"/>
                <a:pathLst>
                  <a:path w="3659" h="3">
                    <a:moveTo>
                      <a:pt x="0" y="0"/>
                    </a:moveTo>
                    <a:lnTo>
                      <a:pt x="365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54" name="Freeform 24"/>
              <p:cNvSpPr/>
              <p:nvPr/>
            </p:nvSpPr>
            <p:spPr>
              <a:xfrm>
                <a:off x="2727" y="987"/>
                <a:ext cx="1" cy="86"/>
              </a:xfrm>
              <a:custGeom>
                <a:avLst/>
                <a:gdLst>
                  <a:gd name="txL" fmla="*/ 0 w 1"/>
                  <a:gd name="txT" fmla="*/ 0 h 86"/>
                  <a:gd name="txR" fmla="*/ 1 w 1"/>
                  <a:gd name="txB" fmla="*/ 86 h 86"/>
                </a:gdLst>
                <a:ahLst/>
                <a:cxnLst>
                  <a:cxn ang="0">
                    <a:pos x="0" y="0"/>
                  </a:cxn>
                  <a:cxn ang="0">
                    <a:pos x="1" y="86"/>
                  </a:cxn>
                </a:cxnLst>
                <a:rect l="txL" t="txT" r="txR" b="txB"/>
                <a:pathLst>
                  <a:path w="1" h="86">
                    <a:moveTo>
                      <a:pt x="0" y="0"/>
                    </a:moveTo>
                    <a:lnTo>
                      <a:pt x="1" y="8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55" name="Freeform 25"/>
              <p:cNvSpPr/>
              <p:nvPr/>
            </p:nvSpPr>
            <p:spPr>
              <a:xfrm>
                <a:off x="1791" y="985"/>
                <a:ext cx="1" cy="92"/>
              </a:xfrm>
              <a:custGeom>
                <a:avLst/>
                <a:gdLst>
                  <a:gd name="txL" fmla="*/ 0 w 1"/>
                  <a:gd name="txT" fmla="*/ 0 h 92"/>
                  <a:gd name="txR" fmla="*/ 1 w 1"/>
                  <a:gd name="txB" fmla="*/ 92 h 92"/>
                </a:gdLst>
                <a:ahLst/>
                <a:cxnLst>
                  <a:cxn ang="0">
                    <a:pos x="0" y="0"/>
                  </a:cxn>
                  <a:cxn ang="0">
                    <a:pos x="0" y="92"/>
                  </a:cxn>
                </a:cxnLst>
                <a:rect l="txL" t="txT" r="txR" b="tx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56" name="Freeform 26"/>
              <p:cNvSpPr/>
              <p:nvPr/>
            </p:nvSpPr>
            <p:spPr>
              <a:xfrm>
                <a:off x="1788" y="1212"/>
                <a:ext cx="1" cy="85"/>
              </a:xfrm>
              <a:custGeom>
                <a:avLst/>
                <a:gdLst>
                  <a:gd name="txL" fmla="*/ 0 w 1"/>
                  <a:gd name="txT" fmla="*/ 0 h 93"/>
                  <a:gd name="txR" fmla="*/ 1 w 1"/>
                  <a:gd name="txB" fmla="*/ 93 h 93"/>
                </a:gdLst>
                <a:ahLst/>
                <a:cxnLst>
                  <a:cxn ang="0">
                    <a:pos x="0" y="93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3">
                    <a:moveTo>
                      <a:pt x="0" y="9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57" name="Freeform 27"/>
              <p:cNvSpPr/>
              <p:nvPr/>
            </p:nvSpPr>
            <p:spPr>
              <a:xfrm>
                <a:off x="2736" y="1200"/>
                <a:ext cx="3" cy="95"/>
              </a:xfrm>
              <a:custGeom>
                <a:avLst/>
                <a:gdLst>
                  <a:gd name="txL" fmla="*/ 0 w 3"/>
                  <a:gd name="txT" fmla="*/ 0 h 105"/>
                  <a:gd name="txR" fmla="*/ 3 w 3"/>
                  <a:gd name="txB" fmla="*/ 105 h 105"/>
                </a:gdLst>
                <a:ahLst/>
                <a:cxnLst>
                  <a:cxn ang="0">
                    <a:pos x="0" y="105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105">
                    <a:moveTo>
                      <a:pt x="0" y="105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58" name="Line 28"/>
              <p:cNvSpPr/>
              <p:nvPr/>
            </p:nvSpPr>
            <p:spPr>
              <a:xfrm rot="10800000">
                <a:off x="4351" y="121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59" name="Freeform 29"/>
              <p:cNvSpPr/>
              <p:nvPr/>
            </p:nvSpPr>
            <p:spPr>
              <a:xfrm>
                <a:off x="1155" y="1559"/>
                <a:ext cx="3653" cy="1"/>
              </a:xfrm>
              <a:custGeom>
                <a:avLst/>
                <a:gdLst>
                  <a:gd name="txL" fmla="*/ 0 w 3543"/>
                  <a:gd name="txT" fmla="*/ 0 h 1"/>
                  <a:gd name="txR" fmla="*/ 3543 w 35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43" y="0"/>
                  </a:cxn>
                </a:cxnLst>
                <a:rect l="txL" t="txT" r="txR" b="txB"/>
                <a:pathLst>
                  <a:path w="3543" h="1">
                    <a:moveTo>
                      <a:pt x="0" y="0"/>
                    </a:moveTo>
                    <a:lnTo>
                      <a:pt x="354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60" name="Line 30"/>
              <p:cNvSpPr/>
              <p:nvPr/>
            </p:nvSpPr>
            <p:spPr>
              <a:xfrm>
                <a:off x="4351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61" name="Freeform 31"/>
              <p:cNvSpPr/>
              <p:nvPr/>
            </p:nvSpPr>
            <p:spPr>
              <a:xfrm>
                <a:off x="1155" y="1863"/>
                <a:ext cx="3656" cy="1"/>
              </a:xfrm>
              <a:custGeom>
                <a:avLst/>
                <a:gdLst>
                  <a:gd name="txL" fmla="*/ 0 w 3546"/>
                  <a:gd name="txT" fmla="*/ 0 h 2"/>
                  <a:gd name="txR" fmla="*/ 3546 w 354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3546" y="2"/>
                  </a:cxn>
                </a:cxnLst>
                <a:rect l="txL" t="txT" r="txR" b="txB"/>
                <a:pathLst>
                  <a:path w="3546" h="2">
                    <a:moveTo>
                      <a:pt x="0" y="0"/>
                    </a:moveTo>
                    <a:lnTo>
                      <a:pt x="354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62" name="Line 32"/>
              <p:cNvSpPr/>
              <p:nvPr/>
            </p:nvSpPr>
            <p:spPr>
              <a:xfrm>
                <a:off x="2725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63" name="Line 33"/>
              <p:cNvSpPr/>
              <p:nvPr/>
            </p:nvSpPr>
            <p:spPr>
              <a:xfrm>
                <a:off x="1788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64" name="Line 34"/>
              <p:cNvSpPr/>
              <p:nvPr/>
            </p:nvSpPr>
            <p:spPr>
              <a:xfrm rot="10800000">
                <a:off x="1788" y="177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65" name="Line 35"/>
              <p:cNvSpPr/>
              <p:nvPr/>
            </p:nvSpPr>
            <p:spPr>
              <a:xfrm rot="10800000">
                <a:off x="2725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66" name="Line 36"/>
              <p:cNvSpPr/>
              <p:nvPr/>
            </p:nvSpPr>
            <p:spPr>
              <a:xfrm rot="10800000">
                <a:off x="4351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67" name="Freeform 37"/>
              <p:cNvSpPr/>
              <p:nvPr/>
            </p:nvSpPr>
            <p:spPr>
              <a:xfrm>
                <a:off x="1155" y="2432"/>
                <a:ext cx="3675" cy="1"/>
              </a:xfrm>
              <a:custGeom>
                <a:avLst/>
                <a:gdLst>
                  <a:gd name="txL" fmla="*/ 0 w 3564"/>
                  <a:gd name="txT" fmla="*/ 0 h 1"/>
                  <a:gd name="txR" fmla="*/ 3564 w 356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64" y="0"/>
                  </a:cxn>
                </a:cxnLst>
                <a:rect l="txL" t="txT" r="txR" b="txB"/>
                <a:pathLst>
                  <a:path w="3564" h="1">
                    <a:moveTo>
                      <a:pt x="0" y="0"/>
                    </a:moveTo>
                    <a:lnTo>
                      <a:pt x="356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68" name="Line 38"/>
              <p:cNvSpPr/>
              <p:nvPr/>
            </p:nvSpPr>
            <p:spPr>
              <a:xfrm>
                <a:off x="4351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69" name="Freeform 39"/>
              <p:cNvSpPr/>
              <p:nvPr/>
            </p:nvSpPr>
            <p:spPr>
              <a:xfrm>
                <a:off x="1155" y="2736"/>
                <a:ext cx="3647" cy="1"/>
              </a:xfrm>
              <a:custGeom>
                <a:avLst/>
                <a:gdLst>
                  <a:gd name="txL" fmla="*/ 0 w 3647"/>
                  <a:gd name="txT" fmla="*/ 0 h 1"/>
                  <a:gd name="txR" fmla="*/ 3647 w 364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647" y="1"/>
                  </a:cxn>
                </a:cxnLst>
                <a:rect l="txL" t="txT" r="txR" b="txB"/>
                <a:pathLst>
                  <a:path w="3647" h="1">
                    <a:moveTo>
                      <a:pt x="0" y="0"/>
                    </a:moveTo>
                    <a:lnTo>
                      <a:pt x="364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70" name="Line 40"/>
              <p:cNvSpPr/>
              <p:nvPr/>
            </p:nvSpPr>
            <p:spPr>
              <a:xfrm>
                <a:off x="2725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71" name="Line 41"/>
              <p:cNvSpPr/>
              <p:nvPr/>
            </p:nvSpPr>
            <p:spPr>
              <a:xfrm>
                <a:off x="1788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72" name="Line 42"/>
              <p:cNvSpPr/>
              <p:nvPr/>
            </p:nvSpPr>
            <p:spPr>
              <a:xfrm rot="10800000">
                <a:off x="1788" y="2652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73" name="Line 43"/>
              <p:cNvSpPr/>
              <p:nvPr/>
            </p:nvSpPr>
            <p:spPr>
              <a:xfrm rot="10800000">
                <a:off x="2725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74" name="Line 44"/>
              <p:cNvSpPr/>
              <p:nvPr/>
            </p:nvSpPr>
            <p:spPr>
              <a:xfrm rot="10800000">
                <a:off x="4351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75" name="AutoShape 45"/>
              <p:cNvSpPr/>
              <p:nvPr/>
            </p:nvSpPr>
            <p:spPr>
              <a:xfrm rot="-5400000">
                <a:off x="1683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76" name="Freeform 46"/>
              <p:cNvSpPr/>
              <p:nvPr/>
            </p:nvSpPr>
            <p:spPr>
              <a:xfrm>
                <a:off x="1416" y="1148"/>
                <a:ext cx="198" cy="2026"/>
              </a:xfrm>
              <a:custGeom>
                <a:avLst/>
                <a:gdLst>
                  <a:gd name="txL" fmla="*/ 0 w 198"/>
                  <a:gd name="txT" fmla="*/ 0 h 2026"/>
                  <a:gd name="txR" fmla="*/ 198 w 198"/>
                  <a:gd name="txB" fmla="*/ 2026 h 2026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6" y="2026"/>
                  </a:cxn>
                </a:cxnLst>
                <a:rect l="txL" t="txT" r="txR" b="txB"/>
                <a:pathLst>
                  <a:path w="198" h="2026">
                    <a:moveTo>
                      <a:pt x="198" y="0"/>
                    </a:moveTo>
                    <a:lnTo>
                      <a:pt x="0" y="0"/>
                    </a:lnTo>
                    <a:lnTo>
                      <a:pt x="6" y="202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77" name="Freeform 47"/>
              <p:cNvSpPr/>
              <p:nvPr/>
            </p:nvSpPr>
            <p:spPr>
              <a:xfrm>
                <a:off x="141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78" name="Freeform 48"/>
              <p:cNvSpPr/>
              <p:nvPr/>
            </p:nvSpPr>
            <p:spPr>
              <a:xfrm>
                <a:off x="1422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79" name="Line 49"/>
              <p:cNvSpPr/>
              <p:nvPr/>
            </p:nvSpPr>
            <p:spPr>
              <a:xfrm>
                <a:off x="1419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80" name="Freeform 50"/>
              <p:cNvSpPr/>
              <p:nvPr/>
            </p:nvSpPr>
            <p:spPr>
              <a:xfrm>
                <a:off x="3979" y="1148"/>
                <a:ext cx="198" cy="2023"/>
              </a:xfrm>
              <a:custGeom>
                <a:avLst/>
                <a:gdLst>
                  <a:gd name="txL" fmla="*/ 0 w 198"/>
                  <a:gd name="txT" fmla="*/ 0 h 2023"/>
                  <a:gd name="txR" fmla="*/ 198 w 198"/>
                  <a:gd name="txB" fmla="*/ 2023 h 2023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2" y="2023"/>
                  </a:cxn>
                </a:cxnLst>
                <a:rect l="txL" t="txT" r="txR" b="txB"/>
                <a:pathLst>
                  <a:path w="198" h="2023">
                    <a:moveTo>
                      <a:pt x="198" y="0"/>
                    </a:moveTo>
                    <a:lnTo>
                      <a:pt x="0" y="0"/>
                    </a:lnTo>
                    <a:lnTo>
                      <a:pt x="2" y="202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81" name="Freeform 51"/>
              <p:cNvSpPr/>
              <p:nvPr/>
            </p:nvSpPr>
            <p:spPr>
              <a:xfrm>
                <a:off x="3982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82" name="Freeform 52"/>
              <p:cNvSpPr/>
              <p:nvPr/>
            </p:nvSpPr>
            <p:spPr>
              <a:xfrm>
                <a:off x="3985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83" name="Line 53"/>
              <p:cNvSpPr/>
              <p:nvPr/>
            </p:nvSpPr>
            <p:spPr>
              <a:xfrm>
                <a:off x="3982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84" name="Freeform 54"/>
              <p:cNvSpPr/>
              <p:nvPr/>
            </p:nvSpPr>
            <p:spPr>
              <a:xfrm>
                <a:off x="2347" y="1148"/>
                <a:ext cx="198" cy="2024"/>
              </a:xfrm>
              <a:custGeom>
                <a:avLst/>
                <a:gdLst>
                  <a:gd name="txL" fmla="*/ 0 w 192"/>
                  <a:gd name="txT" fmla="*/ 0 h 2224"/>
                  <a:gd name="txR" fmla="*/ 192 w 192"/>
                  <a:gd name="txB" fmla="*/ 2224 h 2224"/>
                </a:gdLst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2" y="2224"/>
                  </a:cxn>
                </a:cxnLst>
                <a:rect l="txL" t="txT" r="txR" b="txB"/>
                <a:pathLst>
                  <a:path w="192" h="2224">
                    <a:moveTo>
                      <a:pt x="192" y="0"/>
                    </a:moveTo>
                    <a:lnTo>
                      <a:pt x="0" y="0"/>
                    </a:lnTo>
                    <a:lnTo>
                      <a:pt x="2" y="222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85" name="Freeform 55"/>
              <p:cNvSpPr/>
              <p:nvPr/>
            </p:nvSpPr>
            <p:spPr>
              <a:xfrm>
                <a:off x="235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86" name="Freeform 56"/>
              <p:cNvSpPr/>
              <p:nvPr/>
            </p:nvSpPr>
            <p:spPr>
              <a:xfrm>
                <a:off x="2353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87" name="Line 57"/>
              <p:cNvSpPr/>
              <p:nvPr/>
            </p:nvSpPr>
            <p:spPr>
              <a:xfrm>
                <a:off x="2350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5988" name="Freeform 58"/>
              <p:cNvSpPr/>
              <p:nvPr/>
            </p:nvSpPr>
            <p:spPr>
              <a:xfrm>
                <a:off x="1964" y="1135"/>
                <a:ext cx="198" cy="2030"/>
              </a:xfrm>
              <a:custGeom>
                <a:avLst/>
                <a:gdLst>
                  <a:gd name="txL" fmla="*/ 0 w 198"/>
                  <a:gd name="txT" fmla="*/ 0 h 2030"/>
                  <a:gd name="txR" fmla="*/ 198 w 198"/>
                  <a:gd name="txB" fmla="*/ 2030 h 2030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193" y="2030"/>
                  </a:cxn>
                </a:cxnLst>
                <a:rect l="txL" t="txT" r="txR" b="txB"/>
                <a:pathLst>
                  <a:path w="198" h="2030">
                    <a:moveTo>
                      <a:pt x="0" y="0"/>
                    </a:moveTo>
                    <a:lnTo>
                      <a:pt x="198" y="0"/>
                    </a:lnTo>
                    <a:lnTo>
                      <a:pt x="193" y="20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89" name="Freeform 59"/>
              <p:cNvSpPr/>
              <p:nvPr/>
            </p:nvSpPr>
            <p:spPr>
              <a:xfrm rot="10800000">
                <a:off x="195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90" name="Freeform 60"/>
              <p:cNvSpPr/>
              <p:nvPr/>
            </p:nvSpPr>
            <p:spPr>
              <a:xfrm rot="10800000">
                <a:off x="1959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91" name="Freeform 61"/>
              <p:cNvSpPr/>
              <p:nvPr/>
            </p:nvSpPr>
            <p:spPr>
              <a:xfrm>
                <a:off x="1958" y="2957"/>
                <a:ext cx="200" cy="1"/>
              </a:xfrm>
              <a:custGeom>
                <a:avLst/>
                <a:gdLst>
                  <a:gd name="txL" fmla="*/ 0 w 194"/>
                  <a:gd name="txT" fmla="*/ 0 h 1"/>
                  <a:gd name="txR" fmla="*/ 194 w 194"/>
                  <a:gd name="txB" fmla="*/ 1 h 1"/>
                </a:gdLst>
                <a:ahLst/>
                <a:cxnLst>
                  <a:cxn ang="0">
                    <a:pos x="19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4" h="1">
                    <a:moveTo>
                      <a:pt x="19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92" name="Freeform 62"/>
              <p:cNvSpPr/>
              <p:nvPr/>
            </p:nvSpPr>
            <p:spPr>
              <a:xfrm>
                <a:off x="2893" y="1135"/>
                <a:ext cx="199" cy="2047"/>
              </a:xfrm>
              <a:custGeom>
                <a:avLst/>
                <a:gdLst>
                  <a:gd name="txL" fmla="*/ 0 w 193"/>
                  <a:gd name="txT" fmla="*/ 0 h 2250"/>
                  <a:gd name="txR" fmla="*/ 193 w 193"/>
                  <a:gd name="txB" fmla="*/ 2250 h 2250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3" y="2250"/>
                  </a:cxn>
                </a:cxnLst>
                <a:rect l="txL" t="txT" r="txR" b="txB"/>
                <a:pathLst>
                  <a:path w="193" h="2250">
                    <a:moveTo>
                      <a:pt x="0" y="0"/>
                    </a:moveTo>
                    <a:lnTo>
                      <a:pt x="192" y="0"/>
                    </a:lnTo>
                    <a:lnTo>
                      <a:pt x="193" y="22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93" name="Freeform 63"/>
              <p:cNvSpPr/>
              <p:nvPr/>
            </p:nvSpPr>
            <p:spPr>
              <a:xfrm rot="10800000">
                <a:off x="289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94" name="Freeform 64"/>
              <p:cNvSpPr/>
              <p:nvPr/>
            </p:nvSpPr>
            <p:spPr>
              <a:xfrm rot="10800000">
                <a:off x="2890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95" name="Freeform 65"/>
              <p:cNvSpPr/>
              <p:nvPr/>
            </p:nvSpPr>
            <p:spPr>
              <a:xfrm>
                <a:off x="2895" y="2957"/>
                <a:ext cx="194" cy="1"/>
              </a:xfrm>
              <a:custGeom>
                <a:avLst/>
                <a:gdLst>
                  <a:gd name="txL" fmla="*/ 0 w 188"/>
                  <a:gd name="txT" fmla="*/ 0 h 1"/>
                  <a:gd name="txR" fmla="*/ 188 w 188"/>
                  <a:gd name="txB" fmla="*/ 1 h 1"/>
                </a:gdLst>
                <a:ahLst/>
                <a:cxnLst>
                  <a:cxn ang="0">
                    <a:pos x="18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96" name="Freeform 66"/>
              <p:cNvSpPr/>
              <p:nvPr/>
            </p:nvSpPr>
            <p:spPr>
              <a:xfrm>
                <a:off x="4531" y="1135"/>
                <a:ext cx="203" cy="2027"/>
              </a:xfrm>
              <a:custGeom>
                <a:avLst/>
                <a:gdLst>
                  <a:gd name="txL" fmla="*/ 0 w 203"/>
                  <a:gd name="txT" fmla="*/ 0 h 2027"/>
                  <a:gd name="txR" fmla="*/ 203 w 203"/>
                  <a:gd name="txB" fmla="*/ 2027 h 2027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203" y="2027"/>
                  </a:cxn>
                </a:cxnLst>
                <a:rect l="txL" t="txT" r="txR" b="txB"/>
                <a:pathLst>
                  <a:path w="203" h="2027">
                    <a:moveTo>
                      <a:pt x="0" y="0"/>
                    </a:moveTo>
                    <a:lnTo>
                      <a:pt x="198" y="0"/>
                    </a:lnTo>
                    <a:lnTo>
                      <a:pt x="203" y="202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97" name="Freeform 67"/>
              <p:cNvSpPr/>
              <p:nvPr/>
            </p:nvSpPr>
            <p:spPr>
              <a:xfrm rot="10800000">
                <a:off x="4528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98" name="Freeform 68"/>
              <p:cNvSpPr/>
              <p:nvPr/>
            </p:nvSpPr>
            <p:spPr>
              <a:xfrm rot="10800000">
                <a:off x="4528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5999" name="Freeform 69"/>
              <p:cNvSpPr/>
              <p:nvPr/>
            </p:nvSpPr>
            <p:spPr>
              <a:xfrm rot="10800000">
                <a:off x="4524" y="295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00" name="Rectangle 70"/>
              <p:cNvSpPr/>
              <p:nvPr/>
            </p:nvSpPr>
            <p:spPr>
              <a:xfrm>
                <a:off x="1204" y="3175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读  写  控  制  电  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01" name="Rectangle 71"/>
              <p:cNvSpPr/>
              <p:nvPr/>
            </p:nvSpPr>
            <p:spPr>
              <a:xfrm>
                <a:off x="1204" y="3656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bIns="0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  地  址  译  码 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02" name="Text Box 72"/>
              <p:cNvSpPr txBox="1"/>
              <p:nvPr/>
            </p:nvSpPr>
            <p:spPr>
              <a:xfrm rot="5400000">
                <a:off x="1671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03" name="Text Box 73"/>
              <p:cNvSpPr txBox="1"/>
              <p:nvPr/>
            </p:nvSpPr>
            <p:spPr>
              <a:xfrm rot="5400000">
                <a:off x="2602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04" name="Text Box 74"/>
              <p:cNvSpPr txBox="1"/>
              <p:nvPr/>
            </p:nvSpPr>
            <p:spPr>
              <a:xfrm rot="5400000">
                <a:off x="4234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05" name="Rectangle 75"/>
              <p:cNvSpPr/>
              <p:nvPr/>
            </p:nvSpPr>
            <p:spPr>
              <a:xfrm>
                <a:off x="1615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06" name="Rectangle 76"/>
              <p:cNvSpPr/>
              <p:nvPr/>
            </p:nvSpPr>
            <p:spPr>
              <a:xfrm>
                <a:off x="1615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07" name="Rectangle 77"/>
              <p:cNvSpPr/>
              <p:nvPr/>
            </p:nvSpPr>
            <p:spPr>
              <a:xfrm>
                <a:off x="2546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08" name="Rectangle 78"/>
              <p:cNvSpPr/>
              <p:nvPr/>
            </p:nvSpPr>
            <p:spPr>
              <a:xfrm>
                <a:off x="2546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09" name="Rectangle 79"/>
              <p:cNvSpPr/>
              <p:nvPr/>
            </p:nvSpPr>
            <p:spPr>
              <a:xfrm>
                <a:off x="2546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10" name="Rectangle 80"/>
              <p:cNvSpPr/>
              <p:nvPr/>
            </p:nvSpPr>
            <p:spPr>
              <a:xfrm>
                <a:off x="4178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11" name="Rectangle 81"/>
              <p:cNvSpPr/>
              <p:nvPr/>
            </p:nvSpPr>
            <p:spPr>
              <a:xfrm>
                <a:off x="4178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12" name="Rectangle 82"/>
              <p:cNvSpPr/>
              <p:nvPr/>
            </p:nvSpPr>
            <p:spPr>
              <a:xfrm>
                <a:off x="4178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13" name="AutoShape 83"/>
              <p:cNvSpPr/>
              <p:nvPr/>
            </p:nvSpPr>
            <p:spPr>
              <a:xfrm rot="-5400000">
                <a:off x="2614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14" name="AutoShape 84"/>
              <p:cNvSpPr/>
              <p:nvPr/>
            </p:nvSpPr>
            <p:spPr>
              <a:xfrm rot="-5400000">
                <a:off x="4246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015" name="Text Box 85"/>
              <p:cNvSpPr txBox="1"/>
              <p:nvPr/>
            </p:nvSpPr>
            <p:spPr>
              <a:xfrm>
                <a:off x="4796" y="86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16" name="Text Box 86"/>
              <p:cNvSpPr txBox="1"/>
              <p:nvPr/>
            </p:nvSpPr>
            <p:spPr>
              <a:xfrm>
                <a:off x="4806" y="115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写选择线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17" name="Line 87"/>
              <p:cNvSpPr/>
              <p:nvPr/>
            </p:nvSpPr>
            <p:spPr>
              <a:xfrm>
                <a:off x="4817" y="3306"/>
                <a:ext cx="3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296018" name="Text Box 88"/>
              <p:cNvSpPr txBox="1"/>
              <p:nvPr/>
            </p:nvSpPr>
            <p:spPr>
              <a:xfrm>
                <a:off x="4906" y="3024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19" name="Text Box 89"/>
              <p:cNvSpPr txBox="1"/>
              <p:nvPr/>
            </p:nvSpPr>
            <p:spPr>
              <a:xfrm>
                <a:off x="3296" y="1929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单元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20" name="Text Box 90"/>
              <p:cNvSpPr txBox="1"/>
              <p:nvPr/>
            </p:nvSpPr>
            <p:spPr>
              <a:xfrm>
                <a:off x="3296" y="21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电路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21" name="Text Box 91"/>
              <p:cNvSpPr txBox="1"/>
              <p:nvPr/>
            </p:nvSpPr>
            <p:spPr>
              <a:xfrm>
                <a:off x="503" y="936"/>
                <a:ext cx="307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22" name="Text Box 92"/>
              <p:cNvSpPr txBox="1"/>
              <p:nvPr/>
            </p:nvSpPr>
            <p:spPr>
              <a:xfrm>
                <a:off x="907" y="86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23" name="Text Box 93"/>
              <p:cNvSpPr txBox="1"/>
              <p:nvPr/>
            </p:nvSpPr>
            <p:spPr>
              <a:xfrm>
                <a:off x="907" y="115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24" name="Text Box 94"/>
              <p:cNvSpPr txBox="1"/>
              <p:nvPr/>
            </p:nvSpPr>
            <p:spPr>
              <a:xfrm>
                <a:off x="907" y="145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25" name="Text Box 95"/>
              <p:cNvSpPr txBox="1"/>
              <p:nvPr/>
            </p:nvSpPr>
            <p:spPr>
              <a:xfrm>
                <a:off x="907" y="176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26" name="Text Box 96"/>
              <p:cNvSpPr txBox="1"/>
              <p:nvPr/>
            </p:nvSpPr>
            <p:spPr>
              <a:xfrm>
                <a:off x="854" y="229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27" name="Text Box 97"/>
              <p:cNvSpPr txBox="1"/>
              <p:nvPr/>
            </p:nvSpPr>
            <p:spPr>
              <a:xfrm>
                <a:off x="858" y="259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28" name="Line 98"/>
              <p:cNvSpPr/>
              <p:nvPr/>
            </p:nvSpPr>
            <p:spPr>
              <a:xfrm>
                <a:off x="1887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6029" name="Line 99"/>
              <p:cNvSpPr/>
              <p:nvPr/>
            </p:nvSpPr>
            <p:spPr>
              <a:xfrm>
                <a:off x="2832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6030" name="Text Box 100"/>
              <p:cNvSpPr txBox="1"/>
              <p:nvPr/>
            </p:nvSpPr>
            <p:spPr>
              <a:xfrm>
                <a:off x="2613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31" name="Line 101"/>
              <p:cNvSpPr/>
              <p:nvPr/>
            </p:nvSpPr>
            <p:spPr>
              <a:xfrm>
                <a:off x="4473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6032" name="Text Box 102"/>
              <p:cNvSpPr txBox="1"/>
              <p:nvPr/>
            </p:nvSpPr>
            <p:spPr>
              <a:xfrm>
                <a:off x="4176" y="342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6033" name="Group 103"/>
              <p:cNvGrpSpPr/>
              <p:nvPr/>
            </p:nvGrpSpPr>
            <p:grpSpPr>
              <a:xfrm>
                <a:off x="1492" y="3918"/>
                <a:ext cx="283" cy="324"/>
                <a:chOff x="1584" y="3918"/>
                <a:chExt cx="283" cy="324"/>
              </a:xfrm>
            </p:grpSpPr>
            <p:sp>
              <p:nvSpPr>
                <p:cNvPr id="296069" name="Line 104"/>
                <p:cNvSpPr/>
                <p:nvPr/>
              </p:nvSpPr>
              <p:spPr>
                <a:xfrm rot="-5400000">
                  <a:off x="149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6070" name="Text Box 105"/>
                <p:cNvSpPr txBox="1"/>
                <p:nvPr/>
              </p:nvSpPr>
              <p:spPr>
                <a:xfrm>
                  <a:off x="1584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6034" name="Group 106"/>
              <p:cNvGrpSpPr/>
              <p:nvPr/>
            </p:nvGrpSpPr>
            <p:grpSpPr>
              <a:xfrm>
                <a:off x="2234" y="3918"/>
                <a:ext cx="284" cy="325"/>
                <a:chOff x="2355" y="3918"/>
                <a:chExt cx="284" cy="325"/>
              </a:xfrm>
            </p:grpSpPr>
            <p:sp>
              <p:nvSpPr>
                <p:cNvPr id="296067" name="Line 107"/>
                <p:cNvSpPr/>
                <p:nvPr/>
              </p:nvSpPr>
              <p:spPr>
                <a:xfrm rot="-5400000">
                  <a:off x="224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6068" name="Text Box 108"/>
                <p:cNvSpPr txBox="1"/>
                <p:nvPr/>
              </p:nvSpPr>
              <p:spPr>
                <a:xfrm>
                  <a:off x="2356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6035" name="Group 109"/>
              <p:cNvGrpSpPr/>
              <p:nvPr/>
            </p:nvGrpSpPr>
            <p:grpSpPr>
              <a:xfrm>
                <a:off x="2978" y="3918"/>
                <a:ext cx="283" cy="325"/>
                <a:chOff x="3102" y="3918"/>
                <a:chExt cx="283" cy="325"/>
              </a:xfrm>
            </p:grpSpPr>
            <p:sp>
              <p:nvSpPr>
                <p:cNvPr id="296065" name="Line 110"/>
                <p:cNvSpPr/>
                <p:nvPr/>
              </p:nvSpPr>
              <p:spPr>
                <a:xfrm rot="-5400000">
                  <a:off x="300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6066" name="Text Box 111"/>
                <p:cNvSpPr txBox="1"/>
                <p:nvPr/>
              </p:nvSpPr>
              <p:spPr>
                <a:xfrm>
                  <a:off x="3102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6036" name="Group 112"/>
              <p:cNvGrpSpPr/>
              <p:nvPr/>
            </p:nvGrpSpPr>
            <p:grpSpPr>
              <a:xfrm>
                <a:off x="3721" y="3918"/>
                <a:ext cx="283" cy="325"/>
                <a:chOff x="3844" y="3918"/>
                <a:chExt cx="283" cy="325"/>
              </a:xfrm>
            </p:grpSpPr>
            <p:sp>
              <p:nvSpPr>
                <p:cNvPr id="296063" name="Line 113"/>
                <p:cNvSpPr/>
                <p:nvPr/>
              </p:nvSpPr>
              <p:spPr>
                <a:xfrm rot="-5400000">
                  <a:off x="375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6064" name="Text Box 114"/>
                <p:cNvSpPr txBox="1"/>
                <p:nvPr/>
              </p:nvSpPr>
              <p:spPr>
                <a:xfrm>
                  <a:off x="3844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6037" name="Group 115"/>
              <p:cNvGrpSpPr/>
              <p:nvPr/>
            </p:nvGrpSpPr>
            <p:grpSpPr>
              <a:xfrm>
                <a:off x="4464" y="3918"/>
                <a:ext cx="283" cy="324"/>
                <a:chOff x="4603" y="3918"/>
                <a:chExt cx="283" cy="324"/>
              </a:xfrm>
            </p:grpSpPr>
            <p:sp>
              <p:nvSpPr>
                <p:cNvPr id="296061" name="Line 116"/>
                <p:cNvSpPr/>
                <p:nvPr/>
              </p:nvSpPr>
              <p:spPr>
                <a:xfrm rot="-5400000">
                  <a:off x="4510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6062" name="Text Box 117"/>
                <p:cNvSpPr txBox="1"/>
                <p:nvPr/>
              </p:nvSpPr>
              <p:spPr>
                <a:xfrm>
                  <a:off x="4603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6038" name="Line 118"/>
              <p:cNvSpPr/>
              <p:nvPr/>
            </p:nvSpPr>
            <p:spPr>
              <a:xfrm>
                <a:off x="2689" y="1690"/>
                <a:ext cx="643" cy="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6039" name="Line 119"/>
              <p:cNvSpPr/>
              <p:nvPr/>
            </p:nvSpPr>
            <p:spPr>
              <a:xfrm>
                <a:off x="3976" y="2039"/>
                <a:ext cx="990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6040" name="Line 120"/>
              <p:cNvSpPr/>
              <p:nvPr/>
            </p:nvSpPr>
            <p:spPr>
              <a:xfrm>
                <a:off x="4718" y="1384"/>
                <a:ext cx="693" cy="1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6041" name="Text Box 121"/>
              <p:cNvSpPr txBox="1"/>
              <p:nvPr/>
            </p:nvSpPr>
            <p:spPr>
              <a:xfrm>
                <a:off x="4844" y="2728"/>
                <a:ext cx="9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刷新放大器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42" name="Line 122"/>
              <p:cNvSpPr/>
              <p:nvPr/>
            </p:nvSpPr>
            <p:spPr>
              <a:xfrm flipV="1">
                <a:off x="4520" y="2957"/>
                <a:ext cx="495" cy="4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96043" name="Group 123"/>
              <p:cNvGrpSpPr/>
              <p:nvPr/>
            </p:nvGrpSpPr>
            <p:grpSpPr>
              <a:xfrm>
                <a:off x="4916" y="1726"/>
                <a:ext cx="275" cy="894"/>
                <a:chOff x="4920" y="1790"/>
                <a:chExt cx="275" cy="894"/>
              </a:xfrm>
            </p:grpSpPr>
            <p:sp>
              <p:nvSpPr>
                <p:cNvPr id="296057" name="Text Box 124"/>
                <p:cNvSpPr txBox="1"/>
                <p:nvPr/>
              </p:nvSpPr>
              <p:spPr>
                <a:xfrm>
                  <a:off x="4920" y="1790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写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6058" name="Text Box 125"/>
                <p:cNvSpPr txBox="1"/>
                <p:nvPr/>
              </p:nvSpPr>
              <p:spPr>
                <a:xfrm>
                  <a:off x="4920" y="200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6059" name="Text Box 126"/>
                <p:cNvSpPr txBox="1"/>
                <p:nvPr/>
              </p:nvSpPr>
              <p:spPr>
                <a:xfrm>
                  <a:off x="4920" y="2219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6060" name="Text Box 127"/>
                <p:cNvSpPr txBox="1"/>
                <p:nvPr/>
              </p:nvSpPr>
              <p:spPr>
                <a:xfrm>
                  <a:off x="4920" y="243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6044" name="Group 128"/>
              <p:cNvGrpSpPr/>
              <p:nvPr/>
            </p:nvGrpSpPr>
            <p:grpSpPr>
              <a:xfrm>
                <a:off x="5372" y="1505"/>
                <a:ext cx="275" cy="880"/>
                <a:chOff x="5394" y="1612"/>
                <a:chExt cx="275" cy="880"/>
              </a:xfrm>
            </p:grpSpPr>
            <p:sp>
              <p:nvSpPr>
                <p:cNvPr id="296053" name="Text Box 129"/>
                <p:cNvSpPr txBox="1"/>
                <p:nvPr/>
              </p:nvSpPr>
              <p:spPr>
                <a:xfrm>
                  <a:off x="5394" y="161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6054" name="Text Box 130"/>
                <p:cNvSpPr txBox="1"/>
                <p:nvPr/>
              </p:nvSpPr>
              <p:spPr>
                <a:xfrm>
                  <a:off x="5394" y="182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6055" name="Text Box 131"/>
                <p:cNvSpPr txBox="1"/>
                <p:nvPr/>
              </p:nvSpPr>
              <p:spPr>
                <a:xfrm>
                  <a:off x="5394" y="203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6056" name="Text Box 132"/>
                <p:cNvSpPr txBox="1"/>
                <p:nvPr/>
              </p:nvSpPr>
              <p:spPr>
                <a:xfrm>
                  <a:off x="5394" y="224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6045" name="Group 133"/>
              <p:cNvGrpSpPr/>
              <p:nvPr/>
            </p:nvGrpSpPr>
            <p:grpSpPr>
              <a:xfrm>
                <a:off x="3320" y="915"/>
                <a:ext cx="371" cy="2173"/>
                <a:chOff x="3324" y="979"/>
                <a:chExt cx="371" cy="2173"/>
              </a:xfrm>
            </p:grpSpPr>
            <p:sp>
              <p:nvSpPr>
                <p:cNvPr id="296049" name="Text Box 134"/>
                <p:cNvSpPr txBox="1"/>
                <p:nvPr/>
              </p:nvSpPr>
              <p:spPr>
                <a:xfrm>
                  <a:off x="3324" y="97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6050" name="Text Box 135"/>
                <p:cNvSpPr txBox="1"/>
                <p:nvPr/>
              </p:nvSpPr>
              <p:spPr>
                <a:xfrm>
                  <a:off x="3324" y="1507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6051" name="Text Box 136"/>
                <p:cNvSpPr txBox="1"/>
                <p:nvPr/>
              </p:nvSpPr>
              <p:spPr>
                <a:xfrm>
                  <a:off x="3324" y="240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6052" name="Text Box 137"/>
                <p:cNvSpPr txBox="1"/>
                <p:nvPr/>
              </p:nvSpPr>
              <p:spPr>
                <a:xfrm>
                  <a:off x="3324" y="2784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6046" name="Text Box 138"/>
              <p:cNvSpPr txBox="1"/>
              <p:nvPr/>
            </p:nvSpPr>
            <p:spPr>
              <a:xfrm rot="5400000">
                <a:off x="916" y="197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47" name="Text Box 139"/>
              <p:cNvSpPr txBox="1"/>
              <p:nvPr/>
            </p:nvSpPr>
            <p:spPr>
              <a:xfrm>
                <a:off x="1656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6048" name="Text Box 140"/>
              <p:cNvSpPr txBox="1"/>
              <p:nvPr/>
            </p:nvSpPr>
            <p:spPr>
              <a:xfrm>
                <a:off x="3350" y="3312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5939" name="Text Box 141"/>
          <p:cNvSpPr txBox="1"/>
          <p:nvPr/>
        </p:nvSpPr>
        <p:spPr>
          <a:xfrm>
            <a:off x="1828800" y="228600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三管动态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en-US" altLang="zh-CN" sz="3200" b="1" dirty="0">
                <a:latin typeface="Times New Roman" panose="02020603050405020304" pitchFamily="18" charset="0"/>
              </a:rPr>
              <a:t>(Intel 1103)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1566" name="Rectangle 14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5941" name="AutoShape 143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5942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1865313" y="1819275"/>
            <a:ext cx="360312" cy="3365215"/>
            <a:chOff x="300" y="720"/>
            <a:chExt cx="220" cy="2329"/>
          </a:xfrm>
        </p:grpSpPr>
        <p:sp>
          <p:nvSpPr>
            <p:cNvPr id="297106" name="Text Box 3"/>
            <p:cNvSpPr txBox="1"/>
            <p:nvPr/>
          </p:nvSpPr>
          <p:spPr>
            <a:xfrm>
              <a:off x="300" y="720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07" name="Text Box 4"/>
            <p:cNvSpPr txBox="1"/>
            <p:nvPr/>
          </p:nvSpPr>
          <p:spPr>
            <a:xfrm>
              <a:off x="300" y="1212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08" name="Text Box 5"/>
            <p:cNvSpPr txBox="1"/>
            <p:nvPr/>
          </p:nvSpPr>
          <p:spPr>
            <a:xfrm>
              <a:off x="300" y="1705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09" name="Text Box 6"/>
            <p:cNvSpPr txBox="1"/>
            <p:nvPr/>
          </p:nvSpPr>
          <p:spPr>
            <a:xfrm>
              <a:off x="300" y="2196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10" name="Text Box 7"/>
            <p:cNvSpPr txBox="1"/>
            <p:nvPr/>
          </p:nvSpPr>
          <p:spPr>
            <a:xfrm>
              <a:off x="300" y="2688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32456" name="Rectangle 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64" name="Text Box 9"/>
          <p:cNvSpPr txBox="1"/>
          <p:nvPr/>
        </p:nvSpPr>
        <p:spPr>
          <a:xfrm>
            <a:off x="1828800" y="228600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三管动态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en-US" altLang="zh-CN" sz="3200" b="1" dirty="0">
                <a:latin typeface="Times New Roman" panose="02020603050405020304" pitchFamily="18" charset="0"/>
              </a:rPr>
              <a:t>(Intel 1103)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6965" name="Group 10"/>
          <p:cNvGrpSpPr/>
          <p:nvPr/>
        </p:nvGrpSpPr>
        <p:grpSpPr>
          <a:xfrm>
            <a:off x="1524000" y="1295400"/>
            <a:ext cx="9142413" cy="5440363"/>
            <a:chOff x="0" y="816"/>
            <a:chExt cx="5759" cy="3427"/>
          </a:xfrm>
        </p:grpSpPr>
        <p:grpSp>
          <p:nvGrpSpPr>
            <p:cNvPr id="296968" name="Group 11"/>
            <p:cNvGrpSpPr/>
            <p:nvPr/>
          </p:nvGrpSpPr>
          <p:grpSpPr>
            <a:xfrm>
              <a:off x="0" y="1094"/>
              <a:ext cx="462" cy="251"/>
              <a:chOff x="0" y="933"/>
              <a:chExt cx="462" cy="251"/>
            </a:xfrm>
          </p:grpSpPr>
          <p:sp>
            <p:nvSpPr>
              <p:cNvPr id="297104" name="Line 12"/>
              <p:cNvSpPr/>
              <p:nvPr/>
            </p:nvSpPr>
            <p:spPr>
              <a:xfrm>
                <a:off x="214" y="991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7105" name="Text Box 13"/>
              <p:cNvSpPr txBox="1"/>
              <p:nvPr/>
            </p:nvSpPr>
            <p:spPr>
              <a:xfrm>
                <a:off x="0" y="9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6969" name="Group 14"/>
            <p:cNvGrpSpPr/>
            <p:nvPr/>
          </p:nvGrpSpPr>
          <p:grpSpPr>
            <a:xfrm>
              <a:off x="16" y="1540"/>
              <a:ext cx="446" cy="251"/>
              <a:chOff x="16" y="1371"/>
              <a:chExt cx="446" cy="251"/>
            </a:xfrm>
          </p:grpSpPr>
          <p:sp>
            <p:nvSpPr>
              <p:cNvPr id="297102" name="Line 15"/>
              <p:cNvSpPr/>
              <p:nvPr/>
            </p:nvSpPr>
            <p:spPr>
              <a:xfrm>
                <a:off x="214" y="1439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7103" name="Text Box 16"/>
              <p:cNvSpPr txBox="1"/>
              <p:nvPr/>
            </p:nvSpPr>
            <p:spPr>
              <a:xfrm>
                <a:off x="16" y="137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6970" name="Group 17"/>
            <p:cNvGrpSpPr/>
            <p:nvPr/>
          </p:nvGrpSpPr>
          <p:grpSpPr>
            <a:xfrm>
              <a:off x="16" y="1987"/>
              <a:ext cx="446" cy="251"/>
              <a:chOff x="16" y="1809"/>
              <a:chExt cx="446" cy="251"/>
            </a:xfrm>
          </p:grpSpPr>
          <p:sp>
            <p:nvSpPr>
              <p:cNvPr id="297100" name="Line 18"/>
              <p:cNvSpPr/>
              <p:nvPr/>
            </p:nvSpPr>
            <p:spPr>
              <a:xfrm>
                <a:off x="214" y="1886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7101" name="Text Box 19"/>
              <p:cNvSpPr txBox="1"/>
              <p:nvPr/>
            </p:nvSpPr>
            <p:spPr>
              <a:xfrm>
                <a:off x="16" y="1809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6971" name="Group 20"/>
            <p:cNvGrpSpPr/>
            <p:nvPr/>
          </p:nvGrpSpPr>
          <p:grpSpPr>
            <a:xfrm>
              <a:off x="16" y="2433"/>
              <a:ext cx="446" cy="251"/>
              <a:chOff x="16" y="2276"/>
              <a:chExt cx="446" cy="251"/>
            </a:xfrm>
          </p:grpSpPr>
          <p:sp>
            <p:nvSpPr>
              <p:cNvPr id="297098" name="Line 21"/>
              <p:cNvSpPr/>
              <p:nvPr/>
            </p:nvSpPr>
            <p:spPr>
              <a:xfrm>
                <a:off x="214" y="2334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7099" name="Text Box 22"/>
              <p:cNvSpPr txBox="1"/>
              <p:nvPr/>
            </p:nvSpPr>
            <p:spPr>
              <a:xfrm>
                <a:off x="16" y="2276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6972" name="Group 23"/>
            <p:cNvGrpSpPr/>
            <p:nvPr/>
          </p:nvGrpSpPr>
          <p:grpSpPr>
            <a:xfrm>
              <a:off x="16" y="2880"/>
              <a:ext cx="446" cy="251"/>
              <a:chOff x="16" y="2725"/>
              <a:chExt cx="446" cy="251"/>
            </a:xfrm>
          </p:grpSpPr>
          <p:sp>
            <p:nvSpPr>
              <p:cNvPr id="297096" name="Line 24"/>
              <p:cNvSpPr/>
              <p:nvPr/>
            </p:nvSpPr>
            <p:spPr>
              <a:xfrm>
                <a:off x="214" y="2782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7097" name="Text Box 25"/>
              <p:cNvSpPr txBox="1"/>
              <p:nvPr/>
            </p:nvSpPr>
            <p:spPr>
              <a:xfrm>
                <a:off x="16" y="27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6973" name="Group 26"/>
            <p:cNvGrpSpPr/>
            <p:nvPr/>
          </p:nvGrpSpPr>
          <p:grpSpPr>
            <a:xfrm>
              <a:off x="462" y="816"/>
              <a:ext cx="5297" cy="3427"/>
              <a:chOff x="462" y="816"/>
              <a:chExt cx="5297" cy="3427"/>
            </a:xfrm>
          </p:grpSpPr>
          <p:sp>
            <p:nvSpPr>
              <p:cNvPr id="296974" name="Rectangle 27"/>
              <p:cNvSpPr/>
              <p:nvPr/>
            </p:nvSpPr>
            <p:spPr>
              <a:xfrm>
                <a:off x="462" y="816"/>
                <a:ext cx="693" cy="248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75" name="Freeform 28"/>
              <p:cNvSpPr/>
              <p:nvPr/>
            </p:nvSpPr>
            <p:spPr>
              <a:xfrm>
                <a:off x="1155" y="991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76" name="Rectangle 29"/>
              <p:cNvSpPr/>
              <p:nvPr/>
            </p:nvSpPr>
            <p:spPr>
              <a:xfrm>
                <a:off x="1615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77" name="Freeform 30"/>
              <p:cNvSpPr/>
              <p:nvPr/>
            </p:nvSpPr>
            <p:spPr>
              <a:xfrm>
                <a:off x="4351" y="991"/>
                <a:ext cx="1" cy="79"/>
              </a:xfrm>
              <a:custGeom>
                <a:avLst/>
                <a:gdLst>
                  <a:gd name="txL" fmla="*/ 0 w 1"/>
                  <a:gd name="txT" fmla="*/ 0 h 87"/>
                  <a:gd name="txR" fmla="*/ 1 w 1"/>
                  <a:gd name="txB" fmla="*/ 87 h 87"/>
                </a:gdLst>
                <a:ahLst/>
                <a:cxnLst>
                  <a:cxn ang="0">
                    <a:pos x="0" y="0"/>
                  </a:cxn>
                  <a:cxn ang="0">
                    <a:pos x="0" y="87"/>
                  </a:cxn>
                </a:cxnLst>
                <a:rect l="txL" t="txT" r="txR" b="txB"/>
                <a:pathLst>
                  <a:path w="1" h="87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78" name="Freeform 31"/>
              <p:cNvSpPr/>
              <p:nvPr/>
            </p:nvSpPr>
            <p:spPr>
              <a:xfrm>
                <a:off x="1155" y="1295"/>
                <a:ext cx="3659" cy="3"/>
              </a:xfrm>
              <a:custGeom>
                <a:avLst/>
                <a:gdLst>
                  <a:gd name="txL" fmla="*/ 0 w 3659"/>
                  <a:gd name="txT" fmla="*/ 0 h 3"/>
                  <a:gd name="txR" fmla="*/ 3659 w 3659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3659" y="3"/>
                  </a:cxn>
                </a:cxnLst>
                <a:rect l="txL" t="txT" r="txR" b="txB"/>
                <a:pathLst>
                  <a:path w="3659" h="3">
                    <a:moveTo>
                      <a:pt x="0" y="0"/>
                    </a:moveTo>
                    <a:lnTo>
                      <a:pt x="365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79" name="Freeform 32"/>
              <p:cNvSpPr/>
              <p:nvPr/>
            </p:nvSpPr>
            <p:spPr>
              <a:xfrm>
                <a:off x="2727" y="987"/>
                <a:ext cx="1" cy="86"/>
              </a:xfrm>
              <a:custGeom>
                <a:avLst/>
                <a:gdLst>
                  <a:gd name="txL" fmla="*/ 0 w 1"/>
                  <a:gd name="txT" fmla="*/ 0 h 86"/>
                  <a:gd name="txR" fmla="*/ 1 w 1"/>
                  <a:gd name="txB" fmla="*/ 86 h 86"/>
                </a:gdLst>
                <a:ahLst/>
                <a:cxnLst>
                  <a:cxn ang="0">
                    <a:pos x="0" y="0"/>
                  </a:cxn>
                  <a:cxn ang="0">
                    <a:pos x="1" y="86"/>
                  </a:cxn>
                </a:cxnLst>
                <a:rect l="txL" t="txT" r="txR" b="txB"/>
                <a:pathLst>
                  <a:path w="1" h="86">
                    <a:moveTo>
                      <a:pt x="0" y="0"/>
                    </a:moveTo>
                    <a:lnTo>
                      <a:pt x="1" y="8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80" name="Freeform 33"/>
              <p:cNvSpPr/>
              <p:nvPr/>
            </p:nvSpPr>
            <p:spPr>
              <a:xfrm>
                <a:off x="1791" y="985"/>
                <a:ext cx="1" cy="92"/>
              </a:xfrm>
              <a:custGeom>
                <a:avLst/>
                <a:gdLst>
                  <a:gd name="txL" fmla="*/ 0 w 1"/>
                  <a:gd name="txT" fmla="*/ 0 h 92"/>
                  <a:gd name="txR" fmla="*/ 1 w 1"/>
                  <a:gd name="txB" fmla="*/ 92 h 92"/>
                </a:gdLst>
                <a:ahLst/>
                <a:cxnLst>
                  <a:cxn ang="0">
                    <a:pos x="0" y="0"/>
                  </a:cxn>
                  <a:cxn ang="0">
                    <a:pos x="0" y="92"/>
                  </a:cxn>
                </a:cxnLst>
                <a:rect l="txL" t="txT" r="txR" b="tx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81" name="Freeform 34"/>
              <p:cNvSpPr/>
              <p:nvPr/>
            </p:nvSpPr>
            <p:spPr>
              <a:xfrm>
                <a:off x="1788" y="1212"/>
                <a:ext cx="1" cy="85"/>
              </a:xfrm>
              <a:custGeom>
                <a:avLst/>
                <a:gdLst>
                  <a:gd name="txL" fmla="*/ 0 w 1"/>
                  <a:gd name="txT" fmla="*/ 0 h 93"/>
                  <a:gd name="txR" fmla="*/ 1 w 1"/>
                  <a:gd name="txB" fmla="*/ 93 h 93"/>
                </a:gdLst>
                <a:ahLst/>
                <a:cxnLst>
                  <a:cxn ang="0">
                    <a:pos x="0" y="93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3">
                    <a:moveTo>
                      <a:pt x="0" y="9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82" name="Freeform 35"/>
              <p:cNvSpPr/>
              <p:nvPr/>
            </p:nvSpPr>
            <p:spPr>
              <a:xfrm>
                <a:off x="2736" y="1200"/>
                <a:ext cx="3" cy="95"/>
              </a:xfrm>
              <a:custGeom>
                <a:avLst/>
                <a:gdLst>
                  <a:gd name="txL" fmla="*/ 0 w 3"/>
                  <a:gd name="txT" fmla="*/ 0 h 105"/>
                  <a:gd name="txR" fmla="*/ 3 w 3"/>
                  <a:gd name="txB" fmla="*/ 105 h 105"/>
                </a:gdLst>
                <a:ahLst/>
                <a:cxnLst>
                  <a:cxn ang="0">
                    <a:pos x="0" y="105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105">
                    <a:moveTo>
                      <a:pt x="0" y="105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83" name="Line 36"/>
              <p:cNvSpPr/>
              <p:nvPr/>
            </p:nvSpPr>
            <p:spPr>
              <a:xfrm rot="10800000">
                <a:off x="4351" y="121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84" name="Freeform 37"/>
              <p:cNvSpPr/>
              <p:nvPr/>
            </p:nvSpPr>
            <p:spPr>
              <a:xfrm>
                <a:off x="1155" y="1559"/>
                <a:ext cx="3653" cy="1"/>
              </a:xfrm>
              <a:custGeom>
                <a:avLst/>
                <a:gdLst>
                  <a:gd name="txL" fmla="*/ 0 w 3543"/>
                  <a:gd name="txT" fmla="*/ 0 h 1"/>
                  <a:gd name="txR" fmla="*/ 3543 w 35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43" y="0"/>
                  </a:cxn>
                </a:cxnLst>
                <a:rect l="txL" t="txT" r="txR" b="txB"/>
                <a:pathLst>
                  <a:path w="3543" h="1">
                    <a:moveTo>
                      <a:pt x="0" y="0"/>
                    </a:moveTo>
                    <a:lnTo>
                      <a:pt x="354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85" name="Line 38"/>
              <p:cNvSpPr/>
              <p:nvPr/>
            </p:nvSpPr>
            <p:spPr>
              <a:xfrm>
                <a:off x="4351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86" name="Freeform 39"/>
              <p:cNvSpPr/>
              <p:nvPr/>
            </p:nvSpPr>
            <p:spPr>
              <a:xfrm>
                <a:off x="1155" y="1863"/>
                <a:ext cx="3656" cy="1"/>
              </a:xfrm>
              <a:custGeom>
                <a:avLst/>
                <a:gdLst>
                  <a:gd name="txL" fmla="*/ 0 w 3546"/>
                  <a:gd name="txT" fmla="*/ 0 h 2"/>
                  <a:gd name="txR" fmla="*/ 3546 w 354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3546" y="2"/>
                  </a:cxn>
                </a:cxnLst>
                <a:rect l="txL" t="txT" r="txR" b="txB"/>
                <a:pathLst>
                  <a:path w="3546" h="2">
                    <a:moveTo>
                      <a:pt x="0" y="0"/>
                    </a:moveTo>
                    <a:lnTo>
                      <a:pt x="354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87" name="Line 40"/>
              <p:cNvSpPr/>
              <p:nvPr/>
            </p:nvSpPr>
            <p:spPr>
              <a:xfrm>
                <a:off x="2725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88" name="Line 41"/>
              <p:cNvSpPr/>
              <p:nvPr/>
            </p:nvSpPr>
            <p:spPr>
              <a:xfrm>
                <a:off x="1788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89" name="Line 42"/>
              <p:cNvSpPr/>
              <p:nvPr/>
            </p:nvSpPr>
            <p:spPr>
              <a:xfrm rot="10800000">
                <a:off x="1788" y="177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90" name="Line 43"/>
              <p:cNvSpPr/>
              <p:nvPr/>
            </p:nvSpPr>
            <p:spPr>
              <a:xfrm rot="10800000">
                <a:off x="2725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91" name="Line 44"/>
              <p:cNvSpPr/>
              <p:nvPr/>
            </p:nvSpPr>
            <p:spPr>
              <a:xfrm rot="10800000">
                <a:off x="4351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92" name="Freeform 45"/>
              <p:cNvSpPr/>
              <p:nvPr/>
            </p:nvSpPr>
            <p:spPr>
              <a:xfrm>
                <a:off x="1155" y="2432"/>
                <a:ext cx="3675" cy="1"/>
              </a:xfrm>
              <a:custGeom>
                <a:avLst/>
                <a:gdLst>
                  <a:gd name="txL" fmla="*/ 0 w 3564"/>
                  <a:gd name="txT" fmla="*/ 0 h 1"/>
                  <a:gd name="txR" fmla="*/ 3564 w 356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64" y="0"/>
                  </a:cxn>
                </a:cxnLst>
                <a:rect l="txL" t="txT" r="txR" b="txB"/>
                <a:pathLst>
                  <a:path w="3564" h="1">
                    <a:moveTo>
                      <a:pt x="0" y="0"/>
                    </a:moveTo>
                    <a:lnTo>
                      <a:pt x="356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93" name="Line 46"/>
              <p:cNvSpPr/>
              <p:nvPr/>
            </p:nvSpPr>
            <p:spPr>
              <a:xfrm>
                <a:off x="4351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94" name="Freeform 47"/>
              <p:cNvSpPr/>
              <p:nvPr/>
            </p:nvSpPr>
            <p:spPr>
              <a:xfrm>
                <a:off x="1155" y="2736"/>
                <a:ext cx="3647" cy="1"/>
              </a:xfrm>
              <a:custGeom>
                <a:avLst/>
                <a:gdLst>
                  <a:gd name="txL" fmla="*/ 0 w 3647"/>
                  <a:gd name="txT" fmla="*/ 0 h 1"/>
                  <a:gd name="txR" fmla="*/ 3647 w 364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647" y="1"/>
                  </a:cxn>
                </a:cxnLst>
                <a:rect l="txL" t="txT" r="txR" b="txB"/>
                <a:pathLst>
                  <a:path w="3647" h="1">
                    <a:moveTo>
                      <a:pt x="0" y="0"/>
                    </a:moveTo>
                    <a:lnTo>
                      <a:pt x="364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6995" name="Line 48"/>
              <p:cNvSpPr/>
              <p:nvPr/>
            </p:nvSpPr>
            <p:spPr>
              <a:xfrm>
                <a:off x="2725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96" name="Line 49"/>
              <p:cNvSpPr/>
              <p:nvPr/>
            </p:nvSpPr>
            <p:spPr>
              <a:xfrm>
                <a:off x="1788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97" name="Line 50"/>
              <p:cNvSpPr/>
              <p:nvPr/>
            </p:nvSpPr>
            <p:spPr>
              <a:xfrm rot="10800000">
                <a:off x="1788" y="2652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98" name="Line 51"/>
              <p:cNvSpPr/>
              <p:nvPr/>
            </p:nvSpPr>
            <p:spPr>
              <a:xfrm rot="10800000">
                <a:off x="2725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6999" name="Line 52"/>
              <p:cNvSpPr/>
              <p:nvPr/>
            </p:nvSpPr>
            <p:spPr>
              <a:xfrm rot="10800000">
                <a:off x="4351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7000" name="AutoShape 53"/>
              <p:cNvSpPr/>
              <p:nvPr/>
            </p:nvSpPr>
            <p:spPr>
              <a:xfrm rot="-5400000">
                <a:off x="1683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01" name="Freeform 54"/>
              <p:cNvSpPr/>
              <p:nvPr/>
            </p:nvSpPr>
            <p:spPr>
              <a:xfrm>
                <a:off x="1416" y="1148"/>
                <a:ext cx="198" cy="2026"/>
              </a:xfrm>
              <a:custGeom>
                <a:avLst/>
                <a:gdLst>
                  <a:gd name="txL" fmla="*/ 0 w 198"/>
                  <a:gd name="txT" fmla="*/ 0 h 2026"/>
                  <a:gd name="txR" fmla="*/ 198 w 198"/>
                  <a:gd name="txB" fmla="*/ 2026 h 2026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6" y="2026"/>
                  </a:cxn>
                </a:cxnLst>
                <a:rect l="txL" t="txT" r="txR" b="txB"/>
                <a:pathLst>
                  <a:path w="198" h="2026">
                    <a:moveTo>
                      <a:pt x="198" y="0"/>
                    </a:moveTo>
                    <a:lnTo>
                      <a:pt x="0" y="0"/>
                    </a:lnTo>
                    <a:lnTo>
                      <a:pt x="6" y="202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02" name="Freeform 55"/>
              <p:cNvSpPr/>
              <p:nvPr/>
            </p:nvSpPr>
            <p:spPr>
              <a:xfrm>
                <a:off x="141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03" name="Freeform 56"/>
              <p:cNvSpPr/>
              <p:nvPr/>
            </p:nvSpPr>
            <p:spPr>
              <a:xfrm>
                <a:off x="1422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04" name="Line 57"/>
              <p:cNvSpPr/>
              <p:nvPr/>
            </p:nvSpPr>
            <p:spPr>
              <a:xfrm>
                <a:off x="1419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7005" name="Freeform 58"/>
              <p:cNvSpPr/>
              <p:nvPr/>
            </p:nvSpPr>
            <p:spPr>
              <a:xfrm>
                <a:off x="3979" y="1148"/>
                <a:ext cx="198" cy="2023"/>
              </a:xfrm>
              <a:custGeom>
                <a:avLst/>
                <a:gdLst>
                  <a:gd name="txL" fmla="*/ 0 w 198"/>
                  <a:gd name="txT" fmla="*/ 0 h 2023"/>
                  <a:gd name="txR" fmla="*/ 198 w 198"/>
                  <a:gd name="txB" fmla="*/ 2023 h 2023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2" y="2023"/>
                  </a:cxn>
                </a:cxnLst>
                <a:rect l="txL" t="txT" r="txR" b="txB"/>
                <a:pathLst>
                  <a:path w="198" h="2023">
                    <a:moveTo>
                      <a:pt x="198" y="0"/>
                    </a:moveTo>
                    <a:lnTo>
                      <a:pt x="0" y="0"/>
                    </a:lnTo>
                    <a:lnTo>
                      <a:pt x="2" y="202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06" name="Freeform 59"/>
              <p:cNvSpPr/>
              <p:nvPr/>
            </p:nvSpPr>
            <p:spPr>
              <a:xfrm>
                <a:off x="3982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07" name="Freeform 60"/>
              <p:cNvSpPr/>
              <p:nvPr/>
            </p:nvSpPr>
            <p:spPr>
              <a:xfrm>
                <a:off x="3985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08" name="Line 61"/>
              <p:cNvSpPr/>
              <p:nvPr/>
            </p:nvSpPr>
            <p:spPr>
              <a:xfrm>
                <a:off x="3982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7009" name="Freeform 62"/>
              <p:cNvSpPr/>
              <p:nvPr/>
            </p:nvSpPr>
            <p:spPr>
              <a:xfrm>
                <a:off x="2347" y="1148"/>
                <a:ext cx="198" cy="2024"/>
              </a:xfrm>
              <a:custGeom>
                <a:avLst/>
                <a:gdLst>
                  <a:gd name="txL" fmla="*/ 0 w 192"/>
                  <a:gd name="txT" fmla="*/ 0 h 2224"/>
                  <a:gd name="txR" fmla="*/ 192 w 192"/>
                  <a:gd name="txB" fmla="*/ 2224 h 2224"/>
                </a:gdLst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2" y="2224"/>
                  </a:cxn>
                </a:cxnLst>
                <a:rect l="txL" t="txT" r="txR" b="txB"/>
                <a:pathLst>
                  <a:path w="192" h="2224">
                    <a:moveTo>
                      <a:pt x="192" y="0"/>
                    </a:moveTo>
                    <a:lnTo>
                      <a:pt x="0" y="0"/>
                    </a:lnTo>
                    <a:lnTo>
                      <a:pt x="2" y="222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10" name="Freeform 63"/>
              <p:cNvSpPr/>
              <p:nvPr/>
            </p:nvSpPr>
            <p:spPr>
              <a:xfrm>
                <a:off x="235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11" name="Freeform 64"/>
              <p:cNvSpPr/>
              <p:nvPr/>
            </p:nvSpPr>
            <p:spPr>
              <a:xfrm>
                <a:off x="2353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12" name="Line 65"/>
              <p:cNvSpPr/>
              <p:nvPr/>
            </p:nvSpPr>
            <p:spPr>
              <a:xfrm>
                <a:off x="2350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7013" name="Freeform 66"/>
              <p:cNvSpPr/>
              <p:nvPr/>
            </p:nvSpPr>
            <p:spPr>
              <a:xfrm>
                <a:off x="1964" y="1135"/>
                <a:ext cx="198" cy="2030"/>
              </a:xfrm>
              <a:custGeom>
                <a:avLst/>
                <a:gdLst>
                  <a:gd name="txL" fmla="*/ 0 w 198"/>
                  <a:gd name="txT" fmla="*/ 0 h 2030"/>
                  <a:gd name="txR" fmla="*/ 198 w 198"/>
                  <a:gd name="txB" fmla="*/ 2030 h 2030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193" y="2030"/>
                  </a:cxn>
                </a:cxnLst>
                <a:rect l="txL" t="txT" r="txR" b="txB"/>
                <a:pathLst>
                  <a:path w="198" h="2030">
                    <a:moveTo>
                      <a:pt x="0" y="0"/>
                    </a:moveTo>
                    <a:lnTo>
                      <a:pt x="198" y="0"/>
                    </a:lnTo>
                    <a:lnTo>
                      <a:pt x="193" y="20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14" name="Freeform 67"/>
              <p:cNvSpPr/>
              <p:nvPr/>
            </p:nvSpPr>
            <p:spPr>
              <a:xfrm rot="10800000">
                <a:off x="195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15" name="Freeform 68"/>
              <p:cNvSpPr/>
              <p:nvPr/>
            </p:nvSpPr>
            <p:spPr>
              <a:xfrm rot="10800000">
                <a:off x="1959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16" name="Freeform 69"/>
              <p:cNvSpPr/>
              <p:nvPr/>
            </p:nvSpPr>
            <p:spPr>
              <a:xfrm>
                <a:off x="1958" y="2957"/>
                <a:ext cx="200" cy="1"/>
              </a:xfrm>
              <a:custGeom>
                <a:avLst/>
                <a:gdLst>
                  <a:gd name="txL" fmla="*/ 0 w 194"/>
                  <a:gd name="txT" fmla="*/ 0 h 1"/>
                  <a:gd name="txR" fmla="*/ 194 w 194"/>
                  <a:gd name="txB" fmla="*/ 1 h 1"/>
                </a:gdLst>
                <a:ahLst/>
                <a:cxnLst>
                  <a:cxn ang="0">
                    <a:pos x="19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4" h="1">
                    <a:moveTo>
                      <a:pt x="19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17" name="Freeform 70"/>
              <p:cNvSpPr/>
              <p:nvPr/>
            </p:nvSpPr>
            <p:spPr>
              <a:xfrm>
                <a:off x="2893" y="1135"/>
                <a:ext cx="199" cy="2047"/>
              </a:xfrm>
              <a:custGeom>
                <a:avLst/>
                <a:gdLst>
                  <a:gd name="txL" fmla="*/ 0 w 193"/>
                  <a:gd name="txT" fmla="*/ 0 h 2250"/>
                  <a:gd name="txR" fmla="*/ 193 w 193"/>
                  <a:gd name="txB" fmla="*/ 2250 h 2250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3" y="2250"/>
                  </a:cxn>
                </a:cxnLst>
                <a:rect l="txL" t="txT" r="txR" b="txB"/>
                <a:pathLst>
                  <a:path w="193" h="2250">
                    <a:moveTo>
                      <a:pt x="0" y="0"/>
                    </a:moveTo>
                    <a:lnTo>
                      <a:pt x="192" y="0"/>
                    </a:lnTo>
                    <a:lnTo>
                      <a:pt x="193" y="22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18" name="Freeform 71"/>
              <p:cNvSpPr/>
              <p:nvPr/>
            </p:nvSpPr>
            <p:spPr>
              <a:xfrm rot="10800000">
                <a:off x="289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19" name="Freeform 72"/>
              <p:cNvSpPr/>
              <p:nvPr/>
            </p:nvSpPr>
            <p:spPr>
              <a:xfrm rot="10800000">
                <a:off x="2890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20" name="Freeform 73"/>
              <p:cNvSpPr/>
              <p:nvPr/>
            </p:nvSpPr>
            <p:spPr>
              <a:xfrm>
                <a:off x="2895" y="2957"/>
                <a:ext cx="194" cy="1"/>
              </a:xfrm>
              <a:custGeom>
                <a:avLst/>
                <a:gdLst>
                  <a:gd name="txL" fmla="*/ 0 w 188"/>
                  <a:gd name="txT" fmla="*/ 0 h 1"/>
                  <a:gd name="txR" fmla="*/ 188 w 188"/>
                  <a:gd name="txB" fmla="*/ 1 h 1"/>
                </a:gdLst>
                <a:ahLst/>
                <a:cxnLst>
                  <a:cxn ang="0">
                    <a:pos x="18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21" name="Freeform 74"/>
              <p:cNvSpPr/>
              <p:nvPr/>
            </p:nvSpPr>
            <p:spPr>
              <a:xfrm>
                <a:off x="4531" y="1135"/>
                <a:ext cx="203" cy="2027"/>
              </a:xfrm>
              <a:custGeom>
                <a:avLst/>
                <a:gdLst>
                  <a:gd name="txL" fmla="*/ 0 w 203"/>
                  <a:gd name="txT" fmla="*/ 0 h 2027"/>
                  <a:gd name="txR" fmla="*/ 203 w 203"/>
                  <a:gd name="txB" fmla="*/ 2027 h 2027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203" y="2027"/>
                  </a:cxn>
                </a:cxnLst>
                <a:rect l="txL" t="txT" r="txR" b="txB"/>
                <a:pathLst>
                  <a:path w="203" h="2027">
                    <a:moveTo>
                      <a:pt x="0" y="0"/>
                    </a:moveTo>
                    <a:lnTo>
                      <a:pt x="198" y="0"/>
                    </a:lnTo>
                    <a:lnTo>
                      <a:pt x="203" y="202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22" name="Freeform 75"/>
              <p:cNvSpPr/>
              <p:nvPr/>
            </p:nvSpPr>
            <p:spPr>
              <a:xfrm rot="10800000">
                <a:off x="4528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23" name="Freeform 76"/>
              <p:cNvSpPr/>
              <p:nvPr/>
            </p:nvSpPr>
            <p:spPr>
              <a:xfrm rot="10800000">
                <a:off x="4528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24" name="Freeform 77"/>
              <p:cNvSpPr/>
              <p:nvPr/>
            </p:nvSpPr>
            <p:spPr>
              <a:xfrm rot="10800000">
                <a:off x="4524" y="295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25" name="Rectangle 78"/>
              <p:cNvSpPr/>
              <p:nvPr/>
            </p:nvSpPr>
            <p:spPr>
              <a:xfrm>
                <a:off x="1204" y="3175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读  写  控  制  电  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26" name="Rectangle 79"/>
              <p:cNvSpPr/>
              <p:nvPr/>
            </p:nvSpPr>
            <p:spPr>
              <a:xfrm>
                <a:off x="1204" y="3656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bIns="0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  地  址  译  码 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27" name="Text Box 80"/>
              <p:cNvSpPr txBox="1"/>
              <p:nvPr/>
            </p:nvSpPr>
            <p:spPr>
              <a:xfrm rot="5400000">
                <a:off x="1671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28" name="Text Box 81"/>
              <p:cNvSpPr txBox="1"/>
              <p:nvPr/>
            </p:nvSpPr>
            <p:spPr>
              <a:xfrm rot="5400000">
                <a:off x="2602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29" name="Text Box 82"/>
              <p:cNvSpPr txBox="1"/>
              <p:nvPr/>
            </p:nvSpPr>
            <p:spPr>
              <a:xfrm rot="5400000">
                <a:off x="4234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30" name="Rectangle 83"/>
              <p:cNvSpPr/>
              <p:nvPr/>
            </p:nvSpPr>
            <p:spPr>
              <a:xfrm>
                <a:off x="1615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31" name="Rectangle 84"/>
              <p:cNvSpPr/>
              <p:nvPr/>
            </p:nvSpPr>
            <p:spPr>
              <a:xfrm>
                <a:off x="1615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32" name="Rectangle 85"/>
              <p:cNvSpPr/>
              <p:nvPr/>
            </p:nvSpPr>
            <p:spPr>
              <a:xfrm>
                <a:off x="2546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33" name="Rectangle 86"/>
              <p:cNvSpPr/>
              <p:nvPr/>
            </p:nvSpPr>
            <p:spPr>
              <a:xfrm>
                <a:off x="2546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34" name="Rectangle 87"/>
              <p:cNvSpPr/>
              <p:nvPr/>
            </p:nvSpPr>
            <p:spPr>
              <a:xfrm>
                <a:off x="2546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35" name="Rectangle 88"/>
              <p:cNvSpPr/>
              <p:nvPr/>
            </p:nvSpPr>
            <p:spPr>
              <a:xfrm>
                <a:off x="4178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36" name="Rectangle 89"/>
              <p:cNvSpPr/>
              <p:nvPr/>
            </p:nvSpPr>
            <p:spPr>
              <a:xfrm>
                <a:off x="4178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37" name="Rectangle 90"/>
              <p:cNvSpPr/>
              <p:nvPr/>
            </p:nvSpPr>
            <p:spPr>
              <a:xfrm>
                <a:off x="4178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38" name="AutoShape 91"/>
              <p:cNvSpPr/>
              <p:nvPr/>
            </p:nvSpPr>
            <p:spPr>
              <a:xfrm rot="-5400000">
                <a:off x="2614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39" name="AutoShape 92"/>
              <p:cNvSpPr/>
              <p:nvPr/>
            </p:nvSpPr>
            <p:spPr>
              <a:xfrm rot="-5400000">
                <a:off x="4246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7040" name="Text Box 93"/>
              <p:cNvSpPr txBox="1"/>
              <p:nvPr/>
            </p:nvSpPr>
            <p:spPr>
              <a:xfrm>
                <a:off x="4796" y="86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1" name="Text Box 94"/>
              <p:cNvSpPr txBox="1"/>
              <p:nvPr/>
            </p:nvSpPr>
            <p:spPr>
              <a:xfrm>
                <a:off x="4806" y="115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写选择线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2" name="Line 95"/>
              <p:cNvSpPr/>
              <p:nvPr/>
            </p:nvSpPr>
            <p:spPr>
              <a:xfrm>
                <a:off x="4817" y="3306"/>
                <a:ext cx="3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297043" name="Text Box 96"/>
              <p:cNvSpPr txBox="1"/>
              <p:nvPr/>
            </p:nvSpPr>
            <p:spPr>
              <a:xfrm>
                <a:off x="4906" y="3024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4" name="Text Box 97"/>
              <p:cNvSpPr txBox="1"/>
              <p:nvPr/>
            </p:nvSpPr>
            <p:spPr>
              <a:xfrm>
                <a:off x="3296" y="1929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单元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5" name="Text Box 98"/>
              <p:cNvSpPr txBox="1"/>
              <p:nvPr/>
            </p:nvSpPr>
            <p:spPr>
              <a:xfrm>
                <a:off x="3296" y="21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电路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6" name="Text Box 99"/>
              <p:cNvSpPr txBox="1"/>
              <p:nvPr/>
            </p:nvSpPr>
            <p:spPr>
              <a:xfrm>
                <a:off x="503" y="936"/>
                <a:ext cx="307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7" name="Text Box 100"/>
              <p:cNvSpPr txBox="1"/>
              <p:nvPr/>
            </p:nvSpPr>
            <p:spPr>
              <a:xfrm>
                <a:off x="907" y="86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8" name="Text Box 101"/>
              <p:cNvSpPr txBox="1"/>
              <p:nvPr/>
            </p:nvSpPr>
            <p:spPr>
              <a:xfrm>
                <a:off x="907" y="115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49" name="Text Box 102"/>
              <p:cNvSpPr txBox="1"/>
              <p:nvPr/>
            </p:nvSpPr>
            <p:spPr>
              <a:xfrm>
                <a:off x="907" y="145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0" name="Text Box 103"/>
              <p:cNvSpPr txBox="1"/>
              <p:nvPr/>
            </p:nvSpPr>
            <p:spPr>
              <a:xfrm>
                <a:off x="907" y="176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1" name="Text Box 104"/>
              <p:cNvSpPr txBox="1"/>
              <p:nvPr/>
            </p:nvSpPr>
            <p:spPr>
              <a:xfrm>
                <a:off x="854" y="229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2" name="Text Box 105"/>
              <p:cNvSpPr txBox="1"/>
              <p:nvPr/>
            </p:nvSpPr>
            <p:spPr>
              <a:xfrm>
                <a:off x="858" y="259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3" name="Line 106"/>
              <p:cNvSpPr/>
              <p:nvPr/>
            </p:nvSpPr>
            <p:spPr>
              <a:xfrm>
                <a:off x="1887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054" name="Line 107"/>
              <p:cNvSpPr/>
              <p:nvPr/>
            </p:nvSpPr>
            <p:spPr>
              <a:xfrm>
                <a:off x="2832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055" name="Text Box 108"/>
              <p:cNvSpPr txBox="1"/>
              <p:nvPr/>
            </p:nvSpPr>
            <p:spPr>
              <a:xfrm>
                <a:off x="2613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56" name="Line 109"/>
              <p:cNvSpPr/>
              <p:nvPr/>
            </p:nvSpPr>
            <p:spPr>
              <a:xfrm>
                <a:off x="4473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057" name="Text Box 110"/>
              <p:cNvSpPr txBox="1"/>
              <p:nvPr/>
            </p:nvSpPr>
            <p:spPr>
              <a:xfrm>
                <a:off x="4176" y="342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7058" name="Group 111"/>
              <p:cNvGrpSpPr/>
              <p:nvPr/>
            </p:nvGrpSpPr>
            <p:grpSpPr>
              <a:xfrm>
                <a:off x="1492" y="3918"/>
                <a:ext cx="283" cy="324"/>
                <a:chOff x="1584" y="3918"/>
                <a:chExt cx="283" cy="324"/>
              </a:xfrm>
            </p:grpSpPr>
            <p:sp>
              <p:nvSpPr>
                <p:cNvPr id="297094" name="Line 112"/>
                <p:cNvSpPr/>
                <p:nvPr/>
              </p:nvSpPr>
              <p:spPr>
                <a:xfrm rot="-5400000">
                  <a:off x="149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095" name="Text Box 113"/>
                <p:cNvSpPr txBox="1"/>
                <p:nvPr/>
              </p:nvSpPr>
              <p:spPr>
                <a:xfrm>
                  <a:off x="1584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7059" name="Group 114"/>
              <p:cNvGrpSpPr/>
              <p:nvPr/>
            </p:nvGrpSpPr>
            <p:grpSpPr>
              <a:xfrm>
                <a:off x="2234" y="3918"/>
                <a:ext cx="284" cy="325"/>
                <a:chOff x="2355" y="3918"/>
                <a:chExt cx="284" cy="325"/>
              </a:xfrm>
            </p:grpSpPr>
            <p:sp>
              <p:nvSpPr>
                <p:cNvPr id="297092" name="Line 115"/>
                <p:cNvSpPr/>
                <p:nvPr/>
              </p:nvSpPr>
              <p:spPr>
                <a:xfrm rot="-5400000">
                  <a:off x="224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093" name="Text Box 116"/>
                <p:cNvSpPr txBox="1"/>
                <p:nvPr/>
              </p:nvSpPr>
              <p:spPr>
                <a:xfrm>
                  <a:off x="2356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7060" name="Group 117"/>
              <p:cNvGrpSpPr/>
              <p:nvPr/>
            </p:nvGrpSpPr>
            <p:grpSpPr>
              <a:xfrm>
                <a:off x="2978" y="3918"/>
                <a:ext cx="283" cy="325"/>
                <a:chOff x="3102" y="3918"/>
                <a:chExt cx="283" cy="325"/>
              </a:xfrm>
            </p:grpSpPr>
            <p:sp>
              <p:nvSpPr>
                <p:cNvPr id="297090" name="Line 118"/>
                <p:cNvSpPr/>
                <p:nvPr/>
              </p:nvSpPr>
              <p:spPr>
                <a:xfrm rot="-5400000">
                  <a:off x="300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091" name="Text Box 119"/>
                <p:cNvSpPr txBox="1"/>
                <p:nvPr/>
              </p:nvSpPr>
              <p:spPr>
                <a:xfrm>
                  <a:off x="3102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7061" name="Group 120"/>
              <p:cNvGrpSpPr/>
              <p:nvPr/>
            </p:nvGrpSpPr>
            <p:grpSpPr>
              <a:xfrm>
                <a:off x="3721" y="3918"/>
                <a:ext cx="283" cy="325"/>
                <a:chOff x="3844" y="3918"/>
                <a:chExt cx="283" cy="325"/>
              </a:xfrm>
            </p:grpSpPr>
            <p:sp>
              <p:nvSpPr>
                <p:cNvPr id="297088" name="Line 121"/>
                <p:cNvSpPr/>
                <p:nvPr/>
              </p:nvSpPr>
              <p:spPr>
                <a:xfrm rot="-5400000">
                  <a:off x="375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089" name="Text Box 122"/>
                <p:cNvSpPr txBox="1"/>
                <p:nvPr/>
              </p:nvSpPr>
              <p:spPr>
                <a:xfrm>
                  <a:off x="3844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7062" name="Group 123"/>
              <p:cNvGrpSpPr/>
              <p:nvPr/>
            </p:nvGrpSpPr>
            <p:grpSpPr>
              <a:xfrm>
                <a:off x="4464" y="3918"/>
                <a:ext cx="283" cy="324"/>
                <a:chOff x="4603" y="3918"/>
                <a:chExt cx="283" cy="324"/>
              </a:xfrm>
            </p:grpSpPr>
            <p:sp>
              <p:nvSpPr>
                <p:cNvPr id="297086" name="Line 124"/>
                <p:cNvSpPr/>
                <p:nvPr/>
              </p:nvSpPr>
              <p:spPr>
                <a:xfrm rot="-5400000">
                  <a:off x="4510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7087" name="Text Box 125"/>
                <p:cNvSpPr txBox="1"/>
                <p:nvPr/>
              </p:nvSpPr>
              <p:spPr>
                <a:xfrm>
                  <a:off x="4603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7063" name="Line 126"/>
              <p:cNvSpPr/>
              <p:nvPr/>
            </p:nvSpPr>
            <p:spPr>
              <a:xfrm>
                <a:off x="2689" y="1690"/>
                <a:ext cx="643" cy="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064" name="Line 127"/>
              <p:cNvSpPr/>
              <p:nvPr/>
            </p:nvSpPr>
            <p:spPr>
              <a:xfrm>
                <a:off x="3976" y="2039"/>
                <a:ext cx="990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065" name="Line 128"/>
              <p:cNvSpPr/>
              <p:nvPr/>
            </p:nvSpPr>
            <p:spPr>
              <a:xfrm>
                <a:off x="4718" y="1384"/>
                <a:ext cx="693" cy="1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066" name="Text Box 129"/>
              <p:cNvSpPr txBox="1"/>
              <p:nvPr/>
            </p:nvSpPr>
            <p:spPr>
              <a:xfrm>
                <a:off x="4844" y="2728"/>
                <a:ext cx="9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刷新放大器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67" name="Line 130"/>
              <p:cNvSpPr/>
              <p:nvPr/>
            </p:nvSpPr>
            <p:spPr>
              <a:xfrm flipV="1">
                <a:off x="4520" y="2957"/>
                <a:ext cx="495" cy="4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97068" name="Group 131"/>
              <p:cNvGrpSpPr/>
              <p:nvPr/>
            </p:nvGrpSpPr>
            <p:grpSpPr>
              <a:xfrm>
                <a:off x="4916" y="1726"/>
                <a:ext cx="275" cy="894"/>
                <a:chOff x="4920" y="1790"/>
                <a:chExt cx="275" cy="894"/>
              </a:xfrm>
            </p:grpSpPr>
            <p:sp>
              <p:nvSpPr>
                <p:cNvPr id="297082" name="Text Box 132"/>
                <p:cNvSpPr txBox="1"/>
                <p:nvPr/>
              </p:nvSpPr>
              <p:spPr>
                <a:xfrm>
                  <a:off x="4920" y="1790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写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083" name="Text Box 133"/>
                <p:cNvSpPr txBox="1"/>
                <p:nvPr/>
              </p:nvSpPr>
              <p:spPr>
                <a:xfrm>
                  <a:off x="4920" y="200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084" name="Text Box 134"/>
                <p:cNvSpPr txBox="1"/>
                <p:nvPr/>
              </p:nvSpPr>
              <p:spPr>
                <a:xfrm>
                  <a:off x="4920" y="2219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085" name="Text Box 135"/>
                <p:cNvSpPr txBox="1"/>
                <p:nvPr/>
              </p:nvSpPr>
              <p:spPr>
                <a:xfrm>
                  <a:off x="4920" y="243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7069" name="Group 136"/>
              <p:cNvGrpSpPr/>
              <p:nvPr/>
            </p:nvGrpSpPr>
            <p:grpSpPr>
              <a:xfrm>
                <a:off x="5372" y="1505"/>
                <a:ext cx="275" cy="880"/>
                <a:chOff x="5394" y="1612"/>
                <a:chExt cx="275" cy="880"/>
              </a:xfrm>
            </p:grpSpPr>
            <p:sp>
              <p:nvSpPr>
                <p:cNvPr id="297078" name="Text Box 137"/>
                <p:cNvSpPr txBox="1"/>
                <p:nvPr/>
              </p:nvSpPr>
              <p:spPr>
                <a:xfrm>
                  <a:off x="5394" y="161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079" name="Text Box 138"/>
                <p:cNvSpPr txBox="1"/>
                <p:nvPr/>
              </p:nvSpPr>
              <p:spPr>
                <a:xfrm>
                  <a:off x="5394" y="182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080" name="Text Box 139"/>
                <p:cNvSpPr txBox="1"/>
                <p:nvPr/>
              </p:nvSpPr>
              <p:spPr>
                <a:xfrm>
                  <a:off x="5394" y="203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081" name="Text Box 140"/>
                <p:cNvSpPr txBox="1"/>
                <p:nvPr/>
              </p:nvSpPr>
              <p:spPr>
                <a:xfrm>
                  <a:off x="5394" y="224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7070" name="Group 141"/>
              <p:cNvGrpSpPr/>
              <p:nvPr/>
            </p:nvGrpSpPr>
            <p:grpSpPr>
              <a:xfrm>
                <a:off x="3320" y="915"/>
                <a:ext cx="371" cy="2173"/>
                <a:chOff x="3324" y="979"/>
                <a:chExt cx="371" cy="2173"/>
              </a:xfrm>
            </p:grpSpPr>
            <p:sp>
              <p:nvSpPr>
                <p:cNvPr id="297074" name="Text Box 142"/>
                <p:cNvSpPr txBox="1"/>
                <p:nvPr/>
              </p:nvSpPr>
              <p:spPr>
                <a:xfrm>
                  <a:off x="3324" y="97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075" name="Text Box 143"/>
                <p:cNvSpPr txBox="1"/>
                <p:nvPr/>
              </p:nvSpPr>
              <p:spPr>
                <a:xfrm>
                  <a:off x="3324" y="1507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076" name="Text Box 144"/>
                <p:cNvSpPr txBox="1"/>
                <p:nvPr/>
              </p:nvSpPr>
              <p:spPr>
                <a:xfrm>
                  <a:off x="3324" y="240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7077" name="Text Box 145"/>
                <p:cNvSpPr txBox="1"/>
                <p:nvPr/>
              </p:nvSpPr>
              <p:spPr>
                <a:xfrm>
                  <a:off x="3324" y="2784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7071" name="Text Box 146"/>
              <p:cNvSpPr txBox="1"/>
              <p:nvPr/>
            </p:nvSpPr>
            <p:spPr>
              <a:xfrm rot="5400000">
                <a:off x="916" y="197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72" name="Text Box 147"/>
              <p:cNvSpPr txBox="1"/>
              <p:nvPr/>
            </p:nvSpPr>
            <p:spPr>
              <a:xfrm>
                <a:off x="1656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073" name="Text Box 148"/>
              <p:cNvSpPr txBox="1"/>
              <p:nvPr/>
            </p:nvSpPr>
            <p:spPr>
              <a:xfrm>
                <a:off x="3350" y="3312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96966" name="AutoShape 14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6967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97986" name="Group 2"/>
          <p:cNvGrpSpPr/>
          <p:nvPr/>
        </p:nvGrpSpPr>
        <p:grpSpPr>
          <a:xfrm>
            <a:off x="1524000" y="1295400"/>
            <a:ext cx="9142413" cy="5440363"/>
            <a:chOff x="0" y="816"/>
            <a:chExt cx="5759" cy="3427"/>
          </a:xfrm>
        </p:grpSpPr>
        <p:grpSp>
          <p:nvGrpSpPr>
            <p:cNvPr id="298006" name="Group 3"/>
            <p:cNvGrpSpPr/>
            <p:nvPr/>
          </p:nvGrpSpPr>
          <p:grpSpPr>
            <a:xfrm>
              <a:off x="0" y="1094"/>
              <a:ext cx="462" cy="251"/>
              <a:chOff x="0" y="933"/>
              <a:chExt cx="462" cy="251"/>
            </a:xfrm>
          </p:grpSpPr>
          <p:sp>
            <p:nvSpPr>
              <p:cNvPr id="298142" name="Line 4"/>
              <p:cNvSpPr/>
              <p:nvPr/>
            </p:nvSpPr>
            <p:spPr>
              <a:xfrm>
                <a:off x="214" y="991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8143" name="Text Box 5"/>
              <p:cNvSpPr txBox="1"/>
              <p:nvPr/>
            </p:nvSpPr>
            <p:spPr>
              <a:xfrm>
                <a:off x="0" y="9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8007" name="Group 6"/>
            <p:cNvGrpSpPr/>
            <p:nvPr/>
          </p:nvGrpSpPr>
          <p:grpSpPr>
            <a:xfrm>
              <a:off x="16" y="1540"/>
              <a:ext cx="446" cy="251"/>
              <a:chOff x="16" y="1371"/>
              <a:chExt cx="446" cy="251"/>
            </a:xfrm>
          </p:grpSpPr>
          <p:sp>
            <p:nvSpPr>
              <p:cNvPr id="298140" name="Line 7"/>
              <p:cNvSpPr/>
              <p:nvPr/>
            </p:nvSpPr>
            <p:spPr>
              <a:xfrm>
                <a:off x="214" y="1439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8141" name="Text Box 8"/>
              <p:cNvSpPr txBox="1"/>
              <p:nvPr/>
            </p:nvSpPr>
            <p:spPr>
              <a:xfrm>
                <a:off x="16" y="137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8008" name="Group 9"/>
            <p:cNvGrpSpPr/>
            <p:nvPr/>
          </p:nvGrpSpPr>
          <p:grpSpPr>
            <a:xfrm>
              <a:off x="16" y="1987"/>
              <a:ext cx="446" cy="251"/>
              <a:chOff x="16" y="1809"/>
              <a:chExt cx="446" cy="251"/>
            </a:xfrm>
          </p:grpSpPr>
          <p:sp>
            <p:nvSpPr>
              <p:cNvPr id="298138" name="Line 10"/>
              <p:cNvSpPr/>
              <p:nvPr/>
            </p:nvSpPr>
            <p:spPr>
              <a:xfrm>
                <a:off x="214" y="1886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8139" name="Text Box 11"/>
              <p:cNvSpPr txBox="1"/>
              <p:nvPr/>
            </p:nvSpPr>
            <p:spPr>
              <a:xfrm>
                <a:off x="16" y="1809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8009" name="Group 12"/>
            <p:cNvGrpSpPr/>
            <p:nvPr/>
          </p:nvGrpSpPr>
          <p:grpSpPr>
            <a:xfrm>
              <a:off x="16" y="2433"/>
              <a:ext cx="446" cy="251"/>
              <a:chOff x="16" y="2276"/>
              <a:chExt cx="446" cy="251"/>
            </a:xfrm>
          </p:grpSpPr>
          <p:sp>
            <p:nvSpPr>
              <p:cNvPr id="298136" name="Line 13"/>
              <p:cNvSpPr/>
              <p:nvPr/>
            </p:nvSpPr>
            <p:spPr>
              <a:xfrm>
                <a:off x="214" y="2334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8137" name="Text Box 14"/>
              <p:cNvSpPr txBox="1"/>
              <p:nvPr/>
            </p:nvSpPr>
            <p:spPr>
              <a:xfrm>
                <a:off x="16" y="2276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8010" name="Group 15"/>
            <p:cNvGrpSpPr/>
            <p:nvPr/>
          </p:nvGrpSpPr>
          <p:grpSpPr>
            <a:xfrm>
              <a:off x="16" y="2880"/>
              <a:ext cx="446" cy="251"/>
              <a:chOff x="16" y="2725"/>
              <a:chExt cx="446" cy="251"/>
            </a:xfrm>
          </p:grpSpPr>
          <p:sp>
            <p:nvSpPr>
              <p:cNvPr id="298134" name="Line 16"/>
              <p:cNvSpPr/>
              <p:nvPr/>
            </p:nvSpPr>
            <p:spPr>
              <a:xfrm>
                <a:off x="214" y="2782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8135" name="Text Box 17"/>
              <p:cNvSpPr txBox="1"/>
              <p:nvPr/>
            </p:nvSpPr>
            <p:spPr>
              <a:xfrm>
                <a:off x="16" y="27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8011" name="Group 18"/>
            <p:cNvGrpSpPr/>
            <p:nvPr/>
          </p:nvGrpSpPr>
          <p:grpSpPr>
            <a:xfrm>
              <a:off x="462" y="816"/>
              <a:ext cx="5297" cy="3427"/>
              <a:chOff x="462" y="816"/>
              <a:chExt cx="5297" cy="3427"/>
            </a:xfrm>
          </p:grpSpPr>
          <p:sp>
            <p:nvSpPr>
              <p:cNvPr id="298012" name="Rectangle 19"/>
              <p:cNvSpPr/>
              <p:nvPr/>
            </p:nvSpPr>
            <p:spPr>
              <a:xfrm>
                <a:off x="462" y="816"/>
                <a:ext cx="693" cy="248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13" name="Freeform 20"/>
              <p:cNvSpPr/>
              <p:nvPr/>
            </p:nvSpPr>
            <p:spPr>
              <a:xfrm>
                <a:off x="1155" y="991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14" name="Rectangle 21"/>
              <p:cNvSpPr/>
              <p:nvPr/>
            </p:nvSpPr>
            <p:spPr>
              <a:xfrm>
                <a:off x="1615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15" name="Freeform 22"/>
              <p:cNvSpPr/>
              <p:nvPr/>
            </p:nvSpPr>
            <p:spPr>
              <a:xfrm>
                <a:off x="4351" y="991"/>
                <a:ext cx="1" cy="79"/>
              </a:xfrm>
              <a:custGeom>
                <a:avLst/>
                <a:gdLst>
                  <a:gd name="txL" fmla="*/ 0 w 1"/>
                  <a:gd name="txT" fmla="*/ 0 h 87"/>
                  <a:gd name="txR" fmla="*/ 1 w 1"/>
                  <a:gd name="txB" fmla="*/ 87 h 87"/>
                </a:gdLst>
                <a:ahLst/>
                <a:cxnLst>
                  <a:cxn ang="0">
                    <a:pos x="0" y="0"/>
                  </a:cxn>
                  <a:cxn ang="0">
                    <a:pos x="0" y="87"/>
                  </a:cxn>
                </a:cxnLst>
                <a:rect l="txL" t="txT" r="txR" b="txB"/>
                <a:pathLst>
                  <a:path w="1" h="87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16" name="Freeform 23"/>
              <p:cNvSpPr/>
              <p:nvPr/>
            </p:nvSpPr>
            <p:spPr>
              <a:xfrm>
                <a:off x="1155" y="1295"/>
                <a:ext cx="3659" cy="3"/>
              </a:xfrm>
              <a:custGeom>
                <a:avLst/>
                <a:gdLst>
                  <a:gd name="txL" fmla="*/ 0 w 3659"/>
                  <a:gd name="txT" fmla="*/ 0 h 3"/>
                  <a:gd name="txR" fmla="*/ 3659 w 3659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3659" y="3"/>
                  </a:cxn>
                </a:cxnLst>
                <a:rect l="txL" t="txT" r="txR" b="txB"/>
                <a:pathLst>
                  <a:path w="3659" h="3">
                    <a:moveTo>
                      <a:pt x="0" y="0"/>
                    </a:moveTo>
                    <a:lnTo>
                      <a:pt x="365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17" name="Freeform 24"/>
              <p:cNvSpPr/>
              <p:nvPr/>
            </p:nvSpPr>
            <p:spPr>
              <a:xfrm>
                <a:off x="2727" y="987"/>
                <a:ext cx="1" cy="86"/>
              </a:xfrm>
              <a:custGeom>
                <a:avLst/>
                <a:gdLst>
                  <a:gd name="txL" fmla="*/ 0 w 1"/>
                  <a:gd name="txT" fmla="*/ 0 h 86"/>
                  <a:gd name="txR" fmla="*/ 1 w 1"/>
                  <a:gd name="txB" fmla="*/ 86 h 86"/>
                </a:gdLst>
                <a:ahLst/>
                <a:cxnLst>
                  <a:cxn ang="0">
                    <a:pos x="0" y="0"/>
                  </a:cxn>
                  <a:cxn ang="0">
                    <a:pos x="1" y="86"/>
                  </a:cxn>
                </a:cxnLst>
                <a:rect l="txL" t="txT" r="txR" b="txB"/>
                <a:pathLst>
                  <a:path w="1" h="86">
                    <a:moveTo>
                      <a:pt x="0" y="0"/>
                    </a:moveTo>
                    <a:lnTo>
                      <a:pt x="1" y="8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18" name="Freeform 25"/>
              <p:cNvSpPr/>
              <p:nvPr/>
            </p:nvSpPr>
            <p:spPr>
              <a:xfrm>
                <a:off x="1791" y="985"/>
                <a:ext cx="1" cy="92"/>
              </a:xfrm>
              <a:custGeom>
                <a:avLst/>
                <a:gdLst>
                  <a:gd name="txL" fmla="*/ 0 w 1"/>
                  <a:gd name="txT" fmla="*/ 0 h 92"/>
                  <a:gd name="txR" fmla="*/ 1 w 1"/>
                  <a:gd name="txB" fmla="*/ 92 h 92"/>
                </a:gdLst>
                <a:ahLst/>
                <a:cxnLst>
                  <a:cxn ang="0">
                    <a:pos x="0" y="0"/>
                  </a:cxn>
                  <a:cxn ang="0">
                    <a:pos x="0" y="92"/>
                  </a:cxn>
                </a:cxnLst>
                <a:rect l="txL" t="txT" r="txR" b="tx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19" name="Freeform 26"/>
              <p:cNvSpPr/>
              <p:nvPr/>
            </p:nvSpPr>
            <p:spPr>
              <a:xfrm>
                <a:off x="1788" y="1212"/>
                <a:ext cx="1" cy="85"/>
              </a:xfrm>
              <a:custGeom>
                <a:avLst/>
                <a:gdLst>
                  <a:gd name="txL" fmla="*/ 0 w 1"/>
                  <a:gd name="txT" fmla="*/ 0 h 93"/>
                  <a:gd name="txR" fmla="*/ 1 w 1"/>
                  <a:gd name="txB" fmla="*/ 93 h 93"/>
                </a:gdLst>
                <a:ahLst/>
                <a:cxnLst>
                  <a:cxn ang="0">
                    <a:pos x="0" y="93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3">
                    <a:moveTo>
                      <a:pt x="0" y="9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20" name="Freeform 27"/>
              <p:cNvSpPr/>
              <p:nvPr/>
            </p:nvSpPr>
            <p:spPr>
              <a:xfrm>
                <a:off x="2736" y="1200"/>
                <a:ext cx="3" cy="95"/>
              </a:xfrm>
              <a:custGeom>
                <a:avLst/>
                <a:gdLst>
                  <a:gd name="txL" fmla="*/ 0 w 3"/>
                  <a:gd name="txT" fmla="*/ 0 h 105"/>
                  <a:gd name="txR" fmla="*/ 3 w 3"/>
                  <a:gd name="txB" fmla="*/ 105 h 105"/>
                </a:gdLst>
                <a:ahLst/>
                <a:cxnLst>
                  <a:cxn ang="0">
                    <a:pos x="0" y="105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105">
                    <a:moveTo>
                      <a:pt x="0" y="105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21" name="Line 28"/>
              <p:cNvSpPr/>
              <p:nvPr/>
            </p:nvSpPr>
            <p:spPr>
              <a:xfrm rot="10800000">
                <a:off x="4351" y="121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22" name="Freeform 29"/>
              <p:cNvSpPr/>
              <p:nvPr/>
            </p:nvSpPr>
            <p:spPr>
              <a:xfrm>
                <a:off x="1155" y="1559"/>
                <a:ext cx="3653" cy="1"/>
              </a:xfrm>
              <a:custGeom>
                <a:avLst/>
                <a:gdLst>
                  <a:gd name="txL" fmla="*/ 0 w 3543"/>
                  <a:gd name="txT" fmla="*/ 0 h 1"/>
                  <a:gd name="txR" fmla="*/ 3543 w 35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43" y="0"/>
                  </a:cxn>
                </a:cxnLst>
                <a:rect l="txL" t="txT" r="txR" b="txB"/>
                <a:pathLst>
                  <a:path w="3543" h="1">
                    <a:moveTo>
                      <a:pt x="0" y="0"/>
                    </a:moveTo>
                    <a:lnTo>
                      <a:pt x="354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23" name="Line 30"/>
              <p:cNvSpPr/>
              <p:nvPr/>
            </p:nvSpPr>
            <p:spPr>
              <a:xfrm>
                <a:off x="4351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24" name="Freeform 31"/>
              <p:cNvSpPr/>
              <p:nvPr/>
            </p:nvSpPr>
            <p:spPr>
              <a:xfrm>
                <a:off x="1155" y="1863"/>
                <a:ext cx="3656" cy="1"/>
              </a:xfrm>
              <a:custGeom>
                <a:avLst/>
                <a:gdLst>
                  <a:gd name="txL" fmla="*/ 0 w 3546"/>
                  <a:gd name="txT" fmla="*/ 0 h 2"/>
                  <a:gd name="txR" fmla="*/ 3546 w 354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3546" y="2"/>
                  </a:cxn>
                </a:cxnLst>
                <a:rect l="txL" t="txT" r="txR" b="txB"/>
                <a:pathLst>
                  <a:path w="3546" h="2">
                    <a:moveTo>
                      <a:pt x="0" y="0"/>
                    </a:moveTo>
                    <a:lnTo>
                      <a:pt x="354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25" name="Line 32"/>
              <p:cNvSpPr/>
              <p:nvPr/>
            </p:nvSpPr>
            <p:spPr>
              <a:xfrm>
                <a:off x="2725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26" name="Line 33"/>
              <p:cNvSpPr/>
              <p:nvPr/>
            </p:nvSpPr>
            <p:spPr>
              <a:xfrm>
                <a:off x="1788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27" name="Line 34"/>
              <p:cNvSpPr/>
              <p:nvPr/>
            </p:nvSpPr>
            <p:spPr>
              <a:xfrm rot="10800000">
                <a:off x="1788" y="177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28" name="Line 35"/>
              <p:cNvSpPr/>
              <p:nvPr/>
            </p:nvSpPr>
            <p:spPr>
              <a:xfrm rot="10800000">
                <a:off x="2725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29" name="Line 36"/>
              <p:cNvSpPr/>
              <p:nvPr/>
            </p:nvSpPr>
            <p:spPr>
              <a:xfrm rot="10800000">
                <a:off x="4351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30" name="Freeform 37"/>
              <p:cNvSpPr/>
              <p:nvPr/>
            </p:nvSpPr>
            <p:spPr>
              <a:xfrm>
                <a:off x="1155" y="2432"/>
                <a:ext cx="3675" cy="1"/>
              </a:xfrm>
              <a:custGeom>
                <a:avLst/>
                <a:gdLst>
                  <a:gd name="txL" fmla="*/ 0 w 3564"/>
                  <a:gd name="txT" fmla="*/ 0 h 1"/>
                  <a:gd name="txR" fmla="*/ 3564 w 356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64" y="0"/>
                  </a:cxn>
                </a:cxnLst>
                <a:rect l="txL" t="txT" r="txR" b="txB"/>
                <a:pathLst>
                  <a:path w="3564" h="1">
                    <a:moveTo>
                      <a:pt x="0" y="0"/>
                    </a:moveTo>
                    <a:lnTo>
                      <a:pt x="356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31" name="Line 38"/>
              <p:cNvSpPr/>
              <p:nvPr/>
            </p:nvSpPr>
            <p:spPr>
              <a:xfrm>
                <a:off x="4351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32" name="Freeform 39"/>
              <p:cNvSpPr/>
              <p:nvPr/>
            </p:nvSpPr>
            <p:spPr>
              <a:xfrm>
                <a:off x="1155" y="2736"/>
                <a:ext cx="3647" cy="1"/>
              </a:xfrm>
              <a:custGeom>
                <a:avLst/>
                <a:gdLst>
                  <a:gd name="txL" fmla="*/ 0 w 3647"/>
                  <a:gd name="txT" fmla="*/ 0 h 1"/>
                  <a:gd name="txR" fmla="*/ 3647 w 364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647" y="1"/>
                  </a:cxn>
                </a:cxnLst>
                <a:rect l="txL" t="txT" r="txR" b="txB"/>
                <a:pathLst>
                  <a:path w="3647" h="1">
                    <a:moveTo>
                      <a:pt x="0" y="0"/>
                    </a:moveTo>
                    <a:lnTo>
                      <a:pt x="364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33" name="Line 40"/>
              <p:cNvSpPr/>
              <p:nvPr/>
            </p:nvSpPr>
            <p:spPr>
              <a:xfrm>
                <a:off x="2725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34" name="Line 41"/>
              <p:cNvSpPr/>
              <p:nvPr/>
            </p:nvSpPr>
            <p:spPr>
              <a:xfrm>
                <a:off x="1788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35" name="Line 42"/>
              <p:cNvSpPr/>
              <p:nvPr/>
            </p:nvSpPr>
            <p:spPr>
              <a:xfrm rot="10800000">
                <a:off x="1788" y="2652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36" name="Line 43"/>
              <p:cNvSpPr/>
              <p:nvPr/>
            </p:nvSpPr>
            <p:spPr>
              <a:xfrm rot="10800000">
                <a:off x="2725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37" name="Line 44"/>
              <p:cNvSpPr/>
              <p:nvPr/>
            </p:nvSpPr>
            <p:spPr>
              <a:xfrm rot="10800000">
                <a:off x="4351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38" name="AutoShape 45"/>
              <p:cNvSpPr/>
              <p:nvPr/>
            </p:nvSpPr>
            <p:spPr>
              <a:xfrm rot="-5400000">
                <a:off x="1683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39" name="Freeform 46"/>
              <p:cNvSpPr/>
              <p:nvPr/>
            </p:nvSpPr>
            <p:spPr>
              <a:xfrm>
                <a:off x="1416" y="1148"/>
                <a:ext cx="198" cy="2026"/>
              </a:xfrm>
              <a:custGeom>
                <a:avLst/>
                <a:gdLst>
                  <a:gd name="txL" fmla="*/ 0 w 198"/>
                  <a:gd name="txT" fmla="*/ 0 h 2026"/>
                  <a:gd name="txR" fmla="*/ 198 w 198"/>
                  <a:gd name="txB" fmla="*/ 2026 h 2026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6" y="2026"/>
                  </a:cxn>
                </a:cxnLst>
                <a:rect l="txL" t="txT" r="txR" b="txB"/>
                <a:pathLst>
                  <a:path w="198" h="2026">
                    <a:moveTo>
                      <a:pt x="198" y="0"/>
                    </a:moveTo>
                    <a:lnTo>
                      <a:pt x="0" y="0"/>
                    </a:lnTo>
                    <a:lnTo>
                      <a:pt x="6" y="202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40" name="Freeform 47"/>
              <p:cNvSpPr/>
              <p:nvPr/>
            </p:nvSpPr>
            <p:spPr>
              <a:xfrm>
                <a:off x="141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41" name="Freeform 48"/>
              <p:cNvSpPr/>
              <p:nvPr/>
            </p:nvSpPr>
            <p:spPr>
              <a:xfrm>
                <a:off x="1422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42" name="Line 49"/>
              <p:cNvSpPr/>
              <p:nvPr/>
            </p:nvSpPr>
            <p:spPr>
              <a:xfrm>
                <a:off x="1419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43" name="Freeform 50"/>
              <p:cNvSpPr/>
              <p:nvPr/>
            </p:nvSpPr>
            <p:spPr>
              <a:xfrm>
                <a:off x="3979" y="1148"/>
                <a:ext cx="198" cy="2023"/>
              </a:xfrm>
              <a:custGeom>
                <a:avLst/>
                <a:gdLst>
                  <a:gd name="txL" fmla="*/ 0 w 198"/>
                  <a:gd name="txT" fmla="*/ 0 h 2023"/>
                  <a:gd name="txR" fmla="*/ 198 w 198"/>
                  <a:gd name="txB" fmla="*/ 2023 h 2023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2" y="2023"/>
                  </a:cxn>
                </a:cxnLst>
                <a:rect l="txL" t="txT" r="txR" b="txB"/>
                <a:pathLst>
                  <a:path w="198" h="2023">
                    <a:moveTo>
                      <a:pt x="198" y="0"/>
                    </a:moveTo>
                    <a:lnTo>
                      <a:pt x="0" y="0"/>
                    </a:lnTo>
                    <a:lnTo>
                      <a:pt x="2" y="202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44" name="Freeform 51"/>
              <p:cNvSpPr/>
              <p:nvPr/>
            </p:nvSpPr>
            <p:spPr>
              <a:xfrm>
                <a:off x="3982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45" name="Freeform 52"/>
              <p:cNvSpPr/>
              <p:nvPr/>
            </p:nvSpPr>
            <p:spPr>
              <a:xfrm>
                <a:off x="3985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46" name="Line 53"/>
              <p:cNvSpPr/>
              <p:nvPr/>
            </p:nvSpPr>
            <p:spPr>
              <a:xfrm>
                <a:off x="3982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47" name="Freeform 54"/>
              <p:cNvSpPr/>
              <p:nvPr/>
            </p:nvSpPr>
            <p:spPr>
              <a:xfrm>
                <a:off x="2347" y="1148"/>
                <a:ext cx="198" cy="2024"/>
              </a:xfrm>
              <a:custGeom>
                <a:avLst/>
                <a:gdLst>
                  <a:gd name="txL" fmla="*/ 0 w 192"/>
                  <a:gd name="txT" fmla="*/ 0 h 2224"/>
                  <a:gd name="txR" fmla="*/ 192 w 192"/>
                  <a:gd name="txB" fmla="*/ 2224 h 2224"/>
                </a:gdLst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2" y="2224"/>
                  </a:cxn>
                </a:cxnLst>
                <a:rect l="txL" t="txT" r="txR" b="txB"/>
                <a:pathLst>
                  <a:path w="192" h="2224">
                    <a:moveTo>
                      <a:pt x="192" y="0"/>
                    </a:moveTo>
                    <a:lnTo>
                      <a:pt x="0" y="0"/>
                    </a:lnTo>
                    <a:lnTo>
                      <a:pt x="2" y="222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48" name="Freeform 55"/>
              <p:cNvSpPr/>
              <p:nvPr/>
            </p:nvSpPr>
            <p:spPr>
              <a:xfrm>
                <a:off x="235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49" name="Freeform 56"/>
              <p:cNvSpPr/>
              <p:nvPr/>
            </p:nvSpPr>
            <p:spPr>
              <a:xfrm>
                <a:off x="2353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50" name="Line 57"/>
              <p:cNvSpPr/>
              <p:nvPr/>
            </p:nvSpPr>
            <p:spPr>
              <a:xfrm>
                <a:off x="2350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8051" name="Freeform 58"/>
              <p:cNvSpPr/>
              <p:nvPr/>
            </p:nvSpPr>
            <p:spPr>
              <a:xfrm>
                <a:off x="1964" y="1135"/>
                <a:ext cx="198" cy="2030"/>
              </a:xfrm>
              <a:custGeom>
                <a:avLst/>
                <a:gdLst>
                  <a:gd name="txL" fmla="*/ 0 w 198"/>
                  <a:gd name="txT" fmla="*/ 0 h 2030"/>
                  <a:gd name="txR" fmla="*/ 198 w 198"/>
                  <a:gd name="txB" fmla="*/ 2030 h 2030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193" y="2030"/>
                  </a:cxn>
                </a:cxnLst>
                <a:rect l="txL" t="txT" r="txR" b="txB"/>
                <a:pathLst>
                  <a:path w="198" h="2030">
                    <a:moveTo>
                      <a:pt x="0" y="0"/>
                    </a:moveTo>
                    <a:lnTo>
                      <a:pt x="198" y="0"/>
                    </a:lnTo>
                    <a:lnTo>
                      <a:pt x="193" y="20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52" name="Freeform 59"/>
              <p:cNvSpPr/>
              <p:nvPr/>
            </p:nvSpPr>
            <p:spPr>
              <a:xfrm rot="10800000">
                <a:off x="195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53" name="Freeform 60"/>
              <p:cNvSpPr/>
              <p:nvPr/>
            </p:nvSpPr>
            <p:spPr>
              <a:xfrm rot="10800000">
                <a:off x="1959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54" name="Freeform 61"/>
              <p:cNvSpPr/>
              <p:nvPr/>
            </p:nvSpPr>
            <p:spPr>
              <a:xfrm>
                <a:off x="1958" y="2957"/>
                <a:ext cx="200" cy="1"/>
              </a:xfrm>
              <a:custGeom>
                <a:avLst/>
                <a:gdLst>
                  <a:gd name="txL" fmla="*/ 0 w 194"/>
                  <a:gd name="txT" fmla="*/ 0 h 1"/>
                  <a:gd name="txR" fmla="*/ 194 w 194"/>
                  <a:gd name="txB" fmla="*/ 1 h 1"/>
                </a:gdLst>
                <a:ahLst/>
                <a:cxnLst>
                  <a:cxn ang="0">
                    <a:pos x="19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4" h="1">
                    <a:moveTo>
                      <a:pt x="19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55" name="Freeform 62"/>
              <p:cNvSpPr/>
              <p:nvPr/>
            </p:nvSpPr>
            <p:spPr>
              <a:xfrm>
                <a:off x="2893" y="1135"/>
                <a:ext cx="199" cy="2047"/>
              </a:xfrm>
              <a:custGeom>
                <a:avLst/>
                <a:gdLst>
                  <a:gd name="txL" fmla="*/ 0 w 193"/>
                  <a:gd name="txT" fmla="*/ 0 h 2250"/>
                  <a:gd name="txR" fmla="*/ 193 w 193"/>
                  <a:gd name="txB" fmla="*/ 2250 h 2250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3" y="2250"/>
                  </a:cxn>
                </a:cxnLst>
                <a:rect l="txL" t="txT" r="txR" b="txB"/>
                <a:pathLst>
                  <a:path w="193" h="2250">
                    <a:moveTo>
                      <a:pt x="0" y="0"/>
                    </a:moveTo>
                    <a:lnTo>
                      <a:pt x="192" y="0"/>
                    </a:lnTo>
                    <a:lnTo>
                      <a:pt x="193" y="22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56" name="Freeform 63"/>
              <p:cNvSpPr/>
              <p:nvPr/>
            </p:nvSpPr>
            <p:spPr>
              <a:xfrm rot="10800000">
                <a:off x="289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57" name="Freeform 64"/>
              <p:cNvSpPr/>
              <p:nvPr/>
            </p:nvSpPr>
            <p:spPr>
              <a:xfrm rot="10800000">
                <a:off x="2890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58" name="Freeform 65"/>
              <p:cNvSpPr/>
              <p:nvPr/>
            </p:nvSpPr>
            <p:spPr>
              <a:xfrm>
                <a:off x="2895" y="2957"/>
                <a:ext cx="194" cy="1"/>
              </a:xfrm>
              <a:custGeom>
                <a:avLst/>
                <a:gdLst>
                  <a:gd name="txL" fmla="*/ 0 w 188"/>
                  <a:gd name="txT" fmla="*/ 0 h 1"/>
                  <a:gd name="txR" fmla="*/ 188 w 188"/>
                  <a:gd name="txB" fmla="*/ 1 h 1"/>
                </a:gdLst>
                <a:ahLst/>
                <a:cxnLst>
                  <a:cxn ang="0">
                    <a:pos x="18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59" name="Freeform 66"/>
              <p:cNvSpPr/>
              <p:nvPr/>
            </p:nvSpPr>
            <p:spPr>
              <a:xfrm>
                <a:off x="4531" y="1135"/>
                <a:ext cx="203" cy="2027"/>
              </a:xfrm>
              <a:custGeom>
                <a:avLst/>
                <a:gdLst>
                  <a:gd name="txL" fmla="*/ 0 w 203"/>
                  <a:gd name="txT" fmla="*/ 0 h 2027"/>
                  <a:gd name="txR" fmla="*/ 203 w 203"/>
                  <a:gd name="txB" fmla="*/ 2027 h 2027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203" y="2027"/>
                  </a:cxn>
                </a:cxnLst>
                <a:rect l="txL" t="txT" r="txR" b="txB"/>
                <a:pathLst>
                  <a:path w="203" h="2027">
                    <a:moveTo>
                      <a:pt x="0" y="0"/>
                    </a:moveTo>
                    <a:lnTo>
                      <a:pt x="198" y="0"/>
                    </a:lnTo>
                    <a:lnTo>
                      <a:pt x="203" y="202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60" name="Freeform 67"/>
              <p:cNvSpPr/>
              <p:nvPr/>
            </p:nvSpPr>
            <p:spPr>
              <a:xfrm rot="10800000">
                <a:off x="4528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61" name="Freeform 68"/>
              <p:cNvSpPr/>
              <p:nvPr/>
            </p:nvSpPr>
            <p:spPr>
              <a:xfrm rot="10800000">
                <a:off x="4528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62" name="Freeform 69"/>
              <p:cNvSpPr/>
              <p:nvPr/>
            </p:nvSpPr>
            <p:spPr>
              <a:xfrm rot="10800000">
                <a:off x="4524" y="295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63" name="Rectangle 70"/>
              <p:cNvSpPr/>
              <p:nvPr/>
            </p:nvSpPr>
            <p:spPr>
              <a:xfrm>
                <a:off x="1204" y="3175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读  写  控  制  电  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64" name="Rectangle 71"/>
              <p:cNvSpPr/>
              <p:nvPr/>
            </p:nvSpPr>
            <p:spPr>
              <a:xfrm>
                <a:off x="1204" y="3656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bIns="0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  地  址  译  码 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65" name="Text Box 72"/>
              <p:cNvSpPr txBox="1"/>
              <p:nvPr/>
            </p:nvSpPr>
            <p:spPr>
              <a:xfrm rot="5400000">
                <a:off x="1671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66" name="Text Box 73"/>
              <p:cNvSpPr txBox="1"/>
              <p:nvPr/>
            </p:nvSpPr>
            <p:spPr>
              <a:xfrm rot="5400000">
                <a:off x="2602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67" name="Text Box 74"/>
              <p:cNvSpPr txBox="1"/>
              <p:nvPr/>
            </p:nvSpPr>
            <p:spPr>
              <a:xfrm rot="5400000">
                <a:off x="4234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68" name="Rectangle 75"/>
              <p:cNvSpPr/>
              <p:nvPr/>
            </p:nvSpPr>
            <p:spPr>
              <a:xfrm>
                <a:off x="1615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69" name="Rectangle 76"/>
              <p:cNvSpPr/>
              <p:nvPr/>
            </p:nvSpPr>
            <p:spPr>
              <a:xfrm>
                <a:off x="1615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70" name="Rectangle 77"/>
              <p:cNvSpPr/>
              <p:nvPr/>
            </p:nvSpPr>
            <p:spPr>
              <a:xfrm>
                <a:off x="2546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71" name="Rectangle 78"/>
              <p:cNvSpPr/>
              <p:nvPr/>
            </p:nvSpPr>
            <p:spPr>
              <a:xfrm>
                <a:off x="2546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72" name="Rectangle 79"/>
              <p:cNvSpPr/>
              <p:nvPr/>
            </p:nvSpPr>
            <p:spPr>
              <a:xfrm>
                <a:off x="2546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73" name="Rectangle 80"/>
              <p:cNvSpPr/>
              <p:nvPr/>
            </p:nvSpPr>
            <p:spPr>
              <a:xfrm>
                <a:off x="4178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74" name="Rectangle 81"/>
              <p:cNvSpPr/>
              <p:nvPr/>
            </p:nvSpPr>
            <p:spPr>
              <a:xfrm>
                <a:off x="4178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75" name="Rectangle 82"/>
              <p:cNvSpPr/>
              <p:nvPr/>
            </p:nvSpPr>
            <p:spPr>
              <a:xfrm>
                <a:off x="4178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76" name="AutoShape 83"/>
              <p:cNvSpPr/>
              <p:nvPr/>
            </p:nvSpPr>
            <p:spPr>
              <a:xfrm rot="-5400000">
                <a:off x="2614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77" name="AutoShape 84"/>
              <p:cNvSpPr/>
              <p:nvPr/>
            </p:nvSpPr>
            <p:spPr>
              <a:xfrm rot="-5400000">
                <a:off x="4246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8078" name="Text Box 85"/>
              <p:cNvSpPr txBox="1"/>
              <p:nvPr/>
            </p:nvSpPr>
            <p:spPr>
              <a:xfrm>
                <a:off x="4796" y="86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79" name="Text Box 86"/>
              <p:cNvSpPr txBox="1"/>
              <p:nvPr/>
            </p:nvSpPr>
            <p:spPr>
              <a:xfrm>
                <a:off x="4806" y="115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写选择线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80" name="Line 87"/>
              <p:cNvSpPr/>
              <p:nvPr/>
            </p:nvSpPr>
            <p:spPr>
              <a:xfrm>
                <a:off x="4817" y="3306"/>
                <a:ext cx="3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298081" name="Text Box 88"/>
              <p:cNvSpPr txBox="1"/>
              <p:nvPr/>
            </p:nvSpPr>
            <p:spPr>
              <a:xfrm>
                <a:off x="4906" y="3024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82" name="Text Box 89"/>
              <p:cNvSpPr txBox="1"/>
              <p:nvPr/>
            </p:nvSpPr>
            <p:spPr>
              <a:xfrm>
                <a:off x="3296" y="1929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单元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83" name="Text Box 90"/>
              <p:cNvSpPr txBox="1"/>
              <p:nvPr/>
            </p:nvSpPr>
            <p:spPr>
              <a:xfrm>
                <a:off x="3296" y="21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电路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84" name="Text Box 91"/>
              <p:cNvSpPr txBox="1"/>
              <p:nvPr/>
            </p:nvSpPr>
            <p:spPr>
              <a:xfrm>
                <a:off x="503" y="936"/>
                <a:ext cx="307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85" name="Text Box 92"/>
              <p:cNvSpPr txBox="1"/>
              <p:nvPr/>
            </p:nvSpPr>
            <p:spPr>
              <a:xfrm>
                <a:off x="907" y="86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86" name="Text Box 93"/>
              <p:cNvSpPr txBox="1"/>
              <p:nvPr/>
            </p:nvSpPr>
            <p:spPr>
              <a:xfrm>
                <a:off x="907" y="115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87" name="Text Box 94"/>
              <p:cNvSpPr txBox="1"/>
              <p:nvPr/>
            </p:nvSpPr>
            <p:spPr>
              <a:xfrm>
                <a:off x="907" y="145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88" name="Text Box 95"/>
              <p:cNvSpPr txBox="1"/>
              <p:nvPr/>
            </p:nvSpPr>
            <p:spPr>
              <a:xfrm>
                <a:off x="907" y="176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89" name="Text Box 96"/>
              <p:cNvSpPr txBox="1"/>
              <p:nvPr/>
            </p:nvSpPr>
            <p:spPr>
              <a:xfrm>
                <a:off x="854" y="229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90" name="Text Box 97"/>
              <p:cNvSpPr txBox="1"/>
              <p:nvPr/>
            </p:nvSpPr>
            <p:spPr>
              <a:xfrm>
                <a:off x="858" y="259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91" name="Line 98"/>
              <p:cNvSpPr/>
              <p:nvPr/>
            </p:nvSpPr>
            <p:spPr>
              <a:xfrm>
                <a:off x="1887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8092" name="Line 99"/>
              <p:cNvSpPr/>
              <p:nvPr/>
            </p:nvSpPr>
            <p:spPr>
              <a:xfrm>
                <a:off x="2832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8093" name="Text Box 100"/>
              <p:cNvSpPr txBox="1"/>
              <p:nvPr/>
            </p:nvSpPr>
            <p:spPr>
              <a:xfrm>
                <a:off x="2613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094" name="Line 101"/>
              <p:cNvSpPr/>
              <p:nvPr/>
            </p:nvSpPr>
            <p:spPr>
              <a:xfrm>
                <a:off x="4473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8095" name="Text Box 102"/>
              <p:cNvSpPr txBox="1"/>
              <p:nvPr/>
            </p:nvSpPr>
            <p:spPr>
              <a:xfrm>
                <a:off x="4176" y="342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8096" name="Group 103"/>
              <p:cNvGrpSpPr/>
              <p:nvPr/>
            </p:nvGrpSpPr>
            <p:grpSpPr>
              <a:xfrm>
                <a:off x="1492" y="3918"/>
                <a:ext cx="283" cy="324"/>
                <a:chOff x="1584" y="3918"/>
                <a:chExt cx="283" cy="324"/>
              </a:xfrm>
            </p:grpSpPr>
            <p:sp>
              <p:nvSpPr>
                <p:cNvPr id="298132" name="Line 104"/>
                <p:cNvSpPr/>
                <p:nvPr/>
              </p:nvSpPr>
              <p:spPr>
                <a:xfrm rot="-5400000">
                  <a:off x="149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8133" name="Text Box 105"/>
                <p:cNvSpPr txBox="1"/>
                <p:nvPr/>
              </p:nvSpPr>
              <p:spPr>
                <a:xfrm>
                  <a:off x="1584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8097" name="Group 106"/>
              <p:cNvGrpSpPr/>
              <p:nvPr/>
            </p:nvGrpSpPr>
            <p:grpSpPr>
              <a:xfrm>
                <a:off x="2234" y="3918"/>
                <a:ext cx="284" cy="325"/>
                <a:chOff x="2355" y="3918"/>
                <a:chExt cx="284" cy="325"/>
              </a:xfrm>
            </p:grpSpPr>
            <p:sp>
              <p:nvSpPr>
                <p:cNvPr id="298130" name="Line 107"/>
                <p:cNvSpPr/>
                <p:nvPr/>
              </p:nvSpPr>
              <p:spPr>
                <a:xfrm rot="-5400000">
                  <a:off x="224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8131" name="Text Box 108"/>
                <p:cNvSpPr txBox="1"/>
                <p:nvPr/>
              </p:nvSpPr>
              <p:spPr>
                <a:xfrm>
                  <a:off x="2356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8098" name="Group 109"/>
              <p:cNvGrpSpPr/>
              <p:nvPr/>
            </p:nvGrpSpPr>
            <p:grpSpPr>
              <a:xfrm>
                <a:off x="2978" y="3918"/>
                <a:ext cx="283" cy="325"/>
                <a:chOff x="3102" y="3918"/>
                <a:chExt cx="283" cy="325"/>
              </a:xfrm>
            </p:grpSpPr>
            <p:sp>
              <p:nvSpPr>
                <p:cNvPr id="298128" name="Line 110"/>
                <p:cNvSpPr/>
                <p:nvPr/>
              </p:nvSpPr>
              <p:spPr>
                <a:xfrm rot="-5400000">
                  <a:off x="300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8129" name="Text Box 111"/>
                <p:cNvSpPr txBox="1"/>
                <p:nvPr/>
              </p:nvSpPr>
              <p:spPr>
                <a:xfrm>
                  <a:off x="3102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8099" name="Group 112"/>
              <p:cNvGrpSpPr/>
              <p:nvPr/>
            </p:nvGrpSpPr>
            <p:grpSpPr>
              <a:xfrm>
                <a:off x="3721" y="3918"/>
                <a:ext cx="283" cy="325"/>
                <a:chOff x="3844" y="3918"/>
                <a:chExt cx="283" cy="325"/>
              </a:xfrm>
            </p:grpSpPr>
            <p:sp>
              <p:nvSpPr>
                <p:cNvPr id="298126" name="Line 113"/>
                <p:cNvSpPr/>
                <p:nvPr/>
              </p:nvSpPr>
              <p:spPr>
                <a:xfrm rot="-5400000">
                  <a:off x="375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8127" name="Text Box 114"/>
                <p:cNvSpPr txBox="1"/>
                <p:nvPr/>
              </p:nvSpPr>
              <p:spPr>
                <a:xfrm>
                  <a:off x="3844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8100" name="Group 115"/>
              <p:cNvGrpSpPr/>
              <p:nvPr/>
            </p:nvGrpSpPr>
            <p:grpSpPr>
              <a:xfrm>
                <a:off x="4464" y="3918"/>
                <a:ext cx="283" cy="324"/>
                <a:chOff x="4603" y="3918"/>
                <a:chExt cx="283" cy="324"/>
              </a:xfrm>
            </p:grpSpPr>
            <p:sp>
              <p:nvSpPr>
                <p:cNvPr id="298124" name="Line 116"/>
                <p:cNvSpPr/>
                <p:nvPr/>
              </p:nvSpPr>
              <p:spPr>
                <a:xfrm rot="-5400000">
                  <a:off x="4510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8125" name="Text Box 117"/>
                <p:cNvSpPr txBox="1"/>
                <p:nvPr/>
              </p:nvSpPr>
              <p:spPr>
                <a:xfrm>
                  <a:off x="4603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8101" name="Line 118"/>
              <p:cNvSpPr/>
              <p:nvPr/>
            </p:nvSpPr>
            <p:spPr>
              <a:xfrm>
                <a:off x="2689" y="1690"/>
                <a:ext cx="643" cy="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8102" name="Line 119"/>
              <p:cNvSpPr/>
              <p:nvPr/>
            </p:nvSpPr>
            <p:spPr>
              <a:xfrm>
                <a:off x="3976" y="2039"/>
                <a:ext cx="990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8103" name="Line 120"/>
              <p:cNvSpPr/>
              <p:nvPr/>
            </p:nvSpPr>
            <p:spPr>
              <a:xfrm>
                <a:off x="4718" y="1384"/>
                <a:ext cx="693" cy="1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8104" name="Text Box 121"/>
              <p:cNvSpPr txBox="1"/>
              <p:nvPr/>
            </p:nvSpPr>
            <p:spPr>
              <a:xfrm>
                <a:off x="4844" y="2728"/>
                <a:ext cx="9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刷新放大器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105" name="Line 122"/>
              <p:cNvSpPr/>
              <p:nvPr/>
            </p:nvSpPr>
            <p:spPr>
              <a:xfrm flipV="1">
                <a:off x="4520" y="2957"/>
                <a:ext cx="495" cy="4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98106" name="Group 123"/>
              <p:cNvGrpSpPr/>
              <p:nvPr/>
            </p:nvGrpSpPr>
            <p:grpSpPr>
              <a:xfrm>
                <a:off x="4916" y="1726"/>
                <a:ext cx="275" cy="894"/>
                <a:chOff x="4920" y="1790"/>
                <a:chExt cx="275" cy="894"/>
              </a:xfrm>
            </p:grpSpPr>
            <p:sp>
              <p:nvSpPr>
                <p:cNvPr id="298120" name="Text Box 124"/>
                <p:cNvSpPr txBox="1"/>
                <p:nvPr/>
              </p:nvSpPr>
              <p:spPr>
                <a:xfrm>
                  <a:off x="4920" y="1790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写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8121" name="Text Box 125"/>
                <p:cNvSpPr txBox="1"/>
                <p:nvPr/>
              </p:nvSpPr>
              <p:spPr>
                <a:xfrm>
                  <a:off x="4920" y="200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8122" name="Text Box 126"/>
                <p:cNvSpPr txBox="1"/>
                <p:nvPr/>
              </p:nvSpPr>
              <p:spPr>
                <a:xfrm>
                  <a:off x="4920" y="2219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8123" name="Text Box 127"/>
                <p:cNvSpPr txBox="1"/>
                <p:nvPr/>
              </p:nvSpPr>
              <p:spPr>
                <a:xfrm>
                  <a:off x="4920" y="243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8107" name="Group 128"/>
              <p:cNvGrpSpPr/>
              <p:nvPr/>
            </p:nvGrpSpPr>
            <p:grpSpPr>
              <a:xfrm>
                <a:off x="5372" y="1505"/>
                <a:ext cx="275" cy="880"/>
                <a:chOff x="5394" y="1612"/>
                <a:chExt cx="275" cy="880"/>
              </a:xfrm>
            </p:grpSpPr>
            <p:sp>
              <p:nvSpPr>
                <p:cNvPr id="298116" name="Text Box 129"/>
                <p:cNvSpPr txBox="1"/>
                <p:nvPr/>
              </p:nvSpPr>
              <p:spPr>
                <a:xfrm>
                  <a:off x="5394" y="161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8117" name="Text Box 130"/>
                <p:cNvSpPr txBox="1"/>
                <p:nvPr/>
              </p:nvSpPr>
              <p:spPr>
                <a:xfrm>
                  <a:off x="5394" y="182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8118" name="Text Box 131"/>
                <p:cNvSpPr txBox="1"/>
                <p:nvPr/>
              </p:nvSpPr>
              <p:spPr>
                <a:xfrm>
                  <a:off x="5394" y="203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8119" name="Text Box 132"/>
                <p:cNvSpPr txBox="1"/>
                <p:nvPr/>
              </p:nvSpPr>
              <p:spPr>
                <a:xfrm>
                  <a:off x="5394" y="224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8108" name="Group 133"/>
              <p:cNvGrpSpPr/>
              <p:nvPr/>
            </p:nvGrpSpPr>
            <p:grpSpPr>
              <a:xfrm>
                <a:off x="3320" y="915"/>
                <a:ext cx="371" cy="2173"/>
                <a:chOff x="3324" y="979"/>
                <a:chExt cx="371" cy="2173"/>
              </a:xfrm>
            </p:grpSpPr>
            <p:sp>
              <p:nvSpPr>
                <p:cNvPr id="298112" name="Text Box 134"/>
                <p:cNvSpPr txBox="1"/>
                <p:nvPr/>
              </p:nvSpPr>
              <p:spPr>
                <a:xfrm>
                  <a:off x="3324" y="97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8113" name="Text Box 135"/>
                <p:cNvSpPr txBox="1"/>
                <p:nvPr/>
              </p:nvSpPr>
              <p:spPr>
                <a:xfrm>
                  <a:off x="3324" y="1507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8114" name="Text Box 136"/>
                <p:cNvSpPr txBox="1"/>
                <p:nvPr/>
              </p:nvSpPr>
              <p:spPr>
                <a:xfrm>
                  <a:off x="3324" y="240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8115" name="Text Box 137"/>
                <p:cNvSpPr txBox="1"/>
                <p:nvPr/>
              </p:nvSpPr>
              <p:spPr>
                <a:xfrm>
                  <a:off x="3324" y="2784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8109" name="Text Box 138"/>
              <p:cNvSpPr txBox="1"/>
              <p:nvPr/>
            </p:nvSpPr>
            <p:spPr>
              <a:xfrm rot="5400000">
                <a:off x="916" y="197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110" name="Text Box 139"/>
              <p:cNvSpPr txBox="1"/>
              <p:nvPr/>
            </p:nvSpPr>
            <p:spPr>
              <a:xfrm>
                <a:off x="1656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8111" name="Text Box 140"/>
              <p:cNvSpPr txBox="1"/>
              <p:nvPr/>
            </p:nvSpPr>
            <p:spPr>
              <a:xfrm>
                <a:off x="3350" y="3312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97987" name="Group 141"/>
          <p:cNvGrpSpPr/>
          <p:nvPr/>
        </p:nvGrpSpPr>
        <p:grpSpPr>
          <a:xfrm>
            <a:off x="1865313" y="1819275"/>
            <a:ext cx="360312" cy="3365215"/>
            <a:chOff x="300" y="720"/>
            <a:chExt cx="220" cy="2329"/>
          </a:xfrm>
        </p:grpSpPr>
        <p:sp>
          <p:nvSpPr>
            <p:cNvPr id="298001" name="Text Box 142"/>
            <p:cNvSpPr txBox="1"/>
            <p:nvPr/>
          </p:nvSpPr>
          <p:spPr>
            <a:xfrm>
              <a:off x="300" y="720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002" name="Text Box 143"/>
            <p:cNvSpPr txBox="1"/>
            <p:nvPr/>
          </p:nvSpPr>
          <p:spPr>
            <a:xfrm>
              <a:off x="300" y="1212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003" name="Text Box 144"/>
            <p:cNvSpPr txBox="1"/>
            <p:nvPr/>
          </p:nvSpPr>
          <p:spPr>
            <a:xfrm>
              <a:off x="300" y="1705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004" name="Text Box 145"/>
            <p:cNvSpPr txBox="1"/>
            <p:nvPr/>
          </p:nvSpPr>
          <p:spPr>
            <a:xfrm>
              <a:off x="300" y="2196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8005" name="Text Box 146"/>
            <p:cNvSpPr txBox="1"/>
            <p:nvPr/>
          </p:nvSpPr>
          <p:spPr>
            <a:xfrm>
              <a:off x="300" y="2688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" name="Group 147"/>
          <p:cNvGrpSpPr/>
          <p:nvPr/>
        </p:nvGrpSpPr>
        <p:grpSpPr>
          <a:xfrm>
            <a:off x="3357563" y="3711575"/>
            <a:ext cx="5791200" cy="646113"/>
            <a:chOff x="1155" y="2338"/>
            <a:chExt cx="3648" cy="407"/>
          </a:xfrm>
        </p:grpSpPr>
        <p:sp>
          <p:nvSpPr>
            <p:cNvPr id="297993" name="Freeform 148"/>
            <p:cNvSpPr/>
            <p:nvPr/>
          </p:nvSpPr>
          <p:spPr>
            <a:xfrm>
              <a:off x="1155" y="2740"/>
              <a:ext cx="3648" cy="5"/>
            </a:xfrm>
            <a:custGeom>
              <a:avLst/>
              <a:gdLst>
                <a:gd name="txL" fmla="*/ 0 w 3648"/>
                <a:gd name="txT" fmla="*/ 0 h 5"/>
                <a:gd name="txR" fmla="*/ 3648 w 3648"/>
                <a:gd name="txB" fmla="*/ 5 h 5"/>
              </a:gdLst>
              <a:ahLst/>
              <a:cxnLst>
                <a:cxn ang="0">
                  <a:pos x="0" y="0"/>
                </a:cxn>
                <a:cxn ang="0">
                  <a:pos x="3648" y="5"/>
                </a:cxn>
              </a:cxnLst>
              <a:rect l="txL" t="txT" r="txR" b="txB"/>
              <a:pathLst>
                <a:path w="3648" h="5">
                  <a:moveTo>
                    <a:pt x="0" y="0"/>
                  </a:moveTo>
                  <a:lnTo>
                    <a:pt x="3648" y="5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7994" name="Line 149"/>
            <p:cNvSpPr/>
            <p:nvPr/>
          </p:nvSpPr>
          <p:spPr>
            <a:xfrm rot="10800000">
              <a:off x="1788" y="2656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97995" name="Line 150"/>
            <p:cNvSpPr/>
            <p:nvPr/>
          </p:nvSpPr>
          <p:spPr>
            <a:xfrm rot="10800000">
              <a:off x="2725" y="2658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97996" name="Freeform 151"/>
            <p:cNvSpPr/>
            <p:nvPr/>
          </p:nvSpPr>
          <p:spPr>
            <a:xfrm>
              <a:off x="4350" y="2657"/>
              <a:ext cx="1" cy="79"/>
            </a:xfrm>
            <a:custGeom>
              <a:avLst/>
              <a:gdLst>
                <a:gd name="txL" fmla="*/ 0 w 1"/>
                <a:gd name="txT" fmla="*/ 0 h 79"/>
                <a:gd name="txR" fmla="*/ 1 w 1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" y="0"/>
                </a:cxn>
              </a:cxnLst>
              <a:rect l="txL" t="txT" r="txR" b="txB"/>
              <a:pathLst>
                <a:path w="1" h="79">
                  <a:moveTo>
                    <a:pt x="0" y="79"/>
                  </a:moveTo>
                  <a:lnTo>
                    <a:pt x="1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7997" name="Rectangle 152"/>
            <p:cNvSpPr/>
            <p:nvPr/>
          </p:nvSpPr>
          <p:spPr>
            <a:xfrm>
              <a:off x="1615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7998" name="Rectangle 153"/>
            <p:cNvSpPr/>
            <p:nvPr/>
          </p:nvSpPr>
          <p:spPr>
            <a:xfrm>
              <a:off x="2546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7999" name="Rectangle 154"/>
            <p:cNvSpPr/>
            <p:nvPr/>
          </p:nvSpPr>
          <p:spPr>
            <a:xfrm>
              <a:off x="4178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8000" name="Text Box 155"/>
            <p:cNvSpPr txBox="1"/>
            <p:nvPr/>
          </p:nvSpPr>
          <p:spPr>
            <a:xfrm>
              <a:off x="3320" y="2338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33628" name="Rectangle 15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990" name="Text Box 157"/>
          <p:cNvSpPr txBox="1"/>
          <p:nvPr/>
        </p:nvSpPr>
        <p:spPr>
          <a:xfrm>
            <a:off x="1828800" y="228600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三管动态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en-US" altLang="zh-CN" sz="3200" b="1" dirty="0">
                <a:latin typeface="Times New Roman" panose="02020603050405020304" pitchFamily="18" charset="0"/>
              </a:rPr>
              <a:t>(Intel 1103)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991" name="AutoShape 15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799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99010" name="Group 2"/>
          <p:cNvGrpSpPr/>
          <p:nvPr/>
        </p:nvGrpSpPr>
        <p:grpSpPr>
          <a:xfrm>
            <a:off x="1524000" y="1295400"/>
            <a:ext cx="9142413" cy="5440363"/>
            <a:chOff x="0" y="816"/>
            <a:chExt cx="5759" cy="3427"/>
          </a:xfrm>
        </p:grpSpPr>
        <p:grpSp>
          <p:nvGrpSpPr>
            <p:cNvPr id="299036" name="Group 3"/>
            <p:cNvGrpSpPr/>
            <p:nvPr/>
          </p:nvGrpSpPr>
          <p:grpSpPr>
            <a:xfrm>
              <a:off x="0" y="1094"/>
              <a:ext cx="462" cy="251"/>
              <a:chOff x="0" y="933"/>
              <a:chExt cx="462" cy="251"/>
            </a:xfrm>
          </p:grpSpPr>
          <p:sp>
            <p:nvSpPr>
              <p:cNvPr id="299172" name="Line 4"/>
              <p:cNvSpPr/>
              <p:nvPr/>
            </p:nvSpPr>
            <p:spPr>
              <a:xfrm>
                <a:off x="214" y="991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9173" name="Text Box 5"/>
              <p:cNvSpPr txBox="1"/>
              <p:nvPr/>
            </p:nvSpPr>
            <p:spPr>
              <a:xfrm>
                <a:off x="0" y="9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9037" name="Group 6"/>
            <p:cNvGrpSpPr/>
            <p:nvPr/>
          </p:nvGrpSpPr>
          <p:grpSpPr>
            <a:xfrm>
              <a:off x="16" y="1540"/>
              <a:ext cx="446" cy="251"/>
              <a:chOff x="16" y="1371"/>
              <a:chExt cx="446" cy="251"/>
            </a:xfrm>
          </p:grpSpPr>
          <p:sp>
            <p:nvSpPr>
              <p:cNvPr id="299170" name="Line 7"/>
              <p:cNvSpPr/>
              <p:nvPr/>
            </p:nvSpPr>
            <p:spPr>
              <a:xfrm>
                <a:off x="214" y="1439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9171" name="Text Box 8"/>
              <p:cNvSpPr txBox="1"/>
              <p:nvPr/>
            </p:nvSpPr>
            <p:spPr>
              <a:xfrm>
                <a:off x="16" y="137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9038" name="Group 9"/>
            <p:cNvGrpSpPr/>
            <p:nvPr/>
          </p:nvGrpSpPr>
          <p:grpSpPr>
            <a:xfrm>
              <a:off x="16" y="1987"/>
              <a:ext cx="446" cy="251"/>
              <a:chOff x="16" y="1809"/>
              <a:chExt cx="446" cy="251"/>
            </a:xfrm>
          </p:grpSpPr>
          <p:sp>
            <p:nvSpPr>
              <p:cNvPr id="299168" name="Line 10"/>
              <p:cNvSpPr/>
              <p:nvPr/>
            </p:nvSpPr>
            <p:spPr>
              <a:xfrm>
                <a:off x="214" y="1886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9169" name="Text Box 11"/>
              <p:cNvSpPr txBox="1"/>
              <p:nvPr/>
            </p:nvSpPr>
            <p:spPr>
              <a:xfrm>
                <a:off x="16" y="1809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9039" name="Group 12"/>
            <p:cNvGrpSpPr/>
            <p:nvPr/>
          </p:nvGrpSpPr>
          <p:grpSpPr>
            <a:xfrm>
              <a:off x="16" y="2433"/>
              <a:ext cx="446" cy="251"/>
              <a:chOff x="16" y="2276"/>
              <a:chExt cx="446" cy="251"/>
            </a:xfrm>
          </p:grpSpPr>
          <p:sp>
            <p:nvSpPr>
              <p:cNvPr id="299166" name="Line 13"/>
              <p:cNvSpPr/>
              <p:nvPr/>
            </p:nvSpPr>
            <p:spPr>
              <a:xfrm>
                <a:off x="214" y="2334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9167" name="Text Box 14"/>
              <p:cNvSpPr txBox="1"/>
              <p:nvPr/>
            </p:nvSpPr>
            <p:spPr>
              <a:xfrm>
                <a:off x="16" y="2276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9040" name="Group 15"/>
            <p:cNvGrpSpPr/>
            <p:nvPr/>
          </p:nvGrpSpPr>
          <p:grpSpPr>
            <a:xfrm>
              <a:off x="16" y="2880"/>
              <a:ext cx="446" cy="251"/>
              <a:chOff x="16" y="2725"/>
              <a:chExt cx="446" cy="251"/>
            </a:xfrm>
          </p:grpSpPr>
          <p:sp>
            <p:nvSpPr>
              <p:cNvPr id="299164" name="Line 16"/>
              <p:cNvSpPr/>
              <p:nvPr/>
            </p:nvSpPr>
            <p:spPr>
              <a:xfrm>
                <a:off x="214" y="2782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299165" name="Text Box 17"/>
              <p:cNvSpPr txBox="1"/>
              <p:nvPr/>
            </p:nvSpPr>
            <p:spPr>
              <a:xfrm>
                <a:off x="16" y="27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99041" name="Group 18"/>
            <p:cNvGrpSpPr/>
            <p:nvPr/>
          </p:nvGrpSpPr>
          <p:grpSpPr>
            <a:xfrm>
              <a:off x="462" y="816"/>
              <a:ext cx="5297" cy="3427"/>
              <a:chOff x="462" y="816"/>
              <a:chExt cx="5297" cy="3427"/>
            </a:xfrm>
          </p:grpSpPr>
          <p:sp>
            <p:nvSpPr>
              <p:cNvPr id="299042" name="Rectangle 19"/>
              <p:cNvSpPr/>
              <p:nvPr/>
            </p:nvSpPr>
            <p:spPr>
              <a:xfrm>
                <a:off x="462" y="816"/>
                <a:ext cx="693" cy="248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43" name="Freeform 20"/>
              <p:cNvSpPr/>
              <p:nvPr/>
            </p:nvSpPr>
            <p:spPr>
              <a:xfrm>
                <a:off x="1155" y="991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44" name="Rectangle 21"/>
              <p:cNvSpPr/>
              <p:nvPr/>
            </p:nvSpPr>
            <p:spPr>
              <a:xfrm>
                <a:off x="1615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45" name="Freeform 22"/>
              <p:cNvSpPr/>
              <p:nvPr/>
            </p:nvSpPr>
            <p:spPr>
              <a:xfrm>
                <a:off x="4351" y="991"/>
                <a:ext cx="1" cy="79"/>
              </a:xfrm>
              <a:custGeom>
                <a:avLst/>
                <a:gdLst>
                  <a:gd name="txL" fmla="*/ 0 w 1"/>
                  <a:gd name="txT" fmla="*/ 0 h 87"/>
                  <a:gd name="txR" fmla="*/ 1 w 1"/>
                  <a:gd name="txB" fmla="*/ 87 h 87"/>
                </a:gdLst>
                <a:ahLst/>
                <a:cxnLst>
                  <a:cxn ang="0">
                    <a:pos x="0" y="0"/>
                  </a:cxn>
                  <a:cxn ang="0">
                    <a:pos x="0" y="87"/>
                  </a:cxn>
                </a:cxnLst>
                <a:rect l="txL" t="txT" r="txR" b="txB"/>
                <a:pathLst>
                  <a:path w="1" h="87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46" name="Freeform 23"/>
              <p:cNvSpPr/>
              <p:nvPr/>
            </p:nvSpPr>
            <p:spPr>
              <a:xfrm>
                <a:off x="1155" y="1295"/>
                <a:ext cx="3659" cy="3"/>
              </a:xfrm>
              <a:custGeom>
                <a:avLst/>
                <a:gdLst>
                  <a:gd name="txL" fmla="*/ 0 w 3659"/>
                  <a:gd name="txT" fmla="*/ 0 h 3"/>
                  <a:gd name="txR" fmla="*/ 3659 w 3659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3659" y="3"/>
                  </a:cxn>
                </a:cxnLst>
                <a:rect l="txL" t="txT" r="txR" b="txB"/>
                <a:pathLst>
                  <a:path w="3659" h="3">
                    <a:moveTo>
                      <a:pt x="0" y="0"/>
                    </a:moveTo>
                    <a:lnTo>
                      <a:pt x="365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47" name="Freeform 24"/>
              <p:cNvSpPr/>
              <p:nvPr/>
            </p:nvSpPr>
            <p:spPr>
              <a:xfrm>
                <a:off x="2727" y="987"/>
                <a:ext cx="1" cy="86"/>
              </a:xfrm>
              <a:custGeom>
                <a:avLst/>
                <a:gdLst>
                  <a:gd name="txL" fmla="*/ 0 w 1"/>
                  <a:gd name="txT" fmla="*/ 0 h 86"/>
                  <a:gd name="txR" fmla="*/ 1 w 1"/>
                  <a:gd name="txB" fmla="*/ 86 h 86"/>
                </a:gdLst>
                <a:ahLst/>
                <a:cxnLst>
                  <a:cxn ang="0">
                    <a:pos x="0" y="0"/>
                  </a:cxn>
                  <a:cxn ang="0">
                    <a:pos x="1" y="86"/>
                  </a:cxn>
                </a:cxnLst>
                <a:rect l="txL" t="txT" r="txR" b="txB"/>
                <a:pathLst>
                  <a:path w="1" h="86">
                    <a:moveTo>
                      <a:pt x="0" y="0"/>
                    </a:moveTo>
                    <a:lnTo>
                      <a:pt x="1" y="8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48" name="Freeform 25"/>
              <p:cNvSpPr/>
              <p:nvPr/>
            </p:nvSpPr>
            <p:spPr>
              <a:xfrm>
                <a:off x="1791" y="985"/>
                <a:ext cx="1" cy="92"/>
              </a:xfrm>
              <a:custGeom>
                <a:avLst/>
                <a:gdLst>
                  <a:gd name="txL" fmla="*/ 0 w 1"/>
                  <a:gd name="txT" fmla="*/ 0 h 92"/>
                  <a:gd name="txR" fmla="*/ 1 w 1"/>
                  <a:gd name="txB" fmla="*/ 92 h 92"/>
                </a:gdLst>
                <a:ahLst/>
                <a:cxnLst>
                  <a:cxn ang="0">
                    <a:pos x="0" y="0"/>
                  </a:cxn>
                  <a:cxn ang="0">
                    <a:pos x="0" y="92"/>
                  </a:cxn>
                </a:cxnLst>
                <a:rect l="txL" t="txT" r="txR" b="tx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49" name="Freeform 26"/>
              <p:cNvSpPr/>
              <p:nvPr/>
            </p:nvSpPr>
            <p:spPr>
              <a:xfrm>
                <a:off x="1788" y="1212"/>
                <a:ext cx="1" cy="85"/>
              </a:xfrm>
              <a:custGeom>
                <a:avLst/>
                <a:gdLst>
                  <a:gd name="txL" fmla="*/ 0 w 1"/>
                  <a:gd name="txT" fmla="*/ 0 h 93"/>
                  <a:gd name="txR" fmla="*/ 1 w 1"/>
                  <a:gd name="txB" fmla="*/ 93 h 93"/>
                </a:gdLst>
                <a:ahLst/>
                <a:cxnLst>
                  <a:cxn ang="0">
                    <a:pos x="0" y="93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3">
                    <a:moveTo>
                      <a:pt x="0" y="9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50" name="Freeform 27"/>
              <p:cNvSpPr/>
              <p:nvPr/>
            </p:nvSpPr>
            <p:spPr>
              <a:xfrm>
                <a:off x="2736" y="1200"/>
                <a:ext cx="3" cy="95"/>
              </a:xfrm>
              <a:custGeom>
                <a:avLst/>
                <a:gdLst>
                  <a:gd name="txL" fmla="*/ 0 w 3"/>
                  <a:gd name="txT" fmla="*/ 0 h 105"/>
                  <a:gd name="txR" fmla="*/ 3 w 3"/>
                  <a:gd name="txB" fmla="*/ 105 h 105"/>
                </a:gdLst>
                <a:ahLst/>
                <a:cxnLst>
                  <a:cxn ang="0">
                    <a:pos x="0" y="105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105">
                    <a:moveTo>
                      <a:pt x="0" y="105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51" name="Line 28"/>
              <p:cNvSpPr/>
              <p:nvPr/>
            </p:nvSpPr>
            <p:spPr>
              <a:xfrm rot="10800000">
                <a:off x="4351" y="121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52" name="Freeform 29"/>
              <p:cNvSpPr/>
              <p:nvPr/>
            </p:nvSpPr>
            <p:spPr>
              <a:xfrm>
                <a:off x="1155" y="1559"/>
                <a:ext cx="3653" cy="1"/>
              </a:xfrm>
              <a:custGeom>
                <a:avLst/>
                <a:gdLst>
                  <a:gd name="txL" fmla="*/ 0 w 3543"/>
                  <a:gd name="txT" fmla="*/ 0 h 1"/>
                  <a:gd name="txR" fmla="*/ 3543 w 35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43" y="0"/>
                  </a:cxn>
                </a:cxnLst>
                <a:rect l="txL" t="txT" r="txR" b="txB"/>
                <a:pathLst>
                  <a:path w="3543" h="1">
                    <a:moveTo>
                      <a:pt x="0" y="0"/>
                    </a:moveTo>
                    <a:lnTo>
                      <a:pt x="354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53" name="Line 30"/>
              <p:cNvSpPr/>
              <p:nvPr/>
            </p:nvSpPr>
            <p:spPr>
              <a:xfrm>
                <a:off x="4351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54" name="Freeform 31"/>
              <p:cNvSpPr/>
              <p:nvPr/>
            </p:nvSpPr>
            <p:spPr>
              <a:xfrm>
                <a:off x="1155" y="1863"/>
                <a:ext cx="3656" cy="1"/>
              </a:xfrm>
              <a:custGeom>
                <a:avLst/>
                <a:gdLst>
                  <a:gd name="txL" fmla="*/ 0 w 3546"/>
                  <a:gd name="txT" fmla="*/ 0 h 2"/>
                  <a:gd name="txR" fmla="*/ 3546 w 354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3546" y="2"/>
                  </a:cxn>
                </a:cxnLst>
                <a:rect l="txL" t="txT" r="txR" b="txB"/>
                <a:pathLst>
                  <a:path w="3546" h="2">
                    <a:moveTo>
                      <a:pt x="0" y="0"/>
                    </a:moveTo>
                    <a:lnTo>
                      <a:pt x="354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55" name="Line 32"/>
              <p:cNvSpPr/>
              <p:nvPr/>
            </p:nvSpPr>
            <p:spPr>
              <a:xfrm>
                <a:off x="2725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56" name="Line 33"/>
              <p:cNvSpPr/>
              <p:nvPr/>
            </p:nvSpPr>
            <p:spPr>
              <a:xfrm>
                <a:off x="1788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57" name="Line 34"/>
              <p:cNvSpPr/>
              <p:nvPr/>
            </p:nvSpPr>
            <p:spPr>
              <a:xfrm rot="10800000">
                <a:off x="1788" y="177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58" name="Line 35"/>
              <p:cNvSpPr/>
              <p:nvPr/>
            </p:nvSpPr>
            <p:spPr>
              <a:xfrm rot="10800000">
                <a:off x="2725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59" name="Line 36"/>
              <p:cNvSpPr/>
              <p:nvPr/>
            </p:nvSpPr>
            <p:spPr>
              <a:xfrm rot="10800000">
                <a:off x="4351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60" name="Freeform 37"/>
              <p:cNvSpPr/>
              <p:nvPr/>
            </p:nvSpPr>
            <p:spPr>
              <a:xfrm>
                <a:off x="1155" y="2432"/>
                <a:ext cx="3675" cy="1"/>
              </a:xfrm>
              <a:custGeom>
                <a:avLst/>
                <a:gdLst>
                  <a:gd name="txL" fmla="*/ 0 w 3564"/>
                  <a:gd name="txT" fmla="*/ 0 h 1"/>
                  <a:gd name="txR" fmla="*/ 3564 w 356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64" y="0"/>
                  </a:cxn>
                </a:cxnLst>
                <a:rect l="txL" t="txT" r="txR" b="txB"/>
                <a:pathLst>
                  <a:path w="3564" h="1">
                    <a:moveTo>
                      <a:pt x="0" y="0"/>
                    </a:moveTo>
                    <a:lnTo>
                      <a:pt x="356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61" name="Line 38"/>
              <p:cNvSpPr/>
              <p:nvPr/>
            </p:nvSpPr>
            <p:spPr>
              <a:xfrm>
                <a:off x="4351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62" name="Freeform 39"/>
              <p:cNvSpPr/>
              <p:nvPr/>
            </p:nvSpPr>
            <p:spPr>
              <a:xfrm>
                <a:off x="1155" y="2736"/>
                <a:ext cx="3647" cy="1"/>
              </a:xfrm>
              <a:custGeom>
                <a:avLst/>
                <a:gdLst>
                  <a:gd name="txL" fmla="*/ 0 w 3647"/>
                  <a:gd name="txT" fmla="*/ 0 h 1"/>
                  <a:gd name="txR" fmla="*/ 3647 w 364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647" y="1"/>
                  </a:cxn>
                </a:cxnLst>
                <a:rect l="txL" t="txT" r="txR" b="txB"/>
                <a:pathLst>
                  <a:path w="3647" h="1">
                    <a:moveTo>
                      <a:pt x="0" y="0"/>
                    </a:moveTo>
                    <a:lnTo>
                      <a:pt x="364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63" name="Line 40"/>
              <p:cNvSpPr/>
              <p:nvPr/>
            </p:nvSpPr>
            <p:spPr>
              <a:xfrm>
                <a:off x="2725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64" name="Line 41"/>
              <p:cNvSpPr/>
              <p:nvPr/>
            </p:nvSpPr>
            <p:spPr>
              <a:xfrm>
                <a:off x="1788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65" name="Line 42"/>
              <p:cNvSpPr/>
              <p:nvPr/>
            </p:nvSpPr>
            <p:spPr>
              <a:xfrm rot="10800000">
                <a:off x="1788" y="2652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66" name="Line 43"/>
              <p:cNvSpPr/>
              <p:nvPr/>
            </p:nvSpPr>
            <p:spPr>
              <a:xfrm rot="10800000">
                <a:off x="2725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67" name="Line 44"/>
              <p:cNvSpPr/>
              <p:nvPr/>
            </p:nvSpPr>
            <p:spPr>
              <a:xfrm rot="10800000">
                <a:off x="4351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68" name="AutoShape 45"/>
              <p:cNvSpPr/>
              <p:nvPr/>
            </p:nvSpPr>
            <p:spPr>
              <a:xfrm rot="-5400000">
                <a:off x="1683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69" name="Freeform 46"/>
              <p:cNvSpPr/>
              <p:nvPr/>
            </p:nvSpPr>
            <p:spPr>
              <a:xfrm>
                <a:off x="1416" y="1148"/>
                <a:ext cx="198" cy="2026"/>
              </a:xfrm>
              <a:custGeom>
                <a:avLst/>
                <a:gdLst>
                  <a:gd name="txL" fmla="*/ 0 w 198"/>
                  <a:gd name="txT" fmla="*/ 0 h 2026"/>
                  <a:gd name="txR" fmla="*/ 198 w 198"/>
                  <a:gd name="txB" fmla="*/ 2026 h 2026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6" y="2026"/>
                  </a:cxn>
                </a:cxnLst>
                <a:rect l="txL" t="txT" r="txR" b="txB"/>
                <a:pathLst>
                  <a:path w="198" h="2026">
                    <a:moveTo>
                      <a:pt x="198" y="0"/>
                    </a:moveTo>
                    <a:lnTo>
                      <a:pt x="0" y="0"/>
                    </a:lnTo>
                    <a:lnTo>
                      <a:pt x="6" y="202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70" name="Freeform 47"/>
              <p:cNvSpPr/>
              <p:nvPr/>
            </p:nvSpPr>
            <p:spPr>
              <a:xfrm>
                <a:off x="141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71" name="Freeform 48"/>
              <p:cNvSpPr/>
              <p:nvPr/>
            </p:nvSpPr>
            <p:spPr>
              <a:xfrm>
                <a:off x="1422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72" name="Line 49"/>
              <p:cNvSpPr/>
              <p:nvPr/>
            </p:nvSpPr>
            <p:spPr>
              <a:xfrm>
                <a:off x="1419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73" name="Freeform 50"/>
              <p:cNvSpPr/>
              <p:nvPr/>
            </p:nvSpPr>
            <p:spPr>
              <a:xfrm>
                <a:off x="3979" y="1148"/>
                <a:ext cx="198" cy="2023"/>
              </a:xfrm>
              <a:custGeom>
                <a:avLst/>
                <a:gdLst>
                  <a:gd name="txL" fmla="*/ 0 w 198"/>
                  <a:gd name="txT" fmla="*/ 0 h 2023"/>
                  <a:gd name="txR" fmla="*/ 198 w 198"/>
                  <a:gd name="txB" fmla="*/ 2023 h 2023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2" y="2023"/>
                  </a:cxn>
                </a:cxnLst>
                <a:rect l="txL" t="txT" r="txR" b="txB"/>
                <a:pathLst>
                  <a:path w="198" h="2023">
                    <a:moveTo>
                      <a:pt x="198" y="0"/>
                    </a:moveTo>
                    <a:lnTo>
                      <a:pt x="0" y="0"/>
                    </a:lnTo>
                    <a:lnTo>
                      <a:pt x="2" y="202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74" name="Freeform 51"/>
              <p:cNvSpPr/>
              <p:nvPr/>
            </p:nvSpPr>
            <p:spPr>
              <a:xfrm>
                <a:off x="3982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75" name="Freeform 52"/>
              <p:cNvSpPr/>
              <p:nvPr/>
            </p:nvSpPr>
            <p:spPr>
              <a:xfrm>
                <a:off x="3985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76" name="Line 53"/>
              <p:cNvSpPr/>
              <p:nvPr/>
            </p:nvSpPr>
            <p:spPr>
              <a:xfrm>
                <a:off x="3982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77" name="Freeform 54"/>
              <p:cNvSpPr/>
              <p:nvPr/>
            </p:nvSpPr>
            <p:spPr>
              <a:xfrm>
                <a:off x="2347" y="1148"/>
                <a:ext cx="198" cy="2024"/>
              </a:xfrm>
              <a:custGeom>
                <a:avLst/>
                <a:gdLst>
                  <a:gd name="txL" fmla="*/ 0 w 192"/>
                  <a:gd name="txT" fmla="*/ 0 h 2224"/>
                  <a:gd name="txR" fmla="*/ 192 w 192"/>
                  <a:gd name="txB" fmla="*/ 2224 h 2224"/>
                </a:gdLst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2" y="2224"/>
                  </a:cxn>
                </a:cxnLst>
                <a:rect l="txL" t="txT" r="txR" b="txB"/>
                <a:pathLst>
                  <a:path w="192" h="2224">
                    <a:moveTo>
                      <a:pt x="192" y="0"/>
                    </a:moveTo>
                    <a:lnTo>
                      <a:pt x="0" y="0"/>
                    </a:lnTo>
                    <a:lnTo>
                      <a:pt x="2" y="222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78" name="Freeform 55"/>
              <p:cNvSpPr/>
              <p:nvPr/>
            </p:nvSpPr>
            <p:spPr>
              <a:xfrm>
                <a:off x="235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79" name="Freeform 56"/>
              <p:cNvSpPr/>
              <p:nvPr/>
            </p:nvSpPr>
            <p:spPr>
              <a:xfrm>
                <a:off x="2353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80" name="Line 57"/>
              <p:cNvSpPr/>
              <p:nvPr/>
            </p:nvSpPr>
            <p:spPr>
              <a:xfrm>
                <a:off x="2350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299081" name="Freeform 58"/>
              <p:cNvSpPr/>
              <p:nvPr/>
            </p:nvSpPr>
            <p:spPr>
              <a:xfrm>
                <a:off x="1964" y="1135"/>
                <a:ext cx="198" cy="2030"/>
              </a:xfrm>
              <a:custGeom>
                <a:avLst/>
                <a:gdLst>
                  <a:gd name="txL" fmla="*/ 0 w 198"/>
                  <a:gd name="txT" fmla="*/ 0 h 2030"/>
                  <a:gd name="txR" fmla="*/ 198 w 198"/>
                  <a:gd name="txB" fmla="*/ 2030 h 2030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193" y="2030"/>
                  </a:cxn>
                </a:cxnLst>
                <a:rect l="txL" t="txT" r="txR" b="txB"/>
                <a:pathLst>
                  <a:path w="198" h="2030">
                    <a:moveTo>
                      <a:pt x="0" y="0"/>
                    </a:moveTo>
                    <a:lnTo>
                      <a:pt x="198" y="0"/>
                    </a:lnTo>
                    <a:lnTo>
                      <a:pt x="193" y="20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82" name="Freeform 59"/>
              <p:cNvSpPr/>
              <p:nvPr/>
            </p:nvSpPr>
            <p:spPr>
              <a:xfrm rot="10800000">
                <a:off x="195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83" name="Freeform 60"/>
              <p:cNvSpPr/>
              <p:nvPr/>
            </p:nvSpPr>
            <p:spPr>
              <a:xfrm rot="10800000">
                <a:off x="1959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84" name="Freeform 61"/>
              <p:cNvSpPr/>
              <p:nvPr/>
            </p:nvSpPr>
            <p:spPr>
              <a:xfrm>
                <a:off x="1958" y="2957"/>
                <a:ext cx="200" cy="1"/>
              </a:xfrm>
              <a:custGeom>
                <a:avLst/>
                <a:gdLst>
                  <a:gd name="txL" fmla="*/ 0 w 194"/>
                  <a:gd name="txT" fmla="*/ 0 h 1"/>
                  <a:gd name="txR" fmla="*/ 194 w 194"/>
                  <a:gd name="txB" fmla="*/ 1 h 1"/>
                </a:gdLst>
                <a:ahLst/>
                <a:cxnLst>
                  <a:cxn ang="0">
                    <a:pos x="19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4" h="1">
                    <a:moveTo>
                      <a:pt x="19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85" name="Freeform 62"/>
              <p:cNvSpPr/>
              <p:nvPr/>
            </p:nvSpPr>
            <p:spPr>
              <a:xfrm>
                <a:off x="2893" y="1135"/>
                <a:ext cx="199" cy="2047"/>
              </a:xfrm>
              <a:custGeom>
                <a:avLst/>
                <a:gdLst>
                  <a:gd name="txL" fmla="*/ 0 w 193"/>
                  <a:gd name="txT" fmla="*/ 0 h 2250"/>
                  <a:gd name="txR" fmla="*/ 193 w 193"/>
                  <a:gd name="txB" fmla="*/ 2250 h 2250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3" y="2250"/>
                  </a:cxn>
                </a:cxnLst>
                <a:rect l="txL" t="txT" r="txR" b="txB"/>
                <a:pathLst>
                  <a:path w="193" h="2250">
                    <a:moveTo>
                      <a:pt x="0" y="0"/>
                    </a:moveTo>
                    <a:lnTo>
                      <a:pt x="192" y="0"/>
                    </a:lnTo>
                    <a:lnTo>
                      <a:pt x="193" y="22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86" name="Freeform 63"/>
              <p:cNvSpPr/>
              <p:nvPr/>
            </p:nvSpPr>
            <p:spPr>
              <a:xfrm rot="10800000">
                <a:off x="289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87" name="Freeform 64"/>
              <p:cNvSpPr/>
              <p:nvPr/>
            </p:nvSpPr>
            <p:spPr>
              <a:xfrm rot="10800000">
                <a:off x="2890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88" name="Freeform 65"/>
              <p:cNvSpPr/>
              <p:nvPr/>
            </p:nvSpPr>
            <p:spPr>
              <a:xfrm>
                <a:off x="2895" y="2957"/>
                <a:ext cx="194" cy="1"/>
              </a:xfrm>
              <a:custGeom>
                <a:avLst/>
                <a:gdLst>
                  <a:gd name="txL" fmla="*/ 0 w 188"/>
                  <a:gd name="txT" fmla="*/ 0 h 1"/>
                  <a:gd name="txR" fmla="*/ 188 w 188"/>
                  <a:gd name="txB" fmla="*/ 1 h 1"/>
                </a:gdLst>
                <a:ahLst/>
                <a:cxnLst>
                  <a:cxn ang="0">
                    <a:pos x="18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89" name="Freeform 66"/>
              <p:cNvSpPr/>
              <p:nvPr/>
            </p:nvSpPr>
            <p:spPr>
              <a:xfrm>
                <a:off x="4531" y="1135"/>
                <a:ext cx="203" cy="2027"/>
              </a:xfrm>
              <a:custGeom>
                <a:avLst/>
                <a:gdLst>
                  <a:gd name="txL" fmla="*/ 0 w 203"/>
                  <a:gd name="txT" fmla="*/ 0 h 2027"/>
                  <a:gd name="txR" fmla="*/ 203 w 203"/>
                  <a:gd name="txB" fmla="*/ 2027 h 2027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203" y="2027"/>
                  </a:cxn>
                </a:cxnLst>
                <a:rect l="txL" t="txT" r="txR" b="txB"/>
                <a:pathLst>
                  <a:path w="203" h="2027">
                    <a:moveTo>
                      <a:pt x="0" y="0"/>
                    </a:moveTo>
                    <a:lnTo>
                      <a:pt x="198" y="0"/>
                    </a:lnTo>
                    <a:lnTo>
                      <a:pt x="203" y="202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90" name="Freeform 67"/>
              <p:cNvSpPr/>
              <p:nvPr/>
            </p:nvSpPr>
            <p:spPr>
              <a:xfrm rot="10800000">
                <a:off x="4528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91" name="Freeform 68"/>
              <p:cNvSpPr/>
              <p:nvPr/>
            </p:nvSpPr>
            <p:spPr>
              <a:xfrm rot="10800000">
                <a:off x="4528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92" name="Freeform 69"/>
              <p:cNvSpPr/>
              <p:nvPr/>
            </p:nvSpPr>
            <p:spPr>
              <a:xfrm rot="10800000">
                <a:off x="4524" y="295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93" name="Rectangle 70"/>
              <p:cNvSpPr/>
              <p:nvPr/>
            </p:nvSpPr>
            <p:spPr>
              <a:xfrm>
                <a:off x="1204" y="3175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读  写  控  制  电  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094" name="Rectangle 71"/>
              <p:cNvSpPr/>
              <p:nvPr/>
            </p:nvSpPr>
            <p:spPr>
              <a:xfrm>
                <a:off x="1204" y="3656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bIns="0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  地  址  译  码 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095" name="Text Box 72"/>
              <p:cNvSpPr txBox="1"/>
              <p:nvPr/>
            </p:nvSpPr>
            <p:spPr>
              <a:xfrm rot="5400000">
                <a:off x="1671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096" name="Text Box 73"/>
              <p:cNvSpPr txBox="1"/>
              <p:nvPr/>
            </p:nvSpPr>
            <p:spPr>
              <a:xfrm rot="5400000">
                <a:off x="2602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097" name="Text Box 74"/>
              <p:cNvSpPr txBox="1"/>
              <p:nvPr/>
            </p:nvSpPr>
            <p:spPr>
              <a:xfrm rot="5400000">
                <a:off x="4234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098" name="Rectangle 75"/>
              <p:cNvSpPr/>
              <p:nvPr/>
            </p:nvSpPr>
            <p:spPr>
              <a:xfrm>
                <a:off x="1615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099" name="Rectangle 76"/>
              <p:cNvSpPr/>
              <p:nvPr/>
            </p:nvSpPr>
            <p:spPr>
              <a:xfrm>
                <a:off x="1615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100" name="Rectangle 77"/>
              <p:cNvSpPr/>
              <p:nvPr/>
            </p:nvSpPr>
            <p:spPr>
              <a:xfrm>
                <a:off x="2546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101" name="Rectangle 78"/>
              <p:cNvSpPr/>
              <p:nvPr/>
            </p:nvSpPr>
            <p:spPr>
              <a:xfrm>
                <a:off x="2546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102" name="Rectangle 79"/>
              <p:cNvSpPr/>
              <p:nvPr/>
            </p:nvSpPr>
            <p:spPr>
              <a:xfrm>
                <a:off x="2546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103" name="Rectangle 80"/>
              <p:cNvSpPr/>
              <p:nvPr/>
            </p:nvSpPr>
            <p:spPr>
              <a:xfrm>
                <a:off x="4178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104" name="Rectangle 81"/>
              <p:cNvSpPr/>
              <p:nvPr/>
            </p:nvSpPr>
            <p:spPr>
              <a:xfrm>
                <a:off x="4178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105" name="Rectangle 82"/>
              <p:cNvSpPr/>
              <p:nvPr/>
            </p:nvSpPr>
            <p:spPr>
              <a:xfrm>
                <a:off x="4178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106" name="AutoShape 83"/>
              <p:cNvSpPr/>
              <p:nvPr/>
            </p:nvSpPr>
            <p:spPr>
              <a:xfrm rot="-5400000">
                <a:off x="2614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107" name="AutoShape 84"/>
              <p:cNvSpPr/>
              <p:nvPr/>
            </p:nvSpPr>
            <p:spPr>
              <a:xfrm rot="-5400000">
                <a:off x="4246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99108" name="Text Box 85"/>
              <p:cNvSpPr txBox="1"/>
              <p:nvPr/>
            </p:nvSpPr>
            <p:spPr>
              <a:xfrm>
                <a:off x="4796" y="86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09" name="Text Box 86"/>
              <p:cNvSpPr txBox="1"/>
              <p:nvPr/>
            </p:nvSpPr>
            <p:spPr>
              <a:xfrm>
                <a:off x="4806" y="115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写选择线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10" name="Line 87"/>
              <p:cNvSpPr/>
              <p:nvPr/>
            </p:nvSpPr>
            <p:spPr>
              <a:xfrm>
                <a:off x="4817" y="3306"/>
                <a:ext cx="3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299111" name="Text Box 88"/>
              <p:cNvSpPr txBox="1"/>
              <p:nvPr/>
            </p:nvSpPr>
            <p:spPr>
              <a:xfrm>
                <a:off x="4906" y="3024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12" name="Text Box 89"/>
              <p:cNvSpPr txBox="1"/>
              <p:nvPr/>
            </p:nvSpPr>
            <p:spPr>
              <a:xfrm>
                <a:off x="3296" y="1929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单元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13" name="Text Box 90"/>
              <p:cNvSpPr txBox="1"/>
              <p:nvPr/>
            </p:nvSpPr>
            <p:spPr>
              <a:xfrm>
                <a:off x="3296" y="21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电路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14" name="Text Box 91"/>
              <p:cNvSpPr txBox="1"/>
              <p:nvPr/>
            </p:nvSpPr>
            <p:spPr>
              <a:xfrm>
                <a:off x="503" y="936"/>
                <a:ext cx="307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15" name="Text Box 92"/>
              <p:cNvSpPr txBox="1"/>
              <p:nvPr/>
            </p:nvSpPr>
            <p:spPr>
              <a:xfrm>
                <a:off x="907" y="86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16" name="Text Box 93"/>
              <p:cNvSpPr txBox="1"/>
              <p:nvPr/>
            </p:nvSpPr>
            <p:spPr>
              <a:xfrm>
                <a:off x="907" y="115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17" name="Text Box 94"/>
              <p:cNvSpPr txBox="1"/>
              <p:nvPr/>
            </p:nvSpPr>
            <p:spPr>
              <a:xfrm>
                <a:off x="907" y="145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18" name="Text Box 95"/>
              <p:cNvSpPr txBox="1"/>
              <p:nvPr/>
            </p:nvSpPr>
            <p:spPr>
              <a:xfrm>
                <a:off x="907" y="176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19" name="Text Box 96"/>
              <p:cNvSpPr txBox="1"/>
              <p:nvPr/>
            </p:nvSpPr>
            <p:spPr>
              <a:xfrm>
                <a:off x="854" y="229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20" name="Text Box 97"/>
              <p:cNvSpPr txBox="1"/>
              <p:nvPr/>
            </p:nvSpPr>
            <p:spPr>
              <a:xfrm>
                <a:off x="858" y="259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21" name="Line 98"/>
              <p:cNvSpPr/>
              <p:nvPr/>
            </p:nvSpPr>
            <p:spPr>
              <a:xfrm>
                <a:off x="1887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9122" name="Line 99"/>
              <p:cNvSpPr/>
              <p:nvPr/>
            </p:nvSpPr>
            <p:spPr>
              <a:xfrm>
                <a:off x="2832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9123" name="Text Box 100"/>
              <p:cNvSpPr txBox="1"/>
              <p:nvPr/>
            </p:nvSpPr>
            <p:spPr>
              <a:xfrm>
                <a:off x="2613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24" name="Line 101"/>
              <p:cNvSpPr/>
              <p:nvPr/>
            </p:nvSpPr>
            <p:spPr>
              <a:xfrm>
                <a:off x="4473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9125" name="Text Box 102"/>
              <p:cNvSpPr txBox="1"/>
              <p:nvPr/>
            </p:nvSpPr>
            <p:spPr>
              <a:xfrm>
                <a:off x="4176" y="342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99126" name="Group 103"/>
              <p:cNvGrpSpPr/>
              <p:nvPr/>
            </p:nvGrpSpPr>
            <p:grpSpPr>
              <a:xfrm>
                <a:off x="1492" y="3918"/>
                <a:ext cx="283" cy="324"/>
                <a:chOff x="1584" y="3918"/>
                <a:chExt cx="283" cy="324"/>
              </a:xfrm>
            </p:grpSpPr>
            <p:sp>
              <p:nvSpPr>
                <p:cNvPr id="299162" name="Line 104"/>
                <p:cNvSpPr/>
                <p:nvPr/>
              </p:nvSpPr>
              <p:spPr>
                <a:xfrm rot="-5400000">
                  <a:off x="149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9163" name="Text Box 105"/>
                <p:cNvSpPr txBox="1"/>
                <p:nvPr/>
              </p:nvSpPr>
              <p:spPr>
                <a:xfrm>
                  <a:off x="1584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9127" name="Group 106"/>
              <p:cNvGrpSpPr/>
              <p:nvPr/>
            </p:nvGrpSpPr>
            <p:grpSpPr>
              <a:xfrm>
                <a:off x="2234" y="3918"/>
                <a:ext cx="284" cy="325"/>
                <a:chOff x="2355" y="3918"/>
                <a:chExt cx="284" cy="325"/>
              </a:xfrm>
            </p:grpSpPr>
            <p:sp>
              <p:nvSpPr>
                <p:cNvPr id="299160" name="Line 107"/>
                <p:cNvSpPr/>
                <p:nvPr/>
              </p:nvSpPr>
              <p:spPr>
                <a:xfrm rot="-5400000">
                  <a:off x="224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9161" name="Text Box 108"/>
                <p:cNvSpPr txBox="1"/>
                <p:nvPr/>
              </p:nvSpPr>
              <p:spPr>
                <a:xfrm>
                  <a:off x="2356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9128" name="Group 109"/>
              <p:cNvGrpSpPr/>
              <p:nvPr/>
            </p:nvGrpSpPr>
            <p:grpSpPr>
              <a:xfrm>
                <a:off x="2978" y="3918"/>
                <a:ext cx="283" cy="325"/>
                <a:chOff x="3102" y="3918"/>
                <a:chExt cx="283" cy="325"/>
              </a:xfrm>
            </p:grpSpPr>
            <p:sp>
              <p:nvSpPr>
                <p:cNvPr id="299158" name="Line 110"/>
                <p:cNvSpPr/>
                <p:nvPr/>
              </p:nvSpPr>
              <p:spPr>
                <a:xfrm rot="-5400000">
                  <a:off x="300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9159" name="Text Box 111"/>
                <p:cNvSpPr txBox="1"/>
                <p:nvPr/>
              </p:nvSpPr>
              <p:spPr>
                <a:xfrm>
                  <a:off x="3102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9129" name="Group 112"/>
              <p:cNvGrpSpPr/>
              <p:nvPr/>
            </p:nvGrpSpPr>
            <p:grpSpPr>
              <a:xfrm>
                <a:off x="3721" y="3918"/>
                <a:ext cx="283" cy="325"/>
                <a:chOff x="3844" y="3918"/>
                <a:chExt cx="283" cy="325"/>
              </a:xfrm>
            </p:grpSpPr>
            <p:sp>
              <p:nvSpPr>
                <p:cNvPr id="299156" name="Line 113"/>
                <p:cNvSpPr/>
                <p:nvPr/>
              </p:nvSpPr>
              <p:spPr>
                <a:xfrm rot="-5400000">
                  <a:off x="375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9157" name="Text Box 114"/>
                <p:cNvSpPr txBox="1"/>
                <p:nvPr/>
              </p:nvSpPr>
              <p:spPr>
                <a:xfrm>
                  <a:off x="3844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9130" name="Group 115"/>
              <p:cNvGrpSpPr/>
              <p:nvPr/>
            </p:nvGrpSpPr>
            <p:grpSpPr>
              <a:xfrm>
                <a:off x="4464" y="3918"/>
                <a:ext cx="283" cy="324"/>
                <a:chOff x="4603" y="3918"/>
                <a:chExt cx="283" cy="324"/>
              </a:xfrm>
            </p:grpSpPr>
            <p:sp>
              <p:nvSpPr>
                <p:cNvPr id="299154" name="Line 116"/>
                <p:cNvSpPr/>
                <p:nvPr/>
              </p:nvSpPr>
              <p:spPr>
                <a:xfrm rot="-5400000">
                  <a:off x="4510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299155" name="Text Box 117"/>
                <p:cNvSpPr txBox="1"/>
                <p:nvPr/>
              </p:nvSpPr>
              <p:spPr>
                <a:xfrm>
                  <a:off x="4603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9131" name="Line 118"/>
              <p:cNvSpPr/>
              <p:nvPr/>
            </p:nvSpPr>
            <p:spPr>
              <a:xfrm>
                <a:off x="2689" y="1690"/>
                <a:ext cx="643" cy="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9132" name="Line 119"/>
              <p:cNvSpPr/>
              <p:nvPr/>
            </p:nvSpPr>
            <p:spPr>
              <a:xfrm>
                <a:off x="3976" y="2039"/>
                <a:ext cx="990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9133" name="Line 120"/>
              <p:cNvSpPr/>
              <p:nvPr/>
            </p:nvSpPr>
            <p:spPr>
              <a:xfrm>
                <a:off x="4718" y="1384"/>
                <a:ext cx="693" cy="1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9134" name="Text Box 121"/>
              <p:cNvSpPr txBox="1"/>
              <p:nvPr/>
            </p:nvSpPr>
            <p:spPr>
              <a:xfrm>
                <a:off x="4844" y="2728"/>
                <a:ext cx="9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刷新放大器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35" name="Line 122"/>
              <p:cNvSpPr/>
              <p:nvPr/>
            </p:nvSpPr>
            <p:spPr>
              <a:xfrm flipV="1">
                <a:off x="4520" y="2957"/>
                <a:ext cx="495" cy="4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99136" name="Group 123"/>
              <p:cNvGrpSpPr/>
              <p:nvPr/>
            </p:nvGrpSpPr>
            <p:grpSpPr>
              <a:xfrm>
                <a:off x="4916" y="1726"/>
                <a:ext cx="275" cy="894"/>
                <a:chOff x="4920" y="1790"/>
                <a:chExt cx="275" cy="894"/>
              </a:xfrm>
            </p:grpSpPr>
            <p:sp>
              <p:nvSpPr>
                <p:cNvPr id="299150" name="Text Box 124"/>
                <p:cNvSpPr txBox="1"/>
                <p:nvPr/>
              </p:nvSpPr>
              <p:spPr>
                <a:xfrm>
                  <a:off x="4920" y="1790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写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151" name="Text Box 125"/>
                <p:cNvSpPr txBox="1"/>
                <p:nvPr/>
              </p:nvSpPr>
              <p:spPr>
                <a:xfrm>
                  <a:off x="4920" y="200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152" name="Text Box 126"/>
                <p:cNvSpPr txBox="1"/>
                <p:nvPr/>
              </p:nvSpPr>
              <p:spPr>
                <a:xfrm>
                  <a:off x="4920" y="2219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153" name="Text Box 127"/>
                <p:cNvSpPr txBox="1"/>
                <p:nvPr/>
              </p:nvSpPr>
              <p:spPr>
                <a:xfrm>
                  <a:off x="4920" y="243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9137" name="Group 128"/>
              <p:cNvGrpSpPr/>
              <p:nvPr/>
            </p:nvGrpSpPr>
            <p:grpSpPr>
              <a:xfrm>
                <a:off x="5372" y="1505"/>
                <a:ext cx="275" cy="880"/>
                <a:chOff x="5394" y="1612"/>
                <a:chExt cx="275" cy="880"/>
              </a:xfrm>
            </p:grpSpPr>
            <p:sp>
              <p:nvSpPr>
                <p:cNvPr id="299146" name="Text Box 129"/>
                <p:cNvSpPr txBox="1"/>
                <p:nvPr/>
              </p:nvSpPr>
              <p:spPr>
                <a:xfrm>
                  <a:off x="5394" y="161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147" name="Text Box 130"/>
                <p:cNvSpPr txBox="1"/>
                <p:nvPr/>
              </p:nvSpPr>
              <p:spPr>
                <a:xfrm>
                  <a:off x="5394" y="182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148" name="Text Box 131"/>
                <p:cNvSpPr txBox="1"/>
                <p:nvPr/>
              </p:nvSpPr>
              <p:spPr>
                <a:xfrm>
                  <a:off x="5394" y="203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149" name="Text Box 132"/>
                <p:cNvSpPr txBox="1"/>
                <p:nvPr/>
              </p:nvSpPr>
              <p:spPr>
                <a:xfrm>
                  <a:off x="5394" y="224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9138" name="Group 133"/>
              <p:cNvGrpSpPr/>
              <p:nvPr/>
            </p:nvGrpSpPr>
            <p:grpSpPr>
              <a:xfrm>
                <a:off x="3320" y="915"/>
                <a:ext cx="371" cy="2173"/>
                <a:chOff x="3324" y="979"/>
                <a:chExt cx="371" cy="2173"/>
              </a:xfrm>
            </p:grpSpPr>
            <p:sp>
              <p:nvSpPr>
                <p:cNvPr id="299142" name="Text Box 134"/>
                <p:cNvSpPr txBox="1"/>
                <p:nvPr/>
              </p:nvSpPr>
              <p:spPr>
                <a:xfrm>
                  <a:off x="3324" y="97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143" name="Text Box 135"/>
                <p:cNvSpPr txBox="1"/>
                <p:nvPr/>
              </p:nvSpPr>
              <p:spPr>
                <a:xfrm>
                  <a:off x="3324" y="1507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144" name="Text Box 136"/>
                <p:cNvSpPr txBox="1"/>
                <p:nvPr/>
              </p:nvSpPr>
              <p:spPr>
                <a:xfrm>
                  <a:off x="3324" y="240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99145" name="Text Box 137"/>
                <p:cNvSpPr txBox="1"/>
                <p:nvPr/>
              </p:nvSpPr>
              <p:spPr>
                <a:xfrm>
                  <a:off x="3324" y="2784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9139" name="Text Box 138"/>
              <p:cNvSpPr txBox="1"/>
              <p:nvPr/>
            </p:nvSpPr>
            <p:spPr>
              <a:xfrm rot="5400000">
                <a:off x="916" y="197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40" name="Text Box 139"/>
              <p:cNvSpPr txBox="1"/>
              <p:nvPr/>
            </p:nvSpPr>
            <p:spPr>
              <a:xfrm>
                <a:off x="1656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9141" name="Text Box 140"/>
              <p:cNvSpPr txBox="1"/>
              <p:nvPr/>
            </p:nvSpPr>
            <p:spPr>
              <a:xfrm>
                <a:off x="3350" y="3312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99011" name="Group 141"/>
          <p:cNvGrpSpPr/>
          <p:nvPr/>
        </p:nvGrpSpPr>
        <p:grpSpPr>
          <a:xfrm>
            <a:off x="3357563" y="3711575"/>
            <a:ext cx="5791200" cy="646113"/>
            <a:chOff x="1155" y="2338"/>
            <a:chExt cx="3648" cy="407"/>
          </a:xfrm>
        </p:grpSpPr>
        <p:sp>
          <p:nvSpPr>
            <p:cNvPr id="299028" name="Freeform 142"/>
            <p:cNvSpPr/>
            <p:nvPr/>
          </p:nvSpPr>
          <p:spPr>
            <a:xfrm>
              <a:off x="1155" y="2740"/>
              <a:ext cx="3648" cy="5"/>
            </a:xfrm>
            <a:custGeom>
              <a:avLst/>
              <a:gdLst>
                <a:gd name="txL" fmla="*/ 0 w 3648"/>
                <a:gd name="txT" fmla="*/ 0 h 5"/>
                <a:gd name="txR" fmla="*/ 3648 w 3648"/>
                <a:gd name="txB" fmla="*/ 5 h 5"/>
              </a:gdLst>
              <a:ahLst/>
              <a:cxnLst>
                <a:cxn ang="0">
                  <a:pos x="0" y="0"/>
                </a:cxn>
                <a:cxn ang="0">
                  <a:pos x="3648" y="5"/>
                </a:cxn>
              </a:cxnLst>
              <a:rect l="txL" t="txT" r="txR" b="txB"/>
              <a:pathLst>
                <a:path w="3648" h="5">
                  <a:moveTo>
                    <a:pt x="0" y="0"/>
                  </a:moveTo>
                  <a:lnTo>
                    <a:pt x="3648" y="5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9029" name="Line 143"/>
            <p:cNvSpPr/>
            <p:nvPr/>
          </p:nvSpPr>
          <p:spPr>
            <a:xfrm rot="10800000">
              <a:off x="1788" y="2656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99030" name="Line 144"/>
            <p:cNvSpPr/>
            <p:nvPr/>
          </p:nvSpPr>
          <p:spPr>
            <a:xfrm rot="10800000">
              <a:off x="2725" y="2658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299031" name="Freeform 145"/>
            <p:cNvSpPr/>
            <p:nvPr/>
          </p:nvSpPr>
          <p:spPr>
            <a:xfrm>
              <a:off x="4350" y="2657"/>
              <a:ext cx="1" cy="79"/>
            </a:xfrm>
            <a:custGeom>
              <a:avLst/>
              <a:gdLst>
                <a:gd name="txL" fmla="*/ 0 w 1"/>
                <a:gd name="txT" fmla="*/ 0 h 79"/>
                <a:gd name="txR" fmla="*/ 1 w 1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" y="0"/>
                </a:cxn>
              </a:cxnLst>
              <a:rect l="txL" t="txT" r="txR" b="txB"/>
              <a:pathLst>
                <a:path w="1" h="79">
                  <a:moveTo>
                    <a:pt x="0" y="79"/>
                  </a:moveTo>
                  <a:lnTo>
                    <a:pt x="1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9032" name="Rectangle 146"/>
            <p:cNvSpPr/>
            <p:nvPr/>
          </p:nvSpPr>
          <p:spPr>
            <a:xfrm>
              <a:off x="1615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9033" name="Rectangle 147"/>
            <p:cNvSpPr/>
            <p:nvPr/>
          </p:nvSpPr>
          <p:spPr>
            <a:xfrm>
              <a:off x="2546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9034" name="Rectangle 148"/>
            <p:cNvSpPr/>
            <p:nvPr/>
          </p:nvSpPr>
          <p:spPr>
            <a:xfrm>
              <a:off x="4178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299035" name="Text Box 149"/>
            <p:cNvSpPr txBox="1"/>
            <p:nvPr/>
          </p:nvSpPr>
          <p:spPr>
            <a:xfrm>
              <a:off x="3320" y="2338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" name="Group 150"/>
          <p:cNvGrpSpPr/>
          <p:nvPr/>
        </p:nvGrpSpPr>
        <p:grpSpPr>
          <a:xfrm>
            <a:off x="3505200" y="6138863"/>
            <a:ext cx="5152976" cy="522004"/>
            <a:chOff x="1452" y="3984"/>
            <a:chExt cx="3148" cy="361"/>
          </a:xfrm>
        </p:grpSpPr>
        <p:sp>
          <p:nvSpPr>
            <p:cNvPr id="299023" name="Text Box 151"/>
            <p:cNvSpPr txBox="1"/>
            <p:nvPr/>
          </p:nvSpPr>
          <p:spPr>
            <a:xfrm>
              <a:off x="1452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9024" name="Text Box 152"/>
            <p:cNvSpPr txBox="1"/>
            <p:nvPr/>
          </p:nvSpPr>
          <p:spPr>
            <a:xfrm>
              <a:off x="4380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9025" name="Text Box 153"/>
            <p:cNvSpPr txBox="1"/>
            <p:nvPr/>
          </p:nvSpPr>
          <p:spPr>
            <a:xfrm>
              <a:off x="3648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9026" name="Text Box 154"/>
            <p:cNvSpPr txBox="1"/>
            <p:nvPr/>
          </p:nvSpPr>
          <p:spPr>
            <a:xfrm>
              <a:off x="2917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9027" name="Text Box 155"/>
            <p:cNvSpPr txBox="1"/>
            <p:nvPr/>
          </p:nvSpPr>
          <p:spPr>
            <a:xfrm>
              <a:off x="2186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99013" name="Group 156"/>
          <p:cNvGrpSpPr/>
          <p:nvPr/>
        </p:nvGrpSpPr>
        <p:grpSpPr>
          <a:xfrm>
            <a:off x="1865313" y="1819275"/>
            <a:ext cx="360312" cy="3365215"/>
            <a:chOff x="300" y="720"/>
            <a:chExt cx="220" cy="2329"/>
          </a:xfrm>
        </p:grpSpPr>
        <p:sp>
          <p:nvSpPr>
            <p:cNvPr id="299018" name="Text Box 157"/>
            <p:cNvSpPr txBox="1"/>
            <p:nvPr/>
          </p:nvSpPr>
          <p:spPr>
            <a:xfrm>
              <a:off x="300" y="720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9019" name="Text Box 158"/>
            <p:cNvSpPr txBox="1"/>
            <p:nvPr/>
          </p:nvSpPr>
          <p:spPr>
            <a:xfrm>
              <a:off x="300" y="1212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9020" name="Text Box 159"/>
            <p:cNvSpPr txBox="1"/>
            <p:nvPr/>
          </p:nvSpPr>
          <p:spPr>
            <a:xfrm>
              <a:off x="300" y="1705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9021" name="Text Box 160"/>
            <p:cNvSpPr txBox="1"/>
            <p:nvPr/>
          </p:nvSpPr>
          <p:spPr>
            <a:xfrm>
              <a:off x="300" y="2196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9022" name="Text Box 161"/>
            <p:cNvSpPr txBox="1"/>
            <p:nvPr/>
          </p:nvSpPr>
          <p:spPr>
            <a:xfrm>
              <a:off x="300" y="2688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34658" name="Rectangle 16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9015" name="Text Box 163"/>
          <p:cNvSpPr txBox="1"/>
          <p:nvPr/>
        </p:nvSpPr>
        <p:spPr>
          <a:xfrm>
            <a:off x="1828800" y="228600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三管动态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en-US" altLang="zh-CN" sz="3200" b="1" dirty="0">
                <a:latin typeface="Times New Roman" panose="02020603050405020304" pitchFamily="18" charset="0"/>
              </a:rPr>
              <a:t>(Intel 1103)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9016" name="AutoShape 164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901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300034" name="Group 2"/>
          <p:cNvGrpSpPr/>
          <p:nvPr/>
        </p:nvGrpSpPr>
        <p:grpSpPr>
          <a:xfrm>
            <a:off x="1524000" y="1295400"/>
            <a:ext cx="9142413" cy="5440363"/>
            <a:chOff x="0" y="816"/>
            <a:chExt cx="5759" cy="3427"/>
          </a:xfrm>
        </p:grpSpPr>
        <p:grpSp>
          <p:nvGrpSpPr>
            <p:cNvPr id="300073" name="Group 3"/>
            <p:cNvGrpSpPr/>
            <p:nvPr/>
          </p:nvGrpSpPr>
          <p:grpSpPr>
            <a:xfrm>
              <a:off x="0" y="1094"/>
              <a:ext cx="462" cy="251"/>
              <a:chOff x="0" y="933"/>
              <a:chExt cx="462" cy="251"/>
            </a:xfrm>
          </p:grpSpPr>
          <p:sp>
            <p:nvSpPr>
              <p:cNvPr id="300209" name="Line 4"/>
              <p:cNvSpPr/>
              <p:nvPr/>
            </p:nvSpPr>
            <p:spPr>
              <a:xfrm>
                <a:off x="214" y="991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0210" name="Text Box 5"/>
              <p:cNvSpPr txBox="1"/>
              <p:nvPr/>
            </p:nvSpPr>
            <p:spPr>
              <a:xfrm>
                <a:off x="0" y="9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0074" name="Group 6"/>
            <p:cNvGrpSpPr/>
            <p:nvPr/>
          </p:nvGrpSpPr>
          <p:grpSpPr>
            <a:xfrm>
              <a:off x="16" y="1540"/>
              <a:ext cx="446" cy="251"/>
              <a:chOff x="16" y="1371"/>
              <a:chExt cx="446" cy="251"/>
            </a:xfrm>
          </p:grpSpPr>
          <p:sp>
            <p:nvSpPr>
              <p:cNvPr id="300207" name="Line 7"/>
              <p:cNvSpPr/>
              <p:nvPr/>
            </p:nvSpPr>
            <p:spPr>
              <a:xfrm>
                <a:off x="214" y="1439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0208" name="Text Box 8"/>
              <p:cNvSpPr txBox="1"/>
              <p:nvPr/>
            </p:nvSpPr>
            <p:spPr>
              <a:xfrm>
                <a:off x="16" y="137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0075" name="Group 9"/>
            <p:cNvGrpSpPr/>
            <p:nvPr/>
          </p:nvGrpSpPr>
          <p:grpSpPr>
            <a:xfrm>
              <a:off x="16" y="1987"/>
              <a:ext cx="446" cy="251"/>
              <a:chOff x="16" y="1809"/>
              <a:chExt cx="446" cy="251"/>
            </a:xfrm>
          </p:grpSpPr>
          <p:sp>
            <p:nvSpPr>
              <p:cNvPr id="300205" name="Line 10"/>
              <p:cNvSpPr/>
              <p:nvPr/>
            </p:nvSpPr>
            <p:spPr>
              <a:xfrm>
                <a:off x="214" y="1886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0206" name="Text Box 11"/>
              <p:cNvSpPr txBox="1"/>
              <p:nvPr/>
            </p:nvSpPr>
            <p:spPr>
              <a:xfrm>
                <a:off x="16" y="1809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0076" name="Group 12"/>
            <p:cNvGrpSpPr/>
            <p:nvPr/>
          </p:nvGrpSpPr>
          <p:grpSpPr>
            <a:xfrm>
              <a:off x="16" y="2433"/>
              <a:ext cx="446" cy="251"/>
              <a:chOff x="16" y="2276"/>
              <a:chExt cx="446" cy="251"/>
            </a:xfrm>
          </p:grpSpPr>
          <p:sp>
            <p:nvSpPr>
              <p:cNvPr id="300203" name="Line 13"/>
              <p:cNvSpPr/>
              <p:nvPr/>
            </p:nvSpPr>
            <p:spPr>
              <a:xfrm>
                <a:off x="214" y="2334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0204" name="Text Box 14"/>
              <p:cNvSpPr txBox="1"/>
              <p:nvPr/>
            </p:nvSpPr>
            <p:spPr>
              <a:xfrm>
                <a:off x="16" y="2276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0077" name="Group 15"/>
            <p:cNvGrpSpPr/>
            <p:nvPr/>
          </p:nvGrpSpPr>
          <p:grpSpPr>
            <a:xfrm>
              <a:off x="16" y="2880"/>
              <a:ext cx="446" cy="251"/>
              <a:chOff x="16" y="2725"/>
              <a:chExt cx="446" cy="251"/>
            </a:xfrm>
          </p:grpSpPr>
          <p:sp>
            <p:nvSpPr>
              <p:cNvPr id="300201" name="Line 16"/>
              <p:cNvSpPr/>
              <p:nvPr/>
            </p:nvSpPr>
            <p:spPr>
              <a:xfrm>
                <a:off x="214" y="2782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0202" name="Text Box 17"/>
              <p:cNvSpPr txBox="1"/>
              <p:nvPr/>
            </p:nvSpPr>
            <p:spPr>
              <a:xfrm>
                <a:off x="16" y="27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0078" name="Group 18"/>
            <p:cNvGrpSpPr/>
            <p:nvPr/>
          </p:nvGrpSpPr>
          <p:grpSpPr>
            <a:xfrm>
              <a:off x="462" y="816"/>
              <a:ext cx="5297" cy="3427"/>
              <a:chOff x="462" y="816"/>
              <a:chExt cx="5297" cy="3427"/>
            </a:xfrm>
          </p:grpSpPr>
          <p:sp>
            <p:nvSpPr>
              <p:cNvPr id="300079" name="Rectangle 19"/>
              <p:cNvSpPr/>
              <p:nvPr/>
            </p:nvSpPr>
            <p:spPr>
              <a:xfrm>
                <a:off x="462" y="816"/>
                <a:ext cx="693" cy="248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80" name="Freeform 20"/>
              <p:cNvSpPr/>
              <p:nvPr/>
            </p:nvSpPr>
            <p:spPr>
              <a:xfrm>
                <a:off x="1155" y="991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81" name="Rectangle 21"/>
              <p:cNvSpPr/>
              <p:nvPr/>
            </p:nvSpPr>
            <p:spPr>
              <a:xfrm>
                <a:off x="1615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82" name="Freeform 22"/>
              <p:cNvSpPr/>
              <p:nvPr/>
            </p:nvSpPr>
            <p:spPr>
              <a:xfrm>
                <a:off x="4351" y="991"/>
                <a:ext cx="1" cy="79"/>
              </a:xfrm>
              <a:custGeom>
                <a:avLst/>
                <a:gdLst>
                  <a:gd name="txL" fmla="*/ 0 w 1"/>
                  <a:gd name="txT" fmla="*/ 0 h 87"/>
                  <a:gd name="txR" fmla="*/ 1 w 1"/>
                  <a:gd name="txB" fmla="*/ 87 h 87"/>
                </a:gdLst>
                <a:ahLst/>
                <a:cxnLst>
                  <a:cxn ang="0">
                    <a:pos x="0" y="0"/>
                  </a:cxn>
                  <a:cxn ang="0">
                    <a:pos x="0" y="87"/>
                  </a:cxn>
                </a:cxnLst>
                <a:rect l="txL" t="txT" r="txR" b="txB"/>
                <a:pathLst>
                  <a:path w="1" h="87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83" name="Freeform 23"/>
              <p:cNvSpPr/>
              <p:nvPr/>
            </p:nvSpPr>
            <p:spPr>
              <a:xfrm>
                <a:off x="1155" y="1295"/>
                <a:ext cx="3659" cy="3"/>
              </a:xfrm>
              <a:custGeom>
                <a:avLst/>
                <a:gdLst>
                  <a:gd name="txL" fmla="*/ 0 w 3659"/>
                  <a:gd name="txT" fmla="*/ 0 h 3"/>
                  <a:gd name="txR" fmla="*/ 3659 w 3659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3659" y="3"/>
                  </a:cxn>
                </a:cxnLst>
                <a:rect l="txL" t="txT" r="txR" b="txB"/>
                <a:pathLst>
                  <a:path w="3659" h="3">
                    <a:moveTo>
                      <a:pt x="0" y="0"/>
                    </a:moveTo>
                    <a:lnTo>
                      <a:pt x="365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84" name="Freeform 24"/>
              <p:cNvSpPr/>
              <p:nvPr/>
            </p:nvSpPr>
            <p:spPr>
              <a:xfrm>
                <a:off x="2727" y="987"/>
                <a:ext cx="1" cy="86"/>
              </a:xfrm>
              <a:custGeom>
                <a:avLst/>
                <a:gdLst>
                  <a:gd name="txL" fmla="*/ 0 w 1"/>
                  <a:gd name="txT" fmla="*/ 0 h 86"/>
                  <a:gd name="txR" fmla="*/ 1 w 1"/>
                  <a:gd name="txB" fmla="*/ 86 h 86"/>
                </a:gdLst>
                <a:ahLst/>
                <a:cxnLst>
                  <a:cxn ang="0">
                    <a:pos x="0" y="0"/>
                  </a:cxn>
                  <a:cxn ang="0">
                    <a:pos x="1" y="86"/>
                  </a:cxn>
                </a:cxnLst>
                <a:rect l="txL" t="txT" r="txR" b="txB"/>
                <a:pathLst>
                  <a:path w="1" h="86">
                    <a:moveTo>
                      <a:pt x="0" y="0"/>
                    </a:moveTo>
                    <a:lnTo>
                      <a:pt x="1" y="8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85" name="Freeform 25"/>
              <p:cNvSpPr/>
              <p:nvPr/>
            </p:nvSpPr>
            <p:spPr>
              <a:xfrm>
                <a:off x="1791" y="985"/>
                <a:ext cx="1" cy="92"/>
              </a:xfrm>
              <a:custGeom>
                <a:avLst/>
                <a:gdLst>
                  <a:gd name="txL" fmla="*/ 0 w 1"/>
                  <a:gd name="txT" fmla="*/ 0 h 92"/>
                  <a:gd name="txR" fmla="*/ 1 w 1"/>
                  <a:gd name="txB" fmla="*/ 92 h 92"/>
                </a:gdLst>
                <a:ahLst/>
                <a:cxnLst>
                  <a:cxn ang="0">
                    <a:pos x="0" y="0"/>
                  </a:cxn>
                  <a:cxn ang="0">
                    <a:pos x="0" y="92"/>
                  </a:cxn>
                </a:cxnLst>
                <a:rect l="txL" t="txT" r="txR" b="tx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86" name="Freeform 26"/>
              <p:cNvSpPr/>
              <p:nvPr/>
            </p:nvSpPr>
            <p:spPr>
              <a:xfrm>
                <a:off x="1788" y="1212"/>
                <a:ext cx="1" cy="85"/>
              </a:xfrm>
              <a:custGeom>
                <a:avLst/>
                <a:gdLst>
                  <a:gd name="txL" fmla="*/ 0 w 1"/>
                  <a:gd name="txT" fmla="*/ 0 h 93"/>
                  <a:gd name="txR" fmla="*/ 1 w 1"/>
                  <a:gd name="txB" fmla="*/ 93 h 93"/>
                </a:gdLst>
                <a:ahLst/>
                <a:cxnLst>
                  <a:cxn ang="0">
                    <a:pos x="0" y="93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3">
                    <a:moveTo>
                      <a:pt x="0" y="9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87" name="Freeform 27"/>
              <p:cNvSpPr/>
              <p:nvPr/>
            </p:nvSpPr>
            <p:spPr>
              <a:xfrm>
                <a:off x="2736" y="1200"/>
                <a:ext cx="3" cy="95"/>
              </a:xfrm>
              <a:custGeom>
                <a:avLst/>
                <a:gdLst>
                  <a:gd name="txL" fmla="*/ 0 w 3"/>
                  <a:gd name="txT" fmla="*/ 0 h 105"/>
                  <a:gd name="txR" fmla="*/ 3 w 3"/>
                  <a:gd name="txB" fmla="*/ 105 h 105"/>
                </a:gdLst>
                <a:ahLst/>
                <a:cxnLst>
                  <a:cxn ang="0">
                    <a:pos x="0" y="105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105">
                    <a:moveTo>
                      <a:pt x="0" y="105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88" name="Line 28"/>
              <p:cNvSpPr/>
              <p:nvPr/>
            </p:nvSpPr>
            <p:spPr>
              <a:xfrm rot="10800000">
                <a:off x="4351" y="121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089" name="Freeform 29"/>
              <p:cNvSpPr/>
              <p:nvPr/>
            </p:nvSpPr>
            <p:spPr>
              <a:xfrm>
                <a:off x="1155" y="1559"/>
                <a:ext cx="3653" cy="1"/>
              </a:xfrm>
              <a:custGeom>
                <a:avLst/>
                <a:gdLst>
                  <a:gd name="txL" fmla="*/ 0 w 3543"/>
                  <a:gd name="txT" fmla="*/ 0 h 1"/>
                  <a:gd name="txR" fmla="*/ 3543 w 35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43" y="0"/>
                  </a:cxn>
                </a:cxnLst>
                <a:rect l="txL" t="txT" r="txR" b="txB"/>
                <a:pathLst>
                  <a:path w="3543" h="1">
                    <a:moveTo>
                      <a:pt x="0" y="0"/>
                    </a:moveTo>
                    <a:lnTo>
                      <a:pt x="354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90" name="Line 30"/>
              <p:cNvSpPr/>
              <p:nvPr/>
            </p:nvSpPr>
            <p:spPr>
              <a:xfrm>
                <a:off x="4351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091" name="Freeform 31"/>
              <p:cNvSpPr/>
              <p:nvPr/>
            </p:nvSpPr>
            <p:spPr>
              <a:xfrm>
                <a:off x="1155" y="1863"/>
                <a:ext cx="3656" cy="1"/>
              </a:xfrm>
              <a:custGeom>
                <a:avLst/>
                <a:gdLst>
                  <a:gd name="txL" fmla="*/ 0 w 3546"/>
                  <a:gd name="txT" fmla="*/ 0 h 2"/>
                  <a:gd name="txR" fmla="*/ 3546 w 354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3546" y="2"/>
                  </a:cxn>
                </a:cxnLst>
                <a:rect l="txL" t="txT" r="txR" b="txB"/>
                <a:pathLst>
                  <a:path w="3546" h="2">
                    <a:moveTo>
                      <a:pt x="0" y="0"/>
                    </a:moveTo>
                    <a:lnTo>
                      <a:pt x="354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92" name="Line 32"/>
              <p:cNvSpPr/>
              <p:nvPr/>
            </p:nvSpPr>
            <p:spPr>
              <a:xfrm>
                <a:off x="2725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093" name="Line 33"/>
              <p:cNvSpPr/>
              <p:nvPr/>
            </p:nvSpPr>
            <p:spPr>
              <a:xfrm>
                <a:off x="1788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094" name="Line 34"/>
              <p:cNvSpPr/>
              <p:nvPr/>
            </p:nvSpPr>
            <p:spPr>
              <a:xfrm rot="10800000">
                <a:off x="1788" y="177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095" name="Line 35"/>
              <p:cNvSpPr/>
              <p:nvPr/>
            </p:nvSpPr>
            <p:spPr>
              <a:xfrm rot="10800000">
                <a:off x="2725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096" name="Line 36"/>
              <p:cNvSpPr/>
              <p:nvPr/>
            </p:nvSpPr>
            <p:spPr>
              <a:xfrm rot="10800000">
                <a:off x="4351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097" name="Freeform 37"/>
              <p:cNvSpPr/>
              <p:nvPr/>
            </p:nvSpPr>
            <p:spPr>
              <a:xfrm>
                <a:off x="1155" y="2432"/>
                <a:ext cx="3675" cy="1"/>
              </a:xfrm>
              <a:custGeom>
                <a:avLst/>
                <a:gdLst>
                  <a:gd name="txL" fmla="*/ 0 w 3564"/>
                  <a:gd name="txT" fmla="*/ 0 h 1"/>
                  <a:gd name="txR" fmla="*/ 3564 w 356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64" y="0"/>
                  </a:cxn>
                </a:cxnLst>
                <a:rect l="txL" t="txT" r="txR" b="txB"/>
                <a:pathLst>
                  <a:path w="3564" h="1">
                    <a:moveTo>
                      <a:pt x="0" y="0"/>
                    </a:moveTo>
                    <a:lnTo>
                      <a:pt x="356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098" name="Line 38"/>
              <p:cNvSpPr/>
              <p:nvPr/>
            </p:nvSpPr>
            <p:spPr>
              <a:xfrm>
                <a:off x="4351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099" name="Freeform 39"/>
              <p:cNvSpPr/>
              <p:nvPr/>
            </p:nvSpPr>
            <p:spPr>
              <a:xfrm>
                <a:off x="1155" y="2736"/>
                <a:ext cx="3647" cy="1"/>
              </a:xfrm>
              <a:custGeom>
                <a:avLst/>
                <a:gdLst>
                  <a:gd name="txL" fmla="*/ 0 w 3647"/>
                  <a:gd name="txT" fmla="*/ 0 h 1"/>
                  <a:gd name="txR" fmla="*/ 3647 w 364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647" y="1"/>
                  </a:cxn>
                </a:cxnLst>
                <a:rect l="txL" t="txT" r="txR" b="txB"/>
                <a:pathLst>
                  <a:path w="3647" h="1">
                    <a:moveTo>
                      <a:pt x="0" y="0"/>
                    </a:moveTo>
                    <a:lnTo>
                      <a:pt x="364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00" name="Line 40"/>
              <p:cNvSpPr/>
              <p:nvPr/>
            </p:nvSpPr>
            <p:spPr>
              <a:xfrm>
                <a:off x="2725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101" name="Line 41"/>
              <p:cNvSpPr/>
              <p:nvPr/>
            </p:nvSpPr>
            <p:spPr>
              <a:xfrm>
                <a:off x="1788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102" name="Line 42"/>
              <p:cNvSpPr/>
              <p:nvPr/>
            </p:nvSpPr>
            <p:spPr>
              <a:xfrm rot="10800000">
                <a:off x="1788" y="2652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103" name="Line 43"/>
              <p:cNvSpPr/>
              <p:nvPr/>
            </p:nvSpPr>
            <p:spPr>
              <a:xfrm rot="10800000">
                <a:off x="2725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104" name="Line 44"/>
              <p:cNvSpPr/>
              <p:nvPr/>
            </p:nvSpPr>
            <p:spPr>
              <a:xfrm rot="10800000">
                <a:off x="4351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105" name="AutoShape 45"/>
              <p:cNvSpPr/>
              <p:nvPr/>
            </p:nvSpPr>
            <p:spPr>
              <a:xfrm rot="-5400000">
                <a:off x="1683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06" name="Freeform 46"/>
              <p:cNvSpPr/>
              <p:nvPr/>
            </p:nvSpPr>
            <p:spPr>
              <a:xfrm>
                <a:off x="1416" y="1148"/>
                <a:ext cx="198" cy="2026"/>
              </a:xfrm>
              <a:custGeom>
                <a:avLst/>
                <a:gdLst>
                  <a:gd name="txL" fmla="*/ 0 w 198"/>
                  <a:gd name="txT" fmla="*/ 0 h 2026"/>
                  <a:gd name="txR" fmla="*/ 198 w 198"/>
                  <a:gd name="txB" fmla="*/ 2026 h 2026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6" y="2026"/>
                  </a:cxn>
                </a:cxnLst>
                <a:rect l="txL" t="txT" r="txR" b="txB"/>
                <a:pathLst>
                  <a:path w="198" h="2026">
                    <a:moveTo>
                      <a:pt x="198" y="0"/>
                    </a:moveTo>
                    <a:lnTo>
                      <a:pt x="0" y="0"/>
                    </a:lnTo>
                    <a:lnTo>
                      <a:pt x="6" y="202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07" name="Freeform 47"/>
              <p:cNvSpPr/>
              <p:nvPr/>
            </p:nvSpPr>
            <p:spPr>
              <a:xfrm>
                <a:off x="141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08" name="Freeform 48"/>
              <p:cNvSpPr/>
              <p:nvPr/>
            </p:nvSpPr>
            <p:spPr>
              <a:xfrm>
                <a:off x="1422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09" name="Line 49"/>
              <p:cNvSpPr/>
              <p:nvPr/>
            </p:nvSpPr>
            <p:spPr>
              <a:xfrm>
                <a:off x="1419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110" name="Freeform 50"/>
              <p:cNvSpPr/>
              <p:nvPr/>
            </p:nvSpPr>
            <p:spPr>
              <a:xfrm>
                <a:off x="3979" y="1148"/>
                <a:ext cx="198" cy="2023"/>
              </a:xfrm>
              <a:custGeom>
                <a:avLst/>
                <a:gdLst>
                  <a:gd name="txL" fmla="*/ 0 w 198"/>
                  <a:gd name="txT" fmla="*/ 0 h 2023"/>
                  <a:gd name="txR" fmla="*/ 198 w 198"/>
                  <a:gd name="txB" fmla="*/ 2023 h 2023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2" y="2023"/>
                  </a:cxn>
                </a:cxnLst>
                <a:rect l="txL" t="txT" r="txR" b="txB"/>
                <a:pathLst>
                  <a:path w="198" h="2023">
                    <a:moveTo>
                      <a:pt x="198" y="0"/>
                    </a:moveTo>
                    <a:lnTo>
                      <a:pt x="0" y="0"/>
                    </a:lnTo>
                    <a:lnTo>
                      <a:pt x="2" y="202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11" name="Freeform 51"/>
              <p:cNvSpPr/>
              <p:nvPr/>
            </p:nvSpPr>
            <p:spPr>
              <a:xfrm>
                <a:off x="3982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12" name="Freeform 52"/>
              <p:cNvSpPr/>
              <p:nvPr/>
            </p:nvSpPr>
            <p:spPr>
              <a:xfrm>
                <a:off x="3985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13" name="Line 53"/>
              <p:cNvSpPr/>
              <p:nvPr/>
            </p:nvSpPr>
            <p:spPr>
              <a:xfrm>
                <a:off x="3982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114" name="Freeform 54"/>
              <p:cNvSpPr/>
              <p:nvPr/>
            </p:nvSpPr>
            <p:spPr>
              <a:xfrm>
                <a:off x="2347" y="1148"/>
                <a:ext cx="198" cy="2024"/>
              </a:xfrm>
              <a:custGeom>
                <a:avLst/>
                <a:gdLst>
                  <a:gd name="txL" fmla="*/ 0 w 192"/>
                  <a:gd name="txT" fmla="*/ 0 h 2224"/>
                  <a:gd name="txR" fmla="*/ 192 w 192"/>
                  <a:gd name="txB" fmla="*/ 2224 h 2224"/>
                </a:gdLst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2" y="2224"/>
                  </a:cxn>
                </a:cxnLst>
                <a:rect l="txL" t="txT" r="txR" b="txB"/>
                <a:pathLst>
                  <a:path w="192" h="2224">
                    <a:moveTo>
                      <a:pt x="192" y="0"/>
                    </a:moveTo>
                    <a:lnTo>
                      <a:pt x="0" y="0"/>
                    </a:lnTo>
                    <a:lnTo>
                      <a:pt x="2" y="222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15" name="Freeform 55"/>
              <p:cNvSpPr/>
              <p:nvPr/>
            </p:nvSpPr>
            <p:spPr>
              <a:xfrm>
                <a:off x="235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16" name="Freeform 56"/>
              <p:cNvSpPr/>
              <p:nvPr/>
            </p:nvSpPr>
            <p:spPr>
              <a:xfrm>
                <a:off x="2353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17" name="Line 57"/>
              <p:cNvSpPr/>
              <p:nvPr/>
            </p:nvSpPr>
            <p:spPr>
              <a:xfrm>
                <a:off x="2350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0118" name="Freeform 58"/>
              <p:cNvSpPr/>
              <p:nvPr/>
            </p:nvSpPr>
            <p:spPr>
              <a:xfrm>
                <a:off x="1964" y="1135"/>
                <a:ext cx="198" cy="2030"/>
              </a:xfrm>
              <a:custGeom>
                <a:avLst/>
                <a:gdLst>
                  <a:gd name="txL" fmla="*/ 0 w 198"/>
                  <a:gd name="txT" fmla="*/ 0 h 2030"/>
                  <a:gd name="txR" fmla="*/ 198 w 198"/>
                  <a:gd name="txB" fmla="*/ 2030 h 2030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193" y="2030"/>
                  </a:cxn>
                </a:cxnLst>
                <a:rect l="txL" t="txT" r="txR" b="txB"/>
                <a:pathLst>
                  <a:path w="198" h="2030">
                    <a:moveTo>
                      <a:pt x="0" y="0"/>
                    </a:moveTo>
                    <a:lnTo>
                      <a:pt x="198" y="0"/>
                    </a:lnTo>
                    <a:lnTo>
                      <a:pt x="193" y="20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19" name="Freeform 59"/>
              <p:cNvSpPr/>
              <p:nvPr/>
            </p:nvSpPr>
            <p:spPr>
              <a:xfrm rot="10800000">
                <a:off x="195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20" name="Freeform 60"/>
              <p:cNvSpPr/>
              <p:nvPr/>
            </p:nvSpPr>
            <p:spPr>
              <a:xfrm rot="10800000">
                <a:off x="1959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21" name="Freeform 61"/>
              <p:cNvSpPr/>
              <p:nvPr/>
            </p:nvSpPr>
            <p:spPr>
              <a:xfrm>
                <a:off x="1958" y="2957"/>
                <a:ext cx="200" cy="1"/>
              </a:xfrm>
              <a:custGeom>
                <a:avLst/>
                <a:gdLst>
                  <a:gd name="txL" fmla="*/ 0 w 194"/>
                  <a:gd name="txT" fmla="*/ 0 h 1"/>
                  <a:gd name="txR" fmla="*/ 194 w 194"/>
                  <a:gd name="txB" fmla="*/ 1 h 1"/>
                </a:gdLst>
                <a:ahLst/>
                <a:cxnLst>
                  <a:cxn ang="0">
                    <a:pos x="19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4" h="1">
                    <a:moveTo>
                      <a:pt x="19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22" name="Freeform 62"/>
              <p:cNvSpPr/>
              <p:nvPr/>
            </p:nvSpPr>
            <p:spPr>
              <a:xfrm>
                <a:off x="2893" y="1135"/>
                <a:ext cx="199" cy="2047"/>
              </a:xfrm>
              <a:custGeom>
                <a:avLst/>
                <a:gdLst>
                  <a:gd name="txL" fmla="*/ 0 w 193"/>
                  <a:gd name="txT" fmla="*/ 0 h 2250"/>
                  <a:gd name="txR" fmla="*/ 193 w 193"/>
                  <a:gd name="txB" fmla="*/ 2250 h 2250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3" y="2250"/>
                  </a:cxn>
                </a:cxnLst>
                <a:rect l="txL" t="txT" r="txR" b="txB"/>
                <a:pathLst>
                  <a:path w="193" h="2250">
                    <a:moveTo>
                      <a:pt x="0" y="0"/>
                    </a:moveTo>
                    <a:lnTo>
                      <a:pt x="192" y="0"/>
                    </a:lnTo>
                    <a:lnTo>
                      <a:pt x="193" y="22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23" name="Freeform 63"/>
              <p:cNvSpPr/>
              <p:nvPr/>
            </p:nvSpPr>
            <p:spPr>
              <a:xfrm rot="10800000">
                <a:off x="289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24" name="Freeform 64"/>
              <p:cNvSpPr/>
              <p:nvPr/>
            </p:nvSpPr>
            <p:spPr>
              <a:xfrm rot="10800000">
                <a:off x="2890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25" name="Freeform 65"/>
              <p:cNvSpPr/>
              <p:nvPr/>
            </p:nvSpPr>
            <p:spPr>
              <a:xfrm>
                <a:off x="2895" y="2957"/>
                <a:ext cx="194" cy="1"/>
              </a:xfrm>
              <a:custGeom>
                <a:avLst/>
                <a:gdLst>
                  <a:gd name="txL" fmla="*/ 0 w 188"/>
                  <a:gd name="txT" fmla="*/ 0 h 1"/>
                  <a:gd name="txR" fmla="*/ 188 w 188"/>
                  <a:gd name="txB" fmla="*/ 1 h 1"/>
                </a:gdLst>
                <a:ahLst/>
                <a:cxnLst>
                  <a:cxn ang="0">
                    <a:pos x="18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26" name="Freeform 66"/>
              <p:cNvSpPr/>
              <p:nvPr/>
            </p:nvSpPr>
            <p:spPr>
              <a:xfrm>
                <a:off x="4531" y="1135"/>
                <a:ext cx="203" cy="2027"/>
              </a:xfrm>
              <a:custGeom>
                <a:avLst/>
                <a:gdLst>
                  <a:gd name="txL" fmla="*/ 0 w 203"/>
                  <a:gd name="txT" fmla="*/ 0 h 2027"/>
                  <a:gd name="txR" fmla="*/ 203 w 203"/>
                  <a:gd name="txB" fmla="*/ 2027 h 2027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203" y="2027"/>
                  </a:cxn>
                </a:cxnLst>
                <a:rect l="txL" t="txT" r="txR" b="txB"/>
                <a:pathLst>
                  <a:path w="203" h="2027">
                    <a:moveTo>
                      <a:pt x="0" y="0"/>
                    </a:moveTo>
                    <a:lnTo>
                      <a:pt x="198" y="0"/>
                    </a:lnTo>
                    <a:lnTo>
                      <a:pt x="203" y="202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27" name="Freeform 67"/>
              <p:cNvSpPr/>
              <p:nvPr/>
            </p:nvSpPr>
            <p:spPr>
              <a:xfrm rot="10800000">
                <a:off x="4528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28" name="Freeform 68"/>
              <p:cNvSpPr/>
              <p:nvPr/>
            </p:nvSpPr>
            <p:spPr>
              <a:xfrm rot="10800000">
                <a:off x="4528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29" name="Freeform 69"/>
              <p:cNvSpPr/>
              <p:nvPr/>
            </p:nvSpPr>
            <p:spPr>
              <a:xfrm rot="10800000">
                <a:off x="4524" y="295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30" name="Rectangle 70"/>
              <p:cNvSpPr/>
              <p:nvPr/>
            </p:nvSpPr>
            <p:spPr>
              <a:xfrm>
                <a:off x="1204" y="3175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读  写  控  制  电  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31" name="Rectangle 71"/>
              <p:cNvSpPr/>
              <p:nvPr/>
            </p:nvSpPr>
            <p:spPr>
              <a:xfrm>
                <a:off x="1204" y="3656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bIns="0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  地  址  译  码 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32" name="Text Box 72"/>
              <p:cNvSpPr txBox="1"/>
              <p:nvPr/>
            </p:nvSpPr>
            <p:spPr>
              <a:xfrm rot="5400000">
                <a:off x="1671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33" name="Text Box 73"/>
              <p:cNvSpPr txBox="1"/>
              <p:nvPr/>
            </p:nvSpPr>
            <p:spPr>
              <a:xfrm rot="5400000">
                <a:off x="2602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34" name="Text Box 74"/>
              <p:cNvSpPr txBox="1"/>
              <p:nvPr/>
            </p:nvSpPr>
            <p:spPr>
              <a:xfrm rot="5400000">
                <a:off x="4234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35" name="Rectangle 75"/>
              <p:cNvSpPr/>
              <p:nvPr/>
            </p:nvSpPr>
            <p:spPr>
              <a:xfrm>
                <a:off x="1615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36" name="Rectangle 76"/>
              <p:cNvSpPr/>
              <p:nvPr/>
            </p:nvSpPr>
            <p:spPr>
              <a:xfrm>
                <a:off x="1615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37" name="Rectangle 77"/>
              <p:cNvSpPr/>
              <p:nvPr/>
            </p:nvSpPr>
            <p:spPr>
              <a:xfrm>
                <a:off x="2546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38" name="Rectangle 78"/>
              <p:cNvSpPr/>
              <p:nvPr/>
            </p:nvSpPr>
            <p:spPr>
              <a:xfrm>
                <a:off x="2546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39" name="Rectangle 79"/>
              <p:cNvSpPr/>
              <p:nvPr/>
            </p:nvSpPr>
            <p:spPr>
              <a:xfrm>
                <a:off x="2546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40" name="Rectangle 80"/>
              <p:cNvSpPr/>
              <p:nvPr/>
            </p:nvSpPr>
            <p:spPr>
              <a:xfrm>
                <a:off x="4178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41" name="Rectangle 81"/>
              <p:cNvSpPr/>
              <p:nvPr/>
            </p:nvSpPr>
            <p:spPr>
              <a:xfrm>
                <a:off x="4178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42" name="Rectangle 82"/>
              <p:cNvSpPr/>
              <p:nvPr/>
            </p:nvSpPr>
            <p:spPr>
              <a:xfrm>
                <a:off x="4178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43" name="AutoShape 83"/>
              <p:cNvSpPr/>
              <p:nvPr/>
            </p:nvSpPr>
            <p:spPr>
              <a:xfrm rot="-5400000">
                <a:off x="2614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44" name="AutoShape 84"/>
              <p:cNvSpPr/>
              <p:nvPr/>
            </p:nvSpPr>
            <p:spPr>
              <a:xfrm rot="-5400000">
                <a:off x="4246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0145" name="Text Box 85"/>
              <p:cNvSpPr txBox="1"/>
              <p:nvPr/>
            </p:nvSpPr>
            <p:spPr>
              <a:xfrm>
                <a:off x="4796" y="86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46" name="Text Box 86"/>
              <p:cNvSpPr txBox="1"/>
              <p:nvPr/>
            </p:nvSpPr>
            <p:spPr>
              <a:xfrm>
                <a:off x="4806" y="115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写选择线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47" name="Line 87"/>
              <p:cNvSpPr/>
              <p:nvPr/>
            </p:nvSpPr>
            <p:spPr>
              <a:xfrm>
                <a:off x="4817" y="3306"/>
                <a:ext cx="3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300148" name="Text Box 88"/>
              <p:cNvSpPr txBox="1"/>
              <p:nvPr/>
            </p:nvSpPr>
            <p:spPr>
              <a:xfrm>
                <a:off x="4906" y="3024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49" name="Text Box 89"/>
              <p:cNvSpPr txBox="1"/>
              <p:nvPr/>
            </p:nvSpPr>
            <p:spPr>
              <a:xfrm>
                <a:off x="3296" y="1929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单元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50" name="Text Box 90"/>
              <p:cNvSpPr txBox="1"/>
              <p:nvPr/>
            </p:nvSpPr>
            <p:spPr>
              <a:xfrm>
                <a:off x="3296" y="21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电路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51" name="Text Box 91"/>
              <p:cNvSpPr txBox="1"/>
              <p:nvPr/>
            </p:nvSpPr>
            <p:spPr>
              <a:xfrm>
                <a:off x="503" y="936"/>
                <a:ext cx="307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52" name="Text Box 92"/>
              <p:cNvSpPr txBox="1"/>
              <p:nvPr/>
            </p:nvSpPr>
            <p:spPr>
              <a:xfrm>
                <a:off x="907" y="86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53" name="Text Box 93"/>
              <p:cNvSpPr txBox="1"/>
              <p:nvPr/>
            </p:nvSpPr>
            <p:spPr>
              <a:xfrm>
                <a:off x="907" y="115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54" name="Text Box 94"/>
              <p:cNvSpPr txBox="1"/>
              <p:nvPr/>
            </p:nvSpPr>
            <p:spPr>
              <a:xfrm>
                <a:off x="907" y="145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55" name="Text Box 95"/>
              <p:cNvSpPr txBox="1"/>
              <p:nvPr/>
            </p:nvSpPr>
            <p:spPr>
              <a:xfrm>
                <a:off x="907" y="176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56" name="Text Box 96"/>
              <p:cNvSpPr txBox="1"/>
              <p:nvPr/>
            </p:nvSpPr>
            <p:spPr>
              <a:xfrm>
                <a:off x="854" y="229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57" name="Text Box 97"/>
              <p:cNvSpPr txBox="1"/>
              <p:nvPr/>
            </p:nvSpPr>
            <p:spPr>
              <a:xfrm>
                <a:off x="858" y="259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58" name="Line 98"/>
              <p:cNvSpPr/>
              <p:nvPr/>
            </p:nvSpPr>
            <p:spPr>
              <a:xfrm>
                <a:off x="1887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0159" name="Line 99"/>
              <p:cNvSpPr/>
              <p:nvPr/>
            </p:nvSpPr>
            <p:spPr>
              <a:xfrm>
                <a:off x="2832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0160" name="Text Box 100"/>
              <p:cNvSpPr txBox="1"/>
              <p:nvPr/>
            </p:nvSpPr>
            <p:spPr>
              <a:xfrm>
                <a:off x="2613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61" name="Line 101"/>
              <p:cNvSpPr/>
              <p:nvPr/>
            </p:nvSpPr>
            <p:spPr>
              <a:xfrm>
                <a:off x="4473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0162" name="Text Box 102"/>
              <p:cNvSpPr txBox="1"/>
              <p:nvPr/>
            </p:nvSpPr>
            <p:spPr>
              <a:xfrm>
                <a:off x="4176" y="342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0163" name="Group 103"/>
              <p:cNvGrpSpPr/>
              <p:nvPr/>
            </p:nvGrpSpPr>
            <p:grpSpPr>
              <a:xfrm>
                <a:off x="1492" y="3918"/>
                <a:ext cx="283" cy="324"/>
                <a:chOff x="1584" y="3918"/>
                <a:chExt cx="283" cy="324"/>
              </a:xfrm>
            </p:grpSpPr>
            <p:sp>
              <p:nvSpPr>
                <p:cNvPr id="300199" name="Line 104"/>
                <p:cNvSpPr/>
                <p:nvPr/>
              </p:nvSpPr>
              <p:spPr>
                <a:xfrm rot="-5400000">
                  <a:off x="149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0200" name="Text Box 105"/>
                <p:cNvSpPr txBox="1"/>
                <p:nvPr/>
              </p:nvSpPr>
              <p:spPr>
                <a:xfrm>
                  <a:off x="1584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0164" name="Group 106"/>
              <p:cNvGrpSpPr/>
              <p:nvPr/>
            </p:nvGrpSpPr>
            <p:grpSpPr>
              <a:xfrm>
                <a:off x="2234" y="3918"/>
                <a:ext cx="284" cy="325"/>
                <a:chOff x="2355" y="3918"/>
                <a:chExt cx="284" cy="325"/>
              </a:xfrm>
            </p:grpSpPr>
            <p:sp>
              <p:nvSpPr>
                <p:cNvPr id="300197" name="Line 107"/>
                <p:cNvSpPr/>
                <p:nvPr/>
              </p:nvSpPr>
              <p:spPr>
                <a:xfrm rot="-5400000">
                  <a:off x="224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0198" name="Text Box 108"/>
                <p:cNvSpPr txBox="1"/>
                <p:nvPr/>
              </p:nvSpPr>
              <p:spPr>
                <a:xfrm>
                  <a:off x="2356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0165" name="Group 109"/>
              <p:cNvGrpSpPr/>
              <p:nvPr/>
            </p:nvGrpSpPr>
            <p:grpSpPr>
              <a:xfrm>
                <a:off x="2978" y="3918"/>
                <a:ext cx="283" cy="325"/>
                <a:chOff x="3102" y="3918"/>
                <a:chExt cx="283" cy="325"/>
              </a:xfrm>
            </p:grpSpPr>
            <p:sp>
              <p:nvSpPr>
                <p:cNvPr id="300195" name="Line 110"/>
                <p:cNvSpPr/>
                <p:nvPr/>
              </p:nvSpPr>
              <p:spPr>
                <a:xfrm rot="-5400000">
                  <a:off x="300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0196" name="Text Box 111"/>
                <p:cNvSpPr txBox="1"/>
                <p:nvPr/>
              </p:nvSpPr>
              <p:spPr>
                <a:xfrm>
                  <a:off x="3102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0166" name="Group 112"/>
              <p:cNvGrpSpPr/>
              <p:nvPr/>
            </p:nvGrpSpPr>
            <p:grpSpPr>
              <a:xfrm>
                <a:off x="3721" y="3918"/>
                <a:ext cx="283" cy="325"/>
                <a:chOff x="3844" y="3918"/>
                <a:chExt cx="283" cy="325"/>
              </a:xfrm>
            </p:grpSpPr>
            <p:sp>
              <p:nvSpPr>
                <p:cNvPr id="300193" name="Line 113"/>
                <p:cNvSpPr/>
                <p:nvPr/>
              </p:nvSpPr>
              <p:spPr>
                <a:xfrm rot="-5400000">
                  <a:off x="375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0194" name="Text Box 114"/>
                <p:cNvSpPr txBox="1"/>
                <p:nvPr/>
              </p:nvSpPr>
              <p:spPr>
                <a:xfrm>
                  <a:off x="3844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0167" name="Group 115"/>
              <p:cNvGrpSpPr/>
              <p:nvPr/>
            </p:nvGrpSpPr>
            <p:grpSpPr>
              <a:xfrm>
                <a:off x="4464" y="3918"/>
                <a:ext cx="283" cy="324"/>
                <a:chOff x="4603" y="3918"/>
                <a:chExt cx="283" cy="324"/>
              </a:xfrm>
            </p:grpSpPr>
            <p:sp>
              <p:nvSpPr>
                <p:cNvPr id="300191" name="Line 116"/>
                <p:cNvSpPr/>
                <p:nvPr/>
              </p:nvSpPr>
              <p:spPr>
                <a:xfrm rot="-5400000">
                  <a:off x="4510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0192" name="Text Box 117"/>
                <p:cNvSpPr txBox="1"/>
                <p:nvPr/>
              </p:nvSpPr>
              <p:spPr>
                <a:xfrm>
                  <a:off x="4603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0168" name="Line 118"/>
              <p:cNvSpPr/>
              <p:nvPr/>
            </p:nvSpPr>
            <p:spPr>
              <a:xfrm>
                <a:off x="2689" y="1690"/>
                <a:ext cx="643" cy="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0169" name="Line 119"/>
              <p:cNvSpPr/>
              <p:nvPr/>
            </p:nvSpPr>
            <p:spPr>
              <a:xfrm>
                <a:off x="3976" y="2039"/>
                <a:ext cx="990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0170" name="Line 120"/>
              <p:cNvSpPr/>
              <p:nvPr/>
            </p:nvSpPr>
            <p:spPr>
              <a:xfrm>
                <a:off x="4718" y="1384"/>
                <a:ext cx="693" cy="1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0171" name="Text Box 121"/>
              <p:cNvSpPr txBox="1"/>
              <p:nvPr/>
            </p:nvSpPr>
            <p:spPr>
              <a:xfrm>
                <a:off x="4844" y="2728"/>
                <a:ext cx="9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刷新放大器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72" name="Line 122"/>
              <p:cNvSpPr/>
              <p:nvPr/>
            </p:nvSpPr>
            <p:spPr>
              <a:xfrm flipV="1">
                <a:off x="4520" y="2957"/>
                <a:ext cx="495" cy="4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00173" name="Group 123"/>
              <p:cNvGrpSpPr/>
              <p:nvPr/>
            </p:nvGrpSpPr>
            <p:grpSpPr>
              <a:xfrm>
                <a:off x="4916" y="1726"/>
                <a:ext cx="275" cy="894"/>
                <a:chOff x="4920" y="1790"/>
                <a:chExt cx="275" cy="894"/>
              </a:xfrm>
            </p:grpSpPr>
            <p:sp>
              <p:nvSpPr>
                <p:cNvPr id="300187" name="Text Box 124"/>
                <p:cNvSpPr txBox="1"/>
                <p:nvPr/>
              </p:nvSpPr>
              <p:spPr>
                <a:xfrm>
                  <a:off x="4920" y="1790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写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0188" name="Text Box 125"/>
                <p:cNvSpPr txBox="1"/>
                <p:nvPr/>
              </p:nvSpPr>
              <p:spPr>
                <a:xfrm>
                  <a:off x="4920" y="200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0189" name="Text Box 126"/>
                <p:cNvSpPr txBox="1"/>
                <p:nvPr/>
              </p:nvSpPr>
              <p:spPr>
                <a:xfrm>
                  <a:off x="4920" y="2219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0190" name="Text Box 127"/>
                <p:cNvSpPr txBox="1"/>
                <p:nvPr/>
              </p:nvSpPr>
              <p:spPr>
                <a:xfrm>
                  <a:off x="4920" y="243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0174" name="Group 128"/>
              <p:cNvGrpSpPr/>
              <p:nvPr/>
            </p:nvGrpSpPr>
            <p:grpSpPr>
              <a:xfrm>
                <a:off x="5372" y="1505"/>
                <a:ext cx="275" cy="880"/>
                <a:chOff x="5394" y="1612"/>
                <a:chExt cx="275" cy="880"/>
              </a:xfrm>
            </p:grpSpPr>
            <p:sp>
              <p:nvSpPr>
                <p:cNvPr id="300183" name="Text Box 129"/>
                <p:cNvSpPr txBox="1"/>
                <p:nvPr/>
              </p:nvSpPr>
              <p:spPr>
                <a:xfrm>
                  <a:off x="5394" y="161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0184" name="Text Box 130"/>
                <p:cNvSpPr txBox="1"/>
                <p:nvPr/>
              </p:nvSpPr>
              <p:spPr>
                <a:xfrm>
                  <a:off x="5394" y="182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0185" name="Text Box 131"/>
                <p:cNvSpPr txBox="1"/>
                <p:nvPr/>
              </p:nvSpPr>
              <p:spPr>
                <a:xfrm>
                  <a:off x="5394" y="203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0186" name="Text Box 132"/>
                <p:cNvSpPr txBox="1"/>
                <p:nvPr/>
              </p:nvSpPr>
              <p:spPr>
                <a:xfrm>
                  <a:off x="5394" y="224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0175" name="Group 133"/>
              <p:cNvGrpSpPr/>
              <p:nvPr/>
            </p:nvGrpSpPr>
            <p:grpSpPr>
              <a:xfrm>
                <a:off x="3320" y="915"/>
                <a:ext cx="371" cy="2173"/>
                <a:chOff x="3324" y="979"/>
                <a:chExt cx="371" cy="2173"/>
              </a:xfrm>
            </p:grpSpPr>
            <p:sp>
              <p:nvSpPr>
                <p:cNvPr id="300179" name="Text Box 134"/>
                <p:cNvSpPr txBox="1"/>
                <p:nvPr/>
              </p:nvSpPr>
              <p:spPr>
                <a:xfrm>
                  <a:off x="3324" y="97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0180" name="Text Box 135"/>
                <p:cNvSpPr txBox="1"/>
                <p:nvPr/>
              </p:nvSpPr>
              <p:spPr>
                <a:xfrm>
                  <a:off x="3324" y="1507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0181" name="Text Box 136"/>
                <p:cNvSpPr txBox="1"/>
                <p:nvPr/>
              </p:nvSpPr>
              <p:spPr>
                <a:xfrm>
                  <a:off x="3324" y="240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0182" name="Text Box 137"/>
                <p:cNvSpPr txBox="1"/>
                <p:nvPr/>
              </p:nvSpPr>
              <p:spPr>
                <a:xfrm>
                  <a:off x="3324" y="2784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0176" name="Text Box 138"/>
              <p:cNvSpPr txBox="1"/>
              <p:nvPr/>
            </p:nvSpPr>
            <p:spPr>
              <a:xfrm rot="5400000">
                <a:off x="916" y="197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77" name="Text Box 139"/>
              <p:cNvSpPr txBox="1"/>
              <p:nvPr/>
            </p:nvSpPr>
            <p:spPr>
              <a:xfrm>
                <a:off x="1656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0178" name="Text Box 140"/>
              <p:cNvSpPr txBox="1"/>
              <p:nvPr/>
            </p:nvSpPr>
            <p:spPr>
              <a:xfrm>
                <a:off x="3350" y="3312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00035" name="Group 141"/>
          <p:cNvGrpSpPr/>
          <p:nvPr/>
        </p:nvGrpSpPr>
        <p:grpSpPr>
          <a:xfrm>
            <a:off x="3357563" y="3711575"/>
            <a:ext cx="5791200" cy="646113"/>
            <a:chOff x="1155" y="2338"/>
            <a:chExt cx="3648" cy="407"/>
          </a:xfrm>
        </p:grpSpPr>
        <p:sp>
          <p:nvSpPr>
            <p:cNvPr id="300065" name="Freeform 142"/>
            <p:cNvSpPr/>
            <p:nvPr/>
          </p:nvSpPr>
          <p:spPr>
            <a:xfrm>
              <a:off x="1155" y="2740"/>
              <a:ext cx="3648" cy="5"/>
            </a:xfrm>
            <a:custGeom>
              <a:avLst/>
              <a:gdLst>
                <a:gd name="txL" fmla="*/ 0 w 3648"/>
                <a:gd name="txT" fmla="*/ 0 h 5"/>
                <a:gd name="txR" fmla="*/ 3648 w 3648"/>
                <a:gd name="txB" fmla="*/ 5 h 5"/>
              </a:gdLst>
              <a:ahLst/>
              <a:cxnLst>
                <a:cxn ang="0">
                  <a:pos x="0" y="0"/>
                </a:cxn>
                <a:cxn ang="0">
                  <a:pos x="3648" y="5"/>
                </a:cxn>
              </a:cxnLst>
              <a:rect l="txL" t="txT" r="txR" b="txB"/>
              <a:pathLst>
                <a:path w="3648" h="5">
                  <a:moveTo>
                    <a:pt x="0" y="0"/>
                  </a:moveTo>
                  <a:lnTo>
                    <a:pt x="3648" y="5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0066" name="Line 143"/>
            <p:cNvSpPr/>
            <p:nvPr/>
          </p:nvSpPr>
          <p:spPr>
            <a:xfrm rot="10800000">
              <a:off x="1788" y="2656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0067" name="Line 144"/>
            <p:cNvSpPr/>
            <p:nvPr/>
          </p:nvSpPr>
          <p:spPr>
            <a:xfrm rot="10800000">
              <a:off x="2725" y="2658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0068" name="Freeform 145"/>
            <p:cNvSpPr/>
            <p:nvPr/>
          </p:nvSpPr>
          <p:spPr>
            <a:xfrm>
              <a:off x="4350" y="2657"/>
              <a:ext cx="1" cy="79"/>
            </a:xfrm>
            <a:custGeom>
              <a:avLst/>
              <a:gdLst>
                <a:gd name="txL" fmla="*/ 0 w 1"/>
                <a:gd name="txT" fmla="*/ 0 h 79"/>
                <a:gd name="txR" fmla="*/ 1 w 1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" y="0"/>
                </a:cxn>
              </a:cxnLst>
              <a:rect l="txL" t="txT" r="txR" b="txB"/>
              <a:pathLst>
                <a:path w="1" h="79">
                  <a:moveTo>
                    <a:pt x="0" y="79"/>
                  </a:moveTo>
                  <a:lnTo>
                    <a:pt x="1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0069" name="Rectangle 146"/>
            <p:cNvSpPr/>
            <p:nvPr/>
          </p:nvSpPr>
          <p:spPr>
            <a:xfrm>
              <a:off x="1615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0070" name="Rectangle 147"/>
            <p:cNvSpPr/>
            <p:nvPr/>
          </p:nvSpPr>
          <p:spPr>
            <a:xfrm>
              <a:off x="2546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0071" name="Rectangle 148"/>
            <p:cNvSpPr/>
            <p:nvPr/>
          </p:nvSpPr>
          <p:spPr>
            <a:xfrm>
              <a:off x="4178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0072" name="Text Box 149"/>
            <p:cNvSpPr txBox="1"/>
            <p:nvPr/>
          </p:nvSpPr>
          <p:spPr>
            <a:xfrm>
              <a:off x="3320" y="2338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0036" name="Group 150"/>
          <p:cNvGrpSpPr/>
          <p:nvPr/>
        </p:nvGrpSpPr>
        <p:grpSpPr>
          <a:xfrm>
            <a:off x="5668963" y="5437188"/>
            <a:ext cx="344487" cy="398463"/>
            <a:chOff x="2611" y="3425"/>
            <a:chExt cx="217" cy="251"/>
          </a:xfrm>
        </p:grpSpPr>
        <p:sp>
          <p:nvSpPr>
            <p:cNvPr id="300063" name="Text Box 151"/>
            <p:cNvSpPr txBox="1"/>
            <p:nvPr/>
          </p:nvSpPr>
          <p:spPr>
            <a:xfrm>
              <a:off x="2611" y="342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64" name="Freeform 152"/>
            <p:cNvSpPr/>
            <p:nvPr/>
          </p:nvSpPr>
          <p:spPr>
            <a:xfrm>
              <a:off x="2827" y="3430"/>
              <a:ext cx="1" cy="227"/>
            </a:xfrm>
            <a:custGeom>
              <a:avLst/>
              <a:gdLst>
                <a:gd name="txL" fmla="*/ 0 w 1"/>
                <a:gd name="txT" fmla="*/ 0 h 227"/>
                <a:gd name="txR" fmla="*/ 1 w 1"/>
                <a:gd name="txB" fmla="*/ 227 h 227"/>
              </a:gdLst>
              <a:ahLst/>
              <a:cxnLst>
                <a:cxn ang="0">
                  <a:pos x="0" y="0"/>
                </a:cxn>
                <a:cxn ang="0">
                  <a:pos x="0" y="227"/>
                </a:cxn>
              </a:cxnLst>
              <a:rect l="txL" t="txT" r="txR" b="txB"/>
              <a:pathLst>
                <a:path w="1" h="227">
                  <a:moveTo>
                    <a:pt x="0" y="0"/>
                  </a:moveTo>
                  <a:lnTo>
                    <a:pt x="0" y="227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00037" name="Group 153"/>
          <p:cNvGrpSpPr/>
          <p:nvPr/>
        </p:nvGrpSpPr>
        <p:grpSpPr>
          <a:xfrm>
            <a:off x="1865313" y="1819275"/>
            <a:ext cx="360312" cy="3365215"/>
            <a:chOff x="300" y="720"/>
            <a:chExt cx="220" cy="2329"/>
          </a:xfrm>
        </p:grpSpPr>
        <p:sp>
          <p:nvSpPr>
            <p:cNvPr id="300058" name="Text Box 154"/>
            <p:cNvSpPr txBox="1"/>
            <p:nvPr/>
          </p:nvSpPr>
          <p:spPr>
            <a:xfrm>
              <a:off x="300" y="720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59" name="Text Box 155"/>
            <p:cNvSpPr txBox="1"/>
            <p:nvPr/>
          </p:nvSpPr>
          <p:spPr>
            <a:xfrm>
              <a:off x="300" y="1212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60" name="Text Box 156"/>
            <p:cNvSpPr txBox="1"/>
            <p:nvPr/>
          </p:nvSpPr>
          <p:spPr>
            <a:xfrm>
              <a:off x="300" y="1705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61" name="Text Box 157"/>
            <p:cNvSpPr txBox="1"/>
            <p:nvPr/>
          </p:nvSpPr>
          <p:spPr>
            <a:xfrm>
              <a:off x="300" y="2196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62" name="Text Box 158"/>
            <p:cNvSpPr txBox="1"/>
            <p:nvPr/>
          </p:nvSpPr>
          <p:spPr>
            <a:xfrm>
              <a:off x="300" y="2688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0038" name="Group 159"/>
          <p:cNvGrpSpPr/>
          <p:nvPr/>
        </p:nvGrpSpPr>
        <p:grpSpPr>
          <a:xfrm>
            <a:off x="3505200" y="6138863"/>
            <a:ext cx="5152976" cy="522004"/>
            <a:chOff x="1452" y="3984"/>
            <a:chExt cx="3148" cy="361"/>
          </a:xfrm>
        </p:grpSpPr>
        <p:sp>
          <p:nvSpPr>
            <p:cNvPr id="300053" name="Text Box 160"/>
            <p:cNvSpPr txBox="1"/>
            <p:nvPr/>
          </p:nvSpPr>
          <p:spPr>
            <a:xfrm>
              <a:off x="1452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54" name="Text Box 161"/>
            <p:cNvSpPr txBox="1"/>
            <p:nvPr/>
          </p:nvSpPr>
          <p:spPr>
            <a:xfrm>
              <a:off x="4380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55" name="Text Box 162"/>
            <p:cNvSpPr txBox="1"/>
            <p:nvPr/>
          </p:nvSpPr>
          <p:spPr>
            <a:xfrm>
              <a:off x="3648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56" name="Text Box 163"/>
            <p:cNvSpPr txBox="1"/>
            <p:nvPr/>
          </p:nvSpPr>
          <p:spPr>
            <a:xfrm>
              <a:off x="2917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57" name="Text Box 164"/>
            <p:cNvSpPr txBox="1"/>
            <p:nvPr/>
          </p:nvSpPr>
          <p:spPr>
            <a:xfrm>
              <a:off x="2186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" name="Group 165"/>
          <p:cNvGrpSpPr/>
          <p:nvPr/>
        </p:nvGrpSpPr>
        <p:grpSpPr>
          <a:xfrm>
            <a:off x="5676900" y="5429250"/>
            <a:ext cx="344488" cy="398463"/>
            <a:chOff x="2855" y="3408"/>
            <a:chExt cx="217" cy="251"/>
          </a:xfrm>
        </p:grpSpPr>
        <p:sp>
          <p:nvSpPr>
            <p:cNvPr id="300051" name="Text Box 166"/>
            <p:cNvSpPr txBox="1"/>
            <p:nvPr/>
          </p:nvSpPr>
          <p:spPr>
            <a:xfrm>
              <a:off x="2855" y="3408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rgbClr val="C28F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solidFill>
                  <a:srgbClr val="C28F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52" name="Freeform 167"/>
            <p:cNvSpPr/>
            <p:nvPr/>
          </p:nvSpPr>
          <p:spPr>
            <a:xfrm>
              <a:off x="3071" y="3413"/>
              <a:ext cx="1" cy="227"/>
            </a:xfrm>
            <a:custGeom>
              <a:avLst/>
              <a:gdLst>
                <a:gd name="txL" fmla="*/ 0 w 1"/>
                <a:gd name="txT" fmla="*/ 0 h 227"/>
                <a:gd name="txR" fmla="*/ 1 w 1"/>
                <a:gd name="txB" fmla="*/ 227 h 227"/>
              </a:gdLst>
              <a:ahLst/>
              <a:cxnLst>
                <a:cxn ang="0">
                  <a:pos x="0" y="0"/>
                </a:cxn>
                <a:cxn ang="0">
                  <a:pos x="0" y="227"/>
                </a:cxn>
              </a:cxnLst>
              <a:rect l="txL" t="txT" r="txR" b="txB"/>
              <a:pathLst>
                <a:path w="1" h="227">
                  <a:moveTo>
                    <a:pt x="0" y="0"/>
                  </a:moveTo>
                  <a:lnTo>
                    <a:pt x="0" y="227"/>
                  </a:lnTo>
                </a:path>
              </a:pathLst>
            </a:custGeom>
            <a:noFill/>
            <a:ln w="76200" cap="flat" cmpd="sng">
              <a:solidFill>
                <a:srgbClr val="C28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oup 168"/>
          <p:cNvGrpSpPr/>
          <p:nvPr/>
        </p:nvGrpSpPr>
        <p:grpSpPr>
          <a:xfrm>
            <a:off x="5675313" y="5429250"/>
            <a:ext cx="344487" cy="398463"/>
            <a:chOff x="2611" y="3425"/>
            <a:chExt cx="217" cy="251"/>
          </a:xfrm>
        </p:grpSpPr>
        <p:sp>
          <p:nvSpPr>
            <p:cNvPr id="300049" name="Text Box 169"/>
            <p:cNvSpPr txBox="1"/>
            <p:nvPr/>
          </p:nvSpPr>
          <p:spPr>
            <a:xfrm>
              <a:off x="2611" y="342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0050" name="Freeform 170"/>
            <p:cNvSpPr/>
            <p:nvPr/>
          </p:nvSpPr>
          <p:spPr>
            <a:xfrm>
              <a:off x="2827" y="3430"/>
              <a:ext cx="1" cy="227"/>
            </a:xfrm>
            <a:custGeom>
              <a:avLst/>
              <a:gdLst>
                <a:gd name="txL" fmla="*/ 0 w 1"/>
                <a:gd name="txT" fmla="*/ 0 h 227"/>
                <a:gd name="txR" fmla="*/ 1 w 1"/>
                <a:gd name="txB" fmla="*/ 227 h 227"/>
              </a:gdLst>
              <a:ahLst/>
              <a:cxnLst>
                <a:cxn ang="0">
                  <a:pos x="0" y="0"/>
                </a:cxn>
                <a:cxn ang="0">
                  <a:pos x="0" y="227"/>
                </a:cxn>
              </a:cxnLst>
              <a:rect l="txL" t="txT" r="txR" b="txB"/>
              <a:pathLst>
                <a:path w="1" h="227">
                  <a:moveTo>
                    <a:pt x="0" y="0"/>
                  </a:moveTo>
                  <a:lnTo>
                    <a:pt x="0" y="227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35691" name="Rectangle 17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0042" name="Text Box 172"/>
          <p:cNvSpPr txBox="1"/>
          <p:nvPr/>
        </p:nvSpPr>
        <p:spPr>
          <a:xfrm>
            <a:off x="1828800" y="228600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三管动态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en-US" altLang="zh-CN" sz="3200" b="1" dirty="0">
                <a:latin typeface="Times New Roman" panose="02020603050405020304" pitchFamily="18" charset="0"/>
              </a:rPr>
              <a:t>(Intel 1103)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3" name="Group 173"/>
          <p:cNvGrpSpPr/>
          <p:nvPr/>
        </p:nvGrpSpPr>
        <p:grpSpPr>
          <a:xfrm>
            <a:off x="5556250" y="1719263"/>
            <a:ext cx="808038" cy="2058987"/>
            <a:chOff x="2540" y="1083"/>
            <a:chExt cx="509" cy="1297"/>
          </a:xfrm>
        </p:grpSpPr>
        <p:sp>
          <p:nvSpPr>
            <p:cNvPr id="300046" name="Rectangle 174"/>
            <p:cNvSpPr/>
            <p:nvPr/>
          </p:nvSpPr>
          <p:spPr>
            <a:xfrm>
              <a:off x="2549" y="1083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0047" name="Rectangle 175"/>
            <p:cNvSpPr/>
            <p:nvPr/>
          </p:nvSpPr>
          <p:spPr>
            <a:xfrm>
              <a:off x="2540" y="1636"/>
              <a:ext cx="358" cy="138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0048" name="Text Box 176"/>
            <p:cNvSpPr txBox="1"/>
            <p:nvPr/>
          </p:nvSpPr>
          <p:spPr>
            <a:xfrm>
              <a:off x="2585" y="1972"/>
              <a:ext cx="464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0044" name="AutoShape 17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004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301058" name="Group 2"/>
          <p:cNvGrpSpPr/>
          <p:nvPr/>
        </p:nvGrpSpPr>
        <p:grpSpPr>
          <a:xfrm>
            <a:off x="1524000" y="1295400"/>
            <a:ext cx="9142413" cy="5440363"/>
            <a:chOff x="0" y="816"/>
            <a:chExt cx="5759" cy="3427"/>
          </a:xfrm>
        </p:grpSpPr>
        <p:grpSp>
          <p:nvGrpSpPr>
            <p:cNvPr id="301094" name="Group 3"/>
            <p:cNvGrpSpPr/>
            <p:nvPr/>
          </p:nvGrpSpPr>
          <p:grpSpPr>
            <a:xfrm>
              <a:off x="0" y="1094"/>
              <a:ext cx="462" cy="251"/>
              <a:chOff x="0" y="933"/>
              <a:chExt cx="462" cy="251"/>
            </a:xfrm>
          </p:grpSpPr>
          <p:sp>
            <p:nvSpPr>
              <p:cNvPr id="301230" name="Line 4"/>
              <p:cNvSpPr/>
              <p:nvPr/>
            </p:nvSpPr>
            <p:spPr>
              <a:xfrm>
                <a:off x="214" y="991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1231" name="Text Box 5"/>
              <p:cNvSpPr txBox="1"/>
              <p:nvPr/>
            </p:nvSpPr>
            <p:spPr>
              <a:xfrm>
                <a:off x="0" y="9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1095" name="Group 6"/>
            <p:cNvGrpSpPr/>
            <p:nvPr/>
          </p:nvGrpSpPr>
          <p:grpSpPr>
            <a:xfrm>
              <a:off x="16" y="1540"/>
              <a:ext cx="446" cy="251"/>
              <a:chOff x="16" y="1371"/>
              <a:chExt cx="446" cy="251"/>
            </a:xfrm>
          </p:grpSpPr>
          <p:sp>
            <p:nvSpPr>
              <p:cNvPr id="301228" name="Line 7"/>
              <p:cNvSpPr/>
              <p:nvPr/>
            </p:nvSpPr>
            <p:spPr>
              <a:xfrm>
                <a:off x="214" y="1439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1229" name="Text Box 8"/>
              <p:cNvSpPr txBox="1"/>
              <p:nvPr/>
            </p:nvSpPr>
            <p:spPr>
              <a:xfrm>
                <a:off x="16" y="137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1096" name="Group 9"/>
            <p:cNvGrpSpPr/>
            <p:nvPr/>
          </p:nvGrpSpPr>
          <p:grpSpPr>
            <a:xfrm>
              <a:off x="16" y="1987"/>
              <a:ext cx="446" cy="251"/>
              <a:chOff x="16" y="1809"/>
              <a:chExt cx="446" cy="251"/>
            </a:xfrm>
          </p:grpSpPr>
          <p:sp>
            <p:nvSpPr>
              <p:cNvPr id="301226" name="Line 10"/>
              <p:cNvSpPr/>
              <p:nvPr/>
            </p:nvSpPr>
            <p:spPr>
              <a:xfrm>
                <a:off x="214" y="1886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1227" name="Text Box 11"/>
              <p:cNvSpPr txBox="1"/>
              <p:nvPr/>
            </p:nvSpPr>
            <p:spPr>
              <a:xfrm>
                <a:off x="16" y="1809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1097" name="Group 12"/>
            <p:cNvGrpSpPr/>
            <p:nvPr/>
          </p:nvGrpSpPr>
          <p:grpSpPr>
            <a:xfrm>
              <a:off x="16" y="2433"/>
              <a:ext cx="446" cy="251"/>
              <a:chOff x="16" y="2276"/>
              <a:chExt cx="446" cy="251"/>
            </a:xfrm>
          </p:grpSpPr>
          <p:sp>
            <p:nvSpPr>
              <p:cNvPr id="301224" name="Line 13"/>
              <p:cNvSpPr/>
              <p:nvPr/>
            </p:nvSpPr>
            <p:spPr>
              <a:xfrm>
                <a:off x="214" y="2334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1225" name="Text Box 14"/>
              <p:cNvSpPr txBox="1"/>
              <p:nvPr/>
            </p:nvSpPr>
            <p:spPr>
              <a:xfrm>
                <a:off x="16" y="2276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1098" name="Group 15"/>
            <p:cNvGrpSpPr/>
            <p:nvPr/>
          </p:nvGrpSpPr>
          <p:grpSpPr>
            <a:xfrm>
              <a:off x="16" y="2880"/>
              <a:ext cx="446" cy="251"/>
              <a:chOff x="16" y="2725"/>
              <a:chExt cx="446" cy="251"/>
            </a:xfrm>
          </p:grpSpPr>
          <p:sp>
            <p:nvSpPr>
              <p:cNvPr id="301222" name="Line 16"/>
              <p:cNvSpPr/>
              <p:nvPr/>
            </p:nvSpPr>
            <p:spPr>
              <a:xfrm>
                <a:off x="214" y="2782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1223" name="Text Box 17"/>
              <p:cNvSpPr txBox="1"/>
              <p:nvPr/>
            </p:nvSpPr>
            <p:spPr>
              <a:xfrm>
                <a:off x="16" y="27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1099" name="Group 18"/>
            <p:cNvGrpSpPr/>
            <p:nvPr/>
          </p:nvGrpSpPr>
          <p:grpSpPr>
            <a:xfrm>
              <a:off x="462" y="816"/>
              <a:ext cx="5297" cy="3427"/>
              <a:chOff x="462" y="816"/>
              <a:chExt cx="5297" cy="3427"/>
            </a:xfrm>
          </p:grpSpPr>
          <p:sp>
            <p:nvSpPr>
              <p:cNvPr id="301100" name="Rectangle 19"/>
              <p:cNvSpPr/>
              <p:nvPr/>
            </p:nvSpPr>
            <p:spPr>
              <a:xfrm>
                <a:off x="462" y="816"/>
                <a:ext cx="693" cy="248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01" name="Freeform 20"/>
              <p:cNvSpPr/>
              <p:nvPr/>
            </p:nvSpPr>
            <p:spPr>
              <a:xfrm>
                <a:off x="1155" y="991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02" name="Rectangle 21"/>
              <p:cNvSpPr/>
              <p:nvPr/>
            </p:nvSpPr>
            <p:spPr>
              <a:xfrm>
                <a:off x="1615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03" name="Freeform 22"/>
              <p:cNvSpPr/>
              <p:nvPr/>
            </p:nvSpPr>
            <p:spPr>
              <a:xfrm>
                <a:off x="4351" y="991"/>
                <a:ext cx="1" cy="79"/>
              </a:xfrm>
              <a:custGeom>
                <a:avLst/>
                <a:gdLst>
                  <a:gd name="txL" fmla="*/ 0 w 1"/>
                  <a:gd name="txT" fmla="*/ 0 h 87"/>
                  <a:gd name="txR" fmla="*/ 1 w 1"/>
                  <a:gd name="txB" fmla="*/ 87 h 87"/>
                </a:gdLst>
                <a:ahLst/>
                <a:cxnLst>
                  <a:cxn ang="0">
                    <a:pos x="0" y="0"/>
                  </a:cxn>
                  <a:cxn ang="0">
                    <a:pos x="0" y="87"/>
                  </a:cxn>
                </a:cxnLst>
                <a:rect l="txL" t="txT" r="txR" b="txB"/>
                <a:pathLst>
                  <a:path w="1" h="87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04" name="Freeform 23"/>
              <p:cNvSpPr/>
              <p:nvPr/>
            </p:nvSpPr>
            <p:spPr>
              <a:xfrm>
                <a:off x="1155" y="1295"/>
                <a:ext cx="3659" cy="3"/>
              </a:xfrm>
              <a:custGeom>
                <a:avLst/>
                <a:gdLst>
                  <a:gd name="txL" fmla="*/ 0 w 3659"/>
                  <a:gd name="txT" fmla="*/ 0 h 3"/>
                  <a:gd name="txR" fmla="*/ 3659 w 3659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3659" y="3"/>
                  </a:cxn>
                </a:cxnLst>
                <a:rect l="txL" t="txT" r="txR" b="txB"/>
                <a:pathLst>
                  <a:path w="3659" h="3">
                    <a:moveTo>
                      <a:pt x="0" y="0"/>
                    </a:moveTo>
                    <a:lnTo>
                      <a:pt x="365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05" name="Freeform 24"/>
              <p:cNvSpPr/>
              <p:nvPr/>
            </p:nvSpPr>
            <p:spPr>
              <a:xfrm>
                <a:off x="2727" y="987"/>
                <a:ext cx="1" cy="86"/>
              </a:xfrm>
              <a:custGeom>
                <a:avLst/>
                <a:gdLst>
                  <a:gd name="txL" fmla="*/ 0 w 1"/>
                  <a:gd name="txT" fmla="*/ 0 h 86"/>
                  <a:gd name="txR" fmla="*/ 1 w 1"/>
                  <a:gd name="txB" fmla="*/ 86 h 86"/>
                </a:gdLst>
                <a:ahLst/>
                <a:cxnLst>
                  <a:cxn ang="0">
                    <a:pos x="0" y="0"/>
                  </a:cxn>
                  <a:cxn ang="0">
                    <a:pos x="1" y="86"/>
                  </a:cxn>
                </a:cxnLst>
                <a:rect l="txL" t="txT" r="txR" b="txB"/>
                <a:pathLst>
                  <a:path w="1" h="86">
                    <a:moveTo>
                      <a:pt x="0" y="0"/>
                    </a:moveTo>
                    <a:lnTo>
                      <a:pt x="1" y="8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06" name="Freeform 25"/>
              <p:cNvSpPr/>
              <p:nvPr/>
            </p:nvSpPr>
            <p:spPr>
              <a:xfrm>
                <a:off x="1791" y="985"/>
                <a:ext cx="1" cy="92"/>
              </a:xfrm>
              <a:custGeom>
                <a:avLst/>
                <a:gdLst>
                  <a:gd name="txL" fmla="*/ 0 w 1"/>
                  <a:gd name="txT" fmla="*/ 0 h 92"/>
                  <a:gd name="txR" fmla="*/ 1 w 1"/>
                  <a:gd name="txB" fmla="*/ 92 h 92"/>
                </a:gdLst>
                <a:ahLst/>
                <a:cxnLst>
                  <a:cxn ang="0">
                    <a:pos x="0" y="0"/>
                  </a:cxn>
                  <a:cxn ang="0">
                    <a:pos x="0" y="92"/>
                  </a:cxn>
                </a:cxnLst>
                <a:rect l="txL" t="txT" r="txR" b="tx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07" name="Freeform 26"/>
              <p:cNvSpPr/>
              <p:nvPr/>
            </p:nvSpPr>
            <p:spPr>
              <a:xfrm>
                <a:off x="1788" y="1212"/>
                <a:ext cx="1" cy="85"/>
              </a:xfrm>
              <a:custGeom>
                <a:avLst/>
                <a:gdLst>
                  <a:gd name="txL" fmla="*/ 0 w 1"/>
                  <a:gd name="txT" fmla="*/ 0 h 93"/>
                  <a:gd name="txR" fmla="*/ 1 w 1"/>
                  <a:gd name="txB" fmla="*/ 93 h 93"/>
                </a:gdLst>
                <a:ahLst/>
                <a:cxnLst>
                  <a:cxn ang="0">
                    <a:pos x="0" y="93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3">
                    <a:moveTo>
                      <a:pt x="0" y="9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08" name="Freeform 27"/>
              <p:cNvSpPr/>
              <p:nvPr/>
            </p:nvSpPr>
            <p:spPr>
              <a:xfrm>
                <a:off x="2736" y="1200"/>
                <a:ext cx="3" cy="95"/>
              </a:xfrm>
              <a:custGeom>
                <a:avLst/>
                <a:gdLst>
                  <a:gd name="txL" fmla="*/ 0 w 3"/>
                  <a:gd name="txT" fmla="*/ 0 h 105"/>
                  <a:gd name="txR" fmla="*/ 3 w 3"/>
                  <a:gd name="txB" fmla="*/ 105 h 105"/>
                </a:gdLst>
                <a:ahLst/>
                <a:cxnLst>
                  <a:cxn ang="0">
                    <a:pos x="0" y="105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105">
                    <a:moveTo>
                      <a:pt x="0" y="105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09" name="Line 28"/>
              <p:cNvSpPr/>
              <p:nvPr/>
            </p:nvSpPr>
            <p:spPr>
              <a:xfrm rot="10800000">
                <a:off x="4351" y="121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10" name="Freeform 29"/>
              <p:cNvSpPr/>
              <p:nvPr/>
            </p:nvSpPr>
            <p:spPr>
              <a:xfrm>
                <a:off x="1155" y="1559"/>
                <a:ext cx="3653" cy="1"/>
              </a:xfrm>
              <a:custGeom>
                <a:avLst/>
                <a:gdLst>
                  <a:gd name="txL" fmla="*/ 0 w 3543"/>
                  <a:gd name="txT" fmla="*/ 0 h 1"/>
                  <a:gd name="txR" fmla="*/ 3543 w 35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43" y="0"/>
                  </a:cxn>
                </a:cxnLst>
                <a:rect l="txL" t="txT" r="txR" b="txB"/>
                <a:pathLst>
                  <a:path w="3543" h="1">
                    <a:moveTo>
                      <a:pt x="0" y="0"/>
                    </a:moveTo>
                    <a:lnTo>
                      <a:pt x="354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11" name="Line 30"/>
              <p:cNvSpPr/>
              <p:nvPr/>
            </p:nvSpPr>
            <p:spPr>
              <a:xfrm>
                <a:off x="4351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12" name="Freeform 31"/>
              <p:cNvSpPr/>
              <p:nvPr/>
            </p:nvSpPr>
            <p:spPr>
              <a:xfrm>
                <a:off x="1155" y="1863"/>
                <a:ext cx="3656" cy="1"/>
              </a:xfrm>
              <a:custGeom>
                <a:avLst/>
                <a:gdLst>
                  <a:gd name="txL" fmla="*/ 0 w 3546"/>
                  <a:gd name="txT" fmla="*/ 0 h 2"/>
                  <a:gd name="txR" fmla="*/ 3546 w 354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3546" y="2"/>
                  </a:cxn>
                </a:cxnLst>
                <a:rect l="txL" t="txT" r="txR" b="txB"/>
                <a:pathLst>
                  <a:path w="3546" h="2">
                    <a:moveTo>
                      <a:pt x="0" y="0"/>
                    </a:moveTo>
                    <a:lnTo>
                      <a:pt x="354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13" name="Line 32"/>
              <p:cNvSpPr/>
              <p:nvPr/>
            </p:nvSpPr>
            <p:spPr>
              <a:xfrm>
                <a:off x="2725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14" name="Line 33"/>
              <p:cNvSpPr/>
              <p:nvPr/>
            </p:nvSpPr>
            <p:spPr>
              <a:xfrm>
                <a:off x="1788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15" name="Line 34"/>
              <p:cNvSpPr/>
              <p:nvPr/>
            </p:nvSpPr>
            <p:spPr>
              <a:xfrm rot="10800000">
                <a:off x="1788" y="177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16" name="Line 35"/>
              <p:cNvSpPr/>
              <p:nvPr/>
            </p:nvSpPr>
            <p:spPr>
              <a:xfrm rot="10800000">
                <a:off x="2725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17" name="Line 36"/>
              <p:cNvSpPr/>
              <p:nvPr/>
            </p:nvSpPr>
            <p:spPr>
              <a:xfrm rot="10800000">
                <a:off x="4351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18" name="Freeform 37"/>
              <p:cNvSpPr/>
              <p:nvPr/>
            </p:nvSpPr>
            <p:spPr>
              <a:xfrm>
                <a:off x="1155" y="2432"/>
                <a:ext cx="3675" cy="1"/>
              </a:xfrm>
              <a:custGeom>
                <a:avLst/>
                <a:gdLst>
                  <a:gd name="txL" fmla="*/ 0 w 3564"/>
                  <a:gd name="txT" fmla="*/ 0 h 1"/>
                  <a:gd name="txR" fmla="*/ 3564 w 356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64" y="0"/>
                  </a:cxn>
                </a:cxnLst>
                <a:rect l="txL" t="txT" r="txR" b="txB"/>
                <a:pathLst>
                  <a:path w="3564" h="1">
                    <a:moveTo>
                      <a:pt x="0" y="0"/>
                    </a:moveTo>
                    <a:lnTo>
                      <a:pt x="356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19" name="Line 38"/>
              <p:cNvSpPr/>
              <p:nvPr/>
            </p:nvSpPr>
            <p:spPr>
              <a:xfrm>
                <a:off x="4351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20" name="Freeform 39"/>
              <p:cNvSpPr/>
              <p:nvPr/>
            </p:nvSpPr>
            <p:spPr>
              <a:xfrm>
                <a:off x="1155" y="2736"/>
                <a:ext cx="3647" cy="1"/>
              </a:xfrm>
              <a:custGeom>
                <a:avLst/>
                <a:gdLst>
                  <a:gd name="txL" fmla="*/ 0 w 3647"/>
                  <a:gd name="txT" fmla="*/ 0 h 1"/>
                  <a:gd name="txR" fmla="*/ 3647 w 364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647" y="1"/>
                  </a:cxn>
                </a:cxnLst>
                <a:rect l="txL" t="txT" r="txR" b="txB"/>
                <a:pathLst>
                  <a:path w="3647" h="1">
                    <a:moveTo>
                      <a:pt x="0" y="0"/>
                    </a:moveTo>
                    <a:lnTo>
                      <a:pt x="364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21" name="Line 40"/>
              <p:cNvSpPr/>
              <p:nvPr/>
            </p:nvSpPr>
            <p:spPr>
              <a:xfrm>
                <a:off x="2725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22" name="Line 41"/>
              <p:cNvSpPr/>
              <p:nvPr/>
            </p:nvSpPr>
            <p:spPr>
              <a:xfrm>
                <a:off x="1788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23" name="Line 42"/>
              <p:cNvSpPr/>
              <p:nvPr/>
            </p:nvSpPr>
            <p:spPr>
              <a:xfrm rot="10800000">
                <a:off x="1788" y="2652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24" name="Line 43"/>
              <p:cNvSpPr/>
              <p:nvPr/>
            </p:nvSpPr>
            <p:spPr>
              <a:xfrm rot="10800000">
                <a:off x="2725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25" name="Line 44"/>
              <p:cNvSpPr/>
              <p:nvPr/>
            </p:nvSpPr>
            <p:spPr>
              <a:xfrm rot="10800000">
                <a:off x="4351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26" name="AutoShape 45"/>
              <p:cNvSpPr/>
              <p:nvPr/>
            </p:nvSpPr>
            <p:spPr>
              <a:xfrm rot="-5400000">
                <a:off x="1683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27" name="Freeform 46"/>
              <p:cNvSpPr/>
              <p:nvPr/>
            </p:nvSpPr>
            <p:spPr>
              <a:xfrm>
                <a:off x="1416" y="1148"/>
                <a:ext cx="198" cy="2026"/>
              </a:xfrm>
              <a:custGeom>
                <a:avLst/>
                <a:gdLst>
                  <a:gd name="txL" fmla="*/ 0 w 198"/>
                  <a:gd name="txT" fmla="*/ 0 h 2026"/>
                  <a:gd name="txR" fmla="*/ 198 w 198"/>
                  <a:gd name="txB" fmla="*/ 2026 h 2026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6" y="2026"/>
                  </a:cxn>
                </a:cxnLst>
                <a:rect l="txL" t="txT" r="txR" b="txB"/>
                <a:pathLst>
                  <a:path w="198" h="2026">
                    <a:moveTo>
                      <a:pt x="198" y="0"/>
                    </a:moveTo>
                    <a:lnTo>
                      <a:pt x="0" y="0"/>
                    </a:lnTo>
                    <a:lnTo>
                      <a:pt x="6" y="202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28" name="Freeform 47"/>
              <p:cNvSpPr/>
              <p:nvPr/>
            </p:nvSpPr>
            <p:spPr>
              <a:xfrm>
                <a:off x="141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29" name="Freeform 48"/>
              <p:cNvSpPr/>
              <p:nvPr/>
            </p:nvSpPr>
            <p:spPr>
              <a:xfrm>
                <a:off x="1422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30" name="Line 49"/>
              <p:cNvSpPr/>
              <p:nvPr/>
            </p:nvSpPr>
            <p:spPr>
              <a:xfrm>
                <a:off x="1419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31" name="Freeform 50"/>
              <p:cNvSpPr/>
              <p:nvPr/>
            </p:nvSpPr>
            <p:spPr>
              <a:xfrm>
                <a:off x="3979" y="1148"/>
                <a:ext cx="198" cy="2023"/>
              </a:xfrm>
              <a:custGeom>
                <a:avLst/>
                <a:gdLst>
                  <a:gd name="txL" fmla="*/ 0 w 198"/>
                  <a:gd name="txT" fmla="*/ 0 h 2023"/>
                  <a:gd name="txR" fmla="*/ 198 w 198"/>
                  <a:gd name="txB" fmla="*/ 2023 h 2023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2" y="2023"/>
                  </a:cxn>
                </a:cxnLst>
                <a:rect l="txL" t="txT" r="txR" b="txB"/>
                <a:pathLst>
                  <a:path w="198" h="2023">
                    <a:moveTo>
                      <a:pt x="198" y="0"/>
                    </a:moveTo>
                    <a:lnTo>
                      <a:pt x="0" y="0"/>
                    </a:lnTo>
                    <a:lnTo>
                      <a:pt x="2" y="202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32" name="Freeform 51"/>
              <p:cNvSpPr/>
              <p:nvPr/>
            </p:nvSpPr>
            <p:spPr>
              <a:xfrm>
                <a:off x="3982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33" name="Freeform 52"/>
              <p:cNvSpPr/>
              <p:nvPr/>
            </p:nvSpPr>
            <p:spPr>
              <a:xfrm>
                <a:off x="3985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34" name="Line 53"/>
              <p:cNvSpPr/>
              <p:nvPr/>
            </p:nvSpPr>
            <p:spPr>
              <a:xfrm>
                <a:off x="3982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35" name="Freeform 54"/>
              <p:cNvSpPr/>
              <p:nvPr/>
            </p:nvSpPr>
            <p:spPr>
              <a:xfrm>
                <a:off x="2347" y="1148"/>
                <a:ext cx="198" cy="2024"/>
              </a:xfrm>
              <a:custGeom>
                <a:avLst/>
                <a:gdLst>
                  <a:gd name="txL" fmla="*/ 0 w 192"/>
                  <a:gd name="txT" fmla="*/ 0 h 2224"/>
                  <a:gd name="txR" fmla="*/ 192 w 192"/>
                  <a:gd name="txB" fmla="*/ 2224 h 2224"/>
                </a:gdLst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2" y="2224"/>
                  </a:cxn>
                </a:cxnLst>
                <a:rect l="txL" t="txT" r="txR" b="txB"/>
                <a:pathLst>
                  <a:path w="192" h="2224">
                    <a:moveTo>
                      <a:pt x="192" y="0"/>
                    </a:moveTo>
                    <a:lnTo>
                      <a:pt x="0" y="0"/>
                    </a:lnTo>
                    <a:lnTo>
                      <a:pt x="2" y="222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36" name="Freeform 55"/>
              <p:cNvSpPr/>
              <p:nvPr/>
            </p:nvSpPr>
            <p:spPr>
              <a:xfrm>
                <a:off x="235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37" name="Freeform 56"/>
              <p:cNvSpPr/>
              <p:nvPr/>
            </p:nvSpPr>
            <p:spPr>
              <a:xfrm>
                <a:off x="2353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38" name="Line 57"/>
              <p:cNvSpPr/>
              <p:nvPr/>
            </p:nvSpPr>
            <p:spPr>
              <a:xfrm>
                <a:off x="2350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1139" name="Freeform 58"/>
              <p:cNvSpPr/>
              <p:nvPr/>
            </p:nvSpPr>
            <p:spPr>
              <a:xfrm>
                <a:off x="1964" y="1135"/>
                <a:ext cx="198" cy="2030"/>
              </a:xfrm>
              <a:custGeom>
                <a:avLst/>
                <a:gdLst>
                  <a:gd name="txL" fmla="*/ 0 w 198"/>
                  <a:gd name="txT" fmla="*/ 0 h 2030"/>
                  <a:gd name="txR" fmla="*/ 198 w 198"/>
                  <a:gd name="txB" fmla="*/ 2030 h 2030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193" y="2030"/>
                  </a:cxn>
                </a:cxnLst>
                <a:rect l="txL" t="txT" r="txR" b="txB"/>
                <a:pathLst>
                  <a:path w="198" h="2030">
                    <a:moveTo>
                      <a:pt x="0" y="0"/>
                    </a:moveTo>
                    <a:lnTo>
                      <a:pt x="198" y="0"/>
                    </a:lnTo>
                    <a:lnTo>
                      <a:pt x="193" y="20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40" name="Freeform 59"/>
              <p:cNvSpPr/>
              <p:nvPr/>
            </p:nvSpPr>
            <p:spPr>
              <a:xfrm rot="10800000">
                <a:off x="195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41" name="Freeform 60"/>
              <p:cNvSpPr/>
              <p:nvPr/>
            </p:nvSpPr>
            <p:spPr>
              <a:xfrm rot="10800000">
                <a:off x="1959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42" name="Freeform 61"/>
              <p:cNvSpPr/>
              <p:nvPr/>
            </p:nvSpPr>
            <p:spPr>
              <a:xfrm>
                <a:off x="1958" y="2957"/>
                <a:ext cx="200" cy="1"/>
              </a:xfrm>
              <a:custGeom>
                <a:avLst/>
                <a:gdLst>
                  <a:gd name="txL" fmla="*/ 0 w 194"/>
                  <a:gd name="txT" fmla="*/ 0 h 1"/>
                  <a:gd name="txR" fmla="*/ 194 w 194"/>
                  <a:gd name="txB" fmla="*/ 1 h 1"/>
                </a:gdLst>
                <a:ahLst/>
                <a:cxnLst>
                  <a:cxn ang="0">
                    <a:pos x="19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4" h="1">
                    <a:moveTo>
                      <a:pt x="19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43" name="Freeform 62"/>
              <p:cNvSpPr/>
              <p:nvPr/>
            </p:nvSpPr>
            <p:spPr>
              <a:xfrm>
                <a:off x="2893" y="1135"/>
                <a:ext cx="199" cy="2047"/>
              </a:xfrm>
              <a:custGeom>
                <a:avLst/>
                <a:gdLst>
                  <a:gd name="txL" fmla="*/ 0 w 193"/>
                  <a:gd name="txT" fmla="*/ 0 h 2250"/>
                  <a:gd name="txR" fmla="*/ 193 w 193"/>
                  <a:gd name="txB" fmla="*/ 2250 h 2250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3" y="2250"/>
                  </a:cxn>
                </a:cxnLst>
                <a:rect l="txL" t="txT" r="txR" b="txB"/>
                <a:pathLst>
                  <a:path w="193" h="2250">
                    <a:moveTo>
                      <a:pt x="0" y="0"/>
                    </a:moveTo>
                    <a:lnTo>
                      <a:pt x="192" y="0"/>
                    </a:lnTo>
                    <a:lnTo>
                      <a:pt x="193" y="22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44" name="Freeform 63"/>
              <p:cNvSpPr/>
              <p:nvPr/>
            </p:nvSpPr>
            <p:spPr>
              <a:xfrm rot="10800000">
                <a:off x="289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45" name="Freeform 64"/>
              <p:cNvSpPr/>
              <p:nvPr/>
            </p:nvSpPr>
            <p:spPr>
              <a:xfrm rot="10800000">
                <a:off x="2890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46" name="Freeform 65"/>
              <p:cNvSpPr/>
              <p:nvPr/>
            </p:nvSpPr>
            <p:spPr>
              <a:xfrm>
                <a:off x="2895" y="2957"/>
                <a:ext cx="194" cy="1"/>
              </a:xfrm>
              <a:custGeom>
                <a:avLst/>
                <a:gdLst>
                  <a:gd name="txL" fmla="*/ 0 w 188"/>
                  <a:gd name="txT" fmla="*/ 0 h 1"/>
                  <a:gd name="txR" fmla="*/ 188 w 188"/>
                  <a:gd name="txB" fmla="*/ 1 h 1"/>
                </a:gdLst>
                <a:ahLst/>
                <a:cxnLst>
                  <a:cxn ang="0">
                    <a:pos x="18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47" name="Freeform 66"/>
              <p:cNvSpPr/>
              <p:nvPr/>
            </p:nvSpPr>
            <p:spPr>
              <a:xfrm>
                <a:off x="4531" y="1135"/>
                <a:ext cx="203" cy="2027"/>
              </a:xfrm>
              <a:custGeom>
                <a:avLst/>
                <a:gdLst>
                  <a:gd name="txL" fmla="*/ 0 w 203"/>
                  <a:gd name="txT" fmla="*/ 0 h 2027"/>
                  <a:gd name="txR" fmla="*/ 203 w 203"/>
                  <a:gd name="txB" fmla="*/ 2027 h 2027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203" y="2027"/>
                  </a:cxn>
                </a:cxnLst>
                <a:rect l="txL" t="txT" r="txR" b="txB"/>
                <a:pathLst>
                  <a:path w="203" h="2027">
                    <a:moveTo>
                      <a:pt x="0" y="0"/>
                    </a:moveTo>
                    <a:lnTo>
                      <a:pt x="198" y="0"/>
                    </a:lnTo>
                    <a:lnTo>
                      <a:pt x="203" y="202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48" name="Freeform 67"/>
              <p:cNvSpPr/>
              <p:nvPr/>
            </p:nvSpPr>
            <p:spPr>
              <a:xfrm rot="10800000">
                <a:off x="4528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49" name="Freeform 68"/>
              <p:cNvSpPr/>
              <p:nvPr/>
            </p:nvSpPr>
            <p:spPr>
              <a:xfrm rot="10800000">
                <a:off x="4528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50" name="Freeform 69"/>
              <p:cNvSpPr/>
              <p:nvPr/>
            </p:nvSpPr>
            <p:spPr>
              <a:xfrm rot="10800000">
                <a:off x="4524" y="295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51" name="Rectangle 70"/>
              <p:cNvSpPr/>
              <p:nvPr/>
            </p:nvSpPr>
            <p:spPr>
              <a:xfrm>
                <a:off x="1204" y="3175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读  写  控  制  电  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52" name="Rectangle 71"/>
              <p:cNvSpPr/>
              <p:nvPr/>
            </p:nvSpPr>
            <p:spPr>
              <a:xfrm>
                <a:off x="1204" y="3656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bIns="0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  地  址  译  码 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53" name="Text Box 72"/>
              <p:cNvSpPr txBox="1"/>
              <p:nvPr/>
            </p:nvSpPr>
            <p:spPr>
              <a:xfrm rot="5400000">
                <a:off x="1671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54" name="Text Box 73"/>
              <p:cNvSpPr txBox="1"/>
              <p:nvPr/>
            </p:nvSpPr>
            <p:spPr>
              <a:xfrm rot="5400000">
                <a:off x="2602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55" name="Text Box 74"/>
              <p:cNvSpPr txBox="1"/>
              <p:nvPr/>
            </p:nvSpPr>
            <p:spPr>
              <a:xfrm rot="5400000">
                <a:off x="4234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56" name="Rectangle 75"/>
              <p:cNvSpPr/>
              <p:nvPr/>
            </p:nvSpPr>
            <p:spPr>
              <a:xfrm>
                <a:off x="1615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57" name="Rectangle 76"/>
              <p:cNvSpPr/>
              <p:nvPr/>
            </p:nvSpPr>
            <p:spPr>
              <a:xfrm>
                <a:off x="1615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58" name="Rectangle 77"/>
              <p:cNvSpPr/>
              <p:nvPr/>
            </p:nvSpPr>
            <p:spPr>
              <a:xfrm>
                <a:off x="2546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59" name="Rectangle 78"/>
              <p:cNvSpPr/>
              <p:nvPr/>
            </p:nvSpPr>
            <p:spPr>
              <a:xfrm>
                <a:off x="2546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60" name="Rectangle 79"/>
              <p:cNvSpPr/>
              <p:nvPr/>
            </p:nvSpPr>
            <p:spPr>
              <a:xfrm>
                <a:off x="2546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61" name="Rectangle 80"/>
              <p:cNvSpPr/>
              <p:nvPr/>
            </p:nvSpPr>
            <p:spPr>
              <a:xfrm>
                <a:off x="4178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62" name="Rectangle 81"/>
              <p:cNvSpPr/>
              <p:nvPr/>
            </p:nvSpPr>
            <p:spPr>
              <a:xfrm>
                <a:off x="4178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63" name="Rectangle 82"/>
              <p:cNvSpPr/>
              <p:nvPr/>
            </p:nvSpPr>
            <p:spPr>
              <a:xfrm>
                <a:off x="4178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64" name="AutoShape 83"/>
              <p:cNvSpPr/>
              <p:nvPr/>
            </p:nvSpPr>
            <p:spPr>
              <a:xfrm rot="-5400000">
                <a:off x="2614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65" name="AutoShape 84"/>
              <p:cNvSpPr/>
              <p:nvPr/>
            </p:nvSpPr>
            <p:spPr>
              <a:xfrm rot="-5400000">
                <a:off x="4246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1166" name="Text Box 85"/>
              <p:cNvSpPr txBox="1"/>
              <p:nvPr/>
            </p:nvSpPr>
            <p:spPr>
              <a:xfrm>
                <a:off x="4796" y="86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67" name="Text Box 86"/>
              <p:cNvSpPr txBox="1"/>
              <p:nvPr/>
            </p:nvSpPr>
            <p:spPr>
              <a:xfrm>
                <a:off x="4806" y="115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写选择线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68" name="Line 87"/>
              <p:cNvSpPr/>
              <p:nvPr/>
            </p:nvSpPr>
            <p:spPr>
              <a:xfrm>
                <a:off x="4817" y="3306"/>
                <a:ext cx="3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301169" name="Text Box 88"/>
              <p:cNvSpPr txBox="1"/>
              <p:nvPr/>
            </p:nvSpPr>
            <p:spPr>
              <a:xfrm>
                <a:off x="4906" y="3024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70" name="Text Box 89"/>
              <p:cNvSpPr txBox="1"/>
              <p:nvPr/>
            </p:nvSpPr>
            <p:spPr>
              <a:xfrm>
                <a:off x="3296" y="1929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单元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71" name="Text Box 90"/>
              <p:cNvSpPr txBox="1"/>
              <p:nvPr/>
            </p:nvSpPr>
            <p:spPr>
              <a:xfrm>
                <a:off x="3296" y="21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电路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72" name="Text Box 91"/>
              <p:cNvSpPr txBox="1"/>
              <p:nvPr/>
            </p:nvSpPr>
            <p:spPr>
              <a:xfrm>
                <a:off x="503" y="936"/>
                <a:ext cx="307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73" name="Text Box 92"/>
              <p:cNvSpPr txBox="1"/>
              <p:nvPr/>
            </p:nvSpPr>
            <p:spPr>
              <a:xfrm>
                <a:off x="907" y="86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74" name="Text Box 93"/>
              <p:cNvSpPr txBox="1"/>
              <p:nvPr/>
            </p:nvSpPr>
            <p:spPr>
              <a:xfrm>
                <a:off x="907" y="115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75" name="Text Box 94"/>
              <p:cNvSpPr txBox="1"/>
              <p:nvPr/>
            </p:nvSpPr>
            <p:spPr>
              <a:xfrm>
                <a:off x="907" y="145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76" name="Text Box 95"/>
              <p:cNvSpPr txBox="1"/>
              <p:nvPr/>
            </p:nvSpPr>
            <p:spPr>
              <a:xfrm>
                <a:off x="907" y="176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77" name="Text Box 96"/>
              <p:cNvSpPr txBox="1"/>
              <p:nvPr/>
            </p:nvSpPr>
            <p:spPr>
              <a:xfrm>
                <a:off x="854" y="229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78" name="Text Box 97"/>
              <p:cNvSpPr txBox="1"/>
              <p:nvPr/>
            </p:nvSpPr>
            <p:spPr>
              <a:xfrm>
                <a:off x="858" y="259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79" name="Line 98"/>
              <p:cNvSpPr/>
              <p:nvPr/>
            </p:nvSpPr>
            <p:spPr>
              <a:xfrm>
                <a:off x="1887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1180" name="Line 99"/>
              <p:cNvSpPr/>
              <p:nvPr/>
            </p:nvSpPr>
            <p:spPr>
              <a:xfrm>
                <a:off x="2832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1181" name="Text Box 100"/>
              <p:cNvSpPr txBox="1"/>
              <p:nvPr/>
            </p:nvSpPr>
            <p:spPr>
              <a:xfrm>
                <a:off x="2613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82" name="Line 101"/>
              <p:cNvSpPr/>
              <p:nvPr/>
            </p:nvSpPr>
            <p:spPr>
              <a:xfrm>
                <a:off x="4473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1183" name="Text Box 102"/>
              <p:cNvSpPr txBox="1"/>
              <p:nvPr/>
            </p:nvSpPr>
            <p:spPr>
              <a:xfrm>
                <a:off x="4176" y="342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1184" name="Group 103"/>
              <p:cNvGrpSpPr/>
              <p:nvPr/>
            </p:nvGrpSpPr>
            <p:grpSpPr>
              <a:xfrm>
                <a:off x="1492" y="3918"/>
                <a:ext cx="283" cy="324"/>
                <a:chOff x="1584" y="3918"/>
                <a:chExt cx="283" cy="324"/>
              </a:xfrm>
            </p:grpSpPr>
            <p:sp>
              <p:nvSpPr>
                <p:cNvPr id="301220" name="Line 104"/>
                <p:cNvSpPr/>
                <p:nvPr/>
              </p:nvSpPr>
              <p:spPr>
                <a:xfrm rot="-5400000">
                  <a:off x="149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1221" name="Text Box 105"/>
                <p:cNvSpPr txBox="1"/>
                <p:nvPr/>
              </p:nvSpPr>
              <p:spPr>
                <a:xfrm>
                  <a:off x="1584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1185" name="Group 106"/>
              <p:cNvGrpSpPr/>
              <p:nvPr/>
            </p:nvGrpSpPr>
            <p:grpSpPr>
              <a:xfrm>
                <a:off x="2234" y="3918"/>
                <a:ext cx="284" cy="325"/>
                <a:chOff x="2355" y="3918"/>
                <a:chExt cx="284" cy="325"/>
              </a:xfrm>
            </p:grpSpPr>
            <p:sp>
              <p:nvSpPr>
                <p:cNvPr id="301218" name="Line 107"/>
                <p:cNvSpPr/>
                <p:nvPr/>
              </p:nvSpPr>
              <p:spPr>
                <a:xfrm rot="-5400000">
                  <a:off x="224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1219" name="Text Box 108"/>
                <p:cNvSpPr txBox="1"/>
                <p:nvPr/>
              </p:nvSpPr>
              <p:spPr>
                <a:xfrm>
                  <a:off x="2356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1186" name="Group 109"/>
              <p:cNvGrpSpPr/>
              <p:nvPr/>
            </p:nvGrpSpPr>
            <p:grpSpPr>
              <a:xfrm>
                <a:off x="2978" y="3918"/>
                <a:ext cx="283" cy="325"/>
                <a:chOff x="3102" y="3918"/>
                <a:chExt cx="283" cy="325"/>
              </a:xfrm>
            </p:grpSpPr>
            <p:sp>
              <p:nvSpPr>
                <p:cNvPr id="301216" name="Line 110"/>
                <p:cNvSpPr/>
                <p:nvPr/>
              </p:nvSpPr>
              <p:spPr>
                <a:xfrm rot="-5400000">
                  <a:off x="300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1217" name="Text Box 111"/>
                <p:cNvSpPr txBox="1"/>
                <p:nvPr/>
              </p:nvSpPr>
              <p:spPr>
                <a:xfrm>
                  <a:off x="3102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1187" name="Group 112"/>
              <p:cNvGrpSpPr/>
              <p:nvPr/>
            </p:nvGrpSpPr>
            <p:grpSpPr>
              <a:xfrm>
                <a:off x="3721" y="3918"/>
                <a:ext cx="283" cy="325"/>
                <a:chOff x="3844" y="3918"/>
                <a:chExt cx="283" cy="325"/>
              </a:xfrm>
            </p:grpSpPr>
            <p:sp>
              <p:nvSpPr>
                <p:cNvPr id="301214" name="Line 113"/>
                <p:cNvSpPr/>
                <p:nvPr/>
              </p:nvSpPr>
              <p:spPr>
                <a:xfrm rot="-5400000">
                  <a:off x="375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1215" name="Text Box 114"/>
                <p:cNvSpPr txBox="1"/>
                <p:nvPr/>
              </p:nvSpPr>
              <p:spPr>
                <a:xfrm>
                  <a:off x="3844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1188" name="Group 115"/>
              <p:cNvGrpSpPr/>
              <p:nvPr/>
            </p:nvGrpSpPr>
            <p:grpSpPr>
              <a:xfrm>
                <a:off x="4464" y="3918"/>
                <a:ext cx="283" cy="324"/>
                <a:chOff x="4603" y="3918"/>
                <a:chExt cx="283" cy="324"/>
              </a:xfrm>
            </p:grpSpPr>
            <p:sp>
              <p:nvSpPr>
                <p:cNvPr id="301212" name="Line 116"/>
                <p:cNvSpPr/>
                <p:nvPr/>
              </p:nvSpPr>
              <p:spPr>
                <a:xfrm rot="-5400000">
                  <a:off x="4510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1213" name="Text Box 117"/>
                <p:cNvSpPr txBox="1"/>
                <p:nvPr/>
              </p:nvSpPr>
              <p:spPr>
                <a:xfrm>
                  <a:off x="4603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1189" name="Line 118"/>
              <p:cNvSpPr/>
              <p:nvPr/>
            </p:nvSpPr>
            <p:spPr>
              <a:xfrm>
                <a:off x="2689" y="1690"/>
                <a:ext cx="643" cy="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1190" name="Line 119"/>
              <p:cNvSpPr/>
              <p:nvPr/>
            </p:nvSpPr>
            <p:spPr>
              <a:xfrm>
                <a:off x="3976" y="2039"/>
                <a:ext cx="990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1191" name="Line 120"/>
              <p:cNvSpPr/>
              <p:nvPr/>
            </p:nvSpPr>
            <p:spPr>
              <a:xfrm>
                <a:off x="4718" y="1384"/>
                <a:ext cx="693" cy="1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1192" name="Text Box 121"/>
              <p:cNvSpPr txBox="1"/>
              <p:nvPr/>
            </p:nvSpPr>
            <p:spPr>
              <a:xfrm>
                <a:off x="4844" y="2728"/>
                <a:ext cx="9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刷新放大器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93" name="Line 122"/>
              <p:cNvSpPr/>
              <p:nvPr/>
            </p:nvSpPr>
            <p:spPr>
              <a:xfrm flipV="1">
                <a:off x="4520" y="2957"/>
                <a:ext cx="495" cy="4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01194" name="Group 123"/>
              <p:cNvGrpSpPr/>
              <p:nvPr/>
            </p:nvGrpSpPr>
            <p:grpSpPr>
              <a:xfrm>
                <a:off x="4916" y="1726"/>
                <a:ext cx="275" cy="894"/>
                <a:chOff x="4920" y="1790"/>
                <a:chExt cx="275" cy="894"/>
              </a:xfrm>
            </p:grpSpPr>
            <p:sp>
              <p:nvSpPr>
                <p:cNvPr id="301208" name="Text Box 124"/>
                <p:cNvSpPr txBox="1"/>
                <p:nvPr/>
              </p:nvSpPr>
              <p:spPr>
                <a:xfrm>
                  <a:off x="4920" y="1790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写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1209" name="Text Box 125"/>
                <p:cNvSpPr txBox="1"/>
                <p:nvPr/>
              </p:nvSpPr>
              <p:spPr>
                <a:xfrm>
                  <a:off x="4920" y="200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1210" name="Text Box 126"/>
                <p:cNvSpPr txBox="1"/>
                <p:nvPr/>
              </p:nvSpPr>
              <p:spPr>
                <a:xfrm>
                  <a:off x="4920" y="2219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1211" name="Text Box 127"/>
                <p:cNvSpPr txBox="1"/>
                <p:nvPr/>
              </p:nvSpPr>
              <p:spPr>
                <a:xfrm>
                  <a:off x="4920" y="243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1195" name="Group 128"/>
              <p:cNvGrpSpPr/>
              <p:nvPr/>
            </p:nvGrpSpPr>
            <p:grpSpPr>
              <a:xfrm>
                <a:off x="5372" y="1505"/>
                <a:ext cx="275" cy="880"/>
                <a:chOff x="5394" y="1612"/>
                <a:chExt cx="275" cy="880"/>
              </a:xfrm>
            </p:grpSpPr>
            <p:sp>
              <p:nvSpPr>
                <p:cNvPr id="301204" name="Text Box 129"/>
                <p:cNvSpPr txBox="1"/>
                <p:nvPr/>
              </p:nvSpPr>
              <p:spPr>
                <a:xfrm>
                  <a:off x="5394" y="161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1205" name="Text Box 130"/>
                <p:cNvSpPr txBox="1"/>
                <p:nvPr/>
              </p:nvSpPr>
              <p:spPr>
                <a:xfrm>
                  <a:off x="5394" y="182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1206" name="Text Box 131"/>
                <p:cNvSpPr txBox="1"/>
                <p:nvPr/>
              </p:nvSpPr>
              <p:spPr>
                <a:xfrm>
                  <a:off x="5394" y="203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1207" name="Text Box 132"/>
                <p:cNvSpPr txBox="1"/>
                <p:nvPr/>
              </p:nvSpPr>
              <p:spPr>
                <a:xfrm>
                  <a:off x="5394" y="224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1196" name="Group 133"/>
              <p:cNvGrpSpPr/>
              <p:nvPr/>
            </p:nvGrpSpPr>
            <p:grpSpPr>
              <a:xfrm>
                <a:off x="3320" y="915"/>
                <a:ext cx="371" cy="2173"/>
                <a:chOff x="3324" y="979"/>
                <a:chExt cx="371" cy="2173"/>
              </a:xfrm>
            </p:grpSpPr>
            <p:sp>
              <p:nvSpPr>
                <p:cNvPr id="301200" name="Text Box 134"/>
                <p:cNvSpPr txBox="1"/>
                <p:nvPr/>
              </p:nvSpPr>
              <p:spPr>
                <a:xfrm>
                  <a:off x="3324" y="97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1201" name="Text Box 135"/>
                <p:cNvSpPr txBox="1"/>
                <p:nvPr/>
              </p:nvSpPr>
              <p:spPr>
                <a:xfrm>
                  <a:off x="3324" y="1507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1202" name="Text Box 136"/>
                <p:cNvSpPr txBox="1"/>
                <p:nvPr/>
              </p:nvSpPr>
              <p:spPr>
                <a:xfrm>
                  <a:off x="3324" y="240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1203" name="Text Box 137"/>
                <p:cNvSpPr txBox="1"/>
                <p:nvPr/>
              </p:nvSpPr>
              <p:spPr>
                <a:xfrm>
                  <a:off x="3324" y="2784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1197" name="Text Box 138"/>
              <p:cNvSpPr txBox="1"/>
              <p:nvPr/>
            </p:nvSpPr>
            <p:spPr>
              <a:xfrm rot="5400000">
                <a:off x="916" y="197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98" name="Text Box 139"/>
              <p:cNvSpPr txBox="1"/>
              <p:nvPr/>
            </p:nvSpPr>
            <p:spPr>
              <a:xfrm>
                <a:off x="1656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1199" name="Text Box 140"/>
              <p:cNvSpPr txBox="1"/>
              <p:nvPr/>
            </p:nvSpPr>
            <p:spPr>
              <a:xfrm>
                <a:off x="3350" y="3312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01059" name="Group 141"/>
          <p:cNvGrpSpPr/>
          <p:nvPr/>
        </p:nvGrpSpPr>
        <p:grpSpPr>
          <a:xfrm>
            <a:off x="3357563" y="3711575"/>
            <a:ext cx="5791200" cy="646113"/>
            <a:chOff x="1155" y="2338"/>
            <a:chExt cx="3648" cy="407"/>
          </a:xfrm>
        </p:grpSpPr>
        <p:sp>
          <p:nvSpPr>
            <p:cNvPr id="301086" name="Freeform 142"/>
            <p:cNvSpPr/>
            <p:nvPr/>
          </p:nvSpPr>
          <p:spPr>
            <a:xfrm>
              <a:off x="1155" y="2740"/>
              <a:ext cx="3648" cy="5"/>
            </a:xfrm>
            <a:custGeom>
              <a:avLst/>
              <a:gdLst>
                <a:gd name="txL" fmla="*/ 0 w 3648"/>
                <a:gd name="txT" fmla="*/ 0 h 5"/>
                <a:gd name="txR" fmla="*/ 3648 w 3648"/>
                <a:gd name="txB" fmla="*/ 5 h 5"/>
              </a:gdLst>
              <a:ahLst/>
              <a:cxnLst>
                <a:cxn ang="0">
                  <a:pos x="0" y="0"/>
                </a:cxn>
                <a:cxn ang="0">
                  <a:pos x="3648" y="5"/>
                </a:cxn>
              </a:cxnLst>
              <a:rect l="txL" t="txT" r="txR" b="txB"/>
              <a:pathLst>
                <a:path w="3648" h="5">
                  <a:moveTo>
                    <a:pt x="0" y="0"/>
                  </a:moveTo>
                  <a:lnTo>
                    <a:pt x="3648" y="5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1087" name="Line 143"/>
            <p:cNvSpPr/>
            <p:nvPr/>
          </p:nvSpPr>
          <p:spPr>
            <a:xfrm rot="10800000">
              <a:off x="1788" y="2656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1088" name="Line 144"/>
            <p:cNvSpPr/>
            <p:nvPr/>
          </p:nvSpPr>
          <p:spPr>
            <a:xfrm rot="10800000">
              <a:off x="2725" y="2658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1089" name="Freeform 145"/>
            <p:cNvSpPr/>
            <p:nvPr/>
          </p:nvSpPr>
          <p:spPr>
            <a:xfrm>
              <a:off x="4350" y="2657"/>
              <a:ext cx="1" cy="79"/>
            </a:xfrm>
            <a:custGeom>
              <a:avLst/>
              <a:gdLst>
                <a:gd name="txL" fmla="*/ 0 w 1"/>
                <a:gd name="txT" fmla="*/ 0 h 79"/>
                <a:gd name="txR" fmla="*/ 1 w 1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" y="0"/>
                </a:cxn>
              </a:cxnLst>
              <a:rect l="txL" t="txT" r="txR" b="txB"/>
              <a:pathLst>
                <a:path w="1" h="79">
                  <a:moveTo>
                    <a:pt x="0" y="79"/>
                  </a:moveTo>
                  <a:lnTo>
                    <a:pt x="1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1090" name="Rectangle 146"/>
            <p:cNvSpPr/>
            <p:nvPr/>
          </p:nvSpPr>
          <p:spPr>
            <a:xfrm>
              <a:off x="1615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1091" name="Rectangle 147"/>
            <p:cNvSpPr/>
            <p:nvPr/>
          </p:nvSpPr>
          <p:spPr>
            <a:xfrm>
              <a:off x="2546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1092" name="Rectangle 148"/>
            <p:cNvSpPr/>
            <p:nvPr/>
          </p:nvSpPr>
          <p:spPr>
            <a:xfrm>
              <a:off x="4178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1093" name="Text Box 149"/>
            <p:cNvSpPr txBox="1"/>
            <p:nvPr/>
          </p:nvSpPr>
          <p:spPr>
            <a:xfrm>
              <a:off x="3320" y="2338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" name="Group 150"/>
          <p:cNvGrpSpPr/>
          <p:nvPr/>
        </p:nvGrpSpPr>
        <p:grpSpPr>
          <a:xfrm>
            <a:off x="9170988" y="4808538"/>
            <a:ext cx="628650" cy="460094"/>
            <a:chOff x="4775" y="2954"/>
            <a:chExt cx="384" cy="318"/>
          </a:xfrm>
        </p:grpSpPr>
        <p:sp>
          <p:nvSpPr>
            <p:cNvPr id="301084" name="Line 151"/>
            <p:cNvSpPr/>
            <p:nvPr/>
          </p:nvSpPr>
          <p:spPr>
            <a:xfrm>
              <a:off x="4775" y="3264"/>
              <a:ext cx="384" cy="0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01085" name="Text Box 152"/>
            <p:cNvSpPr txBox="1"/>
            <p:nvPr/>
          </p:nvSpPr>
          <p:spPr>
            <a:xfrm>
              <a:off x="4861" y="2954"/>
              <a:ext cx="24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1061" name="Group 153"/>
          <p:cNvGrpSpPr/>
          <p:nvPr/>
        </p:nvGrpSpPr>
        <p:grpSpPr>
          <a:xfrm>
            <a:off x="1865313" y="1819275"/>
            <a:ext cx="360312" cy="3365215"/>
            <a:chOff x="300" y="720"/>
            <a:chExt cx="220" cy="2329"/>
          </a:xfrm>
        </p:grpSpPr>
        <p:sp>
          <p:nvSpPr>
            <p:cNvPr id="301079" name="Text Box 154"/>
            <p:cNvSpPr txBox="1"/>
            <p:nvPr/>
          </p:nvSpPr>
          <p:spPr>
            <a:xfrm>
              <a:off x="300" y="720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1080" name="Text Box 155"/>
            <p:cNvSpPr txBox="1"/>
            <p:nvPr/>
          </p:nvSpPr>
          <p:spPr>
            <a:xfrm>
              <a:off x="300" y="1212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1081" name="Text Box 156"/>
            <p:cNvSpPr txBox="1"/>
            <p:nvPr/>
          </p:nvSpPr>
          <p:spPr>
            <a:xfrm>
              <a:off x="300" y="1705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1082" name="Text Box 157"/>
            <p:cNvSpPr txBox="1"/>
            <p:nvPr/>
          </p:nvSpPr>
          <p:spPr>
            <a:xfrm>
              <a:off x="300" y="2196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1083" name="Text Box 158"/>
            <p:cNvSpPr txBox="1"/>
            <p:nvPr/>
          </p:nvSpPr>
          <p:spPr>
            <a:xfrm>
              <a:off x="300" y="2688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1062" name="Group 159"/>
          <p:cNvGrpSpPr/>
          <p:nvPr/>
        </p:nvGrpSpPr>
        <p:grpSpPr>
          <a:xfrm>
            <a:off x="3505200" y="6138863"/>
            <a:ext cx="5152976" cy="522004"/>
            <a:chOff x="1452" y="3984"/>
            <a:chExt cx="3148" cy="361"/>
          </a:xfrm>
        </p:grpSpPr>
        <p:sp>
          <p:nvSpPr>
            <p:cNvPr id="301074" name="Text Box 160"/>
            <p:cNvSpPr txBox="1"/>
            <p:nvPr/>
          </p:nvSpPr>
          <p:spPr>
            <a:xfrm>
              <a:off x="1452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1075" name="Text Box 161"/>
            <p:cNvSpPr txBox="1"/>
            <p:nvPr/>
          </p:nvSpPr>
          <p:spPr>
            <a:xfrm>
              <a:off x="4380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1076" name="Text Box 162"/>
            <p:cNvSpPr txBox="1"/>
            <p:nvPr/>
          </p:nvSpPr>
          <p:spPr>
            <a:xfrm>
              <a:off x="3648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1077" name="Text Box 163"/>
            <p:cNvSpPr txBox="1"/>
            <p:nvPr/>
          </p:nvSpPr>
          <p:spPr>
            <a:xfrm>
              <a:off x="2917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1078" name="Text Box 164"/>
            <p:cNvSpPr txBox="1"/>
            <p:nvPr/>
          </p:nvSpPr>
          <p:spPr>
            <a:xfrm>
              <a:off x="2186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1063" name="Group 165"/>
          <p:cNvGrpSpPr/>
          <p:nvPr/>
        </p:nvGrpSpPr>
        <p:grpSpPr>
          <a:xfrm>
            <a:off x="5675313" y="5429250"/>
            <a:ext cx="344487" cy="398463"/>
            <a:chOff x="2611" y="3425"/>
            <a:chExt cx="217" cy="251"/>
          </a:xfrm>
        </p:grpSpPr>
        <p:sp>
          <p:nvSpPr>
            <p:cNvPr id="301072" name="Text Box 166"/>
            <p:cNvSpPr txBox="1"/>
            <p:nvPr/>
          </p:nvSpPr>
          <p:spPr>
            <a:xfrm>
              <a:off x="2611" y="342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1073" name="Freeform 167"/>
            <p:cNvSpPr/>
            <p:nvPr/>
          </p:nvSpPr>
          <p:spPr>
            <a:xfrm>
              <a:off x="2827" y="3430"/>
              <a:ext cx="1" cy="227"/>
            </a:xfrm>
            <a:custGeom>
              <a:avLst/>
              <a:gdLst>
                <a:gd name="txL" fmla="*/ 0 w 1"/>
                <a:gd name="txT" fmla="*/ 0 h 227"/>
                <a:gd name="txR" fmla="*/ 1 w 1"/>
                <a:gd name="txB" fmla="*/ 227 h 227"/>
              </a:gdLst>
              <a:ahLst/>
              <a:cxnLst>
                <a:cxn ang="0">
                  <a:pos x="0" y="0"/>
                </a:cxn>
                <a:cxn ang="0">
                  <a:pos x="0" y="227"/>
                </a:cxn>
              </a:cxnLst>
              <a:rect l="txL" t="txT" r="txR" b="txB"/>
              <a:pathLst>
                <a:path w="1" h="227">
                  <a:moveTo>
                    <a:pt x="0" y="0"/>
                  </a:moveTo>
                  <a:lnTo>
                    <a:pt x="0" y="227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36712" name="Rectangle 16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1065" name="Text Box 169"/>
          <p:cNvSpPr txBox="1"/>
          <p:nvPr/>
        </p:nvSpPr>
        <p:spPr>
          <a:xfrm>
            <a:off x="1828800" y="228600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三管动态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en-US" altLang="zh-CN" sz="3200" b="1" dirty="0">
                <a:latin typeface="Times New Roman" panose="02020603050405020304" pitchFamily="18" charset="0"/>
              </a:rPr>
              <a:t>(Intel 1103)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01066" name="Group 170"/>
          <p:cNvGrpSpPr/>
          <p:nvPr/>
        </p:nvGrpSpPr>
        <p:grpSpPr>
          <a:xfrm>
            <a:off x="5570538" y="1719263"/>
            <a:ext cx="793750" cy="2058987"/>
            <a:chOff x="2549" y="1083"/>
            <a:chExt cx="500" cy="1297"/>
          </a:xfrm>
        </p:grpSpPr>
        <p:sp>
          <p:nvSpPr>
            <p:cNvPr id="301069" name="Rectangle 171"/>
            <p:cNvSpPr/>
            <p:nvPr/>
          </p:nvSpPr>
          <p:spPr>
            <a:xfrm>
              <a:off x="2549" y="1083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1070" name="Rectangle 172"/>
            <p:cNvSpPr/>
            <p:nvPr/>
          </p:nvSpPr>
          <p:spPr>
            <a:xfrm>
              <a:off x="2549" y="1636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1071" name="Text Box 173"/>
            <p:cNvSpPr txBox="1"/>
            <p:nvPr/>
          </p:nvSpPr>
          <p:spPr>
            <a:xfrm>
              <a:off x="2585" y="1972"/>
              <a:ext cx="464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1067" name="AutoShape 174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106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302082" name="Group 2"/>
          <p:cNvGrpSpPr/>
          <p:nvPr/>
        </p:nvGrpSpPr>
        <p:grpSpPr>
          <a:xfrm>
            <a:off x="1524000" y="1295400"/>
            <a:ext cx="9142413" cy="5440363"/>
            <a:chOff x="0" y="816"/>
            <a:chExt cx="5759" cy="3427"/>
          </a:xfrm>
        </p:grpSpPr>
        <p:grpSp>
          <p:nvGrpSpPr>
            <p:cNvPr id="302119" name="Group 3"/>
            <p:cNvGrpSpPr/>
            <p:nvPr/>
          </p:nvGrpSpPr>
          <p:grpSpPr>
            <a:xfrm>
              <a:off x="0" y="1094"/>
              <a:ext cx="462" cy="251"/>
              <a:chOff x="0" y="933"/>
              <a:chExt cx="462" cy="251"/>
            </a:xfrm>
          </p:grpSpPr>
          <p:sp>
            <p:nvSpPr>
              <p:cNvPr id="302255" name="Line 4"/>
              <p:cNvSpPr/>
              <p:nvPr/>
            </p:nvSpPr>
            <p:spPr>
              <a:xfrm>
                <a:off x="214" y="991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2256" name="Text Box 5"/>
              <p:cNvSpPr txBox="1"/>
              <p:nvPr/>
            </p:nvSpPr>
            <p:spPr>
              <a:xfrm>
                <a:off x="0" y="9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2120" name="Group 6"/>
            <p:cNvGrpSpPr/>
            <p:nvPr/>
          </p:nvGrpSpPr>
          <p:grpSpPr>
            <a:xfrm>
              <a:off x="16" y="1540"/>
              <a:ext cx="446" cy="251"/>
              <a:chOff x="16" y="1371"/>
              <a:chExt cx="446" cy="251"/>
            </a:xfrm>
          </p:grpSpPr>
          <p:sp>
            <p:nvSpPr>
              <p:cNvPr id="302253" name="Line 7"/>
              <p:cNvSpPr/>
              <p:nvPr/>
            </p:nvSpPr>
            <p:spPr>
              <a:xfrm>
                <a:off x="214" y="1439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2254" name="Text Box 8"/>
              <p:cNvSpPr txBox="1"/>
              <p:nvPr/>
            </p:nvSpPr>
            <p:spPr>
              <a:xfrm>
                <a:off x="16" y="137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2121" name="Group 9"/>
            <p:cNvGrpSpPr/>
            <p:nvPr/>
          </p:nvGrpSpPr>
          <p:grpSpPr>
            <a:xfrm>
              <a:off x="16" y="1987"/>
              <a:ext cx="446" cy="251"/>
              <a:chOff x="16" y="1809"/>
              <a:chExt cx="446" cy="251"/>
            </a:xfrm>
          </p:grpSpPr>
          <p:sp>
            <p:nvSpPr>
              <p:cNvPr id="302251" name="Line 10"/>
              <p:cNvSpPr/>
              <p:nvPr/>
            </p:nvSpPr>
            <p:spPr>
              <a:xfrm>
                <a:off x="214" y="1886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2252" name="Text Box 11"/>
              <p:cNvSpPr txBox="1"/>
              <p:nvPr/>
            </p:nvSpPr>
            <p:spPr>
              <a:xfrm>
                <a:off x="16" y="1809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2122" name="Group 12"/>
            <p:cNvGrpSpPr/>
            <p:nvPr/>
          </p:nvGrpSpPr>
          <p:grpSpPr>
            <a:xfrm>
              <a:off x="16" y="2433"/>
              <a:ext cx="446" cy="251"/>
              <a:chOff x="16" y="2276"/>
              <a:chExt cx="446" cy="251"/>
            </a:xfrm>
          </p:grpSpPr>
          <p:sp>
            <p:nvSpPr>
              <p:cNvPr id="302249" name="Line 13"/>
              <p:cNvSpPr/>
              <p:nvPr/>
            </p:nvSpPr>
            <p:spPr>
              <a:xfrm>
                <a:off x="214" y="2334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2250" name="Text Box 14"/>
              <p:cNvSpPr txBox="1"/>
              <p:nvPr/>
            </p:nvSpPr>
            <p:spPr>
              <a:xfrm>
                <a:off x="16" y="2276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2123" name="Group 15"/>
            <p:cNvGrpSpPr/>
            <p:nvPr/>
          </p:nvGrpSpPr>
          <p:grpSpPr>
            <a:xfrm>
              <a:off x="16" y="2880"/>
              <a:ext cx="446" cy="251"/>
              <a:chOff x="16" y="2725"/>
              <a:chExt cx="446" cy="251"/>
            </a:xfrm>
          </p:grpSpPr>
          <p:sp>
            <p:nvSpPr>
              <p:cNvPr id="302247" name="Line 16"/>
              <p:cNvSpPr/>
              <p:nvPr/>
            </p:nvSpPr>
            <p:spPr>
              <a:xfrm>
                <a:off x="214" y="2782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2248" name="Text Box 17"/>
              <p:cNvSpPr txBox="1"/>
              <p:nvPr/>
            </p:nvSpPr>
            <p:spPr>
              <a:xfrm>
                <a:off x="16" y="27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2124" name="Group 18"/>
            <p:cNvGrpSpPr/>
            <p:nvPr/>
          </p:nvGrpSpPr>
          <p:grpSpPr>
            <a:xfrm>
              <a:off x="462" y="816"/>
              <a:ext cx="5297" cy="3427"/>
              <a:chOff x="462" y="816"/>
              <a:chExt cx="5297" cy="3427"/>
            </a:xfrm>
          </p:grpSpPr>
          <p:sp>
            <p:nvSpPr>
              <p:cNvPr id="302125" name="Rectangle 19"/>
              <p:cNvSpPr/>
              <p:nvPr/>
            </p:nvSpPr>
            <p:spPr>
              <a:xfrm>
                <a:off x="462" y="816"/>
                <a:ext cx="693" cy="248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26" name="Freeform 20"/>
              <p:cNvSpPr/>
              <p:nvPr/>
            </p:nvSpPr>
            <p:spPr>
              <a:xfrm>
                <a:off x="1155" y="991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27" name="Rectangle 21"/>
              <p:cNvSpPr/>
              <p:nvPr/>
            </p:nvSpPr>
            <p:spPr>
              <a:xfrm>
                <a:off x="1615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28" name="Freeform 22"/>
              <p:cNvSpPr/>
              <p:nvPr/>
            </p:nvSpPr>
            <p:spPr>
              <a:xfrm>
                <a:off x="4351" y="991"/>
                <a:ext cx="1" cy="79"/>
              </a:xfrm>
              <a:custGeom>
                <a:avLst/>
                <a:gdLst>
                  <a:gd name="txL" fmla="*/ 0 w 1"/>
                  <a:gd name="txT" fmla="*/ 0 h 87"/>
                  <a:gd name="txR" fmla="*/ 1 w 1"/>
                  <a:gd name="txB" fmla="*/ 87 h 87"/>
                </a:gdLst>
                <a:ahLst/>
                <a:cxnLst>
                  <a:cxn ang="0">
                    <a:pos x="0" y="0"/>
                  </a:cxn>
                  <a:cxn ang="0">
                    <a:pos x="0" y="87"/>
                  </a:cxn>
                </a:cxnLst>
                <a:rect l="txL" t="txT" r="txR" b="txB"/>
                <a:pathLst>
                  <a:path w="1" h="87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29" name="Freeform 23"/>
              <p:cNvSpPr/>
              <p:nvPr/>
            </p:nvSpPr>
            <p:spPr>
              <a:xfrm>
                <a:off x="1155" y="1295"/>
                <a:ext cx="3659" cy="3"/>
              </a:xfrm>
              <a:custGeom>
                <a:avLst/>
                <a:gdLst>
                  <a:gd name="txL" fmla="*/ 0 w 3659"/>
                  <a:gd name="txT" fmla="*/ 0 h 3"/>
                  <a:gd name="txR" fmla="*/ 3659 w 3659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3659" y="3"/>
                  </a:cxn>
                </a:cxnLst>
                <a:rect l="txL" t="txT" r="txR" b="txB"/>
                <a:pathLst>
                  <a:path w="3659" h="3">
                    <a:moveTo>
                      <a:pt x="0" y="0"/>
                    </a:moveTo>
                    <a:lnTo>
                      <a:pt x="365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30" name="Freeform 24"/>
              <p:cNvSpPr/>
              <p:nvPr/>
            </p:nvSpPr>
            <p:spPr>
              <a:xfrm>
                <a:off x="2727" y="987"/>
                <a:ext cx="1" cy="86"/>
              </a:xfrm>
              <a:custGeom>
                <a:avLst/>
                <a:gdLst>
                  <a:gd name="txL" fmla="*/ 0 w 1"/>
                  <a:gd name="txT" fmla="*/ 0 h 86"/>
                  <a:gd name="txR" fmla="*/ 1 w 1"/>
                  <a:gd name="txB" fmla="*/ 86 h 86"/>
                </a:gdLst>
                <a:ahLst/>
                <a:cxnLst>
                  <a:cxn ang="0">
                    <a:pos x="0" y="0"/>
                  </a:cxn>
                  <a:cxn ang="0">
                    <a:pos x="1" y="86"/>
                  </a:cxn>
                </a:cxnLst>
                <a:rect l="txL" t="txT" r="txR" b="txB"/>
                <a:pathLst>
                  <a:path w="1" h="86">
                    <a:moveTo>
                      <a:pt x="0" y="0"/>
                    </a:moveTo>
                    <a:lnTo>
                      <a:pt x="1" y="8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31" name="Freeform 25"/>
              <p:cNvSpPr/>
              <p:nvPr/>
            </p:nvSpPr>
            <p:spPr>
              <a:xfrm>
                <a:off x="1791" y="985"/>
                <a:ext cx="1" cy="92"/>
              </a:xfrm>
              <a:custGeom>
                <a:avLst/>
                <a:gdLst>
                  <a:gd name="txL" fmla="*/ 0 w 1"/>
                  <a:gd name="txT" fmla="*/ 0 h 92"/>
                  <a:gd name="txR" fmla="*/ 1 w 1"/>
                  <a:gd name="txB" fmla="*/ 92 h 92"/>
                </a:gdLst>
                <a:ahLst/>
                <a:cxnLst>
                  <a:cxn ang="0">
                    <a:pos x="0" y="0"/>
                  </a:cxn>
                  <a:cxn ang="0">
                    <a:pos x="0" y="92"/>
                  </a:cxn>
                </a:cxnLst>
                <a:rect l="txL" t="txT" r="txR" b="tx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32" name="Freeform 26"/>
              <p:cNvSpPr/>
              <p:nvPr/>
            </p:nvSpPr>
            <p:spPr>
              <a:xfrm>
                <a:off x="1788" y="1212"/>
                <a:ext cx="1" cy="85"/>
              </a:xfrm>
              <a:custGeom>
                <a:avLst/>
                <a:gdLst>
                  <a:gd name="txL" fmla="*/ 0 w 1"/>
                  <a:gd name="txT" fmla="*/ 0 h 93"/>
                  <a:gd name="txR" fmla="*/ 1 w 1"/>
                  <a:gd name="txB" fmla="*/ 93 h 93"/>
                </a:gdLst>
                <a:ahLst/>
                <a:cxnLst>
                  <a:cxn ang="0">
                    <a:pos x="0" y="93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3">
                    <a:moveTo>
                      <a:pt x="0" y="9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33" name="Freeform 27"/>
              <p:cNvSpPr/>
              <p:nvPr/>
            </p:nvSpPr>
            <p:spPr>
              <a:xfrm>
                <a:off x="2736" y="1200"/>
                <a:ext cx="3" cy="95"/>
              </a:xfrm>
              <a:custGeom>
                <a:avLst/>
                <a:gdLst>
                  <a:gd name="txL" fmla="*/ 0 w 3"/>
                  <a:gd name="txT" fmla="*/ 0 h 105"/>
                  <a:gd name="txR" fmla="*/ 3 w 3"/>
                  <a:gd name="txB" fmla="*/ 105 h 105"/>
                </a:gdLst>
                <a:ahLst/>
                <a:cxnLst>
                  <a:cxn ang="0">
                    <a:pos x="0" y="105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105">
                    <a:moveTo>
                      <a:pt x="0" y="105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34" name="Line 28"/>
              <p:cNvSpPr/>
              <p:nvPr/>
            </p:nvSpPr>
            <p:spPr>
              <a:xfrm rot="10800000">
                <a:off x="4351" y="121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35" name="Freeform 29"/>
              <p:cNvSpPr/>
              <p:nvPr/>
            </p:nvSpPr>
            <p:spPr>
              <a:xfrm>
                <a:off x="1155" y="1559"/>
                <a:ext cx="3653" cy="1"/>
              </a:xfrm>
              <a:custGeom>
                <a:avLst/>
                <a:gdLst>
                  <a:gd name="txL" fmla="*/ 0 w 3543"/>
                  <a:gd name="txT" fmla="*/ 0 h 1"/>
                  <a:gd name="txR" fmla="*/ 3543 w 35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43" y="0"/>
                  </a:cxn>
                </a:cxnLst>
                <a:rect l="txL" t="txT" r="txR" b="txB"/>
                <a:pathLst>
                  <a:path w="3543" h="1">
                    <a:moveTo>
                      <a:pt x="0" y="0"/>
                    </a:moveTo>
                    <a:lnTo>
                      <a:pt x="354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36" name="Line 30"/>
              <p:cNvSpPr/>
              <p:nvPr/>
            </p:nvSpPr>
            <p:spPr>
              <a:xfrm>
                <a:off x="4351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37" name="Freeform 31"/>
              <p:cNvSpPr/>
              <p:nvPr/>
            </p:nvSpPr>
            <p:spPr>
              <a:xfrm>
                <a:off x="1155" y="1863"/>
                <a:ext cx="3656" cy="1"/>
              </a:xfrm>
              <a:custGeom>
                <a:avLst/>
                <a:gdLst>
                  <a:gd name="txL" fmla="*/ 0 w 3546"/>
                  <a:gd name="txT" fmla="*/ 0 h 2"/>
                  <a:gd name="txR" fmla="*/ 3546 w 354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3546" y="2"/>
                  </a:cxn>
                </a:cxnLst>
                <a:rect l="txL" t="txT" r="txR" b="txB"/>
                <a:pathLst>
                  <a:path w="3546" h="2">
                    <a:moveTo>
                      <a:pt x="0" y="0"/>
                    </a:moveTo>
                    <a:lnTo>
                      <a:pt x="354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38" name="Line 32"/>
              <p:cNvSpPr/>
              <p:nvPr/>
            </p:nvSpPr>
            <p:spPr>
              <a:xfrm>
                <a:off x="2725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39" name="Line 33"/>
              <p:cNvSpPr/>
              <p:nvPr/>
            </p:nvSpPr>
            <p:spPr>
              <a:xfrm>
                <a:off x="1788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40" name="Line 34"/>
              <p:cNvSpPr/>
              <p:nvPr/>
            </p:nvSpPr>
            <p:spPr>
              <a:xfrm rot="10800000">
                <a:off x="1788" y="177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41" name="Line 35"/>
              <p:cNvSpPr/>
              <p:nvPr/>
            </p:nvSpPr>
            <p:spPr>
              <a:xfrm rot="10800000">
                <a:off x="2725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42" name="Line 36"/>
              <p:cNvSpPr/>
              <p:nvPr/>
            </p:nvSpPr>
            <p:spPr>
              <a:xfrm rot="10800000">
                <a:off x="4351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43" name="Freeform 37"/>
              <p:cNvSpPr/>
              <p:nvPr/>
            </p:nvSpPr>
            <p:spPr>
              <a:xfrm>
                <a:off x="1155" y="2432"/>
                <a:ext cx="3675" cy="1"/>
              </a:xfrm>
              <a:custGeom>
                <a:avLst/>
                <a:gdLst>
                  <a:gd name="txL" fmla="*/ 0 w 3564"/>
                  <a:gd name="txT" fmla="*/ 0 h 1"/>
                  <a:gd name="txR" fmla="*/ 3564 w 356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64" y="0"/>
                  </a:cxn>
                </a:cxnLst>
                <a:rect l="txL" t="txT" r="txR" b="txB"/>
                <a:pathLst>
                  <a:path w="3564" h="1">
                    <a:moveTo>
                      <a:pt x="0" y="0"/>
                    </a:moveTo>
                    <a:lnTo>
                      <a:pt x="356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44" name="Line 38"/>
              <p:cNvSpPr/>
              <p:nvPr/>
            </p:nvSpPr>
            <p:spPr>
              <a:xfrm>
                <a:off x="4351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45" name="Freeform 39"/>
              <p:cNvSpPr/>
              <p:nvPr/>
            </p:nvSpPr>
            <p:spPr>
              <a:xfrm>
                <a:off x="1155" y="2736"/>
                <a:ext cx="3647" cy="1"/>
              </a:xfrm>
              <a:custGeom>
                <a:avLst/>
                <a:gdLst>
                  <a:gd name="txL" fmla="*/ 0 w 3647"/>
                  <a:gd name="txT" fmla="*/ 0 h 1"/>
                  <a:gd name="txR" fmla="*/ 3647 w 364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647" y="1"/>
                  </a:cxn>
                </a:cxnLst>
                <a:rect l="txL" t="txT" r="txR" b="txB"/>
                <a:pathLst>
                  <a:path w="3647" h="1">
                    <a:moveTo>
                      <a:pt x="0" y="0"/>
                    </a:moveTo>
                    <a:lnTo>
                      <a:pt x="364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46" name="Line 40"/>
              <p:cNvSpPr/>
              <p:nvPr/>
            </p:nvSpPr>
            <p:spPr>
              <a:xfrm>
                <a:off x="2725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47" name="Line 41"/>
              <p:cNvSpPr/>
              <p:nvPr/>
            </p:nvSpPr>
            <p:spPr>
              <a:xfrm>
                <a:off x="1788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48" name="Line 42"/>
              <p:cNvSpPr/>
              <p:nvPr/>
            </p:nvSpPr>
            <p:spPr>
              <a:xfrm rot="10800000">
                <a:off x="1788" y="2652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49" name="Line 43"/>
              <p:cNvSpPr/>
              <p:nvPr/>
            </p:nvSpPr>
            <p:spPr>
              <a:xfrm rot="10800000">
                <a:off x="2725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50" name="Line 44"/>
              <p:cNvSpPr/>
              <p:nvPr/>
            </p:nvSpPr>
            <p:spPr>
              <a:xfrm rot="10800000">
                <a:off x="4351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51" name="AutoShape 45"/>
              <p:cNvSpPr/>
              <p:nvPr/>
            </p:nvSpPr>
            <p:spPr>
              <a:xfrm rot="-5400000">
                <a:off x="1683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52" name="Freeform 46"/>
              <p:cNvSpPr/>
              <p:nvPr/>
            </p:nvSpPr>
            <p:spPr>
              <a:xfrm>
                <a:off x="1416" y="1148"/>
                <a:ext cx="198" cy="2026"/>
              </a:xfrm>
              <a:custGeom>
                <a:avLst/>
                <a:gdLst>
                  <a:gd name="txL" fmla="*/ 0 w 198"/>
                  <a:gd name="txT" fmla="*/ 0 h 2026"/>
                  <a:gd name="txR" fmla="*/ 198 w 198"/>
                  <a:gd name="txB" fmla="*/ 2026 h 2026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6" y="2026"/>
                  </a:cxn>
                </a:cxnLst>
                <a:rect l="txL" t="txT" r="txR" b="txB"/>
                <a:pathLst>
                  <a:path w="198" h="2026">
                    <a:moveTo>
                      <a:pt x="198" y="0"/>
                    </a:moveTo>
                    <a:lnTo>
                      <a:pt x="0" y="0"/>
                    </a:lnTo>
                    <a:lnTo>
                      <a:pt x="6" y="202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53" name="Freeform 47"/>
              <p:cNvSpPr/>
              <p:nvPr/>
            </p:nvSpPr>
            <p:spPr>
              <a:xfrm>
                <a:off x="141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54" name="Freeform 48"/>
              <p:cNvSpPr/>
              <p:nvPr/>
            </p:nvSpPr>
            <p:spPr>
              <a:xfrm>
                <a:off x="1422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55" name="Line 49"/>
              <p:cNvSpPr/>
              <p:nvPr/>
            </p:nvSpPr>
            <p:spPr>
              <a:xfrm>
                <a:off x="1419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56" name="Freeform 50"/>
              <p:cNvSpPr/>
              <p:nvPr/>
            </p:nvSpPr>
            <p:spPr>
              <a:xfrm>
                <a:off x="3979" y="1148"/>
                <a:ext cx="198" cy="2023"/>
              </a:xfrm>
              <a:custGeom>
                <a:avLst/>
                <a:gdLst>
                  <a:gd name="txL" fmla="*/ 0 w 198"/>
                  <a:gd name="txT" fmla="*/ 0 h 2023"/>
                  <a:gd name="txR" fmla="*/ 198 w 198"/>
                  <a:gd name="txB" fmla="*/ 2023 h 2023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2" y="2023"/>
                  </a:cxn>
                </a:cxnLst>
                <a:rect l="txL" t="txT" r="txR" b="txB"/>
                <a:pathLst>
                  <a:path w="198" h="2023">
                    <a:moveTo>
                      <a:pt x="198" y="0"/>
                    </a:moveTo>
                    <a:lnTo>
                      <a:pt x="0" y="0"/>
                    </a:lnTo>
                    <a:lnTo>
                      <a:pt x="2" y="202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57" name="Freeform 51"/>
              <p:cNvSpPr/>
              <p:nvPr/>
            </p:nvSpPr>
            <p:spPr>
              <a:xfrm>
                <a:off x="3982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58" name="Freeform 52"/>
              <p:cNvSpPr/>
              <p:nvPr/>
            </p:nvSpPr>
            <p:spPr>
              <a:xfrm>
                <a:off x="3985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59" name="Line 53"/>
              <p:cNvSpPr/>
              <p:nvPr/>
            </p:nvSpPr>
            <p:spPr>
              <a:xfrm>
                <a:off x="3982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60" name="Freeform 54"/>
              <p:cNvSpPr/>
              <p:nvPr/>
            </p:nvSpPr>
            <p:spPr>
              <a:xfrm>
                <a:off x="2347" y="1148"/>
                <a:ext cx="198" cy="2024"/>
              </a:xfrm>
              <a:custGeom>
                <a:avLst/>
                <a:gdLst>
                  <a:gd name="txL" fmla="*/ 0 w 192"/>
                  <a:gd name="txT" fmla="*/ 0 h 2224"/>
                  <a:gd name="txR" fmla="*/ 192 w 192"/>
                  <a:gd name="txB" fmla="*/ 2224 h 2224"/>
                </a:gdLst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2" y="2224"/>
                  </a:cxn>
                </a:cxnLst>
                <a:rect l="txL" t="txT" r="txR" b="txB"/>
                <a:pathLst>
                  <a:path w="192" h="2224">
                    <a:moveTo>
                      <a:pt x="192" y="0"/>
                    </a:moveTo>
                    <a:lnTo>
                      <a:pt x="0" y="0"/>
                    </a:lnTo>
                    <a:lnTo>
                      <a:pt x="2" y="222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61" name="Freeform 55"/>
              <p:cNvSpPr/>
              <p:nvPr/>
            </p:nvSpPr>
            <p:spPr>
              <a:xfrm>
                <a:off x="235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62" name="Freeform 56"/>
              <p:cNvSpPr/>
              <p:nvPr/>
            </p:nvSpPr>
            <p:spPr>
              <a:xfrm>
                <a:off x="2353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63" name="Line 57"/>
              <p:cNvSpPr/>
              <p:nvPr/>
            </p:nvSpPr>
            <p:spPr>
              <a:xfrm>
                <a:off x="2350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2164" name="Freeform 58"/>
              <p:cNvSpPr/>
              <p:nvPr/>
            </p:nvSpPr>
            <p:spPr>
              <a:xfrm>
                <a:off x="1964" y="1135"/>
                <a:ext cx="198" cy="2030"/>
              </a:xfrm>
              <a:custGeom>
                <a:avLst/>
                <a:gdLst>
                  <a:gd name="txL" fmla="*/ 0 w 198"/>
                  <a:gd name="txT" fmla="*/ 0 h 2030"/>
                  <a:gd name="txR" fmla="*/ 198 w 198"/>
                  <a:gd name="txB" fmla="*/ 2030 h 2030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193" y="2030"/>
                  </a:cxn>
                </a:cxnLst>
                <a:rect l="txL" t="txT" r="txR" b="txB"/>
                <a:pathLst>
                  <a:path w="198" h="2030">
                    <a:moveTo>
                      <a:pt x="0" y="0"/>
                    </a:moveTo>
                    <a:lnTo>
                      <a:pt x="198" y="0"/>
                    </a:lnTo>
                    <a:lnTo>
                      <a:pt x="193" y="20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65" name="Freeform 59"/>
              <p:cNvSpPr/>
              <p:nvPr/>
            </p:nvSpPr>
            <p:spPr>
              <a:xfrm rot="10800000">
                <a:off x="195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66" name="Freeform 60"/>
              <p:cNvSpPr/>
              <p:nvPr/>
            </p:nvSpPr>
            <p:spPr>
              <a:xfrm rot="10800000">
                <a:off x="1959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67" name="Freeform 61"/>
              <p:cNvSpPr/>
              <p:nvPr/>
            </p:nvSpPr>
            <p:spPr>
              <a:xfrm>
                <a:off x="1958" y="2957"/>
                <a:ext cx="200" cy="1"/>
              </a:xfrm>
              <a:custGeom>
                <a:avLst/>
                <a:gdLst>
                  <a:gd name="txL" fmla="*/ 0 w 194"/>
                  <a:gd name="txT" fmla="*/ 0 h 1"/>
                  <a:gd name="txR" fmla="*/ 194 w 194"/>
                  <a:gd name="txB" fmla="*/ 1 h 1"/>
                </a:gdLst>
                <a:ahLst/>
                <a:cxnLst>
                  <a:cxn ang="0">
                    <a:pos x="19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4" h="1">
                    <a:moveTo>
                      <a:pt x="19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68" name="Freeform 62"/>
              <p:cNvSpPr/>
              <p:nvPr/>
            </p:nvSpPr>
            <p:spPr>
              <a:xfrm>
                <a:off x="2893" y="1135"/>
                <a:ext cx="199" cy="2047"/>
              </a:xfrm>
              <a:custGeom>
                <a:avLst/>
                <a:gdLst>
                  <a:gd name="txL" fmla="*/ 0 w 193"/>
                  <a:gd name="txT" fmla="*/ 0 h 2250"/>
                  <a:gd name="txR" fmla="*/ 193 w 193"/>
                  <a:gd name="txB" fmla="*/ 2250 h 2250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3" y="2250"/>
                  </a:cxn>
                </a:cxnLst>
                <a:rect l="txL" t="txT" r="txR" b="txB"/>
                <a:pathLst>
                  <a:path w="193" h="2250">
                    <a:moveTo>
                      <a:pt x="0" y="0"/>
                    </a:moveTo>
                    <a:lnTo>
                      <a:pt x="192" y="0"/>
                    </a:lnTo>
                    <a:lnTo>
                      <a:pt x="193" y="22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69" name="Freeform 63"/>
              <p:cNvSpPr/>
              <p:nvPr/>
            </p:nvSpPr>
            <p:spPr>
              <a:xfrm rot="10800000">
                <a:off x="289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70" name="Freeform 64"/>
              <p:cNvSpPr/>
              <p:nvPr/>
            </p:nvSpPr>
            <p:spPr>
              <a:xfrm rot="10800000">
                <a:off x="2890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71" name="Freeform 65"/>
              <p:cNvSpPr/>
              <p:nvPr/>
            </p:nvSpPr>
            <p:spPr>
              <a:xfrm>
                <a:off x="2895" y="2957"/>
                <a:ext cx="194" cy="1"/>
              </a:xfrm>
              <a:custGeom>
                <a:avLst/>
                <a:gdLst>
                  <a:gd name="txL" fmla="*/ 0 w 188"/>
                  <a:gd name="txT" fmla="*/ 0 h 1"/>
                  <a:gd name="txR" fmla="*/ 188 w 188"/>
                  <a:gd name="txB" fmla="*/ 1 h 1"/>
                </a:gdLst>
                <a:ahLst/>
                <a:cxnLst>
                  <a:cxn ang="0">
                    <a:pos x="18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72" name="Freeform 66"/>
              <p:cNvSpPr/>
              <p:nvPr/>
            </p:nvSpPr>
            <p:spPr>
              <a:xfrm>
                <a:off x="4531" y="1135"/>
                <a:ext cx="203" cy="2027"/>
              </a:xfrm>
              <a:custGeom>
                <a:avLst/>
                <a:gdLst>
                  <a:gd name="txL" fmla="*/ 0 w 203"/>
                  <a:gd name="txT" fmla="*/ 0 h 2027"/>
                  <a:gd name="txR" fmla="*/ 203 w 203"/>
                  <a:gd name="txB" fmla="*/ 2027 h 2027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203" y="2027"/>
                  </a:cxn>
                </a:cxnLst>
                <a:rect l="txL" t="txT" r="txR" b="txB"/>
                <a:pathLst>
                  <a:path w="203" h="2027">
                    <a:moveTo>
                      <a:pt x="0" y="0"/>
                    </a:moveTo>
                    <a:lnTo>
                      <a:pt x="198" y="0"/>
                    </a:lnTo>
                    <a:lnTo>
                      <a:pt x="203" y="202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73" name="Freeform 67"/>
              <p:cNvSpPr/>
              <p:nvPr/>
            </p:nvSpPr>
            <p:spPr>
              <a:xfrm rot="10800000">
                <a:off x="4528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74" name="Freeform 68"/>
              <p:cNvSpPr/>
              <p:nvPr/>
            </p:nvSpPr>
            <p:spPr>
              <a:xfrm rot="10800000">
                <a:off x="4528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75" name="Freeform 69"/>
              <p:cNvSpPr/>
              <p:nvPr/>
            </p:nvSpPr>
            <p:spPr>
              <a:xfrm rot="10800000">
                <a:off x="4524" y="295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76" name="Rectangle 70"/>
              <p:cNvSpPr/>
              <p:nvPr/>
            </p:nvSpPr>
            <p:spPr>
              <a:xfrm>
                <a:off x="1204" y="3175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读  写  控  制  电  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77" name="Rectangle 71"/>
              <p:cNvSpPr/>
              <p:nvPr/>
            </p:nvSpPr>
            <p:spPr>
              <a:xfrm>
                <a:off x="1204" y="3656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bIns="0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  地  址  译  码 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78" name="Text Box 72"/>
              <p:cNvSpPr txBox="1"/>
              <p:nvPr/>
            </p:nvSpPr>
            <p:spPr>
              <a:xfrm rot="5400000">
                <a:off x="1671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79" name="Text Box 73"/>
              <p:cNvSpPr txBox="1"/>
              <p:nvPr/>
            </p:nvSpPr>
            <p:spPr>
              <a:xfrm rot="5400000">
                <a:off x="2602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80" name="Text Box 74"/>
              <p:cNvSpPr txBox="1"/>
              <p:nvPr/>
            </p:nvSpPr>
            <p:spPr>
              <a:xfrm rot="5400000">
                <a:off x="4234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81" name="Rectangle 75"/>
              <p:cNvSpPr/>
              <p:nvPr/>
            </p:nvSpPr>
            <p:spPr>
              <a:xfrm>
                <a:off x="1615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82" name="Rectangle 76"/>
              <p:cNvSpPr/>
              <p:nvPr/>
            </p:nvSpPr>
            <p:spPr>
              <a:xfrm>
                <a:off x="1615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83" name="Rectangle 77"/>
              <p:cNvSpPr/>
              <p:nvPr/>
            </p:nvSpPr>
            <p:spPr>
              <a:xfrm>
                <a:off x="2546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84" name="Rectangle 78"/>
              <p:cNvSpPr/>
              <p:nvPr/>
            </p:nvSpPr>
            <p:spPr>
              <a:xfrm>
                <a:off x="2546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85" name="Rectangle 79"/>
              <p:cNvSpPr/>
              <p:nvPr/>
            </p:nvSpPr>
            <p:spPr>
              <a:xfrm>
                <a:off x="2546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86" name="Rectangle 80"/>
              <p:cNvSpPr/>
              <p:nvPr/>
            </p:nvSpPr>
            <p:spPr>
              <a:xfrm>
                <a:off x="4178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87" name="Rectangle 81"/>
              <p:cNvSpPr/>
              <p:nvPr/>
            </p:nvSpPr>
            <p:spPr>
              <a:xfrm>
                <a:off x="4178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88" name="Rectangle 82"/>
              <p:cNvSpPr/>
              <p:nvPr/>
            </p:nvSpPr>
            <p:spPr>
              <a:xfrm>
                <a:off x="4178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89" name="AutoShape 83"/>
              <p:cNvSpPr/>
              <p:nvPr/>
            </p:nvSpPr>
            <p:spPr>
              <a:xfrm rot="-5400000">
                <a:off x="2614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90" name="AutoShape 84"/>
              <p:cNvSpPr/>
              <p:nvPr/>
            </p:nvSpPr>
            <p:spPr>
              <a:xfrm rot="-5400000">
                <a:off x="4246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2191" name="Text Box 85"/>
              <p:cNvSpPr txBox="1"/>
              <p:nvPr/>
            </p:nvSpPr>
            <p:spPr>
              <a:xfrm>
                <a:off x="4796" y="86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92" name="Text Box 86"/>
              <p:cNvSpPr txBox="1"/>
              <p:nvPr/>
            </p:nvSpPr>
            <p:spPr>
              <a:xfrm>
                <a:off x="4806" y="115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写选择线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93" name="Line 87"/>
              <p:cNvSpPr/>
              <p:nvPr/>
            </p:nvSpPr>
            <p:spPr>
              <a:xfrm>
                <a:off x="4817" y="3306"/>
                <a:ext cx="3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302194" name="Text Box 88"/>
              <p:cNvSpPr txBox="1"/>
              <p:nvPr/>
            </p:nvSpPr>
            <p:spPr>
              <a:xfrm>
                <a:off x="4906" y="3024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95" name="Text Box 89"/>
              <p:cNvSpPr txBox="1"/>
              <p:nvPr/>
            </p:nvSpPr>
            <p:spPr>
              <a:xfrm>
                <a:off x="3296" y="1929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单元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96" name="Text Box 90"/>
              <p:cNvSpPr txBox="1"/>
              <p:nvPr/>
            </p:nvSpPr>
            <p:spPr>
              <a:xfrm>
                <a:off x="3296" y="21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电路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97" name="Text Box 91"/>
              <p:cNvSpPr txBox="1"/>
              <p:nvPr/>
            </p:nvSpPr>
            <p:spPr>
              <a:xfrm>
                <a:off x="503" y="936"/>
                <a:ext cx="307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98" name="Text Box 92"/>
              <p:cNvSpPr txBox="1"/>
              <p:nvPr/>
            </p:nvSpPr>
            <p:spPr>
              <a:xfrm>
                <a:off x="907" y="86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199" name="Text Box 93"/>
              <p:cNvSpPr txBox="1"/>
              <p:nvPr/>
            </p:nvSpPr>
            <p:spPr>
              <a:xfrm>
                <a:off x="907" y="115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200" name="Text Box 94"/>
              <p:cNvSpPr txBox="1"/>
              <p:nvPr/>
            </p:nvSpPr>
            <p:spPr>
              <a:xfrm>
                <a:off x="907" y="145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201" name="Text Box 95"/>
              <p:cNvSpPr txBox="1"/>
              <p:nvPr/>
            </p:nvSpPr>
            <p:spPr>
              <a:xfrm>
                <a:off x="907" y="176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202" name="Text Box 96"/>
              <p:cNvSpPr txBox="1"/>
              <p:nvPr/>
            </p:nvSpPr>
            <p:spPr>
              <a:xfrm>
                <a:off x="854" y="229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203" name="Text Box 97"/>
              <p:cNvSpPr txBox="1"/>
              <p:nvPr/>
            </p:nvSpPr>
            <p:spPr>
              <a:xfrm>
                <a:off x="858" y="259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204" name="Line 98"/>
              <p:cNvSpPr/>
              <p:nvPr/>
            </p:nvSpPr>
            <p:spPr>
              <a:xfrm>
                <a:off x="1887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2205" name="Line 99"/>
              <p:cNvSpPr/>
              <p:nvPr/>
            </p:nvSpPr>
            <p:spPr>
              <a:xfrm>
                <a:off x="2832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2206" name="Text Box 100"/>
              <p:cNvSpPr txBox="1"/>
              <p:nvPr/>
            </p:nvSpPr>
            <p:spPr>
              <a:xfrm>
                <a:off x="2613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207" name="Line 101"/>
              <p:cNvSpPr/>
              <p:nvPr/>
            </p:nvSpPr>
            <p:spPr>
              <a:xfrm>
                <a:off x="4473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2208" name="Text Box 102"/>
              <p:cNvSpPr txBox="1"/>
              <p:nvPr/>
            </p:nvSpPr>
            <p:spPr>
              <a:xfrm>
                <a:off x="4176" y="342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2209" name="Group 103"/>
              <p:cNvGrpSpPr/>
              <p:nvPr/>
            </p:nvGrpSpPr>
            <p:grpSpPr>
              <a:xfrm>
                <a:off x="1492" y="3918"/>
                <a:ext cx="283" cy="324"/>
                <a:chOff x="1584" y="3918"/>
                <a:chExt cx="283" cy="324"/>
              </a:xfrm>
            </p:grpSpPr>
            <p:sp>
              <p:nvSpPr>
                <p:cNvPr id="302245" name="Line 104"/>
                <p:cNvSpPr/>
                <p:nvPr/>
              </p:nvSpPr>
              <p:spPr>
                <a:xfrm rot="-5400000">
                  <a:off x="149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2246" name="Text Box 105"/>
                <p:cNvSpPr txBox="1"/>
                <p:nvPr/>
              </p:nvSpPr>
              <p:spPr>
                <a:xfrm>
                  <a:off x="1584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2210" name="Group 106"/>
              <p:cNvGrpSpPr/>
              <p:nvPr/>
            </p:nvGrpSpPr>
            <p:grpSpPr>
              <a:xfrm>
                <a:off x="2234" y="3918"/>
                <a:ext cx="284" cy="325"/>
                <a:chOff x="2355" y="3918"/>
                <a:chExt cx="284" cy="325"/>
              </a:xfrm>
            </p:grpSpPr>
            <p:sp>
              <p:nvSpPr>
                <p:cNvPr id="302243" name="Line 107"/>
                <p:cNvSpPr/>
                <p:nvPr/>
              </p:nvSpPr>
              <p:spPr>
                <a:xfrm rot="-5400000">
                  <a:off x="224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2244" name="Text Box 108"/>
                <p:cNvSpPr txBox="1"/>
                <p:nvPr/>
              </p:nvSpPr>
              <p:spPr>
                <a:xfrm>
                  <a:off x="2356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2211" name="Group 109"/>
              <p:cNvGrpSpPr/>
              <p:nvPr/>
            </p:nvGrpSpPr>
            <p:grpSpPr>
              <a:xfrm>
                <a:off x="2978" y="3918"/>
                <a:ext cx="283" cy="325"/>
                <a:chOff x="3102" y="3918"/>
                <a:chExt cx="283" cy="325"/>
              </a:xfrm>
            </p:grpSpPr>
            <p:sp>
              <p:nvSpPr>
                <p:cNvPr id="302241" name="Line 110"/>
                <p:cNvSpPr/>
                <p:nvPr/>
              </p:nvSpPr>
              <p:spPr>
                <a:xfrm rot="-5400000">
                  <a:off x="300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2242" name="Text Box 111"/>
                <p:cNvSpPr txBox="1"/>
                <p:nvPr/>
              </p:nvSpPr>
              <p:spPr>
                <a:xfrm>
                  <a:off x="3102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2212" name="Group 112"/>
              <p:cNvGrpSpPr/>
              <p:nvPr/>
            </p:nvGrpSpPr>
            <p:grpSpPr>
              <a:xfrm>
                <a:off x="3721" y="3918"/>
                <a:ext cx="283" cy="325"/>
                <a:chOff x="3844" y="3918"/>
                <a:chExt cx="283" cy="325"/>
              </a:xfrm>
            </p:grpSpPr>
            <p:sp>
              <p:nvSpPr>
                <p:cNvPr id="302239" name="Line 113"/>
                <p:cNvSpPr/>
                <p:nvPr/>
              </p:nvSpPr>
              <p:spPr>
                <a:xfrm rot="-5400000">
                  <a:off x="375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2240" name="Text Box 114"/>
                <p:cNvSpPr txBox="1"/>
                <p:nvPr/>
              </p:nvSpPr>
              <p:spPr>
                <a:xfrm>
                  <a:off x="3844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2213" name="Group 115"/>
              <p:cNvGrpSpPr/>
              <p:nvPr/>
            </p:nvGrpSpPr>
            <p:grpSpPr>
              <a:xfrm>
                <a:off x="4464" y="3918"/>
                <a:ext cx="283" cy="324"/>
                <a:chOff x="4603" y="3918"/>
                <a:chExt cx="283" cy="324"/>
              </a:xfrm>
            </p:grpSpPr>
            <p:sp>
              <p:nvSpPr>
                <p:cNvPr id="302237" name="Line 116"/>
                <p:cNvSpPr/>
                <p:nvPr/>
              </p:nvSpPr>
              <p:spPr>
                <a:xfrm rot="-5400000">
                  <a:off x="4510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2238" name="Text Box 117"/>
                <p:cNvSpPr txBox="1"/>
                <p:nvPr/>
              </p:nvSpPr>
              <p:spPr>
                <a:xfrm>
                  <a:off x="4603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2214" name="Line 118"/>
              <p:cNvSpPr/>
              <p:nvPr/>
            </p:nvSpPr>
            <p:spPr>
              <a:xfrm>
                <a:off x="2689" y="1690"/>
                <a:ext cx="643" cy="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2215" name="Line 119"/>
              <p:cNvSpPr/>
              <p:nvPr/>
            </p:nvSpPr>
            <p:spPr>
              <a:xfrm>
                <a:off x="3976" y="2039"/>
                <a:ext cx="990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2216" name="Line 120"/>
              <p:cNvSpPr/>
              <p:nvPr/>
            </p:nvSpPr>
            <p:spPr>
              <a:xfrm>
                <a:off x="4718" y="1384"/>
                <a:ext cx="693" cy="1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2217" name="Text Box 121"/>
              <p:cNvSpPr txBox="1"/>
              <p:nvPr/>
            </p:nvSpPr>
            <p:spPr>
              <a:xfrm>
                <a:off x="4844" y="2728"/>
                <a:ext cx="9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刷新放大器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218" name="Line 122"/>
              <p:cNvSpPr/>
              <p:nvPr/>
            </p:nvSpPr>
            <p:spPr>
              <a:xfrm flipV="1">
                <a:off x="4520" y="2957"/>
                <a:ext cx="495" cy="4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02219" name="Group 123"/>
              <p:cNvGrpSpPr/>
              <p:nvPr/>
            </p:nvGrpSpPr>
            <p:grpSpPr>
              <a:xfrm>
                <a:off x="4916" y="1726"/>
                <a:ext cx="275" cy="894"/>
                <a:chOff x="4920" y="1790"/>
                <a:chExt cx="275" cy="894"/>
              </a:xfrm>
            </p:grpSpPr>
            <p:sp>
              <p:nvSpPr>
                <p:cNvPr id="302233" name="Text Box 124"/>
                <p:cNvSpPr txBox="1"/>
                <p:nvPr/>
              </p:nvSpPr>
              <p:spPr>
                <a:xfrm>
                  <a:off x="4920" y="1790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写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2234" name="Text Box 125"/>
                <p:cNvSpPr txBox="1"/>
                <p:nvPr/>
              </p:nvSpPr>
              <p:spPr>
                <a:xfrm>
                  <a:off x="4920" y="200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2235" name="Text Box 126"/>
                <p:cNvSpPr txBox="1"/>
                <p:nvPr/>
              </p:nvSpPr>
              <p:spPr>
                <a:xfrm>
                  <a:off x="4920" y="2219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2236" name="Text Box 127"/>
                <p:cNvSpPr txBox="1"/>
                <p:nvPr/>
              </p:nvSpPr>
              <p:spPr>
                <a:xfrm>
                  <a:off x="4920" y="243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2220" name="Group 128"/>
              <p:cNvGrpSpPr/>
              <p:nvPr/>
            </p:nvGrpSpPr>
            <p:grpSpPr>
              <a:xfrm>
                <a:off x="5372" y="1505"/>
                <a:ext cx="275" cy="880"/>
                <a:chOff x="5394" y="1612"/>
                <a:chExt cx="275" cy="880"/>
              </a:xfrm>
            </p:grpSpPr>
            <p:sp>
              <p:nvSpPr>
                <p:cNvPr id="302229" name="Text Box 129"/>
                <p:cNvSpPr txBox="1"/>
                <p:nvPr/>
              </p:nvSpPr>
              <p:spPr>
                <a:xfrm>
                  <a:off x="5394" y="161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2230" name="Text Box 130"/>
                <p:cNvSpPr txBox="1"/>
                <p:nvPr/>
              </p:nvSpPr>
              <p:spPr>
                <a:xfrm>
                  <a:off x="5394" y="182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2231" name="Text Box 131"/>
                <p:cNvSpPr txBox="1"/>
                <p:nvPr/>
              </p:nvSpPr>
              <p:spPr>
                <a:xfrm>
                  <a:off x="5394" y="203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2232" name="Text Box 132"/>
                <p:cNvSpPr txBox="1"/>
                <p:nvPr/>
              </p:nvSpPr>
              <p:spPr>
                <a:xfrm>
                  <a:off x="5394" y="224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2221" name="Group 133"/>
              <p:cNvGrpSpPr/>
              <p:nvPr/>
            </p:nvGrpSpPr>
            <p:grpSpPr>
              <a:xfrm>
                <a:off x="3320" y="915"/>
                <a:ext cx="371" cy="2173"/>
                <a:chOff x="3324" y="979"/>
                <a:chExt cx="371" cy="2173"/>
              </a:xfrm>
            </p:grpSpPr>
            <p:sp>
              <p:nvSpPr>
                <p:cNvPr id="302225" name="Text Box 134"/>
                <p:cNvSpPr txBox="1"/>
                <p:nvPr/>
              </p:nvSpPr>
              <p:spPr>
                <a:xfrm>
                  <a:off x="3324" y="97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2226" name="Text Box 135"/>
                <p:cNvSpPr txBox="1"/>
                <p:nvPr/>
              </p:nvSpPr>
              <p:spPr>
                <a:xfrm>
                  <a:off x="3324" y="1507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2227" name="Text Box 136"/>
                <p:cNvSpPr txBox="1"/>
                <p:nvPr/>
              </p:nvSpPr>
              <p:spPr>
                <a:xfrm>
                  <a:off x="3324" y="240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2228" name="Text Box 137"/>
                <p:cNvSpPr txBox="1"/>
                <p:nvPr/>
              </p:nvSpPr>
              <p:spPr>
                <a:xfrm>
                  <a:off x="3324" y="2784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2222" name="Text Box 138"/>
              <p:cNvSpPr txBox="1"/>
              <p:nvPr/>
            </p:nvSpPr>
            <p:spPr>
              <a:xfrm rot="5400000">
                <a:off x="916" y="197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223" name="Text Box 139"/>
              <p:cNvSpPr txBox="1"/>
              <p:nvPr/>
            </p:nvSpPr>
            <p:spPr>
              <a:xfrm>
                <a:off x="1656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2224" name="Text Box 140"/>
              <p:cNvSpPr txBox="1"/>
              <p:nvPr/>
            </p:nvSpPr>
            <p:spPr>
              <a:xfrm>
                <a:off x="3350" y="3312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02083" name="Group 141"/>
          <p:cNvGrpSpPr/>
          <p:nvPr/>
        </p:nvGrpSpPr>
        <p:grpSpPr>
          <a:xfrm>
            <a:off x="3357563" y="3711575"/>
            <a:ext cx="5791200" cy="646113"/>
            <a:chOff x="1155" y="2338"/>
            <a:chExt cx="3648" cy="407"/>
          </a:xfrm>
        </p:grpSpPr>
        <p:sp>
          <p:nvSpPr>
            <p:cNvPr id="302111" name="Freeform 142"/>
            <p:cNvSpPr/>
            <p:nvPr/>
          </p:nvSpPr>
          <p:spPr>
            <a:xfrm>
              <a:off x="1155" y="2740"/>
              <a:ext cx="3648" cy="5"/>
            </a:xfrm>
            <a:custGeom>
              <a:avLst/>
              <a:gdLst>
                <a:gd name="txL" fmla="*/ 0 w 3648"/>
                <a:gd name="txT" fmla="*/ 0 h 5"/>
                <a:gd name="txR" fmla="*/ 3648 w 3648"/>
                <a:gd name="txB" fmla="*/ 5 h 5"/>
              </a:gdLst>
              <a:ahLst/>
              <a:cxnLst>
                <a:cxn ang="0">
                  <a:pos x="0" y="0"/>
                </a:cxn>
                <a:cxn ang="0">
                  <a:pos x="3648" y="5"/>
                </a:cxn>
              </a:cxnLst>
              <a:rect l="txL" t="txT" r="txR" b="txB"/>
              <a:pathLst>
                <a:path w="3648" h="5">
                  <a:moveTo>
                    <a:pt x="0" y="0"/>
                  </a:moveTo>
                  <a:lnTo>
                    <a:pt x="3648" y="5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2112" name="Line 143"/>
            <p:cNvSpPr/>
            <p:nvPr/>
          </p:nvSpPr>
          <p:spPr>
            <a:xfrm rot="10800000">
              <a:off x="1788" y="2656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2113" name="Line 144"/>
            <p:cNvSpPr/>
            <p:nvPr/>
          </p:nvSpPr>
          <p:spPr>
            <a:xfrm rot="10800000">
              <a:off x="2725" y="2658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2114" name="Freeform 145"/>
            <p:cNvSpPr/>
            <p:nvPr/>
          </p:nvSpPr>
          <p:spPr>
            <a:xfrm>
              <a:off x="4350" y="2657"/>
              <a:ext cx="1" cy="79"/>
            </a:xfrm>
            <a:custGeom>
              <a:avLst/>
              <a:gdLst>
                <a:gd name="txL" fmla="*/ 0 w 1"/>
                <a:gd name="txT" fmla="*/ 0 h 79"/>
                <a:gd name="txR" fmla="*/ 1 w 1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" y="0"/>
                </a:cxn>
              </a:cxnLst>
              <a:rect l="txL" t="txT" r="txR" b="txB"/>
              <a:pathLst>
                <a:path w="1" h="79">
                  <a:moveTo>
                    <a:pt x="0" y="79"/>
                  </a:moveTo>
                  <a:lnTo>
                    <a:pt x="1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2115" name="Rectangle 146"/>
            <p:cNvSpPr/>
            <p:nvPr/>
          </p:nvSpPr>
          <p:spPr>
            <a:xfrm>
              <a:off x="1615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2116" name="Rectangle 147"/>
            <p:cNvSpPr/>
            <p:nvPr/>
          </p:nvSpPr>
          <p:spPr>
            <a:xfrm>
              <a:off x="2546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2117" name="Rectangle 148"/>
            <p:cNvSpPr/>
            <p:nvPr/>
          </p:nvSpPr>
          <p:spPr>
            <a:xfrm>
              <a:off x="4178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2118" name="Text Box 149"/>
            <p:cNvSpPr txBox="1"/>
            <p:nvPr/>
          </p:nvSpPr>
          <p:spPr>
            <a:xfrm>
              <a:off x="3320" y="2338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2084" name="Group 150"/>
          <p:cNvGrpSpPr/>
          <p:nvPr/>
        </p:nvGrpSpPr>
        <p:grpSpPr>
          <a:xfrm>
            <a:off x="9170988" y="4808538"/>
            <a:ext cx="628650" cy="460094"/>
            <a:chOff x="4775" y="2954"/>
            <a:chExt cx="384" cy="318"/>
          </a:xfrm>
        </p:grpSpPr>
        <p:sp>
          <p:nvSpPr>
            <p:cNvPr id="302109" name="Line 151"/>
            <p:cNvSpPr/>
            <p:nvPr/>
          </p:nvSpPr>
          <p:spPr>
            <a:xfrm>
              <a:off x="4775" y="3264"/>
              <a:ext cx="384" cy="0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02110" name="Text Box 152"/>
            <p:cNvSpPr txBox="1"/>
            <p:nvPr/>
          </p:nvSpPr>
          <p:spPr>
            <a:xfrm>
              <a:off x="4861" y="2954"/>
              <a:ext cx="24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2085" name="Group 153"/>
          <p:cNvGrpSpPr/>
          <p:nvPr/>
        </p:nvGrpSpPr>
        <p:grpSpPr>
          <a:xfrm>
            <a:off x="1865313" y="1819275"/>
            <a:ext cx="360312" cy="3365215"/>
            <a:chOff x="300" y="720"/>
            <a:chExt cx="220" cy="2329"/>
          </a:xfrm>
        </p:grpSpPr>
        <p:sp>
          <p:nvSpPr>
            <p:cNvPr id="302104" name="Text Box 154"/>
            <p:cNvSpPr txBox="1"/>
            <p:nvPr/>
          </p:nvSpPr>
          <p:spPr>
            <a:xfrm>
              <a:off x="300" y="720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2105" name="Text Box 155"/>
            <p:cNvSpPr txBox="1"/>
            <p:nvPr/>
          </p:nvSpPr>
          <p:spPr>
            <a:xfrm>
              <a:off x="300" y="1212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2106" name="Text Box 156"/>
            <p:cNvSpPr txBox="1"/>
            <p:nvPr/>
          </p:nvSpPr>
          <p:spPr>
            <a:xfrm>
              <a:off x="300" y="1705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2107" name="Text Box 157"/>
            <p:cNvSpPr txBox="1"/>
            <p:nvPr/>
          </p:nvSpPr>
          <p:spPr>
            <a:xfrm>
              <a:off x="300" y="2196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2108" name="Text Box 158"/>
            <p:cNvSpPr txBox="1"/>
            <p:nvPr/>
          </p:nvSpPr>
          <p:spPr>
            <a:xfrm>
              <a:off x="300" y="2688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2086" name="Group 159"/>
          <p:cNvGrpSpPr/>
          <p:nvPr/>
        </p:nvGrpSpPr>
        <p:grpSpPr>
          <a:xfrm>
            <a:off x="3505200" y="6138863"/>
            <a:ext cx="5152976" cy="522004"/>
            <a:chOff x="1452" y="3984"/>
            <a:chExt cx="3148" cy="361"/>
          </a:xfrm>
        </p:grpSpPr>
        <p:sp>
          <p:nvSpPr>
            <p:cNvPr id="302099" name="Text Box 160"/>
            <p:cNvSpPr txBox="1"/>
            <p:nvPr/>
          </p:nvSpPr>
          <p:spPr>
            <a:xfrm>
              <a:off x="1452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2100" name="Text Box 161"/>
            <p:cNvSpPr txBox="1"/>
            <p:nvPr/>
          </p:nvSpPr>
          <p:spPr>
            <a:xfrm>
              <a:off x="4380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2101" name="Text Box 162"/>
            <p:cNvSpPr txBox="1"/>
            <p:nvPr/>
          </p:nvSpPr>
          <p:spPr>
            <a:xfrm>
              <a:off x="3648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2102" name="Text Box 163"/>
            <p:cNvSpPr txBox="1"/>
            <p:nvPr/>
          </p:nvSpPr>
          <p:spPr>
            <a:xfrm>
              <a:off x="2917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2103" name="Text Box 164"/>
            <p:cNvSpPr txBox="1"/>
            <p:nvPr/>
          </p:nvSpPr>
          <p:spPr>
            <a:xfrm>
              <a:off x="2186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2087" name="Group 165"/>
          <p:cNvGrpSpPr/>
          <p:nvPr/>
        </p:nvGrpSpPr>
        <p:grpSpPr>
          <a:xfrm>
            <a:off x="5675313" y="5429250"/>
            <a:ext cx="344487" cy="398463"/>
            <a:chOff x="2611" y="3425"/>
            <a:chExt cx="217" cy="251"/>
          </a:xfrm>
        </p:grpSpPr>
        <p:sp>
          <p:nvSpPr>
            <p:cNvPr id="302097" name="Text Box 166"/>
            <p:cNvSpPr txBox="1"/>
            <p:nvPr/>
          </p:nvSpPr>
          <p:spPr>
            <a:xfrm>
              <a:off x="2611" y="342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2098" name="Freeform 167"/>
            <p:cNvSpPr/>
            <p:nvPr/>
          </p:nvSpPr>
          <p:spPr>
            <a:xfrm>
              <a:off x="2827" y="3430"/>
              <a:ext cx="1" cy="227"/>
            </a:xfrm>
            <a:custGeom>
              <a:avLst/>
              <a:gdLst>
                <a:gd name="txL" fmla="*/ 0 w 1"/>
                <a:gd name="txT" fmla="*/ 0 h 227"/>
                <a:gd name="txR" fmla="*/ 1 w 1"/>
                <a:gd name="txB" fmla="*/ 227 h 227"/>
              </a:gdLst>
              <a:ahLst/>
              <a:cxnLst>
                <a:cxn ang="0">
                  <a:pos x="0" y="0"/>
                </a:cxn>
                <a:cxn ang="0">
                  <a:pos x="0" y="227"/>
                </a:cxn>
              </a:cxnLst>
              <a:rect l="txL" t="txT" r="txR" b="txB"/>
              <a:pathLst>
                <a:path w="1" h="227">
                  <a:moveTo>
                    <a:pt x="0" y="0"/>
                  </a:moveTo>
                  <a:lnTo>
                    <a:pt x="0" y="227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37736" name="Rectangle 16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2089" name="Text Box 169"/>
          <p:cNvSpPr txBox="1"/>
          <p:nvPr/>
        </p:nvSpPr>
        <p:spPr>
          <a:xfrm>
            <a:off x="1828800" y="228600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三管动态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en-US" altLang="zh-CN" sz="3200" b="1" dirty="0">
                <a:latin typeface="Times New Roman" panose="02020603050405020304" pitchFamily="18" charset="0"/>
              </a:rPr>
              <a:t>(Intel 1103)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7738" name="Rectangle 170"/>
          <p:cNvSpPr/>
          <p:nvPr/>
        </p:nvSpPr>
        <p:spPr>
          <a:xfrm>
            <a:off x="3435350" y="5029200"/>
            <a:ext cx="5735638" cy="415925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读  写  控  制  电  路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02091" name="Group 171"/>
          <p:cNvGrpSpPr/>
          <p:nvPr/>
        </p:nvGrpSpPr>
        <p:grpSpPr>
          <a:xfrm>
            <a:off x="5570538" y="1719263"/>
            <a:ext cx="793750" cy="2058987"/>
            <a:chOff x="2549" y="1083"/>
            <a:chExt cx="500" cy="1297"/>
          </a:xfrm>
        </p:grpSpPr>
        <p:sp>
          <p:nvSpPr>
            <p:cNvPr id="302094" name="Rectangle 172"/>
            <p:cNvSpPr/>
            <p:nvPr/>
          </p:nvSpPr>
          <p:spPr>
            <a:xfrm>
              <a:off x="2549" y="1083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2095" name="Rectangle 173"/>
            <p:cNvSpPr/>
            <p:nvPr/>
          </p:nvSpPr>
          <p:spPr>
            <a:xfrm>
              <a:off x="2549" y="1636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2096" name="Text Box 174"/>
            <p:cNvSpPr txBox="1"/>
            <p:nvPr/>
          </p:nvSpPr>
          <p:spPr>
            <a:xfrm>
              <a:off x="2585" y="1972"/>
              <a:ext cx="464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2092" name="AutoShape 175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209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738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303106" name="Group 2"/>
          <p:cNvGrpSpPr/>
          <p:nvPr/>
        </p:nvGrpSpPr>
        <p:grpSpPr>
          <a:xfrm>
            <a:off x="1524000" y="1295400"/>
            <a:ext cx="9142413" cy="5440363"/>
            <a:chOff x="0" y="816"/>
            <a:chExt cx="5759" cy="3427"/>
          </a:xfrm>
        </p:grpSpPr>
        <p:grpSp>
          <p:nvGrpSpPr>
            <p:cNvPr id="303145" name="Group 3"/>
            <p:cNvGrpSpPr/>
            <p:nvPr/>
          </p:nvGrpSpPr>
          <p:grpSpPr>
            <a:xfrm>
              <a:off x="0" y="1094"/>
              <a:ext cx="462" cy="251"/>
              <a:chOff x="0" y="933"/>
              <a:chExt cx="462" cy="251"/>
            </a:xfrm>
          </p:grpSpPr>
          <p:sp>
            <p:nvSpPr>
              <p:cNvPr id="303281" name="Line 4"/>
              <p:cNvSpPr/>
              <p:nvPr/>
            </p:nvSpPr>
            <p:spPr>
              <a:xfrm>
                <a:off x="214" y="991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3282" name="Text Box 5"/>
              <p:cNvSpPr txBox="1"/>
              <p:nvPr/>
            </p:nvSpPr>
            <p:spPr>
              <a:xfrm>
                <a:off x="0" y="9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3146" name="Group 6"/>
            <p:cNvGrpSpPr/>
            <p:nvPr/>
          </p:nvGrpSpPr>
          <p:grpSpPr>
            <a:xfrm>
              <a:off x="16" y="1540"/>
              <a:ext cx="446" cy="251"/>
              <a:chOff x="16" y="1371"/>
              <a:chExt cx="446" cy="251"/>
            </a:xfrm>
          </p:grpSpPr>
          <p:sp>
            <p:nvSpPr>
              <p:cNvPr id="303279" name="Line 7"/>
              <p:cNvSpPr/>
              <p:nvPr/>
            </p:nvSpPr>
            <p:spPr>
              <a:xfrm>
                <a:off x="214" y="1439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3280" name="Text Box 8"/>
              <p:cNvSpPr txBox="1"/>
              <p:nvPr/>
            </p:nvSpPr>
            <p:spPr>
              <a:xfrm>
                <a:off x="16" y="137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3147" name="Group 9"/>
            <p:cNvGrpSpPr/>
            <p:nvPr/>
          </p:nvGrpSpPr>
          <p:grpSpPr>
            <a:xfrm>
              <a:off x="16" y="1987"/>
              <a:ext cx="446" cy="251"/>
              <a:chOff x="16" y="1809"/>
              <a:chExt cx="446" cy="251"/>
            </a:xfrm>
          </p:grpSpPr>
          <p:sp>
            <p:nvSpPr>
              <p:cNvPr id="303277" name="Line 10"/>
              <p:cNvSpPr/>
              <p:nvPr/>
            </p:nvSpPr>
            <p:spPr>
              <a:xfrm>
                <a:off x="214" y="1886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3278" name="Text Box 11"/>
              <p:cNvSpPr txBox="1"/>
              <p:nvPr/>
            </p:nvSpPr>
            <p:spPr>
              <a:xfrm>
                <a:off x="16" y="1809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3148" name="Group 12"/>
            <p:cNvGrpSpPr/>
            <p:nvPr/>
          </p:nvGrpSpPr>
          <p:grpSpPr>
            <a:xfrm>
              <a:off x="16" y="2433"/>
              <a:ext cx="446" cy="251"/>
              <a:chOff x="16" y="2276"/>
              <a:chExt cx="446" cy="251"/>
            </a:xfrm>
          </p:grpSpPr>
          <p:sp>
            <p:nvSpPr>
              <p:cNvPr id="303275" name="Line 13"/>
              <p:cNvSpPr/>
              <p:nvPr/>
            </p:nvSpPr>
            <p:spPr>
              <a:xfrm>
                <a:off x="214" y="2334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3276" name="Text Box 14"/>
              <p:cNvSpPr txBox="1"/>
              <p:nvPr/>
            </p:nvSpPr>
            <p:spPr>
              <a:xfrm>
                <a:off x="16" y="2276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3149" name="Group 15"/>
            <p:cNvGrpSpPr/>
            <p:nvPr/>
          </p:nvGrpSpPr>
          <p:grpSpPr>
            <a:xfrm>
              <a:off x="16" y="2880"/>
              <a:ext cx="446" cy="251"/>
              <a:chOff x="16" y="2725"/>
              <a:chExt cx="446" cy="251"/>
            </a:xfrm>
          </p:grpSpPr>
          <p:sp>
            <p:nvSpPr>
              <p:cNvPr id="303273" name="Line 16"/>
              <p:cNvSpPr/>
              <p:nvPr/>
            </p:nvSpPr>
            <p:spPr>
              <a:xfrm>
                <a:off x="214" y="2782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3274" name="Text Box 17"/>
              <p:cNvSpPr txBox="1"/>
              <p:nvPr/>
            </p:nvSpPr>
            <p:spPr>
              <a:xfrm>
                <a:off x="16" y="27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3150" name="Group 18"/>
            <p:cNvGrpSpPr/>
            <p:nvPr/>
          </p:nvGrpSpPr>
          <p:grpSpPr>
            <a:xfrm>
              <a:off x="462" y="816"/>
              <a:ext cx="5297" cy="3427"/>
              <a:chOff x="462" y="816"/>
              <a:chExt cx="5297" cy="3427"/>
            </a:xfrm>
          </p:grpSpPr>
          <p:sp>
            <p:nvSpPr>
              <p:cNvPr id="303151" name="Rectangle 19"/>
              <p:cNvSpPr/>
              <p:nvPr/>
            </p:nvSpPr>
            <p:spPr>
              <a:xfrm>
                <a:off x="462" y="816"/>
                <a:ext cx="693" cy="248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52" name="Freeform 20"/>
              <p:cNvSpPr/>
              <p:nvPr/>
            </p:nvSpPr>
            <p:spPr>
              <a:xfrm>
                <a:off x="1155" y="991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53" name="Rectangle 21"/>
              <p:cNvSpPr/>
              <p:nvPr/>
            </p:nvSpPr>
            <p:spPr>
              <a:xfrm>
                <a:off x="1615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54" name="Freeform 22"/>
              <p:cNvSpPr/>
              <p:nvPr/>
            </p:nvSpPr>
            <p:spPr>
              <a:xfrm>
                <a:off x="4351" y="991"/>
                <a:ext cx="1" cy="79"/>
              </a:xfrm>
              <a:custGeom>
                <a:avLst/>
                <a:gdLst>
                  <a:gd name="txL" fmla="*/ 0 w 1"/>
                  <a:gd name="txT" fmla="*/ 0 h 87"/>
                  <a:gd name="txR" fmla="*/ 1 w 1"/>
                  <a:gd name="txB" fmla="*/ 87 h 87"/>
                </a:gdLst>
                <a:ahLst/>
                <a:cxnLst>
                  <a:cxn ang="0">
                    <a:pos x="0" y="0"/>
                  </a:cxn>
                  <a:cxn ang="0">
                    <a:pos x="0" y="87"/>
                  </a:cxn>
                </a:cxnLst>
                <a:rect l="txL" t="txT" r="txR" b="txB"/>
                <a:pathLst>
                  <a:path w="1" h="87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55" name="Freeform 23"/>
              <p:cNvSpPr/>
              <p:nvPr/>
            </p:nvSpPr>
            <p:spPr>
              <a:xfrm>
                <a:off x="1155" y="1295"/>
                <a:ext cx="3659" cy="3"/>
              </a:xfrm>
              <a:custGeom>
                <a:avLst/>
                <a:gdLst>
                  <a:gd name="txL" fmla="*/ 0 w 3659"/>
                  <a:gd name="txT" fmla="*/ 0 h 3"/>
                  <a:gd name="txR" fmla="*/ 3659 w 3659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3659" y="3"/>
                  </a:cxn>
                </a:cxnLst>
                <a:rect l="txL" t="txT" r="txR" b="txB"/>
                <a:pathLst>
                  <a:path w="3659" h="3">
                    <a:moveTo>
                      <a:pt x="0" y="0"/>
                    </a:moveTo>
                    <a:lnTo>
                      <a:pt x="365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56" name="Freeform 24"/>
              <p:cNvSpPr/>
              <p:nvPr/>
            </p:nvSpPr>
            <p:spPr>
              <a:xfrm>
                <a:off x="2727" y="987"/>
                <a:ext cx="1" cy="86"/>
              </a:xfrm>
              <a:custGeom>
                <a:avLst/>
                <a:gdLst>
                  <a:gd name="txL" fmla="*/ 0 w 1"/>
                  <a:gd name="txT" fmla="*/ 0 h 86"/>
                  <a:gd name="txR" fmla="*/ 1 w 1"/>
                  <a:gd name="txB" fmla="*/ 86 h 86"/>
                </a:gdLst>
                <a:ahLst/>
                <a:cxnLst>
                  <a:cxn ang="0">
                    <a:pos x="0" y="0"/>
                  </a:cxn>
                  <a:cxn ang="0">
                    <a:pos x="1" y="86"/>
                  </a:cxn>
                </a:cxnLst>
                <a:rect l="txL" t="txT" r="txR" b="txB"/>
                <a:pathLst>
                  <a:path w="1" h="86">
                    <a:moveTo>
                      <a:pt x="0" y="0"/>
                    </a:moveTo>
                    <a:lnTo>
                      <a:pt x="1" y="8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57" name="Freeform 25"/>
              <p:cNvSpPr/>
              <p:nvPr/>
            </p:nvSpPr>
            <p:spPr>
              <a:xfrm>
                <a:off x="1791" y="985"/>
                <a:ext cx="1" cy="92"/>
              </a:xfrm>
              <a:custGeom>
                <a:avLst/>
                <a:gdLst>
                  <a:gd name="txL" fmla="*/ 0 w 1"/>
                  <a:gd name="txT" fmla="*/ 0 h 92"/>
                  <a:gd name="txR" fmla="*/ 1 w 1"/>
                  <a:gd name="txB" fmla="*/ 92 h 92"/>
                </a:gdLst>
                <a:ahLst/>
                <a:cxnLst>
                  <a:cxn ang="0">
                    <a:pos x="0" y="0"/>
                  </a:cxn>
                  <a:cxn ang="0">
                    <a:pos x="0" y="92"/>
                  </a:cxn>
                </a:cxnLst>
                <a:rect l="txL" t="txT" r="txR" b="tx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58" name="Freeform 26"/>
              <p:cNvSpPr/>
              <p:nvPr/>
            </p:nvSpPr>
            <p:spPr>
              <a:xfrm>
                <a:off x="1788" y="1212"/>
                <a:ext cx="1" cy="85"/>
              </a:xfrm>
              <a:custGeom>
                <a:avLst/>
                <a:gdLst>
                  <a:gd name="txL" fmla="*/ 0 w 1"/>
                  <a:gd name="txT" fmla="*/ 0 h 93"/>
                  <a:gd name="txR" fmla="*/ 1 w 1"/>
                  <a:gd name="txB" fmla="*/ 93 h 93"/>
                </a:gdLst>
                <a:ahLst/>
                <a:cxnLst>
                  <a:cxn ang="0">
                    <a:pos x="0" y="93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3">
                    <a:moveTo>
                      <a:pt x="0" y="9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59" name="Freeform 27"/>
              <p:cNvSpPr/>
              <p:nvPr/>
            </p:nvSpPr>
            <p:spPr>
              <a:xfrm>
                <a:off x="2736" y="1200"/>
                <a:ext cx="3" cy="95"/>
              </a:xfrm>
              <a:custGeom>
                <a:avLst/>
                <a:gdLst>
                  <a:gd name="txL" fmla="*/ 0 w 3"/>
                  <a:gd name="txT" fmla="*/ 0 h 105"/>
                  <a:gd name="txR" fmla="*/ 3 w 3"/>
                  <a:gd name="txB" fmla="*/ 105 h 105"/>
                </a:gdLst>
                <a:ahLst/>
                <a:cxnLst>
                  <a:cxn ang="0">
                    <a:pos x="0" y="105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105">
                    <a:moveTo>
                      <a:pt x="0" y="105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60" name="Line 28"/>
              <p:cNvSpPr/>
              <p:nvPr/>
            </p:nvSpPr>
            <p:spPr>
              <a:xfrm rot="10800000">
                <a:off x="4351" y="121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61" name="Freeform 29"/>
              <p:cNvSpPr/>
              <p:nvPr/>
            </p:nvSpPr>
            <p:spPr>
              <a:xfrm>
                <a:off x="1155" y="1559"/>
                <a:ext cx="3653" cy="1"/>
              </a:xfrm>
              <a:custGeom>
                <a:avLst/>
                <a:gdLst>
                  <a:gd name="txL" fmla="*/ 0 w 3543"/>
                  <a:gd name="txT" fmla="*/ 0 h 1"/>
                  <a:gd name="txR" fmla="*/ 3543 w 35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43" y="0"/>
                  </a:cxn>
                </a:cxnLst>
                <a:rect l="txL" t="txT" r="txR" b="txB"/>
                <a:pathLst>
                  <a:path w="3543" h="1">
                    <a:moveTo>
                      <a:pt x="0" y="0"/>
                    </a:moveTo>
                    <a:lnTo>
                      <a:pt x="354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62" name="Line 30"/>
              <p:cNvSpPr/>
              <p:nvPr/>
            </p:nvSpPr>
            <p:spPr>
              <a:xfrm>
                <a:off x="4351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63" name="Freeform 31"/>
              <p:cNvSpPr/>
              <p:nvPr/>
            </p:nvSpPr>
            <p:spPr>
              <a:xfrm>
                <a:off x="1155" y="1863"/>
                <a:ext cx="3656" cy="1"/>
              </a:xfrm>
              <a:custGeom>
                <a:avLst/>
                <a:gdLst>
                  <a:gd name="txL" fmla="*/ 0 w 3546"/>
                  <a:gd name="txT" fmla="*/ 0 h 2"/>
                  <a:gd name="txR" fmla="*/ 3546 w 354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3546" y="2"/>
                  </a:cxn>
                </a:cxnLst>
                <a:rect l="txL" t="txT" r="txR" b="txB"/>
                <a:pathLst>
                  <a:path w="3546" h="2">
                    <a:moveTo>
                      <a:pt x="0" y="0"/>
                    </a:moveTo>
                    <a:lnTo>
                      <a:pt x="354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64" name="Line 32"/>
              <p:cNvSpPr/>
              <p:nvPr/>
            </p:nvSpPr>
            <p:spPr>
              <a:xfrm>
                <a:off x="2725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65" name="Line 33"/>
              <p:cNvSpPr/>
              <p:nvPr/>
            </p:nvSpPr>
            <p:spPr>
              <a:xfrm>
                <a:off x="1788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66" name="Line 34"/>
              <p:cNvSpPr/>
              <p:nvPr/>
            </p:nvSpPr>
            <p:spPr>
              <a:xfrm rot="10800000">
                <a:off x="1788" y="177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67" name="Line 35"/>
              <p:cNvSpPr/>
              <p:nvPr/>
            </p:nvSpPr>
            <p:spPr>
              <a:xfrm rot="10800000">
                <a:off x="2725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68" name="Line 36"/>
              <p:cNvSpPr/>
              <p:nvPr/>
            </p:nvSpPr>
            <p:spPr>
              <a:xfrm rot="10800000">
                <a:off x="4351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69" name="Freeform 37"/>
              <p:cNvSpPr/>
              <p:nvPr/>
            </p:nvSpPr>
            <p:spPr>
              <a:xfrm>
                <a:off x="1155" y="2432"/>
                <a:ext cx="3675" cy="1"/>
              </a:xfrm>
              <a:custGeom>
                <a:avLst/>
                <a:gdLst>
                  <a:gd name="txL" fmla="*/ 0 w 3564"/>
                  <a:gd name="txT" fmla="*/ 0 h 1"/>
                  <a:gd name="txR" fmla="*/ 3564 w 356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64" y="0"/>
                  </a:cxn>
                </a:cxnLst>
                <a:rect l="txL" t="txT" r="txR" b="txB"/>
                <a:pathLst>
                  <a:path w="3564" h="1">
                    <a:moveTo>
                      <a:pt x="0" y="0"/>
                    </a:moveTo>
                    <a:lnTo>
                      <a:pt x="356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70" name="Line 38"/>
              <p:cNvSpPr/>
              <p:nvPr/>
            </p:nvSpPr>
            <p:spPr>
              <a:xfrm>
                <a:off x="4351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71" name="Freeform 39"/>
              <p:cNvSpPr/>
              <p:nvPr/>
            </p:nvSpPr>
            <p:spPr>
              <a:xfrm>
                <a:off x="1155" y="2736"/>
                <a:ext cx="3647" cy="1"/>
              </a:xfrm>
              <a:custGeom>
                <a:avLst/>
                <a:gdLst>
                  <a:gd name="txL" fmla="*/ 0 w 3647"/>
                  <a:gd name="txT" fmla="*/ 0 h 1"/>
                  <a:gd name="txR" fmla="*/ 3647 w 364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647" y="1"/>
                  </a:cxn>
                </a:cxnLst>
                <a:rect l="txL" t="txT" r="txR" b="txB"/>
                <a:pathLst>
                  <a:path w="3647" h="1">
                    <a:moveTo>
                      <a:pt x="0" y="0"/>
                    </a:moveTo>
                    <a:lnTo>
                      <a:pt x="364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72" name="Line 40"/>
              <p:cNvSpPr/>
              <p:nvPr/>
            </p:nvSpPr>
            <p:spPr>
              <a:xfrm>
                <a:off x="2725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73" name="Line 41"/>
              <p:cNvSpPr/>
              <p:nvPr/>
            </p:nvSpPr>
            <p:spPr>
              <a:xfrm>
                <a:off x="1788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74" name="Line 42"/>
              <p:cNvSpPr/>
              <p:nvPr/>
            </p:nvSpPr>
            <p:spPr>
              <a:xfrm rot="10800000">
                <a:off x="1788" y="2652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75" name="Line 43"/>
              <p:cNvSpPr/>
              <p:nvPr/>
            </p:nvSpPr>
            <p:spPr>
              <a:xfrm rot="10800000">
                <a:off x="2725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76" name="Line 44"/>
              <p:cNvSpPr/>
              <p:nvPr/>
            </p:nvSpPr>
            <p:spPr>
              <a:xfrm rot="10800000">
                <a:off x="4351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77" name="AutoShape 45"/>
              <p:cNvSpPr/>
              <p:nvPr/>
            </p:nvSpPr>
            <p:spPr>
              <a:xfrm rot="-5400000">
                <a:off x="1683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78" name="Freeform 46"/>
              <p:cNvSpPr/>
              <p:nvPr/>
            </p:nvSpPr>
            <p:spPr>
              <a:xfrm>
                <a:off x="1416" y="1148"/>
                <a:ext cx="198" cy="2026"/>
              </a:xfrm>
              <a:custGeom>
                <a:avLst/>
                <a:gdLst>
                  <a:gd name="txL" fmla="*/ 0 w 198"/>
                  <a:gd name="txT" fmla="*/ 0 h 2026"/>
                  <a:gd name="txR" fmla="*/ 198 w 198"/>
                  <a:gd name="txB" fmla="*/ 2026 h 2026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6" y="2026"/>
                  </a:cxn>
                </a:cxnLst>
                <a:rect l="txL" t="txT" r="txR" b="txB"/>
                <a:pathLst>
                  <a:path w="198" h="2026">
                    <a:moveTo>
                      <a:pt x="198" y="0"/>
                    </a:moveTo>
                    <a:lnTo>
                      <a:pt x="0" y="0"/>
                    </a:lnTo>
                    <a:lnTo>
                      <a:pt x="6" y="202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79" name="Freeform 47"/>
              <p:cNvSpPr/>
              <p:nvPr/>
            </p:nvSpPr>
            <p:spPr>
              <a:xfrm>
                <a:off x="141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80" name="Freeform 48"/>
              <p:cNvSpPr/>
              <p:nvPr/>
            </p:nvSpPr>
            <p:spPr>
              <a:xfrm>
                <a:off x="1422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81" name="Line 49"/>
              <p:cNvSpPr/>
              <p:nvPr/>
            </p:nvSpPr>
            <p:spPr>
              <a:xfrm>
                <a:off x="1419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82" name="Freeform 50"/>
              <p:cNvSpPr/>
              <p:nvPr/>
            </p:nvSpPr>
            <p:spPr>
              <a:xfrm>
                <a:off x="3979" y="1148"/>
                <a:ext cx="198" cy="2023"/>
              </a:xfrm>
              <a:custGeom>
                <a:avLst/>
                <a:gdLst>
                  <a:gd name="txL" fmla="*/ 0 w 198"/>
                  <a:gd name="txT" fmla="*/ 0 h 2023"/>
                  <a:gd name="txR" fmla="*/ 198 w 198"/>
                  <a:gd name="txB" fmla="*/ 2023 h 2023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2" y="2023"/>
                  </a:cxn>
                </a:cxnLst>
                <a:rect l="txL" t="txT" r="txR" b="txB"/>
                <a:pathLst>
                  <a:path w="198" h="2023">
                    <a:moveTo>
                      <a:pt x="198" y="0"/>
                    </a:moveTo>
                    <a:lnTo>
                      <a:pt x="0" y="0"/>
                    </a:lnTo>
                    <a:lnTo>
                      <a:pt x="2" y="202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83" name="Freeform 51"/>
              <p:cNvSpPr/>
              <p:nvPr/>
            </p:nvSpPr>
            <p:spPr>
              <a:xfrm>
                <a:off x="3982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84" name="Freeform 52"/>
              <p:cNvSpPr/>
              <p:nvPr/>
            </p:nvSpPr>
            <p:spPr>
              <a:xfrm>
                <a:off x="3985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85" name="Line 53"/>
              <p:cNvSpPr/>
              <p:nvPr/>
            </p:nvSpPr>
            <p:spPr>
              <a:xfrm>
                <a:off x="3982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86" name="Freeform 54"/>
              <p:cNvSpPr/>
              <p:nvPr/>
            </p:nvSpPr>
            <p:spPr>
              <a:xfrm>
                <a:off x="2347" y="1148"/>
                <a:ext cx="198" cy="2024"/>
              </a:xfrm>
              <a:custGeom>
                <a:avLst/>
                <a:gdLst>
                  <a:gd name="txL" fmla="*/ 0 w 192"/>
                  <a:gd name="txT" fmla="*/ 0 h 2224"/>
                  <a:gd name="txR" fmla="*/ 192 w 192"/>
                  <a:gd name="txB" fmla="*/ 2224 h 2224"/>
                </a:gdLst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2" y="2224"/>
                  </a:cxn>
                </a:cxnLst>
                <a:rect l="txL" t="txT" r="txR" b="txB"/>
                <a:pathLst>
                  <a:path w="192" h="2224">
                    <a:moveTo>
                      <a:pt x="192" y="0"/>
                    </a:moveTo>
                    <a:lnTo>
                      <a:pt x="0" y="0"/>
                    </a:lnTo>
                    <a:lnTo>
                      <a:pt x="2" y="222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87" name="Freeform 55"/>
              <p:cNvSpPr/>
              <p:nvPr/>
            </p:nvSpPr>
            <p:spPr>
              <a:xfrm>
                <a:off x="235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88" name="Freeform 56"/>
              <p:cNvSpPr/>
              <p:nvPr/>
            </p:nvSpPr>
            <p:spPr>
              <a:xfrm>
                <a:off x="2353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89" name="Line 57"/>
              <p:cNvSpPr/>
              <p:nvPr/>
            </p:nvSpPr>
            <p:spPr>
              <a:xfrm>
                <a:off x="2350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3190" name="Freeform 58"/>
              <p:cNvSpPr/>
              <p:nvPr/>
            </p:nvSpPr>
            <p:spPr>
              <a:xfrm>
                <a:off x="1964" y="1135"/>
                <a:ext cx="198" cy="2030"/>
              </a:xfrm>
              <a:custGeom>
                <a:avLst/>
                <a:gdLst>
                  <a:gd name="txL" fmla="*/ 0 w 198"/>
                  <a:gd name="txT" fmla="*/ 0 h 2030"/>
                  <a:gd name="txR" fmla="*/ 198 w 198"/>
                  <a:gd name="txB" fmla="*/ 2030 h 2030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193" y="2030"/>
                  </a:cxn>
                </a:cxnLst>
                <a:rect l="txL" t="txT" r="txR" b="txB"/>
                <a:pathLst>
                  <a:path w="198" h="2030">
                    <a:moveTo>
                      <a:pt x="0" y="0"/>
                    </a:moveTo>
                    <a:lnTo>
                      <a:pt x="198" y="0"/>
                    </a:lnTo>
                    <a:lnTo>
                      <a:pt x="193" y="20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91" name="Freeform 59"/>
              <p:cNvSpPr/>
              <p:nvPr/>
            </p:nvSpPr>
            <p:spPr>
              <a:xfrm rot="10800000">
                <a:off x="195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92" name="Freeform 60"/>
              <p:cNvSpPr/>
              <p:nvPr/>
            </p:nvSpPr>
            <p:spPr>
              <a:xfrm rot="10800000">
                <a:off x="1959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93" name="Freeform 61"/>
              <p:cNvSpPr/>
              <p:nvPr/>
            </p:nvSpPr>
            <p:spPr>
              <a:xfrm>
                <a:off x="1958" y="2957"/>
                <a:ext cx="200" cy="1"/>
              </a:xfrm>
              <a:custGeom>
                <a:avLst/>
                <a:gdLst>
                  <a:gd name="txL" fmla="*/ 0 w 194"/>
                  <a:gd name="txT" fmla="*/ 0 h 1"/>
                  <a:gd name="txR" fmla="*/ 194 w 194"/>
                  <a:gd name="txB" fmla="*/ 1 h 1"/>
                </a:gdLst>
                <a:ahLst/>
                <a:cxnLst>
                  <a:cxn ang="0">
                    <a:pos x="19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4" h="1">
                    <a:moveTo>
                      <a:pt x="19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94" name="Freeform 62"/>
              <p:cNvSpPr/>
              <p:nvPr/>
            </p:nvSpPr>
            <p:spPr>
              <a:xfrm>
                <a:off x="2893" y="1135"/>
                <a:ext cx="199" cy="2047"/>
              </a:xfrm>
              <a:custGeom>
                <a:avLst/>
                <a:gdLst>
                  <a:gd name="txL" fmla="*/ 0 w 193"/>
                  <a:gd name="txT" fmla="*/ 0 h 2250"/>
                  <a:gd name="txR" fmla="*/ 193 w 193"/>
                  <a:gd name="txB" fmla="*/ 2250 h 2250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3" y="2250"/>
                  </a:cxn>
                </a:cxnLst>
                <a:rect l="txL" t="txT" r="txR" b="txB"/>
                <a:pathLst>
                  <a:path w="193" h="2250">
                    <a:moveTo>
                      <a:pt x="0" y="0"/>
                    </a:moveTo>
                    <a:lnTo>
                      <a:pt x="192" y="0"/>
                    </a:lnTo>
                    <a:lnTo>
                      <a:pt x="193" y="22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95" name="Freeform 63"/>
              <p:cNvSpPr/>
              <p:nvPr/>
            </p:nvSpPr>
            <p:spPr>
              <a:xfrm rot="10800000">
                <a:off x="289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96" name="Freeform 64"/>
              <p:cNvSpPr/>
              <p:nvPr/>
            </p:nvSpPr>
            <p:spPr>
              <a:xfrm rot="10800000">
                <a:off x="2890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97" name="Freeform 65"/>
              <p:cNvSpPr/>
              <p:nvPr/>
            </p:nvSpPr>
            <p:spPr>
              <a:xfrm>
                <a:off x="2895" y="2957"/>
                <a:ext cx="194" cy="1"/>
              </a:xfrm>
              <a:custGeom>
                <a:avLst/>
                <a:gdLst>
                  <a:gd name="txL" fmla="*/ 0 w 188"/>
                  <a:gd name="txT" fmla="*/ 0 h 1"/>
                  <a:gd name="txR" fmla="*/ 188 w 188"/>
                  <a:gd name="txB" fmla="*/ 1 h 1"/>
                </a:gdLst>
                <a:ahLst/>
                <a:cxnLst>
                  <a:cxn ang="0">
                    <a:pos x="18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98" name="Freeform 66"/>
              <p:cNvSpPr/>
              <p:nvPr/>
            </p:nvSpPr>
            <p:spPr>
              <a:xfrm>
                <a:off x="4531" y="1135"/>
                <a:ext cx="203" cy="2027"/>
              </a:xfrm>
              <a:custGeom>
                <a:avLst/>
                <a:gdLst>
                  <a:gd name="txL" fmla="*/ 0 w 203"/>
                  <a:gd name="txT" fmla="*/ 0 h 2027"/>
                  <a:gd name="txR" fmla="*/ 203 w 203"/>
                  <a:gd name="txB" fmla="*/ 2027 h 2027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203" y="2027"/>
                  </a:cxn>
                </a:cxnLst>
                <a:rect l="txL" t="txT" r="txR" b="txB"/>
                <a:pathLst>
                  <a:path w="203" h="2027">
                    <a:moveTo>
                      <a:pt x="0" y="0"/>
                    </a:moveTo>
                    <a:lnTo>
                      <a:pt x="198" y="0"/>
                    </a:lnTo>
                    <a:lnTo>
                      <a:pt x="203" y="202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199" name="Freeform 67"/>
              <p:cNvSpPr/>
              <p:nvPr/>
            </p:nvSpPr>
            <p:spPr>
              <a:xfrm rot="10800000">
                <a:off x="4528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00" name="Freeform 68"/>
              <p:cNvSpPr/>
              <p:nvPr/>
            </p:nvSpPr>
            <p:spPr>
              <a:xfrm rot="10800000">
                <a:off x="4528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01" name="Freeform 69"/>
              <p:cNvSpPr/>
              <p:nvPr/>
            </p:nvSpPr>
            <p:spPr>
              <a:xfrm rot="10800000">
                <a:off x="4524" y="295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02" name="Rectangle 70"/>
              <p:cNvSpPr/>
              <p:nvPr/>
            </p:nvSpPr>
            <p:spPr>
              <a:xfrm>
                <a:off x="1204" y="3175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读  写  控  制  电  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03" name="Rectangle 71"/>
              <p:cNvSpPr/>
              <p:nvPr/>
            </p:nvSpPr>
            <p:spPr>
              <a:xfrm>
                <a:off x="1204" y="3656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bIns="0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  地  址  译  码 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04" name="Text Box 72"/>
              <p:cNvSpPr txBox="1"/>
              <p:nvPr/>
            </p:nvSpPr>
            <p:spPr>
              <a:xfrm rot="5400000">
                <a:off x="1671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05" name="Text Box 73"/>
              <p:cNvSpPr txBox="1"/>
              <p:nvPr/>
            </p:nvSpPr>
            <p:spPr>
              <a:xfrm rot="5400000">
                <a:off x="2602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06" name="Text Box 74"/>
              <p:cNvSpPr txBox="1"/>
              <p:nvPr/>
            </p:nvSpPr>
            <p:spPr>
              <a:xfrm rot="5400000">
                <a:off x="4234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07" name="Rectangle 75"/>
              <p:cNvSpPr/>
              <p:nvPr/>
            </p:nvSpPr>
            <p:spPr>
              <a:xfrm>
                <a:off x="1615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08" name="Rectangle 76"/>
              <p:cNvSpPr/>
              <p:nvPr/>
            </p:nvSpPr>
            <p:spPr>
              <a:xfrm>
                <a:off x="1615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09" name="Rectangle 77"/>
              <p:cNvSpPr/>
              <p:nvPr/>
            </p:nvSpPr>
            <p:spPr>
              <a:xfrm>
                <a:off x="2546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10" name="Rectangle 78"/>
              <p:cNvSpPr/>
              <p:nvPr/>
            </p:nvSpPr>
            <p:spPr>
              <a:xfrm>
                <a:off x="2546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11" name="Rectangle 79"/>
              <p:cNvSpPr/>
              <p:nvPr/>
            </p:nvSpPr>
            <p:spPr>
              <a:xfrm>
                <a:off x="2546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12" name="Rectangle 80"/>
              <p:cNvSpPr/>
              <p:nvPr/>
            </p:nvSpPr>
            <p:spPr>
              <a:xfrm>
                <a:off x="4178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13" name="Rectangle 81"/>
              <p:cNvSpPr/>
              <p:nvPr/>
            </p:nvSpPr>
            <p:spPr>
              <a:xfrm>
                <a:off x="4178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14" name="Rectangle 82"/>
              <p:cNvSpPr/>
              <p:nvPr/>
            </p:nvSpPr>
            <p:spPr>
              <a:xfrm>
                <a:off x="4178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15" name="AutoShape 83"/>
              <p:cNvSpPr/>
              <p:nvPr/>
            </p:nvSpPr>
            <p:spPr>
              <a:xfrm rot="-5400000">
                <a:off x="2614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16" name="AutoShape 84"/>
              <p:cNvSpPr/>
              <p:nvPr/>
            </p:nvSpPr>
            <p:spPr>
              <a:xfrm rot="-5400000">
                <a:off x="4246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3217" name="Text Box 85"/>
              <p:cNvSpPr txBox="1"/>
              <p:nvPr/>
            </p:nvSpPr>
            <p:spPr>
              <a:xfrm>
                <a:off x="4796" y="86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18" name="Text Box 86"/>
              <p:cNvSpPr txBox="1"/>
              <p:nvPr/>
            </p:nvSpPr>
            <p:spPr>
              <a:xfrm>
                <a:off x="4806" y="115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写选择线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19" name="Line 87"/>
              <p:cNvSpPr/>
              <p:nvPr/>
            </p:nvSpPr>
            <p:spPr>
              <a:xfrm>
                <a:off x="4817" y="3306"/>
                <a:ext cx="3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303220" name="Text Box 88"/>
              <p:cNvSpPr txBox="1"/>
              <p:nvPr/>
            </p:nvSpPr>
            <p:spPr>
              <a:xfrm>
                <a:off x="4906" y="3024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21" name="Text Box 89"/>
              <p:cNvSpPr txBox="1"/>
              <p:nvPr/>
            </p:nvSpPr>
            <p:spPr>
              <a:xfrm>
                <a:off x="3296" y="1929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单元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22" name="Text Box 90"/>
              <p:cNvSpPr txBox="1"/>
              <p:nvPr/>
            </p:nvSpPr>
            <p:spPr>
              <a:xfrm>
                <a:off x="3296" y="21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电路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23" name="Text Box 91"/>
              <p:cNvSpPr txBox="1"/>
              <p:nvPr/>
            </p:nvSpPr>
            <p:spPr>
              <a:xfrm>
                <a:off x="503" y="936"/>
                <a:ext cx="307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24" name="Text Box 92"/>
              <p:cNvSpPr txBox="1"/>
              <p:nvPr/>
            </p:nvSpPr>
            <p:spPr>
              <a:xfrm>
                <a:off x="907" y="86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25" name="Text Box 93"/>
              <p:cNvSpPr txBox="1"/>
              <p:nvPr/>
            </p:nvSpPr>
            <p:spPr>
              <a:xfrm>
                <a:off x="907" y="115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26" name="Text Box 94"/>
              <p:cNvSpPr txBox="1"/>
              <p:nvPr/>
            </p:nvSpPr>
            <p:spPr>
              <a:xfrm>
                <a:off x="907" y="145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27" name="Text Box 95"/>
              <p:cNvSpPr txBox="1"/>
              <p:nvPr/>
            </p:nvSpPr>
            <p:spPr>
              <a:xfrm>
                <a:off x="907" y="176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28" name="Text Box 96"/>
              <p:cNvSpPr txBox="1"/>
              <p:nvPr/>
            </p:nvSpPr>
            <p:spPr>
              <a:xfrm>
                <a:off x="854" y="229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29" name="Text Box 97"/>
              <p:cNvSpPr txBox="1"/>
              <p:nvPr/>
            </p:nvSpPr>
            <p:spPr>
              <a:xfrm>
                <a:off x="858" y="259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30" name="Line 98"/>
              <p:cNvSpPr/>
              <p:nvPr/>
            </p:nvSpPr>
            <p:spPr>
              <a:xfrm>
                <a:off x="1887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3231" name="Line 99"/>
              <p:cNvSpPr/>
              <p:nvPr/>
            </p:nvSpPr>
            <p:spPr>
              <a:xfrm>
                <a:off x="2832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3232" name="Text Box 100"/>
              <p:cNvSpPr txBox="1"/>
              <p:nvPr/>
            </p:nvSpPr>
            <p:spPr>
              <a:xfrm>
                <a:off x="2613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33" name="Line 101"/>
              <p:cNvSpPr/>
              <p:nvPr/>
            </p:nvSpPr>
            <p:spPr>
              <a:xfrm>
                <a:off x="4473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3234" name="Text Box 102"/>
              <p:cNvSpPr txBox="1"/>
              <p:nvPr/>
            </p:nvSpPr>
            <p:spPr>
              <a:xfrm>
                <a:off x="4176" y="342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3235" name="Group 103"/>
              <p:cNvGrpSpPr/>
              <p:nvPr/>
            </p:nvGrpSpPr>
            <p:grpSpPr>
              <a:xfrm>
                <a:off x="1492" y="3918"/>
                <a:ext cx="283" cy="324"/>
                <a:chOff x="1584" y="3918"/>
                <a:chExt cx="283" cy="324"/>
              </a:xfrm>
            </p:grpSpPr>
            <p:sp>
              <p:nvSpPr>
                <p:cNvPr id="303271" name="Line 104"/>
                <p:cNvSpPr/>
                <p:nvPr/>
              </p:nvSpPr>
              <p:spPr>
                <a:xfrm rot="-5400000">
                  <a:off x="149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3272" name="Text Box 105"/>
                <p:cNvSpPr txBox="1"/>
                <p:nvPr/>
              </p:nvSpPr>
              <p:spPr>
                <a:xfrm>
                  <a:off x="1584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3236" name="Group 106"/>
              <p:cNvGrpSpPr/>
              <p:nvPr/>
            </p:nvGrpSpPr>
            <p:grpSpPr>
              <a:xfrm>
                <a:off x="2234" y="3918"/>
                <a:ext cx="284" cy="325"/>
                <a:chOff x="2355" y="3918"/>
                <a:chExt cx="284" cy="325"/>
              </a:xfrm>
            </p:grpSpPr>
            <p:sp>
              <p:nvSpPr>
                <p:cNvPr id="303269" name="Line 107"/>
                <p:cNvSpPr/>
                <p:nvPr/>
              </p:nvSpPr>
              <p:spPr>
                <a:xfrm rot="-5400000">
                  <a:off x="224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3270" name="Text Box 108"/>
                <p:cNvSpPr txBox="1"/>
                <p:nvPr/>
              </p:nvSpPr>
              <p:spPr>
                <a:xfrm>
                  <a:off x="2356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3237" name="Group 109"/>
              <p:cNvGrpSpPr/>
              <p:nvPr/>
            </p:nvGrpSpPr>
            <p:grpSpPr>
              <a:xfrm>
                <a:off x="2978" y="3918"/>
                <a:ext cx="283" cy="325"/>
                <a:chOff x="3102" y="3918"/>
                <a:chExt cx="283" cy="325"/>
              </a:xfrm>
            </p:grpSpPr>
            <p:sp>
              <p:nvSpPr>
                <p:cNvPr id="303267" name="Line 110"/>
                <p:cNvSpPr/>
                <p:nvPr/>
              </p:nvSpPr>
              <p:spPr>
                <a:xfrm rot="-5400000">
                  <a:off x="300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3268" name="Text Box 111"/>
                <p:cNvSpPr txBox="1"/>
                <p:nvPr/>
              </p:nvSpPr>
              <p:spPr>
                <a:xfrm>
                  <a:off x="3102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3238" name="Group 112"/>
              <p:cNvGrpSpPr/>
              <p:nvPr/>
            </p:nvGrpSpPr>
            <p:grpSpPr>
              <a:xfrm>
                <a:off x="3721" y="3918"/>
                <a:ext cx="283" cy="325"/>
                <a:chOff x="3844" y="3918"/>
                <a:chExt cx="283" cy="325"/>
              </a:xfrm>
            </p:grpSpPr>
            <p:sp>
              <p:nvSpPr>
                <p:cNvPr id="303265" name="Line 113"/>
                <p:cNvSpPr/>
                <p:nvPr/>
              </p:nvSpPr>
              <p:spPr>
                <a:xfrm rot="-5400000">
                  <a:off x="375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3266" name="Text Box 114"/>
                <p:cNvSpPr txBox="1"/>
                <p:nvPr/>
              </p:nvSpPr>
              <p:spPr>
                <a:xfrm>
                  <a:off x="3844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3239" name="Group 115"/>
              <p:cNvGrpSpPr/>
              <p:nvPr/>
            </p:nvGrpSpPr>
            <p:grpSpPr>
              <a:xfrm>
                <a:off x="4464" y="3918"/>
                <a:ext cx="283" cy="324"/>
                <a:chOff x="4603" y="3918"/>
                <a:chExt cx="283" cy="324"/>
              </a:xfrm>
            </p:grpSpPr>
            <p:sp>
              <p:nvSpPr>
                <p:cNvPr id="303263" name="Line 116"/>
                <p:cNvSpPr/>
                <p:nvPr/>
              </p:nvSpPr>
              <p:spPr>
                <a:xfrm rot="-5400000">
                  <a:off x="4510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3264" name="Text Box 117"/>
                <p:cNvSpPr txBox="1"/>
                <p:nvPr/>
              </p:nvSpPr>
              <p:spPr>
                <a:xfrm>
                  <a:off x="4603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3240" name="Line 118"/>
              <p:cNvSpPr/>
              <p:nvPr/>
            </p:nvSpPr>
            <p:spPr>
              <a:xfrm>
                <a:off x="2689" y="1690"/>
                <a:ext cx="643" cy="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3241" name="Line 119"/>
              <p:cNvSpPr/>
              <p:nvPr/>
            </p:nvSpPr>
            <p:spPr>
              <a:xfrm>
                <a:off x="3976" y="2039"/>
                <a:ext cx="990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3242" name="Line 120"/>
              <p:cNvSpPr/>
              <p:nvPr/>
            </p:nvSpPr>
            <p:spPr>
              <a:xfrm>
                <a:off x="4718" y="1384"/>
                <a:ext cx="693" cy="1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3243" name="Text Box 121"/>
              <p:cNvSpPr txBox="1"/>
              <p:nvPr/>
            </p:nvSpPr>
            <p:spPr>
              <a:xfrm>
                <a:off x="4844" y="2728"/>
                <a:ext cx="9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刷新放大器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44" name="Line 122"/>
              <p:cNvSpPr/>
              <p:nvPr/>
            </p:nvSpPr>
            <p:spPr>
              <a:xfrm flipV="1">
                <a:off x="4520" y="2957"/>
                <a:ext cx="495" cy="4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03245" name="Group 123"/>
              <p:cNvGrpSpPr/>
              <p:nvPr/>
            </p:nvGrpSpPr>
            <p:grpSpPr>
              <a:xfrm>
                <a:off x="4916" y="1726"/>
                <a:ext cx="275" cy="894"/>
                <a:chOff x="4920" y="1790"/>
                <a:chExt cx="275" cy="894"/>
              </a:xfrm>
            </p:grpSpPr>
            <p:sp>
              <p:nvSpPr>
                <p:cNvPr id="303259" name="Text Box 124"/>
                <p:cNvSpPr txBox="1"/>
                <p:nvPr/>
              </p:nvSpPr>
              <p:spPr>
                <a:xfrm>
                  <a:off x="4920" y="1790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写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3260" name="Text Box 125"/>
                <p:cNvSpPr txBox="1"/>
                <p:nvPr/>
              </p:nvSpPr>
              <p:spPr>
                <a:xfrm>
                  <a:off x="4920" y="200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3261" name="Text Box 126"/>
                <p:cNvSpPr txBox="1"/>
                <p:nvPr/>
              </p:nvSpPr>
              <p:spPr>
                <a:xfrm>
                  <a:off x="4920" y="2219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3262" name="Text Box 127"/>
                <p:cNvSpPr txBox="1"/>
                <p:nvPr/>
              </p:nvSpPr>
              <p:spPr>
                <a:xfrm>
                  <a:off x="4920" y="243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3246" name="Group 128"/>
              <p:cNvGrpSpPr/>
              <p:nvPr/>
            </p:nvGrpSpPr>
            <p:grpSpPr>
              <a:xfrm>
                <a:off x="5372" y="1505"/>
                <a:ext cx="275" cy="880"/>
                <a:chOff x="5394" y="1612"/>
                <a:chExt cx="275" cy="880"/>
              </a:xfrm>
            </p:grpSpPr>
            <p:sp>
              <p:nvSpPr>
                <p:cNvPr id="303255" name="Text Box 129"/>
                <p:cNvSpPr txBox="1"/>
                <p:nvPr/>
              </p:nvSpPr>
              <p:spPr>
                <a:xfrm>
                  <a:off x="5394" y="161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3256" name="Text Box 130"/>
                <p:cNvSpPr txBox="1"/>
                <p:nvPr/>
              </p:nvSpPr>
              <p:spPr>
                <a:xfrm>
                  <a:off x="5394" y="182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3257" name="Text Box 131"/>
                <p:cNvSpPr txBox="1"/>
                <p:nvPr/>
              </p:nvSpPr>
              <p:spPr>
                <a:xfrm>
                  <a:off x="5394" y="203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3258" name="Text Box 132"/>
                <p:cNvSpPr txBox="1"/>
                <p:nvPr/>
              </p:nvSpPr>
              <p:spPr>
                <a:xfrm>
                  <a:off x="5394" y="224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3247" name="Group 133"/>
              <p:cNvGrpSpPr/>
              <p:nvPr/>
            </p:nvGrpSpPr>
            <p:grpSpPr>
              <a:xfrm>
                <a:off x="3320" y="915"/>
                <a:ext cx="371" cy="2173"/>
                <a:chOff x="3324" y="979"/>
                <a:chExt cx="371" cy="2173"/>
              </a:xfrm>
            </p:grpSpPr>
            <p:sp>
              <p:nvSpPr>
                <p:cNvPr id="303251" name="Text Box 134"/>
                <p:cNvSpPr txBox="1"/>
                <p:nvPr/>
              </p:nvSpPr>
              <p:spPr>
                <a:xfrm>
                  <a:off x="3324" y="97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3252" name="Text Box 135"/>
                <p:cNvSpPr txBox="1"/>
                <p:nvPr/>
              </p:nvSpPr>
              <p:spPr>
                <a:xfrm>
                  <a:off x="3324" y="1507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3253" name="Text Box 136"/>
                <p:cNvSpPr txBox="1"/>
                <p:nvPr/>
              </p:nvSpPr>
              <p:spPr>
                <a:xfrm>
                  <a:off x="3324" y="240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3254" name="Text Box 137"/>
                <p:cNvSpPr txBox="1"/>
                <p:nvPr/>
              </p:nvSpPr>
              <p:spPr>
                <a:xfrm>
                  <a:off x="3324" y="2784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3248" name="Text Box 138"/>
              <p:cNvSpPr txBox="1"/>
              <p:nvPr/>
            </p:nvSpPr>
            <p:spPr>
              <a:xfrm rot="5400000">
                <a:off x="916" y="197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49" name="Text Box 139"/>
              <p:cNvSpPr txBox="1"/>
              <p:nvPr/>
            </p:nvSpPr>
            <p:spPr>
              <a:xfrm>
                <a:off x="1656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3250" name="Text Box 140"/>
              <p:cNvSpPr txBox="1"/>
              <p:nvPr/>
            </p:nvSpPr>
            <p:spPr>
              <a:xfrm>
                <a:off x="3350" y="3312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03107" name="Group 141"/>
          <p:cNvGrpSpPr/>
          <p:nvPr/>
        </p:nvGrpSpPr>
        <p:grpSpPr>
          <a:xfrm>
            <a:off x="3357563" y="3711575"/>
            <a:ext cx="5791200" cy="646113"/>
            <a:chOff x="1155" y="2338"/>
            <a:chExt cx="3648" cy="407"/>
          </a:xfrm>
        </p:grpSpPr>
        <p:sp>
          <p:nvSpPr>
            <p:cNvPr id="303137" name="Freeform 142"/>
            <p:cNvSpPr/>
            <p:nvPr/>
          </p:nvSpPr>
          <p:spPr>
            <a:xfrm>
              <a:off x="1155" y="2740"/>
              <a:ext cx="3648" cy="5"/>
            </a:xfrm>
            <a:custGeom>
              <a:avLst/>
              <a:gdLst>
                <a:gd name="txL" fmla="*/ 0 w 3648"/>
                <a:gd name="txT" fmla="*/ 0 h 5"/>
                <a:gd name="txR" fmla="*/ 3648 w 3648"/>
                <a:gd name="txB" fmla="*/ 5 h 5"/>
              </a:gdLst>
              <a:ahLst/>
              <a:cxnLst>
                <a:cxn ang="0">
                  <a:pos x="0" y="0"/>
                </a:cxn>
                <a:cxn ang="0">
                  <a:pos x="3648" y="5"/>
                </a:cxn>
              </a:cxnLst>
              <a:rect l="txL" t="txT" r="txR" b="txB"/>
              <a:pathLst>
                <a:path w="3648" h="5">
                  <a:moveTo>
                    <a:pt x="0" y="0"/>
                  </a:moveTo>
                  <a:lnTo>
                    <a:pt x="3648" y="5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3138" name="Line 143"/>
            <p:cNvSpPr/>
            <p:nvPr/>
          </p:nvSpPr>
          <p:spPr>
            <a:xfrm rot="10800000">
              <a:off x="1788" y="2656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3139" name="Line 144"/>
            <p:cNvSpPr/>
            <p:nvPr/>
          </p:nvSpPr>
          <p:spPr>
            <a:xfrm rot="10800000">
              <a:off x="2725" y="2658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3140" name="Freeform 145"/>
            <p:cNvSpPr/>
            <p:nvPr/>
          </p:nvSpPr>
          <p:spPr>
            <a:xfrm>
              <a:off x="4350" y="2657"/>
              <a:ext cx="1" cy="79"/>
            </a:xfrm>
            <a:custGeom>
              <a:avLst/>
              <a:gdLst>
                <a:gd name="txL" fmla="*/ 0 w 1"/>
                <a:gd name="txT" fmla="*/ 0 h 79"/>
                <a:gd name="txR" fmla="*/ 1 w 1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" y="0"/>
                </a:cxn>
              </a:cxnLst>
              <a:rect l="txL" t="txT" r="txR" b="txB"/>
              <a:pathLst>
                <a:path w="1" h="79">
                  <a:moveTo>
                    <a:pt x="0" y="79"/>
                  </a:moveTo>
                  <a:lnTo>
                    <a:pt x="1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3141" name="Rectangle 146"/>
            <p:cNvSpPr/>
            <p:nvPr/>
          </p:nvSpPr>
          <p:spPr>
            <a:xfrm>
              <a:off x="1615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3142" name="Rectangle 147"/>
            <p:cNvSpPr/>
            <p:nvPr/>
          </p:nvSpPr>
          <p:spPr>
            <a:xfrm>
              <a:off x="2546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3143" name="Rectangle 148"/>
            <p:cNvSpPr/>
            <p:nvPr/>
          </p:nvSpPr>
          <p:spPr>
            <a:xfrm>
              <a:off x="4178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3144" name="Text Box 149"/>
            <p:cNvSpPr txBox="1"/>
            <p:nvPr/>
          </p:nvSpPr>
          <p:spPr>
            <a:xfrm>
              <a:off x="3320" y="2338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3108" name="Group 150"/>
          <p:cNvGrpSpPr/>
          <p:nvPr/>
        </p:nvGrpSpPr>
        <p:grpSpPr>
          <a:xfrm>
            <a:off x="9170988" y="4808538"/>
            <a:ext cx="628650" cy="460094"/>
            <a:chOff x="4775" y="2954"/>
            <a:chExt cx="384" cy="318"/>
          </a:xfrm>
        </p:grpSpPr>
        <p:sp>
          <p:nvSpPr>
            <p:cNvPr id="303135" name="Line 151"/>
            <p:cNvSpPr/>
            <p:nvPr/>
          </p:nvSpPr>
          <p:spPr>
            <a:xfrm>
              <a:off x="4775" y="3264"/>
              <a:ext cx="384" cy="0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03136" name="Text Box 152"/>
            <p:cNvSpPr txBox="1"/>
            <p:nvPr/>
          </p:nvSpPr>
          <p:spPr>
            <a:xfrm>
              <a:off x="4861" y="2954"/>
              <a:ext cx="24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3109" name="Freeform 153"/>
          <p:cNvSpPr/>
          <p:nvPr/>
        </p:nvSpPr>
        <p:spPr>
          <a:xfrm>
            <a:off x="5238750" y="1820863"/>
            <a:ext cx="14288" cy="3228975"/>
          </a:xfrm>
          <a:custGeom>
            <a:avLst/>
            <a:gdLst>
              <a:gd name="txL" fmla="*/ 0 w 9"/>
              <a:gd name="txT" fmla="*/ 0 h 2034"/>
              <a:gd name="txR" fmla="*/ 9 w 9"/>
              <a:gd name="txB" fmla="*/ 2034 h 2034"/>
            </a:gdLst>
            <a:ahLst/>
            <a:cxnLst>
              <a:cxn ang="0">
                <a:pos x="0" y="0"/>
              </a:cxn>
              <a:cxn ang="0">
                <a:pos x="9" y="6"/>
              </a:cxn>
              <a:cxn ang="0">
                <a:pos x="6" y="2034"/>
              </a:cxn>
            </a:cxnLst>
            <a:rect l="txL" t="txT" r="txR" b="txB"/>
            <a:pathLst>
              <a:path w="9" h="2034">
                <a:moveTo>
                  <a:pt x="0" y="0"/>
                </a:moveTo>
                <a:lnTo>
                  <a:pt x="9" y="6"/>
                </a:lnTo>
                <a:lnTo>
                  <a:pt x="6" y="2034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3110" name="Freeform 154"/>
          <p:cNvSpPr/>
          <p:nvPr/>
        </p:nvSpPr>
        <p:spPr>
          <a:xfrm>
            <a:off x="5253038" y="4084638"/>
            <a:ext cx="301625" cy="1587"/>
          </a:xfrm>
          <a:custGeom>
            <a:avLst/>
            <a:gdLst>
              <a:gd name="txL" fmla="*/ 0 w 190"/>
              <a:gd name="txT" fmla="*/ 0 h 1"/>
              <a:gd name="txR" fmla="*/ 190 w 190"/>
              <a:gd name="txB" fmla="*/ 1 h 1"/>
            </a:gdLst>
            <a:ahLst/>
            <a:cxnLst>
              <a:cxn ang="0">
                <a:pos x="0" y="0"/>
              </a:cxn>
              <a:cxn ang="0">
                <a:pos x="190" y="1"/>
              </a:cxn>
            </a:cxnLst>
            <a:rect l="txL" t="txT" r="txR" b="txB"/>
            <a:pathLst>
              <a:path w="190" h="1">
                <a:moveTo>
                  <a:pt x="0" y="0"/>
                </a:moveTo>
                <a:lnTo>
                  <a:pt x="190" y="1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03111" name="Group 155"/>
          <p:cNvGrpSpPr/>
          <p:nvPr/>
        </p:nvGrpSpPr>
        <p:grpSpPr>
          <a:xfrm>
            <a:off x="1865313" y="1819275"/>
            <a:ext cx="360312" cy="3365215"/>
            <a:chOff x="300" y="720"/>
            <a:chExt cx="220" cy="2329"/>
          </a:xfrm>
        </p:grpSpPr>
        <p:sp>
          <p:nvSpPr>
            <p:cNvPr id="303130" name="Text Box 156"/>
            <p:cNvSpPr txBox="1"/>
            <p:nvPr/>
          </p:nvSpPr>
          <p:spPr>
            <a:xfrm>
              <a:off x="300" y="720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3131" name="Text Box 157"/>
            <p:cNvSpPr txBox="1"/>
            <p:nvPr/>
          </p:nvSpPr>
          <p:spPr>
            <a:xfrm>
              <a:off x="300" y="1212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3132" name="Text Box 158"/>
            <p:cNvSpPr txBox="1"/>
            <p:nvPr/>
          </p:nvSpPr>
          <p:spPr>
            <a:xfrm>
              <a:off x="300" y="1705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3133" name="Text Box 159"/>
            <p:cNvSpPr txBox="1"/>
            <p:nvPr/>
          </p:nvSpPr>
          <p:spPr>
            <a:xfrm>
              <a:off x="300" y="2196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3134" name="Text Box 160"/>
            <p:cNvSpPr txBox="1"/>
            <p:nvPr/>
          </p:nvSpPr>
          <p:spPr>
            <a:xfrm>
              <a:off x="300" y="2688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3112" name="Group 161"/>
          <p:cNvGrpSpPr/>
          <p:nvPr/>
        </p:nvGrpSpPr>
        <p:grpSpPr>
          <a:xfrm>
            <a:off x="3505200" y="6138863"/>
            <a:ext cx="5152976" cy="522004"/>
            <a:chOff x="1452" y="3984"/>
            <a:chExt cx="3148" cy="361"/>
          </a:xfrm>
        </p:grpSpPr>
        <p:sp>
          <p:nvSpPr>
            <p:cNvPr id="303125" name="Text Box 162"/>
            <p:cNvSpPr txBox="1"/>
            <p:nvPr/>
          </p:nvSpPr>
          <p:spPr>
            <a:xfrm>
              <a:off x="1452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3126" name="Text Box 163"/>
            <p:cNvSpPr txBox="1"/>
            <p:nvPr/>
          </p:nvSpPr>
          <p:spPr>
            <a:xfrm>
              <a:off x="4380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3127" name="Text Box 164"/>
            <p:cNvSpPr txBox="1"/>
            <p:nvPr/>
          </p:nvSpPr>
          <p:spPr>
            <a:xfrm>
              <a:off x="3648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3128" name="Text Box 165"/>
            <p:cNvSpPr txBox="1"/>
            <p:nvPr/>
          </p:nvSpPr>
          <p:spPr>
            <a:xfrm>
              <a:off x="2917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3129" name="Text Box 166"/>
            <p:cNvSpPr txBox="1"/>
            <p:nvPr/>
          </p:nvSpPr>
          <p:spPr>
            <a:xfrm>
              <a:off x="2186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3113" name="Group 167"/>
          <p:cNvGrpSpPr/>
          <p:nvPr/>
        </p:nvGrpSpPr>
        <p:grpSpPr>
          <a:xfrm>
            <a:off x="5675313" y="5429250"/>
            <a:ext cx="344487" cy="398463"/>
            <a:chOff x="2611" y="3425"/>
            <a:chExt cx="217" cy="251"/>
          </a:xfrm>
        </p:grpSpPr>
        <p:sp>
          <p:nvSpPr>
            <p:cNvPr id="303123" name="Text Box 168"/>
            <p:cNvSpPr txBox="1"/>
            <p:nvPr/>
          </p:nvSpPr>
          <p:spPr>
            <a:xfrm>
              <a:off x="2611" y="342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3124" name="Freeform 169"/>
            <p:cNvSpPr/>
            <p:nvPr/>
          </p:nvSpPr>
          <p:spPr>
            <a:xfrm>
              <a:off x="2827" y="3430"/>
              <a:ext cx="1" cy="227"/>
            </a:xfrm>
            <a:custGeom>
              <a:avLst/>
              <a:gdLst>
                <a:gd name="txL" fmla="*/ 0 w 1"/>
                <a:gd name="txT" fmla="*/ 0 h 227"/>
                <a:gd name="txR" fmla="*/ 1 w 1"/>
                <a:gd name="txB" fmla="*/ 227 h 227"/>
              </a:gdLst>
              <a:ahLst/>
              <a:cxnLst>
                <a:cxn ang="0">
                  <a:pos x="0" y="0"/>
                </a:cxn>
                <a:cxn ang="0">
                  <a:pos x="0" y="227"/>
                </a:cxn>
              </a:cxnLst>
              <a:rect l="txL" t="txT" r="txR" b="txB"/>
              <a:pathLst>
                <a:path w="1" h="227">
                  <a:moveTo>
                    <a:pt x="0" y="0"/>
                  </a:moveTo>
                  <a:lnTo>
                    <a:pt x="0" y="227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38762" name="Rectangle 17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3115" name="Text Box 171"/>
          <p:cNvSpPr txBox="1"/>
          <p:nvPr/>
        </p:nvSpPr>
        <p:spPr>
          <a:xfrm>
            <a:off x="1828800" y="228600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三管动态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en-US" altLang="zh-CN" sz="3200" b="1" dirty="0">
                <a:latin typeface="Times New Roman" panose="02020603050405020304" pitchFamily="18" charset="0"/>
              </a:rPr>
              <a:t>(Intel 1103)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3116" name="Rectangle 172"/>
          <p:cNvSpPr/>
          <p:nvPr/>
        </p:nvSpPr>
        <p:spPr>
          <a:xfrm>
            <a:off x="3435350" y="5029200"/>
            <a:ext cx="5735638" cy="415925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读  写  控  制  电  路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03117" name="Group 173"/>
          <p:cNvGrpSpPr/>
          <p:nvPr/>
        </p:nvGrpSpPr>
        <p:grpSpPr>
          <a:xfrm>
            <a:off x="5570538" y="1719263"/>
            <a:ext cx="793750" cy="2058987"/>
            <a:chOff x="2549" y="1083"/>
            <a:chExt cx="500" cy="1297"/>
          </a:xfrm>
        </p:grpSpPr>
        <p:sp>
          <p:nvSpPr>
            <p:cNvPr id="303120" name="Rectangle 174"/>
            <p:cNvSpPr/>
            <p:nvPr/>
          </p:nvSpPr>
          <p:spPr>
            <a:xfrm>
              <a:off x="2549" y="1083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3121" name="Rectangle 175"/>
            <p:cNvSpPr/>
            <p:nvPr/>
          </p:nvSpPr>
          <p:spPr>
            <a:xfrm>
              <a:off x="2549" y="1636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3122" name="Text Box 176"/>
            <p:cNvSpPr txBox="1"/>
            <p:nvPr/>
          </p:nvSpPr>
          <p:spPr>
            <a:xfrm>
              <a:off x="2585" y="1972"/>
              <a:ext cx="464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3118" name="AutoShape 17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311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304130" name="Group 2"/>
          <p:cNvGrpSpPr/>
          <p:nvPr/>
        </p:nvGrpSpPr>
        <p:grpSpPr>
          <a:xfrm>
            <a:off x="1524000" y="1295400"/>
            <a:ext cx="9142413" cy="5440363"/>
            <a:chOff x="0" y="816"/>
            <a:chExt cx="5759" cy="3427"/>
          </a:xfrm>
        </p:grpSpPr>
        <p:grpSp>
          <p:nvGrpSpPr>
            <p:cNvPr id="304171" name="Group 3"/>
            <p:cNvGrpSpPr/>
            <p:nvPr/>
          </p:nvGrpSpPr>
          <p:grpSpPr>
            <a:xfrm>
              <a:off x="0" y="1094"/>
              <a:ext cx="462" cy="251"/>
              <a:chOff x="0" y="933"/>
              <a:chExt cx="462" cy="251"/>
            </a:xfrm>
          </p:grpSpPr>
          <p:sp>
            <p:nvSpPr>
              <p:cNvPr id="304307" name="Line 4"/>
              <p:cNvSpPr/>
              <p:nvPr/>
            </p:nvSpPr>
            <p:spPr>
              <a:xfrm>
                <a:off x="214" y="991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4308" name="Text Box 5"/>
              <p:cNvSpPr txBox="1"/>
              <p:nvPr/>
            </p:nvSpPr>
            <p:spPr>
              <a:xfrm>
                <a:off x="0" y="933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4172" name="Group 6"/>
            <p:cNvGrpSpPr/>
            <p:nvPr/>
          </p:nvGrpSpPr>
          <p:grpSpPr>
            <a:xfrm>
              <a:off x="16" y="1540"/>
              <a:ext cx="446" cy="251"/>
              <a:chOff x="16" y="1371"/>
              <a:chExt cx="446" cy="251"/>
            </a:xfrm>
          </p:grpSpPr>
          <p:sp>
            <p:nvSpPr>
              <p:cNvPr id="304305" name="Line 7"/>
              <p:cNvSpPr/>
              <p:nvPr/>
            </p:nvSpPr>
            <p:spPr>
              <a:xfrm>
                <a:off x="214" y="1439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4306" name="Text Box 8"/>
              <p:cNvSpPr txBox="1"/>
              <p:nvPr/>
            </p:nvSpPr>
            <p:spPr>
              <a:xfrm>
                <a:off x="16" y="1371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4173" name="Group 9"/>
            <p:cNvGrpSpPr/>
            <p:nvPr/>
          </p:nvGrpSpPr>
          <p:grpSpPr>
            <a:xfrm>
              <a:off x="16" y="1987"/>
              <a:ext cx="446" cy="251"/>
              <a:chOff x="16" y="1809"/>
              <a:chExt cx="446" cy="251"/>
            </a:xfrm>
          </p:grpSpPr>
          <p:sp>
            <p:nvSpPr>
              <p:cNvPr id="304303" name="Line 10"/>
              <p:cNvSpPr/>
              <p:nvPr/>
            </p:nvSpPr>
            <p:spPr>
              <a:xfrm>
                <a:off x="214" y="1886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4304" name="Text Box 11"/>
              <p:cNvSpPr txBox="1"/>
              <p:nvPr/>
            </p:nvSpPr>
            <p:spPr>
              <a:xfrm>
                <a:off x="16" y="1809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4174" name="Group 12"/>
            <p:cNvGrpSpPr/>
            <p:nvPr/>
          </p:nvGrpSpPr>
          <p:grpSpPr>
            <a:xfrm>
              <a:off x="16" y="2433"/>
              <a:ext cx="446" cy="251"/>
              <a:chOff x="16" y="2276"/>
              <a:chExt cx="446" cy="251"/>
            </a:xfrm>
          </p:grpSpPr>
          <p:sp>
            <p:nvSpPr>
              <p:cNvPr id="304301" name="Line 13"/>
              <p:cNvSpPr/>
              <p:nvPr/>
            </p:nvSpPr>
            <p:spPr>
              <a:xfrm>
                <a:off x="214" y="2334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4302" name="Text Box 14"/>
              <p:cNvSpPr txBox="1"/>
              <p:nvPr/>
            </p:nvSpPr>
            <p:spPr>
              <a:xfrm>
                <a:off x="16" y="2276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4175" name="Group 15"/>
            <p:cNvGrpSpPr/>
            <p:nvPr/>
          </p:nvGrpSpPr>
          <p:grpSpPr>
            <a:xfrm>
              <a:off x="16" y="2880"/>
              <a:ext cx="446" cy="251"/>
              <a:chOff x="16" y="2725"/>
              <a:chExt cx="446" cy="251"/>
            </a:xfrm>
          </p:grpSpPr>
          <p:sp>
            <p:nvSpPr>
              <p:cNvPr id="304299" name="Line 16"/>
              <p:cNvSpPr/>
              <p:nvPr/>
            </p:nvSpPr>
            <p:spPr>
              <a:xfrm>
                <a:off x="214" y="2782"/>
                <a:ext cx="24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4300" name="Text Box 17"/>
              <p:cNvSpPr txBox="1"/>
              <p:nvPr/>
            </p:nvSpPr>
            <p:spPr>
              <a:xfrm>
                <a:off x="16" y="2725"/>
                <a:ext cx="283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4176" name="Group 18"/>
            <p:cNvGrpSpPr/>
            <p:nvPr/>
          </p:nvGrpSpPr>
          <p:grpSpPr>
            <a:xfrm>
              <a:off x="462" y="816"/>
              <a:ext cx="5297" cy="3427"/>
              <a:chOff x="462" y="816"/>
              <a:chExt cx="5297" cy="3427"/>
            </a:xfrm>
          </p:grpSpPr>
          <p:sp>
            <p:nvSpPr>
              <p:cNvPr id="304177" name="Rectangle 19"/>
              <p:cNvSpPr/>
              <p:nvPr/>
            </p:nvSpPr>
            <p:spPr>
              <a:xfrm>
                <a:off x="462" y="816"/>
                <a:ext cx="693" cy="248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78" name="Freeform 20"/>
              <p:cNvSpPr/>
              <p:nvPr/>
            </p:nvSpPr>
            <p:spPr>
              <a:xfrm>
                <a:off x="1155" y="991"/>
                <a:ext cx="3638" cy="1"/>
              </a:xfrm>
              <a:custGeom>
                <a:avLst/>
                <a:gdLst>
                  <a:gd name="txL" fmla="*/ 0 w 3528"/>
                  <a:gd name="txT" fmla="*/ 0 h 1"/>
                  <a:gd name="txR" fmla="*/ 3528 w 3528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28" y="0"/>
                  </a:cxn>
                </a:cxnLst>
                <a:rect l="txL" t="txT" r="txR" b="txB"/>
                <a:pathLst>
                  <a:path w="3528" h="1">
                    <a:moveTo>
                      <a:pt x="0" y="0"/>
                    </a:moveTo>
                    <a:lnTo>
                      <a:pt x="3528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79" name="Rectangle 21"/>
              <p:cNvSpPr/>
              <p:nvPr/>
            </p:nvSpPr>
            <p:spPr>
              <a:xfrm>
                <a:off x="1615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80" name="Freeform 22"/>
              <p:cNvSpPr/>
              <p:nvPr/>
            </p:nvSpPr>
            <p:spPr>
              <a:xfrm>
                <a:off x="4351" y="991"/>
                <a:ext cx="1" cy="79"/>
              </a:xfrm>
              <a:custGeom>
                <a:avLst/>
                <a:gdLst>
                  <a:gd name="txL" fmla="*/ 0 w 1"/>
                  <a:gd name="txT" fmla="*/ 0 h 87"/>
                  <a:gd name="txR" fmla="*/ 1 w 1"/>
                  <a:gd name="txB" fmla="*/ 87 h 87"/>
                </a:gdLst>
                <a:ahLst/>
                <a:cxnLst>
                  <a:cxn ang="0">
                    <a:pos x="0" y="0"/>
                  </a:cxn>
                  <a:cxn ang="0">
                    <a:pos x="0" y="87"/>
                  </a:cxn>
                </a:cxnLst>
                <a:rect l="txL" t="txT" r="txR" b="txB"/>
                <a:pathLst>
                  <a:path w="1" h="87">
                    <a:moveTo>
                      <a:pt x="0" y="0"/>
                    </a:moveTo>
                    <a:lnTo>
                      <a:pt x="0" y="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81" name="Freeform 23"/>
              <p:cNvSpPr/>
              <p:nvPr/>
            </p:nvSpPr>
            <p:spPr>
              <a:xfrm>
                <a:off x="1155" y="1295"/>
                <a:ext cx="3659" cy="3"/>
              </a:xfrm>
              <a:custGeom>
                <a:avLst/>
                <a:gdLst>
                  <a:gd name="txL" fmla="*/ 0 w 3659"/>
                  <a:gd name="txT" fmla="*/ 0 h 3"/>
                  <a:gd name="txR" fmla="*/ 3659 w 3659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3659" y="3"/>
                  </a:cxn>
                </a:cxnLst>
                <a:rect l="txL" t="txT" r="txR" b="txB"/>
                <a:pathLst>
                  <a:path w="3659" h="3">
                    <a:moveTo>
                      <a:pt x="0" y="0"/>
                    </a:moveTo>
                    <a:lnTo>
                      <a:pt x="3659" y="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82" name="Freeform 24"/>
              <p:cNvSpPr/>
              <p:nvPr/>
            </p:nvSpPr>
            <p:spPr>
              <a:xfrm>
                <a:off x="2727" y="987"/>
                <a:ext cx="1" cy="86"/>
              </a:xfrm>
              <a:custGeom>
                <a:avLst/>
                <a:gdLst>
                  <a:gd name="txL" fmla="*/ 0 w 1"/>
                  <a:gd name="txT" fmla="*/ 0 h 86"/>
                  <a:gd name="txR" fmla="*/ 1 w 1"/>
                  <a:gd name="txB" fmla="*/ 86 h 86"/>
                </a:gdLst>
                <a:ahLst/>
                <a:cxnLst>
                  <a:cxn ang="0">
                    <a:pos x="0" y="0"/>
                  </a:cxn>
                  <a:cxn ang="0">
                    <a:pos x="1" y="86"/>
                  </a:cxn>
                </a:cxnLst>
                <a:rect l="txL" t="txT" r="txR" b="txB"/>
                <a:pathLst>
                  <a:path w="1" h="86">
                    <a:moveTo>
                      <a:pt x="0" y="0"/>
                    </a:moveTo>
                    <a:lnTo>
                      <a:pt x="1" y="8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83" name="Freeform 25"/>
              <p:cNvSpPr/>
              <p:nvPr/>
            </p:nvSpPr>
            <p:spPr>
              <a:xfrm>
                <a:off x="1791" y="985"/>
                <a:ext cx="1" cy="92"/>
              </a:xfrm>
              <a:custGeom>
                <a:avLst/>
                <a:gdLst>
                  <a:gd name="txL" fmla="*/ 0 w 1"/>
                  <a:gd name="txT" fmla="*/ 0 h 92"/>
                  <a:gd name="txR" fmla="*/ 1 w 1"/>
                  <a:gd name="txB" fmla="*/ 92 h 92"/>
                </a:gdLst>
                <a:ahLst/>
                <a:cxnLst>
                  <a:cxn ang="0">
                    <a:pos x="0" y="0"/>
                  </a:cxn>
                  <a:cxn ang="0">
                    <a:pos x="0" y="92"/>
                  </a:cxn>
                </a:cxnLst>
                <a:rect l="txL" t="txT" r="txR" b="txB"/>
                <a:pathLst>
                  <a:path w="1" h="92">
                    <a:moveTo>
                      <a:pt x="0" y="0"/>
                    </a:moveTo>
                    <a:lnTo>
                      <a:pt x="0" y="9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84" name="Freeform 26"/>
              <p:cNvSpPr/>
              <p:nvPr/>
            </p:nvSpPr>
            <p:spPr>
              <a:xfrm>
                <a:off x="1788" y="1212"/>
                <a:ext cx="1" cy="85"/>
              </a:xfrm>
              <a:custGeom>
                <a:avLst/>
                <a:gdLst>
                  <a:gd name="txL" fmla="*/ 0 w 1"/>
                  <a:gd name="txT" fmla="*/ 0 h 93"/>
                  <a:gd name="txR" fmla="*/ 1 w 1"/>
                  <a:gd name="txB" fmla="*/ 93 h 93"/>
                </a:gdLst>
                <a:ahLst/>
                <a:cxnLst>
                  <a:cxn ang="0">
                    <a:pos x="0" y="93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3">
                    <a:moveTo>
                      <a:pt x="0" y="9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85" name="Freeform 27"/>
              <p:cNvSpPr/>
              <p:nvPr/>
            </p:nvSpPr>
            <p:spPr>
              <a:xfrm>
                <a:off x="2736" y="1200"/>
                <a:ext cx="3" cy="95"/>
              </a:xfrm>
              <a:custGeom>
                <a:avLst/>
                <a:gdLst>
                  <a:gd name="txL" fmla="*/ 0 w 3"/>
                  <a:gd name="txT" fmla="*/ 0 h 105"/>
                  <a:gd name="txR" fmla="*/ 3 w 3"/>
                  <a:gd name="txB" fmla="*/ 105 h 105"/>
                </a:gdLst>
                <a:ahLst/>
                <a:cxnLst>
                  <a:cxn ang="0">
                    <a:pos x="0" y="105"/>
                  </a:cxn>
                  <a:cxn ang="0">
                    <a:pos x="3" y="0"/>
                  </a:cxn>
                </a:cxnLst>
                <a:rect l="txL" t="txT" r="txR" b="txB"/>
                <a:pathLst>
                  <a:path w="3" h="105">
                    <a:moveTo>
                      <a:pt x="0" y="105"/>
                    </a:moveTo>
                    <a:lnTo>
                      <a:pt x="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86" name="Line 28"/>
              <p:cNvSpPr/>
              <p:nvPr/>
            </p:nvSpPr>
            <p:spPr>
              <a:xfrm rot="10800000">
                <a:off x="4351" y="121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187" name="Freeform 29"/>
              <p:cNvSpPr/>
              <p:nvPr/>
            </p:nvSpPr>
            <p:spPr>
              <a:xfrm>
                <a:off x="1155" y="1559"/>
                <a:ext cx="3653" cy="1"/>
              </a:xfrm>
              <a:custGeom>
                <a:avLst/>
                <a:gdLst>
                  <a:gd name="txL" fmla="*/ 0 w 3543"/>
                  <a:gd name="txT" fmla="*/ 0 h 1"/>
                  <a:gd name="txR" fmla="*/ 3543 w 3543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43" y="0"/>
                  </a:cxn>
                </a:cxnLst>
                <a:rect l="txL" t="txT" r="txR" b="txB"/>
                <a:pathLst>
                  <a:path w="3543" h="1">
                    <a:moveTo>
                      <a:pt x="0" y="0"/>
                    </a:moveTo>
                    <a:lnTo>
                      <a:pt x="3543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88" name="Line 30"/>
              <p:cNvSpPr/>
              <p:nvPr/>
            </p:nvSpPr>
            <p:spPr>
              <a:xfrm>
                <a:off x="4351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189" name="Freeform 31"/>
              <p:cNvSpPr/>
              <p:nvPr/>
            </p:nvSpPr>
            <p:spPr>
              <a:xfrm>
                <a:off x="1155" y="1863"/>
                <a:ext cx="3656" cy="1"/>
              </a:xfrm>
              <a:custGeom>
                <a:avLst/>
                <a:gdLst>
                  <a:gd name="txL" fmla="*/ 0 w 3546"/>
                  <a:gd name="txT" fmla="*/ 0 h 2"/>
                  <a:gd name="txR" fmla="*/ 3546 w 3546"/>
                  <a:gd name="txB" fmla="*/ 2 h 2"/>
                </a:gdLst>
                <a:ahLst/>
                <a:cxnLst>
                  <a:cxn ang="0">
                    <a:pos x="0" y="0"/>
                  </a:cxn>
                  <a:cxn ang="0">
                    <a:pos x="3546" y="2"/>
                  </a:cxn>
                </a:cxnLst>
                <a:rect l="txL" t="txT" r="txR" b="txB"/>
                <a:pathLst>
                  <a:path w="3546" h="2">
                    <a:moveTo>
                      <a:pt x="0" y="0"/>
                    </a:moveTo>
                    <a:lnTo>
                      <a:pt x="3546" y="2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90" name="Line 32"/>
              <p:cNvSpPr/>
              <p:nvPr/>
            </p:nvSpPr>
            <p:spPr>
              <a:xfrm>
                <a:off x="2725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191" name="Line 33"/>
              <p:cNvSpPr/>
              <p:nvPr/>
            </p:nvSpPr>
            <p:spPr>
              <a:xfrm>
                <a:off x="1788" y="1559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192" name="Line 34"/>
              <p:cNvSpPr/>
              <p:nvPr/>
            </p:nvSpPr>
            <p:spPr>
              <a:xfrm rot="10800000">
                <a:off x="1788" y="1778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193" name="Line 35"/>
              <p:cNvSpPr/>
              <p:nvPr/>
            </p:nvSpPr>
            <p:spPr>
              <a:xfrm rot="10800000">
                <a:off x="2725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194" name="Line 36"/>
              <p:cNvSpPr/>
              <p:nvPr/>
            </p:nvSpPr>
            <p:spPr>
              <a:xfrm rot="10800000">
                <a:off x="4351" y="1780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195" name="Freeform 37"/>
              <p:cNvSpPr/>
              <p:nvPr/>
            </p:nvSpPr>
            <p:spPr>
              <a:xfrm>
                <a:off x="1155" y="2432"/>
                <a:ext cx="3675" cy="1"/>
              </a:xfrm>
              <a:custGeom>
                <a:avLst/>
                <a:gdLst>
                  <a:gd name="txL" fmla="*/ 0 w 3564"/>
                  <a:gd name="txT" fmla="*/ 0 h 1"/>
                  <a:gd name="txR" fmla="*/ 3564 w 356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564" y="0"/>
                  </a:cxn>
                </a:cxnLst>
                <a:rect l="txL" t="txT" r="txR" b="txB"/>
                <a:pathLst>
                  <a:path w="3564" h="1">
                    <a:moveTo>
                      <a:pt x="0" y="0"/>
                    </a:moveTo>
                    <a:lnTo>
                      <a:pt x="356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96" name="Line 38"/>
              <p:cNvSpPr/>
              <p:nvPr/>
            </p:nvSpPr>
            <p:spPr>
              <a:xfrm>
                <a:off x="4351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197" name="Freeform 39"/>
              <p:cNvSpPr/>
              <p:nvPr/>
            </p:nvSpPr>
            <p:spPr>
              <a:xfrm>
                <a:off x="1155" y="2736"/>
                <a:ext cx="3647" cy="1"/>
              </a:xfrm>
              <a:custGeom>
                <a:avLst/>
                <a:gdLst>
                  <a:gd name="txL" fmla="*/ 0 w 3647"/>
                  <a:gd name="txT" fmla="*/ 0 h 1"/>
                  <a:gd name="txR" fmla="*/ 3647 w 364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647" y="1"/>
                  </a:cxn>
                </a:cxnLst>
                <a:rect l="txL" t="txT" r="txR" b="txB"/>
                <a:pathLst>
                  <a:path w="3647" h="1">
                    <a:moveTo>
                      <a:pt x="0" y="0"/>
                    </a:moveTo>
                    <a:lnTo>
                      <a:pt x="364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198" name="Line 40"/>
              <p:cNvSpPr/>
              <p:nvPr/>
            </p:nvSpPr>
            <p:spPr>
              <a:xfrm>
                <a:off x="2725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199" name="Line 41"/>
              <p:cNvSpPr/>
              <p:nvPr/>
            </p:nvSpPr>
            <p:spPr>
              <a:xfrm>
                <a:off x="1788" y="2432"/>
                <a:ext cx="0" cy="8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200" name="Line 42"/>
              <p:cNvSpPr/>
              <p:nvPr/>
            </p:nvSpPr>
            <p:spPr>
              <a:xfrm rot="10800000">
                <a:off x="1788" y="2652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201" name="Line 43"/>
              <p:cNvSpPr/>
              <p:nvPr/>
            </p:nvSpPr>
            <p:spPr>
              <a:xfrm rot="10800000">
                <a:off x="2725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202" name="Line 44"/>
              <p:cNvSpPr/>
              <p:nvPr/>
            </p:nvSpPr>
            <p:spPr>
              <a:xfrm rot="10800000">
                <a:off x="4351" y="2654"/>
                <a:ext cx="0" cy="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203" name="AutoShape 45"/>
              <p:cNvSpPr/>
              <p:nvPr/>
            </p:nvSpPr>
            <p:spPr>
              <a:xfrm rot="-5400000">
                <a:off x="1683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04" name="Freeform 46"/>
              <p:cNvSpPr/>
              <p:nvPr/>
            </p:nvSpPr>
            <p:spPr>
              <a:xfrm>
                <a:off x="1416" y="1148"/>
                <a:ext cx="198" cy="2026"/>
              </a:xfrm>
              <a:custGeom>
                <a:avLst/>
                <a:gdLst>
                  <a:gd name="txL" fmla="*/ 0 w 198"/>
                  <a:gd name="txT" fmla="*/ 0 h 2026"/>
                  <a:gd name="txR" fmla="*/ 198 w 198"/>
                  <a:gd name="txB" fmla="*/ 2026 h 2026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6" y="2026"/>
                  </a:cxn>
                </a:cxnLst>
                <a:rect l="txL" t="txT" r="txR" b="txB"/>
                <a:pathLst>
                  <a:path w="198" h="2026">
                    <a:moveTo>
                      <a:pt x="198" y="0"/>
                    </a:moveTo>
                    <a:lnTo>
                      <a:pt x="0" y="0"/>
                    </a:lnTo>
                    <a:lnTo>
                      <a:pt x="6" y="202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05" name="Freeform 47"/>
              <p:cNvSpPr/>
              <p:nvPr/>
            </p:nvSpPr>
            <p:spPr>
              <a:xfrm>
                <a:off x="141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06" name="Freeform 48"/>
              <p:cNvSpPr/>
              <p:nvPr/>
            </p:nvSpPr>
            <p:spPr>
              <a:xfrm>
                <a:off x="1422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07" name="Line 49"/>
              <p:cNvSpPr/>
              <p:nvPr/>
            </p:nvSpPr>
            <p:spPr>
              <a:xfrm>
                <a:off x="1419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208" name="Freeform 50"/>
              <p:cNvSpPr/>
              <p:nvPr/>
            </p:nvSpPr>
            <p:spPr>
              <a:xfrm>
                <a:off x="3979" y="1148"/>
                <a:ext cx="198" cy="2023"/>
              </a:xfrm>
              <a:custGeom>
                <a:avLst/>
                <a:gdLst>
                  <a:gd name="txL" fmla="*/ 0 w 198"/>
                  <a:gd name="txT" fmla="*/ 0 h 2023"/>
                  <a:gd name="txR" fmla="*/ 198 w 198"/>
                  <a:gd name="txB" fmla="*/ 2023 h 2023"/>
                </a:gdLst>
                <a:ahLst/>
                <a:cxnLst>
                  <a:cxn ang="0">
                    <a:pos x="198" y="0"/>
                  </a:cxn>
                  <a:cxn ang="0">
                    <a:pos x="0" y="0"/>
                  </a:cxn>
                  <a:cxn ang="0">
                    <a:pos x="2" y="2023"/>
                  </a:cxn>
                </a:cxnLst>
                <a:rect l="txL" t="txT" r="txR" b="txB"/>
                <a:pathLst>
                  <a:path w="198" h="2023">
                    <a:moveTo>
                      <a:pt x="198" y="0"/>
                    </a:moveTo>
                    <a:lnTo>
                      <a:pt x="0" y="0"/>
                    </a:lnTo>
                    <a:lnTo>
                      <a:pt x="2" y="202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09" name="Freeform 51"/>
              <p:cNvSpPr/>
              <p:nvPr/>
            </p:nvSpPr>
            <p:spPr>
              <a:xfrm>
                <a:off x="3982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10" name="Freeform 52"/>
              <p:cNvSpPr/>
              <p:nvPr/>
            </p:nvSpPr>
            <p:spPr>
              <a:xfrm>
                <a:off x="3985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11" name="Line 53"/>
              <p:cNvSpPr/>
              <p:nvPr/>
            </p:nvSpPr>
            <p:spPr>
              <a:xfrm>
                <a:off x="3982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212" name="Freeform 54"/>
              <p:cNvSpPr/>
              <p:nvPr/>
            </p:nvSpPr>
            <p:spPr>
              <a:xfrm>
                <a:off x="2347" y="1148"/>
                <a:ext cx="198" cy="2024"/>
              </a:xfrm>
              <a:custGeom>
                <a:avLst/>
                <a:gdLst>
                  <a:gd name="txL" fmla="*/ 0 w 192"/>
                  <a:gd name="txT" fmla="*/ 0 h 2224"/>
                  <a:gd name="txR" fmla="*/ 192 w 192"/>
                  <a:gd name="txB" fmla="*/ 2224 h 2224"/>
                </a:gdLst>
                <a:ahLst/>
                <a:cxnLst>
                  <a:cxn ang="0">
                    <a:pos x="192" y="0"/>
                  </a:cxn>
                  <a:cxn ang="0">
                    <a:pos x="0" y="0"/>
                  </a:cxn>
                  <a:cxn ang="0">
                    <a:pos x="2" y="2224"/>
                  </a:cxn>
                </a:cxnLst>
                <a:rect l="txL" t="txT" r="txR" b="txB"/>
                <a:pathLst>
                  <a:path w="192" h="2224">
                    <a:moveTo>
                      <a:pt x="192" y="0"/>
                    </a:moveTo>
                    <a:lnTo>
                      <a:pt x="0" y="0"/>
                    </a:lnTo>
                    <a:lnTo>
                      <a:pt x="2" y="222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13" name="Freeform 55"/>
              <p:cNvSpPr/>
              <p:nvPr/>
            </p:nvSpPr>
            <p:spPr>
              <a:xfrm>
                <a:off x="235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14" name="Freeform 56"/>
              <p:cNvSpPr/>
              <p:nvPr/>
            </p:nvSpPr>
            <p:spPr>
              <a:xfrm>
                <a:off x="2353" y="2585"/>
                <a:ext cx="198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15" name="Line 57"/>
              <p:cNvSpPr/>
              <p:nvPr/>
            </p:nvSpPr>
            <p:spPr>
              <a:xfrm>
                <a:off x="2350" y="2957"/>
                <a:ext cx="24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304216" name="Freeform 58"/>
              <p:cNvSpPr/>
              <p:nvPr/>
            </p:nvSpPr>
            <p:spPr>
              <a:xfrm>
                <a:off x="1964" y="1135"/>
                <a:ext cx="198" cy="2030"/>
              </a:xfrm>
              <a:custGeom>
                <a:avLst/>
                <a:gdLst>
                  <a:gd name="txL" fmla="*/ 0 w 198"/>
                  <a:gd name="txT" fmla="*/ 0 h 2030"/>
                  <a:gd name="txR" fmla="*/ 198 w 198"/>
                  <a:gd name="txB" fmla="*/ 2030 h 2030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193" y="2030"/>
                  </a:cxn>
                </a:cxnLst>
                <a:rect l="txL" t="txT" r="txR" b="txB"/>
                <a:pathLst>
                  <a:path w="198" h="2030">
                    <a:moveTo>
                      <a:pt x="0" y="0"/>
                    </a:moveTo>
                    <a:lnTo>
                      <a:pt x="198" y="0"/>
                    </a:lnTo>
                    <a:lnTo>
                      <a:pt x="193" y="20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17" name="Freeform 59"/>
              <p:cNvSpPr/>
              <p:nvPr/>
            </p:nvSpPr>
            <p:spPr>
              <a:xfrm rot="10800000">
                <a:off x="1959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18" name="Freeform 60"/>
              <p:cNvSpPr/>
              <p:nvPr/>
            </p:nvSpPr>
            <p:spPr>
              <a:xfrm rot="10800000">
                <a:off x="1959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19" name="Freeform 61"/>
              <p:cNvSpPr/>
              <p:nvPr/>
            </p:nvSpPr>
            <p:spPr>
              <a:xfrm>
                <a:off x="1958" y="2957"/>
                <a:ext cx="200" cy="1"/>
              </a:xfrm>
              <a:custGeom>
                <a:avLst/>
                <a:gdLst>
                  <a:gd name="txL" fmla="*/ 0 w 194"/>
                  <a:gd name="txT" fmla="*/ 0 h 1"/>
                  <a:gd name="txR" fmla="*/ 194 w 194"/>
                  <a:gd name="txB" fmla="*/ 1 h 1"/>
                </a:gdLst>
                <a:ahLst/>
                <a:cxnLst>
                  <a:cxn ang="0">
                    <a:pos x="194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94" h="1">
                    <a:moveTo>
                      <a:pt x="194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20" name="Freeform 62"/>
              <p:cNvSpPr/>
              <p:nvPr/>
            </p:nvSpPr>
            <p:spPr>
              <a:xfrm>
                <a:off x="2893" y="1135"/>
                <a:ext cx="199" cy="2047"/>
              </a:xfrm>
              <a:custGeom>
                <a:avLst/>
                <a:gdLst>
                  <a:gd name="txL" fmla="*/ 0 w 193"/>
                  <a:gd name="txT" fmla="*/ 0 h 2250"/>
                  <a:gd name="txR" fmla="*/ 193 w 193"/>
                  <a:gd name="txB" fmla="*/ 2250 h 2250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  <a:cxn ang="0">
                    <a:pos x="193" y="2250"/>
                  </a:cxn>
                </a:cxnLst>
                <a:rect l="txL" t="txT" r="txR" b="txB"/>
                <a:pathLst>
                  <a:path w="193" h="2250">
                    <a:moveTo>
                      <a:pt x="0" y="0"/>
                    </a:moveTo>
                    <a:lnTo>
                      <a:pt x="192" y="0"/>
                    </a:lnTo>
                    <a:lnTo>
                      <a:pt x="193" y="225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21" name="Freeform 63"/>
              <p:cNvSpPr/>
              <p:nvPr/>
            </p:nvSpPr>
            <p:spPr>
              <a:xfrm rot="10800000">
                <a:off x="2890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22" name="Freeform 64"/>
              <p:cNvSpPr/>
              <p:nvPr/>
            </p:nvSpPr>
            <p:spPr>
              <a:xfrm rot="10800000">
                <a:off x="2890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23" name="Freeform 65"/>
              <p:cNvSpPr/>
              <p:nvPr/>
            </p:nvSpPr>
            <p:spPr>
              <a:xfrm>
                <a:off x="2895" y="2957"/>
                <a:ext cx="194" cy="1"/>
              </a:xfrm>
              <a:custGeom>
                <a:avLst/>
                <a:gdLst>
                  <a:gd name="txL" fmla="*/ 0 w 188"/>
                  <a:gd name="txT" fmla="*/ 0 h 1"/>
                  <a:gd name="txR" fmla="*/ 188 w 188"/>
                  <a:gd name="txB" fmla="*/ 1 h 1"/>
                </a:gdLst>
                <a:ahLst/>
                <a:cxnLst>
                  <a:cxn ang="0">
                    <a:pos x="18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88" h="1">
                    <a:moveTo>
                      <a:pt x="188" y="0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24" name="Freeform 66"/>
              <p:cNvSpPr/>
              <p:nvPr/>
            </p:nvSpPr>
            <p:spPr>
              <a:xfrm>
                <a:off x="4531" y="1135"/>
                <a:ext cx="203" cy="2027"/>
              </a:xfrm>
              <a:custGeom>
                <a:avLst/>
                <a:gdLst>
                  <a:gd name="txL" fmla="*/ 0 w 203"/>
                  <a:gd name="txT" fmla="*/ 0 h 2027"/>
                  <a:gd name="txR" fmla="*/ 203 w 203"/>
                  <a:gd name="txB" fmla="*/ 2027 h 2027"/>
                </a:gdLst>
                <a:ahLst/>
                <a:cxnLst>
                  <a:cxn ang="0">
                    <a:pos x="0" y="0"/>
                  </a:cxn>
                  <a:cxn ang="0">
                    <a:pos x="198" y="0"/>
                  </a:cxn>
                  <a:cxn ang="0">
                    <a:pos x="203" y="2027"/>
                  </a:cxn>
                </a:cxnLst>
                <a:rect l="txL" t="txT" r="txR" b="txB"/>
                <a:pathLst>
                  <a:path w="203" h="2027">
                    <a:moveTo>
                      <a:pt x="0" y="0"/>
                    </a:moveTo>
                    <a:lnTo>
                      <a:pt x="198" y="0"/>
                    </a:lnTo>
                    <a:lnTo>
                      <a:pt x="203" y="202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25" name="Freeform 67"/>
              <p:cNvSpPr/>
              <p:nvPr/>
            </p:nvSpPr>
            <p:spPr>
              <a:xfrm rot="10800000">
                <a:off x="4528" y="1704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26" name="Freeform 68"/>
              <p:cNvSpPr/>
              <p:nvPr/>
            </p:nvSpPr>
            <p:spPr>
              <a:xfrm rot="10800000">
                <a:off x="4528" y="258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27" name="Freeform 69"/>
              <p:cNvSpPr/>
              <p:nvPr/>
            </p:nvSpPr>
            <p:spPr>
              <a:xfrm rot="10800000">
                <a:off x="4524" y="2955"/>
                <a:ext cx="201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28" name="Rectangle 70"/>
              <p:cNvSpPr/>
              <p:nvPr/>
            </p:nvSpPr>
            <p:spPr>
              <a:xfrm>
                <a:off x="1204" y="3175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读  写  控  制  电  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29" name="Rectangle 71"/>
              <p:cNvSpPr/>
              <p:nvPr/>
            </p:nvSpPr>
            <p:spPr>
              <a:xfrm>
                <a:off x="1204" y="3656"/>
                <a:ext cx="3613" cy="26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bIns="0" anchor="ctr" anchorCtr="0"/>
              <a:p>
                <a:pPr algn="ctr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列  地  址  译  码 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30" name="Text Box 72"/>
              <p:cNvSpPr txBox="1"/>
              <p:nvPr/>
            </p:nvSpPr>
            <p:spPr>
              <a:xfrm rot="5400000">
                <a:off x="1671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31" name="Text Box 73"/>
              <p:cNvSpPr txBox="1"/>
              <p:nvPr/>
            </p:nvSpPr>
            <p:spPr>
              <a:xfrm rot="5400000">
                <a:off x="2602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32" name="Text Box 74"/>
              <p:cNvSpPr txBox="1"/>
              <p:nvPr/>
            </p:nvSpPr>
            <p:spPr>
              <a:xfrm rot="5400000">
                <a:off x="4234" y="1948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33" name="Rectangle 75"/>
              <p:cNvSpPr/>
              <p:nvPr/>
            </p:nvSpPr>
            <p:spPr>
              <a:xfrm>
                <a:off x="1615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34" name="Rectangle 76"/>
              <p:cNvSpPr/>
              <p:nvPr/>
            </p:nvSpPr>
            <p:spPr>
              <a:xfrm>
                <a:off x="1615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35" name="Rectangle 77"/>
              <p:cNvSpPr/>
              <p:nvPr/>
            </p:nvSpPr>
            <p:spPr>
              <a:xfrm>
                <a:off x="2546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36" name="Rectangle 78"/>
              <p:cNvSpPr/>
              <p:nvPr/>
            </p:nvSpPr>
            <p:spPr>
              <a:xfrm>
                <a:off x="2546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37" name="Rectangle 79"/>
              <p:cNvSpPr/>
              <p:nvPr/>
            </p:nvSpPr>
            <p:spPr>
              <a:xfrm>
                <a:off x="2546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38" name="Rectangle 80"/>
              <p:cNvSpPr/>
              <p:nvPr/>
            </p:nvSpPr>
            <p:spPr>
              <a:xfrm>
                <a:off x="4178" y="1078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39" name="Rectangle 81"/>
              <p:cNvSpPr/>
              <p:nvPr/>
            </p:nvSpPr>
            <p:spPr>
              <a:xfrm>
                <a:off x="4178" y="1643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40" name="Rectangle 82"/>
              <p:cNvSpPr/>
              <p:nvPr/>
            </p:nvSpPr>
            <p:spPr>
              <a:xfrm>
                <a:off x="4178" y="2517"/>
                <a:ext cx="346" cy="134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41" name="AutoShape 83"/>
              <p:cNvSpPr/>
              <p:nvPr/>
            </p:nvSpPr>
            <p:spPr>
              <a:xfrm rot="-5400000">
                <a:off x="2614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42" name="AutoShape 84"/>
              <p:cNvSpPr/>
              <p:nvPr/>
            </p:nvSpPr>
            <p:spPr>
              <a:xfrm rot="-5400000">
                <a:off x="4246" y="2766"/>
                <a:ext cx="175" cy="346"/>
              </a:xfrm>
              <a:prstGeom prst="triangle">
                <a:avLst>
                  <a:gd name="adj" fmla="val 56245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4243" name="Text Box 85"/>
              <p:cNvSpPr txBox="1"/>
              <p:nvPr/>
            </p:nvSpPr>
            <p:spPr>
              <a:xfrm>
                <a:off x="4796" y="86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读选择线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44" name="Text Box 86"/>
              <p:cNvSpPr txBox="1"/>
              <p:nvPr/>
            </p:nvSpPr>
            <p:spPr>
              <a:xfrm>
                <a:off x="4806" y="1150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写选择线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45" name="Line 87"/>
              <p:cNvSpPr/>
              <p:nvPr/>
            </p:nvSpPr>
            <p:spPr>
              <a:xfrm>
                <a:off x="4817" y="3306"/>
                <a:ext cx="3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304246" name="Text Box 88"/>
              <p:cNvSpPr txBox="1"/>
              <p:nvPr/>
            </p:nvSpPr>
            <p:spPr>
              <a:xfrm>
                <a:off x="4906" y="3024"/>
                <a:ext cx="2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47" name="Text Box 89"/>
              <p:cNvSpPr txBox="1"/>
              <p:nvPr/>
            </p:nvSpPr>
            <p:spPr>
              <a:xfrm>
                <a:off x="3296" y="1929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单元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48" name="Text Box 90"/>
              <p:cNvSpPr txBox="1"/>
              <p:nvPr/>
            </p:nvSpPr>
            <p:spPr>
              <a:xfrm>
                <a:off x="3296" y="2108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电路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49" name="Text Box 91"/>
              <p:cNvSpPr txBox="1"/>
              <p:nvPr/>
            </p:nvSpPr>
            <p:spPr>
              <a:xfrm>
                <a:off x="503" y="936"/>
                <a:ext cx="307" cy="203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行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地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址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译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</a:rPr>
                  <a:t>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50" name="Text Box 92"/>
              <p:cNvSpPr txBox="1"/>
              <p:nvPr/>
            </p:nvSpPr>
            <p:spPr>
              <a:xfrm>
                <a:off x="907" y="864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51" name="Text Box 93"/>
              <p:cNvSpPr txBox="1"/>
              <p:nvPr/>
            </p:nvSpPr>
            <p:spPr>
              <a:xfrm>
                <a:off x="907" y="1152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52" name="Text Box 94"/>
              <p:cNvSpPr txBox="1"/>
              <p:nvPr/>
            </p:nvSpPr>
            <p:spPr>
              <a:xfrm>
                <a:off x="907" y="1455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53" name="Text Box 95"/>
              <p:cNvSpPr txBox="1"/>
              <p:nvPr/>
            </p:nvSpPr>
            <p:spPr>
              <a:xfrm>
                <a:off x="907" y="176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54" name="Text Box 96"/>
              <p:cNvSpPr txBox="1"/>
              <p:nvPr/>
            </p:nvSpPr>
            <p:spPr>
              <a:xfrm>
                <a:off x="854" y="229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55" name="Text Box 97"/>
              <p:cNvSpPr txBox="1"/>
              <p:nvPr/>
            </p:nvSpPr>
            <p:spPr>
              <a:xfrm>
                <a:off x="858" y="2592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56" name="Line 98"/>
              <p:cNvSpPr/>
              <p:nvPr/>
            </p:nvSpPr>
            <p:spPr>
              <a:xfrm>
                <a:off x="1887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257" name="Line 99"/>
              <p:cNvSpPr/>
              <p:nvPr/>
            </p:nvSpPr>
            <p:spPr>
              <a:xfrm>
                <a:off x="2832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258" name="Text Box 100"/>
              <p:cNvSpPr txBox="1"/>
              <p:nvPr/>
            </p:nvSpPr>
            <p:spPr>
              <a:xfrm>
                <a:off x="2613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59" name="Line 101"/>
              <p:cNvSpPr/>
              <p:nvPr/>
            </p:nvSpPr>
            <p:spPr>
              <a:xfrm>
                <a:off x="4473" y="3449"/>
                <a:ext cx="0" cy="21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260" name="Text Box 102"/>
              <p:cNvSpPr txBox="1"/>
              <p:nvPr/>
            </p:nvSpPr>
            <p:spPr>
              <a:xfrm>
                <a:off x="4176" y="3420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31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04261" name="Group 103"/>
              <p:cNvGrpSpPr/>
              <p:nvPr/>
            </p:nvGrpSpPr>
            <p:grpSpPr>
              <a:xfrm>
                <a:off x="1492" y="3918"/>
                <a:ext cx="283" cy="324"/>
                <a:chOff x="1584" y="3918"/>
                <a:chExt cx="283" cy="324"/>
              </a:xfrm>
            </p:grpSpPr>
            <p:sp>
              <p:nvSpPr>
                <p:cNvPr id="304297" name="Line 104"/>
                <p:cNvSpPr/>
                <p:nvPr/>
              </p:nvSpPr>
              <p:spPr>
                <a:xfrm rot="-5400000">
                  <a:off x="149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4298" name="Text Box 105"/>
                <p:cNvSpPr txBox="1"/>
                <p:nvPr/>
              </p:nvSpPr>
              <p:spPr>
                <a:xfrm>
                  <a:off x="1584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4262" name="Group 106"/>
              <p:cNvGrpSpPr/>
              <p:nvPr/>
            </p:nvGrpSpPr>
            <p:grpSpPr>
              <a:xfrm>
                <a:off x="2234" y="3918"/>
                <a:ext cx="284" cy="325"/>
                <a:chOff x="2355" y="3918"/>
                <a:chExt cx="284" cy="325"/>
              </a:xfrm>
            </p:grpSpPr>
            <p:sp>
              <p:nvSpPr>
                <p:cNvPr id="304295" name="Line 107"/>
                <p:cNvSpPr/>
                <p:nvPr/>
              </p:nvSpPr>
              <p:spPr>
                <a:xfrm rot="-5400000">
                  <a:off x="224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4296" name="Text Box 108"/>
                <p:cNvSpPr txBox="1"/>
                <p:nvPr/>
              </p:nvSpPr>
              <p:spPr>
                <a:xfrm>
                  <a:off x="2356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4263" name="Group 109"/>
              <p:cNvGrpSpPr/>
              <p:nvPr/>
            </p:nvGrpSpPr>
            <p:grpSpPr>
              <a:xfrm>
                <a:off x="2978" y="3918"/>
                <a:ext cx="283" cy="325"/>
                <a:chOff x="3102" y="3918"/>
                <a:chExt cx="283" cy="325"/>
              </a:xfrm>
            </p:grpSpPr>
            <p:sp>
              <p:nvSpPr>
                <p:cNvPr id="304293" name="Line 110"/>
                <p:cNvSpPr/>
                <p:nvPr/>
              </p:nvSpPr>
              <p:spPr>
                <a:xfrm rot="-5400000">
                  <a:off x="3001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4294" name="Text Box 111"/>
                <p:cNvSpPr txBox="1"/>
                <p:nvPr/>
              </p:nvSpPr>
              <p:spPr>
                <a:xfrm>
                  <a:off x="3102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4264" name="Group 112"/>
              <p:cNvGrpSpPr/>
              <p:nvPr/>
            </p:nvGrpSpPr>
            <p:grpSpPr>
              <a:xfrm>
                <a:off x="3721" y="3918"/>
                <a:ext cx="283" cy="325"/>
                <a:chOff x="3844" y="3918"/>
                <a:chExt cx="283" cy="325"/>
              </a:xfrm>
            </p:grpSpPr>
            <p:sp>
              <p:nvSpPr>
                <p:cNvPr id="304291" name="Line 113"/>
                <p:cNvSpPr/>
                <p:nvPr/>
              </p:nvSpPr>
              <p:spPr>
                <a:xfrm rot="-5400000">
                  <a:off x="3756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4292" name="Text Box 114"/>
                <p:cNvSpPr txBox="1"/>
                <p:nvPr/>
              </p:nvSpPr>
              <p:spPr>
                <a:xfrm>
                  <a:off x="3844" y="3992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4265" name="Group 115"/>
              <p:cNvGrpSpPr/>
              <p:nvPr/>
            </p:nvGrpSpPr>
            <p:grpSpPr>
              <a:xfrm>
                <a:off x="4464" y="3918"/>
                <a:ext cx="283" cy="324"/>
                <a:chOff x="4603" y="3918"/>
                <a:chExt cx="283" cy="324"/>
              </a:xfrm>
            </p:grpSpPr>
            <p:sp>
              <p:nvSpPr>
                <p:cNvPr id="304289" name="Line 116"/>
                <p:cNvSpPr/>
                <p:nvPr/>
              </p:nvSpPr>
              <p:spPr>
                <a:xfrm rot="-5400000">
                  <a:off x="4510" y="4027"/>
                  <a:ext cx="218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04290" name="Text Box 117"/>
                <p:cNvSpPr txBox="1"/>
                <p:nvPr/>
              </p:nvSpPr>
              <p:spPr>
                <a:xfrm>
                  <a:off x="4603" y="3991"/>
                  <a:ext cx="283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A</a:t>
                  </a:r>
                  <a:r>
                    <a:rPr lang="en-US" altLang="zh-CN" sz="2000" b="1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4266" name="Line 118"/>
              <p:cNvSpPr/>
              <p:nvPr/>
            </p:nvSpPr>
            <p:spPr>
              <a:xfrm>
                <a:off x="2689" y="1690"/>
                <a:ext cx="643" cy="39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267" name="Line 119"/>
              <p:cNvSpPr/>
              <p:nvPr/>
            </p:nvSpPr>
            <p:spPr>
              <a:xfrm>
                <a:off x="3976" y="2039"/>
                <a:ext cx="990" cy="219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268" name="Line 120"/>
              <p:cNvSpPr/>
              <p:nvPr/>
            </p:nvSpPr>
            <p:spPr>
              <a:xfrm>
                <a:off x="4718" y="1384"/>
                <a:ext cx="693" cy="1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4269" name="Text Box 121"/>
              <p:cNvSpPr txBox="1"/>
              <p:nvPr/>
            </p:nvSpPr>
            <p:spPr>
              <a:xfrm>
                <a:off x="4844" y="2728"/>
                <a:ext cx="91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刷新放大器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70" name="Line 122"/>
              <p:cNvSpPr/>
              <p:nvPr/>
            </p:nvSpPr>
            <p:spPr>
              <a:xfrm flipV="1">
                <a:off x="4520" y="2957"/>
                <a:ext cx="495" cy="4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04271" name="Group 123"/>
              <p:cNvGrpSpPr/>
              <p:nvPr/>
            </p:nvGrpSpPr>
            <p:grpSpPr>
              <a:xfrm>
                <a:off x="4916" y="1726"/>
                <a:ext cx="275" cy="894"/>
                <a:chOff x="4920" y="1790"/>
                <a:chExt cx="275" cy="894"/>
              </a:xfrm>
            </p:grpSpPr>
            <p:sp>
              <p:nvSpPr>
                <p:cNvPr id="304285" name="Text Box 124"/>
                <p:cNvSpPr txBox="1"/>
                <p:nvPr/>
              </p:nvSpPr>
              <p:spPr>
                <a:xfrm>
                  <a:off x="4920" y="1790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写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4286" name="Text Box 125"/>
                <p:cNvSpPr txBox="1"/>
                <p:nvPr/>
              </p:nvSpPr>
              <p:spPr>
                <a:xfrm>
                  <a:off x="4920" y="2005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4287" name="Text Box 126"/>
                <p:cNvSpPr txBox="1"/>
                <p:nvPr/>
              </p:nvSpPr>
              <p:spPr>
                <a:xfrm>
                  <a:off x="4920" y="2219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4288" name="Text Box 127"/>
                <p:cNvSpPr txBox="1"/>
                <p:nvPr/>
              </p:nvSpPr>
              <p:spPr>
                <a:xfrm>
                  <a:off x="4920" y="2433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4272" name="Group 128"/>
              <p:cNvGrpSpPr/>
              <p:nvPr/>
            </p:nvGrpSpPr>
            <p:grpSpPr>
              <a:xfrm>
                <a:off x="5372" y="1505"/>
                <a:ext cx="275" cy="880"/>
                <a:chOff x="5394" y="1612"/>
                <a:chExt cx="275" cy="880"/>
              </a:xfrm>
            </p:grpSpPr>
            <p:sp>
              <p:nvSpPr>
                <p:cNvPr id="304281" name="Text Box 129"/>
                <p:cNvSpPr txBox="1"/>
                <p:nvPr/>
              </p:nvSpPr>
              <p:spPr>
                <a:xfrm>
                  <a:off x="5394" y="161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读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4282" name="Text Box 130"/>
                <p:cNvSpPr txBox="1"/>
                <p:nvPr/>
              </p:nvSpPr>
              <p:spPr>
                <a:xfrm>
                  <a:off x="5394" y="182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4283" name="Text Box 131"/>
                <p:cNvSpPr txBox="1"/>
                <p:nvPr/>
              </p:nvSpPr>
              <p:spPr>
                <a:xfrm>
                  <a:off x="5394" y="203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据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4284" name="Text Box 132"/>
                <p:cNvSpPr txBox="1"/>
                <p:nvPr/>
              </p:nvSpPr>
              <p:spPr>
                <a:xfrm>
                  <a:off x="5394" y="2241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线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04273" name="Group 133"/>
              <p:cNvGrpSpPr/>
              <p:nvPr/>
            </p:nvGrpSpPr>
            <p:grpSpPr>
              <a:xfrm>
                <a:off x="3320" y="915"/>
                <a:ext cx="371" cy="2173"/>
                <a:chOff x="3324" y="979"/>
                <a:chExt cx="371" cy="2173"/>
              </a:xfrm>
            </p:grpSpPr>
            <p:sp>
              <p:nvSpPr>
                <p:cNvPr id="304277" name="Text Box 134"/>
                <p:cNvSpPr txBox="1"/>
                <p:nvPr/>
              </p:nvSpPr>
              <p:spPr>
                <a:xfrm>
                  <a:off x="3324" y="979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4278" name="Text Box 135"/>
                <p:cNvSpPr txBox="1"/>
                <p:nvPr/>
              </p:nvSpPr>
              <p:spPr>
                <a:xfrm>
                  <a:off x="3324" y="1507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4279" name="Text Box 136"/>
                <p:cNvSpPr txBox="1"/>
                <p:nvPr/>
              </p:nvSpPr>
              <p:spPr>
                <a:xfrm>
                  <a:off x="3324" y="2400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04280" name="Text Box 137"/>
                <p:cNvSpPr txBox="1"/>
                <p:nvPr/>
              </p:nvSpPr>
              <p:spPr>
                <a:xfrm>
                  <a:off x="3324" y="2784"/>
                  <a:ext cx="371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…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4274" name="Text Box 138"/>
              <p:cNvSpPr txBox="1"/>
              <p:nvPr/>
            </p:nvSpPr>
            <p:spPr>
              <a:xfrm rot="5400000">
                <a:off x="916" y="1976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75" name="Text Box 139"/>
              <p:cNvSpPr txBox="1"/>
              <p:nvPr/>
            </p:nvSpPr>
            <p:spPr>
              <a:xfrm>
                <a:off x="1656" y="3420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4276" name="Text Box 140"/>
              <p:cNvSpPr txBox="1"/>
              <p:nvPr/>
            </p:nvSpPr>
            <p:spPr>
              <a:xfrm>
                <a:off x="3350" y="3312"/>
                <a:ext cx="339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04131" name="Group 141"/>
          <p:cNvGrpSpPr/>
          <p:nvPr/>
        </p:nvGrpSpPr>
        <p:grpSpPr>
          <a:xfrm>
            <a:off x="3357563" y="3711575"/>
            <a:ext cx="5791200" cy="646113"/>
            <a:chOff x="1155" y="2338"/>
            <a:chExt cx="3648" cy="407"/>
          </a:xfrm>
        </p:grpSpPr>
        <p:sp>
          <p:nvSpPr>
            <p:cNvPr id="304163" name="Freeform 142"/>
            <p:cNvSpPr/>
            <p:nvPr/>
          </p:nvSpPr>
          <p:spPr>
            <a:xfrm>
              <a:off x="1155" y="2740"/>
              <a:ext cx="3648" cy="5"/>
            </a:xfrm>
            <a:custGeom>
              <a:avLst/>
              <a:gdLst>
                <a:gd name="txL" fmla="*/ 0 w 3648"/>
                <a:gd name="txT" fmla="*/ 0 h 5"/>
                <a:gd name="txR" fmla="*/ 3648 w 3648"/>
                <a:gd name="txB" fmla="*/ 5 h 5"/>
              </a:gdLst>
              <a:ahLst/>
              <a:cxnLst>
                <a:cxn ang="0">
                  <a:pos x="0" y="0"/>
                </a:cxn>
                <a:cxn ang="0">
                  <a:pos x="3648" y="5"/>
                </a:cxn>
              </a:cxnLst>
              <a:rect l="txL" t="txT" r="txR" b="txB"/>
              <a:pathLst>
                <a:path w="3648" h="5">
                  <a:moveTo>
                    <a:pt x="0" y="0"/>
                  </a:moveTo>
                  <a:lnTo>
                    <a:pt x="3648" y="5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4164" name="Line 143"/>
            <p:cNvSpPr/>
            <p:nvPr/>
          </p:nvSpPr>
          <p:spPr>
            <a:xfrm rot="10800000">
              <a:off x="1788" y="2656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4165" name="Line 144"/>
            <p:cNvSpPr/>
            <p:nvPr/>
          </p:nvSpPr>
          <p:spPr>
            <a:xfrm rot="10800000">
              <a:off x="2725" y="2658"/>
              <a:ext cx="0" cy="84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4166" name="Freeform 145"/>
            <p:cNvSpPr/>
            <p:nvPr/>
          </p:nvSpPr>
          <p:spPr>
            <a:xfrm>
              <a:off x="4350" y="2657"/>
              <a:ext cx="1" cy="79"/>
            </a:xfrm>
            <a:custGeom>
              <a:avLst/>
              <a:gdLst>
                <a:gd name="txL" fmla="*/ 0 w 1"/>
                <a:gd name="txT" fmla="*/ 0 h 79"/>
                <a:gd name="txR" fmla="*/ 1 w 1"/>
                <a:gd name="txB" fmla="*/ 79 h 79"/>
              </a:gdLst>
              <a:ahLst/>
              <a:cxnLst>
                <a:cxn ang="0">
                  <a:pos x="0" y="79"/>
                </a:cxn>
                <a:cxn ang="0">
                  <a:pos x="1" y="0"/>
                </a:cxn>
              </a:cxnLst>
              <a:rect l="txL" t="txT" r="txR" b="txB"/>
              <a:pathLst>
                <a:path w="1" h="79">
                  <a:moveTo>
                    <a:pt x="0" y="79"/>
                  </a:moveTo>
                  <a:lnTo>
                    <a:pt x="1" y="0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4167" name="Rectangle 146"/>
            <p:cNvSpPr/>
            <p:nvPr/>
          </p:nvSpPr>
          <p:spPr>
            <a:xfrm>
              <a:off x="1615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4168" name="Rectangle 147"/>
            <p:cNvSpPr/>
            <p:nvPr/>
          </p:nvSpPr>
          <p:spPr>
            <a:xfrm>
              <a:off x="2546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4169" name="Rectangle 148"/>
            <p:cNvSpPr/>
            <p:nvPr/>
          </p:nvSpPr>
          <p:spPr>
            <a:xfrm>
              <a:off x="4178" y="2519"/>
              <a:ext cx="346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4170" name="Text Box 149"/>
            <p:cNvSpPr txBox="1"/>
            <p:nvPr/>
          </p:nvSpPr>
          <p:spPr>
            <a:xfrm>
              <a:off x="3320" y="2338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4132" name="Group 150"/>
          <p:cNvGrpSpPr/>
          <p:nvPr/>
        </p:nvGrpSpPr>
        <p:grpSpPr>
          <a:xfrm>
            <a:off x="9170988" y="4808538"/>
            <a:ext cx="628650" cy="460094"/>
            <a:chOff x="4775" y="2954"/>
            <a:chExt cx="384" cy="318"/>
          </a:xfrm>
        </p:grpSpPr>
        <p:sp>
          <p:nvSpPr>
            <p:cNvPr id="304161" name="Line 151"/>
            <p:cNvSpPr/>
            <p:nvPr/>
          </p:nvSpPr>
          <p:spPr>
            <a:xfrm>
              <a:off x="4775" y="3264"/>
              <a:ext cx="384" cy="0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04162" name="Text Box 152"/>
            <p:cNvSpPr txBox="1"/>
            <p:nvPr/>
          </p:nvSpPr>
          <p:spPr>
            <a:xfrm>
              <a:off x="4861" y="2954"/>
              <a:ext cx="246" cy="3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4133" name="Group 153"/>
          <p:cNvGrpSpPr/>
          <p:nvPr/>
        </p:nvGrpSpPr>
        <p:grpSpPr>
          <a:xfrm>
            <a:off x="5238750" y="1820863"/>
            <a:ext cx="315913" cy="3228975"/>
            <a:chOff x="2340" y="1128"/>
            <a:chExt cx="199" cy="2034"/>
          </a:xfrm>
        </p:grpSpPr>
        <p:sp>
          <p:nvSpPr>
            <p:cNvPr id="304159" name="Freeform 154"/>
            <p:cNvSpPr/>
            <p:nvPr/>
          </p:nvSpPr>
          <p:spPr>
            <a:xfrm>
              <a:off x="2340" y="1128"/>
              <a:ext cx="9" cy="2034"/>
            </a:xfrm>
            <a:custGeom>
              <a:avLst/>
              <a:gdLst>
                <a:gd name="txL" fmla="*/ 0 w 9"/>
                <a:gd name="txT" fmla="*/ 0 h 2034"/>
                <a:gd name="txR" fmla="*/ 9 w 9"/>
                <a:gd name="txB" fmla="*/ 2034 h 2034"/>
              </a:gdLst>
              <a:ahLst/>
              <a:cxnLst>
                <a:cxn ang="0">
                  <a:pos x="0" y="0"/>
                </a:cxn>
                <a:cxn ang="0">
                  <a:pos x="9" y="6"/>
                </a:cxn>
                <a:cxn ang="0">
                  <a:pos x="6" y="2034"/>
                </a:cxn>
              </a:cxnLst>
              <a:rect l="txL" t="txT" r="txR" b="txB"/>
              <a:pathLst>
                <a:path w="9" h="2034">
                  <a:moveTo>
                    <a:pt x="0" y="0"/>
                  </a:moveTo>
                  <a:lnTo>
                    <a:pt x="9" y="6"/>
                  </a:lnTo>
                  <a:lnTo>
                    <a:pt x="6" y="2034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4160" name="Freeform 155"/>
            <p:cNvSpPr/>
            <p:nvPr/>
          </p:nvSpPr>
          <p:spPr>
            <a:xfrm>
              <a:off x="2349" y="2577"/>
              <a:ext cx="190" cy="1"/>
            </a:xfrm>
            <a:custGeom>
              <a:avLst/>
              <a:gdLst>
                <a:gd name="txL" fmla="*/ 0 w 190"/>
                <a:gd name="txT" fmla="*/ 0 h 1"/>
                <a:gd name="txR" fmla="*/ 190 w 190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90" y="1"/>
                </a:cxn>
              </a:cxnLst>
              <a:rect l="txL" t="txT" r="txR" b="txB"/>
              <a:pathLst>
                <a:path w="190" h="1">
                  <a:moveTo>
                    <a:pt x="0" y="0"/>
                  </a:moveTo>
                  <a:lnTo>
                    <a:pt x="190" y="1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39772" name="Rectangle 156"/>
          <p:cNvSpPr/>
          <p:nvPr/>
        </p:nvSpPr>
        <p:spPr>
          <a:xfrm>
            <a:off x="5565775" y="3987800"/>
            <a:ext cx="549275" cy="227013"/>
          </a:xfrm>
          <a:prstGeom prst="rect">
            <a:avLst/>
          </a:prstGeom>
          <a:solidFill>
            <a:srgbClr val="CC9900"/>
          </a:solidFill>
          <a:ln w="38100" cap="flat" cmpd="sng">
            <a:solidFill>
              <a:srgbClr val="CC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04135" name="Group 157"/>
          <p:cNvGrpSpPr/>
          <p:nvPr/>
        </p:nvGrpSpPr>
        <p:grpSpPr>
          <a:xfrm>
            <a:off x="1865313" y="1819275"/>
            <a:ext cx="360312" cy="3365215"/>
            <a:chOff x="300" y="720"/>
            <a:chExt cx="220" cy="2329"/>
          </a:xfrm>
        </p:grpSpPr>
        <p:sp>
          <p:nvSpPr>
            <p:cNvPr id="304154" name="Text Box 158"/>
            <p:cNvSpPr txBox="1"/>
            <p:nvPr/>
          </p:nvSpPr>
          <p:spPr>
            <a:xfrm>
              <a:off x="300" y="720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4155" name="Text Box 159"/>
            <p:cNvSpPr txBox="1"/>
            <p:nvPr/>
          </p:nvSpPr>
          <p:spPr>
            <a:xfrm>
              <a:off x="300" y="1212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4156" name="Text Box 160"/>
            <p:cNvSpPr txBox="1"/>
            <p:nvPr/>
          </p:nvSpPr>
          <p:spPr>
            <a:xfrm>
              <a:off x="300" y="1705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4157" name="Text Box 161"/>
            <p:cNvSpPr txBox="1"/>
            <p:nvPr/>
          </p:nvSpPr>
          <p:spPr>
            <a:xfrm>
              <a:off x="300" y="2196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4158" name="Text Box 162"/>
            <p:cNvSpPr txBox="1"/>
            <p:nvPr/>
          </p:nvSpPr>
          <p:spPr>
            <a:xfrm>
              <a:off x="300" y="2688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4136" name="Group 163"/>
          <p:cNvGrpSpPr/>
          <p:nvPr/>
        </p:nvGrpSpPr>
        <p:grpSpPr>
          <a:xfrm>
            <a:off x="3505200" y="6138863"/>
            <a:ext cx="5152976" cy="522004"/>
            <a:chOff x="1452" y="3984"/>
            <a:chExt cx="3148" cy="361"/>
          </a:xfrm>
        </p:grpSpPr>
        <p:sp>
          <p:nvSpPr>
            <p:cNvPr id="304149" name="Text Box 164"/>
            <p:cNvSpPr txBox="1"/>
            <p:nvPr/>
          </p:nvSpPr>
          <p:spPr>
            <a:xfrm>
              <a:off x="1452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4150" name="Text Box 165"/>
            <p:cNvSpPr txBox="1"/>
            <p:nvPr/>
          </p:nvSpPr>
          <p:spPr>
            <a:xfrm>
              <a:off x="4380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4151" name="Text Box 166"/>
            <p:cNvSpPr txBox="1"/>
            <p:nvPr/>
          </p:nvSpPr>
          <p:spPr>
            <a:xfrm>
              <a:off x="3648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4152" name="Text Box 167"/>
            <p:cNvSpPr txBox="1"/>
            <p:nvPr/>
          </p:nvSpPr>
          <p:spPr>
            <a:xfrm>
              <a:off x="2917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4153" name="Text Box 168"/>
            <p:cNvSpPr txBox="1"/>
            <p:nvPr/>
          </p:nvSpPr>
          <p:spPr>
            <a:xfrm>
              <a:off x="2186" y="3984"/>
              <a:ext cx="220" cy="3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04137" name="Group 169"/>
          <p:cNvGrpSpPr/>
          <p:nvPr/>
        </p:nvGrpSpPr>
        <p:grpSpPr>
          <a:xfrm>
            <a:off x="5675313" y="5429250"/>
            <a:ext cx="344487" cy="398463"/>
            <a:chOff x="2611" y="3425"/>
            <a:chExt cx="217" cy="251"/>
          </a:xfrm>
        </p:grpSpPr>
        <p:sp>
          <p:nvSpPr>
            <p:cNvPr id="304147" name="Text Box 170"/>
            <p:cNvSpPr txBox="1"/>
            <p:nvPr/>
          </p:nvSpPr>
          <p:spPr>
            <a:xfrm>
              <a:off x="2611" y="3425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4148" name="Freeform 171"/>
            <p:cNvSpPr/>
            <p:nvPr/>
          </p:nvSpPr>
          <p:spPr>
            <a:xfrm>
              <a:off x="2827" y="3430"/>
              <a:ext cx="1" cy="227"/>
            </a:xfrm>
            <a:custGeom>
              <a:avLst/>
              <a:gdLst>
                <a:gd name="txL" fmla="*/ 0 w 1"/>
                <a:gd name="txT" fmla="*/ 0 h 227"/>
                <a:gd name="txR" fmla="*/ 1 w 1"/>
                <a:gd name="txB" fmla="*/ 227 h 227"/>
              </a:gdLst>
              <a:ahLst/>
              <a:cxnLst>
                <a:cxn ang="0">
                  <a:pos x="0" y="0"/>
                </a:cxn>
                <a:cxn ang="0">
                  <a:pos x="0" y="227"/>
                </a:cxn>
              </a:cxnLst>
              <a:rect l="txL" t="txT" r="txR" b="txB"/>
              <a:pathLst>
                <a:path w="1" h="227">
                  <a:moveTo>
                    <a:pt x="0" y="0"/>
                  </a:moveTo>
                  <a:lnTo>
                    <a:pt x="0" y="227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39788" name="Rectangle 17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4139" name="Text Box 173"/>
          <p:cNvSpPr txBox="1"/>
          <p:nvPr/>
        </p:nvSpPr>
        <p:spPr>
          <a:xfrm>
            <a:off x="1828800" y="228600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② </a:t>
            </a:r>
            <a:r>
              <a:rPr lang="zh-CN" altLang="en-US" sz="3200" b="1" dirty="0">
                <a:latin typeface="Times New Roman" panose="02020603050405020304" pitchFamily="18" charset="0"/>
              </a:rPr>
              <a:t>三管动态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en-US" altLang="zh-CN" sz="3200" b="1" dirty="0">
                <a:latin typeface="Times New Roman" panose="02020603050405020304" pitchFamily="18" charset="0"/>
              </a:rPr>
              <a:t>(Intel 1103)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4140" name="Rectangle 174"/>
          <p:cNvSpPr/>
          <p:nvPr/>
        </p:nvSpPr>
        <p:spPr>
          <a:xfrm>
            <a:off x="3435350" y="5029200"/>
            <a:ext cx="5735638" cy="415925"/>
          </a:xfrm>
          <a:prstGeom prst="rect">
            <a:avLst/>
          </a:prstGeom>
          <a:solidFill>
            <a:schemeClr val="folHlink"/>
          </a:solidFill>
          <a:ln w="38100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读  写  控  制  电  路</a:t>
            </a:r>
            <a:endParaRPr lang="zh-CN" altLang="en-US" sz="2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04141" name="Group 175"/>
          <p:cNvGrpSpPr/>
          <p:nvPr/>
        </p:nvGrpSpPr>
        <p:grpSpPr>
          <a:xfrm>
            <a:off x="5570538" y="1719263"/>
            <a:ext cx="793750" cy="2058987"/>
            <a:chOff x="2549" y="1083"/>
            <a:chExt cx="500" cy="1297"/>
          </a:xfrm>
        </p:grpSpPr>
        <p:sp>
          <p:nvSpPr>
            <p:cNvPr id="304144" name="Rectangle 176"/>
            <p:cNvSpPr/>
            <p:nvPr/>
          </p:nvSpPr>
          <p:spPr>
            <a:xfrm>
              <a:off x="2549" y="1083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4145" name="Rectangle 177"/>
            <p:cNvSpPr/>
            <p:nvPr/>
          </p:nvSpPr>
          <p:spPr>
            <a:xfrm>
              <a:off x="2549" y="1636"/>
              <a:ext cx="347" cy="134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4146" name="Text Box 178"/>
            <p:cNvSpPr txBox="1"/>
            <p:nvPr/>
          </p:nvSpPr>
          <p:spPr>
            <a:xfrm>
              <a:off x="2585" y="1972"/>
              <a:ext cx="464" cy="40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4142" name="AutoShape 17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414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772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1962150" y="1200150"/>
            <a:ext cx="8629650" cy="5456238"/>
            <a:chOff x="276" y="756"/>
            <a:chExt cx="5436" cy="3437"/>
          </a:xfrm>
        </p:grpSpPr>
        <p:grpSp>
          <p:nvGrpSpPr>
            <p:cNvPr id="305173" name="Group 3"/>
            <p:cNvGrpSpPr/>
            <p:nvPr/>
          </p:nvGrpSpPr>
          <p:grpSpPr>
            <a:xfrm>
              <a:off x="276" y="756"/>
              <a:ext cx="5436" cy="3437"/>
              <a:chOff x="276" y="756"/>
              <a:chExt cx="5436" cy="3437"/>
            </a:xfrm>
          </p:grpSpPr>
          <p:sp>
            <p:nvSpPr>
              <p:cNvPr id="305176" name="Rectangle 4"/>
              <p:cNvSpPr/>
              <p:nvPr/>
            </p:nvSpPr>
            <p:spPr>
              <a:xfrm>
                <a:off x="1362" y="784"/>
                <a:ext cx="3015" cy="6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177" name="Rectangle 5"/>
              <p:cNvSpPr/>
              <p:nvPr/>
            </p:nvSpPr>
            <p:spPr>
              <a:xfrm>
                <a:off x="2251" y="966"/>
                <a:ext cx="123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800" b="1" dirty="0">
                    <a:latin typeface="宋体" panose="02010600030101010101" pitchFamily="2" charset="-122"/>
                  </a:rPr>
                  <a:t>时序与控制 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78" name="Rectangle 6"/>
              <p:cNvSpPr/>
              <p:nvPr/>
            </p:nvSpPr>
            <p:spPr>
              <a:xfrm>
                <a:off x="4728" y="766"/>
                <a:ext cx="48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行时钟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79" name="Rectangle 7"/>
              <p:cNvSpPr/>
              <p:nvPr/>
            </p:nvSpPr>
            <p:spPr>
              <a:xfrm>
                <a:off x="4728" y="1004"/>
                <a:ext cx="48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列时钟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80" name="Rectangle 8"/>
              <p:cNvSpPr/>
              <p:nvPr/>
            </p:nvSpPr>
            <p:spPr>
              <a:xfrm>
                <a:off x="4728" y="1242"/>
                <a:ext cx="48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写时钟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81" name="Rectangle 9"/>
              <p:cNvSpPr/>
              <p:nvPr/>
            </p:nvSpPr>
            <p:spPr>
              <a:xfrm>
                <a:off x="640" y="1229"/>
                <a:ext cx="334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 WE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82" name="Line 10"/>
              <p:cNvSpPr/>
              <p:nvPr/>
            </p:nvSpPr>
            <p:spPr>
              <a:xfrm>
                <a:off x="648" y="1243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183" name="Rectangle 11"/>
              <p:cNvSpPr/>
              <p:nvPr/>
            </p:nvSpPr>
            <p:spPr>
              <a:xfrm>
                <a:off x="651" y="756"/>
                <a:ext cx="352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RAS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84" name="Line 12"/>
              <p:cNvSpPr/>
              <p:nvPr/>
            </p:nvSpPr>
            <p:spPr>
              <a:xfrm>
                <a:off x="624" y="768"/>
                <a:ext cx="40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185" name="Rectangle 13"/>
              <p:cNvSpPr/>
              <p:nvPr/>
            </p:nvSpPr>
            <p:spPr>
              <a:xfrm>
                <a:off x="651" y="992"/>
                <a:ext cx="352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CAS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86" name="Line 14"/>
              <p:cNvSpPr/>
              <p:nvPr/>
            </p:nvSpPr>
            <p:spPr>
              <a:xfrm>
                <a:off x="624" y="1004"/>
                <a:ext cx="40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187" name="Rectangle 15"/>
              <p:cNvSpPr/>
              <p:nvPr/>
            </p:nvSpPr>
            <p:spPr>
              <a:xfrm>
                <a:off x="957" y="1618"/>
                <a:ext cx="525" cy="85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188" name="Rectangle 16"/>
              <p:cNvSpPr/>
              <p:nvPr/>
            </p:nvSpPr>
            <p:spPr>
              <a:xfrm>
                <a:off x="957" y="3107"/>
                <a:ext cx="525" cy="857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189" name="Rectangle 17"/>
              <p:cNvSpPr/>
              <p:nvPr/>
            </p:nvSpPr>
            <p:spPr>
              <a:xfrm rot="5400000">
                <a:off x="1785" y="2301"/>
                <a:ext cx="8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90" name="Rectangle 18"/>
              <p:cNvSpPr/>
              <p:nvPr/>
            </p:nvSpPr>
            <p:spPr>
              <a:xfrm>
                <a:off x="336" y="1714"/>
                <a:ext cx="287" cy="46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191" name="Rectangle 19"/>
              <p:cNvSpPr/>
              <p:nvPr/>
            </p:nvSpPr>
            <p:spPr>
              <a:xfrm>
                <a:off x="336" y="1743"/>
                <a:ext cx="121" cy="2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100" b="1" dirty="0">
                    <a:latin typeface="Times New Roman" panose="02020603050405020304" pitchFamily="18" charset="0"/>
                  </a:rPr>
                  <a:t>A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92" name="Rectangle 20"/>
              <p:cNvSpPr/>
              <p:nvPr/>
            </p:nvSpPr>
            <p:spPr>
              <a:xfrm>
                <a:off x="432" y="1718"/>
                <a:ext cx="36" cy="1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'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93" name="Rectangle 21"/>
              <p:cNvSpPr/>
              <p:nvPr/>
            </p:nvSpPr>
            <p:spPr>
              <a:xfrm>
                <a:off x="468" y="1822"/>
                <a:ext cx="64" cy="1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6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94" name="Rectangle 22"/>
              <p:cNvSpPr/>
              <p:nvPr/>
            </p:nvSpPr>
            <p:spPr>
              <a:xfrm>
                <a:off x="336" y="2071"/>
                <a:ext cx="121" cy="2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100" b="1" dirty="0">
                    <a:latin typeface="Times New Roman" panose="02020603050405020304" pitchFamily="18" charset="0"/>
                  </a:rPr>
                  <a:t>A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95" name="Rectangle 23"/>
              <p:cNvSpPr/>
              <p:nvPr/>
            </p:nvSpPr>
            <p:spPr>
              <a:xfrm>
                <a:off x="432" y="2054"/>
                <a:ext cx="36" cy="1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'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96" name="Rectangle 24"/>
              <p:cNvSpPr/>
              <p:nvPr/>
            </p:nvSpPr>
            <p:spPr>
              <a:xfrm>
                <a:off x="468" y="2150"/>
                <a:ext cx="64" cy="1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6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97" name="Rectangle 25"/>
              <p:cNvSpPr/>
              <p:nvPr/>
            </p:nvSpPr>
            <p:spPr>
              <a:xfrm>
                <a:off x="624" y="2016"/>
                <a:ext cx="48" cy="1536"/>
              </a:xfrm>
              <a:prstGeom prst="rect">
                <a:avLst/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198" name="Rectangle 26"/>
              <p:cNvSpPr/>
              <p:nvPr/>
            </p:nvSpPr>
            <p:spPr>
              <a:xfrm>
                <a:off x="2208" y="3696"/>
                <a:ext cx="1152" cy="3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存储单元阵列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5199" name="Rectangle 27"/>
              <p:cNvSpPr/>
              <p:nvPr/>
            </p:nvSpPr>
            <p:spPr>
              <a:xfrm>
                <a:off x="2304" y="3336"/>
                <a:ext cx="115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基准单元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5200" name="Rectangle 28"/>
              <p:cNvSpPr/>
              <p:nvPr/>
            </p:nvSpPr>
            <p:spPr>
              <a:xfrm>
                <a:off x="1920" y="3264"/>
                <a:ext cx="288" cy="7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lnSpc>
                    <a:spcPct val="95000"/>
                  </a:lnSpc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行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5000"/>
                  </a:lnSpc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译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5000"/>
                  </a:lnSpc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码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5201" name="Rectangle 29"/>
              <p:cNvSpPr/>
              <p:nvPr/>
            </p:nvSpPr>
            <p:spPr>
              <a:xfrm>
                <a:off x="2352" y="2948"/>
                <a:ext cx="1152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列译码器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5202" name="Rectangle 30"/>
              <p:cNvSpPr/>
              <p:nvPr/>
            </p:nvSpPr>
            <p:spPr>
              <a:xfrm>
                <a:off x="2256" y="2597"/>
                <a:ext cx="1152" cy="3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再生放大器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5203" name="Rectangle 31"/>
              <p:cNvSpPr/>
              <p:nvPr/>
            </p:nvSpPr>
            <p:spPr>
              <a:xfrm>
                <a:off x="2352" y="2319"/>
                <a:ext cx="115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列译码器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5204" name="Rectangle 32"/>
              <p:cNvSpPr/>
              <p:nvPr/>
            </p:nvSpPr>
            <p:spPr>
              <a:xfrm>
                <a:off x="1920" y="2279"/>
                <a:ext cx="288" cy="98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lnSpc>
                    <a:spcPct val="95000"/>
                  </a:lnSpc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读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5000"/>
                  </a:lnSpc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出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5000"/>
                  </a:lnSpc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放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5000"/>
                  </a:lnSpc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大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5205" name="Rectangle 33"/>
              <p:cNvSpPr/>
              <p:nvPr/>
            </p:nvSpPr>
            <p:spPr>
              <a:xfrm>
                <a:off x="2352" y="1970"/>
                <a:ext cx="1152" cy="35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基准单元</a:t>
                </a:r>
                <a:endParaRPr lang="zh-CN" altLang="en-US" sz="2000" b="1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06" name="Rectangle 34"/>
              <p:cNvSpPr/>
              <p:nvPr/>
            </p:nvSpPr>
            <p:spPr>
              <a:xfrm>
                <a:off x="2208" y="1596"/>
                <a:ext cx="115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存储单元阵列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5207" name="Rectangle 35"/>
              <p:cNvSpPr/>
              <p:nvPr/>
            </p:nvSpPr>
            <p:spPr>
              <a:xfrm>
                <a:off x="1920" y="1536"/>
                <a:ext cx="288" cy="7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lnSpc>
                    <a:spcPct val="95000"/>
                  </a:lnSpc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行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5000"/>
                  </a:lnSpc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译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5000"/>
                  </a:lnSpc>
                  <a:spcBef>
                    <a:spcPct val="20000"/>
                  </a:spcBef>
                </a:pPr>
                <a:r>
                  <a:rPr lang="zh-CN" altLang="en-US" sz="2000" b="1" dirty="0">
                    <a:latin typeface="宋体" panose="02010600030101010101" pitchFamily="2" charset="-122"/>
                  </a:rPr>
                  <a:t>码</a:t>
                </a:r>
                <a:endParaRPr lang="zh-CN" altLang="en-US" sz="20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5208" name="Line 36"/>
              <p:cNvSpPr/>
              <p:nvPr/>
            </p:nvSpPr>
            <p:spPr>
              <a:xfrm>
                <a:off x="1920" y="2279"/>
                <a:ext cx="14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209" name="Line 37"/>
              <p:cNvSpPr/>
              <p:nvPr/>
            </p:nvSpPr>
            <p:spPr>
              <a:xfrm>
                <a:off x="1920" y="3264"/>
                <a:ext cx="144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210" name="Line 38"/>
              <p:cNvSpPr/>
              <p:nvPr/>
            </p:nvSpPr>
            <p:spPr>
              <a:xfrm>
                <a:off x="1920" y="4007"/>
                <a:ext cx="1440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211" name="Line 39"/>
              <p:cNvSpPr/>
              <p:nvPr/>
            </p:nvSpPr>
            <p:spPr>
              <a:xfrm>
                <a:off x="1920" y="1536"/>
                <a:ext cx="0" cy="2471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212" name="Line 40"/>
              <p:cNvSpPr/>
              <p:nvPr/>
            </p:nvSpPr>
            <p:spPr>
              <a:xfrm>
                <a:off x="2208" y="1536"/>
                <a:ext cx="0" cy="247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213" name="Line 41"/>
              <p:cNvSpPr/>
              <p:nvPr/>
            </p:nvSpPr>
            <p:spPr>
              <a:xfrm>
                <a:off x="3360" y="1536"/>
                <a:ext cx="0" cy="2471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214" name="Freeform 42"/>
              <p:cNvSpPr/>
              <p:nvPr/>
            </p:nvSpPr>
            <p:spPr>
              <a:xfrm>
                <a:off x="1923" y="1533"/>
                <a:ext cx="1437" cy="4"/>
              </a:xfrm>
              <a:custGeom>
                <a:avLst/>
                <a:gdLst>
                  <a:gd name="txL" fmla="*/ 0 w 1437"/>
                  <a:gd name="txT" fmla="*/ 0 h 4"/>
                  <a:gd name="txR" fmla="*/ 1437 w 1437"/>
                  <a:gd name="txB" fmla="*/ 4 h 4"/>
                </a:gdLst>
                <a:ahLst/>
                <a:cxnLst>
                  <a:cxn ang="0">
                    <a:pos x="0" y="0"/>
                  </a:cxn>
                  <a:cxn ang="0">
                    <a:pos x="1437" y="4"/>
                  </a:cxn>
                </a:cxnLst>
                <a:rect l="txL" t="txT" r="txR" b="txB"/>
                <a:pathLst>
                  <a:path w="1437" h="4">
                    <a:moveTo>
                      <a:pt x="0" y="0"/>
                    </a:moveTo>
                    <a:lnTo>
                      <a:pt x="1437" y="4"/>
                    </a:lnTo>
                  </a:path>
                </a:pathLst>
              </a:custGeom>
              <a:noFill/>
              <a:ln w="381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15" name="Line 43"/>
              <p:cNvSpPr/>
              <p:nvPr/>
            </p:nvSpPr>
            <p:spPr>
              <a:xfrm>
                <a:off x="2208" y="1920"/>
                <a:ext cx="11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216" name="Line 44"/>
              <p:cNvSpPr/>
              <p:nvPr/>
            </p:nvSpPr>
            <p:spPr>
              <a:xfrm>
                <a:off x="2208" y="2567"/>
                <a:ext cx="11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217" name="Line 45"/>
              <p:cNvSpPr/>
              <p:nvPr/>
            </p:nvSpPr>
            <p:spPr>
              <a:xfrm>
                <a:off x="2208" y="2928"/>
                <a:ext cx="11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218" name="Line 46"/>
              <p:cNvSpPr/>
              <p:nvPr/>
            </p:nvSpPr>
            <p:spPr>
              <a:xfrm>
                <a:off x="2208" y="3648"/>
                <a:ext cx="115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5219" name="Rectangle 47"/>
              <p:cNvSpPr/>
              <p:nvPr/>
            </p:nvSpPr>
            <p:spPr>
              <a:xfrm>
                <a:off x="4215" y="2497"/>
                <a:ext cx="740" cy="623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20" name="Rectangle 48"/>
              <p:cNvSpPr/>
              <p:nvPr/>
            </p:nvSpPr>
            <p:spPr>
              <a:xfrm>
                <a:off x="4223" y="2568"/>
                <a:ext cx="498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200" b="1" dirty="0">
                    <a:latin typeface="Times New Roman" panose="02020603050405020304" pitchFamily="18" charset="0"/>
                  </a:rPr>
                  <a:t>     </a:t>
                </a:r>
                <a:r>
                  <a:rPr lang="en-US" altLang="zh-CN" sz="12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200" b="1" dirty="0">
                    <a:latin typeface="Times New Roman" panose="02020603050405020304" pitchFamily="18" charset="0"/>
                  </a:rPr>
                  <a:t>I/O</a:t>
                </a:r>
                <a:endParaRPr lang="en-US" altLang="zh-CN" sz="2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221" name="Rectangle 49"/>
              <p:cNvSpPr/>
              <p:nvPr/>
            </p:nvSpPr>
            <p:spPr>
              <a:xfrm>
                <a:off x="4353" y="2802"/>
                <a:ext cx="48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缓存器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222" name="Rectangle 50"/>
              <p:cNvSpPr/>
              <p:nvPr/>
            </p:nvSpPr>
            <p:spPr>
              <a:xfrm>
                <a:off x="4192" y="3547"/>
                <a:ext cx="738" cy="49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23" name="Rectangle 51"/>
              <p:cNvSpPr/>
              <p:nvPr/>
            </p:nvSpPr>
            <p:spPr>
              <a:xfrm>
                <a:off x="4224" y="3592"/>
                <a:ext cx="64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数据输出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224" name="Rectangle 52"/>
              <p:cNvSpPr/>
              <p:nvPr/>
            </p:nvSpPr>
            <p:spPr>
              <a:xfrm>
                <a:off x="4417" y="3815"/>
                <a:ext cx="32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驱动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225" name="Rectangle 53"/>
              <p:cNvSpPr/>
              <p:nvPr/>
            </p:nvSpPr>
            <p:spPr>
              <a:xfrm>
                <a:off x="4215" y="1692"/>
                <a:ext cx="740" cy="48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26" name="Rectangle 54"/>
              <p:cNvSpPr/>
              <p:nvPr/>
            </p:nvSpPr>
            <p:spPr>
              <a:xfrm>
                <a:off x="4265" y="1718"/>
                <a:ext cx="64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数据输入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227" name="Rectangle 55"/>
              <p:cNvSpPr/>
              <p:nvPr/>
            </p:nvSpPr>
            <p:spPr>
              <a:xfrm>
                <a:off x="4344" y="1958"/>
                <a:ext cx="48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寄存器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228" name="Rectangle 56"/>
              <p:cNvSpPr/>
              <p:nvPr/>
            </p:nvSpPr>
            <p:spPr>
              <a:xfrm>
                <a:off x="3744" y="2389"/>
                <a:ext cx="48" cy="1795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29" name="Rectangle 57"/>
              <p:cNvSpPr/>
              <p:nvPr/>
            </p:nvSpPr>
            <p:spPr>
              <a:xfrm>
                <a:off x="3840" y="2524"/>
                <a:ext cx="42" cy="20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10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230" name="Rectangle 58"/>
              <p:cNvSpPr/>
              <p:nvPr/>
            </p:nvSpPr>
            <p:spPr>
              <a:xfrm rot="5400000">
                <a:off x="2461" y="2900"/>
                <a:ext cx="48" cy="2487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31" name="Rectangle 59"/>
              <p:cNvSpPr/>
              <p:nvPr/>
            </p:nvSpPr>
            <p:spPr>
              <a:xfrm>
                <a:off x="1200" y="3975"/>
                <a:ext cx="48" cy="218"/>
              </a:xfrm>
              <a:prstGeom prst="rect">
                <a:avLst/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32" name="Freeform 60"/>
              <p:cNvSpPr/>
              <p:nvPr/>
            </p:nvSpPr>
            <p:spPr>
              <a:xfrm>
                <a:off x="4608" y="2181"/>
                <a:ext cx="1" cy="315"/>
              </a:xfrm>
              <a:custGeom>
                <a:avLst/>
                <a:gdLst>
                  <a:gd name="txL" fmla="*/ 0 w 1"/>
                  <a:gd name="txT" fmla="*/ 0 h 315"/>
                  <a:gd name="txR" fmla="*/ 1 w 1"/>
                  <a:gd name="txB" fmla="*/ 315 h 315"/>
                </a:gdLst>
                <a:ahLst/>
                <a:cxnLst>
                  <a:cxn ang="0">
                    <a:pos x="0" y="0"/>
                  </a:cxn>
                  <a:cxn ang="0">
                    <a:pos x="1" y="315"/>
                  </a:cxn>
                </a:cxnLst>
                <a:rect l="txL" t="txT" r="txR" b="txB"/>
                <a:pathLst>
                  <a:path w="1" h="315">
                    <a:moveTo>
                      <a:pt x="0" y="0"/>
                    </a:moveTo>
                    <a:lnTo>
                      <a:pt x="1" y="31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33" name="Freeform 61"/>
              <p:cNvSpPr/>
              <p:nvPr/>
            </p:nvSpPr>
            <p:spPr>
              <a:xfrm>
                <a:off x="4608" y="3117"/>
                <a:ext cx="1" cy="429"/>
              </a:xfrm>
              <a:custGeom>
                <a:avLst/>
                <a:gdLst>
                  <a:gd name="txL" fmla="*/ 0 w 1"/>
                  <a:gd name="txT" fmla="*/ 0 h 429"/>
                  <a:gd name="txR" fmla="*/ 1 w 1"/>
                  <a:gd name="txB" fmla="*/ 429 h 429"/>
                </a:gdLst>
                <a:ahLst/>
                <a:cxnLst>
                  <a:cxn ang="0">
                    <a:pos x="0" y="0"/>
                  </a:cxn>
                  <a:cxn ang="0">
                    <a:pos x="1" y="429"/>
                  </a:cxn>
                </a:cxnLst>
                <a:rect l="txL" t="txT" r="txR" b="txB"/>
                <a:pathLst>
                  <a:path w="1" h="429">
                    <a:moveTo>
                      <a:pt x="0" y="0"/>
                    </a:moveTo>
                    <a:lnTo>
                      <a:pt x="1" y="42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34" name="Line 62"/>
              <p:cNvSpPr/>
              <p:nvPr/>
            </p:nvSpPr>
            <p:spPr>
              <a:xfrm flipH="1">
                <a:off x="4944" y="1968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5235" name="Line 63"/>
              <p:cNvSpPr/>
              <p:nvPr/>
            </p:nvSpPr>
            <p:spPr>
              <a:xfrm rot="-10800000" flipH="1">
                <a:off x="4938" y="3792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5236" name="Text Box 64"/>
              <p:cNvSpPr txBox="1"/>
              <p:nvPr/>
            </p:nvSpPr>
            <p:spPr>
              <a:xfrm>
                <a:off x="5040" y="1968"/>
                <a:ext cx="48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IN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237" name="Text Box 65"/>
              <p:cNvSpPr txBox="1"/>
              <p:nvPr/>
            </p:nvSpPr>
            <p:spPr>
              <a:xfrm>
                <a:off x="4992" y="3801"/>
                <a:ext cx="72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OUT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238" name="Line 66"/>
              <p:cNvSpPr/>
              <p:nvPr/>
            </p:nvSpPr>
            <p:spPr>
              <a:xfrm>
                <a:off x="1056" y="862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5239" name="Line 67"/>
              <p:cNvSpPr/>
              <p:nvPr/>
            </p:nvSpPr>
            <p:spPr>
              <a:xfrm>
                <a:off x="1056" y="1098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5240" name="Line 68"/>
              <p:cNvSpPr/>
              <p:nvPr/>
            </p:nvSpPr>
            <p:spPr>
              <a:xfrm>
                <a:off x="1056" y="1334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5241" name="Line 69"/>
              <p:cNvSpPr/>
              <p:nvPr/>
            </p:nvSpPr>
            <p:spPr>
              <a:xfrm>
                <a:off x="4368" y="864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5242" name="Line 70"/>
              <p:cNvSpPr/>
              <p:nvPr/>
            </p:nvSpPr>
            <p:spPr>
              <a:xfrm>
                <a:off x="4368" y="1100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5243" name="Line 71"/>
              <p:cNvSpPr/>
              <p:nvPr/>
            </p:nvSpPr>
            <p:spPr>
              <a:xfrm>
                <a:off x="4368" y="1336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5244" name="AutoShape 72"/>
              <p:cNvSpPr/>
              <p:nvPr/>
            </p:nvSpPr>
            <p:spPr>
              <a:xfrm>
                <a:off x="560" y="1980"/>
                <a:ext cx="388" cy="100"/>
              </a:xfrm>
              <a:prstGeom prst="rightArrow">
                <a:avLst>
                  <a:gd name="adj1" fmla="val 50000"/>
                  <a:gd name="adj2" fmla="val 96694"/>
                </a:avLst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45" name="AutoShape 73"/>
              <p:cNvSpPr/>
              <p:nvPr/>
            </p:nvSpPr>
            <p:spPr>
              <a:xfrm>
                <a:off x="625" y="3488"/>
                <a:ext cx="320" cy="100"/>
              </a:xfrm>
              <a:prstGeom prst="rightArrow">
                <a:avLst>
                  <a:gd name="adj1" fmla="val 50000"/>
                  <a:gd name="adj2" fmla="val 80000"/>
                </a:avLst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46" name="Rectangle 74"/>
              <p:cNvSpPr/>
              <p:nvPr/>
            </p:nvSpPr>
            <p:spPr>
              <a:xfrm>
                <a:off x="1572" y="2004"/>
                <a:ext cx="48" cy="1536"/>
              </a:xfrm>
              <a:prstGeom prst="rect">
                <a:avLst/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/>
                <a:endParaRPr lang="zh-CN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5247" name="AutoShape 75"/>
              <p:cNvSpPr/>
              <p:nvPr/>
            </p:nvSpPr>
            <p:spPr>
              <a:xfrm>
                <a:off x="1488" y="1968"/>
                <a:ext cx="433" cy="100"/>
              </a:xfrm>
              <a:prstGeom prst="rightArrow">
                <a:avLst>
                  <a:gd name="adj1" fmla="val 50000"/>
                  <a:gd name="adj2" fmla="val 108250"/>
                </a:avLst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48" name="AutoShape 76"/>
              <p:cNvSpPr/>
              <p:nvPr/>
            </p:nvSpPr>
            <p:spPr>
              <a:xfrm>
                <a:off x="1573" y="3476"/>
                <a:ext cx="342" cy="100"/>
              </a:xfrm>
              <a:prstGeom prst="rightArrow">
                <a:avLst>
                  <a:gd name="adj1" fmla="val 50000"/>
                  <a:gd name="adj2" fmla="val 85405"/>
                </a:avLst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49" name="AutoShape 77"/>
              <p:cNvSpPr/>
              <p:nvPr/>
            </p:nvSpPr>
            <p:spPr>
              <a:xfrm rot="10800000">
                <a:off x="3359" y="2348"/>
                <a:ext cx="433" cy="100"/>
              </a:xfrm>
              <a:prstGeom prst="rightArrow">
                <a:avLst>
                  <a:gd name="adj1" fmla="val 50000"/>
                  <a:gd name="adj2" fmla="val 108250"/>
                </a:avLst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50" name="AutoShape 78"/>
              <p:cNvSpPr/>
              <p:nvPr/>
            </p:nvSpPr>
            <p:spPr>
              <a:xfrm rot="10800000">
                <a:off x="3360" y="3036"/>
                <a:ext cx="433" cy="100"/>
              </a:xfrm>
              <a:prstGeom prst="rightArrow">
                <a:avLst>
                  <a:gd name="adj1" fmla="val 50000"/>
                  <a:gd name="adj2" fmla="val 108250"/>
                </a:avLst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51" name="AutoShape 79"/>
              <p:cNvSpPr/>
              <p:nvPr/>
            </p:nvSpPr>
            <p:spPr>
              <a:xfrm>
                <a:off x="3357" y="2700"/>
                <a:ext cx="841" cy="96"/>
              </a:xfrm>
              <a:prstGeom prst="leftRightArrow">
                <a:avLst>
                  <a:gd name="adj1" fmla="val 52083"/>
                  <a:gd name="adj2" fmla="val 114899"/>
                </a:avLst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5252" name="Text Box 80"/>
              <p:cNvSpPr txBox="1"/>
              <p:nvPr/>
            </p:nvSpPr>
            <p:spPr>
              <a:xfrm>
                <a:off x="276" y="1920"/>
                <a:ext cx="348" cy="2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~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5174" name="Text Box 81"/>
            <p:cNvSpPr txBox="1"/>
            <p:nvPr/>
          </p:nvSpPr>
          <p:spPr>
            <a:xfrm>
              <a:off x="939" y="1797"/>
              <a:ext cx="726" cy="5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宋体" panose="02010600030101010101" pitchFamily="2" charset="-122"/>
                </a:rPr>
                <a:t>行地址</a:t>
              </a:r>
              <a:endParaRPr lang="zh-CN" altLang="en-US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宋体" panose="02010600030101010101" pitchFamily="2" charset="-122"/>
                </a:rPr>
                <a:t>缓存器</a:t>
              </a:r>
              <a:endParaRPr lang="zh-CN" altLang="en-US" b="1" dirty="0">
                <a:latin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en-US" altLang="zh-CN" sz="800" b="1" dirty="0">
                <a:latin typeface="宋体" panose="02010600030101010101" pitchFamily="2" charset="-122"/>
              </a:endParaRPr>
            </a:p>
          </p:txBody>
        </p:sp>
        <p:sp>
          <p:nvSpPr>
            <p:cNvPr id="305175" name="Text Box 82"/>
            <p:cNvSpPr txBox="1"/>
            <p:nvPr/>
          </p:nvSpPr>
          <p:spPr>
            <a:xfrm>
              <a:off x="939" y="3319"/>
              <a:ext cx="726" cy="5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宋体" panose="02010600030101010101" pitchFamily="2" charset="-122"/>
                </a:rPr>
                <a:t>列地址</a:t>
              </a:r>
              <a:endParaRPr lang="zh-CN" altLang="en-US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宋体" panose="02010600030101010101" pitchFamily="2" charset="-122"/>
                </a:rPr>
                <a:t>缓存器</a:t>
              </a:r>
              <a:endParaRPr lang="zh-CN" altLang="en-US" b="1" dirty="0">
                <a:latin typeface="宋体" panose="02010600030101010101" pitchFamily="2" charset="-122"/>
              </a:endParaRPr>
            </a:p>
            <a:p>
              <a:pPr>
                <a:spcBef>
                  <a:spcPct val="50000"/>
                </a:spcBef>
              </a:pPr>
              <a:endParaRPr lang="en-US" altLang="zh-CN" sz="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05155" name="Text Box 83"/>
          <p:cNvSpPr txBox="1"/>
          <p:nvPr/>
        </p:nvSpPr>
        <p:spPr>
          <a:xfrm>
            <a:off x="1524000" y="334963"/>
            <a:ext cx="8153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zh-CN" altLang="en-US" sz="3200" b="1" dirty="0">
                <a:latin typeface="Times New Roman" panose="02020603050405020304" pitchFamily="18" charset="0"/>
              </a:rPr>
              <a:t>单管动态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4116 (16K × </a:t>
            </a: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位</a:t>
            </a:r>
            <a:r>
              <a:rPr lang="en-US" altLang="zh-CN" sz="3200" b="1" dirty="0">
                <a:latin typeface="Times New Roman" panose="02020603050405020304" pitchFamily="18" charset="0"/>
              </a:rPr>
              <a:t>) </a:t>
            </a:r>
            <a:r>
              <a:rPr lang="zh-CN" altLang="en-US" sz="3200" b="1" dirty="0">
                <a:latin typeface="Times New Roman" panose="02020603050405020304" pitchFamily="18" charset="0"/>
              </a:rPr>
              <a:t>外特性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40724" name="Rectangle 8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Group 85"/>
          <p:cNvGrpSpPr/>
          <p:nvPr/>
        </p:nvGrpSpPr>
        <p:grpSpPr>
          <a:xfrm>
            <a:off x="9363075" y="3124200"/>
            <a:ext cx="1228725" cy="3370263"/>
            <a:chOff x="4938" y="1968"/>
            <a:chExt cx="774" cy="2123"/>
          </a:xfrm>
        </p:grpSpPr>
        <p:sp>
          <p:nvSpPr>
            <p:cNvPr id="305169" name="Text Box 86"/>
            <p:cNvSpPr txBox="1"/>
            <p:nvPr/>
          </p:nvSpPr>
          <p:spPr>
            <a:xfrm>
              <a:off x="5040" y="1968"/>
              <a:ext cx="48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IN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5170" name="Line 87"/>
            <p:cNvSpPr/>
            <p:nvPr/>
          </p:nvSpPr>
          <p:spPr>
            <a:xfrm flipH="1">
              <a:off x="4944" y="1968"/>
              <a:ext cx="336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5171" name="Line 88"/>
            <p:cNvSpPr/>
            <p:nvPr/>
          </p:nvSpPr>
          <p:spPr>
            <a:xfrm rot="-10800000" flipH="1">
              <a:off x="4938" y="3792"/>
              <a:ext cx="336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5172" name="Text Box 89"/>
            <p:cNvSpPr txBox="1"/>
            <p:nvPr/>
          </p:nvSpPr>
          <p:spPr>
            <a:xfrm>
              <a:off x="4992" y="3801"/>
              <a:ext cx="72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OUT</a:t>
              </a:r>
              <a:endParaRPr lang="en-US" altLang="zh-CN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90"/>
          <p:cNvGrpSpPr/>
          <p:nvPr/>
        </p:nvGrpSpPr>
        <p:grpSpPr>
          <a:xfrm>
            <a:off x="1962150" y="2720975"/>
            <a:ext cx="552450" cy="938213"/>
            <a:chOff x="276" y="1714"/>
            <a:chExt cx="348" cy="591"/>
          </a:xfrm>
        </p:grpSpPr>
        <p:sp>
          <p:nvSpPr>
            <p:cNvPr id="305161" name="Rectangle 91"/>
            <p:cNvSpPr/>
            <p:nvPr/>
          </p:nvSpPr>
          <p:spPr>
            <a:xfrm>
              <a:off x="336" y="1714"/>
              <a:ext cx="287" cy="46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5162" name="Rectangle 92"/>
            <p:cNvSpPr/>
            <p:nvPr/>
          </p:nvSpPr>
          <p:spPr>
            <a:xfrm>
              <a:off x="336" y="1743"/>
              <a:ext cx="121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5163" name="Rectangle 93"/>
            <p:cNvSpPr/>
            <p:nvPr/>
          </p:nvSpPr>
          <p:spPr>
            <a:xfrm>
              <a:off x="432" y="1718"/>
              <a:ext cx="36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'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5164" name="Rectangle 94"/>
            <p:cNvSpPr/>
            <p:nvPr/>
          </p:nvSpPr>
          <p:spPr>
            <a:xfrm>
              <a:off x="468" y="1822"/>
              <a:ext cx="6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5165" name="Rectangle 95"/>
            <p:cNvSpPr/>
            <p:nvPr/>
          </p:nvSpPr>
          <p:spPr>
            <a:xfrm>
              <a:off x="336" y="2071"/>
              <a:ext cx="121" cy="2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1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5166" name="Rectangle 96"/>
            <p:cNvSpPr/>
            <p:nvPr/>
          </p:nvSpPr>
          <p:spPr>
            <a:xfrm>
              <a:off x="432" y="2054"/>
              <a:ext cx="36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'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5167" name="Rectangle 97"/>
            <p:cNvSpPr/>
            <p:nvPr/>
          </p:nvSpPr>
          <p:spPr>
            <a:xfrm>
              <a:off x="468" y="2150"/>
              <a:ext cx="6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5168" name="Text Box 98"/>
            <p:cNvSpPr txBox="1"/>
            <p:nvPr/>
          </p:nvSpPr>
          <p:spPr>
            <a:xfrm>
              <a:off x="276" y="1920"/>
              <a:ext cx="348" cy="24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~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5159" name="AutoShape 9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5160" name="日期占位符 5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306178" name="Group 2"/>
          <p:cNvGrpSpPr/>
          <p:nvPr/>
        </p:nvGrpSpPr>
        <p:grpSpPr>
          <a:xfrm>
            <a:off x="1568450" y="660400"/>
            <a:ext cx="9031288" cy="5894388"/>
            <a:chOff x="28" y="416"/>
            <a:chExt cx="5689" cy="3713"/>
          </a:xfrm>
        </p:grpSpPr>
        <p:sp>
          <p:nvSpPr>
            <p:cNvPr id="306268" name="Freeform 3"/>
            <p:cNvSpPr/>
            <p:nvPr/>
          </p:nvSpPr>
          <p:spPr>
            <a:xfrm>
              <a:off x="4464" y="568"/>
              <a:ext cx="419" cy="3138"/>
            </a:xfrm>
            <a:custGeom>
              <a:avLst/>
              <a:gdLst>
                <a:gd name="txL" fmla="*/ 0 w 419"/>
                <a:gd name="txT" fmla="*/ 0 h 3138"/>
                <a:gd name="txR" fmla="*/ 419 w 419"/>
                <a:gd name="txB" fmla="*/ 3138 h 3138"/>
              </a:gdLst>
              <a:ahLst/>
              <a:cxnLst>
                <a:cxn ang="0">
                  <a:pos x="0" y="0"/>
                </a:cxn>
                <a:cxn ang="0">
                  <a:pos x="0" y="130"/>
                </a:cxn>
                <a:cxn ang="0">
                  <a:pos x="416" y="130"/>
                </a:cxn>
                <a:cxn ang="0">
                  <a:pos x="419" y="3138"/>
                </a:cxn>
              </a:cxnLst>
              <a:rect l="txL" t="txT" r="txR" b="txB"/>
              <a:pathLst>
                <a:path w="419" h="3138">
                  <a:moveTo>
                    <a:pt x="0" y="0"/>
                  </a:moveTo>
                  <a:lnTo>
                    <a:pt x="0" y="130"/>
                  </a:lnTo>
                  <a:lnTo>
                    <a:pt x="416" y="130"/>
                  </a:lnTo>
                  <a:lnTo>
                    <a:pt x="419" y="313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69" name="Freeform 4"/>
            <p:cNvSpPr/>
            <p:nvPr/>
          </p:nvSpPr>
          <p:spPr>
            <a:xfrm>
              <a:off x="3743" y="3684"/>
              <a:ext cx="1" cy="189"/>
            </a:xfrm>
            <a:custGeom>
              <a:avLst/>
              <a:gdLst>
                <a:gd name="txL" fmla="*/ 0 w 1"/>
                <a:gd name="txT" fmla="*/ 0 h 189"/>
                <a:gd name="txR" fmla="*/ 1 w 1"/>
                <a:gd name="txB" fmla="*/ 189 h 189"/>
              </a:gdLst>
              <a:ahLst/>
              <a:cxnLst>
                <a:cxn ang="0">
                  <a:pos x="1" y="0"/>
                </a:cxn>
                <a:cxn ang="0">
                  <a:pos x="0" y="189"/>
                </a:cxn>
              </a:cxnLst>
              <a:rect l="txL" t="txT" r="txR" b="txB"/>
              <a:pathLst>
                <a:path w="1" h="189">
                  <a:moveTo>
                    <a:pt x="1" y="0"/>
                  </a:moveTo>
                  <a:lnTo>
                    <a:pt x="0" y="18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70" name="Freeform 5"/>
            <p:cNvSpPr/>
            <p:nvPr/>
          </p:nvSpPr>
          <p:spPr>
            <a:xfrm>
              <a:off x="3751" y="3694"/>
              <a:ext cx="1145" cy="2"/>
            </a:xfrm>
            <a:custGeom>
              <a:avLst/>
              <a:gdLst>
                <a:gd name="txL" fmla="*/ 0 w 1023"/>
                <a:gd name="txT" fmla="*/ 0 h 2"/>
                <a:gd name="txR" fmla="*/ 1023 w 1023"/>
                <a:gd name="txB" fmla="*/ 2 h 2"/>
              </a:gdLst>
              <a:ahLst/>
              <a:cxnLst>
                <a:cxn ang="0">
                  <a:pos x="1023" y="0"/>
                </a:cxn>
                <a:cxn ang="0">
                  <a:pos x="0" y="2"/>
                </a:cxn>
              </a:cxnLst>
              <a:rect l="txL" t="txT" r="txR" b="txB"/>
              <a:pathLst>
                <a:path w="1023" h="2">
                  <a:moveTo>
                    <a:pt x="1023" y="0"/>
                  </a:move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71" name="Freeform 6"/>
            <p:cNvSpPr/>
            <p:nvPr/>
          </p:nvSpPr>
          <p:spPr>
            <a:xfrm>
              <a:off x="5308" y="432"/>
              <a:ext cx="144" cy="1776"/>
            </a:xfrm>
            <a:custGeom>
              <a:avLst/>
              <a:gdLst>
                <a:gd name="txL" fmla="*/ 0 w 134"/>
                <a:gd name="txT" fmla="*/ 0 h 1540"/>
                <a:gd name="txR" fmla="*/ 134 w 134"/>
                <a:gd name="txB" fmla="*/ 1540 h 1540"/>
              </a:gdLst>
              <a:ahLst/>
              <a:cxnLst>
                <a:cxn ang="0">
                  <a:pos x="0" y="0"/>
                </a:cxn>
                <a:cxn ang="0">
                  <a:pos x="15" y="3"/>
                </a:cxn>
                <a:cxn ang="0">
                  <a:pos x="27" y="10"/>
                </a:cxn>
                <a:cxn ang="0">
                  <a:pos x="37" y="22"/>
                </a:cxn>
                <a:cxn ang="0">
                  <a:pos x="47" y="38"/>
                </a:cxn>
                <a:cxn ang="0">
                  <a:pos x="56" y="56"/>
                </a:cxn>
                <a:cxn ang="0">
                  <a:pos x="62" y="78"/>
                </a:cxn>
                <a:cxn ang="0">
                  <a:pos x="66" y="103"/>
                </a:cxn>
                <a:cxn ang="0">
                  <a:pos x="68" y="128"/>
                </a:cxn>
                <a:cxn ang="0">
                  <a:pos x="68" y="643"/>
                </a:cxn>
                <a:cxn ang="0">
                  <a:pos x="70" y="668"/>
                </a:cxn>
                <a:cxn ang="0">
                  <a:pos x="74" y="691"/>
                </a:cxn>
                <a:cxn ang="0">
                  <a:pos x="78" y="714"/>
                </a:cxn>
                <a:cxn ang="0">
                  <a:pos x="86" y="733"/>
                </a:cxn>
                <a:cxn ang="0">
                  <a:pos x="97" y="748"/>
                </a:cxn>
                <a:cxn ang="0">
                  <a:pos x="107" y="759"/>
                </a:cxn>
                <a:cxn ang="0">
                  <a:pos x="119" y="767"/>
                </a:cxn>
                <a:cxn ang="0">
                  <a:pos x="134" y="770"/>
                </a:cxn>
                <a:cxn ang="0">
                  <a:pos x="119" y="773"/>
                </a:cxn>
                <a:cxn ang="0">
                  <a:pos x="107" y="780"/>
                </a:cxn>
                <a:cxn ang="0">
                  <a:pos x="97" y="792"/>
                </a:cxn>
                <a:cxn ang="0">
                  <a:pos x="86" y="808"/>
                </a:cxn>
                <a:cxn ang="0">
                  <a:pos x="78" y="826"/>
                </a:cxn>
                <a:cxn ang="0">
                  <a:pos x="74" y="848"/>
                </a:cxn>
                <a:cxn ang="0">
                  <a:pos x="70" y="873"/>
                </a:cxn>
                <a:cxn ang="0">
                  <a:pos x="68" y="898"/>
                </a:cxn>
                <a:cxn ang="0">
                  <a:pos x="68" y="1411"/>
                </a:cxn>
                <a:cxn ang="0">
                  <a:pos x="66" y="1438"/>
                </a:cxn>
                <a:cxn ang="0">
                  <a:pos x="62" y="1461"/>
                </a:cxn>
                <a:cxn ang="0">
                  <a:pos x="56" y="1484"/>
                </a:cxn>
                <a:cxn ang="0">
                  <a:pos x="47" y="1503"/>
                </a:cxn>
                <a:cxn ang="0">
                  <a:pos x="37" y="1518"/>
                </a:cxn>
                <a:cxn ang="0">
                  <a:pos x="27" y="1529"/>
                </a:cxn>
                <a:cxn ang="0">
                  <a:pos x="15" y="1537"/>
                </a:cxn>
                <a:cxn ang="0">
                  <a:pos x="0" y="1540"/>
                </a:cxn>
              </a:cxnLst>
              <a:rect l="txL" t="txT" r="txR" b="txB"/>
              <a:pathLst>
                <a:path w="134" h="1540">
                  <a:moveTo>
                    <a:pt x="0" y="0"/>
                  </a:moveTo>
                  <a:lnTo>
                    <a:pt x="15" y="3"/>
                  </a:lnTo>
                  <a:lnTo>
                    <a:pt x="27" y="10"/>
                  </a:lnTo>
                  <a:lnTo>
                    <a:pt x="37" y="22"/>
                  </a:lnTo>
                  <a:lnTo>
                    <a:pt x="47" y="38"/>
                  </a:lnTo>
                  <a:lnTo>
                    <a:pt x="56" y="56"/>
                  </a:lnTo>
                  <a:lnTo>
                    <a:pt x="62" y="78"/>
                  </a:lnTo>
                  <a:lnTo>
                    <a:pt x="66" y="103"/>
                  </a:lnTo>
                  <a:lnTo>
                    <a:pt x="68" y="128"/>
                  </a:lnTo>
                  <a:lnTo>
                    <a:pt x="68" y="643"/>
                  </a:lnTo>
                  <a:lnTo>
                    <a:pt x="70" y="668"/>
                  </a:lnTo>
                  <a:lnTo>
                    <a:pt x="74" y="691"/>
                  </a:lnTo>
                  <a:lnTo>
                    <a:pt x="78" y="714"/>
                  </a:lnTo>
                  <a:lnTo>
                    <a:pt x="86" y="733"/>
                  </a:lnTo>
                  <a:lnTo>
                    <a:pt x="97" y="748"/>
                  </a:lnTo>
                  <a:lnTo>
                    <a:pt x="107" y="759"/>
                  </a:lnTo>
                  <a:lnTo>
                    <a:pt x="119" y="767"/>
                  </a:lnTo>
                  <a:lnTo>
                    <a:pt x="134" y="770"/>
                  </a:lnTo>
                  <a:lnTo>
                    <a:pt x="119" y="773"/>
                  </a:lnTo>
                  <a:lnTo>
                    <a:pt x="107" y="780"/>
                  </a:lnTo>
                  <a:lnTo>
                    <a:pt x="97" y="792"/>
                  </a:lnTo>
                  <a:lnTo>
                    <a:pt x="86" y="808"/>
                  </a:lnTo>
                  <a:lnTo>
                    <a:pt x="78" y="826"/>
                  </a:lnTo>
                  <a:lnTo>
                    <a:pt x="74" y="848"/>
                  </a:lnTo>
                  <a:lnTo>
                    <a:pt x="70" y="873"/>
                  </a:lnTo>
                  <a:lnTo>
                    <a:pt x="68" y="898"/>
                  </a:lnTo>
                  <a:lnTo>
                    <a:pt x="68" y="1411"/>
                  </a:lnTo>
                  <a:lnTo>
                    <a:pt x="66" y="1438"/>
                  </a:lnTo>
                  <a:lnTo>
                    <a:pt x="62" y="1461"/>
                  </a:lnTo>
                  <a:lnTo>
                    <a:pt x="56" y="1484"/>
                  </a:lnTo>
                  <a:lnTo>
                    <a:pt x="47" y="1503"/>
                  </a:lnTo>
                  <a:lnTo>
                    <a:pt x="37" y="1518"/>
                  </a:lnTo>
                  <a:lnTo>
                    <a:pt x="27" y="1529"/>
                  </a:lnTo>
                  <a:lnTo>
                    <a:pt x="15" y="1537"/>
                  </a:lnTo>
                  <a:lnTo>
                    <a:pt x="0" y="154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72" name="Freeform 7"/>
            <p:cNvSpPr/>
            <p:nvPr/>
          </p:nvSpPr>
          <p:spPr>
            <a:xfrm>
              <a:off x="121" y="1707"/>
              <a:ext cx="198" cy="3"/>
            </a:xfrm>
            <a:custGeom>
              <a:avLst/>
              <a:gdLst>
                <a:gd name="txL" fmla="*/ 0 w 198"/>
                <a:gd name="txT" fmla="*/ 0 h 3"/>
                <a:gd name="txR" fmla="*/ 198 w 198"/>
                <a:gd name="txB" fmla="*/ 3 h 3"/>
              </a:gdLst>
              <a:ahLst/>
              <a:cxnLst>
                <a:cxn ang="0">
                  <a:pos x="0" y="3"/>
                </a:cxn>
                <a:cxn ang="0">
                  <a:pos x="198" y="0"/>
                </a:cxn>
              </a:cxnLst>
              <a:rect l="txL" t="txT" r="txR" b="txB"/>
              <a:pathLst>
                <a:path w="198" h="3">
                  <a:moveTo>
                    <a:pt x="0" y="3"/>
                  </a:moveTo>
                  <a:lnTo>
                    <a:pt x="198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73" name="Freeform 8"/>
            <p:cNvSpPr/>
            <p:nvPr/>
          </p:nvSpPr>
          <p:spPr>
            <a:xfrm>
              <a:off x="2956" y="1665"/>
              <a:ext cx="195" cy="1"/>
            </a:xfrm>
            <a:custGeom>
              <a:avLst/>
              <a:gdLst>
                <a:gd name="txL" fmla="*/ 0 w 195"/>
                <a:gd name="txT" fmla="*/ 0 h 1"/>
                <a:gd name="txR" fmla="*/ 195 w 195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195" y="0"/>
                </a:cxn>
              </a:cxnLst>
              <a:rect l="txL" t="txT" r="txR" b="txB"/>
              <a:pathLst>
                <a:path w="195" h="1">
                  <a:moveTo>
                    <a:pt x="0" y="1"/>
                  </a:moveTo>
                  <a:lnTo>
                    <a:pt x="195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74" name="Freeform 9"/>
            <p:cNvSpPr/>
            <p:nvPr/>
          </p:nvSpPr>
          <p:spPr>
            <a:xfrm>
              <a:off x="168" y="3445"/>
              <a:ext cx="3859" cy="155"/>
            </a:xfrm>
            <a:custGeom>
              <a:avLst/>
              <a:gdLst>
                <a:gd name="txL" fmla="*/ 0 w 3179"/>
                <a:gd name="txT" fmla="*/ 0 h 136"/>
                <a:gd name="txR" fmla="*/ 3179 w 3179"/>
                <a:gd name="txB" fmla="*/ 136 h 136"/>
              </a:gdLst>
              <a:ahLst/>
              <a:cxnLst>
                <a:cxn ang="0">
                  <a:pos x="0" y="0"/>
                </a:cxn>
                <a:cxn ang="0">
                  <a:pos x="2" y="8"/>
                </a:cxn>
                <a:cxn ang="0">
                  <a:pos x="6" y="14"/>
                </a:cxn>
                <a:cxn ang="0">
                  <a:pos x="12" y="21"/>
                </a:cxn>
                <a:cxn ang="0">
                  <a:pos x="21" y="27"/>
                </a:cxn>
                <a:cxn ang="0">
                  <a:pos x="33" y="33"/>
                </a:cxn>
                <a:cxn ang="0">
                  <a:pos x="45" y="39"/>
                </a:cxn>
                <a:cxn ang="0">
                  <a:pos x="78" y="48"/>
                </a:cxn>
                <a:cxn ang="0">
                  <a:pos x="117" y="56"/>
                </a:cxn>
                <a:cxn ang="0">
                  <a:pos x="162" y="62"/>
                </a:cxn>
                <a:cxn ang="0">
                  <a:pos x="211" y="67"/>
                </a:cxn>
                <a:cxn ang="0">
                  <a:pos x="265" y="68"/>
                </a:cxn>
                <a:cxn ang="0">
                  <a:pos x="1341" y="68"/>
                </a:cxn>
                <a:cxn ang="0">
                  <a:pos x="1395" y="70"/>
                </a:cxn>
                <a:cxn ang="0">
                  <a:pos x="1444" y="74"/>
                </a:cxn>
                <a:cxn ang="0">
                  <a:pos x="1489" y="80"/>
                </a:cxn>
                <a:cxn ang="0">
                  <a:pos x="1528" y="89"/>
                </a:cxn>
                <a:cxn ang="0">
                  <a:pos x="1561" y="98"/>
                </a:cxn>
                <a:cxn ang="0">
                  <a:pos x="1573" y="104"/>
                </a:cxn>
                <a:cxn ang="0">
                  <a:pos x="1585" y="110"/>
                </a:cxn>
                <a:cxn ang="0">
                  <a:pos x="1594" y="117"/>
                </a:cxn>
                <a:cxn ang="0">
                  <a:pos x="1600" y="123"/>
                </a:cxn>
                <a:cxn ang="0">
                  <a:pos x="1604" y="129"/>
                </a:cxn>
                <a:cxn ang="0">
                  <a:pos x="1606" y="136"/>
                </a:cxn>
                <a:cxn ang="0">
                  <a:pos x="1608" y="129"/>
                </a:cxn>
                <a:cxn ang="0">
                  <a:pos x="1612" y="123"/>
                </a:cxn>
                <a:cxn ang="0">
                  <a:pos x="1618" y="117"/>
                </a:cxn>
                <a:cxn ang="0">
                  <a:pos x="1626" y="110"/>
                </a:cxn>
                <a:cxn ang="0">
                  <a:pos x="1639" y="104"/>
                </a:cxn>
                <a:cxn ang="0">
                  <a:pos x="1651" y="98"/>
                </a:cxn>
                <a:cxn ang="0">
                  <a:pos x="1684" y="89"/>
                </a:cxn>
                <a:cxn ang="0">
                  <a:pos x="1723" y="80"/>
                </a:cxn>
                <a:cxn ang="0">
                  <a:pos x="1768" y="74"/>
                </a:cxn>
                <a:cxn ang="0">
                  <a:pos x="1817" y="70"/>
                </a:cxn>
                <a:cxn ang="0">
                  <a:pos x="1870" y="68"/>
                </a:cxn>
                <a:cxn ang="0">
                  <a:pos x="2914" y="68"/>
                </a:cxn>
                <a:cxn ang="0">
                  <a:pos x="2968" y="67"/>
                </a:cxn>
                <a:cxn ang="0">
                  <a:pos x="3017" y="62"/>
                </a:cxn>
                <a:cxn ang="0">
                  <a:pos x="3062" y="56"/>
                </a:cxn>
                <a:cxn ang="0">
                  <a:pos x="3101" y="48"/>
                </a:cxn>
                <a:cxn ang="0">
                  <a:pos x="3134" y="39"/>
                </a:cxn>
                <a:cxn ang="0">
                  <a:pos x="3146" y="33"/>
                </a:cxn>
                <a:cxn ang="0">
                  <a:pos x="3158" y="27"/>
                </a:cxn>
                <a:cxn ang="0">
                  <a:pos x="3166" y="21"/>
                </a:cxn>
                <a:cxn ang="0">
                  <a:pos x="3173" y="14"/>
                </a:cxn>
                <a:cxn ang="0">
                  <a:pos x="3177" y="8"/>
                </a:cxn>
                <a:cxn ang="0">
                  <a:pos x="3179" y="0"/>
                </a:cxn>
              </a:cxnLst>
              <a:rect l="txL" t="txT" r="txR" b="txB"/>
              <a:pathLst>
                <a:path w="3179" h="136">
                  <a:moveTo>
                    <a:pt x="0" y="0"/>
                  </a:moveTo>
                  <a:lnTo>
                    <a:pt x="2" y="8"/>
                  </a:lnTo>
                  <a:lnTo>
                    <a:pt x="6" y="14"/>
                  </a:lnTo>
                  <a:lnTo>
                    <a:pt x="12" y="21"/>
                  </a:lnTo>
                  <a:lnTo>
                    <a:pt x="21" y="27"/>
                  </a:lnTo>
                  <a:lnTo>
                    <a:pt x="33" y="33"/>
                  </a:lnTo>
                  <a:lnTo>
                    <a:pt x="45" y="39"/>
                  </a:lnTo>
                  <a:lnTo>
                    <a:pt x="78" y="48"/>
                  </a:lnTo>
                  <a:lnTo>
                    <a:pt x="117" y="56"/>
                  </a:lnTo>
                  <a:lnTo>
                    <a:pt x="162" y="62"/>
                  </a:lnTo>
                  <a:lnTo>
                    <a:pt x="211" y="67"/>
                  </a:lnTo>
                  <a:lnTo>
                    <a:pt x="265" y="68"/>
                  </a:lnTo>
                  <a:lnTo>
                    <a:pt x="1341" y="68"/>
                  </a:lnTo>
                  <a:lnTo>
                    <a:pt x="1395" y="70"/>
                  </a:lnTo>
                  <a:lnTo>
                    <a:pt x="1444" y="74"/>
                  </a:lnTo>
                  <a:lnTo>
                    <a:pt x="1489" y="80"/>
                  </a:lnTo>
                  <a:lnTo>
                    <a:pt x="1528" y="89"/>
                  </a:lnTo>
                  <a:lnTo>
                    <a:pt x="1561" y="98"/>
                  </a:lnTo>
                  <a:lnTo>
                    <a:pt x="1573" y="104"/>
                  </a:lnTo>
                  <a:lnTo>
                    <a:pt x="1585" y="110"/>
                  </a:lnTo>
                  <a:lnTo>
                    <a:pt x="1594" y="117"/>
                  </a:lnTo>
                  <a:lnTo>
                    <a:pt x="1600" y="123"/>
                  </a:lnTo>
                  <a:lnTo>
                    <a:pt x="1604" y="129"/>
                  </a:lnTo>
                  <a:lnTo>
                    <a:pt x="1606" y="136"/>
                  </a:lnTo>
                  <a:lnTo>
                    <a:pt x="1608" y="129"/>
                  </a:lnTo>
                  <a:lnTo>
                    <a:pt x="1612" y="123"/>
                  </a:lnTo>
                  <a:lnTo>
                    <a:pt x="1618" y="117"/>
                  </a:lnTo>
                  <a:lnTo>
                    <a:pt x="1626" y="110"/>
                  </a:lnTo>
                  <a:lnTo>
                    <a:pt x="1639" y="104"/>
                  </a:lnTo>
                  <a:lnTo>
                    <a:pt x="1651" y="98"/>
                  </a:lnTo>
                  <a:lnTo>
                    <a:pt x="1684" y="89"/>
                  </a:lnTo>
                  <a:lnTo>
                    <a:pt x="1723" y="80"/>
                  </a:lnTo>
                  <a:lnTo>
                    <a:pt x="1768" y="74"/>
                  </a:lnTo>
                  <a:lnTo>
                    <a:pt x="1817" y="70"/>
                  </a:lnTo>
                  <a:lnTo>
                    <a:pt x="1870" y="68"/>
                  </a:lnTo>
                  <a:lnTo>
                    <a:pt x="2914" y="68"/>
                  </a:lnTo>
                  <a:lnTo>
                    <a:pt x="2968" y="67"/>
                  </a:lnTo>
                  <a:lnTo>
                    <a:pt x="3017" y="62"/>
                  </a:lnTo>
                  <a:lnTo>
                    <a:pt x="3062" y="56"/>
                  </a:lnTo>
                  <a:lnTo>
                    <a:pt x="3101" y="48"/>
                  </a:lnTo>
                  <a:lnTo>
                    <a:pt x="3134" y="39"/>
                  </a:lnTo>
                  <a:lnTo>
                    <a:pt x="3146" y="33"/>
                  </a:lnTo>
                  <a:lnTo>
                    <a:pt x="3158" y="27"/>
                  </a:lnTo>
                  <a:lnTo>
                    <a:pt x="3166" y="21"/>
                  </a:lnTo>
                  <a:lnTo>
                    <a:pt x="3173" y="14"/>
                  </a:lnTo>
                  <a:lnTo>
                    <a:pt x="3177" y="8"/>
                  </a:lnTo>
                  <a:lnTo>
                    <a:pt x="317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75" name="Rectangle 10"/>
            <p:cNvSpPr/>
            <p:nvPr/>
          </p:nvSpPr>
          <p:spPr>
            <a:xfrm>
              <a:off x="2163" y="3869"/>
              <a:ext cx="745" cy="25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76" name="Rectangle 11"/>
            <p:cNvSpPr/>
            <p:nvPr/>
          </p:nvSpPr>
          <p:spPr>
            <a:xfrm>
              <a:off x="3354" y="3869"/>
              <a:ext cx="742" cy="25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77" name="Rectangle 12"/>
            <p:cNvSpPr/>
            <p:nvPr/>
          </p:nvSpPr>
          <p:spPr>
            <a:xfrm>
              <a:off x="4540" y="3869"/>
              <a:ext cx="744" cy="25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78" name="Line 13"/>
            <p:cNvSpPr/>
            <p:nvPr/>
          </p:nvSpPr>
          <p:spPr>
            <a:xfrm>
              <a:off x="681" y="698"/>
              <a:ext cx="3" cy="1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6279" name="Line 14"/>
            <p:cNvSpPr/>
            <p:nvPr/>
          </p:nvSpPr>
          <p:spPr>
            <a:xfrm>
              <a:off x="3212" y="698"/>
              <a:ext cx="2" cy="1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6280" name="Freeform 15"/>
            <p:cNvSpPr/>
            <p:nvPr/>
          </p:nvSpPr>
          <p:spPr>
            <a:xfrm>
              <a:off x="3357" y="698"/>
              <a:ext cx="1" cy="187"/>
            </a:xfrm>
            <a:custGeom>
              <a:avLst/>
              <a:gdLst>
                <a:gd name="txL" fmla="*/ 0 w 1"/>
                <a:gd name="txT" fmla="*/ 0 h 187"/>
                <a:gd name="txR" fmla="*/ 1 w 1"/>
                <a:gd name="txB" fmla="*/ 187 h 187"/>
              </a:gdLst>
              <a:ahLst/>
              <a:cxnLst>
                <a:cxn ang="0">
                  <a:pos x="0" y="0"/>
                </a:cxn>
                <a:cxn ang="0">
                  <a:pos x="0" y="187"/>
                </a:cxn>
              </a:cxnLst>
              <a:rect l="txL" t="txT" r="txR" b="txB"/>
              <a:pathLst>
                <a:path w="1" h="187">
                  <a:moveTo>
                    <a:pt x="0" y="0"/>
                  </a:moveTo>
                  <a:lnTo>
                    <a:pt x="0" y="187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81" name="Rectangle 16"/>
            <p:cNvSpPr/>
            <p:nvPr/>
          </p:nvSpPr>
          <p:spPr>
            <a:xfrm>
              <a:off x="1708" y="576"/>
              <a:ext cx="906" cy="2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82" name="Text Box 17"/>
            <p:cNvSpPr txBox="1"/>
            <p:nvPr/>
          </p:nvSpPr>
          <p:spPr>
            <a:xfrm>
              <a:off x="1704" y="566"/>
              <a:ext cx="9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读放大器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83" name="Rectangle 18"/>
            <p:cNvSpPr/>
            <p:nvPr/>
          </p:nvSpPr>
          <p:spPr>
            <a:xfrm>
              <a:off x="1708" y="1292"/>
              <a:ext cx="906" cy="2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84" name="Text Box 19"/>
            <p:cNvSpPr txBox="1"/>
            <p:nvPr/>
          </p:nvSpPr>
          <p:spPr>
            <a:xfrm>
              <a:off x="1704" y="1282"/>
              <a:ext cx="9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读放大器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85" name="Rectangle 20"/>
            <p:cNvSpPr/>
            <p:nvPr/>
          </p:nvSpPr>
          <p:spPr>
            <a:xfrm>
              <a:off x="1712" y="2348"/>
              <a:ext cx="906" cy="2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86" name="Text Box 21"/>
            <p:cNvSpPr txBox="1"/>
            <p:nvPr/>
          </p:nvSpPr>
          <p:spPr>
            <a:xfrm>
              <a:off x="1708" y="2338"/>
              <a:ext cx="9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读放大器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87" name="Text Box 22"/>
            <p:cNvSpPr txBox="1"/>
            <p:nvPr/>
          </p:nvSpPr>
          <p:spPr>
            <a:xfrm rot="5400000">
              <a:off x="343" y="2014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88" name="Text Box 23"/>
            <p:cNvSpPr txBox="1"/>
            <p:nvPr/>
          </p:nvSpPr>
          <p:spPr>
            <a:xfrm rot="5400000">
              <a:off x="1294" y="2014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89" name="Text Box 24"/>
            <p:cNvSpPr txBox="1"/>
            <p:nvPr/>
          </p:nvSpPr>
          <p:spPr>
            <a:xfrm rot="5400000">
              <a:off x="2714" y="2014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90" name="Text Box 25"/>
            <p:cNvSpPr txBox="1"/>
            <p:nvPr/>
          </p:nvSpPr>
          <p:spPr>
            <a:xfrm>
              <a:off x="3439" y="304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91" name="Text Box 26"/>
            <p:cNvSpPr txBox="1"/>
            <p:nvPr/>
          </p:nvSpPr>
          <p:spPr>
            <a:xfrm>
              <a:off x="412" y="3043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92" name="Text Box 27"/>
            <p:cNvSpPr txBox="1"/>
            <p:nvPr/>
          </p:nvSpPr>
          <p:spPr>
            <a:xfrm rot="5400000">
              <a:off x="2042" y="1732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93" name="Text Box 28"/>
            <p:cNvSpPr txBox="1"/>
            <p:nvPr/>
          </p:nvSpPr>
          <p:spPr>
            <a:xfrm rot="5400000">
              <a:off x="1878" y="1737"/>
              <a:ext cx="425" cy="138"/>
            </a:xfrm>
            <a:prstGeom prst="rect">
              <a:avLst/>
            </a:prstGeom>
            <a:noFill/>
            <a:ln w="9525">
              <a:noFill/>
            </a:ln>
          </p:spPr>
          <p:txBody>
            <a:bodyPr rot="10800000" vert="eaVert" wrap="none">
              <a:spAutoFit/>
            </a:bodyPr>
            <a:p>
              <a:pPr>
                <a:spcBef>
                  <a:spcPct val="50000"/>
                </a:spcBef>
              </a:pPr>
              <a:endParaRPr lang="zh-CN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94" name="Text Box 29"/>
            <p:cNvSpPr txBox="1"/>
            <p:nvPr/>
          </p:nvSpPr>
          <p:spPr>
            <a:xfrm>
              <a:off x="3340" y="576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295" name="Text Box 30"/>
            <p:cNvSpPr txBox="1"/>
            <p:nvPr/>
          </p:nvSpPr>
          <p:spPr>
            <a:xfrm>
              <a:off x="904" y="576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06296" name="Group 31"/>
            <p:cNvGrpSpPr/>
            <p:nvPr/>
          </p:nvGrpSpPr>
          <p:grpSpPr>
            <a:xfrm>
              <a:off x="315" y="864"/>
              <a:ext cx="49" cy="231"/>
              <a:chOff x="315" y="864"/>
              <a:chExt cx="49" cy="231"/>
            </a:xfrm>
          </p:grpSpPr>
          <p:sp>
            <p:nvSpPr>
              <p:cNvPr id="306502" name="Freeform 32"/>
              <p:cNvSpPr/>
              <p:nvPr/>
            </p:nvSpPr>
            <p:spPr>
              <a:xfrm>
                <a:off x="315" y="922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503" name="Freeform 33"/>
              <p:cNvSpPr/>
              <p:nvPr/>
            </p:nvSpPr>
            <p:spPr>
              <a:xfrm>
                <a:off x="363" y="864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297" name="Group 34"/>
            <p:cNvGrpSpPr/>
            <p:nvPr/>
          </p:nvGrpSpPr>
          <p:grpSpPr>
            <a:xfrm>
              <a:off x="315" y="1593"/>
              <a:ext cx="49" cy="231"/>
              <a:chOff x="315" y="1593"/>
              <a:chExt cx="49" cy="231"/>
            </a:xfrm>
          </p:grpSpPr>
          <p:sp>
            <p:nvSpPr>
              <p:cNvPr id="306500" name="Freeform 35"/>
              <p:cNvSpPr/>
              <p:nvPr/>
            </p:nvSpPr>
            <p:spPr>
              <a:xfrm>
                <a:off x="315" y="1651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501" name="Freeform 36"/>
              <p:cNvSpPr/>
              <p:nvPr/>
            </p:nvSpPr>
            <p:spPr>
              <a:xfrm>
                <a:off x="363" y="1593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298" name="Group 37"/>
            <p:cNvGrpSpPr/>
            <p:nvPr/>
          </p:nvGrpSpPr>
          <p:grpSpPr>
            <a:xfrm>
              <a:off x="315" y="2601"/>
              <a:ext cx="49" cy="231"/>
              <a:chOff x="315" y="2601"/>
              <a:chExt cx="49" cy="231"/>
            </a:xfrm>
          </p:grpSpPr>
          <p:sp>
            <p:nvSpPr>
              <p:cNvPr id="306498" name="Freeform 38"/>
              <p:cNvSpPr/>
              <p:nvPr/>
            </p:nvSpPr>
            <p:spPr>
              <a:xfrm>
                <a:off x="315" y="2659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99" name="Freeform 39"/>
              <p:cNvSpPr/>
              <p:nvPr/>
            </p:nvSpPr>
            <p:spPr>
              <a:xfrm>
                <a:off x="363" y="2601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299" name="Group 40"/>
            <p:cNvGrpSpPr/>
            <p:nvPr/>
          </p:nvGrpSpPr>
          <p:grpSpPr>
            <a:xfrm>
              <a:off x="1275" y="864"/>
              <a:ext cx="49" cy="231"/>
              <a:chOff x="1275" y="864"/>
              <a:chExt cx="49" cy="231"/>
            </a:xfrm>
          </p:grpSpPr>
          <p:sp>
            <p:nvSpPr>
              <p:cNvPr id="306496" name="Freeform 41"/>
              <p:cNvSpPr/>
              <p:nvPr/>
            </p:nvSpPr>
            <p:spPr>
              <a:xfrm>
                <a:off x="1275" y="922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97" name="Freeform 42"/>
              <p:cNvSpPr/>
              <p:nvPr/>
            </p:nvSpPr>
            <p:spPr>
              <a:xfrm>
                <a:off x="1323" y="864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300" name="Group 43"/>
            <p:cNvGrpSpPr/>
            <p:nvPr/>
          </p:nvGrpSpPr>
          <p:grpSpPr>
            <a:xfrm>
              <a:off x="1276" y="1593"/>
              <a:ext cx="49" cy="231"/>
              <a:chOff x="1276" y="1593"/>
              <a:chExt cx="49" cy="231"/>
            </a:xfrm>
          </p:grpSpPr>
          <p:sp>
            <p:nvSpPr>
              <p:cNvPr id="306494" name="Freeform 44"/>
              <p:cNvSpPr/>
              <p:nvPr/>
            </p:nvSpPr>
            <p:spPr>
              <a:xfrm>
                <a:off x="1276" y="1651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95" name="Freeform 45"/>
              <p:cNvSpPr/>
              <p:nvPr/>
            </p:nvSpPr>
            <p:spPr>
              <a:xfrm>
                <a:off x="1324" y="1593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301" name="Group 46"/>
            <p:cNvGrpSpPr/>
            <p:nvPr/>
          </p:nvGrpSpPr>
          <p:grpSpPr>
            <a:xfrm>
              <a:off x="1276" y="2601"/>
              <a:ext cx="49" cy="231"/>
              <a:chOff x="1276" y="2601"/>
              <a:chExt cx="49" cy="231"/>
            </a:xfrm>
          </p:grpSpPr>
          <p:sp>
            <p:nvSpPr>
              <p:cNvPr id="306492" name="Freeform 47"/>
              <p:cNvSpPr/>
              <p:nvPr/>
            </p:nvSpPr>
            <p:spPr>
              <a:xfrm>
                <a:off x="1276" y="2659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93" name="Freeform 48"/>
              <p:cNvSpPr/>
              <p:nvPr/>
            </p:nvSpPr>
            <p:spPr>
              <a:xfrm>
                <a:off x="1324" y="2601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06302" name="Freeform 49"/>
            <p:cNvSpPr/>
            <p:nvPr/>
          </p:nvSpPr>
          <p:spPr>
            <a:xfrm>
              <a:off x="124" y="981"/>
              <a:ext cx="189" cy="2235"/>
            </a:xfrm>
            <a:custGeom>
              <a:avLst/>
              <a:gdLst>
                <a:gd name="txL" fmla="*/ 0 w 189"/>
                <a:gd name="txT" fmla="*/ 0 h 2235"/>
                <a:gd name="txR" fmla="*/ 189 w 189"/>
                <a:gd name="txB" fmla="*/ 2235 h 2235"/>
              </a:gdLst>
              <a:ahLst/>
              <a:cxnLst>
                <a:cxn ang="0">
                  <a:pos x="189" y="0"/>
                </a:cxn>
                <a:cxn ang="0">
                  <a:pos x="0" y="0"/>
                </a:cxn>
                <a:cxn ang="0">
                  <a:pos x="0" y="2235"/>
                </a:cxn>
              </a:cxnLst>
              <a:rect l="txL" t="txT" r="txR" b="txB"/>
              <a:pathLst>
                <a:path w="189" h="2235">
                  <a:moveTo>
                    <a:pt x="189" y="0"/>
                  </a:moveTo>
                  <a:lnTo>
                    <a:pt x="0" y="0"/>
                  </a:lnTo>
                  <a:lnTo>
                    <a:pt x="0" y="223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03" name="Line 50"/>
            <p:cNvSpPr/>
            <p:nvPr/>
          </p:nvSpPr>
          <p:spPr>
            <a:xfrm>
              <a:off x="124" y="2063"/>
              <a:ext cx="190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6304" name="Line 51"/>
            <p:cNvSpPr/>
            <p:nvPr/>
          </p:nvSpPr>
          <p:spPr>
            <a:xfrm>
              <a:off x="126" y="2255"/>
              <a:ext cx="190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6305" name="Freeform 52"/>
            <p:cNvSpPr/>
            <p:nvPr/>
          </p:nvSpPr>
          <p:spPr>
            <a:xfrm>
              <a:off x="121" y="2718"/>
              <a:ext cx="192" cy="1"/>
            </a:xfrm>
            <a:custGeom>
              <a:avLst/>
              <a:gdLst>
                <a:gd name="txL" fmla="*/ 0 w 192"/>
                <a:gd name="txT" fmla="*/ 0 h 1"/>
                <a:gd name="txR" fmla="*/ 192 w 19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92" y="0"/>
                </a:cxn>
              </a:cxnLst>
              <a:rect l="txL" t="txT" r="txR" b="txB"/>
              <a:pathLst>
                <a:path w="192" h="1">
                  <a:moveTo>
                    <a:pt x="0" y="0"/>
                  </a:moveTo>
                  <a:lnTo>
                    <a:pt x="192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06" name="Freeform 53"/>
            <p:cNvSpPr/>
            <p:nvPr/>
          </p:nvSpPr>
          <p:spPr>
            <a:xfrm>
              <a:off x="1078" y="1707"/>
              <a:ext cx="198" cy="3"/>
            </a:xfrm>
            <a:custGeom>
              <a:avLst/>
              <a:gdLst>
                <a:gd name="txL" fmla="*/ 0 w 198"/>
                <a:gd name="txT" fmla="*/ 0 h 3"/>
                <a:gd name="txR" fmla="*/ 198 w 198"/>
                <a:gd name="txB" fmla="*/ 3 h 3"/>
              </a:gdLst>
              <a:ahLst/>
              <a:cxnLst>
                <a:cxn ang="0">
                  <a:pos x="0" y="3"/>
                </a:cxn>
                <a:cxn ang="0">
                  <a:pos x="198" y="0"/>
                </a:cxn>
              </a:cxnLst>
              <a:rect l="txL" t="txT" r="txR" b="txB"/>
              <a:pathLst>
                <a:path w="198" h="3">
                  <a:moveTo>
                    <a:pt x="0" y="3"/>
                  </a:moveTo>
                  <a:lnTo>
                    <a:pt x="198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07" name="Freeform 54"/>
            <p:cNvSpPr/>
            <p:nvPr/>
          </p:nvSpPr>
          <p:spPr>
            <a:xfrm>
              <a:off x="1081" y="981"/>
              <a:ext cx="189" cy="2235"/>
            </a:xfrm>
            <a:custGeom>
              <a:avLst/>
              <a:gdLst>
                <a:gd name="txL" fmla="*/ 0 w 189"/>
                <a:gd name="txT" fmla="*/ 0 h 2235"/>
                <a:gd name="txR" fmla="*/ 189 w 189"/>
                <a:gd name="txB" fmla="*/ 2235 h 2235"/>
              </a:gdLst>
              <a:ahLst/>
              <a:cxnLst>
                <a:cxn ang="0">
                  <a:pos x="189" y="0"/>
                </a:cxn>
                <a:cxn ang="0">
                  <a:pos x="0" y="0"/>
                </a:cxn>
                <a:cxn ang="0">
                  <a:pos x="0" y="2235"/>
                </a:cxn>
              </a:cxnLst>
              <a:rect l="txL" t="txT" r="txR" b="txB"/>
              <a:pathLst>
                <a:path w="189" h="2235">
                  <a:moveTo>
                    <a:pt x="189" y="0"/>
                  </a:moveTo>
                  <a:lnTo>
                    <a:pt x="0" y="0"/>
                  </a:lnTo>
                  <a:lnTo>
                    <a:pt x="0" y="223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08" name="Line 55"/>
            <p:cNvSpPr/>
            <p:nvPr/>
          </p:nvSpPr>
          <p:spPr>
            <a:xfrm>
              <a:off x="1081" y="2063"/>
              <a:ext cx="190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6309" name="Line 56"/>
            <p:cNvSpPr/>
            <p:nvPr/>
          </p:nvSpPr>
          <p:spPr>
            <a:xfrm>
              <a:off x="1083" y="2255"/>
              <a:ext cx="190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6310" name="Freeform 57"/>
            <p:cNvSpPr/>
            <p:nvPr/>
          </p:nvSpPr>
          <p:spPr>
            <a:xfrm>
              <a:off x="1078" y="2718"/>
              <a:ext cx="192" cy="1"/>
            </a:xfrm>
            <a:custGeom>
              <a:avLst/>
              <a:gdLst>
                <a:gd name="txL" fmla="*/ 0 w 192"/>
                <a:gd name="txT" fmla="*/ 0 h 1"/>
                <a:gd name="txR" fmla="*/ 192 w 192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92" y="0"/>
                </a:cxn>
              </a:cxnLst>
              <a:rect l="txL" t="txT" r="txR" b="txB"/>
              <a:pathLst>
                <a:path w="192" h="1">
                  <a:moveTo>
                    <a:pt x="0" y="0"/>
                  </a:moveTo>
                  <a:lnTo>
                    <a:pt x="192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11" name="Freeform 58"/>
            <p:cNvSpPr/>
            <p:nvPr/>
          </p:nvSpPr>
          <p:spPr>
            <a:xfrm>
              <a:off x="364" y="696"/>
              <a:ext cx="1341" cy="243"/>
            </a:xfrm>
            <a:custGeom>
              <a:avLst/>
              <a:gdLst>
                <a:gd name="txL" fmla="*/ 0 w 1341"/>
                <a:gd name="txT" fmla="*/ 0 h 243"/>
                <a:gd name="txR" fmla="*/ 1341 w 1341"/>
                <a:gd name="txB" fmla="*/ 243 h 243"/>
              </a:gdLst>
              <a:ahLst/>
              <a:cxnLst>
                <a:cxn ang="0">
                  <a:pos x="0" y="240"/>
                </a:cxn>
                <a:cxn ang="0">
                  <a:pos x="93" y="243"/>
                </a:cxn>
                <a:cxn ang="0">
                  <a:pos x="93" y="0"/>
                </a:cxn>
                <a:cxn ang="0">
                  <a:pos x="1341" y="0"/>
                </a:cxn>
              </a:cxnLst>
              <a:rect l="txL" t="txT" r="txR" b="txB"/>
              <a:pathLst>
                <a:path w="1341" h="243">
                  <a:moveTo>
                    <a:pt x="0" y="240"/>
                  </a:moveTo>
                  <a:lnTo>
                    <a:pt x="93" y="243"/>
                  </a:lnTo>
                  <a:lnTo>
                    <a:pt x="93" y="0"/>
                  </a:lnTo>
                  <a:lnTo>
                    <a:pt x="134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06312" name="Group 59"/>
            <p:cNvGrpSpPr/>
            <p:nvPr/>
          </p:nvGrpSpPr>
          <p:grpSpPr>
            <a:xfrm>
              <a:off x="364" y="1019"/>
              <a:ext cx="202" cy="277"/>
              <a:chOff x="364" y="1019"/>
              <a:chExt cx="202" cy="277"/>
            </a:xfrm>
          </p:grpSpPr>
          <p:sp>
            <p:nvSpPr>
              <p:cNvPr id="306486" name="Freeform 60"/>
              <p:cNvSpPr/>
              <p:nvPr/>
            </p:nvSpPr>
            <p:spPr>
              <a:xfrm>
                <a:off x="466" y="1197"/>
                <a:ext cx="1" cy="97"/>
              </a:xfrm>
              <a:custGeom>
                <a:avLst/>
                <a:gdLst>
                  <a:gd name="txL" fmla="*/ 0 w 1"/>
                  <a:gd name="txT" fmla="*/ 0 h 97"/>
                  <a:gd name="txR" fmla="*/ 1 w 1"/>
                  <a:gd name="txB" fmla="*/ 97 h 97"/>
                </a:gdLst>
                <a:ahLst/>
                <a:cxnLst>
                  <a:cxn ang="0">
                    <a:pos x="1" y="0"/>
                  </a:cxn>
                  <a:cxn ang="0">
                    <a:pos x="0" y="97"/>
                  </a:cxn>
                </a:cxnLst>
                <a:rect l="txL" t="txT" r="txR" b="txB"/>
                <a:pathLst>
                  <a:path w="1" h="97">
                    <a:moveTo>
                      <a:pt x="1" y="0"/>
                    </a:moveTo>
                    <a:lnTo>
                      <a:pt x="0" y="97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87" name="Freeform 61"/>
              <p:cNvSpPr/>
              <p:nvPr/>
            </p:nvSpPr>
            <p:spPr>
              <a:xfrm>
                <a:off x="412" y="1295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88" name="Freeform 62"/>
              <p:cNvSpPr/>
              <p:nvPr/>
            </p:nvSpPr>
            <p:spPr>
              <a:xfrm>
                <a:off x="364" y="1019"/>
                <a:ext cx="102" cy="141"/>
              </a:xfrm>
              <a:custGeom>
                <a:avLst/>
                <a:gdLst>
                  <a:gd name="txL" fmla="*/ 0 w 102"/>
                  <a:gd name="txT" fmla="*/ 0 h 141"/>
                  <a:gd name="txR" fmla="*/ 102 w 102"/>
                  <a:gd name="txB" fmla="*/ 141 h 141"/>
                </a:gdLst>
                <a:ahLst/>
                <a:cxnLst>
                  <a:cxn ang="0">
                    <a:pos x="0" y="0"/>
                  </a:cxn>
                  <a:cxn ang="0">
                    <a:pos x="102" y="0"/>
                  </a:cxn>
                  <a:cxn ang="0">
                    <a:pos x="102" y="141"/>
                  </a:cxn>
                </a:cxnLst>
                <a:rect l="txL" t="txT" r="txR" b="txB"/>
                <a:pathLst>
                  <a:path w="102" h="141">
                    <a:moveTo>
                      <a:pt x="0" y="0"/>
                    </a:moveTo>
                    <a:lnTo>
                      <a:pt x="102" y="0"/>
                    </a:lnTo>
                    <a:lnTo>
                      <a:pt x="102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89" name="Group 63"/>
              <p:cNvGrpSpPr/>
              <p:nvPr/>
            </p:nvGrpSpPr>
            <p:grpSpPr>
              <a:xfrm>
                <a:off x="364" y="1151"/>
                <a:ext cx="202" cy="49"/>
                <a:chOff x="432" y="1152"/>
                <a:chExt cx="202" cy="49"/>
              </a:xfrm>
            </p:grpSpPr>
            <p:sp>
              <p:nvSpPr>
                <p:cNvPr id="306490" name="Freeform 64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91" name="Freeform 65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06313" name="Freeform 66"/>
            <p:cNvSpPr/>
            <p:nvPr/>
          </p:nvSpPr>
          <p:spPr>
            <a:xfrm>
              <a:off x="885" y="698"/>
              <a:ext cx="4" cy="190"/>
            </a:xfrm>
            <a:custGeom>
              <a:avLst/>
              <a:gdLst>
                <a:gd name="txL" fmla="*/ 0 w 4"/>
                <a:gd name="txT" fmla="*/ 0 h 190"/>
                <a:gd name="txR" fmla="*/ 4 w 4"/>
                <a:gd name="txB" fmla="*/ 190 h 190"/>
              </a:gdLst>
              <a:ahLst/>
              <a:cxnLst>
                <a:cxn ang="0">
                  <a:pos x="4" y="0"/>
                </a:cxn>
                <a:cxn ang="0">
                  <a:pos x="0" y="190"/>
                </a:cxn>
              </a:cxnLst>
              <a:rect l="txL" t="txT" r="txR" b="txB"/>
              <a:pathLst>
                <a:path w="4" h="190">
                  <a:moveTo>
                    <a:pt x="4" y="0"/>
                  </a:moveTo>
                  <a:lnTo>
                    <a:pt x="0" y="19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06314" name="Group 67"/>
            <p:cNvGrpSpPr/>
            <p:nvPr/>
          </p:nvGrpSpPr>
          <p:grpSpPr>
            <a:xfrm>
              <a:off x="364" y="1739"/>
              <a:ext cx="202" cy="277"/>
              <a:chOff x="364" y="1739"/>
              <a:chExt cx="202" cy="277"/>
            </a:xfrm>
          </p:grpSpPr>
          <p:sp>
            <p:nvSpPr>
              <p:cNvPr id="306480" name="Freeform 68"/>
              <p:cNvSpPr/>
              <p:nvPr/>
            </p:nvSpPr>
            <p:spPr>
              <a:xfrm>
                <a:off x="466" y="1919"/>
                <a:ext cx="1" cy="95"/>
              </a:xfrm>
              <a:custGeom>
                <a:avLst/>
                <a:gdLst>
                  <a:gd name="txL" fmla="*/ 0 w 1"/>
                  <a:gd name="txT" fmla="*/ 0 h 95"/>
                  <a:gd name="txR" fmla="*/ 1 w 1"/>
                  <a:gd name="txB" fmla="*/ 95 h 95"/>
                </a:gdLst>
                <a:ahLst/>
                <a:cxnLst>
                  <a:cxn ang="0">
                    <a:pos x="1" y="0"/>
                  </a:cxn>
                  <a:cxn ang="0">
                    <a:pos x="0" y="95"/>
                  </a:cxn>
                </a:cxnLst>
                <a:rect l="txL" t="txT" r="txR" b="txB"/>
                <a:pathLst>
                  <a:path w="1" h="95">
                    <a:moveTo>
                      <a:pt x="1" y="0"/>
                    </a:moveTo>
                    <a:lnTo>
                      <a:pt x="0" y="95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81" name="Freeform 69"/>
              <p:cNvSpPr/>
              <p:nvPr/>
            </p:nvSpPr>
            <p:spPr>
              <a:xfrm>
                <a:off x="412" y="2015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82" name="Freeform 70"/>
              <p:cNvSpPr/>
              <p:nvPr/>
            </p:nvSpPr>
            <p:spPr>
              <a:xfrm>
                <a:off x="364" y="1739"/>
                <a:ext cx="102" cy="141"/>
              </a:xfrm>
              <a:custGeom>
                <a:avLst/>
                <a:gdLst>
                  <a:gd name="txL" fmla="*/ 0 w 102"/>
                  <a:gd name="txT" fmla="*/ 0 h 141"/>
                  <a:gd name="txR" fmla="*/ 102 w 102"/>
                  <a:gd name="txB" fmla="*/ 141 h 141"/>
                </a:gdLst>
                <a:ahLst/>
                <a:cxnLst>
                  <a:cxn ang="0">
                    <a:pos x="0" y="0"/>
                  </a:cxn>
                  <a:cxn ang="0">
                    <a:pos x="102" y="0"/>
                  </a:cxn>
                  <a:cxn ang="0">
                    <a:pos x="102" y="141"/>
                  </a:cxn>
                </a:cxnLst>
                <a:rect l="txL" t="txT" r="txR" b="txB"/>
                <a:pathLst>
                  <a:path w="102" h="141">
                    <a:moveTo>
                      <a:pt x="0" y="0"/>
                    </a:moveTo>
                    <a:lnTo>
                      <a:pt x="102" y="0"/>
                    </a:lnTo>
                    <a:lnTo>
                      <a:pt x="102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83" name="Group 71"/>
              <p:cNvGrpSpPr/>
              <p:nvPr/>
            </p:nvGrpSpPr>
            <p:grpSpPr>
              <a:xfrm>
                <a:off x="364" y="1871"/>
                <a:ext cx="202" cy="49"/>
                <a:chOff x="432" y="1152"/>
                <a:chExt cx="202" cy="49"/>
              </a:xfrm>
            </p:grpSpPr>
            <p:sp>
              <p:nvSpPr>
                <p:cNvPr id="306484" name="Freeform 72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85" name="Freeform 73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06315" name="Group 74"/>
            <p:cNvGrpSpPr/>
            <p:nvPr/>
          </p:nvGrpSpPr>
          <p:grpSpPr>
            <a:xfrm>
              <a:off x="364" y="2747"/>
              <a:ext cx="202" cy="277"/>
              <a:chOff x="364" y="2747"/>
              <a:chExt cx="202" cy="277"/>
            </a:xfrm>
          </p:grpSpPr>
          <p:sp>
            <p:nvSpPr>
              <p:cNvPr id="306474" name="Freeform 75"/>
              <p:cNvSpPr/>
              <p:nvPr/>
            </p:nvSpPr>
            <p:spPr>
              <a:xfrm>
                <a:off x="466" y="2925"/>
                <a:ext cx="1" cy="97"/>
              </a:xfrm>
              <a:custGeom>
                <a:avLst/>
                <a:gdLst>
                  <a:gd name="txL" fmla="*/ 0 w 1"/>
                  <a:gd name="txT" fmla="*/ 0 h 97"/>
                  <a:gd name="txR" fmla="*/ 1 w 1"/>
                  <a:gd name="txB" fmla="*/ 97 h 97"/>
                </a:gdLst>
                <a:ahLst/>
                <a:cxnLst>
                  <a:cxn ang="0">
                    <a:pos x="1" y="0"/>
                  </a:cxn>
                  <a:cxn ang="0">
                    <a:pos x="0" y="97"/>
                  </a:cxn>
                </a:cxnLst>
                <a:rect l="txL" t="txT" r="txR" b="txB"/>
                <a:pathLst>
                  <a:path w="1" h="97">
                    <a:moveTo>
                      <a:pt x="1" y="0"/>
                    </a:moveTo>
                    <a:lnTo>
                      <a:pt x="0" y="97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75" name="Freeform 76"/>
              <p:cNvSpPr/>
              <p:nvPr/>
            </p:nvSpPr>
            <p:spPr>
              <a:xfrm>
                <a:off x="412" y="3023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76" name="Freeform 77"/>
              <p:cNvSpPr/>
              <p:nvPr/>
            </p:nvSpPr>
            <p:spPr>
              <a:xfrm>
                <a:off x="364" y="2747"/>
                <a:ext cx="102" cy="141"/>
              </a:xfrm>
              <a:custGeom>
                <a:avLst/>
                <a:gdLst>
                  <a:gd name="txL" fmla="*/ 0 w 102"/>
                  <a:gd name="txT" fmla="*/ 0 h 141"/>
                  <a:gd name="txR" fmla="*/ 102 w 102"/>
                  <a:gd name="txB" fmla="*/ 141 h 141"/>
                </a:gdLst>
                <a:ahLst/>
                <a:cxnLst>
                  <a:cxn ang="0">
                    <a:pos x="0" y="0"/>
                  </a:cxn>
                  <a:cxn ang="0">
                    <a:pos x="102" y="0"/>
                  </a:cxn>
                  <a:cxn ang="0">
                    <a:pos x="102" y="141"/>
                  </a:cxn>
                </a:cxnLst>
                <a:rect l="txL" t="txT" r="txR" b="txB"/>
                <a:pathLst>
                  <a:path w="102" h="141">
                    <a:moveTo>
                      <a:pt x="0" y="0"/>
                    </a:moveTo>
                    <a:lnTo>
                      <a:pt x="102" y="0"/>
                    </a:lnTo>
                    <a:lnTo>
                      <a:pt x="102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77" name="Group 78"/>
              <p:cNvGrpSpPr/>
              <p:nvPr/>
            </p:nvGrpSpPr>
            <p:grpSpPr>
              <a:xfrm>
                <a:off x="364" y="2879"/>
                <a:ext cx="202" cy="49"/>
                <a:chOff x="432" y="1152"/>
                <a:chExt cx="202" cy="49"/>
              </a:xfrm>
            </p:grpSpPr>
            <p:sp>
              <p:nvSpPr>
                <p:cNvPr id="306478" name="Freeform 79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79" name="Freeform 80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06316" name="Freeform 81"/>
            <p:cNvSpPr/>
            <p:nvPr/>
          </p:nvSpPr>
          <p:spPr>
            <a:xfrm>
              <a:off x="364" y="1414"/>
              <a:ext cx="1341" cy="243"/>
            </a:xfrm>
            <a:custGeom>
              <a:avLst/>
              <a:gdLst>
                <a:gd name="txL" fmla="*/ 0 w 1341"/>
                <a:gd name="txT" fmla="*/ 0 h 243"/>
                <a:gd name="txR" fmla="*/ 1341 w 1341"/>
                <a:gd name="txB" fmla="*/ 243 h 243"/>
              </a:gdLst>
              <a:ahLst/>
              <a:cxnLst>
                <a:cxn ang="0">
                  <a:pos x="0" y="240"/>
                </a:cxn>
                <a:cxn ang="0">
                  <a:pos x="93" y="243"/>
                </a:cxn>
                <a:cxn ang="0">
                  <a:pos x="93" y="0"/>
                </a:cxn>
                <a:cxn ang="0">
                  <a:pos x="1341" y="0"/>
                </a:cxn>
              </a:cxnLst>
              <a:rect l="txL" t="txT" r="txR" b="txB"/>
              <a:pathLst>
                <a:path w="1341" h="243">
                  <a:moveTo>
                    <a:pt x="0" y="240"/>
                  </a:moveTo>
                  <a:lnTo>
                    <a:pt x="93" y="243"/>
                  </a:lnTo>
                  <a:lnTo>
                    <a:pt x="93" y="0"/>
                  </a:lnTo>
                  <a:lnTo>
                    <a:pt x="134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17" name="Freeform 82"/>
            <p:cNvSpPr/>
            <p:nvPr/>
          </p:nvSpPr>
          <p:spPr>
            <a:xfrm>
              <a:off x="367" y="2423"/>
              <a:ext cx="1341" cy="243"/>
            </a:xfrm>
            <a:custGeom>
              <a:avLst/>
              <a:gdLst>
                <a:gd name="txL" fmla="*/ 0 w 1341"/>
                <a:gd name="txT" fmla="*/ 0 h 243"/>
                <a:gd name="txR" fmla="*/ 1341 w 1341"/>
                <a:gd name="txB" fmla="*/ 243 h 243"/>
              </a:gdLst>
              <a:ahLst/>
              <a:cxnLst>
                <a:cxn ang="0">
                  <a:pos x="0" y="240"/>
                </a:cxn>
                <a:cxn ang="0">
                  <a:pos x="93" y="243"/>
                </a:cxn>
                <a:cxn ang="0">
                  <a:pos x="93" y="0"/>
                </a:cxn>
                <a:cxn ang="0">
                  <a:pos x="1341" y="0"/>
                </a:cxn>
              </a:cxnLst>
              <a:rect l="txL" t="txT" r="txR" b="txB"/>
              <a:pathLst>
                <a:path w="1341" h="243">
                  <a:moveTo>
                    <a:pt x="0" y="240"/>
                  </a:moveTo>
                  <a:lnTo>
                    <a:pt x="93" y="243"/>
                  </a:lnTo>
                  <a:lnTo>
                    <a:pt x="93" y="0"/>
                  </a:lnTo>
                  <a:lnTo>
                    <a:pt x="1341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18" name="Line 83"/>
            <p:cNvSpPr/>
            <p:nvPr/>
          </p:nvSpPr>
          <p:spPr>
            <a:xfrm>
              <a:off x="681" y="1407"/>
              <a:ext cx="3" cy="1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6319" name="Freeform 84"/>
            <p:cNvSpPr/>
            <p:nvPr/>
          </p:nvSpPr>
          <p:spPr>
            <a:xfrm>
              <a:off x="888" y="1407"/>
              <a:ext cx="1" cy="189"/>
            </a:xfrm>
            <a:custGeom>
              <a:avLst/>
              <a:gdLst>
                <a:gd name="txL" fmla="*/ 0 w 1"/>
                <a:gd name="txT" fmla="*/ 0 h 189"/>
                <a:gd name="txR" fmla="*/ 1 w 1"/>
                <a:gd name="txB" fmla="*/ 189 h 189"/>
              </a:gdLst>
              <a:ahLst/>
              <a:cxnLst>
                <a:cxn ang="0">
                  <a:pos x="1" y="0"/>
                </a:cxn>
                <a:cxn ang="0">
                  <a:pos x="0" y="189"/>
                </a:cxn>
              </a:cxnLst>
              <a:rect l="txL" t="txT" r="txR" b="txB"/>
              <a:pathLst>
                <a:path w="1" h="189">
                  <a:moveTo>
                    <a:pt x="1" y="0"/>
                  </a:moveTo>
                  <a:lnTo>
                    <a:pt x="0" y="189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20" name="Line 85"/>
            <p:cNvSpPr/>
            <p:nvPr/>
          </p:nvSpPr>
          <p:spPr>
            <a:xfrm>
              <a:off x="681" y="2423"/>
              <a:ext cx="3" cy="1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06321" name="Freeform 86"/>
            <p:cNvSpPr/>
            <p:nvPr/>
          </p:nvSpPr>
          <p:spPr>
            <a:xfrm>
              <a:off x="885" y="2423"/>
              <a:ext cx="4" cy="193"/>
            </a:xfrm>
            <a:custGeom>
              <a:avLst/>
              <a:gdLst>
                <a:gd name="txL" fmla="*/ 0 w 4"/>
                <a:gd name="txT" fmla="*/ 0 h 193"/>
                <a:gd name="txR" fmla="*/ 4 w 4"/>
                <a:gd name="txB" fmla="*/ 193 h 193"/>
              </a:gdLst>
              <a:ahLst/>
              <a:cxnLst>
                <a:cxn ang="0">
                  <a:pos x="4" y="0"/>
                </a:cxn>
                <a:cxn ang="0">
                  <a:pos x="0" y="193"/>
                </a:cxn>
              </a:cxnLst>
              <a:rect l="txL" t="txT" r="txR" b="txB"/>
              <a:pathLst>
                <a:path w="4" h="193">
                  <a:moveTo>
                    <a:pt x="4" y="0"/>
                  </a:moveTo>
                  <a:lnTo>
                    <a:pt x="0" y="193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06322" name="Group 87"/>
            <p:cNvGrpSpPr/>
            <p:nvPr/>
          </p:nvGrpSpPr>
          <p:grpSpPr>
            <a:xfrm>
              <a:off x="1324" y="1019"/>
              <a:ext cx="202" cy="277"/>
              <a:chOff x="1324" y="1019"/>
              <a:chExt cx="202" cy="277"/>
            </a:xfrm>
          </p:grpSpPr>
          <p:sp>
            <p:nvSpPr>
              <p:cNvPr id="306468" name="Line 88"/>
              <p:cNvSpPr/>
              <p:nvPr/>
            </p:nvSpPr>
            <p:spPr>
              <a:xfrm>
                <a:off x="1424" y="1199"/>
                <a:ext cx="2" cy="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6469" name="Freeform 89"/>
              <p:cNvSpPr/>
              <p:nvPr/>
            </p:nvSpPr>
            <p:spPr>
              <a:xfrm>
                <a:off x="1372" y="1295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70" name="Freeform 90"/>
              <p:cNvSpPr/>
              <p:nvPr/>
            </p:nvSpPr>
            <p:spPr>
              <a:xfrm>
                <a:off x="1324" y="1019"/>
                <a:ext cx="102" cy="141"/>
              </a:xfrm>
              <a:custGeom>
                <a:avLst/>
                <a:gdLst>
                  <a:gd name="txL" fmla="*/ 0 w 102"/>
                  <a:gd name="txT" fmla="*/ 0 h 141"/>
                  <a:gd name="txR" fmla="*/ 102 w 102"/>
                  <a:gd name="txB" fmla="*/ 141 h 141"/>
                </a:gdLst>
                <a:ahLst/>
                <a:cxnLst>
                  <a:cxn ang="0">
                    <a:pos x="0" y="0"/>
                  </a:cxn>
                  <a:cxn ang="0">
                    <a:pos x="102" y="0"/>
                  </a:cxn>
                  <a:cxn ang="0">
                    <a:pos x="102" y="141"/>
                  </a:cxn>
                </a:cxnLst>
                <a:rect l="txL" t="txT" r="txR" b="txB"/>
                <a:pathLst>
                  <a:path w="102" h="141">
                    <a:moveTo>
                      <a:pt x="0" y="0"/>
                    </a:moveTo>
                    <a:lnTo>
                      <a:pt x="102" y="0"/>
                    </a:lnTo>
                    <a:lnTo>
                      <a:pt x="102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71" name="Group 91"/>
              <p:cNvGrpSpPr/>
              <p:nvPr/>
            </p:nvGrpSpPr>
            <p:grpSpPr>
              <a:xfrm>
                <a:off x="1324" y="1151"/>
                <a:ext cx="202" cy="49"/>
                <a:chOff x="432" y="1152"/>
                <a:chExt cx="202" cy="49"/>
              </a:xfrm>
            </p:grpSpPr>
            <p:sp>
              <p:nvSpPr>
                <p:cNvPr id="306472" name="Freeform 92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73" name="Freeform 93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06323" name="Group 94"/>
            <p:cNvGrpSpPr/>
            <p:nvPr/>
          </p:nvGrpSpPr>
          <p:grpSpPr>
            <a:xfrm>
              <a:off x="1324" y="1739"/>
              <a:ext cx="202" cy="277"/>
              <a:chOff x="1324" y="1739"/>
              <a:chExt cx="202" cy="277"/>
            </a:xfrm>
          </p:grpSpPr>
          <p:sp>
            <p:nvSpPr>
              <p:cNvPr id="306462" name="Line 95"/>
              <p:cNvSpPr/>
              <p:nvPr/>
            </p:nvSpPr>
            <p:spPr>
              <a:xfrm>
                <a:off x="1424" y="1919"/>
                <a:ext cx="2" cy="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6463" name="Freeform 96"/>
              <p:cNvSpPr/>
              <p:nvPr/>
            </p:nvSpPr>
            <p:spPr>
              <a:xfrm>
                <a:off x="1372" y="2015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64" name="Freeform 97"/>
              <p:cNvSpPr/>
              <p:nvPr/>
            </p:nvSpPr>
            <p:spPr>
              <a:xfrm>
                <a:off x="1324" y="1739"/>
                <a:ext cx="102" cy="141"/>
              </a:xfrm>
              <a:custGeom>
                <a:avLst/>
                <a:gdLst>
                  <a:gd name="txL" fmla="*/ 0 w 102"/>
                  <a:gd name="txT" fmla="*/ 0 h 141"/>
                  <a:gd name="txR" fmla="*/ 102 w 102"/>
                  <a:gd name="txB" fmla="*/ 141 h 141"/>
                </a:gdLst>
                <a:ahLst/>
                <a:cxnLst>
                  <a:cxn ang="0">
                    <a:pos x="0" y="0"/>
                  </a:cxn>
                  <a:cxn ang="0">
                    <a:pos x="102" y="0"/>
                  </a:cxn>
                  <a:cxn ang="0">
                    <a:pos x="102" y="141"/>
                  </a:cxn>
                </a:cxnLst>
                <a:rect l="txL" t="txT" r="txR" b="txB"/>
                <a:pathLst>
                  <a:path w="102" h="141">
                    <a:moveTo>
                      <a:pt x="0" y="0"/>
                    </a:moveTo>
                    <a:lnTo>
                      <a:pt x="102" y="0"/>
                    </a:lnTo>
                    <a:lnTo>
                      <a:pt x="102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65" name="Group 98"/>
              <p:cNvGrpSpPr/>
              <p:nvPr/>
            </p:nvGrpSpPr>
            <p:grpSpPr>
              <a:xfrm>
                <a:off x="1324" y="1871"/>
                <a:ext cx="202" cy="49"/>
                <a:chOff x="432" y="1152"/>
                <a:chExt cx="202" cy="49"/>
              </a:xfrm>
            </p:grpSpPr>
            <p:sp>
              <p:nvSpPr>
                <p:cNvPr id="306466" name="Freeform 99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67" name="Freeform 100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06324" name="Group 101"/>
            <p:cNvGrpSpPr/>
            <p:nvPr/>
          </p:nvGrpSpPr>
          <p:grpSpPr>
            <a:xfrm>
              <a:off x="1324" y="2747"/>
              <a:ext cx="202" cy="277"/>
              <a:chOff x="1324" y="2747"/>
              <a:chExt cx="202" cy="277"/>
            </a:xfrm>
          </p:grpSpPr>
          <p:sp>
            <p:nvSpPr>
              <p:cNvPr id="306456" name="Line 102"/>
              <p:cNvSpPr/>
              <p:nvPr/>
            </p:nvSpPr>
            <p:spPr>
              <a:xfrm>
                <a:off x="1424" y="2927"/>
                <a:ext cx="2" cy="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6457" name="Freeform 103"/>
              <p:cNvSpPr/>
              <p:nvPr/>
            </p:nvSpPr>
            <p:spPr>
              <a:xfrm>
                <a:off x="1372" y="3023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58" name="Freeform 104"/>
              <p:cNvSpPr/>
              <p:nvPr/>
            </p:nvSpPr>
            <p:spPr>
              <a:xfrm>
                <a:off x="1324" y="2747"/>
                <a:ext cx="102" cy="141"/>
              </a:xfrm>
              <a:custGeom>
                <a:avLst/>
                <a:gdLst>
                  <a:gd name="txL" fmla="*/ 0 w 102"/>
                  <a:gd name="txT" fmla="*/ 0 h 141"/>
                  <a:gd name="txR" fmla="*/ 102 w 102"/>
                  <a:gd name="txB" fmla="*/ 141 h 141"/>
                </a:gdLst>
                <a:ahLst/>
                <a:cxnLst>
                  <a:cxn ang="0">
                    <a:pos x="0" y="0"/>
                  </a:cxn>
                  <a:cxn ang="0">
                    <a:pos x="102" y="0"/>
                  </a:cxn>
                  <a:cxn ang="0">
                    <a:pos x="102" y="141"/>
                  </a:cxn>
                </a:cxnLst>
                <a:rect l="txL" t="txT" r="txR" b="txB"/>
                <a:pathLst>
                  <a:path w="102" h="141">
                    <a:moveTo>
                      <a:pt x="0" y="0"/>
                    </a:moveTo>
                    <a:lnTo>
                      <a:pt x="102" y="0"/>
                    </a:lnTo>
                    <a:lnTo>
                      <a:pt x="102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59" name="Group 105"/>
              <p:cNvGrpSpPr/>
              <p:nvPr/>
            </p:nvGrpSpPr>
            <p:grpSpPr>
              <a:xfrm>
                <a:off x="1324" y="2879"/>
                <a:ext cx="202" cy="49"/>
                <a:chOff x="432" y="1152"/>
                <a:chExt cx="202" cy="49"/>
              </a:xfrm>
            </p:grpSpPr>
            <p:sp>
              <p:nvSpPr>
                <p:cNvPr id="306460" name="Freeform 106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61" name="Freeform 107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306325" name="Freeform 108"/>
            <p:cNvSpPr/>
            <p:nvPr/>
          </p:nvSpPr>
          <p:spPr>
            <a:xfrm>
              <a:off x="1315" y="696"/>
              <a:ext cx="108" cy="237"/>
            </a:xfrm>
            <a:custGeom>
              <a:avLst/>
              <a:gdLst>
                <a:gd name="txL" fmla="*/ 0 w 108"/>
                <a:gd name="txT" fmla="*/ 0 h 237"/>
                <a:gd name="txR" fmla="*/ 108 w 108"/>
                <a:gd name="txB" fmla="*/ 237 h 237"/>
              </a:gdLst>
              <a:ahLst/>
              <a:cxnLst>
                <a:cxn ang="0">
                  <a:pos x="0" y="237"/>
                </a:cxn>
                <a:cxn ang="0">
                  <a:pos x="108" y="237"/>
                </a:cxn>
                <a:cxn ang="0">
                  <a:pos x="108" y="0"/>
                </a:cxn>
              </a:cxnLst>
              <a:rect l="txL" t="txT" r="txR" b="txB"/>
              <a:pathLst>
                <a:path w="108" h="237">
                  <a:moveTo>
                    <a:pt x="0" y="237"/>
                  </a:moveTo>
                  <a:lnTo>
                    <a:pt x="108" y="237"/>
                  </a:lnTo>
                  <a:lnTo>
                    <a:pt x="10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26" name="Freeform 109"/>
            <p:cNvSpPr/>
            <p:nvPr/>
          </p:nvSpPr>
          <p:spPr>
            <a:xfrm>
              <a:off x="1327" y="1416"/>
              <a:ext cx="96" cy="243"/>
            </a:xfrm>
            <a:custGeom>
              <a:avLst/>
              <a:gdLst>
                <a:gd name="txL" fmla="*/ 0 w 96"/>
                <a:gd name="txT" fmla="*/ 0 h 243"/>
                <a:gd name="txR" fmla="*/ 96 w 96"/>
                <a:gd name="txB" fmla="*/ 243 h 243"/>
              </a:gdLst>
              <a:ahLst/>
              <a:cxnLst>
                <a:cxn ang="0">
                  <a:pos x="0" y="243"/>
                </a:cxn>
                <a:cxn ang="0">
                  <a:pos x="96" y="243"/>
                </a:cxn>
                <a:cxn ang="0">
                  <a:pos x="96" y="0"/>
                </a:cxn>
              </a:cxnLst>
              <a:rect l="txL" t="txT" r="txR" b="txB"/>
              <a:pathLst>
                <a:path w="96" h="243">
                  <a:moveTo>
                    <a:pt x="0" y="243"/>
                  </a:moveTo>
                  <a:lnTo>
                    <a:pt x="96" y="243"/>
                  </a:lnTo>
                  <a:lnTo>
                    <a:pt x="9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27" name="Freeform 110"/>
            <p:cNvSpPr/>
            <p:nvPr/>
          </p:nvSpPr>
          <p:spPr>
            <a:xfrm>
              <a:off x="1327" y="2427"/>
              <a:ext cx="98" cy="249"/>
            </a:xfrm>
            <a:custGeom>
              <a:avLst/>
              <a:gdLst>
                <a:gd name="txL" fmla="*/ 0 w 98"/>
                <a:gd name="txT" fmla="*/ 0 h 249"/>
                <a:gd name="txR" fmla="*/ 98 w 98"/>
                <a:gd name="txB" fmla="*/ 249 h 249"/>
              </a:gdLst>
              <a:ahLst/>
              <a:cxnLst>
                <a:cxn ang="0">
                  <a:pos x="0" y="249"/>
                </a:cxn>
                <a:cxn ang="0">
                  <a:pos x="96" y="249"/>
                </a:cxn>
                <a:cxn ang="0">
                  <a:pos x="98" y="0"/>
                </a:cxn>
              </a:cxnLst>
              <a:rect l="txL" t="txT" r="txR" b="txB"/>
              <a:pathLst>
                <a:path w="98" h="249">
                  <a:moveTo>
                    <a:pt x="0" y="249"/>
                  </a:moveTo>
                  <a:lnTo>
                    <a:pt x="96" y="249"/>
                  </a:lnTo>
                  <a:lnTo>
                    <a:pt x="9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06328" name="Group 111"/>
            <p:cNvGrpSpPr/>
            <p:nvPr/>
          </p:nvGrpSpPr>
          <p:grpSpPr>
            <a:xfrm>
              <a:off x="4299" y="526"/>
              <a:ext cx="231" cy="49"/>
              <a:chOff x="4299" y="526"/>
              <a:chExt cx="231" cy="49"/>
            </a:xfrm>
          </p:grpSpPr>
          <p:sp>
            <p:nvSpPr>
              <p:cNvPr id="306454" name="Freeform 112"/>
              <p:cNvSpPr/>
              <p:nvPr/>
            </p:nvSpPr>
            <p:spPr>
              <a:xfrm rot="5400000">
                <a:off x="4395" y="449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55" name="Freeform 113"/>
              <p:cNvSpPr/>
              <p:nvPr/>
            </p:nvSpPr>
            <p:spPr>
              <a:xfrm rot="5400000">
                <a:off x="4397" y="442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06329" name="Freeform 114"/>
            <p:cNvSpPr/>
            <p:nvPr/>
          </p:nvSpPr>
          <p:spPr>
            <a:xfrm>
              <a:off x="2617" y="579"/>
              <a:ext cx="1761" cy="120"/>
            </a:xfrm>
            <a:custGeom>
              <a:avLst/>
              <a:gdLst>
                <a:gd name="txL" fmla="*/ 0 w 1761"/>
                <a:gd name="txT" fmla="*/ 0 h 120"/>
                <a:gd name="txR" fmla="*/ 1761 w 1761"/>
                <a:gd name="txB" fmla="*/ 120 h 120"/>
              </a:gdLst>
              <a:ahLst/>
              <a:cxnLst>
                <a:cxn ang="0">
                  <a:pos x="1761" y="0"/>
                </a:cxn>
                <a:cxn ang="0">
                  <a:pos x="1761" y="117"/>
                </a:cxn>
                <a:cxn ang="0">
                  <a:pos x="0" y="120"/>
                </a:cxn>
              </a:cxnLst>
              <a:rect l="txL" t="txT" r="txR" b="txB"/>
              <a:pathLst>
                <a:path w="1761" h="120">
                  <a:moveTo>
                    <a:pt x="1761" y="0"/>
                  </a:moveTo>
                  <a:lnTo>
                    <a:pt x="1761" y="117"/>
                  </a:lnTo>
                  <a:lnTo>
                    <a:pt x="0" y="1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30" name="Freeform 115"/>
            <p:cNvSpPr/>
            <p:nvPr/>
          </p:nvSpPr>
          <p:spPr>
            <a:xfrm>
              <a:off x="2620" y="1296"/>
              <a:ext cx="1758" cy="117"/>
            </a:xfrm>
            <a:custGeom>
              <a:avLst/>
              <a:gdLst>
                <a:gd name="txL" fmla="*/ 0 w 1758"/>
                <a:gd name="txT" fmla="*/ 0 h 117"/>
                <a:gd name="txR" fmla="*/ 1758 w 1758"/>
                <a:gd name="txB" fmla="*/ 117 h 117"/>
              </a:gdLst>
              <a:ahLst/>
              <a:cxnLst>
                <a:cxn ang="0">
                  <a:pos x="1758" y="0"/>
                </a:cxn>
                <a:cxn ang="0">
                  <a:pos x="1758" y="117"/>
                </a:cxn>
                <a:cxn ang="0">
                  <a:pos x="0" y="114"/>
                </a:cxn>
              </a:cxnLst>
              <a:rect l="txL" t="txT" r="txR" b="txB"/>
              <a:pathLst>
                <a:path w="1758" h="117">
                  <a:moveTo>
                    <a:pt x="1758" y="0"/>
                  </a:moveTo>
                  <a:lnTo>
                    <a:pt x="1758" y="117"/>
                  </a:lnTo>
                  <a:lnTo>
                    <a:pt x="0" y="11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31" name="Freeform 116"/>
            <p:cNvSpPr/>
            <p:nvPr/>
          </p:nvSpPr>
          <p:spPr>
            <a:xfrm>
              <a:off x="2626" y="2352"/>
              <a:ext cx="1752" cy="120"/>
            </a:xfrm>
            <a:custGeom>
              <a:avLst/>
              <a:gdLst>
                <a:gd name="txL" fmla="*/ 0 w 1752"/>
                <a:gd name="txT" fmla="*/ 0 h 120"/>
                <a:gd name="txR" fmla="*/ 1752 w 1752"/>
                <a:gd name="txB" fmla="*/ 120 h 120"/>
              </a:gdLst>
              <a:ahLst/>
              <a:cxnLst>
                <a:cxn ang="0">
                  <a:pos x="1752" y="0"/>
                </a:cxn>
                <a:cxn ang="0">
                  <a:pos x="1752" y="117"/>
                </a:cxn>
                <a:cxn ang="0">
                  <a:pos x="0" y="120"/>
                </a:cxn>
              </a:cxnLst>
              <a:rect l="txL" t="txT" r="txR" b="txB"/>
              <a:pathLst>
                <a:path w="1752" h="120">
                  <a:moveTo>
                    <a:pt x="1752" y="0"/>
                  </a:moveTo>
                  <a:lnTo>
                    <a:pt x="1752" y="117"/>
                  </a:lnTo>
                  <a:lnTo>
                    <a:pt x="0" y="1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06332" name="Group 117"/>
            <p:cNvGrpSpPr/>
            <p:nvPr/>
          </p:nvGrpSpPr>
          <p:grpSpPr>
            <a:xfrm>
              <a:off x="4299" y="1246"/>
              <a:ext cx="231" cy="49"/>
              <a:chOff x="4299" y="1246"/>
              <a:chExt cx="231" cy="49"/>
            </a:xfrm>
          </p:grpSpPr>
          <p:sp>
            <p:nvSpPr>
              <p:cNvPr id="306452" name="Freeform 118"/>
              <p:cNvSpPr/>
              <p:nvPr/>
            </p:nvSpPr>
            <p:spPr>
              <a:xfrm rot="5400000">
                <a:off x="4395" y="1169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53" name="Freeform 119"/>
              <p:cNvSpPr/>
              <p:nvPr/>
            </p:nvSpPr>
            <p:spPr>
              <a:xfrm rot="5400000">
                <a:off x="4397" y="1162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333" name="Group 120"/>
            <p:cNvGrpSpPr/>
            <p:nvPr/>
          </p:nvGrpSpPr>
          <p:grpSpPr>
            <a:xfrm>
              <a:off x="4299" y="2302"/>
              <a:ext cx="231" cy="49"/>
              <a:chOff x="4299" y="2302"/>
              <a:chExt cx="231" cy="49"/>
            </a:xfrm>
          </p:grpSpPr>
          <p:sp>
            <p:nvSpPr>
              <p:cNvPr id="306450" name="Freeform 121"/>
              <p:cNvSpPr/>
              <p:nvPr/>
            </p:nvSpPr>
            <p:spPr>
              <a:xfrm rot="5400000">
                <a:off x="4395" y="2225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51" name="Freeform 122"/>
              <p:cNvSpPr/>
              <p:nvPr/>
            </p:nvSpPr>
            <p:spPr>
              <a:xfrm rot="5400000">
                <a:off x="4397" y="2218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334" name="Group 123"/>
            <p:cNvGrpSpPr/>
            <p:nvPr/>
          </p:nvGrpSpPr>
          <p:grpSpPr>
            <a:xfrm>
              <a:off x="2706" y="702"/>
              <a:ext cx="251" cy="594"/>
              <a:chOff x="2706" y="702"/>
              <a:chExt cx="251" cy="594"/>
            </a:xfrm>
          </p:grpSpPr>
          <p:grpSp>
            <p:nvGrpSpPr>
              <p:cNvPr id="306440" name="Group 124"/>
              <p:cNvGrpSpPr/>
              <p:nvPr/>
            </p:nvGrpSpPr>
            <p:grpSpPr>
              <a:xfrm rot="10800000">
                <a:off x="2908" y="864"/>
                <a:ext cx="49" cy="231"/>
                <a:chOff x="1586" y="1334"/>
                <a:chExt cx="49" cy="231"/>
              </a:xfrm>
            </p:grpSpPr>
            <p:sp>
              <p:nvSpPr>
                <p:cNvPr id="306448" name="Freeform 125"/>
                <p:cNvSpPr/>
                <p:nvPr/>
              </p:nvSpPr>
              <p:spPr>
                <a:xfrm>
                  <a:off x="1586" y="1392"/>
                  <a:ext cx="1" cy="120"/>
                </a:xfrm>
                <a:custGeom>
                  <a:avLst/>
                  <a:gdLst>
                    <a:gd name="txL" fmla="*/ 0 w 1"/>
                    <a:gd name="txT" fmla="*/ 0 h 120"/>
                    <a:gd name="txR" fmla="*/ 1 w 1"/>
                    <a:gd name="txB" fmla="*/ 120 h 120"/>
                  </a:gdLst>
                  <a:ahLst/>
                  <a:cxnLst>
                    <a:cxn ang="0">
                      <a:pos x="0" y="0"/>
                    </a:cxn>
                    <a:cxn ang="0">
                      <a:pos x="0" y="120"/>
                    </a:cxn>
                  </a:cxnLst>
                  <a:rect l="txL" t="txT" r="txR" b="txB"/>
                  <a:pathLst>
                    <a:path w="1" h="120">
                      <a:moveTo>
                        <a:pt x="0" y="0"/>
                      </a:moveTo>
                      <a:lnTo>
                        <a:pt x="0" y="12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49" name="Freeform 126"/>
                <p:cNvSpPr/>
                <p:nvPr/>
              </p:nvSpPr>
              <p:spPr>
                <a:xfrm>
                  <a:off x="1634" y="1334"/>
                  <a:ext cx="1" cy="231"/>
                </a:xfrm>
                <a:custGeom>
                  <a:avLst/>
                  <a:gdLst>
                    <a:gd name="txL" fmla="*/ 0 w 1"/>
                    <a:gd name="txT" fmla="*/ 0 h 231"/>
                    <a:gd name="txR" fmla="*/ 1 w 1"/>
                    <a:gd name="txB" fmla="*/ 231 h 231"/>
                  </a:gdLst>
                  <a:ahLst/>
                  <a:cxnLst>
                    <a:cxn ang="0">
                      <a:pos x="0" y="0"/>
                    </a:cxn>
                    <a:cxn ang="0">
                      <a:pos x="0" y="231"/>
                    </a:cxn>
                  </a:cxnLst>
                  <a:rect l="txL" t="txT" r="txR" b="txB"/>
                  <a:pathLst>
                    <a:path w="1" h="231">
                      <a:moveTo>
                        <a:pt x="0" y="0"/>
                      </a:moveTo>
                      <a:lnTo>
                        <a:pt x="0" y="23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441" name="Line 127"/>
              <p:cNvSpPr/>
              <p:nvPr/>
            </p:nvSpPr>
            <p:spPr>
              <a:xfrm>
                <a:off x="2806" y="1199"/>
                <a:ext cx="2" cy="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6442" name="Freeform 128"/>
              <p:cNvSpPr/>
              <p:nvPr/>
            </p:nvSpPr>
            <p:spPr>
              <a:xfrm>
                <a:off x="2754" y="1295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43" name="Freeform 129"/>
              <p:cNvSpPr/>
              <p:nvPr/>
            </p:nvSpPr>
            <p:spPr>
              <a:xfrm>
                <a:off x="2808" y="1019"/>
                <a:ext cx="103" cy="141"/>
              </a:xfrm>
              <a:custGeom>
                <a:avLst/>
                <a:gdLst>
                  <a:gd name="txL" fmla="*/ 0 w 103"/>
                  <a:gd name="txT" fmla="*/ 0 h 141"/>
                  <a:gd name="txR" fmla="*/ 103 w 103"/>
                  <a:gd name="txB" fmla="*/ 141 h 141"/>
                </a:gdLst>
                <a:ahLst/>
                <a:cxnLst>
                  <a:cxn ang="0">
                    <a:pos x="103" y="1"/>
                  </a:cxn>
                  <a:cxn ang="0">
                    <a:pos x="0" y="0"/>
                  </a:cxn>
                  <a:cxn ang="0">
                    <a:pos x="0" y="141"/>
                  </a:cxn>
                </a:cxnLst>
                <a:rect l="txL" t="txT" r="txR" b="txB"/>
                <a:pathLst>
                  <a:path w="103" h="141">
                    <a:moveTo>
                      <a:pt x="103" y="1"/>
                    </a:moveTo>
                    <a:lnTo>
                      <a:pt x="0" y="0"/>
                    </a:lnTo>
                    <a:lnTo>
                      <a:pt x="0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44" name="Group 130"/>
              <p:cNvGrpSpPr/>
              <p:nvPr/>
            </p:nvGrpSpPr>
            <p:grpSpPr>
              <a:xfrm>
                <a:off x="2706" y="1151"/>
                <a:ext cx="202" cy="49"/>
                <a:chOff x="432" y="1152"/>
                <a:chExt cx="202" cy="49"/>
              </a:xfrm>
            </p:grpSpPr>
            <p:sp>
              <p:nvSpPr>
                <p:cNvPr id="306446" name="Freeform 131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47" name="Freeform 132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445" name="Freeform 133"/>
              <p:cNvSpPr/>
              <p:nvPr/>
            </p:nvSpPr>
            <p:spPr>
              <a:xfrm>
                <a:off x="2806" y="702"/>
                <a:ext cx="99" cy="225"/>
              </a:xfrm>
              <a:custGeom>
                <a:avLst/>
                <a:gdLst>
                  <a:gd name="txL" fmla="*/ 0 w 99"/>
                  <a:gd name="txT" fmla="*/ 0 h 225"/>
                  <a:gd name="txR" fmla="*/ 99 w 99"/>
                  <a:gd name="txB" fmla="*/ 225 h 225"/>
                </a:gdLst>
                <a:ahLst/>
                <a:cxnLst>
                  <a:cxn ang="0">
                    <a:pos x="0" y="0"/>
                  </a:cxn>
                  <a:cxn ang="0">
                    <a:pos x="0" y="225"/>
                  </a:cxn>
                  <a:cxn ang="0">
                    <a:pos x="99" y="225"/>
                  </a:cxn>
                </a:cxnLst>
                <a:rect l="txL" t="txT" r="txR" b="txB"/>
                <a:pathLst>
                  <a:path w="99" h="225">
                    <a:moveTo>
                      <a:pt x="0" y="0"/>
                    </a:moveTo>
                    <a:lnTo>
                      <a:pt x="0" y="225"/>
                    </a:lnTo>
                    <a:lnTo>
                      <a:pt x="99" y="22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335" name="Group 134"/>
            <p:cNvGrpSpPr/>
            <p:nvPr/>
          </p:nvGrpSpPr>
          <p:grpSpPr>
            <a:xfrm>
              <a:off x="2716" y="1406"/>
              <a:ext cx="251" cy="580"/>
              <a:chOff x="2716" y="1406"/>
              <a:chExt cx="251" cy="580"/>
            </a:xfrm>
          </p:grpSpPr>
          <p:grpSp>
            <p:nvGrpSpPr>
              <p:cNvPr id="306430" name="Group 135"/>
              <p:cNvGrpSpPr/>
              <p:nvPr/>
            </p:nvGrpSpPr>
            <p:grpSpPr>
              <a:xfrm rot="10800000">
                <a:off x="2918" y="1554"/>
                <a:ext cx="49" cy="231"/>
                <a:chOff x="1586" y="1334"/>
                <a:chExt cx="49" cy="231"/>
              </a:xfrm>
            </p:grpSpPr>
            <p:sp>
              <p:nvSpPr>
                <p:cNvPr id="306438" name="Freeform 136"/>
                <p:cNvSpPr/>
                <p:nvPr/>
              </p:nvSpPr>
              <p:spPr>
                <a:xfrm>
                  <a:off x="1586" y="1392"/>
                  <a:ext cx="1" cy="120"/>
                </a:xfrm>
                <a:custGeom>
                  <a:avLst/>
                  <a:gdLst>
                    <a:gd name="txL" fmla="*/ 0 w 1"/>
                    <a:gd name="txT" fmla="*/ 0 h 120"/>
                    <a:gd name="txR" fmla="*/ 1 w 1"/>
                    <a:gd name="txB" fmla="*/ 120 h 120"/>
                  </a:gdLst>
                  <a:ahLst/>
                  <a:cxnLst>
                    <a:cxn ang="0">
                      <a:pos x="0" y="0"/>
                    </a:cxn>
                    <a:cxn ang="0">
                      <a:pos x="0" y="120"/>
                    </a:cxn>
                  </a:cxnLst>
                  <a:rect l="txL" t="txT" r="txR" b="txB"/>
                  <a:pathLst>
                    <a:path w="1" h="120">
                      <a:moveTo>
                        <a:pt x="0" y="0"/>
                      </a:moveTo>
                      <a:lnTo>
                        <a:pt x="0" y="12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39" name="Freeform 137"/>
                <p:cNvSpPr/>
                <p:nvPr/>
              </p:nvSpPr>
              <p:spPr>
                <a:xfrm>
                  <a:off x="1634" y="1334"/>
                  <a:ext cx="1" cy="231"/>
                </a:xfrm>
                <a:custGeom>
                  <a:avLst/>
                  <a:gdLst>
                    <a:gd name="txL" fmla="*/ 0 w 1"/>
                    <a:gd name="txT" fmla="*/ 0 h 231"/>
                    <a:gd name="txR" fmla="*/ 1 w 1"/>
                    <a:gd name="txB" fmla="*/ 231 h 231"/>
                  </a:gdLst>
                  <a:ahLst/>
                  <a:cxnLst>
                    <a:cxn ang="0">
                      <a:pos x="0" y="0"/>
                    </a:cxn>
                    <a:cxn ang="0">
                      <a:pos x="0" y="231"/>
                    </a:cxn>
                  </a:cxnLst>
                  <a:rect l="txL" t="txT" r="txR" b="txB"/>
                  <a:pathLst>
                    <a:path w="1" h="231">
                      <a:moveTo>
                        <a:pt x="0" y="0"/>
                      </a:moveTo>
                      <a:lnTo>
                        <a:pt x="0" y="23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431" name="Line 138"/>
              <p:cNvSpPr/>
              <p:nvPr/>
            </p:nvSpPr>
            <p:spPr>
              <a:xfrm>
                <a:off x="2816" y="1889"/>
                <a:ext cx="2" cy="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6432" name="Freeform 139"/>
              <p:cNvSpPr/>
              <p:nvPr/>
            </p:nvSpPr>
            <p:spPr>
              <a:xfrm>
                <a:off x="2764" y="1985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33" name="Freeform 140"/>
              <p:cNvSpPr/>
              <p:nvPr/>
            </p:nvSpPr>
            <p:spPr>
              <a:xfrm>
                <a:off x="2818" y="1709"/>
                <a:ext cx="103" cy="141"/>
              </a:xfrm>
              <a:custGeom>
                <a:avLst/>
                <a:gdLst>
                  <a:gd name="txL" fmla="*/ 0 w 103"/>
                  <a:gd name="txT" fmla="*/ 0 h 141"/>
                  <a:gd name="txR" fmla="*/ 103 w 103"/>
                  <a:gd name="txB" fmla="*/ 141 h 141"/>
                </a:gdLst>
                <a:ahLst/>
                <a:cxnLst>
                  <a:cxn ang="0">
                    <a:pos x="103" y="1"/>
                  </a:cxn>
                  <a:cxn ang="0">
                    <a:pos x="0" y="0"/>
                  </a:cxn>
                  <a:cxn ang="0">
                    <a:pos x="0" y="141"/>
                  </a:cxn>
                </a:cxnLst>
                <a:rect l="txL" t="txT" r="txR" b="txB"/>
                <a:pathLst>
                  <a:path w="103" h="141">
                    <a:moveTo>
                      <a:pt x="103" y="1"/>
                    </a:moveTo>
                    <a:lnTo>
                      <a:pt x="0" y="0"/>
                    </a:lnTo>
                    <a:lnTo>
                      <a:pt x="0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34" name="Group 141"/>
              <p:cNvGrpSpPr/>
              <p:nvPr/>
            </p:nvGrpSpPr>
            <p:grpSpPr>
              <a:xfrm>
                <a:off x="2716" y="1841"/>
                <a:ext cx="202" cy="49"/>
                <a:chOff x="432" y="1152"/>
                <a:chExt cx="202" cy="49"/>
              </a:xfrm>
            </p:grpSpPr>
            <p:sp>
              <p:nvSpPr>
                <p:cNvPr id="306436" name="Freeform 142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37" name="Freeform 143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435" name="Freeform 144"/>
              <p:cNvSpPr/>
              <p:nvPr/>
            </p:nvSpPr>
            <p:spPr>
              <a:xfrm>
                <a:off x="2814" y="1406"/>
                <a:ext cx="101" cy="211"/>
              </a:xfrm>
              <a:custGeom>
                <a:avLst/>
                <a:gdLst>
                  <a:gd name="txL" fmla="*/ 0 w 101"/>
                  <a:gd name="txT" fmla="*/ 0 h 211"/>
                  <a:gd name="txR" fmla="*/ 101 w 101"/>
                  <a:gd name="txB" fmla="*/ 211 h 211"/>
                </a:gdLst>
                <a:ahLst/>
                <a:cxnLst>
                  <a:cxn ang="0">
                    <a:pos x="0" y="0"/>
                  </a:cxn>
                  <a:cxn ang="0">
                    <a:pos x="2" y="211"/>
                  </a:cxn>
                  <a:cxn ang="0">
                    <a:pos x="101" y="211"/>
                  </a:cxn>
                </a:cxnLst>
                <a:rect l="txL" t="txT" r="txR" b="txB"/>
                <a:pathLst>
                  <a:path w="101" h="211">
                    <a:moveTo>
                      <a:pt x="0" y="0"/>
                    </a:moveTo>
                    <a:lnTo>
                      <a:pt x="2" y="211"/>
                    </a:lnTo>
                    <a:lnTo>
                      <a:pt x="101" y="21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336" name="Group 145"/>
            <p:cNvGrpSpPr/>
            <p:nvPr/>
          </p:nvGrpSpPr>
          <p:grpSpPr>
            <a:xfrm>
              <a:off x="2716" y="2469"/>
              <a:ext cx="251" cy="573"/>
              <a:chOff x="2716" y="2469"/>
              <a:chExt cx="251" cy="573"/>
            </a:xfrm>
          </p:grpSpPr>
          <p:grpSp>
            <p:nvGrpSpPr>
              <p:cNvPr id="306420" name="Group 146"/>
              <p:cNvGrpSpPr/>
              <p:nvPr/>
            </p:nvGrpSpPr>
            <p:grpSpPr>
              <a:xfrm rot="10800000">
                <a:off x="2918" y="2610"/>
                <a:ext cx="49" cy="231"/>
                <a:chOff x="1586" y="1334"/>
                <a:chExt cx="49" cy="231"/>
              </a:xfrm>
            </p:grpSpPr>
            <p:sp>
              <p:nvSpPr>
                <p:cNvPr id="306428" name="Freeform 147"/>
                <p:cNvSpPr/>
                <p:nvPr/>
              </p:nvSpPr>
              <p:spPr>
                <a:xfrm>
                  <a:off x="1586" y="1392"/>
                  <a:ext cx="1" cy="120"/>
                </a:xfrm>
                <a:custGeom>
                  <a:avLst/>
                  <a:gdLst>
                    <a:gd name="txL" fmla="*/ 0 w 1"/>
                    <a:gd name="txT" fmla="*/ 0 h 120"/>
                    <a:gd name="txR" fmla="*/ 1 w 1"/>
                    <a:gd name="txB" fmla="*/ 120 h 120"/>
                  </a:gdLst>
                  <a:ahLst/>
                  <a:cxnLst>
                    <a:cxn ang="0">
                      <a:pos x="0" y="0"/>
                    </a:cxn>
                    <a:cxn ang="0">
                      <a:pos x="0" y="120"/>
                    </a:cxn>
                  </a:cxnLst>
                  <a:rect l="txL" t="txT" r="txR" b="txB"/>
                  <a:pathLst>
                    <a:path w="1" h="120">
                      <a:moveTo>
                        <a:pt x="0" y="0"/>
                      </a:moveTo>
                      <a:lnTo>
                        <a:pt x="0" y="12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29" name="Freeform 148"/>
                <p:cNvSpPr/>
                <p:nvPr/>
              </p:nvSpPr>
              <p:spPr>
                <a:xfrm>
                  <a:off x="1634" y="1334"/>
                  <a:ext cx="1" cy="231"/>
                </a:xfrm>
                <a:custGeom>
                  <a:avLst/>
                  <a:gdLst>
                    <a:gd name="txL" fmla="*/ 0 w 1"/>
                    <a:gd name="txT" fmla="*/ 0 h 231"/>
                    <a:gd name="txR" fmla="*/ 1 w 1"/>
                    <a:gd name="txB" fmla="*/ 231 h 231"/>
                  </a:gdLst>
                  <a:ahLst/>
                  <a:cxnLst>
                    <a:cxn ang="0">
                      <a:pos x="0" y="0"/>
                    </a:cxn>
                    <a:cxn ang="0">
                      <a:pos x="0" y="231"/>
                    </a:cxn>
                  </a:cxnLst>
                  <a:rect l="txL" t="txT" r="txR" b="txB"/>
                  <a:pathLst>
                    <a:path w="1" h="231">
                      <a:moveTo>
                        <a:pt x="0" y="0"/>
                      </a:moveTo>
                      <a:lnTo>
                        <a:pt x="0" y="23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421" name="Line 149"/>
              <p:cNvSpPr/>
              <p:nvPr/>
            </p:nvSpPr>
            <p:spPr>
              <a:xfrm>
                <a:off x="2816" y="2945"/>
                <a:ext cx="2" cy="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6422" name="Freeform 150"/>
              <p:cNvSpPr/>
              <p:nvPr/>
            </p:nvSpPr>
            <p:spPr>
              <a:xfrm>
                <a:off x="2764" y="3041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23" name="Freeform 151"/>
              <p:cNvSpPr/>
              <p:nvPr/>
            </p:nvSpPr>
            <p:spPr>
              <a:xfrm>
                <a:off x="2818" y="2765"/>
                <a:ext cx="103" cy="141"/>
              </a:xfrm>
              <a:custGeom>
                <a:avLst/>
                <a:gdLst>
                  <a:gd name="txL" fmla="*/ 0 w 103"/>
                  <a:gd name="txT" fmla="*/ 0 h 141"/>
                  <a:gd name="txR" fmla="*/ 103 w 103"/>
                  <a:gd name="txB" fmla="*/ 141 h 141"/>
                </a:gdLst>
                <a:ahLst/>
                <a:cxnLst>
                  <a:cxn ang="0">
                    <a:pos x="103" y="1"/>
                  </a:cxn>
                  <a:cxn ang="0">
                    <a:pos x="0" y="0"/>
                  </a:cxn>
                  <a:cxn ang="0">
                    <a:pos x="0" y="141"/>
                  </a:cxn>
                </a:cxnLst>
                <a:rect l="txL" t="txT" r="txR" b="txB"/>
                <a:pathLst>
                  <a:path w="103" h="141">
                    <a:moveTo>
                      <a:pt x="103" y="1"/>
                    </a:moveTo>
                    <a:lnTo>
                      <a:pt x="0" y="0"/>
                    </a:lnTo>
                    <a:lnTo>
                      <a:pt x="0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24" name="Group 152"/>
              <p:cNvGrpSpPr/>
              <p:nvPr/>
            </p:nvGrpSpPr>
            <p:grpSpPr>
              <a:xfrm>
                <a:off x="2716" y="2897"/>
                <a:ext cx="202" cy="49"/>
                <a:chOff x="432" y="1152"/>
                <a:chExt cx="202" cy="49"/>
              </a:xfrm>
            </p:grpSpPr>
            <p:sp>
              <p:nvSpPr>
                <p:cNvPr id="306426" name="Freeform 153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27" name="Freeform 154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425" name="Freeform 155"/>
              <p:cNvSpPr/>
              <p:nvPr/>
            </p:nvSpPr>
            <p:spPr>
              <a:xfrm>
                <a:off x="2816" y="2469"/>
                <a:ext cx="99" cy="204"/>
              </a:xfrm>
              <a:custGeom>
                <a:avLst/>
                <a:gdLst>
                  <a:gd name="txL" fmla="*/ 0 w 99"/>
                  <a:gd name="txT" fmla="*/ 0 h 204"/>
                  <a:gd name="txR" fmla="*/ 99 w 99"/>
                  <a:gd name="txB" fmla="*/ 204 h 204"/>
                </a:gdLst>
                <a:ahLst/>
                <a:cxnLst>
                  <a:cxn ang="0">
                    <a:pos x="1" y="0"/>
                  </a:cxn>
                  <a:cxn ang="0">
                    <a:pos x="0" y="204"/>
                  </a:cxn>
                  <a:cxn ang="0">
                    <a:pos x="99" y="204"/>
                  </a:cxn>
                </a:cxnLst>
                <a:rect l="txL" t="txT" r="txR" b="txB"/>
                <a:pathLst>
                  <a:path w="99" h="204">
                    <a:moveTo>
                      <a:pt x="1" y="0"/>
                    </a:moveTo>
                    <a:lnTo>
                      <a:pt x="0" y="204"/>
                    </a:lnTo>
                    <a:lnTo>
                      <a:pt x="99" y="20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06337" name="Freeform 156"/>
            <p:cNvSpPr/>
            <p:nvPr/>
          </p:nvSpPr>
          <p:spPr>
            <a:xfrm>
              <a:off x="2959" y="980"/>
              <a:ext cx="192" cy="2236"/>
            </a:xfrm>
            <a:custGeom>
              <a:avLst/>
              <a:gdLst>
                <a:gd name="txL" fmla="*/ 0 w 192"/>
                <a:gd name="txT" fmla="*/ 0 h 2236"/>
                <a:gd name="txR" fmla="*/ 192 w 192"/>
                <a:gd name="txB" fmla="*/ 2236 h 2236"/>
              </a:gdLst>
              <a:ahLst/>
              <a:cxnLst>
                <a:cxn ang="0">
                  <a:pos x="0" y="0"/>
                </a:cxn>
                <a:cxn ang="0">
                  <a:pos x="192" y="1"/>
                </a:cxn>
                <a:cxn ang="0">
                  <a:pos x="192" y="2236"/>
                </a:cxn>
              </a:cxnLst>
              <a:rect l="txL" t="txT" r="txR" b="txB"/>
              <a:pathLst>
                <a:path w="192" h="2236">
                  <a:moveTo>
                    <a:pt x="0" y="0"/>
                  </a:moveTo>
                  <a:lnTo>
                    <a:pt x="192" y="1"/>
                  </a:lnTo>
                  <a:lnTo>
                    <a:pt x="192" y="223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38" name="Freeform 157"/>
            <p:cNvSpPr/>
            <p:nvPr/>
          </p:nvSpPr>
          <p:spPr>
            <a:xfrm>
              <a:off x="2956" y="2112"/>
              <a:ext cx="195" cy="1"/>
            </a:xfrm>
            <a:custGeom>
              <a:avLst/>
              <a:gdLst>
                <a:gd name="txL" fmla="*/ 0 w 195"/>
                <a:gd name="txT" fmla="*/ 0 h 1"/>
                <a:gd name="txR" fmla="*/ 195 w 195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195" y="0"/>
                </a:cxn>
              </a:cxnLst>
              <a:rect l="txL" t="txT" r="txR" b="txB"/>
              <a:pathLst>
                <a:path w="195" h="1">
                  <a:moveTo>
                    <a:pt x="0" y="1"/>
                  </a:moveTo>
                  <a:lnTo>
                    <a:pt x="195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39" name="Freeform 158"/>
            <p:cNvSpPr/>
            <p:nvPr/>
          </p:nvSpPr>
          <p:spPr>
            <a:xfrm>
              <a:off x="2956" y="2256"/>
              <a:ext cx="195" cy="1"/>
            </a:xfrm>
            <a:custGeom>
              <a:avLst/>
              <a:gdLst>
                <a:gd name="txL" fmla="*/ 0 w 195"/>
                <a:gd name="txT" fmla="*/ 0 h 1"/>
                <a:gd name="txR" fmla="*/ 195 w 195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195" y="0"/>
                </a:cxn>
              </a:cxnLst>
              <a:rect l="txL" t="txT" r="txR" b="txB"/>
              <a:pathLst>
                <a:path w="195" h="1">
                  <a:moveTo>
                    <a:pt x="0" y="1"/>
                  </a:moveTo>
                  <a:lnTo>
                    <a:pt x="195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40" name="Freeform 159"/>
            <p:cNvSpPr/>
            <p:nvPr/>
          </p:nvSpPr>
          <p:spPr>
            <a:xfrm>
              <a:off x="2956" y="2722"/>
              <a:ext cx="195" cy="1"/>
            </a:xfrm>
            <a:custGeom>
              <a:avLst/>
              <a:gdLst>
                <a:gd name="txL" fmla="*/ 0 w 195"/>
                <a:gd name="txT" fmla="*/ 0 h 1"/>
                <a:gd name="txR" fmla="*/ 195 w 195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195" y="0"/>
                </a:cxn>
              </a:cxnLst>
              <a:rect l="txL" t="txT" r="txR" b="txB"/>
              <a:pathLst>
                <a:path w="195" h="1">
                  <a:moveTo>
                    <a:pt x="0" y="1"/>
                  </a:moveTo>
                  <a:lnTo>
                    <a:pt x="195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41" name="Freeform 160"/>
            <p:cNvSpPr/>
            <p:nvPr/>
          </p:nvSpPr>
          <p:spPr>
            <a:xfrm>
              <a:off x="3243" y="1410"/>
              <a:ext cx="1" cy="174"/>
            </a:xfrm>
            <a:custGeom>
              <a:avLst/>
              <a:gdLst>
                <a:gd name="txL" fmla="*/ 0 w 1"/>
                <a:gd name="txT" fmla="*/ 0 h 174"/>
                <a:gd name="txR" fmla="*/ 1 w 1"/>
                <a:gd name="txB" fmla="*/ 174 h 174"/>
              </a:gdLst>
              <a:ahLst/>
              <a:cxnLst>
                <a:cxn ang="0">
                  <a:pos x="0" y="0"/>
                </a:cxn>
                <a:cxn ang="0">
                  <a:pos x="0" y="174"/>
                </a:cxn>
              </a:cxnLst>
              <a:rect l="txL" t="txT" r="txR" b="txB"/>
              <a:pathLst>
                <a:path w="1" h="174">
                  <a:moveTo>
                    <a:pt x="0" y="0"/>
                  </a:moveTo>
                  <a:lnTo>
                    <a:pt x="0" y="174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42" name="Freeform 161"/>
            <p:cNvSpPr/>
            <p:nvPr/>
          </p:nvSpPr>
          <p:spPr>
            <a:xfrm>
              <a:off x="3389" y="1409"/>
              <a:ext cx="1" cy="183"/>
            </a:xfrm>
            <a:custGeom>
              <a:avLst/>
              <a:gdLst>
                <a:gd name="txL" fmla="*/ 0 w 1"/>
                <a:gd name="txT" fmla="*/ 0 h 183"/>
                <a:gd name="txR" fmla="*/ 1 w 1"/>
                <a:gd name="txB" fmla="*/ 183 h 183"/>
              </a:gdLst>
              <a:ahLst/>
              <a:cxnLst>
                <a:cxn ang="0">
                  <a:pos x="0" y="0"/>
                </a:cxn>
                <a:cxn ang="0">
                  <a:pos x="0" y="183"/>
                </a:cxn>
              </a:cxnLst>
              <a:rect l="txL" t="txT" r="txR" b="txB"/>
              <a:pathLst>
                <a:path w="1" h="183">
                  <a:moveTo>
                    <a:pt x="0" y="0"/>
                  </a:moveTo>
                  <a:lnTo>
                    <a:pt x="0" y="183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43" name="Freeform 162"/>
            <p:cNvSpPr/>
            <p:nvPr/>
          </p:nvSpPr>
          <p:spPr>
            <a:xfrm>
              <a:off x="3245" y="2466"/>
              <a:ext cx="1" cy="174"/>
            </a:xfrm>
            <a:custGeom>
              <a:avLst/>
              <a:gdLst>
                <a:gd name="txL" fmla="*/ 0 w 1"/>
                <a:gd name="txT" fmla="*/ 0 h 174"/>
                <a:gd name="txR" fmla="*/ 1 w 1"/>
                <a:gd name="txB" fmla="*/ 174 h 174"/>
              </a:gdLst>
              <a:ahLst/>
              <a:cxnLst>
                <a:cxn ang="0">
                  <a:pos x="0" y="0"/>
                </a:cxn>
                <a:cxn ang="0">
                  <a:pos x="1" y="174"/>
                </a:cxn>
              </a:cxnLst>
              <a:rect l="txL" t="txT" r="txR" b="txB"/>
              <a:pathLst>
                <a:path w="1" h="174">
                  <a:moveTo>
                    <a:pt x="0" y="0"/>
                  </a:moveTo>
                  <a:lnTo>
                    <a:pt x="1" y="174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44" name="Freeform 163"/>
            <p:cNvSpPr/>
            <p:nvPr/>
          </p:nvSpPr>
          <p:spPr>
            <a:xfrm>
              <a:off x="3391" y="2459"/>
              <a:ext cx="2" cy="181"/>
            </a:xfrm>
            <a:custGeom>
              <a:avLst/>
              <a:gdLst>
                <a:gd name="txL" fmla="*/ 0 w 2"/>
                <a:gd name="txT" fmla="*/ 0 h 181"/>
                <a:gd name="txR" fmla="*/ 2 w 2"/>
                <a:gd name="txB" fmla="*/ 181 h 181"/>
              </a:gdLst>
              <a:ahLst/>
              <a:cxnLst>
                <a:cxn ang="0">
                  <a:pos x="2" y="0"/>
                </a:cxn>
                <a:cxn ang="0">
                  <a:pos x="0" y="181"/>
                </a:cxn>
              </a:cxnLst>
              <a:rect l="txL" t="txT" r="txR" b="txB"/>
              <a:pathLst>
                <a:path w="2" h="181">
                  <a:moveTo>
                    <a:pt x="2" y="0"/>
                  </a:moveTo>
                  <a:lnTo>
                    <a:pt x="0" y="181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45" name="Freeform 164"/>
            <p:cNvSpPr/>
            <p:nvPr/>
          </p:nvSpPr>
          <p:spPr>
            <a:xfrm>
              <a:off x="3915" y="1665"/>
              <a:ext cx="178" cy="1"/>
            </a:xfrm>
            <a:custGeom>
              <a:avLst/>
              <a:gdLst>
                <a:gd name="txL" fmla="*/ 0 w 178"/>
                <a:gd name="txT" fmla="*/ 0 h 1"/>
                <a:gd name="txR" fmla="*/ 178 w 17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78" y="0"/>
                </a:cxn>
              </a:cxnLst>
              <a:rect l="txL" t="txT" r="txR" b="txB"/>
              <a:pathLst>
                <a:path w="178" h="1">
                  <a:moveTo>
                    <a:pt x="0" y="0"/>
                  </a:moveTo>
                  <a:lnTo>
                    <a:pt x="178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46" name="Text Box 165"/>
            <p:cNvSpPr txBox="1"/>
            <p:nvPr/>
          </p:nvSpPr>
          <p:spPr>
            <a:xfrm rot="5400000">
              <a:off x="3656" y="2014"/>
              <a:ext cx="37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06347" name="Group 166"/>
            <p:cNvGrpSpPr/>
            <p:nvPr/>
          </p:nvGrpSpPr>
          <p:grpSpPr>
            <a:xfrm>
              <a:off x="3648" y="702"/>
              <a:ext cx="251" cy="594"/>
              <a:chOff x="3648" y="702"/>
              <a:chExt cx="251" cy="594"/>
            </a:xfrm>
          </p:grpSpPr>
          <p:grpSp>
            <p:nvGrpSpPr>
              <p:cNvPr id="306410" name="Group 167"/>
              <p:cNvGrpSpPr/>
              <p:nvPr/>
            </p:nvGrpSpPr>
            <p:grpSpPr>
              <a:xfrm rot="10800000">
                <a:off x="3850" y="864"/>
                <a:ext cx="49" cy="231"/>
                <a:chOff x="1586" y="1334"/>
                <a:chExt cx="49" cy="231"/>
              </a:xfrm>
            </p:grpSpPr>
            <p:sp>
              <p:nvSpPr>
                <p:cNvPr id="306418" name="Freeform 168"/>
                <p:cNvSpPr/>
                <p:nvPr/>
              </p:nvSpPr>
              <p:spPr>
                <a:xfrm>
                  <a:off x="1586" y="1392"/>
                  <a:ext cx="1" cy="120"/>
                </a:xfrm>
                <a:custGeom>
                  <a:avLst/>
                  <a:gdLst>
                    <a:gd name="txL" fmla="*/ 0 w 1"/>
                    <a:gd name="txT" fmla="*/ 0 h 120"/>
                    <a:gd name="txR" fmla="*/ 1 w 1"/>
                    <a:gd name="txB" fmla="*/ 120 h 120"/>
                  </a:gdLst>
                  <a:ahLst/>
                  <a:cxnLst>
                    <a:cxn ang="0">
                      <a:pos x="0" y="0"/>
                    </a:cxn>
                    <a:cxn ang="0">
                      <a:pos x="0" y="120"/>
                    </a:cxn>
                  </a:cxnLst>
                  <a:rect l="txL" t="txT" r="txR" b="txB"/>
                  <a:pathLst>
                    <a:path w="1" h="120">
                      <a:moveTo>
                        <a:pt x="0" y="0"/>
                      </a:moveTo>
                      <a:lnTo>
                        <a:pt x="0" y="12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19" name="Freeform 169"/>
                <p:cNvSpPr/>
                <p:nvPr/>
              </p:nvSpPr>
              <p:spPr>
                <a:xfrm>
                  <a:off x="1634" y="1334"/>
                  <a:ext cx="1" cy="231"/>
                </a:xfrm>
                <a:custGeom>
                  <a:avLst/>
                  <a:gdLst>
                    <a:gd name="txL" fmla="*/ 0 w 1"/>
                    <a:gd name="txT" fmla="*/ 0 h 231"/>
                    <a:gd name="txR" fmla="*/ 1 w 1"/>
                    <a:gd name="txB" fmla="*/ 231 h 231"/>
                  </a:gdLst>
                  <a:ahLst/>
                  <a:cxnLst>
                    <a:cxn ang="0">
                      <a:pos x="0" y="0"/>
                    </a:cxn>
                    <a:cxn ang="0">
                      <a:pos x="0" y="231"/>
                    </a:cxn>
                  </a:cxnLst>
                  <a:rect l="txL" t="txT" r="txR" b="txB"/>
                  <a:pathLst>
                    <a:path w="1" h="231">
                      <a:moveTo>
                        <a:pt x="0" y="0"/>
                      </a:moveTo>
                      <a:lnTo>
                        <a:pt x="0" y="23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411" name="Line 170"/>
              <p:cNvSpPr/>
              <p:nvPr/>
            </p:nvSpPr>
            <p:spPr>
              <a:xfrm>
                <a:off x="3748" y="1199"/>
                <a:ext cx="2" cy="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6412" name="Freeform 171"/>
              <p:cNvSpPr/>
              <p:nvPr/>
            </p:nvSpPr>
            <p:spPr>
              <a:xfrm>
                <a:off x="3696" y="1295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13" name="Freeform 172"/>
              <p:cNvSpPr/>
              <p:nvPr/>
            </p:nvSpPr>
            <p:spPr>
              <a:xfrm>
                <a:off x="3750" y="1019"/>
                <a:ext cx="103" cy="141"/>
              </a:xfrm>
              <a:custGeom>
                <a:avLst/>
                <a:gdLst>
                  <a:gd name="txL" fmla="*/ 0 w 103"/>
                  <a:gd name="txT" fmla="*/ 0 h 141"/>
                  <a:gd name="txR" fmla="*/ 103 w 103"/>
                  <a:gd name="txB" fmla="*/ 141 h 141"/>
                </a:gdLst>
                <a:ahLst/>
                <a:cxnLst>
                  <a:cxn ang="0">
                    <a:pos x="103" y="1"/>
                  </a:cxn>
                  <a:cxn ang="0">
                    <a:pos x="0" y="0"/>
                  </a:cxn>
                  <a:cxn ang="0">
                    <a:pos x="0" y="141"/>
                  </a:cxn>
                </a:cxnLst>
                <a:rect l="txL" t="txT" r="txR" b="txB"/>
                <a:pathLst>
                  <a:path w="103" h="141">
                    <a:moveTo>
                      <a:pt x="103" y="1"/>
                    </a:moveTo>
                    <a:lnTo>
                      <a:pt x="0" y="0"/>
                    </a:lnTo>
                    <a:lnTo>
                      <a:pt x="0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14" name="Group 173"/>
              <p:cNvGrpSpPr/>
              <p:nvPr/>
            </p:nvGrpSpPr>
            <p:grpSpPr>
              <a:xfrm>
                <a:off x="3648" y="1151"/>
                <a:ext cx="202" cy="49"/>
                <a:chOff x="432" y="1152"/>
                <a:chExt cx="202" cy="49"/>
              </a:xfrm>
            </p:grpSpPr>
            <p:sp>
              <p:nvSpPr>
                <p:cNvPr id="306416" name="Freeform 174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17" name="Freeform 175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415" name="Freeform 176"/>
              <p:cNvSpPr/>
              <p:nvPr/>
            </p:nvSpPr>
            <p:spPr>
              <a:xfrm>
                <a:off x="3748" y="702"/>
                <a:ext cx="99" cy="225"/>
              </a:xfrm>
              <a:custGeom>
                <a:avLst/>
                <a:gdLst>
                  <a:gd name="txL" fmla="*/ 0 w 99"/>
                  <a:gd name="txT" fmla="*/ 0 h 225"/>
                  <a:gd name="txR" fmla="*/ 99 w 99"/>
                  <a:gd name="txB" fmla="*/ 225 h 225"/>
                </a:gdLst>
                <a:ahLst/>
                <a:cxnLst>
                  <a:cxn ang="0">
                    <a:pos x="0" y="0"/>
                  </a:cxn>
                  <a:cxn ang="0">
                    <a:pos x="0" y="225"/>
                  </a:cxn>
                  <a:cxn ang="0">
                    <a:pos x="99" y="225"/>
                  </a:cxn>
                </a:cxnLst>
                <a:rect l="txL" t="txT" r="txR" b="txB"/>
                <a:pathLst>
                  <a:path w="99" h="225">
                    <a:moveTo>
                      <a:pt x="0" y="0"/>
                    </a:moveTo>
                    <a:lnTo>
                      <a:pt x="0" y="225"/>
                    </a:lnTo>
                    <a:lnTo>
                      <a:pt x="99" y="22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348" name="Group 177"/>
            <p:cNvGrpSpPr/>
            <p:nvPr/>
          </p:nvGrpSpPr>
          <p:grpSpPr>
            <a:xfrm>
              <a:off x="3658" y="1409"/>
              <a:ext cx="251" cy="577"/>
              <a:chOff x="3658" y="1409"/>
              <a:chExt cx="251" cy="577"/>
            </a:xfrm>
          </p:grpSpPr>
          <p:grpSp>
            <p:nvGrpSpPr>
              <p:cNvPr id="306400" name="Group 178"/>
              <p:cNvGrpSpPr/>
              <p:nvPr/>
            </p:nvGrpSpPr>
            <p:grpSpPr>
              <a:xfrm rot="10800000">
                <a:off x="3860" y="1554"/>
                <a:ext cx="49" cy="231"/>
                <a:chOff x="1586" y="1334"/>
                <a:chExt cx="49" cy="231"/>
              </a:xfrm>
            </p:grpSpPr>
            <p:sp>
              <p:nvSpPr>
                <p:cNvPr id="306408" name="Freeform 179"/>
                <p:cNvSpPr/>
                <p:nvPr/>
              </p:nvSpPr>
              <p:spPr>
                <a:xfrm>
                  <a:off x="1586" y="1392"/>
                  <a:ext cx="1" cy="120"/>
                </a:xfrm>
                <a:custGeom>
                  <a:avLst/>
                  <a:gdLst>
                    <a:gd name="txL" fmla="*/ 0 w 1"/>
                    <a:gd name="txT" fmla="*/ 0 h 120"/>
                    <a:gd name="txR" fmla="*/ 1 w 1"/>
                    <a:gd name="txB" fmla="*/ 120 h 120"/>
                  </a:gdLst>
                  <a:ahLst/>
                  <a:cxnLst>
                    <a:cxn ang="0">
                      <a:pos x="0" y="0"/>
                    </a:cxn>
                    <a:cxn ang="0">
                      <a:pos x="0" y="120"/>
                    </a:cxn>
                  </a:cxnLst>
                  <a:rect l="txL" t="txT" r="txR" b="txB"/>
                  <a:pathLst>
                    <a:path w="1" h="120">
                      <a:moveTo>
                        <a:pt x="0" y="0"/>
                      </a:moveTo>
                      <a:lnTo>
                        <a:pt x="0" y="12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09" name="Freeform 180"/>
                <p:cNvSpPr/>
                <p:nvPr/>
              </p:nvSpPr>
              <p:spPr>
                <a:xfrm>
                  <a:off x="1634" y="1334"/>
                  <a:ext cx="1" cy="231"/>
                </a:xfrm>
                <a:custGeom>
                  <a:avLst/>
                  <a:gdLst>
                    <a:gd name="txL" fmla="*/ 0 w 1"/>
                    <a:gd name="txT" fmla="*/ 0 h 231"/>
                    <a:gd name="txR" fmla="*/ 1 w 1"/>
                    <a:gd name="txB" fmla="*/ 231 h 231"/>
                  </a:gdLst>
                  <a:ahLst/>
                  <a:cxnLst>
                    <a:cxn ang="0">
                      <a:pos x="0" y="0"/>
                    </a:cxn>
                    <a:cxn ang="0">
                      <a:pos x="0" y="231"/>
                    </a:cxn>
                  </a:cxnLst>
                  <a:rect l="txL" t="txT" r="txR" b="txB"/>
                  <a:pathLst>
                    <a:path w="1" h="231">
                      <a:moveTo>
                        <a:pt x="0" y="0"/>
                      </a:moveTo>
                      <a:lnTo>
                        <a:pt x="0" y="23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401" name="Line 181"/>
              <p:cNvSpPr/>
              <p:nvPr/>
            </p:nvSpPr>
            <p:spPr>
              <a:xfrm>
                <a:off x="3758" y="1889"/>
                <a:ext cx="2" cy="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6402" name="Freeform 182"/>
              <p:cNvSpPr/>
              <p:nvPr/>
            </p:nvSpPr>
            <p:spPr>
              <a:xfrm>
                <a:off x="3706" y="1985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403" name="Freeform 183"/>
              <p:cNvSpPr/>
              <p:nvPr/>
            </p:nvSpPr>
            <p:spPr>
              <a:xfrm>
                <a:off x="3760" y="1709"/>
                <a:ext cx="103" cy="141"/>
              </a:xfrm>
              <a:custGeom>
                <a:avLst/>
                <a:gdLst>
                  <a:gd name="txL" fmla="*/ 0 w 103"/>
                  <a:gd name="txT" fmla="*/ 0 h 141"/>
                  <a:gd name="txR" fmla="*/ 103 w 103"/>
                  <a:gd name="txB" fmla="*/ 141 h 141"/>
                </a:gdLst>
                <a:ahLst/>
                <a:cxnLst>
                  <a:cxn ang="0">
                    <a:pos x="103" y="1"/>
                  </a:cxn>
                  <a:cxn ang="0">
                    <a:pos x="0" y="0"/>
                  </a:cxn>
                  <a:cxn ang="0">
                    <a:pos x="0" y="141"/>
                  </a:cxn>
                </a:cxnLst>
                <a:rect l="txL" t="txT" r="txR" b="txB"/>
                <a:pathLst>
                  <a:path w="103" h="141">
                    <a:moveTo>
                      <a:pt x="103" y="1"/>
                    </a:moveTo>
                    <a:lnTo>
                      <a:pt x="0" y="0"/>
                    </a:lnTo>
                    <a:lnTo>
                      <a:pt x="0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404" name="Group 184"/>
              <p:cNvGrpSpPr/>
              <p:nvPr/>
            </p:nvGrpSpPr>
            <p:grpSpPr>
              <a:xfrm>
                <a:off x="3658" y="1841"/>
                <a:ext cx="202" cy="49"/>
                <a:chOff x="432" y="1152"/>
                <a:chExt cx="202" cy="49"/>
              </a:xfrm>
            </p:grpSpPr>
            <p:sp>
              <p:nvSpPr>
                <p:cNvPr id="306406" name="Freeform 185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407" name="Freeform 186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405" name="Freeform 187"/>
              <p:cNvSpPr/>
              <p:nvPr/>
            </p:nvSpPr>
            <p:spPr>
              <a:xfrm>
                <a:off x="3758" y="1409"/>
                <a:ext cx="99" cy="208"/>
              </a:xfrm>
              <a:custGeom>
                <a:avLst/>
                <a:gdLst>
                  <a:gd name="txL" fmla="*/ 0 w 99"/>
                  <a:gd name="txT" fmla="*/ 0 h 208"/>
                  <a:gd name="txR" fmla="*/ 99 w 99"/>
                  <a:gd name="txB" fmla="*/ 208 h 208"/>
                </a:gdLst>
                <a:ahLst/>
                <a:cxnLst>
                  <a:cxn ang="0">
                    <a:pos x="0" y="0"/>
                  </a:cxn>
                  <a:cxn ang="0">
                    <a:pos x="0" y="208"/>
                  </a:cxn>
                  <a:cxn ang="0">
                    <a:pos x="99" y="208"/>
                  </a:cxn>
                </a:cxnLst>
                <a:rect l="txL" t="txT" r="txR" b="txB"/>
                <a:pathLst>
                  <a:path w="99" h="208">
                    <a:moveTo>
                      <a:pt x="0" y="0"/>
                    </a:moveTo>
                    <a:lnTo>
                      <a:pt x="0" y="208"/>
                    </a:lnTo>
                    <a:lnTo>
                      <a:pt x="99" y="208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349" name="Group 188"/>
            <p:cNvGrpSpPr/>
            <p:nvPr/>
          </p:nvGrpSpPr>
          <p:grpSpPr>
            <a:xfrm>
              <a:off x="3658" y="2468"/>
              <a:ext cx="251" cy="574"/>
              <a:chOff x="3658" y="2468"/>
              <a:chExt cx="251" cy="574"/>
            </a:xfrm>
          </p:grpSpPr>
          <p:grpSp>
            <p:nvGrpSpPr>
              <p:cNvPr id="306390" name="Group 189"/>
              <p:cNvGrpSpPr/>
              <p:nvPr/>
            </p:nvGrpSpPr>
            <p:grpSpPr>
              <a:xfrm rot="10800000">
                <a:off x="3860" y="2610"/>
                <a:ext cx="49" cy="231"/>
                <a:chOff x="1586" y="1334"/>
                <a:chExt cx="49" cy="231"/>
              </a:xfrm>
            </p:grpSpPr>
            <p:sp>
              <p:nvSpPr>
                <p:cNvPr id="306398" name="Freeform 190"/>
                <p:cNvSpPr/>
                <p:nvPr/>
              </p:nvSpPr>
              <p:spPr>
                <a:xfrm>
                  <a:off x="1586" y="1392"/>
                  <a:ext cx="1" cy="120"/>
                </a:xfrm>
                <a:custGeom>
                  <a:avLst/>
                  <a:gdLst>
                    <a:gd name="txL" fmla="*/ 0 w 1"/>
                    <a:gd name="txT" fmla="*/ 0 h 120"/>
                    <a:gd name="txR" fmla="*/ 1 w 1"/>
                    <a:gd name="txB" fmla="*/ 120 h 120"/>
                  </a:gdLst>
                  <a:ahLst/>
                  <a:cxnLst>
                    <a:cxn ang="0">
                      <a:pos x="0" y="0"/>
                    </a:cxn>
                    <a:cxn ang="0">
                      <a:pos x="0" y="120"/>
                    </a:cxn>
                  </a:cxnLst>
                  <a:rect l="txL" t="txT" r="txR" b="txB"/>
                  <a:pathLst>
                    <a:path w="1" h="120">
                      <a:moveTo>
                        <a:pt x="0" y="0"/>
                      </a:moveTo>
                      <a:lnTo>
                        <a:pt x="0" y="12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399" name="Freeform 191"/>
                <p:cNvSpPr/>
                <p:nvPr/>
              </p:nvSpPr>
              <p:spPr>
                <a:xfrm>
                  <a:off x="1634" y="1334"/>
                  <a:ext cx="1" cy="231"/>
                </a:xfrm>
                <a:custGeom>
                  <a:avLst/>
                  <a:gdLst>
                    <a:gd name="txL" fmla="*/ 0 w 1"/>
                    <a:gd name="txT" fmla="*/ 0 h 231"/>
                    <a:gd name="txR" fmla="*/ 1 w 1"/>
                    <a:gd name="txB" fmla="*/ 231 h 231"/>
                  </a:gdLst>
                  <a:ahLst/>
                  <a:cxnLst>
                    <a:cxn ang="0">
                      <a:pos x="0" y="0"/>
                    </a:cxn>
                    <a:cxn ang="0">
                      <a:pos x="0" y="231"/>
                    </a:cxn>
                  </a:cxnLst>
                  <a:rect l="txL" t="txT" r="txR" b="txB"/>
                  <a:pathLst>
                    <a:path w="1" h="231">
                      <a:moveTo>
                        <a:pt x="0" y="0"/>
                      </a:moveTo>
                      <a:lnTo>
                        <a:pt x="0" y="23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391" name="Line 192"/>
              <p:cNvSpPr/>
              <p:nvPr/>
            </p:nvSpPr>
            <p:spPr>
              <a:xfrm>
                <a:off x="3758" y="2945"/>
                <a:ext cx="2" cy="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6392" name="Freeform 193"/>
              <p:cNvSpPr/>
              <p:nvPr/>
            </p:nvSpPr>
            <p:spPr>
              <a:xfrm>
                <a:off x="3706" y="3041"/>
                <a:ext cx="120" cy="1"/>
              </a:xfrm>
              <a:custGeom>
                <a:avLst/>
                <a:gdLst>
                  <a:gd name="txL" fmla="*/ 0 w 120"/>
                  <a:gd name="txT" fmla="*/ 0 h 1"/>
                  <a:gd name="txR" fmla="*/ 120 w 12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20" y="0"/>
                  </a:cxn>
                </a:cxnLst>
                <a:rect l="txL" t="txT" r="txR" b="txB"/>
                <a:pathLst>
                  <a:path w="120" h="1">
                    <a:moveTo>
                      <a:pt x="0" y="0"/>
                    </a:moveTo>
                    <a:lnTo>
                      <a:pt x="12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393" name="Freeform 194"/>
              <p:cNvSpPr/>
              <p:nvPr/>
            </p:nvSpPr>
            <p:spPr>
              <a:xfrm>
                <a:off x="3760" y="2765"/>
                <a:ext cx="103" cy="141"/>
              </a:xfrm>
              <a:custGeom>
                <a:avLst/>
                <a:gdLst>
                  <a:gd name="txL" fmla="*/ 0 w 103"/>
                  <a:gd name="txT" fmla="*/ 0 h 141"/>
                  <a:gd name="txR" fmla="*/ 103 w 103"/>
                  <a:gd name="txB" fmla="*/ 141 h 141"/>
                </a:gdLst>
                <a:ahLst/>
                <a:cxnLst>
                  <a:cxn ang="0">
                    <a:pos x="103" y="1"/>
                  </a:cxn>
                  <a:cxn ang="0">
                    <a:pos x="0" y="0"/>
                  </a:cxn>
                  <a:cxn ang="0">
                    <a:pos x="0" y="141"/>
                  </a:cxn>
                </a:cxnLst>
                <a:rect l="txL" t="txT" r="txR" b="txB"/>
                <a:pathLst>
                  <a:path w="103" h="141">
                    <a:moveTo>
                      <a:pt x="103" y="1"/>
                    </a:moveTo>
                    <a:lnTo>
                      <a:pt x="0" y="0"/>
                    </a:lnTo>
                    <a:lnTo>
                      <a:pt x="0" y="14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394" name="Group 195"/>
              <p:cNvGrpSpPr/>
              <p:nvPr/>
            </p:nvGrpSpPr>
            <p:grpSpPr>
              <a:xfrm>
                <a:off x="3658" y="2897"/>
                <a:ext cx="202" cy="49"/>
                <a:chOff x="432" y="1152"/>
                <a:chExt cx="202" cy="49"/>
              </a:xfrm>
            </p:grpSpPr>
            <p:sp>
              <p:nvSpPr>
                <p:cNvPr id="306396" name="Freeform 196"/>
                <p:cNvSpPr/>
                <p:nvPr/>
              </p:nvSpPr>
              <p:spPr>
                <a:xfrm>
                  <a:off x="432" y="1152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397" name="Freeform 197"/>
                <p:cNvSpPr/>
                <p:nvPr/>
              </p:nvSpPr>
              <p:spPr>
                <a:xfrm>
                  <a:off x="432" y="1200"/>
                  <a:ext cx="202" cy="1"/>
                </a:xfrm>
                <a:custGeom>
                  <a:avLst/>
                  <a:gdLst>
                    <a:gd name="txL" fmla="*/ 0 w 202"/>
                    <a:gd name="txT" fmla="*/ 0 h 1"/>
                    <a:gd name="txR" fmla="*/ 202 w 202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02" y="0"/>
                    </a:cxn>
                  </a:cxnLst>
                  <a:rect l="txL" t="txT" r="txR" b="txB"/>
                  <a:pathLst>
                    <a:path w="202" h="1">
                      <a:moveTo>
                        <a:pt x="0" y="0"/>
                      </a:moveTo>
                      <a:lnTo>
                        <a:pt x="202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395" name="Freeform 198"/>
              <p:cNvSpPr/>
              <p:nvPr/>
            </p:nvSpPr>
            <p:spPr>
              <a:xfrm>
                <a:off x="3758" y="2468"/>
                <a:ext cx="99" cy="205"/>
              </a:xfrm>
              <a:custGeom>
                <a:avLst/>
                <a:gdLst>
                  <a:gd name="txL" fmla="*/ 0 w 99"/>
                  <a:gd name="txT" fmla="*/ 0 h 205"/>
                  <a:gd name="txR" fmla="*/ 99 w 99"/>
                  <a:gd name="txB" fmla="*/ 205 h 205"/>
                </a:gdLst>
                <a:ahLst/>
                <a:cxnLst>
                  <a:cxn ang="0">
                    <a:pos x="0" y="0"/>
                  </a:cxn>
                  <a:cxn ang="0">
                    <a:pos x="0" y="205"/>
                  </a:cxn>
                  <a:cxn ang="0">
                    <a:pos x="99" y="205"/>
                  </a:cxn>
                </a:cxnLst>
                <a:rect l="txL" t="txT" r="txR" b="txB"/>
                <a:pathLst>
                  <a:path w="99" h="205">
                    <a:moveTo>
                      <a:pt x="0" y="0"/>
                    </a:moveTo>
                    <a:lnTo>
                      <a:pt x="0" y="205"/>
                    </a:lnTo>
                    <a:lnTo>
                      <a:pt x="99" y="205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06350" name="Freeform 199"/>
            <p:cNvSpPr/>
            <p:nvPr/>
          </p:nvSpPr>
          <p:spPr>
            <a:xfrm>
              <a:off x="3901" y="980"/>
              <a:ext cx="192" cy="2236"/>
            </a:xfrm>
            <a:custGeom>
              <a:avLst/>
              <a:gdLst>
                <a:gd name="txL" fmla="*/ 0 w 192"/>
                <a:gd name="txT" fmla="*/ 0 h 2236"/>
                <a:gd name="txR" fmla="*/ 192 w 192"/>
                <a:gd name="txB" fmla="*/ 2236 h 2236"/>
              </a:gdLst>
              <a:ahLst/>
              <a:cxnLst>
                <a:cxn ang="0">
                  <a:pos x="0" y="0"/>
                </a:cxn>
                <a:cxn ang="0">
                  <a:pos x="192" y="1"/>
                </a:cxn>
                <a:cxn ang="0">
                  <a:pos x="192" y="2236"/>
                </a:cxn>
              </a:cxnLst>
              <a:rect l="txL" t="txT" r="txR" b="txB"/>
              <a:pathLst>
                <a:path w="192" h="2236">
                  <a:moveTo>
                    <a:pt x="0" y="0"/>
                  </a:moveTo>
                  <a:lnTo>
                    <a:pt x="192" y="1"/>
                  </a:lnTo>
                  <a:lnTo>
                    <a:pt x="192" y="223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51" name="Freeform 200"/>
            <p:cNvSpPr/>
            <p:nvPr/>
          </p:nvSpPr>
          <p:spPr>
            <a:xfrm>
              <a:off x="3898" y="2112"/>
              <a:ext cx="195" cy="1"/>
            </a:xfrm>
            <a:custGeom>
              <a:avLst/>
              <a:gdLst>
                <a:gd name="txL" fmla="*/ 0 w 195"/>
                <a:gd name="txT" fmla="*/ 0 h 1"/>
                <a:gd name="txR" fmla="*/ 195 w 195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195" y="0"/>
                </a:cxn>
              </a:cxnLst>
              <a:rect l="txL" t="txT" r="txR" b="txB"/>
              <a:pathLst>
                <a:path w="195" h="1">
                  <a:moveTo>
                    <a:pt x="0" y="1"/>
                  </a:moveTo>
                  <a:lnTo>
                    <a:pt x="195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52" name="Freeform 201"/>
            <p:cNvSpPr/>
            <p:nvPr/>
          </p:nvSpPr>
          <p:spPr>
            <a:xfrm>
              <a:off x="3898" y="2256"/>
              <a:ext cx="195" cy="1"/>
            </a:xfrm>
            <a:custGeom>
              <a:avLst/>
              <a:gdLst>
                <a:gd name="txL" fmla="*/ 0 w 195"/>
                <a:gd name="txT" fmla="*/ 0 h 1"/>
                <a:gd name="txR" fmla="*/ 195 w 195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195" y="0"/>
                </a:cxn>
              </a:cxnLst>
              <a:rect l="txL" t="txT" r="txR" b="txB"/>
              <a:pathLst>
                <a:path w="195" h="1">
                  <a:moveTo>
                    <a:pt x="0" y="1"/>
                  </a:moveTo>
                  <a:lnTo>
                    <a:pt x="195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53" name="Freeform 202"/>
            <p:cNvSpPr/>
            <p:nvPr/>
          </p:nvSpPr>
          <p:spPr>
            <a:xfrm>
              <a:off x="3906" y="2721"/>
              <a:ext cx="187" cy="1"/>
            </a:xfrm>
            <a:custGeom>
              <a:avLst/>
              <a:gdLst>
                <a:gd name="txL" fmla="*/ 0 w 187"/>
                <a:gd name="txT" fmla="*/ 0 h 1"/>
                <a:gd name="txR" fmla="*/ 187 w 187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87" y="1"/>
                </a:cxn>
              </a:cxnLst>
              <a:rect l="txL" t="txT" r="txR" b="txB"/>
              <a:pathLst>
                <a:path w="187" h="1">
                  <a:moveTo>
                    <a:pt x="0" y="0"/>
                  </a:moveTo>
                  <a:lnTo>
                    <a:pt x="187" y="1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54" name="Freeform 203"/>
            <p:cNvSpPr/>
            <p:nvPr/>
          </p:nvSpPr>
          <p:spPr>
            <a:xfrm>
              <a:off x="4453" y="1302"/>
              <a:ext cx="432" cy="111"/>
            </a:xfrm>
            <a:custGeom>
              <a:avLst/>
              <a:gdLst>
                <a:gd name="txL" fmla="*/ 0 w 432"/>
                <a:gd name="txT" fmla="*/ 0 h 111"/>
                <a:gd name="txR" fmla="*/ 432 w 432"/>
                <a:gd name="txB" fmla="*/ 111 h 111"/>
              </a:gdLst>
              <a:ahLst/>
              <a:cxnLst>
                <a:cxn ang="0">
                  <a:pos x="0" y="0"/>
                </a:cxn>
                <a:cxn ang="0">
                  <a:pos x="0" y="111"/>
                </a:cxn>
                <a:cxn ang="0">
                  <a:pos x="432" y="111"/>
                </a:cxn>
              </a:cxnLst>
              <a:rect l="txL" t="txT" r="txR" b="txB"/>
              <a:pathLst>
                <a:path w="432" h="111">
                  <a:moveTo>
                    <a:pt x="0" y="0"/>
                  </a:moveTo>
                  <a:lnTo>
                    <a:pt x="0" y="111"/>
                  </a:lnTo>
                  <a:lnTo>
                    <a:pt x="432" y="11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55" name="Freeform 204"/>
            <p:cNvSpPr/>
            <p:nvPr/>
          </p:nvSpPr>
          <p:spPr>
            <a:xfrm>
              <a:off x="4453" y="2358"/>
              <a:ext cx="423" cy="120"/>
            </a:xfrm>
            <a:custGeom>
              <a:avLst/>
              <a:gdLst>
                <a:gd name="txL" fmla="*/ 0 w 423"/>
                <a:gd name="txT" fmla="*/ 0 h 120"/>
                <a:gd name="txR" fmla="*/ 423 w 423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0" y="120"/>
                </a:cxn>
                <a:cxn ang="0">
                  <a:pos x="423" y="120"/>
                </a:cxn>
              </a:cxnLst>
              <a:rect l="txL" t="txT" r="txR" b="txB"/>
              <a:pathLst>
                <a:path w="423" h="120">
                  <a:moveTo>
                    <a:pt x="0" y="0"/>
                  </a:moveTo>
                  <a:lnTo>
                    <a:pt x="0" y="120"/>
                  </a:lnTo>
                  <a:lnTo>
                    <a:pt x="423" y="12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56" name="Freeform 205"/>
            <p:cNvSpPr/>
            <p:nvPr/>
          </p:nvSpPr>
          <p:spPr>
            <a:xfrm>
              <a:off x="4411" y="432"/>
              <a:ext cx="800" cy="99"/>
            </a:xfrm>
            <a:custGeom>
              <a:avLst/>
              <a:gdLst>
                <a:gd name="txL" fmla="*/ 0 w 993"/>
                <a:gd name="txT" fmla="*/ 0 h 99"/>
                <a:gd name="txR" fmla="*/ 993 w 993"/>
                <a:gd name="txB" fmla="*/ 99 h 99"/>
              </a:gdLst>
              <a:ahLst/>
              <a:cxnLst>
                <a:cxn ang="0">
                  <a:pos x="0" y="99"/>
                </a:cxn>
                <a:cxn ang="0">
                  <a:pos x="0" y="0"/>
                </a:cxn>
                <a:cxn ang="0">
                  <a:pos x="993" y="0"/>
                </a:cxn>
              </a:cxnLst>
              <a:rect l="txL" t="txT" r="txR" b="txB"/>
              <a:pathLst>
                <a:path w="993" h="99">
                  <a:moveTo>
                    <a:pt x="0" y="99"/>
                  </a:moveTo>
                  <a:lnTo>
                    <a:pt x="0" y="0"/>
                  </a:lnTo>
                  <a:lnTo>
                    <a:pt x="99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57" name="Freeform 206"/>
            <p:cNvSpPr/>
            <p:nvPr/>
          </p:nvSpPr>
          <p:spPr>
            <a:xfrm>
              <a:off x="4411" y="1152"/>
              <a:ext cx="801" cy="96"/>
            </a:xfrm>
            <a:custGeom>
              <a:avLst/>
              <a:gdLst>
                <a:gd name="txL" fmla="*/ 0 w 993"/>
                <a:gd name="txT" fmla="*/ 0 h 99"/>
                <a:gd name="txR" fmla="*/ 993 w 993"/>
                <a:gd name="txB" fmla="*/ 99 h 99"/>
              </a:gdLst>
              <a:ahLst/>
              <a:cxnLst>
                <a:cxn ang="0">
                  <a:pos x="0" y="99"/>
                </a:cxn>
                <a:cxn ang="0">
                  <a:pos x="0" y="0"/>
                </a:cxn>
                <a:cxn ang="0">
                  <a:pos x="993" y="0"/>
                </a:cxn>
              </a:cxnLst>
              <a:rect l="txL" t="txT" r="txR" b="txB"/>
              <a:pathLst>
                <a:path w="993" h="99">
                  <a:moveTo>
                    <a:pt x="0" y="99"/>
                  </a:moveTo>
                  <a:lnTo>
                    <a:pt x="0" y="0"/>
                  </a:lnTo>
                  <a:lnTo>
                    <a:pt x="99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58" name="Freeform 207"/>
            <p:cNvSpPr/>
            <p:nvPr/>
          </p:nvSpPr>
          <p:spPr>
            <a:xfrm>
              <a:off x="4411" y="2208"/>
              <a:ext cx="800" cy="99"/>
            </a:xfrm>
            <a:custGeom>
              <a:avLst/>
              <a:gdLst>
                <a:gd name="txL" fmla="*/ 0 w 993"/>
                <a:gd name="txT" fmla="*/ 0 h 99"/>
                <a:gd name="txR" fmla="*/ 993 w 993"/>
                <a:gd name="txB" fmla="*/ 99 h 99"/>
              </a:gdLst>
              <a:ahLst/>
              <a:cxnLst>
                <a:cxn ang="0">
                  <a:pos x="0" y="99"/>
                </a:cxn>
                <a:cxn ang="0">
                  <a:pos x="0" y="0"/>
                </a:cxn>
                <a:cxn ang="0">
                  <a:pos x="993" y="0"/>
                </a:cxn>
              </a:cxnLst>
              <a:rect l="txL" t="txT" r="txR" b="txB"/>
              <a:pathLst>
                <a:path w="993" h="99">
                  <a:moveTo>
                    <a:pt x="0" y="99"/>
                  </a:moveTo>
                  <a:lnTo>
                    <a:pt x="0" y="0"/>
                  </a:lnTo>
                  <a:lnTo>
                    <a:pt x="99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359" name="Text Box 208"/>
            <p:cNvSpPr txBox="1"/>
            <p:nvPr/>
          </p:nvSpPr>
          <p:spPr>
            <a:xfrm>
              <a:off x="28" y="3161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60" name="Text Box 209"/>
            <p:cNvSpPr txBox="1"/>
            <p:nvPr/>
          </p:nvSpPr>
          <p:spPr>
            <a:xfrm>
              <a:off x="940" y="3161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63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61" name="Text Box 210"/>
            <p:cNvSpPr txBox="1"/>
            <p:nvPr/>
          </p:nvSpPr>
          <p:spPr>
            <a:xfrm>
              <a:off x="2994" y="3161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64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62" name="Text Box 211"/>
            <p:cNvSpPr txBox="1"/>
            <p:nvPr/>
          </p:nvSpPr>
          <p:spPr>
            <a:xfrm>
              <a:off x="3916" y="3161"/>
              <a:ext cx="40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127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63" name="Text Box 212"/>
            <p:cNvSpPr txBox="1"/>
            <p:nvPr/>
          </p:nvSpPr>
          <p:spPr>
            <a:xfrm>
              <a:off x="1776" y="3590"/>
              <a:ext cx="8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128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根行线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64" name="Text Box 213"/>
            <p:cNvSpPr txBox="1"/>
            <p:nvPr/>
          </p:nvSpPr>
          <p:spPr>
            <a:xfrm>
              <a:off x="546" y="1034"/>
              <a:ext cx="24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6365" name="Text Box 214"/>
            <p:cNvSpPr txBox="1"/>
            <p:nvPr/>
          </p:nvSpPr>
          <p:spPr>
            <a:xfrm>
              <a:off x="700" y="1119"/>
              <a:ext cx="165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6366" name="Text Box 215"/>
            <p:cNvSpPr txBox="1"/>
            <p:nvPr/>
          </p:nvSpPr>
          <p:spPr>
            <a:xfrm>
              <a:off x="5100" y="416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67" name="Text Box 216"/>
            <p:cNvSpPr txBox="1"/>
            <p:nvPr/>
          </p:nvSpPr>
          <p:spPr>
            <a:xfrm>
              <a:off x="5020" y="2201"/>
              <a:ext cx="40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127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68" name="Text Box 217"/>
            <p:cNvSpPr txBox="1"/>
            <p:nvPr/>
          </p:nvSpPr>
          <p:spPr>
            <a:xfrm>
              <a:off x="5100" y="117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06369" name="Group 218"/>
            <p:cNvGrpSpPr/>
            <p:nvPr/>
          </p:nvGrpSpPr>
          <p:grpSpPr>
            <a:xfrm>
              <a:off x="5356" y="1039"/>
              <a:ext cx="361" cy="973"/>
              <a:chOff x="5356" y="1039"/>
              <a:chExt cx="361" cy="973"/>
            </a:xfrm>
          </p:grpSpPr>
          <p:sp>
            <p:nvSpPr>
              <p:cNvPr id="306386" name="Text Box 219"/>
              <p:cNvSpPr txBox="1"/>
              <p:nvPr/>
            </p:nvSpPr>
            <p:spPr>
              <a:xfrm>
                <a:off x="5356" y="1039"/>
                <a:ext cx="3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128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6387" name="Text Box 220"/>
              <p:cNvSpPr txBox="1"/>
              <p:nvPr/>
            </p:nvSpPr>
            <p:spPr>
              <a:xfrm>
                <a:off x="5442" y="1294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6388" name="Text Box 221"/>
              <p:cNvSpPr txBox="1"/>
              <p:nvPr/>
            </p:nvSpPr>
            <p:spPr>
              <a:xfrm>
                <a:off x="5442" y="1521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选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6389" name="Text Box 222"/>
              <p:cNvSpPr txBox="1"/>
              <p:nvPr/>
            </p:nvSpPr>
            <p:spPr>
              <a:xfrm>
                <a:off x="5442" y="1761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择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06370" name="Text Box 223"/>
            <p:cNvSpPr txBox="1"/>
            <p:nvPr/>
          </p:nvSpPr>
          <p:spPr>
            <a:xfrm>
              <a:off x="4896" y="2745"/>
              <a:ext cx="64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读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/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写线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71" name="Line 224"/>
            <p:cNvSpPr/>
            <p:nvPr/>
          </p:nvSpPr>
          <p:spPr>
            <a:xfrm flipV="1">
              <a:off x="4876" y="2976"/>
              <a:ext cx="33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6372" name="Line 225"/>
            <p:cNvSpPr/>
            <p:nvPr/>
          </p:nvSpPr>
          <p:spPr>
            <a:xfrm>
              <a:off x="2908" y="3984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6373" name="Line 226"/>
            <p:cNvSpPr/>
            <p:nvPr/>
          </p:nvSpPr>
          <p:spPr>
            <a:xfrm>
              <a:off x="4108" y="3984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6374" name="Line 227"/>
            <p:cNvSpPr/>
            <p:nvPr/>
          </p:nvSpPr>
          <p:spPr>
            <a:xfrm>
              <a:off x="5295" y="3984"/>
              <a:ext cx="19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6375" name="Line 228"/>
            <p:cNvSpPr/>
            <p:nvPr/>
          </p:nvSpPr>
          <p:spPr>
            <a:xfrm>
              <a:off x="1708" y="3984"/>
              <a:ext cx="432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6376" name="Text Box 229"/>
            <p:cNvSpPr txBox="1"/>
            <p:nvPr/>
          </p:nvSpPr>
          <p:spPr>
            <a:xfrm>
              <a:off x="2158" y="3878"/>
              <a:ext cx="755" cy="2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tIns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数据输入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77" name="Text Box 230"/>
            <p:cNvSpPr txBox="1"/>
            <p:nvPr/>
          </p:nvSpPr>
          <p:spPr>
            <a:xfrm>
              <a:off x="3398" y="3865"/>
              <a:ext cx="6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I/O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缓冲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78" name="Text Box 231"/>
            <p:cNvSpPr txBox="1"/>
            <p:nvPr/>
          </p:nvSpPr>
          <p:spPr>
            <a:xfrm>
              <a:off x="4534" y="3853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</a:rPr>
                <a:t>输出驱动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79" name="Text Box 232"/>
            <p:cNvSpPr txBox="1"/>
            <p:nvPr/>
          </p:nvSpPr>
          <p:spPr>
            <a:xfrm>
              <a:off x="5212" y="3648"/>
              <a:ext cx="2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80" name="Text Box 233"/>
            <p:cNvSpPr txBox="1"/>
            <p:nvPr/>
          </p:nvSpPr>
          <p:spPr>
            <a:xfrm>
              <a:off x="5356" y="3744"/>
              <a:ext cx="358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OUT</a:t>
              </a:r>
              <a:endParaRPr lang="en-US" altLang="zh-CN" sz="1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81" name="Text Box 234"/>
            <p:cNvSpPr txBox="1"/>
            <p:nvPr/>
          </p:nvSpPr>
          <p:spPr>
            <a:xfrm>
              <a:off x="1393" y="3818"/>
              <a:ext cx="2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6382" name="Text Box 235"/>
            <p:cNvSpPr txBox="1"/>
            <p:nvPr/>
          </p:nvSpPr>
          <p:spPr>
            <a:xfrm>
              <a:off x="1536" y="3936"/>
              <a:ext cx="240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IN</a:t>
              </a:r>
              <a:endParaRPr lang="en-US" altLang="zh-CN" sz="1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06383" name="Group 236"/>
            <p:cNvGrpSpPr/>
            <p:nvPr/>
          </p:nvGrpSpPr>
          <p:grpSpPr>
            <a:xfrm>
              <a:off x="1536" y="2784"/>
              <a:ext cx="319" cy="297"/>
              <a:chOff x="1536" y="2784"/>
              <a:chExt cx="319" cy="297"/>
            </a:xfrm>
          </p:grpSpPr>
          <p:sp>
            <p:nvSpPr>
              <p:cNvPr id="306384" name="Text Box 237"/>
              <p:cNvSpPr txBox="1"/>
              <p:nvPr/>
            </p:nvSpPr>
            <p:spPr>
              <a:xfrm>
                <a:off x="1536" y="2784"/>
                <a:ext cx="24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b="1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endParaRPr lang="en-US" altLang="zh-CN" sz="2400" b="1" i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6385" name="Text Box 238"/>
              <p:cNvSpPr txBox="1"/>
              <p:nvPr/>
            </p:nvSpPr>
            <p:spPr>
              <a:xfrm>
                <a:off x="1690" y="2869"/>
                <a:ext cx="165" cy="2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</a:t>
                </a:r>
                <a:endParaRPr lang="en-US" altLang="zh-CN" sz="16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06179" name="Text Box 239"/>
          <p:cNvSpPr txBox="1"/>
          <p:nvPr/>
        </p:nvSpPr>
        <p:spPr>
          <a:xfrm>
            <a:off x="1752600" y="228600"/>
            <a:ext cx="6248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④ </a:t>
            </a:r>
            <a:r>
              <a:rPr lang="en-US" altLang="zh-CN" sz="3200" b="1" dirty="0">
                <a:latin typeface="Times New Roman" panose="02020603050405020304" pitchFamily="18" charset="0"/>
              </a:rPr>
              <a:t>4116 (16K × 1</a:t>
            </a:r>
            <a:r>
              <a:rPr lang="zh-CN" altLang="en-US" sz="3200" b="1" dirty="0">
                <a:latin typeface="Times New Roman" panose="02020603050405020304" pitchFamily="18" charset="0"/>
              </a:rPr>
              <a:t>位</a:t>
            </a:r>
            <a:r>
              <a:rPr lang="en-US" altLang="zh-CN" sz="3200" b="1" dirty="0">
                <a:latin typeface="Times New Roman" panose="02020603050405020304" pitchFamily="18" charset="0"/>
              </a:rPr>
              <a:t>) </a:t>
            </a:r>
            <a:r>
              <a:rPr lang="zh-CN" altLang="en-US" sz="3200" b="1" dirty="0">
                <a:latin typeface="Times New Roman" panose="02020603050405020304" pitchFamily="18" charset="0"/>
              </a:rPr>
              <a:t>芯片 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读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原理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98128" name="Group 240"/>
          <p:cNvGrpSpPr/>
          <p:nvPr/>
        </p:nvGrpSpPr>
        <p:grpSpPr>
          <a:xfrm>
            <a:off x="3546475" y="1371600"/>
            <a:ext cx="79375" cy="3124200"/>
            <a:chOff x="1342" y="864"/>
            <a:chExt cx="50" cy="1968"/>
          </a:xfrm>
        </p:grpSpPr>
        <p:grpSp>
          <p:nvGrpSpPr>
            <p:cNvPr id="306259" name="Group 241"/>
            <p:cNvGrpSpPr/>
            <p:nvPr/>
          </p:nvGrpSpPr>
          <p:grpSpPr>
            <a:xfrm>
              <a:off x="1342" y="864"/>
              <a:ext cx="49" cy="231"/>
              <a:chOff x="1586" y="1334"/>
              <a:chExt cx="49" cy="231"/>
            </a:xfrm>
          </p:grpSpPr>
          <p:sp>
            <p:nvSpPr>
              <p:cNvPr id="306266" name="Freeform 242"/>
              <p:cNvSpPr/>
              <p:nvPr/>
            </p:nvSpPr>
            <p:spPr>
              <a:xfrm>
                <a:off x="1586" y="1392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267" name="Freeform 243"/>
              <p:cNvSpPr/>
              <p:nvPr/>
            </p:nvSpPr>
            <p:spPr>
              <a:xfrm>
                <a:off x="1634" y="1334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260" name="Group 244"/>
            <p:cNvGrpSpPr/>
            <p:nvPr/>
          </p:nvGrpSpPr>
          <p:grpSpPr>
            <a:xfrm>
              <a:off x="1343" y="1593"/>
              <a:ext cx="49" cy="231"/>
              <a:chOff x="1586" y="1334"/>
              <a:chExt cx="49" cy="231"/>
            </a:xfrm>
          </p:grpSpPr>
          <p:sp>
            <p:nvSpPr>
              <p:cNvPr id="306264" name="Freeform 245"/>
              <p:cNvSpPr/>
              <p:nvPr/>
            </p:nvSpPr>
            <p:spPr>
              <a:xfrm>
                <a:off x="1586" y="1392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265" name="Freeform 246"/>
              <p:cNvSpPr/>
              <p:nvPr/>
            </p:nvSpPr>
            <p:spPr>
              <a:xfrm>
                <a:off x="1634" y="1334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06261" name="Group 247"/>
            <p:cNvGrpSpPr/>
            <p:nvPr/>
          </p:nvGrpSpPr>
          <p:grpSpPr>
            <a:xfrm>
              <a:off x="1343" y="2601"/>
              <a:ext cx="49" cy="231"/>
              <a:chOff x="1586" y="1334"/>
              <a:chExt cx="49" cy="231"/>
            </a:xfrm>
          </p:grpSpPr>
          <p:sp>
            <p:nvSpPr>
              <p:cNvPr id="306262" name="Freeform 248"/>
              <p:cNvSpPr/>
              <p:nvPr/>
            </p:nvSpPr>
            <p:spPr>
              <a:xfrm>
                <a:off x="1586" y="1392"/>
                <a:ext cx="1" cy="120"/>
              </a:xfrm>
              <a:custGeom>
                <a:avLst/>
                <a:gdLst>
                  <a:gd name="txL" fmla="*/ 0 w 1"/>
                  <a:gd name="txT" fmla="*/ 0 h 120"/>
                  <a:gd name="txR" fmla="*/ 1 w 1"/>
                  <a:gd name="txB" fmla="*/ 120 h 120"/>
                </a:gdLst>
                <a:ahLst/>
                <a:cxnLst>
                  <a:cxn ang="0">
                    <a:pos x="0" y="0"/>
                  </a:cxn>
                  <a:cxn ang="0">
                    <a:pos x="0" y="120"/>
                  </a:cxn>
                </a:cxnLst>
                <a:rect l="txL" t="txT" r="txR" b="txB"/>
                <a:pathLst>
                  <a:path w="1" h="120">
                    <a:moveTo>
                      <a:pt x="0" y="0"/>
                    </a:moveTo>
                    <a:lnTo>
                      <a:pt x="0" y="12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263" name="Freeform 249"/>
              <p:cNvSpPr/>
              <p:nvPr/>
            </p:nvSpPr>
            <p:spPr>
              <a:xfrm>
                <a:off x="1634" y="1334"/>
                <a:ext cx="1" cy="231"/>
              </a:xfrm>
              <a:custGeom>
                <a:avLst/>
                <a:gdLst>
                  <a:gd name="txL" fmla="*/ 0 w 1"/>
                  <a:gd name="txT" fmla="*/ 0 h 231"/>
                  <a:gd name="txR" fmla="*/ 1 w 1"/>
                  <a:gd name="txB" fmla="*/ 231 h 231"/>
                </a:gdLst>
                <a:ahLst/>
                <a:cxnLst>
                  <a:cxn ang="0">
                    <a:pos x="0" y="0"/>
                  </a:cxn>
                  <a:cxn ang="0">
                    <a:pos x="0" y="231"/>
                  </a:cxn>
                </a:cxnLst>
                <a:rect l="txL" t="txT" r="txR" b="txB"/>
                <a:pathLst>
                  <a:path w="1" h="231">
                    <a:moveTo>
                      <a:pt x="0" y="0"/>
                    </a:moveTo>
                    <a:lnTo>
                      <a:pt x="0" y="231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98150" name="Group 250"/>
          <p:cNvGrpSpPr/>
          <p:nvPr/>
        </p:nvGrpSpPr>
        <p:grpSpPr>
          <a:xfrm>
            <a:off x="4227513" y="898525"/>
            <a:ext cx="1538287" cy="3216275"/>
            <a:chOff x="1703" y="566"/>
            <a:chExt cx="969" cy="2026"/>
          </a:xfrm>
        </p:grpSpPr>
        <p:grpSp>
          <p:nvGrpSpPr>
            <p:cNvPr id="306247" name="Group 251"/>
            <p:cNvGrpSpPr/>
            <p:nvPr/>
          </p:nvGrpSpPr>
          <p:grpSpPr>
            <a:xfrm>
              <a:off x="1703" y="566"/>
              <a:ext cx="964" cy="254"/>
              <a:chOff x="1771" y="566"/>
              <a:chExt cx="964" cy="254"/>
            </a:xfrm>
          </p:grpSpPr>
          <p:sp>
            <p:nvSpPr>
              <p:cNvPr id="306257" name="Rectangle 252"/>
              <p:cNvSpPr/>
              <p:nvPr/>
            </p:nvSpPr>
            <p:spPr>
              <a:xfrm>
                <a:off x="1775" y="576"/>
                <a:ext cx="906" cy="244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50000"/>
                  </a:spcBef>
                </a:pPr>
                <a:endParaRPr lang="zh-CN" altLang="zh-CN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6258" name="Text Box 253"/>
              <p:cNvSpPr txBox="1"/>
              <p:nvPr/>
            </p:nvSpPr>
            <p:spPr>
              <a:xfrm>
                <a:off x="1771" y="566"/>
                <a:ext cx="9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8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读放大器</a:t>
                </a:r>
                <a:endPara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6248" name="Group 254"/>
            <p:cNvGrpSpPr/>
            <p:nvPr/>
          </p:nvGrpSpPr>
          <p:grpSpPr>
            <a:xfrm>
              <a:off x="1708" y="1282"/>
              <a:ext cx="964" cy="254"/>
              <a:chOff x="1771" y="566"/>
              <a:chExt cx="964" cy="254"/>
            </a:xfrm>
          </p:grpSpPr>
          <p:sp>
            <p:nvSpPr>
              <p:cNvPr id="306255" name="Rectangle 255"/>
              <p:cNvSpPr/>
              <p:nvPr/>
            </p:nvSpPr>
            <p:spPr>
              <a:xfrm>
                <a:off x="1775" y="576"/>
                <a:ext cx="906" cy="244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50000"/>
                  </a:spcBef>
                </a:pPr>
                <a:endParaRPr lang="zh-CN" altLang="zh-CN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6256" name="Text Box 256"/>
              <p:cNvSpPr txBox="1"/>
              <p:nvPr/>
            </p:nvSpPr>
            <p:spPr>
              <a:xfrm>
                <a:off x="1771" y="566"/>
                <a:ext cx="9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8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读放大器</a:t>
                </a:r>
                <a:endPara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6249" name="Group 257"/>
            <p:cNvGrpSpPr/>
            <p:nvPr/>
          </p:nvGrpSpPr>
          <p:grpSpPr>
            <a:xfrm>
              <a:off x="1708" y="2338"/>
              <a:ext cx="964" cy="254"/>
              <a:chOff x="1771" y="566"/>
              <a:chExt cx="964" cy="254"/>
            </a:xfrm>
          </p:grpSpPr>
          <p:sp>
            <p:nvSpPr>
              <p:cNvPr id="306253" name="Rectangle 258"/>
              <p:cNvSpPr/>
              <p:nvPr/>
            </p:nvSpPr>
            <p:spPr>
              <a:xfrm>
                <a:off x="1775" y="576"/>
                <a:ext cx="906" cy="244"/>
              </a:xfrm>
              <a:prstGeom prst="rect">
                <a:avLst/>
              </a:prstGeom>
              <a:solidFill>
                <a:schemeClr val="folHlink"/>
              </a:solidFill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50000"/>
                  </a:spcBef>
                </a:pPr>
                <a:endParaRPr lang="zh-CN" altLang="zh-CN" sz="32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6254" name="Text Box 259"/>
              <p:cNvSpPr txBox="1"/>
              <p:nvPr/>
            </p:nvSpPr>
            <p:spPr>
              <a:xfrm>
                <a:off x="1771" y="566"/>
                <a:ext cx="9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8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    </a:t>
                </a:r>
                <a:r>
                  <a:rPr lang="zh-CN" altLang="en-US" sz="2000" b="1" dirty="0">
                    <a:solidFill>
                      <a:schemeClr val="bg2"/>
                    </a:solidFill>
                    <a:latin typeface="Times New Roman" panose="02020603050405020304" pitchFamily="18" charset="0"/>
                  </a:rPr>
                  <a:t>读放大器</a:t>
                </a:r>
                <a:endPara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06250" name="Group 260"/>
            <p:cNvGrpSpPr/>
            <p:nvPr/>
          </p:nvGrpSpPr>
          <p:grpSpPr>
            <a:xfrm>
              <a:off x="2020" y="1731"/>
              <a:ext cx="391" cy="450"/>
              <a:chOff x="2088" y="1569"/>
              <a:chExt cx="391" cy="450"/>
            </a:xfrm>
          </p:grpSpPr>
          <p:sp>
            <p:nvSpPr>
              <p:cNvPr id="306251" name="Text Box 261"/>
              <p:cNvSpPr txBox="1"/>
              <p:nvPr/>
            </p:nvSpPr>
            <p:spPr>
              <a:xfrm rot="5400000">
                <a:off x="2109" y="157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6252" name="Text Box 262"/>
              <p:cNvSpPr txBox="1"/>
              <p:nvPr/>
            </p:nvSpPr>
            <p:spPr>
              <a:xfrm rot="5400000">
                <a:off x="1945" y="1737"/>
                <a:ext cx="425" cy="1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rot="10800000" vert="eaVert" wrap="none"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41927" name="Freeform 263"/>
          <p:cNvSpPr/>
          <p:nvPr/>
        </p:nvSpPr>
        <p:spPr>
          <a:xfrm>
            <a:off x="8534400" y="685800"/>
            <a:ext cx="1270000" cy="157163"/>
          </a:xfrm>
          <a:custGeom>
            <a:avLst/>
            <a:gdLst>
              <a:gd name="txL" fmla="*/ 0 w 993"/>
              <a:gd name="txT" fmla="*/ 0 h 99"/>
              <a:gd name="txR" fmla="*/ 993 w 993"/>
              <a:gd name="txB" fmla="*/ 99 h 99"/>
            </a:gdLst>
            <a:ahLst/>
            <a:cxnLst>
              <a:cxn ang="0">
                <a:pos x="0" y="99"/>
              </a:cxn>
              <a:cxn ang="0">
                <a:pos x="0" y="0"/>
              </a:cxn>
              <a:cxn ang="0">
                <a:pos x="993" y="0"/>
              </a:cxn>
            </a:cxnLst>
            <a:rect l="txL" t="txT" r="txR" b="txB"/>
            <a:pathLst>
              <a:path w="993" h="99">
                <a:moveTo>
                  <a:pt x="0" y="99"/>
                </a:moveTo>
                <a:lnTo>
                  <a:pt x="0" y="0"/>
                </a:lnTo>
                <a:lnTo>
                  <a:pt x="993" y="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1928" name="Freeform 264"/>
          <p:cNvSpPr/>
          <p:nvPr/>
        </p:nvSpPr>
        <p:spPr>
          <a:xfrm>
            <a:off x="5676900" y="919163"/>
            <a:ext cx="2795588" cy="190500"/>
          </a:xfrm>
          <a:custGeom>
            <a:avLst/>
            <a:gdLst>
              <a:gd name="txL" fmla="*/ 0 w 1761"/>
              <a:gd name="txT" fmla="*/ 0 h 120"/>
              <a:gd name="txR" fmla="*/ 1761 w 1761"/>
              <a:gd name="txB" fmla="*/ 120 h 120"/>
            </a:gdLst>
            <a:ahLst/>
            <a:cxnLst>
              <a:cxn ang="0">
                <a:pos x="1761" y="0"/>
              </a:cxn>
              <a:cxn ang="0">
                <a:pos x="1761" y="117"/>
              </a:cxn>
              <a:cxn ang="0">
                <a:pos x="0" y="120"/>
              </a:cxn>
            </a:cxnLst>
            <a:rect l="txL" t="txT" r="txR" b="txB"/>
            <a:pathLst>
              <a:path w="1761" h="120">
                <a:moveTo>
                  <a:pt x="1761" y="0"/>
                </a:moveTo>
                <a:lnTo>
                  <a:pt x="1761" y="117"/>
                </a:lnTo>
                <a:lnTo>
                  <a:pt x="0" y="120"/>
                </a:lnTo>
              </a:path>
            </a:pathLst>
          </a:custGeom>
          <a:noFill/>
          <a:ln w="762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98171" name="Group 265"/>
          <p:cNvGrpSpPr/>
          <p:nvPr/>
        </p:nvGrpSpPr>
        <p:grpSpPr>
          <a:xfrm>
            <a:off x="3233738" y="1557338"/>
            <a:ext cx="314325" cy="3548062"/>
            <a:chOff x="1145" y="981"/>
            <a:chExt cx="198" cy="2235"/>
          </a:xfrm>
        </p:grpSpPr>
        <p:sp>
          <p:nvSpPr>
            <p:cNvPr id="306241" name="Line 266"/>
            <p:cNvSpPr/>
            <p:nvPr/>
          </p:nvSpPr>
          <p:spPr>
            <a:xfrm>
              <a:off x="1150" y="2255"/>
              <a:ext cx="190" cy="1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  <p:grpSp>
          <p:nvGrpSpPr>
            <p:cNvPr id="306242" name="Group 267"/>
            <p:cNvGrpSpPr/>
            <p:nvPr/>
          </p:nvGrpSpPr>
          <p:grpSpPr>
            <a:xfrm>
              <a:off x="1145" y="981"/>
              <a:ext cx="198" cy="2235"/>
              <a:chOff x="1145" y="981"/>
              <a:chExt cx="198" cy="2235"/>
            </a:xfrm>
          </p:grpSpPr>
          <p:sp>
            <p:nvSpPr>
              <p:cNvPr id="306244" name="Freeform 268"/>
              <p:cNvSpPr/>
              <p:nvPr/>
            </p:nvSpPr>
            <p:spPr>
              <a:xfrm>
                <a:off x="1145" y="1707"/>
                <a:ext cx="198" cy="3"/>
              </a:xfrm>
              <a:custGeom>
                <a:avLst/>
                <a:gdLst>
                  <a:gd name="txL" fmla="*/ 0 w 198"/>
                  <a:gd name="txT" fmla="*/ 0 h 3"/>
                  <a:gd name="txR" fmla="*/ 198 w 198"/>
                  <a:gd name="txB" fmla="*/ 3 h 3"/>
                </a:gdLst>
                <a:ahLst/>
                <a:cxnLst>
                  <a:cxn ang="0">
                    <a:pos x="0" y="3"/>
                  </a:cxn>
                  <a:cxn ang="0">
                    <a:pos x="198" y="0"/>
                  </a:cxn>
                </a:cxnLst>
                <a:rect l="txL" t="txT" r="txR" b="txB"/>
                <a:pathLst>
                  <a:path w="198" h="3">
                    <a:moveTo>
                      <a:pt x="0" y="3"/>
                    </a:moveTo>
                    <a:lnTo>
                      <a:pt x="198" y="0"/>
                    </a:lnTo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245" name="Freeform 269"/>
              <p:cNvSpPr/>
              <p:nvPr/>
            </p:nvSpPr>
            <p:spPr>
              <a:xfrm>
                <a:off x="1148" y="981"/>
                <a:ext cx="189" cy="2235"/>
              </a:xfrm>
              <a:custGeom>
                <a:avLst/>
                <a:gdLst>
                  <a:gd name="txL" fmla="*/ 0 w 189"/>
                  <a:gd name="txT" fmla="*/ 0 h 2235"/>
                  <a:gd name="txR" fmla="*/ 189 w 189"/>
                  <a:gd name="txB" fmla="*/ 2235 h 2235"/>
                </a:gdLst>
                <a:ahLst/>
                <a:cxnLst>
                  <a:cxn ang="0">
                    <a:pos x="189" y="0"/>
                  </a:cxn>
                  <a:cxn ang="0">
                    <a:pos x="0" y="0"/>
                  </a:cxn>
                  <a:cxn ang="0">
                    <a:pos x="0" y="2235"/>
                  </a:cxn>
                </a:cxnLst>
                <a:rect l="txL" t="txT" r="txR" b="txB"/>
                <a:pathLst>
                  <a:path w="189" h="2235">
                    <a:moveTo>
                      <a:pt x="189" y="0"/>
                    </a:moveTo>
                    <a:lnTo>
                      <a:pt x="0" y="0"/>
                    </a:lnTo>
                    <a:lnTo>
                      <a:pt x="0" y="2235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246" name="Freeform 270"/>
              <p:cNvSpPr/>
              <p:nvPr/>
            </p:nvSpPr>
            <p:spPr>
              <a:xfrm>
                <a:off x="1145" y="2718"/>
                <a:ext cx="192" cy="1"/>
              </a:xfrm>
              <a:custGeom>
                <a:avLst/>
                <a:gdLst>
                  <a:gd name="txL" fmla="*/ 0 w 192"/>
                  <a:gd name="txT" fmla="*/ 0 h 1"/>
                  <a:gd name="txR" fmla="*/ 192 w 19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2" y="0"/>
                  </a:cxn>
                </a:cxnLst>
                <a:rect l="txL" t="txT" r="txR" b="txB"/>
                <a:pathLst>
                  <a:path w="192" h="1">
                    <a:moveTo>
                      <a:pt x="0" y="0"/>
                    </a:moveTo>
                    <a:lnTo>
                      <a:pt x="192" y="0"/>
                    </a:lnTo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06243" name="Line 271"/>
            <p:cNvSpPr/>
            <p:nvPr/>
          </p:nvSpPr>
          <p:spPr>
            <a:xfrm>
              <a:off x="1148" y="2063"/>
              <a:ext cx="190" cy="1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oval" w="sm" len="sm"/>
              <a:tailEnd type="none" w="med" len="med"/>
            </a:ln>
          </p:spPr>
        </p:sp>
      </p:grpSp>
      <p:grpSp>
        <p:nvGrpSpPr>
          <p:cNvPr id="298178" name="Group 272"/>
          <p:cNvGrpSpPr/>
          <p:nvPr/>
        </p:nvGrpSpPr>
        <p:grpSpPr>
          <a:xfrm rot="5400000">
            <a:off x="8493125" y="692150"/>
            <a:ext cx="77788" cy="366713"/>
            <a:chOff x="1586" y="1334"/>
            <a:chExt cx="49" cy="231"/>
          </a:xfrm>
        </p:grpSpPr>
        <p:sp>
          <p:nvSpPr>
            <p:cNvPr id="306239" name="Freeform 273"/>
            <p:cNvSpPr/>
            <p:nvPr/>
          </p:nvSpPr>
          <p:spPr>
            <a:xfrm>
              <a:off x="1586" y="1392"/>
              <a:ext cx="1" cy="120"/>
            </a:xfrm>
            <a:custGeom>
              <a:avLst/>
              <a:gdLst>
                <a:gd name="txL" fmla="*/ 0 w 1"/>
                <a:gd name="txT" fmla="*/ 0 h 120"/>
                <a:gd name="txR" fmla="*/ 1 w 1"/>
                <a:gd name="txB" fmla="*/ 120 h 120"/>
              </a:gdLst>
              <a:ahLst/>
              <a:cxnLst>
                <a:cxn ang="0">
                  <a:pos x="0" y="0"/>
                </a:cxn>
                <a:cxn ang="0">
                  <a:pos x="0" y="120"/>
                </a:cxn>
              </a:cxnLst>
              <a:rect l="txL" t="txT" r="txR" b="txB"/>
              <a:pathLst>
                <a:path w="1" h="120">
                  <a:moveTo>
                    <a:pt x="0" y="0"/>
                  </a:moveTo>
                  <a:lnTo>
                    <a:pt x="0" y="120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240" name="Freeform 274"/>
            <p:cNvSpPr/>
            <p:nvPr/>
          </p:nvSpPr>
          <p:spPr>
            <a:xfrm>
              <a:off x="1634" y="1334"/>
              <a:ext cx="1" cy="231"/>
            </a:xfrm>
            <a:custGeom>
              <a:avLst/>
              <a:gdLst>
                <a:gd name="txL" fmla="*/ 0 w 1"/>
                <a:gd name="txT" fmla="*/ 0 h 231"/>
                <a:gd name="txR" fmla="*/ 1 w 1"/>
                <a:gd name="txB" fmla="*/ 231 h 231"/>
              </a:gdLst>
              <a:ahLst/>
              <a:cxnLst>
                <a:cxn ang="0">
                  <a:pos x="0" y="0"/>
                </a:cxn>
                <a:cxn ang="0">
                  <a:pos x="0" y="231"/>
                </a:cxn>
              </a:cxnLst>
              <a:rect l="txL" t="txT" r="txR" b="txB"/>
              <a:pathLst>
                <a:path w="1" h="231">
                  <a:moveTo>
                    <a:pt x="0" y="0"/>
                  </a:moveTo>
                  <a:lnTo>
                    <a:pt x="0" y="231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98201" name="Group 275"/>
          <p:cNvGrpSpPr/>
          <p:nvPr/>
        </p:nvGrpSpPr>
        <p:grpSpPr>
          <a:xfrm>
            <a:off x="3560763" y="1104900"/>
            <a:ext cx="693737" cy="3695700"/>
            <a:chOff x="1283" y="696"/>
            <a:chExt cx="437" cy="2328"/>
          </a:xfrm>
        </p:grpSpPr>
        <p:grpSp>
          <p:nvGrpSpPr>
            <p:cNvPr id="306208" name="Group 276"/>
            <p:cNvGrpSpPr/>
            <p:nvPr/>
          </p:nvGrpSpPr>
          <p:grpSpPr>
            <a:xfrm>
              <a:off x="1314" y="696"/>
              <a:ext cx="406" cy="2328"/>
              <a:chOff x="1314" y="696"/>
              <a:chExt cx="406" cy="2328"/>
            </a:xfrm>
          </p:grpSpPr>
          <p:grpSp>
            <p:nvGrpSpPr>
              <p:cNvPr id="306210" name="Group 277"/>
              <p:cNvGrpSpPr/>
              <p:nvPr/>
            </p:nvGrpSpPr>
            <p:grpSpPr>
              <a:xfrm>
                <a:off x="1314" y="696"/>
                <a:ext cx="391" cy="237"/>
                <a:chOff x="1382" y="696"/>
                <a:chExt cx="391" cy="237"/>
              </a:xfrm>
            </p:grpSpPr>
            <p:sp>
              <p:nvSpPr>
                <p:cNvPr id="306237" name="Freeform 278"/>
                <p:cNvSpPr/>
                <p:nvPr/>
              </p:nvSpPr>
              <p:spPr>
                <a:xfrm>
                  <a:off x="1382" y="696"/>
                  <a:ext cx="108" cy="237"/>
                </a:xfrm>
                <a:custGeom>
                  <a:avLst/>
                  <a:gdLst>
                    <a:gd name="txL" fmla="*/ 0 w 108"/>
                    <a:gd name="txT" fmla="*/ 0 h 237"/>
                    <a:gd name="txR" fmla="*/ 108 w 108"/>
                    <a:gd name="txB" fmla="*/ 237 h 237"/>
                  </a:gdLst>
                  <a:ahLst/>
                  <a:cxnLst>
                    <a:cxn ang="0">
                      <a:pos x="0" y="237"/>
                    </a:cxn>
                    <a:cxn ang="0">
                      <a:pos x="108" y="237"/>
                    </a:cxn>
                    <a:cxn ang="0">
                      <a:pos x="108" y="0"/>
                    </a:cxn>
                  </a:cxnLst>
                  <a:rect l="txL" t="txT" r="txR" b="txB"/>
                  <a:pathLst>
                    <a:path w="108" h="237">
                      <a:moveTo>
                        <a:pt x="0" y="237"/>
                      </a:moveTo>
                      <a:lnTo>
                        <a:pt x="108" y="237"/>
                      </a:lnTo>
                      <a:lnTo>
                        <a:pt x="108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238" name="Freeform 279"/>
                <p:cNvSpPr/>
                <p:nvPr/>
              </p:nvSpPr>
              <p:spPr>
                <a:xfrm>
                  <a:off x="1509" y="702"/>
                  <a:ext cx="264" cy="1"/>
                </a:xfrm>
                <a:custGeom>
                  <a:avLst/>
                  <a:gdLst>
                    <a:gd name="txL" fmla="*/ 0 w 264"/>
                    <a:gd name="txT" fmla="*/ 0 h 1"/>
                    <a:gd name="txR" fmla="*/ 264 w 264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64" y="0"/>
                    </a:cxn>
                  </a:cxnLst>
                  <a:rect l="txL" t="txT" r="txR" b="txB"/>
                  <a:pathLst>
                    <a:path w="264" h="1">
                      <a:moveTo>
                        <a:pt x="0" y="0"/>
                      </a:moveTo>
                      <a:lnTo>
                        <a:pt x="264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06211" name="Group 280"/>
              <p:cNvGrpSpPr/>
              <p:nvPr/>
            </p:nvGrpSpPr>
            <p:grpSpPr>
              <a:xfrm>
                <a:off x="1330" y="1403"/>
                <a:ext cx="390" cy="253"/>
                <a:chOff x="1398" y="1403"/>
                <a:chExt cx="390" cy="253"/>
              </a:xfrm>
            </p:grpSpPr>
            <p:sp>
              <p:nvSpPr>
                <p:cNvPr id="306235" name="Freeform 281"/>
                <p:cNvSpPr/>
                <p:nvPr/>
              </p:nvSpPr>
              <p:spPr>
                <a:xfrm>
                  <a:off x="1398" y="1403"/>
                  <a:ext cx="102" cy="253"/>
                </a:xfrm>
                <a:custGeom>
                  <a:avLst/>
                  <a:gdLst>
                    <a:gd name="txL" fmla="*/ 0 w 102"/>
                    <a:gd name="txT" fmla="*/ 0 h 253"/>
                    <a:gd name="txR" fmla="*/ 102 w 102"/>
                    <a:gd name="txB" fmla="*/ 253 h 253"/>
                  </a:gdLst>
                  <a:ahLst/>
                  <a:cxnLst>
                    <a:cxn ang="0">
                      <a:pos x="0" y="253"/>
                    </a:cxn>
                    <a:cxn ang="0">
                      <a:pos x="102" y="253"/>
                    </a:cxn>
                    <a:cxn ang="0">
                      <a:pos x="102" y="0"/>
                    </a:cxn>
                  </a:cxnLst>
                  <a:rect l="txL" t="txT" r="txR" b="txB"/>
                  <a:pathLst>
                    <a:path w="102" h="253">
                      <a:moveTo>
                        <a:pt x="0" y="253"/>
                      </a:moveTo>
                      <a:lnTo>
                        <a:pt x="102" y="253"/>
                      </a:lnTo>
                      <a:lnTo>
                        <a:pt x="102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oval" w="sm" len="sm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236" name="Freeform 282"/>
                <p:cNvSpPr/>
                <p:nvPr/>
              </p:nvSpPr>
              <p:spPr>
                <a:xfrm>
                  <a:off x="1521" y="1413"/>
                  <a:ext cx="267" cy="1"/>
                </a:xfrm>
                <a:custGeom>
                  <a:avLst/>
                  <a:gdLst>
                    <a:gd name="txL" fmla="*/ 0 w 267"/>
                    <a:gd name="txT" fmla="*/ 0 h 1"/>
                    <a:gd name="txR" fmla="*/ 267 w 267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267" y="0"/>
                    </a:cxn>
                  </a:cxnLst>
                  <a:rect l="txL" t="txT" r="txR" b="txB"/>
                  <a:pathLst>
                    <a:path w="267" h="1">
                      <a:moveTo>
                        <a:pt x="0" y="0"/>
                      </a:moveTo>
                      <a:lnTo>
                        <a:pt x="267" y="0"/>
                      </a:lnTo>
                    </a:path>
                  </a:pathLst>
                </a:custGeom>
                <a:noFill/>
                <a:ln w="762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06212" name="Freeform 283"/>
              <p:cNvSpPr/>
              <p:nvPr/>
            </p:nvSpPr>
            <p:spPr>
              <a:xfrm>
                <a:off x="1324" y="2415"/>
                <a:ext cx="108" cy="252"/>
              </a:xfrm>
              <a:custGeom>
                <a:avLst/>
                <a:gdLst>
                  <a:gd name="txL" fmla="*/ 0 w 108"/>
                  <a:gd name="txT" fmla="*/ 0 h 252"/>
                  <a:gd name="txR" fmla="*/ 108 w 108"/>
                  <a:gd name="txB" fmla="*/ 252 h 252"/>
                </a:gdLst>
                <a:ahLst/>
                <a:cxnLst>
                  <a:cxn ang="0">
                    <a:pos x="0" y="252"/>
                  </a:cxn>
                  <a:cxn ang="0">
                    <a:pos x="107" y="249"/>
                  </a:cxn>
                  <a:cxn ang="0">
                    <a:pos x="108" y="0"/>
                  </a:cxn>
                </a:cxnLst>
                <a:rect l="txL" t="txT" r="txR" b="txB"/>
                <a:pathLst>
                  <a:path w="108" h="252">
                    <a:moveTo>
                      <a:pt x="0" y="252"/>
                    </a:moveTo>
                    <a:lnTo>
                      <a:pt x="107" y="249"/>
                    </a:lnTo>
                    <a:lnTo>
                      <a:pt x="108" y="0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213" name="Freeform 284"/>
              <p:cNvSpPr/>
              <p:nvPr/>
            </p:nvSpPr>
            <p:spPr>
              <a:xfrm>
                <a:off x="1444" y="2414"/>
                <a:ext cx="274" cy="1"/>
              </a:xfrm>
              <a:custGeom>
                <a:avLst/>
                <a:gdLst>
                  <a:gd name="txL" fmla="*/ 0 w 274"/>
                  <a:gd name="txT" fmla="*/ 0 h 1"/>
                  <a:gd name="txR" fmla="*/ 274 w 274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274" y="0"/>
                  </a:cxn>
                </a:cxnLst>
                <a:rect l="txL" t="txT" r="txR" b="txB"/>
                <a:pathLst>
                  <a:path w="274" h="1">
                    <a:moveTo>
                      <a:pt x="0" y="1"/>
                    </a:moveTo>
                    <a:lnTo>
                      <a:pt x="274" y="0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06214" name="Group 285"/>
              <p:cNvGrpSpPr/>
              <p:nvPr/>
            </p:nvGrpSpPr>
            <p:grpSpPr>
              <a:xfrm>
                <a:off x="1324" y="2747"/>
                <a:ext cx="202" cy="277"/>
                <a:chOff x="1392" y="2736"/>
                <a:chExt cx="202" cy="277"/>
              </a:xfrm>
            </p:grpSpPr>
            <p:sp>
              <p:nvSpPr>
                <p:cNvPr id="306229" name="Line 286"/>
                <p:cNvSpPr/>
                <p:nvPr/>
              </p:nvSpPr>
              <p:spPr>
                <a:xfrm>
                  <a:off x="1492" y="2916"/>
                  <a:ext cx="2" cy="95"/>
                </a:xfrm>
                <a:prstGeom prst="line">
                  <a:avLst/>
                </a:prstGeom>
                <a:ln w="5715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06230" name="Freeform 287"/>
                <p:cNvSpPr/>
                <p:nvPr/>
              </p:nvSpPr>
              <p:spPr>
                <a:xfrm>
                  <a:off x="1440" y="3012"/>
                  <a:ext cx="120" cy="1"/>
                </a:xfrm>
                <a:custGeom>
                  <a:avLst/>
                  <a:gdLst>
                    <a:gd name="txL" fmla="*/ 0 w 120"/>
                    <a:gd name="txT" fmla="*/ 0 h 1"/>
                    <a:gd name="txR" fmla="*/ 120 w 120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20" y="0"/>
                    </a:cxn>
                  </a:cxnLst>
                  <a:rect l="txL" t="txT" r="txR" b="txB"/>
                  <a:pathLst>
                    <a:path w="120" h="1">
                      <a:moveTo>
                        <a:pt x="0" y="0"/>
                      </a:moveTo>
                      <a:lnTo>
                        <a:pt x="12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231" name="Freeform 288"/>
                <p:cNvSpPr/>
                <p:nvPr/>
              </p:nvSpPr>
              <p:spPr>
                <a:xfrm>
                  <a:off x="1392" y="2736"/>
                  <a:ext cx="102" cy="141"/>
                </a:xfrm>
                <a:custGeom>
                  <a:avLst/>
                  <a:gdLst>
                    <a:gd name="txL" fmla="*/ 0 w 102"/>
                    <a:gd name="txT" fmla="*/ 0 h 141"/>
                    <a:gd name="txR" fmla="*/ 102 w 102"/>
                    <a:gd name="txB" fmla="*/ 141 h 141"/>
                  </a:gdLst>
                  <a:ahLst/>
                  <a:cxnLst>
                    <a:cxn ang="0">
                      <a:pos x="0" y="0"/>
                    </a:cxn>
                    <a:cxn ang="0">
                      <a:pos x="102" y="0"/>
                    </a:cxn>
                    <a:cxn ang="0">
                      <a:pos x="102" y="141"/>
                    </a:cxn>
                  </a:cxnLst>
                  <a:rect l="txL" t="txT" r="txR" b="txB"/>
                  <a:pathLst>
                    <a:path w="102" h="141">
                      <a:moveTo>
                        <a:pt x="0" y="0"/>
                      </a:moveTo>
                      <a:lnTo>
                        <a:pt x="102" y="0"/>
                      </a:lnTo>
                      <a:lnTo>
                        <a:pt x="102" y="141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06232" name="Group 289"/>
                <p:cNvGrpSpPr/>
                <p:nvPr/>
              </p:nvGrpSpPr>
              <p:grpSpPr>
                <a:xfrm>
                  <a:off x="1392" y="2868"/>
                  <a:ext cx="202" cy="49"/>
                  <a:chOff x="432" y="1152"/>
                  <a:chExt cx="202" cy="49"/>
                </a:xfrm>
              </p:grpSpPr>
              <p:sp>
                <p:nvSpPr>
                  <p:cNvPr id="306233" name="Freeform 290"/>
                  <p:cNvSpPr/>
                  <p:nvPr/>
                </p:nvSpPr>
                <p:spPr>
                  <a:xfrm>
                    <a:off x="432" y="1152"/>
                    <a:ext cx="202" cy="1"/>
                  </a:xfrm>
                  <a:custGeom>
                    <a:avLst/>
                    <a:gdLst>
                      <a:gd name="txL" fmla="*/ 0 w 202"/>
                      <a:gd name="txT" fmla="*/ 0 h 1"/>
                      <a:gd name="txR" fmla="*/ 202 w 20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202" y="0"/>
                      </a:cxn>
                    </a:cxnLst>
                    <a:rect l="txL" t="txT" r="txR" b="txB"/>
                    <a:pathLst>
                      <a:path w="202" h="1">
                        <a:moveTo>
                          <a:pt x="0" y="0"/>
                        </a:moveTo>
                        <a:lnTo>
                          <a:pt x="202" y="0"/>
                        </a:lnTo>
                      </a:path>
                    </a:pathLst>
                  </a:custGeom>
                  <a:solidFill>
                    <a:srgbClr val="FFFFFF"/>
                  </a:solidFill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06234" name="Freeform 291"/>
                  <p:cNvSpPr/>
                  <p:nvPr/>
                </p:nvSpPr>
                <p:spPr>
                  <a:xfrm>
                    <a:off x="432" y="1200"/>
                    <a:ext cx="202" cy="1"/>
                  </a:xfrm>
                  <a:custGeom>
                    <a:avLst/>
                    <a:gdLst>
                      <a:gd name="txL" fmla="*/ 0 w 202"/>
                      <a:gd name="txT" fmla="*/ 0 h 1"/>
                      <a:gd name="txR" fmla="*/ 202 w 20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202" y="0"/>
                      </a:cxn>
                    </a:cxnLst>
                    <a:rect l="txL" t="txT" r="txR" b="txB"/>
                    <a:pathLst>
                      <a:path w="202" h="1">
                        <a:moveTo>
                          <a:pt x="0" y="0"/>
                        </a:moveTo>
                        <a:lnTo>
                          <a:pt x="202" y="0"/>
                        </a:lnTo>
                      </a:path>
                    </a:pathLst>
                  </a:custGeom>
                  <a:solidFill>
                    <a:srgbClr val="FFFFFF"/>
                  </a:solidFill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306215" name="Group 292"/>
              <p:cNvGrpSpPr/>
              <p:nvPr/>
            </p:nvGrpSpPr>
            <p:grpSpPr>
              <a:xfrm>
                <a:off x="1324" y="1019"/>
                <a:ext cx="202" cy="277"/>
                <a:chOff x="1392" y="1019"/>
                <a:chExt cx="202" cy="277"/>
              </a:xfrm>
            </p:grpSpPr>
            <p:sp>
              <p:nvSpPr>
                <p:cNvPr id="306223" name="Line 293"/>
                <p:cNvSpPr/>
                <p:nvPr/>
              </p:nvSpPr>
              <p:spPr>
                <a:xfrm>
                  <a:off x="1492" y="1199"/>
                  <a:ext cx="2" cy="95"/>
                </a:xfrm>
                <a:prstGeom prst="line">
                  <a:avLst/>
                </a:prstGeom>
                <a:ln w="5715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06224" name="Freeform 294"/>
                <p:cNvSpPr/>
                <p:nvPr/>
              </p:nvSpPr>
              <p:spPr>
                <a:xfrm>
                  <a:off x="1440" y="1295"/>
                  <a:ext cx="120" cy="1"/>
                </a:xfrm>
                <a:custGeom>
                  <a:avLst/>
                  <a:gdLst>
                    <a:gd name="txL" fmla="*/ 0 w 120"/>
                    <a:gd name="txT" fmla="*/ 0 h 1"/>
                    <a:gd name="txR" fmla="*/ 120 w 120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20" y="0"/>
                    </a:cxn>
                  </a:cxnLst>
                  <a:rect l="txL" t="txT" r="txR" b="txB"/>
                  <a:pathLst>
                    <a:path w="120" h="1">
                      <a:moveTo>
                        <a:pt x="0" y="0"/>
                      </a:moveTo>
                      <a:lnTo>
                        <a:pt x="12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225" name="Freeform 295"/>
                <p:cNvSpPr/>
                <p:nvPr/>
              </p:nvSpPr>
              <p:spPr>
                <a:xfrm>
                  <a:off x="1392" y="1019"/>
                  <a:ext cx="102" cy="141"/>
                </a:xfrm>
                <a:custGeom>
                  <a:avLst/>
                  <a:gdLst>
                    <a:gd name="txL" fmla="*/ 0 w 102"/>
                    <a:gd name="txT" fmla="*/ 0 h 141"/>
                    <a:gd name="txR" fmla="*/ 102 w 102"/>
                    <a:gd name="txB" fmla="*/ 141 h 141"/>
                  </a:gdLst>
                  <a:ahLst/>
                  <a:cxnLst>
                    <a:cxn ang="0">
                      <a:pos x="0" y="0"/>
                    </a:cxn>
                    <a:cxn ang="0">
                      <a:pos x="102" y="0"/>
                    </a:cxn>
                    <a:cxn ang="0">
                      <a:pos x="102" y="141"/>
                    </a:cxn>
                  </a:cxnLst>
                  <a:rect l="txL" t="txT" r="txR" b="txB"/>
                  <a:pathLst>
                    <a:path w="102" h="141">
                      <a:moveTo>
                        <a:pt x="0" y="0"/>
                      </a:moveTo>
                      <a:lnTo>
                        <a:pt x="102" y="0"/>
                      </a:lnTo>
                      <a:lnTo>
                        <a:pt x="102" y="141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06226" name="Group 296"/>
                <p:cNvGrpSpPr/>
                <p:nvPr/>
              </p:nvGrpSpPr>
              <p:grpSpPr>
                <a:xfrm>
                  <a:off x="1392" y="1151"/>
                  <a:ext cx="202" cy="49"/>
                  <a:chOff x="432" y="1152"/>
                  <a:chExt cx="202" cy="49"/>
                </a:xfrm>
              </p:grpSpPr>
              <p:sp>
                <p:nvSpPr>
                  <p:cNvPr id="306227" name="Freeform 297"/>
                  <p:cNvSpPr/>
                  <p:nvPr/>
                </p:nvSpPr>
                <p:spPr>
                  <a:xfrm>
                    <a:off x="432" y="1152"/>
                    <a:ext cx="202" cy="1"/>
                  </a:xfrm>
                  <a:custGeom>
                    <a:avLst/>
                    <a:gdLst>
                      <a:gd name="txL" fmla="*/ 0 w 202"/>
                      <a:gd name="txT" fmla="*/ 0 h 1"/>
                      <a:gd name="txR" fmla="*/ 202 w 20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202" y="0"/>
                      </a:cxn>
                    </a:cxnLst>
                    <a:rect l="txL" t="txT" r="txR" b="txB"/>
                    <a:pathLst>
                      <a:path w="202" h="1">
                        <a:moveTo>
                          <a:pt x="0" y="0"/>
                        </a:moveTo>
                        <a:lnTo>
                          <a:pt x="202" y="0"/>
                        </a:lnTo>
                      </a:path>
                    </a:pathLst>
                  </a:custGeom>
                  <a:solidFill>
                    <a:srgbClr val="FFFFFF"/>
                  </a:solidFill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06228" name="Freeform 298"/>
                  <p:cNvSpPr/>
                  <p:nvPr/>
                </p:nvSpPr>
                <p:spPr>
                  <a:xfrm>
                    <a:off x="432" y="1200"/>
                    <a:ext cx="202" cy="1"/>
                  </a:xfrm>
                  <a:custGeom>
                    <a:avLst/>
                    <a:gdLst>
                      <a:gd name="txL" fmla="*/ 0 w 202"/>
                      <a:gd name="txT" fmla="*/ 0 h 1"/>
                      <a:gd name="txR" fmla="*/ 202 w 20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202" y="0"/>
                      </a:cxn>
                    </a:cxnLst>
                    <a:rect l="txL" t="txT" r="txR" b="txB"/>
                    <a:pathLst>
                      <a:path w="202" h="1">
                        <a:moveTo>
                          <a:pt x="0" y="0"/>
                        </a:moveTo>
                        <a:lnTo>
                          <a:pt x="202" y="0"/>
                        </a:lnTo>
                      </a:path>
                    </a:pathLst>
                  </a:custGeom>
                  <a:solidFill>
                    <a:srgbClr val="FFFFFF"/>
                  </a:solidFill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</p:grpSp>
          <p:grpSp>
            <p:nvGrpSpPr>
              <p:cNvPr id="306216" name="Group 299"/>
              <p:cNvGrpSpPr/>
              <p:nvPr/>
            </p:nvGrpSpPr>
            <p:grpSpPr>
              <a:xfrm>
                <a:off x="1324" y="1739"/>
                <a:ext cx="202" cy="277"/>
                <a:chOff x="1392" y="1776"/>
                <a:chExt cx="202" cy="277"/>
              </a:xfrm>
            </p:grpSpPr>
            <p:sp>
              <p:nvSpPr>
                <p:cNvPr id="306217" name="Line 300"/>
                <p:cNvSpPr/>
                <p:nvPr/>
              </p:nvSpPr>
              <p:spPr>
                <a:xfrm>
                  <a:off x="1492" y="1956"/>
                  <a:ext cx="2" cy="95"/>
                </a:xfrm>
                <a:prstGeom prst="line">
                  <a:avLst/>
                </a:prstGeom>
                <a:ln w="5715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06218" name="Freeform 301"/>
                <p:cNvSpPr/>
                <p:nvPr/>
              </p:nvSpPr>
              <p:spPr>
                <a:xfrm>
                  <a:off x="1440" y="2052"/>
                  <a:ext cx="120" cy="1"/>
                </a:xfrm>
                <a:custGeom>
                  <a:avLst/>
                  <a:gdLst>
                    <a:gd name="txL" fmla="*/ 0 w 120"/>
                    <a:gd name="txT" fmla="*/ 0 h 1"/>
                    <a:gd name="txR" fmla="*/ 120 w 120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20" y="0"/>
                    </a:cxn>
                  </a:cxnLst>
                  <a:rect l="txL" t="txT" r="txR" b="txB"/>
                  <a:pathLst>
                    <a:path w="120" h="1">
                      <a:moveTo>
                        <a:pt x="0" y="0"/>
                      </a:moveTo>
                      <a:lnTo>
                        <a:pt x="120" y="0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06219" name="Freeform 302"/>
                <p:cNvSpPr/>
                <p:nvPr/>
              </p:nvSpPr>
              <p:spPr>
                <a:xfrm>
                  <a:off x="1392" y="1776"/>
                  <a:ext cx="102" cy="141"/>
                </a:xfrm>
                <a:custGeom>
                  <a:avLst/>
                  <a:gdLst>
                    <a:gd name="txL" fmla="*/ 0 w 102"/>
                    <a:gd name="txT" fmla="*/ 0 h 141"/>
                    <a:gd name="txR" fmla="*/ 102 w 102"/>
                    <a:gd name="txB" fmla="*/ 141 h 141"/>
                  </a:gdLst>
                  <a:ahLst/>
                  <a:cxnLst>
                    <a:cxn ang="0">
                      <a:pos x="0" y="0"/>
                    </a:cxn>
                    <a:cxn ang="0">
                      <a:pos x="102" y="0"/>
                    </a:cxn>
                    <a:cxn ang="0">
                      <a:pos x="102" y="141"/>
                    </a:cxn>
                  </a:cxnLst>
                  <a:rect l="txL" t="txT" r="txR" b="txB"/>
                  <a:pathLst>
                    <a:path w="102" h="141">
                      <a:moveTo>
                        <a:pt x="0" y="0"/>
                      </a:moveTo>
                      <a:lnTo>
                        <a:pt x="102" y="0"/>
                      </a:lnTo>
                      <a:lnTo>
                        <a:pt x="102" y="141"/>
                      </a:lnTo>
                    </a:path>
                  </a:pathLst>
                </a:custGeom>
                <a:noFill/>
                <a:ln w="5715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306220" name="Group 303"/>
                <p:cNvGrpSpPr/>
                <p:nvPr/>
              </p:nvGrpSpPr>
              <p:grpSpPr>
                <a:xfrm>
                  <a:off x="1392" y="1908"/>
                  <a:ext cx="202" cy="49"/>
                  <a:chOff x="432" y="1152"/>
                  <a:chExt cx="202" cy="49"/>
                </a:xfrm>
              </p:grpSpPr>
              <p:sp>
                <p:nvSpPr>
                  <p:cNvPr id="306221" name="Freeform 304"/>
                  <p:cNvSpPr/>
                  <p:nvPr/>
                </p:nvSpPr>
                <p:spPr>
                  <a:xfrm>
                    <a:off x="432" y="1152"/>
                    <a:ext cx="202" cy="1"/>
                  </a:xfrm>
                  <a:custGeom>
                    <a:avLst/>
                    <a:gdLst>
                      <a:gd name="txL" fmla="*/ 0 w 202"/>
                      <a:gd name="txT" fmla="*/ 0 h 1"/>
                      <a:gd name="txR" fmla="*/ 202 w 20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202" y="0"/>
                      </a:cxn>
                    </a:cxnLst>
                    <a:rect l="txL" t="txT" r="txR" b="txB"/>
                    <a:pathLst>
                      <a:path w="202" h="1">
                        <a:moveTo>
                          <a:pt x="0" y="0"/>
                        </a:moveTo>
                        <a:lnTo>
                          <a:pt x="202" y="0"/>
                        </a:lnTo>
                      </a:path>
                    </a:pathLst>
                  </a:custGeom>
                  <a:solidFill>
                    <a:srgbClr val="FFFFFF"/>
                  </a:solidFill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06222" name="Freeform 305"/>
                  <p:cNvSpPr/>
                  <p:nvPr/>
                </p:nvSpPr>
                <p:spPr>
                  <a:xfrm>
                    <a:off x="432" y="1200"/>
                    <a:ext cx="202" cy="1"/>
                  </a:xfrm>
                  <a:custGeom>
                    <a:avLst/>
                    <a:gdLst>
                      <a:gd name="txL" fmla="*/ 0 w 202"/>
                      <a:gd name="txT" fmla="*/ 0 h 1"/>
                      <a:gd name="txR" fmla="*/ 202 w 202"/>
                      <a:gd name="txB" fmla="*/ 1 h 1"/>
                    </a:gdLst>
                    <a:ahLst/>
                    <a:cxnLst>
                      <a:cxn ang="0">
                        <a:pos x="0" y="0"/>
                      </a:cxn>
                      <a:cxn ang="0">
                        <a:pos x="202" y="0"/>
                      </a:cxn>
                    </a:cxnLst>
                    <a:rect l="txL" t="txT" r="txR" b="txB"/>
                    <a:pathLst>
                      <a:path w="202" h="1">
                        <a:moveTo>
                          <a:pt x="0" y="0"/>
                        </a:moveTo>
                        <a:lnTo>
                          <a:pt x="202" y="0"/>
                        </a:lnTo>
                      </a:path>
                    </a:pathLst>
                  </a:custGeom>
                  <a:solidFill>
                    <a:srgbClr val="FFFFFF"/>
                  </a:solidFill>
                  <a:ln w="57150" cap="flat" cmpd="sng">
                    <a:solidFill>
                      <a:schemeClr val="fol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Arial" panose="020B0604020202020204" pitchFamily="34" charset="0"/>
                    </a:endParaRPr>
                  </a:p>
                </p:txBody>
              </p:sp>
            </p:grpSp>
          </p:grpSp>
        </p:grpSp>
        <p:sp>
          <p:nvSpPr>
            <p:cNvPr id="306209" name="Text Box 306"/>
            <p:cNvSpPr txBox="1"/>
            <p:nvPr/>
          </p:nvSpPr>
          <p:spPr>
            <a:xfrm>
              <a:off x="1283" y="2056"/>
              <a:ext cx="425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41971" name="Rectangle 307"/>
          <p:cNvSpPr>
            <a:spLocks noChangeArrowheads="1"/>
          </p:cNvSpPr>
          <p:nvPr/>
        </p:nvSpPr>
        <p:spPr bwMode="auto">
          <a:xfrm>
            <a:off x="9525000" y="-762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1972" name="Text Box 308"/>
          <p:cNvSpPr txBox="1"/>
          <p:nvPr/>
        </p:nvSpPr>
        <p:spPr>
          <a:xfrm>
            <a:off x="3016250" y="5018088"/>
            <a:ext cx="487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63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1973" name="Text Box 309"/>
          <p:cNvSpPr txBox="1"/>
          <p:nvPr/>
        </p:nvSpPr>
        <p:spPr>
          <a:xfrm>
            <a:off x="9620250" y="660400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1974" name="Text Box 310"/>
          <p:cNvSpPr txBox="1"/>
          <p:nvPr/>
        </p:nvSpPr>
        <p:spPr>
          <a:xfrm>
            <a:off x="9620250" y="661988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1975" name="Text Box 311"/>
          <p:cNvSpPr txBox="1"/>
          <p:nvPr/>
        </p:nvSpPr>
        <p:spPr>
          <a:xfrm>
            <a:off x="9620250" y="661988"/>
            <a:ext cx="335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8243" name="Group 312"/>
          <p:cNvGrpSpPr/>
          <p:nvPr/>
        </p:nvGrpSpPr>
        <p:grpSpPr>
          <a:xfrm>
            <a:off x="7466013" y="901700"/>
            <a:ext cx="1847850" cy="5246688"/>
            <a:chOff x="3743" y="568"/>
            <a:chExt cx="1164" cy="3305"/>
          </a:xfrm>
        </p:grpSpPr>
        <p:grpSp>
          <p:nvGrpSpPr>
            <p:cNvPr id="306204" name="Group 313"/>
            <p:cNvGrpSpPr/>
            <p:nvPr/>
          </p:nvGrpSpPr>
          <p:grpSpPr>
            <a:xfrm>
              <a:off x="3743" y="568"/>
              <a:ext cx="1140" cy="3305"/>
              <a:chOff x="3743" y="568"/>
              <a:chExt cx="1140" cy="3305"/>
            </a:xfrm>
          </p:grpSpPr>
          <p:sp>
            <p:nvSpPr>
              <p:cNvPr id="306206" name="Freeform 314"/>
              <p:cNvSpPr/>
              <p:nvPr/>
            </p:nvSpPr>
            <p:spPr>
              <a:xfrm>
                <a:off x="4464" y="568"/>
                <a:ext cx="419" cy="3138"/>
              </a:xfrm>
              <a:custGeom>
                <a:avLst/>
                <a:gdLst>
                  <a:gd name="txL" fmla="*/ 0 w 419"/>
                  <a:gd name="txT" fmla="*/ 0 h 3138"/>
                  <a:gd name="txR" fmla="*/ 419 w 419"/>
                  <a:gd name="txB" fmla="*/ 3138 h 3138"/>
                </a:gdLst>
                <a:ahLst/>
                <a:cxnLst>
                  <a:cxn ang="0">
                    <a:pos x="0" y="0"/>
                  </a:cxn>
                  <a:cxn ang="0">
                    <a:pos x="0" y="130"/>
                  </a:cxn>
                  <a:cxn ang="0">
                    <a:pos x="416" y="130"/>
                  </a:cxn>
                  <a:cxn ang="0">
                    <a:pos x="419" y="3138"/>
                  </a:cxn>
                </a:cxnLst>
                <a:rect l="txL" t="txT" r="txR" b="txB"/>
                <a:pathLst>
                  <a:path w="419" h="3138">
                    <a:moveTo>
                      <a:pt x="0" y="0"/>
                    </a:moveTo>
                    <a:lnTo>
                      <a:pt x="0" y="130"/>
                    </a:lnTo>
                    <a:lnTo>
                      <a:pt x="416" y="130"/>
                    </a:lnTo>
                    <a:lnTo>
                      <a:pt x="419" y="3138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6207" name="Freeform 315"/>
              <p:cNvSpPr/>
              <p:nvPr/>
            </p:nvSpPr>
            <p:spPr>
              <a:xfrm>
                <a:off x="3743" y="3672"/>
                <a:ext cx="1" cy="201"/>
              </a:xfrm>
              <a:custGeom>
                <a:avLst/>
                <a:gdLst>
                  <a:gd name="txL" fmla="*/ 0 w 1"/>
                  <a:gd name="txT" fmla="*/ 0 h 201"/>
                  <a:gd name="txR" fmla="*/ 1 w 1"/>
                  <a:gd name="txB" fmla="*/ 201 h 201"/>
                </a:gdLst>
                <a:ahLst/>
                <a:cxnLst>
                  <a:cxn ang="0">
                    <a:pos x="1" y="0"/>
                  </a:cxn>
                  <a:cxn ang="0">
                    <a:pos x="0" y="201"/>
                  </a:cxn>
                </a:cxnLst>
                <a:rect l="txL" t="txT" r="txR" b="txB"/>
                <a:pathLst>
                  <a:path w="1" h="201">
                    <a:moveTo>
                      <a:pt x="1" y="0"/>
                    </a:moveTo>
                    <a:lnTo>
                      <a:pt x="0" y="201"/>
                    </a:lnTo>
                  </a:path>
                </a:pathLst>
              </a:custGeom>
              <a:noFill/>
              <a:ln w="7620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06205" name="Freeform 316"/>
            <p:cNvSpPr/>
            <p:nvPr/>
          </p:nvSpPr>
          <p:spPr>
            <a:xfrm>
              <a:off x="3751" y="3694"/>
              <a:ext cx="1156" cy="2"/>
            </a:xfrm>
            <a:custGeom>
              <a:avLst/>
              <a:gdLst>
                <a:gd name="txL" fmla="*/ 0 w 1023"/>
                <a:gd name="txT" fmla="*/ 0 h 2"/>
                <a:gd name="txR" fmla="*/ 1023 w 1023"/>
                <a:gd name="txB" fmla="*/ 2 h 2"/>
              </a:gdLst>
              <a:ahLst/>
              <a:cxnLst>
                <a:cxn ang="0">
                  <a:pos x="1023" y="0"/>
                </a:cxn>
                <a:cxn ang="0">
                  <a:pos x="0" y="2"/>
                </a:cxn>
              </a:cxnLst>
              <a:rect l="txL" t="txT" r="txR" b="txB"/>
              <a:pathLst>
                <a:path w="1023" h="2">
                  <a:moveTo>
                    <a:pt x="1023" y="0"/>
                  </a:move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98247" name="Group 317"/>
          <p:cNvGrpSpPr/>
          <p:nvPr/>
        </p:nvGrpSpPr>
        <p:grpSpPr>
          <a:xfrm>
            <a:off x="6845300" y="5791200"/>
            <a:ext cx="3749675" cy="750888"/>
            <a:chOff x="3352" y="3648"/>
            <a:chExt cx="2362" cy="473"/>
          </a:xfrm>
        </p:grpSpPr>
        <p:sp>
          <p:nvSpPr>
            <p:cNvPr id="306196" name="Rectangle 318"/>
            <p:cNvSpPr/>
            <p:nvPr/>
          </p:nvSpPr>
          <p:spPr>
            <a:xfrm>
              <a:off x="4538" y="3869"/>
              <a:ext cx="742" cy="25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197" name="Rectangle 319"/>
            <p:cNvSpPr/>
            <p:nvPr/>
          </p:nvSpPr>
          <p:spPr>
            <a:xfrm>
              <a:off x="3352" y="3869"/>
              <a:ext cx="742" cy="252"/>
            </a:xfrm>
            <a:prstGeom prst="rect">
              <a:avLst/>
            </a:prstGeom>
            <a:solidFill>
              <a:schemeClr val="folHlink"/>
            </a:solidFill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198" name="Freeform 320"/>
            <p:cNvSpPr/>
            <p:nvPr/>
          </p:nvSpPr>
          <p:spPr>
            <a:xfrm>
              <a:off x="4080" y="3984"/>
              <a:ext cx="453" cy="1"/>
            </a:xfrm>
            <a:custGeom>
              <a:avLst/>
              <a:gdLst>
                <a:gd name="txL" fmla="*/ 0 w 453"/>
                <a:gd name="txT" fmla="*/ 0 h 1"/>
                <a:gd name="txR" fmla="*/ 453 w 45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53" y="1"/>
                </a:cxn>
              </a:cxnLst>
              <a:rect l="txL" t="txT" r="txR" b="txB"/>
              <a:pathLst>
                <a:path w="453" h="1">
                  <a:moveTo>
                    <a:pt x="0" y="0"/>
                  </a:moveTo>
                  <a:lnTo>
                    <a:pt x="453" y="1"/>
                  </a:lnTo>
                </a:path>
              </a:pathLst>
            </a:custGeom>
            <a:noFill/>
            <a:ln w="762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6199" name="Text Box 321"/>
            <p:cNvSpPr txBox="1"/>
            <p:nvPr/>
          </p:nvSpPr>
          <p:spPr>
            <a:xfrm>
              <a:off x="3402" y="3867"/>
              <a:ext cx="66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I/O</a:t>
              </a:r>
              <a:r>
                <a: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缓冲</a:t>
              </a:r>
              <a:endParaRPr lang="zh-CN" altLang="en-US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6200" name="Text Box 322"/>
            <p:cNvSpPr txBox="1"/>
            <p:nvPr/>
          </p:nvSpPr>
          <p:spPr>
            <a:xfrm>
              <a:off x="4540" y="3856"/>
              <a:ext cx="76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输出驱动</a:t>
              </a:r>
              <a:endParaRPr lang="zh-CN" altLang="en-US" sz="20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6201" name="Line 323"/>
            <p:cNvSpPr/>
            <p:nvPr/>
          </p:nvSpPr>
          <p:spPr>
            <a:xfrm>
              <a:off x="5295" y="3984"/>
              <a:ext cx="192" cy="0"/>
            </a:xfrm>
            <a:prstGeom prst="line">
              <a:avLst/>
            </a:prstGeom>
            <a:ln w="762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6202" name="Text Box 324"/>
            <p:cNvSpPr txBox="1"/>
            <p:nvPr/>
          </p:nvSpPr>
          <p:spPr>
            <a:xfrm>
              <a:off x="5356" y="3744"/>
              <a:ext cx="358" cy="1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OUT</a:t>
              </a:r>
              <a:endParaRPr lang="en-US" altLang="zh-CN" sz="1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6203" name="Text Box 325"/>
            <p:cNvSpPr txBox="1"/>
            <p:nvPr/>
          </p:nvSpPr>
          <p:spPr>
            <a:xfrm>
              <a:off x="5212" y="3648"/>
              <a:ext cx="25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6194" name="AutoShape 32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619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298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29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9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4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24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9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24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29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9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927" grpId="0" bldLvl="0" animBg="1"/>
      <p:bldP spid="241928" grpId="0" bldLvl="0" animBg="1"/>
      <p:bldP spid="241972" grpId="0"/>
      <p:bldP spid="241973" grpId="0"/>
      <p:bldP spid="241974" grpId="0"/>
      <p:bldP spid="24197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07202" name="Text Box 2"/>
          <p:cNvSpPr txBox="1"/>
          <p:nvPr/>
        </p:nvSpPr>
        <p:spPr>
          <a:xfrm>
            <a:off x="1828800" y="381000"/>
            <a:ext cx="5410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Times New Roman" panose="02020603050405020304" pitchFamily="18" charset="0"/>
              </a:rPr>
              <a:t> (3)  </a:t>
            </a:r>
            <a:r>
              <a:rPr lang="zh-CN" altLang="en-US" sz="3600" b="1" dirty="0">
                <a:latin typeface="Times New Roman" panose="02020603050405020304" pitchFamily="18" charset="0"/>
              </a:rPr>
              <a:t>动态 </a:t>
            </a:r>
            <a:r>
              <a:rPr lang="en-US" altLang="zh-CN" sz="3600" b="1" dirty="0">
                <a:latin typeface="Times New Roman" panose="02020603050405020304" pitchFamily="18" charset="0"/>
              </a:rPr>
              <a:t>RAM </a:t>
            </a:r>
            <a:r>
              <a:rPr lang="zh-CN" altLang="en-US" sz="3600" b="1" dirty="0">
                <a:latin typeface="Times New Roman" panose="02020603050405020304" pitchFamily="18" charset="0"/>
              </a:rPr>
              <a:t>时序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43715" name="Text Box 3"/>
          <p:cNvSpPr txBox="1"/>
          <p:nvPr/>
        </p:nvSpPr>
        <p:spPr>
          <a:xfrm>
            <a:off x="3200400" y="1295400"/>
            <a:ext cx="5410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行、列地址分开传送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3716" name="Text Box 4"/>
          <p:cNvSpPr txBox="1"/>
          <p:nvPr/>
        </p:nvSpPr>
        <p:spPr>
          <a:xfrm>
            <a:off x="7162800" y="2438400"/>
            <a:ext cx="2438400" cy="5530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000" b="1" dirty="0">
                <a:latin typeface="Times New Roman" panose="02020603050405020304" pitchFamily="18" charset="0"/>
              </a:rPr>
              <a:t>写时序</a:t>
            </a:r>
            <a:endParaRPr lang="zh-CN" altLang="en-US" sz="30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362200" y="3190875"/>
            <a:ext cx="3200400" cy="522288"/>
            <a:chOff x="528" y="2106"/>
            <a:chExt cx="2016" cy="329"/>
          </a:xfrm>
        </p:grpSpPr>
        <p:sp>
          <p:nvSpPr>
            <p:cNvPr id="307227" name="Text Box 6"/>
            <p:cNvSpPr txBox="1"/>
            <p:nvPr/>
          </p:nvSpPr>
          <p:spPr>
            <a:xfrm>
              <a:off x="528" y="2106"/>
              <a:ext cx="20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行地址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RAS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有效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7228" name="Freeform 7"/>
            <p:cNvSpPr/>
            <p:nvPr/>
          </p:nvSpPr>
          <p:spPr>
            <a:xfrm>
              <a:off x="1351" y="2142"/>
              <a:ext cx="501" cy="1"/>
            </a:xfrm>
            <a:custGeom>
              <a:avLst/>
              <a:gdLst>
                <a:gd name="txL" fmla="*/ 0 w 501"/>
                <a:gd name="txT" fmla="*/ 0 h 1"/>
                <a:gd name="txR" fmla="*/ 501 w 50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501" y="0"/>
                </a:cxn>
              </a:cxnLst>
              <a:rect l="txL" t="txT" r="txR" b="txB"/>
              <a:pathLst>
                <a:path w="501" h="1">
                  <a:moveTo>
                    <a:pt x="0" y="0"/>
                  </a:moveTo>
                  <a:lnTo>
                    <a:pt x="50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2362200" y="3914775"/>
            <a:ext cx="3657600" cy="522288"/>
            <a:chOff x="528" y="2562"/>
            <a:chExt cx="2304" cy="329"/>
          </a:xfrm>
        </p:grpSpPr>
        <p:sp>
          <p:nvSpPr>
            <p:cNvPr id="307225" name="Text Box 9"/>
            <p:cNvSpPr txBox="1"/>
            <p:nvPr/>
          </p:nvSpPr>
          <p:spPr>
            <a:xfrm>
              <a:off x="528" y="2562"/>
              <a:ext cx="230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写允许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WE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有效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高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7226" name="Line 10"/>
            <p:cNvSpPr/>
            <p:nvPr/>
          </p:nvSpPr>
          <p:spPr>
            <a:xfrm>
              <a:off x="1344" y="2592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43723" name="Text Box 11"/>
          <p:cNvSpPr txBox="1"/>
          <p:nvPr/>
        </p:nvSpPr>
        <p:spPr>
          <a:xfrm>
            <a:off x="2362200" y="5364163"/>
            <a:ext cx="3200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数据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D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OUT</a:t>
            </a:r>
            <a:r>
              <a:rPr lang="en-US" altLang="zh-CN" sz="2200" b="1" baseline="-25000" dirty="0">
                <a:latin typeface="宋体" panose="02010600030101010101" pitchFamily="2" charset="-122"/>
              </a:rPr>
              <a:t>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43724" name="Text Box 12"/>
          <p:cNvSpPr txBox="1"/>
          <p:nvPr/>
        </p:nvSpPr>
        <p:spPr>
          <a:xfrm>
            <a:off x="6553200" y="4638675"/>
            <a:ext cx="3733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数据 </a:t>
            </a:r>
            <a:r>
              <a:rPr lang="zh-CN" altLang="en-US" sz="2000" b="1" dirty="0">
                <a:latin typeface="Times New Roman" panose="02020603050405020304" pitchFamily="18" charset="0"/>
              </a:rPr>
              <a:t>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D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IN </a:t>
            </a:r>
            <a:r>
              <a:rPr lang="en-US" altLang="zh-CN" sz="2200" b="1" baseline="-25000" dirty="0">
                <a:latin typeface="宋体" panose="02010600030101010101" pitchFamily="2" charset="-122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有效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43725" name="Text Box 13"/>
          <p:cNvSpPr txBox="1"/>
          <p:nvPr/>
        </p:nvSpPr>
        <p:spPr>
          <a:xfrm>
            <a:off x="3276600" y="2438400"/>
            <a:ext cx="1752600" cy="5530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000" b="1" dirty="0">
                <a:latin typeface="Times New Roman" panose="02020603050405020304" pitchFamily="18" charset="0"/>
              </a:rPr>
              <a:t>读时序</a:t>
            </a:r>
            <a:endParaRPr lang="zh-CN" altLang="en-US" sz="3000" b="1" dirty="0">
              <a:latin typeface="Times New Roman" panose="02020603050405020304" pitchFamily="18" charset="0"/>
            </a:endParaRPr>
          </a:p>
        </p:txBody>
      </p:sp>
      <p:sp>
        <p:nvSpPr>
          <p:cNvPr id="243726" name="Rectangle 1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Group 15"/>
          <p:cNvGrpSpPr/>
          <p:nvPr/>
        </p:nvGrpSpPr>
        <p:grpSpPr>
          <a:xfrm>
            <a:off x="6553200" y="3190875"/>
            <a:ext cx="3200400" cy="522288"/>
            <a:chOff x="3168" y="2106"/>
            <a:chExt cx="2016" cy="329"/>
          </a:xfrm>
        </p:grpSpPr>
        <p:sp>
          <p:nvSpPr>
            <p:cNvPr id="307223" name="Text Box 16"/>
            <p:cNvSpPr txBox="1"/>
            <p:nvPr/>
          </p:nvSpPr>
          <p:spPr>
            <a:xfrm>
              <a:off x="3168" y="2106"/>
              <a:ext cx="20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行地址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RAS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有效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7224" name="Freeform 17"/>
            <p:cNvSpPr/>
            <p:nvPr/>
          </p:nvSpPr>
          <p:spPr>
            <a:xfrm>
              <a:off x="3984" y="2142"/>
              <a:ext cx="501" cy="1"/>
            </a:xfrm>
            <a:custGeom>
              <a:avLst/>
              <a:gdLst>
                <a:gd name="txL" fmla="*/ 0 w 501"/>
                <a:gd name="txT" fmla="*/ 0 h 1"/>
                <a:gd name="txR" fmla="*/ 501 w 50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501" y="0"/>
                </a:cxn>
              </a:cxnLst>
              <a:rect l="txL" t="txT" r="txR" b="txB"/>
              <a:pathLst>
                <a:path w="501" h="1">
                  <a:moveTo>
                    <a:pt x="0" y="0"/>
                  </a:moveTo>
                  <a:lnTo>
                    <a:pt x="50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8"/>
          <p:cNvGrpSpPr/>
          <p:nvPr/>
        </p:nvGrpSpPr>
        <p:grpSpPr>
          <a:xfrm>
            <a:off x="6553200" y="3914775"/>
            <a:ext cx="3657600" cy="522288"/>
            <a:chOff x="3168" y="2562"/>
            <a:chExt cx="2304" cy="329"/>
          </a:xfrm>
        </p:grpSpPr>
        <p:sp>
          <p:nvSpPr>
            <p:cNvPr id="307221" name="Text Box 19"/>
            <p:cNvSpPr txBox="1"/>
            <p:nvPr/>
          </p:nvSpPr>
          <p:spPr>
            <a:xfrm>
              <a:off x="3168" y="2562"/>
              <a:ext cx="230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写允许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WE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有效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(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低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7222" name="Line 20"/>
            <p:cNvSpPr/>
            <p:nvPr/>
          </p:nvSpPr>
          <p:spPr>
            <a:xfrm>
              <a:off x="3984" y="2592"/>
              <a:ext cx="43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1"/>
          <p:cNvGrpSpPr/>
          <p:nvPr/>
        </p:nvGrpSpPr>
        <p:grpSpPr>
          <a:xfrm>
            <a:off x="2362200" y="4638675"/>
            <a:ext cx="3200400" cy="522288"/>
            <a:chOff x="528" y="3018"/>
            <a:chExt cx="2016" cy="329"/>
          </a:xfrm>
        </p:grpSpPr>
        <p:sp>
          <p:nvSpPr>
            <p:cNvPr id="307219" name="Text Box 22"/>
            <p:cNvSpPr txBox="1"/>
            <p:nvPr/>
          </p:nvSpPr>
          <p:spPr>
            <a:xfrm>
              <a:off x="528" y="3018"/>
              <a:ext cx="20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列地址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CAS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有效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7220" name="Freeform 23"/>
            <p:cNvSpPr/>
            <p:nvPr/>
          </p:nvSpPr>
          <p:spPr>
            <a:xfrm>
              <a:off x="1351" y="3049"/>
              <a:ext cx="501" cy="1"/>
            </a:xfrm>
            <a:custGeom>
              <a:avLst/>
              <a:gdLst>
                <a:gd name="txL" fmla="*/ 0 w 501"/>
                <a:gd name="txT" fmla="*/ 0 h 1"/>
                <a:gd name="txR" fmla="*/ 501 w 50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501" y="0"/>
                </a:cxn>
              </a:cxnLst>
              <a:rect l="txL" t="txT" r="txR" b="txB"/>
              <a:pathLst>
                <a:path w="501" h="1">
                  <a:moveTo>
                    <a:pt x="0" y="0"/>
                  </a:moveTo>
                  <a:lnTo>
                    <a:pt x="50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24"/>
          <p:cNvGrpSpPr/>
          <p:nvPr/>
        </p:nvGrpSpPr>
        <p:grpSpPr>
          <a:xfrm>
            <a:off x="6553200" y="5424488"/>
            <a:ext cx="3200400" cy="522287"/>
            <a:chOff x="3168" y="3513"/>
            <a:chExt cx="2016" cy="329"/>
          </a:xfrm>
        </p:grpSpPr>
        <p:sp>
          <p:nvSpPr>
            <p:cNvPr id="307217" name="Text Box 25"/>
            <p:cNvSpPr txBox="1"/>
            <p:nvPr/>
          </p:nvSpPr>
          <p:spPr>
            <a:xfrm>
              <a:off x="3168" y="3513"/>
              <a:ext cx="20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列地址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CAS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有效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7218" name="Freeform 26"/>
            <p:cNvSpPr/>
            <p:nvPr/>
          </p:nvSpPr>
          <p:spPr>
            <a:xfrm>
              <a:off x="3984" y="3551"/>
              <a:ext cx="501" cy="1"/>
            </a:xfrm>
            <a:custGeom>
              <a:avLst/>
              <a:gdLst>
                <a:gd name="txL" fmla="*/ 0 w 501"/>
                <a:gd name="txT" fmla="*/ 0 h 1"/>
                <a:gd name="txR" fmla="*/ 501 w 501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501" y="0"/>
                </a:cxn>
              </a:cxnLst>
              <a:rect l="txL" t="txT" r="txR" b="txB"/>
              <a:pathLst>
                <a:path w="501" h="1">
                  <a:moveTo>
                    <a:pt x="0" y="0"/>
                  </a:moveTo>
                  <a:lnTo>
                    <a:pt x="50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07215" name="AutoShape 2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216" name="日期占位符 8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3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3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/>
      <p:bldP spid="243716" grpId="0"/>
      <p:bldP spid="243723" grpId="0"/>
      <p:bldP spid="243724" grpId="0"/>
      <p:bldP spid="2437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8226" name="Text Box 2"/>
          <p:cNvSpPr txBox="1"/>
          <p:nvPr/>
        </p:nvSpPr>
        <p:spPr>
          <a:xfrm>
            <a:off x="1524000" y="152400"/>
            <a:ext cx="5410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Times New Roman" panose="02020603050405020304" pitchFamily="18" charset="0"/>
              </a:rPr>
              <a:t> (4)  </a:t>
            </a:r>
            <a:r>
              <a:rPr lang="zh-CN" altLang="en-US" sz="3600" b="1" dirty="0">
                <a:latin typeface="Times New Roman" panose="02020603050405020304" pitchFamily="18" charset="0"/>
              </a:rPr>
              <a:t>动态 </a:t>
            </a:r>
            <a:r>
              <a:rPr lang="en-US" altLang="zh-CN" sz="3600" b="1" dirty="0">
                <a:latin typeface="Times New Roman" panose="02020603050405020304" pitchFamily="18" charset="0"/>
              </a:rPr>
              <a:t>RAM </a:t>
            </a:r>
            <a:r>
              <a:rPr lang="zh-CN" altLang="en-US" sz="3600" b="1" dirty="0">
                <a:latin typeface="Times New Roman" panose="02020603050405020304" pitchFamily="18" charset="0"/>
              </a:rPr>
              <a:t>刷新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08227" name="Text Box 3"/>
          <p:cNvSpPr txBox="1"/>
          <p:nvPr/>
        </p:nvSpPr>
        <p:spPr>
          <a:xfrm>
            <a:off x="2895600" y="715963"/>
            <a:ext cx="5410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刷新与行地址有关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08228" name="Group 4"/>
          <p:cNvGrpSpPr/>
          <p:nvPr/>
        </p:nvGrpSpPr>
        <p:grpSpPr>
          <a:xfrm>
            <a:off x="2438400" y="1309688"/>
            <a:ext cx="6172200" cy="460375"/>
            <a:chOff x="624" y="825"/>
            <a:chExt cx="3888" cy="290"/>
          </a:xfrm>
        </p:grpSpPr>
        <p:sp>
          <p:nvSpPr>
            <p:cNvPr id="308350" name="Text Box 5"/>
            <p:cNvSpPr txBox="1"/>
            <p:nvPr/>
          </p:nvSpPr>
          <p:spPr>
            <a:xfrm>
              <a:off x="624" y="825"/>
              <a:ext cx="177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楷体_GB2312" pitchFamily="49" charset="-122"/>
                </a:rPr>
                <a:t>①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集中刷新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351" name="Text Box 6"/>
            <p:cNvSpPr txBox="1"/>
            <p:nvPr/>
          </p:nvSpPr>
          <p:spPr>
            <a:xfrm>
              <a:off x="1728" y="825"/>
              <a:ext cx="278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楷体_GB2312" pitchFamily="49" charset="-122"/>
                </a:rPr>
                <a:t>（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存取周期为</a:t>
              </a:r>
              <a:r>
                <a:rPr lang="en-US" altLang="zh-CN" sz="2400" b="1" dirty="0">
                  <a:latin typeface="Times New Roman" panose="02020603050405020304" pitchFamily="18" charset="0"/>
                  <a:ea typeface="楷体_GB2312" pitchFamily="49" charset="-122"/>
                </a:rPr>
                <a:t>0.5 </a:t>
              </a:r>
              <a:r>
                <a:rPr lang="en-US" altLang="zh-CN" sz="24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 sz="2400" b="1" dirty="0">
                  <a:latin typeface="宋体" panose="02010600030101010101" pitchFamily="2" charset="-122"/>
                </a:rPr>
                <a:t>s</a:t>
              </a:r>
              <a:r>
                <a:rPr lang="en-US" altLang="zh-CN" sz="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8229" name="Text Box 7"/>
          <p:cNvSpPr txBox="1"/>
          <p:nvPr/>
        </p:nvSpPr>
        <p:spPr>
          <a:xfrm>
            <a:off x="2438400" y="6172200"/>
            <a:ext cx="7696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死时间率”</a:t>
            </a:r>
            <a:r>
              <a:rPr lang="zh-CN" altLang="en-US" sz="2800" b="1" dirty="0">
                <a:latin typeface="Times New Roman" panose="02020603050405020304" pitchFamily="18" charset="0"/>
              </a:rPr>
              <a:t> 为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128/4 000 ×100% = 3.2%</a:t>
            </a:r>
            <a:endParaRPr lang="en-US" altLang="zh-CN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8230" name="Text Box 8"/>
          <p:cNvSpPr txBox="1"/>
          <p:nvPr/>
        </p:nvSpPr>
        <p:spPr>
          <a:xfrm>
            <a:off x="3157538" y="5653088"/>
            <a:ext cx="7239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死区”</a:t>
            </a:r>
            <a:r>
              <a:rPr lang="zh-CN" altLang="en-US" sz="2800" b="1" dirty="0">
                <a:latin typeface="Times New Roman" panose="02020603050405020304" pitchFamily="18" charset="0"/>
              </a:rPr>
              <a:t> 为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0.5 </a:t>
            </a: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sz="2800" b="1" dirty="0">
                <a:latin typeface="宋体" panose="02010600030101010101" pitchFamily="2" charset="-122"/>
              </a:rPr>
              <a:t>s</a:t>
            </a:r>
            <a:r>
              <a:rPr lang="en-US" altLang="zh-CN" sz="800" b="1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×128 = 64 </a:t>
            </a: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sz="2800" b="1" dirty="0">
                <a:latin typeface="宋体" panose="02010600030101010101" pitchFamily="2" charset="-122"/>
              </a:rPr>
              <a:t>s</a:t>
            </a:r>
            <a:r>
              <a:rPr lang="en-US" altLang="zh-CN" sz="800" b="1" dirty="0">
                <a:latin typeface="宋体" panose="02010600030101010101" pitchFamily="2" charset="-122"/>
              </a:rPr>
              <a:t> </a:t>
            </a:r>
            <a:endParaRPr lang="en-US" altLang="zh-CN" sz="800" b="1" dirty="0">
              <a:latin typeface="宋体" panose="02010600030101010101" pitchFamily="2" charset="-122"/>
            </a:endParaRPr>
          </a:p>
        </p:txBody>
      </p:sp>
      <p:grpSp>
        <p:nvGrpSpPr>
          <p:cNvPr id="308231" name="Group 9"/>
          <p:cNvGrpSpPr/>
          <p:nvPr/>
        </p:nvGrpSpPr>
        <p:grpSpPr>
          <a:xfrm>
            <a:off x="2139950" y="1981200"/>
            <a:ext cx="7927975" cy="3619500"/>
            <a:chOff x="388" y="1248"/>
            <a:chExt cx="4994" cy="2280"/>
          </a:xfrm>
        </p:grpSpPr>
        <p:sp>
          <p:nvSpPr>
            <p:cNvPr id="308236" name="Line 10"/>
            <p:cNvSpPr/>
            <p:nvPr/>
          </p:nvSpPr>
          <p:spPr>
            <a:xfrm flipV="1">
              <a:off x="3216" y="1271"/>
              <a:ext cx="1" cy="181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237" name="Rectangle 11"/>
            <p:cNvSpPr/>
            <p:nvPr/>
          </p:nvSpPr>
          <p:spPr>
            <a:xfrm>
              <a:off x="581" y="1662"/>
              <a:ext cx="532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38" name="Rectangle 12"/>
            <p:cNvSpPr/>
            <p:nvPr/>
          </p:nvSpPr>
          <p:spPr>
            <a:xfrm>
              <a:off x="388" y="1721"/>
              <a:ext cx="608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900" b="1" dirty="0">
                  <a:latin typeface="宋体" panose="02010600030101010101" pitchFamily="2" charset="-122"/>
                </a:rPr>
                <a:t>周期序号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39" name="Rectangle 13"/>
            <p:cNvSpPr/>
            <p:nvPr/>
          </p:nvSpPr>
          <p:spPr>
            <a:xfrm>
              <a:off x="527" y="2647"/>
              <a:ext cx="546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40" name="Rectangle 14"/>
            <p:cNvSpPr/>
            <p:nvPr/>
          </p:nvSpPr>
          <p:spPr>
            <a:xfrm>
              <a:off x="388" y="2703"/>
              <a:ext cx="608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900" b="1" dirty="0">
                  <a:latin typeface="宋体" panose="02010600030101010101" pitchFamily="2" charset="-122"/>
                </a:rPr>
                <a:t>地址序号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41" name="Line 15"/>
            <p:cNvSpPr/>
            <p:nvPr/>
          </p:nvSpPr>
          <p:spPr>
            <a:xfrm>
              <a:off x="1164" y="1248"/>
              <a:ext cx="1" cy="227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242" name="Freeform 16"/>
            <p:cNvSpPr/>
            <p:nvPr/>
          </p:nvSpPr>
          <p:spPr>
            <a:xfrm>
              <a:off x="1170" y="1821"/>
              <a:ext cx="1188" cy="1"/>
            </a:xfrm>
            <a:custGeom>
              <a:avLst/>
              <a:gdLst>
                <a:gd name="txL" fmla="*/ 0 w 1188"/>
                <a:gd name="txT" fmla="*/ 0 h 1"/>
                <a:gd name="txR" fmla="*/ 1188 w 1188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1188" y="0"/>
                </a:cxn>
              </a:cxnLst>
              <a:rect l="txL" t="txT" r="txR" b="txB"/>
              <a:pathLst>
                <a:path w="1188" h="1">
                  <a:moveTo>
                    <a:pt x="0" y="1"/>
                  </a:moveTo>
                  <a:lnTo>
                    <a:pt x="1188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43" name="Rectangle 17"/>
            <p:cNvSpPr/>
            <p:nvPr/>
          </p:nvSpPr>
          <p:spPr>
            <a:xfrm>
              <a:off x="4087" y="2096"/>
              <a:ext cx="226" cy="3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44" name="Rectangle 18"/>
            <p:cNvSpPr/>
            <p:nvPr/>
          </p:nvSpPr>
          <p:spPr>
            <a:xfrm>
              <a:off x="4167" y="2148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900" b="1" i="1" dirty="0">
                  <a:latin typeface="Times New Roman" panose="02020603050405020304" pitchFamily="18" charset="0"/>
                </a:rPr>
                <a:t>t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45" name="Rectangle 19"/>
            <p:cNvSpPr/>
            <p:nvPr/>
          </p:nvSpPr>
          <p:spPr>
            <a:xfrm>
              <a:off x="4213" y="2238"/>
              <a:ext cx="43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200" b="1" dirty="0">
                  <a:latin typeface="Times New Roman" panose="02020603050405020304" pitchFamily="18" charset="0"/>
                </a:rPr>
                <a:t>c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46" name="Rectangle 20"/>
            <p:cNvSpPr/>
            <p:nvPr/>
          </p:nvSpPr>
          <p:spPr>
            <a:xfrm>
              <a:off x="1301" y="1629"/>
              <a:ext cx="146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47" name="Rectangle 21"/>
            <p:cNvSpPr/>
            <p:nvPr/>
          </p:nvSpPr>
          <p:spPr>
            <a:xfrm>
              <a:off x="1219" y="1649"/>
              <a:ext cx="6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48" name="Rectangle 22"/>
            <p:cNvSpPr/>
            <p:nvPr/>
          </p:nvSpPr>
          <p:spPr>
            <a:xfrm>
              <a:off x="1473" y="1619"/>
              <a:ext cx="148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49" name="Rectangle 23"/>
            <p:cNvSpPr/>
            <p:nvPr/>
          </p:nvSpPr>
          <p:spPr>
            <a:xfrm>
              <a:off x="1390" y="1649"/>
              <a:ext cx="6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50" name="Rectangle 24"/>
            <p:cNvSpPr/>
            <p:nvPr/>
          </p:nvSpPr>
          <p:spPr>
            <a:xfrm>
              <a:off x="1659" y="1629"/>
              <a:ext cx="146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51" name="Rectangle 25"/>
            <p:cNvSpPr/>
            <p:nvPr/>
          </p:nvSpPr>
          <p:spPr>
            <a:xfrm>
              <a:off x="1577" y="1649"/>
              <a:ext cx="6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52" name="Rectangle 26"/>
            <p:cNvSpPr/>
            <p:nvPr/>
          </p:nvSpPr>
          <p:spPr>
            <a:xfrm>
              <a:off x="2429" y="1593"/>
              <a:ext cx="213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53" name="Rectangle 27"/>
            <p:cNvSpPr/>
            <p:nvPr/>
          </p:nvSpPr>
          <p:spPr>
            <a:xfrm>
              <a:off x="2951" y="1644"/>
              <a:ext cx="256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3871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54" name="Rectangle 28"/>
            <p:cNvSpPr/>
            <p:nvPr/>
          </p:nvSpPr>
          <p:spPr>
            <a:xfrm>
              <a:off x="3216" y="1593"/>
              <a:ext cx="227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55" name="Rectangle 29"/>
            <p:cNvSpPr/>
            <p:nvPr/>
          </p:nvSpPr>
          <p:spPr>
            <a:xfrm>
              <a:off x="3259" y="1644"/>
              <a:ext cx="256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3872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56" name="Rectangle 30"/>
            <p:cNvSpPr/>
            <p:nvPr/>
          </p:nvSpPr>
          <p:spPr>
            <a:xfrm>
              <a:off x="4308" y="1556"/>
              <a:ext cx="148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57" name="Rectangle 31"/>
            <p:cNvSpPr/>
            <p:nvPr/>
          </p:nvSpPr>
          <p:spPr>
            <a:xfrm>
              <a:off x="4356" y="1651"/>
              <a:ext cx="6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58" name="Rectangle 32"/>
            <p:cNvSpPr/>
            <p:nvPr/>
          </p:nvSpPr>
          <p:spPr>
            <a:xfrm>
              <a:off x="4525" y="1556"/>
              <a:ext cx="146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59" name="Rectangle 33"/>
            <p:cNvSpPr/>
            <p:nvPr/>
          </p:nvSpPr>
          <p:spPr>
            <a:xfrm>
              <a:off x="4572" y="1651"/>
              <a:ext cx="6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60" name="Freeform 34"/>
            <p:cNvSpPr/>
            <p:nvPr/>
          </p:nvSpPr>
          <p:spPr>
            <a:xfrm>
              <a:off x="2796" y="1991"/>
              <a:ext cx="1" cy="703"/>
            </a:xfrm>
            <a:custGeom>
              <a:avLst/>
              <a:gdLst>
                <a:gd name="txL" fmla="*/ 0 w 1"/>
                <a:gd name="txT" fmla="*/ 0 h 703"/>
                <a:gd name="txR" fmla="*/ 1 w 1"/>
                <a:gd name="txB" fmla="*/ 703 h 703"/>
              </a:gdLst>
              <a:ahLst/>
              <a:cxnLst>
                <a:cxn ang="0">
                  <a:pos x="0" y="0"/>
                </a:cxn>
                <a:cxn ang="0">
                  <a:pos x="0" y="703"/>
                </a:cxn>
              </a:cxnLst>
              <a:rect l="txL" t="txT" r="txR" b="txB"/>
              <a:pathLst>
                <a:path w="1" h="703">
                  <a:moveTo>
                    <a:pt x="0" y="0"/>
                  </a:moveTo>
                  <a:lnTo>
                    <a:pt x="0" y="703"/>
                  </a:lnTo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61" name="Rectangle 35"/>
            <p:cNvSpPr/>
            <p:nvPr/>
          </p:nvSpPr>
          <p:spPr>
            <a:xfrm>
              <a:off x="2855" y="2148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900" b="1" i="1" dirty="0">
                  <a:latin typeface="Times New Roman" panose="02020603050405020304" pitchFamily="18" charset="0"/>
                </a:rPr>
                <a:t>t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62" name="Rectangle 36"/>
            <p:cNvSpPr/>
            <p:nvPr/>
          </p:nvSpPr>
          <p:spPr>
            <a:xfrm>
              <a:off x="2914" y="2238"/>
              <a:ext cx="43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200" b="1" dirty="0">
                  <a:latin typeface="Times New Roman" panose="02020603050405020304" pitchFamily="18" charset="0"/>
                </a:rPr>
                <a:t>c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63" name="Rectangle 37"/>
            <p:cNvSpPr/>
            <p:nvPr/>
          </p:nvSpPr>
          <p:spPr>
            <a:xfrm>
              <a:off x="3070" y="2148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900" b="1" i="1" dirty="0">
                  <a:latin typeface="Times New Roman" panose="02020603050405020304" pitchFamily="18" charset="0"/>
                </a:rPr>
                <a:t>t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64" name="Rectangle 38"/>
            <p:cNvSpPr/>
            <p:nvPr/>
          </p:nvSpPr>
          <p:spPr>
            <a:xfrm>
              <a:off x="3129" y="2238"/>
              <a:ext cx="43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200" b="1" dirty="0">
                  <a:latin typeface="Times New Roman" panose="02020603050405020304" pitchFamily="18" charset="0"/>
                </a:rPr>
                <a:t>c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65" name="Rectangle 39"/>
            <p:cNvSpPr/>
            <p:nvPr/>
          </p:nvSpPr>
          <p:spPr>
            <a:xfrm>
              <a:off x="3213" y="2096"/>
              <a:ext cx="227" cy="3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66" name="Rectangle 40"/>
            <p:cNvSpPr/>
            <p:nvPr/>
          </p:nvSpPr>
          <p:spPr>
            <a:xfrm>
              <a:off x="3282" y="2148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900" b="1" i="1" dirty="0">
                  <a:latin typeface="Times New Roman" panose="02020603050405020304" pitchFamily="18" charset="0"/>
                </a:rPr>
                <a:t>t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67" name="Rectangle 41"/>
            <p:cNvSpPr/>
            <p:nvPr/>
          </p:nvSpPr>
          <p:spPr>
            <a:xfrm>
              <a:off x="3335" y="2238"/>
              <a:ext cx="43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200" b="1" dirty="0">
                  <a:latin typeface="Times New Roman" panose="02020603050405020304" pitchFamily="18" charset="0"/>
                </a:rPr>
                <a:t>c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68" name="Rectangle 42"/>
            <p:cNvSpPr/>
            <p:nvPr/>
          </p:nvSpPr>
          <p:spPr>
            <a:xfrm>
              <a:off x="3418" y="2096"/>
              <a:ext cx="226" cy="3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69" name="Rectangle 43"/>
            <p:cNvSpPr/>
            <p:nvPr/>
          </p:nvSpPr>
          <p:spPr>
            <a:xfrm>
              <a:off x="3484" y="2148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900" b="1" i="1" dirty="0">
                  <a:latin typeface="Times New Roman" panose="02020603050405020304" pitchFamily="18" charset="0"/>
                </a:rPr>
                <a:t>t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70" name="Rectangle 44"/>
            <p:cNvSpPr/>
            <p:nvPr/>
          </p:nvSpPr>
          <p:spPr>
            <a:xfrm>
              <a:off x="3544" y="2238"/>
              <a:ext cx="43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200" b="1" dirty="0">
                  <a:latin typeface="Times New Roman" panose="02020603050405020304" pitchFamily="18" charset="0"/>
                </a:rPr>
                <a:t>c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71" name="Line 45"/>
            <p:cNvSpPr/>
            <p:nvPr/>
          </p:nvSpPr>
          <p:spPr>
            <a:xfrm flipH="1">
              <a:off x="4098" y="1988"/>
              <a:ext cx="0" cy="7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272" name="Line 46"/>
            <p:cNvSpPr/>
            <p:nvPr/>
          </p:nvSpPr>
          <p:spPr>
            <a:xfrm>
              <a:off x="2716" y="1822"/>
              <a:ext cx="999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273" name="Freeform 47"/>
            <p:cNvSpPr/>
            <p:nvPr/>
          </p:nvSpPr>
          <p:spPr>
            <a:xfrm>
              <a:off x="3966" y="1821"/>
              <a:ext cx="816" cy="1"/>
            </a:xfrm>
            <a:custGeom>
              <a:avLst/>
              <a:gdLst>
                <a:gd name="txL" fmla="*/ 0 w 816"/>
                <a:gd name="txT" fmla="*/ 0 h 1"/>
                <a:gd name="txR" fmla="*/ 816 w 816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816" y="0"/>
                </a:cxn>
              </a:cxnLst>
              <a:rect l="txL" t="txT" r="txR" b="txB"/>
              <a:pathLst>
                <a:path w="816" h="1">
                  <a:moveTo>
                    <a:pt x="0" y="1"/>
                  </a:moveTo>
                  <a:lnTo>
                    <a:pt x="816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74" name="Rectangle 48"/>
            <p:cNvSpPr/>
            <p:nvPr/>
          </p:nvSpPr>
          <p:spPr>
            <a:xfrm>
              <a:off x="4097" y="1556"/>
              <a:ext cx="227" cy="29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75" name="Rectangle 49"/>
            <p:cNvSpPr/>
            <p:nvPr/>
          </p:nvSpPr>
          <p:spPr>
            <a:xfrm>
              <a:off x="4009" y="1649"/>
              <a:ext cx="256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3999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76" name="Rectangle 50"/>
            <p:cNvSpPr/>
            <p:nvPr/>
          </p:nvSpPr>
          <p:spPr>
            <a:xfrm>
              <a:off x="1212" y="2467"/>
              <a:ext cx="188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77" name="Rectangle 51"/>
            <p:cNvSpPr/>
            <p:nvPr/>
          </p:nvSpPr>
          <p:spPr>
            <a:xfrm>
              <a:off x="2429" y="2454"/>
              <a:ext cx="186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78" name="Rectangle 52"/>
            <p:cNvSpPr/>
            <p:nvPr/>
          </p:nvSpPr>
          <p:spPr>
            <a:xfrm>
              <a:off x="2867" y="2516"/>
              <a:ext cx="92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V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79" name="Rectangle 53"/>
            <p:cNvSpPr/>
            <p:nvPr/>
          </p:nvSpPr>
          <p:spPr>
            <a:xfrm>
              <a:off x="2945" y="2454"/>
              <a:ext cx="188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80" name="Rectangle 54"/>
            <p:cNvSpPr/>
            <p:nvPr/>
          </p:nvSpPr>
          <p:spPr>
            <a:xfrm>
              <a:off x="3051" y="2516"/>
              <a:ext cx="128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W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81" name="Rectangle 55"/>
            <p:cNvSpPr/>
            <p:nvPr/>
          </p:nvSpPr>
          <p:spPr>
            <a:xfrm>
              <a:off x="3245" y="2454"/>
              <a:ext cx="186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82" name="Rectangle 56"/>
            <p:cNvSpPr/>
            <p:nvPr/>
          </p:nvSpPr>
          <p:spPr>
            <a:xfrm>
              <a:off x="3292" y="2516"/>
              <a:ext cx="6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83" name="Rectangle 57"/>
            <p:cNvSpPr/>
            <p:nvPr/>
          </p:nvSpPr>
          <p:spPr>
            <a:xfrm>
              <a:off x="3427" y="2454"/>
              <a:ext cx="188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84" name="Rectangle 58"/>
            <p:cNvSpPr/>
            <p:nvPr/>
          </p:nvSpPr>
          <p:spPr>
            <a:xfrm>
              <a:off x="3494" y="2516"/>
              <a:ext cx="6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85" name="Rectangle 59"/>
            <p:cNvSpPr/>
            <p:nvPr/>
          </p:nvSpPr>
          <p:spPr>
            <a:xfrm>
              <a:off x="4116" y="2454"/>
              <a:ext cx="188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86" name="Rectangle 60"/>
            <p:cNvSpPr/>
            <p:nvPr/>
          </p:nvSpPr>
          <p:spPr>
            <a:xfrm>
              <a:off x="4105" y="2516"/>
              <a:ext cx="192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127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87" name="Rectangle 61"/>
            <p:cNvSpPr/>
            <p:nvPr/>
          </p:nvSpPr>
          <p:spPr>
            <a:xfrm>
              <a:off x="1791" y="1265"/>
              <a:ext cx="71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88" name="Rectangle 62"/>
            <p:cNvSpPr/>
            <p:nvPr/>
          </p:nvSpPr>
          <p:spPr>
            <a:xfrm>
              <a:off x="1781" y="1299"/>
              <a:ext cx="15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900" b="1" dirty="0">
                  <a:latin typeface="宋体" panose="02010600030101010101" pitchFamily="2" charset="-122"/>
                </a:rPr>
                <a:t>读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89" name="Rectangle 63"/>
            <p:cNvSpPr/>
            <p:nvPr/>
          </p:nvSpPr>
          <p:spPr>
            <a:xfrm>
              <a:off x="1940" y="1299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900" b="1" dirty="0">
                  <a:latin typeface="Times New Roman" panose="02020603050405020304" pitchFamily="18" charset="0"/>
                </a:rPr>
                <a:t>/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90" name="Rectangle 64"/>
            <p:cNvSpPr/>
            <p:nvPr/>
          </p:nvSpPr>
          <p:spPr>
            <a:xfrm>
              <a:off x="1984" y="1299"/>
              <a:ext cx="608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900" b="1" dirty="0">
                  <a:latin typeface="宋体" panose="02010600030101010101" pitchFamily="2" charset="-122"/>
                </a:rPr>
                <a:t>写或维持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91" name="Rectangle 65"/>
            <p:cNvSpPr/>
            <p:nvPr/>
          </p:nvSpPr>
          <p:spPr>
            <a:xfrm>
              <a:off x="3357" y="1288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92" name="Rectangle 66"/>
            <p:cNvSpPr/>
            <p:nvPr/>
          </p:nvSpPr>
          <p:spPr>
            <a:xfrm>
              <a:off x="3606" y="1299"/>
              <a:ext cx="30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900" b="1" dirty="0">
                  <a:latin typeface="宋体" panose="02010600030101010101" pitchFamily="2" charset="-122"/>
                </a:rPr>
                <a:t>刷新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93" name="Rectangle 67"/>
            <p:cNvSpPr/>
            <p:nvPr/>
          </p:nvSpPr>
          <p:spPr>
            <a:xfrm>
              <a:off x="4528" y="1266"/>
              <a:ext cx="709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94" name="Rectangle 68"/>
            <p:cNvSpPr/>
            <p:nvPr/>
          </p:nvSpPr>
          <p:spPr>
            <a:xfrm>
              <a:off x="4581" y="1299"/>
              <a:ext cx="15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900" b="1" dirty="0">
                  <a:latin typeface="宋体" panose="02010600030101010101" pitchFamily="2" charset="-122"/>
                </a:rPr>
                <a:t>读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95" name="Rectangle 69"/>
            <p:cNvSpPr/>
            <p:nvPr/>
          </p:nvSpPr>
          <p:spPr>
            <a:xfrm>
              <a:off x="4732" y="1299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900" b="1" dirty="0">
                  <a:latin typeface="Times New Roman" panose="02020603050405020304" pitchFamily="18" charset="0"/>
                </a:rPr>
                <a:t>/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96" name="Rectangle 70"/>
            <p:cNvSpPr/>
            <p:nvPr/>
          </p:nvSpPr>
          <p:spPr>
            <a:xfrm>
              <a:off x="4774" y="1299"/>
              <a:ext cx="608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900" b="1" dirty="0">
                  <a:latin typeface="宋体" panose="02010600030101010101" pitchFamily="2" charset="-122"/>
                </a:rPr>
                <a:t>写或维持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97" name="Rectangle 71"/>
            <p:cNvSpPr/>
            <p:nvPr/>
          </p:nvSpPr>
          <p:spPr>
            <a:xfrm>
              <a:off x="1341" y="3003"/>
              <a:ext cx="1196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298" name="Rectangle 72"/>
            <p:cNvSpPr/>
            <p:nvPr/>
          </p:nvSpPr>
          <p:spPr>
            <a:xfrm>
              <a:off x="1505" y="2987"/>
              <a:ext cx="256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3872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299" name="Rectangle 73"/>
            <p:cNvSpPr/>
            <p:nvPr/>
          </p:nvSpPr>
          <p:spPr>
            <a:xfrm>
              <a:off x="1795" y="2987"/>
              <a:ext cx="38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600" b="1" dirty="0">
                  <a:latin typeface="宋体" panose="02010600030101010101" pitchFamily="2" charset="-122"/>
                </a:rPr>
                <a:t>个周期</a:t>
              </a:r>
              <a:endParaRPr lang="zh-CN" altLang="en-US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300" name="Rectangle 74"/>
            <p:cNvSpPr/>
            <p:nvPr/>
          </p:nvSpPr>
          <p:spPr>
            <a:xfrm>
              <a:off x="2154" y="2987"/>
              <a:ext cx="715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6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1936 </a:t>
              </a:r>
              <a:r>
                <a:rPr lang="en-US" altLang="zh-CN" sz="16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s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）</a:t>
              </a:r>
              <a:r>
                <a:rPr lang="zh-CN" altLang="en-US" sz="800" b="1" dirty="0">
                  <a:latin typeface="宋体" panose="02010600030101010101" pitchFamily="2" charset="-122"/>
                </a:rPr>
                <a:t> </a:t>
              </a:r>
              <a:endParaRPr lang="zh-CN" altLang="en-US" sz="800" b="1" dirty="0">
                <a:latin typeface="宋体" panose="02010600030101010101" pitchFamily="2" charset="-122"/>
              </a:endParaRPr>
            </a:p>
          </p:txBody>
        </p:sp>
        <p:sp>
          <p:nvSpPr>
            <p:cNvPr id="308301" name="Rectangle 75"/>
            <p:cNvSpPr/>
            <p:nvPr/>
          </p:nvSpPr>
          <p:spPr>
            <a:xfrm>
              <a:off x="3250" y="2987"/>
              <a:ext cx="192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128</a:t>
              </a:r>
              <a:endParaRPr lang="en-US" altLang="zh-CN" sz="1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302" name="Rectangle 76"/>
            <p:cNvSpPr/>
            <p:nvPr/>
          </p:nvSpPr>
          <p:spPr>
            <a:xfrm>
              <a:off x="3467" y="2987"/>
              <a:ext cx="429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r>
                <a:rPr lang="zh-CN" altLang="en-US" sz="16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个周期</a:t>
              </a:r>
              <a:endParaRPr lang="zh-CN" altLang="en-US" sz="16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303" name="Rectangle 77"/>
            <p:cNvSpPr/>
            <p:nvPr/>
          </p:nvSpPr>
          <p:spPr>
            <a:xfrm>
              <a:off x="3815" y="2987"/>
              <a:ext cx="587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600" b="1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64 </a:t>
              </a:r>
              <a:r>
                <a:rPr lang="en-US" altLang="zh-CN" sz="1600" b="1" dirty="0">
                  <a:latin typeface="宋体" panose="02010600030101010101" pitchFamily="2" charset="-122"/>
                  <a:sym typeface="Symbol" panose="05050102010706020507" pitchFamily="18" charset="2"/>
                </a:rPr>
                <a:t>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s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）</a:t>
              </a:r>
              <a:r>
                <a:rPr lang="zh-CN" altLang="en-US" sz="800" b="1" dirty="0">
                  <a:latin typeface="宋体" panose="02010600030101010101" pitchFamily="2" charset="-122"/>
                </a:rPr>
                <a:t> </a:t>
              </a:r>
              <a:endParaRPr lang="zh-CN" altLang="en-US" sz="800" b="1" dirty="0">
                <a:latin typeface="宋体" panose="02010600030101010101" pitchFamily="2" charset="-122"/>
              </a:endParaRPr>
            </a:p>
          </p:txBody>
        </p:sp>
        <p:sp>
          <p:nvSpPr>
            <p:cNvPr id="308304" name="Rectangle 78"/>
            <p:cNvSpPr/>
            <p:nvPr/>
          </p:nvSpPr>
          <p:spPr>
            <a:xfrm>
              <a:off x="2403" y="3237"/>
              <a:ext cx="1247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305" name="Rectangle 79"/>
            <p:cNvSpPr/>
            <p:nvPr/>
          </p:nvSpPr>
          <p:spPr>
            <a:xfrm>
              <a:off x="2016" y="3290"/>
              <a:ext cx="91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刷新时间间隔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306" name="Rectangle 80"/>
            <p:cNvSpPr/>
            <p:nvPr/>
          </p:nvSpPr>
          <p:spPr>
            <a:xfrm>
              <a:off x="2880" y="3290"/>
              <a:ext cx="15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（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307" name="Rectangle 81"/>
            <p:cNvSpPr/>
            <p:nvPr/>
          </p:nvSpPr>
          <p:spPr>
            <a:xfrm>
              <a:off x="3042" y="3293"/>
              <a:ext cx="455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r>
                <a:rPr lang="en-US" altLang="zh-CN" sz="19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 m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308" name="Rectangle 82"/>
            <p:cNvSpPr/>
            <p:nvPr/>
          </p:nvSpPr>
          <p:spPr>
            <a:xfrm>
              <a:off x="3303" y="3293"/>
              <a:ext cx="203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r>
                <a:rPr lang="en-US" altLang="zh-CN" sz="19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309" name="Rectangle 83"/>
            <p:cNvSpPr/>
            <p:nvPr/>
          </p:nvSpPr>
          <p:spPr>
            <a:xfrm>
              <a:off x="3351" y="3290"/>
              <a:ext cx="15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9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）</a:t>
              </a:r>
              <a:endPara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8310" name="Rectangle 84"/>
            <p:cNvSpPr/>
            <p:nvPr/>
          </p:nvSpPr>
          <p:spPr>
            <a:xfrm>
              <a:off x="4697" y="2915"/>
              <a:ext cx="399" cy="23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311" name="Rectangle 85"/>
            <p:cNvSpPr/>
            <p:nvPr/>
          </p:nvSpPr>
          <p:spPr>
            <a:xfrm>
              <a:off x="4572" y="3076"/>
              <a:ext cx="576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刷新序号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312" name="Freeform 86"/>
            <p:cNvSpPr/>
            <p:nvPr/>
          </p:nvSpPr>
          <p:spPr>
            <a:xfrm>
              <a:off x="4332" y="2621"/>
              <a:ext cx="421" cy="421"/>
            </a:xfrm>
            <a:custGeom>
              <a:avLst/>
              <a:gdLst>
                <a:gd name="txL" fmla="*/ 0 w 421"/>
                <a:gd name="txT" fmla="*/ 0 h 421"/>
                <a:gd name="txR" fmla="*/ 421 w 421"/>
                <a:gd name="txB" fmla="*/ 421 h 421"/>
              </a:gdLst>
              <a:ahLst/>
              <a:cxnLst>
                <a:cxn ang="0">
                  <a:pos x="421" y="421"/>
                </a:cxn>
                <a:cxn ang="0">
                  <a:pos x="0" y="0"/>
                </a:cxn>
              </a:cxnLst>
              <a:rect l="txL" t="txT" r="txR" b="txB"/>
              <a:pathLst>
                <a:path w="421" h="421">
                  <a:moveTo>
                    <a:pt x="421" y="421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313" name="Freeform 87"/>
            <p:cNvSpPr/>
            <p:nvPr/>
          </p:nvSpPr>
          <p:spPr>
            <a:xfrm>
              <a:off x="1161" y="3402"/>
              <a:ext cx="750" cy="1"/>
            </a:xfrm>
            <a:custGeom>
              <a:avLst/>
              <a:gdLst>
                <a:gd name="txL" fmla="*/ 0 w 750"/>
                <a:gd name="txT" fmla="*/ 0 h 1"/>
                <a:gd name="txR" fmla="*/ 750 w 750"/>
                <a:gd name="txB" fmla="*/ 1 h 1"/>
              </a:gdLst>
              <a:ahLst/>
              <a:cxnLst>
                <a:cxn ang="0">
                  <a:pos x="750" y="0"/>
                </a:cxn>
                <a:cxn ang="0">
                  <a:pos x="0" y="0"/>
                </a:cxn>
              </a:cxnLst>
              <a:rect l="txL" t="txT" r="txR" b="txB"/>
              <a:pathLst>
                <a:path w="750" h="1">
                  <a:moveTo>
                    <a:pt x="750" y="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314" name="Line 88"/>
            <p:cNvSpPr/>
            <p:nvPr/>
          </p:nvSpPr>
          <p:spPr>
            <a:xfrm>
              <a:off x="3575" y="3391"/>
              <a:ext cx="757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8315" name="Line 89"/>
            <p:cNvSpPr/>
            <p:nvPr/>
          </p:nvSpPr>
          <p:spPr>
            <a:xfrm>
              <a:off x="1012" y="1819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8316" name="Line 90"/>
            <p:cNvSpPr/>
            <p:nvPr/>
          </p:nvSpPr>
          <p:spPr>
            <a:xfrm>
              <a:off x="1012" y="2800"/>
              <a:ext cx="14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8317" name="Line 91"/>
            <p:cNvSpPr/>
            <p:nvPr/>
          </p:nvSpPr>
          <p:spPr>
            <a:xfrm flipH="1">
              <a:off x="1156" y="1397"/>
              <a:ext cx="49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8318" name="Line 92"/>
            <p:cNvSpPr/>
            <p:nvPr/>
          </p:nvSpPr>
          <p:spPr>
            <a:xfrm>
              <a:off x="2712" y="1397"/>
              <a:ext cx="49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8319" name="Line 93"/>
            <p:cNvSpPr/>
            <p:nvPr/>
          </p:nvSpPr>
          <p:spPr>
            <a:xfrm flipH="1">
              <a:off x="3219" y="1395"/>
              <a:ext cx="31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8320" name="Line 94"/>
            <p:cNvSpPr/>
            <p:nvPr/>
          </p:nvSpPr>
          <p:spPr>
            <a:xfrm>
              <a:off x="3996" y="1407"/>
              <a:ext cx="33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8321" name="Line 95"/>
            <p:cNvSpPr/>
            <p:nvPr/>
          </p:nvSpPr>
          <p:spPr>
            <a:xfrm flipH="1">
              <a:off x="4339" y="1408"/>
              <a:ext cx="21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8322" name="Text Box 96"/>
            <p:cNvSpPr txBox="1"/>
            <p:nvPr/>
          </p:nvSpPr>
          <p:spPr>
            <a:xfrm>
              <a:off x="2422" y="1669"/>
              <a:ext cx="38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•••</a:t>
              </a:r>
              <a:endParaRPr lang="en-US" altLang="zh-CN" sz="24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8323" name="Text Box 97"/>
            <p:cNvSpPr txBox="1"/>
            <p:nvPr/>
          </p:nvSpPr>
          <p:spPr>
            <a:xfrm>
              <a:off x="3729" y="1665"/>
              <a:ext cx="29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•••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324" name="Freeform 98"/>
            <p:cNvSpPr/>
            <p:nvPr/>
          </p:nvSpPr>
          <p:spPr>
            <a:xfrm>
              <a:off x="1158" y="2958"/>
              <a:ext cx="2055" cy="2"/>
            </a:xfrm>
            <a:custGeom>
              <a:avLst/>
              <a:gdLst>
                <a:gd name="txL" fmla="*/ 0 w 2055"/>
                <a:gd name="txT" fmla="*/ 0 h 2"/>
                <a:gd name="txR" fmla="*/ 2055 w 2055"/>
                <a:gd name="txB" fmla="*/ 2 h 2"/>
              </a:gdLst>
              <a:ahLst/>
              <a:cxnLst>
                <a:cxn ang="0">
                  <a:pos x="0" y="0"/>
                </a:cxn>
                <a:cxn ang="0">
                  <a:pos x="2055" y="2"/>
                </a:cxn>
              </a:cxnLst>
              <a:rect l="txL" t="txT" r="txR" b="txB"/>
              <a:pathLst>
                <a:path w="2055" h="2">
                  <a:moveTo>
                    <a:pt x="0" y="0"/>
                  </a:moveTo>
                  <a:lnTo>
                    <a:pt x="2055" y="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325" name="Line 99"/>
            <p:cNvSpPr/>
            <p:nvPr/>
          </p:nvSpPr>
          <p:spPr>
            <a:xfrm>
              <a:off x="3211" y="2959"/>
              <a:ext cx="1111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08326" name="Line 100"/>
            <p:cNvSpPr/>
            <p:nvPr/>
          </p:nvSpPr>
          <p:spPr>
            <a:xfrm>
              <a:off x="3011" y="1991"/>
              <a:ext cx="1" cy="7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327" name="Line 101"/>
            <p:cNvSpPr/>
            <p:nvPr/>
          </p:nvSpPr>
          <p:spPr>
            <a:xfrm>
              <a:off x="3012" y="2434"/>
              <a:ext cx="204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08328" name="Line 102"/>
            <p:cNvSpPr/>
            <p:nvPr/>
          </p:nvSpPr>
          <p:spPr>
            <a:xfrm>
              <a:off x="3214" y="2435"/>
              <a:ext cx="20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08329" name="Line 103"/>
            <p:cNvSpPr/>
            <p:nvPr/>
          </p:nvSpPr>
          <p:spPr>
            <a:xfrm>
              <a:off x="3411" y="2435"/>
              <a:ext cx="20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08330" name="Line 104"/>
            <p:cNvSpPr/>
            <p:nvPr/>
          </p:nvSpPr>
          <p:spPr>
            <a:xfrm>
              <a:off x="4105" y="2435"/>
              <a:ext cx="20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08331" name="Line 105"/>
            <p:cNvSpPr/>
            <p:nvPr/>
          </p:nvSpPr>
          <p:spPr>
            <a:xfrm>
              <a:off x="3617" y="1991"/>
              <a:ext cx="1" cy="7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332" name="Rectangle 106"/>
            <p:cNvSpPr/>
            <p:nvPr/>
          </p:nvSpPr>
          <p:spPr>
            <a:xfrm>
              <a:off x="1222" y="2127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900" b="1" i="1" dirty="0">
                  <a:latin typeface="Times New Roman" panose="02020603050405020304" pitchFamily="18" charset="0"/>
                </a:rPr>
                <a:t>t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333" name="Rectangle 107"/>
            <p:cNvSpPr/>
            <p:nvPr/>
          </p:nvSpPr>
          <p:spPr>
            <a:xfrm>
              <a:off x="1281" y="2216"/>
              <a:ext cx="43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200" b="1" dirty="0">
                  <a:latin typeface="Times New Roman" panose="02020603050405020304" pitchFamily="18" charset="0"/>
                </a:rPr>
                <a:t>c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334" name="Rectangle 108"/>
            <p:cNvSpPr/>
            <p:nvPr/>
          </p:nvSpPr>
          <p:spPr>
            <a:xfrm>
              <a:off x="1234" y="2495"/>
              <a:ext cx="92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X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335" name="Freeform 109"/>
            <p:cNvSpPr/>
            <p:nvPr/>
          </p:nvSpPr>
          <p:spPr>
            <a:xfrm>
              <a:off x="1377" y="1991"/>
              <a:ext cx="1" cy="703"/>
            </a:xfrm>
            <a:custGeom>
              <a:avLst/>
              <a:gdLst>
                <a:gd name="txL" fmla="*/ 0 w 1"/>
                <a:gd name="txT" fmla="*/ 0 h 703"/>
                <a:gd name="txR" fmla="*/ 1 w 1"/>
                <a:gd name="txB" fmla="*/ 703 h 703"/>
              </a:gdLst>
              <a:ahLst/>
              <a:cxnLst>
                <a:cxn ang="0">
                  <a:pos x="1" y="0"/>
                </a:cxn>
                <a:cxn ang="0">
                  <a:pos x="0" y="703"/>
                </a:cxn>
              </a:cxnLst>
              <a:rect l="txL" t="txT" r="txR" b="txB"/>
              <a:pathLst>
                <a:path w="1" h="703">
                  <a:moveTo>
                    <a:pt x="1" y="0"/>
                  </a:moveTo>
                  <a:lnTo>
                    <a:pt x="0" y="703"/>
                  </a:lnTo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336" name="Rectangle 110"/>
            <p:cNvSpPr/>
            <p:nvPr/>
          </p:nvSpPr>
          <p:spPr>
            <a:xfrm>
              <a:off x="1425" y="2473"/>
              <a:ext cx="18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337" name="Rectangle 111"/>
            <p:cNvSpPr/>
            <p:nvPr/>
          </p:nvSpPr>
          <p:spPr>
            <a:xfrm>
              <a:off x="1435" y="2131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900" b="1" i="1" dirty="0">
                  <a:latin typeface="Times New Roman" panose="02020603050405020304" pitchFamily="18" charset="0"/>
                </a:rPr>
                <a:t>t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338" name="Rectangle 112"/>
            <p:cNvSpPr/>
            <p:nvPr/>
          </p:nvSpPr>
          <p:spPr>
            <a:xfrm>
              <a:off x="1494" y="2222"/>
              <a:ext cx="43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200" b="1" dirty="0">
                  <a:latin typeface="Times New Roman" panose="02020603050405020304" pitchFamily="18" charset="0"/>
                </a:rPr>
                <a:t>c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339" name="Rectangle 113"/>
            <p:cNvSpPr/>
            <p:nvPr/>
          </p:nvSpPr>
          <p:spPr>
            <a:xfrm>
              <a:off x="1447" y="2495"/>
              <a:ext cx="92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Y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8340" name="Line 114"/>
            <p:cNvSpPr/>
            <p:nvPr/>
          </p:nvSpPr>
          <p:spPr>
            <a:xfrm>
              <a:off x="1591" y="1991"/>
              <a:ext cx="1" cy="7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341" name="Line 115"/>
            <p:cNvSpPr/>
            <p:nvPr/>
          </p:nvSpPr>
          <p:spPr>
            <a:xfrm>
              <a:off x="1385" y="2435"/>
              <a:ext cx="204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08342" name="Line 116"/>
            <p:cNvSpPr/>
            <p:nvPr/>
          </p:nvSpPr>
          <p:spPr>
            <a:xfrm>
              <a:off x="3427" y="1991"/>
              <a:ext cx="1" cy="7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343" name="Text Box 117"/>
            <p:cNvSpPr txBox="1"/>
            <p:nvPr/>
          </p:nvSpPr>
          <p:spPr>
            <a:xfrm>
              <a:off x="1980" y="2311"/>
              <a:ext cx="3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8344" name="Text Box 118"/>
            <p:cNvSpPr txBox="1"/>
            <p:nvPr/>
          </p:nvSpPr>
          <p:spPr>
            <a:xfrm>
              <a:off x="3747" y="2321"/>
              <a:ext cx="38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endParaRPr lang="en-US" altLang="zh-CN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08345" name="Freeform 119"/>
            <p:cNvSpPr/>
            <p:nvPr/>
          </p:nvSpPr>
          <p:spPr>
            <a:xfrm>
              <a:off x="4332" y="1253"/>
              <a:ext cx="3" cy="2275"/>
            </a:xfrm>
            <a:custGeom>
              <a:avLst/>
              <a:gdLst>
                <a:gd name="txL" fmla="*/ 0 w 3"/>
                <a:gd name="txT" fmla="*/ 0 h 2275"/>
                <a:gd name="txR" fmla="*/ 3 w 3"/>
                <a:gd name="txB" fmla="*/ 2275 h 2275"/>
              </a:gdLst>
              <a:ahLst/>
              <a:cxnLst>
                <a:cxn ang="0">
                  <a:pos x="3" y="0"/>
                </a:cxn>
                <a:cxn ang="0">
                  <a:pos x="0" y="2275"/>
                </a:cxn>
              </a:cxnLst>
              <a:rect l="txL" t="txT" r="txR" b="txB"/>
              <a:pathLst>
                <a:path w="3" h="2275">
                  <a:moveTo>
                    <a:pt x="3" y="0"/>
                  </a:moveTo>
                  <a:lnTo>
                    <a:pt x="0" y="2275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346" name="Line 120"/>
            <p:cNvSpPr/>
            <p:nvPr/>
          </p:nvSpPr>
          <p:spPr>
            <a:xfrm flipH="1">
              <a:off x="4549" y="1988"/>
              <a:ext cx="0" cy="7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347" name="Line 121"/>
            <p:cNvSpPr/>
            <p:nvPr/>
          </p:nvSpPr>
          <p:spPr>
            <a:xfrm flipH="1">
              <a:off x="4756" y="1988"/>
              <a:ext cx="0" cy="70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8348" name="Freeform 122"/>
            <p:cNvSpPr/>
            <p:nvPr/>
          </p:nvSpPr>
          <p:spPr>
            <a:xfrm>
              <a:off x="1156" y="2435"/>
              <a:ext cx="203" cy="1"/>
            </a:xfrm>
            <a:custGeom>
              <a:avLst/>
              <a:gdLst>
                <a:gd name="txL" fmla="*/ 0 w 203"/>
                <a:gd name="txT" fmla="*/ 0 h 1"/>
                <a:gd name="txR" fmla="*/ 203 w 203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203" y="0"/>
                </a:cxn>
              </a:cxnLst>
              <a:rect l="txL" t="txT" r="txR" b="txB"/>
              <a:pathLst>
                <a:path w="203" h="1">
                  <a:moveTo>
                    <a:pt x="0" y="1"/>
                  </a:moveTo>
                  <a:lnTo>
                    <a:pt x="20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08349" name="Freeform 123"/>
            <p:cNvSpPr/>
            <p:nvPr/>
          </p:nvSpPr>
          <p:spPr>
            <a:xfrm>
              <a:off x="2787" y="2432"/>
              <a:ext cx="211" cy="4"/>
            </a:xfrm>
            <a:custGeom>
              <a:avLst/>
              <a:gdLst>
                <a:gd name="txL" fmla="*/ 0 w 211"/>
                <a:gd name="txT" fmla="*/ 0 h 4"/>
                <a:gd name="txR" fmla="*/ 211 w 211"/>
                <a:gd name="txB" fmla="*/ 4 h 4"/>
              </a:gdLst>
              <a:ahLst/>
              <a:cxnLst>
                <a:cxn ang="0">
                  <a:pos x="0" y="4"/>
                </a:cxn>
                <a:cxn ang="0">
                  <a:pos x="211" y="0"/>
                </a:cxn>
              </a:cxnLst>
              <a:rect l="txL" t="txT" r="txR" b="txB"/>
              <a:pathLst>
                <a:path w="211" h="4">
                  <a:moveTo>
                    <a:pt x="0" y="4"/>
                  </a:moveTo>
                  <a:lnTo>
                    <a:pt x="21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44860" name="Rectangle 12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233" name="Text Box 125"/>
          <p:cNvSpPr txBox="1"/>
          <p:nvPr/>
        </p:nvSpPr>
        <p:spPr>
          <a:xfrm>
            <a:off x="7032625" y="1309688"/>
            <a:ext cx="38211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以</a:t>
            </a:r>
            <a:r>
              <a:rPr lang="en-US" altLang="zh-CN" sz="2400" b="1" dirty="0">
                <a:latin typeface="Times New Roman" panose="02020603050405020304" pitchFamily="18" charset="0"/>
              </a:rPr>
              <a:t>128 × 128 </a:t>
            </a:r>
            <a:r>
              <a:rPr lang="zh-CN" altLang="en-US" sz="2400" b="1" dirty="0">
                <a:latin typeface="Times New Roman" panose="02020603050405020304" pitchFamily="18" charset="0"/>
              </a:rPr>
              <a:t>矩阵为例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08234" name="AutoShape 12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823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9250" name="Text Box 2"/>
          <p:cNvSpPr txBox="1"/>
          <p:nvPr/>
        </p:nvSpPr>
        <p:spPr>
          <a:xfrm>
            <a:off x="2895600" y="4830763"/>
            <a:ext cx="2895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宋体" panose="02010600030101010101" pitchFamily="2" charset="-122"/>
              </a:rPr>
              <a:t> =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sz="2800" b="1" baseline="-25000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+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R</a:t>
            </a:r>
            <a:endParaRPr lang="en-US" altLang="zh-CN" sz="28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309251" name="Group 3"/>
          <p:cNvGrpSpPr/>
          <p:nvPr/>
        </p:nvGrpSpPr>
        <p:grpSpPr>
          <a:xfrm>
            <a:off x="3357563" y="5470525"/>
            <a:ext cx="2057400" cy="1085850"/>
            <a:chOff x="1200" y="3350"/>
            <a:chExt cx="1296" cy="684"/>
          </a:xfrm>
        </p:grpSpPr>
        <p:sp>
          <p:nvSpPr>
            <p:cNvPr id="309305" name="Line 4"/>
            <p:cNvSpPr/>
            <p:nvPr/>
          </p:nvSpPr>
          <p:spPr>
            <a:xfrm>
              <a:off x="1536" y="3350"/>
              <a:ext cx="0" cy="336"/>
            </a:xfrm>
            <a:prstGeom prst="line">
              <a:avLst/>
            </a:prstGeom>
            <a:ln w="635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9306" name="Line 5"/>
            <p:cNvSpPr/>
            <p:nvPr/>
          </p:nvSpPr>
          <p:spPr>
            <a:xfrm>
              <a:off x="2064" y="3350"/>
              <a:ext cx="0" cy="336"/>
            </a:xfrm>
            <a:prstGeom prst="line">
              <a:avLst/>
            </a:prstGeom>
            <a:ln w="635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09307" name="Text Box 6"/>
            <p:cNvSpPr txBox="1"/>
            <p:nvPr/>
          </p:nvSpPr>
          <p:spPr>
            <a:xfrm>
              <a:off x="1200" y="3705"/>
              <a:ext cx="72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读写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09308" name="Text Box 7"/>
            <p:cNvSpPr txBox="1"/>
            <p:nvPr/>
          </p:nvSpPr>
          <p:spPr>
            <a:xfrm>
              <a:off x="1776" y="3705"/>
              <a:ext cx="72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刷新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9252" name="Text Box 8"/>
          <p:cNvSpPr txBox="1"/>
          <p:nvPr/>
        </p:nvSpPr>
        <p:spPr>
          <a:xfrm>
            <a:off x="5715000" y="4951413"/>
            <a:ext cx="2895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无 “死区”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9253" name="Text Box 9"/>
          <p:cNvSpPr txBox="1"/>
          <p:nvPr/>
        </p:nvSpPr>
        <p:spPr>
          <a:xfrm>
            <a:off x="1752600" y="242888"/>
            <a:ext cx="6705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仿宋_GB2312" pitchFamily="49" charset="-122"/>
              </a:rPr>
              <a:t>②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分散刷新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zh-CN" altLang="en-US" sz="3200" b="1" dirty="0">
                <a:latin typeface="Times New Roman" panose="02020603050405020304" pitchFamily="18" charset="0"/>
              </a:rPr>
              <a:t>存取周期为</a:t>
            </a: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8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CN" sz="3200" b="1" dirty="0">
                <a:latin typeface="Times New Roman" panose="02020603050405020304" pitchFamily="18" charset="0"/>
              </a:rPr>
              <a:t>s</a:t>
            </a:r>
            <a:r>
              <a:rPr lang="en-US" altLang="zh-CN" sz="800" b="1" dirty="0">
                <a:latin typeface="宋体" panose="02010600030101010101" pitchFamily="2" charset="-12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09254" name="Text Box 10"/>
          <p:cNvSpPr txBox="1"/>
          <p:nvPr/>
        </p:nvSpPr>
        <p:spPr>
          <a:xfrm>
            <a:off x="5715000" y="6034088"/>
            <a:ext cx="4953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zh-CN" altLang="en-US" sz="2800" b="1" dirty="0">
                <a:latin typeface="Times New Roman" panose="02020603050405020304" pitchFamily="18" charset="0"/>
              </a:rPr>
              <a:t>存取周期为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0.5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CN" sz="2800" b="1" dirty="0">
                <a:latin typeface="Times New Roman" panose="02020603050405020304" pitchFamily="18" charset="0"/>
              </a:rPr>
              <a:t>s + 0.5 </a:t>
            </a:r>
            <a:r>
              <a:rPr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CN" sz="2800" b="1" dirty="0">
                <a:latin typeface="Times New Roman" panose="02020603050405020304" pitchFamily="18" charset="0"/>
              </a:rPr>
              <a:t>s</a:t>
            </a:r>
            <a:r>
              <a:rPr lang="en-US" altLang="zh-CN" sz="800" b="1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45771" name="Rectangle 1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9256" name="Text Box 12"/>
          <p:cNvSpPr txBox="1"/>
          <p:nvPr/>
        </p:nvSpPr>
        <p:spPr>
          <a:xfrm>
            <a:off x="2286000" y="928688"/>
            <a:ext cx="4800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以 </a:t>
            </a:r>
            <a:r>
              <a:rPr lang="en-US" altLang="zh-CN" sz="2800" b="1" dirty="0">
                <a:latin typeface="Times New Roman" panose="02020603050405020304" pitchFamily="18" charset="0"/>
              </a:rPr>
              <a:t>128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×128 </a:t>
            </a:r>
            <a:r>
              <a:rPr lang="zh-CN" altLang="en-US" sz="2800" b="1" dirty="0">
                <a:latin typeface="Times New Roman" panose="02020603050405020304" pitchFamily="18" charset="0"/>
              </a:rPr>
              <a:t>矩阵为例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9257" name="AutoShape 13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09258" name="Group 14"/>
          <p:cNvGrpSpPr/>
          <p:nvPr/>
        </p:nvGrpSpPr>
        <p:grpSpPr>
          <a:xfrm>
            <a:off x="1676400" y="1801813"/>
            <a:ext cx="8458200" cy="2922587"/>
            <a:chOff x="96" y="1135"/>
            <a:chExt cx="5328" cy="1841"/>
          </a:xfrm>
        </p:grpSpPr>
        <p:grpSp>
          <p:nvGrpSpPr>
            <p:cNvPr id="309260" name="Group 15"/>
            <p:cNvGrpSpPr/>
            <p:nvPr/>
          </p:nvGrpSpPr>
          <p:grpSpPr>
            <a:xfrm>
              <a:off x="96" y="1135"/>
              <a:ext cx="5328" cy="1841"/>
              <a:chOff x="96" y="1135"/>
              <a:chExt cx="5328" cy="1841"/>
            </a:xfrm>
          </p:grpSpPr>
          <p:sp>
            <p:nvSpPr>
              <p:cNvPr id="309262" name="Line 16"/>
              <p:cNvSpPr/>
              <p:nvPr/>
            </p:nvSpPr>
            <p:spPr>
              <a:xfrm>
                <a:off x="96" y="1716"/>
                <a:ext cx="1594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63" name="Line 17"/>
              <p:cNvSpPr/>
              <p:nvPr/>
            </p:nvSpPr>
            <p:spPr>
              <a:xfrm>
                <a:off x="416" y="1163"/>
                <a:ext cx="1" cy="1813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64" name="Line 18"/>
              <p:cNvSpPr/>
              <p:nvPr/>
            </p:nvSpPr>
            <p:spPr>
              <a:xfrm>
                <a:off x="794" y="1163"/>
                <a:ext cx="1" cy="104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65" name="Line 19"/>
              <p:cNvSpPr/>
              <p:nvPr/>
            </p:nvSpPr>
            <p:spPr>
              <a:xfrm>
                <a:off x="1172" y="1163"/>
                <a:ext cx="1" cy="146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66" name="Rectangle 20"/>
              <p:cNvSpPr/>
              <p:nvPr/>
            </p:nvSpPr>
            <p:spPr>
              <a:xfrm>
                <a:off x="467" y="1135"/>
                <a:ext cx="272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W/R</a:t>
                </a:r>
                <a:endParaRPr lang="en-US" altLang="zh-CN" sz="17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67" name="Line 21"/>
              <p:cNvSpPr/>
              <p:nvPr/>
            </p:nvSpPr>
            <p:spPr>
              <a:xfrm>
                <a:off x="1550" y="1163"/>
                <a:ext cx="1" cy="111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68" name="Rectangle 22"/>
              <p:cNvSpPr/>
              <p:nvPr/>
            </p:nvSpPr>
            <p:spPr>
              <a:xfrm>
                <a:off x="825" y="1227"/>
                <a:ext cx="272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REF</a:t>
                </a:r>
                <a:endParaRPr lang="en-US" altLang="zh-CN" sz="17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69" name="Rectangle 23"/>
              <p:cNvSpPr/>
              <p:nvPr/>
            </p:nvSpPr>
            <p:spPr>
              <a:xfrm>
                <a:off x="920" y="1502"/>
                <a:ext cx="68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70" name="Rectangle 24"/>
              <p:cNvSpPr/>
              <p:nvPr/>
            </p:nvSpPr>
            <p:spPr>
              <a:xfrm>
                <a:off x="1221" y="1135"/>
                <a:ext cx="272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W/R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71" name="Rectangle 25"/>
              <p:cNvSpPr/>
              <p:nvPr/>
            </p:nvSpPr>
            <p:spPr>
              <a:xfrm>
                <a:off x="874" y="1750"/>
                <a:ext cx="5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72" name="Rectangle 26"/>
              <p:cNvSpPr/>
              <p:nvPr/>
            </p:nvSpPr>
            <p:spPr>
              <a:xfrm>
                <a:off x="944" y="1853"/>
                <a:ext cx="87" cy="1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500" b="1" dirty="0">
                    <a:latin typeface="Times New Roman" panose="02020603050405020304" pitchFamily="18" charset="0"/>
                  </a:rPr>
                  <a:t>R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73" name="Rectangle 27"/>
              <p:cNvSpPr/>
              <p:nvPr/>
            </p:nvSpPr>
            <p:spPr>
              <a:xfrm>
                <a:off x="520" y="1750"/>
                <a:ext cx="5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74" name="Rectangle 28"/>
              <p:cNvSpPr/>
              <p:nvPr/>
            </p:nvSpPr>
            <p:spPr>
              <a:xfrm>
                <a:off x="604" y="1853"/>
                <a:ext cx="113" cy="1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500" b="1" dirty="0">
                    <a:latin typeface="Times New Roman" panose="02020603050405020304" pitchFamily="18" charset="0"/>
                  </a:rPr>
                  <a:t>M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75" name="Rectangle 29"/>
              <p:cNvSpPr/>
              <p:nvPr/>
            </p:nvSpPr>
            <p:spPr>
              <a:xfrm>
                <a:off x="761" y="2239"/>
                <a:ext cx="53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76" name="Rectangle 30"/>
              <p:cNvSpPr/>
              <p:nvPr/>
            </p:nvSpPr>
            <p:spPr>
              <a:xfrm>
                <a:off x="830" y="2342"/>
                <a:ext cx="87" cy="1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500" b="1" dirty="0">
                    <a:latin typeface="Times New Roman" panose="02020603050405020304" pitchFamily="18" charset="0"/>
                  </a:rPr>
                  <a:t>C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77" name="Line 31"/>
              <p:cNvSpPr/>
              <p:nvPr/>
            </p:nvSpPr>
            <p:spPr>
              <a:xfrm>
                <a:off x="2180" y="1716"/>
                <a:ext cx="3244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78" name="Line 32"/>
              <p:cNvSpPr/>
              <p:nvPr/>
            </p:nvSpPr>
            <p:spPr>
              <a:xfrm>
                <a:off x="2273" y="1163"/>
                <a:ext cx="1" cy="111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79" name="Line 33"/>
              <p:cNvSpPr/>
              <p:nvPr/>
            </p:nvSpPr>
            <p:spPr>
              <a:xfrm>
                <a:off x="2651" y="1163"/>
                <a:ext cx="1" cy="111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80" name="Line 34"/>
              <p:cNvSpPr/>
              <p:nvPr/>
            </p:nvSpPr>
            <p:spPr>
              <a:xfrm>
                <a:off x="3025" y="1163"/>
                <a:ext cx="1" cy="111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81" name="Line 35"/>
              <p:cNvSpPr/>
              <p:nvPr/>
            </p:nvSpPr>
            <p:spPr>
              <a:xfrm>
                <a:off x="3403" y="1163"/>
                <a:ext cx="1" cy="111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82" name="Freeform 36"/>
              <p:cNvSpPr/>
              <p:nvPr/>
            </p:nvSpPr>
            <p:spPr>
              <a:xfrm>
                <a:off x="3778" y="1161"/>
                <a:ext cx="5" cy="1812"/>
              </a:xfrm>
              <a:custGeom>
                <a:avLst/>
                <a:gdLst>
                  <a:gd name="txL" fmla="*/ 0 w 5"/>
                  <a:gd name="txT" fmla="*/ 0 h 1812"/>
                  <a:gd name="txR" fmla="*/ 5 w 5"/>
                  <a:gd name="txB" fmla="*/ 1812 h 1812"/>
                </a:gdLst>
                <a:ahLst/>
                <a:cxnLst>
                  <a:cxn ang="0">
                    <a:pos x="0" y="0"/>
                  </a:cxn>
                  <a:cxn ang="0">
                    <a:pos x="5" y="1812"/>
                  </a:cxn>
                </a:cxnLst>
                <a:rect l="txL" t="txT" r="txR" b="txB"/>
                <a:pathLst>
                  <a:path w="5" h="1812">
                    <a:moveTo>
                      <a:pt x="0" y="0"/>
                    </a:moveTo>
                    <a:lnTo>
                      <a:pt x="5" y="1812"/>
                    </a:lnTo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9283" name="Freeform 37"/>
              <p:cNvSpPr/>
              <p:nvPr/>
            </p:nvSpPr>
            <p:spPr>
              <a:xfrm>
                <a:off x="4153" y="1163"/>
                <a:ext cx="6" cy="1111"/>
              </a:xfrm>
              <a:custGeom>
                <a:avLst/>
                <a:gdLst>
                  <a:gd name="txL" fmla="*/ 0 w 5"/>
                  <a:gd name="txT" fmla="*/ 0 h 1111"/>
                  <a:gd name="txR" fmla="*/ 5 w 5"/>
                  <a:gd name="txB" fmla="*/ 1111 h 1111"/>
                </a:gdLst>
                <a:ahLst/>
                <a:cxnLst>
                  <a:cxn ang="0">
                    <a:pos x="0" y="0"/>
                  </a:cxn>
                  <a:cxn ang="0">
                    <a:pos x="5" y="1111"/>
                  </a:cxn>
                </a:cxnLst>
                <a:rect l="txL" t="txT" r="txR" b="txB"/>
                <a:pathLst>
                  <a:path w="5" h="1111">
                    <a:moveTo>
                      <a:pt x="0" y="0"/>
                    </a:moveTo>
                    <a:lnTo>
                      <a:pt x="5" y="1111"/>
                    </a:lnTo>
                  </a:path>
                </a:pathLst>
              </a:custGeom>
              <a:solidFill>
                <a:srgbClr val="FFFFFF"/>
              </a:solidFill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09284" name="Rectangle 38"/>
              <p:cNvSpPr/>
              <p:nvPr/>
            </p:nvSpPr>
            <p:spPr>
              <a:xfrm>
                <a:off x="2705" y="1227"/>
                <a:ext cx="272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REF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85" name="Rectangle 39"/>
              <p:cNvSpPr/>
              <p:nvPr/>
            </p:nvSpPr>
            <p:spPr>
              <a:xfrm>
                <a:off x="2729" y="1502"/>
                <a:ext cx="204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126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86" name="Rectangle 40"/>
              <p:cNvSpPr/>
              <p:nvPr/>
            </p:nvSpPr>
            <p:spPr>
              <a:xfrm>
                <a:off x="3443" y="1227"/>
                <a:ext cx="272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REF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87" name="Rectangle 41"/>
              <p:cNvSpPr/>
              <p:nvPr/>
            </p:nvSpPr>
            <p:spPr>
              <a:xfrm>
                <a:off x="3466" y="1502"/>
                <a:ext cx="204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127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88" name="Line 42"/>
              <p:cNvSpPr/>
              <p:nvPr/>
            </p:nvSpPr>
            <p:spPr>
              <a:xfrm>
                <a:off x="4531" y="1163"/>
                <a:ext cx="1" cy="111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89" name="Line 43"/>
              <p:cNvSpPr/>
              <p:nvPr/>
            </p:nvSpPr>
            <p:spPr>
              <a:xfrm>
                <a:off x="4909" y="1163"/>
                <a:ext cx="1" cy="111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90" name="Line 44"/>
              <p:cNvSpPr/>
              <p:nvPr/>
            </p:nvSpPr>
            <p:spPr>
              <a:xfrm>
                <a:off x="5283" y="1163"/>
                <a:ext cx="1" cy="111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09291" name="Rectangle 45"/>
              <p:cNvSpPr/>
              <p:nvPr/>
            </p:nvSpPr>
            <p:spPr>
              <a:xfrm>
                <a:off x="4953" y="1227"/>
                <a:ext cx="272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REF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92" name="Rectangle 46"/>
              <p:cNvSpPr/>
              <p:nvPr/>
            </p:nvSpPr>
            <p:spPr>
              <a:xfrm>
                <a:off x="2327" y="1135"/>
                <a:ext cx="272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W/R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93" name="Rectangle 47"/>
              <p:cNvSpPr/>
              <p:nvPr/>
            </p:nvSpPr>
            <p:spPr>
              <a:xfrm>
                <a:off x="3082" y="1135"/>
                <a:ext cx="272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W/R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94" name="Rectangle 48"/>
              <p:cNvSpPr/>
              <p:nvPr/>
            </p:nvSpPr>
            <p:spPr>
              <a:xfrm>
                <a:off x="3825" y="1135"/>
                <a:ext cx="272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W/R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95" name="Rectangle 49"/>
              <p:cNvSpPr/>
              <p:nvPr/>
            </p:nvSpPr>
            <p:spPr>
              <a:xfrm>
                <a:off x="4582" y="1135"/>
                <a:ext cx="272" cy="1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700" b="1" dirty="0">
                    <a:latin typeface="Times New Roman" panose="02020603050405020304" pitchFamily="18" charset="0"/>
                  </a:rPr>
                  <a:t>W/R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96" name="Rectangle 50"/>
              <p:cNvSpPr/>
              <p:nvPr/>
            </p:nvSpPr>
            <p:spPr>
              <a:xfrm>
                <a:off x="1154" y="2753"/>
                <a:ext cx="64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刷新间隔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97" name="Rectangle 51"/>
              <p:cNvSpPr/>
              <p:nvPr/>
            </p:nvSpPr>
            <p:spPr>
              <a:xfrm>
                <a:off x="1882" y="2749"/>
                <a:ext cx="24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128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98" name="Rectangle 52"/>
              <p:cNvSpPr/>
              <p:nvPr/>
            </p:nvSpPr>
            <p:spPr>
              <a:xfrm>
                <a:off x="2178" y="2753"/>
                <a:ext cx="800" cy="19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sz="2000" b="1" dirty="0">
                    <a:latin typeface="宋体" panose="02010600030101010101" pitchFamily="2" charset="-122"/>
                  </a:rPr>
                  <a:t>个存取周期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299" name="Line 53"/>
              <p:cNvSpPr/>
              <p:nvPr/>
            </p:nvSpPr>
            <p:spPr>
              <a:xfrm flipH="1">
                <a:off x="416" y="2845"/>
                <a:ext cx="524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9300" name="Line 54"/>
              <p:cNvSpPr/>
              <p:nvPr/>
            </p:nvSpPr>
            <p:spPr>
              <a:xfrm>
                <a:off x="3268" y="2845"/>
                <a:ext cx="525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09301" name="Text Box 55"/>
              <p:cNvSpPr txBox="1"/>
              <p:nvPr/>
            </p:nvSpPr>
            <p:spPr>
              <a:xfrm>
                <a:off x="1708" y="1530"/>
                <a:ext cx="610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9302" name="Line 56"/>
              <p:cNvSpPr/>
              <p:nvPr/>
            </p:nvSpPr>
            <p:spPr>
              <a:xfrm>
                <a:off x="416" y="2464"/>
                <a:ext cx="75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309303" name="Line 57"/>
              <p:cNvSpPr/>
              <p:nvPr/>
            </p:nvSpPr>
            <p:spPr>
              <a:xfrm>
                <a:off x="403" y="2030"/>
                <a:ext cx="38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  <p:sp>
            <p:nvSpPr>
              <p:cNvPr id="309304" name="Line 58"/>
              <p:cNvSpPr/>
              <p:nvPr/>
            </p:nvSpPr>
            <p:spPr>
              <a:xfrm>
                <a:off x="790" y="2029"/>
                <a:ext cx="38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med" len="med"/>
                <a:tailEnd type="stealth" w="med" len="med"/>
              </a:ln>
            </p:spPr>
          </p:sp>
        </p:grpSp>
        <p:sp>
          <p:nvSpPr>
            <p:cNvPr id="309261" name="Text Box 59"/>
            <p:cNvSpPr txBox="1"/>
            <p:nvPr/>
          </p:nvSpPr>
          <p:spPr>
            <a:xfrm>
              <a:off x="1754" y="1471"/>
              <a:ext cx="499" cy="3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000" b="1" dirty="0">
                  <a:latin typeface="Times New Roman" panose="02020603050405020304" pitchFamily="18" charset="0"/>
                </a:rPr>
                <a:t>…</a:t>
              </a:r>
              <a:endParaRPr lang="en-US" altLang="zh-CN" sz="30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0925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Text Box 2"/>
          <p:cNvSpPr txBox="1"/>
          <p:nvPr/>
        </p:nvSpPr>
        <p:spPr>
          <a:xfrm>
            <a:off x="1631950" y="533400"/>
            <a:ext cx="82994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  <a:ea typeface="楷体_GB2312" pitchFamily="49" charset="-122"/>
              </a:rPr>
              <a:t>③ </a:t>
            </a:r>
            <a:r>
              <a:rPr lang="zh-CN" altLang="en-US" sz="3200" b="1" dirty="0">
                <a:latin typeface="Times New Roman" panose="02020603050405020304" pitchFamily="18" charset="0"/>
              </a:rPr>
              <a:t>分散刷新与集中刷新相结合（异步刷新）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5124" name="Text Box 3"/>
          <p:cNvSpPr txBox="1"/>
          <p:nvPr/>
        </p:nvSpPr>
        <p:spPr>
          <a:xfrm>
            <a:off x="2133600" y="1341438"/>
            <a:ext cx="8534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对于 </a:t>
            </a:r>
            <a:r>
              <a:rPr lang="en-US" altLang="zh-CN" sz="2800" b="1" dirty="0">
                <a:latin typeface="Times New Roman" panose="02020603050405020304" pitchFamily="18" charset="0"/>
              </a:rPr>
              <a:t>128 ×128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的存储芯片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zh-CN" altLang="en-US" sz="2800" b="1" dirty="0">
                <a:latin typeface="Times New Roman" panose="02020603050405020304" pitchFamily="18" charset="0"/>
              </a:rPr>
              <a:t>存取周期为 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0.5 </a:t>
            </a:r>
            <a:r>
              <a:rPr lang="en-US" altLang="zh-CN" sz="2800" b="1" dirty="0">
                <a:latin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sz="2800" b="1" dirty="0">
                <a:latin typeface="宋体" panose="02010600030101010101" pitchFamily="2" charset="-122"/>
              </a:rPr>
              <a:t>s</a:t>
            </a:r>
            <a:r>
              <a:rPr lang="en-US" altLang="zh-CN" sz="800" b="1" dirty="0">
                <a:latin typeface="宋体" panose="02010600030101010101" pitchFamily="2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125" name="Text Box 4"/>
          <p:cNvSpPr txBox="1"/>
          <p:nvPr/>
        </p:nvSpPr>
        <p:spPr>
          <a:xfrm>
            <a:off x="2133600" y="6021388"/>
            <a:ext cx="8686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将刷新安排在指令译码阶段，不会出现 “死区”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6" name="Text Box 5"/>
          <p:cNvSpPr txBox="1"/>
          <p:nvPr/>
        </p:nvSpPr>
        <p:spPr>
          <a:xfrm>
            <a:off x="6746875" y="5286375"/>
            <a:ext cx="3886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死区” 为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0.5 </a:t>
            </a:r>
            <a:r>
              <a:rPr lang="en-US" altLang="zh-CN" sz="2800" b="1" dirty="0">
                <a:solidFill>
                  <a:schemeClr val="fol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800" b="1" dirty="0">
                <a:latin typeface="宋体" panose="02010600030101010101" pitchFamily="2" charset="-122"/>
              </a:rPr>
              <a:t> </a:t>
            </a:r>
            <a:endParaRPr lang="en-US" altLang="zh-CN" sz="800" b="1" dirty="0">
              <a:latin typeface="宋体" panose="02010600030101010101" pitchFamily="2" charset="-122"/>
            </a:endParaRPr>
          </a:p>
        </p:txBody>
      </p:sp>
      <p:sp>
        <p:nvSpPr>
          <p:cNvPr id="5127" name="Text Box 6"/>
          <p:cNvSpPr txBox="1"/>
          <p:nvPr/>
        </p:nvSpPr>
        <p:spPr>
          <a:xfrm>
            <a:off x="2133600" y="1989138"/>
            <a:ext cx="5181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若每隔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15.6 </a:t>
            </a:r>
            <a:r>
              <a:rPr lang="en-US" altLang="zh-CN" sz="2800" b="1" dirty="0">
                <a:solidFill>
                  <a:schemeClr val="folHlink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lang="en-US" altLang="zh-CN" sz="2800" b="1" dirty="0">
                <a:solidFill>
                  <a:schemeClr val="folHlink"/>
                </a:solidFill>
                <a:latin typeface="宋体" panose="02010600030101010101" pitchFamily="2" charset="-122"/>
              </a:rPr>
              <a:t>s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刷新一行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5128" name="Text Box 7"/>
          <p:cNvSpPr txBox="1"/>
          <p:nvPr/>
        </p:nvSpPr>
        <p:spPr>
          <a:xfrm>
            <a:off x="2133600" y="5286375"/>
            <a:ext cx="7010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每行每隔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 ms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刷新一次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46792" name="Rectangle 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0" name="Rectangle 9"/>
          <p:cNvSpPr/>
          <p:nvPr/>
        </p:nvSpPr>
        <p:spPr>
          <a:xfrm>
            <a:off x="1524000" y="2754313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131" name="AutoShape 1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5122" name="Object 12"/>
          <p:cNvGraphicFramePr>
            <a:graphicFrameLocks noChangeAspect="1"/>
          </p:cNvGraphicFramePr>
          <p:nvPr/>
        </p:nvGraphicFramePr>
        <p:xfrm>
          <a:off x="2279650" y="2997200"/>
          <a:ext cx="7561263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943350" imgH="990600" progId="Visio.Drawing.11">
                  <p:embed/>
                </p:oleObj>
              </mc:Choice>
              <mc:Fallback>
                <p:oleObj name="" r:id="rId1" imgW="3943350" imgH="990600" progId="Visio.Drawing.11">
                  <p:embed/>
                  <p:pic>
                    <p:nvPicPr>
                      <p:cNvPr id="0" name="20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9650" y="2997200"/>
                        <a:ext cx="7561263" cy="2016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0274" name="Text Box 2"/>
          <p:cNvSpPr txBox="1"/>
          <p:nvPr/>
        </p:nvSpPr>
        <p:spPr>
          <a:xfrm>
            <a:off x="1981200" y="533400"/>
            <a:ext cx="6858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3. </a:t>
            </a:r>
            <a:r>
              <a:rPr lang="zh-CN" altLang="en-US" sz="3200" b="1" dirty="0">
                <a:latin typeface="Times New Roman" panose="02020603050405020304" pitchFamily="18" charset="0"/>
              </a:rPr>
              <a:t>动态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和静态 </a:t>
            </a:r>
            <a:r>
              <a:rPr lang="en-US" altLang="zh-CN" sz="3200" b="1" dirty="0">
                <a:latin typeface="Times New Roman" panose="02020603050405020304" pitchFamily="18" charset="0"/>
              </a:rPr>
              <a:t>RAM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的比较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10275" name="Group 3"/>
          <p:cNvGrpSpPr/>
          <p:nvPr/>
        </p:nvGrpSpPr>
        <p:grpSpPr>
          <a:xfrm>
            <a:off x="4876800" y="1249363"/>
            <a:ext cx="4648200" cy="460375"/>
            <a:chOff x="2112" y="787"/>
            <a:chExt cx="2928" cy="290"/>
          </a:xfrm>
        </p:grpSpPr>
        <p:sp>
          <p:nvSpPr>
            <p:cNvPr id="310314" name="Text Box 4"/>
            <p:cNvSpPr txBox="1"/>
            <p:nvPr/>
          </p:nvSpPr>
          <p:spPr>
            <a:xfrm>
              <a:off x="2112" y="787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DRAM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315" name="Text Box 5"/>
            <p:cNvSpPr txBox="1"/>
            <p:nvPr/>
          </p:nvSpPr>
          <p:spPr>
            <a:xfrm>
              <a:off x="3504" y="787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SRAM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0276" name="Text Box 6"/>
          <p:cNvSpPr txBox="1"/>
          <p:nvPr/>
        </p:nvSpPr>
        <p:spPr>
          <a:xfrm>
            <a:off x="2743200" y="1858963"/>
            <a:ext cx="2438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存储原理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10277" name="Text Box 7"/>
          <p:cNvSpPr txBox="1"/>
          <p:nvPr/>
        </p:nvSpPr>
        <p:spPr>
          <a:xfrm>
            <a:off x="2743200" y="2538413"/>
            <a:ext cx="2438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集成度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10278" name="Text Box 8"/>
          <p:cNvSpPr txBox="1"/>
          <p:nvPr/>
        </p:nvSpPr>
        <p:spPr>
          <a:xfrm>
            <a:off x="2743200" y="3219450"/>
            <a:ext cx="2438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芯片引脚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10279" name="Text Box 9"/>
          <p:cNvSpPr txBox="1"/>
          <p:nvPr/>
        </p:nvSpPr>
        <p:spPr>
          <a:xfrm>
            <a:off x="2743200" y="3900488"/>
            <a:ext cx="2438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功耗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10280" name="Text Box 10"/>
          <p:cNvSpPr txBox="1"/>
          <p:nvPr/>
        </p:nvSpPr>
        <p:spPr>
          <a:xfrm>
            <a:off x="2743200" y="4581525"/>
            <a:ext cx="2438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价格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10281" name="Text Box 11"/>
          <p:cNvSpPr txBox="1"/>
          <p:nvPr/>
        </p:nvSpPr>
        <p:spPr>
          <a:xfrm>
            <a:off x="2743200" y="5262563"/>
            <a:ext cx="2438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速度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10282" name="Text Box 12"/>
          <p:cNvSpPr txBox="1"/>
          <p:nvPr/>
        </p:nvSpPr>
        <p:spPr>
          <a:xfrm>
            <a:off x="2743200" y="5943600"/>
            <a:ext cx="2438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刷新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10283" name="Group 13"/>
          <p:cNvGrpSpPr/>
          <p:nvPr/>
        </p:nvGrpSpPr>
        <p:grpSpPr>
          <a:xfrm>
            <a:off x="4953000" y="1858963"/>
            <a:ext cx="4648200" cy="460375"/>
            <a:chOff x="2160" y="1171"/>
            <a:chExt cx="2928" cy="290"/>
          </a:xfrm>
        </p:grpSpPr>
        <p:sp>
          <p:nvSpPr>
            <p:cNvPr id="310312" name="Text Box 14"/>
            <p:cNvSpPr txBox="1"/>
            <p:nvPr/>
          </p:nvSpPr>
          <p:spPr>
            <a:xfrm>
              <a:off x="2160" y="1171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电容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313" name="Text Box 15"/>
            <p:cNvSpPr txBox="1"/>
            <p:nvPr/>
          </p:nvSpPr>
          <p:spPr>
            <a:xfrm>
              <a:off x="3552" y="1171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触发器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0284" name="Group 16"/>
          <p:cNvGrpSpPr/>
          <p:nvPr/>
        </p:nvGrpSpPr>
        <p:grpSpPr>
          <a:xfrm>
            <a:off x="4953000" y="2538413"/>
            <a:ext cx="4648200" cy="460375"/>
            <a:chOff x="2160" y="1599"/>
            <a:chExt cx="2928" cy="290"/>
          </a:xfrm>
        </p:grpSpPr>
        <p:sp>
          <p:nvSpPr>
            <p:cNvPr id="310310" name="Text Box 17"/>
            <p:cNvSpPr txBox="1"/>
            <p:nvPr/>
          </p:nvSpPr>
          <p:spPr>
            <a:xfrm>
              <a:off x="2160" y="1599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高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311" name="Text Box 18"/>
            <p:cNvSpPr txBox="1"/>
            <p:nvPr/>
          </p:nvSpPr>
          <p:spPr>
            <a:xfrm>
              <a:off x="3552" y="1599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低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0285" name="Group 19"/>
          <p:cNvGrpSpPr/>
          <p:nvPr/>
        </p:nvGrpSpPr>
        <p:grpSpPr>
          <a:xfrm>
            <a:off x="4953000" y="3219450"/>
            <a:ext cx="4648200" cy="460375"/>
            <a:chOff x="2160" y="2028"/>
            <a:chExt cx="2928" cy="290"/>
          </a:xfrm>
        </p:grpSpPr>
        <p:sp>
          <p:nvSpPr>
            <p:cNvPr id="310308" name="Text Box 20"/>
            <p:cNvSpPr txBox="1"/>
            <p:nvPr/>
          </p:nvSpPr>
          <p:spPr>
            <a:xfrm>
              <a:off x="2160" y="2028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少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309" name="Text Box 21"/>
            <p:cNvSpPr txBox="1"/>
            <p:nvPr/>
          </p:nvSpPr>
          <p:spPr>
            <a:xfrm>
              <a:off x="3552" y="2028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多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0286" name="Group 22"/>
          <p:cNvGrpSpPr/>
          <p:nvPr/>
        </p:nvGrpSpPr>
        <p:grpSpPr>
          <a:xfrm>
            <a:off x="4953000" y="3900488"/>
            <a:ext cx="4648200" cy="460375"/>
            <a:chOff x="2160" y="2457"/>
            <a:chExt cx="2928" cy="290"/>
          </a:xfrm>
        </p:grpSpPr>
        <p:sp>
          <p:nvSpPr>
            <p:cNvPr id="310306" name="Text Box 23"/>
            <p:cNvSpPr txBox="1"/>
            <p:nvPr/>
          </p:nvSpPr>
          <p:spPr>
            <a:xfrm>
              <a:off x="2160" y="2457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小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307" name="Text Box 24"/>
            <p:cNvSpPr txBox="1"/>
            <p:nvPr/>
          </p:nvSpPr>
          <p:spPr>
            <a:xfrm>
              <a:off x="3552" y="2457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大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0287" name="Group 25"/>
          <p:cNvGrpSpPr/>
          <p:nvPr/>
        </p:nvGrpSpPr>
        <p:grpSpPr>
          <a:xfrm>
            <a:off x="4953000" y="4581525"/>
            <a:ext cx="4648200" cy="460375"/>
            <a:chOff x="2160" y="2886"/>
            <a:chExt cx="2928" cy="290"/>
          </a:xfrm>
        </p:grpSpPr>
        <p:sp>
          <p:nvSpPr>
            <p:cNvPr id="310304" name="Text Box 26"/>
            <p:cNvSpPr txBox="1"/>
            <p:nvPr/>
          </p:nvSpPr>
          <p:spPr>
            <a:xfrm>
              <a:off x="2160" y="2886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低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305" name="Text Box 27"/>
            <p:cNvSpPr txBox="1"/>
            <p:nvPr/>
          </p:nvSpPr>
          <p:spPr>
            <a:xfrm>
              <a:off x="3552" y="2886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高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0288" name="Group 28"/>
          <p:cNvGrpSpPr/>
          <p:nvPr/>
        </p:nvGrpSpPr>
        <p:grpSpPr>
          <a:xfrm>
            <a:off x="4953000" y="5262563"/>
            <a:ext cx="4648200" cy="460375"/>
            <a:chOff x="2160" y="3315"/>
            <a:chExt cx="2928" cy="290"/>
          </a:xfrm>
        </p:grpSpPr>
        <p:sp>
          <p:nvSpPr>
            <p:cNvPr id="310302" name="Text Box 29"/>
            <p:cNvSpPr txBox="1"/>
            <p:nvPr/>
          </p:nvSpPr>
          <p:spPr>
            <a:xfrm>
              <a:off x="2160" y="3315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慢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303" name="Text Box 30"/>
            <p:cNvSpPr txBox="1"/>
            <p:nvPr/>
          </p:nvSpPr>
          <p:spPr>
            <a:xfrm>
              <a:off x="3552" y="3315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快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0289" name="Group 31"/>
          <p:cNvGrpSpPr/>
          <p:nvPr/>
        </p:nvGrpSpPr>
        <p:grpSpPr>
          <a:xfrm>
            <a:off x="4953000" y="5943600"/>
            <a:ext cx="4648200" cy="460375"/>
            <a:chOff x="2160" y="3744"/>
            <a:chExt cx="2928" cy="290"/>
          </a:xfrm>
        </p:grpSpPr>
        <p:sp>
          <p:nvSpPr>
            <p:cNvPr id="310300" name="Text Box 32"/>
            <p:cNvSpPr txBox="1"/>
            <p:nvPr/>
          </p:nvSpPr>
          <p:spPr>
            <a:xfrm>
              <a:off x="2160" y="3744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有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301" name="Text Box 33"/>
            <p:cNvSpPr txBox="1"/>
            <p:nvPr/>
          </p:nvSpPr>
          <p:spPr>
            <a:xfrm>
              <a:off x="3552" y="3744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无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0290" name="Group 34"/>
          <p:cNvGrpSpPr/>
          <p:nvPr/>
        </p:nvGrpSpPr>
        <p:grpSpPr>
          <a:xfrm>
            <a:off x="3886200" y="1201738"/>
            <a:ext cx="1066800" cy="550862"/>
            <a:chOff x="1488" y="757"/>
            <a:chExt cx="672" cy="347"/>
          </a:xfrm>
        </p:grpSpPr>
        <p:sp>
          <p:nvSpPr>
            <p:cNvPr id="310298" name="AutoShape 35"/>
            <p:cNvSpPr/>
            <p:nvPr/>
          </p:nvSpPr>
          <p:spPr>
            <a:xfrm>
              <a:off x="1488" y="768"/>
              <a:ext cx="672" cy="336"/>
            </a:xfrm>
            <a:prstGeom prst="wedgeRoundRectCallout">
              <a:avLst>
                <a:gd name="adj1" fmla="val 97306"/>
                <a:gd name="adj2" fmla="val -259"/>
                <a:gd name="adj3" fmla="val 16667"/>
              </a:avLst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299" name="Text Box 36"/>
            <p:cNvSpPr txBox="1"/>
            <p:nvPr/>
          </p:nvSpPr>
          <p:spPr>
            <a:xfrm>
              <a:off x="1528" y="757"/>
              <a:ext cx="59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主存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0291" name="Group 37"/>
          <p:cNvGrpSpPr/>
          <p:nvPr/>
        </p:nvGrpSpPr>
        <p:grpSpPr>
          <a:xfrm>
            <a:off x="9296400" y="1676400"/>
            <a:ext cx="1219200" cy="561975"/>
            <a:chOff x="4896" y="1104"/>
            <a:chExt cx="816" cy="384"/>
          </a:xfrm>
        </p:grpSpPr>
        <p:sp>
          <p:nvSpPr>
            <p:cNvPr id="310296" name="AutoShape 38"/>
            <p:cNvSpPr/>
            <p:nvPr/>
          </p:nvSpPr>
          <p:spPr>
            <a:xfrm>
              <a:off x="4896" y="1104"/>
              <a:ext cx="816" cy="384"/>
            </a:xfrm>
            <a:prstGeom prst="wedgeRoundRectCallout">
              <a:avLst>
                <a:gd name="adj1" fmla="val -106250"/>
                <a:gd name="adj2" fmla="val -56509"/>
                <a:gd name="adj3" fmla="val 16667"/>
              </a:avLst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0297" name="Text Box 39"/>
            <p:cNvSpPr txBox="1"/>
            <p:nvPr/>
          </p:nvSpPr>
          <p:spPr>
            <a:xfrm>
              <a:off x="4992" y="1104"/>
              <a:ext cx="634" cy="35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缓存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7848" name="Rectangle 4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0293" name="AutoShape 4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0294" name="Rectangle 42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31029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2322" name="Text Box 2"/>
          <p:cNvSpPr txBox="1"/>
          <p:nvPr/>
        </p:nvSpPr>
        <p:spPr>
          <a:xfrm>
            <a:off x="1981200" y="457200"/>
            <a:ext cx="6172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</a:rPr>
              <a:t>四、只读存储器（</a:t>
            </a:r>
            <a:r>
              <a:rPr lang="en-US" altLang="zh-CN" sz="3600" b="1" dirty="0">
                <a:latin typeface="Times New Roman" panose="02020603050405020304" pitchFamily="18" charset="0"/>
              </a:rPr>
              <a:t>ROM</a:t>
            </a:r>
            <a:r>
              <a:rPr lang="zh-CN" altLang="en-US" sz="3600" b="1" dirty="0">
                <a:latin typeface="Times New Roman" panose="02020603050405020304" pitchFamily="18" charset="0"/>
              </a:rPr>
              <a:t>）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12323" name="Text Box 3"/>
          <p:cNvSpPr txBox="1"/>
          <p:nvPr/>
        </p:nvSpPr>
        <p:spPr>
          <a:xfrm>
            <a:off x="2279650" y="1219200"/>
            <a:ext cx="475361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1.  </a:t>
            </a:r>
            <a:r>
              <a:rPr lang="zh-CN" altLang="en-US" sz="3200" b="1" dirty="0">
                <a:latin typeface="Times New Roman" panose="02020603050405020304" pitchFamily="18" charset="0"/>
              </a:rPr>
              <a:t>掩模 </a:t>
            </a:r>
            <a:r>
              <a:rPr lang="en-US" altLang="zh-CN" sz="3200" b="1" dirty="0">
                <a:latin typeface="Times New Roman" panose="02020603050405020304" pitchFamily="18" charset="0"/>
              </a:rPr>
              <a:t>ROM ( MROM )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312324" name="Text Box 4"/>
          <p:cNvSpPr txBox="1"/>
          <p:nvPr/>
        </p:nvSpPr>
        <p:spPr>
          <a:xfrm>
            <a:off x="2895600" y="1854200"/>
            <a:ext cx="6858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行列选择线交叉处有 </a:t>
            </a:r>
            <a:r>
              <a:rPr lang="en-US" altLang="zh-CN" sz="2800" b="1" dirty="0">
                <a:latin typeface="Times New Roman" panose="02020603050405020304" pitchFamily="18" charset="0"/>
              </a:rPr>
              <a:t>MOS </a:t>
            </a:r>
            <a:r>
              <a:rPr lang="zh-CN" altLang="en-US" sz="2800" b="1" dirty="0">
                <a:latin typeface="Times New Roman" panose="02020603050405020304" pitchFamily="18" charset="0"/>
              </a:rPr>
              <a:t>管为“</a:t>
            </a:r>
            <a:r>
              <a:rPr lang="en-US" altLang="zh-CN" sz="2800" b="1" dirty="0">
                <a:latin typeface="Times New Roman" panose="02020603050405020304" pitchFamily="18" charset="0"/>
              </a:rPr>
              <a:t>1”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12325" name="Text Box 5"/>
          <p:cNvSpPr txBox="1"/>
          <p:nvPr/>
        </p:nvSpPr>
        <p:spPr>
          <a:xfrm>
            <a:off x="2895600" y="2489200"/>
            <a:ext cx="6858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行列选择线交叉处无 </a:t>
            </a:r>
            <a:r>
              <a:rPr lang="en-US" altLang="zh-CN" sz="2800" b="1" dirty="0">
                <a:latin typeface="Times New Roman" panose="02020603050405020304" pitchFamily="18" charset="0"/>
              </a:rPr>
              <a:t>MOS </a:t>
            </a:r>
            <a:r>
              <a:rPr lang="zh-CN" altLang="en-US" sz="2800" b="1" dirty="0">
                <a:latin typeface="Times New Roman" panose="02020603050405020304" pitchFamily="18" charset="0"/>
              </a:rPr>
              <a:t>管为“</a:t>
            </a:r>
            <a:r>
              <a:rPr lang="en-US" altLang="zh-CN" sz="2800" b="1" dirty="0">
                <a:latin typeface="Times New Roman" panose="02020603050405020304" pitchFamily="18" charset="0"/>
              </a:rPr>
              <a:t>0”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12326" name="Text Box 6"/>
          <p:cNvSpPr txBox="1"/>
          <p:nvPr/>
        </p:nvSpPr>
        <p:spPr>
          <a:xfrm>
            <a:off x="2286000" y="3124200"/>
            <a:ext cx="453961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2.  PROM (</a:t>
            </a:r>
            <a:r>
              <a:rPr lang="zh-CN" altLang="en-US" sz="3200" b="1" dirty="0">
                <a:latin typeface="Times New Roman" panose="02020603050405020304" pitchFamily="18" charset="0"/>
              </a:rPr>
              <a:t>一次性编程</a:t>
            </a:r>
            <a:r>
              <a:rPr lang="en-US" altLang="zh-CN" sz="3200" b="1" dirty="0">
                <a:latin typeface="Times New Roman" panose="02020603050405020304" pitchFamily="18" charset="0"/>
              </a:rPr>
              <a:t>)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12327" name="Group 7"/>
          <p:cNvGrpSpPr/>
          <p:nvPr/>
        </p:nvGrpSpPr>
        <p:grpSpPr>
          <a:xfrm>
            <a:off x="2743200" y="3810000"/>
            <a:ext cx="4268788" cy="2819400"/>
            <a:chOff x="672" y="2400"/>
            <a:chExt cx="2689" cy="1776"/>
          </a:xfrm>
        </p:grpSpPr>
        <p:grpSp>
          <p:nvGrpSpPr>
            <p:cNvPr id="312337" name="Group 8"/>
            <p:cNvGrpSpPr/>
            <p:nvPr/>
          </p:nvGrpSpPr>
          <p:grpSpPr>
            <a:xfrm>
              <a:off x="1344" y="2400"/>
              <a:ext cx="1968" cy="1680"/>
              <a:chOff x="1344" y="2544"/>
              <a:chExt cx="1968" cy="1680"/>
            </a:xfrm>
          </p:grpSpPr>
          <p:sp>
            <p:nvSpPr>
              <p:cNvPr id="312342" name="Line 9"/>
              <p:cNvSpPr/>
              <p:nvPr/>
            </p:nvSpPr>
            <p:spPr>
              <a:xfrm>
                <a:off x="1344" y="2784"/>
                <a:ext cx="1968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2343" name="Line 10"/>
              <p:cNvSpPr/>
              <p:nvPr/>
            </p:nvSpPr>
            <p:spPr>
              <a:xfrm>
                <a:off x="2928" y="2544"/>
                <a:ext cx="0" cy="168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2344" name="Freeform 11"/>
              <p:cNvSpPr/>
              <p:nvPr/>
            </p:nvSpPr>
            <p:spPr>
              <a:xfrm>
                <a:off x="1872" y="2784"/>
                <a:ext cx="288" cy="480"/>
              </a:xfrm>
              <a:custGeom>
                <a:avLst/>
                <a:gdLst>
                  <a:gd name="txL" fmla="*/ 0 w 288"/>
                  <a:gd name="txT" fmla="*/ 0 h 480"/>
                  <a:gd name="txR" fmla="*/ 288 w 288"/>
                  <a:gd name="txB" fmla="*/ 480 h 480"/>
                </a:gdLst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88" y="480"/>
                  </a:cxn>
                </a:cxnLst>
                <a:rect l="txL" t="txT" r="txR" b="txB"/>
                <a:pathLst>
                  <a:path w="288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88" y="48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2345" name="Freeform 12"/>
              <p:cNvSpPr/>
              <p:nvPr/>
            </p:nvSpPr>
            <p:spPr>
              <a:xfrm>
                <a:off x="2160" y="3024"/>
                <a:ext cx="96" cy="240"/>
              </a:xfrm>
              <a:custGeom>
                <a:avLst/>
                <a:gdLst>
                  <a:gd name="txL" fmla="*/ 0 w 96"/>
                  <a:gd name="txT" fmla="*/ 0 h 240"/>
                  <a:gd name="txR" fmla="*/ 96 w 96"/>
                  <a:gd name="txB" fmla="*/ 240 h 240"/>
                </a:gdLst>
                <a:ahLst/>
                <a:cxnLst>
                  <a:cxn ang="0">
                    <a:pos x="0" y="240"/>
                  </a:cxn>
                  <a:cxn ang="0">
                    <a:pos x="96" y="144"/>
                  </a:cxn>
                  <a:cxn ang="0">
                    <a:pos x="96" y="0"/>
                  </a:cxn>
                </a:cxnLst>
                <a:rect l="txL" t="txT" r="txR" b="txB"/>
                <a:pathLst>
                  <a:path w="96" h="240">
                    <a:moveTo>
                      <a:pt x="0" y="240"/>
                    </a:moveTo>
                    <a:lnTo>
                      <a:pt x="96" y="144"/>
                    </a:lnTo>
                    <a:lnTo>
                      <a:pt x="96" y="0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2346" name="Line 13"/>
              <p:cNvSpPr/>
              <p:nvPr/>
            </p:nvSpPr>
            <p:spPr>
              <a:xfrm>
                <a:off x="2160" y="3168"/>
                <a:ext cx="0" cy="192"/>
              </a:xfrm>
              <a:prstGeom prst="line">
                <a:avLst/>
              </a:prstGeom>
              <a:ln w="762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2347" name="Line 14"/>
              <p:cNvSpPr/>
              <p:nvPr/>
            </p:nvSpPr>
            <p:spPr>
              <a:xfrm>
                <a:off x="2160" y="3264"/>
                <a:ext cx="144" cy="144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triangle" w="sm" len="sm"/>
              </a:ln>
            </p:spPr>
          </p:sp>
          <p:sp>
            <p:nvSpPr>
              <p:cNvPr id="312348" name="Freeform 15"/>
              <p:cNvSpPr/>
              <p:nvPr/>
            </p:nvSpPr>
            <p:spPr>
              <a:xfrm>
                <a:off x="2208" y="3552"/>
                <a:ext cx="96" cy="288"/>
              </a:xfrm>
              <a:custGeom>
                <a:avLst/>
                <a:gdLst>
                  <a:gd name="txL" fmla="*/ 0 w 144"/>
                  <a:gd name="txT" fmla="*/ 0 h 336"/>
                  <a:gd name="txR" fmla="*/ 144 w 144"/>
                  <a:gd name="txB" fmla="*/ 336 h 336"/>
                </a:gdLst>
                <a:ahLst/>
                <a:cxnLst>
                  <a:cxn ang="0">
                    <a:pos x="144" y="0"/>
                  </a:cxn>
                  <a:cxn ang="0">
                    <a:pos x="0" y="96"/>
                  </a:cxn>
                  <a:cxn ang="0">
                    <a:pos x="144" y="240"/>
                  </a:cxn>
                  <a:cxn ang="0">
                    <a:pos x="0" y="336"/>
                  </a:cxn>
                </a:cxnLst>
                <a:rect l="txL" t="txT" r="txR" b="txB"/>
                <a:pathLst>
                  <a:path w="144" h="336">
                    <a:moveTo>
                      <a:pt x="144" y="0"/>
                    </a:moveTo>
                    <a:cubicBezTo>
                      <a:pt x="72" y="28"/>
                      <a:pt x="0" y="56"/>
                      <a:pt x="0" y="96"/>
                    </a:cubicBezTo>
                    <a:cubicBezTo>
                      <a:pt x="0" y="136"/>
                      <a:pt x="144" y="200"/>
                      <a:pt x="144" y="240"/>
                    </a:cubicBezTo>
                    <a:cubicBezTo>
                      <a:pt x="144" y="280"/>
                      <a:pt x="72" y="308"/>
                      <a:pt x="0" y="336"/>
                    </a:cubicBez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2349" name="Freeform 16"/>
              <p:cNvSpPr/>
              <p:nvPr/>
            </p:nvSpPr>
            <p:spPr>
              <a:xfrm>
                <a:off x="2208" y="3888"/>
                <a:ext cx="720" cy="144"/>
              </a:xfrm>
              <a:custGeom>
                <a:avLst/>
                <a:gdLst>
                  <a:gd name="txL" fmla="*/ 0 w 720"/>
                  <a:gd name="txT" fmla="*/ 0 h 144"/>
                  <a:gd name="txR" fmla="*/ 720 w 720"/>
                  <a:gd name="txB" fmla="*/ 144 h 144"/>
                </a:gdLst>
                <a:ahLst/>
                <a:cxnLst>
                  <a:cxn ang="0">
                    <a:pos x="0" y="0"/>
                  </a:cxn>
                  <a:cxn ang="0">
                    <a:pos x="0" y="144"/>
                  </a:cxn>
                  <a:cxn ang="0">
                    <a:pos x="720" y="144"/>
                  </a:cxn>
                </a:cxnLst>
                <a:rect l="txL" t="txT" r="txR" b="txB"/>
                <a:pathLst>
                  <a:path w="720" h="144">
                    <a:moveTo>
                      <a:pt x="0" y="0"/>
                    </a:moveTo>
                    <a:lnTo>
                      <a:pt x="0" y="144"/>
                    </a:lnTo>
                    <a:lnTo>
                      <a:pt x="720" y="144"/>
                    </a:lnTo>
                  </a:path>
                </a:pathLst>
              </a:custGeom>
              <a:noFill/>
              <a:ln w="571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2350" name="Oval 17"/>
              <p:cNvSpPr/>
              <p:nvPr/>
            </p:nvSpPr>
            <p:spPr>
              <a:xfrm>
                <a:off x="2230" y="2877"/>
                <a:ext cx="209" cy="246"/>
              </a:xfrm>
              <a:prstGeom prst="ellipse">
                <a:avLst/>
              </a:prstGeom>
              <a:noFill/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2351" name="Oval 18"/>
              <p:cNvSpPr/>
              <p:nvPr/>
            </p:nvSpPr>
            <p:spPr>
              <a:xfrm>
                <a:off x="2267" y="3405"/>
                <a:ext cx="209" cy="246"/>
              </a:xfrm>
              <a:prstGeom prst="ellipse">
                <a:avLst/>
              </a:prstGeom>
              <a:noFill/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2352" name="Line 19"/>
              <p:cNvSpPr/>
              <p:nvPr/>
            </p:nvSpPr>
            <p:spPr>
              <a:xfrm>
                <a:off x="2296" y="3408"/>
                <a:ext cx="0" cy="96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2353" name="Oval 20"/>
              <p:cNvSpPr/>
              <p:nvPr/>
            </p:nvSpPr>
            <p:spPr>
              <a:xfrm>
                <a:off x="2180" y="3741"/>
                <a:ext cx="209" cy="246"/>
              </a:xfrm>
              <a:prstGeom prst="ellipse">
                <a:avLst/>
              </a:prstGeom>
              <a:noFill/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>
                <a:spAutoFit/>
              </a:bodyPr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2354" name="Text Box 21"/>
              <p:cNvSpPr txBox="1"/>
              <p:nvPr/>
            </p:nvSpPr>
            <p:spPr>
              <a:xfrm>
                <a:off x="2160" y="2784"/>
                <a:ext cx="672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8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CC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2338" name="Group 22"/>
            <p:cNvGrpSpPr/>
            <p:nvPr/>
          </p:nvGrpSpPr>
          <p:grpSpPr>
            <a:xfrm>
              <a:off x="672" y="2448"/>
              <a:ext cx="2689" cy="1728"/>
              <a:chOff x="672" y="2448"/>
              <a:chExt cx="2689" cy="1728"/>
            </a:xfrm>
          </p:grpSpPr>
          <p:sp>
            <p:nvSpPr>
              <p:cNvPr id="312339" name="Text Box 23"/>
              <p:cNvSpPr txBox="1"/>
              <p:nvPr/>
            </p:nvSpPr>
            <p:spPr>
              <a:xfrm>
                <a:off x="672" y="2448"/>
                <a:ext cx="76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</a:rPr>
                  <a:t>行线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2340" name="Text Box 24"/>
              <p:cNvSpPr txBox="1"/>
              <p:nvPr/>
            </p:nvSpPr>
            <p:spPr>
              <a:xfrm>
                <a:off x="2975" y="3600"/>
                <a:ext cx="386" cy="5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</a:rPr>
                  <a:t>列线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2341" name="Text Box 25"/>
              <p:cNvSpPr txBox="1"/>
              <p:nvPr/>
            </p:nvSpPr>
            <p:spPr>
              <a:xfrm>
                <a:off x="1584" y="3360"/>
                <a:ext cx="76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800" b="1" dirty="0">
                    <a:latin typeface="Times New Roman" panose="02020603050405020304" pitchFamily="18" charset="0"/>
                  </a:rPr>
                  <a:t>熔丝</a:t>
                </a:r>
                <a:endParaRPr lang="zh-CN" altLang="en-US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12328" name="Group 26"/>
          <p:cNvGrpSpPr/>
          <p:nvPr/>
        </p:nvGrpSpPr>
        <p:grpSpPr>
          <a:xfrm>
            <a:off x="7467600" y="4495800"/>
            <a:ext cx="3276600" cy="522288"/>
            <a:chOff x="3600" y="2832"/>
            <a:chExt cx="2064" cy="329"/>
          </a:xfrm>
        </p:grpSpPr>
        <p:sp>
          <p:nvSpPr>
            <p:cNvPr id="312335" name="Text Box 27"/>
            <p:cNvSpPr txBox="1"/>
            <p:nvPr/>
          </p:nvSpPr>
          <p:spPr>
            <a:xfrm>
              <a:off x="3600" y="2832"/>
              <a:ext cx="192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熔丝断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2336" name="Text Box 28"/>
            <p:cNvSpPr txBox="1"/>
            <p:nvPr/>
          </p:nvSpPr>
          <p:spPr>
            <a:xfrm>
              <a:off x="4752" y="2832"/>
              <a:ext cx="91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为 “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0”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2329" name="Group 29"/>
          <p:cNvGrpSpPr/>
          <p:nvPr/>
        </p:nvGrpSpPr>
        <p:grpSpPr>
          <a:xfrm>
            <a:off x="7467600" y="5135563"/>
            <a:ext cx="3048000" cy="522287"/>
            <a:chOff x="3600" y="3235"/>
            <a:chExt cx="1920" cy="329"/>
          </a:xfrm>
        </p:grpSpPr>
        <p:sp>
          <p:nvSpPr>
            <p:cNvPr id="312333" name="Text Box 30"/>
            <p:cNvSpPr txBox="1"/>
            <p:nvPr/>
          </p:nvSpPr>
          <p:spPr>
            <a:xfrm>
              <a:off x="4752" y="3235"/>
              <a:ext cx="76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为 “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1”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2334" name="Text Box 31"/>
            <p:cNvSpPr txBox="1"/>
            <p:nvPr/>
          </p:nvSpPr>
          <p:spPr>
            <a:xfrm>
              <a:off x="3600" y="3235"/>
              <a:ext cx="139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熔丝未断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48864" name="Rectangle 3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2331" name="AutoShape 33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233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13346" name="Text Box 2"/>
          <p:cNvSpPr txBox="1"/>
          <p:nvPr/>
        </p:nvSpPr>
        <p:spPr>
          <a:xfrm>
            <a:off x="1905000" y="457200"/>
            <a:ext cx="6324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3. EPROM (</a:t>
            </a:r>
            <a:r>
              <a:rPr lang="zh-CN" altLang="en-US" sz="3200" b="1" dirty="0">
                <a:latin typeface="Times New Roman" panose="02020603050405020304" pitchFamily="18" charset="0"/>
              </a:rPr>
              <a:t>多次性编程 </a:t>
            </a:r>
            <a:r>
              <a:rPr lang="en-US" altLang="zh-CN" sz="3200" b="1" dirty="0">
                <a:latin typeface="Times New Roman" panose="02020603050405020304" pitchFamily="18" charset="0"/>
              </a:rPr>
              <a:t>)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313347" name="Text Box 3"/>
          <p:cNvSpPr txBox="1"/>
          <p:nvPr/>
        </p:nvSpPr>
        <p:spPr>
          <a:xfrm>
            <a:off x="2667000" y="1295400"/>
            <a:ext cx="5257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(1) N</a:t>
            </a:r>
            <a:r>
              <a:rPr lang="zh-CN" altLang="en-US" sz="2800" b="1" dirty="0">
                <a:latin typeface="Times New Roman" panose="02020603050405020304" pitchFamily="18" charset="0"/>
              </a:rPr>
              <a:t>型沟道浮动栅 </a:t>
            </a:r>
            <a:r>
              <a:rPr lang="en-US" altLang="zh-CN" sz="2800" b="1" dirty="0">
                <a:latin typeface="Times New Roman" panose="02020603050405020304" pitchFamily="18" charset="0"/>
              </a:rPr>
              <a:t>MOS </a:t>
            </a:r>
            <a:r>
              <a:rPr lang="zh-CN" altLang="en-US" sz="2800" b="1" dirty="0">
                <a:latin typeface="Times New Roman" panose="02020603050405020304" pitchFamily="18" charset="0"/>
              </a:rPr>
              <a:t>电路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13348" name="Group 4"/>
          <p:cNvGrpSpPr/>
          <p:nvPr/>
        </p:nvGrpSpPr>
        <p:grpSpPr>
          <a:xfrm>
            <a:off x="7620000" y="2316163"/>
            <a:ext cx="2438400" cy="1781175"/>
            <a:chOff x="3600" y="1459"/>
            <a:chExt cx="1536" cy="1122"/>
          </a:xfrm>
        </p:grpSpPr>
        <p:sp>
          <p:nvSpPr>
            <p:cNvPr id="313419" name="Text Box 5"/>
            <p:cNvSpPr txBox="1"/>
            <p:nvPr/>
          </p:nvSpPr>
          <p:spPr>
            <a:xfrm>
              <a:off x="3600" y="1459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G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栅极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420" name="Text Box 6"/>
            <p:cNvSpPr txBox="1"/>
            <p:nvPr/>
          </p:nvSpPr>
          <p:spPr>
            <a:xfrm>
              <a:off x="3600" y="1875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S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源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421" name="Text Box 7"/>
            <p:cNvSpPr txBox="1"/>
            <p:nvPr/>
          </p:nvSpPr>
          <p:spPr>
            <a:xfrm>
              <a:off x="3600" y="2291"/>
              <a:ext cx="15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漏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3349" name="Text Box 8"/>
          <p:cNvSpPr txBox="1"/>
          <p:nvPr/>
        </p:nvSpPr>
        <p:spPr>
          <a:xfrm>
            <a:off x="7620000" y="4297363"/>
            <a:ext cx="3429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紫外线全部擦洗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13350" name="Group 9"/>
          <p:cNvGrpSpPr/>
          <p:nvPr/>
        </p:nvGrpSpPr>
        <p:grpSpPr>
          <a:xfrm>
            <a:off x="2438400" y="5410200"/>
            <a:ext cx="9372600" cy="460375"/>
            <a:chOff x="336" y="3408"/>
            <a:chExt cx="5904" cy="290"/>
          </a:xfrm>
        </p:grpSpPr>
        <p:sp>
          <p:nvSpPr>
            <p:cNvPr id="313416" name="Text Box 10"/>
            <p:cNvSpPr txBox="1"/>
            <p:nvPr/>
          </p:nvSpPr>
          <p:spPr>
            <a:xfrm>
              <a:off x="336" y="3408"/>
              <a:ext cx="182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端加正电压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417" name="Text Box 11"/>
            <p:cNvSpPr txBox="1"/>
            <p:nvPr/>
          </p:nvSpPr>
          <p:spPr>
            <a:xfrm>
              <a:off x="2064" y="3408"/>
              <a:ext cx="182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形成浮动栅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418" name="Text Box 12"/>
            <p:cNvSpPr txBox="1"/>
            <p:nvPr/>
          </p:nvSpPr>
          <p:spPr>
            <a:xfrm>
              <a:off x="3600" y="3408"/>
              <a:ext cx="264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S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与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D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不导通为 “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0”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3351" name="Group 13"/>
          <p:cNvGrpSpPr/>
          <p:nvPr/>
        </p:nvGrpSpPr>
        <p:grpSpPr>
          <a:xfrm>
            <a:off x="2438400" y="6019800"/>
            <a:ext cx="8229600" cy="460375"/>
            <a:chOff x="336" y="3792"/>
            <a:chExt cx="5184" cy="290"/>
          </a:xfrm>
        </p:grpSpPr>
        <p:sp>
          <p:nvSpPr>
            <p:cNvPr id="313413" name="Text Box 14"/>
            <p:cNvSpPr txBox="1"/>
            <p:nvPr/>
          </p:nvSpPr>
          <p:spPr>
            <a:xfrm>
              <a:off x="336" y="3792"/>
              <a:ext cx="196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D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端不加正电压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414" name="Text Box 15"/>
            <p:cNvSpPr txBox="1"/>
            <p:nvPr/>
          </p:nvSpPr>
          <p:spPr>
            <a:xfrm>
              <a:off x="2064" y="3792"/>
              <a:ext cx="182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</a:rPr>
                <a:t>不形成浮动栅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415" name="Text Box 16"/>
            <p:cNvSpPr txBox="1"/>
            <p:nvPr/>
          </p:nvSpPr>
          <p:spPr>
            <a:xfrm>
              <a:off x="3600" y="3792"/>
              <a:ext cx="192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S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与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D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导通为 “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1”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3352" name="Group 17"/>
          <p:cNvGrpSpPr/>
          <p:nvPr/>
        </p:nvGrpSpPr>
        <p:grpSpPr>
          <a:xfrm>
            <a:off x="2230438" y="2193925"/>
            <a:ext cx="4932362" cy="2835275"/>
            <a:chOff x="445" y="1382"/>
            <a:chExt cx="3107" cy="1786"/>
          </a:xfrm>
        </p:grpSpPr>
        <p:grpSp>
          <p:nvGrpSpPr>
            <p:cNvPr id="313356" name="Group 18"/>
            <p:cNvGrpSpPr/>
            <p:nvPr/>
          </p:nvGrpSpPr>
          <p:grpSpPr>
            <a:xfrm>
              <a:off x="852" y="1929"/>
              <a:ext cx="1901" cy="717"/>
              <a:chOff x="599" y="1833"/>
              <a:chExt cx="1901" cy="717"/>
            </a:xfrm>
          </p:grpSpPr>
          <p:sp>
            <p:nvSpPr>
              <p:cNvPr id="313411" name="Freeform 19"/>
              <p:cNvSpPr/>
              <p:nvPr/>
            </p:nvSpPr>
            <p:spPr>
              <a:xfrm>
                <a:off x="599" y="1833"/>
                <a:ext cx="1901" cy="717"/>
              </a:xfrm>
              <a:custGeom>
                <a:avLst/>
                <a:gdLst>
                  <a:gd name="txL" fmla="*/ 0 w 1759"/>
                  <a:gd name="txT" fmla="*/ 0 h 695"/>
                  <a:gd name="txR" fmla="*/ 1759 w 1759"/>
                  <a:gd name="txB" fmla="*/ 695 h 695"/>
                </a:gdLst>
                <a:ahLst/>
                <a:cxnLst>
                  <a:cxn ang="0">
                    <a:pos x="0" y="689"/>
                  </a:cxn>
                  <a:cxn ang="0">
                    <a:pos x="0" y="652"/>
                  </a:cxn>
                  <a:cxn ang="0">
                    <a:pos x="0" y="621"/>
                  </a:cxn>
                  <a:cxn ang="0">
                    <a:pos x="0" y="0"/>
                  </a:cxn>
                  <a:cxn ang="0">
                    <a:pos x="84" y="0"/>
                  </a:cxn>
                  <a:cxn ang="0">
                    <a:pos x="190" y="12"/>
                  </a:cxn>
                  <a:cxn ang="0">
                    <a:pos x="251" y="92"/>
                  </a:cxn>
                  <a:cxn ang="0">
                    <a:pos x="290" y="289"/>
                  </a:cxn>
                  <a:cxn ang="0">
                    <a:pos x="424" y="289"/>
                  </a:cxn>
                  <a:cxn ang="0">
                    <a:pos x="480" y="49"/>
                  </a:cxn>
                  <a:cxn ang="0">
                    <a:pos x="525" y="12"/>
                  </a:cxn>
                  <a:cxn ang="0">
                    <a:pos x="609" y="12"/>
                  </a:cxn>
                  <a:cxn ang="0">
                    <a:pos x="899" y="12"/>
                  </a:cxn>
                  <a:cxn ang="0">
                    <a:pos x="1234" y="12"/>
                  </a:cxn>
                  <a:cxn ang="0">
                    <a:pos x="1318" y="37"/>
                  </a:cxn>
                  <a:cxn ang="0">
                    <a:pos x="1363" y="172"/>
                  </a:cxn>
                  <a:cxn ang="0">
                    <a:pos x="1368" y="301"/>
                  </a:cxn>
                  <a:cxn ang="0">
                    <a:pos x="1525" y="301"/>
                  </a:cxn>
                  <a:cxn ang="0">
                    <a:pos x="1553" y="67"/>
                  </a:cxn>
                  <a:cxn ang="0">
                    <a:pos x="1642" y="18"/>
                  </a:cxn>
                  <a:cxn ang="0">
                    <a:pos x="1759" y="24"/>
                  </a:cxn>
                  <a:cxn ang="0">
                    <a:pos x="1759" y="695"/>
                  </a:cxn>
                  <a:cxn ang="0">
                    <a:pos x="0" y="689"/>
                  </a:cxn>
                </a:cxnLst>
                <a:rect l="txL" t="txT" r="txR" b="txB"/>
                <a:pathLst>
                  <a:path w="1759" h="695">
                    <a:moveTo>
                      <a:pt x="0" y="689"/>
                    </a:moveTo>
                    <a:lnTo>
                      <a:pt x="0" y="652"/>
                    </a:lnTo>
                    <a:lnTo>
                      <a:pt x="0" y="621"/>
                    </a:lnTo>
                    <a:lnTo>
                      <a:pt x="0" y="0"/>
                    </a:lnTo>
                    <a:lnTo>
                      <a:pt x="84" y="0"/>
                    </a:lnTo>
                    <a:lnTo>
                      <a:pt x="190" y="12"/>
                    </a:lnTo>
                    <a:lnTo>
                      <a:pt x="251" y="92"/>
                    </a:lnTo>
                    <a:lnTo>
                      <a:pt x="290" y="289"/>
                    </a:lnTo>
                    <a:lnTo>
                      <a:pt x="424" y="289"/>
                    </a:lnTo>
                    <a:lnTo>
                      <a:pt x="480" y="49"/>
                    </a:lnTo>
                    <a:lnTo>
                      <a:pt x="525" y="12"/>
                    </a:lnTo>
                    <a:lnTo>
                      <a:pt x="609" y="12"/>
                    </a:lnTo>
                    <a:lnTo>
                      <a:pt x="899" y="12"/>
                    </a:lnTo>
                    <a:lnTo>
                      <a:pt x="1234" y="12"/>
                    </a:lnTo>
                    <a:lnTo>
                      <a:pt x="1318" y="37"/>
                    </a:lnTo>
                    <a:lnTo>
                      <a:pt x="1363" y="172"/>
                    </a:lnTo>
                    <a:lnTo>
                      <a:pt x="1368" y="301"/>
                    </a:lnTo>
                    <a:lnTo>
                      <a:pt x="1525" y="301"/>
                    </a:lnTo>
                    <a:lnTo>
                      <a:pt x="1553" y="67"/>
                    </a:lnTo>
                    <a:lnTo>
                      <a:pt x="1642" y="18"/>
                    </a:lnTo>
                    <a:lnTo>
                      <a:pt x="1759" y="24"/>
                    </a:lnTo>
                    <a:lnTo>
                      <a:pt x="1759" y="695"/>
                    </a:lnTo>
                    <a:lnTo>
                      <a:pt x="0" y="689"/>
                    </a:lnTo>
                    <a:close/>
                  </a:path>
                </a:pathLst>
              </a:custGeom>
              <a:solidFill>
                <a:schemeClr val="folHlink">
                  <a:alpha val="50195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3412" name="Freeform 20"/>
              <p:cNvSpPr/>
              <p:nvPr/>
            </p:nvSpPr>
            <p:spPr>
              <a:xfrm>
                <a:off x="599" y="1833"/>
                <a:ext cx="1901" cy="717"/>
              </a:xfrm>
              <a:custGeom>
                <a:avLst/>
                <a:gdLst>
                  <a:gd name="txL" fmla="*/ 0 w 1759"/>
                  <a:gd name="txT" fmla="*/ 0 h 695"/>
                  <a:gd name="txR" fmla="*/ 1759 w 1759"/>
                  <a:gd name="txB" fmla="*/ 695 h 695"/>
                </a:gdLst>
                <a:ahLst/>
                <a:cxnLst>
                  <a:cxn ang="0">
                    <a:pos x="0" y="689"/>
                  </a:cxn>
                  <a:cxn ang="0">
                    <a:pos x="0" y="652"/>
                  </a:cxn>
                  <a:cxn ang="0">
                    <a:pos x="0" y="621"/>
                  </a:cxn>
                  <a:cxn ang="0">
                    <a:pos x="0" y="0"/>
                  </a:cxn>
                  <a:cxn ang="0">
                    <a:pos x="84" y="0"/>
                  </a:cxn>
                  <a:cxn ang="0">
                    <a:pos x="190" y="12"/>
                  </a:cxn>
                  <a:cxn ang="0">
                    <a:pos x="251" y="92"/>
                  </a:cxn>
                  <a:cxn ang="0">
                    <a:pos x="290" y="289"/>
                  </a:cxn>
                  <a:cxn ang="0">
                    <a:pos x="424" y="289"/>
                  </a:cxn>
                  <a:cxn ang="0">
                    <a:pos x="480" y="49"/>
                  </a:cxn>
                  <a:cxn ang="0">
                    <a:pos x="525" y="12"/>
                  </a:cxn>
                  <a:cxn ang="0">
                    <a:pos x="609" y="12"/>
                  </a:cxn>
                  <a:cxn ang="0">
                    <a:pos x="899" y="12"/>
                  </a:cxn>
                  <a:cxn ang="0">
                    <a:pos x="1234" y="12"/>
                  </a:cxn>
                  <a:cxn ang="0">
                    <a:pos x="1318" y="37"/>
                  </a:cxn>
                  <a:cxn ang="0">
                    <a:pos x="1363" y="172"/>
                  </a:cxn>
                  <a:cxn ang="0">
                    <a:pos x="1368" y="301"/>
                  </a:cxn>
                  <a:cxn ang="0">
                    <a:pos x="1525" y="301"/>
                  </a:cxn>
                  <a:cxn ang="0">
                    <a:pos x="1553" y="67"/>
                  </a:cxn>
                  <a:cxn ang="0">
                    <a:pos x="1642" y="18"/>
                  </a:cxn>
                  <a:cxn ang="0">
                    <a:pos x="1759" y="24"/>
                  </a:cxn>
                  <a:cxn ang="0">
                    <a:pos x="1759" y="695"/>
                  </a:cxn>
                  <a:cxn ang="0">
                    <a:pos x="0" y="689"/>
                  </a:cxn>
                </a:cxnLst>
                <a:rect l="txL" t="txT" r="txR" b="txB"/>
                <a:pathLst>
                  <a:path w="1759" h="695">
                    <a:moveTo>
                      <a:pt x="0" y="689"/>
                    </a:moveTo>
                    <a:lnTo>
                      <a:pt x="0" y="652"/>
                    </a:lnTo>
                    <a:lnTo>
                      <a:pt x="0" y="621"/>
                    </a:lnTo>
                    <a:lnTo>
                      <a:pt x="0" y="0"/>
                    </a:lnTo>
                    <a:lnTo>
                      <a:pt x="84" y="0"/>
                    </a:lnTo>
                    <a:lnTo>
                      <a:pt x="190" y="12"/>
                    </a:lnTo>
                    <a:lnTo>
                      <a:pt x="251" y="92"/>
                    </a:lnTo>
                    <a:lnTo>
                      <a:pt x="290" y="289"/>
                    </a:lnTo>
                    <a:lnTo>
                      <a:pt x="424" y="289"/>
                    </a:lnTo>
                    <a:lnTo>
                      <a:pt x="480" y="49"/>
                    </a:lnTo>
                    <a:lnTo>
                      <a:pt x="525" y="12"/>
                    </a:lnTo>
                    <a:lnTo>
                      <a:pt x="609" y="12"/>
                    </a:lnTo>
                    <a:lnTo>
                      <a:pt x="899" y="12"/>
                    </a:lnTo>
                    <a:lnTo>
                      <a:pt x="1234" y="12"/>
                    </a:lnTo>
                    <a:lnTo>
                      <a:pt x="1318" y="37"/>
                    </a:lnTo>
                    <a:lnTo>
                      <a:pt x="1363" y="172"/>
                    </a:lnTo>
                    <a:lnTo>
                      <a:pt x="1368" y="301"/>
                    </a:lnTo>
                    <a:lnTo>
                      <a:pt x="1525" y="301"/>
                    </a:lnTo>
                    <a:lnTo>
                      <a:pt x="1553" y="67"/>
                    </a:lnTo>
                    <a:lnTo>
                      <a:pt x="1642" y="18"/>
                    </a:lnTo>
                    <a:lnTo>
                      <a:pt x="1759" y="24"/>
                    </a:lnTo>
                    <a:lnTo>
                      <a:pt x="1759" y="695"/>
                    </a:lnTo>
                    <a:lnTo>
                      <a:pt x="0" y="689"/>
                    </a:lnTo>
                    <a:close/>
                  </a:path>
                </a:pathLst>
              </a:custGeom>
              <a:solidFill>
                <a:schemeClr val="folHlink">
                  <a:alpha val="50195"/>
                </a:schemeClr>
              </a:solidFill>
              <a:ln w="17463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3357" name="Oval 21"/>
            <p:cNvSpPr/>
            <p:nvPr/>
          </p:nvSpPr>
          <p:spPr>
            <a:xfrm>
              <a:off x="1538" y="2377"/>
              <a:ext cx="693" cy="180"/>
            </a:xfrm>
            <a:prstGeom prst="ellipse">
              <a:avLst/>
            </a:prstGeom>
            <a:solidFill>
              <a:srgbClr val="FFFFFF"/>
            </a:solidFill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58" name="Rectangle 22"/>
            <p:cNvSpPr/>
            <p:nvPr/>
          </p:nvSpPr>
          <p:spPr>
            <a:xfrm>
              <a:off x="852" y="2639"/>
              <a:ext cx="1907" cy="529"/>
            </a:xfrm>
            <a:prstGeom prst="rect">
              <a:avLst/>
            </a:prstGeom>
            <a:solidFill>
              <a:srgbClr val="FFFFFF"/>
            </a:solidFill>
            <a:ln w="174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59" name="Rectangle 23"/>
            <p:cNvSpPr/>
            <p:nvPr/>
          </p:nvSpPr>
          <p:spPr>
            <a:xfrm>
              <a:off x="1191" y="2107"/>
              <a:ext cx="129" cy="105"/>
            </a:xfrm>
            <a:prstGeom prst="rect">
              <a:avLst/>
            </a:prstGeom>
            <a:solidFill>
              <a:srgbClr val="000000"/>
            </a:solidFill>
            <a:ln w="174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60" name="Rectangle 24"/>
            <p:cNvSpPr/>
            <p:nvPr/>
          </p:nvSpPr>
          <p:spPr>
            <a:xfrm>
              <a:off x="2371" y="2139"/>
              <a:ext cx="129" cy="104"/>
            </a:xfrm>
            <a:prstGeom prst="rect">
              <a:avLst/>
            </a:prstGeom>
            <a:solidFill>
              <a:srgbClr val="000000"/>
            </a:solidFill>
            <a:ln w="174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61" name="Rectangle 25"/>
            <p:cNvSpPr/>
            <p:nvPr/>
          </p:nvSpPr>
          <p:spPr>
            <a:xfrm>
              <a:off x="1854" y="1947"/>
              <a:ext cx="134" cy="105"/>
            </a:xfrm>
            <a:prstGeom prst="rect">
              <a:avLst/>
            </a:prstGeom>
            <a:solidFill>
              <a:srgbClr val="000000"/>
            </a:solidFill>
            <a:ln w="17463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62" name="Freeform 26"/>
            <p:cNvSpPr/>
            <p:nvPr/>
          </p:nvSpPr>
          <p:spPr>
            <a:xfrm>
              <a:off x="842" y="2606"/>
              <a:ext cx="542" cy="160"/>
            </a:xfrm>
            <a:custGeom>
              <a:avLst/>
              <a:gdLst>
                <a:gd name="txL" fmla="*/ 0 w 542"/>
                <a:gd name="txT" fmla="*/ 0 h 160"/>
                <a:gd name="txR" fmla="*/ 542 w 542"/>
                <a:gd name="txB" fmla="*/ 160 h 160"/>
              </a:gdLst>
              <a:ahLst/>
              <a:cxnLst>
                <a:cxn ang="0">
                  <a:pos x="542" y="0"/>
                </a:cxn>
                <a:cxn ang="0">
                  <a:pos x="530" y="61"/>
                </a:cxn>
                <a:cxn ang="0">
                  <a:pos x="519" y="92"/>
                </a:cxn>
                <a:cxn ang="0">
                  <a:pos x="502" y="117"/>
                </a:cxn>
                <a:cxn ang="0">
                  <a:pos x="480" y="135"/>
                </a:cxn>
                <a:cxn ang="0">
                  <a:pos x="458" y="148"/>
                </a:cxn>
                <a:cxn ang="0">
                  <a:pos x="424" y="154"/>
                </a:cxn>
                <a:cxn ang="0">
                  <a:pos x="402" y="160"/>
                </a:cxn>
                <a:cxn ang="0">
                  <a:pos x="374" y="160"/>
                </a:cxn>
                <a:cxn ang="0">
                  <a:pos x="335" y="160"/>
                </a:cxn>
                <a:cxn ang="0">
                  <a:pos x="290" y="160"/>
                </a:cxn>
                <a:cxn ang="0">
                  <a:pos x="234" y="160"/>
                </a:cxn>
                <a:cxn ang="0">
                  <a:pos x="178" y="160"/>
                </a:cxn>
                <a:cxn ang="0">
                  <a:pos x="123" y="160"/>
                </a:cxn>
                <a:cxn ang="0">
                  <a:pos x="72" y="160"/>
                </a:cxn>
                <a:cxn ang="0">
                  <a:pos x="28" y="160"/>
                </a:cxn>
                <a:cxn ang="0">
                  <a:pos x="0" y="160"/>
                </a:cxn>
              </a:cxnLst>
              <a:rect l="txL" t="txT" r="txR" b="txB"/>
              <a:pathLst>
                <a:path w="542" h="160">
                  <a:moveTo>
                    <a:pt x="542" y="0"/>
                  </a:moveTo>
                  <a:lnTo>
                    <a:pt x="530" y="61"/>
                  </a:lnTo>
                  <a:lnTo>
                    <a:pt x="519" y="92"/>
                  </a:lnTo>
                  <a:lnTo>
                    <a:pt x="502" y="117"/>
                  </a:lnTo>
                  <a:lnTo>
                    <a:pt x="480" y="135"/>
                  </a:lnTo>
                  <a:lnTo>
                    <a:pt x="458" y="148"/>
                  </a:lnTo>
                  <a:lnTo>
                    <a:pt x="424" y="154"/>
                  </a:lnTo>
                  <a:lnTo>
                    <a:pt x="402" y="160"/>
                  </a:lnTo>
                  <a:lnTo>
                    <a:pt x="374" y="160"/>
                  </a:lnTo>
                  <a:lnTo>
                    <a:pt x="335" y="160"/>
                  </a:lnTo>
                  <a:lnTo>
                    <a:pt x="290" y="160"/>
                  </a:lnTo>
                  <a:lnTo>
                    <a:pt x="234" y="160"/>
                  </a:lnTo>
                  <a:lnTo>
                    <a:pt x="178" y="160"/>
                  </a:lnTo>
                  <a:lnTo>
                    <a:pt x="123" y="160"/>
                  </a:lnTo>
                  <a:lnTo>
                    <a:pt x="72" y="160"/>
                  </a:lnTo>
                  <a:lnTo>
                    <a:pt x="28" y="160"/>
                  </a:lnTo>
                  <a:lnTo>
                    <a:pt x="0" y="16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63" name="Freeform 27"/>
            <p:cNvSpPr/>
            <p:nvPr/>
          </p:nvSpPr>
          <p:spPr>
            <a:xfrm>
              <a:off x="2273" y="2606"/>
              <a:ext cx="502" cy="154"/>
            </a:xfrm>
            <a:custGeom>
              <a:avLst/>
              <a:gdLst>
                <a:gd name="txL" fmla="*/ 0 w 502"/>
                <a:gd name="txT" fmla="*/ 0 h 154"/>
                <a:gd name="txR" fmla="*/ 502 w 502"/>
                <a:gd name="txB" fmla="*/ 154 h 154"/>
              </a:gdLst>
              <a:ahLst/>
              <a:cxnLst>
                <a:cxn ang="0">
                  <a:pos x="0" y="0"/>
                </a:cxn>
                <a:cxn ang="0">
                  <a:pos x="11" y="61"/>
                </a:cxn>
                <a:cxn ang="0">
                  <a:pos x="22" y="92"/>
                </a:cxn>
                <a:cxn ang="0">
                  <a:pos x="39" y="111"/>
                </a:cxn>
                <a:cxn ang="0">
                  <a:pos x="55" y="129"/>
                </a:cxn>
                <a:cxn ang="0">
                  <a:pos x="78" y="141"/>
                </a:cxn>
                <a:cxn ang="0">
                  <a:pos x="111" y="148"/>
                </a:cxn>
                <a:cxn ang="0">
                  <a:pos x="128" y="154"/>
                </a:cxn>
                <a:cxn ang="0">
                  <a:pos x="156" y="154"/>
                </a:cxn>
                <a:cxn ang="0">
                  <a:pos x="189" y="154"/>
                </a:cxn>
                <a:cxn ang="0">
                  <a:pos x="234" y="154"/>
                </a:cxn>
                <a:cxn ang="0">
                  <a:pos x="284" y="154"/>
                </a:cxn>
                <a:cxn ang="0">
                  <a:pos x="340" y="154"/>
                </a:cxn>
                <a:cxn ang="0">
                  <a:pos x="390" y="154"/>
                </a:cxn>
                <a:cxn ang="0">
                  <a:pos x="435" y="154"/>
                </a:cxn>
                <a:cxn ang="0">
                  <a:pos x="474" y="154"/>
                </a:cxn>
                <a:cxn ang="0">
                  <a:pos x="502" y="154"/>
                </a:cxn>
              </a:cxnLst>
              <a:rect l="txL" t="txT" r="txR" b="txB"/>
              <a:pathLst>
                <a:path w="502" h="154">
                  <a:moveTo>
                    <a:pt x="0" y="0"/>
                  </a:moveTo>
                  <a:lnTo>
                    <a:pt x="11" y="61"/>
                  </a:lnTo>
                  <a:lnTo>
                    <a:pt x="22" y="92"/>
                  </a:lnTo>
                  <a:lnTo>
                    <a:pt x="39" y="111"/>
                  </a:lnTo>
                  <a:lnTo>
                    <a:pt x="55" y="129"/>
                  </a:lnTo>
                  <a:lnTo>
                    <a:pt x="78" y="141"/>
                  </a:lnTo>
                  <a:lnTo>
                    <a:pt x="111" y="148"/>
                  </a:lnTo>
                  <a:lnTo>
                    <a:pt x="128" y="154"/>
                  </a:lnTo>
                  <a:lnTo>
                    <a:pt x="156" y="154"/>
                  </a:lnTo>
                  <a:lnTo>
                    <a:pt x="189" y="154"/>
                  </a:lnTo>
                  <a:lnTo>
                    <a:pt x="234" y="154"/>
                  </a:lnTo>
                  <a:lnTo>
                    <a:pt x="284" y="154"/>
                  </a:lnTo>
                  <a:lnTo>
                    <a:pt x="340" y="154"/>
                  </a:lnTo>
                  <a:lnTo>
                    <a:pt x="390" y="154"/>
                  </a:lnTo>
                  <a:lnTo>
                    <a:pt x="435" y="154"/>
                  </a:lnTo>
                  <a:lnTo>
                    <a:pt x="474" y="154"/>
                  </a:lnTo>
                  <a:lnTo>
                    <a:pt x="502" y="154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64" name="Oval 28"/>
            <p:cNvSpPr/>
            <p:nvPr/>
          </p:nvSpPr>
          <p:spPr>
            <a:xfrm>
              <a:off x="1259" y="2667"/>
              <a:ext cx="40" cy="43"/>
            </a:xfrm>
            <a:prstGeom prst="ellipse">
              <a:avLst/>
            </a:prstGeom>
            <a:solidFill>
              <a:srgbClr val="000000"/>
            </a:solidFill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65" name="Oval 29"/>
            <p:cNvSpPr/>
            <p:nvPr/>
          </p:nvSpPr>
          <p:spPr>
            <a:xfrm>
              <a:off x="2401" y="2686"/>
              <a:ext cx="33" cy="43"/>
            </a:xfrm>
            <a:prstGeom prst="ellipse">
              <a:avLst/>
            </a:prstGeom>
            <a:solidFill>
              <a:srgbClr val="000000"/>
            </a:solidFill>
            <a:ln w="17463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66" name="Line 30"/>
            <p:cNvSpPr/>
            <p:nvPr/>
          </p:nvSpPr>
          <p:spPr>
            <a:xfrm flipH="1">
              <a:off x="1173" y="2706"/>
              <a:ext cx="86" cy="13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367" name="Line 31"/>
            <p:cNvSpPr/>
            <p:nvPr/>
          </p:nvSpPr>
          <p:spPr>
            <a:xfrm>
              <a:off x="2423" y="2704"/>
              <a:ext cx="79" cy="142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368" name="Rectangle 32"/>
            <p:cNvSpPr/>
            <p:nvPr/>
          </p:nvSpPr>
          <p:spPr>
            <a:xfrm>
              <a:off x="1284" y="1485"/>
              <a:ext cx="218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69" name="Rectangle 33"/>
            <p:cNvSpPr/>
            <p:nvPr/>
          </p:nvSpPr>
          <p:spPr>
            <a:xfrm>
              <a:off x="1213" y="1398"/>
              <a:ext cx="10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S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70" name="Rectangle 34"/>
            <p:cNvSpPr/>
            <p:nvPr/>
          </p:nvSpPr>
          <p:spPr>
            <a:xfrm>
              <a:off x="1831" y="1467"/>
              <a:ext cx="212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71" name="Rectangle 35"/>
            <p:cNvSpPr/>
            <p:nvPr/>
          </p:nvSpPr>
          <p:spPr>
            <a:xfrm>
              <a:off x="1843" y="1398"/>
              <a:ext cx="14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72" name="Rectangle 36"/>
            <p:cNvSpPr/>
            <p:nvPr/>
          </p:nvSpPr>
          <p:spPr>
            <a:xfrm>
              <a:off x="2395" y="1485"/>
              <a:ext cx="218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73" name="Rectangle 37"/>
            <p:cNvSpPr/>
            <p:nvPr/>
          </p:nvSpPr>
          <p:spPr>
            <a:xfrm>
              <a:off x="2384" y="1398"/>
              <a:ext cx="13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74" name="Rectangle 38"/>
            <p:cNvSpPr/>
            <p:nvPr/>
          </p:nvSpPr>
          <p:spPr>
            <a:xfrm>
              <a:off x="947" y="2784"/>
              <a:ext cx="212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75" name="Rectangle 39"/>
            <p:cNvSpPr/>
            <p:nvPr/>
          </p:nvSpPr>
          <p:spPr>
            <a:xfrm>
              <a:off x="985" y="2840"/>
              <a:ext cx="10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76" name="Rectangle 40"/>
            <p:cNvSpPr/>
            <p:nvPr/>
          </p:nvSpPr>
          <p:spPr>
            <a:xfrm>
              <a:off x="1096" y="2821"/>
              <a:ext cx="41" cy="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77" name="Rectangle 41"/>
            <p:cNvSpPr/>
            <p:nvPr/>
          </p:nvSpPr>
          <p:spPr>
            <a:xfrm>
              <a:off x="2502" y="2784"/>
              <a:ext cx="212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78" name="Rectangle 42"/>
            <p:cNvSpPr/>
            <p:nvPr/>
          </p:nvSpPr>
          <p:spPr>
            <a:xfrm>
              <a:off x="2530" y="2840"/>
              <a:ext cx="10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79" name="Rectangle 43"/>
            <p:cNvSpPr/>
            <p:nvPr/>
          </p:nvSpPr>
          <p:spPr>
            <a:xfrm>
              <a:off x="2637" y="2821"/>
              <a:ext cx="41" cy="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9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80" name="Rectangle 44"/>
            <p:cNvSpPr/>
            <p:nvPr/>
          </p:nvSpPr>
          <p:spPr>
            <a:xfrm>
              <a:off x="1703" y="2747"/>
              <a:ext cx="553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81" name="Rectangle 45"/>
            <p:cNvSpPr/>
            <p:nvPr/>
          </p:nvSpPr>
          <p:spPr>
            <a:xfrm>
              <a:off x="1683" y="2820"/>
              <a:ext cx="88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82" name="Rectangle 46"/>
            <p:cNvSpPr/>
            <p:nvPr/>
          </p:nvSpPr>
          <p:spPr>
            <a:xfrm>
              <a:off x="1772" y="2820"/>
              <a:ext cx="288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基片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83" name="Rectangle 47"/>
            <p:cNvSpPr/>
            <p:nvPr/>
          </p:nvSpPr>
          <p:spPr>
            <a:xfrm>
              <a:off x="2855" y="2210"/>
              <a:ext cx="14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84" name="Rectangle 48"/>
            <p:cNvSpPr/>
            <p:nvPr/>
          </p:nvSpPr>
          <p:spPr>
            <a:xfrm>
              <a:off x="3339" y="1787"/>
              <a:ext cx="213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85" name="Rectangle 49"/>
            <p:cNvSpPr/>
            <p:nvPr/>
          </p:nvSpPr>
          <p:spPr>
            <a:xfrm>
              <a:off x="3406" y="1743"/>
              <a:ext cx="13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D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86" name="Rectangle 50"/>
            <p:cNvSpPr/>
            <p:nvPr/>
          </p:nvSpPr>
          <p:spPr>
            <a:xfrm>
              <a:off x="3339" y="2649"/>
              <a:ext cx="213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87" name="Rectangle 51"/>
            <p:cNvSpPr/>
            <p:nvPr/>
          </p:nvSpPr>
          <p:spPr>
            <a:xfrm>
              <a:off x="3412" y="2737"/>
              <a:ext cx="107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S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88" name="Freeform 52"/>
            <p:cNvSpPr/>
            <p:nvPr/>
          </p:nvSpPr>
          <p:spPr>
            <a:xfrm>
              <a:off x="2814" y="1641"/>
              <a:ext cx="222" cy="4"/>
            </a:xfrm>
            <a:custGeom>
              <a:avLst/>
              <a:gdLst>
                <a:gd name="txL" fmla="*/ 0 w 222"/>
                <a:gd name="txT" fmla="*/ 0 h 4"/>
                <a:gd name="txR" fmla="*/ 222 w 222"/>
                <a:gd name="txB" fmla="*/ 4 h 4"/>
              </a:gdLst>
              <a:ahLst/>
              <a:cxnLst>
                <a:cxn ang="0">
                  <a:pos x="0" y="4"/>
                </a:cxn>
                <a:cxn ang="0">
                  <a:pos x="222" y="0"/>
                </a:cxn>
              </a:cxnLst>
              <a:rect l="txL" t="txT" r="txR" b="txB"/>
              <a:pathLst>
                <a:path w="222" h="4">
                  <a:moveTo>
                    <a:pt x="0" y="4"/>
                  </a:moveTo>
                  <a:lnTo>
                    <a:pt x="222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89" name="Rectangle 53"/>
            <p:cNvSpPr/>
            <p:nvPr/>
          </p:nvSpPr>
          <p:spPr>
            <a:xfrm>
              <a:off x="2670" y="1396"/>
              <a:ext cx="48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浮动栅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90" name="Rectangle 54"/>
            <p:cNvSpPr/>
            <p:nvPr/>
          </p:nvSpPr>
          <p:spPr>
            <a:xfrm>
              <a:off x="781" y="1547"/>
              <a:ext cx="425" cy="265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391" name="Rectangle 55"/>
            <p:cNvSpPr/>
            <p:nvPr/>
          </p:nvSpPr>
          <p:spPr>
            <a:xfrm>
              <a:off x="781" y="1602"/>
              <a:ext cx="120" cy="1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15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92" name="Rectangle 56"/>
            <p:cNvSpPr/>
            <p:nvPr/>
          </p:nvSpPr>
          <p:spPr>
            <a:xfrm>
              <a:off x="445" y="1382"/>
              <a:ext cx="30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SiO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93" name="Rectangle 57"/>
            <p:cNvSpPr/>
            <p:nvPr/>
          </p:nvSpPr>
          <p:spPr>
            <a:xfrm>
              <a:off x="761" y="1460"/>
              <a:ext cx="64" cy="15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600" b="1" dirty="0">
                  <a:latin typeface="Times New Roman" panose="02020603050405020304" pitchFamily="18" charset="0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3394" name="Text Box 58"/>
            <p:cNvSpPr txBox="1"/>
            <p:nvPr/>
          </p:nvSpPr>
          <p:spPr>
            <a:xfrm>
              <a:off x="1479" y="2561"/>
              <a:ext cx="81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+ + + + +</a:t>
              </a:r>
              <a:endParaRPr lang="en-US" altLang="zh-CN" sz="2400" b="1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3395" name="Text Box 59"/>
            <p:cNvSpPr txBox="1"/>
            <p:nvPr/>
          </p:nvSpPr>
          <p:spPr>
            <a:xfrm>
              <a:off x="1686" y="2224"/>
              <a:ext cx="53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rIns="1800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_ _ _</a:t>
              </a:r>
              <a:r>
                <a:rPr lang="en-US" altLang="zh-CN" sz="24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400" dirty="0">
                <a:solidFill>
                  <a:schemeClr val="bg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3396" name="Line 60"/>
            <p:cNvSpPr/>
            <p:nvPr/>
          </p:nvSpPr>
          <p:spPr>
            <a:xfrm>
              <a:off x="501" y="1703"/>
              <a:ext cx="29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397" name="Line 61"/>
            <p:cNvSpPr/>
            <p:nvPr/>
          </p:nvSpPr>
          <p:spPr>
            <a:xfrm>
              <a:off x="782" y="1703"/>
              <a:ext cx="380" cy="78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398" name="Line 62"/>
            <p:cNvSpPr/>
            <p:nvPr/>
          </p:nvSpPr>
          <p:spPr>
            <a:xfrm>
              <a:off x="1271" y="1660"/>
              <a:ext cx="0" cy="46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399" name="Line 63"/>
            <p:cNvSpPr/>
            <p:nvPr/>
          </p:nvSpPr>
          <p:spPr>
            <a:xfrm>
              <a:off x="1925" y="1660"/>
              <a:ext cx="0" cy="29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400" name="Line 64"/>
            <p:cNvSpPr/>
            <p:nvPr/>
          </p:nvSpPr>
          <p:spPr>
            <a:xfrm>
              <a:off x="2438" y="1660"/>
              <a:ext cx="0" cy="4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401" name="Freeform 65"/>
            <p:cNvSpPr/>
            <p:nvPr/>
          </p:nvSpPr>
          <p:spPr>
            <a:xfrm>
              <a:off x="3032" y="1649"/>
              <a:ext cx="197" cy="391"/>
            </a:xfrm>
            <a:custGeom>
              <a:avLst/>
              <a:gdLst>
                <a:gd name="txL" fmla="*/ 0 w 197"/>
                <a:gd name="txT" fmla="*/ 0 h 391"/>
                <a:gd name="txR" fmla="*/ 197 w 197"/>
                <a:gd name="txB" fmla="*/ 391 h 391"/>
              </a:gdLst>
              <a:ahLst/>
              <a:cxnLst>
                <a:cxn ang="0">
                  <a:pos x="0" y="0"/>
                </a:cxn>
                <a:cxn ang="0">
                  <a:pos x="197" y="391"/>
                </a:cxn>
              </a:cxnLst>
              <a:rect l="txL" t="txT" r="txR" b="txB"/>
              <a:pathLst>
                <a:path w="197" h="391">
                  <a:moveTo>
                    <a:pt x="0" y="0"/>
                  </a:moveTo>
                  <a:lnTo>
                    <a:pt x="197" y="39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3402" name="Line 66"/>
            <p:cNvSpPr/>
            <p:nvPr/>
          </p:nvSpPr>
          <p:spPr>
            <a:xfrm flipH="1">
              <a:off x="2077" y="1638"/>
              <a:ext cx="739" cy="7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403" name="Line 67"/>
            <p:cNvSpPr/>
            <p:nvPr/>
          </p:nvSpPr>
          <p:spPr>
            <a:xfrm>
              <a:off x="3066" y="2334"/>
              <a:ext cx="8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404" name="Line 68"/>
            <p:cNvSpPr/>
            <p:nvPr/>
          </p:nvSpPr>
          <p:spPr>
            <a:xfrm flipH="1">
              <a:off x="3163" y="2235"/>
              <a:ext cx="1" cy="19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405" name="Line 69"/>
            <p:cNvSpPr/>
            <p:nvPr/>
          </p:nvSpPr>
          <p:spPr>
            <a:xfrm>
              <a:off x="3294" y="2149"/>
              <a:ext cx="0" cy="3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406" name="Line 70"/>
            <p:cNvSpPr/>
            <p:nvPr/>
          </p:nvSpPr>
          <p:spPr>
            <a:xfrm>
              <a:off x="3294" y="2268"/>
              <a:ext cx="1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407" name="Line 71"/>
            <p:cNvSpPr/>
            <p:nvPr/>
          </p:nvSpPr>
          <p:spPr>
            <a:xfrm flipH="1" flipV="1">
              <a:off x="3446" y="1996"/>
              <a:ext cx="0" cy="28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408" name="Line 72"/>
            <p:cNvSpPr/>
            <p:nvPr/>
          </p:nvSpPr>
          <p:spPr>
            <a:xfrm>
              <a:off x="3294" y="2399"/>
              <a:ext cx="16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409" name="Line 73"/>
            <p:cNvSpPr/>
            <p:nvPr/>
          </p:nvSpPr>
          <p:spPr>
            <a:xfrm>
              <a:off x="3446" y="2389"/>
              <a:ext cx="0" cy="33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3410" name="Line 74"/>
            <p:cNvSpPr/>
            <p:nvPr/>
          </p:nvSpPr>
          <p:spPr>
            <a:xfrm>
              <a:off x="3229" y="2072"/>
              <a:ext cx="1" cy="5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249931" name="Rectangle 7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3354" name="AutoShape 7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335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314370" name="Group 2"/>
          <p:cNvGrpSpPr/>
          <p:nvPr/>
        </p:nvGrpSpPr>
        <p:grpSpPr>
          <a:xfrm>
            <a:off x="1524000" y="1081088"/>
            <a:ext cx="9525000" cy="4637087"/>
            <a:chOff x="0" y="681"/>
            <a:chExt cx="6000" cy="2921"/>
          </a:xfrm>
        </p:grpSpPr>
        <p:grpSp>
          <p:nvGrpSpPr>
            <p:cNvPr id="314383" name="Group 3"/>
            <p:cNvGrpSpPr/>
            <p:nvPr/>
          </p:nvGrpSpPr>
          <p:grpSpPr>
            <a:xfrm>
              <a:off x="0" y="681"/>
              <a:ext cx="3552" cy="2921"/>
              <a:chOff x="0" y="681"/>
              <a:chExt cx="3552" cy="2921"/>
            </a:xfrm>
          </p:grpSpPr>
          <p:sp>
            <p:nvSpPr>
              <p:cNvPr id="314439" name="Text Box 4"/>
              <p:cNvSpPr txBox="1"/>
              <p:nvPr/>
            </p:nvSpPr>
            <p:spPr>
              <a:xfrm>
                <a:off x="1583" y="2793"/>
                <a:ext cx="386" cy="6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40" name="Text Box 5"/>
              <p:cNvSpPr txBox="1"/>
              <p:nvPr/>
            </p:nvSpPr>
            <p:spPr>
              <a:xfrm>
                <a:off x="912" y="1248"/>
                <a:ext cx="1008" cy="25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2000" b="1" dirty="0">
                    <a:latin typeface="Times New Roman" panose="02020603050405020304" pitchFamily="18" charset="0"/>
                  </a:rPr>
                  <a:t>控制逻辑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41" name="Rectangle 6"/>
              <p:cNvSpPr/>
              <p:nvPr/>
            </p:nvSpPr>
            <p:spPr>
              <a:xfrm>
                <a:off x="912" y="1152"/>
                <a:ext cx="768" cy="43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14442" name="Group 7"/>
              <p:cNvGrpSpPr/>
              <p:nvPr/>
            </p:nvGrpSpPr>
            <p:grpSpPr>
              <a:xfrm>
                <a:off x="1002" y="1776"/>
                <a:ext cx="678" cy="480"/>
                <a:chOff x="834" y="1776"/>
                <a:chExt cx="678" cy="480"/>
              </a:xfrm>
            </p:grpSpPr>
            <p:sp>
              <p:nvSpPr>
                <p:cNvPr id="314507" name="Rectangle 8"/>
                <p:cNvSpPr/>
                <p:nvPr/>
              </p:nvSpPr>
              <p:spPr>
                <a:xfrm>
                  <a:off x="864" y="1776"/>
                  <a:ext cx="526" cy="480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4508" name="Text Box 9"/>
                <p:cNvSpPr txBox="1"/>
                <p:nvPr/>
              </p:nvSpPr>
              <p:spPr>
                <a:xfrm>
                  <a:off x="834" y="1904"/>
                  <a:ext cx="67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Y 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译码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14443" name="Group 10"/>
              <p:cNvGrpSpPr/>
              <p:nvPr/>
            </p:nvGrpSpPr>
            <p:grpSpPr>
              <a:xfrm>
                <a:off x="1032" y="2448"/>
                <a:ext cx="528" cy="912"/>
                <a:chOff x="864" y="2544"/>
                <a:chExt cx="528" cy="912"/>
              </a:xfrm>
            </p:grpSpPr>
            <p:sp>
              <p:nvSpPr>
                <p:cNvPr id="314505" name="Rectangle 11"/>
                <p:cNvSpPr/>
                <p:nvPr/>
              </p:nvSpPr>
              <p:spPr>
                <a:xfrm>
                  <a:off x="864" y="2544"/>
                  <a:ext cx="528" cy="912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4506" name="Text Box 12"/>
                <p:cNvSpPr txBox="1"/>
                <p:nvPr/>
              </p:nvSpPr>
              <p:spPr>
                <a:xfrm>
                  <a:off x="1002" y="2582"/>
                  <a:ext cx="333" cy="8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X 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译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码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14444" name="Group 13"/>
              <p:cNvGrpSpPr/>
              <p:nvPr/>
            </p:nvGrpSpPr>
            <p:grpSpPr>
              <a:xfrm>
                <a:off x="1872" y="1218"/>
                <a:ext cx="1440" cy="288"/>
                <a:chOff x="2112" y="1152"/>
                <a:chExt cx="1440" cy="288"/>
              </a:xfrm>
            </p:grpSpPr>
            <p:sp>
              <p:nvSpPr>
                <p:cNvPr id="314503" name="Rectangle 14"/>
                <p:cNvSpPr/>
                <p:nvPr/>
              </p:nvSpPr>
              <p:spPr>
                <a:xfrm>
                  <a:off x="2112" y="1152"/>
                  <a:ext cx="1200" cy="288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4504" name="Text Box 15"/>
                <p:cNvSpPr txBox="1"/>
                <p:nvPr/>
              </p:nvSpPr>
              <p:spPr>
                <a:xfrm>
                  <a:off x="2256" y="1160"/>
                  <a:ext cx="1296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数据缓冲区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14445" name="Group 16"/>
              <p:cNvGrpSpPr/>
              <p:nvPr/>
            </p:nvGrpSpPr>
            <p:grpSpPr>
              <a:xfrm>
                <a:off x="1872" y="1824"/>
                <a:ext cx="1584" cy="432"/>
                <a:chOff x="1968" y="1872"/>
                <a:chExt cx="1584" cy="432"/>
              </a:xfrm>
            </p:grpSpPr>
            <p:sp>
              <p:nvSpPr>
                <p:cNvPr id="314501" name="Rectangle 17"/>
                <p:cNvSpPr/>
                <p:nvPr/>
              </p:nvSpPr>
              <p:spPr>
                <a:xfrm>
                  <a:off x="1968" y="1872"/>
                  <a:ext cx="1200" cy="432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4502" name="Text Box 18"/>
                <p:cNvSpPr txBox="1"/>
                <p:nvPr/>
              </p:nvSpPr>
              <p:spPr>
                <a:xfrm>
                  <a:off x="2256" y="1957"/>
                  <a:ext cx="1296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Y 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控制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14446" name="Group 19"/>
              <p:cNvGrpSpPr/>
              <p:nvPr/>
            </p:nvGrpSpPr>
            <p:grpSpPr>
              <a:xfrm>
                <a:off x="1872" y="2592"/>
                <a:ext cx="1488" cy="576"/>
                <a:chOff x="1968" y="2976"/>
                <a:chExt cx="1488" cy="576"/>
              </a:xfrm>
            </p:grpSpPr>
            <p:sp>
              <p:nvSpPr>
                <p:cNvPr id="314499" name="Rectangle 20"/>
                <p:cNvSpPr/>
                <p:nvPr/>
              </p:nvSpPr>
              <p:spPr>
                <a:xfrm>
                  <a:off x="1968" y="2976"/>
                  <a:ext cx="1200" cy="576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4500" name="Text Box 21"/>
                <p:cNvSpPr txBox="1"/>
                <p:nvPr/>
              </p:nvSpPr>
              <p:spPr>
                <a:xfrm>
                  <a:off x="2160" y="2996"/>
                  <a:ext cx="1296" cy="51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lnSpc>
                      <a:spcPct val="80000"/>
                    </a:lnSpc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128 </a:t>
                  </a:r>
                  <a:r>
                    <a:rPr lang="en-US" altLang="zh-CN" sz="2600" b="1" dirty="0">
                      <a:latin typeface="Times New Roman" panose="02020603050405020304" pitchFamily="18" charset="0"/>
                    </a:rPr>
                    <a:t>×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128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  <a:p>
                  <a:pPr>
                    <a:lnSpc>
                      <a:spcPct val="80000"/>
                    </a:lnSpc>
                    <a:spcBef>
                      <a:spcPct val="50000"/>
                    </a:spcBef>
                  </a:pP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存储矩阵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14447" name="Line 22"/>
              <p:cNvSpPr/>
              <p:nvPr/>
            </p:nvSpPr>
            <p:spPr>
              <a:xfrm flipH="1">
                <a:off x="720" y="124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48" name="Line 23"/>
              <p:cNvSpPr/>
              <p:nvPr/>
            </p:nvSpPr>
            <p:spPr>
              <a:xfrm flipH="1">
                <a:off x="720" y="148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49" name="Line 24"/>
              <p:cNvSpPr/>
              <p:nvPr/>
            </p:nvSpPr>
            <p:spPr>
              <a:xfrm flipH="1">
                <a:off x="850" y="182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50" name="Line 25"/>
              <p:cNvSpPr/>
              <p:nvPr/>
            </p:nvSpPr>
            <p:spPr>
              <a:xfrm flipH="1">
                <a:off x="850" y="220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51" name="Line 26"/>
              <p:cNvSpPr/>
              <p:nvPr/>
            </p:nvSpPr>
            <p:spPr>
              <a:xfrm flipH="1">
                <a:off x="850" y="195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52" name="Line 27"/>
              <p:cNvSpPr/>
              <p:nvPr/>
            </p:nvSpPr>
            <p:spPr>
              <a:xfrm flipH="1">
                <a:off x="850" y="208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53" name="Line 28"/>
              <p:cNvSpPr/>
              <p:nvPr/>
            </p:nvSpPr>
            <p:spPr>
              <a:xfrm flipH="1">
                <a:off x="850" y="263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54" name="Line 29"/>
              <p:cNvSpPr/>
              <p:nvPr/>
            </p:nvSpPr>
            <p:spPr>
              <a:xfrm flipH="1">
                <a:off x="850" y="331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55" name="Line 30"/>
              <p:cNvSpPr/>
              <p:nvPr/>
            </p:nvSpPr>
            <p:spPr>
              <a:xfrm flipH="1">
                <a:off x="850" y="3176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56" name="Line 31"/>
              <p:cNvSpPr/>
              <p:nvPr/>
            </p:nvSpPr>
            <p:spPr>
              <a:xfrm flipH="1">
                <a:off x="850" y="304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57" name="Line 32"/>
              <p:cNvSpPr/>
              <p:nvPr/>
            </p:nvSpPr>
            <p:spPr>
              <a:xfrm flipH="1">
                <a:off x="850" y="290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58" name="Line 33"/>
              <p:cNvSpPr/>
              <p:nvPr/>
            </p:nvSpPr>
            <p:spPr>
              <a:xfrm flipH="1">
                <a:off x="850" y="276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59" name="Line 34"/>
              <p:cNvSpPr/>
              <p:nvPr/>
            </p:nvSpPr>
            <p:spPr>
              <a:xfrm>
                <a:off x="1555" y="2688"/>
                <a:ext cx="31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60" name="Line 35"/>
              <p:cNvSpPr/>
              <p:nvPr/>
            </p:nvSpPr>
            <p:spPr>
              <a:xfrm>
                <a:off x="1555" y="2784"/>
                <a:ext cx="31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61" name="Line 36"/>
              <p:cNvSpPr/>
              <p:nvPr/>
            </p:nvSpPr>
            <p:spPr>
              <a:xfrm>
                <a:off x="1555" y="3072"/>
                <a:ext cx="31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62" name="Line 37"/>
              <p:cNvSpPr/>
              <p:nvPr/>
            </p:nvSpPr>
            <p:spPr>
              <a:xfrm>
                <a:off x="1555" y="2208"/>
                <a:ext cx="31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63" name="Line 38"/>
              <p:cNvSpPr/>
              <p:nvPr/>
            </p:nvSpPr>
            <p:spPr>
              <a:xfrm>
                <a:off x="1555" y="1872"/>
                <a:ext cx="31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64" name="Line 39"/>
              <p:cNvSpPr/>
              <p:nvPr/>
            </p:nvSpPr>
            <p:spPr>
              <a:xfrm>
                <a:off x="1555" y="1968"/>
                <a:ext cx="317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65" name="Line 40"/>
              <p:cNvSpPr/>
              <p:nvPr/>
            </p:nvSpPr>
            <p:spPr>
              <a:xfrm>
                <a:off x="1680" y="136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66" name="Line 41"/>
              <p:cNvSpPr/>
              <p:nvPr/>
            </p:nvSpPr>
            <p:spPr>
              <a:xfrm rot="5400000" flipH="1">
                <a:off x="1872" y="113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67" name="Line 42"/>
              <p:cNvSpPr/>
              <p:nvPr/>
            </p:nvSpPr>
            <p:spPr>
              <a:xfrm rot="5400000" flipH="1">
                <a:off x="2880" y="113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68" name="Line 43"/>
              <p:cNvSpPr/>
              <p:nvPr/>
            </p:nvSpPr>
            <p:spPr>
              <a:xfrm rot="5400000" flipH="1">
                <a:off x="2016" y="113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69" name="Line 44"/>
              <p:cNvSpPr/>
              <p:nvPr/>
            </p:nvSpPr>
            <p:spPr>
              <a:xfrm rot="5400000" flipH="1">
                <a:off x="2160" y="113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70" name="Line 45"/>
              <p:cNvSpPr/>
              <p:nvPr/>
            </p:nvSpPr>
            <p:spPr>
              <a:xfrm rot="5400000" flipH="1">
                <a:off x="2304" y="113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71" name="Line 46"/>
              <p:cNvSpPr/>
              <p:nvPr/>
            </p:nvSpPr>
            <p:spPr>
              <a:xfrm rot="5400000" flipH="1">
                <a:off x="2448" y="113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72" name="Line 47"/>
              <p:cNvSpPr/>
              <p:nvPr/>
            </p:nvSpPr>
            <p:spPr>
              <a:xfrm rot="5400000" flipH="1">
                <a:off x="2592" y="113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73" name="Line 48"/>
              <p:cNvSpPr/>
              <p:nvPr/>
            </p:nvSpPr>
            <p:spPr>
              <a:xfrm rot="5400000" flipH="1">
                <a:off x="2736" y="113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74" name="Line 49"/>
              <p:cNvSpPr/>
              <p:nvPr/>
            </p:nvSpPr>
            <p:spPr>
              <a:xfrm>
                <a:off x="1968" y="1516"/>
                <a:ext cx="0" cy="30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75" name="Line 50"/>
              <p:cNvSpPr/>
              <p:nvPr/>
            </p:nvSpPr>
            <p:spPr>
              <a:xfrm>
                <a:off x="2112" y="1516"/>
                <a:ext cx="0" cy="30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76" name="Line 51"/>
              <p:cNvSpPr/>
              <p:nvPr/>
            </p:nvSpPr>
            <p:spPr>
              <a:xfrm>
                <a:off x="2976" y="1516"/>
                <a:ext cx="0" cy="30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77" name="Line 52"/>
              <p:cNvSpPr/>
              <p:nvPr/>
            </p:nvSpPr>
            <p:spPr>
              <a:xfrm>
                <a:off x="1968" y="2267"/>
                <a:ext cx="0" cy="31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78" name="Line 53"/>
              <p:cNvSpPr/>
              <p:nvPr/>
            </p:nvSpPr>
            <p:spPr>
              <a:xfrm>
                <a:off x="2112" y="2267"/>
                <a:ext cx="0" cy="31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79" name="Line 54"/>
              <p:cNvSpPr/>
              <p:nvPr/>
            </p:nvSpPr>
            <p:spPr>
              <a:xfrm>
                <a:off x="2976" y="2267"/>
                <a:ext cx="0" cy="31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80" name="Text Box 55"/>
              <p:cNvSpPr txBox="1"/>
              <p:nvPr/>
            </p:nvSpPr>
            <p:spPr>
              <a:xfrm>
                <a:off x="2322" y="1449"/>
                <a:ext cx="76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81" name="Text Box 56"/>
              <p:cNvSpPr txBox="1"/>
              <p:nvPr/>
            </p:nvSpPr>
            <p:spPr>
              <a:xfrm>
                <a:off x="2322" y="2208"/>
                <a:ext cx="76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4482" name="Group 57"/>
              <p:cNvGrpSpPr/>
              <p:nvPr/>
            </p:nvGrpSpPr>
            <p:grpSpPr>
              <a:xfrm>
                <a:off x="0" y="1094"/>
                <a:ext cx="960" cy="251"/>
                <a:chOff x="96" y="998"/>
                <a:chExt cx="960" cy="251"/>
              </a:xfrm>
            </p:grpSpPr>
            <p:sp>
              <p:nvSpPr>
                <p:cNvPr id="314497" name="Text Box 58"/>
                <p:cNvSpPr txBox="1"/>
                <p:nvPr/>
              </p:nvSpPr>
              <p:spPr>
                <a:xfrm>
                  <a:off x="96" y="998"/>
                  <a:ext cx="96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PD/Progr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4498" name="Line 59"/>
                <p:cNvSpPr/>
                <p:nvPr/>
              </p:nvSpPr>
              <p:spPr>
                <a:xfrm>
                  <a:off x="144" y="1031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14483" name="Group 60"/>
              <p:cNvGrpSpPr/>
              <p:nvPr/>
            </p:nvGrpSpPr>
            <p:grpSpPr>
              <a:xfrm>
                <a:off x="432" y="1382"/>
                <a:ext cx="480" cy="251"/>
                <a:chOff x="432" y="1382"/>
                <a:chExt cx="480" cy="251"/>
              </a:xfrm>
            </p:grpSpPr>
            <p:sp>
              <p:nvSpPr>
                <p:cNvPr id="314495" name="Text Box 61"/>
                <p:cNvSpPr txBox="1"/>
                <p:nvPr/>
              </p:nvSpPr>
              <p:spPr>
                <a:xfrm>
                  <a:off x="432" y="1382"/>
                  <a:ext cx="48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CS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4496" name="Line 62"/>
                <p:cNvSpPr/>
                <p:nvPr/>
              </p:nvSpPr>
              <p:spPr>
                <a:xfrm>
                  <a:off x="498" y="1419"/>
                  <a:ext cx="20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14484" name="Text Box 63"/>
              <p:cNvSpPr txBox="1"/>
              <p:nvPr/>
            </p:nvSpPr>
            <p:spPr>
              <a:xfrm>
                <a:off x="576" y="1584"/>
                <a:ext cx="816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85" name="Text Box 64"/>
              <p:cNvSpPr txBox="1"/>
              <p:nvPr/>
            </p:nvSpPr>
            <p:spPr>
              <a:xfrm>
                <a:off x="576" y="2064"/>
                <a:ext cx="816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86" name="Text Box 65"/>
              <p:cNvSpPr txBox="1"/>
              <p:nvPr/>
            </p:nvSpPr>
            <p:spPr>
              <a:xfrm>
                <a:off x="622" y="1872"/>
                <a:ext cx="386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87" name="Text Box 66"/>
              <p:cNvSpPr txBox="1"/>
              <p:nvPr/>
            </p:nvSpPr>
            <p:spPr>
              <a:xfrm>
                <a:off x="576" y="2304"/>
                <a:ext cx="816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6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88" name="Text Box 67"/>
              <p:cNvSpPr txBox="1"/>
              <p:nvPr/>
            </p:nvSpPr>
            <p:spPr>
              <a:xfrm>
                <a:off x="576" y="3162"/>
                <a:ext cx="816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89" name="Line 68"/>
              <p:cNvSpPr/>
              <p:nvPr/>
            </p:nvSpPr>
            <p:spPr>
              <a:xfrm flipH="1">
                <a:off x="850" y="2496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90" name="Text Box 69"/>
              <p:cNvSpPr txBox="1"/>
              <p:nvPr/>
            </p:nvSpPr>
            <p:spPr>
              <a:xfrm>
                <a:off x="1583" y="1959"/>
                <a:ext cx="386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14491" name="Text Box 70"/>
              <p:cNvSpPr txBox="1"/>
              <p:nvPr/>
            </p:nvSpPr>
            <p:spPr>
              <a:xfrm>
                <a:off x="622" y="2784"/>
                <a:ext cx="386" cy="6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92" name="Text Box 71"/>
              <p:cNvSpPr txBox="1"/>
              <p:nvPr/>
            </p:nvSpPr>
            <p:spPr>
              <a:xfrm>
                <a:off x="1728" y="768"/>
                <a:ext cx="76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DO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93" name="Text Box 72"/>
              <p:cNvSpPr txBox="1"/>
              <p:nvPr/>
            </p:nvSpPr>
            <p:spPr>
              <a:xfrm>
                <a:off x="2322" y="681"/>
                <a:ext cx="720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94" name="Text Box 73"/>
              <p:cNvSpPr txBox="1"/>
              <p:nvPr/>
            </p:nvSpPr>
            <p:spPr>
              <a:xfrm>
                <a:off x="2784" y="768"/>
                <a:ext cx="76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DO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4384" name="Group 74"/>
            <p:cNvGrpSpPr/>
            <p:nvPr/>
          </p:nvGrpSpPr>
          <p:grpSpPr>
            <a:xfrm>
              <a:off x="3504" y="954"/>
              <a:ext cx="2496" cy="2606"/>
              <a:chOff x="3504" y="954"/>
              <a:chExt cx="2496" cy="2606"/>
            </a:xfrm>
          </p:grpSpPr>
          <p:sp>
            <p:nvSpPr>
              <p:cNvPr id="314385" name="Rectangle 75"/>
              <p:cNvSpPr/>
              <p:nvPr/>
            </p:nvSpPr>
            <p:spPr>
              <a:xfrm>
                <a:off x="4032" y="960"/>
                <a:ext cx="816" cy="244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4386" name="Line 76"/>
              <p:cNvSpPr/>
              <p:nvPr/>
            </p:nvSpPr>
            <p:spPr>
              <a:xfrm flipH="1">
                <a:off x="3840" y="110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87" name="Line 77"/>
              <p:cNvSpPr/>
              <p:nvPr/>
            </p:nvSpPr>
            <p:spPr>
              <a:xfrm flipH="1">
                <a:off x="3840" y="130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88" name="Line 78"/>
              <p:cNvSpPr/>
              <p:nvPr/>
            </p:nvSpPr>
            <p:spPr>
              <a:xfrm flipH="1">
                <a:off x="3840" y="1496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89" name="Line 79"/>
              <p:cNvSpPr/>
              <p:nvPr/>
            </p:nvSpPr>
            <p:spPr>
              <a:xfrm flipH="1">
                <a:off x="3840" y="169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90" name="Line 80"/>
              <p:cNvSpPr/>
              <p:nvPr/>
            </p:nvSpPr>
            <p:spPr>
              <a:xfrm flipH="1">
                <a:off x="3840" y="326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91" name="Line 81"/>
              <p:cNvSpPr/>
              <p:nvPr/>
            </p:nvSpPr>
            <p:spPr>
              <a:xfrm flipH="1">
                <a:off x="3840" y="1889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92" name="Line 82"/>
              <p:cNvSpPr/>
              <p:nvPr/>
            </p:nvSpPr>
            <p:spPr>
              <a:xfrm flipH="1">
                <a:off x="3840" y="2085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93" name="Line 83"/>
              <p:cNvSpPr/>
              <p:nvPr/>
            </p:nvSpPr>
            <p:spPr>
              <a:xfrm flipH="1">
                <a:off x="3840" y="228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94" name="Line 84"/>
              <p:cNvSpPr/>
              <p:nvPr/>
            </p:nvSpPr>
            <p:spPr>
              <a:xfrm flipH="1">
                <a:off x="3840" y="3067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95" name="Line 85"/>
              <p:cNvSpPr/>
              <p:nvPr/>
            </p:nvSpPr>
            <p:spPr>
              <a:xfrm flipH="1">
                <a:off x="3840" y="247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96" name="Line 86"/>
              <p:cNvSpPr/>
              <p:nvPr/>
            </p:nvSpPr>
            <p:spPr>
              <a:xfrm flipH="1">
                <a:off x="3840" y="267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97" name="Line 87"/>
              <p:cNvSpPr/>
              <p:nvPr/>
            </p:nvSpPr>
            <p:spPr>
              <a:xfrm flipH="1">
                <a:off x="3840" y="287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398" name="Text Box 88"/>
              <p:cNvSpPr txBox="1"/>
              <p:nvPr/>
            </p:nvSpPr>
            <p:spPr>
              <a:xfrm>
                <a:off x="4032" y="970"/>
                <a:ext cx="24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399" name="Text Box 89"/>
              <p:cNvSpPr txBox="1"/>
              <p:nvPr/>
            </p:nvSpPr>
            <p:spPr>
              <a:xfrm>
                <a:off x="4032" y="3120"/>
                <a:ext cx="48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12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00" name="Text Box 90"/>
              <p:cNvSpPr txBox="1"/>
              <p:nvPr/>
            </p:nvSpPr>
            <p:spPr>
              <a:xfrm>
                <a:off x="4031" y="1524"/>
                <a:ext cx="386" cy="89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01" name="Text Box 91"/>
              <p:cNvSpPr txBox="1"/>
              <p:nvPr/>
            </p:nvSpPr>
            <p:spPr>
              <a:xfrm>
                <a:off x="3600" y="960"/>
                <a:ext cx="816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02" name="Text Box 92"/>
              <p:cNvSpPr txBox="1"/>
              <p:nvPr/>
            </p:nvSpPr>
            <p:spPr>
              <a:xfrm>
                <a:off x="3600" y="2106"/>
                <a:ext cx="816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03" name="Text Box 93"/>
              <p:cNvSpPr txBox="1"/>
              <p:nvPr/>
            </p:nvSpPr>
            <p:spPr>
              <a:xfrm>
                <a:off x="3600" y="2298"/>
                <a:ext cx="816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04" name="Text Box 94"/>
              <p:cNvSpPr txBox="1"/>
              <p:nvPr/>
            </p:nvSpPr>
            <p:spPr>
              <a:xfrm>
                <a:off x="3504" y="3120"/>
                <a:ext cx="816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SS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05" name="Text Box 95"/>
              <p:cNvSpPr txBox="1"/>
              <p:nvPr/>
            </p:nvSpPr>
            <p:spPr>
              <a:xfrm>
                <a:off x="3504" y="2928"/>
                <a:ext cx="76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DO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06" name="Text Box 96"/>
              <p:cNvSpPr txBox="1"/>
              <p:nvPr/>
            </p:nvSpPr>
            <p:spPr>
              <a:xfrm>
                <a:off x="3504" y="2534"/>
                <a:ext cx="76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DO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07" name="Text Box 97"/>
              <p:cNvSpPr txBox="1"/>
              <p:nvPr/>
            </p:nvSpPr>
            <p:spPr>
              <a:xfrm>
                <a:off x="3504" y="2726"/>
                <a:ext cx="76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DO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08" name="Text Box 98"/>
              <p:cNvSpPr txBox="1"/>
              <p:nvPr/>
            </p:nvSpPr>
            <p:spPr>
              <a:xfrm>
                <a:off x="3599" y="1524"/>
                <a:ext cx="386" cy="11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09" name="Text Box 99"/>
              <p:cNvSpPr txBox="1"/>
              <p:nvPr/>
            </p:nvSpPr>
            <p:spPr>
              <a:xfrm>
                <a:off x="4224" y="1958"/>
                <a:ext cx="67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2716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10" name="Text Box 100"/>
              <p:cNvSpPr txBox="1"/>
              <p:nvPr/>
            </p:nvSpPr>
            <p:spPr>
              <a:xfrm>
                <a:off x="4560" y="970"/>
                <a:ext cx="33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24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11" name="Text Box 101"/>
              <p:cNvSpPr txBox="1"/>
              <p:nvPr/>
            </p:nvSpPr>
            <p:spPr>
              <a:xfrm>
                <a:off x="4560" y="3120"/>
                <a:ext cx="48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13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12" name="Text Box 102"/>
              <p:cNvSpPr txBox="1"/>
              <p:nvPr/>
            </p:nvSpPr>
            <p:spPr>
              <a:xfrm>
                <a:off x="4606" y="1524"/>
                <a:ext cx="386" cy="6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13" name="Line 103"/>
              <p:cNvSpPr/>
              <p:nvPr/>
            </p:nvSpPr>
            <p:spPr>
              <a:xfrm flipH="1">
                <a:off x="4848" y="110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14" name="Line 104"/>
              <p:cNvSpPr/>
              <p:nvPr/>
            </p:nvSpPr>
            <p:spPr>
              <a:xfrm flipH="1">
                <a:off x="4848" y="1300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15" name="Line 105"/>
              <p:cNvSpPr/>
              <p:nvPr/>
            </p:nvSpPr>
            <p:spPr>
              <a:xfrm flipH="1">
                <a:off x="4848" y="1496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16" name="Line 106"/>
              <p:cNvSpPr/>
              <p:nvPr/>
            </p:nvSpPr>
            <p:spPr>
              <a:xfrm flipH="1">
                <a:off x="4848" y="1693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17" name="Line 107"/>
              <p:cNvSpPr/>
              <p:nvPr/>
            </p:nvSpPr>
            <p:spPr>
              <a:xfrm flipH="1">
                <a:off x="4848" y="326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18" name="Line 108"/>
              <p:cNvSpPr/>
              <p:nvPr/>
            </p:nvSpPr>
            <p:spPr>
              <a:xfrm flipH="1">
                <a:off x="4848" y="1889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19" name="Line 109"/>
              <p:cNvSpPr/>
              <p:nvPr/>
            </p:nvSpPr>
            <p:spPr>
              <a:xfrm flipH="1">
                <a:off x="4848" y="2085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20" name="Line 110"/>
              <p:cNvSpPr/>
              <p:nvPr/>
            </p:nvSpPr>
            <p:spPr>
              <a:xfrm flipH="1">
                <a:off x="4848" y="2282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21" name="Line 111"/>
              <p:cNvSpPr/>
              <p:nvPr/>
            </p:nvSpPr>
            <p:spPr>
              <a:xfrm flipH="1">
                <a:off x="4848" y="3067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22" name="Line 112"/>
              <p:cNvSpPr/>
              <p:nvPr/>
            </p:nvSpPr>
            <p:spPr>
              <a:xfrm flipH="1">
                <a:off x="4848" y="247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23" name="Line 113"/>
              <p:cNvSpPr/>
              <p:nvPr/>
            </p:nvSpPr>
            <p:spPr>
              <a:xfrm flipH="1">
                <a:off x="4848" y="2674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24" name="Line 114"/>
              <p:cNvSpPr/>
              <p:nvPr/>
            </p:nvSpPr>
            <p:spPr>
              <a:xfrm flipH="1">
                <a:off x="4848" y="2871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4425" name="Text Box 115"/>
              <p:cNvSpPr txBox="1"/>
              <p:nvPr/>
            </p:nvSpPr>
            <p:spPr>
              <a:xfrm>
                <a:off x="4992" y="954"/>
                <a:ext cx="816" cy="4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CC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26" name="Text Box 116"/>
              <p:cNvSpPr txBox="1"/>
              <p:nvPr/>
            </p:nvSpPr>
            <p:spPr>
              <a:xfrm>
                <a:off x="5040" y="1152"/>
                <a:ext cx="816" cy="4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8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27" name="Text Box 117"/>
              <p:cNvSpPr txBox="1"/>
              <p:nvPr/>
            </p:nvSpPr>
            <p:spPr>
              <a:xfrm>
                <a:off x="5040" y="1344"/>
                <a:ext cx="816" cy="4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28" name="Text Box 118"/>
              <p:cNvSpPr txBox="1"/>
              <p:nvPr/>
            </p:nvSpPr>
            <p:spPr>
              <a:xfrm>
                <a:off x="5040" y="1536"/>
                <a:ext cx="816" cy="4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i="1" dirty="0">
                    <a:latin typeface="Times New Roman" panose="02020603050405020304" pitchFamily="18" charset="0"/>
                  </a:rPr>
                  <a:t>V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PP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4429" name="Group 119"/>
              <p:cNvGrpSpPr/>
              <p:nvPr/>
            </p:nvGrpSpPr>
            <p:grpSpPr>
              <a:xfrm>
                <a:off x="5040" y="1776"/>
                <a:ext cx="480" cy="251"/>
                <a:chOff x="5040" y="1776"/>
                <a:chExt cx="480" cy="251"/>
              </a:xfrm>
            </p:grpSpPr>
            <p:sp>
              <p:nvSpPr>
                <p:cNvPr id="314437" name="Text Box 120"/>
                <p:cNvSpPr txBox="1"/>
                <p:nvPr/>
              </p:nvSpPr>
              <p:spPr>
                <a:xfrm>
                  <a:off x="5040" y="1776"/>
                  <a:ext cx="48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CS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4438" name="Line 121"/>
                <p:cNvSpPr/>
                <p:nvPr/>
              </p:nvSpPr>
              <p:spPr>
                <a:xfrm>
                  <a:off x="5106" y="1813"/>
                  <a:ext cx="20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14430" name="Text Box 122"/>
              <p:cNvSpPr txBox="1"/>
              <p:nvPr/>
            </p:nvSpPr>
            <p:spPr>
              <a:xfrm>
                <a:off x="5040" y="1920"/>
                <a:ext cx="816" cy="44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10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4431" name="Group 123"/>
              <p:cNvGrpSpPr/>
              <p:nvPr/>
            </p:nvGrpSpPr>
            <p:grpSpPr>
              <a:xfrm>
                <a:off x="5040" y="2160"/>
                <a:ext cx="960" cy="251"/>
                <a:chOff x="5040" y="2160"/>
                <a:chExt cx="960" cy="251"/>
              </a:xfrm>
            </p:grpSpPr>
            <p:sp>
              <p:nvSpPr>
                <p:cNvPr id="314435" name="Text Box 124"/>
                <p:cNvSpPr txBox="1"/>
                <p:nvPr/>
              </p:nvSpPr>
              <p:spPr>
                <a:xfrm>
                  <a:off x="5040" y="2160"/>
                  <a:ext cx="96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PD/Progr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4436" name="Line 125"/>
                <p:cNvSpPr/>
                <p:nvPr/>
              </p:nvSpPr>
              <p:spPr>
                <a:xfrm>
                  <a:off x="5088" y="2193"/>
                  <a:ext cx="240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14432" name="Text Box 126"/>
              <p:cNvSpPr txBox="1"/>
              <p:nvPr/>
            </p:nvSpPr>
            <p:spPr>
              <a:xfrm>
                <a:off x="5040" y="3158"/>
                <a:ext cx="76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DO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33" name="Text Box 127"/>
              <p:cNvSpPr txBox="1"/>
              <p:nvPr/>
            </p:nvSpPr>
            <p:spPr>
              <a:xfrm>
                <a:off x="5040" y="2352"/>
                <a:ext cx="76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DO</a:t>
                </a:r>
                <a:r>
                  <a:rPr lang="en-US" altLang="zh-CN" sz="20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0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434" name="Text Box 128"/>
              <p:cNvSpPr txBox="1"/>
              <p:nvPr/>
            </p:nvSpPr>
            <p:spPr>
              <a:xfrm>
                <a:off x="5038" y="2736"/>
                <a:ext cx="386" cy="6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14371" name="Text Box 129"/>
          <p:cNvSpPr txBox="1"/>
          <p:nvPr/>
        </p:nvSpPr>
        <p:spPr>
          <a:xfrm>
            <a:off x="1905000" y="381000"/>
            <a:ext cx="7010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(2) 2716 EPROM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的逻辑图和引脚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1010" name="Rectangle 13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4373" name="Group 131"/>
          <p:cNvGrpSpPr/>
          <p:nvPr/>
        </p:nvGrpSpPr>
        <p:grpSpPr>
          <a:xfrm>
            <a:off x="1524000" y="1736725"/>
            <a:ext cx="1524000" cy="398463"/>
            <a:chOff x="96" y="998"/>
            <a:chExt cx="960" cy="251"/>
          </a:xfrm>
        </p:grpSpPr>
        <p:sp>
          <p:nvSpPr>
            <p:cNvPr id="314381" name="Text Box 132"/>
            <p:cNvSpPr txBox="1"/>
            <p:nvPr/>
          </p:nvSpPr>
          <p:spPr>
            <a:xfrm>
              <a:off x="96" y="998"/>
              <a:ext cx="96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PD/Progr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4382" name="Line 133"/>
            <p:cNvSpPr/>
            <p:nvPr/>
          </p:nvSpPr>
          <p:spPr>
            <a:xfrm>
              <a:off x="144" y="1031"/>
              <a:ext cx="24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4374" name="Group 134"/>
          <p:cNvGrpSpPr/>
          <p:nvPr/>
        </p:nvGrpSpPr>
        <p:grpSpPr>
          <a:xfrm>
            <a:off x="2057400" y="5729288"/>
            <a:ext cx="8915400" cy="584200"/>
            <a:chOff x="336" y="3609"/>
            <a:chExt cx="5616" cy="368"/>
          </a:xfrm>
        </p:grpSpPr>
        <p:grpSp>
          <p:nvGrpSpPr>
            <p:cNvPr id="314377" name="Group 135"/>
            <p:cNvGrpSpPr/>
            <p:nvPr/>
          </p:nvGrpSpPr>
          <p:grpSpPr>
            <a:xfrm>
              <a:off x="336" y="3609"/>
              <a:ext cx="1248" cy="329"/>
              <a:chOff x="288" y="3744"/>
              <a:chExt cx="1248" cy="329"/>
            </a:xfrm>
          </p:grpSpPr>
          <p:sp>
            <p:nvSpPr>
              <p:cNvPr id="314379" name="Text Box 136"/>
              <p:cNvSpPr txBox="1"/>
              <p:nvPr/>
            </p:nvSpPr>
            <p:spPr>
              <a:xfrm>
                <a:off x="288" y="3744"/>
                <a:ext cx="1248" cy="32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8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PD/Progr</a:t>
                </a:r>
                <a:endPara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4380" name="Line 137"/>
              <p:cNvSpPr/>
              <p:nvPr/>
            </p:nvSpPr>
            <p:spPr>
              <a:xfrm>
                <a:off x="336" y="3815"/>
                <a:ext cx="299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14378" name="Text Box 138"/>
            <p:cNvSpPr txBox="1"/>
            <p:nvPr/>
          </p:nvSpPr>
          <p:spPr>
            <a:xfrm>
              <a:off x="1296" y="3648"/>
              <a:ext cx="465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功率下降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/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编程输入端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读出时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为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低电平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14375" name="AutoShape 13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437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15394" name="Text Box 2"/>
          <p:cNvSpPr txBox="1"/>
          <p:nvPr/>
        </p:nvSpPr>
        <p:spPr>
          <a:xfrm>
            <a:off x="2133600" y="457200"/>
            <a:ext cx="6324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4. EEPROM (</a:t>
            </a:r>
            <a:r>
              <a:rPr lang="zh-CN" altLang="en-US" sz="3200" b="1" dirty="0">
                <a:latin typeface="Times New Roman" panose="02020603050405020304" pitchFamily="18" charset="0"/>
              </a:rPr>
              <a:t>多次性编程 </a:t>
            </a:r>
            <a:r>
              <a:rPr lang="en-US" altLang="zh-CN" sz="3200" b="1" dirty="0">
                <a:latin typeface="Times New Roman" panose="02020603050405020304" pitchFamily="18" charset="0"/>
              </a:rPr>
              <a:t>)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315395" name="Text Box 3"/>
          <p:cNvSpPr txBox="1"/>
          <p:nvPr/>
        </p:nvSpPr>
        <p:spPr>
          <a:xfrm>
            <a:off x="2590800" y="1219200"/>
            <a:ext cx="2514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电可擦写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15396" name="Text Box 4"/>
          <p:cNvSpPr txBox="1"/>
          <p:nvPr/>
        </p:nvSpPr>
        <p:spPr>
          <a:xfrm>
            <a:off x="2590800" y="1905000"/>
            <a:ext cx="2590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局部擦写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15397" name="Text Box 5"/>
          <p:cNvSpPr txBox="1"/>
          <p:nvPr/>
        </p:nvSpPr>
        <p:spPr>
          <a:xfrm>
            <a:off x="2590800" y="2590800"/>
            <a:ext cx="1905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全部擦写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15398" name="Text Box 6"/>
          <p:cNvSpPr txBox="1"/>
          <p:nvPr/>
        </p:nvSpPr>
        <p:spPr>
          <a:xfrm>
            <a:off x="2133600" y="3352800"/>
            <a:ext cx="7467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5. Flash Memory (</a:t>
            </a:r>
            <a:r>
              <a:rPr lang="zh-CN" altLang="en-US" sz="3200" b="1" dirty="0">
                <a:latin typeface="Times New Roman" panose="02020603050405020304" pitchFamily="18" charset="0"/>
              </a:rPr>
              <a:t>闪速型存储器</a:t>
            </a:r>
            <a:r>
              <a:rPr lang="en-US" altLang="zh-CN" sz="3200" b="1" dirty="0">
                <a:latin typeface="Times New Roman" panose="02020603050405020304" pitchFamily="18" charset="0"/>
              </a:rPr>
              <a:t>)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315399" name="Text Box 7"/>
          <p:cNvSpPr txBox="1"/>
          <p:nvPr/>
        </p:nvSpPr>
        <p:spPr>
          <a:xfrm>
            <a:off x="5486400" y="3505200"/>
            <a:ext cx="3657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endParaRPr lang="zh-CN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15400" name="Text Box 8"/>
          <p:cNvSpPr txBox="1"/>
          <p:nvPr/>
        </p:nvSpPr>
        <p:spPr>
          <a:xfrm>
            <a:off x="2590800" y="5638800"/>
            <a:ext cx="2971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比 </a:t>
            </a:r>
            <a:r>
              <a:rPr lang="en-US" altLang="zh-CN" sz="2800" b="1" dirty="0">
                <a:latin typeface="Times New Roman" panose="02020603050405020304" pitchFamily="18" charset="0"/>
              </a:rPr>
              <a:t>EEPROM</a:t>
            </a:r>
            <a:r>
              <a:rPr lang="zh-CN" altLang="en-US" sz="2800" b="1" dirty="0">
                <a:latin typeface="Times New Roman" panose="02020603050405020304" pitchFamily="18" charset="0"/>
              </a:rPr>
              <a:t>快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51913" name="Rectangle 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5402" name="Text Box 10"/>
          <p:cNvSpPr txBox="1"/>
          <p:nvPr/>
        </p:nvSpPr>
        <p:spPr>
          <a:xfrm>
            <a:off x="2590800" y="4114800"/>
            <a:ext cx="3962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EPROM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15403" name="Text Box 11"/>
          <p:cNvSpPr txBox="1"/>
          <p:nvPr/>
        </p:nvSpPr>
        <p:spPr>
          <a:xfrm>
            <a:off x="5181600" y="4114800"/>
            <a:ext cx="4191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价格便宜  集成度高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15404" name="Text Box 12"/>
          <p:cNvSpPr txBox="1"/>
          <p:nvPr/>
        </p:nvSpPr>
        <p:spPr>
          <a:xfrm>
            <a:off x="2590800" y="4876800"/>
            <a:ext cx="4343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EEPROM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15405" name="Text Box 13"/>
          <p:cNvSpPr txBox="1"/>
          <p:nvPr/>
        </p:nvSpPr>
        <p:spPr>
          <a:xfrm>
            <a:off x="5181600" y="4876800"/>
            <a:ext cx="4800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电可擦洗重写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15406" name="Text Box 14"/>
          <p:cNvSpPr txBox="1"/>
          <p:nvPr/>
        </p:nvSpPr>
        <p:spPr>
          <a:xfrm>
            <a:off x="5181600" y="5638800"/>
            <a:ext cx="3657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具备 </a:t>
            </a:r>
            <a:r>
              <a:rPr lang="en-US" altLang="zh-CN" sz="2800" b="1" dirty="0">
                <a:latin typeface="Times New Roman" panose="02020603050405020304" pitchFamily="18" charset="0"/>
              </a:rPr>
              <a:t>RAM </a:t>
            </a:r>
            <a:r>
              <a:rPr lang="zh-CN" altLang="en-US" sz="2800" b="1" dirty="0">
                <a:latin typeface="Times New Roman" panose="02020603050405020304" pitchFamily="18" charset="0"/>
              </a:rPr>
              <a:t>功能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15407" name="AutoShape 15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540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42" name="Text Box 2"/>
          <p:cNvSpPr txBox="1"/>
          <p:nvPr/>
        </p:nvSpPr>
        <p:spPr>
          <a:xfrm>
            <a:off x="2286000" y="2292350"/>
            <a:ext cx="8305800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</a:rPr>
              <a:t>用     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1K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4</a:t>
            </a:r>
            <a:r>
              <a:rPr lang="zh-CN" altLang="en-US" sz="2600" b="1" dirty="0">
                <a:latin typeface="Times New Roman" panose="02020603050405020304" pitchFamily="18" charset="0"/>
              </a:rPr>
              <a:t>位 存储芯片组成 </a:t>
            </a:r>
            <a:r>
              <a:rPr lang="en-US" altLang="zh-CN" sz="2600" b="1" dirty="0">
                <a:latin typeface="Times New Roman" panose="02020603050405020304" pitchFamily="18" charset="0"/>
              </a:rPr>
              <a:t>1K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8</a:t>
            </a:r>
            <a:r>
              <a:rPr lang="zh-CN" altLang="en-US" sz="2600" b="1" dirty="0">
                <a:latin typeface="Times New Roman" panose="02020603050405020304" pitchFamily="18" charset="0"/>
              </a:rPr>
              <a:t>位 的存储器</a:t>
            </a:r>
            <a:endParaRPr lang="zh-CN" altLang="en-US" sz="2600" b="1" dirty="0">
              <a:latin typeface="Times New Roman" panose="02020603050405020304" pitchFamily="18" charset="0"/>
            </a:endParaRPr>
          </a:p>
        </p:txBody>
      </p:sp>
      <p:sp>
        <p:nvSpPr>
          <p:cNvPr id="317443" name="Text Box 3"/>
          <p:cNvSpPr txBox="1"/>
          <p:nvPr/>
        </p:nvSpPr>
        <p:spPr>
          <a:xfrm>
            <a:off x="2725738" y="2262188"/>
            <a:ext cx="1282700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？片</a:t>
            </a:r>
            <a:endParaRPr lang="zh-CN" altLang="en-US" sz="2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3838575" y="4687888"/>
            <a:ext cx="852488" cy="665162"/>
            <a:chOff x="1458" y="2953"/>
            <a:chExt cx="537" cy="419"/>
          </a:xfrm>
        </p:grpSpPr>
        <p:sp>
          <p:nvSpPr>
            <p:cNvPr id="317575" name="Freeform 5"/>
            <p:cNvSpPr/>
            <p:nvPr/>
          </p:nvSpPr>
          <p:spPr>
            <a:xfrm>
              <a:off x="1458" y="2954"/>
              <a:ext cx="1" cy="193"/>
            </a:xfrm>
            <a:custGeom>
              <a:avLst/>
              <a:gdLst>
                <a:gd name="txL" fmla="*/ 0 w 1"/>
                <a:gd name="txT" fmla="*/ 0 h 193"/>
                <a:gd name="txR" fmla="*/ 1 w 1"/>
                <a:gd name="txB" fmla="*/ 193 h 193"/>
              </a:gdLst>
              <a:ahLst/>
              <a:cxnLst>
                <a:cxn ang="0">
                  <a:pos x="0" y="0"/>
                </a:cxn>
                <a:cxn ang="0">
                  <a:pos x="0" y="193"/>
                </a:cxn>
              </a:cxnLst>
              <a:rect l="txL" t="txT" r="txR" b="txB"/>
              <a:pathLst>
                <a:path w="1" h="193">
                  <a:moveTo>
                    <a:pt x="0" y="0"/>
                  </a:moveTo>
                  <a:lnTo>
                    <a:pt x="0" y="193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576" name="Line 6"/>
            <p:cNvSpPr/>
            <p:nvPr/>
          </p:nvSpPr>
          <p:spPr>
            <a:xfrm>
              <a:off x="1635" y="2953"/>
              <a:ext cx="1" cy="26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7577" name="Line 7"/>
            <p:cNvSpPr/>
            <p:nvPr/>
          </p:nvSpPr>
          <p:spPr>
            <a:xfrm>
              <a:off x="1813" y="2953"/>
              <a:ext cx="1" cy="33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7578" name="Freeform 8"/>
            <p:cNvSpPr/>
            <p:nvPr/>
          </p:nvSpPr>
          <p:spPr>
            <a:xfrm>
              <a:off x="1993" y="2960"/>
              <a:ext cx="2" cy="412"/>
            </a:xfrm>
            <a:custGeom>
              <a:avLst/>
              <a:gdLst>
                <a:gd name="txL" fmla="*/ 0 w 2"/>
                <a:gd name="txT" fmla="*/ 0 h 412"/>
                <a:gd name="txR" fmla="*/ 2 w 2"/>
                <a:gd name="txB" fmla="*/ 412 h 412"/>
              </a:gdLst>
              <a:ahLst/>
              <a:cxnLst>
                <a:cxn ang="0">
                  <a:pos x="2" y="0"/>
                </a:cxn>
                <a:cxn ang="0">
                  <a:pos x="0" y="412"/>
                </a:cxn>
              </a:cxnLst>
              <a:rect l="txL" t="txT" r="txR" b="txB"/>
              <a:pathLst>
                <a:path w="2" h="412">
                  <a:moveTo>
                    <a:pt x="2" y="0"/>
                  </a:moveTo>
                  <a:lnTo>
                    <a:pt x="0" y="412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17445" name="Text Box 9"/>
          <p:cNvSpPr txBox="1"/>
          <p:nvPr/>
        </p:nvSpPr>
        <p:spPr>
          <a:xfrm>
            <a:off x="1981200" y="304800"/>
            <a:ext cx="6324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</a:rPr>
              <a:t>五、存储器与 </a:t>
            </a:r>
            <a:r>
              <a:rPr lang="en-US" altLang="zh-CN" sz="3600" b="1" dirty="0">
                <a:latin typeface="Times New Roman" panose="02020603050405020304" pitchFamily="18" charset="0"/>
              </a:rPr>
              <a:t>CPU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的连接 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17446" name="Text Box 10"/>
          <p:cNvSpPr txBox="1"/>
          <p:nvPr/>
        </p:nvSpPr>
        <p:spPr>
          <a:xfrm>
            <a:off x="2362200" y="990600"/>
            <a:ext cx="4903788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1.  </a:t>
            </a:r>
            <a:r>
              <a:rPr lang="zh-CN" altLang="en-US" sz="3200" b="1" dirty="0">
                <a:latin typeface="Times New Roman" panose="02020603050405020304" pitchFamily="18" charset="0"/>
              </a:rPr>
              <a:t>存储器容量的扩展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17447" name="Group 11"/>
          <p:cNvGrpSpPr/>
          <p:nvPr/>
        </p:nvGrpSpPr>
        <p:grpSpPr>
          <a:xfrm>
            <a:off x="2286000" y="1628775"/>
            <a:ext cx="4953000" cy="522288"/>
            <a:chOff x="768" y="960"/>
            <a:chExt cx="3120" cy="329"/>
          </a:xfrm>
        </p:grpSpPr>
        <p:sp>
          <p:nvSpPr>
            <p:cNvPr id="317573" name="Text Box 12"/>
            <p:cNvSpPr txBox="1"/>
            <p:nvPr/>
          </p:nvSpPr>
          <p:spPr>
            <a:xfrm>
              <a:off x="768" y="960"/>
              <a:ext cx="177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 (1)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位扩展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74" name="Text Box 13"/>
            <p:cNvSpPr txBox="1"/>
            <p:nvPr/>
          </p:nvSpPr>
          <p:spPr>
            <a:xfrm>
              <a:off x="1872" y="960"/>
              <a:ext cx="20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（增加存储字长）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4"/>
          <p:cNvGrpSpPr/>
          <p:nvPr/>
        </p:nvGrpSpPr>
        <p:grpSpPr>
          <a:xfrm>
            <a:off x="8472488" y="1600200"/>
            <a:ext cx="2016125" cy="533400"/>
            <a:chOff x="4176" y="1008"/>
            <a:chExt cx="1344" cy="336"/>
          </a:xfrm>
        </p:grpSpPr>
        <p:sp>
          <p:nvSpPr>
            <p:cNvPr id="317571" name="AutoShape 15"/>
            <p:cNvSpPr/>
            <p:nvPr/>
          </p:nvSpPr>
          <p:spPr>
            <a:xfrm>
              <a:off x="4176" y="1008"/>
              <a:ext cx="1344" cy="336"/>
            </a:xfrm>
            <a:prstGeom prst="wedgeRoundRectCallout">
              <a:avLst>
                <a:gd name="adj1" fmla="val -112204"/>
                <a:gd name="adj2" fmla="val 86903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Ins="0"/>
            <a:p>
              <a:pPr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72" name="Text Box 16"/>
            <p:cNvSpPr txBox="1"/>
            <p:nvPr/>
          </p:nvSpPr>
          <p:spPr>
            <a:xfrm>
              <a:off x="4224" y="1008"/>
              <a:ext cx="1296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00" b="1" dirty="0">
                  <a:latin typeface="Times New Roman" panose="02020603050405020304" pitchFamily="18" charset="0"/>
                </a:rPr>
                <a:t>10</a:t>
              </a:r>
              <a:r>
                <a:rPr lang="zh-CN" altLang="en-US" sz="2600" b="1" dirty="0">
                  <a:latin typeface="Times New Roman" panose="02020603050405020304" pitchFamily="18" charset="0"/>
                </a:rPr>
                <a:t>根地址线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7"/>
          <p:cNvGrpSpPr/>
          <p:nvPr/>
        </p:nvGrpSpPr>
        <p:grpSpPr>
          <a:xfrm>
            <a:off x="8688388" y="3068638"/>
            <a:ext cx="1979612" cy="533400"/>
            <a:chOff x="4176" y="1872"/>
            <a:chExt cx="1344" cy="336"/>
          </a:xfrm>
        </p:grpSpPr>
        <p:sp>
          <p:nvSpPr>
            <p:cNvPr id="317569" name="AutoShape 18"/>
            <p:cNvSpPr/>
            <p:nvPr/>
          </p:nvSpPr>
          <p:spPr>
            <a:xfrm>
              <a:off x="4176" y="1872"/>
              <a:ext cx="1296" cy="336"/>
            </a:xfrm>
            <a:prstGeom prst="wedgeRoundRectCallout">
              <a:avLst>
                <a:gd name="adj1" fmla="val -82486"/>
                <a:gd name="adj2" fmla="val -112796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70" name="Text Box 19"/>
            <p:cNvSpPr txBox="1"/>
            <p:nvPr/>
          </p:nvSpPr>
          <p:spPr>
            <a:xfrm>
              <a:off x="4272" y="1872"/>
              <a:ext cx="124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00" b="1" dirty="0">
                  <a:latin typeface="Times New Roman" panose="02020603050405020304" pitchFamily="18" charset="0"/>
                </a:rPr>
                <a:t>8</a:t>
              </a:r>
              <a:r>
                <a:rPr lang="zh-CN" altLang="en-US" sz="2600" b="1" dirty="0">
                  <a:latin typeface="Times New Roman" panose="02020603050405020304" pitchFamily="18" charset="0"/>
                </a:rPr>
                <a:t>根数据线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7450" name="Line 20"/>
          <p:cNvSpPr/>
          <p:nvPr/>
        </p:nvSpPr>
        <p:spPr>
          <a:xfrm>
            <a:off x="2530475" y="6159500"/>
            <a:ext cx="255588" cy="1588"/>
          </a:xfrm>
          <a:prstGeom prst="line">
            <a:avLst/>
          </a:prstGeom>
          <a:ln w="15875">
            <a:noFill/>
          </a:ln>
        </p:spPr>
      </p:sp>
      <p:sp>
        <p:nvSpPr>
          <p:cNvPr id="317451" name="Rectangle 21"/>
          <p:cNvSpPr/>
          <p:nvPr/>
        </p:nvSpPr>
        <p:spPr>
          <a:xfrm>
            <a:off x="2522538" y="3435350"/>
            <a:ext cx="296862" cy="2952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6" name="Group 22"/>
          <p:cNvGrpSpPr/>
          <p:nvPr/>
        </p:nvGrpSpPr>
        <p:grpSpPr>
          <a:xfrm>
            <a:off x="5800725" y="4700588"/>
            <a:ext cx="842963" cy="1168400"/>
            <a:chOff x="2694" y="2961"/>
            <a:chExt cx="531" cy="736"/>
          </a:xfrm>
        </p:grpSpPr>
        <p:grpSp>
          <p:nvGrpSpPr>
            <p:cNvPr id="317562" name="Group 23"/>
            <p:cNvGrpSpPr/>
            <p:nvPr/>
          </p:nvGrpSpPr>
          <p:grpSpPr>
            <a:xfrm>
              <a:off x="2694" y="2971"/>
              <a:ext cx="36" cy="501"/>
              <a:chOff x="2499" y="2165"/>
              <a:chExt cx="36" cy="501"/>
            </a:xfrm>
          </p:grpSpPr>
          <p:sp>
            <p:nvSpPr>
              <p:cNvPr id="317567" name="Line 24"/>
              <p:cNvSpPr/>
              <p:nvPr/>
            </p:nvSpPr>
            <p:spPr>
              <a:xfrm>
                <a:off x="2516" y="2165"/>
                <a:ext cx="7" cy="49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68" name="Oval 25"/>
              <p:cNvSpPr/>
              <p:nvPr/>
            </p:nvSpPr>
            <p:spPr>
              <a:xfrm>
                <a:off x="2499" y="2630"/>
                <a:ext cx="36" cy="36"/>
              </a:xfrm>
              <a:prstGeom prst="ellipse">
                <a:avLst/>
              </a:prstGeom>
              <a:solidFill>
                <a:schemeClr val="tx1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7563" name="Freeform 26"/>
            <p:cNvSpPr/>
            <p:nvPr/>
          </p:nvSpPr>
          <p:spPr>
            <a:xfrm>
              <a:off x="2881" y="2966"/>
              <a:ext cx="2" cy="555"/>
            </a:xfrm>
            <a:custGeom>
              <a:avLst/>
              <a:gdLst>
                <a:gd name="txL" fmla="*/ 0 w 2"/>
                <a:gd name="txT" fmla="*/ 0 h 555"/>
                <a:gd name="txR" fmla="*/ 2 w 2"/>
                <a:gd name="txB" fmla="*/ 555 h 555"/>
              </a:gdLst>
              <a:ahLst/>
              <a:cxnLst>
                <a:cxn ang="0">
                  <a:pos x="2" y="0"/>
                </a:cxn>
                <a:cxn ang="0">
                  <a:pos x="0" y="555"/>
                </a:cxn>
              </a:cxnLst>
              <a:rect l="txL" t="txT" r="txR" b="txB"/>
              <a:pathLst>
                <a:path w="2" h="555">
                  <a:moveTo>
                    <a:pt x="2" y="0"/>
                  </a:moveTo>
                  <a:lnTo>
                    <a:pt x="0" y="555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564" name="Freeform 27"/>
            <p:cNvSpPr/>
            <p:nvPr/>
          </p:nvSpPr>
          <p:spPr>
            <a:xfrm>
              <a:off x="3060" y="2961"/>
              <a:ext cx="1" cy="648"/>
            </a:xfrm>
            <a:custGeom>
              <a:avLst/>
              <a:gdLst>
                <a:gd name="txL" fmla="*/ 0 w 1"/>
                <a:gd name="txT" fmla="*/ 0 h 648"/>
                <a:gd name="txR" fmla="*/ 1 w 1"/>
                <a:gd name="txB" fmla="*/ 648 h 648"/>
              </a:gdLst>
              <a:ahLst/>
              <a:cxnLst>
                <a:cxn ang="0">
                  <a:pos x="0" y="0"/>
                </a:cxn>
                <a:cxn ang="0">
                  <a:pos x="1" y="648"/>
                </a:cxn>
              </a:cxnLst>
              <a:rect l="txL" t="txT" r="txR" b="txB"/>
              <a:pathLst>
                <a:path w="1" h="648">
                  <a:moveTo>
                    <a:pt x="0" y="0"/>
                  </a:moveTo>
                  <a:lnTo>
                    <a:pt x="1" y="648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565" name="Oval 28"/>
            <p:cNvSpPr/>
            <p:nvPr/>
          </p:nvSpPr>
          <p:spPr>
            <a:xfrm>
              <a:off x="3041" y="3593"/>
              <a:ext cx="32" cy="32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566" name="Freeform 29"/>
            <p:cNvSpPr/>
            <p:nvPr/>
          </p:nvSpPr>
          <p:spPr>
            <a:xfrm>
              <a:off x="3223" y="2966"/>
              <a:ext cx="2" cy="731"/>
            </a:xfrm>
            <a:custGeom>
              <a:avLst/>
              <a:gdLst>
                <a:gd name="txL" fmla="*/ 0 w 2"/>
                <a:gd name="txT" fmla="*/ 0 h 731"/>
                <a:gd name="txR" fmla="*/ 2 w 2"/>
                <a:gd name="txB" fmla="*/ 731 h 731"/>
              </a:gdLst>
              <a:ahLst/>
              <a:cxnLst>
                <a:cxn ang="0">
                  <a:pos x="2" y="0"/>
                </a:cxn>
                <a:cxn ang="0">
                  <a:pos x="0" y="731"/>
                </a:cxn>
              </a:cxnLst>
              <a:rect l="txL" t="txT" r="txR" b="txB"/>
              <a:pathLst>
                <a:path w="2" h="731">
                  <a:moveTo>
                    <a:pt x="2" y="0"/>
                  </a:moveTo>
                  <a:lnTo>
                    <a:pt x="0" y="731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17453" name="Rectangle 30"/>
          <p:cNvSpPr/>
          <p:nvPr/>
        </p:nvSpPr>
        <p:spPr>
          <a:xfrm>
            <a:off x="2478088" y="6107113"/>
            <a:ext cx="292100" cy="285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54" name="Rectangle 31"/>
          <p:cNvSpPr/>
          <p:nvPr/>
        </p:nvSpPr>
        <p:spPr>
          <a:xfrm>
            <a:off x="2492375" y="5892800"/>
            <a:ext cx="298450" cy="285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55" name="Oval 32"/>
          <p:cNvSpPr/>
          <p:nvPr/>
        </p:nvSpPr>
        <p:spPr>
          <a:xfrm>
            <a:off x="2620963" y="3151188"/>
            <a:ext cx="31750" cy="36512"/>
          </a:xfrm>
          <a:prstGeom prst="ellipse">
            <a:avLst/>
          </a:prstGeom>
          <a:noFill/>
          <a:ln w="1587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56" name="Oval 33"/>
          <p:cNvSpPr/>
          <p:nvPr/>
        </p:nvSpPr>
        <p:spPr>
          <a:xfrm>
            <a:off x="2603500" y="3414713"/>
            <a:ext cx="36513" cy="36512"/>
          </a:xfrm>
          <a:prstGeom prst="ellipse">
            <a:avLst/>
          </a:prstGeom>
          <a:noFill/>
          <a:ln w="1587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57" name="Oval 34"/>
          <p:cNvSpPr/>
          <p:nvPr/>
        </p:nvSpPr>
        <p:spPr>
          <a:xfrm>
            <a:off x="2620963" y="3343275"/>
            <a:ext cx="36512" cy="36513"/>
          </a:xfrm>
          <a:prstGeom prst="ellipse">
            <a:avLst/>
          </a:prstGeom>
          <a:noFill/>
          <a:ln w="1587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8" name="Group 35"/>
          <p:cNvGrpSpPr/>
          <p:nvPr/>
        </p:nvGrpSpPr>
        <p:grpSpPr>
          <a:xfrm>
            <a:off x="2462213" y="4437063"/>
            <a:ext cx="5332412" cy="2376487"/>
            <a:chOff x="591" y="2795"/>
            <a:chExt cx="3359" cy="1497"/>
          </a:xfrm>
        </p:grpSpPr>
        <p:sp>
          <p:nvSpPr>
            <p:cNvPr id="317533" name="Line 36"/>
            <p:cNvSpPr/>
            <p:nvPr/>
          </p:nvSpPr>
          <p:spPr>
            <a:xfrm>
              <a:off x="795" y="3146"/>
              <a:ext cx="3155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7534" name="Group 37"/>
            <p:cNvGrpSpPr/>
            <p:nvPr/>
          </p:nvGrpSpPr>
          <p:grpSpPr>
            <a:xfrm>
              <a:off x="591" y="2795"/>
              <a:ext cx="3349" cy="1497"/>
              <a:chOff x="591" y="2795"/>
              <a:chExt cx="3349" cy="1497"/>
            </a:xfrm>
          </p:grpSpPr>
          <p:sp>
            <p:nvSpPr>
              <p:cNvPr id="317535" name="Rectangle 38"/>
              <p:cNvSpPr/>
              <p:nvPr/>
            </p:nvSpPr>
            <p:spPr>
              <a:xfrm>
                <a:off x="617" y="3621"/>
                <a:ext cx="81" cy="1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4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14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7536" name="Group 39"/>
              <p:cNvGrpSpPr/>
              <p:nvPr/>
            </p:nvGrpSpPr>
            <p:grpSpPr>
              <a:xfrm>
                <a:off x="591" y="2795"/>
                <a:ext cx="3349" cy="1497"/>
                <a:chOff x="591" y="2795"/>
                <a:chExt cx="3349" cy="1497"/>
              </a:xfrm>
            </p:grpSpPr>
            <p:sp>
              <p:nvSpPr>
                <p:cNvPr id="317537" name="Rectangle 40"/>
                <p:cNvSpPr/>
                <p:nvPr/>
              </p:nvSpPr>
              <p:spPr>
                <a:xfrm>
                  <a:off x="617" y="3322"/>
                  <a:ext cx="81" cy="13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lIns="0" tIns="0" rIns="0" bIns="0">
                  <a:spAutoFit/>
                </a:bodyPr>
                <a:p>
                  <a:r>
                    <a:rPr lang="en-US" altLang="zh-CN" sz="1400" b="1" dirty="0">
                      <a:latin typeface="Times New Roman" panose="02020603050405020304" pitchFamily="18" charset="0"/>
                    </a:rPr>
                    <a:t>D</a:t>
                  </a:r>
                  <a:endParaRPr lang="en-US" altLang="zh-CN" sz="1400" b="1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317538" name="Group 41"/>
                <p:cNvGrpSpPr/>
                <p:nvPr/>
              </p:nvGrpSpPr>
              <p:grpSpPr>
                <a:xfrm>
                  <a:off x="591" y="2795"/>
                  <a:ext cx="3349" cy="1497"/>
                  <a:chOff x="591" y="2795"/>
                  <a:chExt cx="3349" cy="1497"/>
                </a:xfrm>
              </p:grpSpPr>
              <p:sp>
                <p:nvSpPr>
                  <p:cNvPr id="317539" name="Text Box 42"/>
                  <p:cNvSpPr txBox="1"/>
                  <p:nvPr/>
                </p:nvSpPr>
                <p:spPr>
                  <a:xfrm>
                    <a:off x="591" y="3145"/>
                    <a:ext cx="194" cy="20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lIns="0" rIns="0">
                    <a:spAutoFit/>
                  </a:bodyPr>
                  <a:p>
                    <a:pPr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2000" b="1" dirty="0">
                      <a:latin typeface="宋体" panose="02010600030101010101" pitchFamily="2" charset="-122"/>
                    </a:endParaRPr>
                  </a:p>
                </p:txBody>
              </p:sp>
              <p:grpSp>
                <p:nvGrpSpPr>
                  <p:cNvPr id="317540" name="Group 43"/>
                  <p:cNvGrpSpPr/>
                  <p:nvPr/>
                </p:nvGrpSpPr>
                <p:grpSpPr>
                  <a:xfrm>
                    <a:off x="591" y="2795"/>
                    <a:ext cx="3349" cy="1497"/>
                    <a:chOff x="591" y="2795"/>
                    <a:chExt cx="3349" cy="1497"/>
                  </a:xfrm>
                </p:grpSpPr>
                <p:sp>
                  <p:nvSpPr>
                    <p:cNvPr id="317541" name="Text Box 44"/>
                    <p:cNvSpPr txBox="1"/>
                    <p:nvPr/>
                  </p:nvSpPr>
                  <p:spPr>
                    <a:xfrm>
                      <a:off x="591" y="3441"/>
                      <a:ext cx="194" cy="20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 vert="eaVert" lIns="0" rIns="0">
                      <a:spAutoFit/>
                    </a:bodyPr>
                    <a:p>
                      <a:pPr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…</a:t>
                      </a:r>
                      <a:endParaRPr lang="en-US" altLang="zh-CN" sz="2000" b="1" dirty="0">
                        <a:latin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17542" name="Rectangle 45"/>
                    <p:cNvSpPr/>
                    <p:nvPr/>
                  </p:nvSpPr>
                  <p:spPr>
                    <a:xfrm>
                      <a:off x="630" y="2795"/>
                      <a:ext cx="187" cy="235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/>
                    <a:p>
                      <a:endParaRPr lang="zh-CN" altLang="en-US" dirty="0">
                        <a:latin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317543" name="Group 46"/>
                    <p:cNvGrpSpPr/>
                    <p:nvPr/>
                  </p:nvGrpSpPr>
                  <p:grpSpPr>
                    <a:xfrm>
                      <a:off x="617" y="2795"/>
                      <a:ext cx="3323" cy="1497"/>
                      <a:chOff x="617" y="2795"/>
                      <a:chExt cx="3323" cy="1497"/>
                    </a:xfrm>
                  </p:grpSpPr>
                  <p:sp>
                    <p:nvSpPr>
                      <p:cNvPr id="317544" name="Rectangle 47"/>
                      <p:cNvSpPr/>
                      <p:nvPr/>
                    </p:nvSpPr>
                    <p:spPr>
                      <a:xfrm>
                        <a:off x="617" y="3038"/>
                        <a:ext cx="81" cy="1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wrap="none" lIns="0" tIns="0" rIns="0" bIns="0">
                        <a:spAutoFit/>
                      </a:bodyPr>
                      <a:p>
                        <a:r>
                          <a:rPr lang="en-US" altLang="zh-CN" sz="1400" b="1" dirty="0">
                            <a:latin typeface="Times New Roman" panose="02020603050405020304" pitchFamily="18" charset="0"/>
                          </a:rPr>
                          <a:t>D</a:t>
                        </a:r>
                        <a:endParaRPr lang="en-US" altLang="zh-CN" sz="1400" b="1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317545" name="Group 48"/>
                      <p:cNvGrpSpPr/>
                      <p:nvPr/>
                    </p:nvGrpSpPr>
                    <p:grpSpPr>
                      <a:xfrm>
                        <a:off x="688" y="3097"/>
                        <a:ext cx="3252" cy="719"/>
                        <a:chOff x="688" y="3097"/>
                        <a:chExt cx="3252" cy="719"/>
                      </a:xfrm>
                    </p:grpSpPr>
                    <p:sp>
                      <p:nvSpPr>
                        <p:cNvPr id="317548" name="Rectangle 49"/>
                        <p:cNvSpPr/>
                        <p:nvPr/>
                      </p:nvSpPr>
                      <p:spPr>
                        <a:xfrm>
                          <a:off x="688" y="3680"/>
                          <a:ext cx="56" cy="13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wrap="none" lIns="0" tIns="0" rIns="0" bIns="0">
                          <a:spAutoFit/>
                        </a:bodyPr>
                        <a:p>
                          <a:r>
                            <a:rPr lang="en-US" altLang="zh-CN" sz="1400" b="1" dirty="0">
                              <a:latin typeface="Times New Roman" panose="02020603050405020304" pitchFamily="18" charset="0"/>
                            </a:rPr>
                            <a:t>0</a:t>
                          </a:r>
                          <a:endParaRPr lang="en-US" altLang="zh-CN" sz="1400" b="1" dirty="0">
                            <a:latin typeface="Times New Roman" panose="02020603050405020304" pitchFamily="18" charset="0"/>
                          </a:endParaRPr>
                        </a:p>
                      </p:txBody>
                    </p:sp>
                    <p:grpSp>
                      <p:nvGrpSpPr>
                        <p:cNvPr id="317549" name="Group 50"/>
                        <p:cNvGrpSpPr/>
                        <p:nvPr/>
                      </p:nvGrpSpPr>
                      <p:grpSpPr>
                        <a:xfrm>
                          <a:off x="688" y="3097"/>
                          <a:ext cx="3252" cy="588"/>
                          <a:chOff x="688" y="3097"/>
                          <a:chExt cx="3252" cy="588"/>
                        </a:xfrm>
                      </p:grpSpPr>
                      <p:sp>
                        <p:nvSpPr>
                          <p:cNvPr id="317550" name="Rectangle 51"/>
                          <p:cNvSpPr/>
                          <p:nvPr/>
                        </p:nvSpPr>
                        <p:spPr>
                          <a:xfrm>
                            <a:off x="688" y="3381"/>
                            <a:ext cx="56" cy="136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  <p:txBody>
                          <a:bodyPr wrap="none" lIns="0" tIns="0" rIns="0" bIns="0">
                            <a:spAutoFit/>
                          </a:bodyPr>
                          <a:p>
                            <a:r>
                              <a:rPr lang="en-US" altLang="zh-CN" sz="1400" b="1" dirty="0">
                                <a:latin typeface="Times New Roman" panose="02020603050405020304" pitchFamily="18" charset="0"/>
                              </a:rPr>
                              <a:t>4</a:t>
                            </a:r>
                            <a:endParaRPr lang="en-US" altLang="zh-CN" sz="1400" b="1" dirty="0">
                              <a:latin typeface="Times New Roman" panose="02020603050405020304" pitchFamily="18" charset="0"/>
                            </a:endParaRPr>
                          </a:p>
                        </p:txBody>
                      </p:sp>
                      <p:grpSp>
                        <p:nvGrpSpPr>
                          <p:cNvPr id="317551" name="Group 52"/>
                          <p:cNvGrpSpPr/>
                          <p:nvPr/>
                        </p:nvGrpSpPr>
                        <p:grpSpPr>
                          <a:xfrm>
                            <a:off x="688" y="3097"/>
                            <a:ext cx="3252" cy="588"/>
                            <a:chOff x="688" y="3097"/>
                            <a:chExt cx="3252" cy="588"/>
                          </a:xfrm>
                        </p:grpSpPr>
                        <p:sp>
                          <p:nvSpPr>
                            <p:cNvPr id="317552" name="Rectangle 53"/>
                            <p:cNvSpPr/>
                            <p:nvPr/>
                          </p:nvSpPr>
                          <p:spPr>
                            <a:xfrm>
                              <a:off x="688" y="3097"/>
                              <a:ext cx="56" cy="136"/>
                            </a:xfrm>
                            <a:prstGeom prst="rect">
                              <a:avLst/>
                            </a:prstGeom>
                            <a:noFill/>
                            <a:ln w="9525">
                              <a:noFill/>
                            </a:ln>
                          </p:spPr>
                          <p:txBody>
                            <a:bodyPr wrap="none" lIns="0" tIns="0" rIns="0" bIns="0">
                              <a:spAutoFit/>
                            </a:bodyPr>
                            <a:p>
                              <a:r>
                                <a:rPr lang="en-US" altLang="zh-CN" sz="1400" b="1" dirty="0">
                                  <a:latin typeface="Times New Roman" panose="02020603050405020304" pitchFamily="18" charset="0"/>
                                </a:rPr>
                                <a:t>7</a:t>
                              </a:r>
                              <a:endParaRPr lang="en-US" altLang="zh-CN" sz="1400" b="1" dirty="0">
                                <a:latin typeface="Times New Roman" panose="02020603050405020304" pitchFamily="18" charset="0"/>
                              </a:endParaRPr>
                            </a:p>
                          </p:txBody>
                        </p:sp>
                        <p:grpSp>
                          <p:nvGrpSpPr>
                            <p:cNvPr id="317553" name="Group 54"/>
                            <p:cNvGrpSpPr/>
                            <p:nvPr/>
                          </p:nvGrpSpPr>
                          <p:grpSpPr>
                            <a:xfrm>
                              <a:off x="782" y="3146"/>
                              <a:ext cx="3158" cy="539"/>
                              <a:chOff x="782" y="3146"/>
                              <a:chExt cx="3158" cy="539"/>
                            </a:xfrm>
                          </p:grpSpPr>
                          <p:sp>
                            <p:nvSpPr>
                              <p:cNvPr id="317554" name="Line 55"/>
                              <p:cNvSpPr/>
                              <p:nvPr/>
                            </p:nvSpPr>
                            <p:spPr>
                              <a:xfrm>
                                <a:off x="782" y="3146"/>
                                <a:ext cx="3155" cy="1"/>
                              </a:xfrm>
                              <a:prstGeom prst="line">
                                <a:avLst/>
                              </a:prstGeom>
                              <a:ln w="38100" cap="flat" cmpd="sng">
                                <a:solidFill>
                                  <a:schemeClr val="tx1"/>
                                </a:solidFill>
                                <a:prstDash val="solid"/>
                                <a:headEnd type="none" w="med" len="med"/>
                                <a:tailEnd type="none" w="med" len="med"/>
                              </a:ln>
                            </p:spPr>
                          </p:sp>
                          <p:sp>
                            <p:nvSpPr>
                              <p:cNvPr id="317555" name="Line 56"/>
                              <p:cNvSpPr/>
                              <p:nvPr/>
                            </p:nvSpPr>
                            <p:spPr>
                              <a:xfrm>
                                <a:off x="785" y="3218"/>
                                <a:ext cx="3155" cy="1"/>
                              </a:xfrm>
                              <a:prstGeom prst="line">
                                <a:avLst/>
                              </a:prstGeom>
                              <a:ln w="38100" cap="flat" cmpd="sng">
                                <a:solidFill>
                                  <a:schemeClr val="tx1"/>
                                </a:solidFill>
                                <a:prstDash val="solid"/>
                                <a:headEnd type="none" w="med" len="med"/>
                                <a:tailEnd type="none" w="med" len="med"/>
                              </a:ln>
                            </p:spPr>
                          </p:sp>
                          <p:sp>
                            <p:nvSpPr>
                              <p:cNvPr id="317556" name="Line 57"/>
                              <p:cNvSpPr/>
                              <p:nvPr/>
                            </p:nvSpPr>
                            <p:spPr>
                              <a:xfrm>
                                <a:off x="782" y="3299"/>
                                <a:ext cx="3155" cy="1"/>
                              </a:xfrm>
                              <a:prstGeom prst="line">
                                <a:avLst/>
                              </a:prstGeom>
                              <a:ln w="38100" cap="flat" cmpd="sng">
                                <a:solidFill>
                                  <a:schemeClr val="tx1"/>
                                </a:solidFill>
                                <a:prstDash val="solid"/>
                                <a:headEnd type="none" w="med" len="med"/>
                                <a:tailEnd type="none" w="med" len="med"/>
                              </a:ln>
                            </p:spPr>
                          </p:sp>
                          <p:sp>
                            <p:nvSpPr>
                              <p:cNvPr id="317557" name="Line 58"/>
                              <p:cNvSpPr/>
                              <p:nvPr/>
                            </p:nvSpPr>
                            <p:spPr>
                              <a:xfrm>
                                <a:off x="782" y="3374"/>
                                <a:ext cx="3155" cy="1"/>
                              </a:xfrm>
                              <a:prstGeom prst="line">
                                <a:avLst/>
                              </a:prstGeom>
                              <a:ln w="38100" cap="flat" cmpd="sng">
                                <a:solidFill>
                                  <a:schemeClr val="tx1"/>
                                </a:solidFill>
                                <a:prstDash val="solid"/>
                                <a:headEnd type="none" w="med" len="med"/>
                                <a:tailEnd type="none" w="med" len="med"/>
                              </a:ln>
                            </p:spPr>
                          </p:sp>
                          <p:sp>
                            <p:nvSpPr>
                              <p:cNvPr id="317558" name="Line 59"/>
                              <p:cNvSpPr/>
                              <p:nvPr/>
                            </p:nvSpPr>
                            <p:spPr>
                              <a:xfrm>
                                <a:off x="782" y="3453"/>
                                <a:ext cx="3155" cy="1"/>
                              </a:xfrm>
                              <a:prstGeom prst="line">
                                <a:avLst/>
                              </a:prstGeom>
                              <a:ln w="38100" cap="flat" cmpd="sng">
                                <a:solidFill>
                                  <a:schemeClr val="tx1"/>
                                </a:solidFill>
                                <a:prstDash val="solid"/>
                                <a:headEnd type="none" w="med" len="med"/>
                                <a:tailEnd type="none" w="med" len="med"/>
                              </a:ln>
                            </p:spPr>
                          </p:sp>
                          <p:sp>
                            <p:nvSpPr>
                              <p:cNvPr id="317559" name="Freeform 60"/>
                              <p:cNvSpPr/>
                              <p:nvPr/>
                            </p:nvSpPr>
                            <p:spPr>
                              <a:xfrm>
                                <a:off x="782" y="3531"/>
                                <a:ext cx="3157" cy="1"/>
                              </a:xfrm>
                              <a:custGeom>
                                <a:avLst/>
                                <a:gdLst>
                                  <a:gd name="txL" fmla="*/ 0 w 3157"/>
                                  <a:gd name="txT" fmla="*/ 0 h 1"/>
                                  <a:gd name="txR" fmla="*/ 3157 w 3157"/>
                                  <a:gd name="txB" fmla="*/ 1 h 1"/>
                                </a:gdLst>
                                <a:ahLst/>
                                <a:cxnLst>
                                  <a:cxn ang="0">
                                    <a:pos x="0" y="0"/>
                                  </a:cxn>
                                  <a:cxn ang="0">
                                    <a:pos x="3157" y="0"/>
                                  </a:cxn>
                                </a:cxnLst>
                                <a:rect l="txL" t="txT" r="txR" b="txB"/>
                                <a:pathLst>
                                  <a:path w="3157" h="1">
                                    <a:moveTo>
                                      <a:pt x="0" y="0"/>
                                    </a:moveTo>
                                    <a:lnTo>
                                      <a:pt x="3157" y="0"/>
                                    </a:lnTo>
                                  </a:path>
                                </a:pathLst>
                              </a:custGeom>
                              <a:solidFill>
                                <a:srgbClr val="FFFFFF"/>
                              </a:solidFill>
                              <a:ln w="38100" cap="flat" cmpd="sng">
                                <a:solidFill>
                                  <a:schemeClr val="tx1"/>
                                </a:solidFill>
                                <a:prstDash val="solid"/>
                                <a:round/>
                                <a:headEnd type="none" w="med" len="med"/>
                                <a:tailEnd type="none" w="med" len="med"/>
                              </a:ln>
                            </p:spPr>
                            <p:txBody>
                              <a:bodyPr/>
                              <a:p>
                                <a:endParaRPr lang="zh-CN" altLang="en-US" dirty="0">
                                  <a:latin typeface="Arial" panose="020B060402020202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17560" name="Line 61"/>
                              <p:cNvSpPr/>
                              <p:nvPr/>
                            </p:nvSpPr>
                            <p:spPr>
                              <a:xfrm>
                                <a:off x="782" y="3606"/>
                                <a:ext cx="3155" cy="1"/>
                              </a:xfrm>
                              <a:prstGeom prst="line">
                                <a:avLst/>
                              </a:prstGeom>
                              <a:ln w="38100" cap="flat" cmpd="sng">
                                <a:solidFill>
                                  <a:schemeClr val="tx1"/>
                                </a:solidFill>
                                <a:prstDash val="solid"/>
                                <a:headEnd type="none" w="med" len="med"/>
                                <a:tailEnd type="none" w="med" len="med"/>
                              </a:ln>
                            </p:spPr>
                          </p:sp>
                          <p:sp>
                            <p:nvSpPr>
                              <p:cNvPr id="317561" name="Line 62"/>
                              <p:cNvSpPr/>
                              <p:nvPr/>
                            </p:nvSpPr>
                            <p:spPr>
                              <a:xfrm>
                                <a:off x="782" y="3684"/>
                                <a:ext cx="3155" cy="1"/>
                              </a:xfrm>
                              <a:prstGeom prst="line">
                                <a:avLst/>
                              </a:prstGeom>
                              <a:ln w="38100" cap="flat" cmpd="sng">
                                <a:solidFill>
                                  <a:schemeClr val="tx1"/>
                                </a:solidFill>
                                <a:prstDash val="solid"/>
                                <a:headEnd type="none" w="med" len="med"/>
                                <a:tailEnd type="none" w="med" len="med"/>
                              </a:ln>
                            </p:spPr>
                          </p:sp>
                        </p:grpSp>
                      </p:grpSp>
                    </p:grpSp>
                  </p:grpSp>
                  <p:sp>
                    <p:nvSpPr>
                      <p:cNvPr id="317546" name="Rectangle 63"/>
                      <p:cNvSpPr/>
                      <p:nvPr/>
                    </p:nvSpPr>
                    <p:spPr>
                      <a:xfrm>
                        <a:off x="630" y="2795"/>
                        <a:ext cx="145" cy="1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 dirty="0">
                          <a:latin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7547" name="Rectangle 64"/>
                      <p:cNvSpPr/>
                      <p:nvPr/>
                    </p:nvSpPr>
                    <p:spPr>
                      <a:xfrm>
                        <a:off x="630" y="4103"/>
                        <a:ext cx="145" cy="18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/>
                      <a:p>
                        <a:endParaRPr lang="zh-CN" altLang="en-US" dirty="0">
                          <a:latin typeface="Arial" panose="020B0604020202020204" pitchFamily="34" charset="0"/>
                        </a:endParaRPr>
                      </a:p>
                    </p:txBody>
                  </p:sp>
                </p:grpSp>
              </p:grpSp>
            </p:grpSp>
          </p:grpSp>
        </p:grpSp>
      </p:grpSp>
      <p:sp>
        <p:nvSpPr>
          <p:cNvPr id="317459" name="Oval 65"/>
          <p:cNvSpPr/>
          <p:nvPr/>
        </p:nvSpPr>
        <p:spPr>
          <a:xfrm>
            <a:off x="2620963" y="5060950"/>
            <a:ext cx="36512" cy="36513"/>
          </a:xfrm>
          <a:prstGeom prst="ellipse">
            <a:avLst/>
          </a:prstGeom>
          <a:noFill/>
          <a:ln w="1587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60" name="Oval 66"/>
          <p:cNvSpPr/>
          <p:nvPr/>
        </p:nvSpPr>
        <p:spPr>
          <a:xfrm>
            <a:off x="2627313" y="5237163"/>
            <a:ext cx="34925" cy="36512"/>
          </a:xfrm>
          <a:prstGeom prst="ellipse">
            <a:avLst/>
          </a:prstGeom>
          <a:noFill/>
          <a:ln w="1587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61" name="Oval 67"/>
          <p:cNvSpPr/>
          <p:nvPr/>
        </p:nvSpPr>
        <p:spPr>
          <a:xfrm>
            <a:off x="2620963" y="5548313"/>
            <a:ext cx="36512" cy="31750"/>
          </a:xfrm>
          <a:prstGeom prst="ellipse">
            <a:avLst/>
          </a:prstGeom>
          <a:noFill/>
          <a:ln w="1587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62" name="Oval 68"/>
          <p:cNvSpPr/>
          <p:nvPr/>
        </p:nvSpPr>
        <p:spPr>
          <a:xfrm>
            <a:off x="2620963" y="5681663"/>
            <a:ext cx="36512" cy="34925"/>
          </a:xfrm>
          <a:prstGeom prst="ellipse">
            <a:avLst/>
          </a:prstGeom>
          <a:noFill/>
          <a:ln w="1587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8" name="Group 69"/>
          <p:cNvGrpSpPr/>
          <p:nvPr/>
        </p:nvGrpSpPr>
        <p:grpSpPr>
          <a:xfrm>
            <a:off x="2432050" y="2876550"/>
            <a:ext cx="5380038" cy="939800"/>
            <a:chOff x="572" y="1812"/>
            <a:chExt cx="3389" cy="592"/>
          </a:xfrm>
        </p:grpSpPr>
        <p:sp>
          <p:nvSpPr>
            <p:cNvPr id="317522" name="Rectangle 70"/>
            <p:cNvSpPr/>
            <p:nvPr/>
          </p:nvSpPr>
          <p:spPr>
            <a:xfrm>
              <a:off x="701" y="1871"/>
              <a:ext cx="56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400" b="1" dirty="0">
                  <a:latin typeface="Times New Roman" panose="02020603050405020304" pitchFamily="18" charset="0"/>
                </a:rPr>
                <a:t>9</a:t>
              </a:r>
              <a:endParaRPr lang="en-US" altLang="zh-CN" sz="1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7523" name="Rectangle 71"/>
            <p:cNvSpPr/>
            <p:nvPr/>
          </p:nvSpPr>
          <p:spPr>
            <a:xfrm>
              <a:off x="629" y="2210"/>
              <a:ext cx="81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1400" b="1" dirty="0">
                  <a:latin typeface="Times New Roman" panose="02020603050405020304" pitchFamily="18" charset="0"/>
                </a:rPr>
                <a:t>A</a:t>
              </a:r>
              <a:endParaRPr lang="en-US" altLang="zh-CN" sz="1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17524" name="Group 72"/>
            <p:cNvGrpSpPr/>
            <p:nvPr/>
          </p:nvGrpSpPr>
          <p:grpSpPr>
            <a:xfrm>
              <a:off x="572" y="1812"/>
              <a:ext cx="3389" cy="592"/>
              <a:chOff x="572" y="1812"/>
              <a:chExt cx="3389" cy="592"/>
            </a:xfrm>
          </p:grpSpPr>
          <p:sp>
            <p:nvSpPr>
              <p:cNvPr id="317525" name="Line 73"/>
              <p:cNvSpPr/>
              <p:nvPr/>
            </p:nvSpPr>
            <p:spPr>
              <a:xfrm>
                <a:off x="795" y="1913"/>
                <a:ext cx="315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26" name="Line 74"/>
              <p:cNvSpPr/>
              <p:nvPr/>
            </p:nvSpPr>
            <p:spPr>
              <a:xfrm>
                <a:off x="795" y="1992"/>
                <a:ext cx="315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27" name="Line 75"/>
              <p:cNvSpPr/>
              <p:nvPr/>
            </p:nvSpPr>
            <p:spPr>
              <a:xfrm>
                <a:off x="806" y="2233"/>
                <a:ext cx="315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28" name="Line 76"/>
              <p:cNvSpPr/>
              <p:nvPr/>
            </p:nvSpPr>
            <p:spPr>
              <a:xfrm>
                <a:off x="795" y="2311"/>
                <a:ext cx="315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29" name="Line 77"/>
              <p:cNvSpPr/>
              <p:nvPr/>
            </p:nvSpPr>
            <p:spPr>
              <a:xfrm>
                <a:off x="795" y="2067"/>
                <a:ext cx="3155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30" name="Rectangle 78"/>
              <p:cNvSpPr/>
              <p:nvPr/>
            </p:nvSpPr>
            <p:spPr>
              <a:xfrm>
                <a:off x="630" y="1812"/>
                <a:ext cx="81" cy="1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400" b="1" dirty="0">
                    <a:latin typeface="Times New Roman" panose="02020603050405020304" pitchFamily="18" charset="0"/>
                  </a:rPr>
                  <a:t>A</a:t>
                </a:r>
                <a:endParaRPr lang="en-US" altLang="zh-CN" sz="1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531" name="Rectangle 79"/>
              <p:cNvSpPr/>
              <p:nvPr/>
            </p:nvSpPr>
            <p:spPr>
              <a:xfrm>
                <a:off x="700" y="2268"/>
                <a:ext cx="56" cy="1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1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532" name="Text Box 80"/>
              <p:cNvSpPr txBox="1"/>
              <p:nvPr/>
            </p:nvSpPr>
            <p:spPr>
              <a:xfrm>
                <a:off x="572" y="1969"/>
                <a:ext cx="232" cy="2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lIns="0" rIns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•••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0" name="Group 81"/>
          <p:cNvGrpSpPr/>
          <p:nvPr/>
        </p:nvGrpSpPr>
        <p:grpSpPr>
          <a:xfrm>
            <a:off x="3746500" y="4062413"/>
            <a:ext cx="3024188" cy="646112"/>
            <a:chOff x="1400" y="2559"/>
            <a:chExt cx="1905" cy="407"/>
          </a:xfrm>
        </p:grpSpPr>
        <p:sp>
          <p:nvSpPr>
            <p:cNvPr id="317517" name="Rectangle 82"/>
            <p:cNvSpPr/>
            <p:nvPr/>
          </p:nvSpPr>
          <p:spPr>
            <a:xfrm>
              <a:off x="1561" y="2659"/>
              <a:ext cx="311" cy="19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2114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17518" name="Group 83"/>
            <p:cNvGrpSpPr/>
            <p:nvPr/>
          </p:nvGrpSpPr>
          <p:grpSpPr>
            <a:xfrm>
              <a:off x="1400" y="2559"/>
              <a:ext cx="1905" cy="407"/>
              <a:chOff x="1400" y="2559"/>
              <a:chExt cx="1905" cy="407"/>
            </a:xfrm>
          </p:grpSpPr>
          <p:sp>
            <p:nvSpPr>
              <p:cNvPr id="317520" name="Rectangle 84"/>
              <p:cNvSpPr/>
              <p:nvPr/>
            </p:nvSpPr>
            <p:spPr>
              <a:xfrm>
                <a:off x="1400" y="2559"/>
                <a:ext cx="651" cy="401"/>
              </a:xfrm>
              <a:prstGeom prst="rect">
                <a:avLst/>
              </a:prstGeom>
              <a:noFill/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521" name="Rectangle 85"/>
              <p:cNvSpPr/>
              <p:nvPr/>
            </p:nvSpPr>
            <p:spPr>
              <a:xfrm>
                <a:off x="2654" y="2565"/>
                <a:ext cx="651" cy="401"/>
              </a:xfrm>
              <a:prstGeom prst="rect">
                <a:avLst/>
              </a:prstGeom>
              <a:noFill/>
              <a:ln w="38100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17519" name="Rectangle 86"/>
            <p:cNvSpPr/>
            <p:nvPr/>
          </p:nvSpPr>
          <p:spPr>
            <a:xfrm>
              <a:off x="2832" y="2659"/>
              <a:ext cx="311" cy="19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2114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" name="Group 87"/>
          <p:cNvGrpSpPr/>
          <p:nvPr/>
        </p:nvGrpSpPr>
        <p:grpSpPr>
          <a:xfrm>
            <a:off x="4800600" y="4494213"/>
            <a:ext cx="2276475" cy="11112"/>
            <a:chOff x="2064" y="2831"/>
            <a:chExt cx="1434" cy="7"/>
          </a:xfrm>
        </p:grpSpPr>
        <p:sp>
          <p:nvSpPr>
            <p:cNvPr id="317515" name="Freeform 88"/>
            <p:cNvSpPr/>
            <p:nvPr/>
          </p:nvSpPr>
          <p:spPr>
            <a:xfrm>
              <a:off x="3309" y="2837"/>
              <a:ext cx="189" cy="1"/>
            </a:xfrm>
            <a:custGeom>
              <a:avLst/>
              <a:gdLst>
                <a:gd name="txL" fmla="*/ 0 w 189"/>
                <a:gd name="txT" fmla="*/ 0 h 1"/>
                <a:gd name="txR" fmla="*/ 189 w 189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89" y="1"/>
                </a:cxn>
              </a:cxnLst>
              <a:rect l="txL" t="txT" r="txR" b="txB"/>
              <a:pathLst>
                <a:path w="189" h="1">
                  <a:moveTo>
                    <a:pt x="0" y="0"/>
                  </a:moveTo>
                  <a:lnTo>
                    <a:pt x="189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7516" name="Line 89"/>
            <p:cNvSpPr/>
            <p:nvPr/>
          </p:nvSpPr>
          <p:spPr>
            <a:xfrm>
              <a:off x="2064" y="2831"/>
              <a:ext cx="156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3" name="Group 90"/>
          <p:cNvGrpSpPr/>
          <p:nvPr/>
        </p:nvGrpSpPr>
        <p:grpSpPr>
          <a:xfrm>
            <a:off x="5000625" y="4479925"/>
            <a:ext cx="2057400" cy="1638300"/>
            <a:chOff x="2190" y="2822"/>
            <a:chExt cx="1296" cy="1032"/>
          </a:xfrm>
        </p:grpSpPr>
        <p:grpSp>
          <p:nvGrpSpPr>
            <p:cNvPr id="317511" name="Group 91"/>
            <p:cNvGrpSpPr/>
            <p:nvPr/>
          </p:nvGrpSpPr>
          <p:grpSpPr>
            <a:xfrm>
              <a:off x="2209" y="2822"/>
              <a:ext cx="1277" cy="1025"/>
              <a:chOff x="2209" y="2822"/>
              <a:chExt cx="1277" cy="1025"/>
            </a:xfrm>
          </p:grpSpPr>
          <p:sp>
            <p:nvSpPr>
              <p:cNvPr id="317513" name="Freeform 92"/>
              <p:cNvSpPr/>
              <p:nvPr/>
            </p:nvSpPr>
            <p:spPr>
              <a:xfrm>
                <a:off x="3485" y="2837"/>
                <a:ext cx="1" cy="1003"/>
              </a:xfrm>
              <a:custGeom>
                <a:avLst/>
                <a:gdLst>
                  <a:gd name="txL" fmla="*/ 0 w 1"/>
                  <a:gd name="txT" fmla="*/ 0 h 1003"/>
                  <a:gd name="txR" fmla="*/ 1 w 1"/>
                  <a:gd name="txB" fmla="*/ 1003 h 1003"/>
                </a:gdLst>
                <a:ahLst/>
                <a:cxnLst>
                  <a:cxn ang="0">
                    <a:pos x="1" y="0"/>
                  </a:cxn>
                  <a:cxn ang="0">
                    <a:pos x="0" y="1003"/>
                  </a:cxn>
                </a:cxnLst>
                <a:rect l="txL" t="txT" r="txR" b="txB"/>
                <a:pathLst>
                  <a:path w="1" h="1003">
                    <a:moveTo>
                      <a:pt x="1" y="0"/>
                    </a:moveTo>
                    <a:lnTo>
                      <a:pt x="0" y="1003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514" name="Line 93"/>
              <p:cNvSpPr/>
              <p:nvPr/>
            </p:nvSpPr>
            <p:spPr>
              <a:xfrm>
                <a:off x="2209" y="2822"/>
                <a:ext cx="1" cy="102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17512" name="Oval 94"/>
            <p:cNvSpPr/>
            <p:nvPr/>
          </p:nvSpPr>
          <p:spPr>
            <a:xfrm>
              <a:off x="2190" y="3821"/>
              <a:ext cx="35" cy="33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95"/>
          <p:cNvGrpSpPr/>
          <p:nvPr/>
        </p:nvGrpSpPr>
        <p:grpSpPr>
          <a:xfrm>
            <a:off x="2490788" y="6002338"/>
            <a:ext cx="4573587" cy="215900"/>
            <a:chOff x="609" y="3781"/>
            <a:chExt cx="2881" cy="136"/>
          </a:xfrm>
        </p:grpSpPr>
        <p:sp>
          <p:nvSpPr>
            <p:cNvPr id="317507" name="Line 96"/>
            <p:cNvSpPr/>
            <p:nvPr/>
          </p:nvSpPr>
          <p:spPr>
            <a:xfrm>
              <a:off x="795" y="3831"/>
              <a:ext cx="2695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7508" name="Group 97"/>
            <p:cNvGrpSpPr/>
            <p:nvPr/>
          </p:nvGrpSpPr>
          <p:grpSpPr>
            <a:xfrm>
              <a:off x="609" y="3781"/>
              <a:ext cx="156" cy="136"/>
              <a:chOff x="414" y="2975"/>
              <a:chExt cx="156" cy="136"/>
            </a:xfrm>
          </p:grpSpPr>
          <p:sp>
            <p:nvSpPr>
              <p:cNvPr id="317509" name="Rectangle 98"/>
              <p:cNvSpPr/>
              <p:nvPr/>
            </p:nvSpPr>
            <p:spPr>
              <a:xfrm>
                <a:off x="415" y="2975"/>
                <a:ext cx="143" cy="1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400" b="1" dirty="0">
                    <a:latin typeface="Times New Roman" panose="02020603050405020304" pitchFamily="18" charset="0"/>
                  </a:rPr>
                  <a:t>CS</a:t>
                </a:r>
                <a:endParaRPr lang="en-US" altLang="zh-CN" sz="1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510" name="Line 99"/>
              <p:cNvSpPr/>
              <p:nvPr/>
            </p:nvSpPr>
            <p:spPr>
              <a:xfrm>
                <a:off x="414" y="2991"/>
                <a:ext cx="156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27" name="Group 100"/>
          <p:cNvGrpSpPr/>
          <p:nvPr/>
        </p:nvGrpSpPr>
        <p:grpSpPr>
          <a:xfrm>
            <a:off x="4770438" y="4230688"/>
            <a:ext cx="2509837" cy="1587"/>
            <a:chOff x="2045" y="2665"/>
            <a:chExt cx="1581" cy="1"/>
          </a:xfrm>
        </p:grpSpPr>
        <p:sp>
          <p:nvSpPr>
            <p:cNvPr id="317505" name="Line 101"/>
            <p:cNvSpPr/>
            <p:nvPr/>
          </p:nvSpPr>
          <p:spPr>
            <a:xfrm>
              <a:off x="3303" y="2665"/>
              <a:ext cx="323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7506" name="Line 102"/>
            <p:cNvSpPr/>
            <p:nvPr/>
          </p:nvSpPr>
          <p:spPr>
            <a:xfrm>
              <a:off x="2045" y="2665"/>
              <a:ext cx="306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28" name="Group 103"/>
          <p:cNvGrpSpPr/>
          <p:nvPr/>
        </p:nvGrpSpPr>
        <p:grpSpPr>
          <a:xfrm>
            <a:off x="5226050" y="4217988"/>
            <a:ext cx="2055813" cy="2055812"/>
            <a:chOff x="2332" y="2657"/>
            <a:chExt cx="1295" cy="1295"/>
          </a:xfrm>
        </p:grpSpPr>
        <p:grpSp>
          <p:nvGrpSpPr>
            <p:cNvPr id="317501" name="Group 104"/>
            <p:cNvGrpSpPr/>
            <p:nvPr/>
          </p:nvGrpSpPr>
          <p:grpSpPr>
            <a:xfrm>
              <a:off x="2345" y="2657"/>
              <a:ext cx="1282" cy="1291"/>
              <a:chOff x="2345" y="2657"/>
              <a:chExt cx="1282" cy="1291"/>
            </a:xfrm>
          </p:grpSpPr>
          <p:sp>
            <p:nvSpPr>
              <p:cNvPr id="317503" name="Line 105"/>
              <p:cNvSpPr/>
              <p:nvPr/>
            </p:nvSpPr>
            <p:spPr>
              <a:xfrm>
                <a:off x="3620" y="2657"/>
                <a:ext cx="7" cy="129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7504" name="Line 106"/>
              <p:cNvSpPr/>
              <p:nvPr/>
            </p:nvSpPr>
            <p:spPr>
              <a:xfrm>
                <a:off x="2345" y="2660"/>
                <a:ext cx="7" cy="127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17502" name="Oval 107"/>
            <p:cNvSpPr/>
            <p:nvPr/>
          </p:nvSpPr>
          <p:spPr>
            <a:xfrm>
              <a:off x="2332" y="3919"/>
              <a:ext cx="32" cy="33"/>
            </a:xfrm>
            <a:prstGeom prst="ellipse">
              <a:avLst/>
            </a:prstGeom>
            <a:solidFill>
              <a:schemeClr val="tx1"/>
            </a:solidFill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0" name="Group 108"/>
          <p:cNvGrpSpPr/>
          <p:nvPr/>
        </p:nvGrpSpPr>
        <p:grpSpPr>
          <a:xfrm>
            <a:off x="2471738" y="6199188"/>
            <a:ext cx="4808537" cy="215900"/>
            <a:chOff x="597" y="3905"/>
            <a:chExt cx="3029" cy="136"/>
          </a:xfrm>
        </p:grpSpPr>
        <p:sp>
          <p:nvSpPr>
            <p:cNvPr id="317497" name="Line 109"/>
            <p:cNvSpPr/>
            <p:nvPr/>
          </p:nvSpPr>
          <p:spPr>
            <a:xfrm>
              <a:off x="795" y="3935"/>
              <a:ext cx="2831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7498" name="Group 110"/>
            <p:cNvGrpSpPr/>
            <p:nvPr/>
          </p:nvGrpSpPr>
          <p:grpSpPr>
            <a:xfrm>
              <a:off x="597" y="3905"/>
              <a:ext cx="195" cy="136"/>
              <a:chOff x="402" y="3099"/>
              <a:chExt cx="195" cy="136"/>
            </a:xfrm>
          </p:grpSpPr>
          <p:sp>
            <p:nvSpPr>
              <p:cNvPr id="317499" name="Rectangle 111"/>
              <p:cNvSpPr/>
              <p:nvPr/>
            </p:nvSpPr>
            <p:spPr>
              <a:xfrm>
                <a:off x="406" y="3099"/>
                <a:ext cx="187" cy="1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sz="1400" b="1" dirty="0">
                    <a:latin typeface="Times New Roman" panose="02020603050405020304" pitchFamily="18" charset="0"/>
                  </a:rPr>
                  <a:t>WE</a:t>
                </a:r>
                <a:endParaRPr lang="en-US" altLang="zh-CN" sz="1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500" name="Freeform 112"/>
              <p:cNvSpPr/>
              <p:nvPr/>
            </p:nvSpPr>
            <p:spPr>
              <a:xfrm>
                <a:off x="402" y="3099"/>
                <a:ext cx="195" cy="3"/>
              </a:xfrm>
              <a:custGeom>
                <a:avLst/>
                <a:gdLst>
                  <a:gd name="txL" fmla="*/ 0 w 195"/>
                  <a:gd name="txT" fmla="*/ 0 h 3"/>
                  <a:gd name="txR" fmla="*/ 195 w 195"/>
                  <a:gd name="txB" fmla="*/ 3 h 3"/>
                </a:gdLst>
                <a:ahLst/>
                <a:cxnLst>
                  <a:cxn ang="0">
                    <a:pos x="0" y="3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3">
                    <a:moveTo>
                      <a:pt x="0" y="3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310272" name="Group 113"/>
          <p:cNvGrpSpPr/>
          <p:nvPr/>
        </p:nvGrpSpPr>
        <p:grpSpPr>
          <a:xfrm>
            <a:off x="5827713" y="3032125"/>
            <a:ext cx="855662" cy="1039813"/>
            <a:chOff x="2711" y="1910"/>
            <a:chExt cx="539" cy="655"/>
          </a:xfrm>
        </p:grpSpPr>
        <p:grpSp>
          <p:nvGrpSpPr>
            <p:cNvPr id="317487" name="Group 114"/>
            <p:cNvGrpSpPr/>
            <p:nvPr/>
          </p:nvGrpSpPr>
          <p:grpSpPr>
            <a:xfrm>
              <a:off x="2711" y="1910"/>
              <a:ext cx="539" cy="655"/>
              <a:chOff x="2711" y="1910"/>
              <a:chExt cx="539" cy="655"/>
            </a:xfrm>
          </p:grpSpPr>
          <p:sp>
            <p:nvSpPr>
              <p:cNvPr id="317492" name="Freeform 115"/>
              <p:cNvSpPr/>
              <p:nvPr/>
            </p:nvSpPr>
            <p:spPr>
              <a:xfrm>
                <a:off x="3249" y="2295"/>
                <a:ext cx="1" cy="270"/>
              </a:xfrm>
              <a:custGeom>
                <a:avLst/>
                <a:gdLst>
                  <a:gd name="txL" fmla="*/ 0 w 1"/>
                  <a:gd name="txT" fmla="*/ 0 h 270"/>
                  <a:gd name="txR" fmla="*/ 1 w 1"/>
                  <a:gd name="txB" fmla="*/ 270 h 270"/>
                </a:gdLst>
                <a:ahLst/>
                <a:cxnLst>
                  <a:cxn ang="0">
                    <a:pos x="1" y="270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270">
                    <a:moveTo>
                      <a:pt x="1" y="27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493" name="Freeform 116"/>
              <p:cNvSpPr/>
              <p:nvPr/>
            </p:nvSpPr>
            <p:spPr>
              <a:xfrm>
                <a:off x="3156" y="2225"/>
                <a:ext cx="1" cy="340"/>
              </a:xfrm>
              <a:custGeom>
                <a:avLst/>
                <a:gdLst>
                  <a:gd name="txL" fmla="*/ 0 w 1"/>
                  <a:gd name="txT" fmla="*/ 0 h 340"/>
                  <a:gd name="txR" fmla="*/ 1 w 1"/>
                  <a:gd name="txB" fmla="*/ 340 h 340"/>
                </a:gdLst>
                <a:ahLst/>
                <a:cxnLst>
                  <a:cxn ang="0">
                    <a:pos x="1" y="340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340">
                    <a:moveTo>
                      <a:pt x="1" y="34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494" name="Line 117"/>
              <p:cNvSpPr/>
              <p:nvPr/>
            </p:nvSpPr>
            <p:spPr>
              <a:xfrm flipV="1">
                <a:off x="2891" y="2069"/>
                <a:ext cx="1" cy="4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7495" name="Line 118"/>
              <p:cNvSpPr/>
              <p:nvPr/>
            </p:nvSpPr>
            <p:spPr>
              <a:xfrm flipV="1">
                <a:off x="2801" y="1998"/>
                <a:ext cx="1" cy="56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7496" name="Line 119"/>
              <p:cNvSpPr/>
              <p:nvPr/>
            </p:nvSpPr>
            <p:spPr>
              <a:xfrm flipV="1">
                <a:off x="2711" y="1910"/>
                <a:ext cx="1" cy="65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</p:grpSp>
        <p:grpSp>
          <p:nvGrpSpPr>
            <p:cNvPr id="317488" name="Group 120"/>
            <p:cNvGrpSpPr/>
            <p:nvPr/>
          </p:nvGrpSpPr>
          <p:grpSpPr>
            <a:xfrm>
              <a:off x="2935" y="2464"/>
              <a:ext cx="169" cy="23"/>
              <a:chOff x="2935" y="2464"/>
              <a:chExt cx="169" cy="23"/>
            </a:xfrm>
          </p:grpSpPr>
          <p:sp>
            <p:nvSpPr>
              <p:cNvPr id="317489" name="Oval 121"/>
              <p:cNvSpPr/>
              <p:nvPr/>
            </p:nvSpPr>
            <p:spPr>
              <a:xfrm>
                <a:off x="3082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490" name="Oval 122"/>
              <p:cNvSpPr/>
              <p:nvPr/>
            </p:nvSpPr>
            <p:spPr>
              <a:xfrm>
                <a:off x="2935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491" name="Oval 123"/>
              <p:cNvSpPr/>
              <p:nvPr/>
            </p:nvSpPr>
            <p:spPr>
              <a:xfrm>
                <a:off x="3008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310285" name="Group 124"/>
          <p:cNvGrpSpPr/>
          <p:nvPr/>
        </p:nvGrpSpPr>
        <p:grpSpPr>
          <a:xfrm>
            <a:off x="3836988" y="3022600"/>
            <a:ext cx="857250" cy="1039813"/>
            <a:chOff x="1457" y="1904"/>
            <a:chExt cx="540" cy="655"/>
          </a:xfrm>
        </p:grpSpPr>
        <p:grpSp>
          <p:nvGrpSpPr>
            <p:cNvPr id="317477" name="Group 125"/>
            <p:cNvGrpSpPr/>
            <p:nvPr/>
          </p:nvGrpSpPr>
          <p:grpSpPr>
            <a:xfrm>
              <a:off x="1457" y="1904"/>
              <a:ext cx="540" cy="655"/>
              <a:chOff x="1457" y="1904"/>
              <a:chExt cx="540" cy="655"/>
            </a:xfrm>
          </p:grpSpPr>
          <p:sp>
            <p:nvSpPr>
              <p:cNvPr id="317482" name="Line 126"/>
              <p:cNvSpPr/>
              <p:nvPr/>
            </p:nvSpPr>
            <p:spPr>
              <a:xfrm flipV="1">
                <a:off x="1996" y="2301"/>
                <a:ext cx="1" cy="25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7483" name="Line 127"/>
              <p:cNvSpPr/>
              <p:nvPr/>
            </p:nvSpPr>
            <p:spPr>
              <a:xfrm flipV="1">
                <a:off x="1903" y="2223"/>
                <a:ext cx="1" cy="33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7484" name="Line 128"/>
              <p:cNvSpPr/>
              <p:nvPr/>
            </p:nvSpPr>
            <p:spPr>
              <a:xfrm flipV="1">
                <a:off x="1637" y="2063"/>
                <a:ext cx="1" cy="496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7485" name="Line 129"/>
              <p:cNvSpPr/>
              <p:nvPr/>
            </p:nvSpPr>
            <p:spPr>
              <a:xfrm flipV="1">
                <a:off x="1547" y="1992"/>
                <a:ext cx="1" cy="567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7486" name="Line 130"/>
              <p:cNvSpPr/>
              <p:nvPr/>
            </p:nvSpPr>
            <p:spPr>
              <a:xfrm flipV="1">
                <a:off x="1457" y="1904"/>
                <a:ext cx="1" cy="65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</p:grpSp>
        <p:grpSp>
          <p:nvGrpSpPr>
            <p:cNvPr id="317478" name="Group 131"/>
            <p:cNvGrpSpPr/>
            <p:nvPr/>
          </p:nvGrpSpPr>
          <p:grpSpPr>
            <a:xfrm>
              <a:off x="1684" y="2464"/>
              <a:ext cx="169" cy="23"/>
              <a:chOff x="1684" y="2464"/>
              <a:chExt cx="169" cy="23"/>
            </a:xfrm>
          </p:grpSpPr>
          <p:sp>
            <p:nvSpPr>
              <p:cNvPr id="317479" name="Oval 132"/>
              <p:cNvSpPr/>
              <p:nvPr/>
            </p:nvSpPr>
            <p:spPr>
              <a:xfrm>
                <a:off x="1831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480" name="Oval 133"/>
              <p:cNvSpPr/>
              <p:nvPr/>
            </p:nvSpPr>
            <p:spPr>
              <a:xfrm>
                <a:off x="1684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7481" name="Oval 134"/>
              <p:cNvSpPr/>
              <p:nvPr/>
            </p:nvSpPr>
            <p:spPr>
              <a:xfrm>
                <a:off x="1757" y="2464"/>
                <a:ext cx="22" cy="23"/>
              </a:xfrm>
              <a:prstGeom prst="ellipse">
                <a:avLst/>
              </a:prstGeom>
              <a:solidFill>
                <a:srgbClr val="000000"/>
              </a:solidFill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53063" name="Rectangle 13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3064" name="Text Box 136"/>
          <p:cNvSpPr txBox="1"/>
          <p:nvPr/>
        </p:nvSpPr>
        <p:spPr>
          <a:xfrm>
            <a:off x="2855913" y="2276475"/>
            <a:ext cx="792162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片</a:t>
            </a:r>
            <a:endParaRPr lang="zh-CN" altLang="en-US" sz="2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5" name="AutoShape 13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76" name="日期占位符 6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1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06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8466" name="Text Box 2"/>
          <p:cNvSpPr txBox="1"/>
          <p:nvPr/>
        </p:nvSpPr>
        <p:spPr>
          <a:xfrm>
            <a:off x="1828800" y="457200"/>
            <a:ext cx="6858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字扩展（增加存储字的数量）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18467" name="Text Box 3"/>
          <p:cNvSpPr txBox="1"/>
          <p:nvPr/>
        </p:nvSpPr>
        <p:spPr>
          <a:xfrm>
            <a:off x="2209800" y="1492250"/>
            <a:ext cx="7772400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600" b="1" dirty="0">
                <a:latin typeface="Times New Roman" panose="02020603050405020304" pitchFamily="18" charset="0"/>
              </a:rPr>
              <a:t> </a:t>
            </a:r>
            <a:r>
              <a:rPr lang="zh-CN" altLang="en-US" sz="2600" b="1" dirty="0">
                <a:latin typeface="Times New Roman" panose="02020603050405020304" pitchFamily="18" charset="0"/>
              </a:rPr>
              <a:t>用         </a:t>
            </a:r>
            <a:r>
              <a:rPr lang="en-US" altLang="zh-CN" sz="2600" b="1" dirty="0">
                <a:latin typeface="Times New Roman" panose="02020603050405020304" pitchFamily="18" charset="0"/>
              </a:rPr>
              <a:t>1K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8</a:t>
            </a:r>
            <a:r>
              <a:rPr lang="zh-CN" altLang="en-US" sz="2600" b="1" dirty="0">
                <a:latin typeface="Times New Roman" panose="02020603050405020304" pitchFamily="18" charset="0"/>
              </a:rPr>
              <a:t>位 存储芯片组成 </a:t>
            </a:r>
            <a:r>
              <a:rPr lang="en-US" altLang="zh-CN" sz="2600" b="1" dirty="0">
                <a:latin typeface="Times New Roman" panose="02020603050405020304" pitchFamily="18" charset="0"/>
              </a:rPr>
              <a:t>2K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8</a:t>
            </a:r>
            <a:r>
              <a:rPr lang="zh-CN" altLang="en-US" sz="2600" b="1" dirty="0">
                <a:latin typeface="Times New Roman" panose="02020603050405020304" pitchFamily="18" charset="0"/>
              </a:rPr>
              <a:t>位 的存储器</a:t>
            </a:r>
            <a:endParaRPr lang="zh-CN" altLang="en-US" sz="26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8345488" y="879475"/>
            <a:ext cx="1998662" cy="460375"/>
            <a:chOff x="4224" y="571"/>
            <a:chExt cx="1259" cy="290"/>
          </a:xfrm>
        </p:grpSpPr>
        <p:sp>
          <p:nvSpPr>
            <p:cNvPr id="318553" name="AutoShape 5"/>
            <p:cNvSpPr/>
            <p:nvPr/>
          </p:nvSpPr>
          <p:spPr>
            <a:xfrm>
              <a:off x="4224" y="576"/>
              <a:ext cx="1248" cy="270"/>
            </a:xfrm>
            <a:prstGeom prst="wedgeRoundRectCallout">
              <a:avLst>
                <a:gd name="adj1" fmla="val -110255"/>
                <a:gd name="adj2" fmla="val 109259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Ins="0"/>
            <a:p>
              <a:pPr>
                <a:spcBef>
                  <a:spcPct val="50000"/>
                </a:spcBef>
              </a:pPr>
              <a:endParaRPr lang="zh-CN" altLang="zh-CN" sz="2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8554" name="Text Box 6"/>
            <p:cNvSpPr txBox="1"/>
            <p:nvPr/>
          </p:nvSpPr>
          <p:spPr>
            <a:xfrm>
              <a:off x="4280" y="571"/>
              <a:ext cx="120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11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根地址线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8585200" y="2230438"/>
            <a:ext cx="2119313" cy="460375"/>
            <a:chOff x="4272" y="1396"/>
            <a:chExt cx="1335" cy="290"/>
          </a:xfrm>
        </p:grpSpPr>
        <p:sp>
          <p:nvSpPr>
            <p:cNvPr id="318551" name="AutoShape 8"/>
            <p:cNvSpPr/>
            <p:nvPr/>
          </p:nvSpPr>
          <p:spPr>
            <a:xfrm>
              <a:off x="4272" y="1410"/>
              <a:ext cx="1250" cy="270"/>
            </a:xfrm>
            <a:prstGeom prst="wedgeRoundRectCallout">
              <a:avLst>
                <a:gd name="adj1" fmla="val -80560"/>
                <a:gd name="adj2" fmla="val -121852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>
                <a:spcBef>
                  <a:spcPct val="50000"/>
                </a:spcBef>
              </a:pPr>
              <a:endParaRPr lang="zh-CN" altLang="zh-CN" sz="2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8552" name="Text Box 9"/>
            <p:cNvSpPr txBox="1"/>
            <p:nvPr/>
          </p:nvSpPr>
          <p:spPr>
            <a:xfrm>
              <a:off x="4404" y="1396"/>
              <a:ext cx="120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8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根数据线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3962" name="Rectangle 1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3963" name="Text Box 11"/>
          <p:cNvSpPr txBox="1"/>
          <p:nvPr/>
        </p:nvSpPr>
        <p:spPr>
          <a:xfrm>
            <a:off x="2668588" y="1470025"/>
            <a:ext cx="1282700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？片</a:t>
            </a:r>
            <a:endParaRPr lang="zh-CN" altLang="en-US" sz="2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3964" name="Text Box 12"/>
          <p:cNvSpPr txBox="1"/>
          <p:nvPr/>
        </p:nvSpPr>
        <p:spPr>
          <a:xfrm>
            <a:off x="2770188" y="1484313"/>
            <a:ext cx="792162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片</a:t>
            </a:r>
            <a:endParaRPr lang="zh-CN" altLang="en-US" sz="2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13"/>
          <p:cNvGrpSpPr/>
          <p:nvPr/>
        </p:nvGrpSpPr>
        <p:grpSpPr>
          <a:xfrm>
            <a:off x="5367338" y="4786313"/>
            <a:ext cx="3173412" cy="1587"/>
            <a:chOff x="2421" y="3015"/>
            <a:chExt cx="1999" cy="1"/>
          </a:xfrm>
        </p:grpSpPr>
        <p:sp>
          <p:nvSpPr>
            <p:cNvPr id="318549" name="Freeform 14"/>
            <p:cNvSpPr/>
            <p:nvPr/>
          </p:nvSpPr>
          <p:spPr>
            <a:xfrm>
              <a:off x="2421" y="3015"/>
              <a:ext cx="233" cy="1"/>
            </a:xfrm>
            <a:custGeom>
              <a:avLst/>
              <a:gdLst>
                <a:gd name="txL" fmla="*/ 0 w 233"/>
                <a:gd name="txT" fmla="*/ 0 h 1"/>
                <a:gd name="txR" fmla="*/ 233 w 23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33" y="0"/>
                </a:cxn>
              </a:cxnLst>
              <a:rect l="txL" t="txT" r="txR" b="txB"/>
              <a:pathLst>
                <a:path w="233" h="1">
                  <a:moveTo>
                    <a:pt x="0" y="0"/>
                  </a:moveTo>
                  <a:lnTo>
                    <a:pt x="233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550" name="Freeform 15"/>
            <p:cNvSpPr/>
            <p:nvPr/>
          </p:nvSpPr>
          <p:spPr>
            <a:xfrm>
              <a:off x="4194" y="3015"/>
              <a:ext cx="226" cy="1"/>
            </a:xfrm>
            <a:custGeom>
              <a:avLst/>
              <a:gdLst>
                <a:gd name="txL" fmla="*/ 0 w 226"/>
                <a:gd name="txT" fmla="*/ 0 h 1"/>
                <a:gd name="txR" fmla="*/ 226 w 226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26" y="0"/>
                </a:cxn>
              </a:cxnLst>
              <a:rect l="txL" t="txT" r="txR" b="txB"/>
              <a:pathLst>
                <a:path w="226" h="1">
                  <a:moveTo>
                    <a:pt x="0" y="0"/>
                  </a:moveTo>
                  <a:lnTo>
                    <a:pt x="226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5741988" y="4773613"/>
            <a:ext cx="2805112" cy="1612900"/>
            <a:chOff x="2657" y="3007"/>
            <a:chExt cx="1767" cy="1016"/>
          </a:xfrm>
        </p:grpSpPr>
        <p:sp>
          <p:nvSpPr>
            <p:cNvPr id="318547" name="Line 17"/>
            <p:cNvSpPr/>
            <p:nvPr/>
          </p:nvSpPr>
          <p:spPr>
            <a:xfrm>
              <a:off x="2657" y="3007"/>
              <a:ext cx="1" cy="100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8548" name="Freeform 18"/>
            <p:cNvSpPr/>
            <p:nvPr/>
          </p:nvSpPr>
          <p:spPr>
            <a:xfrm>
              <a:off x="4419" y="3009"/>
              <a:ext cx="5" cy="1014"/>
            </a:xfrm>
            <a:custGeom>
              <a:avLst/>
              <a:gdLst>
                <a:gd name="txL" fmla="*/ 0 w 5"/>
                <a:gd name="txT" fmla="*/ 0 h 1014"/>
                <a:gd name="txR" fmla="*/ 5 w 5"/>
                <a:gd name="txB" fmla="*/ 1014 h 1014"/>
              </a:gdLst>
              <a:ahLst/>
              <a:cxnLst>
                <a:cxn ang="0">
                  <a:pos x="0" y="0"/>
                </a:cxn>
                <a:cxn ang="0">
                  <a:pos x="5" y="1014"/>
                </a:cxn>
              </a:cxnLst>
              <a:rect l="txL" t="txT" r="txR" b="txB"/>
              <a:pathLst>
                <a:path w="5" h="1014">
                  <a:moveTo>
                    <a:pt x="0" y="0"/>
                  </a:moveTo>
                  <a:lnTo>
                    <a:pt x="5" y="1014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4017963" y="4291013"/>
            <a:ext cx="4160837" cy="652462"/>
            <a:chOff x="1571" y="2703"/>
            <a:chExt cx="2621" cy="411"/>
          </a:xfrm>
        </p:grpSpPr>
        <p:sp>
          <p:nvSpPr>
            <p:cNvPr id="318543" name="Rectangle 20"/>
            <p:cNvSpPr/>
            <p:nvPr/>
          </p:nvSpPr>
          <p:spPr>
            <a:xfrm>
              <a:off x="1571" y="2703"/>
              <a:ext cx="857" cy="411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544" name="Rectangle 21"/>
            <p:cNvSpPr/>
            <p:nvPr/>
          </p:nvSpPr>
          <p:spPr>
            <a:xfrm>
              <a:off x="1674" y="2792"/>
              <a:ext cx="607" cy="19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1K×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8</a:t>
              </a:r>
              <a:r>
                <a:rPr lang="zh-CN" altLang="en-US" sz="20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位</a:t>
              </a:r>
              <a:endParaRPr lang="zh-CN" altLang="en-US" sz="2000" b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18545" name="Rectangle 22"/>
            <p:cNvSpPr/>
            <p:nvPr/>
          </p:nvSpPr>
          <p:spPr>
            <a:xfrm>
              <a:off x="3335" y="2703"/>
              <a:ext cx="857" cy="411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546" name="Rectangle 23"/>
            <p:cNvSpPr/>
            <p:nvPr/>
          </p:nvSpPr>
          <p:spPr>
            <a:xfrm>
              <a:off x="3443" y="2805"/>
              <a:ext cx="607" cy="19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1K×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8</a:t>
              </a:r>
              <a:r>
                <a:rPr lang="zh-CN" altLang="en-US" sz="20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位</a:t>
              </a:r>
              <a:endParaRPr lang="zh-CN" altLang="en-US" sz="2000" b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7" name="Group 24"/>
          <p:cNvGrpSpPr/>
          <p:nvPr/>
        </p:nvGrpSpPr>
        <p:grpSpPr>
          <a:xfrm>
            <a:off x="2089150" y="5197475"/>
            <a:ext cx="7656513" cy="1276351"/>
            <a:chOff x="356" y="3274"/>
            <a:chExt cx="4823" cy="804"/>
          </a:xfrm>
        </p:grpSpPr>
        <p:sp>
          <p:nvSpPr>
            <p:cNvPr id="318535" name="Line 25"/>
            <p:cNvSpPr/>
            <p:nvPr/>
          </p:nvSpPr>
          <p:spPr>
            <a:xfrm>
              <a:off x="735" y="3869"/>
              <a:ext cx="4444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8536" name="Group 26"/>
            <p:cNvGrpSpPr/>
            <p:nvPr/>
          </p:nvGrpSpPr>
          <p:grpSpPr>
            <a:xfrm>
              <a:off x="356" y="3274"/>
              <a:ext cx="4823" cy="804"/>
              <a:chOff x="356" y="3274"/>
              <a:chExt cx="4823" cy="804"/>
            </a:xfrm>
          </p:grpSpPr>
          <p:sp>
            <p:nvSpPr>
              <p:cNvPr id="318537" name="Freeform 27"/>
              <p:cNvSpPr/>
              <p:nvPr/>
            </p:nvSpPr>
            <p:spPr>
              <a:xfrm>
                <a:off x="735" y="3404"/>
                <a:ext cx="4443" cy="1"/>
              </a:xfrm>
              <a:custGeom>
                <a:avLst/>
                <a:gdLst>
                  <a:gd name="txL" fmla="*/ 0 w 4447"/>
                  <a:gd name="txT" fmla="*/ 0 h 1"/>
                  <a:gd name="txR" fmla="*/ 4447 w 4447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447" y="0"/>
                  </a:cxn>
                </a:cxnLst>
                <a:rect l="txL" t="txT" r="txR" b="txB"/>
                <a:pathLst>
                  <a:path w="4447" h="1">
                    <a:moveTo>
                      <a:pt x="0" y="1"/>
                    </a:moveTo>
                    <a:lnTo>
                      <a:pt x="4447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8538" name="Freeform 28"/>
              <p:cNvSpPr/>
              <p:nvPr/>
            </p:nvSpPr>
            <p:spPr>
              <a:xfrm>
                <a:off x="738" y="3490"/>
                <a:ext cx="4441" cy="5"/>
              </a:xfrm>
              <a:custGeom>
                <a:avLst/>
                <a:gdLst>
                  <a:gd name="txL" fmla="*/ 0 w 4441"/>
                  <a:gd name="txT" fmla="*/ 0 h 5"/>
                  <a:gd name="txR" fmla="*/ 4441 w 4441"/>
                  <a:gd name="txB" fmla="*/ 5 h 5"/>
                </a:gdLst>
                <a:ahLst/>
                <a:cxnLst>
                  <a:cxn ang="0">
                    <a:pos x="0" y="5"/>
                  </a:cxn>
                  <a:cxn ang="0">
                    <a:pos x="4441" y="0"/>
                  </a:cxn>
                </a:cxnLst>
                <a:rect l="txL" t="txT" r="txR" b="txB"/>
                <a:pathLst>
                  <a:path w="4441" h="5">
                    <a:moveTo>
                      <a:pt x="0" y="5"/>
                    </a:moveTo>
                    <a:lnTo>
                      <a:pt x="4441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8539" name="Freeform 29"/>
              <p:cNvSpPr/>
              <p:nvPr/>
            </p:nvSpPr>
            <p:spPr>
              <a:xfrm>
                <a:off x="735" y="3575"/>
                <a:ext cx="4443" cy="4"/>
              </a:xfrm>
              <a:custGeom>
                <a:avLst/>
                <a:gdLst>
                  <a:gd name="txL" fmla="*/ 0 w 4435"/>
                  <a:gd name="txT" fmla="*/ 0 h 4"/>
                  <a:gd name="txR" fmla="*/ 4435 w 4435"/>
                  <a:gd name="txB" fmla="*/ 4 h 4"/>
                </a:gdLst>
                <a:ahLst/>
                <a:cxnLst>
                  <a:cxn ang="0">
                    <a:pos x="0" y="4"/>
                  </a:cxn>
                  <a:cxn ang="0">
                    <a:pos x="4435" y="0"/>
                  </a:cxn>
                </a:cxnLst>
                <a:rect l="txL" t="txT" r="txR" b="txB"/>
                <a:pathLst>
                  <a:path w="4435" h="4">
                    <a:moveTo>
                      <a:pt x="0" y="4"/>
                    </a:moveTo>
                    <a:lnTo>
                      <a:pt x="4435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8540" name="Rectangle 30"/>
              <p:cNvSpPr/>
              <p:nvPr/>
            </p:nvSpPr>
            <p:spPr>
              <a:xfrm>
                <a:off x="479" y="3274"/>
                <a:ext cx="151" cy="1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41" name="Rectangle 31"/>
              <p:cNvSpPr/>
              <p:nvPr/>
            </p:nvSpPr>
            <p:spPr>
              <a:xfrm>
                <a:off x="479" y="3729"/>
                <a:ext cx="385" cy="34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0" tIns="0" rIns="0" bIns="0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  <a:p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42" name="Text Box 32"/>
              <p:cNvSpPr txBox="1"/>
              <p:nvPr/>
            </p:nvSpPr>
            <p:spPr>
              <a:xfrm>
                <a:off x="356" y="3373"/>
                <a:ext cx="348" cy="43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•••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" name="Group 33"/>
          <p:cNvGrpSpPr/>
          <p:nvPr/>
        </p:nvGrpSpPr>
        <p:grpSpPr>
          <a:xfrm>
            <a:off x="4133850" y="3160713"/>
            <a:ext cx="1074738" cy="1200150"/>
            <a:chOff x="1644" y="1991"/>
            <a:chExt cx="677" cy="756"/>
          </a:xfrm>
        </p:grpSpPr>
        <p:sp>
          <p:nvSpPr>
            <p:cNvPr id="318529" name="Line 34"/>
            <p:cNvSpPr/>
            <p:nvPr/>
          </p:nvSpPr>
          <p:spPr>
            <a:xfrm flipV="1">
              <a:off x="2319" y="2525"/>
              <a:ext cx="2" cy="1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8530" name="Line 35"/>
            <p:cNvSpPr/>
            <p:nvPr/>
          </p:nvSpPr>
          <p:spPr>
            <a:xfrm flipV="1">
              <a:off x="2198" y="2434"/>
              <a:ext cx="1" cy="26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grpSp>
          <p:nvGrpSpPr>
            <p:cNvPr id="318531" name="Group 36"/>
            <p:cNvGrpSpPr/>
            <p:nvPr/>
          </p:nvGrpSpPr>
          <p:grpSpPr>
            <a:xfrm>
              <a:off x="1644" y="1991"/>
              <a:ext cx="578" cy="756"/>
              <a:chOff x="1644" y="1991"/>
              <a:chExt cx="578" cy="756"/>
            </a:xfrm>
          </p:grpSpPr>
          <p:sp>
            <p:nvSpPr>
              <p:cNvPr id="318532" name="Line 37"/>
              <p:cNvSpPr/>
              <p:nvPr/>
            </p:nvSpPr>
            <p:spPr>
              <a:xfrm flipV="1">
                <a:off x="1777" y="2075"/>
                <a:ext cx="1" cy="6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8533" name="Line 38"/>
              <p:cNvSpPr/>
              <p:nvPr/>
            </p:nvSpPr>
            <p:spPr>
              <a:xfrm flipV="1">
                <a:off x="1644" y="1991"/>
                <a:ext cx="1" cy="7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8534" name="Text Box 39"/>
              <p:cNvSpPr txBox="1"/>
              <p:nvPr/>
            </p:nvSpPr>
            <p:spPr>
              <a:xfrm>
                <a:off x="1768" y="2457"/>
                <a:ext cx="454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•••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" name="Group 40"/>
          <p:cNvGrpSpPr/>
          <p:nvPr/>
        </p:nvGrpSpPr>
        <p:grpSpPr>
          <a:xfrm>
            <a:off x="4148138" y="4932363"/>
            <a:ext cx="1174750" cy="1209675"/>
            <a:chOff x="1653" y="3107"/>
            <a:chExt cx="740" cy="762"/>
          </a:xfrm>
        </p:grpSpPr>
        <p:sp>
          <p:nvSpPr>
            <p:cNvPr id="318525" name="Freeform 41"/>
            <p:cNvSpPr/>
            <p:nvPr/>
          </p:nvSpPr>
          <p:spPr>
            <a:xfrm>
              <a:off x="1653" y="3114"/>
              <a:ext cx="3" cy="289"/>
            </a:xfrm>
            <a:custGeom>
              <a:avLst/>
              <a:gdLst>
                <a:gd name="txL" fmla="*/ 0 w 3"/>
                <a:gd name="txT" fmla="*/ 0 h 289"/>
                <a:gd name="txR" fmla="*/ 3 w 3"/>
                <a:gd name="txB" fmla="*/ 289 h 289"/>
              </a:gdLst>
              <a:ahLst/>
              <a:cxnLst>
                <a:cxn ang="0">
                  <a:pos x="0" y="0"/>
                </a:cxn>
                <a:cxn ang="0">
                  <a:pos x="3" y="289"/>
                </a:cxn>
              </a:cxnLst>
              <a:rect l="txL" t="txT" r="txR" b="txB"/>
              <a:pathLst>
                <a:path w="3" h="289">
                  <a:moveTo>
                    <a:pt x="0" y="0"/>
                  </a:moveTo>
                  <a:lnTo>
                    <a:pt x="3" y="289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526" name="Freeform 42"/>
            <p:cNvSpPr/>
            <p:nvPr/>
          </p:nvSpPr>
          <p:spPr>
            <a:xfrm>
              <a:off x="1797" y="3120"/>
              <a:ext cx="1" cy="378"/>
            </a:xfrm>
            <a:custGeom>
              <a:avLst/>
              <a:gdLst>
                <a:gd name="txL" fmla="*/ 0 w 1"/>
                <a:gd name="txT" fmla="*/ 0 h 378"/>
                <a:gd name="txR" fmla="*/ 1 w 1"/>
                <a:gd name="txB" fmla="*/ 378 h 378"/>
              </a:gdLst>
              <a:ahLst/>
              <a:cxnLst>
                <a:cxn ang="0">
                  <a:pos x="0" y="0"/>
                </a:cxn>
                <a:cxn ang="0">
                  <a:pos x="0" y="378"/>
                </a:cxn>
              </a:cxnLst>
              <a:rect l="txL" t="txT" r="txR" b="txB"/>
              <a:pathLst>
                <a:path w="1" h="378">
                  <a:moveTo>
                    <a:pt x="0" y="0"/>
                  </a:moveTo>
                  <a:lnTo>
                    <a:pt x="0" y="378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527" name="Freeform 43"/>
            <p:cNvSpPr/>
            <p:nvPr/>
          </p:nvSpPr>
          <p:spPr>
            <a:xfrm>
              <a:off x="2370" y="3114"/>
              <a:ext cx="1" cy="755"/>
            </a:xfrm>
            <a:custGeom>
              <a:avLst/>
              <a:gdLst>
                <a:gd name="txL" fmla="*/ 0 w 1"/>
                <a:gd name="txT" fmla="*/ 0 h 755"/>
                <a:gd name="txR" fmla="*/ 1 w 1"/>
                <a:gd name="txB" fmla="*/ 755 h 755"/>
              </a:gdLst>
              <a:ahLst/>
              <a:cxnLst>
                <a:cxn ang="0">
                  <a:pos x="0" y="0"/>
                </a:cxn>
                <a:cxn ang="0">
                  <a:pos x="0" y="755"/>
                </a:cxn>
              </a:cxnLst>
              <a:rect l="txL" t="txT" r="txR" b="txB"/>
              <a:pathLst>
                <a:path w="1" h="755">
                  <a:moveTo>
                    <a:pt x="0" y="0"/>
                  </a:moveTo>
                  <a:lnTo>
                    <a:pt x="0" y="755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528" name="Text Box 44"/>
            <p:cNvSpPr txBox="1"/>
            <p:nvPr/>
          </p:nvSpPr>
          <p:spPr>
            <a:xfrm>
              <a:off x="1743" y="3107"/>
              <a:ext cx="650" cy="290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•••</a:t>
              </a:r>
              <a:endParaRPr lang="en-US" altLang="zh-CN" sz="24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12" name="Group 45"/>
          <p:cNvGrpSpPr/>
          <p:nvPr/>
        </p:nvGrpSpPr>
        <p:grpSpPr>
          <a:xfrm>
            <a:off x="6919913" y="3160713"/>
            <a:ext cx="1096962" cy="1200150"/>
            <a:chOff x="3399" y="1991"/>
            <a:chExt cx="691" cy="756"/>
          </a:xfrm>
        </p:grpSpPr>
        <p:sp>
          <p:nvSpPr>
            <p:cNvPr id="318519" name="Line 46"/>
            <p:cNvSpPr/>
            <p:nvPr/>
          </p:nvSpPr>
          <p:spPr>
            <a:xfrm flipV="1">
              <a:off x="4089" y="2525"/>
              <a:ext cx="1" cy="17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8520" name="Line 47"/>
            <p:cNvSpPr/>
            <p:nvPr/>
          </p:nvSpPr>
          <p:spPr>
            <a:xfrm flipV="1">
              <a:off x="3955" y="2434"/>
              <a:ext cx="1" cy="26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grpSp>
          <p:nvGrpSpPr>
            <p:cNvPr id="318521" name="Group 48"/>
            <p:cNvGrpSpPr/>
            <p:nvPr/>
          </p:nvGrpSpPr>
          <p:grpSpPr>
            <a:xfrm>
              <a:off x="3399" y="1991"/>
              <a:ext cx="557" cy="756"/>
              <a:chOff x="3399" y="1991"/>
              <a:chExt cx="557" cy="756"/>
            </a:xfrm>
          </p:grpSpPr>
          <p:sp>
            <p:nvSpPr>
              <p:cNvPr id="318522" name="Line 49"/>
              <p:cNvSpPr/>
              <p:nvPr/>
            </p:nvSpPr>
            <p:spPr>
              <a:xfrm flipV="1">
                <a:off x="3532" y="2075"/>
                <a:ext cx="1" cy="6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8523" name="Line 50"/>
              <p:cNvSpPr/>
              <p:nvPr/>
            </p:nvSpPr>
            <p:spPr>
              <a:xfrm flipV="1">
                <a:off x="3399" y="1991"/>
                <a:ext cx="1" cy="71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8524" name="Text Box 51"/>
              <p:cNvSpPr txBox="1"/>
              <p:nvPr/>
            </p:nvSpPr>
            <p:spPr>
              <a:xfrm>
                <a:off x="3557" y="2457"/>
                <a:ext cx="399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•••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52"/>
          <p:cNvGrpSpPr/>
          <p:nvPr/>
        </p:nvGrpSpPr>
        <p:grpSpPr>
          <a:xfrm>
            <a:off x="6958013" y="4932363"/>
            <a:ext cx="1219200" cy="1209675"/>
            <a:chOff x="3423" y="3107"/>
            <a:chExt cx="768" cy="762"/>
          </a:xfrm>
        </p:grpSpPr>
        <p:sp>
          <p:nvSpPr>
            <p:cNvPr id="318514" name="Line 53"/>
            <p:cNvSpPr/>
            <p:nvPr/>
          </p:nvSpPr>
          <p:spPr>
            <a:xfrm>
              <a:off x="3565" y="3123"/>
              <a:ext cx="1" cy="37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grpSp>
          <p:nvGrpSpPr>
            <p:cNvPr id="318515" name="Group 54"/>
            <p:cNvGrpSpPr/>
            <p:nvPr/>
          </p:nvGrpSpPr>
          <p:grpSpPr>
            <a:xfrm>
              <a:off x="3423" y="3107"/>
              <a:ext cx="768" cy="762"/>
              <a:chOff x="3423" y="3107"/>
              <a:chExt cx="768" cy="762"/>
            </a:xfrm>
          </p:grpSpPr>
          <p:sp>
            <p:nvSpPr>
              <p:cNvPr id="318516" name="Freeform 55"/>
              <p:cNvSpPr/>
              <p:nvPr/>
            </p:nvSpPr>
            <p:spPr>
              <a:xfrm>
                <a:off x="3423" y="3111"/>
                <a:ext cx="1" cy="292"/>
              </a:xfrm>
              <a:custGeom>
                <a:avLst/>
                <a:gdLst>
                  <a:gd name="txL" fmla="*/ 0 w 1"/>
                  <a:gd name="txT" fmla="*/ 0 h 292"/>
                  <a:gd name="txR" fmla="*/ 1 w 1"/>
                  <a:gd name="txB" fmla="*/ 292 h 292"/>
                </a:gdLst>
                <a:ahLst/>
                <a:cxnLst>
                  <a:cxn ang="0">
                    <a:pos x="0" y="0"/>
                  </a:cxn>
                  <a:cxn ang="0">
                    <a:pos x="0" y="292"/>
                  </a:cxn>
                </a:cxnLst>
                <a:rect l="txL" t="txT" r="txR" b="txB"/>
                <a:pathLst>
                  <a:path w="1" h="292">
                    <a:moveTo>
                      <a:pt x="0" y="0"/>
                    </a:moveTo>
                    <a:lnTo>
                      <a:pt x="0" y="292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8517" name="Freeform 56"/>
              <p:cNvSpPr/>
              <p:nvPr/>
            </p:nvSpPr>
            <p:spPr>
              <a:xfrm>
                <a:off x="4134" y="3114"/>
                <a:ext cx="2" cy="755"/>
              </a:xfrm>
              <a:custGeom>
                <a:avLst/>
                <a:gdLst>
                  <a:gd name="txL" fmla="*/ 0 w 2"/>
                  <a:gd name="txT" fmla="*/ 0 h 755"/>
                  <a:gd name="txR" fmla="*/ 2 w 2"/>
                  <a:gd name="txB" fmla="*/ 755 h 755"/>
                </a:gdLst>
                <a:ahLst/>
                <a:cxnLst>
                  <a:cxn ang="0">
                    <a:pos x="0" y="0"/>
                  </a:cxn>
                  <a:cxn ang="0">
                    <a:pos x="2" y="755"/>
                  </a:cxn>
                </a:cxnLst>
                <a:rect l="txL" t="txT" r="txR" b="txB"/>
                <a:pathLst>
                  <a:path w="2" h="755">
                    <a:moveTo>
                      <a:pt x="0" y="0"/>
                    </a:moveTo>
                    <a:lnTo>
                      <a:pt x="2" y="755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8518" name="Text Box 57"/>
              <p:cNvSpPr txBox="1"/>
              <p:nvPr/>
            </p:nvSpPr>
            <p:spPr>
              <a:xfrm>
                <a:off x="3541" y="3107"/>
                <a:ext cx="650" cy="29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•••</a:t>
                </a:r>
                <a:endParaRPr lang="en-US" altLang="zh-CN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6" name="Group 58"/>
          <p:cNvGrpSpPr/>
          <p:nvPr/>
        </p:nvGrpSpPr>
        <p:grpSpPr>
          <a:xfrm>
            <a:off x="2206625" y="6248400"/>
            <a:ext cx="6334125" cy="282576"/>
            <a:chOff x="430" y="3936"/>
            <a:chExt cx="3990" cy="178"/>
          </a:xfrm>
        </p:grpSpPr>
        <p:sp>
          <p:nvSpPr>
            <p:cNvPr id="318511" name="Freeform 59"/>
            <p:cNvSpPr/>
            <p:nvPr/>
          </p:nvSpPr>
          <p:spPr>
            <a:xfrm>
              <a:off x="735" y="4007"/>
              <a:ext cx="3685" cy="4"/>
            </a:xfrm>
            <a:custGeom>
              <a:avLst/>
              <a:gdLst>
                <a:gd name="txL" fmla="*/ 0 w 3685"/>
                <a:gd name="txT" fmla="*/ 0 h 4"/>
                <a:gd name="txR" fmla="*/ 3685 w 3685"/>
                <a:gd name="txB" fmla="*/ 4 h 4"/>
              </a:gdLst>
              <a:ahLst/>
              <a:cxnLst>
                <a:cxn ang="0">
                  <a:pos x="0" y="4"/>
                </a:cxn>
                <a:cxn ang="0">
                  <a:pos x="3685" y="0"/>
                </a:cxn>
              </a:cxnLst>
              <a:rect l="txL" t="txT" r="txR" b="txB"/>
              <a:pathLst>
                <a:path w="3685" h="4">
                  <a:moveTo>
                    <a:pt x="0" y="4"/>
                  </a:moveTo>
                  <a:lnTo>
                    <a:pt x="3685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512" name="Rectangle 60"/>
            <p:cNvSpPr/>
            <p:nvPr/>
          </p:nvSpPr>
          <p:spPr>
            <a:xfrm>
              <a:off x="440" y="3940"/>
              <a:ext cx="240" cy="17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8513" name="Line 61"/>
            <p:cNvSpPr/>
            <p:nvPr/>
          </p:nvSpPr>
          <p:spPr>
            <a:xfrm>
              <a:off x="430" y="3936"/>
              <a:ext cx="242" cy="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7" name="Group 62"/>
          <p:cNvGrpSpPr/>
          <p:nvPr/>
        </p:nvGrpSpPr>
        <p:grpSpPr>
          <a:xfrm>
            <a:off x="2130425" y="2940050"/>
            <a:ext cx="7615238" cy="1500188"/>
            <a:chOff x="382" y="1852"/>
            <a:chExt cx="4797" cy="945"/>
          </a:xfrm>
        </p:grpSpPr>
        <p:sp>
          <p:nvSpPr>
            <p:cNvPr id="318501" name="Rectangle 63"/>
            <p:cNvSpPr/>
            <p:nvPr/>
          </p:nvSpPr>
          <p:spPr>
            <a:xfrm>
              <a:off x="499" y="2269"/>
              <a:ext cx="19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18502" name="Group 64"/>
            <p:cNvGrpSpPr/>
            <p:nvPr/>
          </p:nvGrpSpPr>
          <p:grpSpPr>
            <a:xfrm>
              <a:off x="382" y="1852"/>
              <a:ext cx="4797" cy="945"/>
              <a:chOff x="382" y="1852"/>
              <a:chExt cx="4797" cy="945"/>
            </a:xfrm>
          </p:grpSpPr>
          <p:sp>
            <p:nvSpPr>
              <p:cNvPr id="318503" name="Line 65"/>
              <p:cNvSpPr/>
              <p:nvPr/>
            </p:nvSpPr>
            <p:spPr>
              <a:xfrm>
                <a:off x="735" y="1991"/>
                <a:ext cx="4444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504" name="Freeform 66"/>
              <p:cNvSpPr/>
              <p:nvPr/>
            </p:nvSpPr>
            <p:spPr>
              <a:xfrm>
                <a:off x="738" y="2076"/>
                <a:ext cx="4440" cy="1"/>
              </a:xfrm>
              <a:custGeom>
                <a:avLst/>
                <a:gdLst>
                  <a:gd name="txL" fmla="*/ 0 w 4440"/>
                  <a:gd name="txT" fmla="*/ 0 h 1"/>
                  <a:gd name="txR" fmla="*/ 4440 w 444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4440" y="0"/>
                  </a:cxn>
                </a:cxnLst>
                <a:rect l="txL" t="txT" r="txR" b="txB"/>
                <a:pathLst>
                  <a:path w="4440" h="1">
                    <a:moveTo>
                      <a:pt x="0" y="0"/>
                    </a:moveTo>
                    <a:lnTo>
                      <a:pt x="4440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8505" name="Line 67"/>
              <p:cNvSpPr/>
              <p:nvPr/>
            </p:nvSpPr>
            <p:spPr>
              <a:xfrm>
                <a:off x="735" y="2431"/>
                <a:ext cx="4444" cy="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8506" name="Freeform 68"/>
              <p:cNvSpPr/>
              <p:nvPr/>
            </p:nvSpPr>
            <p:spPr>
              <a:xfrm>
                <a:off x="738" y="2517"/>
                <a:ext cx="4441" cy="3"/>
              </a:xfrm>
              <a:custGeom>
                <a:avLst/>
                <a:gdLst>
                  <a:gd name="txL" fmla="*/ 0 w 4441"/>
                  <a:gd name="txT" fmla="*/ 0 h 3"/>
                  <a:gd name="txR" fmla="*/ 4441 w 4441"/>
                  <a:gd name="txB" fmla="*/ 3 h 3"/>
                </a:gdLst>
                <a:ahLst/>
                <a:cxnLst>
                  <a:cxn ang="0">
                    <a:pos x="0" y="3"/>
                  </a:cxn>
                  <a:cxn ang="0">
                    <a:pos x="4441" y="0"/>
                  </a:cxn>
                </a:cxnLst>
                <a:rect l="txL" t="txT" r="txR" b="txB"/>
                <a:pathLst>
                  <a:path w="4441" h="3">
                    <a:moveTo>
                      <a:pt x="0" y="3"/>
                    </a:moveTo>
                    <a:lnTo>
                      <a:pt x="4441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8507" name="Freeform 69"/>
              <p:cNvSpPr/>
              <p:nvPr/>
            </p:nvSpPr>
            <p:spPr>
              <a:xfrm>
                <a:off x="741" y="2157"/>
                <a:ext cx="4437" cy="6"/>
              </a:xfrm>
              <a:custGeom>
                <a:avLst/>
                <a:gdLst>
                  <a:gd name="txL" fmla="*/ 0 w 4437"/>
                  <a:gd name="txT" fmla="*/ 0 h 6"/>
                  <a:gd name="txR" fmla="*/ 4437 w 4437"/>
                  <a:gd name="txB" fmla="*/ 6 h 6"/>
                </a:gdLst>
                <a:ahLst/>
                <a:cxnLst>
                  <a:cxn ang="0">
                    <a:pos x="0" y="0"/>
                  </a:cxn>
                  <a:cxn ang="0">
                    <a:pos x="4437" y="6"/>
                  </a:cxn>
                </a:cxnLst>
                <a:rect l="txL" t="txT" r="txR" b="txB"/>
                <a:pathLst>
                  <a:path w="4437" h="6">
                    <a:moveTo>
                      <a:pt x="0" y="0"/>
                    </a:moveTo>
                    <a:lnTo>
                      <a:pt x="4437" y="6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8508" name="Rectangle 70"/>
              <p:cNvSpPr/>
              <p:nvPr/>
            </p:nvSpPr>
            <p:spPr>
              <a:xfrm>
                <a:off x="499" y="2448"/>
                <a:ext cx="317" cy="3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  <a:p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09" name="Text Box 71"/>
              <p:cNvSpPr txBox="1"/>
              <p:nvPr/>
            </p:nvSpPr>
            <p:spPr>
              <a:xfrm>
                <a:off x="382" y="1956"/>
                <a:ext cx="348" cy="43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•••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8510" name="Rectangle 72"/>
              <p:cNvSpPr/>
              <p:nvPr/>
            </p:nvSpPr>
            <p:spPr>
              <a:xfrm>
                <a:off x="491" y="1852"/>
                <a:ext cx="151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9" name="Group 73"/>
          <p:cNvGrpSpPr/>
          <p:nvPr/>
        </p:nvGrpSpPr>
        <p:grpSpPr>
          <a:xfrm>
            <a:off x="2316163" y="2684463"/>
            <a:ext cx="4856162" cy="1854200"/>
            <a:chOff x="499" y="1691"/>
            <a:chExt cx="3059" cy="1168"/>
          </a:xfrm>
        </p:grpSpPr>
        <p:sp>
          <p:nvSpPr>
            <p:cNvPr id="318495" name="Line 74"/>
            <p:cNvSpPr/>
            <p:nvPr/>
          </p:nvSpPr>
          <p:spPr>
            <a:xfrm flipV="1">
              <a:off x="2852" y="1835"/>
              <a:ext cx="1" cy="102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8496" name="Freeform 75"/>
            <p:cNvSpPr/>
            <p:nvPr/>
          </p:nvSpPr>
          <p:spPr>
            <a:xfrm>
              <a:off x="2424" y="2841"/>
              <a:ext cx="428" cy="1"/>
            </a:xfrm>
            <a:custGeom>
              <a:avLst/>
              <a:gdLst>
                <a:gd name="txL" fmla="*/ 0 w 428"/>
                <a:gd name="txT" fmla="*/ 0 h 1"/>
                <a:gd name="txR" fmla="*/ 428 w 42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28" y="1"/>
                </a:cxn>
              </a:cxnLst>
              <a:rect l="txL" t="txT" r="txR" b="txB"/>
              <a:pathLst>
                <a:path w="428" h="1">
                  <a:moveTo>
                    <a:pt x="0" y="0"/>
                  </a:moveTo>
                  <a:lnTo>
                    <a:pt x="428" y="1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497" name="Rectangle 76"/>
            <p:cNvSpPr/>
            <p:nvPr/>
          </p:nvSpPr>
          <p:spPr>
            <a:xfrm>
              <a:off x="2515" y="2623"/>
              <a:ext cx="307" cy="174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CS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8498" name="Line 77"/>
            <p:cNvSpPr/>
            <p:nvPr/>
          </p:nvSpPr>
          <p:spPr>
            <a:xfrm>
              <a:off x="735" y="1830"/>
              <a:ext cx="2823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99" name="Rectangle 78"/>
            <p:cNvSpPr/>
            <p:nvPr/>
          </p:nvSpPr>
          <p:spPr>
            <a:xfrm>
              <a:off x="499" y="1691"/>
              <a:ext cx="198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8500" name="Freeform 79"/>
            <p:cNvSpPr/>
            <p:nvPr/>
          </p:nvSpPr>
          <p:spPr>
            <a:xfrm>
              <a:off x="2511" y="2625"/>
              <a:ext cx="213" cy="1"/>
            </a:xfrm>
            <a:custGeom>
              <a:avLst/>
              <a:gdLst>
                <a:gd name="txL" fmla="*/ 0 w 213"/>
                <a:gd name="txT" fmla="*/ 0 h 1"/>
                <a:gd name="txR" fmla="*/ 213 w 21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13" y="0"/>
                </a:cxn>
              </a:cxnLst>
              <a:rect l="txL" t="txT" r="txR" b="txB"/>
              <a:pathLst>
                <a:path w="213" h="1">
                  <a:moveTo>
                    <a:pt x="0" y="0"/>
                  </a:moveTo>
                  <a:lnTo>
                    <a:pt x="2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oup 80"/>
          <p:cNvGrpSpPr/>
          <p:nvPr/>
        </p:nvGrpSpPr>
        <p:grpSpPr>
          <a:xfrm>
            <a:off x="7178675" y="2736850"/>
            <a:ext cx="346075" cy="307975"/>
            <a:chOff x="3562" y="1724"/>
            <a:chExt cx="218" cy="194"/>
          </a:xfrm>
        </p:grpSpPr>
        <p:sp>
          <p:nvSpPr>
            <p:cNvPr id="318493" name="Rectangle 81"/>
            <p:cNvSpPr/>
            <p:nvPr/>
          </p:nvSpPr>
          <p:spPr>
            <a:xfrm>
              <a:off x="3562" y="1724"/>
              <a:ext cx="146" cy="194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p>
              <a:pPr algn="ctr"/>
              <a:r>
                <a:rPr lang="en-US" altLang="zh-CN" sz="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18494" name="Oval 82"/>
            <p:cNvSpPr/>
            <p:nvPr/>
          </p:nvSpPr>
          <p:spPr>
            <a:xfrm>
              <a:off x="3724" y="1797"/>
              <a:ext cx="56" cy="56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83"/>
          <p:cNvGrpSpPr/>
          <p:nvPr/>
        </p:nvGrpSpPr>
        <p:grpSpPr>
          <a:xfrm>
            <a:off x="7519988" y="2876550"/>
            <a:ext cx="1360487" cy="1655763"/>
            <a:chOff x="3777" y="1812"/>
            <a:chExt cx="857" cy="1043"/>
          </a:xfrm>
        </p:grpSpPr>
        <p:sp>
          <p:nvSpPr>
            <p:cNvPr id="318488" name="Freeform 84"/>
            <p:cNvSpPr/>
            <p:nvPr/>
          </p:nvSpPr>
          <p:spPr>
            <a:xfrm>
              <a:off x="4623" y="1812"/>
              <a:ext cx="2" cy="1043"/>
            </a:xfrm>
            <a:custGeom>
              <a:avLst/>
              <a:gdLst>
                <a:gd name="txL" fmla="*/ 0 w 2"/>
                <a:gd name="txT" fmla="*/ 0 h 1043"/>
                <a:gd name="txR" fmla="*/ 2 w 2"/>
                <a:gd name="txB" fmla="*/ 1043 h 1043"/>
              </a:gdLst>
              <a:ahLst/>
              <a:cxnLst>
                <a:cxn ang="0">
                  <a:pos x="2" y="1043"/>
                </a:cxn>
                <a:cxn ang="0">
                  <a:pos x="0" y="0"/>
                </a:cxn>
              </a:cxnLst>
              <a:rect l="txL" t="txT" r="txR" b="txB"/>
              <a:pathLst>
                <a:path w="2" h="1043">
                  <a:moveTo>
                    <a:pt x="2" y="1043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489" name="Freeform 85"/>
            <p:cNvSpPr/>
            <p:nvPr/>
          </p:nvSpPr>
          <p:spPr>
            <a:xfrm>
              <a:off x="4191" y="2841"/>
              <a:ext cx="428" cy="1"/>
            </a:xfrm>
            <a:custGeom>
              <a:avLst/>
              <a:gdLst>
                <a:gd name="txL" fmla="*/ 0 w 428"/>
                <a:gd name="txT" fmla="*/ 0 h 1"/>
                <a:gd name="txR" fmla="*/ 428 w 428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28" y="1"/>
                </a:cxn>
              </a:cxnLst>
              <a:rect l="txL" t="txT" r="txR" b="txB"/>
              <a:pathLst>
                <a:path w="428" h="1">
                  <a:moveTo>
                    <a:pt x="0" y="0"/>
                  </a:moveTo>
                  <a:lnTo>
                    <a:pt x="428" y="1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8490" name="Rectangle 86"/>
            <p:cNvSpPr/>
            <p:nvPr/>
          </p:nvSpPr>
          <p:spPr>
            <a:xfrm>
              <a:off x="4271" y="2623"/>
              <a:ext cx="231" cy="17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CS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8491" name="Line 87"/>
            <p:cNvSpPr/>
            <p:nvPr/>
          </p:nvSpPr>
          <p:spPr>
            <a:xfrm>
              <a:off x="3777" y="1822"/>
              <a:ext cx="857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8492" name="Freeform 88"/>
            <p:cNvSpPr/>
            <p:nvPr/>
          </p:nvSpPr>
          <p:spPr>
            <a:xfrm>
              <a:off x="4263" y="2625"/>
              <a:ext cx="213" cy="1"/>
            </a:xfrm>
            <a:custGeom>
              <a:avLst/>
              <a:gdLst>
                <a:gd name="txL" fmla="*/ 0 w 213"/>
                <a:gd name="txT" fmla="*/ 0 h 1"/>
                <a:gd name="txR" fmla="*/ 213 w 213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13" y="0"/>
                </a:cxn>
              </a:cxnLst>
              <a:rect l="txL" t="txT" r="txR" b="txB"/>
              <a:pathLst>
                <a:path w="213" h="1">
                  <a:moveTo>
                    <a:pt x="0" y="0"/>
                  </a:moveTo>
                  <a:lnTo>
                    <a:pt x="21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18486" name="AutoShape 8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8487" name="日期占位符 9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39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63" grpId="0"/>
      <p:bldP spid="25396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3457575" y="4679950"/>
            <a:ext cx="6505575" cy="1662113"/>
            <a:chOff x="1218" y="2948"/>
            <a:chExt cx="4098" cy="1047"/>
          </a:xfrm>
        </p:grpSpPr>
        <p:sp>
          <p:nvSpPr>
            <p:cNvPr id="319693" name="Line 3"/>
            <p:cNvSpPr/>
            <p:nvPr/>
          </p:nvSpPr>
          <p:spPr>
            <a:xfrm>
              <a:off x="1218" y="2952"/>
              <a:ext cx="1" cy="104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94" name="Line 4"/>
            <p:cNvSpPr/>
            <p:nvPr/>
          </p:nvSpPr>
          <p:spPr>
            <a:xfrm>
              <a:off x="1798" y="2952"/>
              <a:ext cx="1" cy="104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95" name="Line 5"/>
            <p:cNvSpPr/>
            <p:nvPr/>
          </p:nvSpPr>
          <p:spPr>
            <a:xfrm>
              <a:off x="2368" y="2952"/>
              <a:ext cx="1" cy="104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96" name="Line 6"/>
            <p:cNvSpPr/>
            <p:nvPr/>
          </p:nvSpPr>
          <p:spPr>
            <a:xfrm>
              <a:off x="2951" y="2952"/>
              <a:ext cx="1" cy="104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97" name="Line 7"/>
            <p:cNvSpPr/>
            <p:nvPr/>
          </p:nvSpPr>
          <p:spPr>
            <a:xfrm>
              <a:off x="3567" y="2952"/>
              <a:ext cx="1" cy="104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98" name="Line 8"/>
            <p:cNvSpPr/>
            <p:nvPr/>
          </p:nvSpPr>
          <p:spPr>
            <a:xfrm>
              <a:off x="4162" y="2952"/>
              <a:ext cx="1" cy="104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99" name="Line 9"/>
            <p:cNvSpPr/>
            <p:nvPr/>
          </p:nvSpPr>
          <p:spPr>
            <a:xfrm>
              <a:off x="4732" y="2952"/>
              <a:ext cx="1" cy="104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700" name="Line 10"/>
            <p:cNvSpPr/>
            <p:nvPr/>
          </p:nvSpPr>
          <p:spPr>
            <a:xfrm>
              <a:off x="5315" y="2948"/>
              <a:ext cx="1" cy="104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</p:grpSp>
      <p:sp>
        <p:nvSpPr>
          <p:cNvPr id="319491" name="Text Box 11"/>
          <p:cNvSpPr txBox="1"/>
          <p:nvPr/>
        </p:nvSpPr>
        <p:spPr>
          <a:xfrm>
            <a:off x="1676400" y="334963"/>
            <a:ext cx="6858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(3) </a:t>
            </a:r>
            <a:r>
              <a:rPr lang="zh-CN" altLang="en-US" sz="3200" b="1" dirty="0">
                <a:latin typeface="Times New Roman" panose="02020603050405020304" pitchFamily="18" charset="0"/>
              </a:rPr>
              <a:t>字、位扩展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19492" name="Text Box 12"/>
          <p:cNvSpPr txBox="1"/>
          <p:nvPr/>
        </p:nvSpPr>
        <p:spPr>
          <a:xfrm>
            <a:off x="2362200" y="952500"/>
            <a:ext cx="8229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用        </a:t>
            </a:r>
            <a:r>
              <a:rPr lang="en-US" altLang="zh-CN" sz="2800" b="1" dirty="0">
                <a:latin typeface="Times New Roman" panose="02020603050405020304" pitchFamily="18" charset="0"/>
              </a:rPr>
              <a:t>1K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latin typeface="Times New Roman" panose="02020603050405020304" pitchFamily="18" charset="0"/>
              </a:rPr>
              <a:t>位 存储芯片组成 </a:t>
            </a:r>
            <a:r>
              <a:rPr lang="en-US" altLang="zh-CN" sz="2800" b="1" dirty="0">
                <a:latin typeface="Times New Roman" panose="02020603050405020304" pitchFamily="18" charset="0"/>
              </a:rPr>
              <a:t>4K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8</a:t>
            </a:r>
            <a:r>
              <a:rPr lang="zh-CN" altLang="en-US" sz="2800" b="1" dirty="0">
                <a:latin typeface="Times New Roman" panose="02020603050405020304" pitchFamily="18" charset="0"/>
              </a:rPr>
              <a:t>位 的存储器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3"/>
          <p:cNvGrpSpPr/>
          <p:nvPr/>
        </p:nvGrpSpPr>
        <p:grpSpPr>
          <a:xfrm>
            <a:off x="8521700" y="1752600"/>
            <a:ext cx="2182813" cy="533400"/>
            <a:chOff x="4176" y="1067"/>
            <a:chExt cx="1375" cy="336"/>
          </a:xfrm>
        </p:grpSpPr>
        <p:sp>
          <p:nvSpPr>
            <p:cNvPr id="319691" name="AutoShape 14"/>
            <p:cNvSpPr/>
            <p:nvPr/>
          </p:nvSpPr>
          <p:spPr>
            <a:xfrm>
              <a:off x="4176" y="1067"/>
              <a:ext cx="1296" cy="336"/>
            </a:xfrm>
            <a:prstGeom prst="wedgeRoundRectCallout">
              <a:avLst>
                <a:gd name="adj1" fmla="val -51468"/>
                <a:gd name="adj2" fmla="val -97319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9692" name="Text Box 15"/>
            <p:cNvSpPr txBox="1"/>
            <p:nvPr/>
          </p:nvSpPr>
          <p:spPr>
            <a:xfrm>
              <a:off x="4303" y="1073"/>
              <a:ext cx="124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00" b="1" dirty="0">
                  <a:latin typeface="Times New Roman" panose="02020603050405020304" pitchFamily="18" charset="0"/>
                </a:rPr>
                <a:t>8</a:t>
              </a:r>
              <a:r>
                <a:rPr lang="zh-CN" altLang="en-US" sz="2600" b="1" dirty="0">
                  <a:latin typeface="Times New Roman" panose="02020603050405020304" pitchFamily="18" charset="0"/>
                </a:rPr>
                <a:t>根数据线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6"/>
          <p:cNvGrpSpPr/>
          <p:nvPr/>
        </p:nvGrpSpPr>
        <p:grpSpPr>
          <a:xfrm>
            <a:off x="5724525" y="1676400"/>
            <a:ext cx="2243138" cy="533400"/>
            <a:chOff x="2427" y="1064"/>
            <a:chExt cx="1413" cy="336"/>
          </a:xfrm>
        </p:grpSpPr>
        <p:sp>
          <p:nvSpPr>
            <p:cNvPr id="319689" name="AutoShape 17"/>
            <p:cNvSpPr/>
            <p:nvPr/>
          </p:nvSpPr>
          <p:spPr>
            <a:xfrm>
              <a:off x="2427" y="1064"/>
              <a:ext cx="1342" cy="336"/>
            </a:xfrm>
            <a:prstGeom prst="wedgeRoundRectCallout">
              <a:avLst>
                <a:gd name="adj1" fmla="val 34722"/>
                <a:gd name="adj2" fmla="val -87500"/>
                <a:gd name="adj3" fmla="val 16667"/>
              </a:avLst>
            </a:prstGeom>
            <a:noFill/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Ins="0"/>
            <a:p>
              <a:pPr>
                <a:spcBef>
                  <a:spcPct val="50000"/>
                </a:spcBef>
              </a:pPr>
              <a:endParaRPr lang="zh-CN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9690" name="Text Box 18"/>
            <p:cNvSpPr txBox="1"/>
            <p:nvPr/>
          </p:nvSpPr>
          <p:spPr>
            <a:xfrm>
              <a:off x="2496" y="1073"/>
              <a:ext cx="1344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600" b="1" dirty="0">
                  <a:latin typeface="Times New Roman" panose="02020603050405020304" pitchFamily="18" charset="0"/>
                </a:rPr>
                <a:t>12</a:t>
              </a:r>
              <a:r>
                <a:rPr lang="zh-CN" altLang="en-US" sz="2600" b="1" dirty="0">
                  <a:latin typeface="Times New Roman" panose="02020603050405020304" pitchFamily="18" charset="0"/>
                </a:rPr>
                <a:t>根地址线</a:t>
              </a:r>
              <a:endParaRPr lang="zh-CN" altLang="en-US" sz="26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19495" name="Rectangle 19"/>
          <p:cNvSpPr/>
          <p:nvPr/>
        </p:nvSpPr>
        <p:spPr>
          <a:xfrm>
            <a:off x="9948863" y="2697163"/>
            <a:ext cx="320675" cy="307975"/>
          </a:xfrm>
          <a:prstGeom prst="rect">
            <a:avLst/>
          </a:prstGeom>
          <a:noFill/>
          <a:ln w="38100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5" name="Group 20"/>
          <p:cNvGrpSpPr/>
          <p:nvPr/>
        </p:nvGrpSpPr>
        <p:grpSpPr>
          <a:xfrm>
            <a:off x="2112963" y="6337300"/>
            <a:ext cx="8115300" cy="276226"/>
            <a:chOff x="371" y="3992"/>
            <a:chExt cx="5112" cy="174"/>
          </a:xfrm>
        </p:grpSpPr>
        <p:sp>
          <p:nvSpPr>
            <p:cNvPr id="319686" name="Rectangle 21"/>
            <p:cNvSpPr/>
            <p:nvPr/>
          </p:nvSpPr>
          <p:spPr>
            <a:xfrm>
              <a:off x="395" y="3992"/>
              <a:ext cx="240" cy="17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WE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9687" name="Line 22"/>
            <p:cNvSpPr/>
            <p:nvPr/>
          </p:nvSpPr>
          <p:spPr>
            <a:xfrm>
              <a:off x="677" y="3998"/>
              <a:ext cx="4806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688" name="Line 23"/>
            <p:cNvSpPr/>
            <p:nvPr/>
          </p:nvSpPr>
          <p:spPr>
            <a:xfrm>
              <a:off x="371" y="3996"/>
              <a:ext cx="24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24"/>
          <p:cNvGrpSpPr/>
          <p:nvPr/>
        </p:nvGrpSpPr>
        <p:grpSpPr>
          <a:xfrm>
            <a:off x="2128837" y="3213100"/>
            <a:ext cx="8099426" cy="1241426"/>
            <a:chOff x="381" y="2024"/>
            <a:chExt cx="5102" cy="782"/>
          </a:xfrm>
        </p:grpSpPr>
        <p:sp>
          <p:nvSpPr>
            <p:cNvPr id="319678" name="Rectangle 25"/>
            <p:cNvSpPr/>
            <p:nvPr/>
          </p:nvSpPr>
          <p:spPr>
            <a:xfrm>
              <a:off x="396" y="2146"/>
              <a:ext cx="151" cy="17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8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19679" name="Group 26"/>
            <p:cNvGrpSpPr/>
            <p:nvPr/>
          </p:nvGrpSpPr>
          <p:grpSpPr>
            <a:xfrm>
              <a:off x="381" y="2024"/>
              <a:ext cx="5102" cy="782"/>
              <a:chOff x="381" y="2024"/>
              <a:chExt cx="5102" cy="782"/>
            </a:xfrm>
          </p:grpSpPr>
          <p:sp>
            <p:nvSpPr>
              <p:cNvPr id="319680" name="Line 27"/>
              <p:cNvSpPr/>
              <p:nvPr/>
            </p:nvSpPr>
            <p:spPr>
              <a:xfrm>
                <a:off x="677" y="2174"/>
                <a:ext cx="4806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9681" name="Line 28"/>
              <p:cNvSpPr/>
              <p:nvPr/>
            </p:nvSpPr>
            <p:spPr>
              <a:xfrm>
                <a:off x="677" y="2268"/>
                <a:ext cx="4806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9682" name="Freeform 29"/>
              <p:cNvSpPr/>
              <p:nvPr/>
            </p:nvSpPr>
            <p:spPr>
              <a:xfrm>
                <a:off x="677" y="2553"/>
                <a:ext cx="4806" cy="1"/>
              </a:xfrm>
              <a:custGeom>
                <a:avLst/>
                <a:gdLst>
                  <a:gd name="txL" fmla="*/ 0 w 4649"/>
                  <a:gd name="txT" fmla="*/ 0 h 1"/>
                  <a:gd name="txR" fmla="*/ 4649 w 4649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4649" y="0"/>
                  </a:cxn>
                </a:cxnLst>
                <a:rect l="txL" t="txT" r="txR" b="txB"/>
                <a:pathLst>
                  <a:path w="4649" h="1">
                    <a:moveTo>
                      <a:pt x="0" y="0"/>
                    </a:moveTo>
                    <a:lnTo>
                      <a:pt x="4649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683" name="Rectangle 30"/>
              <p:cNvSpPr/>
              <p:nvPr/>
            </p:nvSpPr>
            <p:spPr>
              <a:xfrm>
                <a:off x="396" y="2024"/>
                <a:ext cx="151" cy="1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9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684" name="Rectangle 31"/>
              <p:cNvSpPr/>
              <p:nvPr/>
            </p:nvSpPr>
            <p:spPr>
              <a:xfrm>
                <a:off x="396" y="2457"/>
                <a:ext cx="151" cy="34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685" name="Text Box 32"/>
              <p:cNvSpPr txBox="1"/>
              <p:nvPr/>
            </p:nvSpPr>
            <p:spPr>
              <a:xfrm>
                <a:off x="381" y="2286"/>
                <a:ext cx="255" cy="23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lIns="18000" rIns="1800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</a:rPr>
                  <a:t>...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8" name="Group 33"/>
          <p:cNvGrpSpPr/>
          <p:nvPr/>
        </p:nvGrpSpPr>
        <p:grpSpPr>
          <a:xfrm>
            <a:off x="2109787" y="5048250"/>
            <a:ext cx="8124826" cy="1538288"/>
            <a:chOff x="369" y="3180"/>
            <a:chExt cx="5118" cy="969"/>
          </a:xfrm>
        </p:grpSpPr>
        <p:grpSp>
          <p:nvGrpSpPr>
            <p:cNvPr id="319665" name="Group 34"/>
            <p:cNvGrpSpPr/>
            <p:nvPr/>
          </p:nvGrpSpPr>
          <p:grpSpPr>
            <a:xfrm>
              <a:off x="672" y="3335"/>
              <a:ext cx="4815" cy="567"/>
              <a:chOff x="672" y="3335"/>
              <a:chExt cx="4815" cy="567"/>
            </a:xfrm>
          </p:grpSpPr>
          <p:sp>
            <p:nvSpPr>
              <p:cNvPr id="319670" name="Freeform 35"/>
              <p:cNvSpPr/>
              <p:nvPr/>
            </p:nvSpPr>
            <p:spPr>
              <a:xfrm>
                <a:off x="677" y="3335"/>
                <a:ext cx="4806" cy="1"/>
              </a:xfrm>
              <a:custGeom>
                <a:avLst/>
                <a:gdLst>
                  <a:gd name="txL" fmla="*/ 0 w 4659"/>
                  <a:gd name="txT" fmla="*/ 0 h 1"/>
                  <a:gd name="txR" fmla="*/ 4659 w 4659"/>
                  <a:gd name="txB" fmla="*/ 1 h 1"/>
                </a:gdLst>
                <a:ahLst/>
                <a:cxnLst>
                  <a:cxn ang="0">
                    <a:pos x="0" y="1"/>
                  </a:cxn>
                  <a:cxn ang="0">
                    <a:pos x="4659" y="0"/>
                  </a:cxn>
                </a:cxnLst>
                <a:rect l="txL" t="txT" r="txR" b="txB"/>
                <a:pathLst>
                  <a:path w="4659" h="1">
                    <a:moveTo>
                      <a:pt x="0" y="1"/>
                    </a:moveTo>
                    <a:lnTo>
                      <a:pt x="4659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671" name="Freeform 36"/>
              <p:cNvSpPr/>
              <p:nvPr/>
            </p:nvSpPr>
            <p:spPr>
              <a:xfrm>
                <a:off x="672" y="3411"/>
                <a:ext cx="4815" cy="3"/>
              </a:xfrm>
              <a:custGeom>
                <a:avLst/>
                <a:gdLst>
                  <a:gd name="txL" fmla="*/ 0 w 4815"/>
                  <a:gd name="txT" fmla="*/ 0 h 3"/>
                  <a:gd name="txR" fmla="*/ 4815 w 4815"/>
                  <a:gd name="txB" fmla="*/ 3 h 3"/>
                </a:gdLst>
                <a:ahLst/>
                <a:cxnLst>
                  <a:cxn ang="0">
                    <a:pos x="0" y="3"/>
                  </a:cxn>
                  <a:cxn ang="0">
                    <a:pos x="4815" y="0"/>
                  </a:cxn>
                </a:cxnLst>
                <a:rect l="txL" t="txT" r="txR" b="txB"/>
                <a:pathLst>
                  <a:path w="4815" h="3">
                    <a:moveTo>
                      <a:pt x="0" y="3"/>
                    </a:moveTo>
                    <a:lnTo>
                      <a:pt x="4815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672" name="Line 37"/>
              <p:cNvSpPr/>
              <p:nvPr/>
            </p:nvSpPr>
            <p:spPr>
              <a:xfrm>
                <a:off x="677" y="3492"/>
                <a:ext cx="4806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9673" name="Line 38"/>
              <p:cNvSpPr/>
              <p:nvPr/>
            </p:nvSpPr>
            <p:spPr>
              <a:xfrm>
                <a:off x="677" y="3575"/>
                <a:ext cx="4806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9674" name="Line 39"/>
              <p:cNvSpPr/>
              <p:nvPr/>
            </p:nvSpPr>
            <p:spPr>
              <a:xfrm>
                <a:off x="677" y="3655"/>
                <a:ext cx="4806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9675" name="Freeform 40"/>
              <p:cNvSpPr/>
              <p:nvPr/>
            </p:nvSpPr>
            <p:spPr>
              <a:xfrm>
                <a:off x="672" y="3735"/>
                <a:ext cx="4811" cy="4"/>
              </a:xfrm>
              <a:custGeom>
                <a:avLst/>
                <a:gdLst>
                  <a:gd name="txL" fmla="*/ 0 w 4811"/>
                  <a:gd name="txT" fmla="*/ 0 h 4"/>
                  <a:gd name="txR" fmla="*/ 4811 w 4811"/>
                  <a:gd name="txB" fmla="*/ 4 h 4"/>
                </a:gdLst>
                <a:ahLst/>
                <a:cxnLst>
                  <a:cxn ang="0">
                    <a:pos x="0" y="0"/>
                  </a:cxn>
                  <a:cxn ang="0">
                    <a:pos x="4811" y="4"/>
                  </a:cxn>
                </a:cxnLst>
                <a:rect l="txL" t="txT" r="txR" b="txB"/>
                <a:pathLst>
                  <a:path w="4811" h="4">
                    <a:moveTo>
                      <a:pt x="0" y="0"/>
                    </a:moveTo>
                    <a:lnTo>
                      <a:pt x="4811" y="4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676" name="Line 41"/>
              <p:cNvSpPr/>
              <p:nvPr/>
            </p:nvSpPr>
            <p:spPr>
              <a:xfrm>
                <a:off x="677" y="3818"/>
                <a:ext cx="4806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9677" name="Line 42"/>
              <p:cNvSpPr/>
              <p:nvPr/>
            </p:nvSpPr>
            <p:spPr>
              <a:xfrm>
                <a:off x="677" y="3901"/>
                <a:ext cx="4806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19666" name="Group 43"/>
            <p:cNvGrpSpPr/>
            <p:nvPr/>
          </p:nvGrpSpPr>
          <p:grpSpPr>
            <a:xfrm>
              <a:off x="369" y="3180"/>
              <a:ext cx="255" cy="969"/>
              <a:chOff x="369" y="3180"/>
              <a:chExt cx="255" cy="969"/>
            </a:xfrm>
          </p:grpSpPr>
          <p:sp>
            <p:nvSpPr>
              <p:cNvPr id="319667" name="Rectangle 44"/>
              <p:cNvSpPr/>
              <p:nvPr/>
            </p:nvSpPr>
            <p:spPr>
              <a:xfrm>
                <a:off x="396" y="3180"/>
                <a:ext cx="151" cy="1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668" name="Rectangle 45"/>
              <p:cNvSpPr/>
              <p:nvPr/>
            </p:nvSpPr>
            <p:spPr>
              <a:xfrm>
                <a:off x="396" y="3800"/>
                <a:ext cx="151" cy="34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  <a:p>
                <a:pPr algn="ctr"/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669" name="Text Box 46"/>
              <p:cNvSpPr txBox="1"/>
              <p:nvPr/>
            </p:nvSpPr>
            <p:spPr>
              <a:xfrm>
                <a:off x="369" y="3359"/>
                <a:ext cx="255" cy="489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lIns="18000" rIns="18000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" name="Group 47"/>
          <p:cNvGrpSpPr/>
          <p:nvPr/>
        </p:nvGrpSpPr>
        <p:grpSpPr>
          <a:xfrm>
            <a:off x="2684463" y="4757738"/>
            <a:ext cx="6991350" cy="1457325"/>
            <a:chOff x="731" y="2997"/>
            <a:chExt cx="4404" cy="918"/>
          </a:xfrm>
        </p:grpSpPr>
        <p:sp>
          <p:nvSpPr>
            <p:cNvPr id="319633" name="Line 48"/>
            <p:cNvSpPr/>
            <p:nvPr/>
          </p:nvSpPr>
          <p:spPr>
            <a:xfrm>
              <a:off x="859" y="3006"/>
              <a:ext cx="1" cy="4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34" name="Line 49"/>
            <p:cNvSpPr/>
            <p:nvPr/>
          </p:nvSpPr>
          <p:spPr>
            <a:xfrm>
              <a:off x="951" y="3006"/>
              <a:ext cx="1" cy="4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35" name="Freeform 50"/>
            <p:cNvSpPr/>
            <p:nvPr/>
          </p:nvSpPr>
          <p:spPr>
            <a:xfrm>
              <a:off x="1041" y="3000"/>
              <a:ext cx="6" cy="582"/>
            </a:xfrm>
            <a:custGeom>
              <a:avLst/>
              <a:gdLst>
                <a:gd name="txL" fmla="*/ 0 w 6"/>
                <a:gd name="txT" fmla="*/ 0 h 582"/>
                <a:gd name="txR" fmla="*/ 6 w 6"/>
                <a:gd name="txB" fmla="*/ 582 h 582"/>
              </a:gdLst>
              <a:ahLst/>
              <a:cxnLst>
                <a:cxn ang="0">
                  <a:pos x="6" y="0"/>
                </a:cxn>
                <a:cxn ang="0">
                  <a:pos x="0" y="582"/>
                </a:cxn>
              </a:cxnLst>
              <a:rect l="txL" t="txT" r="txR" b="txB"/>
              <a:pathLst>
                <a:path w="6" h="582">
                  <a:moveTo>
                    <a:pt x="6" y="0"/>
                  </a:moveTo>
                  <a:lnTo>
                    <a:pt x="0" y="582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636" name="Line 51"/>
            <p:cNvSpPr/>
            <p:nvPr/>
          </p:nvSpPr>
          <p:spPr>
            <a:xfrm>
              <a:off x="1344" y="3003"/>
              <a:ext cx="1" cy="6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37" name="Freeform 52"/>
            <p:cNvSpPr/>
            <p:nvPr/>
          </p:nvSpPr>
          <p:spPr>
            <a:xfrm>
              <a:off x="1437" y="2997"/>
              <a:ext cx="1" cy="745"/>
            </a:xfrm>
            <a:custGeom>
              <a:avLst/>
              <a:gdLst>
                <a:gd name="txL" fmla="*/ 0 w 1"/>
                <a:gd name="txT" fmla="*/ 0 h 745"/>
                <a:gd name="txR" fmla="*/ 1 w 1"/>
                <a:gd name="txB" fmla="*/ 745 h 745"/>
              </a:gdLst>
              <a:ahLst/>
              <a:cxnLst>
                <a:cxn ang="0">
                  <a:pos x="0" y="0"/>
                </a:cxn>
                <a:cxn ang="0">
                  <a:pos x="0" y="745"/>
                </a:cxn>
              </a:cxnLst>
              <a:rect l="txL" t="txT" r="txR" b="txB"/>
              <a:pathLst>
                <a:path w="1" h="745">
                  <a:moveTo>
                    <a:pt x="0" y="0"/>
                  </a:moveTo>
                  <a:lnTo>
                    <a:pt x="0" y="745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638" name="Line 53"/>
            <p:cNvSpPr/>
            <p:nvPr/>
          </p:nvSpPr>
          <p:spPr>
            <a:xfrm>
              <a:off x="1528" y="3003"/>
              <a:ext cx="1" cy="8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39" name="Line 54"/>
            <p:cNvSpPr/>
            <p:nvPr/>
          </p:nvSpPr>
          <p:spPr>
            <a:xfrm>
              <a:off x="1620" y="3003"/>
              <a:ext cx="1" cy="9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40" name="Line 55"/>
            <p:cNvSpPr/>
            <p:nvPr/>
          </p:nvSpPr>
          <p:spPr>
            <a:xfrm>
              <a:off x="1917" y="3004"/>
              <a:ext cx="1" cy="3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41" name="Line 56"/>
            <p:cNvSpPr/>
            <p:nvPr/>
          </p:nvSpPr>
          <p:spPr>
            <a:xfrm>
              <a:off x="2009" y="3006"/>
              <a:ext cx="1" cy="4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42" name="Line 57"/>
            <p:cNvSpPr/>
            <p:nvPr/>
          </p:nvSpPr>
          <p:spPr>
            <a:xfrm flipH="1">
              <a:off x="2101" y="3006"/>
              <a:ext cx="4" cy="4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43" name="Line 58"/>
            <p:cNvSpPr/>
            <p:nvPr/>
          </p:nvSpPr>
          <p:spPr>
            <a:xfrm>
              <a:off x="2197" y="3006"/>
              <a:ext cx="1" cy="5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44" name="Line 59"/>
            <p:cNvSpPr/>
            <p:nvPr/>
          </p:nvSpPr>
          <p:spPr>
            <a:xfrm>
              <a:off x="2494" y="3003"/>
              <a:ext cx="1" cy="6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45" name="Line 60"/>
            <p:cNvSpPr/>
            <p:nvPr/>
          </p:nvSpPr>
          <p:spPr>
            <a:xfrm>
              <a:off x="2586" y="3003"/>
              <a:ext cx="1" cy="7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46" name="Line 61"/>
            <p:cNvSpPr/>
            <p:nvPr/>
          </p:nvSpPr>
          <p:spPr>
            <a:xfrm>
              <a:off x="2678" y="3003"/>
              <a:ext cx="1" cy="82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47" name="Freeform 62"/>
            <p:cNvSpPr/>
            <p:nvPr/>
          </p:nvSpPr>
          <p:spPr>
            <a:xfrm>
              <a:off x="2771" y="3000"/>
              <a:ext cx="3" cy="915"/>
            </a:xfrm>
            <a:custGeom>
              <a:avLst/>
              <a:gdLst>
                <a:gd name="txL" fmla="*/ 0 w 3"/>
                <a:gd name="txT" fmla="*/ 0 h 915"/>
                <a:gd name="txR" fmla="*/ 3 w 3"/>
                <a:gd name="txB" fmla="*/ 915 h 915"/>
              </a:gdLst>
              <a:ahLst/>
              <a:cxnLst>
                <a:cxn ang="0">
                  <a:pos x="3" y="0"/>
                </a:cxn>
                <a:cxn ang="0">
                  <a:pos x="0" y="915"/>
                </a:cxn>
              </a:cxnLst>
              <a:rect l="txL" t="txT" r="txR" b="txB"/>
              <a:pathLst>
                <a:path w="3" h="915">
                  <a:moveTo>
                    <a:pt x="3" y="0"/>
                  </a:moveTo>
                  <a:lnTo>
                    <a:pt x="0" y="915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648" name="Freeform 63"/>
            <p:cNvSpPr/>
            <p:nvPr/>
          </p:nvSpPr>
          <p:spPr>
            <a:xfrm>
              <a:off x="3131" y="3006"/>
              <a:ext cx="1" cy="318"/>
            </a:xfrm>
            <a:custGeom>
              <a:avLst/>
              <a:gdLst>
                <a:gd name="txL" fmla="*/ 0 w 1"/>
                <a:gd name="txT" fmla="*/ 0 h 318"/>
                <a:gd name="txR" fmla="*/ 1 w 1"/>
                <a:gd name="txB" fmla="*/ 318 h 318"/>
              </a:gdLst>
              <a:ahLst/>
              <a:cxnLst>
                <a:cxn ang="0">
                  <a:pos x="0" y="0"/>
                </a:cxn>
                <a:cxn ang="0">
                  <a:pos x="1" y="318"/>
                </a:cxn>
              </a:cxnLst>
              <a:rect l="txL" t="txT" r="txR" b="txB"/>
              <a:pathLst>
                <a:path w="1" h="318">
                  <a:moveTo>
                    <a:pt x="0" y="0"/>
                  </a:moveTo>
                  <a:lnTo>
                    <a:pt x="1" y="318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649" name="Line 64"/>
            <p:cNvSpPr/>
            <p:nvPr/>
          </p:nvSpPr>
          <p:spPr>
            <a:xfrm>
              <a:off x="3223" y="3003"/>
              <a:ext cx="1" cy="4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50" name="Freeform 65"/>
            <p:cNvSpPr/>
            <p:nvPr/>
          </p:nvSpPr>
          <p:spPr>
            <a:xfrm>
              <a:off x="3309" y="2997"/>
              <a:ext cx="6" cy="504"/>
            </a:xfrm>
            <a:custGeom>
              <a:avLst/>
              <a:gdLst>
                <a:gd name="txL" fmla="*/ 0 w 6"/>
                <a:gd name="txT" fmla="*/ 0 h 504"/>
                <a:gd name="txR" fmla="*/ 6 w 6"/>
                <a:gd name="txB" fmla="*/ 504 h 504"/>
              </a:gdLst>
              <a:ahLst/>
              <a:cxnLst>
                <a:cxn ang="0">
                  <a:pos x="6" y="0"/>
                </a:cxn>
                <a:cxn ang="0">
                  <a:pos x="0" y="504"/>
                </a:cxn>
              </a:cxnLst>
              <a:rect l="txL" t="txT" r="txR" b="txB"/>
              <a:pathLst>
                <a:path w="6" h="504">
                  <a:moveTo>
                    <a:pt x="6" y="0"/>
                  </a:moveTo>
                  <a:lnTo>
                    <a:pt x="0" y="504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651" name="Line 66"/>
            <p:cNvSpPr/>
            <p:nvPr/>
          </p:nvSpPr>
          <p:spPr>
            <a:xfrm>
              <a:off x="3407" y="3003"/>
              <a:ext cx="1" cy="58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52" name="Line 67"/>
            <p:cNvSpPr/>
            <p:nvPr/>
          </p:nvSpPr>
          <p:spPr>
            <a:xfrm>
              <a:off x="3704" y="3000"/>
              <a:ext cx="1" cy="6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53" name="Line 68"/>
            <p:cNvSpPr/>
            <p:nvPr/>
          </p:nvSpPr>
          <p:spPr>
            <a:xfrm>
              <a:off x="3796" y="3004"/>
              <a:ext cx="1" cy="7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54" name="Line 69"/>
            <p:cNvSpPr/>
            <p:nvPr/>
          </p:nvSpPr>
          <p:spPr>
            <a:xfrm flipH="1">
              <a:off x="3888" y="3004"/>
              <a:ext cx="4" cy="8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55" name="Line 70"/>
            <p:cNvSpPr/>
            <p:nvPr/>
          </p:nvSpPr>
          <p:spPr>
            <a:xfrm>
              <a:off x="3984" y="3000"/>
              <a:ext cx="1" cy="9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56" name="Freeform 71"/>
            <p:cNvSpPr/>
            <p:nvPr/>
          </p:nvSpPr>
          <p:spPr>
            <a:xfrm>
              <a:off x="4281" y="3009"/>
              <a:ext cx="1" cy="324"/>
            </a:xfrm>
            <a:custGeom>
              <a:avLst/>
              <a:gdLst>
                <a:gd name="txL" fmla="*/ 0 w 1"/>
                <a:gd name="txT" fmla="*/ 0 h 324"/>
                <a:gd name="txR" fmla="*/ 1 w 1"/>
                <a:gd name="txB" fmla="*/ 324 h 324"/>
              </a:gdLst>
              <a:ahLst/>
              <a:cxnLst>
                <a:cxn ang="0">
                  <a:pos x="0" y="0"/>
                </a:cxn>
                <a:cxn ang="0">
                  <a:pos x="0" y="324"/>
                </a:cxn>
              </a:cxnLst>
              <a:rect l="txL" t="txT" r="txR" b="txB"/>
              <a:pathLst>
                <a:path w="1" h="324">
                  <a:moveTo>
                    <a:pt x="0" y="0"/>
                  </a:moveTo>
                  <a:lnTo>
                    <a:pt x="0" y="324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657" name="Line 72"/>
            <p:cNvSpPr/>
            <p:nvPr/>
          </p:nvSpPr>
          <p:spPr>
            <a:xfrm>
              <a:off x="4373" y="3003"/>
              <a:ext cx="1" cy="41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58" name="Line 73"/>
            <p:cNvSpPr/>
            <p:nvPr/>
          </p:nvSpPr>
          <p:spPr>
            <a:xfrm>
              <a:off x="4465" y="3003"/>
              <a:ext cx="1" cy="4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59" name="Line 74"/>
            <p:cNvSpPr/>
            <p:nvPr/>
          </p:nvSpPr>
          <p:spPr>
            <a:xfrm>
              <a:off x="4557" y="3003"/>
              <a:ext cx="1" cy="58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60" name="Line 75"/>
            <p:cNvSpPr/>
            <p:nvPr/>
          </p:nvSpPr>
          <p:spPr>
            <a:xfrm>
              <a:off x="4854" y="3000"/>
              <a:ext cx="1" cy="65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61" name="Line 76"/>
            <p:cNvSpPr/>
            <p:nvPr/>
          </p:nvSpPr>
          <p:spPr>
            <a:xfrm>
              <a:off x="4946" y="3004"/>
              <a:ext cx="1" cy="73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62" name="Line 77"/>
            <p:cNvSpPr/>
            <p:nvPr/>
          </p:nvSpPr>
          <p:spPr>
            <a:xfrm flipH="1">
              <a:off x="5038" y="3004"/>
              <a:ext cx="4" cy="8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63" name="Line 78"/>
            <p:cNvSpPr/>
            <p:nvPr/>
          </p:nvSpPr>
          <p:spPr>
            <a:xfrm>
              <a:off x="5134" y="3000"/>
              <a:ext cx="1" cy="9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664" name="Line 79"/>
            <p:cNvSpPr/>
            <p:nvPr/>
          </p:nvSpPr>
          <p:spPr>
            <a:xfrm>
              <a:off x="731" y="3004"/>
              <a:ext cx="1" cy="33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</p:grpSp>
      <p:grpSp>
        <p:nvGrpSpPr>
          <p:cNvPr id="12" name="Group 80"/>
          <p:cNvGrpSpPr/>
          <p:nvPr/>
        </p:nvGrpSpPr>
        <p:grpSpPr>
          <a:xfrm>
            <a:off x="2151063" y="2608263"/>
            <a:ext cx="1119187" cy="822324"/>
            <a:chOff x="395" y="1643"/>
            <a:chExt cx="705" cy="518"/>
          </a:xfrm>
        </p:grpSpPr>
        <p:sp>
          <p:nvSpPr>
            <p:cNvPr id="319629" name="Rectangle 81"/>
            <p:cNvSpPr/>
            <p:nvPr/>
          </p:nvSpPr>
          <p:spPr>
            <a:xfrm>
              <a:off x="400" y="1643"/>
              <a:ext cx="190" cy="17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pPr algn="ctr"/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11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9630" name="Rectangle 82"/>
            <p:cNvSpPr/>
            <p:nvPr/>
          </p:nvSpPr>
          <p:spPr>
            <a:xfrm>
              <a:off x="395" y="1812"/>
              <a:ext cx="325" cy="349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10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  <a:p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19631" name="Freeform 83"/>
            <p:cNvSpPr/>
            <p:nvPr/>
          </p:nvSpPr>
          <p:spPr>
            <a:xfrm>
              <a:off x="679" y="1742"/>
              <a:ext cx="421" cy="1"/>
            </a:xfrm>
            <a:custGeom>
              <a:avLst/>
              <a:gdLst>
                <a:gd name="txL" fmla="*/ 0 w 421"/>
                <a:gd name="txT" fmla="*/ 0 h 1"/>
                <a:gd name="txR" fmla="*/ 421 w 421"/>
                <a:gd name="txB" fmla="*/ 1 h 1"/>
              </a:gdLst>
              <a:ahLst/>
              <a:cxnLst>
                <a:cxn ang="0">
                  <a:pos x="421" y="0"/>
                </a:cxn>
                <a:cxn ang="0">
                  <a:pos x="0" y="1"/>
                </a:cxn>
              </a:cxnLst>
              <a:rect l="txL" t="txT" r="txR" b="txB"/>
              <a:pathLst>
                <a:path w="421" h="1">
                  <a:moveTo>
                    <a:pt x="421" y="0"/>
                  </a:moveTo>
                  <a:lnTo>
                    <a:pt x="0" y="1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632" name="Freeform 84"/>
            <p:cNvSpPr/>
            <p:nvPr/>
          </p:nvSpPr>
          <p:spPr>
            <a:xfrm>
              <a:off x="681" y="1899"/>
              <a:ext cx="411" cy="4"/>
            </a:xfrm>
            <a:custGeom>
              <a:avLst/>
              <a:gdLst>
                <a:gd name="txL" fmla="*/ 0 w 411"/>
                <a:gd name="txT" fmla="*/ 0 h 4"/>
                <a:gd name="txR" fmla="*/ 411 w 411"/>
                <a:gd name="txB" fmla="*/ 4 h 4"/>
              </a:gdLst>
              <a:ahLst/>
              <a:cxnLst>
                <a:cxn ang="0">
                  <a:pos x="411" y="4"/>
                </a:cxn>
                <a:cxn ang="0">
                  <a:pos x="0" y="0"/>
                </a:cxn>
              </a:cxnLst>
              <a:rect l="txL" t="txT" r="txR" b="txB"/>
              <a:pathLst>
                <a:path w="411" h="4">
                  <a:moveTo>
                    <a:pt x="411" y="4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Group 85"/>
          <p:cNvGrpSpPr/>
          <p:nvPr/>
        </p:nvGrpSpPr>
        <p:grpSpPr>
          <a:xfrm>
            <a:off x="3314700" y="3095625"/>
            <a:ext cx="1497013" cy="1403350"/>
            <a:chOff x="1128" y="1950"/>
            <a:chExt cx="943" cy="884"/>
          </a:xfrm>
        </p:grpSpPr>
        <p:sp>
          <p:nvSpPr>
            <p:cNvPr id="319620" name="Line 86"/>
            <p:cNvSpPr/>
            <p:nvPr/>
          </p:nvSpPr>
          <p:spPr>
            <a:xfrm flipV="1">
              <a:off x="1705" y="2821"/>
              <a:ext cx="104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9621" name="Group 87"/>
            <p:cNvGrpSpPr/>
            <p:nvPr/>
          </p:nvGrpSpPr>
          <p:grpSpPr>
            <a:xfrm>
              <a:off x="1128" y="1950"/>
              <a:ext cx="943" cy="884"/>
              <a:chOff x="1128" y="1950"/>
              <a:chExt cx="943" cy="884"/>
            </a:xfrm>
          </p:grpSpPr>
          <p:sp>
            <p:nvSpPr>
              <p:cNvPr id="319622" name="Freeform 88"/>
              <p:cNvSpPr/>
              <p:nvPr/>
            </p:nvSpPr>
            <p:spPr>
              <a:xfrm>
                <a:off x="1467" y="1950"/>
                <a:ext cx="339" cy="6"/>
              </a:xfrm>
              <a:custGeom>
                <a:avLst/>
                <a:gdLst>
                  <a:gd name="txL" fmla="*/ 0 w 339"/>
                  <a:gd name="txT" fmla="*/ 0 h 6"/>
                  <a:gd name="txR" fmla="*/ 339 w 339"/>
                  <a:gd name="txB" fmla="*/ 6 h 6"/>
                </a:gdLst>
                <a:ahLst/>
                <a:cxnLst>
                  <a:cxn ang="0">
                    <a:pos x="0" y="6"/>
                  </a:cxn>
                  <a:cxn ang="0">
                    <a:pos x="0" y="0"/>
                  </a:cxn>
                  <a:cxn ang="0">
                    <a:pos x="339" y="0"/>
                  </a:cxn>
                </a:cxnLst>
                <a:rect l="txL" t="txT" r="txR" b="txB"/>
                <a:pathLst>
                  <a:path w="339" h="6">
                    <a:moveTo>
                      <a:pt x="0" y="6"/>
                    </a:moveTo>
                    <a:lnTo>
                      <a:pt x="0" y="0"/>
                    </a:lnTo>
                    <a:lnTo>
                      <a:pt x="339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623" name="Freeform 89"/>
              <p:cNvSpPr/>
              <p:nvPr/>
            </p:nvSpPr>
            <p:spPr>
              <a:xfrm>
                <a:off x="1795" y="1950"/>
                <a:ext cx="1" cy="884"/>
              </a:xfrm>
              <a:custGeom>
                <a:avLst/>
                <a:gdLst>
                  <a:gd name="txL" fmla="*/ 0 w 1"/>
                  <a:gd name="txT" fmla="*/ 0 h 861"/>
                  <a:gd name="txR" fmla="*/ 1 w 1"/>
                  <a:gd name="txB" fmla="*/ 861 h 861"/>
                </a:gdLst>
                <a:ahLst/>
                <a:cxnLst>
                  <a:cxn ang="0">
                    <a:pos x="1" y="0"/>
                  </a:cxn>
                  <a:cxn ang="0">
                    <a:pos x="0" y="861"/>
                  </a:cxn>
                </a:cxnLst>
                <a:rect l="txL" t="txT" r="txR" b="txB"/>
                <a:pathLst>
                  <a:path w="1" h="861">
                    <a:moveTo>
                      <a:pt x="1" y="0"/>
                    </a:moveTo>
                    <a:lnTo>
                      <a:pt x="0" y="861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624" name="Line 90"/>
              <p:cNvSpPr/>
              <p:nvPr/>
            </p:nvSpPr>
            <p:spPr>
              <a:xfrm>
                <a:off x="1128" y="2823"/>
                <a:ext cx="10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9625" name="Line 91"/>
              <p:cNvSpPr/>
              <p:nvPr/>
            </p:nvSpPr>
            <p:spPr>
              <a:xfrm flipV="1">
                <a:off x="1218" y="2639"/>
                <a:ext cx="1" cy="1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9626" name="Line 92"/>
              <p:cNvSpPr/>
              <p:nvPr/>
            </p:nvSpPr>
            <p:spPr>
              <a:xfrm>
                <a:off x="1209" y="2639"/>
                <a:ext cx="577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627" name="Rectangle 93"/>
              <p:cNvSpPr/>
              <p:nvPr/>
            </p:nvSpPr>
            <p:spPr>
              <a:xfrm>
                <a:off x="1840" y="1954"/>
                <a:ext cx="231" cy="1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CS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628" name="Freeform 94"/>
              <p:cNvSpPr/>
              <p:nvPr/>
            </p:nvSpPr>
            <p:spPr>
              <a:xfrm>
                <a:off x="1842" y="1962"/>
                <a:ext cx="195" cy="1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5" name="Group 95"/>
          <p:cNvGrpSpPr/>
          <p:nvPr/>
        </p:nvGrpSpPr>
        <p:grpSpPr>
          <a:xfrm>
            <a:off x="3852863" y="2971800"/>
            <a:ext cx="2787650" cy="1509713"/>
            <a:chOff x="1467" y="1872"/>
            <a:chExt cx="1756" cy="951"/>
          </a:xfrm>
        </p:grpSpPr>
        <p:sp>
          <p:nvSpPr>
            <p:cNvPr id="319610" name="Line 96"/>
            <p:cNvSpPr/>
            <p:nvPr/>
          </p:nvSpPr>
          <p:spPr>
            <a:xfrm flipV="1">
              <a:off x="2855" y="2821"/>
              <a:ext cx="104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9611" name="Group 97"/>
            <p:cNvGrpSpPr/>
            <p:nvPr/>
          </p:nvGrpSpPr>
          <p:grpSpPr>
            <a:xfrm>
              <a:off x="1467" y="1872"/>
              <a:ext cx="1756" cy="951"/>
              <a:chOff x="1467" y="1872"/>
              <a:chExt cx="1756" cy="951"/>
            </a:xfrm>
          </p:grpSpPr>
          <p:sp>
            <p:nvSpPr>
              <p:cNvPr id="319612" name="Freeform 98"/>
              <p:cNvSpPr/>
              <p:nvPr/>
            </p:nvSpPr>
            <p:spPr>
              <a:xfrm>
                <a:off x="2948" y="1872"/>
                <a:ext cx="1" cy="948"/>
              </a:xfrm>
              <a:custGeom>
                <a:avLst/>
                <a:gdLst>
                  <a:gd name="txL" fmla="*/ 0 w 1"/>
                  <a:gd name="txT" fmla="*/ 0 h 948"/>
                  <a:gd name="txR" fmla="*/ 1 w 1"/>
                  <a:gd name="txB" fmla="*/ 948 h 948"/>
                </a:gdLst>
                <a:ahLst/>
                <a:cxnLst>
                  <a:cxn ang="0">
                    <a:pos x="0" y="948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948">
                    <a:moveTo>
                      <a:pt x="0" y="948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613" name="Line 99"/>
              <p:cNvSpPr/>
              <p:nvPr/>
            </p:nvSpPr>
            <p:spPr>
              <a:xfrm flipV="1">
                <a:off x="2278" y="2820"/>
                <a:ext cx="104" cy="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9614" name="Line 100"/>
              <p:cNvSpPr/>
              <p:nvPr/>
            </p:nvSpPr>
            <p:spPr>
              <a:xfrm flipV="1">
                <a:off x="2371" y="2639"/>
                <a:ext cx="1" cy="18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19615" name="Line 101"/>
              <p:cNvSpPr/>
              <p:nvPr/>
            </p:nvSpPr>
            <p:spPr>
              <a:xfrm>
                <a:off x="2365" y="2639"/>
                <a:ext cx="578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grpSp>
            <p:nvGrpSpPr>
              <p:cNvPr id="319616" name="Group 102"/>
              <p:cNvGrpSpPr/>
              <p:nvPr/>
            </p:nvGrpSpPr>
            <p:grpSpPr>
              <a:xfrm>
                <a:off x="1467" y="1878"/>
                <a:ext cx="1756" cy="250"/>
                <a:chOff x="1467" y="1878"/>
                <a:chExt cx="1756" cy="250"/>
              </a:xfrm>
            </p:grpSpPr>
            <p:sp>
              <p:nvSpPr>
                <p:cNvPr id="319617" name="Rectangle 103"/>
                <p:cNvSpPr/>
                <p:nvPr/>
              </p:nvSpPr>
              <p:spPr>
                <a:xfrm>
                  <a:off x="2992" y="1954"/>
                  <a:ext cx="231" cy="174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txBody>
                <a:bodyPr wrap="none" lIns="0" tIns="0" rIns="0" bIns="0">
                  <a:spAutoFit/>
                </a:bodyPr>
                <a:p>
                  <a:pPr algn="ctr"/>
                  <a:r>
                    <a:rPr lang="en-US" altLang="zh-CN" b="1" dirty="0">
                      <a:latin typeface="Times New Roman" panose="02020603050405020304" pitchFamily="18" charset="0"/>
                    </a:rPr>
                    <a:t>CS</a:t>
                  </a:r>
                  <a:r>
                    <a:rPr lang="en-US" altLang="zh-CN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19618" name="Freeform 104"/>
                <p:cNvSpPr/>
                <p:nvPr/>
              </p:nvSpPr>
              <p:spPr>
                <a:xfrm>
                  <a:off x="1467" y="1878"/>
                  <a:ext cx="1485" cy="1"/>
                </a:xfrm>
                <a:custGeom>
                  <a:avLst/>
                  <a:gdLst>
                    <a:gd name="txL" fmla="*/ 0 w 1485"/>
                    <a:gd name="txT" fmla="*/ 0 h 1"/>
                    <a:gd name="txR" fmla="*/ 1485 w 1485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485" y="0"/>
                    </a:cxn>
                  </a:cxnLst>
                  <a:rect l="txL" t="txT" r="txR" b="txB"/>
                  <a:pathLst>
                    <a:path w="1485" h="1">
                      <a:moveTo>
                        <a:pt x="0" y="0"/>
                      </a:moveTo>
                      <a:lnTo>
                        <a:pt x="1485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619" name="Freeform 105"/>
                <p:cNvSpPr/>
                <p:nvPr/>
              </p:nvSpPr>
              <p:spPr>
                <a:xfrm flipV="1">
                  <a:off x="2994" y="1936"/>
                  <a:ext cx="195" cy="27"/>
                </a:xfrm>
                <a:custGeom>
                  <a:avLst/>
                  <a:gdLst>
                    <a:gd name="txL" fmla="*/ 0 w 195"/>
                    <a:gd name="txT" fmla="*/ 0 h 1"/>
                    <a:gd name="txR" fmla="*/ 195 w 195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195" y="0"/>
                    </a:cxn>
                  </a:cxnLst>
                  <a:rect l="txL" t="txT" r="txR" b="txB"/>
                  <a:pathLst>
                    <a:path w="195" h="1">
                      <a:moveTo>
                        <a:pt x="0" y="0"/>
                      </a:moveTo>
                      <a:lnTo>
                        <a:pt x="195" y="0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8" name="Group 106"/>
          <p:cNvGrpSpPr/>
          <p:nvPr/>
        </p:nvGrpSpPr>
        <p:grpSpPr>
          <a:xfrm>
            <a:off x="3833813" y="2819400"/>
            <a:ext cx="4725987" cy="1662113"/>
            <a:chOff x="1455" y="1776"/>
            <a:chExt cx="2977" cy="1047"/>
          </a:xfrm>
        </p:grpSpPr>
        <p:sp>
          <p:nvSpPr>
            <p:cNvPr id="319601" name="Freeform 107"/>
            <p:cNvSpPr/>
            <p:nvPr/>
          </p:nvSpPr>
          <p:spPr>
            <a:xfrm>
              <a:off x="4154" y="1776"/>
              <a:ext cx="6" cy="1044"/>
            </a:xfrm>
            <a:custGeom>
              <a:avLst/>
              <a:gdLst>
                <a:gd name="txL" fmla="*/ 0 w 6"/>
                <a:gd name="txT" fmla="*/ 0 h 1044"/>
                <a:gd name="txR" fmla="*/ 6 w 6"/>
                <a:gd name="txB" fmla="*/ 1044 h 1044"/>
              </a:gdLst>
              <a:ahLst/>
              <a:cxnLst>
                <a:cxn ang="0">
                  <a:pos x="6" y="1044"/>
                </a:cxn>
                <a:cxn ang="0">
                  <a:pos x="0" y="0"/>
                </a:cxn>
              </a:cxnLst>
              <a:rect l="txL" t="txT" r="txR" b="txB"/>
              <a:pathLst>
                <a:path w="6" h="1044">
                  <a:moveTo>
                    <a:pt x="6" y="1044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602" name="Line 108"/>
            <p:cNvSpPr/>
            <p:nvPr/>
          </p:nvSpPr>
          <p:spPr>
            <a:xfrm flipV="1">
              <a:off x="3474" y="2814"/>
              <a:ext cx="110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603" name="Line 109"/>
            <p:cNvSpPr/>
            <p:nvPr/>
          </p:nvSpPr>
          <p:spPr>
            <a:xfrm flipV="1">
              <a:off x="4069" y="2814"/>
              <a:ext cx="104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604" name="Freeform 110"/>
            <p:cNvSpPr/>
            <p:nvPr/>
          </p:nvSpPr>
          <p:spPr>
            <a:xfrm>
              <a:off x="3573" y="2641"/>
              <a:ext cx="1" cy="182"/>
            </a:xfrm>
            <a:custGeom>
              <a:avLst/>
              <a:gdLst>
                <a:gd name="txL" fmla="*/ 0 w 1"/>
                <a:gd name="txT" fmla="*/ 0 h 182"/>
                <a:gd name="txR" fmla="*/ 1 w 1"/>
                <a:gd name="txB" fmla="*/ 182 h 182"/>
              </a:gdLst>
              <a:ahLst/>
              <a:cxnLst>
                <a:cxn ang="0">
                  <a:pos x="0" y="182"/>
                </a:cxn>
                <a:cxn ang="0">
                  <a:pos x="1" y="0"/>
                </a:cxn>
              </a:cxnLst>
              <a:rect l="txL" t="txT" r="txR" b="txB"/>
              <a:pathLst>
                <a:path w="1" h="182">
                  <a:moveTo>
                    <a:pt x="0" y="182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605" name="Line 111"/>
            <p:cNvSpPr/>
            <p:nvPr/>
          </p:nvSpPr>
          <p:spPr>
            <a:xfrm>
              <a:off x="3564" y="2628"/>
              <a:ext cx="589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grpSp>
          <p:nvGrpSpPr>
            <p:cNvPr id="319606" name="Group 112"/>
            <p:cNvGrpSpPr/>
            <p:nvPr/>
          </p:nvGrpSpPr>
          <p:grpSpPr>
            <a:xfrm>
              <a:off x="1455" y="1779"/>
              <a:ext cx="2977" cy="349"/>
              <a:chOff x="1455" y="1779"/>
              <a:chExt cx="2977" cy="349"/>
            </a:xfrm>
          </p:grpSpPr>
          <p:sp>
            <p:nvSpPr>
              <p:cNvPr id="319607" name="Freeform 113"/>
              <p:cNvSpPr/>
              <p:nvPr/>
            </p:nvSpPr>
            <p:spPr>
              <a:xfrm>
                <a:off x="1455" y="1779"/>
                <a:ext cx="2712" cy="3"/>
              </a:xfrm>
              <a:custGeom>
                <a:avLst/>
                <a:gdLst>
                  <a:gd name="txL" fmla="*/ 0 w 2712"/>
                  <a:gd name="txT" fmla="*/ 0 h 3"/>
                  <a:gd name="txR" fmla="*/ 2712 w 2712"/>
                  <a:gd name="txB" fmla="*/ 3 h 3"/>
                </a:gdLst>
                <a:ahLst/>
                <a:cxnLst>
                  <a:cxn ang="0">
                    <a:pos x="0" y="0"/>
                  </a:cxn>
                  <a:cxn ang="0">
                    <a:pos x="2712" y="3"/>
                  </a:cxn>
                </a:cxnLst>
                <a:rect l="txL" t="txT" r="txR" b="txB"/>
                <a:pathLst>
                  <a:path w="2712" h="3">
                    <a:moveTo>
                      <a:pt x="0" y="0"/>
                    </a:moveTo>
                    <a:lnTo>
                      <a:pt x="2712" y="3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608" name="Rectangle 114"/>
              <p:cNvSpPr/>
              <p:nvPr/>
            </p:nvSpPr>
            <p:spPr>
              <a:xfrm>
                <a:off x="4201" y="1954"/>
                <a:ext cx="231" cy="1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CS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2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609" name="Freeform 115"/>
              <p:cNvSpPr/>
              <p:nvPr/>
            </p:nvSpPr>
            <p:spPr>
              <a:xfrm flipV="1">
                <a:off x="4200" y="1936"/>
                <a:ext cx="195" cy="27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0" name="Group 116"/>
          <p:cNvGrpSpPr/>
          <p:nvPr/>
        </p:nvGrpSpPr>
        <p:grpSpPr>
          <a:xfrm>
            <a:off x="3829050" y="2692400"/>
            <a:ext cx="6554788" cy="1778000"/>
            <a:chOff x="1452" y="1696"/>
            <a:chExt cx="4129" cy="1120"/>
          </a:xfrm>
        </p:grpSpPr>
        <p:sp>
          <p:nvSpPr>
            <p:cNvPr id="319592" name="Line 117"/>
            <p:cNvSpPr/>
            <p:nvPr/>
          </p:nvSpPr>
          <p:spPr>
            <a:xfrm flipV="1">
              <a:off x="4642" y="2814"/>
              <a:ext cx="104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593" name="Line 118"/>
            <p:cNvSpPr/>
            <p:nvPr/>
          </p:nvSpPr>
          <p:spPr>
            <a:xfrm flipV="1">
              <a:off x="5219" y="2814"/>
              <a:ext cx="104" cy="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594" name="Line 119"/>
            <p:cNvSpPr/>
            <p:nvPr/>
          </p:nvSpPr>
          <p:spPr>
            <a:xfrm flipV="1">
              <a:off x="4732" y="2628"/>
              <a:ext cx="1" cy="1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19595" name="Line 120"/>
            <p:cNvSpPr/>
            <p:nvPr/>
          </p:nvSpPr>
          <p:spPr>
            <a:xfrm>
              <a:off x="4726" y="2628"/>
              <a:ext cx="578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19596" name="Line 121"/>
            <p:cNvSpPr/>
            <p:nvPr/>
          </p:nvSpPr>
          <p:spPr>
            <a:xfrm flipH="1" flipV="1">
              <a:off x="5308" y="1696"/>
              <a:ext cx="4" cy="11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19597" name="Group 122"/>
            <p:cNvGrpSpPr/>
            <p:nvPr/>
          </p:nvGrpSpPr>
          <p:grpSpPr>
            <a:xfrm>
              <a:off x="1452" y="1698"/>
              <a:ext cx="4129" cy="430"/>
              <a:chOff x="1452" y="1698"/>
              <a:chExt cx="4129" cy="430"/>
            </a:xfrm>
          </p:grpSpPr>
          <p:sp>
            <p:nvSpPr>
              <p:cNvPr id="319598" name="Freeform 123"/>
              <p:cNvSpPr/>
              <p:nvPr/>
            </p:nvSpPr>
            <p:spPr>
              <a:xfrm>
                <a:off x="1452" y="1698"/>
                <a:ext cx="3870" cy="1"/>
              </a:xfrm>
              <a:custGeom>
                <a:avLst/>
                <a:gdLst>
                  <a:gd name="txL" fmla="*/ 0 w 3870"/>
                  <a:gd name="txT" fmla="*/ 0 h 1"/>
                  <a:gd name="txR" fmla="*/ 3870 w 3870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3870" y="0"/>
                  </a:cxn>
                </a:cxnLst>
                <a:rect l="txL" t="txT" r="txR" b="txB"/>
                <a:pathLst>
                  <a:path w="3870" h="1">
                    <a:moveTo>
                      <a:pt x="0" y="0"/>
                    </a:moveTo>
                    <a:lnTo>
                      <a:pt x="3870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599" name="Rectangle 124"/>
              <p:cNvSpPr/>
              <p:nvPr/>
            </p:nvSpPr>
            <p:spPr>
              <a:xfrm>
                <a:off x="5350" y="1954"/>
                <a:ext cx="231" cy="17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none" lIns="0" tIns="0" rIns="0" bIns="0">
                <a:spAutoFit/>
              </a:bodyPr>
              <a:p>
                <a:pPr algn="ctr"/>
                <a:r>
                  <a:rPr lang="en-US" altLang="zh-CN" b="1" dirty="0">
                    <a:latin typeface="Times New Roman" panose="02020603050405020304" pitchFamily="18" charset="0"/>
                  </a:rPr>
                  <a:t>CS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3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600" name="Freeform 125"/>
              <p:cNvSpPr/>
              <p:nvPr/>
            </p:nvSpPr>
            <p:spPr>
              <a:xfrm flipV="1">
                <a:off x="5343" y="1936"/>
                <a:ext cx="195" cy="27"/>
              </a:xfrm>
              <a:custGeom>
                <a:avLst/>
                <a:gdLst>
                  <a:gd name="txL" fmla="*/ 0 w 195"/>
                  <a:gd name="txT" fmla="*/ 0 h 1"/>
                  <a:gd name="txR" fmla="*/ 195 w 195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95" y="0"/>
                  </a:cxn>
                </a:cxnLst>
                <a:rect l="txL" t="txT" r="txR" b="txB"/>
                <a:pathLst>
                  <a:path w="195" h="1">
                    <a:moveTo>
                      <a:pt x="0" y="0"/>
                    </a:moveTo>
                    <a:lnTo>
                      <a:pt x="195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2" name="Group 126"/>
          <p:cNvGrpSpPr/>
          <p:nvPr/>
        </p:nvGrpSpPr>
        <p:grpSpPr>
          <a:xfrm>
            <a:off x="3270250" y="2614613"/>
            <a:ext cx="574675" cy="622300"/>
            <a:chOff x="1100" y="1647"/>
            <a:chExt cx="362" cy="392"/>
          </a:xfrm>
        </p:grpSpPr>
        <p:sp>
          <p:nvSpPr>
            <p:cNvPr id="319585" name="Rectangle 127"/>
            <p:cNvSpPr/>
            <p:nvPr/>
          </p:nvSpPr>
          <p:spPr>
            <a:xfrm>
              <a:off x="1100" y="1651"/>
              <a:ext cx="298" cy="388"/>
            </a:xfrm>
            <a:prstGeom prst="rect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586" name="Rectangle 128"/>
            <p:cNvSpPr/>
            <p:nvPr/>
          </p:nvSpPr>
          <p:spPr>
            <a:xfrm>
              <a:off x="1104" y="1647"/>
              <a:ext cx="288" cy="17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片选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19587" name="Rectangle 129"/>
            <p:cNvSpPr/>
            <p:nvPr/>
          </p:nvSpPr>
          <p:spPr>
            <a:xfrm>
              <a:off x="1104" y="1835"/>
              <a:ext cx="288" cy="174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lIns="0" tIns="0" rIns="0" bIns="0">
              <a:spAutoFit/>
            </a:bodyPr>
            <a:p>
              <a:pPr algn="ctr"/>
              <a:r>
                <a:rPr lang="zh-CN" altLang="en-US" b="1" dirty="0">
                  <a:latin typeface="宋体" panose="02010600030101010101" pitchFamily="2" charset="-122"/>
                </a:rPr>
                <a:t>译码</a:t>
              </a:r>
              <a:endParaRPr lang="zh-CN" altLang="en-US" b="1" dirty="0">
                <a:latin typeface="宋体" panose="02010600030101010101" pitchFamily="2" charset="-122"/>
              </a:endParaRPr>
            </a:p>
          </p:txBody>
        </p:sp>
        <p:sp>
          <p:nvSpPr>
            <p:cNvPr id="319588" name="Oval 130"/>
            <p:cNvSpPr/>
            <p:nvPr/>
          </p:nvSpPr>
          <p:spPr>
            <a:xfrm>
              <a:off x="1397" y="1673"/>
              <a:ext cx="56" cy="56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589" name="Oval 131"/>
            <p:cNvSpPr/>
            <p:nvPr/>
          </p:nvSpPr>
          <p:spPr>
            <a:xfrm>
              <a:off x="1403" y="1754"/>
              <a:ext cx="56" cy="56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590" name="Oval 132"/>
            <p:cNvSpPr/>
            <p:nvPr/>
          </p:nvSpPr>
          <p:spPr>
            <a:xfrm>
              <a:off x="1403" y="1847"/>
              <a:ext cx="56" cy="56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19591" name="Oval 133"/>
            <p:cNvSpPr/>
            <p:nvPr/>
          </p:nvSpPr>
          <p:spPr>
            <a:xfrm>
              <a:off x="1406" y="1931"/>
              <a:ext cx="56" cy="56"/>
            </a:xfrm>
            <a:prstGeom prst="ellipse">
              <a:avLst/>
            </a:prstGeom>
            <a:noFill/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Group 134"/>
          <p:cNvGrpSpPr/>
          <p:nvPr/>
        </p:nvGrpSpPr>
        <p:grpSpPr>
          <a:xfrm>
            <a:off x="2714625" y="3433763"/>
            <a:ext cx="7059613" cy="989012"/>
            <a:chOff x="750" y="2163"/>
            <a:chExt cx="4447" cy="623"/>
          </a:xfrm>
        </p:grpSpPr>
        <p:grpSp>
          <p:nvGrpSpPr>
            <p:cNvPr id="319545" name="Group 135"/>
            <p:cNvGrpSpPr/>
            <p:nvPr/>
          </p:nvGrpSpPr>
          <p:grpSpPr>
            <a:xfrm>
              <a:off x="750" y="2169"/>
              <a:ext cx="353" cy="617"/>
              <a:chOff x="750" y="2169"/>
              <a:chExt cx="353" cy="617"/>
            </a:xfrm>
          </p:grpSpPr>
          <p:sp>
            <p:nvSpPr>
              <p:cNvPr id="319581" name="Line 136"/>
              <p:cNvSpPr/>
              <p:nvPr/>
            </p:nvSpPr>
            <p:spPr>
              <a:xfrm flipV="1">
                <a:off x="834" y="2254"/>
                <a:ext cx="1" cy="49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82" name="Line 137"/>
              <p:cNvSpPr/>
              <p:nvPr/>
            </p:nvSpPr>
            <p:spPr>
              <a:xfrm flipV="1">
                <a:off x="750" y="2169"/>
                <a:ext cx="1" cy="57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83" name="Line 138"/>
              <p:cNvSpPr/>
              <p:nvPr/>
            </p:nvSpPr>
            <p:spPr>
              <a:xfrm flipV="1">
                <a:off x="1056" y="2546"/>
                <a:ext cx="1" cy="20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84" name="Text Box 139"/>
              <p:cNvSpPr txBox="1"/>
              <p:nvPr/>
            </p:nvSpPr>
            <p:spPr>
              <a:xfrm>
                <a:off x="796" y="249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19546" name="Group 140"/>
            <p:cNvGrpSpPr/>
            <p:nvPr/>
          </p:nvGrpSpPr>
          <p:grpSpPr>
            <a:xfrm>
              <a:off x="1340" y="2174"/>
              <a:ext cx="351" cy="612"/>
              <a:chOff x="1340" y="2174"/>
              <a:chExt cx="351" cy="612"/>
            </a:xfrm>
          </p:grpSpPr>
          <p:sp>
            <p:nvSpPr>
              <p:cNvPr id="319577" name="Line 141"/>
              <p:cNvSpPr/>
              <p:nvPr/>
            </p:nvSpPr>
            <p:spPr>
              <a:xfrm flipV="1">
                <a:off x="1424" y="2259"/>
                <a:ext cx="1" cy="49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78" name="Line 142"/>
              <p:cNvSpPr/>
              <p:nvPr/>
            </p:nvSpPr>
            <p:spPr>
              <a:xfrm flipV="1">
                <a:off x="1340" y="2174"/>
                <a:ext cx="1" cy="57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79" name="Line 143"/>
              <p:cNvSpPr/>
              <p:nvPr/>
            </p:nvSpPr>
            <p:spPr>
              <a:xfrm flipV="1">
                <a:off x="1646" y="2551"/>
                <a:ext cx="1" cy="20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80" name="Text Box 144"/>
              <p:cNvSpPr txBox="1"/>
              <p:nvPr/>
            </p:nvSpPr>
            <p:spPr>
              <a:xfrm>
                <a:off x="1384" y="249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19547" name="Group 145"/>
            <p:cNvGrpSpPr/>
            <p:nvPr/>
          </p:nvGrpSpPr>
          <p:grpSpPr>
            <a:xfrm>
              <a:off x="1917" y="2166"/>
              <a:ext cx="336" cy="612"/>
              <a:chOff x="1917" y="2166"/>
              <a:chExt cx="336" cy="612"/>
            </a:xfrm>
          </p:grpSpPr>
          <p:sp>
            <p:nvSpPr>
              <p:cNvPr id="319573" name="Line 146"/>
              <p:cNvSpPr/>
              <p:nvPr/>
            </p:nvSpPr>
            <p:spPr>
              <a:xfrm flipV="1">
                <a:off x="2001" y="2251"/>
                <a:ext cx="1" cy="49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74" name="Line 147"/>
              <p:cNvSpPr/>
              <p:nvPr/>
            </p:nvSpPr>
            <p:spPr>
              <a:xfrm flipV="1">
                <a:off x="1917" y="2166"/>
                <a:ext cx="1" cy="57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75" name="Line 148"/>
              <p:cNvSpPr/>
              <p:nvPr/>
            </p:nvSpPr>
            <p:spPr>
              <a:xfrm flipV="1">
                <a:off x="2223" y="2543"/>
                <a:ext cx="1" cy="20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76" name="Text Box 149"/>
              <p:cNvSpPr txBox="1"/>
              <p:nvPr/>
            </p:nvSpPr>
            <p:spPr>
              <a:xfrm>
                <a:off x="1978" y="2527"/>
                <a:ext cx="27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19548" name="Group 150"/>
            <p:cNvGrpSpPr/>
            <p:nvPr/>
          </p:nvGrpSpPr>
          <p:grpSpPr>
            <a:xfrm>
              <a:off x="2481" y="2171"/>
              <a:ext cx="358" cy="615"/>
              <a:chOff x="2481" y="2171"/>
              <a:chExt cx="358" cy="615"/>
            </a:xfrm>
          </p:grpSpPr>
          <p:sp>
            <p:nvSpPr>
              <p:cNvPr id="319569" name="Line 151"/>
              <p:cNvSpPr/>
              <p:nvPr/>
            </p:nvSpPr>
            <p:spPr>
              <a:xfrm flipV="1">
                <a:off x="2565" y="2256"/>
                <a:ext cx="1" cy="49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70" name="Line 152"/>
              <p:cNvSpPr/>
              <p:nvPr/>
            </p:nvSpPr>
            <p:spPr>
              <a:xfrm flipV="1">
                <a:off x="2481" y="2171"/>
                <a:ext cx="1" cy="57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71" name="Line 153"/>
              <p:cNvSpPr/>
              <p:nvPr/>
            </p:nvSpPr>
            <p:spPr>
              <a:xfrm flipV="1">
                <a:off x="2787" y="2548"/>
                <a:ext cx="1" cy="20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72" name="Text Box 154"/>
              <p:cNvSpPr txBox="1"/>
              <p:nvPr/>
            </p:nvSpPr>
            <p:spPr>
              <a:xfrm>
                <a:off x="2532" y="249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319549" name="Group 155"/>
            <p:cNvGrpSpPr/>
            <p:nvPr/>
          </p:nvGrpSpPr>
          <p:grpSpPr>
            <a:xfrm>
              <a:off x="3093" y="2178"/>
              <a:ext cx="346" cy="608"/>
              <a:chOff x="3093" y="2178"/>
              <a:chExt cx="346" cy="608"/>
            </a:xfrm>
          </p:grpSpPr>
          <p:sp>
            <p:nvSpPr>
              <p:cNvPr id="319565" name="Line 156"/>
              <p:cNvSpPr/>
              <p:nvPr/>
            </p:nvSpPr>
            <p:spPr>
              <a:xfrm flipV="1">
                <a:off x="3176" y="2256"/>
                <a:ext cx="1" cy="49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66" name="Freeform 157"/>
              <p:cNvSpPr/>
              <p:nvPr/>
            </p:nvSpPr>
            <p:spPr>
              <a:xfrm>
                <a:off x="3093" y="2178"/>
                <a:ext cx="1" cy="561"/>
              </a:xfrm>
              <a:custGeom>
                <a:avLst/>
                <a:gdLst>
                  <a:gd name="txL" fmla="*/ 0 w 1"/>
                  <a:gd name="txT" fmla="*/ 0 h 561"/>
                  <a:gd name="txR" fmla="*/ 1 w 1"/>
                  <a:gd name="txB" fmla="*/ 561 h 561"/>
                </a:gdLst>
                <a:ahLst/>
                <a:cxnLst>
                  <a:cxn ang="0">
                    <a:pos x="0" y="561"/>
                  </a:cxn>
                  <a:cxn ang="0">
                    <a:pos x="0" y="0"/>
                  </a:cxn>
                </a:cxnLst>
                <a:rect l="txL" t="txT" r="txR" b="txB"/>
                <a:pathLst>
                  <a:path w="1" h="561">
                    <a:moveTo>
                      <a:pt x="0" y="561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567" name="Line 158"/>
              <p:cNvSpPr/>
              <p:nvPr/>
            </p:nvSpPr>
            <p:spPr>
              <a:xfrm flipV="1">
                <a:off x="3398" y="2548"/>
                <a:ext cx="1" cy="20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68" name="Text Box 159"/>
              <p:cNvSpPr txBox="1"/>
              <p:nvPr/>
            </p:nvSpPr>
            <p:spPr>
              <a:xfrm>
                <a:off x="3132" y="249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9550" name="Group 160"/>
            <p:cNvGrpSpPr/>
            <p:nvPr/>
          </p:nvGrpSpPr>
          <p:grpSpPr>
            <a:xfrm>
              <a:off x="3695" y="2163"/>
              <a:ext cx="348" cy="623"/>
              <a:chOff x="3695" y="2163"/>
              <a:chExt cx="348" cy="623"/>
            </a:xfrm>
          </p:grpSpPr>
          <p:sp>
            <p:nvSpPr>
              <p:cNvPr id="319561" name="Line 161"/>
              <p:cNvSpPr/>
              <p:nvPr/>
            </p:nvSpPr>
            <p:spPr>
              <a:xfrm flipV="1">
                <a:off x="3779" y="2248"/>
                <a:ext cx="1" cy="49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62" name="Line 162"/>
              <p:cNvSpPr/>
              <p:nvPr/>
            </p:nvSpPr>
            <p:spPr>
              <a:xfrm flipV="1">
                <a:off x="3695" y="2163"/>
                <a:ext cx="1" cy="57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63" name="Line 163"/>
              <p:cNvSpPr/>
              <p:nvPr/>
            </p:nvSpPr>
            <p:spPr>
              <a:xfrm flipV="1">
                <a:off x="4001" y="2540"/>
                <a:ext cx="1" cy="20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64" name="Text Box 164"/>
              <p:cNvSpPr txBox="1"/>
              <p:nvPr/>
            </p:nvSpPr>
            <p:spPr>
              <a:xfrm>
                <a:off x="3736" y="249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9551" name="Group 165"/>
            <p:cNvGrpSpPr/>
            <p:nvPr/>
          </p:nvGrpSpPr>
          <p:grpSpPr>
            <a:xfrm>
              <a:off x="4246" y="2168"/>
              <a:ext cx="345" cy="618"/>
              <a:chOff x="4246" y="2168"/>
              <a:chExt cx="345" cy="618"/>
            </a:xfrm>
          </p:grpSpPr>
          <p:sp>
            <p:nvSpPr>
              <p:cNvPr id="319557" name="Freeform 166"/>
              <p:cNvSpPr/>
              <p:nvPr/>
            </p:nvSpPr>
            <p:spPr>
              <a:xfrm>
                <a:off x="4326" y="2250"/>
                <a:ext cx="4" cy="497"/>
              </a:xfrm>
              <a:custGeom>
                <a:avLst/>
                <a:gdLst>
                  <a:gd name="txL" fmla="*/ 0 w 4"/>
                  <a:gd name="txT" fmla="*/ 0 h 497"/>
                  <a:gd name="txR" fmla="*/ 4 w 4"/>
                  <a:gd name="txB" fmla="*/ 497 h 497"/>
                </a:gdLst>
                <a:ahLst/>
                <a:cxnLst>
                  <a:cxn ang="0">
                    <a:pos x="4" y="497"/>
                  </a:cxn>
                  <a:cxn ang="0">
                    <a:pos x="0" y="0"/>
                  </a:cxn>
                </a:cxnLst>
                <a:rect l="txL" t="txT" r="txR" b="txB"/>
                <a:pathLst>
                  <a:path w="4" h="497">
                    <a:moveTo>
                      <a:pt x="4" y="497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558" name="Line 167"/>
              <p:cNvSpPr/>
              <p:nvPr/>
            </p:nvSpPr>
            <p:spPr>
              <a:xfrm flipV="1">
                <a:off x="4246" y="2168"/>
                <a:ext cx="1" cy="57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59" name="Line 168"/>
              <p:cNvSpPr/>
              <p:nvPr/>
            </p:nvSpPr>
            <p:spPr>
              <a:xfrm flipV="1">
                <a:off x="4552" y="2545"/>
                <a:ext cx="1" cy="20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60" name="Text Box 169"/>
              <p:cNvSpPr txBox="1"/>
              <p:nvPr/>
            </p:nvSpPr>
            <p:spPr>
              <a:xfrm>
                <a:off x="4284" y="249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19552" name="Group 170"/>
            <p:cNvGrpSpPr/>
            <p:nvPr/>
          </p:nvGrpSpPr>
          <p:grpSpPr>
            <a:xfrm>
              <a:off x="4845" y="2175"/>
              <a:ext cx="352" cy="611"/>
              <a:chOff x="4845" y="2175"/>
              <a:chExt cx="352" cy="611"/>
            </a:xfrm>
          </p:grpSpPr>
          <p:sp>
            <p:nvSpPr>
              <p:cNvPr id="319553" name="Line 171"/>
              <p:cNvSpPr/>
              <p:nvPr/>
            </p:nvSpPr>
            <p:spPr>
              <a:xfrm flipV="1">
                <a:off x="4933" y="2258"/>
                <a:ext cx="1" cy="493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54" name="Freeform 172"/>
              <p:cNvSpPr/>
              <p:nvPr/>
            </p:nvSpPr>
            <p:spPr>
              <a:xfrm>
                <a:off x="4845" y="2175"/>
                <a:ext cx="4" cy="570"/>
              </a:xfrm>
              <a:custGeom>
                <a:avLst/>
                <a:gdLst>
                  <a:gd name="txL" fmla="*/ 0 w 4"/>
                  <a:gd name="txT" fmla="*/ 0 h 570"/>
                  <a:gd name="txR" fmla="*/ 4 w 4"/>
                  <a:gd name="txB" fmla="*/ 570 h 570"/>
                </a:gdLst>
                <a:ahLst/>
                <a:cxnLst>
                  <a:cxn ang="0">
                    <a:pos x="4" y="570"/>
                  </a:cxn>
                  <a:cxn ang="0">
                    <a:pos x="0" y="0"/>
                  </a:cxn>
                </a:cxnLst>
                <a:rect l="txL" t="txT" r="txR" b="txB"/>
                <a:pathLst>
                  <a:path w="4" h="570">
                    <a:moveTo>
                      <a:pt x="4" y="57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oval" w="sm" len="sm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19555" name="Line 173"/>
              <p:cNvSpPr/>
              <p:nvPr/>
            </p:nvSpPr>
            <p:spPr>
              <a:xfrm flipV="1">
                <a:off x="5155" y="2550"/>
                <a:ext cx="1" cy="209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oval" w="sm" len="sm"/>
              </a:ln>
            </p:spPr>
          </p:sp>
          <p:sp>
            <p:nvSpPr>
              <p:cNvPr id="319556" name="Text Box 174"/>
              <p:cNvSpPr txBox="1"/>
              <p:nvPr/>
            </p:nvSpPr>
            <p:spPr>
              <a:xfrm>
                <a:off x="4890" y="2496"/>
                <a:ext cx="30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55151" name="Rectangle 17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12320" name="Group 176"/>
          <p:cNvGrpSpPr/>
          <p:nvPr/>
        </p:nvGrpSpPr>
        <p:grpSpPr>
          <a:xfrm>
            <a:off x="3314700" y="4678363"/>
            <a:ext cx="6664325" cy="19050"/>
            <a:chOff x="1128" y="2947"/>
            <a:chExt cx="4198" cy="12"/>
          </a:xfrm>
        </p:grpSpPr>
        <p:grpSp>
          <p:nvGrpSpPr>
            <p:cNvPr id="319532" name="Group 177"/>
            <p:cNvGrpSpPr/>
            <p:nvPr/>
          </p:nvGrpSpPr>
          <p:grpSpPr>
            <a:xfrm>
              <a:off x="1128" y="2947"/>
              <a:ext cx="4198" cy="12"/>
              <a:chOff x="1128" y="2947"/>
              <a:chExt cx="4198" cy="12"/>
            </a:xfrm>
          </p:grpSpPr>
          <p:grpSp>
            <p:nvGrpSpPr>
              <p:cNvPr id="319534" name="Group 178"/>
              <p:cNvGrpSpPr/>
              <p:nvPr/>
            </p:nvGrpSpPr>
            <p:grpSpPr>
              <a:xfrm>
                <a:off x="2858" y="2947"/>
                <a:ext cx="1318" cy="12"/>
                <a:chOff x="2858" y="2947"/>
                <a:chExt cx="1318" cy="12"/>
              </a:xfrm>
            </p:grpSpPr>
            <p:sp>
              <p:nvSpPr>
                <p:cNvPr id="319542" name="Line 179"/>
                <p:cNvSpPr/>
                <p:nvPr/>
              </p:nvSpPr>
              <p:spPr>
                <a:xfrm>
                  <a:off x="2858" y="2958"/>
                  <a:ext cx="104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9543" name="Line 180"/>
                <p:cNvSpPr/>
                <p:nvPr/>
              </p:nvSpPr>
              <p:spPr>
                <a:xfrm>
                  <a:off x="3477" y="2947"/>
                  <a:ext cx="104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19544" name="Line 181"/>
                <p:cNvSpPr/>
                <p:nvPr/>
              </p:nvSpPr>
              <p:spPr>
                <a:xfrm>
                  <a:off x="4072" y="2947"/>
                  <a:ext cx="104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19535" name="Group 182"/>
              <p:cNvGrpSpPr/>
              <p:nvPr/>
            </p:nvGrpSpPr>
            <p:grpSpPr>
              <a:xfrm>
                <a:off x="1128" y="2947"/>
                <a:ext cx="4198" cy="12"/>
                <a:chOff x="1128" y="2947"/>
                <a:chExt cx="4198" cy="12"/>
              </a:xfrm>
            </p:grpSpPr>
            <p:sp>
              <p:nvSpPr>
                <p:cNvPr id="319536" name="Line 183"/>
                <p:cNvSpPr/>
                <p:nvPr/>
              </p:nvSpPr>
              <p:spPr>
                <a:xfrm>
                  <a:off x="2278" y="2958"/>
                  <a:ext cx="104" cy="1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319537" name="Group 184"/>
                <p:cNvGrpSpPr/>
                <p:nvPr/>
              </p:nvGrpSpPr>
              <p:grpSpPr>
                <a:xfrm>
                  <a:off x="1128" y="2947"/>
                  <a:ext cx="4198" cy="12"/>
                  <a:chOff x="1128" y="2947"/>
                  <a:chExt cx="4198" cy="12"/>
                </a:xfrm>
              </p:grpSpPr>
              <p:sp>
                <p:nvSpPr>
                  <p:cNvPr id="319538" name="Line 185"/>
                  <p:cNvSpPr/>
                  <p:nvPr/>
                </p:nvSpPr>
                <p:spPr>
                  <a:xfrm>
                    <a:off x="1708" y="2958"/>
                    <a:ext cx="104" cy="1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319539" name="Group 186"/>
                  <p:cNvGrpSpPr/>
                  <p:nvPr/>
                </p:nvGrpSpPr>
                <p:grpSpPr>
                  <a:xfrm>
                    <a:off x="1128" y="2947"/>
                    <a:ext cx="4198" cy="12"/>
                    <a:chOff x="1128" y="2947"/>
                    <a:chExt cx="4198" cy="12"/>
                  </a:xfrm>
                </p:grpSpPr>
                <p:sp>
                  <p:nvSpPr>
                    <p:cNvPr id="319540" name="Line 187"/>
                    <p:cNvSpPr/>
                    <p:nvPr/>
                  </p:nvSpPr>
                  <p:spPr>
                    <a:xfrm>
                      <a:off x="1128" y="2958"/>
                      <a:ext cx="104" cy="1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19541" name="Line 188"/>
                    <p:cNvSpPr/>
                    <p:nvPr/>
                  </p:nvSpPr>
                  <p:spPr>
                    <a:xfrm>
                      <a:off x="5222" y="2947"/>
                      <a:ext cx="104" cy="1"/>
                    </a:xfrm>
                    <a:prstGeom prst="line">
                      <a:avLst/>
                    </a:prstGeom>
                    <a:ln w="381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</p:grpSp>
        <p:sp>
          <p:nvSpPr>
            <p:cNvPr id="319533" name="Line 189"/>
            <p:cNvSpPr/>
            <p:nvPr/>
          </p:nvSpPr>
          <p:spPr>
            <a:xfrm>
              <a:off x="4642" y="2947"/>
              <a:ext cx="104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12345" name="Group 190"/>
          <p:cNvGrpSpPr/>
          <p:nvPr/>
        </p:nvGrpSpPr>
        <p:grpSpPr>
          <a:xfrm>
            <a:off x="2573338" y="4359275"/>
            <a:ext cx="7224712" cy="407988"/>
            <a:chOff x="661" y="2746"/>
            <a:chExt cx="4551" cy="257"/>
          </a:xfrm>
        </p:grpSpPr>
        <p:grpSp>
          <p:nvGrpSpPr>
            <p:cNvPr id="319514" name="Group 191"/>
            <p:cNvGrpSpPr/>
            <p:nvPr/>
          </p:nvGrpSpPr>
          <p:grpSpPr>
            <a:xfrm>
              <a:off x="661" y="2746"/>
              <a:ext cx="4551" cy="257"/>
              <a:chOff x="661" y="2746"/>
              <a:chExt cx="4551" cy="257"/>
            </a:xfrm>
          </p:grpSpPr>
          <p:sp>
            <p:nvSpPr>
              <p:cNvPr id="319516" name="Rectangle 192"/>
              <p:cNvSpPr/>
              <p:nvPr/>
            </p:nvSpPr>
            <p:spPr>
              <a:xfrm>
                <a:off x="690" y="2794"/>
                <a:ext cx="407" cy="17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>
                <a:spAutoFit/>
              </a:bodyPr>
              <a:p>
                <a:pPr algn="ctr"/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1K</a:t>
                </a:r>
                <a:r>
                  <a:rPr lang="en-US" altLang="zh-CN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×</a:t>
                </a: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19517" name="Group 193"/>
              <p:cNvGrpSpPr/>
              <p:nvPr/>
            </p:nvGrpSpPr>
            <p:grpSpPr>
              <a:xfrm>
                <a:off x="661" y="2746"/>
                <a:ext cx="4551" cy="257"/>
                <a:chOff x="661" y="2746"/>
                <a:chExt cx="4551" cy="257"/>
              </a:xfrm>
            </p:grpSpPr>
            <p:sp>
              <p:nvSpPr>
                <p:cNvPr id="319524" name="Rectangle 194"/>
                <p:cNvSpPr/>
                <p:nvPr/>
              </p:nvSpPr>
              <p:spPr>
                <a:xfrm>
                  <a:off x="661" y="2746"/>
                  <a:ext cx="463" cy="253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525" name="Rectangle 195"/>
                <p:cNvSpPr/>
                <p:nvPr/>
              </p:nvSpPr>
              <p:spPr>
                <a:xfrm>
                  <a:off x="1853" y="2746"/>
                  <a:ext cx="421" cy="253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526" name="Rectangle 196"/>
                <p:cNvSpPr/>
                <p:nvPr/>
              </p:nvSpPr>
              <p:spPr>
                <a:xfrm>
                  <a:off x="2427" y="2746"/>
                  <a:ext cx="421" cy="253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527" name="Rectangle 197"/>
                <p:cNvSpPr/>
                <p:nvPr/>
              </p:nvSpPr>
              <p:spPr>
                <a:xfrm>
                  <a:off x="3043" y="2746"/>
                  <a:ext cx="421" cy="25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528" name="Rectangle 198"/>
                <p:cNvSpPr/>
                <p:nvPr/>
              </p:nvSpPr>
              <p:spPr>
                <a:xfrm>
                  <a:off x="3640" y="2746"/>
                  <a:ext cx="422" cy="254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529" name="Rectangle 199"/>
                <p:cNvSpPr/>
                <p:nvPr/>
              </p:nvSpPr>
              <p:spPr>
                <a:xfrm>
                  <a:off x="4214" y="2746"/>
                  <a:ext cx="421" cy="257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530" name="Rectangle 200"/>
                <p:cNvSpPr/>
                <p:nvPr/>
              </p:nvSpPr>
              <p:spPr>
                <a:xfrm>
                  <a:off x="4791" y="2746"/>
                  <a:ext cx="421" cy="254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9531" name="Rectangle 201"/>
                <p:cNvSpPr/>
                <p:nvPr/>
              </p:nvSpPr>
              <p:spPr>
                <a:xfrm>
                  <a:off x="1277" y="2746"/>
                  <a:ext cx="421" cy="253"/>
                </a:xfrm>
                <a:prstGeom prst="rect">
                  <a:avLst/>
                </a:prstGeom>
                <a:noFill/>
                <a:ln w="38100" cap="flat" cmpd="sng">
                  <a:solidFill>
                    <a:schemeClr val="folHlink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19518" name="Rectangle 202"/>
              <p:cNvSpPr/>
              <p:nvPr/>
            </p:nvSpPr>
            <p:spPr>
              <a:xfrm>
                <a:off x="1858" y="2794"/>
                <a:ext cx="407" cy="17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>
                <a:spAutoFit/>
              </a:bodyPr>
              <a:p>
                <a:pPr algn="ctr"/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1K</a:t>
                </a:r>
                <a:r>
                  <a:rPr lang="en-US" altLang="zh-CN" sz="1600" b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×</a:t>
                </a: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519" name="Rectangle 203"/>
              <p:cNvSpPr/>
              <p:nvPr/>
            </p:nvSpPr>
            <p:spPr>
              <a:xfrm>
                <a:off x="2432" y="2794"/>
                <a:ext cx="407" cy="17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>
                <a:spAutoFit/>
              </a:bodyPr>
              <a:p>
                <a:pPr algn="ctr"/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1K</a:t>
                </a:r>
                <a:r>
                  <a:rPr lang="en-US" altLang="zh-CN" sz="1600" b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×</a:t>
                </a: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520" name="Rectangle 204"/>
              <p:cNvSpPr/>
              <p:nvPr/>
            </p:nvSpPr>
            <p:spPr>
              <a:xfrm>
                <a:off x="3051" y="2794"/>
                <a:ext cx="407" cy="17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>
                <a:spAutoFit/>
              </a:bodyPr>
              <a:p>
                <a:pPr algn="ctr"/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1K</a:t>
                </a:r>
                <a:r>
                  <a:rPr lang="en-US" altLang="zh-CN" sz="1600" b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×</a:t>
                </a: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521" name="Rectangle 205"/>
              <p:cNvSpPr/>
              <p:nvPr/>
            </p:nvSpPr>
            <p:spPr>
              <a:xfrm>
                <a:off x="3645" y="2794"/>
                <a:ext cx="407" cy="17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>
                <a:spAutoFit/>
              </a:bodyPr>
              <a:p>
                <a:pPr algn="ctr"/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1K</a:t>
                </a:r>
                <a:r>
                  <a:rPr lang="en-US" altLang="zh-CN" sz="1600" b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×</a:t>
                </a: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522" name="Rectangle 206"/>
              <p:cNvSpPr/>
              <p:nvPr/>
            </p:nvSpPr>
            <p:spPr>
              <a:xfrm>
                <a:off x="4221" y="2794"/>
                <a:ext cx="407" cy="17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>
                <a:spAutoFit/>
              </a:bodyPr>
              <a:p>
                <a:pPr algn="ctr"/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1K</a:t>
                </a:r>
                <a:r>
                  <a:rPr lang="en-US" altLang="zh-CN" sz="1600" b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×</a:t>
                </a: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9523" name="Rectangle 207"/>
              <p:cNvSpPr/>
              <p:nvPr/>
            </p:nvSpPr>
            <p:spPr>
              <a:xfrm>
                <a:off x="4797" y="2794"/>
                <a:ext cx="407" cy="174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lIns="0" tIns="0" rIns="0" bIns="0">
                <a:spAutoFit/>
              </a:bodyPr>
              <a:p>
                <a:pPr algn="ctr"/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1K</a:t>
                </a:r>
                <a:r>
                  <a:rPr lang="en-US" altLang="zh-CN" sz="1600" b="1" dirty="0">
                    <a:solidFill>
                      <a:schemeClr val="folHlink"/>
                    </a:solidFill>
                    <a:latin typeface="宋体" panose="02010600030101010101" pitchFamily="2" charset="-122"/>
                  </a:rPr>
                  <a:t>×</a:t>
                </a: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19515" name="Rectangle 208"/>
            <p:cNvSpPr/>
            <p:nvPr/>
          </p:nvSpPr>
          <p:spPr>
            <a:xfrm>
              <a:off x="1278" y="2794"/>
              <a:ext cx="407" cy="174"/>
            </a:xfrm>
            <a:prstGeom prst="rect">
              <a:avLst/>
            </a:prstGeom>
            <a:noFill/>
            <a:ln w="6350">
              <a:noFill/>
            </a:ln>
          </p:spPr>
          <p:txBody>
            <a:bodyPr lIns="0" tIns="0" rIns="0" bIns="0">
              <a:spAutoFit/>
            </a:bodyPr>
            <a:p>
              <a:pPr algn="ctr"/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1K</a:t>
              </a:r>
              <a:r>
                <a:rPr lang="en-US" altLang="zh-CN" sz="1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×</a:t>
              </a:r>
              <a:r>
                <a:rPr lang="en-US" altLang="zh-CN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19510" name="Text Box 209"/>
          <p:cNvSpPr txBox="1"/>
          <p:nvPr/>
        </p:nvSpPr>
        <p:spPr>
          <a:xfrm>
            <a:off x="2725738" y="995363"/>
            <a:ext cx="1282700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？片</a:t>
            </a:r>
            <a:endParaRPr lang="zh-CN" altLang="en-US" sz="2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5186" name="Text Box 210"/>
          <p:cNvSpPr txBox="1"/>
          <p:nvPr/>
        </p:nvSpPr>
        <p:spPr>
          <a:xfrm>
            <a:off x="2855913" y="1009650"/>
            <a:ext cx="792162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sz="2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片</a:t>
            </a:r>
            <a:endParaRPr lang="zh-CN" altLang="en-US" sz="2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9512" name="AutoShape 21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9513" name="日期占位符 8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31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5" dur="500"/>
                                        <p:tgtEl>
                                          <p:spTgt spid="312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518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0514" name="Text Box 2"/>
          <p:cNvSpPr txBox="1"/>
          <p:nvPr/>
        </p:nvSpPr>
        <p:spPr>
          <a:xfrm>
            <a:off x="2279650" y="577850"/>
            <a:ext cx="5212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存储器与 </a:t>
            </a:r>
            <a:r>
              <a:rPr lang="en-US" altLang="zh-CN" sz="3600" b="1" dirty="0">
                <a:latin typeface="Times New Roman" panose="02020603050405020304" pitchFamily="18" charset="0"/>
              </a:rPr>
              <a:t>CPU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的连接</a:t>
            </a:r>
            <a:r>
              <a:rPr lang="zh-CN" altLang="en-US" sz="3200" b="1" dirty="0">
                <a:latin typeface="Times New Roman" panose="02020603050405020304" pitchFamily="18" charset="0"/>
              </a:rPr>
              <a:t>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20515" name="Text Box 3"/>
          <p:cNvSpPr txBox="1"/>
          <p:nvPr/>
        </p:nvSpPr>
        <p:spPr>
          <a:xfrm>
            <a:off x="3352800" y="1401763"/>
            <a:ext cx="5867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地址线的连接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0516" name="Text Box 4"/>
          <p:cNvSpPr txBox="1"/>
          <p:nvPr/>
        </p:nvSpPr>
        <p:spPr>
          <a:xfrm>
            <a:off x="3352800" y="2217738"/>
            <a:ext cx="5867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(2)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数据线的连接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0517" name="Text Box 5"/>
          <p:cNvSpPr txBox="1"/>
          <p:nvPr/>
        </p:nvSpPr>
        <p:spPr>
          <a:xfrm>
            <a:off x="3352800" y="3035300"/>
            <a:ext cx="5867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(3) </a:t>
            </a:r>
            <a:r>
              <a:rPr lang="zh-CN" altLang="en-US" sz="3200" b="1" dirty="0">
                <a:latin typeface="Times New Roman" panose="02020603050405020304" pitchFamily="18" charset="0"/>
              </a:rPr>
              <a:t>读</a:t>
            </a:r>
            <a:r>
              <a:rPr lang="en-US" altLang="zh-CN" sz="3200" b="1" dirty="0">
                <a:latin typeface="Times New Roman" panose="02020603050405020304" pitchFamily="18" charset="0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</a:rPr>
              <a:t>写命令线的连接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20518" name="Text Box 6"/>
          <p:cNvSpPr txBox="1"/>
          <p:nvPr/>
        </p:nvSpPr>
        <p:spPr>
          <a:xfrm>
            <a:off x="3352800" y="3851275"/>
            <a:ext cx="5867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(4)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片选线的连接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0519" name="Text Box 7"/>
          <p:cNvSpPr txBox="1"/>
          <p:nvPr/>
        </p:nvSpPr>
        <p:spPr>
          <a:xfrm>
            <a:off x="3352800" y="4668838"/>
            <a:ext cx="5867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(5) </a:t>
            </a:r>
            <a:r>
              <a:rPr lang="zh-CN" altLang="en-US" sz="3200" b="1" dirty="0">
                <a:latin typeface="Times New Roman" panose="02020603050405020304" pitchFamily="18" charset="0"/>
              </a:rPr>
              <a:t>合理选择存储芯片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20520" name="Text Box 8"/>
          <p:cNvSpPr txBox="1"/>
          <p:nvPr/>
        </p:nvSpPr>
        <p:spPr>
          <a:xfrm>
            <a:off x="3352800" y="5486400"/>
            <a:ext cx="5867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(6) </a:t>
            </a:r>
            <a:r>
              <a:rPr lang="zh-CN" altLang="en-US" sz="3200" b="1" dirty="0">
                <a:latin typeface="Times New Roman" panose="02020603050405020304" pitchFamily="18" charset="0"/>
              </a:rPr>
              <a:t>其他       时序、负载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6009" name="Rectangle 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0522" name="AutoShape 1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2052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1538" name="Rectangle 2"/>
          <p:cNvSpPr>
            <a:spLocks noGrp="1"/>
          </p:cNvSpPr>
          <p:nvPr>
            <p:ph type="title"/>
          </p:nvPr>
        </p:nvSpPr>
        <p:spPr>
          <a:xfrm>
            <a:off x="1905000" y="0"/>
            <a:ext cx="8305800" cy="14176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举例</a:t>
            </a:r>
            <a:br>
              <a:rPr lang="zh-CN" altLang="en-US" sz="4000" dirty="0"/>
            </a:br>
            <a:r>
              <a:rPr lang="zh-CN" altLang="en-US" sz="4000" dirty="0"/>
              <a:t>存储器的字位扩展法</a:t>
            </a:r>
            <a:endParaRPr lang="zh-CN" altLang="en-US" sz="4000" dirty="0"/>
          </a:p>
        </p:txBody>
      </p:sp>
      <p:sp>
        <p:nvSpPr>
          <p:cNvPr id="3215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用</a:t>
            </a:r>
            <a:r>
              <a:rPr lang="en-US" altLang="zh-CN" b="1" dirty="0"/>
              <a:t>16K</a:t>
            </a:r>
            <a:r>
              <a:rPr lang="en-US" altLang="zh-CN" b="1" dirty="0">
                <a:latin typeface="宋体" panose="02010600030101010101" pitchFamily="2" charset="-122"/>
              </a:rPr>
              <a:t>×</a:t>
            </a:r>
            <a:r>
              <a:rPr lang="en-US" altLang="zh-CN" b="1" dirty="0"/>
              <a:t>16</a:t>
            </a:r>
            <a:r>
              <a:rPr lang="zh-CN" altLang="en-US" b="1" dirty="0"/>
              <a:t>位的</a:t>
            </a:r>
            <a:r>
              <a:rPr lang="en-US" altLang="zh-CN" b="1" dirty="0"/>
              <a:t>DRAM</a:t>
            </a:r>
            <a:r>
              <a:rPr lang="zh-CN" altLang="en-US" b="1" dirty="0"/>
              <a:t>芯片构成</a:t>
            </a:r>
            <a:r>
              <a:rPr lang="en-US" altLang="zh-CN" b="1" dirty="0"/>
              <a:t>64K</a:t>
            </a:r>
            <a:r>
              <a:rPr lang="en-US" altLang="zh-CN" b="1" dirty="0">
                <a:latin typeface="宋体" panose="02010600030101010101" pitchFamily="2" charset="-122"/>
              </a:rPr>
              <a:t>×</a:t>
            </a:r>
            <a:r>
              <a:rPr lang="en-US" altLang="zh-CN" b="1" dirty="0"/>
              <a:t>32</a:t>
            </a:r>
            <a:r>
              <a:rPr lang="zh-CN" altLang="en-US" b="1" dirty="0"/>
              <a:t>位存储器。问需要多少个这样的</a:t>
            </a:r>
            <a:r>
              <a:rPr lang="en-US" altLang="zh-CN" b="1" dirty="0"/>
              <a:t>DRAM</a:t>
            </a:r>
            <a:r>
              <a:rPr lang="zh-CN" altLang="en-US" b="1" dirty="0"/>
              <a:t>芯片？</a:t>
            </a:r>
            <a:endParaRPr lang="zh-CN" altLang="en-US" b="1" dirty="0"/>
          </a:p>
          <a:p>
            <a:pPr eaLnBrk="1" hangingPunct="1"/>
            <a:endParaRPr lang="en-US" altLang="zh-CN" dirty="0"/>
          </a:p>
        </p:txBody>
      </p:sp>
      <p:sp>
        <p:nvSpPr>
          <p:cNvPr id="32154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graphicFrame>
        <p:nvGraphicFramePr>
          <p:cNvPr id="6146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2644775" y="1600200"/>
          <a:ext cx="6902450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7953375" imgH="5553075" progId="Paint.Picture">
                  <p:embed/>
                </p:oleObj>
              </mc:Choice>
              <mc:Fallback>
                <p:oleObj name="" r:id="rId1" imgW="7953375" imgH="5553075" progId="Paint.Picture">
                  <p:embed/>
                  <p:pic>
                    <p:nvPicPr>
                      <p:cNvPr id="0" name="20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44775" y="1600200"/>
                        <a:ext cx="6902450" cy="45259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2562" name="Text Box 2"/>
          <p:cNvSpPr txBox="1"/>
          <p:nvPr/>
        </p:nvSpPr>
        <p:spPr>
          <a:xfrm>
            <a:off x="1676400" y="196850"/>
            <a:ext cx="4343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宋体" panose="02010600030101010101" pitchFamily="2" charset="-122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4.1</a:t>
            </a:r>
            <a:r>
              <a:rPr lang="en-US" altLang="zh-CN" sz="3200" b="1" dirty="0">
                <a:latin typeface="Times New Roman" panose="02020603050405020304" pitchFamily="18" charset="0"/>
              </a:rPr>
              <a:t>   </a:t>
            </a:r>
            <a:r>
              <a:rPr lang="zh-CN" altLang="en-US" sz="3200" b="1" dirty="0">
                <a:latin typeface="宋体" panose="02010600030101010101" pitchFamily="2" charset="-122"/>
              </a:rPr>
              <a:t>解</a:t>
            </a:r>
            <a:r>
              <a:rPr lang="en-US" altLang="zh-CN" sz="3200" b="1" dirty="0">
                <a:latin typeface="宋体" panose="02010600030101010101" pitchFamily="2" charset="-122"/>
              </a:rPr>
              <a:t>: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322563" name="Text Box 3"/>
          <p:cNvSpPr txBox="1"/>
          <p:nvPr/>
        </p:nvSpPr>
        <p:spPr>
          <a:xfrm>
            <a:off x="2057400" y="990600"/>
            <a:ext cx="7924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写出对应的二进制地址码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57028" name="Text Box 4"/>
          <p:cNvSpPr txBox="1"/>
          <p:nvPr/>
        </p:nvSpPr>
        <p:spPr>
          <a:xfrm>
            <a:off x="2057400" y="5791200"/>
            <a:ext cx="7924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确定芯片的数量及类型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1981200" y="2057400"/>
            <a:ext cx="6858000" cy="584201"/>
            <a:chOff x="384" y="1296"/>
            <a:chExt cx="4320" cy="368"/>
          </a:xfrm>
        </p:grpSpPr>
        <p:sp>
          <p:nvSpPr>
            <p:cNvPr id="322606" name="Text Box 6"/>
            <p:cNvSpPr txBox="1"/>
            <p:nvPr/>
          </p:nvSpPr>
          <p:spPr>
            <a:xfrm>
              <a:off x="384" y="1296"/>
              <a:ext cx="11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0  1  1  0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2607" name="Text Box 7"/>
            <p:cNvSpPr txBox="1"/>
            <p:nvPr/>
          </p:nvSpPr>
          <p:spPr>
            <a:xfrm>
              <a:off x="1440" y="1296"/>
              <a:ext cx="11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0  0  0  0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2608" name="Text Box 8"/>
            <p:cNvSpPr txBox="1"/>
            <p:nvPr/>
          </p:nvSpPr>
          <p:spPr>
            <a:xfrm>
              <a:off x="2496" y="1296"/>
              <a:ext cx="11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0  0  0  0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2609" name="Text Box 9"/>
            <p:cNvSpPr txBox="1"/>
            <p:nvPr/>
          </p:nvSpPr>
          <p:spPr>
            <a:xfrm>
              <a:off x="3552" y="1296"/>
              <a:ext cx="11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0  0  0  0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7034" name="Text Box 10"/>
          <p:cNvSpPr txBox="1"/>
          <p:nvPr/>
        </p:nvSpPr>
        <p:spPr>
          <a:xfrm>
            <a:off x="1905000" y="1676400"/>
            <a:ext cx="78486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15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14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13 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11 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10</a:t>
            </a:r>
            <a:r>
              <a:rPr lang="en-US" altLang="zh-CN" sz="2400" b="1" dirty="0">
                <a:latin typeface="Times New Roman" panose="02020603050405020304" pitchFamily="18" charset="0"/>
              </a:rPr>
              <a:t>    …    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7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…   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4   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3      </a:t>
            </a:r>
            <a:r>
              <a:rPr lang="en-US" altLang="zh-CN" sz="2400" b="1" dirty="0">
                <a:latin typeface="Times New Roman" panose="02020603050405020304" pitchFamily="18" charset="0"/>
              </a:rPr>
              <a:t>…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   </a:t>
            </a:r>
            <a:r>
              <a:rPr lang="en-US" altLang="zh-CN" sz="800" b="1" baseline="-25000" dirty="0">
                <a:latin typeface="Times New Roman" panose="02020603050405020304" pitchFamily="18" charset="0"/>
              </a:rPr>
              <a:t> 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0</a:t>
            </a:r>
            <a:endParaRPr lang="en-US" altLang="zh-CN" sz="2400" b="1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1"/>
          <p:cNvGrpSpPr/>
          <p:nvPr/>
        </p:nvGrpSpPr>
        <p:grpSpPr>
          <a:xfrm>
            <a:off x="1981200" y="2590800"/>
            <a:ext cx="6858000" cy="1117601"/>
            <a:chOff x="288" y="1632"/>
            <a:chExt cx="4320" cy="704"/>
          </a:xfrm>
        </p:grpSpPr>
        <p:sp>
          <p:nvSpPr>
            <p:cNvPr id="322600" name="Text Box 12"/>
            <p:cNvSpPr txBox="1"/>
            <p:nvPr/>
          </p:nvSpPr>
          <p:spPr>
            <a:xfrm>
              <a:off x="295" y="1632"/>
              <a:ext cx="425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22601" name="Group 13"/>
            <p:cNvGrpSpPr/>
            <p:nvPr/>
          </p:nvGrpSpPr>
          <p:grpSpPr>
            <a:xfrm>
              <a:off x="288" y="1968"/>
              <a:ext cx="4320" cy="368"/>
              <a:chOff x="384" y="1968"/>
              <a:chExt cx="4320" cy="368"/>
            </a:xfrm>
          </p:grpSpPr>
          <p:sp>
            <p:nvSpPr>
              <p:cNvPr id="322602" name="Text Box 14"/>
              <p:cNvSpPr txBox="1"/>
              <p:nvPr/>
            </p:nvSpPr>
            <p:spPr>
              <a:xfrm>
                <a:off x="384" y="1968"/>
                <a:ext cx="115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0  1  1  0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2603" name="Text Box 15"/>
              <p:cNvSpPr txBox="1"/>
              <p:nvPr/>
            </p:nvSpPr>
            <p:spPr>
              <a:xfrm>
                <a:off x="1440" y="1968"/>
                <a:ext cx="1440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0  1  1  1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2604" name="Text Box 16"/>
              <p:cNvSpPr txBox="1"/>
              <p:nvPr/>
            </p:nvSpPr>
            <p:spPr>
              <a:xfrm>
                <a:off x="2496" y="1968"/>
                <a:ext cx="115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1  1  1  1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2605" name="Text Box 17"/>
              <p:cNvSpPr txBox="1"/>
              <p:nvPr/>
            </p:nvSpPr>
            <p:spPr>
              <a:xfrm>
                <a:off x="3552" y="1968"/>
                <a:ext cx="115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1  1  1  1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" name="Group 18"/>
          <p:cNvGrpSpPr/>
          <p:nvPr/>
        </p:nvGrpSpPr>
        <p:grpSpPr>
          <a:xfrm>
            <a:off x="1981200" y="3763963"/>
            <a:ext cx="6858000" cy="584199"/>
            <a:chOff x="384" y="1296"/>
            <a:chExt cx="4320" cy="368"/>
          </a:xfrm>
        </p:grpSpPr>
        <p:sp>
          <p:nvSpPr>
            <p:cNvPr id="322596" name="Text Box 19"/>
            <p:cNvSpPr txBox="1"/>
            <p:nvPr/>
          </p:nvSpPr>
          <p:spPr>
            <a:xfrm>
              <a:off x="384" y="1296"/>
              <a:ext cx="11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0  1  1  0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2597" name="Text Box 20"/>
            <p:cNvSpPr txBox="1"/>
            <p:nvPr/>
          </p:nvSpPr>
          <p:spPr>
            <a:xfrm>
              <a:off x="1440" y="1296"/>
              <a:ext cx="11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1  0  0  0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2598" name="Text Box 21"/>
            <p:cNvSpPr txBox="1"/>
            <p:nvPr/>
          </p:nvSpPr>
          <p:spPr>
            <a:xfrm>
              <a:off x="2496" y="1296"/>
              <a:ext cx="11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0  0  0  0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2599" name="Text Box 22"/>
            <p:cNvSpPr txBox="1"/>
            <p:nvPr/>
          </p:nvSpPr>
          <p:spPr>
            <a:xfrm>
              <a:off x="3552" y="1296"/>
              <a:ext cx="11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0  0  0  0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3"/>
          <p:cNvGrpSpPr/>
          <p:nvPr/>
        </p:nvGrpSpPr>
        <p:grpSpPr>
          <a:xfrm>
            <a:off x="1978025" y="4267200"/>
            <a:ext cx="6861175" cy="1193801"/>
            <a:chOff x="286" y="2688"/>
            <a:chExt cx="4322" cy="752"/>
          </a:xfrm>
        </p:grpSpPr>
        <p:sp>
          <p:nvSpPr>
            <p:cNvPr id="322590" name="Text Box 24"/>
            <p:cNvSpPr txBox="1"/>
            <p:nvPr/>
          </p:nvSpPr>
          <p:spPr>
            <a:xfrm>
              <a:off x="286" y="2688"/>
              <a:ext cx="425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22591" name="Group 25"/>
            <p:cNvGrpSpPr/>
            <p:nvPr/>
          </p:nvGrpSpPr>
          <p:grpSpPr>
            <a:xfrm>
              <a:off x="288" y="3072"/>
              <a:ext cx="4320" cy="368"/>
              <a:chOff x="384" y="1968"/>
              <a:chExt cx="4320" cy="368"/>
            </a:xfrm>
          </p:grpSpPr>
          <p:sp>
            <p:nvSpPr>
              <p:cNvPr id="322592" name="Text Box 26"/>
              <p:cNvSpPr txBox="1"/>
              <p:nvPr/>
            </p:nvSpPr>
            <p:spPr>
              <a:xfrm>
                <a:off x="384" y="1968"/>
                <a:ext cx="115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0  1  1  0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2593" name="Text Box 27"/>
              <p:cNvSpPr txBox="1"/>
              <p:nvPr/>
            </p:nvSpPr>
            <p:spPr>
              <a:xfrm>
                <a:off x="1440" y="1968"/>
                <a:ext cx="1440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1  0  1  1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2594" name="Text Box 28"/>
              <p:cNvSpPr txBox="1"/>
              <p:nvPr/>
            </p:nvSpPr>
            <p:spPr>
              <a:xfrm>
                <a:off x="2496" y="1968"/>
                <a:ext cx="115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1  1  1  1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2595" name="Text Box 29"/>
              <p:cNvSpPr txBox="1"/>
              <p:nvPr/>
            </p:nvSpPr>
            <p:spPr>
              <a:xfrm>
                <a:off x="3552" y="1968"/>
                <a:ext cx="115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1  1  1  1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8" name="Group 30"/>
          <p:cNvGrpSpPr/>
          <p:nvPr/>
        </p:nvGrpSpPr>
        <p:grpSpPr>
          <a:xfrm>
            <a:off x="8686800" y="2681288"/>
            <a:ext cx="2514600" cy="752475"/>
            <a:chOff x="4512" y="1689"/>
            <a:chExt cx="1584" cy="474"/>
          </a:xfrm>
        </p:grpSpPr>
        <p:sp>
          <p:nvSpPr>
            <p:cNvPr id="322588" name="AutoShape 31"/>
            <p:cNvSpPr/>
            <p:nvPr/>
          </p:nvSpPr>
          <p:spPr>
            <a:xfrm>
              <a:off x="4512" y="1689"/>
              <a:ext cx="319" cy="269"/>
            </a:xfrm>
            <a:prstGeom prst="rightBrace">
              <a:avLst>
                <a:gd name="adj1" fmla="val 33018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2589" name="Text Box 32"/>
            <p:cNvSpPr txBox="1"/>
            <p:nvPr/>
          </p:nvSpPr>
          <p:spPr>
            <a:xfrm>
              <a:off x="4752" y="1795"/>
              <a:ext cx="134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2K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8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" name="Group 33"/>
          <p:cNvGrpSpPr/>
          <p:nvPr/>
        </p:nvGrpSpPr>
        <p:grpSpPr>
          <a:xfrm>
            <a:off x="8686800" y="4038600"/>
            <a:ext cx="2514600" cy="822325"/>
            <a:chOff x="4512" y="2544"/>
            <a:chExt cx="1584" cy="518"/>
          </a:xfrm>
        </p:grpSpPr>
        <p:sp>
          <p:nvSpPr>
            <p:cNvPr id="322586" name="Text Box 34"/>
            <p:cNvSpPr txBox="1"/>
            <p:nvPr/>
          </p:nvSpPr>
          <p:spPr>
            <a:xfrm>
              <a:off x="4752" y="2544"/>
              <a:ext cx="134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1K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8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2587" name="AutoShape 35"/>
            <p:cNvSpPr/>
            <p:nvPr/>
          </p:nvSpPr>
          <p:spPr>
            <a:xfrm>
              <a:off x="4512" y="2793"/>
              <a:ext cx="319" cy="269"/>
            </a:xfrm>
            <a:prstGeom prst="rightBrace">
              <a:avLst>
                <a:gd name="adj1" fmla="val 33018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22572" name="Text Box 36"/>
          <p:cNvSpPr txBox="1"/>
          <p:nvPr/>
        </p:nvSpPr>
        <p:spPr>
          <a:xfrm>
            <a:off x="9128125" y="6011863"/>
            <a:ext cx="15398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endParaRPr lang="zh-CN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10" name="Group 37"/>
          <p:cNvGrpSpPr/>
          <p:nvPr/>
        </p:nvGrpSpPr>
        <p:grpSpPr>
          <a:xfrm>
            <a:off x="8069263" y="4630738"/>
            <a:ext cx="2497137" cy="1541462"/>
            <a:chOff x="4123" y="2917"/>
            <a:chExt cx="1573" cy="971"/>
          </a:xfrm>
        </p:grpSpPr>
        <p:sp>
          <p:nvSpPr>
            <p:cNvPr id="322582" name="AutoShape 38"/>
            <p:cNvSpPr/>
            <p:nvPr/>
          </p:nvSpPr>
          <p:spPr>
            <a:xfrm>
              <a:off x="4720" y="2917"/>
              <a:ext cx="976" cy="363"/>
            </a:xfrm>
            <a:prstGeom prst="wedgeRoundRectCallout">
              <a:avLst>
                <a:gd name="adj1" fmla="val -43750"/>
                <a:gd name="adj2" fmla="val 70000"/>
                <a:gd name="adj3" fmla="val 16667"/>
              </a:avLst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RAM</a:t>
              </a:r>
              <a:endPara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322583" name="Group 39"/>
            <p:cNvGrpSpPr/>
            <p:nvPr/>
          </p:nvGrpSpPr>
          <p:grpSpPr>
            <a:xfrm>
              <a:off x="4123" y="3511"/>
              <a:ext cx="1546" cy="377"/>
              <a:chOff x="4123" y="3511"/>
              <a:chExt cx="1546" cy="377"/>
            </a:xfrm>
          </p:grpSpPr>
          <p:sp>
            <p:nvSpPr>
              <p:cNvPr id="322584" name="AutoShape 40"/>
              <p:cNvSpPr/>
              <p:nvPr/>
            </p:nvSpPr>
            <p:spPr>
              <a:xfrm>
                <a:off x="4176" y="3552"/>
                <a:ext cx="1392" cy="336"/>
              </a:xfrm>
              <a:prstGeom prst="wedgeRoundRectCallout">
                <a:avLst>
                  <a:gd name="adj1" fmla="val -505"/>
                  <a:gd name="adj2" fmla="val -157144"/>
                  <a:gd name="adj3" fmla="val 16667"/>
                </a:avLst>
              </a:prstGeom>
              <a:noFill/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50000"/>
                  </a:spcBef>
                </a:pPr>
                <a:endParaRPr lang="zh-CN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2585" name="AutoShape 41"/>
              <p:cNvSpPr/>
              <p:nvPr/>
            </p:nvSpPr>
            <p:spPr>
              <a:xfrm>
                <a:off x="4123" y="3511"/>
                <a:ext cx="1546" cy="342"/>
              </a:xfrm>
              <a:prstGeom prst="wedgeRoundRectCallout">
                <a:avLst>
                  <a:gd name="adj1" fmla="val -43750"/>
                  <a:gd name="adj2" fmla="val 70000"/>
                  <a:gd name="adj3" fmla="val 16667"/>
                </a:avLst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2</a:t>
                </a:r>
                <a:r>
                  <a:rPr lang="zh-CN" altLang="en-US" sz="2600" b="1" dirty="0">
                    <a:latin typeface="Times New Roman" panose="02020603050405020304" pitchFamily="18" charset="0"/>
                  </a:rPr>
                  <a:t>片</a:t>
                </a:r>
                <a:r>
                  <a:rPr lang="en-US" altLang="zh-CN" sz="2600" b="1" dirty="0">
                    <a:latin typeface="Times New Roman" panose="02020603050405020304" pitchFamily="18" charset="0"/>
                  </a:rPr>
                  <a:t>1K×4</a:t>
                </a:r>
                <a:r>
                  <a:rPr lang="zh-CN" altLang="en-US" sz="2600" b="1" dirty="0">
                    <a:latin typeface="Times New Roman" panose="02020603050405020304" pitchFamily="18" charset="0"/>
                  </a:rPr>
                  <a:t>位</a:t>
                </a:r>
                <a:endParaRPr lang="zh-CN" altLang="en-US" sz="26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" name="Group 42"/>
          <p:cNvGrpSpPr/>
          <p:nvPr/>
        </p:nvGrpSpPr>
        <p:grpSpPr>
          <a:xfrm>
            <a:off x="8534400" y="1295400"/>
            <a:ext cx="2057400" cy="1589088"/>
            <a:chOff x="4416" y="816"/>
            <a:chExt cx="1296" cy="1001"/>
          </a:xfrm>
        </p:grpSpPr>
        <p:sp>
          <p:nvSpPr>
            <p:cNvPr id="322578" name="Text Box 43"/>
            <p:cNvSpPr txBox="1"/>
            <p:nvPr/>
          </p:nvSpPr>
          <p:spPr>
            <a:xfrm>
              <a:off x="4752" y="1488"/>
              <a:ext cx="91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ROM</a:t>
              </a:r>
              <a:endPara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grpSp>
          <p:nvGrpSpPr>
            <p:cNvPr id="322579" name="Group 44"/>
            <p:cNvGrpSpPr/>
            <p:nvPr/>
          </p:nvGrpSpPr>
          <p:grpSpPr>
            <a:xfrm>
              <a:off x="4416" y="816"/>
              <a:ext cx="1296" cy="384"/>
              <a:chOff x="4416" y="816"/>
              <a:chExt cx="1296" cy="384"/>
            </a:xfrm>
          </p:grpSpPr>
          <p:sp>
            <p:nvSpPr>
              <p:cNvPr id="322580" name="AutoShape 45"/>
              <p:cNvSpPr/>
              <p:nvPr/>
            </p:nvSpPr>
            <p:spPr>
              <a:xfrm>
                <a:off x="4416" y="816"/>
                <a:ext cx="1296" cy="384"/>
              </a:xfrm>
              <a:prstGeom prst="wedgeRoundRectCallout">
                <a:avLst>
                  <a:gd name="adj1" fmla="val -3319"/>
                  <a:gd name="adj2" fmla="val 141926"/>
                  <a:gd name="adj3" fmla="val 16667"/>
                </a:avLst>
              </a:prstGeom>
              <a:noFill/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>
                  <a:spcBef>
                    <a:spcPct val="50000"/>
                  </a:spcBef>
                </a:pPr>
                <a:endParaRPr lang="zh-CN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2581" name="Text Box 46"/>
              <p:cNvSpPr txBox="1"/>
              <p:nvPr/>
            </p:nvSpPr>
            <p:spPr>
              <a:xfrm>
                <a:off x="4416" y="816"/>
                <a:ext cx="1296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600" b="1" dirty="0">
                    <a:latin typeface="Times New Roman" panose="02020603050405020304" pitchFamily="18" charset="0"/>
                  </a:rPr>
                  <a:t>1</a:t>
                </a:r>
                <a:r>
                  <a:rPr lang="zh-CN" altLang="en-US" sz="2600" b="1" dirty="0">
                    <a:latin typeface="Times New Roman" panose="02020603050405020304" pitchFamily="18" charset="0"/>
                  </a:rPr>
                  <a:t>片 </a:t>
                </a:r>
                <a:r>
                  <a:rPr lang="en-US" altLang="zh-CN" sz="2600" b="1" dirty="0">
                    <a:latin typeface="Times New Roman" panose="02020603050405020304" pitchFamily="18" charset="0"/>
                  </a:rPr>
                  <a:t>2K×8</a:t>
                </a:r>
                <a:r>
                  <a:rPr lang="zh-CN" altLang="en-US" sz="2600" b="1" dirty="0">
                    <a:latin typeface="Times New Roman" panose="02020603050405020304" pitchFamily="18" charset="0"/>
                  </a:rPr>
                  <a:t>位</a:t>
                </a:r>
                <a:endParaRPr lang="zh-CN" altLang="en-US" sz="26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57071" name="Rectangle 4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2576" name="AutoShape 4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22577" name="日期占位符 6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7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8" grpId="0"/>
      <p:bldP spid="25703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3586" name="Text Box 2"/>
          <p:cNvSpPr txBox="1"/>
          <p:nvPr/>
        </p:nvSpPr>
        <p:spPr>
          <a:xfrm>
            <a:off x="2057400" y="304800"/>
            <a:ext cx="7924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(3) </a:t>
            </a:r>
            <a:r>
              <a:rPr lang="zh-CN" altLang="en-US" sz="3200" b="1" dirty="0">
                <a:latin typeface="Times New Roman" panose="02020603050405020304" pitchFamily="18" charset="0"/>
              </a:rPr>
              <a:t>分配地址线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8051" name="Text Box 3"/>
          <p:cNvSpPr txBox="1"/>
          <p:nvPr/>
        </p:nvSpPr>
        <p:spPr>
          <a:xfrm>
            <a:off x="2286000" y="4953000"/>
            <a:ext cx="6172200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600" b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10</a:t>
            </a:r>
            <a:r>
              <a:rPr lang="en-US" altLang="zh-CN" sz="2600" b="1" dirty="0">
                <a:latin typeface="Times New Roman" panose="02020603050405020304" pitchFamily="18" charset="0"/>
              </a:rPr>
              <a:t>~ A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0    </a:t>
            </a:r>
            <a:r>
              <a:rPr lang="zh-CN" altLang="en-US" sz="2600" b="1" dirty="0">
                <a:latin typeface="Times New Roman" panose="02020603050405020304" pitchFamily="18" charset="0"/>
              </a:rPr>
              <a:t>接 </a:t>
            </a:r>
            <a:r>
              <a:rPr lang="en-US" altLang="zh-CN" sz="2600" b="1" dirty="0">
                <a:latin typeface="Times New Roman" panose="02020603050405020304" pitchFamily="18" charset="0"/>
              </a:rPr>
              <a:t>2K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8</a:t>
            </a:r>
            <a:r>
              <a:rPr lang="zh-CN" altLang="en-US" sz="2600" b="1" dirty="0">
                <a:latin typeface="Times New Roman" panose="02020603050405020304" pitchFamily="18" charset="0"/>
              </a:rPr>
              <a:t>位 </a:t>
            </a:r>
            <a:r>
              <a:rPr lang="en-US" altLang="zh-CN" sz="2600" b="1" dirty="0">
                <a:latin typeface="Times New Roman" panose="02020603050405020304" pitchFamily="18" charset="0"/>
              </a:rPr>
              <a:t>ROM </a:t>
            </a:r>
            <a:r>
              <a:rPr lang="zh-CN" altLang="en-US" sz="2600" b="1" dirty="0">
                <a:latin typeface="Times New Roman" panose="02020603050405020304" pitchFamily="18" charset="0"/>
              </a:rPr>
              <a:t>的地址线</a:t>
            </a:r>
            <a:endParaRPr lang="zh-CN" altLang="en-US" sz="2600" b="1" dirty="0">
              <a:latin typeface="Times New Roman" panose="02020603050405020304" pitchFamily="18" charset="0"/>
            </a:endParaRPr>
          </a:p>
        </p:txBody>
      </p:sp>
      <p:sp>
        <p:nvSpPr>
          <p:cNvPr id="258052" name="Text Box 4"/>
          <p:cNvSpPr txBox="1"/>
          <p:nvPr/>
        </p:nvSpPr>
        <p:spPr>
          <a:xfrm>
            <a:off x="2286000" y="5486400"/>
            <a:ext cx="6248400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600" b="1" dirty="0">
                <a:latin typeface="Times New Roman" panose="02020603050405020304" pitchFamily="18" charset="0"/>
              </a:rPr>
              <a:t>A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9  </a:t>
            </a:r>
            <a:r>
              <a:rPr lang="en-US" altLang="zh-CN" sz="2600" b="1" dirty="0">
                <a:latin typeface="Times New Roman" panose="02020603050405020304" pitchFamily="18" charset="0"/>
              </a:rPr>
              <a:t>~ A</a:t>
            </a:r>
            <a:r>
              <a:rPr lang="en-US" altLang="zh-CN" sz="2600" b="1" baseline="-25000" dirty="0">
                <a:latin typeface="Times New Roman" panose="02020603050405020304" pitchFamily="18" charset="0"/>
              </a:rPr>
              <a:t>0    </a:t>
            </a:r>
            <a:r>
              <a:rPr lang="zh-CN" altLang="en-US" sz="2600" b="1" dirty="0">
                <a:latin typeface="Times New Roman" panose="02020603050405020304" pitchFamily="18" charset="0"/>
              </a:rPr>
              <a:t>接 </a:t>
            </a:r>
            <a:r>
              <a:rPr lang="en-US" altLang="zh-CN" sz="2600" b="1" dirty="0">
                <a:latin typeface="Times New Roman" panose="02020603050405020304" pitchFamily="18" charset="0"/>
              </a:rPr>
              <a:t>1K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600" b="1" dirty="0">
                <a:latin typeface="Times New Roman" panose="02020603050405020304" pitchFamily="18" charset="0"/>
              </a:rPr>
              <a:t>4</a:t>
            </a:r>
            <a:r>
              <a:rPr lang="zh-CN" altLang="en-US" sz="2600" b="1" dirty="0">
                <a:latin typeface="Times New Roman" panose="02020603050405020304" pitchFamily="18" charset="0"/>
              </a:rPr>
              <a:t>位 </a:t>
            </a:r>
            <a:r>
              <a:rPr lang="en-US" altLang="zh-CN" sz="2600" b="1" dirty="0">
                <a:latin typeface="Times New Roman" panose="02020603050405020304" pitchFamily="18" charset="0"/>
              </a:rPr>
              <a:t>RAM </a:t>
            </a:r>
            <a:r>
              <a:rPr lang="zh-CN" altLang="en-US" sz="2600" b="1" dirty="0">
                <a:latin typeface="Times New Roman" panose="02020603050405020304" pitchFamily="18" charset="0"/>
              </a:rPr>
              <a:t>的地址线</a:t>
            </a:r>
            <a:endParaRPr lang="zh-CN" altLang="en-US" sz="2600" b="1" dirty="0">
              <a:latin typeface="Times New Roman" panose="02020603050405020304" pitchFamily="18" charset="0"/>
            </a:endParaRPr>
          </a:p>
        </p:txBody>
      </p:sp>
      <p:sp>
        <p:nvSpPr>
          <p:cNvPr id="258053" name="Rectangle 5"/>
          <p:cNvSpPr/>
          <p:nvPr/>
        </p:nvSpPr>
        <p:spPr>
          <a:xfrm>
            <a:off x="2057400" y="6049963"/>
            <a:ext cx="4089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(4) </a:t>
            </a:r>
            <a:r>
              <a:rPr lang="zh-CN" altLang="en-US" sz="3200" b="1" dirty="0">
                <a:latin typeface="Times New Roman" panose="02020603050405020304" pitchFamily="18" charset="0"/>
              </a:rPr>
              <a:t>确定片选信号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8054" name="Line 6"/>
          <p:cNvSpPr/>
          <p:nvPr/>
        </p:nvSpPr>
        <p:spPr>
          <a:xfrm>
            <a:off x="3962400" y="1447800"/>
            <a:ext cx="0" cy="32004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58055" name="Line 7"/>
          <p:cNvSpPr/>
          <p:nvPr/>
        </p:nvSpPr>
        <p:spPr>
          <a:xfrm>
            <a:off x="4419600" y="1447800"/>
            <a:ext cx="0" cy="32004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58056" name="Line 8"/>
          <p:cNvSpPr/>
          <p:nvPr/>
        </p:nvSpPr>
        <p:spPr>
          <a:xfrm>
            <a:off x="2667000" y="1447800"/>
            <a:ext cx="0" cy="320040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dash"/>
            <a:headEnd type="none" w="med" len="med"/>
            <a:tailEnd type="none" w="med" len="med"/>
          </a:ln>
        </p:spPr>
      </p:sp>
      <p:grpSp>
        <p:nvGrpSpPr>
          <p:cNvPr id="323593" name="Group 9"/>
          <p:cNvGrpSpPr/>
          <p:nvPr/>
        </p:nvGrpSpPr>
        <p:grpSpPr>
          <a:xfrm>
            <a:off x="2667000" y="4572000"/>
            <a:ext cx="1371600" cy="522288"/>
            <a:chOff x="720" y="2880"/>
            <a:chExt cx="864" cy="329"/>
          </a:xfrm>
        </p:grpSpPr>
        <p:sp>
          <p:nvSpPr>
            <p:cNvPr id="323629" name="Text Box 10"/>
            <p:cNvSpPr txBox="1"/>
            <p:nvPr/>
          </p:nvSpPr>
          <p:spPr>
            <a:xfrm>
              <a:off x="720" y="2880"/>
              <a:ext cx="3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3630" name="Text Box 11"/>
            <p:cNvSpPr txBox="1"/>
            <p:nvPr/>
          </p:nvSpPr>
          <p:spPr>
            <a:xfrm>
              <a:off x="960" y="2880"/>
              <a:ext cx="3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3631" name="Text Box 12"/>
            <p:cNvSpPr txBox="1"/>
            <p:nvPr/>
          </p:nvSpPr>
          <p:spPr>
            <a:xfrm>
              <a:off x="1248" y="2880"/>
              <a:ext cx="33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3594" name="Group 13"/>
          <p:cNvGrpSpPr/>
          <p:nvPr/>
        </p:nvGrpSpPr>
        <p:grpSpPr>
          <a:xfrm>
            <a:off x="1828800" y="990600"/>
            <a:ext cx="9296400" cy="3784601"/>
            <a:chOff x="192" y="624"/>
            <a:chExt cx="5856" cy="2384"/>
          </a:xfrm>
        </p:grpSpPr>
        <p:grpSp>
          <p:nvGrpSpPr>
            <p:cNvPr id="323598" name="Group 14"/>
            <p:cNvGrpSpPr/>
            <p:nvPr/>
          </p:nvGrpSpPr>
          <p:grpSpPr>
            <a:xfrm>
              <a:off x="240" y="864"/>
              <a:ext cx="4320" cy="377"/>
              <a:chOff x="384" y="1296"/>
              <a:chExt cx="4320" cy="377"/>
            </a:xfrm>
          </p:grpSpPr>
          <p:sp>
            <p:nvSpPr>
              <p:cNvPr id="323625" name="Text Box 15"/>
              <p:cNvSpPr txBox="1"/>
              <p:nvPr/>
            </p:nvSpPr>
            <p:spPr>
              <a:xfrm>
                <a:off x="384" y="1296"/>
                <a:ext cx="115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0  1  1  0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3626" name="Text Box 16"/>
              <p:cNvSpPr txBox="1"/>
              <p:nvPr/>
            </p:nvSpPr>
            <p:spPr>
              <a:xfrm>
                <a:off x="1440" y="1296"/>
                <a:ext cx="1152" cy="3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0  0  0  0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3627" name="Text Box 17"/>
              <p:cNvSpPr txBox="1"/>
              <p:nvPr/>
            </p:nvSpPr>
            <p:spPr>
              <a:xfrm>
                <a:off x="2496" y="1296"/>
                <a:ext cx="1152" cy="3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0  0  0  0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3628" name="Text Box 18"/>
              <p:cNvSpPr txBox="1"/>
              <p:nvPr/>
            </p:nvSpPr>
            <p:spPr>
              <a:xfrm>
                <a:off x="3552" y="1296"/>
                <a:ext cx="1152" cy="3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0  0  0  0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23599" name="Text Box 19"/>
            <p:cNvSpPr txBox="1"/>
            <p:nvPr/>
          </p:nvSpPr>
          <p:spPr>
            <a:xfrm>
              <a:off x="192" y="624"/>
              <a:ext cx="494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15  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13 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11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10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   …   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7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…    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4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3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23600" name="Group 20"/>
            <p:cNvGrpSpPr/>
            <p:nvPr/>
          </p:nvGrpSpPr>
          <p:grpSpPr>
            <a:xfrm>
              <a:off x="240" y="1200"/>
              <a:ext cx="4320" cy="713"/>
              <a:chOff x="288" y="1632"/>
              <a:chExt cx="4320" cy="713"/>
            </a:xfrm>
          </p:grpSpPr>
          <p:sp>
            <p:nvSpPr>
              <p:cNvPr id="323619" name="Text Box 21"/>
              <p:cNvSpPr txBox="1"/>
              <p:nvPr/>
            </p:nvSpPr>
            <p:spPr>
              <a:xfrm>
                <a:off x="295" y="1632"/>
                <a:ext cx="425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3620" name="Group 22"/>
              <p:cNvGrpSpPr/>
              <p:nvPr/>
            </p:nvGrpSpPr>
            <p:grpSpPr>
              <a:xfrm>
                <a:off x="288" y="1968"/>
                <a:ext cx="4320" cy="377"/>
                <a:chOff x="384" y="1968"/>
                <a:chExt cx="4320" cy="377"/>
              </a:xfrm>
            </p:grpSpPr>
            <p:sp>
              <p:nvSpPr>
                <p:cNvPr id="323621" name="Text Box 23"/>
                <p:cNvSpPr txBox="1"/>
                <p:nvPr/>
              </p:nvSpPr>
              <p:spPr>
                <a:xfrm>
                  <a:off x="384" y="1968"/>
                  <a:ext cx="1152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0  1  1  0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3622" name="Text Box 24"/>
                <p:cNvSpPr txBox="1"/>
                <p:nvPr/>
              </p:nvSpPr>
              <p:spPr>
                <a:xfrm>
                  <a:off x="1440" y="1968"/>
                  <a:ext cx="1440" cy="37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0  1  1  1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3623" name="Text Box 25"/>
                <p:cNvSpPr txBox="1"/>
                <p:nvPr/>
              </p:nvSpPr>
              <p:spPr>
                <a:xfrm>
                  <a:off x="2496" y="1968"/>
                  <a:ext cx="1152" cy="37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1  1  1  1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3624" name="Text Box 26"/>
                <p:cNvSpPr txBox="1"/>
                <p:nvPr/>
              </p:nvSpPr>
              <p:spPr>
                <a:xfrm>
                  <a:off x="3552" y="1968"/>
                  <a:ext cx="1152" cy="37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1  1  1  1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323601" name="Group 27"/>
            <p:cNvGrpSpPr/>
            <p:nvPr/>
          </p:nvGrpSpPr>
          <p:grpSpPr>
            <a:xfrm>
              <a:off x="240" y="1939"/>
              <a:ext cx="4320" cy="377"/>
              <a:chOff x="384" y="1296"/>
              <a:chExt cx="4320" cy="377"/>
            </a:xfrm>
          </p:grpSpPr>
          <p:sp>
            <p:nvSpPr>
              <p:cNvPr id="323615" name="Text Box 28"/>
              <p:cNvSpPr txBox="1"/>
              <p:nvPr/>
            </p:nvSpPr>
            <p:spPr>
              <a:xfrm>
                <a:off x="384" y="1296"/>
                <a:ext cx="1152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0  1  1  0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3616" name="Text Box 29"/>
              <p:cNvSpPr txBox="1"/>
              <p:nvPr/>
            </p:nvSpPr>
            <p:spPr>
              <a:xfrm>
                <a:off x="1440" y="1296"/>
                <a:ext cx="1152" cy="3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1  0  0  0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3617" name="Text Box 30"/>
              <p:cNvSpPr txBox="1"/>
              <p:nvPr/>
            </p:nvSpPr>
            <p:spPr>
              <a:xfrm>
                <a:off x="2496" y="1296"/>
                <a:ext cx="1152" cy="3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0  0  0  0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3618" name="Text Box 31"/>
              <p:cNvSpPr txBox="1"/>
              <p:nvPr/>
            </p:nvSpPr>
            <p:spPr>
              <a:xfrm>
                <a:off x="3552" y="1296"/>
                <a:ext cx="1152" cy="3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0  0  0  0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23602" name="Group 32"/>
            <p:cNvGrpSpPr/>
            <p:nvPr/>
          </p:nvGrpSpPr>
          <p:grpSpPr>
            <a:xfrm>
              <a:off x="238" y="2256"/>
              <a:ext cx="4322" cy="752"/>
              <a:chOff x="286" y="2688"/>
              <a:chExt cx="4322" cy="752"/>
            </a:xfrm>
          </p:grpSpPr>
          <p:sp>
            <p:nvSpPr>
              <p:cNvPr id="323609" name="Text Box 33"/>
              <p:cNvSpPr txBox="1"/>
              <p:nvPr/>
            </p:nvSpPr>
            <p:spPr>
              <a:xfrm>
                <a:off x="286" y="2688"/>
                <a:ext cx="425" cy="4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323610" name="Group 34"/>
              <p:cNvGrpSpPr/>
              <p:nvPr/>
            </p:nvGrpSpPr>
            <p:grpSpPr>
              <a:xfrm>
                <a:off x="288" y="3072"/>
                <a:ext cx="4320" cy="368"/>
                <a:chOff x="384" y="1968"/>
                <a:chExt cx="4320" cy="368"/>
              </a:xfrm>
            </p:grpSpPr>
            <p:sp>
              <p:nvSpPr>
                <p:cNvPr id="323611" name="Text Box 35"/>
                <p:cNvSpPr txBox="1"/>
                <p:nvPr/>
              </p:nvSpPr>
              <p:spPr>
                <a:xfrm>
                  <a:off x="384" y="1968"/>
                  <a:ext cx="1152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0  1  1  0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3612" name="Text Box 36"/>
                <p:cNvSpPr txBox="1"/>
                <p:nvPr/>
              </p:nvSpPr>
              <p:spPr>
                <a:xfrm>
                  <a:off x="1440" y="1968"/>
                  <a:ext cx="1440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1  0  1  1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3613" name="Text Box 37"/>
                <p:cNvSpPr txBox="1"/>
                <p:nvPr/>
              </p:nvSpPr>
              <p:spPr>
                <a:xfrm>
                  <a:off x="2496" y="1968"/>
                  <a:ext cx="1152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1  1  1  1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23614" name="Text Box 38"/>
                <p:cNvSpPr txBox="1"/>
                <p:nvPr/>
              </p:nvSpPr>
              <p:spPr>
                <a:xfrm>
                  <a:off x="3552" y="1968"/>
                  <a:ext cx="1152" cy="36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</a:rPr>
                    <a:t>1  1  1  1</a:t>
                  </a:r>
                  <a:endParaRPr lang="en-US" altLang="zh-CN" sz="3200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23603" name="AutoShape 39"/>
            <p:cNvSpPr/>
            <p:nvPr/>
          </p:nvSpPr>
          <p:spPr>
            <a:xfrm>
              <a:off x="4464" y="1257"/>
              <a:ext cx="319" cy="269"/>
            </a:xfrm>
            <a:prstGeom prst="rightBrace">
              <a:avLst>
                <a:gd name="adj1" fmla="val 33018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3604" name="Text Box 40"/>
            <p:cNvSpPr txBox="1"/>
            <p:nvPr/>
          </p:nvSpPr>
          <p:spPr>
            <a:xfrm>
              <a:off x="4704" y="1363"/>
              <a:ext cx="134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2K</a:t>
              </a:r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8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3605" name="Text Box 41"/>
            <p:cNvSpPr txBox="1"/>
            <p:nvPr/>
          </p:nvSpPr>
          <p:spPr>
            <a:xfrm>
              <a:off x="4704" y="1056"/>
              <a:ext cx="115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片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ROM</a:t>
              </a:r>
              <a:endPara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23606" name="AutoShape 42"/>
            <p:cNvSpPr/>
            <p:nvPr/>
          </p:nvSpPr>
          <p:spPr>
            <a:xfrm>
              <a:off x="4464" y="2361"/>
              <a:ext cx="319" cy="269"/>
            </a:xfrm>
            <a:prstGeom prst="rightBrace">
              <a:avLst>
                <a:gd name="adj1" fmla="val 33018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>
              <a:spAutoFit/>
            </a:bodyPr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3607" name="Text Box 43"/>
            <p:cNvSpPr txBox="1"/>
            <p:nvPr/>
          </p:nvSpPr>
          <p:spPr>
            <a:xfrm>
              <a:off x="4704" y="2448"/>
              <a:ext cx="134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1K</a:t>
              </a:r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4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3608" name="Text Box 44"/>
            <p:cNvSpPr txBox="1"/>
            <p:nvPr/>
          </p:nvSpPr>
          <p:spPr>
            <a:xfrm>
              <a:off x="4704" y="2121"/>
              <a:ext cx="115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片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RAM</a:t>
              </a:r>
              <a:endParaRPr lang="en-US" altLang="zh-CN" sz="2800" b="1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sp>
        <p:nvSpPr>
          <p:cNvPr id="258093" name="Rectangle 4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3596" name="AutoShape 4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2359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25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258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/>
      <p:bldP spid="258052" grpId="0"/>
      <p:bldP spid="25805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9074" name="Freeform 2"/>
          <p:cNvSpPr/>
          <p:nvPr/>
        </p:nvSpPr>
        <p:spPr>
          <a:xfrm>
            <a:off x="3733800" y="1809750"/>
            <a:ext cx="1062038" cy="1588"/>
          </a:xfrm>
          <a:custGeom>
            <a:avLst/>
            <a:gdLst>
              <a:gd name="txL" fmla="*/ 0 w 669"/>
              <a:gd name="txT" fmla="*/ 0 h 1"/>
              <a:gd name="txR" fmla="*/ 669 w 669"/>
              <a:gd name="txB" fmla="*/ 1 h 1"/>
            </a:gdLst>
            <a:ahLst/>
            <a:cxnLst>
              <a:cxn ang="0">
                <a:pos x="669" y="0"/>
              </a:cxn>
              <a:cxn ang="0">
                <a:pos x="0" y="0"/>
              </a:cxn>
            </a:cxnLst>
            <a:rect l="txL" t="txT" r="txR" b="txB"/>
            <a:pathLst>
              <a:path w="669" h="1">
                <a:moveTo>
                  <a:pt x="669" y="0"/>
                </a:moveTo>
                <a:lnTo>
                  <a:pt x="0" y="0"/>
                </a:lnTo>
              </a:path>
            </a:pathLst>
          </a:custGeom>
          <a:solidFill>
            <a:srgbClr val="FFFFFF"/>
          </a:solidFill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9075" name="Line 3"/>
          <p:cNvSpPr/>
          <p:nvPr/>
        </p:nvSpPr>
        <p:spPr>
          <a:xfrm flipH="1">
            <a:off x="3733800" y="1524000"/>
            <a:ext cx="1198563" cy="15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4"/>
          <p:cNvGrpSpPr/>
          <p:nvPr/>
        </p:nvGrpSpPr>
        <p:grpSpPr>
          <a:xfrm>
            <a:off x="1771650" y="1104900"/>
            <a:ext cx="298450" cy="1247775"/>
            <a:chOff x="156" y="696"/>
            <a:chExt cx="188" cy="786"/>
          </a:xfrm>
        </p:grpSpPr>
        <p:sp>
          <p:nvSpPr>
            <p:cNvPr id="324758" name="Line 5"/>
            <p:cNvSpPr/>
            <p:nvPr/>
          </p:nvSpPr>
          <p:spPr>
            <a:xfrm flipH="1">
              <a:off x="157" y="1467"/>
              <a:ext cx="187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4759" name="Freeform 6"/>
            <p:cNvSpPr/>
            <p:nvPr/>
          </p:nvSpPr>
          <p:spPr>
            <a:xfrm>
              <a:off x="156" y="696"/>
              <a:ext cx="1" cy="786"/>
            </a:xfrm>
            <a:custGeom>
              <a:avLst/>
              <a:gdLst>
                <a:gd name="txL" fmla="*/ 0 w 1"/>
                <a:gd name="txT" fmla="*/ 0 h 786"/>
                <a:gd name="txR" fmla="*/ 1 w 1"/>
                <a:gd name="txB" fmla="*/ 786 h 786"/>
              </a:gdLst>
              <a:ahLst/>
              <a:cxnLst>
                <a:cxn ang="0">
                  <a:pos x="0" y="786"/>
                </a:cxn>
                <a:cxn ang="0">
                  <a:pos x="0" y="0"/>
                </a:cxn>
              </a:cxnLst>
              <a:rect l="txL" t="txT" r="txR" b="txB"/>
              <a:pathLst>
                <a:path w="1" h="786">
                  <a:moveTo>
                    <a:pt x="0" y="786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1760538" y="1108075"/>
            <a:ext cx="3040062" cy="990600"/>
            <a:chOff x="149" y="698"/>
            <a:chExt cx="1915" cy="624"/>
          </a:xfrm>
        </p:grpSpPr>
        <p:sp>
          <p:nvSpPr>
            <p:cNvPr id="324755" name="Freeform 8"/>
            <p:cNvSpPr/>
            <p:nvPr/>
          </p:nvSpPr>
          <p:spPr>
            <a:xfrm>
              <a:off x="1727" y="1321"/>
              <a:ext cx="337" cy="1"/>
            </a:xfrm>
            <a:custGeom>
              <a:avLst/>
              <a:gdLst>
                <a:gd name="txL" fmla="*/ 0 w 336"/>
                <a:gd name="txT" fmla="*/ 0 h 1"/>
                <a:gd name="txR" fmla="*/ 336 w 336"/>
                <a:gd name="txB" fmla="*/ 1 h 1"/>
              </a:gdLst>
              <a:ahLst/>
              <a:cxnLst>
                <a:cxn ang="0">
                  <a:pos x="336" y="0"/>
                </a:cxn>
                <a:cxn ang="0">
                  <a:pos x="0" y="0"/>
                </a:cxn>
              </a:cxnLst>
              <a:rect l="txL" t="txT" r="txR" b="txB"/>
              <a:pathLst>
                <a:path w="336" h="1">
                  <a:moveTo>
                    <a:pt x="336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56" name="Line 9"/>
            <p:cNvSpPr/>
            <p:nvPr/>
          </p:nvSpPr>
          <p:spPr>
            <a:xfrm>
              <a:off x="149" y="698"/>
              <a:ext cx="1589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4757" name="Line 10"/>
            <p:cNvSpPr/>
            <p:nvPr/>
          </p:nvSpPr>
          <p:spPr>
            <a:xfrm>
              <a:off x="1733" y="698"/>
              <a:ext cx="1" cy="62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59083" name="Line 11"/>
          <p:cNvSpPr/>
          <p:nvPr/>
        </p:nvSpPr>
        <p:spPr>
          <a:xfrm flipH="1">
            <a:off x="3733800" y="2414588"/>
            <a:ext cx="1193800" cy="15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9084" name="Line 12"/>
          <p:cNvSpPr/>
          <p:nvPr/>
        </p:nvSpPr>
        <p:spPr>
          <a:xfrm flipH="1">
            <a:off x="3733800" y="2706688"/>
            <a:ext cx="1190625" cy="15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9085" name="Line 13"/>
          <p:cNvSpPr/>
          <p:nvPr/>
        </p:nvSpPr>
        <p:spPr>
          <a:xfrm flipH="1">
            <a:off x="3733800" y="2970213"/>
            <a:ext cx="1190625" cy="1587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4" name="Group 14"/>
          <p:cNvGrpSpPr/>
          <p:nvPr/>
        </p:nvGrpSpPr>
        <p:grpSpPr>
          <a:xfrm>
            <a:off x="7315200" y="2133600"/>
            <a:ext cx="361950" cy="1190625"/>
            <a:chOff x="3648" y="1344"/>
            <a:chExt cx="228" cy="750"/>
          </a:xfrm>
        </p:grpSpPr>
        <p:sp>
          <p:nvSpPr>
            <p:cNvPr id="324753" name="Freeform 15"/>
            <p:cNvSpPr/>
            <p:nvPr/>
          </p:nvSpPr>
          <p:spPr>
            <a:xfrm>
              <a:off x="3651" y="1344"/>
              <a:ext cx="225" cy="1"/>
            </a:xfrm>
            <a:custGeom>
              <a:avLst/>
              <a:gdLst>
                <a:gd name="txL" fmla="*/ 0 w 225"/>
                <a:gd name="txT" fmla="*/ 0 h 1"/>
                <a:gd name="txR" fmla="*/ 225 w 22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25" y="0"/>
                </a:cxn>
              </a:cxnLst>
              <a:rect l="txL" t="txT" r="txR" b="txB"/>
              <a:pathLst>
                <a:path w="225" h="1">
                  <a:moveTo>
                    <a:pt x="0" y="0"/>
                  </a:moveTo>
                  <a:lnTo>
                    <a:pt x="225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54" name="Line 16"/>
            <p:cNvSpPr/>
            <p:nvPr/>
          </p:nvSpPr>
          <p:spPr>
            <a:xfrm>
              <a:off x="3648" y="1344"/>
              <a:ext cx="1" cy="75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5" name="Group 17"/>
          <p:cNvGrpSpPr/>
          <p:nvPr/>
        </p:nvGrpSpPr>
        <p:grpSpPr>
          <a:xfrm>
            <a:off x="4330700" y="4527550"/>
            <a:ext cx="723900" cy="355600"/>
            <a:chOff x="1768" y="2852"/>
            <a:chExt cx="456" cy="224"/>
          </a:xfrm>
        </p:grpSpPr>
        <p:sp>
          <p:nvSpPr>
            <p:cNvPr id="324750" name="Line 18"/>
            <p:cNvSpPr/>
            <p:nvPr/>
          </p:nvSpPr>
          <p:spPr>
            <a:xfrm flipH="1">
              <a:off x="1876" y="2852"/>
              <a:ext cx="348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4751" name="Line 19"/>
            <p:cNvSpPr/>
            <p:nvPr/>
          </p:nvSpPr>
          <p:spPr>
            <a:xfrm>
              <a:off x="1876" y="2852"/>
              <a:ext cx="1" cy="2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4752" name="Rectangle 20"/>
            <p:cNvSpPr/>
            <p:nvPr/>
          </p:nvSpPr>
          <p:spPr>
            <a:xfrm>
              <a:off x="1768" y="3057"/>
              <a:ext cx="187" cy="19"/>
            </a:xfrm>
            <a:prstGeom prst="rect">
              <a:avLst/>
            </a:prstGeom>
            <a:solidFill>
              <a:srgbClr val="000000"/>
            </a:solidFill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21"/>
          <p:cNvGrpSpPr/>
          <p:nvPr/>
        </p:nvGrpSpPr>
        <p:grpSpPr>
          <a:xfrm>
            <a:off x="8296275" y="1952625"/>
            <a:ext cx="314325" cy="2395538"/>
            <a:chOff x="4266" y="1230"/>
            <a:chExt cx="198" cy="1509"/>
          </a:xfrm>
        </p:grpSpPr>
        <p:sp>
          <p:nvSpPr>
            <p:cNvPr id="324748" name="Freeform 22"/>
            <p:cNvSpPr/>
            <p:nvPr/>
          </p:nvSpPr>
          <p:spPr>
            <a:xfrm>
              <a:off x="4266" y="1236"/>
              <a:ext cx="195" cy="1"/>
            </a:xfrm>
            <a:custGeom>
              <a:avLst/>
              <a:gdLst>
                <a:gd name="txL" fmla="*/ 0 w 195"/>
                <a:gd name="txT" fmla="*/ 0 h 1"/>
                <a:gd name="txR" fmla="*/ 195 w 19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195" y="0"/>
                </a:cxn>
              </a:cxnLst>
              <a:rect l="txL" t="txT" r="txR" b="txB"/>
              <a:pathLst>
                <a:path w="195" h="1">
                  <a:moveTo>
                    <a:pt x="0" y="0"/>
                  </a:moveTo>
                  <a:lnTo>
                    <a:pt x="195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49" name="Freeform 23"/>
            <p:cNvSpPr/>
            <p:nvPr/>
          </p:nvSpPr>
          <p:spPr>
            <a:xfrm>
              <a:off x="4462" y="1230"/>
              <a:ext cx="2" cy="1509"/>
            </a:xfrm>
            <a:custGeom>
              <a:avLst/>
              <a:gdLst>
                <a:gd name="txL" fmla="*/ 0 w 3"/>
                <a:gd name="txT" fmla="*/ 0 h 1509"/>
                <a:gd name="txR" fmla="*/ 3 w 3"/>
                <a:gd name="txB" fmla="*/ 1509 h 1509"/>
              </a:gdLst>
              <a:ahLst/>
              <a:cxnLst>
                <a:cxn ang="0">
                  <a:pos x="3" y="0"/>
                </a:cxn>
                <a:cxn ang="0">
                  <a:pos x="0" y="1509"/>
                </a:cxn>
              </a:cxnLst>
              <a:rect l="txL" t="txT" r="txR" b="txB"/>
              <a:pathLst>
                <a:path w="3" h="1509">
                  <a:moveTo>
                    <a:pt x="3" y="0"/>
                  </a:moveTo>
                  <a:lnTo>
                    <a:pt x="0" y="1509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59096" name="Freeform 24"/>
          <p:cNvSpPr/>
          <p:nvPr/>
        </p:nvSpPr>
        <p:spPr>
          <a:xfrm>
            <a:off x="6162675" y="4343400"/>
            <a:ext cx="657225" cy="1588"/>
          </a:xfrm>
          <a:custGeom>
            <a:avLst/>
            <a:gdLst>
              <a:gd name="txL" fmla="*/ 0 w 414"/>
              <a:gd name="txT" fmla="*/ 0 h 1"/>
              <a:gd name="txR" fmla="*/ 414 w 414"/>
              <a:gd name="txB" fmla="*/ 1 h 1"/>
            </a:gdLst>
            <a:ahLst/>
            <a:cxnLst>
              <a:cxn ang="0">
                <a:pos x="414" y="0"/>
              </a:cxn>
              <a:cxn ang="0">
                <a:pos x="0" y="1"/>
              </a:cxn>
            </a:cxnLst>
            <a:rect l="txL" t="txT" r="txR" b="txB"/>
            <a:pathLst>
              <a:path w="414" h="1">
                <a:moveTo>
                  <a:pt x="414" y="0"/>
                </a:moveTo>
                <a:lnTo>
                  <a:pt x="0" y="1"/>
                </a:lnTo>
              </a:path>
            </a:pathLst>
          </a:custGeom>
          <a:solidFill>
            <a:srgbClr val="FFFFFF"/>
          </a:solidFill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" name="Group 25"/>
          <p:cNvGrpSpPr/>
          <p:nvPr/>
        </p:nvGrpSpPr>
        <p:grpSpPr>
          <a:xfrm>
            <a:off x="5054600" y="4191000"/>
            <a:ext cx="1111250" cy="596901"/>
            <a:chOff x="2224" y="2640"/>
            <a:chExt cx="700" cy="376"/>
          </a:xfrm>
        </p:grpSpPr>
        <p:sp>
          <p:nvSpPr>
            <p:cNvPr id="324745" name="Rectangle 26"/>
            <p:cNvSpPr/>
            <p:nvPr/>
          </p:nvSpPr>
          <p:spPr>
            <a:xfrm>
              <a:off x="2224" y="2671"/>
              <a:ext cx="700" cy="30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46" name="Text Box 27"/>
            <p:cNvSpPr txBox="1"/>
            <p:nvPr/>
          </p:nvSpPr>
          <p:spPr>
            <a:xfrm>
              <a:off x="2232" y="2640"/>
              <a:ext cx="66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 2K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×</a:t>
              </a:r>
              <a:r>
                <a:rPr lang="en-US" altLang="zh-CN" b="1" dirty="0">
                  <a:latin typeface="Times New Roman" panose="02020603050405020304" pitchFamily="18" charset="0"/>
                </a:rPr>
                <a:t>8</a:t>
              </a:r>
              <a:r>
                <a:rPr lang="zh-CN" altLang="en-US" b="1" dirty="0">
                  <a:latin typeface="Times New Roman" panose="02020603050405020304" pitchFamily="18" charset="0"/>
                </a:rPr>
                <a:t>位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747" name="Text Box 28"/>
            <p:cNvSpPr txBox="1"/>
            <p:nvPr/>
          </p:nvSpPr>
          <p:spPr>
            <a:xfrm>
              <a:off x="2304" y="2784"/>
              <a:ext cx="50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 ROM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59101" name="Line 29"/>
          <p:cNvSpPr/>
          <p:nvPr/>
        </p:nvSpPr>
        <p:spPr>
          <a:xfrm>
            <a:off x="8169275" y="4343400"/>
            <a:ext cx="852488" cy="1588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8" name="Group 30"/>
          <p:cNvGrpSpPr/>
          <p:nvPr/>
        </p:nvGrpSpPr>
        <p:grpSpPr>
          <a:xfrm>
            <a:off x="3733800" y="4527550"/>
            <a:ext cx="5287963" cy="1649413"/>
            <a:chOff x="1392" y="2852"/>
            <a:chExt cx="3331" cy="1039"/>
          </a:xfrm>
        </p:grpSpPr>
        <p:sp>
          <p:nvSpPr>
            <p:cNvPr id="324740" name="Line 31"/>
            <p:cNvSpPr/>
            <p:nvPr/>
          </p:nvSpPr>
          <p:spPr>
            <a:xfrm flipH="1">
              <a:off x="3137" y="2852"/>
              <a:ext cx="350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4741" name="Line 32"/>
            <p:cNvSpPr/>
            <p:nvPr/>
          </p:nvSpPr>
          <p:spPr>
            <a:xfrm rot="10800000">
              <a:off x="3137" y="2852"/>
              <a:ext cx="1" cy="10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24742" name="Line 33"/>
            <p:cNvSpPr/>
            <p:nvPr/>
          </p:nvSpPr>
          <p:spPr>
            <a:xfrm>
              <a:off x="4373" y="2852"/>
              <a:ext cx="1" cy="103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4743" name="Freeform 34"/>
            <p:cNvSpPr/>
            <p:nvPr/>
          </p:nvSpPr>
          <p:spPr>
            <a:xfrm>
              <a:off x="1392" y="3885"/>
              <a:ext cx="2994" cy="6"/>
            </a:xfrm>
            <a:custGeom>
              <a:avLst/>
              <a:gdLst>
                <a:gd name="txL" fmla="*/ 0 w 2994"/>
                <a:gd name="txT" fmla="*/ 0 h 6"/>
                <a:gd name="txR" fmla="*/ 2994 w 2994"/>
                <a:gd name="txB" fmla="*/ 6 h 6"/>
              </a:gdLst>
              <a:ahLst/>
              <a:cxnLst>
                <a:cxn ang="0">
                  <a:pos x="0" y="6"/>
                </a:cxn>
                <a:cxn ang="0">
                  <a:pos x="2994" y="0"/>
                </a:cxn>
              </a:cxnLst>
              <a:rect l="txL" t="txT" r="txR" b="txB"/>
              <a:pathLst>
                <a:path w="2994" h="6">
                  <a:moveTo>
                    <a:pt x="0" y="6"/>
                  </a:moveTo>
                  <a:lnTo>
                    <a:pt x="2994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44" name="Line 35"/>
            <p:cNvSpPr/>
            <p:nvPr/>
          </p:nvSpPr>
          <p:spPr>
            <a:xfrm flipH="1">
              <a:off x="4373" y="2852"/>
              <a:ext cx="350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" name="Group 36"/>
          <p:cNvGrpSpPr/>
          <p:nvPr/>
        </p:nvGrpSpPr>
        <p:grpSpPr>
          <a:xfrm>
            <a:off x="7042150" y="4205288"/>
            <a:ext cx="3092450" cy="615949"/>
            <a:chOff x="3476" y="2649"/>
            <a:chExt cx="1948" cy="388"/>
          </a:xfrm>
        </p:grpSpPr>
        <p:sp>
          <p:nvSpPr>
            <p:cNvPr id="324734" name="Text Box 37"/>
            <p:cNvSpPr txBox="1"/>
            <p:nvPr/>
          </p:nvSpPr>
          <p:spPr>
            <a:xfrm>
              <a:off x="3504" y="2649"/>
              <a:ext cx="64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</a:rPr>
                <a:t>1K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×</a:t>
              </a:r>
              <a:r>
                <a:rPr lang="en-US" altLang="zh-CN" b="1" dirty="0">
                  <a:latin typeface="Times New Roman" panose="02020603050405020304" pitchFamily="18" charset="0"/>
                </a:rPr>
                <a:t>4</a:t>
              </a:r>
              <a:r>
                <a:rPr lang="zh-CN" altLang="en-US" b="1" dirty="0">
                  <a:latin typeface="Times New Roman" panose="02020603050405020304" pitchFamily="18" charset="0"/>
                </a:rPr>
                <a:t>位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735" name="Rectangle 38"/>
            <p:cNvSpPr/>
            <p:nvPr/>
          </p:nvSpPr>
          <p:spPr>
            <a:xfrm>
              <a:off x="3476" y="2688"/>
              <a:ext cx="700" cy="30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36" name="Text Box 39"/>
            <p:cNvSpPr txBox="1"/>
            <p:nvPr/>
          </p:nvSpPr>
          <p:spPr>
            <a:xfrm>
              <a:off x="3600" y="2784"/>
              <a:ext cx="4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</a:rPr>
                <a:t>RAM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737" name="Rectangle 40"/>
            <p:cNvSpPr/>
            <p:nvPr/>
          </p:nvSpPr>
          <p:spPr>
            <a:xfrm>
              <a:off x="4724" y="2697"/>
              <a:ext cx="700" cy="305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38" name="Text Box 41"/>
            <p:cNvSpPr txBox="1"/>
            <p:nvPr/>
          </p:nvSpPr>
          <p:spPr>
            <a:xfrm>
              <a:off x="4752" y="2670"/>
              <a:ext cx="62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1K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×</a:t>
              </a:r>
              <a:r>
                <a:rPr lang="en-US" altLang="zh-CN" b="1" dirty="0">
                  <a:latin typeface="Times New Roman" panose="02020603050405020304" pitchFamily="18" charset="0"/>
                </a:rPr>
                <a:t>4</a:t>
              </a:r>
              <a:r>
                <a:rPr lang="zh-CN" altLang="en-US" b="1" dirty="0">
                  <a:latin typeface="Times New Roman" panose="02020603050405020304" pitchFamily="18" charset="0"/>
                </a:rPr>
                <a:t>位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739" name="Text Box 42"/>
            <p:cNvSpPr txBox="1"/>
            <p:nvPr/>
          </p:nvSpPr>
          <p:spPr>
            <a:xfrm>
              <a:off x="4848" y="2805"/>
              <a:ext cx="4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</a:rPr>
                <a:t>RAM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" name="Group 43"/>
          <p:cNvGrpSpPr/>
          <p:nvPr/>
        </p:nvGrpSpPr>
        <p:grpSpPr>
          <a:xfrm>
            <a:off x="9196388" y="3530600"/>
            <a:ext cx="711200" cy="750888"/>
            <a:chOff x="4833" y="2224"/>
            <a:chExt cx="448" cy="473"/>
          </a:xfrm>
        </p:grpSpPr>
        <p:sp>
          <p:nvSpPr>
            <p:cNvPr id="324731" name="Freeform 44"/>
            <p:cNvSpPr/>
            <p:nvPr/>
          </p:nvSpPr>
          <p:spPr>
            <a:xfrm>
              <a:off x="4833" y="2224"/>
              <a:ext cx="1" cy="473"/>
            </a:xfrm>
            <a:custGeom>
              <a:avLst/>
              <a:gdLst>
                <a:gd name="txL" fmla="*/ 0 w 1"/>
                <a:gd name="txT" fmla="*/ 0 h 473"/>
                <a:gd name="txR" fmla="*/ 1 w 1"/>
                <a:gd name="txB" fmla="*/ 473 h 473"/>
              </a:gdLst>
              <a:ahLst/>
              <a:cxnLst>
                <a:cxn ang="0">
                  <a:pos x="0" y="0"/>
                </a:cxn>
                <a:cxn ang="0">
                  <a:pos x="0" y="473"/>
                </a:cxn>
              </a:cxnLst>
              <a:rect l="txL" t="txT" r="txR" b="txB"/>
              <a:pathLst>
                <a:path w="1" h="473">
                  <a:moveTo>
                    <a:pt x="0" y="0"/>
                  </a:moveTo>
                  <a:lnTo>
                    <a:pt x="0" y="47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32" name="Freeform 45"/>
            <p:cNvSpPr/>
            <p:nvPr/>
          </p:nvSpPr>
          <p:spPr>
            <a:xfrm>
              <a:off x="5280" y="2496"/>
              <a:ext cx="1" cy="198"/>
            </a:xfrm>
            <a:custGeom>
              <a:avLst/>
              <a:gdLst>
                <a:gd name="txL" fmla="*/ 0 w 1"/>
                <a:gd name="txT" fmla="*/ 0 h 198"/>
                <a:gd name="txR" fmla="*/ 1 w 1"/>
                <a:gd name="txB" fmla="*/ 198 h 198"/>
              </a:gdLst>
              <a:ahLst/>
              <a:cxnLst>
                <a:cxn ang="0">
                  <a:pos x="0" y="0"/>
                </a:cxn>
                <a:cxn ang="0">
                  <a:pos x="0" y="198"/>
                </a:cxn>
              </a:cxnLst>
              <a:rect l="txL" t="txT" r="txR" b="txB"/>
              <a:pathLst>
                <a:path w="1" h="198">
                  <a:moveTo>
                    <a:pt x="0" y="0"/>
                  </a:moveTo>
                  <a:lnTo>
                    <a:pt x="0" y="19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33" name="Text Box 46"/>
            <p:cNvSpPr txBox="1"/>
            <p:nvPr/>
          </p:nvSpPr>
          <p:spPr>
            <a:xfrm>
              <a:off x="4876" y="241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1" name="Group 47"/>
          <p:cNvGrpSpPr/>
          <p:nvPr/>
        </p:nvGrpSpPr>
        <p:grpSpPr>
          <a:xfrm>
            <a:off x="5181600" y="3314700"/>
            <a:ext cx="844550" cy="927100"/>
            <a:chOff x="2304" y="2088"/>
            <a:chExt cx="532" cy="584"/>
          </a:xfrm>
        </p:grpSpPr>
        <p:sp>
          <p:nvSpPr>
            <p:cNvPr id="324728" name="Freeform 48"/>
            <p:cNvSpPr/>
            <p:nvPr/>
          </p:nvSpPr>
          <p:spPr>
            <a:xfrm>
              <a:off x="2304" y="2088"/>
              <a:ext cx="2" cy="584"/>
            </a:xfrm>
            <a:custGeom>
              <a:avLst/>
              <a:gdLst>
                <a:gd name="txL" fmla="*/ 0 w 2"/>
                <a:gd name="txT" fmla="*/ 0 h 584"/>
                <a:gd name="txR" fmla="*/ 2 w 2"/>
                <a:gd name="txB" fmla="*/ 584 h 584"/>
              </a:gdLst>
              <a:ahLst/>
              <a:cxnLst>
                <a:cxn ang="0">
                  <a:pos x="2" y="0"/>
                </a:cxn>
                <a:cxn ang="0">
                  <a:pos x="0" y="584"/>
                </a:cxn>
              </a:cxnLst>
              <a:rect l="txL" t="txT" r="txR" b="txB"/>
              <a:pathLst>
                <a:path w="2" h="584">
                  <a:moveTo>
                    <a:pt x="2" y="0"/>
                  </a:moveTo>
                  <a:lnTo>
                    <a:pt x="0" y="58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29" name="Freeform 49"/>
            <p:cNvSpPr/>
            <p:nvPr/>
          </p:nvSpPr>
          <p:spPr>
            <a:xfrm>
              <a:off x="2835" y="2496"/>
              <a:ext cx="1" cy="171"/>
            </a:xfrm>
            <a:custGeom>
              <a:avLst/>
              <a:gdLst>
                <a:gd name="txL" fmla="*/ 0 w 1"/>
                <a:gd name="txT" fmla="*/ 0 h 171"/>
                <a:gd name="txR" fmla="*/ 1 w 1"/>
                <a:gd name="txB" fmla="*/ 171 h 171"/>
              </a:gdLst>
              <a:ahLst/>
              <a:cxnLst>
                <a:cxn ang="0">
                  <a:pos x="0" y="0"/>
                </a:cxn>
                <a:cxn ang="0">
                  <a:pos x="0" y="171"/>
                </a:cxn>
              </a:cxnLst>
              <a:rect l="txL" t="txT" r="txR" b="txB"/>
              <a:pathLst>
                <a:path w="1" h="171">
                  <a:moveTo>
                    <a:pt x="0" y="0"/>
                  </a:moveTo>
                  <a:lnTo>
                    <a:pt x="0" y="17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30" name="Text Box 50"/>
            <p:cNvSpPr txBox="1"/>
            <p:nvPr/>
          </p:nvSpPr>
          <p:spPr>
            <a:xfrm>
              <a:off x="2400" y="241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" name="Group 51"/>
          <p:cNvGrpSpPr/>
          <p:nvPr/>
        </p:nvGrpSpPr>
        <p:grpSpPr>
          <a:xfrm>
            <a:off x="7213600" y="3529013"/>
            <a:ext cx="787400" cy="738187"/>
            <a:chOff x="3584" y="2223"/>
            <a:chExt cx="496" cy="465"/>
          </a:xfrm>
        </p:grpSpPr>
        <p:sp>
          <p:nvSpPr>
            <p:cNvPr id="324725" name="Freeform 52"/>
            <p:cNvSpPr/>
            <p:nvPr/>
          </p:nvSpPr>
          <p:spPr>
            <a:xfrm>
              <a:off x="3584" y="2223"/>
              <a:ext cx="1" cy="459"/>
            </a:xfrm>
            <a:custGeom>
              <a:avLst/>
              <a:gdLst>
                <a:gd name="txL" fmla="*/ 0 w 1"/>
                <a:gd name="txT" fmla="*/ 0 h 459"/>
                <a:gd name="txR" fmla="*/ 1 w 1"/>
                <a:gd name="txB" fmla="*/ 459 h 459"/>
              </a:gdLst>
              <a:ahLst/>
              <a:cxnLst>
                <a:cxn ang="0">
                  <a:pos x="0" y="0"/>
                </a:cxn>
                <a:cxn ang="0">
                  <a:pos x="0" y="459"/>
                </a:cxn>
              </a:cxnLst>
              <a:rect l="txL" t="txT" r="txR" b="txB"/>
              <a:pathLst>
                <a:path w="1" h="459">
                  <a:moveTo>
                    <a:pt x="0" y="0"/>
                  </a:moveTo>
                  <a:lnTo>
                    <a:pt x="0" y="45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26" name="Line 53"/>
            <p:cNvSpPr/>
            <p:nvPr/>
          </p:nvSpPr>
          <p:spPr>
            <a:xfrm>
              <a:off x="4080" y="2496"/>
              <a:ext cx="0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oval" w="sm" len="sm"/>
              <a:tailEnd type="none" w="med" len="med"/>
            </a:ln>
          </p:spPr>
        </p:sp>
        <p:sp>
          <p:nvSpPr>
            <p:cNvPr id="324727" name="Text Box 54"/>
            <p:cNvSpPr txBox="1"/>
            <p:nvPr/>
          </p:nvSpPr>
          <p:spPr>
            <a:xfrm>
              <a:off x="3648" y="2416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3" name="Group 55"/>
          <p:cNvGrpSpPr/>
          <p:nvPr/>
        </p:nvGrpSpPr>
        <p:grpSpPr>
          <a:xfrm>
            <a:off x="7664450" y="1600200"/>
            <a:ext cx="641350" cy="762000"/>
            <a:chOff x="3868" y="1008"/>
            <a:chExt cx="472" cy="480"/>
          </a:xfrm>
        </p:grpSpPr>
        <p:sp>
          <p:nvSpPr>
            <p:cNvPr id="324720" name="Text Box 56"/>
            <p:cNvSpPr txBox="1"/>
            <p:nvPr/>
          </p:nvSpPr>
          <p:spPr>
            <a:xfrm>
              <a:off x="3936" y="1065"/>
              <a:ext cx="35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&amp;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721" name="Rectangle 57"/>
            <p:cNvSpPr/>
            <p:nvPr/>
          </p:nvSpPr>
          <p:spPr>
            <a:xfrm>
              <a:off x="3936" y="1008"/>
              <a:ext cx="336" cy="480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22" name="Oval 58"/>
            <p:cNvSpPr/>
            <p:nvPr/>
          </p:nvSpPr>
          <p:spPr>
            <a:xfrm>
              <a:off x="3868" y="1178"/>
              <a:ext cx="68" cy="6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23" name="Oval 59"/>
            <p:cNvSpPr/>
            <p:nvPr/>
          </p:nvSpPr>
          <p:spPr>
            <a:xfrm>
              <a:off x="3868" y="1310"/>
              <a:ext cx="68" cy="6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724" name="Oval 60"/>
            <p:cNvSpPr/>
            <p:nvPr/>
          </p:nvSpPr>
          <p:spPr>
            <a:xfrm>
              <a:off x="4272" y="1200"/>
              <a:ext cx="68" cy="6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Group 61"/>
          <p:cNvGrpSpPr/>
          <p:nvPr/>
        </p:nvGrpSpPr>
        <p:grpSpPr>
          <a:xfrm>
            <a:off x="3886200" y="4205288"/>
            <a:ext cx="1219200" cy="368299"/>
            <a:chOff x="1488" y="2649"/>
            <a:chExt cx="768" cy="232"/>
          </a:xfrm>
        </p:grpSpPr>
        <p:sp>
          <p:nvSpPr>
            <p:cNvPr id="324718" name="Text Box 62"/>
            <p:cNvSpPr txBox="1"/>
            <p:nvPr/>
          </p:nvSpPr>
          <p:spPr>
            <a:xfrm>
              <a:off x="1488" y="2649"/>
              <a:ext cx="768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</a:rPr>
                <a:t>PD/Progr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719" name="Line 63"/>
            <p:cNvSpPr/>
            <p:nvPr/>
          </p:nvSpPr>
          <p:spPr>
            <a:xfrm>
              <a:off x="1539" y="2685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5" name="Group 64"/>
          <p:cNvGrpSpPr/>
          <p:nvPr/>
        </p:nvGrpSpPr>
        <p:grpSpPr>
          <a:xfrm>
            <a:off x="5911850" y="1557338"/>
            <a:ext cx="1746250" cy="381000"/>
            <a:chOff x="2764" y="981"/>
            <a:chExt cx="1100" cy="240"/>
          </a:xfrm>
        </p:grpSpPr>
        <p:grpSp>
          <p:nvGrpSpPr>
            <p:cNvPr id="324713" name="Group 65"/>
            <p:cNvGrpSpPr/>
            <p:nvPr/>
          </p:nvGrpSpPr>
          <p:grpSpPr>
            <a:xfrm>
              <a:off x="2826" y="981"/>
              <a:ext cx="1038" cy="232"/>
              <a:chOff x="2826" y="981"/>
              <a:chExt cx="1038" cy="232"/>
            </a:xfrm>
          </p:grpSpPr>
          <p:sp>
            <p:nvSpPr>
              <p:cNvPr id="324715" name="Freeform 66"/>
              <p:cNvSpPr/>
              <p:nvPr/>
            </p:nvSpPr>
            <p:spPr>
              <a:xfrm>
                <a:off x="2826" y="1206"/>
                <a:ext cx="1038" cy="1"/>
              </a:xfrm>
              <a:custGeom>
                <a:avLst/>
                <a:gdLst>
                  <a:gd name="txL" fmla="*/ 0 w 1038"/>
                  <a:gd name="txT" fmla="*/ 0 h 1"/>
                  <a:gd name="txR" fmla="*/ 1038 w 1038"/>
                  <a:gd name="txB" fmla="*/ 1 h 1"/>
                </a:gdLst>
                <a:ahLst/>
                <a:cxnLst>
                  <a:cxn ang="0">
                    <a:pos x="1038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038" h="1">
                    <a:moveTo>
                      <a:pt x="1038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4716" name="Text Box 67"/>
              <p:cNvSpPr txBox="1"/>
              <p:nvPr/>
            </p:nvSpPr>
            <p:spPr>
              <a:xfrm>
                <a:off x="2844" y="981"/>
                <a:ext cx="26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5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4717" name="Line 68"/>
              <p:cNvSpPr/>
              <p:nvPr/>
            </p:nvSpPr>
            <p:spPr>
              <a:xfrm>
                <a:off x="2876" y="1019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4714" name="Oval 69"/>
            <p:cNvSpPr/>
            <p:nvPr/>
          </p:nvSpPr>
          <p:spPr>
            <a:xfrm>
              <a:off x="2764" y="1153"/>
              <a:ext cx="68" cy="6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70"/>
          <p:cNvGrpSpPr/>
          <p:nvPr/>
        </p:nvGrpSpPr>
        <p:grpSpPr>
          <a:xfrm>
            <a:off x="5911850" y="2178050"/>
            <a:ext cx="903288" cy="2170113"/>
            <a:chOff x="2764" y="1372"/>
            <a:chExt cx="569" cy="1367"/>
          </a:xfrm>
        </p:grpSpPr>
        <p:grpSp>
          <p:nvGrpSpPr>
            <p:cNvPr id="324706" name="Group 71"/>
            <p:cNvGrpSpPr/>
            <p:nvPr/>
          </p:nvGrpSpPr>
          <p:grpSpPr>
            <a:xfrm>
              <a:off x="2814" y="1401"/>
              <a:ext cx="519" cy="1338"/>
              <a:chOff x="2814" y="1401"/>
              <a:chExt cx="519" cy="1338"/>
            </a:xfrm>
          </p:grpSpPr>
          <p:grpSp>
            <p:nvGrpSpPr>
              <p:cNvPr id="324708" name="Group 72"/>
              <p:cNvGrpSpPr/>
              <p:nvPr/>
            </p:nvGrpSpPr>
            <p:grpSpPr>
              <a:xfrm>
                <a:off x="2814" y="1401"/>
                <a:ext cx="519" cy="1338"/>
                <a:chOff x="2814" y="1401"/>
                <a:chExt cx="519" cy="1338"/>
              </a:xfrm>
            </p:grpSpPr>
            <p:sp>
              <p:nvSpPr>
                <p:cNvPr id="324711" name="Freeform 73"/>
                <p:cNvSpPr/>
                <p:nvPr/>
              </p:nvSpPr>
              <p:spPr>
                <a:xfrm>
                  <a:off x="2814" y="1401"/>
                  <a:ext cx="519" cy="3"/>
                </a:xfrm>
                <a:custGeom>
                  <a:avLst/>
                  <a:gdLst>
                    <a:gd name="txL" fmla="*/ 0 w 519"/>
                    <a:gd name="txT" fmla="*/ 0 h 3"/>
                    <a:gd name="txR" fmla="*/ 519 w 519"/>
                    <a:gd name="txB" fmla="*/ 3 h 3"/>
                  </a:gdLst>
                  <a:ahLst/>
                  <a:cxnLst>
                    <a:cxn ang="0">
                      <a:pos x="0" y="3"/>
                    </a:cxn>
                    <a:cxn ang="0">
                      <a:pos x="519" y="0"/>
                    </a:cxn>
                  </a:cxnLst>
                  <a:rect l="txL" t="txT" r="txR" b="txB"/>
                  <a:pathLst>
                    <a:path w="519" h="3">
                      <a:moveTo>
                        <a:pt x="0" y="3"/>
                      </a:moveTo>
                      <a:lnTo>
                        <a:pt x="519" y="0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24712" name="Freeform 74"/>
                <p:cNvSpPr/>
                <p:nvPr/>
              </p:nvSpPr>
              <p:spPr>
                <a:xfrm>
                  <a:off x="3324" y="1402"/>
                  <a:ext cx="2" cy="1337"/>
                </a:xfrm>
                <a:custGeom>
                  <a:avLst/>
                  <a:gdLst>
                    <a:gd name="txL" fmla="*/ 0 w 2"/>
                    <a:gd name="txT" fmla="*/ 0 h 1337"/>
                    <a:gd name="txR" fmla="*/ 2 w 2"/>
                    <a:gd name="txB" fmla="*/ 1337 h 1337"/>
                  </a:gdLst>
                  <a:ahLst/>
                  <a:cxnLst>
                    <a:cxn ang="0">
                      <a:pos x="2" y="0"/>
                    </a:cxn>
                    <a:cxn ang="0">
                      <a:pos x="0" y="1337"/>
                    </a:cxn>
                  </a:cxnLst>
                  <a:rect l="txL" t="txT" r="txR" b="txB"/>
                  <a:pathLst>
                    <a:path w="2" h="1337">
                      <a:moveTo>
                        <a:pt x="2" y="0"/>
                      </a:moveTo>
                      <a:lnTo>
                        <a:pt x="0" y="1337"/>
                      </a:lnTo>
                    </a:path>
                  </a:pathLst>
                </a:custGeom>
                <a:solidFill>
                  <a:srgbClr val="FFFFFF"/>
                </a:solidFill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24709" name="Text Box 75"/>
              <p:cNvSpPr txBox="1"/>
              <p:nvPr/>
            </p:nvSpPr>
            <p:spPr>
              <a:xfrm>
                <a:off x="2844" y="1464"/>
                <a:ext cx="26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Y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4710" name="Line 76"/>
              <p:cNvSpPr/>
              <p:nvPr/>
            </p:nvSpPr>
            <p:spPr>
              <a:xfrm>
                <a:off x="2876" y="1490"/>
                <a:ext cx="14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24707" name="Oval 77"/>
            <p:cNvSpPr/>
            <p:nvPr/>
          </p:nvSpPr>
          <p:spPr>
            <a:xfrm>
              <a:off x="2764" y="1372"/>
              <a:ext cx="68" cy="6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0" name="Group 78"/>
          <p:cNvGrpSpPr/>
          <p:nvPr/>
        </p:nvGrpSpPr>
        <p:grpSpPr>
          <a:xfrm>
            <a:off x="4800600" y="1295400"/>
            <a:ext cx="1109663" cy="1892301"/>
            <a:chOff x="2064" y="816"/>
            <a:chExt cx="699" cy="1192"/>
          </a:xfrm>
        </p:grpSpPr>
        <p:sp>
          <p:nvSpPr>
            <p:cNvPr id="324693" name="Rectangle 79"/>
            <p:cNvSpPr/>
            <p:nvPr/>
          </p:nvSpPr>
          <p:spPr>
            <a:xfrm>
              <a:off x="2144" y="816"/>
              <a:ext cx="619" cy="115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94" name="Text Box 80"/>
            <p:cNvSpPr txBox="1"/>
            <p:nvPr/>
          </p:nvSpPr>
          <p:spPr>
            <a:xfrm>
              <a:off x="2120" y="816"/>
              <a:ext cx="27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G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95" name="Text Box 81"/>
            <p:cNvSpPr txBox="1"/>
            <p:nvPr/>
          </p:nvSpPr>
          <p:spPr>
            <a:xfrm>
              <a:off x="2120" y="1409"/>
              <a:ext cx="219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C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696" name="Text Box 82"/>
            <p:cNvSpPr txBox="1"/>
            <p:nvPr/>
          </p:nvSpPr>
          <p:spPr>
            <a:xfrm>
              <a:off x="2120" y="1593"/>
              <a:ext cx="211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B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697" name="Text Box 83"/>
            <p:cNvSpPr txBox="1"/>
            <p:nvPr/>
          </p:nvSpPr>
          <p:spPr>
            <a:xfrm>
              <a:off x="2120" y="1776"/>
              <a:ext cx="22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698" name="Oval 84"/>
            <p:cNvSpPr/>
            <p:nvPr/>
          </p:nvSpPr>
          <p:spPr>
            <a:xfrm>
              <a:off x="2064" y="1099"/>
              <a:ext cx="68" cy="6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99" name="Oval 85"/>
            <p:cNvSpPr/>
            <p:nvPr/>
          </p:nvSpPr>
          <p:spPr>
            <a:xfrm>
              <a:off x="2064" y="1296"/>
              <a:ext cx="68" cy="68"/>
            </a:xfrm>
            <a:prstGeom prst="ellipse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24700" name="Group 86"/>
            <p:cNvGrpSpPr/>
            <p:nvPr/>
          </p:nvGrpSpPr>
          <p:grpSpPr>
            <a:xfrm>
              <a:off x="2137" y="1205"/>
              <a:ext cx="336" cy="232"/>
              <a:chOff x="2137" y="1205"/>
              <a:chExt cx="336" cy="232"/>
            </a:xfrm>
          </p:grpSpPr>
          <p:sp>
            <p:nvSpPr>
              <p:cNvPr id="324704" name="Text Box 87"/>
              <p:cNvSpPr txBox="1"/>
              <p:nvPr/>
            </p:nvSpPr>
            <p:spPr>
              <a:xfrm>
                <a:off x="2137" y="1205"/>
                <a:ext cx="336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G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2B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4705" name="Freeform 88"/>
              <p:cNvSpPr/>
              <p:nvPr/>
            </p:nvSpPr>
            <p:spPr>
              <a:xfrm>
                <a:off x="2184" y="1255"/>
                <a:ext cx="120" cy="1"/>
              </a:xfrm>
              <a:custGeom>
                <a:avLst/>
                <a:gdLst>
                  <a:gd name="txL" fmla="*/ 0 w 207"/>
                  <a:gd name="txT" fmla="*/ 0 h 1"/>
                  <a:gd name="txR" fmla="*/ 207 w 20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207" y="0"/>
                  </a:cxn>
                </a:cxnLst>
                <a:rect l="txL" t="txT" r="txR" b="txB"/>
                <a:pathLst>
                  <a:path w="207" h="1">
                    <a:moveTo>
                      <a:pt x="0" y="0"/>
                    </a:moveTo>
                    <a:lnTo>
                      <a:pt x="207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24701" name="Group 89"/>
            <p:cNvGrpSpPr/>
            <p:nvPr/>
          </p:nvGrpSpPr>
          <p:grpSpPr>
            <a:xfrm>
              <a:off x="2132" y="1004"/>
              <a:ext cx="342" cy="232"/>
              <a:chOff x="2132" y="1004"/>
              <a:chExt cx="342" cy="232"/>
            </a:xfrm>
          </p:grpSpPr>
          <p:sp>
            <p:nvSpPr>
              <p:cNvPr id="324702" name="Text Box 90"/>
              <p:cNvSpPr txBox="1"/>
              <p:nvPr/>
            </p:nvSpPr>
            <p:spPr>
              <a:xfrm>
                <a:off x="2132" y="1004"/>
                <a:ext cx="342" cy="2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b="1" dirty="0">
                    <a:latin typeface="Times New Roman" panose="02020603050405020304" pitchFamily="18" charset="0"/>
                  </a:rPr>
                  <a:t>G</a:t>
                </a:r>
                <a:r>
                  <a:rPr lang="en-US" altLang="zh-CN" b="1" baseline="-25000" dirty="0">
                    <a:latin typeface="Times New Roman" panose="02020603050405020304" pitchFamily="18" charset="0"/>
                  </a:rPr>
                  <a:t>2A</a:t>
                </a:r>
                <a:endParaRPr lang="en-US" altLang="zh-CN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4703" name="Freeform 91"/>
              <p:cNvSpPr/>
              <p:nvPr/>
            </p:nvSpPr>
            <p:spPr>
              <a:xfrm>
                <a:off x="2184" y="1051"/>
                <a:ext cx="120" cy="1"/>
              </a:xfrm>
              <a:custGeom>
                <a:avLst/>
                <a:gdLst>
                  <a:gd name="txL" fmla="*/ 0 w 204"/>
                  <a:gd name="txT" fmla="*/ 0 h 1"/>
                  <a:gd name="txR" fmla="*/ 204 w 204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204" y="0"/>
                  </a:cxn>
                </a:cxnLst>
                <a:rect l="txL" t="txT" r="txR" b="txB"/>
                <a:pathLst>
                  <a:path w="204" h="1">
                    <a:moveTo>
                      <a:pt x="0" y="0"/>
                    </a:moveTo>
                    <a:lnTo>
                      <a:pt x="204" y="0"/>
                    </a:lnTo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3" name="Group 92"/>
          <p:cNvGrpSpPr/>
          <p:nvPr/>
        </p:nvGrpSpPr>
        <p:grpSpPr>
          <a:xfrm>
            <a:off x="3733800" y="4999038"/>
            <a:ext cx="6737350" cy="919162"/>
            <a:chOff x="1392" y="3149"/>
            <a:chExt cx="4244" cy="579"/>
          </a:xfrm>
        </p:grpSpPr>
        <p:sp>
          <p:nvSpPr>
            <p:cNvPr id="324687" name="Line 93"/>
            <p:cNvSpPr/>
            <p:nvPr/>
          </p:nvSpPr>
          <p:spPr>
            <a:xfrm>
              <a:off x="1392" y="3149"/>
              <a:ext cx="2873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4688" name="Line 94"/>
            <p:cNvSpPr/>
            <p:nvPr/>
          </p:nvSpPr>
          <p:spPr>
            <a:xfrm>
              <a:off x="1392" y="3725"/>
              <a:ext cx="4244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4689" name="Line 95"/>
            <p:cNvSpPr/>
            <p:nvPr/>
          </p:nvSpPr>
          <p:spPr>
            <a:xfrm>
              <a:off x="1392" y="3363"/>
              <a:ext cx="2873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4690" name="Line 96"/>
            <p:cNvSpPr/>
            <p:nvPr/>
          </p:nvSpPr>
          <p:spPr>
            <a:xfrm>
              <a:off x="1392" y="3528"/>
              <a:ext cx="4244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4691" name="Text Box 97"/>
            <p:cNvSpPr txBox="1"/>
            <p:nvPr/>
          </p:nvSpPr>
          <p:spPr>
            <a:xfrm>
              <a:off x="1515" y="3168"/>
              <a:ext cx="30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692" name="Text Box 98"/>
            <p:cNvSpPr txBox="1"/>
            <p:nvPr/>
          </p:nvSpPr>
          <p:spPr>
            <a:xfrm>
              <a:off x="1515" y="3536"/>
              <a:ext cx="309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" name="Group 99"/>
          <p:cNvGrpSpPr/>
          <p:nvPr/>
        </p:nvGrpSpPr>
        <p:grpSpPr>
          <a:xfrm>
            <a:off x="2057400" y="1295400"/>
            <a:ext cx="1681163" cy="5257800"/>
            <a:chOff x="336" y="816"/>
            <a:chExt cx="1059" cy="3312"/>
          </a:xfrm>
        </p:grpSpPr>
        <p:sp>
          <p:nvSpPr>
            <p:cNvPr id="324669" name="Rectangle 100"/>
            <p:cNvSpPr/>
            <p:nvPr/>
          </p:nvSpPr>
          <p:spPr>
            <a:xfrm>
              <a:off x="344" y="816"/>
              <a:ext cx="1051" cy="331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70" name="Freeform 101"/>
            <p:cNvSpPr/>
            <p:nvPr/>
          </p:nvSpPr>
          <p:spPr>
            <a:xfrm>
              <a:off x="368" y="1425"/>
              <a:ext cx="474" cy="1"/>
            </a:xfrm>
            <a:custGeom>
              <a:avLst/>
              <a:gdLst>
                <a:gd name="txL" fmla="*/ 0 w 474"/>
                <a:gd name="txT" fmla="*/ 0 h 1"/>
                <a:gd name="txR" fmla="*/ 474 w 474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474" y="0"/>
                </a:cxn>
              </a:cxnLst>
              <a:rect l="txL" t="txT" r="txR" b="txB"/>
              <a:pathLst>
                <a:path w="474" h="1">
                  <a:moveTo>
                    <a:pt x="0" y="0"/>
                  </a:moveTo>
                  <a:lnTo>
                    <a:pt x="474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71" name="Text Box 102"/>
            <p:cNvSpPr txBox="1"/>
            <p:nvPr/>
          </p:nvSpPr>
          <p:spPr>
            <a:xfrm>
              <a:off x="336" y="1392"/>
              <a:ext cx="56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MREQ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672" name="Text Box 103"/>
            <p:cNvSpPr txBox="1"/>
            <p:nvPr/>
          </p:nvSpPr>
          <p:spPr>
            <a:xfrm>
              <a:off x="1008" y="816"/>
              <a:ext cx="31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14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73" name="Text Box 104"/>
            <p:cNvSpPr txBox="1"/>
            <p:nvPr/>
          </p:nvSpPr>
          <p:spPr>
            <a:xfrm>
              <a:off x="1008" y="1008"/>
              <a:ext cx="31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15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74" name="Text Box 105"/>
            <p:cNvSpPr txBox="1"/>
            <p:nvPr/>
          </p:nvSpPr>
          <p:spPr>
            <a:xfrm>
              <a:off x="1008" y="1342"/>
              <a:ext cx="31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13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75" name="Text Box 106"/>
            <p:cNvSpPr txBox="1"/>
            <p:nvPr/>
          </p:nvSpPr>
          <p:spPr>
            <a:xfrm>
              <a:off x="1008" y="1534"/>
              <a:ext cx="31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12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76" name="Text Box 107"/>
            <p:cNvSpPr txBox="1"/>
            <p:nvPr/>
          </p:nvSpPr>
          <p:spPr>
            <a:xfrm>
              <a:off x="1008" y="1726"/>
              <a:ext cx="30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11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77" name="Text Box 108"/>
            <p:cNvSpPr txBox="1"/>
            <p:nvPr/>
          </p:nvSpPr>
          <p:spPr>
            <a:xfrm>
              <a:off x="1008" y="1918"/>
              <a:ext cx="31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10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78" name="Text Box 109"/>
            <p:cNvSpPr txBox="1"/>
            <p:nvPr/>
          </p:nvSpPr>
          <p:spPr>
            <a:xfrm>
              <a:off x="1008" y="2088"/>
              <a:ext cx="26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9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79" name="Text Box 110"/>
            <p:cNvSpPr txBox="1"/>
            <p:nvPr/>
          </p:nvSpPr>
          <p:spPr>
            <a:xfrm>
              <a:off x="1008" y="2361"/>
              <a:ext cx="26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A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80" name="Text Box 111"/>
            <p:cNvSpPr txBox="1"/>
            <p:nvPr/>
          </p:nvSpPr>
          <p:spPr>
            <a:xfrm>
              <a:off x="1029" y="2251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681" name="Text Box 112"/>
            <p:cNvSpPr txBox="1"/>
            <p:nvPr/>
          </p:nvSpPr>
          <p:spPr>
            <a:xfrm>
              <a:off x="1056" y="3000"/>
              <a:ext cx="26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7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82" name="Text Box 113"/>
            <p:cNvSpPr txBox="1"/>
            <p:nvPr/>
          </p:nvSpPr>
          <p:spPr>
            <a:xfrm>
              <a:off x="1056" y="3192"/>
              <a:ext cx="26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83" name="Text Box 114"/>
            <p:cNvSpPr txBox="1"/>
            <p:nvPr/>
          </p:nvSpPr>
          <p:spPr>
            <a:xfrm>
              <a:off x="1056" y="3384"/>
              <a:ext cx="26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84" name="Text Box 115"/>
            <p:cNvSpPr txBox="1"/>
            <p:nvPr/>
          </p:nvSpPr>
          <p:spPr>
            <a:xfrm>
              <a:off x="1056" y="3576"/>
              <a:ext cx="26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D</a:t>
              </a:r>
              <a:r>
                <a:rPr lang="en-US" altLang="zh-CN" b="1" baseline="-25000" dirty="0">
                  <a:latin typeface="Times New Roman" panose="02020603050405020304" pitchFamily="18" charset="0"/>
                </a:rPr>
                <a:t>0</a:t>
              </a:r>
              <a:endParaRPr lang="en-US" altLang="zh-CN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24685" name="Text Box 116"/>
            <p:cNvSpPr txBox="1"/>
            <p:nvPr/>
          </p:nvSpPr>
          <p:spPr>
            <a:xfrm>
              <a:off x="1008" y="3792"/>
              <a:ext cx="36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WR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686" name="Freeform 117"/>
            <p:cNvSpPr/>
            <p:nvPr/>
          </p:nvSpPr>
          <p:spPr>
            <a:xfrm>
              <a:off x="1056" y="3834"/>
              <a:ext cx="243" cy="1"/>
            </a:xfrm>
            <a:custGeom>
              <a:avLst/>
              <a:gdLst>
                <a:gd name="txL" fmla="*/ 0 w 243"/>
                <a:gd name="txT" fmla="*/ 0 h 1"/>
                <a:gd name="txR" fmla="*/ 243 w 243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243" y="0"/>
                </a:cxn>
              </a:cxnLst>
              <a:rect l="txL" t="txT" r="txR" b="txB"/>
              <a:pathLst>
                <a:path w="243" h="1">
                  <a:moveTo>
                    <a:pt x="0" y="1"/>
                  </a:moveTo>
                  <a:lnTo>
                    <a:pt x="243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118"/>
          <p:cNvGrpSpPr/>
          <p:nvPr/>
        </p:nvGrpSpPr>
        <p:grpSpPr>
          <a:xfrm>
            <a:off x="9196388" y="4752975"/>
            <a:ext cx="711200" cy="1162050"/>
            <a:chOff x="4833" y="2994"/>
            <a:chExt cx="448" cy="732"/>
          </a:xfrm>
        </p:grpSpPr>
        <p:sp>
          <p:nvSpPr>
            <p:cNvPr id="324666" name="Freeform 119"/>
            <p:cNvSpPr/>
            <p:nvPr/>
          </p:nvSpPr>
          <p:spPr>
            <a:xfrm>
              <a:off x="4833" y="2994"/>
              <a:ext cx="1" cy="510"/>
            </a:xfrm>
            <a:custGeom>
              <a:avLst/>
              <a:gdLst>
                <a:gd name="txL" fmla="*/ 0 w 1"/>
                <a:gd name="txT" fmla="*/ 0 h 510"/>
                <a:gd name="txR" fmla="*/ 1 w 1"/>
                <a:gd name="txB" fmla="*/ 510 h 510"/>
              </a:gdLst>
              <a:ahLst/>
              <a:cxnLst>
                <a:cxn ang="0">
                  <a:pos x="0" y="0"/>
                </a:cxn>
                <a:cxn ang="0">
                  <a:pos x="1" y="510"/>
                </a:cxn>
              </a:cxnLst>
              <a:rect l="txL" t="txT" r="txR" b="txB"/>
              <a:pathLst>
                <a:path w="1" h="510">
                  <a:moveTo>
                    <a:pt x="0" y="0"/>
                  </a:moveTo>
                  <a:lnTo>
                    <a:pt x="1" y="51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67" name="Freeform 120"/>
            <p:cNvSpPr/>
            <p:nvPr/>
          </p:nvSpPr>
          <p:spPr>
            <a:xfrm>
              <a:off x="5280" y="3000"/>
              <a:ext cx="1" cy="726"/>
            </a:xfrm>
            <a:custGeom>
              <a:avLst/>
              <a:gdLst>
                <a:gd name="txL" fmla="*/ 0 w 1"/>
                <a:gd name="txT" fmla="*/ 0 h 726"/>
                <a:gd name="txR" fmla="*/ 1 w 1"/>
                <a:gd name="txB" fmla="*/ 726 h 726"/>
              </a:gdLst>
              <a:ahLst/>
              <a:cxnLst>
                <a:cxn ang="0">
                  <a:pos x="0" y="0"/>
                </a:cxn>
                <a:cxn ang="0">
                  <a:pos x="0" y="726"/>
                </a:cxn>
              </a:cxnLst>
              <a:rect l="txL" t="txT" r="txR" b="txB"/>
              <a:pathLst>
                <a:path w="1" h="726">
                  <a:moveTo>
                    <a:pt x="0" y="0"/>
                  </a:moveTo>
                  <a:lnTo>
                    <a:pt x="0" y="72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sm" len="sm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68" name="Text Box 121"/>
            <p:cNvSpPr txBox="1"/>
            <p:nvPr/>
          </p:nvSpPr>
          <p:spPr>
            <a:xfrm>
              <a:off x="4876" y="3069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" name="Group 122"/>
          <p:cNvGrpSpPr/>
          <p:nvPr/>
        </p:nvGrpSpPr>
        <p:grpSpPr>
          <a:xfrm>
            <a:off x="7213600" y="4616450"/>
            <a:ext cx="788988" cy="717550"/>
            <a:chOff x="3584" y="2908"/>
            <a:chExt cx="497" cy="452"/>
          </a:xfrm>
        </p:grpSpPr>
        <p:sp>
          <p:nvSpPr>
            <p:cNvPr id="324663" name="Freeform 123"/>
            <p:cNvSpPr/>
            <p:nvPr/>
          </p:nvSpPr>
          <p:spPr>
            <a:xfrm>
              <a:off x="3584" y="2994"/>
              <a:ext cx="1" cy="150"/>
            </a:xfrm>
            <a:custGeom>
              <a:avLst/>
              <a:gdLst>
                <a:gd name="txL" fmla="*/ 0 w 1"/>
                <a:gd name="txT" fmla="*/ 0 h 150"/>
                <a:gd name="txR" fmla="*/ 1 w 1"/>
                <a:gd name="txB" fmla="*/ 150 h 150"/>
              </a:gdLst>
              <a:ahLst/>
              <a:cxnLst>
                <a:cxn ang="0">
                  <a:pos x="0" y="0"/>
                </a:cxn>
                <a:cxn ang="0">
                  <a:pos x="1" y="150"/>
                </a:cxn>
              </a:cxnLst>
              <a:rect l="txL" t="txT" r="txR" b="txB"/>
              <a:pathLst>
                <a:path w="1" h="150">
                  <a:moveTo>
                    <a:pt x="0" y="0"/>
                  </a:moveTo>
                  <a:lnTo>
                    <a:pt x="1" y="15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64" name="Freeform 124"/>
            <p:cNvSpPr/>
            <p:nvPr/>
          </p:nvSpPr>
          <p:spPr>
            <a:xfrm>
              <a:off x="4080" y="2994"/>
              <a:ext cx="1" cy="366"/>
            </a:xfrm>
            <a:custGeom>
              <a:avLst/>
              <a:gdLst>
                <a:gd name="txL" fmla="*/ 0 w 1"/>
                <a:gd name="txT" fmla="*/ 0 h 366"/>
                <a:gd name="txR" fmla="*/ 1 w 1"/>
                <a:gd name="txB" fmla="*/ 366 h 366"/>
              </a:gdLst>
              <a:ahLst/>
              <a:cxnLst>
                <a:cxn ang="0">
                  <a:pos x="0" y="0"/>
                </a:cxn>
                <a:cxn ang="0">
                  <a:pos x="0" y="366"/>
                </a:cxn>
              </a:cxnLst>
              <a:rect l="txL" t="txT" r="txR" b="txB"/>
              <a:pathLst>
                <a:path w="1" h="366">
                  <a:moveTo>
                    <a:pt x="0" y="0"/>
                  </a:moveTo>
                  <a:lnTo>
                    <a:pt x="0" y="36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65" name="Text Box 125"/>
            <p:cNvSpPr txBox="1"/>
            <p:nvPr/>
          </p:nvSpPr>
          <p:spPr>
            <a:xfrm>
              <a:off x="3648" y="290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7" name="Group 126"/>
          <p:cNvGrpSpPr/>
          <p:nvPr/>
        </p:nvGrpSpPr>
        <p:grpSpPr>
          <a:xfrm>
            <a:off x="5181600" y="4616450"/>
            <a:ext cx="844550" cy="1270000"/>
            <a:chOff x="2304" y="2908"/>
            <a:chExt cx="532" cy="800"/>
          </a:xfrm>
        </p:grpSpPr>
        <p:sp>
          <p:nvSpPr>
            <p:cNvPr id="324660" name="Line 127"/>
            <p:cNvSpPr/>
            <p:nvPr/>
          </p:nvSpPr>
          <p:spPr>
            <a:xfrm>
              <a:off x="2304" y="2976"/>
              <a:ext cx="0" cy="16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oval" w="sm" len="sm"/>
            </a:ln>
          </p:spPr>
        </p:sp>
        <p:sp>
          <p:nvSpPr>
            <p:cNvPr id="324661" name="Text Box 128"/>
            <p:cNvSpPr txBox="1"/>
            <p:nvPr/>
          </p:nvSpPr>
          <p:spPr>
            <a:xfrm>
              <a:off x="2400" y="290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4662" name="Freeform 129"/>
            <p:cNvSpPr/>
            <p:nvPr/>
          </p:nvSpPr>
          <p:spPr>
            <a:xfrm>
              <a:off x="2835" y="2976"/>
              <a:ext cx="1" cy="732"/>
            </a:xfrm>
            <a:custGeom>
              <a:avLst/>
              <a:gdLst>
                <a:gd name="txL" fmla="*/ 0 w 1"/>
                <a:gd name="txT" fmla="*/ 0 h 732"/>
                <a:gd name="txR" fmla="*/ 1 w 1"/>
                <a:gd name="txB" fmla="*/ 732 h 732"/>
              </a:gdLst>
              <a:ahLst/>
              <a:cxnLst>
                <a:cxn ang="0">
                  <a:pos x="0" y="0"/>
                </a:cxn>
                <a:cxn ang="0">
                  <a:pos x="0" y="732"/>
                </a:cxn>
              </a:cxnLst>
              <a:rect l="txL" t="txT" r="txR" b="txB"/>
              <a:pathLst>
                <a:path w="1" h="732">
                  <a:moveTo>
                    <a:pt x="0" y="0"/>
                  </a:moveTo>
                  <a:lnTo>
                    <a:pt x="0" y="73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8" name="Group 130"/>
          <p:cNvGrpSpPr/>
          <p:nvPr/>
        </p:nvGrpSpPr>
        <p:grpSpPr>
          <a:xfrm>
            <a:off x="3733800" y="3324225"/>
            <a:ext cx="6396038" cy="627063"/>
            <a:chOff x="1392" y="2094"/>
            <a:chExt cx="4029" cy="395"/>
          </a:xfrm>
        </p:grpSpPr>
        <p:sp>
          <p:nvSpPr>
            <p:cNvPr id="324655" name="Freeform 131"/>
            <p:cNvSpPr/>
            <p:nvPr/>
          </p:nvSpPr>
          <p:spPr>
            <a:xfrm>
              <a:off x="1392" y="2094"/>
              <a:ext cx="2265" cy="1"/>
            </a:xfrm>
            <a:custGeom>
              <a:avLst/>
              <a:gdLst>
                <a:gd name="txL" fmla="*/ 0 w 2265"/>
                <a:gd name="txT" fmla="*/ 0 h 1"/>
                <a:gd name="txR" fmla="*/ 2265 w 226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265" y="0"/>
                </a:cxn>
              </a:cxnLst>
              <a:rect l="txL" t="txT" r="txR" b="txB"/>
              <a:pathLst>
                <a:path w="2265" h="1">
                  <a:moveTo>
                    <a:pt x="0" y="0"/>
                  </a:moveTo>
                  <a:lnTo>
                    <a:pt x="2265" y="0"/>
                  </a:lnTo>
                </a:path>
              </a:pathLst>
            </a:custGeom>
            <a:solidFill>
              <a:srgbClr val="FFFFFF"/>
            </a:solidFill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24656" name="Group 132"/>
            <p:cNvGrpSpPr/>
            <p:nvPr/>
          </p:nvGrpSpPr>
          <p:grpSpPr>
            <a:xfrm>
              <a:off x="1392" y="2229"/>
              <a:ext cx="4029" cy="260"/>
              <a:chOff x="1392" y="2229"/>
              <a:chExt cx="4029" cy="260"/>
            </a:xfrm>
          </p:grpSpPr>
          <p:sp>
            <p:nvSpPr>
              <p:cNvPr id="324657" name="Freeform 133"/>
              <p:cNvSpPr/>
              <p:nvPr/>
            </p:nvSpPr>
            <p:spPr>
              <a:xfrm>
                <a:off x="1395" y="2229"/>
                <a:ext cx="4026" cy="5"/>
              </a:xfrm>
              <a:custGeom>
                <a:avLst/>
                <a:gdLst>
                  <a:gd name="txL" fmla="*/ 0 w 4026"/>
                  <a:gd name="txT" fmla="*/ 0 h 5"/>
                  <a:gd name="txR" fmla="*/ 4026 w 4026"/>
                  <a:gd name="txB" fmla="*/ 5 h 5"/>
                </a:gdLst>
                <a:ahLst/>
                <a:cxnLst>
                  <a:cxn ang="0">
                    <a:pos x="0" y="0"/>
                  </a:cxn>
                  <a:cxn ang="0">
                    <a:pos x="4026" y="5"/>
                  </a:cxn>
                </a:cxnLst>
                <a:rect l="txL" t="txT" r="txR" b="txB"/>
                <a:pathLst>
                  <a:path w="4026" h="5">
                    <a:moveTo>
                      <a:pt x="0" y="0"/>
                    </a:moveTo>
                    <a:lnTo>
                      <a:pt x="4026" y="5"/>
                    </a:lnTo>
                  </a:path>
                </a:pathLst>
              </a:custGeom>
              <a:solidFill>
                <a:srgbClr val="FFFFFF"/>
              </a:solidFill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4658" name="Line 134"/>
              <p:cNvSpPr/>
              <p:nvPr/>
            </p:nvSpPr>
            <p:spPr>
              <a:xfrm>
                <a:off x="1392" y="2488"/>
                <a:ext cx="4029" cy="1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4659" name="Text Box 135"/>
              <p:cNvSpPr txBox="1"/>
              <p:nvPr/>
            </p:nvSpPr>
            <p:spPr>
              <a:xfrm>
                <a:off x="1515" y="2276"/>
                <a:ext cx="309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24639" name="Text Box 136"/>
          <p:cNvSpPr txBox="1"/>
          <p:nvPr/>
        </p:nvSpPr>
        <p:spPr>
          <a:xfrm>
            <a:off x="2057400" y="304800"/>
            <a:ext cx="7924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Times New Roman" panose="02020603050405020304" pitchFamily="18" charset="0"/>
              </a:rPr>
              <a:t>例 </a:t>
            </a:r>
            <a:r>
              <a:rPr lang="en-US" altLang="zh-CN" sz="3600" b="1" dirty="0">
                <a:latin typeface="Times New Roman" panose="02020603050405020304" pitchFamily="18" charset="0"/>
              </a:rPr>
              <a:t>4.1 </a:t>
            </a:r>
            <a:r>
              <a:rPr lang="en-US" altLang="zh-CN" sz="3200" b="1" dirty="0">
                <a:latin typeface="Times New Roman" panose="02020603050405020304" pitchFamily="18" charset="0"/>
              </a:rPr>
              <a:t> CPU </a:t>
            </a:r>
            <a:r>
              <a:rPr lang="zh-CN" altLang="en-US" sz="3200" b="1" dirty="0">
                <a:latin typeface="Times New Roman" panose="02020603050405020304" pitchFamily="18" charset="0"/>
              </a:rPr>
              <a:t>与存储器的连接图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59209" name="Rectangle 13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0" name="Group 138"/>
          <p:cNvGrpSpPr/>
          <p:nvPr/>
        </p:nvGrpSpPr>
        <p:grpSpPr>
          <a:xfrm>
            <a:off x="5181600" y="4616450"/>
            <a:ext cx="854075" cy="1308100"/>
            <a:chOff x="2304" y="2908"/>
            <a:chExt cx="538" cy="824"/>
          </a:xfrm>
        </p:grpSpPr>
        <p:sp>
          <p:nvSpPr>
            <p:cNvPr id="324652" name="Freeform 139"/>
            <p:cNvSpPr/>
            <p:nvPr/>
          </p:nvSpPr>
          <p:spPr>
            <a:xfrm>
              <a:off x="2304" y="2979"/>
              <a:ext cx="3" cy="195"/>
            </a:xfrm>
            <a:custGeom>
              <a:avLst/>
              <a:gdLst>
                <a:gd name="txL" fmla="*/ 0 w 3"/>
                <a:gd name="txT" fmla="*/ 0 h 195"/>
                <a:gd name="txR" fmla="*/ 3 w 3"/>
                <a:gd name="txB" fmla="*/ 195 h 195"/>
              </a:gdLst>
              <a:ahLst/>
              <a:cxnLst>
                <a:cxn ang="0">
                  <a:pos x="3" y="0"/>
                </a:cxn>
                <a:cxn ang="0">
                  <a:pos x="0" y="195"/>
                </a:cxn>
              </a:cxnLst>
              <a:rect l="txL" t="txT" r="txR" b="txB"/>
              <a:pathLst>
                <a:path w="3" h="195">
                  <a:moveTo>
                    <a:pt x="3" y="0"/>
                  </a:moveTo>
                  <a:lnTo>
                    <a:pt x="0" y="195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53" name="Text Box 140"/>
            <p:cNvSpPr txBox="1"/>
            <p:nvPr/>
          </p:nvSpPr>
          <p:spPr>
            <a:xfrm>
              <a:off x="2400" y="290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4654" name="Freeform 141"/>
            <p:cNvSpPr/>
            <p:nvPr/>
          </p:nvSpPr>
          <p:spPr>
            <a:xfrm>
              <a:off x="2841" y="2979"/>
              <a:ext cx="1" cy="753"/>
            </a:xfrm>
            <a:custGeom>
              <a:avLst/>
              <a:gdLst>
                <a:gd name="txL" fmla="*/ 0 w 1"/>
                <a:gd name="txT" fmla="*/ 0 h 753"/>
                <a:gd name="txR" fmla="*/ 1 w 1"/>
                <a:gd name="txB" fmla="*/ 753 h 753"/>
              </a:gdLst>
              <a:ahLst/>
              <a:cxnLst>
                <a:cxn ang="0">
                  <a:pos x="0" y="0"/>
                </a:cxn>
                <a:cxn ang="0">
                  <a:pos x="0" y="753"/>
                </a:cxn>
              </a:cxnLst>
              <a:rect l="txL" t="txT" r="txR" b="txB"/>
              <a:pathLst>
                <a:path w="1" h="753">
                  <a:moveTo>
                    <a:pt x="0" y="0"/>
                  </a:moveTo>
                  <a:lnTo>
                    <a:pt x="0" y="753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1" name="Group 142"/>
          <p:cNvGrpSpPr/>
          <p:nvPr/>
        </p:nvGrpSpPr>
        <p:grpSpPr>
          <a:xfrm>
            <a:off x="7213600" y="4616450"/>
            <a:ext cx="782638" cy="765175"/>
            <a:chOff x="3584" y="2908"/>
            <a:chExt cx="493" cy="482"/>
          </a:xfrm>
        </p:grpSpPr>
        <p:sp>
          <p:nvSpPr>
            <p:cNvPr id="324649" name="Freeform 143"/>
            <p:cNvSpPr/>
            <p:nvPr/>
          </p:nvSpPr>
          <p:spPr>
            <a:xfrm>
              <a:off x="3584" y="2988"/>
              <a:ext cx="1" cy="198"/>
            </a:xfrm>
            <a:custGeom>
              <a:avLst/>
              <a:gdLst>
                <a:gd name="txL" fmla="*/ 0 w 1"/>
                <a:gd name="txT" fmla="*/ 0 h 198"/>
                <a:gd name="txR" fmla="*/ 1 w 1"/>
                <a:gd name="txB" fmla="*/ 198 h 198"/>
              </a:gdLst>
              <a:ahLst/>
              <a:cxnLst>
                <a:cxn ang="0">
                  <a:pos x="0" y="0"/>
                </a:cxn>
                <a:cxn ang="0">
                  <a:pos x="0" y="198"/>
                </a:cxn>
              </a:cxnLst>
              <a:rect l="txL" t="txT" r="txR" b="txB"/>
              <a:pathLst>
                <a:path w="1" h="198">
                  <a:moveTo>
                    <a:pt x="0" y="0"/>
                  </a:moveTo>
                  <a:lnTo>
                    <a:pt x="0" y="198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stealth" w="sm" len="sm"/>
              <a:tailEnd type="stealth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50" name="Text Box 144"/>
            <p:cNvSpPr txBox="1"/>
            <p:nvPr/>
          </p:nvSpPr>
          <p:spPr>
            <a:xfrm>
              <a:off x="3648" y="290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4651" name="Freeform 145"/>
            <p:cNvSpPr/>
            <p:nvPr/>
          </p:nvSpPr>
          <p:spPr>
            <a:xfrm>
              <a:off x="4074" y="2991"/>
              <a:ext cx="3" cy="399"/>
            </a:xfrm>
            <a:custGeom>
              <a:avLst/>
              <a:gdLst>
                <a:gd name="txL" fmla="*/ 0 w 3"/>
                <a:gd name="txT" fmla="*/ 0 h 375"/>
                <a:gd name="txR" fmla="*/ 3 w 3"/>
                <a:gd name="txB" fmla="*/ 375 h 375"/>
              </a:gdLst>
              <a:ahLst/>
              <a:cxnLst>
                <a:cxn ang="0">
                  <a:pos x="3" y="0"/>
                </a:cxn>
                <a:cxn ang="0">
                  <a:pos x="0" y="375"/>
                </a:cxn>
              </a:cxnLst>
              <a:rect l="txL" t="txT" r="txR" b="txB"/>
              <a:pathLst>
                <a:path w="3" h="375">
                  <a:moveTo>
                    <a:pt x="3" y="0"/>
                  </a:moveTo>
                  <a:lnTo>
                    <a:pt x="0" y="375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stealth" w="sm" len="sm"/>
              <a:tailEnd type="stealth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18528" name="Group 146"/>
          <p:cNvGrpSpPr/>
          <p:nvPr/>
        </p:nvGrpSpPr>
        <p:grpSpPr>
          <a:xfrm>
            <a:off x="9196388" y="4762500"/>
            <a:ext cx="711200" cy="1162050"/>
            <a:chOff x="4833" y="3000"/>
            <a:chExt cx="448" cy="732"/>
          </a:xfrm>
        </p:grpSpPr>
        <p:sp>
          <p:nvSpPr>
            <p:cNvPr id="324646" name="Freeform 147"/>
            <p:cNvSpPr/>
            <p:nvPr/>
          </p:nvSpPr>
          <p:spPr>
            <a:xfrm>
              <a:off x="4833" y="3006"/>
              <a:ext cx="1" cy="519"/>
            </a:xfrm>
            <a:custGeom>
              <a:avLst/>
              <a:gdLst>
                <a:gd name="txL" fmla="*/ 0 w 1"/>
                <a:gd name="txT" fmla="*/ 0 h 519"/>
                <a:gd name="txR" fmla="*/ 1 w 1"/>
                <a:gd name="txB" fmla="*/ 519 h 519"/>
              </a:gdLst>
              <a:ahLst/>
              <a:cxnLst>
                <a:cxn ang="0">
                  <a:pos x="0" y="0"/>
                </a:cxn>
                <a:cxn ang="0">
                  <a:pos x="0" y="519"/>
                </a:cxn>
              </a:cxnLst>
              <a:rect l="txL" t="txT" r="txR" b="txB"/>
              <a:pathLst>
                <a:path w="1" h="519">
                  <a:moveTo>
                    <a:pt x="0" y="0"/>
                  </a:moveTo>
                  <a:lnTo>
                    <a:pt x="0" y="519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stealth" w="sm" len="sm"/>
              <a:tailEnd type="stealth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4647" name="Text Box 148"/>
            <p:cNvSpPr txBox="1"/>
            <p:nvPr/>
          </p:nvSpPr>
          <p:spPr>
            <a:xfrm>
              <a:off x="4876" y="3069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4648" name="Freeform 149"/>
            <p:cNvSpPr/>
            <p:nvPr/>
          </p:nvSpPr>
          <p:spPr>
            <a:xfrm>
              <a:off x="5280" y="3000"/>
              <a:ext cx="1" cy="732"/>
            </a:xfrm>
            <a:custGeom>
              <a:avLst/>
              <a:gdLst>
                <a:gd name="txL" fmla="*/ 0 w 1"/>
                <a:gd name="txT" fmla="*/ 0 h 732"/>
                <a:gd name="txR" fmla="*/ 1 w 1"/>
                <a:gd name="txB" fmla="*/ 732 h 732"/>
              </a:gdLst>
              <a:ahLst/>
              <a:cxnLst>
                <a:cxn ang="0">
                  <a:pos x="0" y="0"/>
                </a:cxn>
                <a:cxn ang="0">
                  <a:pos x="0" y="732"/>
                </a:cxn>
              </a:cxnLst>
              <a:rect l="txL" t="txT" r="txR" b="txB"/>
              <a:pathLst>
                <a:path w="1" h="732">
                  <a:moveTo>
                    <a:pt x="0" y="0"/>
                  </a:moveTo>
                  <a:lnTo>
                    <a:pt x="0" y="732"/>
                  </a:lnTo>
                </a:path>
              </a:pathLst>
            </a:custGeom>
            <a:noFill/>
            <a:ln w="57150" cap="flat" cmpd="sng">
              <a:solidFill>
                <a:schemeClr val="folHlink"/>
              </a:solidFill>
              <a:prstDash val="solid"/>
              <a:round/>
              <a:headEnd type="stealth" w="sm" len="sm"/>
              <a:tailEnd type="stealth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24644" name="AutoShape 15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24645" name="日期占位符 17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59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5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25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25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259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5" dur="500"/>
                                        <p:tgtEl>
                                          <p:spTgt spid="25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8" dur="500"/>
                                        <p:tgtEl>
                                          <p:spTgt spid="259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7" dur="500"/>
                                        <p:tgtEl>
                                          <p:spTgt spid="31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4" grpId="0" bldLvl="0" animBg="1"/>
      <p:bldP spid="259096" grpId="0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5634" name="Text Box 2"/>
          <p:cNvSpPr txBox="1"/>
          <p:nvPr/>
        </p:nvSpPr>
        <p:spPr>
          <a:xfrm>
            <a:off x="3048000" y="2133600"/>
            <a:ext cx="7924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写出对应的二进制地址码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25635" name="Group 3"/>
          <p:cNvGrpSpPr/>
          <p:nvPr/>
        </p:nvGrpSpPr>
        <p:grpSpPr>
          <a:xfrm>
            <a:off x="2070100" y="228600"/>
            <a:ext cx="7986713" cy="1882791"/>
            <a:chOff x="344" y="345"/>
            <a:chExt cx="4386" cy="947"/>
          </a:xfrm>
        </p:grpSpPr>
        <p:sp>
          <p:nvSpPr>
            <p:cNvPr id="325645" name="Text Box 4"/>
            <p:cNvSpPr txBox="1"/>
            <p:nvPr/>
          </p:nvSpPr>
          <p:spPr>
            <a:xfrm>
              <a:off x="344" y="345"/>
              <a:ext cx="4386" cy="3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600" b="1" dirty="0">
                  <a:latin typeface="宋体" panose="02010600030101010101" pitchFamily="2" charset="-122"/>
                </a:rPr>
                <a:t>例</a:t>
              </a:r>
              <a:r>
                <a:rPr lang="en-US" altLang="zh-CN" sz="3600" b="1" dirty="0">
                  <a:latin typeface="Times New Roman" panose="02020603050405020304" pitchFamily="18" charset="0"/>
                </a:rPr>
                <a:t>4.2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假设同前，要求最小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8K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为系统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5646" name="Text Box 5"/>
            <p:cNvSpPr txBox="1"/>
            <p:nvPr/>
          </p:nvSpPr>
          <p:spPr>
            <a:xfrm>
              <a:off x="344" y="751"/>
              <a:ext cx="4386" cy="54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Times New Roman" panose="02020603050405020304" pitchFamily="18" charset="0"/>
                </a:rPr>
                <a:t>            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程序区，相邻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16K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为用户程序区。最大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4K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为系统程序工作区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5636" name="Text Box 6"/>
          <p:cNvSpPr txBox="1"/>
          <p:nvPr/>
        </p:nvSpPr>
        <p:spPr>
          <a:xfrm>
            <a:off x="3048000" y="2751138"/>
            <a:ext cx="7924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确定芯片的数量及类型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25637" name="Text Box 7"/>
          <p:cNvSpPr txBox="1"/>
          <p:nvPr/>
        </p:nvSpPr>
        <p:spPr>
          <a:xfrm>
            <a:off x="3048000" y="4495800"/>
            <a:ext cx="7924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(3) </a:t>
            </a:r>
            <a:r>
              <a:rPr lang="zh-CN" altLang="en-US" sz="2800" b="1" dirty="0">
                <a:latin typeface="Times New Roman" panose="02020603050405020304" pitchFamily="18" charset="0"/>
              </a:rPr>
              <a:t>分配地址线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25638" name="Rectangle 8"/>
          <p:cNvSpPr/>
          <p:nvPr/>
        </p:nvSpPr>
        <p:spPr>
          <a:xfrm>
            <a:off x="3048000" y="5919788"/>
            <a:ext cx="4089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(4) </a:t>
            </a:r>
            <a:r>
              <a:rPr lang="zh-CN" altLang="en-US" sz="2800" b="1" dirty="0">
                <a:latin typeface="Times New Roman" panose="02020603050405020304" pitchFamily="18" charset="0"/>
              </a:rPr>
              <a:t>确定片选信号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25639" name="Text Box 9"/>
          <p:cNvSpPr txBox="1"/>
          <p:nvPr/>
        </p:nvSpPr>
        <p:spPr>
          <a:xfrm>
            <a:off x="3609975" y="3543300"/>
            <a:ext cx="7058025" cy="9372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片 </a:t>
            </a:r>
            <a:r>
              <a:rPr lang="en-US" altLang="zh-CN" sz="2800" b="1" dirty="0">
                <a:latin typeface="Times New Roman" panose="02020603050405020304" pitchFamily="18" charset="0"/>
              </a:rPr>
              <a:t>8K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8</a:t>
            </a:r>
            <a:r>
              <a:rPr lang="zh-CN" altLang="en-US" sz="2800" b="1" dirty="0">
                <a:latin typeface="Times New Roman" panose="02020603050405020304" pitchFamily="18" charset="0"/>
              </a:rPr>
              <a:t>位  </a:t>
            </a:r>
            <a:r>
              <a:rPr lang="en-US" altLang="zh-CN" sz="2800" b="1" dirty="0">
                <a:latin typeface="Times New Roman" panose="02020603050405020304" pitchFamily="18" charset="0"/>
              </a:rPr>
              <a:t>ROM   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片 </a:t>
            </a:r>
            <a:r>
              <a:rPr lang="en-US" altLang="zh-CN" sz="2800" b="1" dirty="0">
                <a:latin typeface="Times New Roman" panose="02020603050405020304" pitchFamily="18" charset="0"/>
              </a:rPr>
              <a:t>8K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9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8</a:t>
            </a:r>
            <a:r>
              <a:rPr lang="zh-CN" altLang="en-US" sz="2800" b="1" dirty="0">
                <a:latin typeface="Times New Roman" panose="02020603050405020304" pitchFamily="18" charset="0"/>
              </a:rPr>
              <a:t>位  </a:t>
            </a:r>
            <a:r>
              <a:rPr lang="en-US" altLang="zh-CN" sz="2800" b="1" dirty="0">
                <a:latin typeface="Times New Roman" panose="02020603050405020304" pitchFamily="18" charset="0"/>
              </a:rPr>
              <a:t>RAM  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片 </a:t>
            </a:r>
            <a:r>
              <a:rPr lang="en-US" altLang="zh-CN" b="1" dirty="0">
                <a:latin typeface="Arial" panose="020B0604020202020204" pitchFamily="34" charset="0"/>
              </a:rPr>
              <a:t>1K × 8</a:t>
            </a:r>
            <a:r>
              <a:rPr lang="zh-CN" altLang="en-US" b="1" dirty="0">
                <a:latin typeface="Arial" panose="020B0604020202020204" pitchFamily="34" charset="0"/>
              </a:rPr>
              <a:t>位  </a:t>
            </a:r>
            <a:r>
              <a:rPr lang="en-US" altLang="zh-CN" b="1" dirty="0">
                <a:latin typeface="Arial" panose="020B0604020202020204" pitchFamily="34" charset="0"/>
              </a:rPr>
              <a:t>RAM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25640" name="Text Box 10"/>
          <p:cNvSpPr txBox="1"/>
          <p:nvPr/>
        </p:nvSpPr>
        <p:spPr>
          <a:xfrm>
            <a:off x="3609975" y="5181600"/>
            <a:ext cx="67532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12</a:t>
            </a:r>
            <a:r>
              <a:rPr lang="en-US" altLang="zh-CN" sz="2800" b="1" dirty="0">
                <a:latin typeface="Times New Roman" panose="02020603050405020304" pitchFamily="18" charset="0"/>
              </a:rPr>
              <a:t>~ A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0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接  </a:t>
            </a:r>
            <a:r>
              <a:rPr lang="en-US" altLang="zh-CN" sz="2800" b="1" dirty="0">
                <a:latin typeface="Times New Roman" panose="02020603050405020304" pitchFamily="18" charset="0"/>
              </a:rPr>
              <a:t>ROM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latin typeface="Times New Roman" panose="02020603050405020304" pitchFamily="18" charset="0"/>
              </a:rPr>
              <a:t>RAM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的地址线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0107" name="Rectangle 1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5642" name="AutoShape 1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25643" name="Rectangle 13"/>
          <p:cNvSpPr/>
          <p:nvPr/>
        </p:nvSpPr>
        <p:spPr>
          <a:xfrm>
            <a:off x="6019800" y="5943600"/>
            <a:ext cx="4089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(5) </a:t>
            </a:r>
            <a:r>
              <a:rPr lang="zh-CN" altLang="en-US" sz="2800" b="1" dirty="0">
                <a:solidFill>
                  <a:srgbClr val="CC00CC"/>
                </a:solidFill>
                <a:latin typeface="Times New Roman" panose="02020603050405020304" pitchFamily="18" charset="0"/>
              </a:rPr>
              <a:t>读写信号</a:t>
            </a:r>
            <a:endParaRPr lang="zh-CN" altLang="en-US" sz="2800" b="1" dirty="0">
              <a:solidFill>
                <a:srgbClr val="CC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564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6658" name="Rectangle 3"/>
          <p:cNvSpPr>
            <a:spLocks noGrp="1"/>
          </p:cNvSpPr>
          <p:nvPr>
            <p:ph idx="1"/>
          </p:nvPr>
        </p:nvSpPr>
        <p:spPr>
          <a:xfrm>
            <a:off x="1828800" y="533400"/>
            <a:ext cx="8650288" cy="6019800"/>
          </a:xfrm>
        </p:spPr>
        <p:txBody>
          <a:bodyPr vert="horz" wrap="square" lIns="91440" tIns="45720" rIns="91440" bIns="45720" anchor="t" anchorCtr="0">
            <a:normAutofit fontScale="90000"/>
          </a:bodyPr>
          <a:p>
            <a:pPr eaLnBrk="1" hangingPunct="1"/>
            <a:r>
              <a:rPr lang="en-US" altLang="zh-CN" sz="2400" b="1" dirty="0"/>
              <a:t>CPU</a:t>
            </a:r>
            <a:r>
              <a:rPr lang="zh-CN" altLang="en-US" sz="2400" b="1" dirty="0"/>
              <a:t>的地址总线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根</a:t>
            </a:r>
            <a:r>
              <a:rPr lang="en-US" altLang="zh-CN" sz="2400" b="1" dirty="0"/>
              <a:t>(A15—A0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A0</a:t>
            </a:r>
            <a:r>
              <a:rPr lang="zh-CN" altLang="en-US" sz="2400" b="1" dirty="0"/>
              <a:t>为低位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，双向数据总线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根</a:t>
            </a:r>
            <a:r>
              <a:rPr lang="en-US" altLang="zh-CN" sz="2400" b="1" dirty="0"/>
              <a:t>(D7—D0)</a:t>
            </a:r>
            <a:r>
              <a:rPr lang="zh-CN" altLang="en-US" sz="2400" b="1" dirty="0"/>
              <a:t>，控制总线中与主存有关的信号有</a:t>
            </a:r>
            <a:r>
              <a:rPr lang="en-US" altLang="zh-CN" sz="2400" b="1" dirty="0"/>
              <a:t>MREQ(</a:t>
            </a:r>
            <a:r>
              <a:rPr lang="zh-CN" altLang="en-US" sz="2400" b="1" dirty="0"/>
              <a:t>允许访存，低电平有效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R/W(</a:t>
            </a:r>
            <a:r>
              <a:rPr lang="zh-CN" altLang="en-US" sz="2400" b="1" dirty="0"/>
              <a:t>高电平为读命令，低电平为写命令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eaLnBrk="1" hangingPunct="1">
              <a:buNone/>
            </a:pPr>
            <a:r>
              <a:rPr lang="zh-CN" altLang="en-US" sz="2400" b="1" dirty="0"/>
              <a:t>	主存地址空间分配如下：</a:t>
            </a:r>
            <a:r>
              <a:rPr lang="en-US" altLang="zh-CN" sz="2400" b="1" dirty="0"/>
              <a:t>0—8191</a:t>
            </a:r>
            <a:r>
              <a:rPr lang="zh-CN" altLang="en-US" sz="2400" b="1" dirty="0"/>
              <a:t>为</a:t>
            </a:r>
            <a:r>
              <a:rPr lang="zh-CN" altLang="en-US" sz="2400" b="1" dirty="0">
                <a:solidFill>
                  <a:srgbClr val="FF0000"/>
                </a:solidFill>
              </a:rPr>
              <a:t>系统程序区，由只读存储芯片</a:t>
            </a:r>
            <a:r>
              <a:rPr lang="zh-CN" altLang="en-US" sz="2400" b="1" dirty="0"/>
              <a:t>组成；</a:t>
            </a:r>
            <a:r>
              <a:rPr lang="en-US" altLang="zh-CN" sz="2400" b="1" dirty="0"/>
              <a:t>8192—32767</a:t>
            </a:r>
            <a:r>
              <a:rPr lang="zh-CN" altLang="en-US" sz="2400" b="1" dirty="0"/>
              <a:t>为</a:t>
            </a:r>
            <a:r>
              <a:rPr lang="zh-CN" altLang="en-US" sz="2400" b="1" dirty="0">
                <a:solidFill>
                  <a:srgbClr val="FF0000"/>
                </a:solidFill>
              </a:rPr>
              <a:t>用户程序区</a:t>
            </a:r>
            <a:r>
              <a:rPr lang="zh-CN" altLang="en-US" sz="2400" b="1" dirty="0"/>
              <a:t>；最后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最大地址</a:t>
            </a:r>
            <a:r>
              <a:rPr lang="en-US" altLang="zh-CN" sz="2400" b="1" dirty="0"/>
              <a:t>)2K</a:t>
            </a:r>
            <a:r>
              <a:rPr lang="zh-CN" altLang="en-US" sz="2400" b="1" dirty="0"/>
              <a:t>地址空间为</a:t>
            </a:r>
            <a:r>
              <a:rPr lang="zh-CN" altLang="en-US" sz="2400" b="1" dirty="0">
                <a:solidFill>
                  <a:srgbClr val="FF0000"/>
                </a:solidFill>
              </a:rPr>
              <a:t>系统程序工作区</a:t>
            </a:r>
            <a:r>
              <a:rPr lang="zh-CN" altLang="en-US" sz="2400" b="1" dirty="0"/>
              <a:t>。上述地址为十进制，按字节编址。</a:t>
            </a:r>
            <a:endParaRPr lang="zh-CN" altLang="en-US" sz="2400" b="1" dirty="0"/>
          </a:p>
          <a:p>
            <a:pPr eaLnBrk="1" hangingPunct="1">
              <a:buNone/>
            </a:pPr>
            <a:r>
              <a:rPr lang="zh-CN" altLang="en-US" sz="2400" b="1" dirty="0"/>
              <a:t>	 现有存储器芯片：</a:t>
            </a:r>
            <a:r>
              <a:rPr lang="en-US" altLang="zh-CN" sz="2400" b="1" dirty="0"/>
              <a:t>EPROM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8K×8</a:t>
            </a:r>
            <a:r>
              <a:rPr lang="zh-CN" altLang="en-US" sz="2400" b="1" dirty="0"/>
              <a:t>位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控制端仅有</a:t>
            </a:r>
            <a:r>
              <a:rPr lang="en-US" altLang="zh-CN" sz="2400" b="1" dirty="0"/>
              <a:t>CS)</a:t>
            </a:r>
            <a:r>
              <a:rPr lang="zh-CN" altLang="en-US" sz="2400" b="1" dirty="0"/>
              <a:t>；</a:t>
            </a:r>
            <a:r>
              <a:rPr lang="en-US" altLang="zh-CN" sz="2400" b="1" dirty="0"/>
              <a:t>SRAM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16K×1</a:t>
            </a:r>
            <a:r>
              <a:rPr lang="zh-CN" altLang="en-US" sz="2400" b="1" dirty="0"/>
              <a:t>位，</a:t>
            </a:r>
            <a:r>
              <a:rPr lang="en-US" altLang="zh-CN" sz="2400" b="1" dirty="0"/>
              <a:t>2K×8</a:t>
            </a:r>
            <a:r>
              <a:rPr lang="zh-CN" altLang="en-US" sz="2400" b="1" dirty="0"/>
              <a:t>位，</a:t>
            </a:r>
            <a:r>
              <a:rPr lang="en-US" altLang="zh-CN" sz="2400" b="1" dirty="0"/>
              <a:t>4K×8</a:t>
            </a:r>
            <a:r>
              <a:rPr lang="zh-CN" altLang="en-US" sz="2400" b="1" dirty="0"/>
              <a:t>位，</a:t>
            </a:r>
            <a:r>
              <a:rPr lang="en-US" altLang="zh-CN" sz="2400" b="1" dirty="0"/>
              <a:t>8K×8</a:t>
            </a:r>
            <a:r>
              <a:rPr lang="zh-CN" altLang="en-US" sz="2400" b="1" dirty="0"/>
              <a:t>位。</a:t>
            </a:r>
            <a:endParaRPr lang="zh-CN" altLang="en-US" sz="2400" b="1" dirty="0"/>
          </a:p>
          <a:p>
            <a:pPr eaLnBrk="1" hangingPunct="1">
              <a:buNone/>
            </a:pPr>
            <a:r>
              <a:rPr lang="zh-CN" altLang="en-US" sz="2400" b="1" dirty="0"/>
              <a:t>	请选择适当芯片设计该计算机主存储器，画出主存储器逻辑框图，注意画出选片逻辑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可选用门电路及</a:t>
            </a:r>
            <a:r>
              <a:rPr lang="en-US" altLang="zh-CN" sz="2400" b="1" dirty="0"/>
              <a:t>3∶8</a:t>
            </a:r>
            <a:r>
              <a:rPr lang="zh-CN" altLang="en-US" sz="2400" b="1" dirty="0"/>
              <a:t>译码器</a:t>
            </a:r>
            <a:r>
              <a:rPr lang="en-US" altLang="zh-CN" sz="2400" b="1" dirty="0"/>
              <a:t>74LS138)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CPU </a:t>
            </a:r>
            <a:r>
              <a:rPr lang="zh-CN" altLang="en-US" sz="2400" b="1" dirty="0"/>
              <a:t>的连接，说明选哪些存储器芯片，选多少片。</a:t>
            </a:r>
            <a:endParaRPr lang="zh-CN" altLang="en-US" sz="2400" b="1" dirty="0"/>
          </a:p>
        </p:txBody>
      </p:sp>
      <p:sp>
        <p:nvSpPr>
          <p:cNvPr id="326659" name="Line 4"/>
          <p:cNvSpPr/>
          <p:nvPr/>
        </p:nvSpPr>
        <p:spPr>
          <a:xfrm>
            <a:off x="8610600" y="990600"/>
            <a:ext cx="838200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2666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7172" name="Rectangle 3"/>
          <p:cNvSpPr>
            <a:spLocks noGrp="1"/>
          </p:cNvSpPr>
          <p:nvPr>
            <p:ph idx="1"/>
          </p:nvPr>
        </p:nvSpPr>
        <p:spPr>
          <a:xfrm>
            <a:off x="1981200" y="762000"/>
            <a:ext cx="8229600" cy="5364163"/>
          </a:xfrm>
        </p:spPr>
        <p:txBody>
          <a:bodyPr vert="horz" wrap="square" lIns="91440" tIns="45720" rIns="91440" bIns="45720" anchor="t" anchorCtr="0">
            <a:normAutofit lnSpcReduction="20000"/>
          </a:bodyPr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/>
              <a:t>　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  <a:r>
              <a:rPr lang="zh-CN" altLang="en-US" sz="2800" dirty="0"/>
              <a:t>主存地址空间分布如图所示。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/>
              <a:t>　　　　　　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/>
              <a:t>　　　　  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根据给定条件，选用</a:t>
            </a:r>
            <a:r>
              <a:rPr lang="en-US" altLang="zh-CN" sz="2800" dirty="0"/>
              <a:t>EPROM</a:t>
            </a:r>
            <a:r>
              <a:rPr lang="zh-CN" altLang="en-US" sz="2800" dirty="0"/>
              <a:t>：</a:t>
            </a:r>
            <a:r>
              <a:rPr lang="en-US" altLang="zh-CN" sz="2800" dirty="0"/>
              <a:t>8K×8</a:t>
            </a:r>
            <a:r>
              <a:rPr lang="zh-CN" altLang="en-US" sz="2800" dirty="0"/>
              <a:t>位芯片</a:t>
            </a:r>
            <a:r>
              <a:rPr lang="en-US" altLang="zh-CN" sz="2800" dirty="0"/>
              <a:t>1</a:t>
            </a:r>
            <a:r>
              <a:rPr lang="zh-CN" altLang="en-US" sz="2800" dirty="0"/>
              <a:t>片。</a:t>
            </a:r>
            <a:r>
              <a:rPr lang="en-US" altLang="zh-CN" sz="2800" dirty="0"/>
              <a:t>SRAM</a:t>
            </a:r>
            <a:r>
              <a:rPr lang="zh-CN" altLang="en-US" sz="2800" dirty="0"/>
              <a:t>：</a:t>
            </a:r>
            <a:r>
              <a:rPr lang="en-US" altLang="zh-CN" sz="2800" dirty="0"/>
              <a:t>8K×8</a:t>
            </a:r>
            <a:r>
              <a:rPr lang="zh-CN" altLang="en-US" sz="2800" dirty="0"/>
              <a:t>位芯片</a:t>
            </a:r>
            <a:r>
              <a:rPr lang="en-US" altLang="zh-CN" sz="2800" dirty="0"/>
              <a:t>3</a:t>
            </a:r>
            <a:r>
              <a:rPr lang="zh-CN" altLang="en-US" sz="2800" dirty="0"/>
              <a:t>片，</a:t>
            </a:r>
            <a:r>
              <a:rPr lang="en-US" altLang="zh-CN" sz="2800" dirty="0"/>
              <a:t>2K×8</a:t>
            </a:r>
            <a:r>
              <a:rPr lang="zh-CN" altLang="en-US" sz="2800" dirty="0"/>
              <a:t>位芯片</a:t>
            </a:r>
            <a:r>
              <a:rPr lang="en-US" altLang="zh-CN" sz="2800" dirty="0"/>
              <a:t>1</a:t>
            </a:r>
            <a:r>
              <a:rPr lang="zh-CN" altLang="en-US" sz="2800" dirty="0"/>
              <a:t>片。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3∶8</a:t>
            </a:r>
            <a:r>
              <a:rPr lang="zh-CN" altLang="en-US" sz="2800" dirty="0"/>
              <a:t>译码器仅用</a:t>
            </a:r>
            <a:r>
              <a:rPr lang="en-US" altLang="zh-CN" sz="2800" dirty="0"/>
              <a:t>Y0</a:t>
            </a:r>
            <a:r>
              <a:rPr lang="zh-CN" altLang="en-US" sz="2800" dirty="0"/>
              <a:t>，</a:t>
            </a:r>
            <a:r>
              <a:rPr lang="en-US" altLang="zh-CN" sz="2800" dirty="0"/>
              <a:t>Y1</a:t>
            </a:r>
            <a:r>
              <a:rPr lang="zh-CN" altLang="en-US" sz="2800" dirty="0"/>
              <a:t>，</a:t>
            </a:r>
            <a:r>
              <a:rPr lang="en-US" altLang="zh-CN" sz="2800" dirty="0"/>
              <a:t>Y2</a:t>
            </a:r>
            <a:r>
              <a:rPr lang="zh-CN" altLang="en-US" sz="2800" dirty="0"/>
              <a:t>，</a:t>
            </a:r>
            <a:r>
              <a:rPr lang="en-US" altLang="zh-CN" sz="2800" dirty="0"/>
              <a:t>Y3</a:t>
            </a:r>
            <a:r>
              <a:rPr lang="zh-CN" altLang="en-US" sz="2800" dirty="0"/>
              <a:t>和</a:t>
            </a:r>
            <a:r>
              <a:rPr lang="en-US" altLang="zh-CN" sz="2800" dirty="0"/>
              <a:t>Y7</a:t>
            </a:r>
            <a:r>
              <a:rPr lang="zh-CN" altLang="en-US" sz="2800" dirty="0"/>
              <a:t>输出端，且对最后的</a:t>
            </a:r>
            <a:r>
              <a:rPr lang="en-US" altLang="zh-CN" sz="2800" dirty="0"/>
              <a:t>2K×8</a:t>
            </a:r>
            <a:r>
              <a:rPr lang="zh-CN" altLang="en-US" sz="2800" dirty="0"/>
              <a:t>位芯片还需加门电路译码。</a:t>
            </a:r>
            <a:endParaRPr lang="zh-CN" altLang="en-US" sz="2800" dirty="0"/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2895600" y="1447800"/>
          <a:ext cx="28194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981200" imgH="1552575" progId="Paint.Picture">
                  <p:embed/>
                </p:oleObj>
              </mc:Choice>
              <mc:Fallback>
                <p:oleObj name="" r:id="rId1" imgW="1981200" imgH="1552575" progId="Paint.Picture">
                  <p:embed/>
                  <p:pic>
                    <p:nvPicPr>
                      <p:cNvPr id="0" name="20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5600" y="1447800"/>
                        <a:ext cx="2819400" cy="220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graphicFrame>
        <p:nvGraphicFramePr>
          <p:cNvPr id="8194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752600" y="304800"/>
          <a:ext cx="8915400" cy="610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5543550" imgH="2419350" progId="Paint.Picture">
                  <p:embed/>
                </p:oleObj>
              </mc:Choice>
              <mc:Fallback>
                <p:oleObj name="" r:id="rId1" imgW="5543550" imgH="2419350" progId="Paint.Picture">
                  <p:embed/>
                  <p:pic>
                    <p:nvPicPr>
                      <p:cNvPr id="0" name="20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52600" y="304800"/>
                        <a:ext cx="8915400" cy="610393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27682" name="Group 2"/>
          <p:cNvGrpSpPr/>
          <p:nvPr/>
        </p:nvGrpSpPr>
        <p:grpSpPr>
          <a:xfrm>
            <a:off x="1600200" y="254000"/>
            <a:ext cx="8710613" cy="1938338"/>
            <a:chOff x="48" y="160"/>
            <a:chExt cx="5487" cy="1221"/>
          </a:xfrm>
        </p:grpSpPr>
        <p:sp>
          <p:nvSpPr>
            <p:cNvPr id="327721" name="Text Box 3"/>
            <p:cNvSpPr txBox="1"/>
            <p:nvPr/>
          </p:nvSpPr>
          <p:spPr>
            <a:xfrm>
              <a:off x="48" y="160"/>
              <a:ext cx="5487" cy="122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3600" b="1" dirty="0">
                  <a:latin typeface="Times New Roman" panose="02020603050405020304" pitchFamily="18" charset="0"/>
                </a:rPr>
                <a:t>例 </a:t>
              </a:r>
              <a:r>
                <a:rPr lang="en-US" altLang="zh-CN" sz="3600" b="1" dirty="0">
                  <a:latin typeface="Times New Roman" panose="02020603050405020304" pitchFamily="18" charset="0"/>
                </a:rPr>
                <a:t>4.3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12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设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CPU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有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20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根地址线，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8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根数据线。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      并用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IO/M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作访存控制信号。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RD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为读命令，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    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WR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为写命令。现有 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2764 EPROM ( 8K × 8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位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),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外特性如下：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7722" name="Line 4"/>
            <p:cNvSpPr/>
            <p:nvPr/>
          </p:nvSpPr>
          <p:spPr>
            <a:xfrm>
              <a:off x="1296" y="563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723" name="Line 5"/>
            <p:cNvSpPr/>
            <p:nvPr/>
          </p:nvSpPr>
          <p:spPr>
            <a:xfrm>
              <a:off x="3377" y="555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724" name="Line 6"/>
            <p:cNvSpPr/>
            <p:nvPr/>
          </p:nvSpPr>
          <p:spPr>
            <a:xfrm>
              <a:off x="432" y="829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1127" name="Text Box 7"/>
          <p:cNvSpPr txBox="1"/>
          <p:nvPr/>
        </p:nvSpPr>
        <p:spPr>
          <a:xfrm>
            <a:off x="2054225" y="5257800"/>
            <a:ext cx="8689975" cy="15125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用 </a:t>
            </a:r>
            <a:r>
              <a:rPr lang="en-US" altLang="zh-CN" sz="2800" b="1" dirty="0">
                <a:latin typeface="Times New Roman" panose="02020603050405020304" pitchFamily="18" charset="0"/>
              </a:rPr>
              <a:t>138 </a:t>
            </a:r>
            <a:r>
              <a:rPr lang="zh-CN" altLang="en-US" sz="2800" b="1" dirty="0">
                <a:latin typeface="Times New Roman" panose="02020603050405020304" pitchFamily="18" charset="0"/>
              </a:rPr>
              <a:t>译码器及其他门电路（门电路自定）画出 </a:t>
            </a:r>
            <a:r>
              <a:rPr lang="en-US" altLang="zh-CN" sz="2800" b="1" dirty="0">
                <a:latin typeface="Times New Roman" panose="02020603050405020304" pitchFamily="18" charset="0"/>
              </a:rPr>
              <a:t>CPU</a:t>
            </a:r>
            <a:r>
              <a:rPr lang="zh-CN" altLang="en-US" sz="2800" b="1" dirty="0">
                <a:latin typeface="Times New Roman" panose="02020603050405020304" pitchFamily="18" charset="0"/>
              </a:rPr>
              <a:t>和 </a:t>
            </a:r>
            <a:r>
              <a:rPr lang="en-US" altLang="zh-CN" sz="2800" b="1" dirty="0">
                <a:latin typeface="Times New Roman" panose="02020603050405020304" pitchFamily="18" charset="0"/>
              </a:rPr>
              <a:t>2764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的连接图。要求地址为 </a:t>
            </a:r>
            <a:r>
              <a:rPr lang="en-US" altLang="zh-CN" sz="2800" b="1" dirty="0">
                <a:latin typeface="Times New Roman" panose="02020603050405020304" pitchFamily="18" charset="0"/>
              </a:rPr>
              <a:t>F0000H~FFFFFH , </a:t>
            </a:r>
            <a:r>
              <a:rPr lang="en-US" altLang="zh-CN" sz="12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并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800" b="1" dirty="0">
                <a:latin typeface="Times New Roman" panose="02020603050405020304" pitchFamily="18" charset="0"/>
              </a:rPr>
              <a:t>写出每片 </a:t>
            </a:r>
            <a:r>
              <a:rPr lang="en-US" altLang="zh-CN" sz="2800" b="1" dirty="0">
                <a:latin typeface="Times New Roman" panose="02020603050405020304" pitchFamily="18" charset="0"/>
              </a:rPr>
              <a:t>2764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的地址范围。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1128" name="Rectangle 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Group 9"/>
          <p:cNvGrpSpPr/>
          <p:nvPr/>
        </p:nvGrpSpPr>
        <p:grpSpPr>
          <a:xfrm>
            <a:off x="2740025" y="2247900"/>
            <a:ext cx="6494463" cy="2784475"/>
            <a:chOff x="766" y="1416"/>
            <a:chExt cx="4091" cy="1754"/>
          </a:xfrm>
        </p:grpSpPr>
        <p:grpSp>
          <p:nvGrpSpPr>
            <p:cNvPr id="327688" name="Group 10"/>
            <p:cNvGrpSpPr/>
            <p:nvPr/>
          </p:nvGrpSpPr>
          <p:grpSpPr>
            <a:xfrm>
              <a:off x="766" y="1416"/>
              <a:ext cx="4091" cy="1754"/>
              <a:chOff x="766" y="1416"/>
              <a:chExt cx="4091" cy="1754"/>
            </a:xfrm>
          </p:grpSpPr>
          <p:sp>
            <p:nvSpPr>
              <p:cNvPr id="327692" name="Text Box 11"/>
              <p:cNvSpPr txBox="1"/>
              <p:nvPr/>
            </p:nvSpPr>
            <p:spPr>
              <a:xfrm>
                <a:off x="1647" y="1467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693" name="Rectangle 12"/>
              <p:cNvSpPr/>
              <p:nvPr/>
            </p:nvSpPr>
            <p:spPr>
              <a:xfrm>
                <a:off x="1144" y="1827"/>
                <a:ext cx="1352" cy="96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27694" name="Line 13"/>
              <p:cNvSpPr/>
              <p:nvPr/>
            </p:nvSpPr>
            <p:spPr>
              <a:xfrm>
                <a:off x="1513" y="1679"/>
                <a:ext cx="0" cy="14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695" name="Line 14"/>
              <p:cNvSpPr/>
              <p:nvPr/>
            </p:nvSpPr>
            <p:spPr>
              <a:xfrm>
                <a:off x="2153" y="1679"/>
                <a:ext cx="0" cy="14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696" name="Line 15"/>
              <p:cNvSpPr/>
              <p:nvPr/>
            </p:nvSpPr>
            <p:spPr>
              <a:xfrm>
                <a:off x="2153" y="2787"/>
                <a:ext cx="0" cy="14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697" name="Line 16"/>
              <p:cNvSpPr/>
              <p:nvPr/>
            </p:nvSpPr>
            <p:spPr>
              <a:xfrm>
                <a:off x="1513" y="2787"/>
                <a:ext cx="0" cy="145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698" name="Line 17"/>
              <p:cNvSpPr/>
              <p:nvPr/>
            </p:nvSpPr>
            <p:spPr>
              <a:xfrm>
                <a:off x="766" y="2067"/>
                <a:ext cx="3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699" name="Line 18"/>
              <p:cNvSpPr/>
              <p:nvPr/>
            </p:nvSpPr>
            <p:spPr>
              <a:xfrm>
                <a:off x="766" y="2467"/>
                <a:ext cx="3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700" name="Text Box 19"/>
              <p:cNvSpPr txBox="1"/>
              <p:nvPr/>
            </p:nvSpPr>
            <p:spPr>
              <a:xfrm>
                <a:off x="1374" y="2880"/>
                <a:ext cx="31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7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01" name="Text Box 20"/>
              <p:cNvSpPr txBox="1"/>
              <p:nvPr/>
            </p:nvSpPr>
            <p:spPr>
              <a:xfrm>
                <a:off x="2040" y="2880"/>
                <a:ext cx="31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D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02" name="Text Box 21"/>
              <p:cNvSpPr txBox="1"/>
              <p:nvPr/>
            </p:nvSpPr>
            <p:spPr>
              <a:xfrm>
                <a:off x="1151" y="2020"/>
                <a:ext cx="38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CE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03" name="Line 22"/>
              <p:cNvSpPr/>
              <p:nvPr/>
            </p:nvSpPr>
            <p:spPr>
              <a:xfrm>
                <a:off x="1200" y="2064"/>
                <a:ext cx="28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704" name="Text Box 23"/>
              <p:cNvSpPr txBox="1"/>
              <p:nvPr/>
            </p:nvSpPr>
            <p:spPr>
              <a:xfrm>
                <a:off x="1176" y="2425"/>
                <a:ext cx="39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OE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05" name="Line 24"/>
              <p:cNvSpPr/>
              <p:nvPr/>
            </p:nvSpPr>
            <p:spPr>
              <a:xfrm>
                <a:off x="1200" y="2463"/>
                <a:ext cx="28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706" name="Text Box 25"/>
              <p:cNvSpPr txBox="1"/>
              <p:nvPr/>
            </p:nvSpPr>
            <p:spPr>
              <a:xfrm>
                <a:off x="3254" y="1750"/>
                <a:ext cx="38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CE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07" name="Line 26"/>
              <p:cNvSpPr/>
              <p:nvPr/>
            </p:nvSpPr>
            <p:spPr>
              <a:xfrm>
                <a:off x="3293" y="1776"/>
                <a:ext cx="287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708" name="Text Box 27"/>
              <p:cNvSpPr txBox="1"/>
              <p:nvPr/>
            </p:nvSpPr>
            <p:spPr>
              <a:xfrm>
                <a:off x="3974" y="1738"/>
                <a:ext cx="88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片选信号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09" name="Text Box 28"/>
              <p:cNvSpPr txBox="1"/>
              <p:nvPr/>
            </p:nvSpPr>
            <p:spPr>
              <a:xfrm>
                <a:off x="3254" y="2139"/>
                <a:ext cx="39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OE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10" name="Line 29"/>
              <p:cNvSpPr/>
              <p:nvPr/>
            </p:nvSpPr>
            <p:spPr>
              <a:xfrm>
                <a:off x="3293" y="2160"/>
                <a:ext cx="311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711" name="Text Box 30"/>
              <p:cNvSpPr txBox="1"/>
              <p:nvPr/>
            </p:nvSpPr>
            <p:spPr>
              <a:xfrm>
                <a:off x="3974" y="2127"/>
                <a:ext cx="88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允许输出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12" name="Text Box 31"/>
              <p:cNvSpPr txBox="1"/>
              <p:nvPr/>
            </p:nvSpPr>
            <p:spPr>
              <a:xfrm>
                <a:off x="3254" y="2559"/>
                <a:ext cx="56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PGM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13" name="Line 32"/>
              <p:cNvSpPr/>
              <p:nvPr/>
            </p:nvSpPr>
            <p:spPr>
              <a:xfrm>
                <a:off x="3264" y="2592"/>
                <a:ext cx="50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714" name="Text Box 33"/>
              <p:cNvSpPr txBox="1"/>
              <p:nvPr/>
            </p:nvSpPr>
            <p:spPr>
              <a:xfrm>
                <a:off x="3974" y="2547"/>
                <a:ext cx="88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可编程端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15" name="Line 34"/>
              <p:cNvSpPr/>
              <p:nvPr/>
            </p:nvSpPr>
            <p:spPr>
              <a:xfrm>
                <a:off x="2552" y="2307"/>
                <a:ext cx="3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716" name="Text Box 35"/>
              <p:cNvSpPr txBox="1"/>
              <p:nvPr/>
            </p:nvSpPr>
            <p:spPr>
              <a:xfrm>
                <a:off x="1872" y="2195"/>
                <a:ext cx="56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PGM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17" name="Line 36"/>
              <p:cNvSpPr/>
              <p:nvPr/>
            </p:nvSpPr>
            <p:spPr>
              <a:xfrm>
                <a:off x="1920" y="2232"/>
                <a:ext cx="503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7718" name="Text Box 37"/>
              <p:cNvSpPr txBox="1"/>
              <p:nvPr/>
            </p:nvSpPr>
            <p:spPr>
              <a:xfrm>
                <a:off x="1647" y="2640"/>
                <a:ext cx="371" cy="36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19" name="Text Box 38"/>
              <p:cNvSpPr txBox="1"/>
              <p:nvPr/>
            </p:nvSpPr>
            <p:spPr>
              <a:xfrm>
                <a:off x="2040" y="1416"/>
                <a:ext cx="31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7720" name="Text Box 39"/>
              <p:cNvSpPr txBox="1"/>
              <p:nvPr/>
            </p:nvSpPr>
            <p:spPr>
              <a:xfrm>
                <a:off x="1393" y="1416"/>
                <a:ext cx="379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12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27689" name="Oval 40"/>
            <p:cNvSpPr/>
            <p:nvPr/>
          </p:nvSpPr>
          <p:spPr>
            <a:xfrm>
              <a:off x="2508" y="2288"/>
              <a:ext cx="45" cy="4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7690" name="Oval 41"/>
            <p:cNvSpPr/>
            <p:nvPr/>
          </p:nvSpPr>
          <p:spPr>
            <a:xfrm>
              <a:off x="1093" y="2442"/>
              <a:ext cx="45" cy="4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27691" name="Oval 42"/>
            <p:cNvSpPr/>
            <p:nvPr/>
          </p:nvSpPr>
          <p:spPr>
            <a:xfrm>
              <a:off x="1093" y="2042"/>
              <a:ext cx="45" cy="45"/>
            </a:xfrm>
            <a:prstGeom prst="ellipse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27686" name="AutoShape 43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27687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1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28706" name="Text Box 2"/>
          <p:cNvSpPr txBox="1"/>
          <p:nvPr/>
        </p:nvSpPr>
        <p:spPr>
          <a:xfrm>
            <a:off x="1736725" y="152400"/>
            <a:ext cx="44354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六、存储器的校验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62147" name="Text Box 3"/>
          <p:cNvSpPr txBox="1"/>
          <p:nvPr/>
        </p:nvSpPr>
        <p:spPr>
          <a:xfrm>
            <a:off x="2565400" y="2286000"/>
            <a:ext cx="8102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编码的纠错 </a:t>
            </a:r>
            <a:r>
              <a:rPr lang="zh-CN" altLang="en-US" sz="2800" b="1" dirty="0"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检错能力与编码的最小距离有关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2148" name="Text Box 4"/>
          <p:cNvSpPr txBox="1"/>
          <p:nvPr/>
        </p:nvSpPr>
        <p:spPr>
          <a:xfrm>
            <a:off x="3213100" y="3810000"/>
            <a:ext cx="54737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L</a:t>
            </a:r>
            <a:r>
              <a:rPr lang="en-US" altLang="zh-CN" sz="2800" b="1" dirty="0">
                <a:latin typeface="Times New Roman" panose="02020603050405020304" pitchFamily="18" charset="0"/>
              </a:rPr>
              <a:t> ——   </a:t>
            </a:r>
            <a:r>
              <a:rPr lang="zh-CN" altLang="en-US" sz="2800" b="1" dirty="0">
                <a:latin typeface="Times New Roman" panose="02020603050405020304" pitchFamily="18" charset="0"/>
              </a:rPr>
              <a:t>编码的最小距离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2149" name="Text Box 5"/>
          <p:cNvSpPr txBox="1"/>
          <p:nvPr/>
        </p:nvSpPr>
        <p:spPr>
          <a:xfrm>
            <a:off x="3213100" y="4572000"/>
            <a:ext cx="399542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 ——   </a:t>
            </a:r>
            <a:r>
              <a:rPr lang="zh-CN" altLang="en-US" sz="2800" b="1" dirty="0">
                <a:latin typeface="Times New Roman" panose="02020603050405020304" pitchFamily="18" charset="0"/>
              </a:rPr>
              <a:t>检测错误的位数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2150" name="Text Box 6"/>
          <p:cNvSpPr txBox="1"/>
          <p:nvPr/>
        </p:nvSpPr>
        <p:spPr>
          <a:xfrm>
            <a:off x="3213100" y="5334000"/>
            <a:ext cx="41783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latin typeface="Times New Roman" panose="02020603050405020304" pitchFamily="18" charset="0"/>
              </a:rPr>
              <a:t> ——   </a:t>
            </a:r>
            <a:r>
              <a:rPr lang="zh-CN" altLang="en-US" sz="2800" b="1" dirty="0">
                <a:latin typeface="Times New Roman" panose="02020603050405020304" pitchFamily="18" charset="0"/>
              </a:rPr>
              <a:t>纠正错误的位数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2151" name="Text Box 7"/>
          <p:cNvSpPr txBox="1"/>
          <p:nvPr/>
        </p:nvSpPr>
        <p:spPr>
          <a:xfrm>
            <a:off x="2565400" y="5957888"/>
            <a:ext cx="6502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汉明码是具有一位纠错能力的编码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2152" name="Rectangle 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3213100" y="3048000"/>
            <a:ext cx="4559300" cy="522288"/>
            <a:chOff x="1256" y="1578"/>
            <a:chExt cx="2872" cy="329"/>
          </a:xfrm>
        </p:grpSpPr>
        <p:sp>
          <p:nvSpPr>
            <p:cNvPr id="328721" name="Text Box 10"/>
            <p:cNvSpPr txBox="1"/>
            <p:nvPr/>
          </p:nvSpPr>
          <p:spPr>
            <a:xfrm>
              <a:off x="1256" y="1578"/>
              <a:ext cx="287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   1 =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+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(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≥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)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722" name="Line 11"/>
            <p:cNvSpPr/>
            <p:nvPr/>
          </p:nvSpPr>
          <p:spPr>
            <a:xfrm>
              <a:off x="1507" y="1759"/>
              <a:ext cx="12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62156" name="Text Box 12"/>
          <p:cNvSpPr txBox="1"/>
          <p:nvPr/>
        </p:nvSpPr>
        <p:spPr>
          <a:xfrm>
            <a:off x="2149475" y="838200"/>
            <a:ext cx="64770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1 . </a:t>
            </a:r>
            <a:r>
              <a:rPr lang="zh-CN" altLang="en-US" sz="3200" b="1" dirty="0">
                <a:latin typeface="Times New Roman" panose="02020603050405020304" pitchFamily="18" charset="0"/>
              </a:rPr>
              <a:t>编码的最小距离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2157" name="Text Box 13"/>
          <p:cNvSpPr txBox="1"/>
          <p:nvPr/>
        </p:nvSpPr>
        <p:spPr>
          <a:xfrm>
            <a:off x="2565400" y="1614488"/>
            <a:ext cx="8382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任意两组合法代码之间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二进制位数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最少差异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14"/>
          <p:cNvGrpSpPr/>
          <p:nvPr/>
        </p:nvGrpSpPr>
        <p:grpSpPr>
          <a:xfrm>
            <a:off x="7315200" y="3810000"/>
            <a:ext cx="3657600" cy="1284288"/>
            <a:chOff x="3648" y="2400"/>
            <a:chExt cx="2304" cy="809"/>
          </a:xfrm>
        </p:grpSpPr>
        <p:sp>
          <p:nvSpPr>
            <p:cNvPr id="328719" name="Text Box 15"/>
            <p:cNvSpPr txBox="1"/>
            <p:nvPr/>
          </p:nvSpPr>
          <p:spPr>
            <a:xfrm>
              <a:off x="3648" y="2400"/>
              <a:ext cx="230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latin typeface="Times New Roman" panose="02020603050405020304" pitchFamily="18" charset="0"/>
                </a:rPr>
                <a:t>L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3   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28720" name="Text Box 16"/>
            <p:cNvSpPr txBox="1"/>
            <p:nvPr/>
          </p:nvSpPr>
          <p:spPr>
            <a:xfrm>
              <a:off x="3648" y="2880"/>
              <a:ext cx="225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latin typeface="Times New Roman" panose="02020603050405020304" pitchFamily="18" charset="0"/>
                </a:rPr>
                <a:t>具有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一位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纠错能力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28717" name="AutoShape 1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28718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2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/>
      <p:bldP spid="262148" grpId="0"/>
      <p:bldP spid="262149" grpId="0"/>
      <p:bldP spid="262150" grpId="0"/>
      <p:bldP spid="262151" grpId="0"/>
      <p:bldP spid="262156" grpId="0"/>
      <p:bldP spid="26215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63170" name="Text Box 2"/>
          <p:cNvSpPr txBox="1"/>
          <p:nvPr/>
        </p:nvSpPr>
        <p:spPr>
          <a:xfrm>
            <a:off x="2519363" y="1828800"/>
            <a:ext cx="68087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汉明码的组成需增添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r>
              <a:rPr lang="zh-CN" altLang="en-US" sz="2800" b="1" dirty="0">
                <a:latin typeface="Times New Roman" panose="02020603050405020304" pitchFamily="18" charset="0"/>
              </a:rPr>
              <a:t>位检测位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3171" name="Text Box 3"/>
          <p:cNvSpPr txBox="1"/>
          <p:nvPr/>
        </p:nvSpPr>
        <p:spPr>
          <a:xfrm>
            <a:off x="2519363" y="3238500"/>
            <a:ext cx="68087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检测位的位置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3172" name="Text Box 4"/>
          <p:cNvSpPr txBox="1"/>
          <p:nvPr/>
        </p:nvSpPr>
        <p:spPr>
          <a:xfrm>
            <a:off x="2519363" y="4648200"/>
            <a:ext cx="68087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检测位的取值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？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3173" name="Text Box 5"/>
          <p:cNvSpPr txBox="1"/>
          <p:nvPr/>
        </p:nvSpPr>
        <p:spPr>
          <a:xfrm>
            <a:off x="3359150" y="2438400"/>
            <a:ext cx="5797550" cy="583565"/>
          </a:xfrm>
          <a:prstGeom prst="rect">
            <a:avLst/>
          </a:prstGeom>
          <a:noFill/>
          <a:ln w="38100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i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folHlink"/>
                </a:solidFill>
                <a:latin typeface="宋体" panose="02010600030101010101" pitchFamily="2" charset="-122"/>
              </a:rPr>
              <a:t>≥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zh-CN" sz="32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+ 1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3174" name="Text Box 6"/>
          <p:cNvSpPr txBox="1"/>
          <p:nvPr/>
        </p:nvSpPr>
        <p:spPr>
          <a:xfrm>
            <a:off x="3276600" y="5337175"/>
            <a:ext cx="7308850" cy="9531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检测位的取值与该位所在的检测“小组” 中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承担的奇偶校验任务有关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3175" name="Text Box 7"/>
          <p:cNvSpPr txBox="1"/>
          <p:nvPr/>
        </p:nvSpPr>
        <p:spPr>
          <a:xfrm>
            <a:off x="2519363" y="990600"/>
            <a:ext cx="5308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组成汉明码的三要素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63176" name="Rectangle 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9737" name="Text Box 9"/>
          <p:cNvSpPr txBox="1"/>
          <p:nvPr/>
        </p:nvSpPr>
        <p:spPr>
          <a:xfrm>
            <a:off x="1981200" y="304800"/>
            <a:ext cx="5410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2 . </a:t>
            </a:r>
            <a:r>
              <a:rPr lang="zh-CN" altLang="en-US" sz="3600" b="1" dirty="0">
                <a:latin typeface="Times New Roman" panose="02020603050405020304" pitchFamily="18" charset="0"/>
              </a:rPr>
              <a:t>汉明码的组成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29738" name="AutoShape 1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2" name="Group 11"/>
          <p:cNvGrpSpPr/>
          <p:nvPr/>
        </p:nvGrpSpPr>
        <p:grpSpPr>
          <a:xfrm>
            <a:off x="3359150" y="3786188"/>
            <a:ext cx="5797550" cy="685799"/>
            <a:chOff x="1156" y="2385"/>
            <a:chExt cx="3652" cy="432"/>
          </a:xfrm>
        </p:grpSpPr>
        <p:sp>
          <p:nvSpPr>
            <p:cNvPr id="329741" name="Text Box 12"/>
            <p:cNvSpPr txBox="1"/>
            <p:nvPr/>
          </p:nvSpPr>
          <p:spPr>
            <a:xfrm>
              <a:off x="1156" y="2449"/>
              <a:ext cx="3652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>
              <a:spAutoFit/>
            </a:bodyPr>
            <a:p>
              <a:pPr fontAlgn="ctr"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i="1" baseline="30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3200" b="1" baseline="30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( </a:t>
              </a:r>
              <a:r>
                <a:rPr lang="en-US" altLang="zh-CN" sz="3200" b="1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= 0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 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 </a:t>
              </a:r>
              <a:r>
                <a:rPr lang="zh-CN" altLang="en-US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，    </a:t>
              </a: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)</a:t>
              </a:r>
              <a:endPara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9742" name="Text Box 13"/>
            <p:cNvSpPr txBox="1"/>
            <p:nvPr/>
          </p:nvSpPr>
          <p:spPr>
            <a:xfrm>
              <a:off x="3515" y="2385"/>
              <a:ext cx="63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32974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3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3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9" dur="5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0" grpId="0"/>
      <p:bldP spid="263171" grpId="0"/>
      <p:bldP spid="263172" grpId="0"/>
      <p:bldP spid="263173" grpId="0"/>
      <p:bldP spid="263174" grpId="0"/>
      <p:bldP spid="26317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30754" name="Text Box 2"/>
          <p:cNvSpPr txBox="1"/>
          <p:nvPr/>
        </p:nvSpPr>
        <p:spPr>
          <a:xfrm>
            <a:off x="1981200" y="381000"/>
            <a:ext cx="7391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各检测位 </a:t>
            </a:r>
            <a:r>
              <a:rPr lang="en-US" altLang="zh-CN" sz="3200" b="1" dirty="0">
                <a:latin typeface="Times New Roman" panose="02020603050405020304" pitchFamily="18" charset="0"/>
              </a:rPr>
              <a:t>C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所承担的检测小组为</a:t>
            </a:r>
            <a:endParaRPr lang="zh-CN" altLang="en-US" sz="32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64195" name="Text Box 3"/>
          <p:cNvSpPr txBox="1"/>
          <p:nvPr/>
        </p:nvSpPr>
        <p:spPr>
          <a:xfrm>
            <a:off x="2279650" y="4378325"/>
            <a:ext cx="289941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小组独占第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4196" name="Text Box 4"/>
          <p:cNvSpPr txBox="1"/>
          <p:nvPr/>
        </p:nvSpPr>
        <p:spPr>
          <a:xfrm>
            <a:off x="2279650" y="5086350"/>
            <a:ext cx="470027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小组共同占第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+ 2</a:t>
            </a:r>
            <a:r>
              <a:rPr lang="en-US" altLang="zh-CN" sz="2400" b="1" i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位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64197" name="Text Box 5"/>
          <p:cNvSpPr txBox="1"/>
          <p:nvPr/>
        </p:nvSpPr>
        <p:spPr>
          <a:xfrm>
            <a:off x="2279650" y="5795963"/>
            <a:ext cx="596011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和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sz="24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小组共同占第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i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+ 2</a:t>
            </a:r>
            <a:r>
              <a:rPr lang="en-US" altLang="zh-CN" sz="2400" b="1" i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j</a:t>
            </a:r>
            <a:r>
              <a:rPr lang="zh-CN" altLang="en-US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+ 2</a:t>
            </a:r>
            <a:r>
              <a:rPr lang="en-US" altLang="zh-CN" sz="2400" b="1" i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l</a:t>
            </a:r>
            <a:r>
              <a:rPr lang="zh-CN" altLang="en-US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位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1752600" y="1157288"/>
            <a:ext cx="6786563" cy="585787"/>
            <a:chOff x="240" y="729"/>
            <a:chExt cx="4275" cy="369"/>
          </a:xfrm>
        </p:grpSpPr>
        <p:sp>
          <p:nvSpPr>
            <p:cNvPr id="330771" name="Text Box 7"/>
            <p:cNvSpPr txBox="1"/>
            <p:nvPr/>
          </p:nvSpPr>
          <p:spPr>
            <a:xfrm>
              <a:off x="240" y="808"/>
              <a:ext cx="39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检测的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小组包含第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7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9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0772" name="Text Box 8"/>
            <p:cNvSpPr txBox="1"/>
            <p:nvPr/>
          </p:nvSpPr>
          <p:spPr>
            <a:xfrm>
              <a:off x="4176" y="729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1752600" y="1873250"/>
            <a:ext cx="6786563" cy="579438"/>
            <a:chOff x="240" y="1152"/>
            <a:chExt cx="4275" cy="365"/>
          </a:xfrm>
        </p:grpSpPr>
        <p:sp>
          <p:nvSpPr>
            <p:cNvPr id="330769" name="Text Box 10"/>
            <p:cNvSpPr txBox="1"/>
            <p:nvPr/>
          </p:nvSpPr>
          <p:spPr>
            <a:xfrm>
              <a:off x="240" y="1227"/>
              <a:ext cx="411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检测的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小组包含第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6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7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10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0770" name="Text Box 11"/>
            <p:cNvSpPr txBox="1"/>
            <p:nvPr/>
          </p:nvSpPr>
          <p:spPr>
            <a:xfrm>
              <a:off x="4176" y="1152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1752600" y="2584450"/>
            <a:ext cx="6786563" cy="612775"/>
            <a:chOff x="240" y="1536"/>
            <a:chExt cx="4275" cy="386"/>
          </a:xfrm>
        </p:grpSpPr>
        <p:sp>
          <p:nvSpPr>
            <p:cNvPr id="330767" name="Text Box 13"/>
            <p:cNvSpPr txBox="1"/>
            <p:nvPr/>
          </p:nvSpPr>
          <p:spPr>
            <a:xfrm>
              <a:off x="240" y="1632"/>
              <a:ext cx="412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4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检测的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3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小组包含第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4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5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6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7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13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0768" name="Text Box 14"/>
            <p:cNvSpPr txBox="1"/>
            <p:nvPr/>
          </p:nvSpPr>
          <p:spPr>
            <a:xfrm>
              <a:off x="4176" y="1536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5"/>
          <p:cNvGrpSpPr/>
          <p:nvPr/>
        </p:nvGrpSpPr>
        <p:grpSpPr>
          <a:xfrm>
            <a:off x="1752600" y="3328988"/>
            <a:ext cx="8913813" cy="593725"/>
            <a:chOff x="144" y="2097"/>
            <a:chExt cx="5615" cy="374"/>
          </a:xfrm>
        </p:grpSpPr>
        <p:sp>
          <p:nvSpPr>
            <p:cNvPr id="330765" name="Text Box 16"/>
            <p:cNvSpPr txBox="1"/>
            <p:nvPr/>
          </p:nvSpPr>
          <p:spPr>
            <a:xfrm>
              <a:off x="144" y="2181"/>
              <a:ext cx="545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8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检测的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g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小组包含第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8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9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10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11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12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13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14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15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24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，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0766" name="Text Box 17"/>
            <p:cNvSpPr txBox="1"/>
            <p:nvPr/>
          </p:nvSpPr>
          <p:spPr>
            <a:xfrm>
              <a:off x="5420" y="2097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…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4210" name="Rectangle 1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0763" name="AutoShape 1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0764" name="日期占位符 6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/>
      <p:bldP spid="264196" grpId="0"/>
      <p:bldP spid="26419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31778" name="Text Box 2"/>
          <p:cNvSpPr txBox="1"/>
          <p:nvPr/>
        </p:nvSpPr>
        <p:spPr>
          <a:xfrm>
            <a:off x="1779588" y="533400"/>
            <a:ext cx="1325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4.4 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331779" name="Text Box 3"/>
          <p:cNvSpPr txBox="1"/>
          <p:nvPr/>
        </p:nvSpPr>
        <p:spPr>
          <a:xfrm>
            <a:off x="2998788" y="595313"/>
            <a:ext cx="6685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求 </a:t>
            </a:r>
            <a:r>
              <a:rPr lang="en-US" altLang="zh-CN" sz="3200" b="1" dirty="0">
                <a:latin typeface="Times New Roman" panose="02020603050405020304" pitchFamily="18" charset="0"/>
              </a:rPr>
              <a:t>0101 </a:t>
            </a:r>
            <a:r>
              <a:rPr lang="zh-CN" altLang="en-US" sz="3200" b="1" dirty="0">
                <a:latin typeface="Times New Roman" panose="02020603050405020304" pitchFamily="18" charset="0"/>
              </a:rPr>
              <a:t>按 “偶校验” 配置的汉明码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5220" name="Text Box 4"/>
          <p:cNvSpPr txBox="1"/>
          <p:nvPr/>
        </p:nvSpPr>
        <p:spPr>
          <a:xfrm>
            <a:off x="2574925" y="12954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5221" name="Text Box 5"/>
          <p:cNvSpPr txBox="1"/>
          <p:nvPr/>
        </p:nvSpPr>
        <p:spPr>
          <a:xfrm>
            <a:off x="3352800" y="1295400"/>
            <a:ext cx="165671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∵ 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</a:rPr>
              <a:t> = 4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65222" name="Text Box 6"/>
          <p:cNvSpPr txBox="1"/>
          <p:nvPr/>
        </p:nvSpPr>
        <p:spPr>
          <a:xfrm>
            <a:off x="3946525" y="1981200"/>
            <a:ext cx="33254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根据 </a:t>
            </a:r>
            <a:r>
              <a:rPr lang="en-US" altLang="zh-CN" sz="3200" b="1" dirty="0">
                <a:latin typeface="Times New Roman" panose="02020603050405020304" pitchFamily="18" charset="0"/>
              </a:rPr>
              <a:t>2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≥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</a:rPr>
              <a:t> +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3200" b="1" dirty="0">
                <a:latin typeface="Times New Roman" panose="02020603050405020304" pitchFamily="18" charset="0"/>
              </a:rPr>
              <a:t> + 1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65223" name="Text Box 7"/>
          <p:cNvSpPr txBox="1"/>
          <p:nvPr/>
        </p:nvSpPr>
        <p:spPr>
          <a:xfrm>
            <a:off x="3946525" y="2590800"/>
            <a:ext cx="19970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得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3200" b="1" dirty="0">
                <a:latin typeface="Times New Roman" panose="02020603050405020304" pitchFamily="18" charset="0"/>
              </a:rPr>
              <a:t> = 3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65224" name="Text Box 8"/>
          <p:cNvSpPr txBox="1"/>
          <p:nvPr/>
        </p:nvSpPr>
        <p:spPr>
          <a:xfrm>
            <a:off x="2217738" y="3276600"/>
            <a:ext cx="316293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汉明码排序如下</a:t>
            </a:r>
            <a:r>
              <a:rPr lang="en-US" altLang="zh-CN" sz="3200" b="1" dirty="0">
                <a:latin typeface="Times New Roman" panose="02020603050405020304" pitchFamily="18" charset="0"/>
              </a:rPr>
              <a:t>: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2133600" y="3962400"/>
            <a:ext cx="8153400" cy="1908175"/>
            <a:chOff x="384" y="2496"/>
            <a:chExt cx="5136" cy="1202"/>
          </a:xfrm>
        </p:grpSpPr>
        <p:sp>
          <p:nvSpPr>
            <p:cNvPr id="331797" name="Line 10"/>
            <p:cNvSpPr/>
            <p:nvPr/>
          </p:nvSpPr>
          <p:spPr>
            <a:xfrm>
              <a:off x="384" y="2976"/>
              <a:ext cx="5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1798" name="Line 11"/>
            <p:cNvSpPr/>
            <p:nvPr/>
          </p:nvSpPr>
          <p:spPr>
            <a:xfrm>
              <a:off x="1920" y="2496"/>
              <a:ext cx="0" cy="120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1799" name="Text Box 12"/>
            <p:cNvSpPr txBox="1"/>
            <p:nvPr/>
          </p:nvSpPr>
          <p:spPr>
            <a:xfrm>
              <a:off x="535" y="2556"/>
              <a:ext cx="123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二进制序号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1800" name="Text Box 13"/>
            <p:cNvSpPr txBox="1"/>
            <p:nvPr/>
          </p:nvSpPr>
          <p:spPr>
            <a:xfrm>
              <a:off x="960" y="3024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名称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1801" name="Text Box 14"/>
            <p:cNvSpPr txBox="1"/>
            <p:nvPr/>
          </p:nvSpPr>
          <p:spPr>
            <a:xfrm>
              <a:off x="2101" y="2556"/>
              <a:ext cx="331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1      2      3      4      5      6      7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5231" name="Text Box 15"/>
          <p:cNvSpPr txBox="1"/>
          <p:nvPr/>
        </p:nvSpPr>
        <p:spPr>
          <a:xfrm>
            <a:off x="4859338" y="4800600"/>
            <a:ext cx="288163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C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C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5232" name="Text Box 16"/>
          <p:cNvSpPr txBox="1"/>
          <p:nvPr/>
        </p:nvSpPr>
        <p:spPr>
          <a:xfrm>
            <a:off x="4935538" y="5353050"/>
            <a:ext cx="3860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65233" name="Text Box 17"/>
          <p:cNvSpPr txBox="1"/>
          <p:nvPr/>
        </p:nvSpPr>
        <p:spPr>
          <a:xfrm>
            <a:off x="3184525" y="5892800"/>
            <a:ext cx="54406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∴ 0101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的汉明码为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0100101</a:t>
            </a:r>
            <a:endParaRPr lang="en-US" altLang="zh-CN" sz="36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18"/>
          <p:cNvGrpSpPr/>
          <p:nvPr/>
        </p:nvGrpSpPr>
        <p:grpSpPr>
          <a:xfrm>
            <a:off x="6470650" y="4819650"/>
            <a:ext cx="3586163" cy="584201"/>
            <a:chOff x="3116" y="3036"/>
            <a:chExt cx="2259" cy="368"/>
          </a:xfrm>
        </p:grpSpPr>
        <p:sp>
          <p:nvSpPr>
            <p:cNvPr id="331795" name="Text Box 19"/>
            <p:cNvSpPr txBox="1"/>
            <p:nvPr/>
          </p:nvSpPr>
          <p:spPr>
            <a:xfrm>
              <a:off x="3116" y="3036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1796" name="Text Box 20"/>
            <p:cNvSpPr txBox="1"/>
            <p:nvPr/>
          </p:nvSpPr>
          <p:spPr>
            <a:xfrm>
              <a:off x="4172" y="3036"/>
              <a:ext cx="120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1     0      1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5237" name="Rectangle 2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5238" name="Text Box 22"/>
          <p:cNvSpPr txBox="1"/>
          <p:nvPr/>
        </p:nvSpPr>
        <p:spPr>
          <a:xfrm>
            <a:off x="5638800" y="5353050"/>
            <a:ext cx="838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65239" name="Text Box 23"/>
          <p:cNvSpPr txBox="1"/>
          <p:nvPr/>
        </p:nvSpPr>
        <p:spPr>
          <a:xfrm>
            <a:off x="7239000" y="5353050"/>
            <a:ext cx="838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18" charset="0"/>
              </a:rPr>
              <a:t>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331793" name="AutoShape 24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1794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6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6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0" grpId="0"/>
      <p:bldP spid="265221" grpId="0"/>
      <p:bldP spid="265222" grpId="0"/>
      <p:bldP spid="265223" grpId="0"/>
      <p:bldP spid="265224" grpId="0"/>
      <p:bldP spid="265231" grpId="0"/>
      <p:bldP spid="265232" grpId="0"/>
      <p:bldP spid="265233" grpId="0"/>
      <p:bldP spid="265238" grpId="0"/>
      <p:bldP spid="265239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66242" name="Text Box 2"/>
          <p:cNvSpPr txBox="1"/>
          <p:nvPr/>
        </p:nvSpPr>
        <p:spPr>
          <a:xfrm>
            <a:off x="3581400" y="290513"/>
            <a:ext cx="5791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按配偶原则配置 </a:t>
            </a:r>
            <a:r>
              <a:rPr lang="en-US" altLang="zh-CN" sz="3200" b="1" dirty="0">
                <a:latin typeface="Times New Roman" panose="02020603050405020304" pitchFamily="18" charset="0"/>
              </a:rPr>
              <a:t>0011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的汉明码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119313" y="2286000"/>
            <a:ext cx="8167687" cy="1733550"/>
            <a:chOff x="375" y="1440"/>
            <a:chExt cx="5145" cy="1092"/>
          </a:xfrm>
        </p:grpSpPr>
        <p:sp>
          <p:nvSpPr>
            <p:cNvPr id="332829" name="Line 4"/>
            <p:cNvSpPr/>
            <p:nvPr/>
          </p:nvSpPr>
          <p:spPr>
            <a:xfrm>
              <a:off x="384" y="1860"/>
              <a:ext cx="51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2830" name="Freeform 5"/>
            <p:cNvSpPr/>
            <p:nvPr/>
          </p:nvSpPr>
          <p:spPr>
            <a:xfrm>
              <a:off x="1920" y="1476"/>
              <a:ext cx="1" cy="1056"/>
            </a:xfrm>
            <a:custGeom>
              <a:avLst/>
              <a:gdLst>
                <a:gd name="txL" fmla="*/ 0 w 1"/>
                <a:gd name="txT" fmla="*/ 0 h 1056"/>
                <a:gd name="txR" fmla="*/ 1 w 1"/>
                <a:gd name="txB" fmla="*/ 1056 h 1056"/>
              </a:gdLst>
              <a:ahLst/>
              <a:cxnLst>
                <a:cxn ang="0">
                  <a:pos x="0" y="0"/>
                </a:cxn>
                <a:cxn ang="0">
                  <a:pos x="0" y="1056"/>
                </a:cxn>
              </a:cxnLst>
              <a:rect l="txL" t="txT" r="txR" b="txB"/>
              <a:pathLst>
                <a:path w="1" h="1056">
                  <a:moveTo>
                    <a:pt x="0" y="0"/>
                  </a:moveTo>
                  <a:lnTo>
                    <a:pt x="0" y="105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2831" name="Text Box 6"/>
            <p:cNvSpPr txBox="1"/>
            <p:nvPr/>
          </p:nvSpPr>
          <p:spPr>
            <a:xfrm>
              <a:off x="375" y="1449"/>
              <a:ext cx="140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二进制序号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2832" name="Text Box 7"/>
            <p:cNvSpPr txBox="1"/>
            <p:nvPr/>
          </p:nvSpPr>
          <p:spPr>
            <a:xfrm>
              <a:off x="714" y="1929"/>
              <a:ext cx="73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名称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2833" name="Text Box 8"/>
            <p:cNvSpPr txBox="1"/>
            <p:nvPr/>
          </p:nvSpPr>
          <p:spPr>
            <a:xfrm>
              <a:off x="2101" y="1440"/>
              <a:ext cx="331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1      2      3      4      5      6      7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6249" name="Text Box 9"/>
          <p:cNvSpPr txBox="1"/>
          <p:nvPr/>
        </p:nvSpPr>
        <p:spPr>
          <a:xfrm>
            <a:off x="4859338" y="3048000"/>
            <a:ext cx="32178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C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       C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50" name="Text Box 10"/>
          <p:cNvSpPr txBox="1"/>
          <p:nvPr/>
        </p:nvSpPr>
        <p:spPr>
          <a:xfrm>
            <a:off x="4935538" y="3581400"/>
            <a:ext cx="30654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1     0              0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" name="Group 11"/>
          <p:cNvGrpSpPr/>
          <p:nvPr/>
        </p:nvGrpSpPr>
        <p:grpSpPr>
          <a:xfrm>
            <a:off x="6400800" y="3048000"/>
            <a:ext cx="3656013" cy="584201"/>
            <a:chOff x="3072" y="2947"/>
            <a:chExt cx="2303" cy="368"/>
          </a:xfrm>
        </p:grpSpPr>
        <p:sp>
          <p:nvSpPr>
            <p:cNvPr id="332827" name="Text Box 12"/>
            <p:cNvSpPr txBox="1"/>
            <p:nvPr/>
          </p:nvSpPr>
          <p:spPr>
            <a:xfrm>
              <a:off x="3072" y="2947"/>
              <a:ext cx="24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2828" name="Text Box 13"/>
            <p:cNvSpPr txBox="1"/>
            <p:nvPr/>
          </p:nvSpPr>
          <p:spPr>
            <a:xfrm>
              <a:off x="4172" y="2947"/>
              <a:ext cx="1203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0     1      1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6254" name="Text Box 14"/>
          <p:cNvSpPr txBox="1"/>
          <p:nvPr/>
        </p:nvSpPr>
        <p:spPr>
          <a:xfrm>
            <a:off x="2803525" y="9906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6255" name="Text Box 15"/>
          <p:cNvSpPr txBox="1"/>
          <p:nvPr/>
        </p:nvSpPr>
        <p:spPr>
          <a:xfrm>
            <a:off x="3962400" y="990600"/>
            <a:ext cx="530733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∵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</a:rPr>
              <a:t> = 4  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根据 </a:t>
            </a:r>
            <a:r>
              <a:rPr lang="en-US" altLang="zh-CN" sz="3200" b="1" dirty="0">
                <a:latin typeface="Times New Roman" panose="02020603050405020304" pitchFamily="18" charset="0"/>
              </a:rPr>
              <a:t>2</a:t>
            </a:r>
            <a:r>
              <a:rPr lang="en-US" altLang="zh-CN" sz="3200" b="1" i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sz="3200" b="1" baseline="30000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</a:rPr>
              <a:t>≥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</a:rPr>
              <a:t> +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3200" b="1" dirty="0">
                <a:latin typeface="Times New Roman" panose="02020603050405020304" pitchFamily="18" charset="0"/>
              </a:rPr>
              <a:t> + 1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66256" name="Text Box 16"/>
          <p:cNvSpPr txBox="1"/>
          <p:nvPr/>
        </p:nvSpPr>
        <p:spPr>
          <a:xfrm>
            <a:off x="4462463" y="1600200"/>
            <a:ext cx="153225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取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3200" b="1" dirty="0">
                <a:latin typeface="Times New Roman" panose="02020603050405020304" pitchFamily="18" charset="0"/>
              </a:rPr>
              <a:t> = 3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4" name="Group 17"/>
          <p:cNvGrpSpPr/>
          <p:nvPr/>
        </p:nvGrpSpPr>
        <p:grpSpPr>
          <a:xfrm>
            <a:off x="2895600" y="4068763"/>
            <a:ext cx="3205163" cy="584199"/>
            <a:chOff x="864" y="2784"/>
            <a:chExt cx="2019" cy="368"/>
          </a:xfrm>
        </p:grpSpPr>
        <p:sp>
          <p:nvSpPr>
            <p:cNvPr id="332824" name="Text Box 18"/>
            <p:cNvSpPr txBox="1"/>
            <p:nvPr/>
          </p:nvSpPr>
          <p:spPr>
            <a:xfrm>
              <a:off x="864" y="2784"/>
              <a:ext cx="201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3     5     7 = 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2825" name="AutoShape 19"/>
            <p:cNvSpPr/>
            <p:nvPr/>
          </p:nvSpPr>
          <p:spPr>
            <a:xfrm>
              <a:off x="1584" y="2868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2826" name="AutoShape 20"/>
            <p:cNvSpPr/>
            <p:nvPr/>
          </p:nvSpPr>
          <p:spPr>
            <a:xfrm>
              <a:off x="2064" y="2868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1"/>
          <p:cNvGrpSpPr/>
          <p:nvPr/>
        </p:nvGrpSpPr>
        <p:grpSpPr>
          <a:xfrm>
            <a:off x="2895600" y="4738688"/>
            <a:ext cx="3205163" cy="584199"/>
            <a:chOff x="864" y="3216"/>
            <a:chExt cx="2019" cy="368"/>
          </a:xfrm>
        </p:grpSpPr>
        <p:sp>
          <p:nvSpPr>
            <p:cNvPr id="332821" name="Text Box 22"/>
            <p:cNvSpPr txBox="1"/>
            <p:nvPr/>
          </p:nvSpPr>
          <p:spPr>
            <a:xfrm>
              <a:off x="864" y="3216"/>
              <a:ext cx="201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3     6     7 =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2822" name="AutoShape 23"/>
            <p:cNvSpPr/>
            <p:nvPr/>
          </p:nvSpPr>
          <p:spPr>
            <a:xfrm>
              <a:off x="1584" y="3300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2823" name="AutoShape 24"/>
            <p:cNvSpPr/>
            <p:nvPr/>
          </p:nvSpPr>
          <p:spPr>
            <a:xfrm>
              <a:off x="2064" y="3300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25"/>
          <p:cNvGrpSpPr/>
          <p:nvPr/>
        </p:nvGrpSpPr>
        <p:grpSpPr>
          <a:xfrm>
            <a:off x="2895600" y="5364163"/>
            <a:ext cx="3205163" cy="584199"/>
            <a:chOff x="864" y="3648"/>
            <a:chExt cx="2019" cy="368"/>
          </a:xfrm>
        </p:grpSpPr>
        <p:sp>
          <p:nvSpPr>
            <p:cNvPr id="332818" name="Text Box 26"/>
            <p:cNvSpPr txBox="1"/>
            <p:nvPr/>
          </p:nvSpPr>
          <p:spPr>
            <a:xfrm>
              <a:off x="864" y="3648"/>
              <a:ext cx="201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4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5     6     7 =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2819" name="AutoShape 27"/>
            <p:cNvSpPr/>
            <p:nvPr/>
          </p:nvSpPr>
          <p:spPr>
            <a:xfrm>
              <a:off x="1584" y="3732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2820" name="AutoShape 28"/>
            <p:cNvSpPr/>
            <p:nvPr/>
          </p:nvSpPr>
          <p:spPr>
            <a:xfrm>
              <a:off x="2064" y="3732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66269" name="Text Box 29"/>
          <p:cNvSpPr txBox="1"/>
          <p:nvPr/>
        </p:nvSpPr>
        <p:spPr>
          <a:xfrm>
            <a:off x="2286000" y="6019800"/>
            <a:ext cx="549402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∴  0011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的汉明码为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1000011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332814" name="Text Box 30"/>
          <p:cNvSpPr txBox="1"/>
          <p:nvPr/>
        </p:nvSpPr>
        <p:spPr>
          <a:xfrm>
            <a:off x="2057400" y="228600"/>
            <a:ext cx="1325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练习</a:t>
            </a:r>
            <a:r>
              <a:rPr lang="en-US" altLang="zh-CN" sz="3600" b="1" dirty="0">
                <a:latin typeface="Times New Roman" panose="02020603050405020304" pitchFamily="18" charset="0"/>
              </a:rPr>
              <a:t>1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266271" name="Rectangle 3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2816" name="AutoShape 3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2817" name="日期占位符 7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6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6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2" grpId="0"/>
      <p:bldP spid="266249" grpId="0"/>
      <p:bldP spid="266250" grpId="0"/>
      <p:bldP spid="266254" grpId="0"/>
      <p:bldP spid="266255" grpId="0"/>
      <p:bldP spid="266256" grpId="0"/>
      <p:bldP spid="266269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33826" name="Text Box 2"/>
          <p:cNvSpPr txBox="1"/>
          <p:nvPr/>
        </p:nvSpPr>
        <p:spPr>
          <a:xfrm>
            <a:off x="2057400" y="304800"/>
            <a:ext cx="6096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 </a:t>
            </a:r>
            <a:r>
              <a:rPr lang="zh-CN" altLang="en-US" sz="3600" b="1" dirty="0">
                <a:latin typeface="Times New Roman" panose="02020603050405020304" pitchFamily="18" charset="0"/>
              </a:rPr>
              <a:t>汉明码的纠错过程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67267" name="Text Box 3"/>
          <p:cNvSpPr txBox="1"/>
          <p:nvPr/>
        </p:nvSpPr>
        <p:spPr>
          <a:xfrm>
            <a:off x="1820863" y="1143000"/>
            <a:ext cx="453231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形成新的检测位 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32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000" b="1" i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3200" b="1" dirty="0">
                <a:latin typeface="Times New Roman" panose="02020603050405020304" pitchFamily="18" charset="0"/>
              </a:rPr>
              <a:t>，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7268" name="Text Box 4"/>
          <p:cNvSpPr txBox="1"/>
          <p:nvPr/>
        </p:nvSpPr>
        <p:spPr>
          <a:xfrm>
            <a:off x="1828800" y="1790700"/>
            <a:ext cx="49879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如增添 </a:t>
            </a:r>
            <a:r>
              <a:rPr lang="en-US" altLang="zh-CN" sz="3200" b="1" dirty="0">
                <a:latin typeface="Times New Roman" panose="02020603050405020304" pitchFamily="18" charset="0"/>
              </a:rPr>
              <a:t>3 </a:t>
            </a:r>
            <a:r>
              <a:rPr lang="zh-CN" altLang="en-US" sz="3200" b="1" dirty="0">
                <a:latin typeface="Times New Roman" panose="02020603050405020304" pitchFamily="18" charset="0"/>
              </a:rPr>
              <a:t>位 （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3200" b="1" dirty="0">
                <a:latin typeface="Times New Roman" panose="02020603050405020304" pitchFamily="18" charset="0"/>
              </a:rPr>
              <a:t> = 3</a:t>
            </a:r>
            <a:r>
              <a:rPr lang="zh-CN" altLang="en-US" sz="3200" b="1" dirty="0">
                <a:latin typeface="Times New Roman" panose="02020603050405020304" pitchFamily="18" charset="0"/>
              </a:rPr>
              <a:t>），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7269" name="Text Box 5"/>
          <p:cNvSpPr txBox="1"/>
          <p:nvPr/>
        </p:nvSpPr>
        <p:spPr>
          <a:xfrm>
            <a:off x="5883275" y="1790700"/>
            <a:ext cx="478472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新的检测位为 </a:t>
            </a:r>
            <a:r>
              <a:rPr lang="en-US" altLang="zh-CN" sz="3200" b="1" dirty="0"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3200" b="1" dirty="0">
                <a:latin typeface="Times New Roman" panose="02020603050405020304" pitchFamily="18" charset="0"/>
              </a:rPr>
              <a:t> P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3200" b="1" dirty="0"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1000" b="1" baseline="-25000" dirty="0">
                <a:latin typeface="Times New Roman" panose="02020603050405020304" pitchFamily="18" charset="0"/>
              </a:rPr>
              <a:t>  </a:t>
            </a:r>
            <a:r>
              <a:rPr lang="zh-CN" altLang="en-US" sz="3200" b="1" baseline="-25000" dirty="0">
                <a:latin typeface="Times New Roman" panose="02020603050405020304" pitchFamily="18" charset="0"/>
              </a:rPr>
              <a:t>。</a:t>
            </a:r>
            <a:endParaRPr lang="zh-CN" altLang="en-US" sz="32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67270" name="Text Box 6"/>
          <p:cNvSpPr txBox="1"/>
          <p:nvPr/>
        </p:nvSpPr>
        <p:spPr>
          <a:xfrm>
            <a:off x="1828800" y="2438400"/>
            <a:ext cx="5410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以 </a:t>
            </a:r>
            <a:r>
              <a:rPr lang="en-US" altLang="zh-CN" sz="32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3200" b="1" dirty="0">
                <a:latin typeface="Times New Roman" panose="02020603050405020304" pitchFamily="18" charset="0"/>
              </a:rPr>
              <a:t> = 3 </a:t>
            </a:r>
            <a:r>
              <a:rPr lang="zh-CN" altLang="en-US" sz="3200" b="1" dirty="0">
                <a:latin typeface="Times New Roman" panose="02020603050405020304" pitchFamily="18" charset="0"/>
              </a:rPr>
              <a:t>为例，</a:t>
            </a:r>
            <a:r>
              <a:rPr lang="en-US" altLang="zh-CN" sz="3200" b="1" dirty="0">
                <a:latin typeface="Times New Roman" panose="02020603050405020304" pitchFamily="18" charset="0"/>
              </a:rPr>
              <a:t>P</a:t>
            </a:r>
            <a:r>
              <a:rPr lang="en-US" altLang="zh-CN" sz="3200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的取值为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3048000" y="3200400"/>
            <a:ext cx="5638800" cy="633413"/>
            <a:chOff x="960" y="2016"/>
            <a:chExt cx="3552" cy="399"/>
          </a:xfrm>
        </p:grpSpPr>
        <p:sp>
          <p:nvSpPr>
            <p:cNvPr id="333853" name="Text Box 8"/>
            <p:cNvSpPr txBox="1"/>
            <p:nvPr/>
          </p:nvSpPr>
          <p:spPr>
            <a:xfrm>
              <a:off x="960" y="2016"/>
              <a:ext cx="35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1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      3    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5      7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3854" name="AutoShape 9"/>
            <p:cNvSpPr/>
            <p:nvPr/>
          </p:nvSpPr>
          <p:spPr>
            <a:xfrm>
              <a:off x="1728" y="2100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3855" name="AutoShape 10"/>
            <p:cNvSpPr/>
            <p:nvPr/>
          </p:nvSpPr>
          <p:spPr>
            <a:xfrm>
              <a:off x="2208" y="2100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3856" name="AutoShape 11"/>
            <p:cNvSpPr/>
            <p:nvPr/>
          </p:nvSpPr>
          <p:spPr>
            <a:xfrm>
              <a:off x="2736" y="2100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3857" name="Text Box 12"/>
            <p:cNvSpPr txBox="1"/>
            <p:nvPr/>
          </p:nvSpPr>
          <p:spPr>
            <a:xfrm>
              <a:off x="3504" y="2047"/>
              <a:ext cx="19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endParaRPr lang="zh-CN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3"/>
          <p:cNvGrpSpPr/>
          <p:nvPr/>
        </p:nvGrpSpPr>
        <p:grpSpPr>
          <a:xfrm>
            <a:off x="3063875" y="3944938"/>
            <a:ext cx="4708525" cy="622299"/>
            <a:chOff x="970" y="2485"/>
            <a:chExt cx="2966" cy="392"/>
          </a:xfrm>
        </p:grpSpPr>
        <p:sp>
          <p:nvSpPr>
            <p:cNvPr id="333848" name="Text Box 14"/>
            <p:cNvSpPr txBox="1"/>
            <p:nvPr/>
          </p:nvSpPr>
          <p:spPr>
            <a:xfrm>
              <a:off x="970" y="2509"/>
              <a:ext cx="296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2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2      3    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6      7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3849" name="AutoShape 15"/>
            <p:cNvSpPr/>
            <p:nvPr/>
          </p:nvSpPr>
          <p:spPr>
            <a:xfrm>
              <a:off x="1728" y="2593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3850" name="AutoShape 16"/>
            <p:cNvSpPr/>
            <p:nvPr/>
          </p:nvSpPr>
          <p:spPr>
            <a:xfrm>
              <a:off x="2208" y="2593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3851" name="AutoShape 17"/>
            <p:cNvSpPr/>
            <p:nvPr/>
          </p:nvSpPr>
          <p:spPr>
            <a:xfrm>
              <a:off x="2736" y="2593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3852" name="Text Box 18"/>
            <p:cNvSpPr txBox="1"/>
            <p:nvPr/>
          </p:nvSpPr>
          <p:spPr>
            <a:xfrm>
              <a:off x="3504" y="2485"/>
              <a:ext cx="19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endParaRPr lang="zh-CN" altLang="zh-CN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9"/>
          <p:cNvGrpSpPr/>
          <p:nvPr/>
        </p:nvGrpSpPr>
        <p:grpSpPr>
          <a:xfrm>
            <a:off x="3063875" y="4678363"/>
            <a:ext cx="4332288" cy="660399"/>
            <a:chOff x="970" y="2947"/>
            <a:chExt cx="2729" cy="416"/>
          </a:xfrm>
        </p:grpSpPr>
        <p:sp>
          <p:nvSpPr>
            <p:cNvPr id="333843" name="Text Box 20"/>
            <p:cNvSpPr txBox="1"/>
            <p:nvPr/>
          </p:nvSpPr>
          <p:spPr>
            <a:xfrm>
              <a:off x="970" y="2995"/>
              <a:ext cx="267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4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4      5     </a:t>
              </a:r>
              <a:r>
                <a:rPr lang="en-US" altLang="zh-CN" sz="16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6      7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3844" name="AutoShape 21"/>
            <p:cNvSpPr/>
            <p:nvPr/>
          </p:nvSpPr>
          <p:spPr>
            <a:xfrm>
              <a:off x="1728" y="3079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3845" name="AutoShape 22"/>
            <p:cNvSpPr/>
            <p:nvPr/>
          </p:nvSpPr>
          <p:spPr>
            <a:xfrm>
              <a:off x="2208" y="3079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3846" name="AutoShape 23"/>
            <p:cNvSpPr/>
            <p:nvPr/>
          </p:nvSpPr>
          <p:spPr>
            <a:xfrm>
              <a:off x="2736" y="3079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3847" name="Text Box 24"/>
            <p:cNvSpPr txBox="1"/>
            <p:nvPr/>
          </p:nvSpPr>
          <p:spPr>
            <a:xfrm>
              <a:off x="3504" y="2947"/>
              <a:ext cx="195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endParaRPr lang="zh-CN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7289" name="Text Box 25"/>
          <p:cNvSpPr txBox="1"/>
          <p:nvPr/>
        </p:nvSpPr>
        <p:spPr>
          <a:xfrm>
            <a:off x="2422525" y="5429250"/>
            <a:ext cx="6685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对于按 “偶校验” 配置的汉明码     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7290" name="Text Box 26"/>
          <p:cNvSpPr txBox="1"/>
          <p:nvPr/>
        </p:nvSpPr>
        <p:spPr>
          <a:xfrm>
            <a:off x="2422525" y="5962650"/>
            <a:ext cx="588010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不出错时   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= 0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= 0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= 0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7291" name="Text Box 27"/>
          <p:cNvSpPr txBox="1"/>
          <p:nvPr/>
        </p:nvSpPr>
        <p:spPr>
          <a:xfrm>
            <a:off x="3790950" y="2895600"/>
            <a:ext cx="7302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8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7292" name="Text Box 28"/>
          <p:cNvSpPr txBox="1"/>
          <p:nvPr/>
        </p:nvSpPr>
        <p:spPr>
          <a:xfrm>
            <a:off x="3790950" y="3657600"/>
            <a:ext cx="5549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28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7293" name="Text Box 29"/>
          <p:cNvSpPr txBox="1"/>
          <p:nvPr/>
        </p:nvSpPr>
        <p:spPr>
          <a:xfrm>
            <a:off x="3790950" y="4495800"/>
            <a:ext cx="55499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endParaRPr lang="en-US" altLang="zh-CN" sz="2800" b="1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7294" name="Text Box 30"/>
          <p:cNvSpPr txBox="1"/>
          <p:nvPr/>
        </p:nvSpPr>
        <p:spPr>
          <a:xfrm>
            <a:off x="5457825" y="1143000"/>
            <a:ext cx="59372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其位数与增添的检测位有关，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67295" name="Rectangle 3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3841" name="AutoShape 3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3842" name="日期占位符 5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7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7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7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7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7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67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6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26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/>
      <p:bldP spid="267268" grpId="0"/>
      <p:bldP spid="267269" grpId="0"/>
      <p:bldP spid="267270" grpId="0"/>
      <p:bldP spid="267289" grpId="0"/>
      <p:bldP spid="267290" grpId="0"/>
      <p:bldP spid="267291" grpId="0"/>
      <p:bldP spid="267292" grpId="0"/>
      <p:bldP spid="267293" grpId="0"/>
      <p:bldP spid="26729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2809875" y="2476500"/>
            <a:ext cx="5953125" cy="584201"/>
            <a:chOff x="810" y="1560"/>
            <a:chExt cx="3750" cy="368"/>
          </a:xfrm>
        </p:grpSpPr>
        <p:sp>
          <p:nvSpPr>
            <p:cNvPr id="334884" name="Text Box 3"/>
            <p:cNvSpPr txBox="1"/>
            <p:nvPr/>
          </p:nvSpPr>
          <p:spPr>
            <a:xfrm>
              <a:off x="810" y="1560"/>
              <a:ext cx="375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1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      3       5      7 =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4885" name="AutoShape 4"/>
            <p:cNvSpPr/>
            <p:nvPr/>
          </p:nvSpPr>
          <p:spPr>
            <a:xfrm>
              <a:off x="1536" y="1644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4886" name="AutoShape 5"/>
            <p:cNvSpPr/>
            <p:nvPr/>
          </p:nvSpPr>
          <p:spPr>
            <a:xfrm>
              <a:off x="2064" y="1644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4887" name="AutoShape 6"/>
            <p:cNvSpPr/>
            <p:nvPr/>
          </p:nvSpPr>
          <p:spPr>
            <a:xfrm>
              <a:off x="2640" y="1644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68295" name="Text Box 7"/>
          <p:cNvSpPr txBox="1"/>
          <p:nvPr/>
        </p:nvSpPr>
        <p:spPr>
          <a:xfrm>
            <a:off x="7226300" y="24765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无错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" name="Group 8"/>
          <p:cNvGrpSpPr/>
          <p:nvPr/>
        </p:nvGrpSpPr>
        <p:grpSpPr>
          <a:xfrm>
            <a:off x="2825750" y="3249613"/>
            <a:ext cx="5556250" cy="584199"/>
            <a:chOff x="820" y="2047"/>
            <a:chExt cx="3500" cy="368"/>
          </a:xfrm>
        </p:grpSpPr>
        <p:sp>
          <p:nvSpPr>
            <p:cNvPr id="334880" name="Text Box 9"/>
            <p:cNvSpPr txBox="1"/>
            <p:nvPr/>
          </p:nvSpPr>
          <p:spPr>
            <a:xfrm>
              <a:off x="820" y="2047"/>
              <a:ext cx="350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2      3       6      7 = 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4881" name="AutoShape 10"/>
            <p:cNvSpPr/>
            <p:nvPr/>
          </p:nvSpPr>
          <p:spPr>
            <a:xfrm>
              <a:off x="1536" y="2131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4882" name="AutoShape 11"/>
            <p:cNvSpPr/>
            <p:nvPr/>
          </p:nvSpPr>
          <p:spPr>
            <a:xfrm>
              <a:off x="2064" y="2131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4883" name="AutoShape 12"/>
            <p:cNvSpPr/>
            <p:nvPr/>
          </p:nvSpPr>
          <p:spPr>
            <a:xfrm>
              <a:off x="2640" y="2131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68301" name="Text Box 13"/>
          <p:cNvSpPr txBox="1"/>
          <p:nvPr/>
        </p:nvSpPr>
        <p:spPr>
          <a:xfrm>
            <a:off x="7226300" y="3249613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有错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14"/>
          <p:cNvGrpSpPr/>
          <p:nvPr/>
        </p:nvGrpSpPr>
        <p:grpSpPr>
          <a:xfrm>
            <a:off x="2825750" y="4076700"/>
            <a:ext cx="5403850" cy="584201"/>
            <a:chOff x="820" y="2568"/>
            <a:chExt cx="3404" cy="368"/>
          </a:xfrm>
        </p:grpSpPr>
        <p:sp>
          <p:nvSpPr>
            <p:cNvPr id="334876" name="Text Box 15"/>
            <p:cNvSpPr txBox="1"/>
            <p:nvPr/>
          </p:nvSpPr>
          <p:spPr>
            <a:xfrm>
              <a:off x="820" y="2568"/>
              <a:ext cx="340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4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4      5       6      7 = 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4877" name="AutoShape 16"/>
            <p:cNvSpPr/>
            <p:nvPr/>
          </p:nvSpPr>
          <p:spPr>
            <a:xfrm>
              <a:off x="1536" y="2652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4878" name="AutoShape 17"/>
            <p:cNvSpPr/>
            <p:nvPr/>
          </p:nvSpPr>
          <p:spPr>
            <a:xfrm>
              <a:off x="2064" y="2652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4879" name="AutoShape 18"/>
            <p:cNvSpPr/>
            <p:nvPr/>
          </p:nvSpPr>
          <p:spPr>
            <a:xfrm>
              <a:off x="2640" y="2652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68307" name="Text Box 19"/>
          <p:cNvSpPr txBox="1"/>
          <p:nvPr/>
        </p:nvSpPr>
        <p:spPr>
          <a:xfrm>
            <a:off x="7226300" y="40767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有错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8308" name="Text Box 20"/>
          <p:cNvSpPr txBox="1"/>
          <p:nvPr/>
        </p:nvSpPr>
        <p:spPr>
          <a:xfrm>
            <a:off x="2819400" y="4953000"/>
            <a:ext cx="4343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∴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　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= 110</a:t>
            </a:r>
            <a:endParaRPr lang="en-US" altLang="zh-CN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8309" name="Text Box 21"/>
          <p:cNvSpPr txBox="1"/>
          <p:nvPr/>
        </p:nvSpPr>
        <p:spPr>
          <a:xfrm>
            <a:off x="2590800" y="5638800"/>
            <a:ext cx="6177280" cy="113728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第 </a:t>
            </a:r>
            <a:r>
              <a:rPr lang="en-US" altLang="zh-CN" sz="3200" b="1" dirty="0">
                <a:latin typeface="Times New Roman" panose="02020603050405020304" pitchFamily="18" charset="0"/>
              </a:rPr>
              <a:t>6 </a:t>
            </a:r>
            <a:r>
              <a:rPr lang="zh-CN" altLang="en-US" sz="3200" b="1" dirty="0">
                <a:latin typeface="Times New Roman" panose="02020603050405020304" pitchFamily="18" charset="0"/>
              </a:rPr>
              <a:t>位出错，可纠正为 </a:t>
            </a:r>
            <a:r>
              <a:rPr lang="en-US" altLang="zh-CN" sz="3200" b="1" dirty="0">
                <a:latin typeface="Times New Roman" panose="02020603050405020304" pitchFamily="18" charset="0"/>
              </a:rPr>
              <a:t>01001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3200" b="1" dirty="0">
                <a:latin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</a:rPr>
              <a:t>，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</a:rPr>
              <a:t>故要求传送的信息为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0101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。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8310" name="Text Box 22"/>
          <p:cNvSpPr txBox="1"/>
          <p:nvPr/>
        </p:nvSpPr>
        <p:spPr>
          <a:xfrm>
            <a:off x="2751138" y="1828800"/>
            <a:ext cx="319246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纠错过程如下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34859" name="Text Box 23"/>
          <p:cNvSpPr txBox="1"/>
          <p:nvPr/>
        </p:nvSpPr>
        <p:spPr>
          <a:xfrm>
            <a:off x="1676400" y="457200"/>
            <a:ext cx="12115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en-US" altLang="zh-CN" sz="3600" b="1" dirty="0">
                <a:latin typeface="Times New Roman" panose="02020603050405020304" pitchFamily="18" charset="0"/>
              </a:rPr>
              <a:t>4.5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268312" name="Text Box 24"/>
          <p:cNvSpPr txBox="1"/>
          <p:nvPr/>
        </p:nvSpPr>
        <p:spPr>
          <a:xfrm>
            <a:off x="1965325" y="1828800"/>
            <a:ext cx="995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解：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5" name="Group 25"/>
          <p:cNvGrpSpPr/>
          <p:nvPr/>
        </p:nvGrpSpPr>
        <p:grpSpPr>
          <a:xfrm>
            <a:off x="1447800" y="457200"/>
            <a:ext cx="8920163" cy="1289051"/>
            <a:chOff x="-48" y="288"/>
            <a:chExt cx="5619" cy="812"/>
          </a:xfrm>
        </p:grpSpPr>
        <p:sp>
          <p:nvSpPr>
            <p:cNvPr id="334874" name="Text Box 26"/>
            <p:cNvSpPr txBox="1"/>
            <p:nvPr/>
          </p:nvSpPr>
          <p:spPr>
            <a:xfrm>
              <a:off x="0" y="288"/>
              <a:ext cx="4542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600" b="1" dirty="0">
                  <a:latin typeface="Times New Roman" panose="02020603050405020304" pitchFamily="18" charset="0"/>
                </a:rPr>
                <a:t>            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已知接收到的汉明码为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0100111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4875" name="Text Box 27"/>
            <p:cNvSpPr txBox="1"/>
            <p:nvPr/>
          </p:nvSpPr>
          <p:spPr>
            <a:xfrm>
              <a:off x="-48" y="732"/>
              <a:ext cx="561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（按配偶原则配置）试问要求传送的信息是什么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?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8316" name="Rectangle 2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29"/>
          <p:cNvGrpSpPr/>
          <p:nvPr/>
        </p:nvGrpSpPr>
        <p:grpSpPr>
          <a:xfrm>
            <a:off x="4324350" y="3657600"/>
            <a:ext cx="2303463" cy="522288"/>
            <a:chOff x="1764" y="2304"/>
            <a:chExt cx="1451" cy="329"/>
          </a:xfrm>
        </p:grpSpPr>
        <p:sp>
          <p:nvSpPr>
            <p:cNvPr id="334872" name="Text Box 30"/>
            <p:cNvSpPr txBox="1"/>
            <p:nvPr/>
          </p:nvSpPr>
          <p:spPr>
            <a:xfrm>
              <a:off x="1764" y="2304"/>
              <a:ext cx="34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buFont typeface="Wingdings" panose="05000000000000000000" pitchFamily="2" charset="2"/>
                <a:buChar char="ü"/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873" name="Text Box 31"/>
            <p:cNvSpPr txBox="1"/>
            <p:nvPr/>
          </p:nvSpPr>
          <p:spPr>
            <a:xfrm>
              <a:off x="2868" y="2304"/>
              <a:ext cx="34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buFont typeface="Wingdings" panose="05000000000000000000" pitchFamily="2" charset="2"/>
                <a:buChar char="ü"/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32"/>
          <p:cNvGrpSpPr/>
          <p:nvPr/>
        </p:nvGrpSpPr>
        <p:grpSpPr>
          <a:xfrm>
            <a:off x="4324350" y="4495800"/>
            <a:ext cx="2303463" cy="522288"/>
            <a:chOff x="1764" y="2832"/>
            <a:chExt cx="1451" cy="329"/>
          </a:xfrm>
        </p:grpSpPr>
        <p:sp>
          <p:nvSpPr>
            <p:cNvPr id="334870" name="Text Box 33"/>
            <p:cNvSpPr txBox="1"/>
            <p:nvPr/>
          </p:nvSpPr>
          <p:spPr>
            <a:xfrm>
              <a:off x="1764" y="2832"/>
              <a:ext cx="34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buFont typeface="Wingdings" panose="05000000000000000000" pitchFamily="2" charset="2"/>
                <a:buChar char="ü"/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4871" name="Text Box 34"/>
            <p:cNvSpPr txBox="1"/>
            <p:nvPr/>
          </p:nvSpPr>
          <p:spPr>
            <a:xfrm>
              <a:off x="2868" y="2832"/>
              <a:ext cx="34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buFont typeface="Wingdings" panose="05000000000000000000" pitchFamily="2" charset="2"/>
                <a:buChar char="ü"/>
              </a:pPr>
              <a:r>
                <a:rPr lang="en-US" altLang="zh-CN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endPara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35"/>
          <p:cNvGrpSpPr/>
          <p:nvPr/>
        </p:nvGrpSpPr>
        <p:grpSpPr>
          <a:xfrm>
            <a:off x="5305425" y="3338513"/>
            <a:ext cx="304800" cy="1263650"/>
            <a:chOff x="2256" y="2103"/>
            <a:chExt cx="192" cy="796"/>
          </a:xfrm>
        </p:grpSpPr>
        <p:sp>
          <p:nvSpPr>
            <p:cNvPr id="334868" name="AutoShape 36"/>
            <p:cNvSpPr/>
            <p:nvPr/>
          </p:nvSpPr>
          <p:spPr>
            <a:xfrm>
              <a:off x="2256" y="2103"/>
              <a:ext cx="192" cy="288"/>
            </a:xfrm>
            <a:prstGeom prst="flowChartAlternateProcess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4869" name="AutoShape 37"/>
            <p:cNvSpPr/>
            <p:nvPr/>
          </p:nvSpPr>
          <p:spPr>
            <a:xfrm>
              <a:off x="2256" y="2611"/>
              <a:ext cx="192" cy="288"/>
            </a:xfrm>
            <a:prstGeom prst="flowChartAlternateProcess">
              <a:avLst/>
            </a:prstGeom>
            <a:noFill/>
            <a:ln w="381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34866" name="AutoShape 3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4867" name="日期占位符 9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68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8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8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68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5" grpId="0"/>
      <p:bldP spid="268301" grpId="0"/>
      <p:bldP spid="268307" grpId="0"/>
      <p:bldP spid="268308" grpId="0"/>
      <p:bldP spid="268309" grpId="0"/>
      <p:bldP spid="268310" grpId="0"/>
      <p:bldP spid="26831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335874" name="Text Box 2"/>
          <p:cNvSpPr txBox="1"/>
          <p:nvPr/>
        </p:nvSpPr>
        <p:spPr>
          <a:xfrm>
            <a:off x="2057400" y="454025"/>
            <a:ext cx="13258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练习</a:t>
            </a:r>
            <a:r>
              <a:rPr lang="en-US" altLang="zh-CN" sz="3600" b="1" dirty="0">
                <a:latin typeface="Times New Roman" panose="02020603050405020304" pitchFamily="18" charset="0"/>
              </a:rPr>
              <a:t>2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3048000" y="1858963"/>
            <a:ext cx="4038600" cy="584199"/>
            <a:chOff x="960" y="1104"/>
            <a:chExt cx="2544" cy="368"/>
          </a:xfrm>
        </p:grpSpPr>
        <p:sp>
          <p:nvSpPr>
            <p:cNvPr id="335898" name="Text Box 4"/>
            <p:cNvSpPr txBox="1"/>
            <p:nvPr/>
          </p:nvSpPr>
          <p:spPr>
            <a:xfrm>
              <a:off x="960" y="1104"/>
              <a:ext cx="254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4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4     5      6     7 = 1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5899" name="AutoShape 5"/>
            <p:cNvSpPr/>
            <p:nvPr/>
          </p:nvSpPr>
          <p:spPr>
            <a:xfrm>
              <a:off x="1680" y="1188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5900" name="AutoShape 6"/>
            <p:cNvSpPr/>
            <p:nvPr/>
          </p:nvSpPr>
          <p:spPr>
            <a:xfrm>
              <a:off x="2160" y="1188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5901" name="AutoShape 7"/>
            <p:cNvSpPr/>
            <p:nvPr/>
          </p:nvSpPr>
          <p:spPr>
            <a:xfrm>
              <a:off x="2640" y="1188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3048000" y="2544763"/>
            <a:ext cx="4038600" cy="584199"/>
            <a:chOff x="960" y="1536"/>
            <a:chExt cx="2544" cy="368"/>
          </a:xfrm>
        </p:grpSpPr>
        <p:sp>
          <p:nvSpPr>
            <p:cNvPr id="335894" name="Text Box 9"/>
            <p:cNvSpPr txBox="1"/>
            <p:nvPr/>
          </p:nvSpPr>
          <p:spPr>
            <a:xfrm>
              <a:off x="960" y="1536"/>
              <a:ext cx="254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2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2     3      6     7 =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5895" name="AutoShape 10"/>
            <p:cNvSpPr/>
            <p:nvPr/>
          </p:nvSpPr>
          <p:spPr>
            <a:xfrm>
              <a:off x="1680" y="1620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5896" name="AutoShape 11"/>
            <p:cNvSpPr/>
            <p:nvPr/>
          </p:nvSpPr>
          <p:spPr>
            <a:xfrm>
              <a:off x="2160" y="1620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5897" name="AutoShape 12"/>
            <p:cNvSpPr/>
            <p:nvPr/>
          </p:nvSpPr>
          <p:spPr>
            <a:xfrm>
              <a:off x="2640" y="1620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3048000" y="3230563"/>
            <a:ext cx="4038600" cy="584199"/>
            <a:chOff x="960" y="1968"/>
            <a:chExt cx="2544" cy="368"/>
          </a:xfrm>
        </p:grpSpPr>
        <p:sp>
          <p:nvSpPr>
            <p:cNvPr id="335890" name="Text Box 14"/>
            <p:cNvSpPr txBox="1"/>
            <p:nvPr/>
          </p:nvSpPr>
          <p:spPr>
            <a:xfrm>
              <a:off x="960" y="1968"/>
              <a:ext cx="2544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P</a:t>
              </a:r>
              <a:r>
                <a:rPr lang="en-US" altLang="zh-CN" sz="3200" b="1" baseline="-25000" dirty="0">
                  <a:latin typeface="Times New Roman" panose="02020603050405020304" pitchFamily="18" charset="0"/>
                </a:rPr>
                <a:t>1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= 1     3      5     7 = 0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5891" name="AutoShape 15"/>
            <p:cNvSpPr/>
            <p:nvPr/>
          </p:nvSpPr>
          <p:spPr>
            <a:xfrm>
              <a:off x="1680" y="2052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5892" name="AutoShape 16"/>
            <p:cNvSpPr/>
            <p:nvPr/>
          </p:nvSpPr>
          <p:spPr>
            <a:xfrm>
              <a:off x="2160" y="2052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5893" name="AutoShape 17"/>
            <p:cNvSpPr/>
            <p:nvPr/>
          </p:nvSpPr>
          <p:spPr>
            <a:xfrm>
              <a:off x="2640" y="2052"/>
              <a:ext cx="192" cy="192"/>
            </a:xfrm>
            <a:prstGeom prst="flowChartOr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69330" name="Text Box 18"/>
          <p:cNvSpPr txBox="1"/>
          <p:nvPr/>
        </p:nvSpPr>
        <p:spPr>
          <a:xfrm>
            <a:off x="2438400" y="3886200"/>
            <a:ext cx="311023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∴  P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4 </a:t>
            </a:r>
            <a:r>
              <a:rPr lang="en-US" altLang="zh-CN" sz="3200" b="1" dirty="0"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2 </a:t>
            </a:r>
            <a:r>
              <a:rPr lang="en-US" altLang="zh-CN" sz="3200" b="1" dirty="0">
                <a:latin typeface="Times New Roman" panose="02020603050405020304" pitchFamily="18" charset="0"/>
              </a:rPr>
              <a:t>P</a:t>
            </a:r>
            <a:r>
              <a:rPr lang="en-US" altLang="zh-CN" sz="32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3200" b="1" dirty="0">
                <a:latin typeface="Times New Roman" panose="02020603050405020304" pitchFamily="18" charset="0"/>
              </a:rPr>
              <a:t> = 100</a:t>
            </a:r>
            <a:endParaRPr lang="en-US" altLang="zh-CN" sz="3200" b="1" dirty="0">
              <a:latin typeface="Times New Roman" panose="02020603050405020304" pitchFamily="18" charset="0"/>
            </a:endParaRPr>
          </a:p>
        </p:txBody>
      </p:sp>
      <p:sp>
        <p:nvSpPr>
          <p:cNvPr id="269331" name="Text Box 19"/>
          <p:cNvSpPr txBox="1"/>
          <p:nvPr/>
        </p:nvSpPr>
        <p:spPr>
          <a:xfrm>
            <a:off x="6019800" y="3835400"/>
            <a:ext cx="3459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第 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位错，可不纠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20"/>
          <p:cNvGrpSpPr/>
          <p:nvPr/>
        </p:nvGrpSpPr>
        <p:grpSpPr>
          <a:xfrm>
            <a:off x="3429000" y="509588"/>
            <a:ext cx="5059363" cy="1293813"/>
            <a:chOff x="1200" y="321"/>
            <a:chExt cx="3187" cy="815"/>
          </a:xfrm>
        </p:grpSpPr>
        <p:sp>
          <p:nvSpPr>
            <p:cNvPr id="335888" name="Text Box 21"/>
            <p:cNvSpPr txBox="1"/>
            <p:nvPr/>
          </p:nvSpPr>
          <p:spPr>
            <a:xfrm>
              <a:off x="1200" y="321"/>
              <a:ext cx="318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写出按偶校验配置的汉明码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5889" name="Text Box 22"/>
            <p:cNvSpPr txBox="1"/>
            <p:nvPr/>
          </p:nvSpPr>
          <p:spPr>
            <a:xfrm>
              <a:off x="1287" y="768"/>
              <a:ext cx="234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0101101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的纠错过程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3"/>
          <p:cNvGrpSpPr/>
          <p:nvPr/>
        </p:nvGrpSpPr>
        <p:grpSpPr>
          <a:xfrm>
            <a:off x="2057400" y="4900613"/>
            <a:ext cx="7018338" cy="666749"/>
            <a:chOff x="432" y="2895"/>
            <a:chExt cx="4421" cy="420"/>
          </a:xfrm>
        </p:grpSpPr>
        <p:sp>
          <p:nvSpPr>
            <p:cNvPr id="335886" name="Text Box 24"/>
            <p:cNvSpPr txBox="1"/>
            <p:nvPr/>
          </p:nvSpPr>
          <p:spPr>
            <a:xfrm>
              <a:off x="432" y="2895"/>
              <a:ext cx="835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600" b="1" dirty="0">
                  <a:latin typeface="Times New Roman" panose="02020603050405020304" pitchFamily="18" charset="0"/>
                </a:rPr>
                <a:t>练习</a:t>
              </a:r>
              <a:r>
                <a:rPr lang="en-US" altLang="zh-CN" sz="3600" b="1" dirty="0">
                  <a:latin typeface="Times New Roman" panose="02020603050405020304" pitchFamily="18" charset="0"/>
                </a:rPr>
                <a:t>3</a:t>
              </a:r>
              <a:endParaRPr lang="en-US" altLang="zh-CN" sz="3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5887" name="Text Box 25"/>
            <p:cNvSpPr txBox="1"/>
            <p:nvPr/>
          </p:nvSpPr>
          <p:spPr>
            <a:xfrm>
              <a:off x="1296" y="2947"/>
              <a:ext cx="355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3200" b="1" dirty="0">
                  <a:latin typeface="Times New Roman" panose="02020603050405020304" pitchFamily="18" charset="0"/>
                </a:rPr>
                <a:t>按配奇原则配置 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0011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的汉明码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69338" name="Text Box 26"/>
          <p:cNvSpPr txBox="1"/>
          <p:nvPr/>
        </p:nvSpPr>
        <p:spPr>
          <a:xfrm>
            <a:off x="3429000" y="5683250"/>
            <a:ext cx="47040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配奇的汉明码为 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01</a:t>
            </a:r>
            <a:r>
              <a:rPr lang="en-US" altLang="zh-CN" sz="3600" b="1" dirty="0">
                <a:latin typeface="Times New Roman" panose="02020603050405020304" pitchFamily="18" charset="0"/>
              </a:rPr>
              <a:t>0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3600" b="1" dirty="0">
                <a:latin typeface="Times New Roman" panose="02020603050405020304" pitchFamily="18" charset="0"/>
              </a:rPr>
              <a:t>011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269339" name="Rectangle 2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5884" name="AutoShape 2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5885" name="日期占位符 7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9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30" grpId="0"/>
      <p:bldP spid="269331" grpId="0"/>
      <p:bldP spid="26933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6898" name="Text Box 2"/>
          <p:cNvSpPr txBox="1"/>
          <p:nvPr/>
        </p:nvSpPr>
        <p:spPr>
          <a:xfrm>
            <a:off x="2057400" y="244475"/>
            <a:ext cx="5410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七、提高访存速度的措施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36899" name="Text Box 3"/>
          <p:cNvSpPr txBox="1"/>
          <p:nvPr/>
        </p:nvSpPr>
        <p:spPr>
          <a:xfrm>
            <a:off x="2817813" y="927100"/>
            <a:ext cx="30495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采用高速器件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36900" name="Text Box 4"/>
          <p:cNvSpPr txBox="1"/>
          <p:nvPr/>
        </p:nvSpPr>
        <p:spPr>
          <a:xfrm>
            <a:off x="2817813" y="2071688"/>
            <a:ext cx="28971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调整主存结构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36901" name="Text Box 5"/>
          <p:cNvSpPr txBox="1"/>
          <p:nvPr/>
        </p:nvSpPr>
        <p:spPr>
          <a:xfrm>
            <a:off x="2590800" y="2743200"/>
            <a:ext cx="3200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单体多字系统 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36902" name="Group 6"/>
          <p:cNvGrpSpPr/>
          <p:nvPr/>
        </p:nvGrpSpPr>
        <p:grpSpPr>
          <a:xfrm>
            <a:off x="2792413" y="3365500"/>
            <a:ext cx="7104062" cy="3305175"/>
            <a:chOff x="799" y="2120"/>
            <a:chExt cx="4475" cy="2082"/>
          </a:xfrm>
        </p:grpSpPr>
        <p:sp>
          <p:nvSpPr>
            <p:cNvPr id="336908" name="Rectangle 7"/>
            <p:cNvSpPr/>
            <p:nvPr/>
          </p:nvSpPr>
          <p:spPr>
            <a:xfrm>
              <a:off x="822" y="2491"/>
              <a:ext cx="290" cy="136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09" name="Rectangle 8"/>
            <p:cNvSpPr/>
            <p:nvPr/>
          </p:nvSpPr>
          <p:spPr>
            <a:xfrm>
              <a:off x="1546" y="2780"/>
              <a:ext cx="627" cy="28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10" name="Text Box 9"/>
            <p:cNvSpPr txBox="1"/>
            <p:nvPr/>
          </p:nvSpPr>
          <p:spPr>
            <a:xfrm>
              <a:off x="1594" y="2774"/>
              <a:ext cx="47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W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36911" name="Rectangle 10"/>
            <p:cNvSpPr/>
            <p:nvPr/>
          </p:nvSpPr>
          <p:spPr>
            <a:xfrm>
              <a:off x="2173" y="2780"/>
              <a:ext cx="628" cy="28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12" name="Text Box 11"/>
            <p:cNvSpPr txBox="1"/>
            <p:nvPr/>
          </p:nvSpPr>
          <p:spPr>
            <a:xfrm>
              <a:off x="2221" y="2774"/>
              <a:ext cx="47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W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36913" name="Rectangle 12"/>
            <p:cNvSpPr/>
            <p:nvPr/>
          </p:nvSpPr>
          <p:spPr>
            <a:xfrm>
              <a:off x="2801" y="2780"/>
              <a:ext cx="627" cy="28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14" name="Text Box 13"/>
            <p:cNvSpPr txBox="1"/>
            <p:nvPr/>
          </p:nvSpPr>
          <p:spPr>
            <a:xfrm>
              <a:off x="2849" y="2774"/>
              <a:ext cx="47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W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36915" name="Rectangle 14"/>
            <p:cNvSpPr/>
            <p:nvPr/>
          </p:nvSpPr>
          <p:spPr>
            <a:xfrm>
              <a:off x="3428" y="2780"/>
              <a:ext cx="627" cy="28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16" name="Text Box 15"/>
            <p:cNvSpPr txBox="1"/>
            <p:nvPr/>
          </p:nvSpPr>
          <p:spPr>
            <a:xfrm>
              <a:off x="3476" y="2774"/>
              <a:ext cx="47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W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6917" name="Rectangle 16"/>
            <p:cNvSpPr/>
            <p:nvPr/>
          </p:nvSpPr>
          <p:spPr>
            <a:xfrm>
              <a:off x="2511" y="2120"/>
              <a:ext cx="627" cy="28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18" name="Text Box 17"/>
            <p:cNvSpPr txBox="1"/>
            <p:nvPr/>
          </p:nvSpPr>
          <p:spPr>
            <a:xfrm>
              <a:off x="2559" y="2137"/>
              <a:ext cx="47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W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位</a:t>
              </a:r>
              <a:endParaRPr lang="zh-CN" altLang="en-US" sz="2400" b="1" i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36919" name="Group 18"/>
            <p:cNvGrpSpPr/>
            <p:nvPr/>
          </p:nvGrpSpPr>
          <p:grpSpPr>
            <a:xfrm>
              <a:off x="1546" y="3358"/>
              <a:ext cx="2509" cy="289"/>
              <a:chOff x="1546" y="3358"/>
              <a:chExt cx="2509" cy="289"/>
            </a:xfrm>
          </p:grpSpPr>
          <p:sp>
            <p:nvSpPr>
              <p:cNvPr id="336942" name="Rectangle 19"/>
              <p:cNvSpPr/>
              <p:nvPr/>
            </p:nvSpPr>
            <p:spPr>
              <a:xfrm>
                <a:off x="1546" y="3358"/>
                <a:ext cx="2509" cy="289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6943" name="Line 20"/>
              <p:cNvSpPr/>
              <p:nvPr/>
            </p:nvSpPr>
            <p:spPr>
              <a:xfrm>
                <a:off x="2173" y="3358"/>
                <a:ext cx="0" cy="28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36944" name="Line 21"/>
              <p:cNvSpPr/>
              <p:nvPr/>
            </p:nvSpPr>
            <p:spPr>
              <a:xfrm>
                <a:off x="2801" y="3358"/>
                <a:ext cx="0" cy="28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36945" name="Line 22"/>
              <p:cNvSpPr/>
              <p:nvPr/>
            </p:nvSpPr>
            <p:spPr>
              <a:xfrm>
                <a:off x="3428" y="3358"/>
                <a:ext cx="0" cy="28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sp>
          <p:nvSpPr>
            <p:cNvPr id="336920" name="AutoShape 23"/>
            <p:cNvSpPr/>
            <p:nvPr/>
          </p:nvSpPr>
          <p:spPr>
            <a:xfrm rot="5400000">
              <a:off x="1777" y="2385"/>
              <a:ext cx="166" cy="626"/>
            </a:xfrm>
            <a:prstGeom prst="leftBrace">
              <a:avLst>
                <a:gd name="adj1" fmla="val 31128"/>
                <a:gd name="adj2" fmla="val 50157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21" name="AutoShape 24"/>
            <p:cNvSpPr/>
            <p:nvPr/>
          </p:nvSpPr>
          <p:spPr>
            <a:xfrm rot="5400000">
              <a:off x="2404" y="2385"/>
              <a:ext cx="166" cy="626"/>
            </a:xfrm>
            <a:prstGeom prst="leftBrace">
              <a:avLst>
                <a:gd name="adj1" fmla="val 31128"/>
                <a:gd name="adj2" fmla="val 50157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22" name="AutoShape 25"/>
            <p:cNvSpPr/>
            <p:nvPr/>
          </p:nvSpPr>
          <p:spPr>
            <a:xfrm rot="5400000">
              <a:off x="3014" y="2367"/>
              <a:ext cx="166" cy="627"/>
            </a:xfrm>
            <a:prstGeom prst="leftBrace">
              <a:avLst>
                <a:gd name="adj1" fmla="val 31178"/>
                <a:gd name="adj2" fmla="val 50157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23" name="AutoShape 26"/>
            <p:cNvSpPr/>
            <p:nvPr/>
          </p:nvSpPr>
          <p:spPr>
            <a:xfrm rot="5400000">
              <a:off x="3659" y="2384"/>
              <a:ext cx="166" cy="626"/>
            </a:xfrm>
            <a:prstGeom prst="leftBrace">
              <a:avLst>
                <a:gd name="adj1" fmla="val 31128"/>
                <a:gd name="adj2" fmla="val 50157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24" name="Line 27"/>
            <p:cNvSpPr/>
            <p:nvPr/>
          </p:nvSpPr>
          <p:spPr>
            <a:xfrm flipV="1">
              <a:off x="1835" y="2409"/>
              <a:ext cx="676" cy="2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36925" name="Line 28"/>
            <p:cNvSpPr/>
            <p:nvPr/>
          </p:nvSpPr>
          <p:spPr>
            <a:xfrm flipH="1" flipV="1">
              <a:off x="3138" y="2409"/>
              <a:ext cx="627" cy="16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36926" name="Line 29"/>
            <p:cNvSpPr/>
            <p:nvPr/>
          </p:nvSpPr>
          <p:spPr>
            <a:xfrm flipV="1">
              <a:off x="2463" y="2409"/>
              <a:ext cx="289" cy="2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36927" name="Line 30"/>
            <p:cNvSpPr/>
            <p:nvPr/>
          </p:nvSpPr>
          <p:spPr>
            <a:xfrm flipH="1" flipV="1">
              <a:off x="2897" y="2409"/>
              <a:ext cx="193" cy="20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36928" name="Rectangle 31"/>
            <p:cNvSpPr/>
            <p:nvPr/>
          </p:nvSpPr>
          <p:spPr>
            <a:xfrm>
              <a:off x="2028" y="3936"/>
              <a:ext cx="1593" cy="24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29" name="Text Box 32"/>
            <p:cNvSpPr txBox="1"/>
            <p:nvPr/>
          </p:nvSpPr>
          <p:spPr>
            <a:xfrm>
              <a:off x="2268" y="3912"/>
              <a:ext cx="109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地址寄存器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6930" name="Text Box 33"/>
            <p:cNvSpPr txBox="1"/>
            <p:nvPr/>
          </p:nvSpPr>
          <p:spPr>
            <a:xfrm>
              <a:off x="799" y="2544"/>
              <a:ext cx="348" cy="113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主存控制器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6931" name="Line 34"/>
            <p:cNvSpPr/>
            <p:nvPr/>
          </p:nvSpPr>
          <p:spPr>
            <a:xfrm>
              <a:off x="1112" y="2904"/>
              <a:ext cx="43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36932" name="Line 35"/>
            <p:cNvSpPr/>
            <p:nvPr/>
          </p:nvSpPr>
          <p:spPr>
            <a:xfrm flipV="1">
              <a:off x="2270" y="3647"/>
              <a:ext cx="0" cy="2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36933" name="Line 36"/>
            <p:cNvSpPr/>
            <p:nvPr/>
          </p:nvSpPr>
          <p:spPr>
            <a:xfrm flipV="1">
              <a:off x="1787" y="3069"/>
              <a:ext cx="0" cy="2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36934" name="Line 37"/>
            <p:cNvSpPr/>
            <p:nvPr/>
          </p:nvSpPr>
          <p:spPr>
            <a:xfrm flipV="1">
              <a:off x="3717" y="3069"/>
              <a:ext cx="0" cy="2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36935" name="Line 38"/>
            <p:cNvSpPr/>
            <p:nvPr/>
          </p:nvSpPr>
          <p:spPr>
            <a:xfrm flipV="1">
              <a:off x="3283" y="3647"/>
              <a:ext cx="0" cy="28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36936" name="Text Box 39"/>
            <p:cNvSpPr txBox="1"/>
            <p:nvPr/>
          </p:nvSpPr>
          <p:spPr>
            <a:xfrm>
              <a:off x="2582" y="3554"/>
              <a:ext cx="49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. . . 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6937" name="Text Box 40"/>
            <p:cNvSpPr txBox="1"/>
            <p:nvPr/>
          </p:nvSpPr>
          <p:spPr>
            <a:xfrm>
              <a:off x="2582" y="2976"/>
              <a:ext cx="499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. . . 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6938" name="Freeform 41"/>
            <p:cNvSpPr/>
            <p:nvPr/>
          </p:nvSpPr>
          <p:spPr>
            <a:xfrm>
              <a:off x="967" y="3853"/>
              <a:ext cx="1061" cy="207"/>
            </a:xfrm>
            <a:custGeom>
              <a:avLst/>
              <a:gdLst>
                <a:gd name="txL" fmla="*/ 0 w 1056"/>
                <a:gd name="txT" fmla="*/ 0 h 240"/>
                <a:gd name="txR" fmla="*/ 1056 w 1056"/>
                <a:gd name="txB" fmla="*/ 240 h 240"/>
              </a:gdLst>
              <a:ahLst/>
              <a:cxnLst>
                <a:cxn ang="0">
                  <a:pos x="0" y="0"/>
                </a:cxn>
                <a:cxn ang="0">
                  <a:pos x="0" y="240"/>
                </a:cxn>
                <a:cxn ang="0">
                  <a:pos x="1056" y="240"/>
                </a:cxn>
              </a:cxnLst>
              <a:rect l="txL" t="txT" r="txR" b="txB"/>
              <a:pathLst>
                <a:path w="1056" h="240">
                  <a:moveTo>
                    <a:pt x="0" y="0"/>
                  </a:moveTo>
                  <a:lnTo>
                    <a:pt x="0" y="240"/>
                  </a:lnTo>
                  <a:lnTo>
                    <a:pt x="1056" y="24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6939" name="Text Box 42"/>
            <p:cNvSpPr txBox="1"/>
            <p:nvPr/>
          </p:nvSpPr>
          <p:spPr>
            <a:xfrm>
              <a:off x="3504" y="2173"/>
              <a:ext cx="131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单字长寄存器 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6940" name="Text Box 43"/>
            <p:cNvSpPr txBox="1"/>
            <p:nvPr/>
          </p:nvSpPr>
          <p:spPr>
            <a:xfrm>
              <a:off x="4151" y="2792"/>
              <a:ext cx="112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数据寄存器 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6941" name="Text Box 44"/>
            <p:cNvSpPr txBox="1"/>
            <p:nvPr/>
          </p:nvSpPr>
          <p:spPr>
            <a:xfrm>
              <a:off x="4151" y="3412"/>
              <a:ext cx="73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存储体 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36903" name="Text Box 45"/>
          <p:cNvSpPr txBox="1"/>
          <p:nvPr/>
        </p:nvSpPr>
        <p:spPr>
          <a:xfrm>
            <a:off x="2817813" y="1524000"/>
            <a:ext cx="490029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采用层次结构  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 </a:t>
            </a:r>
            <a:r>
              <a:rPr lang="en-US" altLang="en-US" sz="2800" b="1" dirty="0">
                <a:latin typeface="Times New Roman" panose="02020603050405020304" pitchFamily="18" charset="0"/>
              </a:rPr>
              <a:t>–</a:t>
            </a:r>
            <a:r>
              <a:rPr lang="zh-CN" altLang="en-US" sz="2800" b="1" dirty="0">
                <a:latin typeface="Times New Roman" panose="02020603050405020304" pitchFamily="18" charset="0"/>
              </a:rPr>
              <a:t>主存  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36904" name="AutoShape 46"/>
          <p:cNvSpPr/>
          <p:nvPr/>
        </p:nvSpPr>
        <p:spPr>
          <a:xfrm>
            <a:off x="6935788" y="2790825"/>
            <a:ext cx="3259412" cy="575902"/>
          </a:xfrm>
          <a:prstGeom prst="wedgeRoundRectCallout">
            <a:avLst>
              <a:gd name="adj1" fmla="val -89352"/>
              <a:gd name="adj2" fmla="val 33097"/>
              <a:gd name="adj3" fmla="val 16667"/>
            </a:avLst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增加存储器的带宽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 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0383" name="Rectangle 4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6906" name="AutoShape 4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690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8946" name="Text Box 2"/>
          <p:cNvSpPr txBox="1"/>
          <p:nvPr/>
        </p:nvSpPr>
        <p:spPr>
          <a:xfrm>
            <a:off x="2209800" y="152400"/>
            <a:ext cx="3657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多体并行系统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38947" name="Text Box 3"/>
          <p:cNvSpPr txBox="1"/>
          <p:nvPr/>
        </p:nvSpPr>
        <p:spPr>
          <a:xfrm>
            <a:off x="2422525" y="836613"/>
            <a:ext cx="54022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高位交叉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38948" name="Group 4"/>
          <p:cNvGrpSpPr/>
          <p:nvPr/>
        </p:nvGrpSpPr>
        <p:grpSpPr>
          <a:xfrm>
            <a:off x="2971800" y="1603375"/>
            <a:ext cx="7227888" cy="3195638"/>
            <a:chOff x="912" y="1010"/>
            <a:chExt cx="4553" cy="2013"/>
          </a:xfrm>
        </p:grpSpPr>
        <p:sp>
          <p:nvSpPr>
            <p:cNvPr id="338992" name="Text Box 5"/>
            <p:cNvSpPr txBox="1"/>
            <p:nvPr/>
          </p:nvSpPr>
          <p:spPr>
            <a:xfrm>
              <a:off x="1008" y="1010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0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38993" name="Group 6"/>
            <p:cNvGrpSpPr/>
            <p:nvPr/>
          </p:nvGrpSpPr>
          <p:grpSpPr>
            <a:xfrm>
              <a:off x="912" y="1387"/>
              <a:ext cx="567" cy="1636"/>
              <a:chOff x="624" y="1104"/>
              <a:chExt cx="567" cy="1636"/>
            </a:xfrm>
          </p:grpSpPr>
          <p:sp>
            <p:nvSpPr>
              <p:cNvPr id="339051" name="Rectangle 7"/>
              <p:cNvSpPr/>
              <p:nvPr/>
            </p:nvSpPr>
            <p:spPr>
              <a:xfrm>
                <a:off x="624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52" name="Rectangle 8"/>
              <p:cNvSpPr/>
              <p:nvPr/>
            </p:nvSpPr>
            <p:spPr>
              <a:xfrm>
                <a:off x="624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53" name="Rectangle 9"/>
              <p:cNvSpPr/>
              <p:nvPr/>
            </p:nvSpPr>
            <p:spPr>
              <a:xfrm>
                <a:off x="624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54" name="Rectangle 10"/>
              <p:cNvSpPr/>
              <p:nvPr/>
            </p:nvSpPr>
            <p:spPr>
              <a:xfrm>
                <a:off x="624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55" name="Rectangle 11"/>
              <p:cNvSpPr/>
              <p:nvPr/>
            </p:nvSpPr>
            <p:spPr>
              <a:xfrm>
                <a:off x="624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56" name="Rectangle 12"/>
              <p:cNvSpPr/>
              <p:nvPr/>
            </p:nvSpPr>
            <p:spPr>
              <a:xfrm>
                <a:off x="624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57" name="Line 13"/>
              <p:cNvSpPr/>
              <p:nvPr/>
            </p:nvSpPr>
            <p:spPr>
              <a:xfrm>
                <a:off x="624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58" name="Line 14"/>
              <p:cNvSpPr/>
              <p:nvPr/>
            </p:nvSpPr>
            <p:spPr>
              <a:xfrm>
                <a:off x="624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59" name="Line 15"/>
              <p:cNvSpPr/>
              <p:nvPr/>
            </p:nvSpPr>
            <p:spPr>
              <a:xfrm>
                <a:off x="624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60" name="Line 16"/>
              <p:cNvSpPr/>
              <p:nvPr/>
            </p:nvSpPr>
            <p:spPr>
              <a:xfrm>
                <a:off x="624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61" name="Line 17"/>
              <p:cNvSpPr/>
              <p:nvPr/>
            </p:nvSpPr>
            <p:spPr>
              <a:xfrm>
                <a:off x="624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62" name="Line 18"/>
              <p:cNvSpPr/>
              <p:nvPr/>
            </p:nvSpPr>
            <p:spPr>
              <a:xfrm>
                <a:off x="624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63" name="Line 19"/>
              <p:cNvSpPr/>
              <p:nvPr/>
            </p:nvSpPr>
            <p:spPr>
              <a:xfrm>
                <a:off x="624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64" name="Line 20"/>
              <p:cNvSpPr/>
              <p:nvPr/>
            </p:nvSpPr>
            <p:spPr>
              <a:xfrm>
                <a:off x="624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65" name="Line 21"/>
              <p:cNvSpPr/>
              <p:nvPr/>
            </p:nvSpPr>
            <p:spPr>
              <a:xfrm>
                <a:off x="1152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66" name="Text Box 22"/>
              <p:cNvSpPr txBox="1"/>
              <p:nvPr/>
            </p:nvSpPr>
            <p:spPr>
              <a:xfrm>
                <a:off x="766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067" name="Text Box 23"/>
              <p:cNvSpPr txBox="1"/>
              <p:nvPr/>
            </p:nvSpPr>
            <p:spPr>
              <a:xfrm>
                <a:off x="766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994" name="Text Box 24"/>
            <p:cNvSpPr txBox="1"/>
            <p:nvPr/>
          </p:nvSpPr>
          <p:spPr>
            <a:xfrm>
              <a:off x="2296" y="1010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38995" name="Group 25"/>
            <p:cNvGrpSpPr/>
            <p:nvPr/>
          </p:nvGrpSpPr>
          <p:grpSpPr>
            <a:xfrm>
              <a:off x="2222" y="1387"/>
              <a:ext cx="567" cy="1636"/>
              <a:chOff x="1807" y="1104"/>
              <a:chExt cx="567" cy="1636"/>
            </a:xfrm>
          </p:grpSpPr>
          <p:sp>
            <p:nvSpPr>
              <p:cNvPr id="339034" name="Rectangle 26"/>
              <p:cNvSpPr/>
              <p:nvPr/>
            </p:nvSpPr>
            <p:spPr>
              <a:xfrm>
                <a:off x="1807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35" name="Rectangle 27"/>
              <p:cNvSpPr/>
              <p:nvPr/>
            </p:nvSpPr>
            <p:spPr>
              <a:xfrm>
                <a:off x="1807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36" name="Rectangle 28"/>
              <p:cNvSpPr/>
              <p:nvPr/>
            </p:nvSpPr>
            <p:spPr>
              <a:xfrm>
                <a:off x="1807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37" name="Rectangle 29"/>
              <p:cNvSpPr/>
              <p:nvPr/>
            </p:nvSpPr>
            <p:spPr>
              <a:xfrm>
                <a:off x="1807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38" name="Rectangle 30"/>
              <p:cNvSpPr/>
              <p:nvPr/>
            </p:nvSpPr>
            <p:spPr>
              <a:xfrm>
                <a:off x="1807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39" name="Rectangle 31"/>
              <p:cNvSpPr/>
              <p:nvPr/>
            </p:nvSpPr>
            <p:spPr>
              <a:xfrm>
                <a:off x="1807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40" name="Line 32"/>
              <p:cNvSpPr/>
              <p:nvPr/>
            </p:nvSpPr>
            <p:spPr>
              <a:xfrm>
                <a:off x="1807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41" name="Line 33"/>
              <p:cNvSpPr/>
              <p:nvPr/>
            </p:nvSpPr>
            <p:spPr>
              <a:xfrm>
                <a:off x="1807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42" name="Line 34"/>
              <p:cNvSpPr/>
              <p:nvPr/>
            </p:nvSpPr>
            <p:spPr>
              <a:xfrm>
                <a:off x="1807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43" name="Line 35"/>
              <p:cNvSpPr/>
              <p:nvPr/>
            </p:nvSpPr>
            <p:spPr>
              <a:xfrm>
                <a:off x="1807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44" name="Line 36"/>
              <p:cNvSpPr/>
              <p:nvPr/>
            </p:nvSpPr>
            <p:spPr>
              <a:xfrm>
                <a:off x="1807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45" name="Line 37"/>
              <p:cNvSpPr/>
              <p:nvPr/>
            </p:nvSpPr>
            <p:spPr>
              <a:xfrm>
                <a:off x="1807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46" name="Line 38"/>
              <p:cNvSpPr/>
              <p:nvPr/>
            </p:nvSpPr>
            <p:spPr>
              <a:xfrm>
                <a:off x="1807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47" name="Line 39"/>
              <p:cNvSpPr/>
              <p:nvPr/>
            </p:nvSpPr>
            <p:spPr>
              <a:xfrm>
                <a:off x="1807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48" name="Line 40"/>
              <p:cNvSpPr/>
              <p:nvPr/>
            </p:nvSpPr>
            <p:spPr>
              <a:xfrm>
                <a:off x="2335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49" name="Text Box 41"/>
              <p:cNvSpPr txBox="1"/>
              <p:nvPr/>
            </p:nvSpPr>
            <p:spPr>
              <a:xfrm>
                <a:off x="1949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050" name="Text Box 42"/>
              <p:cNvSpPr txBox="1"/>
              <p:nvPr/>
            </p:nvSpPr>
            <p:spPr>
              <a:xfrm>
                <a:off x="1918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996" name="Text Box 43"/>
            <p:cNvSpPr txBox="1"/>
            <p:nvPr/>
          </p:nvSpPr>
          <p:spPr>
            <a:xfrm>
              <a:off x="3634" y="1010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2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38997" name="Text Box 44"/>
            <p:cNvSpPr txBox="1"/>
            <p:nvPr/>
          </p:nvSpPr>
          <p:spPr>
            <a:xfrm>
              <a:off x="4984" y="1010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3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38998" name="Group 45"/>
            <p:cNvGrpSpPr/>
            <p:nvPr/>
          </p:nvGrpSpPr>
          <p:grpSpPr>
            <a:xfrm>
              <a:off x="4888" y="1387"/>
              <a:ext cx="577" cy="1636"/>
              <a:chOff x="4271" y="1104"/>
              <a:chExt cx="577" cy="1636"/>
            </a:xfrm>
          </p:grpSpPr>
          <p:sp>
            <p:nvSpPr>
              <p:cNvPr id="339017" name="Rectangle 46"/>
              <p:cNvSpPr/>
              <p:nvPr/>
            </p:nvSpPr>
            <p:spPr>
              <a:xfrm>
                <a:off x="4271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18" name="Rectangle 47"/>
              <p:cNvSpPr/>
              <p:nvPr/>
            </p:nvSpPr>
            <p:spPr>
              <a:xfrm>
                <a:off x="4271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19" name="Rectangle 48"/>
              <p:cNvSpPr/>
              <p:nvPr/>
            </p:nvSpPr>
            <p:spPr>
              <a:xfrm>
                <a:off x="4271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20" name="Rectangle 49"/>
              <p:cNvSpPr/>
              <p:nvPr/>
            </p:nvSpPr>
            <p:spPr>
              <a:xfrm>
                <a:off x="4271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21" name="Rectangle 50"/>
              <p:cNvSpPr/>
              <p:nvPr/>
            </p:nvSpPr>
            <p:spPr>
              <a:xfrm>
                <a:off x="4271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22" name="Rectangle 51"/>
              <p:cNvSpPr/>
              <p:nvPr/>
            </p:nvSpPr>
            <p:spPr>
              <a:xfrm>
                <a:off x="4271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23" name="Line 52"/>
              <p:cNvSpPr/>
              <p:nvPr/>
            </p:nvSpPr>
            <p:spPr>
              <a:xfrm>
                <a:off x="4271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24" name="Line 53"/>
              <p:cNvSpPr/>
              <p:nvPr/>
            </p:nvSpPr>
            <p:spPr>
              <a:xfrm>
                <a:off x="4271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25" name="Line 54"/>
              <p:cNvSpPr/>
              <p:nvPr/>
            </p:nvSpPr>
            <p:spPr>
              <a:xfrm>
                <a:off x="4271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26" name="Line 55"/>
              <p:cNvSpPr/>
              <p:nvPr/>
            </p:nvSpPr>
            <p:spPr>
              <a:xfrm>
                <a:off x="4271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27" name="Line 56"/>
              <p:cNvSpPr/>
              <p:nvPr/>
            </p:nvSpPr>
            <p:spPr>
              <a:xfrm>
                <a:off x="4271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28" name="Line 57"/>
              <p:cNvSpPr/>
              <p:nvPr/>
            </p:nvSpPr>
            <p:spPr>
              <a:xfrm>
                <a:off x="4271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29" name="Line 58"/>
              <p:cNvSpPr/>
              <p:nvPr/>
            </p:nvSpPr>
            <p:spPr>
              <a:xfrm>
                <a:off x="4271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30" name="Line 59"/>
              <p:cNvSpPr/>
              <p:nvPr/>
            </p:nvSpPr>
            <p:spPr>
              <a:xfrm>
                <a:off x="4271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31" name="Line 60"/>
              <p:cNvSpPr/>
              <p:nvPr/>
            </p:nvSpPr>
            <p:spPr>
              <a:xfrm>
                <a:off x="4799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32" name="Text Box 61"/>
              <p:cNvSpPr txBox="1"/>
              <p:nvPr/>
            </p:nvSpPr>
            <p:spPr>
              <a:xfrm>
                <a:off x="4423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033" name="Text Box 62"/>
              <p:cNvSpPr txBox="1"/>
              <p:nvPr/>
            </p:nvSpPr>
            <p:spPr>
              <a:xfrm>
                <a:off x="4423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38999" name="Group 63"/>
            <p:cNvGrpSpPr/>
            <p:nvPr/>
          </p:nvGrpSpPr>
          <p:grpSpPr>
            <a:xfrm>
              <a:off x="3563" y="1387"/>
              <a:ext cx="542" cy="1636"/>
              <a:chOff x="3049" y="1104"/>
              <a:chExt cx="542" cy="1636"/>
            </a:xfrm>
          </p:grpSpPr>
          <p:sp>
            <p:nvSpPr>
              <p:cNvPr id="339000" name="Rectangle 64"/>
              <p:cNvSpPr/>
              <p:nvPr/>
            </p:nvSpPr>
            <p:spPr>
              <a:xfrm>
                <a:off x="3049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01" name="Rectangle 65"/>
              <p:cNvSpPr/>
              <p:nvPr/>
            </p:nvSpPr>
            <p:spPr>
              <a:xfrm>
                <a:off x="3049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02" name="Rectangle 66"/>
              <p:cNvSpPr/>
              <p:nvPr/>
            </p:nvSpPr>
            <p:spPr>
              <a:xfrm>
                <a:off x="3049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03" name="Rectangle 67"/>
              <p:cNvSpPr/>
              <p:nvPr/>
            </p:nvSpPr>
            <p:spPr>
              <a:xfrm>
                <a:off x="3049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04" name="Rectangle 68"/>
              <p:cNvSpPr/>
              <p:nvPr/>
            </p:nvSpPr>
            <p:spPr>
              <a:xfrm>
                <a:off x="3049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05" name="Rectangle 69"/>
              <p:cNvSpPr/>
              <p:nvPr/>
            </p:nvSpPr>
            <p:spPr>
              <a:xfrm>
                <a:off x="3049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9006" name="Line 70"/>
              <p:cNvSpPr/>
              <p:nvPr/>
            </p:nvSpPr>
            <p:spPr>
              <a:xfrm>
                <a:off x="3049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07" name="Line 71"/>
              <p:cNvSpPr/>
              <p:nvPr/>
            </p:nvSpPr>
            <p:spPr>
              <a:xfrm>
                <a:off x="3049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08" name="Line 72"/>
              <p:cNvSpPr/>
              <p:nvPr/>
            </p:nvSpPr>
            <p:spPr>
              <a:xfrm>
                <a:off x="3049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09" name="Line 73"/>
              <p:cNvSpPr/>
              <p:nvPr/>
            </p:nvSpPr>
            <p:spPr>
              <a:xfrm>
                <a:off x="3049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10" name="Line 74"/>
              <p:cNvSpPr/>
              <p:nvPr/>
            </p:nvSpPr>
            <p:spPr>
              <a:xfrm>
                <a:off x="3049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11" name="Line 75"/>
              <p:cNvSpPr/>
              <p:nvPr/>
            </p:nvSpPr>
            <p:spPr>
              <a:xfrm>
                <a:off x="3049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12" name="Line 76"/>
              <p:cNvSpPr/>
              <p:nvPr/>
            </p:nvSpPr>
            <p:spPr>
              <a:xfrm>
                <a:off x="3049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13" name="Line 77"/>
              <p:cNvSpPr/>
              <p:nvPr/>
            </p:nvSpPr>
            <p:spPr>
              <a:xfrm>
                <a:off x="3049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14" name="Line 78"/>
              <p:cNvSpPr/>
              <p:nvPr/>
            </p:nvSpPr>
            <p:spPr>
              <a:xfrm>
                <a:off x="3577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9015" name="Text Box 79"/>
              <p:cNvSpPr txBox="1"/>
              <p:nvPr/>
            </p:nvSpPr>
            <p:spPr>
              <a:xfrm>
                <a:off x="3152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9016" name="Text Box 80"/>
              <p:cNvSpPr txBox="1"/>
              <p:nvPr/>
            </p:nvSpPr>
            <p:spPr>
              <a:xfrm>
                <a:off x="3166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71441" name="Rectangle 8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8950" name="Group 82"/>
          <p:cNvGrpSpPr/>
          <p:nvPr/>
        </p:nvGrpSpPr>
        <p:grpSpPr>
          <a:xfrm>
            <a:off x="4551363" y="6096000"/>
            <a:ext cx="3273425" cy="454025"/>
            <a:chOff x="1907" y="3840"/>
            <a:chExt cx="2062" cy="286"/>
          </a:xfrm>
        </p:grpSpPr>
        <p:grpSp>
          <p:nvGrpSpPr>
            <p:cNvPr id="338986" name="Group 83"/>
            <p:cNvGrpSpPr/>
            <p:nvPr/>
          </p:nvGrpSpPr>
          <p:grpSpPr>
            <a:xfrm>
              <a:off x="1907" y="3840"/>
              <a:ext cx="2062" cy="286"/>
              <a:chOff x="1488" y="3840"/>
              <a:chExt cx="2062" cy="286"/>
            </a:xfrm>
          </p:grpSpPr>
          <p:sp>
            <p:nvSpPr>
              <p:cNvPr id="338988" name="Rectangle 84"/>
              <p:cNvSpPr/>
              <p:nvPr/>
            </p:nvSpPr>
            <p:spPr>
              <a:xfrm>
                <a:off x="2519" y="3840"/>
                <a:ext cx="1031" cy="28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8989" name="Text Box 85"/>
              <p:cNvSpPr txBox="1"/>
              <p:nvPr/>
            </p:nvSpPr>
            <p:spPr>
              <a:xfrm>
                <a:off x="2648" y="385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体内地址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990" name="Rectangle 86"/>
              <p:cNvSpPr/>
              <p:nvPr/>
            </p:nvSpPr>
            <p:spPr>
              <a:xfrm>
                <a:off x="1488" y="3840"/>
                <a:ext cx="1031" cy="28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38991" name="Text Box 87"/>
              <p:cNvSpPr txBox="1"/>
              <p:nvPr/>
            </p:nvSpPr>
            <p:spPr>
              <a:xfrm>
                <a:off x="1770" y="3851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体号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38987" name="Text Box 88"/>
            <p:cNvSpPr txBox="1"/>
            <p:nvPr/>
          </p:nvSpPr>
          <p:spPr>
            <a:xfrm>
              <a:off x="2189" y="3851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体号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8951" name="Group 89"/>
          <p:cNvGrpSpPr/>
          <p:nvPr/>
        </p:nvGrpSpPr>
        <p:grpSpPr>
          <a:xfrm>
            <a:off x="1774825" y="1603375"/>
            <a:ext cx="1127125" cy="3267076"/>
            <a:chOff x="158" y="1010"/>
            <a:chExt cx="710" cy="2058"/>
          </a:xfrm>
        </p:grpSpPr>
        <p:sp>
          <p:nvSpPr>
            <p:cNvPr id="338981" name="Text Box 90"/>
            <p:cNvSpPr txBox="1"/>
            <p:nvPr/>
          </p:nvSpPr>
          <p:spPr>
            <a:xfrm>
              <a:off x="295" y="1010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地址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38982" name="Group 91"/>
            <p:cNvGrpSpPr/>
            <p:nvPr/>
          </p:nvGrpSpPr>
          <p:grpSpPr>
            <a:xfrm>
              <a:off x="158" y="1339"/>
              <a:ext cx="710" cy="1729"/>
              <a:chOff x="158" y="1339"/>
              <a:chExt cx="710" cy="1729"/>
            </a:xfrm>
          </p:grpSpPr>
          <p:sp>
            <p:nvSpPr>
              <p:cNvPr id="338983" name="Text Box 92"/>
              <p:cNvSpPr txBox="1"/>
              <p:nvPr/>
            </p:nvSpPr>
            <p:spPr>
              <a:xfrm>
                <a:off x="204" y="1339"/>
                <a:ext cx="6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00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0000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984" name="Text Box 93"/>
              <p:cNvSpPr txBox="1"/>
              <p:nvPr/>
            </p:nvSpPr>
            <p:spPr>
              <a:xfrm>
                <a:off x="204" y="1548"/>
                <a:ext cx="6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00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0001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8985" name="Text Box 94"/>
              <p:cNvSpPr txBox="1"/>
              <p:nvPr/>
            </p:nvSpPr>
            <p:spPr>
              <a:xfrm>
                <a:off x="158" y="2817"/>
                <a:ext cx="6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00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1111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38952" name="Group 95"/>
          <p:cNvGrpSpPr/>
          <p:nvPr/>
        </p:nvGrpSpPr>
        <p:grpSpPr>
          <a:xfrm>
            <a:off x="4033838" y="2125663"/>
            <a:ext cx="1054100" cy="2744788"/>
            <a:chOff x="1581" y="1339"/>
            <a:chExt cx="664" cy="1729"/>
          </a:xfrm>
        </p:grpSpPr>
        <p:sp>
          <p:nvSpPr>
            <p:cNvPr id="338978" name="Text Box 96"/>
            <p:cNvSpPr txBox="1"/>
            <p:nvPr/>
          </p:nvSpPr>
          <p:spPr>
            <a:xfrm>
              <a:off x="1581" y="1339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01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0000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8979" name="Text Box 97"/>
            <p:cNvSpPr txBox="1"/>
            <p:nvPr/>
          </p:nvSpPr>
          <p:spPr>
            <a:xfrm>
              <a:off x="1581" y="1548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01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0001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8980" name="Text Box 98"/>
            <p:cNvSpPr txBox="1"/>
            <p:nvPr/>
          </p:nvSpPr>
          <p:spPr>
            <a:xfrm>
              <a:off x="1581" y="2817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01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1111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8953" name="Group 99"/>
          <p:cNvGrpSpPr/>
          <p:nvPr/>
        </p:nvGrpSpPr>
        <p:grpSpPr>
          <a:xfrm>
            <a:off x="6121400" y="2125663"/>
            <a:ext cx="1054100" cy="2744788"/>
            <a:chOff x="2896" y="1339"/>
            <a:chExt cx="664" cy="1729"/>
          </a:xfrm>
        </p:grpSpPr>
        <p:sp>
          <p:nvSpPr>
            <p:cNvPr id="338975" name="Text Box 100"/>
            <p:cNvSpPr txBox="1"/>
            <p:nvPr/>
          </p:nvSpPr>
          <p:spPr>
            <a:xfrm>
              <a:off x="2896" y="1339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0000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8976" name="Text Box 101"/>
            <p:cNvSpPr txBox="1"/>
            <p:nvPr/>
          </p:nvSpPr>
          <p:spPr>
            <a:xfrm>
              <a:off x="2896" y="1548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0001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8977" name="Text Box 102"/>
            <p:cNvSpPr txBox="1"/>
            <p:nvPr/>
          </p:nvSpPr>
          <p:spPr>
            <a:xfrm>
              <a:off x="2896" y="2817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10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1111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8954" name="Group 103"/>
          <p:cNvGrpSpPr/>
          <p:nvPr/>
        </p:nvGrpSpPr>
        <p:grpSpPr>
          <a:xfrm>
            <a:off x="8183563" y="2125663"/>
            <a:ext cx="1054100" cy="2744788"/>
            <a:chOff x="4195" y="1339"/>
            <a:chExt cx="664" cy="1729"/>
          </a:xfrm>
        </p:grpSpPr>
        <p:sp>
          <p:nvSpPr>
            <p:cNvPr id="338972" name="Text Box 104"/>
            <p:cNvSpPr txBox="1"/>
            <p:nvPr/>
          </p:nvSpPr>
          <p:spPr>
            <a:xfrm>
              <a:off x="4195" y="1339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0000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8973" name="Text Box 105"/>
            <p:cNvSpPr txBox="1"/>
            <p:nvPr/>
          </p:nvSpPr>
          <p:spPr>
            <a:xfrm>
              <a:off x="4195" y="1548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0001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38974" name="Text Box 106"/>
            <p:cNvSpPr txBox="1"/>
            <p:nvPr/>
          </p:nvSpPr>
          <p:spPr>
            <a:xfrm>
              <a:off x="4195" y="2817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1111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8955" name="Group 107"/>
          <p:cNvGrpSpPr/>
          <p:nvPr/>
        </p:nvGrpSpPr>
        <p:grpSpPr>
          <a:xfrm>
            <a:off x="1973263" y="4926013"/>
            <a:ext cx="6408737" cy="447675"/>
            <a:chOff x="283" y="3103"/>
            <a:chExt cx="4037" cy="282"/>
          </a:xfrm>
        </p:grpSpPr>
        <p:sp>
          <p:nvSpPr>
            <p:cNvPr id="338967" name="Line 108"/>
            <p:cNvSpPr/>
            <p:nvPr/>
          </p:nvSpPr>
          <p:spPr>
            <a:xfrm>
              <a:off x="283" y="3385"/>
              <a:ext cx="4037" cy="0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968" name="Line 109"/>
            <p:cNvSpPr/>
            <p:nvPr/>
          </p:nvSpPr>
          <p:spPr>
            <a:xfrm>
              <a:off x="295" y="3113"/>
              <a:ext cx="0" cy="272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8969" name="Line 110"/>
            <p:cNvSpPr/>
            <p:nvPr/>
          </p:nvSpPr>
          <p:spPr>
            <a:xfrm>
              <a:off x="1701" y="3103"/>
              <a:ext cx="0" cy="272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8970" name="Line 111"/>
            <p:cNvSpPr/>
            <p:nvPr/>
          </p:nvSpPr>
          <p:spPr>
            <a:xfrm>
              <a:off x="3016" y="3113"/>
              <a:ext cx="0" cy="272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8971" name="Line 112"/>
            <p:cNvSpPr/>
            <p:nvPr/>
          </p:nvSpPr>
          <p:spPr>
            <a:xfrm>
              <a:off x="4298" y="3113"/>
              <a:ext cx="0" cy="272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none" w="med" len="med"/>
            </a:ln>
          </p:spPr>
        </p:sp>
      </p:grpSp>
      <p:sp>
        <p:nvSpPr>
          <p:cNvPr id="338956" name="Line 113"/>
          <p:cNvSpPr/>
          <p:nvPr/>
        </p:nvSpPr>
        <p:spPr>
          <a:xfrm>
            <a:off x="5321300" y="5373688"/>
            <a:ext cx="0" cy="719137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stealth" w="med" len="med"/>
            <a:tailEnd type="none" w="med" len="med"/>
          </a:ln>
        </p:spPr>
      </p:sp>
      <p:grpSp>
        <p:nvGrpSpPr>
          <p:cNvPr id="338957" name="Group 114"/>
          <p:cNvGrpSpPr/>
          <p:nvPr/>
        </p:nvGrpSpPr>
        <p:grpSpPr>
          <a:xfrm>
            <a:off x="2400300" y="4941888"/>
            <a:ext cx="6424613" cy="719137"/>
            <a:chOff x="552" y="3113"/>
            <a:chExt cx="4047" cy="453"/>
          </a:xfrm>
        </p:grpSpPr>
        <p:sp>
          <p:nvSpPr>
            <p:cNvPr id="338962" name="Line 115"/>
            <p:cNvSpPr/>
            <p:nvPr/>
          </p:nvSpPr>
          <p:spPr>
            <a:xfrm>
              <a:off x="552" y="3566"/>
              <a:ext cx="4047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963" name="Line 116"/>
            <p:cNvSpPr/>
            <p:nvPr/>
          </p:nvSpPr>
          <p:spPr>
            <a:xfrm>
              <a:off x="567" y="3113"/>
              <a:ext cx="0" cy="453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8964" name="Line 117"/>
            <p:cNvSpPr/>
            <p:nvPr/>
          </p:nvSpPr>
          <p:spPr>
            <a:xfrm>
              <a:off x="1973" y="3113"/>
              <a:ext cx="0" cy="453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8965" name="Line 118"/>
            <p:cNvSpPr/>
            <p:nvPr/>
          </p:nvSpPr>
          <p:spPr>
            <a:xfrm>
              <a:off x="3288" y="3113"/>
              <a:ext cx="0" cy="453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8966" name="Line 119"/>
            <p:cNvSpPr/>
            <p:nvPr/>
          </p:nvSpPr>
          <p:spPr>
            <a:xfrm>
              <a:off x="4582" y="3113"/>
              <a:ext cx="0" cy="453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stealth" w="med" len="med"/>
              <a:tailEnd type="none" w="med" len="med"/>
            </a:ln>
          </p:spPr>
        </p:sp>
      </p:grpSp>
      <p:sp>
        <p:nvSpPr>
          <p:cNvPr id="338958" name="Line 120"/>
          <p:cNvSpPr/>
          <p:nvPr/>
        </p:nvSpPr>
        <p:spPr>
          <a:xfrm>
            <a:off x="6959600" y="5661025"/>
            <a:ext cx="0" cy="431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stealth" w="med" len="med"/>
            <a:tailEnd type="none" w="med" len="med"/>
          </a:ln>
        </p:spPr>
      </p:sp>
      <p:sp>
        <p:nvSpPr>
          <p:cNvPr id="338959" name="Text Box 121"/>
          <p:cNvSpPr txBox="1"/>
          <p:nvPr/>
        </p:nvSpPr>
        <p:spPr>
          <a:xfrm>
            <a:off x="5448300" y="836613"/>
            <a:ext cx="54022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顺序编址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38960" name="AutoShape 12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896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39970" name="Group 2"/>
          <p:cNvGrpSpPr/>
          <p:nvPr/>
        </p:nvGrpSpPr>
        <p:grpSpPr>
          <a:xfrm>
            <a:off x="2971800" y="1268413"/>
            <a:ext cx="7227888" cy="3195637"/>
            <a:chOff x="912" y="1010"/>
            <a:chExt cx="4553" cy="2013"/>
          </a:xfrm>
        </p:grpSpPr>
        <p:sp>
          <p:nvSpPr>
            <p:cNvPr id="340014" name="Text Box 3"/>
            <p:cNvSpPr txBox="1"/>
            <p:nvPr/>
          </p:nvSpPr>
          <p:spPr>
            <a:xfrm>
              <a:off x="1008" y="1010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0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40015" name="Group 4"/>
            <p:cNvGrpSpPr/>
            <p:nvPr/>
          </p:nvGrpSpPr>
          <p:grpSpPr>
            <a:xfrm>
              <a:off x="912" y="1387"/>
              <a:ext cx="567" cy="1636"/>
              <a:chOff x="624" y="1104"/>
              <a:chExt cx="567" cy="1636"/>
            </a:xfrm>
          </p:grpSpPr>
          <p:sp>
            <p:nvSpPr>
              <p:cNvPr id="340073" name="Rectangle 5"/>
              <p:cNvSpPr/>
              <p:nvPr/>
            </p:nvSpPr>
            <p:spPr>
              <a:xfrm>
                <a:off x="624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74" name="Rectangle 6"/>
              <p:cNvSpPr/>
              <p:nvPr/>
            </p:nvSpPr>
            <p:spPr>
              <a:xfrm>
                <a:off x="624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75" name="Rectangle 7"/>
              <p:cNvSpPr/>
              <p:nvPr/>
            </p:nvSpPr>
            <p:spPr>
              <a:xfrm>
                <a:off x="624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76" name="Rectangle 8"/>
              <p:cNvSpPr/>
              <p:nvPr/>
            </p:nvSpPr>
            <p:spPr>
              <a:xfrm>
                <a:off x="624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77" name="Rectangle 9"/>
              <p:cNvSpPr/>
              <p:nvPr/>
            </p:nvSpPr>
            <p:spPr>
              <a:xfrm>
                <a:off x="624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78" name="Rectangle 10"/>
              <p:cNvSpPr/>
              <p:nvPr/>
            </p:nvSpPr>
            <p:spPr>
              <a:xfrm>
                <a:off x="624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79" name="Line 11"/>
              <p:cNvSpPr/>
              <p:nvPr/>
            </p:nvSpPr>
            <p:spPr>
              <a:xfrm>
                <a:off x="624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80" name="Line 12"/>
              <p:cNvSpPr/>
              <p:nvPr/>
            </p:nvSpPr>
            <p:spPr>
              <a:xfrm>
                <a:off x="624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81" name="Line 13"/>
              <p:cNvSpPr/>
              <p:nvPr/>
            </p:nvSpPr>
            <p:spPr>
              <a:xfrm>
                <a:off x="624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82" name="Line 14"/>
              <p:cNvSpPr/>
              <p:nvPr/>
            </p:nvSpPr>
            <p:spPr>
              <a:xfrm>
                <a:off x="624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83" name="Line 15"/>
              <p:cNvSpPr/>
              <p:nvPr/>
            </p:nvSpPr>
            <p:spPr>
              <a:xfrm>
                <a:off x="624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84" name="Line 16"/>
              <p:cNvSpPr/>
              <p:nvPr/>
            </p:nvSpPr>
            <p:spPr>
              <a:xfrm>
                <a:off x="624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85" name="Line 17"/>
              <p:cNvSpPr/>
              <p:nvPr/>
            </p:nvSpPr>
            <p:spPr>
              <a:xfrm>
                <a:off x="624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86" name="Line 18"/>
              <p:cNvSpPr/>
              <p:nvPr/>
            </p:nvSpPr>
            <p:spPr>
              <a:xfrm>
                <a:off x="624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87" name="Line 19"/>
              <p:cNvSpPr/>
              <p:nvPr/>
            </p:nvSpPr>
            <p:spPr>
              <a:xfrm>
                <a:off x="1152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88" name="Text Box 20"/>
              <p:cNvSpPr txBox="1"/>
              <p:nvPr/>
            </p:nvSpPr>
            <p:spPr>
              <a:xfrm>
                <a:off x="766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0089" name="Text Box 21"/>
              <p:cNvSpPr txBox="1"/>
              <p:nvPr/>
            </p:nvSpPr>
            <p:spPr>
              <a:xfrm>
                <a:off x="766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40016" name="Text Box 22"/>
            <p:cNvSpPr txBox="1"/>
            <p:nvPr/>
          </p:nvSpPr>
          <p:spPr>
            <a:xfrm>
              <a:off x="2296" y="1010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40017" name="Group 23"/>
            <p:cNvGrpSpPr/>
            <p:nvPr/>
          </p:nvGrpSpPr>
          <p:grpSpPr>
            <a:xfrm>
              <a:off x="2222" y="1387"/>
              <a:ext cx="567" cy="1636"/>
              <a:chOff x="1807" y="1104"/>
              <a:chExt cx="567" cy="1636"/>
            </a:xfrm>
          </p:grpSpPr>
          <p:sp>
            <p:nvSpPr>
              <p:cNvPr id="340056" name="Rectangle 24"/>
              <p:cNvSpPr/>
              <p:nvPr/>
            </p:nvSpPr>
            <p:spPr>
              <a:xfrm>
                <a:off x="1807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57" name="Rectangle 25"/>
              <p:cNvSpPr/>
              <p:nvPr/>
            </p:nvSpPr>
            <p:spPr>
              <a:xfrm>
                <a:off x="1807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58" name="Rectangle 26"/>
              <p:cNvSpPr/>
              <p:nvPr/>
            </p:nvSpPr>
            <p:spPr>
              <a:xfrm>
                <a:off x="1807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59" name="Rectangle 27"/>
              <p:cNvSpPr/>
              <p:nvPr/>
            </p:nvSpPr>
            <p:spPr>
              <a:xfrm>
                <a:off x="1807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60" name="Rectangle 28"/>
              <p:cNvSpPr/>
              <p:nvPr/>
            </p:nvSpPr>
            <p:spPr>
              <a:xfrm>
                <a:off x="1807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61" name="Rectangle 29"/>
              <p:cNvSpPr/>
              <p:nvPr/>
            </p:nvSpPr>
            <p:spPr>
              <a:xfrm>
                <a:off x="1807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62" name="Line 30"/>
              <p:cNvSpPr/>
              <p:nvPr/>
            </p:nvSpPr>
            <p:spPr>
              <a:xfrm>
                <a:off x="1807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63" name="Line 31"/>
              <p:cNvSpPr/>
              <p:nvPr/>
            </p:nvSpPr>
            <p:spPr>
              <a:xfrm>
                <a:off x="1807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64" name="Line 32"/>
              <p:cNvSpPr/>
              <p:nvPr/>
            </p:nvSpPr>
            <p:spPr>
              <a:xfrm>
                <a:off x="1807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65" name="Line 33"/>
              <p:cNvSpPr/>
              <p:nvPr/>
            </p:nvSpPr>
            <p:spPr>
              <a:xfrm>
                <a:off x="1807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66" name="Line 34"/>
              <p:cNvSpPr/>
              <p:nvPr/>
            </p:nvSpPr>
            <p:spPr>
              <a:xfrm>
                <a:off x="1807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67" name="Line 35"/>
              <p:cNvSpPr/>
              <p:nvPr/>
            </p:nvSpPr>
            <p:spPr>
              <a:xfrm>
                <a:off x="1807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68" name="Line 36"/>
              <p:cNvSpPr/>
              <p:nvPr/>
            </p:nvSpPr>
            <p:spPr>
              <a:xfrm>
                <a:off x="1807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69" name="Line 37"/>
              <p:cNvSpPr/>
              <p:nvPr/>
            </p:nvSpPr>
            <p:spPr>
              <a:xfrm>
                <a:off x="1807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70" name="Line 38"/>
              <p:cNvSpPr/>
              <p:nvPr/>
            </p:nvSpPr>
            <p:spPr>
              <a:xfrm>
                <a:off x="2335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71" name="Text Box 39"/>
              <p:cNvSpPr txBox="1"/>
              <p:nvPr/>
            </p:nvSpPr>
            <p:spPr>
              <a:xfrm>
                <a:off x="1949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0072" name="Text Box 40"/>
              <p:cNvSpPr txBox="1"/>
              <p:nvPr/>
            </p:nvSpPr>
            <p:spPr>
              <a:xfrm>
                <a:off x="1918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40018" name="Text Box 41"/>
            <p:cNvSpPr txBox="1"/>
            <p:nvPr/>
          </p:nvSpPr>
          <p:spPr>
            <a:xfrm>
              <a:off x="3634" y="1010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2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40019" name="Text Box 42"/>
            <p:cNvSpPr txBox="1"/>
            <p:nvPr/>
          </p:nvSpPr>
          <p:spPr>
            <a:xfrm>
              <a:off x="4984" y="1010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3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40020" name="Group 43"/>
            <p:cNvGrpSpPr/>
            <p:nvPr/>
          </p:nvGrpSpPr>
          <p:grpSpPr>
            <a:xfrm>
              <a:off x="4888" y="1387"/>
              <a:ext cx="577" cy="1636"/>
              <a:chOff x="4271" y="1104"/>
              <a:chExt cx="577" cy="1636"/>
            </a:xfrm>
          </p:grpSpPr>
          <p:sp>
            <p:nvSpPr>
              <p:cNvPr id="340039" name="Rectangle 44"/>
              <p:cNvSpPr/>
              <p:nvPr/>
            </p:nvSpPr>
            <p:spPr>
              <a:xfrm>
                <a:off x="4271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40" name="Rectangle 45"/>
              <p:cNvSpPr/>
              <p:nvPr/>
            </p:nvSpPr>
            <p:spPr>
              <a:xfrm>
                <a:off x="4271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41" name="Rectangle 46"/>
              <p:cNvSpPr/>
              <p:nvPr/>
            </p:nvSpPr>
            <p:spPr>
              <a:xfrm>
                <a:off x="4271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42" name="Rectangle 47"/>
              <p:cNvSpPr/>
              <p:nvPr/>
            </p:nvSpPr>
            <p:spPr>
              <a:xfrm>
                <a:off x="4271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43" name="Rectangle 48"/>
              <p:cNvSpPr/>
              <p:nvPr/>
            </p:nvSpPr>
            <p:spPr>
              <a:xfrm>
                <a:off x="4271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44" name="Rectangle 49"/>
              <p:cNvSpPr/>
              <p:nvPr/>
            </p:nvSpPr>
            <p:spPr>
              <a:xfrm>
                <a:off x="4271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45" name="Line 50"/>
              <p:cNvSpPr/>
              <p:nvPr/>
            </p:nvSpPr>
            <p:spPr>
              <a:xfrm>
                <a:off x="4271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46" name="Line 51"/>
              <p:cNvSpPr/>
              <p:nvPr/>
            </p:nvSpPr>
            <p:spPr>
              <a:xfrm>
                <a:off x="4271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47" name="Line 52"/>
              <p:cNvSpPr/>
              <p:nvPr/>
            </p:nvSpPr>
            <p:spPr>
              <a:xfrm>
                <a:off x="4271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48" name="Line 53"/>
              <p:cNvSpPr/>
              <p:nvPr/>
            </p:nvSpPr>
            <p:spPr>
              <a:xfrm>
                <a:off x="4271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49" name="Line 54"/>
              <p:cNvSpPr/>
              <p:nvPr/>
            </p:nvSpPr>
            <p:spPr>
              <a:xfrm>
                <a:off x="4271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50" name="Line 55"/>
              <p:cNvSpPr/>
              <p:nvPr/>
            </p:nvSpPr>
            <p:spPr>
              <a:xfrm>
                <a:off x="4271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51" name="Line 56"/>
              <p:cNvSpPr/>
              <p:nvPr/>
            </p:nvSpPr>
            <p:spPr>
              <a:xfrm>
                <a:off x="4271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52" name="Line 57"/>
              <p:cNvSpPr/>
              <p:nvPr/>
            </p:nvSpPr>
            <p:spPr>
              <a:xfrm>
                <a:off x="4271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53" name="Line 58"/>
              <p:cNvSpPr/>
              <p:nvPr/>
            </p:nvSpPr>
            <p:spPr>
              <a:xfrm>
                <a:off x="4799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54" name="Text Box 59"/>
              <p:cNvSpPr txBox="1"/>
              <p:nvPr/>
            </p:nvSpPr>
            <p:spPr>
              <a:xfrm>
                <a:off x="4423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0055" name="Text Box 60"/>
              <p:cNvSpPr txBox="1"/>
              <p:nvPr/>
            </p:nvSpPr>
            <p:spPr>
              <a:xfrm>
                <a:off x="4423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40021" name="Group 61"/>
            <p:cNvGrpSpPr/>
            <p:nvPr/>
          </p:nvGrpSpPr>
          <p:grpSpPr>
            <a:xfrm>
              <a:off x="3563" y="1387"/>
              <a:ext cx="542" cy="1636"/>
              <a:chOff x="3049" y="1104"/>
              <a:chExt cx="542" cy="1636"/>
            </a:xfrm>
          </p:grpSpPr>
          <p:sp>
            <p:nvSpPr>
              <p:cNvPr id="340022" name="Rectangle 62"/>
              <p:cNvSpPr/>
              <p:nvPr/>
            </p:nvSpPr>
            <p:spPr>
              <a:xfrm>
                <a:off x="3049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23" name="Rectangle 63"/>
              <p:cNvSpPr/>
              <p:nvPr/>
            </p:nvSpPr>
            <p:spPr>
              <a:xfrm>
                <a:off x="3049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24" name="Rectangle 64"/>
              <p:cNvSpPr/>
              <p:nvPr/>
            </p:nvSpPr>
            <p:spPr>
              <a:xfrm>
                <a:off x="3049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25" name="Rectangle 65"/>
              <p:cNvSpPr/>
              <p:nvPr/>
            </p:nvSpPr>
            <p:spPr>
              <a:xfrm>
                <a:off x="3049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26" name="Rectangle 66"/>
              <p:cNvSpPr/>
              <p:nvPr/>
            </p:nvSpPr>
            <p:spPr>
              <a:xfrm>
                <a:off x="3049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27" name="Rectangle 67"/>
              <p:cNvSpPr/>
              <p:nvPr/>
            </p:nvSpPr>
            <p:spPr>
              <a:xfrm>
                <a:off x="3049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28" name="Line 68"/>
              <p:cNvSpPr/>
              <p:nvPr/>
            </p:nvSpPr>
            <p:spPr>
              <a:xfrm>
                <a:off x="3049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29" name="Line 69"/>
              <p:cNvSpPr/>
              <p:nvPr/>
            </p:nvSpPr>
            <p:spPr>
              <a:xfrm>
                <a:off x="3049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30" name="Line 70"/>
              <p:cNvSpPr/>
              <p:nvPr/>
            </p:nvSpPr>
            <p:spPr>
              <a:xfrm>
                <a:off x="3049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31" name="Line 71"/>
              <p:cNvSpPr/>
              <p:nvPr/>
            </p:nvSpPr>
            <p:spPr>
              <a:xfrm>
                <a:off x="3049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32" name="Line 72"/>
              <p:cNvSpPr/>
              <p:nvPr/>
            </p:nvSpPr>
            <p:spPr>
              <a:xfrm>
                <a:off x="3049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33" name="Line 73"/>
              <p:cNvSpPr/>
              <p:nvPr/>
            </p:nvSpPr>
            <p:spPr>
              <a:xfrm>
                <a:off x="3049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34" name="Line 74"/>
              <p:cNvSpPr/>
              <p:nvPr/>
            </p:nvSpPr>
            <p:spPr>
              <a:xfrm>
                <a:off x="3049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35" name="Line 75"/>
              <p:cNvSpPr/>
              <p:nvPr/>
            </p:nvSpPr>
            <p:spPr>
              <a:xfrm>
                <a:off x="3049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36" name="Line 76"/>
              <p:cNvSpPr/>
              <p:nvPr/>
            </p:nvSpPr>
            <p:spPr>
              <a:xfrm>
                <a:off x="3577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0037" name="Text Box 77"/>
              <p:cNvSpPr txBox="1"/>
              <p:nvPr/>
            </p:nvSpPr>
            <p:spPr>
              <a:xfrm>
                <a:off x="3152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0038" name="Text Box 78"/>
              <p:cNvSpPr txBox="1"/>
              <p:nvPr/>
            </p:nvSpPr>
            <p:spPr>
              <a:xfrm>
                <a:off x="3166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73487" name="Rectangle 7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39972" name="Group 80"/>
          <p:cNvGrpSpPr/>
          <p:nvPr/>
        </p:nvGrpSpPr>
        <p:grpSpPr>
          <a:xfrm>
            <a:off x="4551363" y="5761038"/>
            <a:ext cx="3273425" cy="454025"/>
            <a:chOff x="1907" y="3840"/>
            <a:chExt cx="2062" cy="286"/>
          </a:xfrm>
        </p:grpSpPr>
        <p:grpSp>
          <p:nvGrpSpPr>
            <p:cNvPr id="340008" name="Group 81"/>
            <p:cNvGrpSpPr/>
            <p:nvPr/>
          </p:nvGrpSpPr>
          <p:grpSpPr>
            <a:xfrm>
              <a:off x="1907" y="3840"/>
              <a:ext cx="2062" cy="286"/>
              <a:chOff x="1488" y="3840"/>
              <a:chExt cx="2062" cy="286"/>
            </a:xfrm>
          </p:grpSpPr>
          <p:sp>
            <p:nvSpPr>
              <p:cNvPr id="340010" name="Rectangle 82"/>
              <p:cNvSpPr/>
              <p:nvPr/>
            </p:nvSpPr>
            <p:spPr>
              <a:xfrm>
                <a:off x="2519" y="3840"/>
                <a:ext cx="1031" cy="28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11" name="Text Box 83"/>
              <p:cNvSpPr txBox="1"/>
              <p:nvPr/>
            </p:nvSpPr>
            <p:spPr>
              <a:xfrm>
                <a:off x="2648" y="3851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　</a:t>
                </a: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体号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0012" name="Rectangle 84"/>
              <p:cNvSpPr/>
              <p:nvPr/>
            </p:nvSpPr>
            <p:spPr>
              <a:xfrm>
                <a:off x="1488" y="3840"/>
                <a:ext cx="1031" cy="28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0013" name="Text Box 85"/>
              <p:cNvSpPr txBox="1"/>
              <p:nvPr/>
            </p:nvSpPr>
            <p:spPr>
              <a:xfrm>
                <a:off x="1770" y="3851"/>
                <a:ext cx="1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endParaRPr lang="zh-CN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40009" name="Text Box 86"/>
            <p:cNvSpPr txBox="1"/>
            <p:nvPr/>
          </p:nvSpPr>
          <p:spPr>
            <a:xfrm>
              <a:off x="2033" y="3851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体内地址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9973" name="Group 87"/>
          <p:cNvGrpSpPr/>
          <p:nvPr/>
        </p:nvGrpSpPr>
        <p:grpSpPr>
          <a:xfrm>
            <a:off x="1847850" y="1268413"/>
            <a:ext cx="7389813" cy="920749"/>
            <a:chOff x="204" y="1010"/>
            <a:chExt cx="4655" cy="580"/>
          </a:xfrm>
        </p:grpSpPr>
        <p:sp>
          <p:nvSpPr>
            <p:cNvPr id="340002" name="Text Box 88"/>
            <p:cNvSpPr txBox="1"/>
            <p:nvPr/>
          </p:nvSpPr>
          <p:spPr>
            <a:xfrm>
              <a:off x="295" y="1010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地址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40003" name="Group 89"/>
            <p:cNvGrpSpPr/>
            <p:nvPr/>
          </p:nvGrpSpPr>
          <p:grpSpPr>
            <a:xfrm>
              <a:off x="204" y="1339"/>
              <a:ext cx="4655" cy="251"/>
              <a:chOff x="204" y="1339"/>
              <a:chExt cx="4655" cy="251"/>
            </a:xfrm>
          </p:grpSpPr>
          <p:sp>
            <p:nvSpPr>
              <p:cNvPr id="340004" name="Text Box 90"/>
              <p:cNvSpPr txBox="1"/>
              <p:nvPr/>
            </p:nvSpPr>
            <p:spPr>
              <a:xfrm>
                <a:off x="204" y="1339"/>
                <a:ext cx="6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0000 </a:t>
                </a: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0005" name="Text Box 91"/>
              <p:cNvSpPr txBox="1"/>
              <p:nvPr/>
            </p:nvSpPr>
            <p:spPr>
              <a:xfrm>
                <a:off x="1581" y="1339"/>
                <a:ext cx="6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0000 </a:t>
                </a: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01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0006" name="Text Box 92"/>
              <p:cNvSpPr txBox="1"/>
              <p:nvPr/>
            </p:nvSpPr>
            <p:spPr>
              <a:xfrm>
                <a:off x="2896" y="1339"/>
                <a:ext cx="6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0000 </a:t>
                </a: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10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0007" name="Text Box 93"/>
              <p:cNvSpPr txBox="1"/>
              <p:nvPr/>
            </p:nvSpPr>
            <p:spPr>
              <a:xfrm>
                <a:off x="4195" y="1339"/>
                <a:ext cx="6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0000 </a:t>
                </a:r>
                <a:r>
                  <a:rPr lang="en-US" altLang="zh-CN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11</a:t>
                </a:r>
                <a:endPara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39974" name="Group 94"/>
          <p:cNvGrpSpPr/>
          <p:nvPr/>
        </p:nvGrpSpPr>
        <p:grpSpPr>
          <a:xfrm>
            <a:off x="1847850" y="2122488"/>
            <a:ext cx="7389813" cy="398463"/>
            <a:chOff x="204" y="1548"/>
            <a:chExt cx="4655" cy="251"/>
          </a:xfrm>
        </p:grpSpPr>
        <p:sp>
          <p:nvSpPr>
            <p:cNvPr id="339998" name="Text Box 95"/>
            <p:cNvSpPr txBox="1"/>
            <p:nvPr/>
          </p:nvSpPr>
          <p:spPr>
            <a:xfrm>
              <a:off x="204" y="1548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0001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9999" name="Text Box 96"/>
            <p:cNvSpPr txBox="1"/>
            <p:nvPr/>
          </p:nvSpPr>
          <p:spPr>
            <a:xfrm>
              <a:off x="1581" y="1548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0001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0000" name="Text Box 97"/>
            <p:cNvSpPr txBox="1"/>
            <p:nvPr/>
          </p:nvSpPr>
          <p:spPr>
            <a:xfrm>
              <a:off x="2896" y="1548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0001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0001" name="Text Box 98"/>
            <p:cNvSpPr txBox="1"/>
            <p:nvPr/>
          </p:nvSpPr>
          <p:spPr>
            <a:xfrm>
              <a:off x="4195" y="1548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0001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9975" name="Group 99"/>
          <p:cNvGrpSpPr/>
          <p:nvPr/>
        </p:nvGrpSpPr>
        <p:grpSpPr>
          <a:xfrm>
            <a:off x="1774825" y="4137025"/>
            <a:ext cx="7462838" cy="398463"/>
            <a:chOff x="158" y="2817"/>
            <a:chExt cx="4701" cy="251"/>
          </a:xfrm>
        </p:grpSpPr>
        <p:sp>
          <p:nvSpPr>
            <p:cNvPr id="339994" name="Text Box 100"/>
            <p:cNvSpPr txBox="1"/>
            <p:nvPr/>
          </p:nvSpPr>
          <p:spPr>
            <a:xfrm>
              <a:off x="158" y="2817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1111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9995" name="Text Box 101"/>
            <p:cNvSpPr txBox="1"/>
            <p:nvPr/>
          </p:nvSpPr>
          <p:spPr>
            <a:xfrm>
              <a:off x="1581" y="2817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1111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9996" name="Text Box 102"/>
            <p:cNvSpPr txBox="1"/>
            <p:nvPr/>
          </p:nvSpPr>
          <p:spPr>
            <a:xfrm>
              <a:off x="2896" y="2817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1111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10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9997" name="Text Box 103"/>
            <p:cNvSpPr txBox="1"/>
            <p:nvPr/>
          </p:nvSpPr>
          <p:spPr>
            <a:xfrm>
              <a:off x="4195" y="2817"/>
              <a:ext cx="66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1111 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11</a:t>
              </a:r>
              <a:endParaRPr lang="en-US" altLang="zh-CN" sz="20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9976" name="Group 104"/>
          <p:cNvGrpSpPr/>
          <p:nvPr/>
        </p:nvGrpSpPr>
        <p:grpSpPr>
          <a:xfrm>
            <a:off x="2566988" y="4591050"/>
            <a:ext cx="6408737" cy="447675"/>
            <a:chOff x="283" y="3103"/>
            <a:chExt cx="4037" cy="282"/>
          </a:xfrm>
        </p:grpSpPr>
        <p:sp>
          <p:nvSpPr>
            <p:cNvPr id="339989" name="Line 105"/>
            <p:cNvSpPr/>
            <p:nvPr/>
          </p:nvSpPr>
          <p:spPr>
            <a:xfrm>
              <a:off x="283" y="3385"/>
              <a:ext cx="4037" cy="0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9990" name="Line 106"/>
            <p:cNvSpPr/>
            <p:nvPr/>
          </p:nvSpPr>
          <p:spPr>
            <a:xfrm>
              <a:off x="295" y="3113"/>
              <a:ext cx="0" cy="272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9991" name="Line 107"/>
            <p:cNvSpPr/>
            <p:nvPr/>
          </p:nvSpPr>
          <p:spPr>
            <a:xfrm>
              <a:off x="1701" y="3103"/>
              <a:ext cx="0" cy="272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9992" name="Line 108"/>
            <p:cNvSpPr/>
            <p:nvPr/>
          </p:nvSpPr>
          <p:spPr>
            <a:xfrm>
              <a:off x="3016" y="3113"/>
              <a:ext cx="0" cy="272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9993" name="Line 109"/>
            <p:cNvSpPr/>
            <p:nvPr/>
          </p:nvSpPr>
          <p:spPr>
            <a:xfrm>
              <a:off x="4298" y="3113"/>
              <a:ext cx="0" cy="272"/>
            </a:xfrm>
            <a:prstGeom prst="line">
              <a:avLst/>
            </a:prstGeom>
            <a:ln w="57150" cap="flat" cmpd="sng">
              <a:solidFill>
                <a:schemeClr val="folHlink"/>
              </a:solidFill>
              <a:prstDash val="solid"/>
              <a:headEnd type="stealth" w="med" len="med"/>
              <a:tailEnd type="none" w="med" len="med"/>
            </a:ln>
          </p:spPr>
        </p:sp>
      </p:grpSp>
      <p:sp>
        <p:nvSpPr>
          <p:cNvPr id="339977" name="Line 110"/>
          <p:cNvSpPr/>
          <p:nvPr/>
        </p:nvSpPr>
        <p:spPr>
          <a:xfrm>
            <a:off x="6983413" y="5038725"/>
            <a:ext cx="0" cy="719138"/>
          </a:xfrm>
          <a:prstGeom prst="line">
            <a:avLst/>
          </a:prstGeom>
          <a:ln w="57150" cap="flat" cmpd="sng">
            <a:solidFill>
              <a:schemeClr val="folHlink"/>
            </a:solidFill>
            <a:prstDash val="solid"/>
            <a:headEnd type="stealth" w="med" len="med"/>
            <a:tailEnd type="none" w="med" len="med"/>
          </a:ln>
        </p:spPr>
      </p:sp>
      <p:grpSp>
        <p:nvGrpSpPr>
          <p:cNvPr id="339978" name="Group 111"/>
          <p:cNvGrpSpPr/>
          <p:nvPr/>
        </p:nvGrpSpPr>
        <p:grpSpPr>
          <a:xfrm>
            <a:off x="2135188" y="4606925"/>
            <a:ext cx="6424612" cy="719138"/>
            <a:chOff x="552" y="3113"/>
            <a:chExt cx="4047" cy="453"/>
          </a:xfrm>
        </p:grpSpPr>
        <p:sp>
          <p:nvSpPr>
            <p:cNvPr id="339984" name="Line 112"/>
            <p:cNvSpPr/>
            <p:nvPr/>
          </p:nvSpPr>
          <p:spPr>
            <a:xfrm>
              <a:off x="552" y="3566"/>
              <a:ext cx="4047" cy="0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9985" name="Line 113"/>
            <p:cNvSpPr/>
            <p:nvPr/>
          </p:nvSpPr>
          <p:spPr>
            <a:xfrm>
              <a:off x="567" y="3113"/>
              <a:ext cx="0" cy="453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9986" name="Line 114"/>
            <p:cNvSpPr/>
            <p:nvPr/>
          </p:nvSpPr>
          <p:spPr>
            <a:xfrm>
              <a:off x="1973" y="3113"/>
              <a:ext cx="0" cy="453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9987" name="Line 115"/>
            <p:cNvSpPr/>
            <p:nvPr/>
          </p:nvSpPr>
          <p:spPr>
            <a:xfrm>
              <a:off x="3288" y="3113"/>
              <a:ext cx="0" cy="453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stealth" w="med" len="med"/>
              <a:tailEnd type="none" w="med" len="med"/>
            </a:ln>
          </p:spPr>
        </p:sp>
        <p:sp>
          <p:nvSpPr>
            <p:cNvPr id="339988" name="Line 116"/>
            <p:cNvSpPr/>
            <p:nvPr/>
          </p:nvSpPr>
          <p:spPr>
            <a:xfrm>
              <a:off x="4582" y="3113"/>
              <a:ext cx="0" cy="453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stealth" w="med" len="med"/>
              <a:tailEnd type="none" w="med" len="med"/>
            </a:ln>
          </p:spPr>
        </p:sp>
      </p:grpSp>
      <p:sp>
        <p:nvSpPr>
          <p:cNvPr id="339979" name="Line 117"/>
          <p:cNvSpPr/>
          <p:nvPr/>
        </p:nvSpPr>
        <p:spPr>
          <a:xfrm>
            <a:off x="5375275" y="5326063"/>
            <a:ext cx="0" cy="431800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headEnd type="stealth" w="med" len="med"/>
            <a:tailEnd type="none" w="med" len="med"/>
          </a:ln>
        </p:spPr>
      </p:sp>
      <p:sp>
        <p:nvSpPr>
          <p:cNvPr id="339980" name="Text Box 118"/>
          <p:cNvSpPr txBox="1"/>
          <p:nvPr/>
        </p:nvSpPr>
        <p:spPr>
          <a:xfrm>
            <a:off x="1917700" y="260350"/>
            <a:ext cx="59055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低位交叉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39981" name="Text Box 119"/>
          <p:cNvSpPr txBox="1"/>
          <p:nvPr/>
        </p:nvSpPr>
        <p:spPr>
          <a:xfrm>
            <a:off x="4799013" y="260350"/>
            <a:ext cx="59055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各个体轮流编址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39982" name="AutoShape 12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998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4434" name="Rectangle 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40995" name="Group 3"/>
          <p:cNvGrpSpPr/>
          <p:nvPr/>
        </p:nvGrpSpPr>
        <p:grpSpPr>
          <a:xfrm>
            <a:off x="2057400" y="1411288"/>
            <a:ext cx="7543800" cy="5330825"/>
            <a:chOff x="336" y="816"/>
            <a:chExt cx="4752" cy="3358"/>
          </a:xfrm>
        </p:grpSpPr>
        <p:sp>
          <p:nvSpPr>
            <p:cNvPr id="341007" name="Text Box 4"/>
            <p:cNvSpPr txBox="1"/>
            <p:nvPr/>
          </p:nvSpPr>
          <p:spPr>
            <a:xfrm>
              <a:off x="960" y="816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0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41008" name="Text Box 5"/>
            <p:cNvSpPr txBox="1"/>
            <p:nvPr/>
          </p:nvSpPr>
          <p:spPr>
            <a:xfrm>
              <a:off x="384" y="816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地址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09" name="Text Box 6"/>
            <p:cNvSpPr txBox="1"/>
            <p:nvPr/>
          </p:nvSpPr>
          <p:spPr>
            <a:xfrm>
              <a:off x="624" y="1087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0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10" name="Text Box 7"/>
            <p:cNvSpPr txBox="1"/>
            <p:nvPr/>
          </p:nvSpPr>
          <p:spPr>
            <a:xfrm>
              <a:off x="624" y="1334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41011" name="Group 8"/>
            <p:cNvGrpSpPr/>
            <p:nvPr/>
          </p:nvGrpSpPr>
          <p:grpSpPr>
            <a:xfrm>
              <a:off x="864" y="1104"/>
              <a:ext cx="567" cy="1636"/>
              <a:chOff x="624" y="1104"/>
              <a:chExt cx="567" cy="1636"/>
            </a:xfrm>
          </p:grpSpPr>
          <p:sp>
            <p:nvSpPr>
              <p:cNvPr id="341098" name="Rectangle 9"/>
              <p:cNvSpPr/>
              <p:nvPr/>
            </p:nvSpPr>
            <p:spPr>
              <a:xfrm>
                <a:off x="624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99" name="Rectangle 10"/>
              <p:cNvSpPr/>
              <p:nvPr/>
            </p:nvSpPr>
            <p:spPr>
              <a:xfrm>
                <a:off x="624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100" name="Rectangle 11"/>
              <p:cNvSpPr/>
              <p:nvPr/>
            </p:nvSpPr>
            <p:spPr>
              <a:xfrm>
                <a:off x="624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101" name="Rectangle 12"/>
              <p:cNvSpPr/>
              <p:nvPr/>
            </p:nvSpPr>
            <p:spPr>
              <a:xfrm>
                <a:off x="624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102" name="Rectangle 13"/>
              <p:cNvSpPr/>
              <p:nvPr/>
            </p:nvSpPr>
            <p:spPr>
              <a:xfrm>
                <a:off x="624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103" name="Rectangle 14"/>
              <p:cNvSpPr/>
              <p:nvPr/>
            </p:nvSpPr>
            <p:spPr>
              <a:xfrm>
                <a:off x="624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104" name="Line 15"/>
              <p:cNvSpPr/>
              <p:nvPr/>
            </p:nvSpPr>
            <p:spPr>
              <a:xfrm>
                <a:off x="624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105" name="Line 16"/>
              <p:cNvSpPr/>
              <p:nvPr/>
            </p:nvSpPr>
            <p:spPr>
              <a:xfrm>
                <a:off x="624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106" name="Line 17"/>
              <p:cNvSpPr/>
              <p:nvPr/>
            </p:nvSpPr>
            <p:spPr>
              <a:xfrm>
                <a:off x="624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107" name="Line 18"/>
              <p:cNvSpPr/>
              <p:nvPr/>
            </p:nvSpPr>
            <p:spPr>
              <a:xfrm>
                <a:off x="624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108" name="Line 19"/>
              <p:cNvSpPr/>
              <p:nvPr/>
            </p:nvSpPr>
            <p:spPr>
              <a:xfrm>
                <a:off x="624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109" name="Line 20"/>
              <p:cNvSpPr/>
              <p:nvPr/>
            </p:nvSpPr>
            <p:spPr>
              <a:xfrm>
                <a:off x="624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110" name="Line 21"/>
              <p:cNvSpPr/>
              <p:nvPr/>
            </p:nvSpPr>
            <p:spPr>
              <a:xfrm>
                <a:off x="624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111" name="Line 22"/>
              <p:cNvSpPr/>
              <p:nvPr/>
            </p:nvSpPr>
            <p:spPr>
              <a:xfrm>
                <a:off x="624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112" name="Line 23"/>
              <p:cNvSpPr/>
              <p:nvPr/>
            </p:nvSpPr>
            <p:spPr>
              <a:xfrm>
                <a:off x="1152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113" name="Text Box 24"/>
              <p:cNvSpPr txBox="1"/>
              <p:nvPr/>
            </p:nvSpPr>
            <p:spPr>
              <a:xfrm>
                <a:off x="766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1114" name="Text Box 25"/>
              <p:cNvSpPr txBox="1"/>
              <p:nvPr/>
            </p:nvSpPr>
            <p:spPr>
              <a:xfrm>
                <a:off x="766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41012" name="Text Box 26"/>
            <p:cNvSpPr txBox="1"/>
            <p:nvPr/>
          </p:nvSpPr>
          <p:spPr>
            <a:xfrm>
              <a:off x="372" y="2496"/>
              <a:ext cx="52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lang="zh-CN" altLang="en-US" b="1" dirty="0">
                  <a:latin typeface="Times New Roman" panose="02020603050405020304" pitchFamily="18" charset="0"/>
                </a:rPr>
                <a:t>－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13" name="Text Box 27"/>
            <p:cNvSpPr txBox="1"/>
            <p:nvPr/>
          </p:nvSpPr>
          <p:spPr>
            <a:xfrm>
              <a:off x="2121" y="816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41014" name="Text Box 28"/>
            <p:cNvSpPr txBox="1"/>
            <p:nvPr/>
          </p:nvSpPr>
          <p:spPr>
            <a:xfrm>
              <a:off x="1824" y="1087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15" name="Text Box 29"/>
            <p:cNvSpPr txBox="1"/>
            <p:nvPr/>
          </p:nvSpPr>
          <p:spPr>
            <a:xfrm>
              <a:off x="1824" y="129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5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41016" name="Group 30"/>
            <p:cNvGrpSpPr/>
            <p:nvPr/>
          </p:nvGrpSpPr>
          <p:grpSpPr>
            <a:xfrm>
              <a:off x="2047" y="1104"/>
              <a:ext cx="567" cy="1636"/>
              <a:chOff x="1807" y="1104"/>
              <a:chExt cx="567" cy="1636"/>
            </a:xfrm>
          </p:grpSpPr>
          <p:sp>
            <p:nvSpPr>
              <p:cNvPr id="341081" name="Rectangle 31"/>
              <p:cNvSpPr/>
              <p:nvPr/>
            </p:nvSpPr>
            <p:spPr>
              <a:xfrm>
                <a:off x="1807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82" name="Rectangle 32"/>
              <p:cNvSpPr/>
              <p:nvPr/>
            </p:nvSpPr>
            <p:spPr>
              <a:xfrm>
                <a:off x="1807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83" name="Rectangle 33"/>
              <p:cNvSpPr/>
              <p:nvPr/>
            </p:nvSpPr>
            <p:spPr>
              <a:xfrm>
                <a:off x="1807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84" name="Rectangle 34"/>
              <p:cNvSpPr/>
              <p:nvPr/>
            </p:nvSpPr>
            <p:spPr>
              <a:xfrm>
                <a:off x="1807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85" name="Rectangle 35"/>
              <p:cNvSpPr/>
              <p:nvPr/>
            </p:nvSpPr>
            <p:spPr>
              <a:xfrm>
                <a:off x="1807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86" name="Rectangle 36"/>
              <p:cNvSpPr/>
              <p:nvPr/>
            </p:nvSpPr>
            <p:spPr>
              <a:xfrm>
                <a:off x="1807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87" name="Line 37"/>
              <p:cNvSpPr/>
              <p:nvPr/>
            </p:nvSpPr>
            <p:spPr>
              <a:xfrm>
                <a:off x="1807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88" name="Line 38"/>
              <p:cNvSpPr/>
              <p:nvPr/>
            </p:nvSpPr>
            <p:spPr>
              <a:xfrm>
                <a:off x="1807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89" name="Line 39"/>
              <p:cNvSpPr/>
              <p:nvPr/>
            </p:nvSpPr>
            <p:spPr>
              <a:xfrm>
                <a:off x="1807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90" name="Line 40"/>
              <p:cNvSpPr/>
              <p:nvPr/>
            </p:nvSpPr>
            <p:spPr>
              <a:xfrm>
                <a:off x="1807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91" name="Line 41"/>
              <p:cNvSpPr/>
              <p:nvPr/>
            </p:nvSpPr>
            <p:spPr>
              <a:xfrm>
                <a:off x="1807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92" name="Line 42"/>
              <p:cNvSpPr/>
              <p:nvPr/>
            </p:nvSpPr>
            <p:spPr>
              <a:xfrm>
                <a:off x="1807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93" name="Line 43"/>
              <p:cNvSpPr/>
              <p:nvPr/>
            </p:nvSpPr>
            <p:spPr>
              <a:xfrm>
                <a:off x="1807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94" name="Line 44"/>
              <p:cNvSpPr/>
              <p:nvPr/>
            </p:nvSpPr>
            <p:spPr>
              <a:xfrm>
                <a:off x="1807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95" name="Line 45"/>
              <p:cNvSpPr/>
              <p:nvPr/>
            </p:nvSpPr>
            <p:spPr>
              <a:xfrm>
                <a:off x="2335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96" name="Text Box 46"/>
              <p:cNvSpPr txBox="1"/>
              <p:nvPr/>
            </p:nvSpPr>
            <p:spPr>
              <a:xfrm>
                <a:off x="1949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1097" name="Text Box 47"/>
              <p:cNvSpPr txBox="1"/>
              <p:nvPr/>
            </p:nvSpPr>
            <p:spPr>
              <a:xfrm>
                <a:off x="1918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41017" name="Text Box 48"/>
            <p:cNvSpPr txBox="1"/>
            <p:nvPr/>
          </p:nvSpPr>
          <p:spPr>
            <a:xfrm>
              <a:off x="1546" y="2496"/>
              <a:ext cx="52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lang="zh-CN" altLang="en-US" b="1" dirty="0">
                  <a:latin typeface="Times New Roman" panose="02020603050405020304" pitchFamily="18" charset="0"/>
                </a:rPr>
                <a:t>－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18" name="Text Box 49"/>
            <p:cNvSpPr txBox="1"/>
            <p:nvPr/>
          </p:nvSpPr>
          <p:spPr>
            <a:xfrm>
              <a:off x="3360" y="816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2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41019" name="Text Box 50"/>
            <p:cNvSpPr txBox="1"/>
            <p:nvPr/>
          </p:nvSpPr>
          <p:spPr>
            <a:xfrm>
              <a:off x="3020" y="1087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20" name="Text Box 51"/>
            <p:cNvSpPr txBox="1"/>
            <p:nvPr/>
          </p:nvSpPr>
          <p:spPr>
            <a:xfrm>
              <a:off x="3020" y="129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6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21" name="Text Box 52"/>
            <p:cNvSpPr txBox="1"/>
            <p:nvPr/>
          </p:nvSpPr>
          <p:spPr>
            <a:xfrm>
              <a:off x="2785" y="2496"/>
              <a:ext cx="52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lang="zh-CN" altLang="en-US" b="1" dirty="0">
                  <a:latin typeface="Times New Roman" panose="02020603050405020304" pitchFamily="18" charset="0"/>
                </a:rPr>
                <a:t>－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2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22" name="Text Box 53"/>
            <p:cNvSpPr txBox="1"/>
            <p:nvPr/>
          </p:nvSpPr>
          <p:spPr>
            <a:xfrm>
              <a:off x="4607" y="816"/>
              <a:ext cx="35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baseline="-20000" dirty="0">
                  <a:latin typeface="Times New Roman" panose="02020603050405020304" pitchFamily="18" charset="0"/>
                </a:rPr>
                <a:t>3</a:t>
              </a:r>
              <a:endParaRPr lang="en-US" altLang="zh-CN" sz="2400" b="1" baseline="-20000" dirty="0">
                <a:latin typeface="Times New Roman" panose="02020603050405020304" pitchFamily="18" charset="0"/>
              </a:endParaRPr>
            </a:p>
          </p:txBody>
        </p:sp>
        <p:sp>
          <p:nvSpPr>
            <p:cNvPr id="341023" name="Text Box 54"/>
            <p:cNvSpPr txBox="1"/>
            <p:nvPr/>
          </p:nvSpPr>
          <p:spPr>
            <a:xfrm>
              <a:off x="4268" y="1087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3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24" name="Text Box 55"/>
            <p:cNvSpPr txBox="1"/>
            <p:nvPr/>
          </p:nvSpPr>
          <p:spPr>
            <a:xfrm>
              <a:off x="4268" y="1296"/>
              <a:ext cx="1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7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25" name="Text Box 56"/>
            <p:cNvSpPr txBox="1"/>
            <p:nvPr/>
          </p:nvSpPr>
          <p:spPr>
            <a:xfrm>
              <a:off x="3984" y="2496"/>
              <a:ext cx="52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4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n</a:t>
              </a:r>
              <a:r>
                <a:rPr lang="zh-CN" altLang="en-US" b="1" dirty="0">
                  <a:latin typeface="Times New Roman" panose="02020603050405020304" pitchFamily="18" charset="0"/>
                </a:rPr>
                <a:t>－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41026" name="Group 57"/>
            <p:cNvGrpSpPr/>
            <p:nvPr/>
          </p:nvGrpSpPr>
          <p:grpSpPr>
            <a:xfrm>
              <a:off x="4511" y="1104"/>
              <a:ext cx="577" cy="1636"/>
              <a:chOff x="4271" y="1104"/>
              <a:chExt cx="577" cy="1636"/>
            </a:xfrm>
          </p:grpSpPr>
          <p:sp>
            <p:nvSpPr>
              <p:cNvPr id="341064" name="Rectangle 58"/>
              <p:cNvSpPr/>
              <p:nvPr/>
            </p:nvSpPr>
            <p:spPr>
              <a:xfrm>
                <a:off x="4271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65" name="Rectangle 59"/>
              <p:cNvSpPr/>
              <p:nvPr/>
            </p:nvSpPr>
            <p:spPr>
              <a:xfrm>
                <a:off x="4271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66" name="Rectangle 60"/>
              <p:cNvSpPr/>
              <p:nvPr/>
            </p:nvSpPr>
            <p:spPr>
              <a:xfrm>
                <a:off x="4271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67" name="Rectangle 61"/>
              <p:cNvSpPr/>
              <p:nvPr/>
            </p:nvSpPr>
            <p:spPr>
              <a:xfrm>
                <a:off x="4271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68" name="Rectangle 62"/>
              <p:cNvSpPr/>
              <p:nvPr/>
            </p:nvSpPr>
            <p:spPr>
              <a:xfrm>
                <a:off x="4271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69" name="Rectangle 63"/>
              <p:cNvSpPr/>
              <p:nvPr/>
            </p:nvSpPr>
            <p:spPr>
              <a:xfrm>
                <a:off x="4271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70" name="Line 64"/>
              <p:cNvSpPr/>
              <p:nvPr/>
            </p:nvSpPr>
            <p:spPr>
              <a:xfrm>
                <a:off x="4271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71" name="Line 65"/>
              <p:cNvSpPr/>
              <p:nvPr/>
            </p:nvSpPr>
            <p:spPr>
              <a:xfrm>
                <a:off x="4271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72" name="Line 66"/>
              <p:cNvSpPr/>
              <p:nvPr/>
            </p:nvSpPr>
            <p:spPr>
              <a:xfrm>
                <a:off x="4271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73" name="Line 67"/>
              <p:cNvSpPr/>
              <p:nvPr/>
            </p:nvSpPr>
            <p:spPr>
              <a:xfrm>
                <a:off x="4271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74" name="Line 68"/>
              <p:cNvSpPr/>
              <p:nvPr/>
            </p:nvSpPr>
            <p:spPr>
              <a:xfrm>
                <a:off x="4271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75" name="Line 69"/>
              <p:cNvSpPr/>
              <p:nvPr/>
            </p:nvSpPr>
            <p:spPr>
              <a:xfrm>
                <a:off x="4271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76" name="Line 70"/>
              <p:cNvSpPr/>
              <p:nvPr/>
            </p:nvSpPr>
            <p:spPr>
              <a:xfrm>
                <a:off x="4271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77" name="Line 71"/>
              <p:cNvSpPr/>
              <p:nvPr/>
            </p:nvSpPr>
            <p:spPr>
              <a:xfrm>
                <a:off x="4271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78" name="Line 72"/>
              <p:cNvSpPr/>
              <p:nvPr/>
            </p:nvSpPr>
            <p:spPr>
              <a:xfrm>
                <a:off x="4799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79" name="Text Box 73"/>
              <p:cNvSpPr txBox="1"/>
              <p:nvPr/>
            </p:nvSpPr>
            <p:spPr>
              <a:xfrm>
                <a:off x="4423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1080" name="Text Box 74"/>
              <p:cNvSpPr txBox="1"/>
              <p:nvPr/>
            </p:nvSpPr>
            <p:spPr>
              <a:xfrm>
                <a:off x="4423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41027" name="Group 75"/>
            <p:cNvGrpSpPr/>
            <p:nvPr/>
          </p:nvGrpSpPr>
          <p:grpSpPr>
            <a:xfrm>
              <a:off x="3289" y="1104"/>
              <a:ext cx="542" cy="1636"/>
              <a:chOff x="3049" y="1104"/>
              <a:chExt cx="542" cy="1636"/>
            </a:xfrm>
          </p:grpSpPr>
          <p:sp>
            <p:nvSpPr>
              <p:cNvPr id="341047" name="Rectangle 76"/>
              <p:cNvSpPr/>
              <p:nvPr/>
            </p:nvSpPr>
            <p:spPr>
              <a:xfrm>
                <a:off x="3049" y="2529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48" name="Rectangle 77"/>
              <p:cNvSpPr/>
              <p:nvPr/>
            </p:nvSpPr>
            <p:spPr>
              <a:xfrm>
                <a:off x="3049" y="2133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49" name="Rectangle 78"/>
              <p:cNvSpPr/>
              <p:nvPr/>
            </p:nvSpPr>
            <p:spPr>
              <a:xfrm>
                <a:off x="3049" y="1922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50" name="Rectangle 79"/>
              <p:cNvSpPr/>
              <p:nvPr/>
            </p:nvSpPr>
            <p:spPr>
              <a:xfrm>
                <a:off x="3049" y="1526"/>
                <a:ext cx="528" cy="39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51" name="Rectangle 80"/>
              <p:cNvSpPr/>
              <p:nvPr/>
            </p:nvSpPr>
            <p:spPr>
              <a:xfrm>
                <a:off x="3049" y="1315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52" name="Rectangle 81"/>
              <p:cNvSpPr/>
              <p:nvPr/>
            </p:nvSpPr>
            <p:spPr>
              <a:xfrm>
                <a:off x="3049" y="1104"/>
                <a:ext cx="528" cy="21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53" name="Line 82"/>
              <p:cNvSpPr/>
              <p:nvPr/>
            </p:nvSpPr>
            <p:spPr>
              <a:xfrm>
                <a:off x="3049" y="1104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54" name="Line 83"/>
              <p:cNvSpPr/>
              <p:nvPr/>
            </p:nvSpPr>
            <p:spPr>
              <a:xfrm>
                <a:off x="3049" y="1315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55" name="Line 84"/>
              <p:cNvSpPr/>
              <p:nvPr/>
            </p:nvSpPr>
            <p:spPr>
              <a:xfrm>
                <a:off x="3049" y="1526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56" name="Line 85"/>
              <p:cNvSpPr/>
              <p:nvPr/>
            </p:nvSpPr>
            <p:spPr>
              <a:xfrm>
                <a:off x="3049" y="1922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57" name="Line 86"/>
              <p:cNvSpPr/>
              <p:nvPr/>
            </p:nvSpPr>
            <p:spPr>
              <a:xfrm>
                <a:off x="3049" y="2133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58" name="Line 87"/>
              <p:cNvSpPr/>
              <p:nvPr/>
            </p:nvSpPr>
            <p:spPr>
              <a:xfrm>
                <a:off x="3049" y="2529"/>
                <a:ext cx="52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59" name="Line 88"/>
              <p:cNvSpPr/>
              <p:nvPr/>
            </p:nvSpPr>
            <p:spPr>
              <a:xfrm>
                <a:off x="3049" y="2740"/>
                <a:ext cx="528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60" name="Line 89"/>
              <p:cNvSpPr/>
              <p:nvPr/>
            </p:nvSpPr>
            <p:spPr>
              <a:xfrm>
                <a:off x="3049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61" name="Line 90"/>
              <p:cNvSpPr/>
              <p:nvPr/>
            </p:nvSpPr>
            <p:spPr>
              <a:xfrm>
                <a:off x="3577" y="1104"/>
                <a:ext cx="0" cy="1636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1062" name="Text Box 91"/>
              <p:cNvSpPr txBox="1"/>
              <p:nvPr/>
            </p:nvSpPr>
            <p:spPr>
              <a:xfrm>
                <a:off x="3152" y="1584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1063" name="Text Box 92"/>
              <p:cNvSpPr txBox="1"/>
              <p:nvPr/>
            </p:nvSpPr>
            <p:spPr>
              <a:xfrm>
                <a:off x="3166" y="2182"/>
                <a:ext cx="425" cy="314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41028" name="Freeform 93"/>
            <p:cNvSpPr/>
            <p:nvPr/>
          </p:nvSpPr>
          <p:spPr>
            <a:xfrm>
              <a:off x="336" y="2016"/>
              <a:ext cx="4176" cy="960"/>
            </a:xfrm>
            <a:custGeom>
              <a:avLst/>
              <a:gdLst>
                <a:gd name="txL" fmla="*/ 0 w 4176"/>
                <a:gd name="txT" fmla="*/ 0 h 960"/>
                <a:gd name="txR" fmla="*/ 4176 w 4176"/>
                <a:gd name="txB" fmla="*/ 960 h 960"/>
              </a:gdLst>
              <a:ahLst/>
              <a:cxnLst>
                <a:cxn ang="0">
                  <a:pos x="528" y="0"/>
                </a:cxn>
                <a:cxn ang="0">
                  <a:pos x="0" y="0"/>
                </a:cxn>
                <a:cxn ang="0">
                  <a:pos x="0" y="960"/>
                </a:cxn>
                <a:cxn ang="0">
                  <a:pos x="3648" y="960"/>
                </a:cxn>
                <a:cxn ang="0">
                  <a:pos x="3648" y="0"/>
                </a:cxn>
                <a:cxn ang="0">
                  <a:pos x="4176" y="0"/>
                </a:cxn>
              </a:cxnLst>
              <a:rect l="txL" t="txT" r="txR" b="txB"/>
              <a:pathLst>
                <a:path w="4176" h="960">
                  <a:moveTo>
                    <a:pt x="528" y="0"/>
                  </a:moveTo>
                  <a:lnTo>
                    <a:pt x="0" y="0"/>
                  </a:lnTo>
                  <a:lnTo>
                    <a:pt x="0" y="960"/>
                  </a:lnTo>
                  <a:lnTo>
                    <a:pt x="3648" y="960"/>
                  </a:lnTo>
                  <a:lnTo>
                    <a:pt x="3648" y="0"/>
                  </a:lnTo>
                  <a:lnTo>
                    <a:pt x="417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41029" name="Freeform 94"/>
            <p:cNvSpPr/>
            <p:nvPr/>
          </p:nvSpPr>
          <p:spPr>
            <a:xfrm>
              <a:off x="1509" y="2016"/>
              <a:ext cx="528" cy="960"/>
            </a:xfrm>
            <a:custGeom>
              <a:avLst/>
              <a:gdLst>
                <a:gd name="txL" fmla="*/ 0 w 528"/>
                <a:gd name="txT" fmla="*/ 0 h 960"/>
                <a:gd name="txR" fmla="*/ 528 w 528"/>
                <a:gd name="txB" fmla="*/ 960 h 960"/>
              </a:gdLst>
              <a:ahLst/>
              <a:cxnLst>
                <a:cxn ang="0">
                  <a:pos x="0" y="960"/>
                </a:cxn>
                <a:cxn ang="0">
                  <a:pos x="0" y="0"/>
                </a:cxn>
                <a:cxn ang="0">
                  <a:pos x="528" y="0"/>
                </a:cxn>
              </a:cxnLst>
              <a:rect l="txL" t="txT" r="txR" b="txB"/>
              <a:pathLst>
                <a:path w="528" h="960">
                  <a:moveTo>
                    <a:pt x="0" y="960"/>
                  </a:moveTo>
                  <a:lnTo>
                    <a:pt x="0" y="0"/>
                  </a:lnTo>
                  <a:lnTo>
                    <a:pt x="52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"/>
              <a:round/>
              <a:headEnd type="oval" w="sm" len="sm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41030" name="Freeform 95"/>
            <p:cNvSpPr/>
            <p:nvPr/>
          </p:nvSpPr>
          <p:spPr>
            <a:xfrm>
              <a:off x="2760" y="2016"/>
              <a:ext cx="528" cy="960"/>
            </a:xfrm>
            <a:custGeom>
              <a:avLst/>
              <a:gdLst>
                <a:gd name="txL" fmla="*/ 0 w 528"/>
                <a:gd name="txT" fmla="*/ 0 h 960"/>
                <a:gd name="txR" fmla="*/ 528 w 528"/>
                <a:gd name="txB" fmla="*/ 960 h 960"/>
              </a:gdLst>
              <a:ahLst/>
              <a:cxnLst>
                <a:cxn ang="0">
                  <a:pos x="0" y="960"/>
                </a:cxn>
                <a:cxn ang="0">
                  <a:pos x="0" y="0"/>
                </a:cxn>
                <a:cxn ang="0">
                  <a:pos x="528" y="0"/>
                </a:cxn>
              </a:cxnLst>
              <a:rect l="txL" t="txT" r="txR" b="txB"/>
              <a:pathLst>
                <a:path w="528" h="960">
                  <a:moveTo>
                    <a:pt x="0" y="960"/>
                  </a:moveTo>
                  <a:lnTo>
                    <a:pt x="0" y="0"/>
                  </a:lnTo>
                  <a:lnTo>
                    <a:pt x="528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"/>
              <a:round/>
              <a:headEnd type="oval" w="sm" len="sm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41031" name="Group 96"/>
            <p:cNvGrpSpPr/>
            <p:nvPr/>
          </p:nvGrpSpPr>
          <p:grpSpPr>
            <a:xfrm>
              <a:off x="2471" y="3312"/>
              <a:ext cx="1031" cy="286"/>
              <a:chOff x="2471" y="3312"/>
              <a:chExt cx="1031" cy="286"/>
            </a:xfrm>
          </p:grpSpPr>
          <p:sp>
            <p:nvSpPr>
              <p:cNvPr id="341045" name="Rectangle 97"/>
              <p:cNvSpPr/>
              <p:nvPr/>
            </p:nvSpPr>
            <p:spPr>
              <a:xfrm>
                <a:off x="2471" y="3312"/>
                <a:ext cx="1031" cy="286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1046" name="Text Box 98"/>
              <p:cNvSpPr txBox="1"/>
              <p:nvPr/>
            </p:nvSpPr>
            <p:spPr>
              <a:xfrm>
                <a:off x="2607" y="332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地址译码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41032" name="Rectangle 99"/>
            <p:cNvSpPr/>
            <p:nvPr/>
          </p:nvSpPr>
          <p:spPr>
            <a:xfrm>
              <a:off x="3529" y="3888"/>
              <a:ext cx="1031" cy="28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41033" name="Text Box 100"/>
            <p:cNvSpPr txBox="1"/>
            <p:nvPr/>
          </p:nvSpPr>
          <p:spPr>
            <a:xfrm>
              <a:off x="3648" y="3883"/>
              <a:ext cx="88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体号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34" name="Rectangle 101"/>
            <p:cNvSpPr/>
            <p:nvPr/>
          </p:nvSpPr>
          <p:spPr>
            <a:xfrm>
              <a:off x="2498" y="3888"/>
              <a:ext cx="1031" cy="28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41035" name="Text Box 102"/>
            <p:cNvSpPr txBox="1"/>
            <p:nvPr/>
          </p:nvSpPr>
          <p:spPr>
            <a:xfrm>
              <a:off x="2606" y="3899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体内地址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1036" name="Line 103"/>
            <p:cNvSpPr/>
            <p:nvPr/>
          </p:nvSpPr>
          <p:spPr>
            <a:xfrm flipV="1">
              <a:off x="4046" y="3175"/>
              <a:ext cx="0" cy="72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41037" name="Line 104"/>
            <p:cNvSpPr/>
            <p:nvPr/>
          </p:nvSpPr>
          <p:spPr>
            <a:xfrm flipV="1">
              <a:off x="2976" y="3600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41038" name="Line 105"/>
            <p:cNvSpPr/>
            <p:nvPr/>
          </p:nvSpPr>
          <p:spPr>
            <a:xfrm>
              <a:off x="1111" y="3179"/>
              <a:ext cx="36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41039" name="Group 106"/>
            <p:cNvGrpSpPr/>
            <p:nvPr/>
          </p:nvGrpSpPr>
          <p:grpSpPr>
            <a:xfrm>
              <a:off x="1123" y="2750"/>
              <a:ext cx="3662" cy="424"/>
              <a:chOff x="1123" y="2750"/>
              <a:chExt cx="3662" cy="424"/>
            </a:xfrm>
          </p:grpSpPr>
          <p:sp>
            <p:nvSpPr>
              <p:cNvPr id="341041" name="Line 107"/>
              <p:cNvSpPr/>
              <p:nvPr/>
            </p:nvSpPr>
            <p:spPr>
              <a:xfrm flipV="1">
                <a:off x="1123" y="2750"/>
                <a:ext cx="0" cy="42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1042" name="Line 108"/>
              <p:cNvSpPr/>
              <p:nvPr/>
            </p:nvSpPr>
            <p:spPr>
              <a:xfrm flipV="1">
                <a:off x="2314" y="2750"/>
                <a:ext cx="0" cy="42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1043" name="Line 109"/>
              <p:cNvSpPr/>
              <p:nvPr/>
            </p:nvSpPr>
            <p:spPr>
              <a:xfrm flipV="1">
                <a:off x="3560" y="2750"/>
                <a:ext cx="0" cy="42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1044" name="Line 110"/>
              <p:cNvSpPr/>
              <p:nvPr/>
            </p:nvSpPr>
            <p:spPr>
              <a:xfrm flipV="1">
                <a:off x="4785" y="2750"/>
                <a:ext cx="0" cy="42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341040" name="Line 111"/>
            <p:cNvSpPr/>
            <p:nvPr/>
          </p:nvSpPr>
          <p:spPr>
            <a:xfrm flipV="1">
              <a:off x="2976" y="2985"/>
              <a:ext cx="0" cy="32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stealth" w="med" len="med"/>
            </a:ln>
          </p:spPr>
        </p:sp>
      </p:grpSp>
      <p:sp>
        <p:nvSpPr>
          <p:cNvPr id="274544" name="Line 112"/>
          <p:cNvSpPr/>
          <p:nvPr/>
        </p:nvSpPr>
        <p:spPr>
          <a:xfrm flipV="1">
            <a:off x="7947025" y="5156200"/>
            <a:ext cx="0" cy="1144588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9" name="Group 113"/>
          <p:cNvGrpSpPr/>
          <p:nvPr/>
        </p:nvGrpSpPr>
        <p:grpSpPr>
          <a:xfrm>
            <a:off x="3306763" y="4481513"/>
            <a:ext cx="5813425" cy="673100"/>
            <a:chOff x="1123" y="2750"/>
            <a:chExt cx="3662" cy="424"/>
          </a:xfrm>
        </p:grpSpPr>
        <p:sp>
          <p:nvSpPr>
            <p:cNvPr id="341003" name="Line 114"/>
            <p:cNvSpPr/>
            <p:nvPr/>
          </p:nvSpPr>
          <p:spPr>
            <a:xfrm flipV="1">
              <a:off x="1123" y="2750"/>
              <a:ext cx="0" cy="42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41004" name="Line 115"/>
            <p:cNvSpPr/>
            <p:nvPr/>
          </p:nvSpPr>
          <p:spPr>
            <a:xfrm flipV="1">
              <a:off x="2314" y="2750"/>
              <a:ext cx="0" cy="42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41005" name="Line 116"/>
            <p:cNvSpPr/>
            <p:nvPr/>
          </p:nvSpPr>
          <p:spPr>
            <a:xfrm flipV="1">
              <a:off x="3560" y="2750"/>
              <a:ext cx="0" cy="42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41006" name="Line 117"/>
            <p:cNvSpPr/>
            <p:nvPr/>
          </p:nvSpPr>
          <p:spPr>
            <a:xfrm flipV="1">
              <a:off x="4785" y="2750"/>
              <a:ext cx="0" cy="42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74550" name="Line 118"/>
          <p:cNvSpPr/>
          <p:nvPr/>
        </p:nvSpPr>
        <p:spPr>
          <a:xfrm>
            <a:off x="3287713" y="5162550"/>
            <a:ext cx="5854700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4551" name="Text Box 119"/>
          <p:cNvSpPr txBox="1"/>
          <p:nvPr/>
        </p:nvSpPr>
        <p:spPr>
          <a:xfrm>
            <a:off x="7315200" y="6280150"/>
            <a:ext cx="14081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    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体号</a:t>
            </a:r>
            <a:endParaRPr lang="zh-CN" altLang="en-US" sz="20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1000" name="Text Box 120"/>
          <p:cNvSpPr txBox="1"/>
          <p:nvPr/>
        </p:nvSpPr>
        <p:spPr>
          <a:xfrm>
            <a:off x="1919288" y="260350"/>
            <a:ext cx="59055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低位交叉    </a:t>
            </a:r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各个体轮流编址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1001" name="AutoShape 12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100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4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7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274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55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4914900" y="2895600"/>
            <a:ext cx="2590800" cy="3505200"/>
            <a:chOff x="2136" y="1824"/>
            <a:chExt cx="1632" cy="2208"/>
          </a:xfrm>
        </p:grpSpPr>
        <p:sp>
          <p:nvSpPr>
            <p:cNvPr id="342057" name="Line 3"/>
            <p:cNvSpPr/>
            <p:nvPr/>
          </p:nvSpPr>
          <p:spPr>
            <a:xfrm>
              <a:off x="2136" y="1824"/>
              <a:ext cx="0" cy="22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42058" name="Line 4"/>
            <p:cNvSpPr/>
            <p:nvPr/>
          </p:nvSpPr>
          <p:spPr>
            <a:xfrm>
              <a:off x="3768" y="1824"/>
              <a:ext cx="0" cy="22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3" name="Group 5"/>
          <p:cNvGrpSpPr/>
          <p:nvPr/>
        </p:nvGrpSpPr>
        <p:grpSpPr>
          <a:xfrm>
            <a:off x="5562600" y="2895600"/>
            <a:ext cx="2590800" cy="3505200"/>
            <a:chOff x="2544" y="1824"/>
            <a:chExt cx="1632" cy="2208"/>
          </a:xfrm>
        </p:grpSpPr>
        <p:sp>
          <p:nvSpPr>
            <p:cNvPr id="342055" name="Line 6"/>
            <p:cNvSpPr/>
            <p:nvPr/>
          </p:nvSpPr>
          <p:spPr>
            <a:xfrm>
              <a:off x="2544" y="1824"/>
              <a:ext cx="0" cy="22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42056" name="Line 7"/>
            <p:cNvSpPr/>
            <p:nvPr/>
          </p:nvSpPr>
          <p:spPr>
            <a:xfrm>
              <a:off x="4176" y="1824"/>
              <a:ext cx="0" cy="22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4" name="Group 8"/>
          <p:cNvGrpSpPr/>
          <p:nvPr/>
        </p:nvGrpSpPr>
        <p:grpSpPr>
          <a:xfrm>
            <a:off x="6210300" y="2895600"/>
            <a:ext cx="2590800" cy="3505200"/>
            <a:chOff x="2952" y="1824"/>
            <a:chExt cx="1632" cy="2208"/>
          </a:xfrm>
        </p:grpSpPr>
        <p:sp>
          <p:nvSpPr>
            <p:cNvPr id="342053" name="Line 9"/>
            <p:cNvSpPr/>
            <p:nvPr/>
          </p:nvSpPr>
          <p:spPr>
            <a:xfrm>
              <a:off x="2952" y="1824"/>
              <a:ext cx="0" cy="22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42054" name="Line 10"/>
            <p:cNvSpPr/>
            <p:nvPr/>
          </p:nvSpPr>
          <p:spPr>
            <a:xfrm>
              <a:off x="4584" y="1824"/>
              <a:ext cx="0" cy="220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5" name="Group 11"/>
          <p:cNvGrpSpPr/>
          <p:nvPr/>
        </p:nvGrpSpPr>
        <p:grpSpPr>
          <a:xfrm>
            <a:off x="4267200" y="3124200"/>
            <a:ext cx="5181600" cy="3271838"/>
            <a:chOff x="1728" y="1971"/>
            <a:chExt cx="3264" cy="2301"/>
          </a:xfrm>
        </p:grpSpPr>
        <p:sp>
          <p:nvSpPr>
            <p:cNvPr id="342050" name="Line 12"/>
            <p:cNvSpPr/>
            <p:nvPr/>
          </p:nvSpPr>
          <p:spPr>
            <a:xfrm>
              <a:off x="1728" y="1971"/>
              <a:ext cx="0" cy="2301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42051" name="Line 13"/>
            <p:cNvSpPr/>
            <p:nvPr/>
          </p:nvSpPr>
          <p:spPr>
            <a:xfrm>
              <a:off x="3360" y="1971"/>
              <a:ext cx="0" cy="2301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42052" name="Line 14"/>
            <p:cNvSpPr/>
            <p:nvPr/>
          </p:nvSpPr>
          <p:spPr>
            <a:xfrm>
              <a:off x="4992" y="1971"/>
              <a:ext cx="0" cy="2301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dash"/>
              <a:headEnd type="none" w="med" len="med"/>
              <a:tailEnd type="none" w="med" len="med"/>
            </a:ln>
          </p:spPr>
        </p:sp>
      </p:grpSp>
      <p:sp>
        <p:nvSpPr>
          <p:cNvPr id="342022" name="Text Box 15"/>
          <p:cNvSpPr txBox="1"/>
          <p:nvPr/>
        </p:nvSpPr>
        <p:spPr>
          <a:xfrm>
            <a:off x="1905000" y="320675"/>
            <a:ext cx="33832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低位交叉的特点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42023" name="Text Box 16"/>
          <p:cNvSpPr txBox="1"/>
          <p:nvPr/>
        </p:nvSpPr>
        <p:spPr>
          <a:xfrm>
            <a:off x="1916113" y="1173163"/>
            <a:ext cx="8717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在不改变存取周期的前提下，增加存储器的带宽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" name="Group 17"/>
          <p:cNvGrpSpPr/>
          <p:nvPr/>
        </p:nvGrpSpPr>
        <p:grpSpPr>
          <a:xfrm>
            <a:off x="2286000" y="2763838"/>
            <a:ext cx="7772400" cy="460375"/>
            <a:chOff x="480" y="1741"/>
            <a:chExt cx="4896" cy="290"/>
          </a:xfrm>
        </p:grpSpPr>
        <p:sp>
          <p:nvSpPr>
            <p:cNvPr id="342048" name="Text Box 18"/>
            <p:cNvSpPr txBox="1"/>
            <p:nvPr/>
          </p:nvSpPr>
          <p:spPr>
            <a:xfrm>
              <a:off x="480" y="1741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时间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2049" name="Line 19"/>
            <p:cNvSpPr/>
            <p:nvPr/>
          </p:nvSpPr>
          <p:spPr>
            <a:xfrm>
              <a:off x="1536" y="1968"/>
              <a:ext cx="38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275476" name="Freeform 20"/>
          <p:cNvSpPr/>
          <p:nvPr/>
        </p:nvSpPr>
        <p:spPr>
          <a:xfrm>
            <a:off x="3962400" y="4275138"/>
            <a:ext cx="6091238" cy="492125"/>
          </a:xfrm>
          <a:custGeom>
            <a:avLst/>
            <a:gdLst>
              <a:gd name="txL" fmla="*/ 0 w 3837"/>
              <a:gd name="txT" fmla="*/ 0 h 310"/>
              <a:gd name="txR" fmla="*/ 3837 w 3837"/>
              <a:gd name="txB" fmla="*/ 310 h 310"/>
            </a:gdLst>
            <a:ahLst/>
            <a:cxnLst>
              <a:cxn ang="0">
                <a:pos x="0" y="1"/>
              </a:cxn>
              <a:cxn ang="0">
                <a:pos x="599" y="1"/>
              </a:cxn>
              <a:cxn ang="0">
                <a:pos x="600" y="310"/>
              </a:cxn>
              <a:cxn ang="0">
                <a:pos x="750" y="310"/>
              </a:cxn>
              <a:cxn ang="0">
                <a:pos x="750" y="6"/>
              </a:cxn>
              <a:cxn ang="0">
                <a:pos x="2231" y="4"/>
              </a:cxn>
              <a:cxn ang="0">
                <a:pos x="2231" y="310"/>
              </a:cxn>
              <a:cxn ang="0">
                <a:pos x="2385" y="310"/>
              </a:cxn>
              <a:cxn ang="0">
                <a:pos x="2385" y="21"/>
              </a:cxn>
              <a:cxn ang="0">
                <a:pos x="2385" y="0"/>
              </a:cxn>
              <a:cxn ang="0">
                <a:pos x="3837" y="1"/>
              </a:cxn>
            </a:cxnLst>
            <a:rect l="txL" t="txT" r="txR" b="txB"/>
            <a:pathLst>
              <a:path w="3837" h="310">
                <a:moveTo>
                  <a:pt x="0" y="1"/>
                </a:moveTo>
                <a:lnTo>
                  <a:pt x="599" y="1"/>
                </a:lnTo>
                <a:lnTo>
                  <a:pt x="600" y="310"/>
                </a:lnTo>
                <a:lnTo>
                  <a:pt x="750" y="310"/>
                </a:lnTo>
                <a:lnTo>
                  <a:pt x="750" y="6"/>
                </a:lnTo>
                <a:lnTo>
                  <a:pt x="2231" y="4"/>
                </a:lnTo>
                <a:lnTo>
                  <a:pt x="2231" y="310"/>
                </a:lnTo>
                <a:lnTo>
                  <a:pt x="2385" y="310"/>
                </a:lnTo>
                <a:lnTo>
                  <a:pt x="2385" y="21"/>
                </a:lnTo>
                <a:lnTo>
                  <a:pt x="2385" y="0"/>
                </a:lnTo>
                <a:lnTo>
                  <a:pt x="3837" y="1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5477" name="Freeform 21"/>
          <p:cNvSpPr/>
          <p:nvPr/>
        </p:nvSpPr>
        <p:spPr>
          <a:xfrm>
            <a:off x="3962400" y="4978400"/>
            <a:ext cx="6086475" cy="485775"/>
          </a:xfrm>
          <a:custGeom>
            <a:avLst/>
            <a:gdLst>
              <a:gd name="txL" fmla="*/ 0 w 3834"/>
              <a:gd name="txT" fmla="*/ 0 h 306"/>
              <a:gd name="txR" fmla="*/ 3834 w 3834"/>
              <a:gd name="txB" fmla="*/ 306 h 306"/>
            </a:gdLst>
            <a:ahLst/>
            <a:cxnLst>
              <a:cxn ang="0">
                <a:pos x="0" y="5"/>
              </a:cxn>
              <a:cxn ang="0">
                <a:pos x="1008" y="5"/>
              </a:cxn>
              <a:cxn ang="0">
                <a:pos x="1008" y="305"/>
              </a:cxn>
              <a:cxn ang="0">
                <a:pos x="1158" y="306"/>
              </a:cxn>
              <a:cxn ang="0">
                <a:pos x="1158" y="6"/>
              </a:cxn>
              <a:cxn ang="0">
                <a:pos x="2637" y="5"/>
              </a:cxn>
              <a:cxn ang="0">
                <a:pos x="2640" y="305"/>
              </a:cxn>
              <a:cxn ang="0">
                <a:pos x="2790" y="306"/>
              </a:cxn>
              <a:cxn ang="0">
                <a:pos x="2790" y="23"/>
              </a:cxn>
              <a:cxn ang="0">
                <a:pos x="2793" y="0"/>
              </a:cxn>
              <a:cxn ang="0">
                <a:pos x="3834" y="5"/>
              </a:cxn>
            </a:cxnLst>
            <a:rect l="txL" t="txT" r="txR" b="txB"/>
            <a:pathLst>
              <a:path w="3834" h="306">
                <a:moveTo>
                  <a:pt x="0" y="5"/>
                </a:moveTo>
                <a:lnTo>
                  <a:pt x="1008" y="5"/>
                </a:lnTo>
                <a:lnTo>
                  <a:pt x="1008" y="305"/>
                </a:lnTo>
                <a:lnTo>
                  <a:pt x="1158" y="306"/>
                </a:lnTo>
                <a:lnTo>
                  <a:pt x="1158" y="6"/>
                </a:lnTo>
                <a:lnTo>
                  <a:pt x="2637" y="5"/>
                </a:lnTo>
                <a:lnTo>
                  <a:pt x="2640" y="305"/>
                </a:lnTo>
                <a:lnTo>
                  <a:pt x="2790" y="306"/>
                </a:lnTo>
                <a:lnTo>
                  <a:pt x="2790" y="23"/>
                </a:lnTo>
                <a:lnTo>
                  <a:pt x="2793" y="0"/>
                </a:lnTo>
                <a:lnTo>
                  <a:pt x="3834" y="5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5478" name="Freeform 22"/>
          <p:cNvSpPr/>
          <p:nvPr/>
        </p:nvSpPr>
        <p:spPr>
          <a:xfrm>
            <a:off x="3952875" y="5676900"/>
            <a:ext cx="6105525" cy="500063"/>
          </a:xfrm>
          <a:custGeom>
            <a:avLst/>
            <a:gdLst>
              <a:gd name="txL" fmla="*/ 0 w 3846"/>
              <a:gd name="txT" fmla="*/ 0 h 315"/>
              <a:gd name="txR" fmla="*/ 3846 w 3846"/>
              <a:gd name="txB" fmla="*/ 315 h 315"/>
            </a:gdLst>
            <a:ahLst/>
            <a:cxnLst>
              <a:cxn ang="0">
                <a:pos x="0" y="3"/>
              </a:cxn>
              <a:cxn ang="0">
                <a:pos x="1422" y="3"/>
              </a:cxn>
              <a:cxn ang="0">
                <a:pos x="1422" y="315"/>
              </a:cxn>
              <a:cxn ang="0">
                <a:pos x="1563" y="315"/>
              </a:cxn>
              <a:cxn ang="0">
                <a:pos x="1563" y="6"/>
              </a:cxn>
              <a:cxn ang="0">
                <a:pos x="3054" y="3"/>
              </a:cxn>
              <a:cxn ang="0">
                <a:pos x="3054" y="306"/>
              </a:cxn>
              <a:cxn ang="0">
                <a:pos x="3198" y="308"/>
              </a:cxn>
              <a:cxn ang="0">
                <a:pos x="3198" y="0"/>
              </a:cxn>
              <a:cxn ang="0">
                <a:pos x="3195" y="3"/>
              </a:cxn>
              <a:cxn ang="0">
                <a:pos x="3846" y="3"/>
              </a:cxn>
            </a:cxnLst>
            <a:rect l="txL" t="txT" r="txR" b="txB"/>
            <a:pathLst>
              <a:path w="3846" h="315">
                <a:moveTo>
                  <a:pt x="0" y="3"/>
                </a:moveTo>
                <a:lnTo>
                  <a:pt x="1422" y="3"/>
                </a:lnTo>
                <a:lnTo>
                  <a:pt x="1422" y="315"/>
                </a:lnTo>
                <a:lnTo>
                  <a:pt x="1563" y="315"/>
                </a:lnTo>
                <a:lnTo>
                  <a:pt x="1563" y="6"/>
                </a:lnTo>
                <a:lnTo>
                  <a:pt x="3054" y="3"/>
                </a:lnTo>
                <a:lnTo>
                  <a:pt x="3054" y="306"/>
                </a:lnTo>
                <a:lnTo>
                  <a:pt x="3198" y="308"/>
                </a:lnTo>
                <a:lnTo>
                  <a:pt x="3198" y="0"/>
                </a:lnTo>
                <a:lnTo>
                  <a:pt x="3195" y="3"/>
                </a:lnTo>
                <a:lnTo>
                  <a:pt x="3846" y="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" name="Group 23"/>
          <p:cNvGrpSpPr/>
          <p:nvPr/>
        </p:nvGrpSpPr>
        <p:grpSpPr>
          <a:xfrm>
            <a:off x="3962400" y="3562350"/>
            <a:ext cx="6096000" cy="500063"/>
            <a:chOff x="1536" y="2244"/>
            <a:chExt cx="3840" cy="315"/>
          </a:xfrm>
        </p:grpSpPr>
        <p:sp>
          <p:nvSpPr>
            <p:cNvPr id="342046" name="Freeform 24"/>
            <p:cNvSpPr/>
            <p:nvPr/>
          </p:nvSpPr>
          <p:spPr>
            <a:xfrm>
              <a:off x="1536" y="2247"/>
              <a:ext cx="3456" cy="312"/>
            </a:xfrm>
            <a:custGeom>
              <a:avLst/>
              <a:gdLst>
                <a:gd name="txL" fmla="*/ 0 w 3456"/>
                <a:gd name="txT" fmla="*/ 0 h 312"/>
                <a:gd name="txR" fmla="*/ 3456 w 3456"/>
                <a:gd name="txB" fmla="*/ 312 h 312"/>
              </a:gdLst>
              <a:ahLst/>
              <a:cxnLst>
                <a:cxn ang="0">
                  <a:pos x="0" y="6"/>
                </a:cxn>
                <a:cxn ang="0">
                  <a:pos x="192" y="6"/>
                </a:cxn>
                <a:cxn ang="0">
                  <a:pos x="192" y="306"/>
                </a:cxn>
                <a:cxn ang="0">
                  <a:pos x="336" y="309"/>
                </a:cxn>
                <a:cxn ang="0">
                  <a:pos x="336" y="9"/>
                </a:cxn>
                <a:cxn ang="0">
                  <a:pos x="1824" y="9"/>
                </a:cxn>
                <a:cxn ang="0">
                  <a:pos x="1824" y="312"/>
                </a:cxn>
                <a:cxn ang="0">
                  <a:pos x="1968" y="309"/>
                </a:cxn>
                <a:cxn ang="0">
                  <a:pos x="1971" y="24"/>
                </a:cxn>
                <a:cxn ang="0">
                  <a:pos x="1971" y="3"/>
                </a:cxn>
                <a:cxn ang="0">
                  <a:pos x="3456" y="0"/>
                </a:cxn>
              </a:cxnLst>
              <a:rect l="txL" t="txT" r="txR" b="txB"/>
              <a:pathLst>
                <a:path w="3456" h="312">
                  <a:moveTo>
                    <a:pt x="0" y="6"/>
                  </a:moveTo>
                  <a:lnTo>
                    <a:pt x="192" y="6"/>
                  </a:lnTo>
                  <a:lnTo>
                    <a:pt x="192" y="306"/>
                  </a:lnTo>
                  <a:lnTo>
                    <a:pt x="336" y="309"/>
                  </a:lnTo>
                  <a:lnTo>
                    <a:pt x="336" y="9"/>
                  </a:lnTo>
                  <a:lnTo>
                    <a:pt x="1824" y="9"/>
                  </a:lnTo>
                  <a:lnTo>
                    <a:pt x="1824" y="312"/>
                  </a:lnTo>
                  <a:lnTo>
                    <a:pt x="1968" y="309"/>
                  </a:lnTo>
                  <a:lnTo>
                    <a:pt x="1971" y="24"/>
                  </a:lnTo>
                  <a:lnTo>
                    <a:pt x="1971" y="3"/>
                  </a:lnTo>
                  <a:lnTo>
                    <a:pt x="345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42047" name="Freeform 25"/>
            <p:cNvSpPr/>
            <p:nvPr/>
          </p:nvSpPr>
          <p:spPr>
            <a:xfrm>
              <a:off x="4992" y="2244"/>
              <a:ext cx="384" cy="306"/>
            </a:xfrm>
            <a:custGeom>
              <a:avLst/>
              <a:gdLst>
                <a:gd name="txL" fmla="*/ 0 w 384"/>
                <a:gd name="txT" fmla="*/ 0 h 306"/>
                <a:gd name="txR" fmla="*/ 384 w 384"/>
                <a:gd name="txB" fmla="*/ 306 h 306"/>
              </a:gdLst>
              <a:ahLst/>
              <a:cxnLst>
                <a:cxn ang="0">
                  <a:pos x="0" y="0"/>
                </a:cxn>
                <a:cxn ang="0">
                  <a:pos x="0" y="306"/>
                </a:cxn>
                <a:cxn ang="0">
                  <a:pos x="144" y="306"/>
                </a:cxn>
                <a:cxn ang="0">
                  <a:pos x="144" y="6"/>
                </a:cxn>
                <a:cxn ang="0">
                  <a:pos x="384" y="6"/>
                </a:cxn>
              </a:cxnLst>
              <a:rect l="txL" t="txT" r="txR" b="txB"/>
              <a:pathLst>
                <a:path w="384" h="306">
                  <a:moveTo>
                    <a:pt x="0" y="0"/>
                  </a:moveTo>
                  <a:lnTo>
                    <a:pt x="0" y="306"/>
                  </a:lnTo>
                  <a:lnTo>
                    <a:pt x="144" y="306"/>
                  </a:lnTo>
                  <a:lnTo>
                    <a:pt x="144" y="6"/>
                  </a:lnTo>
                  <a:lnTo>
                    <a:pt x="384" y="6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26"/>
          <p:cNvGrpSpPr/>
          <p:nvPr/>
        </p:nvGrpSpPr>
        <p:grpSpPr>
          <a:xfrm>
            <a:off x="4267200" y="1981200"/>
            <a:ext cx="5181600" cy="1219200"/>
            <a:chOff x="1728" y="1248"/>
            <a:chExt cx="3264" cy="768"/>
          </a:xfrm>
        </p:grpSpPr>
        <p:sp>
          <p:nvSpPr>
            <p:cNvPr id="342037" name="Text Box 27"/>
            <p:cNvSpPr txBox="1"/>
            <p:nvPr/>
          </p:nvSpPr>
          <p:spPr>
            <a:xfrm>
              <a:off x="2112" y="1248"/>
              <a:ext cx="883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单体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访存周期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2038" name="Text Box 28"/>
            <p:cNvSpPr txBox="1"/>
            <p:nvPr/>
          </p:nvSpPr>
          <p:spPr>
            <a:xfrm>
              <a:off x="3744" y="1248"/>
              <a:ext cx="883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单体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访存周期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2039" name="Line 29"/>
            <p:cNvSpPr/>
            <p:nvPr/>
          </p:nvSpPr>
          <p:spPr>
            <a:xfrm>
              <a:off x="2976" y="1536"/>
              <a:ext cx="379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42040" name="Line 30"/>
            <p:cNvSpPr/>
            <p:nvPr/>
          </p:nvSpPr>
          <p:spPr>
            <a:xfrm>
              <a:off x="4613" y="1536"/>
              <a:ext cx="379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42041" name="Line 31"/>
            <p:cNvSpPr/>
            <p:nvPr/>
          </p:nvSpPr>
          <p:spPr>
            <a:xfrm rot="10800000">
              <a:off x="3360" y="1536"/>
              <a:ext cx="379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42042" name="Line 32"/>
            <p:cNvSpPr/>
            <p:nvPr/>
          </p:nvSpPr>
          <p:spPr>
            <a:xfrm rot="10800000">
              <a:off x="1733" y="1536"/>
              <a:ext cx="379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42043" name="Line 33"/>
            <p:cNvSpPr/>
            <p:nvPr/>
          </p:nvSpPr>
          <p:spPr>
            <a:xfrm>
              <a:off x="1728" y="1392"/>
              <a:ext cx="0" cy="62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2044" name="Line 34"/>
            <p:cNvSpPr/>
            <p:nvPr/>
          </p:nvSpPr>
          <p:spPr>
            <a:xfrm>
              <a:off x="3360" y="1392"/>
              <a:ext cx="0" cy="62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2045" name="Line 35"/>
            <p:cNvSpPr/>
            <p:nvPr/>
          </p:nvSpPr>
          <p:spPr>
            <a:xfrm>
              <a:off x="4992" y="1392"/>
              <a:ext cx="0" cy="62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75492" name="Rectangle 3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5493" name="Text Box 37"/>
          <p:cNvSpPr txBox="1"/>
          <p:nvPr/>
        </p:nvSpPr>
        <p:spPr>
          <a:xfrm>
            <a:off x="1789113" y="3505200"/>
            <a:ext cx="1935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启动存储体 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75494" name="Text Box 38"/>
          <p:cNvSpPr txBox="1"/>
          <p:nvPr/>
        </p:nvSpPr>
        <p:spPr>
          <a:xfrm>
            <a:off x="1789113" y="4241800"/>
            <a:ext cx="1935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启动存储体 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75495" name="Text Box 39"/>
          <p:cNvSpPr txBox="1"/>
          <p:nvPr/>
        </p:nvSpPr>
        <p:spPr>
          <a:xfrm>
            <a:off x="1789113" y="4978400"/>
            <a:ext cx="1935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启动存储体 </a:t>
            </a:r>
            <a:r>
              <a:rPr lang="en-US" altLang="zh-CN" sz="2400" b="1" dirty="0">
                <a:latin typeface="Times New Roman" panose="02020603050405020304" pitchFamily="18" charset="0"/>
              </a:rPr>
              <a:t>2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75496" name="Text Box 40"/>
          <p:cNvSpPr txBox="1"/>
          <p:nvPr/>
        </p:nvSpPr>
        <p:spPr>
          <a:xfrm>
            <a:off x="1789113" y="5715000"/>
            <a:ext cx="1935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启动存储体 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42035" name="AutoShape 4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2036" name="日期占位符 9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5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5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7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5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7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75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27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76" grpId="0" bldLvl="0" animBg="1"/>
      <p:bldP spid="275477" grpId="0" bldLvl="0" animBg="1"/>
      <p:bldP spid="275478" grpId="0" bldLvl="0" animBg="1"/>
      <p:bldP spid="275493" grpId="0"/>
      <p:bldP spid="275494" grpId="0"/>
      <p:bldP spid="275495" grpId="0"/>
      <p:bldP spid="275496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Text Box 2"/>
          <p:cNvSpPr txBox="1"/>
          <p:nvPr/>
        </p:nvSpPr>
        <p:spPr>
          <a:xfrm>
            <a:off x="1958975" y="1243013"/>
            <a:ext cx="259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76483" name="Rectangle 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1" name="Rectangle 4"/>
          <p:cNvSpPr/>
          <p:nvPr/>
        </p:nvSpPr>
        <p:spPr>
          <a:xfrm>
            <a:off x="1524000" y="2359025"/>
            <a:ext cx="30988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9218" name="Object 5"/>
          <p:cNvGraphicFramePr>
            <a:graphicFrameLocks noChangeAspect="1"/>
          </p:cNvGraphicFramePr>
          <p:nvPr/>
        </p:nvGraphicFramePr>
        <p:xfrm>
          <a:off x="3071813" y="1587500"/>
          <a:ext cx="6948487" cy="392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3836035" imgH="2291080" progId="Visio.Drawing.11">
                  <p:embed/>
                </p:oleObj>
              </mc:Choice>
              <mc:Fallback>
                <p:oleObj name="" r:id="rId1" imgW="3836035" imgH="2291080" progId="Visio.Drawing.11">
                  <p:embed/>
                  <p:pic>
                    <p:nvPicPr>
                      <p:cNvPr id="0" name="20 3084"/>
                      <p:cNvPicPr/>
                      <p:nvPr/>
                    </p:nvPicPr>
                    <p:blipFill>
                      <a:blip r:embed="rId2"/>
                      <a:srcRect b="5232"/>
                      <a:stretch>
                        <a:fillRect/>
                      </a:stretch>
                    </p:blipFill>
                    <p:spPr>
                      <a:xfrm>
                        <a:off x="3071813" y="1587500"/>
                        <a:ext cx="6948487" cy="39290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6"/>
          <p:cNvSpPr txBox="1"/>
          <p:nvPr/>
        </p:nvSpPr>
        <p:spPr>
          <a:xfrm>
            <a:off x="2135188" y="404813"/>
            <a:ext cx="7489825" cy="1245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设四体低位交叉存储器，存取周期为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T</a:t>
            </a:r>
            <a:r>
              <a:rPr lang="zh-CN" altLang="en-US" sz="2400" b="1" dirty="0">
                <a:latin typeface="Times New Roman" panose="02020603050405020304" pitchFamily="18" charset="0"/>
              </a:rPr>
              <a:t>，总线传输周期为</a:t>
            </a:r>
            <a:r>
              <a:rPr lang="en-US" altLang="zh-CN" sz="2600" b="1" i="1" dirty="0">
                <a:latin typeface="Times New Roman" panose="02020603050405020304" pitchFamily="18" charset="0"/>
                <a:ea typeface="MS Mincho" pitchFamily="49" charset="-128"/>
              </a:rPr>
              <a:t>τ</a:t>
            </a:r>
            <a:r>
              <a:rPr lang="zh-CN" altLang="en-US" sz="2400" b="1" dirty="0">
                <a:latin typeface="Times New Roman" panose="02020603050405020304" pitchFamily="18" charset="0"/>
              </a:rPr>
              <a:t>，为实现流水线方式存取，应满足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＝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6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MS Mincho" pitchFamily="49" charset="-128"/>
              </a:rPr>
              <a:t>τ</a:t>
            </a:r>
            <a:r>
              <a:rPr lang="zh-CN" altLang="en-US" sz="2400" b="1" dirty="0">
                <a:latin typeface="Times New Roman" panose="02020603050405020304" pitchFamily="18" charset="0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9223" name="Text Box 7"/>
          <p:cNvSpPr txBox="1"/>
          <p:nvPr/>
        </p:nvSpPr>
        <p:spPr>
          <a:xfrm>
            <a:off x="3286125" y="5876925"/>
            <a:ext cx="8497888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连续读取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4 </a:t>
            </a:r>
            <a:r>
              <a:rPr lang="zh-CN" altLang="en-US" sz="2400" b="1" dirty="0">
                <a:latin typeface="Times New Roman" panose="02020603050405020304" pitchFamily="18" charset="0"/>
              </a:rPr>
              <a:t>个字所需的时间为   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＋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(4</a:t>
            </a:r>
            <a:r>
              <a:rPr lang="en-US" altLang="zh-CN" sz="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19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1)</a:t>
            </a:r>
            <a:r>
              <a:rPr lang="en-US" altLang="zh-CN" sz="26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MS Mincho" pitchFamily="49" charset="-128"/>
              </a:rPr>
              <a:t>τ</a:t>
            </a:r>
            <a:endParaRPr lang="en-US" altLang="zh-CN" sz="2600" b="1" i="1" dirty="0">
              <a:solidFill>
                <a:schemeClr val="folHlink"/>
              </a:solidFill>
              <a:latin typeface="Times New Roman" panose="02020603050405020304" pitchFamily="18" charset="0"/>
              <a:ea typeface="MS Mincho" pitchFamily="49" charset="-128"/>
            </a:endParaRPr>
          </a:p>
        </p:txBody>
      </p:sp>
      <p:sp>
        <p:nvSpPr>
          <p:cNvPr id="9224" name="AutoShape 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2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3042" name="Text Box 2"/>
          <p:cNvSpPr txBox="1"/>
          <p:nvPr/>
        </p:nvSpPr>
        <p:spPr>
          <a:xfrm>
            <a:off x="1905000" y="501650"/>
            <a:ext cx="7543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(3) </a:t>
            </a:r>
            <a:r>
              <a:rPr lang="zh-CN" altLang="en-US" sz="3600" b="1" dirty="0">
                <a:latin typeface="Times New Roman" panose="02020603050405020304" pitchFamily="18" charset="0"/>
              </a:rPr>
              <a:t>存储器控制部件（简称存控）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77507" name="AutoShape 3"/>
          <p:cNvSpPr/>
          <p:nvPr/>
        </p:nvSpPr>
        <p:spPr>
          <a:xfrm>
            <a:off x="2351088" y="2343150"/>
            <a:ext cx="2144712" cy="1734280"/>
          </a:xfrm>
          <a:prstGeom prst="wedgeRoundRectCallout">
            <a:avLst>
              <a:gd name="adj1" fmla="val 80866"/>
              <a:gd name="adj2" fmla="val 53736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易发生代码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丢失的请求源，优先级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最高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7508" name="AutoShape 4"/>
          <p:cNvSpPr/>
          <p:nvPr/>
        </p:nvSpPr>
        <p:spPr>
          <a:xfrm>
            <a:off x="1912938" y="4319588"/>
            <a:ext cx="2596274" cy="1326274"/>
          </a:xfrm>
          <a:prstGeom prst="wedgeRoundRectCallout">
            <a:avLst>
              <a:gd name="adj1" fmla="val 72708"/>
              <a:gd name="adj2" fmla="val -59625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严重影响 </a:t>
            </a:r>
            <a:r>
              <a:rPr lang="en-US" altLang="zh-CN" sz="2400" b="1" dirty="0">
                <a:latin typeface="Times New Roman" panose="02020603050405020304" pitchFamily="18" charset="0"/>
              </a:rPr>
              <a:t>CPU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工作的请求源，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给予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次高 </a:t>
            </a:r>
            <a:r>
              <a:rPr lang="zh-CN" altLang="en-US" sz="2400" b="1" dirty="0">
                <a:latin typeface="Times New Roman" panose="02020603050405020304" pitchFamily="18" charset="0"/>
              </a:rPr>
              <a:t>优先级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77509" name="Rectangle 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4724400" y="1790700"/>
            <a:ext cx="6477000" cy="3775075"/>
            <a:chOff x="2016" y="1128"/>
            <a:chExt cx="4080" cy="2378"/>
          </a:xfrm>
        </p:grpSpPr>
        <p:grpSp>
          <p:nvGrpSpPr>
            <p:cNvPr id="343049" name="Group 7"/>
            <p:cNvGrpSpPr/>
            <p:nvPr/>
          </p:nvGrpSpPr>
          <p:grpSpPr>
            <a:xfrm>
              <a:off x="2016" y="1128"/>
              <a:ext cx="4080" cy="2378"/>
              <a:chOff x="2016" y="1128"/>
              <a:chExt cx="4080" cy="2378"/>
            </a:xfrm>
          </p:grpSpPr>
          <p:sp>
            <p:nvSpPr>
              <p:cNvPr id="343051" name="Rectangle 8"/>
              <p:cNvSpPr/>
              <p:nvPr/>
            </p:nvSpPr>
            <p:spPr>
              <a:xfrm>
                <a:off x="2256" y="1442"/>
                <a:ext cx="1056" cy="29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3052" name="Text Box 9"/>
              <p:cNvSpPr txBox="1"/>
              <p:nvPr/>
            </p:nvSpPr>
            <p:spPr>
              <a:xfrm>
                <a:off x="2352" y="1442"/>
                <a:ext cx="88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控制线路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3053" name="Rectangle 10"/>
              <p:cNvSpPr/>
              <p:nvPr/>
            </p:nvSpPr>
            <p:spPr>
              <a:xfrm>
                <a:off x="2256" y="2450"/>
                <a:ext cx="1056" cy="29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3054" name="Text Box 11"/>
              <p:cNvSpPr txBox="1"/>
              <p:nvPr/>
            </p:nvSpPr>
            <p:spPr>
              <a:xfrm>
                <a:off x="2425" y="2450"/>
                <a:ext cx="69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排队器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3055" name="Rectangle 12"/>
              <p:cNvSpPr/>
              <p:nvPr/>
            </p:nvSpPr>
            <p:spPr>
              <a:xfrm>
                <a:off x="3792" y="1248"/>
                <a:ext cx="791" cy="53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3056" name="Text Box 13"/>
              <p:cNvSpPr txBox="1"/>
              <p:nvPr/>
            </p:nvSpPr>
            <p:spPr>
              <a:xfrm>
                <a:off x="3840" y="1260"/>
                <a:ext cx="691" cy="52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  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节拍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发生器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3057" name="Rectangle 14"/>
              <p:cNvSpPr/>
              <p:nvPr/>
            </p:nvSpPr>
            <p:spPr>
              <a:xfrm>
                <a:off x="3792" y="2304"/>
                <a:ext cx="791" cy="53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3058" name="Text Box 15"/>
              <p:cNvSpPr txBox="1"/>
              <p:nvPr/>
            </p:nvSpPr>
            <p:spPr>
              <a:xfrm>
                <a:off x="3815" y="2304"/>
                <a:ext cx="26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3059" name="Text Box 16"/>
              <p:cNvSpPr txBox="1"/>
              <p:nvPr/>
            </p:nvSpPr>
            <p:spPr>
              <a:xfrm>
                <a:off x="4272" y="2304"/>
                <a:ext cx="26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Q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3060" name="Line 17"/>
              <p:cNvSpPr/>
              <p:nvPr/>
            </p:nvSpPr>
            <p:spPr>
              <a:xfrm>
                <a:off x="4309" y="2352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3061" name="Text Box 18"/>
              <p:cNvSpPr txBox="1"/>
              <p:nvPr/>
            </p:nvSpPr>
            <p:spPr>
              <a:xfrm>
                <a:off x="4032" y="2544"/>
                <a:ext cx="37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400" b="1" baseline="-20000" dirty="0">
                    <a:latin typeface="Times New Roman" panose="02020603050405020304" pitchFamily="18" charset="0"/>
                  </a:rPr>
                  <a:t>M</a:t>
                </a:r>
                <a:endParaRPr lang="en-US" altLang="zh-CN" sz="2400" b="1" baseline="-20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3062" name="Line 19"/>
              <p:cNvSpPr/>
              <p:nvPr/>
            </p:nvSpPr>
            <p:spPr>
              <a:xfrm flipV="1">
                <a:off x="3936" y="1778"/>
                <a:ext cx="0" cy="52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3063" name="Freeform 20"/>
              <p:cNvSpPr/>
              <p:nvPr/>
            </p:nvSpPr>
            <p:spPr>
              <a:xfrm>
                <a:off x="4416" y="1778"/>
                <a:ext cx="624" cy="240"/>
              </a:xfrm>
              <a:custGeom>
                <a:avLst/>
                <a:gdLst>
                  <a:gd name="txL" fmla="*/ 0 w 624"/>
                  <a:gd name="txT" fmla="*/ 0 h 240"/>
                  <a:gd name="txR" fmla="*/ 624 w 624"/>
                  <a:gd name="txB" fmla="*/ 240 h 240"/>
                </a:gdLst>
                <a:ahLst/>
                <a:cxnLst>
                  <a:cxn ang="0">
                    <a:pos x="624" y="240"/>
                  </a:cxn>
                  <a:cxn ang="0">
                    <a:pos x="0" y="240"/>
                  </a:cxn>
                  <a:cxn ang="0">
                    <a:pos x="0" y="0"/>
                  </a:cxn>
                </a:cxnLst>
                <a:rect l="txL" t="txT" r="txR" b="txB"/>
                <a:pathLst>
                  <a:path w="624" h="240">
                    <a:moveTo>
                      <a:pt x="624" y="240"/>
                    </a:moveTo>
                    <a:lnTo>
                      <a:pt x="0" y="240"/>
                    </a:ln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3064" name="Line 21"/>
              <p:cNvSpPr/>
              <p:nvPr/>
            </p:nvSpPr>
            <p:spPr>
              <a:xfrm flipV="1">
                <a:off x="2448" y="2738"/>
                <a:ext cx="0" cy="3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3065" name="Line 22"/>
              <p:cNvSpPr/>
              <p:nvPr/>
            </p:nvSpPr>
            <p:spPr>
              <a:xfrm flipV="1">
                <a:off x="2656" y="2738"/>
                <a:ext cx="0" cy="3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3066" name="Line 23"/>
              <p:cNvSpPr/>
              <p:nvPr/>
            </p:nvSpPr>
            <p:spPr>
              <a:xfrm flipV="1">
                <a:off x="2864" y="2738"/>
                <a:ext cx="0" cy="3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3067" name="Line 24"/>
              <p:cNvSpPr/>
              <p:nvPr/>
            </p:nvSpPr>
            <p:spPr>
              <a:xfrm flipV="1">
                <a:off x="3072" y="2738"/>
                <a:ext cx="0" cy="3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3068" name="AutoShape 25"/>
              <p:cNvSpPr/>
              <p:nvPr/>
            </p:nvSpPr>
            <p:spPr>
              <a:xfrm rot="-5400000">
                <a:off x="2688" y="2784"/>
                <a:ext cx="144" cy="720"/>
              </a:xfrm>
              <a:prstGeom prst="leftBrace">
                <a:avLst>
                  <a:gd name="adj1" fmla="val 41273"/>
                  <a:gd name="adj2" fmla="val 50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3069" name="Text Box 26"/>
              <p:cNvSpPr txBox="1"/>
              <p:nvPr/>
            </p:nvSpPr>
            <p:spPr>
              <a:xfrm>
                <a:off x="2016" y="3216"/>
                <a:ext cx="1459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来自各个请求源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3070" name="Line 27"/>
              <p:cNvSpPr/>
              <p:nvPr/>
            </p:nvSpPr>
            <p:spPr>
              <a:xfrm flipV="1">
                <a:off x="2448" y="1128"/>
                <a:ext cx="0" cy="3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3071" name="Line 28"/>
              <p:cNvSpPr/>
              <p:nvPr/>
            </p:nvSpPr>
            <p:spPr>
              <a:xfrm flipV="1">
                <a:off x="2640" y="1128"/>
                <a:ext cx="0" cy="3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3072" name="Line 29"/>
              <p:cNvSpPr/>
              <p:nvPr/>
            </p:nvSpPr>
            <p:spPr>
              <a:xfrm flipV="1">
                <a:off x="3120" y="1128"/>
                <a:ext cx="0" cy="32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343073" name="Text Box 30"/>
              <p:cNvSpPr txBox="1"/>
              <p:nvPr/>
            </p:nvSpPr>
            <p:spPr>
              <a:xfrm>
                <a:off x="2620" y="1140"/>
                <a:ext cx="419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3074" name="Freeform 31"/>
              <p:cNvSpPr/>
              <p:nvPr/>
            </p:nvSpPr>
            <p:spPr>
              <a:xfrm>
                <a:off x="2784" y="1725"/>
                <a:ext cx="1" cy="723"/>
              </a:xfrm>
              <a:custGeom>
                <a:avLst/>
                <a:gdLst>
                  <a:gd name="txL" fmla="*/ 0 w 1"/>
                  <a:gd name="txT" fmla="*/ 0 h 723"/>
                  <a:gd name="txR" fmla="*/ 1 w 1"/>
                  <a:gd name="txB" fmla="*/ 723 h 723"/>
                </a:gdLst>
                <a:ahLst/>
                <a:cxnLst>
                  <a:cxn ang="0">
                    <a:pos x="0" y="723"/>
                  </a:cxn>
                  <a:cxn ang="0">
                    <a:pos x="1" y="0"/>
                  </a:cxn>
                </a:cxnLst>
                <a:rect l="txL" t="txT" r="txR" b="txB"/>
                <a:pathLst>
                  <a:path w="1" h="723">
                    <a:moveTo>
                      <a:pt x="0" y="723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3075" name="Text Box 32"/>
              <p:cNvSpPr txBox="1"/>
              <p:nvPr/>
            </p:nvSpPr>
            <p:spPr>
              <a:xfrm>
                <a:off x="4656" y="1713"/>
                <a:ext cx="59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主脉冲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3076" name="Text Box 33"/>
              <p:cNvSpPr txBox="1"/>
              <p:nvPr/>
            </p:nvSpPr>
            <p:spPr>
              <a:xfrm>
                <a:off x="4656" y="2352"/>
                <a:ext cx="1440" cy="4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存控标记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 触发器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3077" name="Line 34"/>
              <p:cNvSpPr/>
              <p:nvPr/>
            </p:nvSpPr>
            <p:spPr>
              <a:xfrm flipH="1">
                <a:off x="3322" y="1584"/>
                <a:ext cx="483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343050" name="Freeform 35"/>
            <p:cNvSpPr/>
            <p:nvPr/>
          </p:nvSpPr>
          <p:spPr>
            <a:xfrm>
              <a:off x="2784" y="2064"/>
              <a:ext cx="1152" cy="1008"/>
            </a:xfrm>
            <a:custGeom>
              <a:avLst/>
              <a:gdLst>
                <a:gd name="txL" fmla="*/ 0 w 1152"/>
                <a:gd name="txT" fmla="*/ 0 h 1008"/>
                <a:gd name="txR" fmla="*/ 1152 w 1152"/>
                <a:gd name="txB" fmla="*/ 1008 h 1008"/>
              </a:gdLst>
              <a:ahLst/>
              <a:cxnLst>
                <a:cxn ang="0">
                  <a:pos x="1152" y="768"/>
                </a:cxn>
                <a:cxn ang="0">
                  <a:pos x="1152" y="1008"/>
                </a:cxn>
                <a:cxn ang="0">
                  <a:pos x="768" y="1008"/>
                </a:cxn>
                <a:cxn ang="0">
                  <a:pos x="768" y="0"/>
                </a:cxn>
                <a:cxn ang="0">
                  <a:pos x="0" y="0"/>
                </a:cxn>
              </a:cxnLst>
              <a:rect l="txL" t="txT" r="txR" b="txB"/>
              <a:pathLst>
                <a:path w="1152" h="1008">
                  <a:moveTo>
                    <a:pt x="1152" y="768"/>
                  </a:moveTo>
                  <a:lnTo>
                    <a:pt x="1152" y="1008"/>
                  </a:lnTo>
                  <a:lnTo>
                    <a:pt x="768" y="1008"/>
                  </a:lnTo>
                  <a:lnTo>
                    <a:pt x="768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oval" w="sm" len="sm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43047" name="AutoShape 3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3048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7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ldLvl="0" animBg="1"/>
      <p:bldP spid="277508" grpId="0" bldLvl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8530" name="Rectangle 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4.2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4067" name="Text Box 3"/>
          <p:cNvSpPr txBox="1"/>
          <p:nvPr/>
        </p:nvSpPr>
        <p:spPr>
          <a:xfrm>
            <a:off x="2209800" y="266700"/>
            <a:ext cx="4749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</a:t>
            </a:r>
            <a:r>
              <a:rPr lang="zh-CN" altLang="en-US" sz="3600" b="1" dirty="0">
                <a:latin typeface="Times New Roman" panose="02020603050405020304" pitchFamily="18" charset="0"/>
              </a:rPr>
              <a:t>高性能存储芯片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78532" name="Text Box 4"/>
          <p:cNvSpPr txBox="1"/>
          <p:nvPr/>
        </p:nvSpPr>
        <p:spPr>
          <a:xfrm>
            <a:off x="2422525" y="1120775"/>
            <a:ext cx="54022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 SDRAM (</a:t>
            </a:r>
            <a:r>
              <a:rPr lang="zh-CN" altLang="en-US" sz="2800" b="1" dirty="0">
                <a:latin typeface="Times New Roman" panose="02020603050405020304" pitchFamily="18" charset="0"/>
              </a:rPr>
              <a:t>同步 </a:t>
            </a:r>
            <a:r>
              <a:rPr lang="en-US" altLang="zh-CN" sz="2800" b="1" dirty="0">
                <a:latin typeface="Times New Roman" panose="02020603050405020304" pitchFamily="18" charset="0"/>
              </a:rPr>
              <a:t>DRAM)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533" name="Text Box 5"/>
          <p:cNvSpPr txBox="1"/>
          <p:nvPr/>
        </p:nvSpPr>
        <p:spPr>
          <a:xfrm>
            <a:off x="2997200" y="1700213"/>
            <a:ext cx="727392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在系统时钟的控制下进行读出和写入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无须等待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8534" name="Text Box 6"/>
          <p:cNvSpPr txBox="1"/>
          <p:nvPr/>
        </p:nvSpPr>
        <p:spPr>
          <a:xfrm>
            <a:off x="2495550" y="3197225"/>
            <a:ext cx="540226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en-US" altLang="en-US" sz="2800" b="1" dirty="0">
                <a:latin typeface="Times New Roman" panose="02020603050405020304" pitchFamily="18" charset="0"/>
              </a:rPr>
              <a:t>RDRAM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535" name="Text Box 7"/>
          <p:cNvSpPr txBox="1"/>
          <p:nvPr/>
        </p:nvSpPr>
        <p:spPr>
          <a:xfrm>
            <a:off x="3070225" y="4051300"/>
            <a:ext cx="72739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由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Rambus </a:t>
            </a:r>
            <a:r>
              <a:rPr lang="zh-CN" altLang="en-US" sz="2400" b="1" dirty="0">
                <a:latin typeface="Times New Roman" panose="02020603050405020304" pitchFamily="18" charset="0"/>
              </a:rPr>
              <a:t>开发，主要解决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存储器带宽 </a:t>
            </a:r>
            <a:r>
              <a:rPr lang="zh-CN" altLang="en-US" sz="2400" b="1" dirty="0">
                <a:latin typeface="Times New Roman" panose="02020603050405020304" pitchFamily="18" charset="0"/>
              </a:rPr>
              <a:t>问题 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278536" name="Text Box 8"/>
          <p:cNvSpPr txBox="1"/>
          <p:nvPr/>
        </p:nvSpPr>
        <p:spPr>
          <a:xfrm>
            <a:off x="2566988" y="4797425"/>
            <a:ext cx="5402262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(3) </a:t>
            </a:r>
            <a:r>
              <a:rPr lang="en-US" altLang="en-US" sz="2800" b="1" dirty="0">
                <a:latin typeface="Times New Roman" panose="02020603050405020304" pitchFamily="18" charset="0"/>
              </a:rPr>
              <a:t>带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</a:rPr>
              <a:t>Cache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</a:rPr>
              <a:t>DRAM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278537" name="Text Box 9"/>
          <p:cNvSpPr txBox="1"/>
          <p:nvPr/>
        </p:nvSpPr>
        <p:spPr>
          <a:xfrm>
            <a:off x="3070225" y="5373688"/>
            <a:ext cx="7273925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在 </a:t>
            </a:r>
            <a:r>
              <a:rPr lang="en-US" altLang="zh-CN" sz="2400" b="1" dirty="0">
                <a:latin typeface="Times New Roman" panose="02020603050405020304" pitchFamily="18" charset="0"/>
              </a:rPr>
              <a:t>DRAM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的芯片内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集成</a:t>
            </a:r>
            <a:r>
              <a:rPr lang="zh-CN" altLang="en-US" sz="2400" b="1" dirty="0">
                <a:latin typeface="Times New Roman" panose="02020603050405020304" pitchFamily="18" charset="0"/>
              </a:rPr>
              <a:t> 了一个由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SRAM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组成的 </a:t>
            </a:r>
            <a:r>
              <a:rPr lang="en-US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Cache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，有利于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猝发式读取</a:t>
            </a:r>
            <a:r>
              <a:rPr lang="zh-CN" altLang="en-US" sz="2400" b="1" dirty="0">
                <a:latin typeface="Times New Roman" panose="02020603050405020304" pitchFamily="18" charset="0"/>
              </a:rPr>
              <a:t> 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44074" name="AutoShape 1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407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7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2" grpId="0"/>
      <p:bldP spid="278533" grpId="0"/>
      <p:bldP spid="278534" grpId="0"/>
      <p:bldP spid="278535" grpId="0"/>
      <p:bldP spid="278536" grpId="0"/>
      <p:bldP spid="278537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5090" name="Rectangle 2"/>
          <p:cNvSpPr>
            <a:spLocks noGrp="1"/>
          </p:cNvSpPr>
          <p:nvPr>
            <p:ph type="title"/>
          </p:nvPr>
        </p:nvSpPr>
        <p:spPr>
          <a:xfrm>
            <a:off x="2209800" y="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4.3   </a:t>
            </a:r>
            <a:r>
              <a:rPr lang="zh-CN" altLang="en-US" b="1" dirty="0"/>
              <a:t>高速缓冲存储器</a:t>
            </a:r>
            <a:endParaRPr lang="zh-CN" altLang="en-US" b="1" dirty="0"/>
          </a:p>
        </p:txBody>
      </p:sp>
      <p:sp>
        <p:nvSpPr>
          <p:cNvPr id="345091" name="Text Box 3"/>
          <p:cNvSpPr txBox="1"/>
          <p:nvPr/>
        </p:nvSpPr>
        <p:spPr>
          <a:xfrm>
            <a:off x="2438400" y="938213"/>
            <a:ext cx="31527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一、概述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45092" name="Text Box 4"/>
          <p:cNvSpPr txBox="1"/>
          <p:nvPr/>
        </p:nvSpPr>
        <p:spPr>
          <a:xfrm>
            <a:off x="2955925" y="1771650"/>
            <a:ext cx="2621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问题的提出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45093" name="Text Box 5"/>
          <p:cNvSpPr txBox="1"/>
          <p:nvPr/>
        </p:nvSpPr>
        <p:spPr>
          <a:xfrm>
            <a:off x="3321050" y="2409825"/>
            <a:ext cx="47561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避免 </a:t>
            </a:r>
            <a:r>
              <a:rPr lang="en-US" altLang="zh-CN" sz="2800" b="1" dirty="0">
                <a:latin typeface="Times New Roman" panose="02020603050405020304" pitchFamily="18" charset="0"/>
              </a:rPr>
              <a:t>CPU “</a:t>
            </a:r>
            <a:r>
              <a:rPr lang="zh-CN" altLang="en-US" sz="2800" b="1" dirty="0">
                <a:latin typeface="Times New Roman" panose="02020603050405020304" pitchFamily="18" charset="0"/>
              </a:rPr>
              <a:t>空等” 现象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45094" name="Text Box 6"/>
          <p:cNvSpPr txBox="1"/>
          <p:nvPr/>
        </p:nvSpPr>
        <p:spPr>
          <a:xfrm>
            <a:off x="3321050" y="2971800"/>
            <a:ext cx="56635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CPU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和主存（</a:t>
            </a:r>
            <a:r>
              <a:rPr lang="en-US" altLang="zh-CN" sz="2800" b="1" dirty="0">
                <a:latin typeface="Times New Roman" panose="02020603050405020304" pitchFamily="18" charset="0"/>
              </a:rPr>
              <a:t>DRAM</a:t>
            </a:r>
            <a:r>
              <a:rPr lang="zh-CN" altLang="en-US" sz="2800" b="1" dirty="0">
                <a:latin typeface="Times New Roman" panose="02020603050405020304" pitchFamily="18" charset="0"/>
              </a:rPr>
              <a:t>）的速度差异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45095" name="Group 7"/>
          <p:cNvGrpSpPr/>
          <p:nvPr/>
        </p:nvGrpSpPr>
        <p:grpSpPr>
          <a:xfrm>
            <a:off x="3408363" y="3657600"/>
            <a:ext cx="5278437" cy="990600"/>
            <a:chOff x="1187" y="2304"/>
            <a:chExt cx="3325" cy="624"/>
          </a:xfrm>
        </p:grpSpPr>
        <p:sp>
          <p:nvSpPr>
            <p:cNvPr id="345101" name="Text Box 8"/>
            <p:cNvSpPr txBox="1"/>
            <p:nvPr/>
          </p:nvSpPr>
          <p:spPr>
            <a:xfrm>
              <a:off x="2544" y="2573"/>
              <a:ext cx="75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缓存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5102" name="Rectangle 9"/>
            <p:cNvSpPr/>
            <p:nvPr/>
          </p:nvSpPr>
          <p:spPr>
            <a:xfrm>
              <a:off x="2451" y="2565"/>
              <a:ext cx="765" cy="36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45103" name="Text Box 10"/>
            <p:cNvSpPr txBox="1"/>
            <p:nvPr/>
          </p:nvSpPr>
          <p:spPr>
            <a:xfrm>
              <a:off x="1296" y="2573"/>
              <a:ext cx="77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CPU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5104" name="Rectangle 11"/>
            <p:cNvSpPr/>
            <p:nvPr/>
          </p:nvSpPr>
          <p:spPr>
            <a:xfrm>
              <a:off x="1187" y="2565"/>
              <a:ext cx="764" cy="36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45105" name="Text Box 12"/>
            <p:cNvSpPr txBox="1"/>
            <p:nvPr/>
          </p:nvSpPr>
          <p:spPr>
            <a:xfrm>
              <a:off x="3852" y="2573"/>
              <a:ext cx="66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主存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5106" name="Rectangle 13"/>
            <p:cNvSpPr/>
            <p:nvPr/>
          </p:nvSpPr>
          <p:spPr>
            <a:xfrm>
              <a:off x="3748" y="2565"/>
              <a:ext cx="764" cy="36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45107" name="Freeform 14"/>
            <p:cNvSpPr/>
            <p:nvPr/>
          </p:nvSpPr>
          <p:spPr>
            <a:xfrm rot="10800000">
              <a:off x="1619" y="2304"/>
              <a:ext cx="2461" cy="248"/>
            </a:xfrm>
            <a:custGeom>
              <a:avLst/>
              <a:gdLst>
                <a:gd name="txL" fmla="*/ 0 w 2610"/>
                <a:gd name="txT" fmla="*/ 0 h 282"/>
                <a:gd name="txR" fmla="*/ 2610 w 2610"/>
                <a:gd name="txB" fmla="*/ 282 h 282"/>
              </a:gdLst>
              <a:ahLst/>
              <a:cxnLst>
                <a:cxn ang="0">
                  <a:pos x="0" y="0"/>
                </a:cxn>
                <a:cxn ang="0">
                  <a:pos x="0" y="282"/>
                </a:cxn>
                <a:cxn ang="0">
                  <a:pos x="2610" y="282"/>
                </a:cxn>
                <a:cxn ang="0">
                  <a:pos x="2610" y="0"/>
                </a:cxn>
              </a:cxnLst>
              <a:rect l="txL" t="txT" r="txR" b="txB"/>
              <a:pathLst>
                <a:path w="2610" h="282">
                  <a:moveTo>
                    <a:pt x="0" y="0"/>
                  </a:moveTo>
                  <a:lnTo>
                    <a:pt x="0" y="282"/>
                  </a:lnTo>
                  <a:lnTo>
                    <a:pt x="2610" y="282"/>
                  </a:lnTo>
                  <a:lnTo>
                    <a:pt x="261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45108" name="Line 15"/>
            <p:cNvSpPr/>
            <p:nvPr/>
          </p:nvSpPr>
          <p:spPr>
            <a:xfrm>
              <a:off x="3216" y="2736"/>
              <a:ext cx="51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345109" name="Line 16"/>
            <p:cNvSpPr/>
            <p:nvPr/>
          </p:nvSpPr>
          <p:spPr>
            <a:xfrm>
              <a:off x="1933" y="2736"/>
              <a:ext cx="515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stealth" w="med" len="med"/>
              <a:tailEnd type="stealth" w="med" len="med"/>
            </a:ln>
          </p:spPr>
        </p:sp>
      </p:grpSp>
      <p:sp>
        <p:nvSpPr>
          <p:cNvPr id="345096" name="Text Box 17"/>
          <p:cNvSpPr txBox="1"/>
          <p:nvPr/>
        </p:nvSpPr>
        <p:spPr>
          <a:xfrm>
            <a:off x="5486400" y="4664075"/>
            <a:ext cx="1097280" cy="8299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容量小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速度高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45097" name="Text Box 18"/>
          <p:cNvSpPr txBox="1"/>
          <p:nvPr/>
        </p:nvSpPr>
        <p:spPr>
          <a:xfrm>
            <a:off x="7583488" y="4668838"/>
            <a:ext cx="1097280" cy="82994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容量大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</a:rPr>
              <a:t>速度低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45098" name="Text Box 19"/>
          <p:cNvSpPr txBox="1"/>
          <p:nvPr/>
        </p:nvSpPr>
        <p:spPr>
          <a:xfrm>
            <a:off x="3321050" y="5835650"/>
            <a:ext cx="3738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程序访问的局部性原理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45099" name="AutoShape 2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510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61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3461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0D44F3"/>
                </a:solidFill>
              </a:rPr>
              <a:t>程序访问局部性原理</a:t>
            </a:r>
            <a:r>
              <a:rPr lang="zh-CN" altLang="en-US" dirty="0"/>
              <a:t>：</a:t>
            </a:r>
            <a:r>
              <a:rPr lang="en-US" altLang="zh-CN" dirty="0"/>
              <a:t>CPU</a:t>
            </a:r>
            <a:r>
              <a:rPr lang="zh-CN" altLang="en-US" dirty="0"/>
              <a:t>对存储器中的程序和数据的访问，在一小段时间内，总是集中在一小块存储空间。</a:t>
            </a:r>
            <a:endParaRPr lang="zh-CN" altLang="en-US" dirty="0"/>
          </a:p>
        </p:txBody>
      </p:sp>
      <p:sp>
        <p:nvSpPr>
          <p:cNvPr id="34611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71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3200" b="1" dirty="0">
                <a:solidFill>
                  <a:srgbClr val="0D44F3"/>
                </a:solidFill>
                <a:latin typeface="楷体_GB2312" pitchFamily="49" charset="-122"/>
                <a:ea typeface="楷体_GB2312" pitchFamily="49" charset="-122"/>
              </a:rPr>
              <a:t>cache</a:t>
            </a:r>
            <a:r>
              <a:rPr lang="zh-CN" altLang="en-US" sz="3200" b="1" dirty="0">
                <a:solidFill>
                  <a:srgbClr val="0D44F3"/>
                </a:solidFill>
                <a:latin typeface="楷体_GB2312" pitchFamily="49" charset="-122"/>
                <a:ea typeface="楷体_GB2312" pitchFamily="49" charset="-122"/>
              </a:rPr>
              <a:t>的三个问题</a:t>
            </a:r>
            <a:endParaRPr lang="zh-CN" altLang="en-US" sz="3200" b="1" dirty="0">
              <a:solidFill>
                <a:srgbClr val="0D44F3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471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、当把主存中一个块调入</a:t>
            </a:r>
            <a:r>
              <a:rPr lang="en-US" altLang="zh-CN" sz="2800" b="1" dirty="0">
                <a:latin typeface="宋体" panose="02010600030101010101" pitchFamily="2" charset="-122"/>
              </a:rPr>
              <a:t>cache</a:t>
            </a:r>
            <a:r>
              <a:rPr lang="zh-CN" altLang="en-US" sz="2800" b="1" dirty="0">
                <a:latin typeface="宋体" panose="02010600030101010101" pitchFamily="2" charset="-122"/>
              </a:rPr>
              <a:t>时，放在</a:t>
            </a:r>
            <a:r>
              <a:rPr lang="en-US" altLang="zh-CN" sz="2800" b="1" dirty="0">
                <a:latin typeface="宋体" panose="02010600030101010101" pitchFamily="2" charset="-122"/>
              </a:rPr>
              <a:t>cache</a:t>
            </a:r>
            <a:r>
              <a:rPr lang="zh-CN" altLang="en-US" sz="2800" b="1" dirty="0">
                <a:latin typeface="宋体" panose="02010600030101010101" pitchFamily="2" charset="-122"/>
              </a:rPr>
              <a:t>中的什么位置上？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D44F3"/>
                </a:solidFill>
                <a:latin typeface="宋体" panose="02010600030101010101" pitchFamily="2" charset="-122"/>
              </a:rPr>
              <a:t>地址映射</a:t>
            </a:r>
            <a:r>
              <a:rPr lang="zh-CN" altLang="en-US" sz="2800" b="1" i="1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2</a:t>
            </a:r>
            <a:r>
              <a:rPr lang="zh-CN" altLang="en-US" sz="2800" b="1" dirty="0">
                <a:latin typeface="宋体" panose="02010600030101010101" pitchFamily="2" charset="-122"/>
              </a:rPr>
              <a:t>、当内存地址不在</a:t>
            </a:r>
            <a:r>
              <a:rPr lang="en-US" altLang="zh-CN" sz="2800" b="1" dirty="0">
                <a:latin typeface="宋体" panose="02010600030101010101" pitchFamily="2" charset="-122"/>
              </a:rPr>
              <a:t>cache</a:t>
            </a:r>
            <a:r>
              <a:rPr lang="zh-CN" altLang="en-US" sz="2800" b="1" dirty="0">
                <a:latin typeface="宋体" panose="02010600030101010101" pitchFamily="2" charset="-122"/>
              </a:rPr>
              <a:t>中时，应将</a:t>
            </a:r>
            <a:r>
              <a:rPr lang="en-US" altLang="zh-CN" sz="2800" b="1" dirty="0">
                <a:latin typeface="宋体" panose="02010600030101010101" pitchFamily="2" charset="-122"/>
              </a:rPr>
              <a:t>cache</a:t>
            </a:r>
            <a:r>
              <a:rPr lang="zh-CN" altLang="en-US" sz="2800" b="1" dirty="0">
                <a:latin typeface="宋体" panose="02010600030101010101" pitchFamily="2" charset="-122"/>
              </a:rPr>
              <a:t>中哪一块替换出去？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D44F3"/>
                </a:solidFill>
                <a:latin typeface="宋体" panose="02010600030101010101" pitchFamily="2" charset="-122"/>
              </a:rPr>
              <a:t>替换算法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2800" b="1" dirty="0">
                <a:latin typeface="宋体" panose="02010600030101010101" pitchFamily="2" charset="-122"/>
              </a:rPr>
              <a:t>3</a:t>
            </a:r>
            <a:r>
              <a:rPr lang="zh-CN" altLang="en-US" sz="2800" b="1" dirty="0">
                <a:latin typeface="宋体" panose="02010600030101010101" pitchFamily="2" charset="-122"/>
              </a:rPr>
              <a:t>、当进行写访问时，应进行哪些操作？</a:t>
            </a:r>
            <a:r>
              <a:rPr lang="en-US" altLang="zh-CN" sz="2800" b="1" dirty="0">
                <a:latin typeface="宋体" panose="02010600030101010101" pitchFamily="2" charset="-122"/>
              </a:rPr>
              <a:t>(</a:t>
            </a:r>
            <a:r>
              <a:rPr lang="zh-CN" altLang="en-US" sz="2800" b="1" dirty="0">
                <a:solidFill>
                  <a:srgbClr val="0D44F3"/>
                </a:solidFill>
                <a:latin typeface="宋体" panose="02010600030101010101" pitchFamily="2" charset="-122"/>
              </a:rPr>
              <a:t>写策略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en-US" altLang="zh-CN" sz="2800" b="1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800" dirty="0">
              <a:latin typeface="宋体" panose="02010600030101010101" pitchFamily="2" charset="-122"/>
            </a:endParaRPr>
          </a:p>
        </p:txBody>
      </p:sp>
      <p:sp>
        <p:nvSpPr>
          <p:cNvPr id="34714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62" name="Text Box 2"/>
          <p:cNvSpPr txBox="1"/>
          <p:nvPr/>
        </p:nvSpPr>
        <p:spPr>
          <a:xfrm>
            <a:off x="1676400" y="131763"/>
            <a:ext cx="4876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Cache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的工作原理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48163" name="Text Box 3"/>
          <p:cNvSpPr txBox="1"/>
          <p:nvPr/>
        </p:nvSpPr>
        <p:spPr>
          <a:xfrm>
            <a:off x="2057400" y="714375"/>
            <a:ext cx="4343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  </a:t>
            </a:r>
            <a:r>
              <a:rPr lang="zh-CN" altLang="en-US" sz="2800" b="1" dirty="0">
                <a:latin typeface="Times New Roman" panose="02020603050405020304" pitchFamily="18" charset="0"/>
              </a:rPr>
              <a:t>主存和缓存的编址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48164" name="Text Box 4"/>
          <p:cNvSpPr txBox="1"/>
          <p:nvPr/>
        </p:nvSpPr>
        <p:spPr>
          <a:xfrm>
            <a:off x="2209800" y="6248400"/>
            <a:ext cx="6050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主存和缓存按块存储      块的大小相同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165" name="Text Box 5"/>
          <p:cNvSpPr txBox="1"/>
          <p:nvPr/>
        </p:nvSpPr>
        <p:spPr>
          <a:xfrm>
            <a:off x="8534400" y="6248400"/>
            <a:ext cx="157607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为块长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48166" name="Group 6"/>
          <p:cNvGrpSpPr/>
          <p:nvPr/>
        </p:nvGrpSpPr>
        <p:grpSpPr>
          <a:xfrm>
            <a:off x="2082800" y="1255713"/>
            <a:ext cx="8353425" cy="4933949"/>
            <a:chOff x="352" y="791"/>
            <a:chExt cx="5262" cy="3108"/>
          </a:xfrm>
        </p:grpSpPr>
        <p:grpSp>
          <p:nvGrpSpPr>
            <p:cNvPr id="348170" name="Group 7"/>
            <p:cNvGrpSpPr/>
            <p:nvPr/>
          </p:nvGrpSpPr>
          <p:grpSpPr>
            <a:xfrm>
              <a:off x="352" y="791"/>
              <a:ext cx="2768" cy="3108"/>
              <a:chOff x="352" y="791"/>
              <a:chExt cx="2768" cy="3108"/>
            </a:xfrm>
          </p:grpSpPr>
          <p:sp>
            <p:nvSpPr>
              <p:cNvPr id="348221" name="Rectangle 8"/>
              <p:cNvSpPr/>
              <p:nvPr/>
            </p:nvSpPr>
            <p:spPr>
              <a:xfrm>
                <a:off x="960" y="2089"/>
                <a:ext cx="816" cy="46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22" name="Rectangle 9"/>
              <p:cNvSpPr/>
              <p:nvPr/>
            </p:nvSpPr>
            <p:spPr>
              <a:xfrm>
                <a:off x="960" y="1805"/>
                <a:ext cx="816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23" name="Rectangle 10"/>
              <p:cNvSpPr/>
              <p:nvPr/>
            </p:nvSpPr>
            <p:spPr>
              <a:xfrm>
                <a:off x="960" y="1362"/>
                <a:ext cx="816" cy="325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24" name="Rectangle 11"/>
              <p:cNvSpPr/>
              <p:nvPr/>
            </p:nvSpPr>
            <p:spPr>
              <a:xfrm>
                <a:off x="960" y="1202"/>
                <a:ext cx="816" cy="16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25" name="Rectangle 12"/>
              <p:cNvSpPr/>
              <p:nvPr/>
            </p:nvSpPr>
            <p:spPr>
              <a:xfrm>
                <a:off x="960" y="1041"/>
                <a:ext cx="816" cy="16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26" name="Line 13"/>
              <p:cNvSpPr/>
              <p:nvPr/>
            </p:nvSpPr>
            <p:spPr>
              <a:xfrm>
                <a:off x="960" y="1041"/>
                <a:ext cx="816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227" name="Line 14"/>
              <p:cNvSpPr/>
              <p:nvPr/>
            </p:nvSpPr>
            <p:spPr>
              <a:xfrm>
                <a:off x="960" y="1202"/>
                <a:ext cx="81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228" name="Line 15"/>
              <p:cNvSpPr/>
              <p:nvPr/>
            </p:nvSpPr>
            <p:spPr>
              <a:xfrm>
                <a:off x="960" y="1362"/>
                <a:ext cx="81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229" name="Line 16"/>
              <p:cNvSpPr/>
              <p:nvPr/>
            </p:nvSpPr>
            <p:spPr>
              <a:xfrm>
                <a:off x="960" y="2016"/>
                <a:ext cx="81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230" name="Line 17"/>
              <p:cNvSpPr/>
              <p:nvPr/>
            </p:nvSpPr>
            <p:spPr>
              <a:xfrm>
                <a:off x="960" y="1041"/>
                <a:ext cx="0" cy="1189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231" name="Line 18"/>
              <p:cNvSpPr/>
              <p:nvPr/>
            </p:nvSpPr>
            <p:spPr>
              <a:xfrm>
                <a:off x="1776" y="1041"/>
                <a:ext cx="0" cy="1189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48232" name="Group 19"/>
              <p:cNvGrpSpPr/>
              <p:nvPr/>
            </p:nvGrpSpPr>
            <p:grpSpPr>
              <a:xfrm>
                <a:off x="1654" y="2064"/>
                <a:ext cx="265" cy="463"/>
                <a:chOff x="1654" y="2594"/>
                <a:chExt cx="265" cy="608"/>
              </a:xfrm>
            </p:grpSpPr>
            <p:sp>
              <p:nvSpPr>
                <p:cNvPr id="348268" name="Text Box 20"/>
                <p:cNvSpPr txBox="1"/>
                <p:nvPr/>
              </p:nvSpPr>
              <p:spPr>
                <a:xfrm>
                  <a:off x="1654" y="2594"/>
                  <a:ext cx="265" cy="5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600" b="1" dirty="0">
                      <a:latin typeface="Times New Roman" panose="02020603050405020304" pitchFamily="18" charset="0"/>
                    </a:rPr>
                    <a:t>~</a:t>
                  </a:r>
                  <a:endParaRPr lang="en-US" altLang="zh-CN" sz="36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269" name="Text Box 21"/>
                <p:cNvSpPr txBox="1"/>
                <p:nvPr/>
              </p:nvSpPr>
              <p:spPr>
                <a:xfrm>
                  <a:off x="1654" y="2669"/>
                  <a:ext cx="265" cy="5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600" b="1" dirty="0">
                      <a:latin typeface="Times New Roman" panose="02020603050405020304" pitchFamily="18" charset="0"/>
                    </a:rPr>
                    <a:t>~</a:t>
                  </a:r>
                  <a:endParaRPr lang="en-US" altLang="zh-CN" sz="36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48233" name="Group 22"/>
              <p:cNvGrpSpPr/>
              <p:nvPr/>
            </p:nvGrpSpPr>
            <p:grpSpPr>
              <a:xfrm>
                <a:off x="816" y="2064"/>
                <a:ext cx="265" cy="463"/>
                <a:chOff x="1654" y="2594"/>
                <a:chExt cx="265" cy="608"/>
              </a:xfrm>
            </p:grpSpPr>
            <p:sp>
              <p:nvSpPr>
                <p:cNvPr id="348266" name="Text Box 23"/>
                <p:cNvSpPr txBox="1"/>
                <p:nvPr/>
              </p:nvSpPr>
              <p:spPr>
                <a:xfrm>
                  <a:off x="1654" y="2594"/>
                  <a:ext cx="265" cy="5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600" b="1" dirty="0">
                      <a:latin typeface="Times New Roman" panose="02020603050405020304" pitchFamily="18" charset="0"/>
                    </a:rPr>
                    <a:t>~</a:t>
                  </a:r>
                  <a:endParaRPr lang="en-US" altLang="zh-CN" sz="36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267" name="Text Box 24"/>
                <p:cNvSpPr txBox="1"/>
                <p:nvPr/>
              </p:nvSpPr>
              <p:spPr>
                <a:xfrm>
                  <a:off x="1654" y="2669"/>
                  <a:ext cx="265" cy="5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600" b="1" dirty="0">
                      <a:latin typeface="Times New Roman" panose="02020603050405020304" pitchFamily="18" charset="0"/>
                    </a:rPr>
                    <a:t>~</a:t>
                  </a:r>
                  <a:endParaRPr lang="en-US" altLang="zh-CN" sz="36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48234" name="Rectangle 25"/>
              <p:cNvSpPr/>
              <p:nvPr/>
            </p:nvSpPr>
            <p:spPr>
              <a:xfrm>
                <a:off x="960" y="2491"/>
                <a:ext cx="816" cy="34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28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35" name="Rectangle 26"/>
              <p:cNvSpPr/>
              <p:nvPr/>
            </p:nvSpPr>
            <p:spPr>
              <a:xfrm>
                <a:off x="960" y="2345"/>
                <a:ext cx="816" cy="2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36" name="Freeform 27"/>
              <p:cNvSpPr/>
              <p:nvPr/>
            </p:nvSpPr>
            <p:spPr>
              <a:xfrm>
                <a:off x="960" y="2418"/>
                <a:ext cx="1" cy="303"/>
              </a:xfrm>
              <a:custGeom>
                <a:avLst/>
                <a:gdLst>
                  <a:gd name="txL" fmla="*/ 0 w 1"/>
                  <a:gd name="txT" fmla="*/ 0 h 303"/>
                  <a:gd name="txR" fmla="*/ 1 w 1"/>
                  <a:gd name="txB" fmla="*/ 303 h 303"/>
                </a:gdLst>
                <a:ahLst/>
                <a:cxnLst>
                  <a:cxn ang="0">
                    <a:pos x="0" y="0"/>
                  </a:cxn>
                  <a:cxn ang="0">
                    <a:pos x="1" y="303"/>
                  </a:cxn>
                </a:cxnLst>
                <a:rect l="txL" t="txT" r="txR" b="txB"/>
                <a:pathLst>
                  <a:path w="1" h="303">
                    <a:moveTo>
                      <a:pt x="0" y="0"/>
                    </a:moveTo>
                    <a:lnTo>
                      <a:pt x="1" y="303"/>
                    </a:lnTo>
                  </a:path>
                </a:pathLst>
              </a:custGeom>
              <a:noFill/>
              <a:ln w="381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37" name="Freeform 28"/>
              <p:cNvSpPr/>
              <p:nvPr/>
            </p:nvSpPr>
            <p:spPr>
              <a:xfrm>
                <a:off x="1777" y="2409"/>
                <a:ext cx="2" cy="312"/>
              </a:xfrm>
              <a:custGeom>
                <a:avLst/>
                <a:gdLst>
                  <a:gd name="txL" fmla="*/ 0 w 2"/>
                  <a:gd name="txT" fmla="*/ 0 h 312"/>
                  <a:gd name="txR" fmla="*/ 2 w 2"/>
                  <a:gd name="txB" fmla="*/ 312 h 312"/>
                </a:gdLst>
                <a:ahLst/>
                <a:cxnLst>
                  <a:cxn ang="0">
                    <a:pos x="2" y="0"/>
                  </a:cxn>
                  <a:cxn ang="0">
                    <a:pos x="0" y="312"/>
                  </a:cxn>
                </a:cxnLst>
                <a:rect l="txL" t="txT" r="txR" b="txB"/>
                <a:pathLst>
                  <a:path w="2" h="312">
                    <a:moveTo>
                      <a:pt x="2" y="0"/>
                    </a:moveTo>
                    <a:lnTo>
                      <a:pt x="0" y="312"/>
                    </a:lnTo>
                  </a:path>
                </a:pathLst>
              </a:custGeom>
              <a:noFill/>
              <a:ln w="381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38" name="Text Box 29"/>
              <p:cNvSpPr txBox="1"/>
              <p:nvPr/>
            </p:nvSpPr>
            <p:spPr>
              <a:xfrm>
                <a:off x="1246" y="1411"/>
                <a:ext cx="425" cy="3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39" name="Text Box 30"/>
              <p:cNvSpPr txBox="1"/>
              <p:nvPr/>
            </p:nvSpPr>
            <p:spPr>
              <a:xfrm>
                <a:off x="1246" y="1723"/>
                <a:ext cx="425" cy="3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40" name="Text Box 31"/>
              <p:cNvSpPr txBox="1"/>
              <p:nvPr/>
            </p:nvSpPr>
            <p:spPr>
              <a:xfrm>
                <a:off x="1920" y="791"/>
                <a:ext cx="120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主存块号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41" name="Text Box 32"/>
              <p:cNvSpPr txBox="1"/>
              <p:nvPr/>
            </p:nvSpPr>
            <p:spPr>
              <a:xfrm>
                <a:off x="950" y="791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主存储器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42" name="Text Box 33"/>
              <p:cNvSpPr txBox="1"/>
              <p:nvPr/>
            </p:nvSpPr>
            <p:spPr>
              <a:xfrm>
                <a:off x="748" y="1203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43" name="Text Box 34"/>
              <p:cNvSpPr txBox="1"/>
              <p:nvPr/>
            </p:nvSpPr>
            <p:spPr>
              <a:xfrm>
                <a:off x="748" y="170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44" name="Text Box 35"/>
              <p:cNvSpPr txBox="1"/>
              <p:nvPr/>
            </p:nvSpPr>
            <p:spPr>
              <a:xfrm>
                <a:off x="352" y="2486"/>
                <a:ext cx="596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400" b="1" i="1" baseline="50000" dirty="0">
                    <a:latin typeface="Times New Roman" panose="02020603050405020304" pitchFamily="18" charset="0"/>
                  </a:rPr>
                  <a:t>m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－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45" name="AutoShape 36"/>
              <p:cNvSpPr/>
              <p:nvPr/>
            </p:nvSpPr>
            <p:spPr>
              <a:xfrm>
                <a:off x="1824" y="1041"/>
                <a:ext cx="96" cy="639"/>
              </a:xfrm>
              <a:prstGeom prst="rightBrace">
                <a:avLst>
                  <a:gd name="adj1" fmla="val 54944"/>
                  <a:gd name="adj2" fmla="val 50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46" name="AutoShape 37"/>
              <p:cNvSpPr/>
              <p:nvPr/>
            </p:nvSpPr>
            <p:spPr>
              <a:xfrm>
                <a:off x="1824" y="1699"/>
                <a:ext cx="100" cy="329"/>
              </a:xfrm>
              <a:prstGeom prst="rightBrace">
                <a:avLst>
                  <a:gd name="adj1" fmla="val 27157"/>
                  <a:gd name="adj2" fmla="val 50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47" name="AutoShape 38"/>
              <p:cNvSpPr/>
              <p:nvPr/>
            </p:nvSpPr>
            <p:spPr>
              <a:xfrm>
                <a:off x="1824" y="2501"/>
                <a:ext cx="100" cy="331"/>
              </a:xfrm>
              <a:prstGeom prst="rightBrace">
                <a:avLst>
                  <a:gd name="adj1" fmla="val 27322"/>
                  <a:gd name="adj2" fmla="val 50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48" name="Text Box 39"/>
              <p:cNvSpPr txBox="1"/>
              <p:nvPr/>
            </p:nvSpPr>
            <p:spPr>
              <a:xfrm>
                <a:off x="1920" y="1284"/>
                <a:ext cx="91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字块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49" name="Text Box 40"/>
              <p:cNvSpPr txBox="1"/>
              <p:nvPr/>
            </p:nvSpPr>
            <p:spPr>
              <a:xfrm>
                <a:off x="1920" y="1728"/>
                <a:ext cx="5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字块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50" name="Text Box 41"/>
              <p:cNvSpPr txBox="1"/>
              <p:nvPr/>
            </p:nvSpPr>
            <p:spPr>
              <a:xfrm>
                <a:off x="1920" y="2568"/>
                <a:ext cx="89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字块  </a:t>
                </a:r>
                <a:r>
                  <a:rPr lang="en-US" altLang="zh-CN" sz="2000" b="1" i="1" dirty="0">
                    <a:latin typeface="Times New Roman" panose="02020603050405020304" pitchFamily="18" charset="0"/>
                  </a:rPr>
                  <a:t>M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－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51" name="Rectangle 42"/>
              <p:cNvSpPr/>
              <p:nvPr/>
            </p:nvSpPr>
            <p:spPr>
              <a:xfrm>
                <a:off x="500" y="3372"/>
                <a:ext cx="864" cy="28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52" name="Text Box 43"/>
              <p:cNvSpPr txBox="1"/>
              <p:nvPr/>
            </p:nvSpPr>
            <p:spPr>
              <a:xfrm>
                <a:off x="540" y="3377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主存块号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53" name="Text Box 44"/>
              <p:cNvSpPr txBox="1"/>
              <p:nvPr/>
            </p:nvSpPr>
            <p:spPr>
              <a:xfrm>
                <a:off x="1404" y="3377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块内地址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54" name="Rectangle 45"/>
              <p:cNvSpPr/>
              <p:nvPr/>
            </p:nvSpPr>
            <p:spPr>
              <a:xfrm>
                <a:off x="1364" y="3372"/>
                <a:ext cx="864" cy="28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55" name="Freeform 46"/>
              <p:cNvSpPr/>
              <p:nvPr/>
            </p:nvSpPr>
            <p:spPr>
              <a:xfrm>
                <a:off x="495" y="2832"/>
                <a:ext cx="1" cy="540"/>
              </a:xfrm>
              <a:custGeom>
                <a:avLst/>
                <a:gdLst>
                  <a:gd name="txL" fmla="*/ 0 w 1"/>
                  <a:gd name="txT" fmla="*/ 0 h 540"/>
                  <a:gd name="txR" fmla="*/ 1 w 1"/>
                  <a:gd name="txB" fmla="*/ 540 h 540"/>
                </a:gdLst>
                <a:ahLst/>
                <a:cxnLst>
                  <a:cxn ang="0">
                    <a:pos x="0" y="0"/>
                  </a:cxn>
                  <a:cxn ang="0">
                    <a:pos x="0" y="540"/>
                  </a:cxn>
                </a:cxnLst>
                <a:rect l="txL" t="txT" r="txR" b="txB"/>
                <a:pathLst>
                  <a:path w="1" h="540">
                    <a:moveTo>
                      <a:pt x="0" y="0"/>
                    </a:moveTo>
                    <a:lnTo>
                      <a:pt x="0" y="54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56" name="Freeform 47"/>
              <p:cNvSpPr/>
              <p:nvPr/>
            </p:nvSpPr>
            <p:spPr>
              <a:xfrm>
                <a:off x="2223" y="2832"/>
                <a:ext cx="1" cy="543"/>
              </a:xfrm>
              <a:custGeom>
                <a:avLst/>
                <a:gdLst>
                  <a:gd name="txL" fmla="*/ 0 w 1"/>
                  <a:gd name="txT" fmla="*/ 0 h 543"/>
                  <a:gd name="txR" fmla="*/ 1 w 1"/>
                  <a:gd name="txB" fmla="*/ 543 h 543"/>
                </a:gdLst>
                <a:ahLst/>
                <a:cxnLst>
                  <a:cxn ang="0">
                    <a:pos x="0" y="0"/>
                  </a:cxn>
                  <a:cxn ang="0">
                    <a:pos x="0" y="543"/>
                  </a:cxn>
                </a:cxnLst>
                <a:rect l="txL" t="txT" r="txR" b="txB"/>
                <a:pathLst>
                  <a:path w="1" h="543">
                    <a:moveTo>
                      <a:pt x="0" y="0"/>
                    </a:moveTo>
                    <a:lnTo>
                      <a:pt x="0" y="5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57" name="Freeform 48"/>
              <p:cNvSpPr/>
              <p:nvPr/>
            </p:nvSpPr>
            <p:spPr>
              <a:xfrm>
                <a:off x="1360" y="3088"/>
                <a:ext cx="1" cy="272"/>
              </a:xfrm>
              <a:custGeom>
                <a:avLst/>
                <a:gdLst>
                  <a:gd name="txL" fmla="*/ 0 w 1"/>
                  <a:gd name="txT" fmla="*/ 0 h 306"/>
                  <a:gd name="txR" fmla="*/ 1 w 1"/>
                  <a:gd name="txB" fmla="*/ 306 h 306"/>
                </a:gdLst>
                <a:ahLst/>
                <a:cxnLst>
                  <a:cxn ang="0">
                    <a:pos x="0" y="0"/>
                  </a:cxn>
                  <a:cxn ang="0">
                    <a:pos x="0" y="306"/>
                  </a:cxn>
                </a:cxnLst>
                <a:rect l="txL" t="txT" r="txR" b="txB"/>
                <a:pathLst>
                  <a:path w="1" h="306">
                    <a:moveTo>
                      <a:pt x="0" y="0"/>
                    </a:moveTo>
                    <a:lnTo>
                      <a:pt x="0" y="3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58" name="Freeform 49"/>
              <p:cNvSpPr/>
              <p:nvPr/>
            </p:nvSpPr>
            <p:spPr>
              <a:xfrm>
                <a:off x="504" y="3269"/>
                <a:ext cx="852" cy="1"/>
              </a:xfrm>
              <a:custGeom>
                <a:avLst/>
                <a:gdLst>
                  <a:gd name="txL" fmla="*/ 0 w 852"/>
                  <a:gd name="txT" fmla="*/ 0 h 1"/>
                  <a:gd name="txR" fmla="*/ 852 w 85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852" y="0"/>
                  </a:cxn>
                </a:cxnLst>
                <a:rect l="txL" t="txT" r="txR" b="txB"/>
                <a:pathLst>
                  <a:path w="852" h="1">
                    <a:moveTo>
                      <a:pt x="0" y="0"/>
                    </a:moveTo>
                    <a:lnTo>
                      <a:pt x="85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59" name="Text Box 50"/>
              <p:cNvSpPr txBox="1"/>
              <p:nvPr/>
            </p:nvSpPr>
            <p:spPr>
              <a:xfrm>
                <a:off x="742" y="3045"/>
                <a:ext cx="400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m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位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60" name="Freeform 51"/>
              <p:cNvSpPr/>
              <p:nvPr/>
            </p:nvSpPr>
            <p:spPr>
              <a:xfrm>
                <a:off x="1362" y="3267"/>
                <a:ext cx="870" cy="3"/>
              </a:xfrm>
              <a:custGeom>
                <a:avLst/>
                <a:gdLst>
                  <a:gd name="txL" fmla="*/ 0 w 870"/>
                  <a:gd name="txT" fmla="*/ 0 h 3"/>
                  <a:gd name="txR" fmla="*/ 870 w 870"/>
                  <a:gd name="txB" fmla="*/ 3 h 3"/>
                </a:gdLst>
                <a:ahLst/>
                <a:cxnLst>
                  <a:cxn ang="0">
                    <a:pos x="0" y="3"/>
                  </a:cxn>
                  <a:cxn ang="0">
                    <a:pos x="870" y="0"/>
                  </a:cxn>
                </a:cxnLst>
                <a:rect l="txL" t="txT" r="txR" b="txB"/>
                <a:pathLst>
                  <a:path w="870" h="3">
                    <a:moveTo>
                      <a:pt x="0" y="3"/>
                    </a:moveTo>
                    <a:lnTo>
                      <a:pt x="87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61" name="Text Box 52"/>
              <p:cNvSpPr txBox="1"/>
              <p:nvPr/>
            </p:nvSpPr>
            <p:spPr>
              <a:xfrm>
                <a:off x="1632" y="3045"/>
                <a:ext cx="3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位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62" name="Freeform 53"/>
              <p:cNvSpPr/>
              <p:nvPr/>
            </p:nvSpPr>
            <p:spPr>
              <a:xfrm>
                <a:off x="501" y="3036"/>
                <a:ext cx="1707" cy="1"/>
              </a:xfrm>
              <a:custGeom>
                <a:avLst/>
                <a:gdLst>
                  <a:gd name="txL" fmla="*/ 0 w 1707"/>
                  <a:gd name="txT" fmla="*/ 0 h 1"/>
                  <a:gd name="txR" fmla="*/ 1707 w 1707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1707" y="1"/>
                  </a:cxn>
                </a:cxnLst>
                <a:rect l="txL" t="txT" r="txR" b="txB"/>
                <a:pathLst>
                  <a:path w="1707" h="1">
                    <a:moveTo>
                      <a:pt x="0" y="0"/>
                    </a:moveTo>
                    <a:lnTo>
                      <a:pt x="1707" y="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63" name="Text Box 54"/>
              <p:cNvSpPr txBox="1"/>
              <p:nvPr/>
            </p:nvSpPr>
            <p:spPr>
              <a:xfrm>
                <a:off x="1152" y="2834"/>
                <a:ext cx="364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n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位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64" name="Text Box 55"/>
              <p:cNvSpPr txBox="1"/>
              <p:nvPr/>
            </p:nvSpPr>
            <p:spPr>
              <a:xfrm>
                <a:off x="768" y="3638"/>
                <a:ext cx="41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M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65" name="Text Box 56"/>
              <p:cNvSpPr txBox="1"/>
              <p:nvPr/>
            </p:nvSpPr>
            <p:spPr>
              <a:xfrm>
                <a:off x="1584" y="3648"/>
                <a:ext cx="54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个字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48171" name="Group 57"/>
            <p:cNvGrpSpPr/>
            <p:nvPr/>
          </p:nvGrpSpPr>
          <p:grpSpPr>
            <a:xfrm>
              <a:off x="2850" y="806"/>
              <a:ext cx="2764" cy="3093"/>
              <a:chOff x="2850" y="806"/>
              <a:chExt cx="2764" cy="3093"/>
            </a:xfrm>
          </p:grpSpPr>
          <p:sp>
            <p:nvSpPr>
              <p:cNvPr id="348172" name="Rectangle 58"/>
              <p:cNvSpPr/>
              <p:nvPr/>
            </p:nvSpPr>
            <p:spPr>
              <a:xfrm>
                <a:off x="3456" y="3372"/>
                <a:ext cx="716" cy="28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73" name="Text Box 59"/>
              <p:cNvSpPr txBox="1"/>
              <p:nvPr/>
            </p:nvSpPr>
            <p:spPr>
              <a:xfrm>
                <a:off x="3436" y="3377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缓存块号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174" name="Text Box 60"/>
              <p:cNvSpPr txBox="1"/>
              <p:nvPr/>
            </p:nvSpPr>
            <p:spPr>
              <a:xfrm>
                <a:off x="4232" y="3377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块内地址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175" name="Rectangle 61"/>
              <p:cNvSpPr/>
              <p:nvPr/>
            </p:nvSpPr>
            <p:spPr>
              <a:xfrm>
                <a:off x="4172" y="3372"/>
                <a:ext cx="864" cy="288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76" name="Freeform 62"/>
              <p:cNvSpPr/>
              <p:nvPr/>
            </p:nvSpPr>
            <p:spPr>
              <a:xfrm>
                <a:off x="3455" y="3168"/>
                <a:ext cx="1" cy="227"/>
              </a:xfrm>
              <a:custGeom>
                <a:avLst/>
                <a:gdLst>
                  <a:gd name="txL" fmla="*/ 0 w 1"/>
                  <a:gd name="txT" fmla="*/ 0 h 540"/>
                  <a:gd name="txR" fmla="*/ 1 w 1"/>
                  <a:gd name="txB" fmla="*/ 540 h 540"/>
                </a:gdLst>
                <a:ahLst/>
                <a:cxnLst>
                  <a:cxn ang="0">
                    <a:pos x="0" y="0"/>
                  </a:cxn>
                  <a:cxn ang="0">
                    <a:pos x="0" y="540"/>
                  </a:cxn>
                </a:cxnLst>
                <a:rect l="txL" t="txT" r="txR" b="txB"/>
                <a:pathLst>
                  <a:path w="1" h="540">
                    <a:moveTo>
                      <a:pt x="0" y="0"/>
                    </a:moveTo>
                    <a:lnTo>
                      <a:pt x="0" y="54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77" name="Freeform 63"/>
              <p:cNvSpPr/>
              <p:nvPr/>
            </p:nvSpPr>
            <p:spPr>
              <a:xfrm>
                <a:off x="5031" y="3168"/>
                <a:ext cx="1" cy="227"/>
              </a:xfrm>
              <a:custGeom>
                <a:avLst/>
                <a:gdLst>
                  <a:gd name="txL" fmla="*/ 0 w 1"/>
                  <a:gd name="txT" fmla="*/ 0 h 543"/>
                  <a:gd name="txR" fmla="*/ 1 w 1"/>
                  <a:gd name="txB" fmla="*/ 543 h 543"/>
                </a:gdLst>
                <a:ahLst/>
                <a:cxnLst>
                  <a:cxn ang="0">
                    <a:pos x="0" y="0"/>
                  </a:cxn>
                  <a:cxn ang="0">
                    <a:pos x="0" y="543"/>
                  </a:cxn>
                </a:cxnLst>
                <a:rect l="txL" t="txT" r="txR" b="txB"/>
                <a:pathLst>
                  <a:path w="1" h="543">
                    <a:moveTo>
                      <a:pt x="0" y="0"/>
                    </a:moveTo>
                    <a:lnTo>
                      <a:pt x="0" y="54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78" name="Freeform 64"/>
              <p:cNvSpPr/>
              <p:nvPr/>
            </p:nvSpPr>
            <p:spPr>
              <a:xfrm>
                <a:off x="4169" y="3150"/>
                <a:ext cx="1" cy="227"/>
              </a:xfrm>
              <a:custGeom>
                <a:avLst/>
                <a:gdLst>
                  <a:gd name="txL" fmla="*/ 0 w 1"/>
                  <a:gd name="txT" fmla="*/ 0 h 306"/>
                  <a:gd name="txR" fmla="*/ 1 w 1"/>
                  <a:gd name="txB" fmla="*/ 306 h 306"/>
                </a:gdLst>
                <a:ahLst/>
                <a:cxnLst>
                  <a:cxn ang="0">
                    <a:pos x="0" y="0"/>
                  </a:cxn>
                  <a:cxn ang="0">
                    <a:pos x="0" y="306"/>
                  </a:cxn>
                </a:cxnLst>
                <a:rect l="txL" t="txT" r="txR" b="txB"/>
                <a:pathLst>
                  <a:path w="1" h="306">
                    <a:moveTo>
                      <a:pt x="0" y="0"/>
                    </a:moveTo>
                    <a:lnTo>
                      <a:pt x="0" y="306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79" name="Freeform 65"/>
              <p:cNvSpPr/>
              <p:nvPr/>
            </p:nvSpPr>
            <p:spPr>
              <a:xfrm>
                <a:off x="3451" y="3269"/>
                <a:ext cx="725" cy="1"/>
              </a:xfrm>
              <a:custGeom>
                <a:avLst/>
                <a:gdLst>
                  <a:gd name="txL" fmla="*/ 0 w 852"/>
                  <a:gd name="txT" fmla="*/ 0 h 1"/>
                  <a:gd name="txR" fmla="*/ 852 w 852"/>
                  <a:gd name="txB" fmla="*/ 1 h 1"/>
                </a:gdLst>
                <a:ahLst/>
                <a:cxnLst>
                  <a:cxn ang="0">
                    <a:pos x="0" y="0"/>
                  </a:cxn>
                  <a:cxn ang="0">
                    <a:pos x="852" y="0"/>
                  </a:cxn>
                </a:cxnLst>
                <a:rect l="txL" t="txT" r="txR" b="txB"/>
                <a:pathLst>
                  <a:path w="852" h="1">
                    <a:moveTo>
                      <a:pt x="0" y="0"/>
                    </a:moveTo>
                    <a:lnTo>
                      <a:pt x="852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80" name="Text Box 66"/>
              <p:cNvSpPr txBox="1"/>
              <p:nvPr/>
            </p:nvSpPr>
            <p:spPr>
              <a:xfrm>
                <a:off x="3648" y="3045"/>
                <a:ext cx="346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位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181" name="Freeform 67"/>
              <p:cNvSpPr/>
              <p:nvPr/>
            </p:nvSpPr>
            <p:spPr>
              <a:xfrm>
                <a:off x="4170" y="3267"/>
                <a:ext cx="870" cy="3"/>
              </a:xfrm>
              <a:custGeom>
                <a:avLst/>
                <a:gdLst>
                  <a:gd name="txL" fmla="*/ 0 w 870"/>
                  <a:gd name="txT" fmla="*/ 0 h 3"/>
                  <a:gd name="txR" fmla="*/ 870 w 870"/>
                  <a:gd name="txB" fmla="*/ 3 h 3"/>
                </a:gdLst>
                <a:ahLst/>
                <a:cxnLst>
                  <a:cxn ang="0">
                    <a:pos x="0" y="3"/>
                  </a:cxn>
                  <a:cxn ang="0">
                    <a:pos x="870" y="0"/>
                  </a:cxn>
                </a:cxnLst>
                <a:rect l="txL" t="txT" r="txR" b="txB"/>
                <a:pathLst>
                  <a:path w="870" h="3">
                    <a:moveTo>
                      <a:pt x="0" y="3"/>
                    </a:moveTo>
                    <a:lnTo>
                      <a:pt x="87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stealth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82" name="Text Box 68"/>
              <p:cNvSpPr txBox="1"/>
              <p:nvPr/>
            </p:nvSpPr>
            <p:spPr>
              <a:xfrm>
                <a:off x="4434" y="3045"/>
                <a:ext cx="3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位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183" name="Text Box 69"/>
              <p:cNvSpPr txBox="1"/>
              <p:nvPr/>
            </p:nvSpPr>
            <p:spPr>
              <a:xfrm>
                <a:off x="3576" y="3638"/>
                <a:ext cx="38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184" name="Text Box 70"/>
              <p:cNvSpPr txBox="1"/>
              <p:nvPr/>
            </p:nvSpPr>
            <p:spPr>
              <a:xfrm>
                <a:off x="4392" y="3648"/>
                <a:ext cx="54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i="1" dirty="0">
                    <a:latin typeface="Times New Roman" panose="02020603050405020304" pitchFamily="18" charset="0"/>
                  </a:rPr>
                  <a:t>B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个字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185" name="Rectangle 71"/>
              <p:cNvSpPr/>
              <p:nvPr/>
            </p:nvSpPr>
            <p:spPr>
              <a:xfrm>
                <a:off x="3819" y="2092"/>
                <a:ext cx="816" cy="4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86" name="Rectangle 72"/>
              <p:cNvSpPr/>
              <p:nvPr/>
            </p:nvSpPr>
            <p:spPr>
              <a:xfrm>
                <a:off x="3819" y="1368"/>
                <a:ext cx="816" cy="323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  <a:p>
                <a:pPr>
                  <a:spcBef>
                    <a:spcPct val="20000"/>
                  </a:spcBef>
                </a:pPr>
                <a:endParaRPr lang="en-US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87" name="Rectangle 73"/>
              <p:cNvSpPr/>
              <p:nvPr/>
            </p:nvSpPr>
            <p:spPr>
              <a:xfrm>
                <a:off x="3819" y="1208"/>
                <a:ext cx="816" cy="16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88" name="Rectangle 74"/>
              <p:cNvSpPr/>
              <p:nvPr/>
            </p:nvSpPr>
            <p:spPr>
              <a:xfrm>
                <a:off x="3819" y="1048"/>
                <a:ext cx="816" cy="16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16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189" name="Line 75"/>
              <p:cNvSpPr/>
              <p:nvPr/>
            </p:nvSpPr>
            <p:spPr>
              <a:xfrm>
                <a:off x="3819" y="1048"/>
                <a:ext cx="816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190" name="Line 76"/>
              <p:cNvSpPr/>
              <p:nvPr/>
            </p:nvSpPr>
            <p:spPr>
              <a:xfrm>
                <a:off x="3819" y="1208"/>
                <a:ext cx="81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191" name="Line 77"/>
              <p:cNvSpPr/>
              <p:nvPr/>
            </p:nvSpPr>
            <p:spPr>
              <a:xfrm>
                <a:off x="3819" y="1368"/>
                <a:ext cx="81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192" name="Line 78"/>
              <p:cNvSpPr/>
              <p:nvPr/>
            </p:nvSpPr>
            <p:spPr>
              <a:xfrm>
                <a:off x="3819" y="2019"/>
                <a:ext cx="81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193" name="Line 79"/>
              <p:cNvSpPr/>
              <p:nvPr/>
            </p:nvSpPr>
            <p:spPr>
              <a:xfrm>
                <a:off x="3819" y="1048"/>
                <a:ext cx="0" cy="1185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48194" name="Line 80"/>
              <p:cNvSpPr/>
              <p:nvPr/>
            </p:nvSpPr>
            <p:spPr>
              <a:xfrm>
                <a:off x="4635" y="1048"/>
                <a:ext cx="0" cy="1185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48195" name="Group 81"/>
              <p:cNvGrpSpPr/>
              <p:nvPr/>
            </p:nvGrpSpPr>
            <p:grpSpPr>
              <a:xfrm>
                <a:off x="4513" y="2064"/>
                <a:ext cx="265" cy="465"/>
                <a:chOff x="1654" y="2592"/>
                <a:chExt cx="265" cy="614"/>
              </a:xfrm>
            </p:grpSpPr>
            <p:sp>
              <p:nvSpPr>
                <p:cNvPr id="348219" name="Text Box 82"/>
                <p:cNvSpPr txBox="1"/>
                <p:nvPr/>
              </p:nvSpPr>
              <p:spPr>
                <a:xfrm>
                  <a:off x="1654" y="2592"/>
                  <a:ext cx="265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600" b="1" dirty="0">
                      <a:latin typeface="Times New Roman" panose="02020603050405020304" pitchFamily="18" charset="0"/>
                    </a:rPr>
                    <a:t>~</a:t>
                  </a:r>
                  <a:endParaRPr lang="en-US" altLang="zh-CN" sz="36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220" name="Text Box 83"/>
                <p:cNvSpPr txBox="1"/>
                <p:nvPr/>
              </p:nvSpPr>
              <p:spPr>
                <a:xfrm>
                  <a:off x="1654" y="2669"/>
                  <a:ext cx="265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600" b="1" dirty="0">
                      <a:latin typeface="Times New Roman" panose="02020603050405020304" pitchFamily="18" charset="0"/>
                    </a:rPr>
                    <a:t>~</a:t>
                  </a:r>
                  <a:endParaRPr lang="en-US" altLang="zh-CN" sz="3600" b="1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48196" name="Group 84"/>
              <p:cNvGrpSpPr/>
              <p:nvPr/>
            </p:nvGrpSpPr>
            <p:grpSpPr>
              <a:xfrm>
                <a:off x="3675" y="2064"/>
                <a:ext cx="265" cy="465"/>
                <a:chOff x="1654" y="2592"/>
                <a:chExt cx="265" cy="614"/>
              </a:xfrm>
            </p:grpSpPr>
            <p:sp>
              <p:nvSpPr>
                <p:cNvPr id="348217" name="Text Box 85"/>
                <p:cNvSpPr txBox="1"/>
                <p:nvPr/>
              </p:nvSpPr>
              <p:spPr>
                <a:xfrm>
                  <a:off x="1654" y="2592"/>
                  <a:ext cx="265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600" b="1" dirty="0">
                      <a:latin typeface="Times New Roman" panose="02020603050405020304" pitchFamily="18" charset="0"/>
                    </a:rPr>
                    <a:t>~</a:t>
                  </a:r>
                  <a:endParaRPr lang="en-US" altLang="zh-CN" sz="36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48218" name="Text Box 86"/>
                <p:cNvSpPr txBox="1"/>
                <p:nvPr/>
              </p:nvSpPr>
              <p:spPr>
                <a:xfrm>
                  <a:off x="1654" y="2669"/>
                  <a:ext cx="265" cy="5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3600" b="1" dirty="0">
                      <a:latin typeface="Times New Roman" panose="02020603050405020304" pitchFamily="18" charset="0"/>
                    </a:rPr>
                    <a:t>~</a:t>
                  </a:r>
                  <a:endParaRPr lang="en-US" altLang="zh-CN" sz="36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48197" name="Text Box 87"/>
              <p:cNvSpPr txBox="1"/>
              <p:nvPr/>
            </p:nvSpPr>
            <p:spPr>
              <a:xfrm>
                <a:off x="4105" y="1418"/>
                <a:ext cx="425" cy="3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198" name="Text Box 88"/>
              <p:cNvSpPr txBox="1"/>
              <p:nvPr/>
            </p:nvSpPr>
            <p:spPr>
              <a:xfrm>
                <a:off x="4105" y="1728"/>
                <a:ext cx="425" cy="3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en-US" altLang="zh-CN" sz="3200" b="1" dirty="0">
                    <a:latin typeface="Times New Roman" panose="02020603050405020304" pitchFamily="18" charset="0"/>
                  </a:rPr>
                  <a:t>…</a:t>
                </a:r>
                <a:endParaRPr lang="en-US" altLang="zh-CN" sz="32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199" name="AutoShape 89"/>
              <p:cNvSpPr/>
              <p:nvPr/>
            </p:nvSpPr>
            <p:spPr>
              <a:xfrm>
                <a:off x="4683" y="1048"/>
                <a:ext cx="95" cy="636"/>
              </a:xfrm>
              <a:prstGeom prst="rightBrace">
                <a:avLst>
                  <a:gd name="adj1" fmla="val 55262"/>
                  <a:gd name="adj2" fmla="val 50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00" name="AutoShape 90"/>
              <p:cNvSpPr/>
              <p:nvPr/>
            </p:nvSpPr>
            <p:spPr>
              <a:xfrm>
                <a:off x="4683" y="1703"/>
                <a:ext cx="100" cy="328"/>
              </a:xfrm>
              <a:prstGeom prst="rightBrace">
                <a:avLst>
                  <a:gd name="adj1" fmla="val 27075"/>
                  <a:gd name="adj2" fmla="val 50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01" name="AutoShape 91"/>
              <p:cNvSpPr/>
              <p:nvPr/>
            </p:nvSpPr>
            <p:spPr>
              <a:xfrm>
                <a:off x="4683" y="2502"/>
                <a:ext cx="100" cy="330"/>
              </a:xfrm>
              <a:prstGeom prst="rightBrace">
                <a:avLst>
                  <a:gd name="adj1" fmla="val 27500"/>
                  <a:gd name="adj2" fmla="val 50000"/>
                </a:avLst>
              </a:prstGeom>
              <a:noFill/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02" name="Text Box 92"/>
              <p:cNvSpPr txBox="1"/>
              <p:nvPr/>
            </p:nvSpPr>
            <p:spPr>
              <a:xfrm>
                <a:off x="4752" y="1290"/>
                <a:ext cx="5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字块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03" name="Text Box 93"/>
              <p:cNvSpPr txBox="1"/>
              <p:nvPr/>
            </p:nvSpPr>
            <p:spPr>
              <a:xfrm>
                <a:off x="4752" y="1776"/>
                <a:ext cx="5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字块 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04" name="Text Box 94"/>
              <p:cNvSpPr txBox="1"/>
              <p:nvPr/>
            </p:nvSpPr>
            <p:spPr>
              <a:xfrm>
                <a:off x="4752" y="2570"/>
                <a:ext cx="86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字块  </a:t>
                </a:r>
                <a:r>
                  <a:rPr lang="en-US" altLang="zh-CN" sz="2000" b="1" i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－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05" name="Rectangle 95"/>
              <p:cNvSpPr/>
              <p:nvPr/>
            </p:nvSpPr>
            <p:spPr>
              <a:xfrm>
                <a:off x="3387" y="1048"/>
                <a:ext cx="432" cy="16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06" name="Rectangle 96"/>
              <p:cNvSpPr/>
              <p:nvPr/>
            </p:nvSpPr>
            <p:spPr>
              <a:xfrm>
                <a:off x="3387" y="1694"/>
                <a:ext cx="432" cy="16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07" name="Rectangle 97"/>
              <p:cNvSpPr/>
              <p:nvPr/>
            </p:nvSpPr>
            <p:spPr>
              <a:xfrm>
                <a:off x="3408" y="2487"/>
                <a:ext cx="432" cy="160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08" name="Text Box 98"/>
              <p:cNvSpPr txBox="1"/>
              <p:nvPr/>
            </p:nvSpPr>
            <p:spPr>
              <a:xfrm>
                <a:off x="3196" y="995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09" name="Text Box 99"/>
              <p:cNvSpPr txBox="1"/>
              <p:nvPr/>
            </p:nvSpPr>
            <p:spPr>
              <a:xfrm>
                <a:off x="3196" y="1650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10" name="Text Box 100"/>
              <p:cNvSpPr txBox="1"/>
              <p:nvPr/>
            </p:nvSpPr>
            <p:spPr>
              <a:xfrm>
                <a:off x="2850" y="2400"/>
                <a:ext cx="55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400" b="1" i="1" baseline="48000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－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11" name="Text Box 101"/>
              <p:cNvSpPr txBox="1"/>
              <p:nvPr/>
            </p:nvSpPr>
            <p:spPr>
              <a:xfrm>
                <a:off x="3354" y="806"/>
                <a:ext cx="43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标记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12" name="Text Box 102"/>
              <p:cNvSpPr txBox="1"/>
              <p:nvPr/>
            </p:nvSpPr>
            <p:spPr>
              <a:xfrm>
                <a:off x="3884" y="806"/>
                <a:ext cx="542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b="1" dirty="0">
                    <a:latin typeface="Times New Roman" panose="02020603050405020304" pitchFamily="18" charset="0"/>
                  </a:rPr>
                  <a:t>Cache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13" name="Text Box 103"/>
              <p:cNvSpPr txBox="1"/>
              <p:nvPr/>
            </p:nvSpPr>
            <p:spPr>
              <a:xfrm>
                <a:off x="4752" y="806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缓存块号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214" name="Rectangle 104"/>
              <p:cNvSpPr/>
              <p:nvPr/>
            </p:nvSpPr>
            <p:spPr>
              <a:xfrm>
                <a:off x="3837" y="2482"/>
                <a:ext cx="816" cy="341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endParaRPr lang="zh-CN" altLang="zh-CN" sz="28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15" name="Freeform 105"/>
              <p:cNvSpPr/>
              <p:nvPr/>
            </p:nvSpPr>
            <p:spPr>
              <a:xfrm>
                <a:off x="3837" y="2409"/>
                <a:ext cx="1" cy="303"/>
              </a:xfrm>
              <a:custGeom>
                <a:avLst/>
                <a:gdLst>
                  <a:gd name="txL" fmla="*/ 0 w 1"/>
                  <a:gd name="txT" fmla="*/ 0 h 303"/>
                  <a:gd name="txR" fmla="*/ 1 w 1"/>
                  <a:gd name="txB" fmla="*/ 303 h 303"/>
                </a:gdLst>
                <a:ahLst/>
                <a:cxnLst>
                  <a:cxn ang="0">
                    <a:pos x="0" y="0"/>
                  </a:cxn>
                  <a:cxn ang="0">
                    <a:pos x="1" y="303"/>
                  </a:cxn>
                </a:cxnLst>
                <a:rect l="txL" t="txT" r="txR" b="txB"/>
                <a:pathLst>
                  <a:path w="1" h="303">
                    <a:moveTo>
                      <a:pt x="0" y="0"/>
                    </a:moveTo>
                    <a:lnTo>
                      <a:pt x="1" y="303"/>
                    </a:lnTo>
                  </a:path>
                </a:pathLst>
              </a:custGeom>
              <a:noFill/>
              <a:ln w="381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48216" name="Freeform 106"/>
              <p:cNvSpPr/>
              <p:nvPr/>
            </p:nvSpPr>
            <p:spPr>
              <a:xfrm>
                <a:off x="4653" y="2400"/>
                <a:ext cx="1" cy="317"/>
              </a:xfrm>
              <a:custGeom>
                <a:avLst/>
                <a:gdLst>
                  <a:gd name="txL" fmla="*/ 0 w 1"/>
                  <a:gd name="txT" fmla="*/ 0 h 317"/>
                  <a:gd name="txR" fmla="*/ 1 w 1"/>
                  <a:gd name="txB" fmla="*/ 317 h 317"/>
                </a:gdLst>
                <a:ahLst/>
                <a:cxnLst>
                  <a:cxn ang="0">
                    <a:pos x="0" y="0"/>
                  </a:cxn>
                  <a:cxn ang="0">
                    <a:pos x="0" y="317"/>
                  </a:cxn>
                </a:cxnLst>
                <a:rect l="txL" t="txT" r="txR" b="txB"/>
                <a:pathLst>
                  <a:path w="1" h="317">
                    <a:moveTo>
                      <a:pt x="0" y="0"/>
                    </a:moveTo>
                    <a:lnTo>
                      <a:pt x="0" y="317"/>
                    </a:lnTo>
                  </a:path>
                </a:pathLst>
              </a:custGeom>
              <a:noFill/>
              <a:ln w="381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80683" name="Rectangle 10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168" name="AutoShape 10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816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9186" name="Text Box 2"/>
          <p:cNvSpPr txBox="1"/>
          <p:nvPr/>
        </p:nvSpPr>
        <p:spPr>
          <a:xfrm>
            <a:off x="2286000" y="349250"/>
            <a:ext cx="4724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(2) </a:t>
            </a:r>
            <a:r>
              <a:rPr lang="zh-CN" altLang="en-US" sz="3600" b="1" dirty="0">
                <a:latin typeface="Times New Roman" panose="02020603050405020304" pitchFamily="18" charset="0"/>
              </a:rPr>
              <a:t>命中与未命中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349187" name="Group 3"/>
          <p:cNvGrpSpPr/>
          <p:nvPr/>
        </p:nvGrpSpPr>
        <p:grpSpPr>
          <a:xfrm>
            <a:off x="3108325" y="1190625"/>
            <a:ext cx="2454275" cy="1066800"/>
            <a:chOff x="998" y="750"/>
            <a:chExt cx="1546" cy="672"/>
          </a:xfrm>
        </p:grpSpPr>
        <p:sp>
          <p:nvSpPr>
            <p:cNvPr id="349200" name="Text Box 4"/>
            <p:cNvSpPr txBox="1"/>
            <p:nvPr/>
          </p:nvSpPr>
          <p:spPr>
            <a:xfrm>
              <a:off x="998" y="750"/>
              <a:ext cx="149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缓存共有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块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49201" name="Text Box 5"/>
            <p:cNvSpPr txBox="1"/>
            <p:nvPr/>
          </p:nvSpPr>
          <p:spPr>
            <a:xfrm>
              <a:off x="998" y="1093"/>
              <a:ext cx="154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主存共有 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块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49188" name="Text Box 6"/>
          <p:cNvSpPr txBox="1"/>
          <p:nvPr/>
        </p:nvSpPr>
        <p:spPr>
          <a:xfrm>
            <a:off x="5715000" y="1766888"/>
            <a:ext cx="131953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latin typeface="Times New Roman" panose="02020603050405020304" pitchFamily="18" charset="0"/>
              </a:rPr>
              <a:t> &gt;&gt;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C</a:t>
            </a:r>
            <a:endParaRPr lang="en-US" altLang="zh-CN" sz="2800" b="1" i="1" dirty="0">
              <a:latin typeface="Times New Roman" panose="02020603050405020304" pitchFamily="18" charset="0"/>
            </a:endParaRPr>
          </a:p>
        </p:txBody>
      </p:sp>
      <p:sp>
        <p:nvSpPr>
          <p:cNvPr id="349189" name="Text Box 7"/>
          <p:cNvSpPr txBox="1"/>
          <p:nvPr/>
        </p:nvSpPr>
        <p:spPr>
          <a:xfrm>
            <a:off x="3886200" y="2581275"/>
            <a:ext cx="3505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主存块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调入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缓存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49190" name="Text Box 8"/>
          <p:cNvSpPr txBox="1"/>
          <p:nvPr/>
        </p:nvSpPr>
        <p:spPr>
          <a:xfrm>
            <a:off x="3886200" y="3297238"/>
            <a:ext cx="5867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主存块与缓存块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建立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了对应关系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49191" name="Text Box 9"/>
          <p:cNvSpPr txBox="1"/>
          <p:nvPr/>
        </p:nvSpPr>
        <p:spPr>
          <a:xfrm>
            <a:off x="1828800" y="4114800"/>
            <a:ext cx="8839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用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标记记录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与某缓存块建立了对应关系的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主存块号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49192" name="Group 10"/>
          <p:cNvGrpSpPr/>
          <p:nvPr/>
        </p:nvGrpSpPr>
        <p:grpSpPr>
          <a:xfrm>
            <a:off x="2346325" y="2506663"/>
            <a:ext cx="1265238" cy="2882900"/>
            <a:chOff x="518" y="1579"/>
            <a:chExt cx="797" cy="1816"/>
          </a:xfrm>
        </p:grpSpPr>
        <p:sp>
          <p:nvSpPr>
            <p:cNvPr id="349198" name="Text Box 11"/>
            <p:cNvSpPr txBox="1"/>
            <p:nvPr/>
          </p:nvSpPr>
          <p:spPr>
            <a:xfrm>
              <a:off x="518" y="1579"/>
              <a:ext cx="73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命中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9199" name="Text Box 12"/>
            <p:cNvSpPr txBox="1"/>
            <p:nvPr/>
          </p:nvSpPr>
          <p:spPr>
            <a:xfrm>
              <a:off x="528" y="3066"/>
              <a:ext cx="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未命中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49193" name="Text Box 13"/>
          <p:cNvSpPr txBox="1"/>
          <p:nvPr/>
        </p:nvSpPr>
        <p:spPr>
          <a:xfrm>
            <a:off x="3902075" y="5584825"/>
            <a:ext cx="60801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主存块与缓存块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未建立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对应关系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49194" name="Text Box 14"/>
          <p:cNvSpPr txBox="1"/>
          <p:nvPr/>
        </p:nvSpPr>
        <p:spPr>
          <a:xfrm>
            <a:off x="3902075" y="4889500"/>
            <a:ext cx="40227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主存块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未调入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缓存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81615" name="Rectangle 1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9196" name="AutoShape 1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4919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0210" name="Text Box 2"/>
          <p:cNvSpPr txBox="1"/>
          <p:nvPr/>
        </p:nvSpPr>
        <p:spPr>
          <a:xfrm>
            <a:off x="2133600" y="381000"/>
            <a:ext cx="4800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(3) Cache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的命中率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50211" name="Text Box 3"/>
          <p:cNvSpPr txBox="1"/>
          <p:nvPr/>
        </p:nvSpPr>
        <p:spPr>
          <a:xfrm>
            <a:off x="2971800" y="1308100"/>
            <a:ext cx="6797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CPU </a:t>
            </a:r>
            <a:r>
              <a:rPr lang="zh-CN" altLang="en-US" sz="2800" b="1" dirty="0">
                <a:latin typeface="Times New Roman" panose="02020603050405020304" pitchFamily="18" charset="0"/>
              </a:rPr>
              <a:t>欲访问的信息在 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 </a:t>
            </a:r>
            <a:r>
              <a:rPr lang="zh-CN" altLang="en-US" sz="2800" b="1" dirty="0">
                <a:latin typeface="Times New Roman" panose="02020603050405020304" pitchFamily="18" charset="0"/>
              </a:rPr>
              <a:t>中的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比率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0212" name="Text Box 4"/>
          <p:cNvSpPr txBox="1"/>
          <p:nvPr/>
        </p:nvSpPr>
        <p:spPr>
          <a:xfrm>
            <a:off x="2971800" y="2143125"/>
            <a:ext cx="7086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命中率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与 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容量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与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块长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有关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50213" name="Text Box 5"/>
          <p:cNvSpPr txBox="1"/>
          <p:nvPr/>
        </p:nvSpPr>
        <p:spPr>
          <a:xfrm>
            <a:off x="2971800" y="3025775"/>
            <a:ext cx="39236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一般每块可取 </a:t>
            </a:r>
            <a:r>
              <a:rPr lang="en-US" altLang="zh-CN" sz="2800" b="1" dirty="0">
                <a:latin typeface="Times New Roman" panose="02020603050405020304" pitchFamily="18" charset="0"/>
              </a:rPr>
              <a:t>4 ~ 8 </a:t>
            </a:r>
            <a:r>
              <a:rPr lang="zh-CN" altLang="en-US" sz="2800" b="1" dirty="0">
                <a:latin typeface="Times New Roman" panose="02020603050405020304" pitchFamily="18" charset="0"/>
              </a:rPr>
              <a:t>个字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50214" name="Text Box 6"/>
          <p:cNvSpPr txBox="1"/>
          <p:nvPr/>
        </p:nvSpPr>
        <p:spPr>
          <a:xfrm>
            <a:off x="2855913" y="3867150"/>
            <a:ext cx="78120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块长取一个存取周期内从主存调出的信息长度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0215" name="Text Box 7"/>
          <p:cNvSpPr txBox="1"/>
          <p:nvPr/>
        </p:nvSpPr>
        <p:spPr>
          <a:xfrm>
            <a:off x="3116263" y="4662488"/>
            <a:ext cx="755173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  CRAY_1     16</a:t>
            </a:r>
            <a:r>
              <a:rPr lang="zh-CN" altLang="en-US" sz="2800" b="1" dirty="0">
                <a:latin typeface="Times New Roman" panose="02020603050405020304" pitchFamily="18" charset="0"/>
              </a:rPr>
              <a:t>体交叉      块长取 </a:t>
            </a:r>
            <a:r>
              <a:rPr lang="en-US" altLang="zh-CN" sz="2800" b="1" dirty="0">
                <a:latin typeface="Times New Roman" panose="02020603050405020304" pitchFamily="18" charset="0"/>
              </a:rPr>
              <a:t>16 </a:t>
            </a:r>
            <a:r>
              <a:rPr lang="zh-CN" altLang="en-US" sz="2800" b="1" dirty="0">
                <a:latin typeface="Times New Roman" panose="02020603050405020304" pitchFamily="18" charset="0"/>
              </a:rPr>
              <a:t>个存储字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50216" name="Text Box 8"/>
          <p:cNvSpPr txBox="1"/>
          <p:nvPr/>
        </p:nvSpPr>
        <p:spPr>
          <a:xfrm>
            <a:off x="2551113" y="5283200"/>
            <a:ext cx="81168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900" b="1" dirty="0">
                <a:latin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</a:rPr>
              <a:t>IBM 370/168       4</a:t>
            </a:r>
            <a:r>
              <a:rPr lang="zh-CN" altLang="en-US" sz="2800" b="1" dirty="0">
                <a:latin typeface="Times New Roman" panose="02020603050405020304" pitchFamily="18" charset="0"/>
              </a:rPr>
              <a:t>体交叉     </a:t>
            </a:r>
            <a:r>
              <a:rPr lang="zh-CN" altLang="en-US" sz="1400" b="1" dirty="0">
                <a:latin typeface="Times New Roman" panose="02020603050405020304" pitchFamily="18" charset="0"/>
              </a:rPr>
              <a:t> </a:t>
            </a:r>
            <a:r>
              <a:rPr lang="zh-CN" altLang="en-US" sz="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块长取   </a:t>
            </a:r>
            <a:r>
              <a:rPr lang="en-US" altLang="zh-CN" sz="2800" b="1" dirty="0">
                <a:latin typeface="Times New Roman" panose="02020603050405020304" pitchFamily="18" charset="0"/>
              </a:rPr>
              <a:t>4 </a:t>
            </a:r>
            <a:r>
              <a:rPr lang="zh-CN" altLang="en-US" sz="2800" b="1" dirty="0">
                <a:latin typeface="Times New Roman" panose="02020603050405020304" pitchFamily="18" charset="0"/>
              </a:rPr>
              <a:t>个存储字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50217" name="Text Box 9"/>
          <p:cNvSpPr txBox="1"/>
          <p:nvPr/>
        </p:nvSpPr>
        <p:spPr>
          <a:xfrm>
            <a:off x="7283450" y="5881688"/>
            <a:ext cx="328485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64</a:t>
            </a:r>
            <a:r>
              <a:rPr lang="zh-CN" altLang="en-US" sz="2800" b="1" dirty="0">
                <a:latin typeface="Times New Roman" panose="02020603050405020304" pitchFamily="18" charset="0"/>
              </a:rPr>
              <a:t>位</a:t>
            </a:r>
            <a:r>
              <a:rPr lang="en-US" altLang="zh-CN" sz="2800" b="1" dirty="0">
                <a:latin typeface="Times New Roman" panose="02020603050405020304" pitchFamily="18" charset="0"/>
              </a:rPr>
              <a:t>×4</a:t>
            </a:r>
            <a:r>
              <a:rPr lang="en-US" altLang="zh-CN" sz="1400" b="1" dirty="0">
                <a:latin typeface="Times New Roman" panose="02020603050405020304" pitchFamily="18" charset="0"/>
              </a:rPr>
              <a:t> </a:t>
            </a:r>
            <a:r>
              <a:rPr lang="en-US" altLang="zh-CN" sz="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800" b="1" dirty="0">
                <a:latin typeface="Times New Roman" panose="02020603050405020304" pitchFamily="18" charset="0"/>
              </a:rPr>
              <a:t> </a:t>
            </a:r>
            <a:r>
              <a:rPr lang="en-US" altLang="zh-CN" sz="1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256</a:t>
            </a:r>
            <a:r>
              <a:rPr lang="zh-CN" altLang="en-US" sz="2800" b="1" dirty="0">
                <a:latin typeface="Times New Roman" panose="02020603050405020304" pitchFamily="18" charset="0"/>
              </a:rPr>
              <a:t>位）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82634" name="Rectangle 1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0219" name="AutoShape 1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022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1234" name="Text Box 2"/>
          <p:cNvSpPr txBox="1"/>
          <p:nvPr/>
        </p:nvSpPr>
        <p:spPr>
          <a:xfrm>
            <a:off x="2133600" y="381000"/>
            <a:ext cx="655478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(4) Cache –</a:t>
            </a:r>
            <a:r>
              <a:rPr lang="zh-CN" altLang="en-US" sz="3600" b="1" dirty="0">
                <a:latin typeface="Times New Roman" panose="02020603050405020304" pitchFamily="18" charset="0"/>
              </a:rPr>
              <a:t>主存系统的效率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51235" name="Text Box 3"/>
          <p:cNvSpPr txBox="1"/>
          <p:nvPr/>
        </p:nvSpPr>
        <p:spPr>
          <a:xfrm>
            <a:off x="2754313" y="1308100"/>
            <a:ext cx="679767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效率 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e </a:t>
            </a:r>
            <a:r>
              <a:rPr lang="zh-CN" altLang="en-US" sz="2800" b="1" dirty="0">
                <a:latin typeface="Times New Roman" panose="02020603050405020304" pitchFamily="18" charset="0"/>
              </a:rPr>
              <a:t>与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命中率</a:t>
            </a:r>
            <a:r>
              <a:rPr lang="zh-CN" altLang="en-US" sz="2800" b="1" dirty="0">
                <a:latin typeface="Times New Roman" panose="02020603050405020304" pitchFamily="18" charset="0"/>
              </a:rPr>
              <a:t> 有关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1236" name="Text Box 4"/>
          <p:cNvSpPr txBox="1"/>
          <p:nvPr/>
        </p:nvSpPr>
        <p:spPr>
          <a:xfrm>
            <a:off x="2587625" y="3573463"/>
            <a:ext cx="8116888" cy="17735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9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设 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命中率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h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</a:rPr>
              <a:t>访问 </a:t>
            </a:r>
            <a:r>
              <a:rPr lang="en-US" altLang="en-US" sz="2800" b="1" dirty="0">
                <a:latin typeface="Times New Roman" panose="02020603050405020304" pitchFamily="18" charset="0"/>
              </a:rPr>
              <a:t>Cache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的时间为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c</a:t>
            </a:r>
            <a:r>
              <a:rPr lang="en-US" altLang="zh-CN" sz="900" b="1" i="1" baseline="-25000" dirty="0">
                <a:latin typeface="Times New Roman" panose="02020603050405020304" pitchFamily="18" charset="0"/>
              </a:rPr>
              <a:t>  </a:t>
            </a:r>
            <a:r>
              <a:rPr lang="zh-CN" altLang="en-US" sz="2800" b="1" i="1" dirty="0">
                <a:latin typeface="Times New Roman" panose="02020603050405020304" pitchFamily="18" charset="0"/>
              </a:rPr>
              <a:t>，</a:t>
            </a:r>
            <a:endParaRPr lang="zh-CN" altLang="en-US" sz="2800" b="1" i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i="1" baseline="-25000" dirty="0">
                <a:latin typeface="Times New Roman" panose="02020603050405020304" pitchFamily="18" charset="0"/>
              </a:rPr>
              <a:t>          </a:t>
            </a:r>
            <a:r>
              <a:rPr lang="zh-CN" altLang="en-US" sz="2800" b="1" dirty="0">
                <a:latin typeface="Times New Roman" panose="02020603050405020304" pitchFamily="18" charset="0"/>
              </a:rPr>
              <a:t>访问 </a:t>
            </a:r>
            <a:r>
              <a: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主存</a:t>
            </a:r>
            <a:r>
              <a:rPr lang="zh-CN" altLang="en-US" sz="2800" b="1" dirty="0">
                <a:latin typeface="Times New Roman" panose="02020603050405020304" pitchFamily="18" charset="0"/>
              </a:rPr>
              <a:t> 的时间为 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t</a:t>
            </a:r>
            <a:r>
              <a:rPr lang="en-US" altLang="zh-CN" sz="2800" b="1" i="1" baseline="-25000" dirty="0">
                <a:latin typeface="Times New Roman" panose="02020603050405020304" pitchFamily="18" charset="0"/>
              </a:rPr>
              <a:t>m</a:t>
            </a:r>
            <a:endParaRPr lang="en-US" altLang="zh-CN" sz="2800" b="1" i="1" baseline="-25000" dirty="0">
              <a:latin typeface="Times New Roman" panose="02020603050405020304" pitchFamily="18" charset="0"/>
            </a:endParaRPr>
          </a:p>
          <a:p>
            <a:r>
              <a:rPr lang="en-US" altLang="zh-CN" sz="2400" b="1" i="1" dirty="0">
                <a:latin typeface="Times New Roman" panose="02020603050405020304" pitchFamily="18" charset="0"/>
              </a:rPr>
              <a:t>   </a:t>
            </a:r>
            <a:endParaRPr lang="en-US" altLang="zh-CN" sz="2400" b="1" i="1" dirty="0">
              <a:latin typeface="Times New Roman" panose="02020603050405020304" pitchFamily="18" charset="0"/>
            </a:endParaRPr>
          </a:p>
          <a:p>
            <a:endParaRPr lang="en-US" altLang="zh-CN" sz="2800" b="1" i="1" baseline="-25000" dirty="0">
              <a:latin typeface="Times New Roman" panose="02020603050405020304" pitchFamily="18" charset="0"/>
            </a:endParaRPr>
          </a:p>
        </p:txBody>
      </p:sp>
      <p:sp>
        <p:nvSpPr>
          <p:cNvPr id="283653" name="Rectangle 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1238" name="Group 6"/>
          <p:cNvGrpSpPr/>
          <p:nvPr/>
        </p:nvGrpSpPr>
        <p:grpSpPr>
          <a:xfrm>
            <a:off x="2740025" y="4076700"/>
            <a:ext cx="8035925" cy="1676400"/>
            <a:chOff x="766" y="2568"/>
            <a:chExt cx="5062" cy="1056"/>
          </a:xfrm>
        </p:grpSpPr>
        <p:sp>
          <p:nvSpPr>
            <p:cNvPr id="351247" name="Text Box 7"/>
            <p:cNvSpPr txBox="1"/>
            <p:nvPr/>
          </p:nvSpPr>
          <p:spPr>
            <a:xfrm>
              <a:off x="766" y="3158"/>
              <a:ext cx="3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则 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51248" name="Group 8"/>
            <p:cNvGrpSpPr/>
            <p:nvPr/>
          </p:nvGrpSpPr>
          <p:grpSpPr>
            <a:xfrm>
              <a:off x="929" y="2568"/>
              <a:ext cx="4899" cy="1056"/>
              <a:chOff x="929" y="2568"/>
              <a:chExt cx="4899" cy="1056"/>
            </a:xfrm>
          </p:grpSpPr>
          <p:sp>
            <p:nvSpPr>
              <p:cNvPr id="351249" name="Text Box 9"/>
              <p:cNvSpPr txBox="1"/>
              <p:nvPr/>
            </p:nvSpPr>
            <p:spPr>
              <a:xfrm>
                <a:off x="1020" y="3112"/>
                <a:ext cx="4757" cy="3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  </a:t>
                </a:r>
                <a:r>
                  <a:rPr lang="en-US" altLang="zh-CN" sz="3000" b="1" i="1" dirty="0">
                    <a:latin typeface="Times New Roman" panose="02020603050405020304" pitchFamily="18" charset="0"/>
                  </a:rPr>
                  <a:t>e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=                                    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×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100%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250" name="Text Box 10"/>
              <p:cNvSpPr txBox="1"/>
              <p:nvPr/>
            </p:nvSpPr>
            <p:spPr>
              <a:xfrm>
                <a:off x="929" y="2568"/>
                <a:ext cx="38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>
                  <a:spcBef>
                    <a:spcPct val="50000"/>
                  </a:spcBef>
                </a:pPr>
                <a:endParaRPr lang="zh-CN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251" name="Text Box 11"/>
              <p:cNvSpPr txBox="1"/>
              <p:nvPr/>
            </p:nvSpPr>
            <p:spPr>
              <a:xfrm>
                <a:off x="1071" y="2976"/>
                <a:ext cx="4757" cy="6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800" b="1" i="1" dirty="0">
                    <a:latin typeface="Times New Roman" panose="02020603050405020304" pitchFamily="18" charset="0"/>
                  </a:rPr>
                  <a:t>                         t</a:t>
                </a:r>
                <a:r>
                  <a:rPr lang="en-US" altLang="zh-CN" sz="2800" b="1" i="1" baseline="-25000" dirty="0">
                    <a:latin typeface="Times New Roman" panose="02020603050405020304" pitchFamily="18" charset="0"/>
                  </a:rPr>
                  <a:t>c</a:t>
                </a:r>
                <a:endParaRPr lang="en-US" altLang="zh-CN" sz="2800" b="1" i="1" baseline="-25000" dirty="0">
                  <a:latin typeface="Times New Roman" panose="02020603050405020304" pitchFamily="18" charset="0"/>
                </a:endParaRPr>
              </a:p>
              <a:p>
                <a:endParaRPr lang="en-US" altLang="zh-CN" sz="28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252" name="Text Box 12"/>
              <p:cNvSpPr txBox="1"/>
              <p:nvPr/>
            </p:nvSpPr>
            <p:spPr>
              <a:xfrm>
                <a:off x="1071" y="3276"/>
                <a:ext cx="4757" cy="34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2800" b="1" dirty="0">
                    <a:latin typeface="Times New Roman" panose="02020603050405020304" pitchFamily="18" charset="0"/>
                  </a:rPr>
                  <a:t>         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h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×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2800" b="1" i="1" baseline="-25000" dirty="0">
                    <a:latin typeface="Times New Roman" panose="02020603050405020304" pitchFamily="18" charset="0"/>
                  </a:rPr>
                  <a:t>c</a:t>
                </a:r>
                <a:r>
                  <a:rPr lang="en-US" altLang="zh-CN" sz="2800" b="1" i="1" dirty="0">
                    <a:latin typeface="Times New Roman" panose="02020603050405020304" pitchFamily="18" charset="0"/>
                  </a:rPr>
                  <a:t>+ </a:t>
                </a:r>
                <a:r>
                  <a:rPr lang="en-US" altLang="zh-CN" sz="2800" b="1" dirty="0">
                    <a:latin typeface="Times New Roman" panose="02020603050405020304" pitchFamily="18" charset="0"/>
                  </a:rPr>
                  <a:t>(1</a:t>
                </a:r>
                <a:r>
                  <a:rPr lang="zh-CN" altLang="en-US" sz="2400" b="1" dirty="0">
                    <a:latin typeface="Times New Roman" panose="02020603050405020304" pitchFamily="18" charset="0"/>
                  </a:rPr>
                  <a:t>－</a:t>
                </a:r>
                <a:r>
                  <a:rPr lang="en-US" altLang="zh-CN" sz="3000" b="1" i="1" dirty="0">
                    <a:latin typeface="Times New Roman" panose="02020603050405020304" pitchFamily="18" charset="0"/>
                  </a:rPr>
                  <a:t>h</a:t>
                </a:r>
                <a:r>
                  <a:rPr lang="en-US" altLang="zh-CN" sz="2400" b="1" dirty="0">
                    <a:latin typeface="Times New Roman" panose="02020603050405020304" pitchFamily="18" charset="0"/>
                  </a:rPr>
                  <a:t>)× </a:t>
                </a:r>
                <a:r>
                  <a:rPr lang="en-US" altLang="zh-CN" sz="3000" b="1" i="1" dirty="0">
                    <a:latin typeface="Times New Roman" panose="02020603050405020304" pitchFamily="18" charset="0"/>
                  </a:rPr>
                  <a:t>t</a:t>
                </a:r>
                <a:r>
                  <a:rPr lang="en-US" altLang="zh-CN" sz="3000" b="1" i="1" baseline="-25000" dirty="0">
                    <a:latin typeface="Times New Roman" panose="02020603050405020304" pitchFamily="18" charset="0"/>
                  </a:rPr>
                  <a:t>m</a:t>
                </a:r>
                <a:endParaRPr lang="en-US" altLang="zh-CN" sz="3000" b="1" i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51253" name="Line 13"/>
              <p:cNvSpPr/>
              <p:nvPr/>
            </p:nvSpPr>
            <p:spPr>
              <a:xfrm>
                <a:off x="1543" y="3303"/>
                <a:ext cx="197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351239" name="Group 14"/>
          <p:cNvGrpSpPr/>
          <p:nvPr/>
        </p:nvGrpSpPr>
        <p:grpSpPr>
          <a:xfrm>
            <a:off x="3000375" y="1557338"/>
            <a:ext cx="7777163" cy="1646237"/>
            <a:chOff x="930" y="981"/>
            <a:chExt cx="4899" cy="1037"/>
          </a:xfrm>
        </p:grpSpPr>
        <p:sp>
          <p:nvSpPr>
            <p:cNvPr id="351242" name="Text Box 15"/>
            <p:cNvSpPr txBox="1"/>
            <p:nvPr/>
          </p:nvSpPr>
          <p:spPr>
            <a:xfrm>
              <a:off x="930" y="981"/>
              <a:ext cx="38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51243" name="Text Box 16"/>
            <p:cNvSpPr txBox="1"/>
            <p:nvPr/>
          </p:nvSpPr>
          <p:spPr>
            <a:xfrm>
              <a:off x="1072" y="1389"/>
              <a:ext cx="475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   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访问 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Cache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的时间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1244" name="Text Box 17"/>
            <p:cNvSpPr txBox="1"/>
            <p:nvPr/>
          </p:nvSpPr>
          <p:spPr>
            <a:xfrm>
              <a:off x="1072" y="1689"/>
              <a:ext cx="475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         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平均访问时间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1245" name="Line 18"/>
            <p:cNvSpPr/>
            <p:nvPr/>
          </p:nvSpPr>
          <p:spPr>
            <a:xfrm>
              <a:off x="1543" y="1716"/>
              <a:ext cx="19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1246" name="Text Box 19"/>
            <p:cNvSpPr txBox="1"/>
            <p:nvPr/>
          </p:nvSpPr>
          <p:spPr>
            <a:xfrm>
              <a:off x="1021" y="1525"/>
              <a:ext cx="4757" cy="3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  </a:t>
              </a:r>
              <a:r>
                <a:rPr lang="en-US" altLang="zh-CN" sz="3000" b="1" i="1" dirty="0">
                  <a:latin typeface="Times New Roman" panose="02020603050405020304" pitchFamily="18" charset="0"/>
                </a:rPr>
                <a:t>e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=                                    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 100%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1240" name="AutoShape 2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124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Rectangle 2"/>
          <p:cNvSpPr/>
          <p:nvPr/>
        </p:nvSpPr>
        <p:spPr>
          <a:xfrm>
            <a:off x="1524000" y="-230187"/>
            <a:ext cx="30988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42" name="Object 1"/>
          <p:cNvGraphicFramePr>
            <a:graphicFrameLocks noChangeAspect="1"/>
          </p:cNvGraphicFramePr>
          <p:nvPr/>
        </p:nvGraphicFramePr>
        <p:xfrm>
          <a:off x="2063750" y="1422400"/>
          <a:ext cx="8135938" cy="493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5902325" imgH="3562350" progId="Visio.Drawing.11">
                  <p:embed/>
                </p:oleObj>
              </mc:Choice>
              <mc:Fallback>
                <p:oleObj name="" r:id="rId1" imgW="5902325" imgH="3562350" progId="Visio.Drawing.11">
                  <p:embed/>
                  <p:pic>
                    <p:nvPicPr>
                      <p:cNvPr id="0" name="20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063750" y="1422400"/>
                        <a:ext cx="8135938" cy="4935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64"/>
          <p:cNvSpPr txBox="1"/>
          <p:nvPr/>
        </p:nvSpPr>
        <p:spPr>
          <a:xfrm>
            <a:off x="2057400" y="273050"/>
            <a:ext cx="6934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3. Cache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的基本结构（书</a:t>
            </a:r>
            <a:r>
              <a:rPr lang="en-US" altLang="zh-CN" sz="3600" b="1" dirty="0">
                <a:latin typeface="Times New Roman" panose="02020603050405020304" pitchFamily="18" charset="0"/>
              </a:rPr>
              <a:t>112</a:t>
            </a:r>
            <a:r>
              <a:rPr lang="zh-CN" altLang="en-US" sz="3600" b="1" dirty="0">
                <a:latin typeface="Times New Roman" panose="02020603050405020304" pitchFamily="18" charset="0"/>
              </a:rPr>
              <a:t>页）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5" name="Rectangle 7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6" name="矩形 5"/>
          <p:cNvSpPr/>
          <p:nvPr/>
        </p:nvSpPr>
        <p:spPr>
          <a:xfrm>
            <a:off x="3640138" y="2987675"/>
            <a:ext cx="973137" cy="75565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p>
            <a:pPr algn="ctr"/>
            <a:endParaRPr lang="en-US" altLang="zh-CN" sz="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en-US" altLang="zh-CN" sz="1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Cache</a:t>
            </a:r>
            <a:endParaRPr lang="en-US" altLang="zh-CN" sz="1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zh-CN" altLang="en-US" sz="1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替换机构</a:t>
            </a:r>
            <a:endParaRPr lang="zh-CN" altLang="en-US" sz="1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7" name="矩形 6"/>
          <p:cNvSpPr/>
          <p:nvPr/>
        </p:nvSpPr>
        <p:spPr>
          <a:xfrm>
            <a:off x="5573713" y="4787900"/>
            <a:ext cx="1260475" cy="57150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en-US" altLang="zh-CN" sz="1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Cache</a:t>
            </a:r>
            <a:endParaRPr lang="en-US" altLang="zh-CN" sz="16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存储体</a:t>
            </a:r>
            <a:endParaRPr lang="zh-CN" altLang="en-US" sz="16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8" name="矩形 7"/>
          <p:cNvSpPr/>
          <p:nvPr/>
        </p:nvSpPr>
        <p:spPr>
          <a:xfrm>
            <a:off x="7350125" y="2973388"/>
            <a:ext cx="1143000" cy="785812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p>
            <a:pPr algn="ctr"/>
            <a:r>
              <a:rPr lang="zh-CN" altLang="en-US" sz="1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主存</a:t>
            </a:r>
            <a:r>
              <a:rPr lang="en-US" altLang="zh-CN" sz="1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Cache</a:t>
            </a:r>
            <a:endParaRPr lang="en-US" altLang="zh-CN" sz="1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zh-CN" altLang="en-US" sz="1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地址映射</a:t>
            </a:r>
            <a:endParaRPr lang="zh-CN" altLang="en-US" sz="1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  <a:p>
            <a:pPr algn="ctr"/>
            <a:r>
              <a:rPr lang="zh-CN" altLang="en-US" sz="14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变换机构</a:t>
            </a:r>
            <a:endParaRPr lang="zh-CN" altLang="en-US" sz="1400" b="1" dirty="0">
              <a:solidFill>
                <a:schemeClr val="bg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9" name="矩形 8"/>
          <p:cNvSpPr/>
          <p:nvPr/>
        </p:nvSpPr>
        <p:spPr>
          <a:xfrm>
            <a:off x="4452938" y="2071688"/>
            <a:ext cx="1857375" cy="571500"/>
          </a:xfrm>
          <a:prstGeom prst="rect">
            <a:avLst/>
          </a:prstGeom>
          <a:noFill/>
          <a:ln w="9525">
            <a:noFill/>
          </a:ln>
        </p:spPr>
        <p:txBody>
          <a:bodyPr wrap="none"/>
          <a:p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由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CPU</a:t>
            </a:r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完成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0" name="Rectangle 10"/>
          <p:cNvSpPr/>
          <p:nvPr/>
        </p:nvSpPr>
        <p:spPr>
          <a:xfrm>
            <a:off x="8315325" y="1663700"/>
            <a:ext cx="73025" cy="368300"/>
          </a:xfrm>
          <a:prstGeom prst="rect">
            <a:avLst/>
          </a:prstGeom>
          <a:solidFill>
            <a:srgbClr val="0000B7"/>
          </a:solidFill>
          <a:ln w="9525" cap="flat" cmpd="sng">
            <a:solidFill>
              <a:srgbClr val="0000B7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51" name="AutoShape 1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5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2258" name="Text Box 2"/>
          <p:cNvSpPr txBox="1"/>
          <p:nvPr/>
        </p:nvSpPr>
        <p:spPr>
          <a:xfrm>
            <a:off x="2133600" y="304800"/>
            <a:ext cx="44881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4. Cache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读写</a:t>
            </a:r>
            <a:r>
              <a:rPr lang="zh-CN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3600" b="1" dirty="0">
                <a:latin typeface="Times New Roman" panose="02020603050405020304" pitchFamily="18" charset="0"/>
              </a:rPr>
              <a:t>操作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grpSp>
        <p:nvGrpSpPr>
          <p:cNvPr id="352259" name="Group 3"/>
          <p:cNvGrpSpPr/>
          <p:nvPr/>
        </p:nvGrpSpPr>
        <p:grpSpPr>
          <a:xfrm>
            <a:off x="2027238" y="1592263"/>
            <a:ext cx="8335962" cy="4645025"/>
            <a:chOff x="317" y="777"/>
            <a:chExt cx="5251" cy="2926"/>
          </a:xfrm>
        </p:grpSpPr>
        <p:sp>
          <p:nvSpPr>
            <p:cNvPr id="352264" name="Text Box 4"/>
            <p:cNvSpPr txBox="1"/>
            <p:nvPr/>
          </p:nvSpPr>
          <p:spPr>
            <a:xfrm>
              <a:off x="317" y="2538"/>
              <a:ext cx="124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访问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Cache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取出信息送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CPU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65" name="Rectangle 5"/>
            <p:cNvSpPr/>
            <p:nvPr/>
          </p:nvSpPr>
          <p:spPr>
            <a:xfrm>
              <a:off x="345" y="2555"/>
              <a:ext cx="1191" cy="46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66" name="Text Box 6"/>
            <p:cNvSpPr txBox="1"/>
            <p:nvPr/>
          </p:nvSpPr>
          <p:spPr>
            <a:xfrm>
              <a:off x="1666" y="2538"/>
              <a:ext cx="1244" cy="4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访问主存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取出信息送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CPU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67" name="Rectangle 7"/>
            <p:cNvSpPr/>
            <p:nvPr/>
          </p:nvSpPr>
          <p:spPr>
            <a:xfrm>
              <a:off x="1689" y="2555"/>
              <a:ext cx="1191" cy="46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68" name="Text Box 8"/>
            <p:cNvSpPr txBox="1"/>
            <p:nvPr/>
          </p:nvSpPr>
          <p:spPr>
            <a:xfrm>
              <a:off x="3072" y="2567"/>
              <a:ext cx="1075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将新的主存块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调入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Cache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中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69" name="Rectangle 9"/>
            <p:cNvSpPr/>
            <p:nvPr/>
          </p:nvSpPr>
          <p:spPr>
            <a:xfrm>
              <a:off x="3023" y="2555"/>
              <a:ext cx="1165" cy="46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70" name="Text Box 10"/>
            <p:cNvSpPr txBox="1"/>
            <p:nvPr/>
          </p:nvSpPr>
          <p:spPr>
            <a:xfrm>
              <a:off x="4457" y="2566"/>
              <a:ext cx="1075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执行替换算法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    腾出空位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71" name="Rectangle 11"/>
            <p:cNvSpPr/>
            <p:nvPr/>
          </p:nvSpPr>
          <p:spPr>
            <a:xfrm>
              <a:off x="4403" y="2544"/>
              <a:ext cx="1165" cy="469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72" name="Text Box 12"/>
            <p:cNvSpPr txBox="1"/>
            <p:nvPr/>
          </p:nvSpPr>
          <p:spPr>
            <a:xfrm>
              <a:off x="1385" y="3429"/>
              <a:ext cx="45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2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结束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73" name="Rectangle 13"/>
            <p:cNvSpPr/>
            <p:nvPr/>
          </p:nvSpPr>
          <p:spPr>
            <a:xfrm>
              <a:off x="1375" y="3441"/>
              <a:ext cx="497" cy="262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74" name="AutoShape 14"/>
            <p:cNvSpPr/>
            <p:nvPr/>
          </p:nvSpPr>
          <p:spPr>
            <a:xfrm>
              <a:off x="1239" y="1539"/>
              <a:ext cx="858" cy="399"/>
            </a:xfrm>
            <a:prstGeom prst="diamond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75" name="Text Box 15"/>
            <p:cNvSpPr txBox="1"/>
            <p:nvPr/>
          </p:nvSpPr>
          <p:spPr>
            <a:xfrm>
              <a:off x="1398" y="1622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命中？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76" name="AutoShape 16"/>
            <p:cNvSpPr/>
            <p:nvPr/>
          </p:nvSpPr>
          <p:spPr>
            <a:xfrm>
              <a:off x="3046" y="1938"/>
              <a:ext cx="1128" cy="399"/>
            </a:xfrm>
            <a:prstGeom prst="diamond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77" name="Text Box 17"/>
            <p:cNvSpPr txBox="1"/>
            <p:nvPr/>
          </p:nvSpPr>
          <p:spPr>
            <a:xfrm>
              <a:off x="3215" y="2016"/>
              <a:ext cx="86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Cache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满？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78" name="Freeform 18"/>
            <p:cNvSpPr/>
            <p:nvPr/>
          </p:nvSpPr>
          <p:spPr>
            <a:xfrm>
              <a:off x="3613" y="2335"/>
              <a:ext cx="1" cy="218"/>
            </a:xfrm>
            <a:custGeom>
              <a:avLst/>
              <a:gdLst>
                <a:gd name="txL" fmla="*/ 0 w 1"/>
                <a:gd name="txT" fmla="*/ 0 h 288"/>
                <a:gd name="txR" fmla="*/ 1 w 1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0" y="288"/>
                </a:cxn>
              </a:cxnLst>
              <a:rect l="txL" t="txT" r="txR" b="txB"/>
              <a:pathLst>
                <a:path w="1" h="288">
                  <a:moveTo>
                    <a:pt x="0" y="0"/>
                  </a:moveTo>
                  <a:lnTo>
                    <a:pt x="0" y="28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79" name="Freeform 19"/>
            <p:cNvSpPr/>
            <p:nvPr/>
          </p:nvSpPr>
          <p:spPr>
            <a:xfrm>
              <a:off x="2092" y="1738"/>
              <a:ext cx="1518" cy="200"/>
            </a:xfrm>
            <a:custGeom>
              <a:avLst/>
              <a:gdLst>
                <a:gd name="txL" fmla="*/ 0 w 1614"/>
                <a:gd name="txT" fmla="*/ 0 h 264"/>
                <a:gd name="txR" fmla="*/ 1614 w 1614"/>
                <a:gd name="txB" fmla="*/ 264 h 264"/>
              </a:gdLst>
              <a:ahLst/>
              <a:cxnLst>
                <a:cxn ang="0">
                  <a:pos x="0" y="0"/>
                </a:cxn>
                <a:cxn ang="0">
                  <a:pos x="1611" y="0"/>
                </a:cxn>
                <a:cxn ang="0">
                  <a:pos x="1614" y="264"/>
                </a:cxn>
              </a:cxnLst>
              <a:rect l="txL" t="txT" r="txR" b="txB"/>
              <a:pathLst>
                <a:path w="1614" h="264">
                  <a:moveTo>
                    <a:pt x="0" y="0"/>
                  </a:moveTo>
                  <a:lnTo>
                    <a:pt x="1611" y="0"/>
                  </a:lnTo>
                  <a:lnTo>
                    <a:pt x="1614" y="264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80" name="Freeform 20"/>
            <p:cNvSpPr/>
            <p:nvPr/>
          </p:nvSpPr>
          <p:spPr>
            <a:xfrm>
              <a:off x="923" y="1736"/>
              <a:ext cx="330" cy="819"/>
            </a:xfrm>
            <a:custGeom>
              <a:avLst/>
              <a:gdLst>
                <a:gd name="txL" fmla="*/ 0 w 351"/>
                <a:gd name="txT" fmla="*/ 0 h 1083"/>
                <a:gd name="txR" fmla="*/ 351 w 351"/>
                <a:gd name="txB" fmla="*/ 1083 h 1083"/>
              </a:gdLst>
              <a:ahLst/>
              <a:cxnLst>
                <a:cxn ang="0">
                  <a:pos x="351" y="3"/>
                </a:cxn>
                <a:cxn ang="0">
                  <a:pos x="0" y="0"/>
                </a:cxn>
                <a:cxn ang="0">
                  <a:pos x="0" y="1083"/>
                </a:cxn>
              </a:cxnLst>
              <a:rect l="txL" t="txT" r="txR" b="txB"/>
              <a:pathLst>
                <a:path w="351" h="1083">
                  <a:moveTo>
                    <a:pt x="351" y="3"/>
                  </a:moveTo>
                  <a:lnTo>
                    <a:pt x="0" y="0"/>
                  </a:lnTo>
                  <a:lnTo>
                    <a:pt x="0" y="1083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81" name="Line 21"/>
            <p:cNvSpPr/>
            <p:nvPr/>
          </p:nvSpPr>
          <p:spPr>
            <a:xfrm>
              <a:off x="2278" y="1747"/>
              <a:ext cx="0" cy="81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52282" name="Freeform 22"/>
            <p:cNvSpPr/>
            <p:nvPr/>
          </p:nvSpPr>
          <p:spPr>
            <a:xfrm>
              <a:off x="4172" y="2137"/>
              <a:ext cx="820" cy="407"/>
            </a:xfrm>
            <a:custGeom>
              <a:avLst/>
              <a:gdLst>
                <a:gd name="txL" fmla="*/ 0 w 771"/>
                <a:gd name="txT" fmla="*/ 0 h 552"/>
                <a:gd name="txR" fmla="*/ 771 w 771"/>
                <a:gd name="txB" fmla="*/ 552 h 552"/>
              </a:gdLst>
              <a:ahLst/>
              <a:cxnLst>
                <a:cxn ang="0">
                  <a:pos x="0" y="0"/>
                </a:cxn>
                <a:cxn ang="0">
                  <a:pos x="768" y="0"/>
                </a:cxn>
                <a:cxn ang="0">
                  <a:pos x="771" y="552"/>
                </a:cxn>
              </a:cxnLst>
              <a:rect l="txL" t="txT" r="txR" b="txB"/>
              <a:pathLst>
                <a:path w="771" h="552">
                  <a:moveTo>
                    <a:pt x="0" y="0"/>
                  </a:moveTo>
                  <a:lnTo>
                    <a:pt x="768" y="0"/>
                  </a:lnTo>
                  <a:lnTo>
                    <a:pt x="771" y="55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83" name="Freeform 23"/>
            <p:cNvSpPr/>
            <p:nvPr/>
          </p:nvSpPr>
          <p:spPr>
            <a:xfrm>
              <a:off x="4182" y="2890"/>
              <a:ext cx="810" cy="242"/>
            </a:xfrm>
            <a:custGeom>
              <a:avLst/>
              <a:gdLst>
                <a:gd name="txL" fmla="*/ 0 w 768"/>
                <a:gd name="txT" fmla="*/ 0 h 384"/>
                <a:gd name="txR" fmla="*/ 768 w 768"/>
                <a:gd name="txB" fmla="*/ 384 h 384"/>
              </a:gdLst>
              <a:ahLst/>
              <a:cxnLst>
                <a:cxn ang="0">
                  <a:pos x="765" y="186"/>
                </a:cxn>
                <a:cxn ang="0">
                  <a:pos x="768" y="384"/>
                </a:cxn>
                <a:cxn ang="0">
                  <a:pos x="144" y="384"/>
                </a:cxn>
                <a:cxn ang="0">
                  <a:pos x="144" y="0"/>
                </a:cxn>
                <a:cxn ang="0">
                  <a:pos x="0" y="0"/>
                </a:cxn>
              </a:cxnLst>
              <a:rect l="txL" t="txT" r="txR" b="txB"/>
              <a:pathLst>
                <a:path w="768" h="384">
                  <a:moveTo>
                    <a:pt x="765" y="186"/>
                  </a:moveTo>
                  <a:lnTo>
                    <a:pt x="768" y="384"/>
                  </a:lnTo>
                  <a:lnTo>
                    <a:pt x="144" y="384"/>
                  </a:lnTo>
                  <a:lnTo>
                    <a:pt x="144" y="0"/>
                  </a:ln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84" name="Line 24"/>
            <p:cNvSpPr/>
            <p:nvPr/>
          </p:nvSpPr>
          <p:spPr>
            <a:xfrm>
              <a:off x="923" y="3015"/>
              <a:ext cx="0" cy="21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52285" name="Line 25"/>
            <p:cNvSpPr/>
            <p:nvPr/>
          </p:nvSpPr>
          <p:spPr>
            <a:xfrm>
              <a:off x="2278" y="3015"/>
              <a:ext cx="0" cy="21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52286" name="Line 26"/>
            <p:cNvSpPr/>
            <p:nvPr/>
          </p:nvSpPr>
          <p:spPr>
            <a:xfrm>
              <a:off x="3633" y="3015"/>
              <a:ext cx="0" cy="21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52287" name="Line 27"/>
            <p:cNvSpPr/>
            <p:nvPr/>
          </p:nvSpPr>
          <p:spPr>
            <a:xfrm>
              <a:off x="923" y="3232"/>
              <a:ext cx="2719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2288" name="Line 28"/>
            <p:cNvSpPr/>
            <p:nvPr/>
          </p:nvSpPr>
          <p:spPr>
            <a:xfrm>
              <a:off x="1620" y="3226"/>
              <a:ext cx="0" cy="21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52289" name="Text Box 29"/>
            <p:cNvSpPr txBox="1"/>
            <p:nvPr/>
          </p:nvSpPr>
          <p:spPr>
            <a:xfrm>
              <a:off x="988" y="1152"/>
              <a:ext cx="140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CPU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发出访问地址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90" name="Rectangle 30"/>
            <p:cNvSpPr/>
            <p:nvPr/>
          </p:nvSpPr>
          <p:spPr>
            <a:xfrm>
              <a:off x="923" y="1167"/>
              <a:ext cx="1581" cy="21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91" name="Text Box 31"/>
            <p:cNvSpPr txBox="1"/>
            <p:nvPr/>
          </p:nvSpPr>
          <p:spPr>
            <a:xfrm>
              <a:off x="1444" y="777"/>
              <a:ext cx="45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开始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92" name="Rectangle 32"/>
            <p:cNvSpPr/>
            <p:nvPr/>
          </p:nvSpPr>
          <p:spPr>
            <a:xfrm>
              <a:off x="1453" y="803"/>
              <a:ext cx="453" cy="21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2293" name="Line 33"/>
            <p:cNvSpPr/>
            <p:nvPr/>
          </p:nvSpPr>
          <p:spPr>
            <a:xfrm>
              <a:off x="1669" y="1393"/>
              <a:ext cx="0" cy="14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352294" name="Line 34"/>
            <p:cNvSpPr/>
            <p:nvPr/>
          </p:nvSpPr>
          <p:spPr>
            <a:xfrm>
              <a:off x="1669" y="1031"/>
              <a:ext cx="0" cy="14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sm" len="sm"/>
            </a:ln>
          </p:spPr>
        </p:sp>
        <p:sp>
          <p:nvSpPr>
            <p:cNvPr id="352295" name="Text Box 35"/>
            <p:cNvSpPr txBox="1"/>
            <p:nvPr/>
          </p:nvSpPr>
          <p:spPr>
            <a:xfrm>
              <a:off x="1013" y="150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96" name="Text Box 36"/>
            <p:cNvSpPr txBox="1"/>
            <p:nvPr/>
          </p:nvSpPr>
          <p:spPr>
            <a:xfrm>
              <a:off x="2097" y="150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97" name="Text Box 37"/>
            <p:cNvSpPr txBox="1"/>
            <p:nvPr/>
          </p:nvSpPr>
          <p:spPr>
            <a:xfrm>
              <a:off x="4130" y="1892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2298" name="Text Box 38"/>
            <p:cNvSpPr txBox="1"/>
            <p:nvPr/>
          </p:nvSpPr>
          <p:spPr>
            <a:xfrm>
              <a:off x="3360" y="2321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2260" name="Text Box 39"/>
          <p:cNvSpPr txBox="1"/>
          <p:nvPr/>
        </p:nvSpPr>
        <p:spPr>
          <a:xfrm>
            <a:off x="2405063" y="966788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读</a:t>
            </a:r>
            <a:endParaRPr lang="zh-CN" altLang="en-US" sz="32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5736" name="Rectangle 4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2262" name="AutoShape 41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2263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3282" name="Text Box 2"/>
          <p:cNvSpPr txBox="1"/>
          <p:nvPr/>
        </p:nvSpPr>
        <p:spPr>
          <a:xfrm>
            <a:off x="3287713" y="1109663"/>
            <a:ext cx="38868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Cache </a:t>
            </a:r>
            <a:r>
              <a:rPr lang="zh-CN" altLang="en-US" sz="2800" b="1" dirty="0">
                <a:latin typeface="Times New Roman" panose="02020603050405020304" pitchFamily="18" charset="0"/>
              </a:rPr>
              <a:t>和主存的一致性 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53283" name="Group 3"/>
          <p:cNvGrpSpPr/>
          <p:nvPr/>
        </p:nvGrpSpPr>
        <p:grpSpPr>
          <a:xfrm>
            <a:off x="2193925" y="304800"/>
            <a:ext cx="4487863" cy="1309688"/>
            <a:chOff x="422" y="192"/>
            <a:chExt cx="2827" cy="825"/>
          </a:xfrm>
        </p:grpSpPr>
        <p:sp>
          <p:nvSpPr>
            <p:cNvPr id="353293" name="Text Box 4"/>
            <p:cNvSpPr txBox="1"/>
            <p:nvPr/>
          </p:nvSpPr>
          <p:spPr>
            <a:xfrm>
              <a:off x="422" y="192"/>
              <a:ext cx="2827" cy="4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3600" b="1" dirty="0">
                  <a:latin typeface="Times New Roman" panose="02020603050405020304" pitchFamily="18" charset="0"/>
                </a:rPr>
                <a:t>4. Cache </a:t>
              </a:r>
              <a:r>
                <a:rPr lang="zh-CN" altLang="en-US" sz="3600" b="1" dirty="0">
                  <a:latin typeface="Times New Roman" panose="02020603050405020304" pitchFamily="18" charset="0"/>
                </a:rPr>
                <a:t>的 </a:t>
              </a:r>
              <a:r>
                <a:rPr lang="zh-CN" altLang="en-US" sz="36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读写</a:t>
              </a:r>
              <a:r>
                <a:rPr lang="zh-CN" altLang="en-US" sz="36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3600" b="1" dirty="0">
                  <a:latin typeface="Times New Roman" panose="02020603050405020304" pitchFamily="18" charset="0"/>
                </a:rPr>
                <a:t>操作</a:t>
              </a:r>
              <a:endParaRPr lang="zh-CN" altLang="en-US" sz="3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3294" name="Text Box 5"/>
            <p:cNvSpPr txBox="1"/>
            <p:nvPr/>
          </p:nvSpPr>
          <p:spPr>
            <a:xfrm>
              <a:off x="593" y="727"/>
              <a:ext cx="3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写</a:t>
              </a:r>
              <a:endPara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86726" name="Rectangle 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3285" name="Text Box 7"/>
          <p:cNvSpPr txBox="1"/>
          <p:nvPr/>
        </p:nvSpPr>
        <p:spPr>
          <a:xfrm>
            <a:off x="3106738" y="1700213"/>
            <a:ext cx="49212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写直达法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Write </a:t>
            </a:r>
            <a:r>
              <a:rPr lang="en-US" altLang="en-US" sz="2400" b="1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through</a:t>
            </a:r>
            <a:r>
              <a:rPr lang="zh-CN" altLang="en-US" sz="2800" b="1" dirty="0">
                <a:latin typeface="Times New Roman" panose="02020603050405020304" pitchFamily="18" charset="0"/>
              </a:rPr>
              <a:t>） 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53286" name="Text Box 8"/>
          <p:cNvSpPr txBox="1"/>
          <p:nvPr/>
        </p:nvSpPr>
        <p:spPr>
          <a:xfrm>
            <a:off x="3106738" y="3789363"/>
            <a:ext cx="41300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写回法</a:t>
            </a:r>
            <a:r>
              <a:rPr lang="zh-CN" altLang="en-US" sz="2800" b="1" dirty="0"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latin typeface="Times New Roman" panose="02020603050405020304" pitchFamily="18" charset="0"/>
              </a:rPr>
              <a:t>Write </a:t>
            </a:r>
            <a:r>
              <a:rPr lang="en-US" altLang="en-US" sz="2400" b="1" dirty="0">
                <a:latin typeface="Times New Roman" panose="02020603050405020304" pitchFamily="18" charset="0"/>
              </a:rPr>
              <a:t>–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back</a:t>
            </a:r>
            <a:r>
              <a:rPr lang="zh-CN" altLang="en-US" sz="2800" b="1" dirty="0">
                <a:latin typeface="Times New Roman" panose="02020603050405020304" pitchFamily="18" charset="0"/>
              </a:rPr>
              <a:t>） 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53287" name="Text Box 9"/>
          <p:cNvSpPr txBox="1"/>
          <p:nvPr/>
        </p:nvSpPr>
        <p:spPr>
          <a:xfrm>
            <a:off x="3359150" y="2266950"/>
            <a:ext cx="53390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写操作时数据既写入</a:t>
            </a:r>
            <a:r>
              <a:rPr lang="en-US" altLang="zh-CN" sz="2400" b="1" dirty="0">
                <a:latin typeface="Times New Roman" panose="02020603050405020304" pitchFamily="18" charset="0"/>
              </a:rPr>
              <a:t>Cache</a:t>
            </a:r>
            <a:r>
              <a:rPr lang="zh-CN" altLang="en-US" sz="2400" b="1" dirty="0">
                <a:latin typeface="Times New Roman" panose="02020603050405020304" pitchFamily="18" charset="0"/>
              </a:rPr>
              <a:t>又写入主存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53288" name="Text Box 10"/>
          <p:cNvSpPr txBox="1"/>
          <p:nvPr/>
        </p:nvSpPr>
        <p:spPr>
          <a:xfrm>
            <a:off x="3359150" y="4356100"/>
            <a:ext cx="6024880" cy="9772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写操作时只把数据写入 </a:t>
            </a:r>
            <a:r>
              <a:rPr lang="en-US" altLang="zh-CN" sz="2400" b="1" dirty="0">
                <a:latin typeface="Times New Roman" panose="02020603050405020304" pitchFamily="18" charset="0"/>
              </a:rPr>
              <a:t>Cache </a:t>
            </a:r>
            <a:r>
              <a:rPr lang="zh-CN" altLang="en-US" sz="2400" b="1" dirty="0">
                <a:latin typeface="Times New Roman" panose="02020603050405020304" pitchFamily="18" charset="0"/>
              </a:rPr>
              <a:t>而不写入主存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当 </a:t>
            </a:r>
            <a:r>
              <a:rPr lang="en-US" altLang="zh-CN" sz="2400" b="1" dirty="0">
                <a:latin typeface="Times New Roman" panose="02020603050405020304" pitchFamily="18" charset="0"/>
              </a:rPr>
              <a:t>Cache </a:t>
            </a:r>
            <a:r>
              <a:rPr lang="zh-CN" altLang="en-US" sz="2400" b="1" dirty="0">
                <a:latin typeface="Times New Roman" panose="02020603050405020304" pitchFamily="18" charset="0"/>
              </a:rPr>
              <a:t>数据被替换出去时才写回主存</a:t>
            </a: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53289" name="Text Box 11"/>
          <p:cNvSpPr txBox="1"/>
          <p:nvPr/>
        </p:nvSpPr>
        <p:spPr>
          <a:xfrm>
            <a:off x="3359150" y="2708275"/>
            <a:ext cx="7308850" cy="9772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写操作时间就是访问主存的时间</a:t>
            </a:r>
            <a:r>
              <a:rPr lang="zh-CN" altLang="en-US" sz="2400" b="1" dirty="0">
                <a:latin typeface="Times New Roman" panose="02020603050405020304" pitchFamily="18" charset="0"/>
              </a:rPr>
              <a:t>，读操作时不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涉及对主存的写操作，更新策略比较容易实现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53290" name="Text Box 12"/>
          <p:cNvSpPr txBox="1"/>
          <p:nvPr/>
        </p:nvSpPr>
        <p:spPr>
          <a:xfrm>
            <a:off x="3359150" y="5300663"/>
            <a:ext cx="6985000" cy="14204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写操作时间就是访问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Cache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的时间</a:t>
            </a:r>
            <a:r>
              <a:rPr lang="zh-CN" altLang="en-US" sz="2400" b="1" dirty="0">
                <a:latin typeface="Times New Roman" panose="02020603050405020304" pitchFamily="18" charset="0"/>
              </a:rPr>
              <a:t>，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读操作 </a:t>
            </a:r>
            <a:r>
              <a:rPr lang="en-US" altLang="zh-CN" sz="2400" b="1" dirty="0">
                <a:latin typeface="Times New Roman" panose="02020603050405020304" pitchFamily="18" charset="0"/>
              </a:rPr>
              <a:t>Cache </a:t>
            </a:r>
            <a:r>
              <a:rPr lang="zh-CN" altLang="en-US" sz="2400" b="1" dirty="0">
                <a:latin typeface="Times New Roman" panose="02020603050405020304" pitchFamily="18" charset="0"/>
              </a:rPr>
              <a:t>失效发生数据替换时，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2400" b="1" dirty="0">
                <a:latin typeface="Times New Roman" panose="02020603050405020304" pitchFamily="18" charset="0"/>
              </a:rPr>
              <a:t>被替换的块需写回主存，增加了 </a:t>
            </a:r>
            <a:r>
              <a:rPr lang="en-US" altLang="zh-CN" sz="2400" b="1" dirty="0">
                <a:latin typeface="Times New Roman" panose="02020603050405020304" pitchFamily="18" charset="0"/>
              </a:rPr>
              <a:t>Cache </a:t>
            </a:r>
            <a:r>
              <a:rPr lang="zh-CN" altLang="en-US" sz="2400" b="1" dirty="0">
                <a:latin typeface="Times New Roman" panose="02020603050405020304" pitchFamily="18" charset="0"/>
              </a:rPr>
              <a:t>的复杂性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53291" name="AutoShape 13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329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4306" name="Text Box 2"/>
          <p:cNvSpPr txBox="1"/>
          <p:nvPr/>
        </p:nvSpPr>
        <p:spPr>
          <a:xfrm>
            <a:off x="2133600" y="196850"/>
            <a:ext cx="3459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5.  Cache </a:t>
            </a:r>
            <a:r>
              <a:rPr lang="zh-CN" altLang="en-US" sz="3600" b="1" dirty="0">
                <a:latin typeface="Times New Roman" panose="02020603050405020304" pitchFamily="18" charset="0"/>
              </a:rPr>
              <a:t>的改进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54307" name="Text Box 3"/>
          <p:cNvSpPr txBox="1"/>
          <p:nvPr/>
        </p:nvSpPr>
        <p:spPr>
          <a:xfrm>
            <a:off x="2727325" y="914400"/>
            <a:ext cx="48164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增加 </a:t>
            </a:r>
            <a:r>
              <a:rPr lang="en-US" altLang="zh-CN" sz="3200" b="1" dirty="0">
                <a:latin typeface="Times New Roman" panose="02020603050405020304" pitchFamily="18" charset="0"/>
              </a:rPr>
              <a:t>Cache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的级数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54308" name="Text Box 4"/>
          <p:cNvSpPr txBox="1"/>
          <p:nvPr/>
        </p:nvSpPr>
        <p:spPr>
          <a:xfrm>
            <a:off x="3225800" y="1606550"/>
            <a:ext cx="32645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片载（片内）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54309" name="Text Box 5"/>
          <p:cNvSpPr txBox="1"/>
          <p:nvPr/>
        </p:nvSpPr>
        <p:spPr>
          <a:xfrm>
            <a:off x="3225800" y="2251075"/>
            <a:ext cx="19310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片外 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54310" name="Text Box 6"/>
          <p:cNvSpPr txBox="1"/>
          <p:nvPr/>
        </p:nvSpPr>
        <p:spPr>
          <a:xfrm>
            <a:off x="2727325" y="2847975"/>
            <a:ext cx="51212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统一缓存和分立缓存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54311" name="Text Box 7"/>
          <p:cNvSpPr txBox="1"/>
          <p:nvPr/>
        </p:nvSpPr>
        <p:spPr>
          <a:xfrm>
            <a:off x="3225800" y="3540125"/>
            <a:ext cx="19310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指令 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54312" name="Text Box 8"/>
          <p:cNvSpPr txBox="1"/>
          <p:nvPr/>
        </p:nvSpPr>
        <p:spPr>
          <a:xfrm>
            <a:off x="5614988" y="3540125"/>
            <a:ext cx="193103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数据 </a:t>
            </a:r>
            <a:r>
              <a:rPr lang="en-US" altLang="zh-CN" sz="2800" b="1" dirty="0">
                <a:latin typeface="Times New Roman" panose="02020603050405020304" pitchFamily="18" charset="0"/>
              </a:rPr>
              <a:t>Cache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354313" name="Text Box 9"/>
          <p:cNvSpPr txBox="1"/>
          <p:nvPr/>
        </p:nvSpPr>
        <p:spPr>
          <a:xfrm>
            <a:off x="3225800" y="4189413"/>
            <a:ext cx="2672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与主存结构有关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54314" name="Text Box 10"/>
          <p:cNvSpPr txBox="1"/>
          <p:nvPr/>
        </p:nvSpPr>
        <p:spPr>
          <a:xfrm>
            <a:off x="3225800" y="4833938"/>
            <a:ext cx="44500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与指令执行的控制方式有关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54315" name="Text Box 11"/>
          <p:cNvSpPr txBox="1"/>
          <p:nvPr/>
        </p:nvSpPr>
        <p:spPr>
          <a:xfrm>
            <a:off x="8145463" y="4833938"/>
            <a:ext cx="18557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是否流水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54316" name="Text Box 12"/>
          <p:cNvSpPr txBox="1"/>
          <p:nvPr/>
        </p:nvSpPr>
        <p:spPr>
          <a:xfrm>
            <a:off x="2706688" y="5537200"/>
            <a:ext cx="75803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Pentium                8K </a:t>
            </a:r>
            <a:r>
              <a:rPr lang="zh-CN" altLang="en-US" sz="2400" b="1" dirty="0">
                <a:latin typeface="Times New Roman" panose="02020603050405020304" pitchFamily="18" charset="0"/>
              </a:rPr>
              <a:t>指令 </a:t>
            </a:r>
            <a:r>
              <a:rPr lang="en-US" altLang="zh-CN" sz="2400" b="1" dirty="0">
                <a:latin typeface="Times New Roman" panose="02020603050405020304" pitchFamily="18" charset="0"/>
              </a:rPr>
              <a:t>Cache        8K </a:t>
            </a:r>
            <a:r>
              <a:rPr lang="zh-CN" altLang="en-US" sz="2400" b="1" dirty="0">
                <a:latin typeface="Times New Roman" panose="02020603050405020304" pitchFamily="18" charset="0"/>
              </a:rPr>
              <a:t>数据 </a:t>
            </a:r>
            <a:r>
              <a:rPr lang="en-US" altLang="zh-CN" sz="2400" b="1" dirty="0">
                <a:latin typeface="Times New Roman" panose="02020603050405020304" pitchFamily="18" charset="0"/>
              </a:rPr>
              <a:t>Cache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354317" name="Text Box 13"/>
          <p:cNvSpPr txBox="1"/>
          <p:nvPr/>
        </p:nvSpPr>
        <p:spPr>
          <a:xfrm>
            <a:off x="2706688" y="6094413"/>
            <a:ext cx="73517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dirty="0">
                <a:latin typeface="Times New Roman" panose="02020603050405020304" pitchFamily="18" charset="0"/>
              </a:rPr>
              <a:t>PowerPC620      32K </a:t>
            </a:r>
            <a:r>
              <a:rPr lang="zh-CN" altLang="en-US" sz="2400" b="1" dirty="0">
                <a:latin typeface="Times New Roman" panose="02020603050405020304" pitchFamily="18" charset="0"/>
              </a:rPr>
              <a:t>指令 </a:t>
            </a:r>
            <a:r>
              <a:rPr lang="en-US" altLang="zh-CN" sz="2400" b="1" dirty="0">
                <a:latin typeface="Times New Roman" panose="02020603050405020304" pitchFamily="18" charset="0"/>
              </a:rPr>
              <a:t>Cache      </a:t>
            </a:r>
            <a:r>
              <a:rPr lang="en-US" altLang="zh-CN" sz="8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32K </a:t>
            </a:r>
            <a:r>
              <a:rPr lang="zh-CN" altLang="en-US" sz="2400" b="1" dirty="0">
                <a:latin typeface="Times New Roman" panose="02020603050405020304" pitchFamily="18" charset="0"/>
              </a:rPr>
              <a:t>数据 </a:t>
            </a:r>
            <a:r>
              <a:rPr lang="en-US" altLang="zh-CN" sz="2400" b="1" dirty="0">
                <a:latin typeface="Times New Roman" panose="02020603050405020304" pitchFamily="18" charset="0"/>
              </a:rPr>
              <a:t>Cache</a:t>
            </a:r>
            <a:endParaRPr lang="en-US" altLang="zh-CN" sz="2400" b="1" dirty="0">
              <a:latin typeface="Times New Roman" panose="02020603050405020304" pitchFamily="18" charset="0"/>
            </a:endParaRPr>
          </a:p>
        </p:txBody>
      </p:sp>
      <p:sp>
        <p:nvSpPr>
          <p:cNvPr id="287758" name="Rectangle 14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4319" name="AutoShape 15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432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55330" name="Group 2"/>
          <p:cNvGrpSpPr/>
          <p:nvPr/>
        </p:nvGrpSpPr>
        <p:grpSpPr>
          <a:xfrm>
            <a:off x="1752600" y="1066800"/>
            <a:ext cx="8915400" cy="4662488"/>
            <a:chOff x="96" y="672"/>
            <a:chExt cx="5616" cy="2937"/>
          </a:xfrm>
        </p:grpSpPr>
        <p:sp>
          <p:nvSpPr>
            <p:cNvPr id="355347" name="Rectangle 3"/>
            <p:cNvSpPr/>
            <p:nvPr/>
          </p:nvSpPr>
          <p:spPr>
            <a:xfrm>
              <a:off x="4727" y="3096"/>
              <a:ext cx="889" cy="2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dirty="0">
                  <a:latin typeface="Arial" panose="020B0604020202020204" pitchFamily="34" charset="0"/>
                </a:rPr>
                <a:t> </a:t>
              </a:r>
              <a:r>
                <a:rPr lang="zh-CN" altLang="en-US" b="1" dirty="0">
                  <a:latin typeface="Arial" panose="020B0604020202020204" pitchFamily="34" charset="0"/>
                </a:rPr>
                <a:t>字块</a:t>
              </a:r>
              <a:r>
                <a:rPr lang="en-US" altLang="zh-CN" b="1" dirty="0">
                  <a:latin typeface="Arial" panose="020B0604020202020204" pitchFamily="34" charset="0"/>
                </a:rPr>
                <a:t>2</a:t>
              </a:r>
              <a:r>
                <a:rPr lang="en-US" altLang="zh-CN" b="1" i="1" baseline="30000" dirty="0">
                  <a:latin typeface="Arial" panose="020B0604020202020204" pitchFamily="34" charset="0"/>
                </a:rPr>
                <a:t>m</a:t>
              </a:r>
              <a:r>
                <a:rPr lang="zh-CN" altLang="en-US" b="1" dirty="0">
                  <a:latin typeface="Arial" panose="020B0604020202020204" pitchFamily="34" charset="0"/>
                </a:rPr>
                <a:t>－</a:t>
              </a:r>
              <a:r>
                <a:rPr lang="en-US" altLang="zh-CN" b="1" dirty="0">
                  <a:latin typeface="Arial" panose="020B0604020202020204" pitchFamily="34" charset="0"/>
                </a:rPr>
                <a:t>1</a:t>
              </a:r>
              <a:endParaRPr lang="en-US" altLang="zh-CN" b="1" dirty="0">
                <a:latin typeface="Arial" panose="020B0604020202020204" pitchFamily="34" charset="0"/>
              </a:endParaRPr>
            </a:p>
          </p:txBody>
        </p:sp>
        <p:sp>
          <p:nvSpPr>
            <p:cNvPr id="355348" name="Rectangle 4"/>
            <p:cNvSpPr/>
            <p:nvPr/>
          </p:nvSpPr>
          <p:spPr>
            <a:xfrm>
              <a:off x="4727" y="2908"/>
              <a:ext cx="889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355349" name="Rectangle 5"/>
            <p:cNvSpPr/>
            <p:nvPr/>
          </p:nvSpPr>
          <p:spPr>
            <a:xfrm>
              <a:off x="4727" y="2677"/>
              <a:ext cx="88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dirty="0">
                  <a:latin typeface="Arial" panose="020B0604020202020204" pitchFamily="34" charset="0"/>
                </a:rPr>
                <a:t>  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latin typeface="Arial" panose="020B0604020202020204" pitchFamily="34" charset="0"/>
                </a:rPr>
                <a:t>c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+1</a:t>
              </a:r>
              <a:endParaRPr lang="en-US" altLang="zh-CN" sz="2000" b="1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355350" name="Rectangle 6"/>
            <p:cNvSpPr/>
            <p:nvPr/>
          </p:nvSpPr>
          <p:spPr>
            <a:xfrm>
              <a:off x="4679" y="2459"/>
              <a:ext cx="1033" cy="21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dirty="0">
                  <a:latin typeface="Arial" panose="020B0604020202020204" pitchFamily="34" charset="0"/>
                </a:rPr>
                <a:t>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latin typeface="Arial" panose="020B0604020202020204" pitchFamily="34" charset="0"/>
                </a:rPr>
                <a:t>c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+1</a:t>
              </a:r>
              <a:r>
                <a:rPr lang="zh-CN" altLang="en-US" sz="2000" b="1" dirty="0">
                  <a:latin typeface="Arial" panose="020B0604020202020204" pitchFamily="34" charset="0"/>
                </a:rPr>
                <a:t>－</a:t>
              </a: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351" name="Rectangle 7"/>
            <p:cNvSpPr/>
            <p:nvPr/>
          </p:nvSpPr>
          <p:spPr>
            <a:xfrm>
              <a:off x="4727" y="2255"/>
              <a:ext cx="889" cy="2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55352" name="Rectangle 8"/>
            <p:cNvSpPr/>
            <p:nvPr/>
          </p:nvSpPr>
          <p:spPr>
            <a:xfrm>
              <a:off x="4727" y="2026"/>
              <a:ext cx="88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dirty="0">
                  <a:latin typeface="Arial" panose="020B0604020202020204" pitchFamily="34" charset="0"/>
                </a:rPr>
                <a:t>  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latin typeface="Arial" panose="020B0604020202020204" pitchFamily="34" charset="0"/>
                </a:rPr>
                <a:t>c</a:t>
              </a:r>
              <a:r>
                <a:rPr lang="en-US" altLang="zh-CN" sz="2000" b="1" baseline="30000" dirty="0">
                  <a:latin typeface="Arial" panose="020B0604020202020204" pitchFamily="34" charset="0"/>
                </a:rPr>
                <a:t> </a:t>
              </a:r>
              <a:r>
                <a:rPr lang="en-US" altLang="zh-CN" sz="2000" b="1" dirty="0">
                  <a:latin typeface="Arial" panose="020B0604020202020204" pitchFamily="34" charset="0"/>
                </a:rPr>
                <a:t>+1</a:t>
              </a:r>
              <a:endParaRPr lang="en-US" altLang="zh-CN" sz="2000" b="1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355353" name="Rectangle 9"/>
            <p:cNvSpPr/>
            <p:nvPr/>
          </p:nvSpPr>
          <p:spPr>
            <a:xfrm>
              <a:off x="4727" y="1806"/>
              <a:ext cx="88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dirty="0">
                  <a:latin typeface="Arial" panose="020B0604020202020204" pitchFamily="34" charset="0"/>
                </a:rPr>
                <a:t>    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latin typeface="Arial" panose="020B0604020202020204" pitchFamily="34" charset="0"/>
                </a:rPr>
                <a:t>c</a:t>
              </a:r>
              <a:endParaRPr lang="en-US" altLang="zh-CN" sz="2000" b="1" i="1" baseline="30000" dirty="0">
                <a:latin typeface="Arial" panose="020B0604020202020204" pitchFamily="34" charset="0"/>
              </a:endParaRPr>
            </a:p>
          </p:txBody>
        </p:sp>
        <p:sp>
          <p:nvSpPr>
            <p:cNvPr id="355354" name="Rectangle 10"/>
            <p:cNvSpPr/>
            <p:nvPr/>
          </p:nvSpPr>
          <p:spPr>
            <a:xfrm>
              <a:off x="4727" y="1591"/>
              <a:ext cx="889" cy="2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dirty="0">
                  <a:latin typeface="Arial" panose="020B0604020202020204" pitchFamily="34" charset="0"/>
                </a:rPr>
                <a:t> 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latin typeface="Arial" panose="020B0604020202020204" pitchFamily="34" charset="0"/>
                </a:rPr>
                <a:t>c</a:t>
              </a:r>
              <a:r>
                <a:rPr lang="zh-CN" altLang="en-US" sz="2000" b="1" dirty="0">
                  <a:latin typeface="Arial" panose="020B0604020202020204" pitchFamily="34" charset="0"/>
                </a:rPr>
                <a:t>－</a:t>
              </a: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355" name="Rectangle 11"/>
            <p:cNvSpPr/>
            <p:nvPr/>
          </p:nvSpPr>
          <p:spPr>
            <a:xfrm>
              <a:off x="4727" y="1401"/>
              <a:ext cx="889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endParaRPr lang="zh-CN" altLang="zh-CN" dirty="0">
                <a:latin typeface="Arial" panose="020B0604020202020204" pitchFamily="34" charset="0"/>
              </a:endParaRPr>
            </a:p>
          </p:txBody>
        </p:sp>
        <p:sp>
          <p:nvSpPr>
            <p:cNvPr id="355356" name="Rectangle 12"/>
            <p:cNvSpPr/>
            <p:nvPr/>
          </p:nvSpPr>
          <p:spPr>
            <a:xfrm>
              <a:off x="4727" y="1172"/>
              <a:ext cx="88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dirty="0">
                  <a:latin typeface="Arial" panose="020B0604020202020204" pitchFamily="34" charset="0"/>
                </a:rPr>
                <a:t>   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dirty="0">
                  <a:latin typeface="Arial" panose="020B0604020202020204" pitchFamily="34" charset="0"/>
                </a:rPr>
                <a:t>1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55357" name="Rectangle 13"/>
            <p:cNvSpPr/>
            <p:nvPr/>
          </p:nvSpPr>
          <p:spPr>
            <a:xfrm>
              <a:off x="4727" y="954"/>
              <a:ext cx="889" cy="217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b="1" dirty="0">
                  <a:latin typeface="Arial" panose="020B0604020202020204" pitchFamily="34" charset="0"/>
                </a:rPr>
                <a:t>   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358" name="Line 14"/>
            <p:cNvSpPr/>
            <p:nvPr/>
          </p:nvSpPr>
          <p:spPr>
            <a:xfrm>
              <a:off x="4727" y="966"/>
              <a:ext cx="889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59" name="Line 15"/>
            <p:cNvSpPr/>
            <p:nvPr/>
          </p:nvSpPr>
          <p:spPr>
            <a:xfrm>
              <a:off x="4727" y="1183"/>
              <a:ext cx="8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60" name="Line 16"/>
            <p:cNvSpPr/>
            <p:nvPr/>
          </p:nvSpPr>
          <p:spPr>
            <a:xfrm>
              <a:off x="4727" y="1401"/>
              <a:ext cx="8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61" name="Line 17"/>
            <p:cNvSpPr/>
            <p:nvPr/>
          </p:nvSpPr>
          <p:spPr>
            <a:xfrm>
              <a:off x="4727" y="1602"/>
              <a:ext cx="8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62" name="Line 18"/>
            <p:cNvSpPr/>
            <p:nvPr/>
          </p:nvSpPr>
          <p:spPr>
            <a:xfrm>
              <a:off x="4727" y="1819"/>
              <a:ext cx="8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63" name="Line 19"/>
            <p:cNvSpPr/>
            <p:nvPr/>
          </p:nvSpPr>
          <p:spPr>
            <a:xfrm>
              <a:off x="4727" y="2037"/>
              <a:ext cx="8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64" name="Line 20"/>
            <p:cNvSpPr/>
            <p:nvPr/>
          </p:nvSpPr>
          <p:spPr>
            <a:xfrm>
              <a:off x="4727" y="2255"/>
              <a:ext cx="8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65" name="Line 21"/>
            <p:cNvSpPr/>
            <p:nvPr/>
          </p:nvSpPr>
          <p:spPr>
            <a:xfrm>
              <a:off x="4727" y="2472"/>
              <a:ext cx="8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66" name="Line 22"/>
            <p:cNvSpPr/>
            <p:nvPr/>
          </p:nvSpPr>
          <p:spPr>
            <a:xfrm>
              <a:off x="4727" y="2690"/>
              <a:ext cx="8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67" name="Line 23"/>
            <p:cNvSpPr/>
            <p:nvPr/>
          </p:nvSpPr>
          <p:spPr>
            <a:xfrm>
              <a:off x="4727" y="2908"/>
              <a:ext cx="8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68" name="Line 24"/>
            <p:cNvSpPr/>
            <p:nvPr/>
          </p:nvSpPr>
          <p:spPr>
            <a:xfrm>
              <a:off x="4727" y="3109"/>
              <a:ext cx="88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69" name="Line 25"/>
            <p:cNvSpPr/>
            <p:nvPr/>
          </p:nvSpPr>
          <p:spPr>
            <a:xfrm>
              <a:off x="4727" y="3326"/>
              <a:ext cx="889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70" name="Line 26"/>
            <p:cNvSpPr/>
            <p:nvPr/>
          </p:nvSpPr>
          <p:spPr>
            <a:xfrm>
              <a:off x="4727" y="966"/>
              <a:ext cx="0" cy="236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71" name="Line 27"/>
            <p:cNvSpPr/>
            <p:nvPr/>
          </p:nvSpPr>
          <p:spPr>
            <a:xfrm>
              <a:off x="5616" y="966"/>
              <a:ext cx="0" cy="236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72" name="Text Box 28"/>
            <p:cNvSpPr txBox="1"/>
            <p:nvPr/>
          </p:nvSpPr>
          <p:spPr>
            <a:xfrm>
              <a:off x="5024" y="1380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373" name="Text Box 29"/>
            <p:cNvSpPr txBox="1"/>
            <p:nvPr/>
          </p:nvSpPr>
          <p:spPr>
            <a:xfrm>
              <a:off x="5024" y="2246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374" name="Text Box 30"/>
            <p:cNvSpPr txBox="1"/>
            <p:nvPr/>
          </p:nvSpPr>
          <p:spPr>
            <a:xfrm>
              <a:off x="5034" y="2890"/>
              <a:ext cx="34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…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375" name="Text Box 31"/>
            <p:cNvSpPr txBox="1"/>
            <p:nvPr/>
          </p:nvSpPr>
          <p:spPr>
            <a:xfrm>
              <a:off x="4829" y="694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主存储体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376" name="Rectangle 32"/>
            <p:cNvSpPr/>
            <p:nvPr/>
          </p:nvSpPr>
          <p:spPr>
            <a:xfrm>
              <a:off x="3230" y="1296"/>
              <a:ext cx="842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b="1" dirty="0">
                  <a:latin typeface="Arial" panose="020B0604020202020204" pitchFamily="34" charset="0"/>
                </a:rPr>
                <a:t>   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 </a:t>
              </a: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55377" name="Rectangle 33"/>
            <p:cNvSpPr/>
            <p:nvPr/>
          </p:nvSpPr>
          <p:spPr>
            <a:xfrm>
              <a:off x="2762" y="1296"/>
              <a:ext cx="468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900" b="1" dirty="0">
                  <a:latin typeface="Arial" panose="020B0604020202020204" pitchFamily="34" charset="0"/>
                </a:rPr>
                <a:t> </a:t>
              </a:r>
              <a:r>
                <a:rPr lang="zh-CN" altLang="en-US" sz="2000" b="1" dirty="0">
                  <a:latin typeface="Arial" panose="020B0604020202020204" pitchFamily="34" charset="0"/>
                </a:rPr>
                <a:t>标记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378" name="Rectangle 34"/>
            <p:cNvSpPr/>
            <p:nvPr/>
          </p:nvSpPr>
          <p:spPr>
            <a:xfrm>
              <a:off x="3230" y="1078"/>
              <a:ext cx="842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b="1" dirty="0">
                  <a:latin typeface="Arial" panose="020B0604020202020204" pitchFamily="34" charset="0"/>
                </a:rPr>
                <a:t>   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 </a:t>
              </a:r>
              <a:r>
                <a:rPr lang="en-US" altLang="zh-CN" sz="2000" b="1" dirty="0">
                  <a:latin typeface="Arial" panose="020B0604020202020204" pitchFamily="34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379" name="Rectangle 35"/>
            <p:cNvSpPr/>
            <p:nvPr/>
          </p:nvSpPr>
          <p:spPr>
            <a:xfrm>
              <a:off x="2762" y="1078"/>
              <a:ext cx="468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900" b="1" dirty="0">
                  <a:latin typeface="Arial" panose="020B0604020202020204" pitchFamily="34" charset="0"/>
                </a:rPr>
                <a:t> </a:t>
              </a:r>
              <a:r>
                <a:rPr lang="zh-CN" altLang="en-US" sz="2000" b="1" dirty="0">
                  <a:latin typeface="Arial" panose="020B0604020202020204" pitchFamily="34" charset="0"/>
                </a:rPr>
                <a:t>标记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380" name="Line 36"/>
            <p:cNvSpPr/>
            <p:nvPr/>
          </p:nvSpPr>
          <p:spPr>
            <a:xfrm>
              <a:off x="2762" y="1091"/>
              <a:ext cx="131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81" name="Line 37"/>
            <p:cNvSpPr/>
            <p:nvPr/>
          </p:nvSpPr>
          <p:spPr>
            <a:xfrm>
              <a:off x="2762" y="1309"/>
              <a:ext cx="131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82" name="Line 38"/>
            <p:cNvSpPr/>
            <p:nvPr/>
          </p:nvSpPr>
          <p:spPr>
            <a:xfrm>
              <a:off x="2762" y="1527"/>
              <a:ext cx="131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83" name="Line 39"/>
            <p:cNvSpPr/>
            <p:nvPr/>
          </p:nvSpPr>
          <p:spPr>
            <a:xfrm>
              <a:off x="2762" y="1091"/>
              <a:ext cx="0" cy="4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84" name="Line 40"/>
            <p:cNvSpPr/>
            <p:nvPr/>
          </p:nvSpPr>
          <p:spPr>
            <a:xfrm>
              <a:off x="3230" y="1091"/>
              <a:ext cx="0" cy="4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85" name="Line 41"/>
            <p:cNvSpPr/>
            <p:nvPr/>
          </p:nvSpPr>
          <p:spPr>
            <a:xfrm>
              <a:off x="4072" y="1091"/>
              <a:ext cx="0" cy="436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86" name="Rectangle 42"/>
            <p:cNvSpPr/>
            <p:nvPr/>
          </p:nvSpPr>
          <p:spPr>
            <a:xfrm>
              <a:off x="3227" y="1922"/>
              <a:ext cx="845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字块 </a:t>
              </a: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latin typeface="Arial" panose="020B0604020202020204" pitchFamily="34" charset="0"/>
                </a:rPr>
                <a:t>c</a:t>
              </a:r>
              <a:r>
                <a:rPr lang="zh-CN" altLang="en-US" sz="2000" b="1" dirty="0">
                  <a:latin typeface="Arial" panose="020B0604020202020204" pitchFamily="34" charset="0"/>
                </a:rPr>
                <a:t>－</a:t>
              </a: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387" name="Rectangle 43"/>
            <p:cNvSpPr/>
            <p:nvPr/>
          </p:nvSpPr>
          <p:spPr>
            <a:xfrm>
              <a:off x="2762" y="1894"/>
              <a:ext cx="465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标记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388" name="Line 44"/>
            <p:cNvSpPr/>
            <p:nvPr/>
          </p:nvSpPr>
          <p:spPr>
            <a:xfrm>
              <a:off x="2762" y="1930"/>
              <a:ext cx="131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89" name="Line 45"/>
            <p:cNvSpPr/>
            <p:nvPr/>
          </p:nvSpPr>
          <p:spPr>
            <a:xfrm>
              <a:off x="2762" y="2148"/>
              <a:ext cx="1310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90" name="Line 46"/>
            <p:cNvSpPr/>
            <p:nvPr/>
          </p:nvSpPr>
          <p:spPr>
            <a:xfrm>
              <a:off x="2762" y="1930"/>
              <a:ext cx="0" cy="21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91" name="Line 47"/>
            <p:cNvSpPr/>
            <p:nvPr/>
          </p:nvSpPr>
          <p:spPr>
            <a:xfrm>
              <a:off x="4072" y="1930"/>
              <a:ext cx="0" cy="21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92" name="Line 48"/>
            <p:cNvSpPr/>
            <p:nvPr/>
          </p:nvSpPr>
          <p:spPr>
            <a:xfrm>
              <a:off x="3227" y="1930"/>
              <a:ext cx="0" cy="2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93" name="Text Box 49"/>
            <p:cNvSpPr txBox="1"/>
            <p:nvPr/>
          </p:nvSpPr>
          <p:spPr>
            <a:xfrm>
              <a:off x="3043" y="672"/>
              <a:ext cx="1107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Cache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存储体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394" name="AutoShape 50"/>
            <p:cNvSpPr/>
            <p:nvPr/>
          </p:nvSpPr>
          <p:spPr>
            <a:xfrm rot="-5400000">
              <a:off x="2954" y="774"/>
              <a:ext cx="84" cy="468"/>
            </a:xfrm>
            <a:prstGeom prst="rightBrace">
              <a:avLst>
                <a:gd name="adj1" fmla="val 45990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395" name="Text Box 51"/>
            <p:cNvSpPr txBox="1"/>
            <p:nvPr/>
          </p:nvSpPr>
          <p:spPr>
            <a:xfrm>
              <a:off x="2711" y="672"/>
              <a:ext cx="3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位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396" name="Text Box 52"/>
            <p:cNvSpPr txBox="1"/>
            <p:nvPr/>
          </p:nvSpPr>
          <p:spPr>
            <a:xfrm>
              <a:off x="2556" y="1072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397" name="Text Box 53"/>
            <p:cNvSpPr txBox="1"/>
            <p:nvPr/>
          </p:nvSpPr>
          <p:spPr>
            <a:xfrm>
              <a:off x="2556" y="1301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398" name="Text Box 54"/>
            <p:cNvSpPr txBox="1"/>
            <p:nvPr/>
          </p:nvSpPr>
          <p:spPr>
            <a:xfrm>
              <a:off x="2219" y="1872"/>
              <a:ext cx="59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2</a:t>
              </a:r>
              <a:r>
                <a:rPr lang="en-US" altLang="zh-CN" sz="2400" b="1" i="1" baseline="30000" dirty="0">
                  <a:latin typeface="Times New Roman" panose="02020603050405020304" pitchFamily="18" charset="0"/>
                </a:rPr>
                <a:t>c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－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399" name="Line 55"/>
            <p:cNvSpPr/>
            <p:nvPr/>
          </p:nvSpPr>
          <p:spPr>
            <a:xfrm>
              <a:off x="3230" y="1511"/>
              <a:ext cx="0" cy="4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55400" name="Line 56"/>
            <p:cNvSpPr/>
            <p:nvPr/>
          </p:nvSpPr>
          <p:spPr>
            <a:xfrm>
              <a:off x="4072" y="1511"/>
              <a:ext cx="0" cy="419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55401" name="Text Box 57"/>
            <p:cNvSpPr txBox="1"/>
            <p:nvPr/>
          </p:nvSpPr>
          <p:spPr>
            <a:xfrm>
              <a:off x="3511" y="1595"/>
              <a:ext cx="425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3200" b="1" dirty="0">
                  <a:latin typeface="Times New Roman" panose="02020603050405020304" pitchFamily="18" charset="0"/>
                </a:rPr>
                <a:t>…</a:t>
              </a:r>
              <a:endParaRPr lang="en-US" altLang="zh-CN" sz="32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02" name="Rectangle 58"/>
            <p:cNvSpPr/>
            <p:nvPr/>
          </p:nvSpPr>
          <p:spPr>
            <a:xfrm>
              <a:off x="3745" y="2561"/>
              <a:ext cx="608" cy="4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b="1" dirty="0">
                  <a:latin typeface="Arial" panose="020B0604020202020204" pitchFamily="34" charset="0"/>
                </a:rPr>
                <a:t> 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403" name="Rectangle 59"/>
            <p:cNvSpPr/>
            <p:nvPr/>
          </p:nvSpPr>
          <p:spPr>
            <a:xfrm>
              <a:off x="2976" y="2736"/>
              <a:ext cx="844" cy="27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字块地址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404" name="Rectangle 60"/>
            <p:cNvSpPr/>
            <p:nvPr/>
          </p:nvSpPr>
          <p:spPr>
            <a:xfrm>
              <a:off x="2248" y="2561"/>
              <a:ext cx="1448" cy="41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r>
                <a:rPr lang="en-US" altLang="zh-CN" sz="2000" b="1" dirty="0">
                  <a:latin typeface="Arial" panose="020B0604020202020204" pitchFamily="34" charset="0"/>
                </a:rPr>
                <a:t>  </a:t>
              </a:r>
              <a:r>
                <a:rPr lang="zh-CN" altLang="en-US" sz="2000" b="1" dirty="0">
                  <a:latin typeface="Arial" panose="020B0604020202020204" pitchFamily="34" charset="0"/>
                </a:rPr>
                <a:t>主存字 </a:t>
              </a:r>
              <a:endParaRPr lang="zh-CN" altLang="en-US" sz="2000" b="1" dirty="0">
                <a:latin typeface="Arial" panose="020B0604020202020204" pitchFamily="34" charset="0"/>
              </a:endParaRPr>
            </a:p>
            <a:p>
              <a:r>
                <a:rPr lang="zh-CN" altLang="en-US" sz="2000" b="1" dirty="0">
                  <a:latin typeface="Arial" panose="020B0604020202020204" pitchFamily="34" charset="0"/>
                </a:rPr>
                <a:t>  块标记</a:t>
              </a:r>
              <a:endParaRPr lang="zh-CN" altLang="en-US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5405" name="Line 61"/>
            <p:cNvSpPr/>
            <p:nvPr/>
          </p:nvSpPr>
          <p:spPr>
            <a:xfrm>
              <a:off x="2248" y="2561"/>
              <a:ext cx="2105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06" name="Line 62"/>
            <p:cNvSpPr/>
            <p:nvPr/>
          </p:nvSpPr>
          <p:spPr>
            <a:xfrm>
              <a:off x="2248" y="2979"/>
              <a:ext cx="2105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07" name="Line 63"/>
            <p:cNvSpPr/>
            <p:nvPr/>
          </p:nvSpPr>
          <p:spPr>
            <a:xfrm>
              <a:off x="2248" y="2561"/>
              <a:ext cx="0" cy="41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08" name="Line 64"/>
            <p:cNvSpPr/>
            <p:nvPr/>
          </p:nvSpPr>
          <p:spPr>
            <a:xfrm>
              <a:off x="2996" y="2561"/>
              <a:ext cx="0" cy="4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09" name="Line 65"/>
            <p:cNvSpPr/>
            <p:nvPr/>
          </p:nvSpPr>
          <p:spPr>
            <a:xfrm>
              <a:off x="3745" y="2561"/>
              <a:ext cx="0" cy="41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10" name="Line 66"/>
            <p:cNvSpPr/>
            <p:nvPr/>
          </p:nvSpPr>
          <p:spPr>
            <a:xfrm>
              <a:off x="4353" y="2561"/>
              <a:ext cx="0" cy="418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11" name="Text Box 67"/>
            <p:cNvSpPr txBox="1"/>
            <p:nvPr/>
          </p:nvSpPr>
          <p:spPr>
            <a:xfrm>
              <a:off x="2488" y="3014"/>
              <a:ext cx="36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位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12" name="Text Box 68"/>
            <p:cNvSpPr txBox="1"/>
            <p:nvPr/>
          </p:nvSpPr>
          <p:spPr>
            <a:xfrm>
              <a:off x="3252" y="2987"/>
              <a:ext cx="39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位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13" name="Text Box 69"/>
            <p:cNvSpPr txBox="1"/>
            <p:nvPr/>
          </p:nvSpPr>
          <p:spPr>
            <a:xfrm>
              <a:off x="3885" y="2987"/>
              <a:ext cx="40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位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14" name="Text Box 70"/>
            <p:cNvSpPr txBox="1"/>
            <p:nvPr/>
          </p:nvSpPr>
          <p:spPr>
            <a:xfrm>
              <a:off x="1499" y="2642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15" name="AutoShape 71"/>
            <p:cNvSpPr/>
            <p:nvPr/>
          </p:nvSpPr>
          <p:spPr>
            <a:xfrm rot="-5400000">
              <a:off x="2559" y="2123"/>
              <a:ext cx="126" cy="748"/>
            </a:xfrm>
            <a:prstGeom prst="rightBrace">
              <a:avLst>
                <a:gd name="adj1" fmla="val 49003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416" name="AutoShape 72"/>
            <p:cNvSpPr/>
            <p:nvPr/>
          </p:nvSpPr>
          <p:spPr>
            <a:xfrm rot="-5400000">
              <a:off x="3290" y="2105"/>
              <a:ext cx="126" cy="749"/>
            </a:xfrm>
            <a:prstGeom prst="rightBrace">
              <a:avLst>
                <a:gd name="adj1" fmla="val 49069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417" name="Rectangle 73"/>
            <p:cNvSpPr/>
            <p:nvPr/>
          </p:nvSpPr>
          <p:spPr>
            <a:xfrm>
              <a:off x="423" y="1964"/>
              <a:ext cx="1170" cy="50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418" name="Text Box 74"/>
            <p:cNvSpPr txBox="1"/>
            <p:nvPr/>
          </p:nvSpPr>
          <p:spPr>
            <a:xfrm>
              <a:off x="470" y="1972"/>
              <a:ext cx="116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比较器（</a:t>
              </a:r>
              <a:r>
                <a:rPr lang="en-US" altLang="zh-CN" sz="2000" b="1" i="1" dirty="0">
                  <a:latin typeface="Times New Roman" panose="02020603050405020304" pitchFamily="18" charset="0"/>
                </a:rPr>
                <a:t>t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位）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19" name="Text Box 75"/>
            <p:cNvSpPr txBox="1"/>
            <p:nvPr/>
          </p:nvSpPr>
          <p:spPr>
            <a:xfrm>
              <a:off x="517" y="2215"/>
              <a:ext cx="22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=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20" name="Text Box 76"/>
            <p:cNvSpPr txBox="1"/>
            <p:nvPr/>
          </p:nvSpPr>
          <p:spPr>
            <a:xfrm>
              <a:off x="1190" y="2225"/>
              <a:ext cx="24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≠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21" name="Line 77"/>
            <p:cNvSpPr/>
            <p:nvPr/>
          </p:nvSpPr>
          <p:spPr>
            <a:xfrm>
              <a:off x="1359" y="2467"/>
              <a:ext cx="0" cy="7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55422" name="Text Box 78"/>
            <p:cNvSpPr txBox="1"/>
            <p:nvPr/>
          </p:nvSpPr>
          <p:spPr>
            <a:xfrm>
              <a:off x="985" y="3264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不命中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23" name="Text Box 79"/>
            <p:cNvSpPr txBox="1"/>
            <p:nvPr/>
          </p:nvSpPr>
          <p:spPr>
            <a:xfrm>
              <a:off x="180" y="2784"/>
              <a:ext cx="92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有效位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=1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24" name="AutoShape 80"/>
            <p:cNvSpPr/>
            <p:nvPr/>
          </p:nvSpPr>
          <p:spPr>
            <a:xfrm>
              <a:off x="96" y="2677"/>
              <a:ext cx="1029" cy="461"/>
            </a:xfrm>
            <a:prstGeom prst="diamond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425" name="Freeform 81"/>
            <p:cNvSpPr/>
            <p:nvPr/>
          </p:nvSpPr>
          <p:spPr>
            <a:xfrm>
              <a:off x="1122" y="2908"/>
              <a:ext cx="231" cy="0"/>
            </a:xfrm>
            <a:custGeom>
              <a:avLst/>
              <a:gdLst>
                <a:gd name="txL" fmla="*/ 0 w 237"/>
                <a:gd name="txT" fmla="*/ 0 h 1"/>
                <a:gd name="txR" fmla="*/ 237 w 237"/>
                <a:gd name="txB" fmla="*/ 0 h 1"/>
              </a:gdLst>
              <a:ahLst/>
              <a:cxnLst>
                <a:cxn ang="0">
                  <a:pos x="0" y="0"/>
                </a:cxn>
                <a:cxn ang="0">
                  <a:pos x="237" y="0"/>
                </a:cxn>
              </a:cxnLst>
              <a:rect l="txL" t="txT" r="txR" b="txB"/>
              <a:pathLst>
                <a:path w="237" h="1">
                  <a:moveTo>
                    <a:pt x="0" y="0"/>
                  </a:moveTo>
                  <a:lnTo>
                    <a:pt x="237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426" name="Line 82"/>
            <p:cNvSpPr/>
            <p:nvPr/>
          </p:nvSpPr>
          <p:spPr>
            <a:xfrm>
              <a:off x="611" y="2467"/>
              <a:ext cx="0" cy="21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55427" name="AutoShape 83"/>
            <p:cNvSpPr/>
            <p:nvPr/>
          </p:nvSpPr>
          <p:spPr>
            <a:xfrm rot="5400000">
              <a:off x="2954" y="1341"/>
              <a:ext cx="84" cy="468"/>
            </a:xfrm>
            <a:prstGeom prst="rightBrace">
              <a:avLst>
                <a:gd name="adj1" fmla="val 45990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428" name="Freeform 84"/>
            <p:cNvSpPr/>
            <p:nvPr/>
          </p:nvSpPr>
          <p:spPr>
            <a:xfrm>
              <a:off x="704" y="1595"/>
              <a:ext cx="2292" cy="377"/>
            </a:xfrm>
            <a:custGeom>
              <a:avLst/>
              <a:gdLst>
                <a:gd name="txL" fmla="*/ 0 w 2352"/>
                <a:gd name="txT" fmla="*/ 0 h 432"/>
                <a:gd name="txR" fmla="*/ 2352 w 2352"/>
                <a:gd name="txB" fmla="*/ 432 h 432"/>
              </a:gdLst>
              <a:ahLst/>
              <a:cxnLst>
                <a:cxn ang="0">
                  <a:pos x="2352" y="0"/>
                </a:cxn>
                <a:cxn ang="0">
                  <a:pos x="2352" y="144"/>
                </a:cxn>
                <a:cxn ang="0">
                  <a:pos x="0" y="144"/>
                </a:cxn>
                <a:cxn ang="0">
                  <a:pos x="0" y="432"/>
                </a:cxn>
              </a:cxnLst>
              <a:rect l="txL" t="txT" r="txR" b="txB"/>
              <a:pathLst>
                <a:path w="2352" h="432">
                  <a:moveTo>
                    <a:pt x="2352" y="0"/>
                  </a:moveTo>
                  <a:lnTo>
                    <a:pt x="2352" y="144"/>
                  </a:lnTo>
                  <a:lnTo>
                    <a:pt x="0" y="144"/>
                  </a:lnTo>
                  <a:lnTo>
                    <a:pt x="0" y="43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429" name="Freeform 85"/>
            <p:cNvSpPr/>
            <p:nvPr/>
          </p:nvSpPr>
          <p:spPr>
            <a:xfrm>
              <a:off x="1306" y="1820"/>
              <a:ext cx="1316" cy="614"/>
            </a:xfrm>
            <a:custGeom>
              <a:avLst/>
              <a:gdLst>
                <a:gd name="txL" fmla="*/ 0 w 1350"/>
                <a:gd name="txT" fmla="*/ 0 h 702"/>
                <a:gd name="txR" fmla="*/ 1350 w 1350"/>
                <a:gd name="txB" fmla="*/ 702 h 702"/>
              </a:gdLst>
              <a:ahLst/>
              <a:cxnLst>
                <a:cxn ang="0">
                  <a:pos x="0" y="159"/>
                </a:cxn>
                <a:cxn ang="0">
                  <a:pos x="0" y="0"/>
                </a:cxn>
                <a:cxn ang="0">
                  <a:pos x="483" y="0"/>
                </a:cxn>
                <a:cxn ang="0">
                  <a:pos x="486" y="606"/>
                </a:cxn>
                <a:cxn ang="0">
                  <a:pos x="1350" y="606"/>
                </a:cxn>
                <a:cxn ang="0">
                  <a:pos x="1350" y="702"/>
                </a:cxn>
              </a:cxnLst>
              <a:rect l="txL" t="txT" r="txR" b="txB"/>
              <a:pathLst>
                <a:path w="1350" h="702">
                  <a:moveTo>
                    <a:pt x="0" y="159"/>
                  </a:moveTo>
                  <a:lnTo>
                    <a:pt x="0" y="0"/>
                  </a:lnTo>
                  <a:lnTo>
                    <a:pt x="483" y="0"/>
                  </a:lnTo>
                  <a:lnTo>
                    <a:pt x="486" y="606"/>
                  </a:lnTo>
                  <a:lnTo>
                    <a:pt x="1350" y="606"/>
                  </a:lnTo>
                  <a:lnTo>
                    <a:pt x="1350" y="70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430" name="Freeform 86"/>
            <p:cNvSpPr/>
            <p:nvPr/>
          </p:nvSpPr>
          <p:spPr>
            <a:xfrm>
              <a:off x="1967" y="1427"/>
              <a:ext cx="1404" cy="1007"/>
            </a:xfrm>
            <a:custGeom>
              <a:avLst/>
              <a:gdLst>
                <a:gd name="txL" fmla="*/ 0 w 1440"/>
                <a:gd name="txT" fmla="*/ 0 h 1152"/>
                <a:gd name="txR" fmla="*/ 1440 w 1440"/>
                <a:gd name="txB" fmla="*/ 1152 h 1152"/>
              </a:gdLst>
              <a:ahLst/>
              <a:cxnLst>
                <a:cxn ang="0">
                  <a:pos x="624" y="0"/>
                </a:cxn>
                <a:cxn ang="0">
                  <a:pos x="0" y="0"/>
                </a:cxn>
                <a:cxn ang="0">
                  <a:pos x="0" y="960"/>
                </a:cxn>
                <a:cxn ang="0">
                  <a:pos x="1440" y="960"/>
                </a:cxn>
                <a:cxn ang="0">
                  <a:pos x="1440" y="1152"/>
                </a:cxn>
              </a:cxnLst>
              <a:rect l="txL" t="txT" r="txR" b="txB"/>
              <a:pathLst>
                <a:path w="1440" h="1152">
                  <a:moveTo>
                    <a:pt x="624" y="0"/>
                  </a:moveTo>
                  <a:lnTo>
                    <a:pt x="0" y="0"/>
                  </a:lnTo>
                  <a:lnTo>
                    <a:pt x="0" y="960"/>
                  </a:lnTo>
                  <a:lnTo>
                    <a:pt x="1440" y="960"/>
                  </a:lnTo>
                  <a:lnTo>
                    <a:pt x="1440" y="1152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stealth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431" name="Text Box 87"/>
            <p:cNvSpPr txBox="1"/>
            <p:nvPr/>
          </p:nvSpPr>
          <p:spPr>
            <a:xfrm>
              <a:off x="2306" y="1216"/>
              <a:ext cx="22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*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32" name="AutoShape 88"/>
            <p:cNvSpPr/>
            <p:nvPr/>
          </p:nvSpPr>
          <p:spPr>
            <a:xfrm rot="5400000">
              <a:off x="2895" y="2465"/>
              <a:ext cx="168" cy="1497"/>
            </a:xfrm>
            <a:prstGeom prst="rightBrace">
              <a:avLst>
                <a:gd name="adj1" fmla="val 73554"/>
                <a:gd name="adj2" fmla="val 50000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5433" name="Text Box 89"/>
            <p:cNvSpPr txBox="1"/>
            <p:nvPr/>
          </p:nvSpPr>
          <p:spPr>
            <a:xfrm>
              <a:off x="2856" y="3306"/>
              <a:ext cx="40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i="1" dirty="0">
                  <a:latin typeface="Times New Roman" panose="02020603050405020304" pitchFamily="18" charset="0"/>
                </a:rPr>
                <a:t>m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位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34" name="Line 90"/>
            <p:cNvSpPr/>
            <p:nvPr/>
          </p:nvSpPr>
          <p:spPr>
            <a:xfrm>
              <a:off x="4072" y="2056"/>
              <a:ext cx="655" cy="109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35" name="Line 91"/>
            <p:cNvSpPr/>
            <p:nvPr/>
          </p:nvSpPr>
          <p:spPr>
            <a:xfrm flipV="1">
              <a:off x="4072" y="1050"/>
              <a:ext cx="655" cy="12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36" name="Line 92"/>
            <p:cNvSpPr/>
            <p:nvPr/>
          </p:nvSpPr>
          <p:spPr>
            <a:xfrm flipV="1">
              <a:off x="4072" y="1301"/>
              <a:ext cx="655" cy="12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37" name="Line 93"/>
            <p:cNvSpPr/>
            <p:nvPr/>
          </p:nvSpPr>
          <p:spPr>
            <a:xfrm>
              <a:off x="4072" y="1175"/>
              <a:ext cx="655" cy="7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38" name="Line 94"/>
            <p:cNvSpPr/>
            <p:nvPr/>
          </p:nvSpPr>
          <p:spPr>
            <a:xfrm>
              <a:off x="4072" y="1427"/>
              <a:ext cx="655" cy="755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39" name="Line 95"/>
            <p:cNvSpPr/>
            <p:nvPr/>
          </p:nvSpPr>
          <p:spPr>
            <a:xfrm>
              <a:off x="4072" y="1175"/>
              <a:ext cx="655" cy="159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40" name="Line 96"/>
            <p:cNvSpPr/>
            <p:nvPr/>
          </p:nvSpPr>
          <p:spPr>
            <a:xfrm flipV="1">
              <a:off x="4072" y="1679"/>
              <a:ext cx="655" cy="37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41" name="Line 97"/>
            <p:cNvSpPr/>
            <p:nvPr/>
          </p:nvSpPr>
          <p:spPr>
            <a:xfrm>
              <a:off x="4072" y="2056"/>
              <a:ext cx="655" cy="54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442" name="Text Box 98"/>
            <p:cNvSpPr txBox="1"/>
            <p:nvPr/>
          </p:nvSpPr>
          <p:spPr>
            <a:xfrm>
              <a:off x="3057" y="2561"/>
              <a:ext cx="58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 Cache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43" name="Text Box 99"/>
            <p:cNvSpPr txBox="1"/>
            <p:nvPr/>
          </p:nvSpPr>
          <p:spPr>
            <a:xfrm>
              <a:off x="3744" y="2736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内地址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44" name="Text Box 100"/>
            <p:cNvSpPr txBox="1"/>
            <p:nvPr/>
          </p:nvSpPr>
          <p:spPr>
            <a:xfrm>
              <a:off x="1056" y="2640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否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45" name="Line 101"/>
            <p:cNvSpPr/>
            <p:nvPr/>
          </p:nvSpPr>
          <p:spPr>
            <a:xfrm>
              <a:off x="624" y="3120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55446" name="Text Box 102"/>
            <p:cNvSpPr txBox="1"/>
            <p:nvPr/>
          </p:nvSpPr>
          <p:spPr>
            <a:xfrm>
              <a:off x="326" y="3118"/>
              <a:ext cx="2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5447" name="Text Box 103"/>
            <p:cNvSpPr txBox="1"/>
            <p:nvPr/>
          </p:nvSpPr>
          <p:spPr>
            <a:xfrm>
              <a:off x="422" y="3358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命中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5331" name="Text Box 104"/>
          <p:cNvSpPr txBox="1"/>
          <p:nvPr/>
        </p:nvSpPr>
        <p:spPr>
          <a:xfrm>
            <a:off x="1752600" y="228600"/>
            <a:ext cx="591693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二、</a:t>
            </a:r>
            <a:r>
              <a:rPr lang="en-US" altLang="zh-CN" sz="3600" b="1" dirty="0">
                <a:latin typeface="Times New Roman" panose="02020603050405020304" pitchFamily="18" charset="0"/>
              </a:rPr>
              <a:t>Cache –</a:t>
            </a:r>
            <a:r>
              <a:rPr lang="en-US" altLang="zh-CN" sz="900" b="1" dirty="0">
                <a:latin typeface="Times New Roman" panose="02020603050405020304" pitchFamily="18" charset="0"/>
              </a:rPr>
              <a:t>  </a:t>
            </a:r>
            <a:r>
              <a:rPr lang="zh-CN" altLang="en-US" sz="3600" b="1" dirty="0">
                <a:latin typeface="Times New Roman" panose="02020603050405020304" pitchFamily="18" charset="0"/>
              </a:rPr>
              <a:t>主存的地址映射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55332" name="Text Box 105"/>
          <p:cNvSpPr txBox="1"/>
          <p:nvPr/>
        </p:nvSpPr>
        <p:spPr>
          <a:xfrm>
            <a:off x="2133600" y="868363"/>
            <a:ext cx="2316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 </a:t>
            </a:r>
            <a:r>
              <a:rPr lang="zh-CN" altLang="en-US" sz="3200" b="1" dirty="0">
                <a:latin typeface="Times New Roman" panose="02020603050405020304" pitchFamily="18" charset="0"/>
              </a:rPr>
              <a:t>直接映射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55333" name="Text Box 106"/>
          <p:cNvSpPr txBox="1"/>
          <p:nvPr/>
        </p:nvSpPr>
        <p:spPr>
          <a:xfrm>
            <a:off x="3363913" y="5689600"/>
            <a:ext cx="65420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每个缓存块 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可以和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若干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个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主存块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对应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55334" name="Text Box 107"/>
          <p:cNvSpPr txBox="1"/>
          <p:nvPr/>
        </p:nvSpPr>
        <p:spPr>
          <a:xfrm>
            <a:off x="3379788" y="6232525"/>
            <a:ext cx="60690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每个主存块 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只能和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一 </a:t>
            </a:r>
            <a:r>
              <a:rPr lang="zh-CN" altLang="en-US" sz="2400" b="1" dirty="0">
                <a:latin typeface="Times New Roman" panose="02020603050405020304" pitchFamily="18" charset="0"/>
              </a:rPr>
              <a:t>个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缓存块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对应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55335" name="Text Box 108"/>
          <p:cNvSpPr txBox="1"/>
          <p:nvPr/>
        </p:nvSpPr>
        <p:spPr>
          <a:xfrm>
            <a:off x="2667000" y="1819275"/>
            <a:ext cx="175260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mod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endParaRPr lang="en-US" altLang="zh-CN" sz="2800" b="1" i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8877" name="Rectangle 10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5337" name="Group 110"/>
          <p:cNvGrpSpPr/>
          <p:nvPr/>
        </p:nvGrpSpPr>
        <p:grpSpPr>
          <a:xfrm>
            <a:off x="6651625" y="1533525"/>
            <a:ext cx="3787775" cy="3082925"/>
            <a:chOff x="3230" y="966"/>
            <a:chExt cx="2386" cy="1942"/>
          </a:xfrm>
        </p:grpSpPr>
        <p:sp>
          <p:nvSpPr>
            <p:cNvPr id="355340" name="Rectangle 111"/>
            <p:cNvSpPr/>
            <p:nvPr/>
          </p:nvSpPr>
          <p:spPr>
            <a:xfrm>
              <a:off x="4727" y="2690"/>
              <a:ext cx="889" cy="21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bg2"/>
                  </a:solidFill>
                  <a:latin typeface="Arial" panose="020B0604020202020204" pitchFamily="34" charset="0"/>
                </a:rPr>
                <a:t>   </a:t>
              </a:r>
              <a:r>
                <a:rPr lang="zh-CN" altLang="en-US" sz="2000" b="1" dirty="0">
                  <a:solidFill>
                    <a:schemeClr val="bg2"/>
                  </a:solidFill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solidFill>
                    <a:schemeClr val="bg2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solidFill>
                    <a:schemeClr val="bg2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sz="2000" b="1" baseline="30000" dirty="0">
                  <a:solidFill>
                    <a:schemeClr val="bg2"/>
                  </a:solidFill>
                  <a:latin typeface="Arial" panose="020B0604020202020204" pitchFamily="34" charset="0"/>
                </a:rPr>
                <a:t>+1</a:t>
              </a:r>
              <a:endParaRPr lang="en-US" altLang="zh-CN" sz="2000" b="1" baseline="30000" dirty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5341" name="Rectangle 112"/>
            <p:cNvSpPr/>
            <p:nvPr/>
          </p:nvSpPr>
          <p:spPr>
            <a:xfrm>
              <a:off x="4727" y="1819"/>
              <a:ext cx="889" cy="21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dirty="0">
                  <a:solidFill>
                    <a:schemeClr val="bg2"/>
                  </a:solidFill>
                  <a:latin typeface="Arial" panose="020B0604020202020204" pitchFamily="34" charset="0"/>
                </a:rPr>
                <a:t>     </a:t>
              </a:r>
              <a:r>
                <a:rPr lang="zh-CN" altLang="en-US" sz="2000" b="1" dirty="0">
                  <a:solidFill>
                    <a:schemeClr val="bg2"/>
                  </a:solidFill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solidFill>
                    <a:schemeClr val="bg2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solidFill>
                    <a:schemeClr val="bg2"/>
                  </a:solidFill>
                  <a:latin typeface="Arial" panose="020B0604020202020204" pitchFamily="34" charset="0"/>
                </a:rPr>
                <a:t>c</a:t>
              </a:r>
              <a:endParaRPr lang="en-US" altLang="zh-CN" sz="2000" b="1" i="1" baseline="30000" dirty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5342" name="Rectangle 113"/>
            <p:cNvSpPr/>
            <p:nvPr/>
          </p:nvSpPr>
          <p:spPr>
            <a:xfrm>
              <a:off x="4727" y="966"/>
              <a:ext cx="889" cy="217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Arial" panose="020B0604020202020204" pitchFamily="34" charset="0"/>
                </a:rPr>
                <a:t>    </a:t>
              </a:r>
              <a:r>
                <a:rPr lang="zh-CN" altLang="en-US" sz="2000" b="1" dirty="0">
                  <a:solidFill>
                    <a:schemeClr val="bg2"/>
                  </a:solidFill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solidFill>
                    <a:schemeClr val="bg2"/>
                  </a:solidFill>
                  <a:latin typeface="Arial" panose="020B0604020202020204" pitchFamily="34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5343" name="Line 114"/>
            <p:cNvSpPr/>
            <p:nvPr/>
          </p:nvSpPr>
          <p:spPr>
            <a:xfrm flipV="1">
              <a:off x="4072" y="1050"/>
              <a:ext cx="655" cy="125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44" name="Line 115"/>
            <p:cNvSpPr/>
            <p:nvPr/>
          </p:nvSpPr>
          <p:spPr>
            <a:xfrm>
              <a:off x="4072" y="1175"/>
              <a:ext cx="655" cy="755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45" name="Line 116"/>
            <p:cNvSpPr/>
            <p:nvPr/>
          </p:nvSpPr>
          <p:spPr>
            <a:xfrm>
              <a:off x="4072" y="1175"/>
              <a:ext cx="655" cy="159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5346" name="Rectangle 117"/>
            <p:cNvSpPr/>
            <p:nvPr/>
          </p:nvSpPr>
          <p:spPr>
            <a:xfrm>
              <a:off x="3230" y="1078"/>
              <a:ext cx="842" cy="21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>
                <a:spcBef>
                  <a:spcPct val="20000"/>
                </a:spcBef>
              </a:pPr>
              <a:r>
                <a:rPr lang="en-US" altLang="zh-CN" sz="2000" b="1" dirty="0">
                  <a:solidFill>
                    <a:schemeClr val="bg2"/>
                  </a:solidFill>
                  <a:latin typeface="Arial" panose="020B0604020202020204" pitchFamily="34" charset="0"/>
                </a:rPr>
                <a:t>    </a:t>
              </a:r>
              <a:r>
                <a:rPr lang="zh-CN" altLang="en-US" sz="2000" b="1" dirty="0">
                  <a:solidFill>
                    <a:schemeClr val="bg2"/>
                  </a:solidFill>
                  <a:latin typeface="Arial" panose="020B0604020202020204" pitchFamily="34" charset="0"/>
                </a:rPr>
                <a:t>字块 </a:t>
              </a:r>
              <a:r>
                <a:rPr lang="en-US" altLang="zh-CN" sz="2000" b="1" dirty="0">
                  <a:solidFill>
                    <a:schemeClr val="bg2"/>
                  </a:solidFill>
                  <a:latin typeface="Arial" panose="020B0604020202020204" pitchFamily="34" charset="0"/>
                </a:rPr>
                <a:t>0</a:t>
              </a:r>
              <a:endParaRPr lang="en-US" altLang="zh-CN" sz="2000" b="1" dirty="0">
                <a:solidFill>
                  <a:schemeClr val="bg2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355338" name="AutoShape 11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5339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6354" name="Text Box 2"/>
          <p:cNvSpPr txBox="1"/>
          <p:nvPr/>
        </p:nvSpPr>
        <p:spPr>
          <a:xfrm>
            <a:off x="2057400" y="330200"/>
            <a:ext cx="389413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全相联映射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56355" name="Text Box 3"/>
          <p:cNvSpPr txBox="1"/>
          <p:nvPr/>
        </p:nvSpPr>
        <p:spPr>
          <a:xfrm>
            <a:off x="2833688" y="6016625"/>
            <a:ext cx="7377112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主存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中的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任一块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可以映射到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缓存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中的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任一块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56356" name="Group 4"/>
          <p:cNvGrpSpPr/>
          <p:nvPr/>
        </p:nvGrpSpPr>
        <p:grpSpPr>
          <a:xfrm>
            <a:off x="2679700" y="1143000"/>
            <a:ext cx="5854700" cy="4686300"/>
            <a:chOff x="728" y="720"/>
            <a:chExt cx="3688" cy="2952"/>
          </a:xfrm>
        </p:grpSpPr>
        <p:sp>
          <p:nvSpPr>
            <p:cNvPr id="356381" name="Rectangle 5"/>
            <p:cNvSpPr/>
            <p:nvPr/>
          </p:nvSpPr>
          <p:spPr>
            <a:xfrm>
              <a:off x="3552" y="2876"/>
              <a:ext cx="864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 tIns="0" bIns="0" anchor="ctr" anchorCtr="1"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latin typeface="Arial" panose="020B0604020202020204" pitchFamily="34" charset="0"/>
                </a:rPr>
                <a:t>m</a:t>
              </a:r>
              <a:r>
                <a:rPr lang="zh-CN" altLang="en-US" sz="2000" b="1" dirty="0">
                  <a:latin typeface="Arial" panose="020B0604020202020204" pitchFamily="34" charset="0"/>
                </a:rPr>
                <a:t>－</a:t>
              </a: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6382" name="Rectangle 6"/>
            <p:cNvSpPr/>
            <p:nvPr/>
          </p:nvSpPr>
          <p:spPr>
            <a:xfrm>
              <a:off x="3552" y="2521"/>
              <a:ext cx="864" cy="355"/>
            </a:xfrm>
            <a:prstGeom prst="rect">
              <a:avLst/>
            </a:prstGeom>
            <a:noFill/>
            <a:ln w="9525">
              <a:noFill/>
            </a:ln>
          </p:spPr>
          <p:txBody>
            <a:bodyPr tIns="0" bIns="0" anchor="ctr" anchorCtr="1"/>
            <a:p>
              <a:pPr>
                <a:spcBef>
                  <a:spcPct val="20000"/>
                </a:spcBef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56383" name="Rectangle 7"/>
            <p:cNvSpPr/>
            <p:nvPr/>
          </p:nvSpPr>
          <p:spPr>
            <a:xfrm>
              <a:off x="3552" y="2164"/>
              <a:ext cx="864" cy="357"/>
            </a:xfrm>
            <a:prstGeom prst="rect">
              <a:avLst/>
            </a:prstGeom>
            <a:noFill/>
            <a:ln w="9525">
              <a:noFill/>
            </a:ln>
          </p:spPr>
          <p:txBody>
            <a:bodyPr tIns="0" bIns="0" anchor="ctr" anchorCtr="1"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latin typeface="Arial" panose="020B0604020202020204" pitchFamily="34" charset="0"/>
                </a:rPr>
                <a:t>c</a:t>
              </a:r>
              <a:r>
                <a:rPr lang="zh-CN" altLang="en-US" sz="2000" b="1" dirty="0">
                  <a:latin typeface="Arial" panose="020B0604020202020204" pitchFamily="34" charset="0"/>
                </a:rPr>
                <a:t>－</a:t>
              </a: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6384" name="Rectangle 8"/>
            <p:cNvSpPr/>
            <p:nvPr/>
          </p:nvSpPr>
          <p:spPr>
            <a:xfrm>
              <a:off x="3552" y="1806"/>
              <a:ext cx="864" cy="358"/>
            </a:xfrm>
            <a:prstGeom prst="rect">
              <a:avLst/>
            </a:prstGeom>
            <a:noFill/>
            <a:ln w="9525">
              <a:noFill/>
            </a:ln>
          </p:spPr>
          <p:txBody>
            <a:bodyPr tIns="0" bIns="0" anchor="ctr" anchorCtr="1"/>
            <a:p>
              <a:pPr>
                <a:spcBef>
                  <a:spcPct val="20000"/>
                </a:spcBef>
              </a:pPr>
              <a:endParaRPr lang="zh-CN" altLang="zh-CN" sz="2000" dirty="0">
                <a:latin typeface="Arial" panose="020B0604020202020204" pitchFamily="34" charset="0"/>
              </a:endParaRPr>
            </a:p>
          </p:txBody>
        </p:sp>
        <p:sp>
          <p:nvSpPr>
            <p:cNvPr id="356385" name="Rectangle 9"/>
            <p:cNvSpPr/>
            <p:nvPr/>
          </p:nvSpPr>
          <p:spPr>
            <a:xfrm>
              <a:off x="3552" y="1451"/>
              <a:ext cx="864" cy="355"/>
            </a:xfrm>
            <a:prstGeom prst="rect">
              <a:avLst/>
            </a:prstGeom>
            <a:noFill/>
            <a:ln w="9525">
              <a:noFill/>
            </a:ln>
          </p:spPr>
          <p:txBody>
            <a:bodyPr tIns="0" bIns="0" anchor="ctr" anchorCtr="1"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6386" name="Rectangle 10"/>
            <p:cNvSpPr/>
            <p:nvPr/>
          </p:nvSpPr>
          <p:spPr>
            <a:xfrm>
              <a:off x="3552" y="1094"/>
              <a:ext cx="864" cy="357"/>
            </a:xfrm>
            <a:prstGeom prst="rect">
              <a:avLst/>
            </a:prstGeom>
            <a:noFill/>
            <a:ln w="9525">
              <a:noFill/>
            </a:ln>
          </p:spPr>
          <p:txBody>
            <a:bodyPr tIns="0" bIns="0" anchor="ctr" anchorCtr="1"/>
            <a:p>
              <a:pPr>
                <a:spcBef>
                  <a:spcPct val="20000"/>
                </a:spcBef>
              </a:pPr>
              <a:r>
                <a:rPr lang="en-US" altLang="zh-CN" sz="2000" dirty="0">
                  <a:latin typeface="Arial" panose="020B0604020202020204" pitchFamily="34" charset="0"/>
                </a:rPr>
                <a:t> </a:t>
              </a: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0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6387" name="Line 11"/>
            <p:cNvSpPr/>
            <p:nvPr/>
          </p:nvSpPr>
          <p:spPr>
            <a:xfrm>
              <a:off x="3552" y="1094"/>
              <a:ext cx="86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88" name="Line 12"/>
            <p:cNvSpPr/>
            <p:nvPr/>
          </p:nvSpPr>
          <p:spPr>
            <a:xfrm>
              <a:off x="3552" y="1451"/>
              <a:ext cx="8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89" name="Line 13"/>
            <p:cNvSpPr/>
            <p:nvPr/>
          </p:nvSpPr>
          <p:spPr>
            <a:xfrm>
              <a:off x="3552" y="1806"/>
              <a:ext cx="8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90" name="Line 14"/>
            <p:cNvSpPr/>
            <p:nvPr/>
          </p:nvSpPr>
          <p:spPr>
            <a:xfrm>
              <a:off x="3552" y="2164"/>
              <a:ext cx="8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91" name="Line 15"/>
            <p:cNvSpPr/>
            <p:nvPr/>
          </p:nvSpPr>
          <p:spPr>
            <a:xfrm>
              <a:off x="3552" y="2521"/>
              <a:ext cx="8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92" name="Line 16"/>
            <p:cNvSpPr/>
            <p:nvPr/>
          </p:nvSpPr>
          <p:spPr>
            <a:xfrm>
              <a:off x="3552" y="2876"/>
              <a:ext cx="8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93" name="Line 17"/>
            <p:cNvSpPr/>
            <p:nvPr/>
          </p:nvSpPr>
          <p:spPr>
            <a:xfrm>
              <a:off x="3552" y="3190"/>
              <a:ext cx="864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94" name="Line 18"/>
            <p:cNvSpPr/>
            <p:nvPr/>
          </p:nvSpPr>
          <p:spPr>
            <a:xfrm>
              <a:off x="3552" y="2164"/>
              <a:ext cx="0" cy="35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95" name="Line 19"/>
            <p:cNvSpPr/>
            <p:nvPr/>
          </p:nvSpPr>
          <p:spPr>
            <a:xfrm>
              <a:off x="3552" y="1094"/>
              <a:ext cx="0" cy="107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96" name="Line 20"/>
            <p:cNvSpPr/>
            <p:nvPr/>
          </p:nvSpPr>
          <p:spPr>
            <a:xfrm>
              <a:off x="3552" y="2521"/>
              <a:ext cx="0" cy="66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97" name="Line 21"/>
            <p:cNvSpPr/>
            <p:nvPr/>
          </p:nvSpPr>
          <p:spPr>
            <a:xfrm>
              <a:off x="4416" y="2164"/>
              <a:ext cx="0" cy="35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98" name="Line 22"/>
            <p:cNvSpPr/>
            <p:nvPr/>
          </p:nvSpPr>
          <p:spPr>
            <a:xfrm>
              <a:off x="4416" y="1094"/>
              <a:ext cx="0" cy="107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399" name="Line 23"/>
            <p:cNvSpPr/>
            <p:nvPr/>
          </p:nvSpPr>
          <p:spPr>
            <a:xfrm>
              <a:off x="4416" y="2521"/>
              <a:ext cx="0" cy="669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00" name="Text Box 24"/>
            <p:cNvSpPr txBox="1"/>
            <p:nvPr/>
          </p:nvSpPr>
          <p:spPr>
            <a:xfrm>
              <a:off x="3839" y="1894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01" name="Text Box 25"/>
            <p:cNvSpPr txBox="1"/>
            <p:nvPr/>
          </p:nvSpPr>
          <p:spPr>
            <a:xfrm>
              <a:off x="3819" y="2566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02" name="Rectangle 26"/>
            <p:cNvSpPr/>
            <p:nvPr/>
          </p:nvSpPr>
          <p:spPr>
            <a:xfrm>
              <a:off x="1488" y="2337"/>
              <a:ext cx="1056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2</a:t>
              </a:r>
              <a:r>
                <a:rPr lang="en-US" altLang="zh-CN" sz="2000" b="1" i="1" baseline="30000" dirty="0">
                  <a:latin typeface="Arial" panose="020B0604020202020204" pitchFamily="34" charset="0"/>
                </a:rPr>
                <a:t>c</a:t>
              </a:r>
              <a:r>
                <a:rPr lang="zh-CN" altLang="en-US" sz="2000" b="1" dirty="0">
                  <a:latin typeface="Arial" panose="020B0604020202020204" pitchFamily="34" charset="0"/>
                </a:rPr>
                <a:t>－</a:t>
              </a: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000" b="1" dirty="0">
                <a:latin typeface="Arial" panose="020B0604020202020204" pitchFamily="34" charset="0"/>
              </a:endParaRPr>
            </a:p>
          </p:txBody>
        </p:sp>
        <p:sp>
          <p:nvSpPr>
            <p:cNvPr id="356403" name="Rectangle 27"/>
            <p:cNvSpPr/>
            <p:nvPr/>
          </p:nvSpPr>
          <p:spPr>
            <a:xfrm>
              <a:off x="1488" y="1964"/>
              <a:ext cx="1056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endParaRPr lang="zh-CN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356404" name="Rectangle 28"/>
            <p:cNvSpPr/>
            <p:nvPr/>
          </p:nvSpPr>
          <p:spPr>
            <a:xfrm>
              <a:off x="1488" y="1591"/>
              <a:ext cx="1056" cy="3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1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356405" name="Rectangle 29"/>
            <p:cNvSpPr/>
            <p:nvPr/>
          </p:nvSpPr>
          <p:spPr>
            <a:xfrm>
              <a:off x="1488" y="1270"/>
              <a:ext cx="1056" cy="32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1"/>
            <a:p>
              <a:pPr>
                <a:spcBef>
                  <a:spcPct val="20000"/>
                </a:spcBef>
              </a:pPr>
              <a:r>
                <a:rPr lang="zh-CN" altLang="en-US" sz="2000" b="1" dirty="0">
                  <a:latin typeface="Arial" panose="020B0604020202020204" pitchFamily="34" charset="0"/>
                </a:rPr>
                <a:t>字块</a:t>
              </a:r>
              <a:r>
                <a:rPr lang="en-US" altLang="zh-CN" sz="2000" b="1" dirty="0">
                  <a:latin typeface="Arial" panose="020B0604020202020204" pitchFamily="34" charset="0"/>
                </a:rPr>
                <a:t>0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356406" name="Line 30"/>
            <p:cNvSpPr/>
            <p:nvPr/>
          </p:nvSpPr>
          <p:spPr>
            <a:xfrm>
              <a:off x="1488" y="1270"/>
              <a:ext cx="10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07" name="Line 31"/>
            <p:cNvSpPr/>
            <p:nvPr/>
          </p:nvSpPr>
          <p:spPr>
            <a:xfrm>
              <a:off x="1488" y="1591"/>
              <a:ext cx="10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08" name="Line 32"/>
            <p:cNvSpPr/>
            <p:nvPr/>
          </p:nvSpPr>
          <p:spPr>
            <a:xfrm>
              <a:off x="1488" y="1964"/>
              <a:ext cx="10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09" name="Line 33"/>
            <p:cNvSpPr/>
            <p:nvPr/>
          </p:nvSpPr>
          <p:spPr>
            <a:xfrm>
              <a:off x="1488" y="2337"/>
              <a:ext cx="10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10" name="Line 34"/>
            <p:cNvSpPr/>
            <p:nvPr/>
          </p:nvSpPr>
          <p:spPr>
            <a:xfrm>
              <a:off x="1488" y="2710"/>
              <a:ext cx="1056" cy="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11" name="Line 35"/>
            <p:cNvSpPr/>
            <p:nvPr/>
          </p:nvSpPr>
          <p:spPr>
            <a:xfrm>
              <a:off x="1488" y="1270"/>
              <a:ext cx="0" cy="14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12" name="Line 36"/>
            <p:cNvSpPr/>
            <p:nvPr/>
          </p:nvSpPr>
          <p:spPr>
            <a:xfrm>
              <a:off x="2544" y="1270"/>
              <a:ext cx="0" cy="1440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13" name="Text Box 37"/>
            <p:cNvSpPr txBox="1"/>
            <p:nvPr/>
          </p:nvSpPr>
          <p:spPr>
            <a:xfrm>
              <a:off x="1871" y="2038"/>
              <a:ext cx="309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…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14" name="Line 38"/>
            <p:cNvSpPr/>
            <p:nvPr/>
          </p:nvSpPr>
          <p:spPr>
            <a:xfrm flipV="1">
              <a:off x="2544" y="1270"/>
              <a:ext cx="1008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15" name="Line 39"/>
            <p:cNvSpPr/>
            <p:nvPr/>
          </p:nvSpPr>
          <p:spPr>
            <a:xfrm>
              <a:off x="2544" y="1414"/>
              <a:ext cx="1008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16" name="Line 40"/>
            <p:cNvSpPr/>
            <p:nvPr/>
          </p:nvSpPr>
          <p:spPr>
            <a:xfrm>
              <a:off x="2544" y="1414"/>
              <a:ext cx="1008" cy="91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17" name="Line 41"/>
            <p:cNvSpPr/>
            <p:nvPr/>
          </p:nvSpPr>
          <p:spPr>
            <a:xfrm>
              <a:off x="2544" y="1414"/>
              <a:ext cx="1008" cy="163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18" name="Line 42"/>
            <p:cNvSpPr/>
            <p:nvPr/>
          </p:nvSpPr>
          <p:spPr>
            <a:xfrm flipV="1">
              <a:off x="2544" y="1270"/>
              <a:ext cx="1008" cy="5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19" name="Line 43"/>
            <p:cNvSpPr/>
            <p:nvPr/>
          </p:nvSpPr>
          <p:spPr>
            <a:xfrm flipV="1">
              <a:off x="2544" y="1654"/>
              <a:ext cx="1008" cy="14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20" name="Line 44"/>
            <p:cNvSpPr/>
            <p:nvPr/>
          </p:nvSpPr>
          <p:spPr>
            <a:xfrm>
              <a:off x="2544" y="1798"/>
              <a:ext cx="1008" cy="52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21" name="Line 45"/>
            <p:cNvSpPr/>
            <p:nvPr/>
          </p:nvSpPr>
          <p:spPr>
            <a:xfrm>
              <a:off x="2544" y="1798"/>
              <a:ext cx="1008" cy="12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22" name="Line 46"/>
            <p:cNvSpPr/>
            <p:nvPr/>
          </p:nvSpPr>
          <p:spPr>
            <a:xfrm flipV="1">
              <a:off x="2544" y="1270"/>
              <a:ext cx="1008" cy="124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23" name="Line 47"/>
            <p:cNvSpPr/>
            <p:nvPr/>
          </p:nvSpPr>
          <p:spPr>
            <a:xfrm flipV="1">
              <a:off x="2544" y="1654"/>
              <a:ext cx="1008" cy="86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24" name="Line 48"/>
            <p:cNvSpPr/>
            <p:nvPr/>
          </p:nvSpPr>
          <p:spPr>
            <a:xfrm flipV="1">
              <a:off x="2544" y="2326"/>
              <a:ext cx="1008" cy="192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25" name="Line 49"/>
            <p:cNvSpPr/>
            <p:nvPr/>
          </p:nvSpPr>
          <p:spPr>
            <a:xfrm>
              <a:off x="2544" y="2566"/>
              <a:ext cx="1008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6426" name="Rectangle 50"/>
            <p:cNvSpPr/>
            <p:nvPr/>
          </p:nvSpPr>
          <p:spPr>
            <a:xfrm>
              <a:off x="912" y="1270"/>
              <a:ext cx="57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6427" name="Rectangle 51"/>
            <p:cNvSpPr/>
            <p:nvPr/>
          </p:nvSpPr>
          <p:spPr>
            <a:xfrm>
              <a:off x="912" y="1595"/>
              <a:ext cx="57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6428" name="Rectangle 52"/>
            <p:cNvSpPr/>
            <p:nvPr/>
          </p:nvSpPr>
          <p:spPr>
            <a:xfrm>
              <a:off x="912" y="2336"/>
              <a:ext cx="57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6429" name="Text Box 53"/>
            <p:cNvSpPr txBox="1"/>
            <p:nvPr/>
          </p:nvSpPr>
          <p:spPr>
            <a:xfrm>
              <a:off x="960" y="1270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标记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30" name="Text Box 54"/>
            <p:cNvSpPr txBox="1"/>
            <p:nvPr/>
          </p:nvSpPr>
          <p:spPr>
            <a:xfrm>
              <a:off x="960" y="1596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标记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31" name="Text Box 55"/>
            <p:cNvSpPr txBox="1"/>
            <p:nvPr/>
          </p:nvSpPr>
          <p:spPr>
            <a:xfrm>
              <a:off x="960" y="2326"/>
              <a:ext cx="43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标记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32" name="Text Box 56"/>
            <p:cNvSpPr txBox="1"/>
            <p:nvPr/>
          </p:nvSpPr>
          <p:spPr>
            <a:xfrm>
              <a:off x="758" y="3110"/>
              <a:ext cx="10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主存字块标记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33" name="Rectangle 57"/>
            <p:cNvSpPr/>
            <p:nvPr/>
          </p:nvSpPr>
          <p:spPr>
            <a:xfrm>
              <a:off x="768" y="3104"/>
              <a:ext cx="1056" cy="28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6434" name="Rectangle 58"/>
            <p:cNvSpPr/>
            <p:nvPr/>
          </p:nvSpPr>
          <p:spPr>
            <a:xfrm>
              <a:off x="1824" y="3104"/>
              <a:ext cx="1056" cy="288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6435" name="Text Box 59"/>
            <p:cNvSpPr txBox="1"/>
            <p:nvPr/>
          </p:nvSpPr>
          <p:spPr>
            <a:xfrm>
              <a:off x="1872" y="3110"/>
              <a:ext cx="933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9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字块内地址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36" name="Text Box 60"/>
            <p:cNvSpPr txBox="1"/>
            <p:nvPr/>
          </p:nvSpPr>
          <p:spPr>
            <a:xfrm>
              <a:off x="728" y="2844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主存地址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37" name="Text Box 61"/>
            <p:cNvSpPr txBox="1"/>
            <p:nvPr/>
          </p:nvSpPr>
          <p:spPr>
            <a:xfrm>
              <a:off x="768" y="3382"/>
              <a:ext cx="102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=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+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位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38" name="Text Box 62"/>
            <p:cNvSpPr txBox="1"/>
            <p:nvPr/>
          </p:nvSpPr>
          <p:spPr>
            <a:xfrm>
              <a:off x="2160" y="3382"/>
              <a:ext cx="37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b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位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39" name="Text Box 63"/>
            <p:cNvSpPr txBox="1"/>
            <p:nvPr/>
          </p:nvSpPr>
          <p:spPr>
            <a:xfrm>
              <a:off x="864" y="982"/>
              <a:ext cx="67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m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=</a:t>
              </a:r>
              <a:r>
                <a:rPr lang="en-US" altLang="zh-CN" sz="1400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400" b="1" dirty="0">
                  <a:latin typeface="Times New Roman" panose="02020603050405020304" pitchFamily="18" charset="0"/>
                </a:rPr>
                <a:t>+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c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40" name="Text Box 64"/>
            <p:cNvSpPr txBox="1"/>
            <p:nvPr/>
          </p:nvSpPr>
          <p:spPr>
            <a:xfrm>
              <a:off x="905" y="720"/>
              <a:ext cx="125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Cache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存储器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6441" name="Text Box 65"/>
            <p:cNvSpPr txBox="1"/>
            <p:nvPr/>
          </p:nvSpPr>
          <p:spPr>
            <a:xfrm>
              <a:off x="3494" y="720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主存储器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6357" name="Group 66"/>
          <p:cNvGrpSpPr/>
          <p:nvPr/>
        </p:nvGrpSpPr>
        <p:grpSpPr>
          <a:xfrm>
            <a:off x="3886200" y="1724025"/>
            <a:ext cx="4649788" cy="2578100"/>
            <a:chOff x="1488" y="1086"/>
            <a:chExt cx="2929" cy="1624"/>
          </a:xfrm>
        </p:grpSpPr>
        <p:grpSp>
          <p:nvGrpSpPr>
            <p:cNvPr id="356361" name="Group 67"/>
            <p:cNvGrpSpPr/>
            <p:nvPr/>
          </p:nvGrpSpPr>
          <p:grpSpPr>
            <a:xfrm>
              <a:off x="1488" y="1270"/>
              <a:ext cx="1056" cy="1440"/>
              <a:chOff x="1488" y="1270"/>
              <a:chExt cx="1056" cy="1440"/>
            </a:xfrm>
          </p:grpSpPr>
          <p:sp>
            <p:nvSpPr>
              <p:cNvPr id="356374" name="Line 68"/>
              <p:cNvSpPr/>
              <p:nvPr/>
            </p:nvSpPr>
            <p:spPr>
              <a:xfrm>
                <a:off x="1488" y="1270"/>
                <a:ext cx="1056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6375" name="Line 69"/>
              <p:cNvSpPr/>
              <p:nvPr/>
            </p:nvSpPr>
            <p:spPr>
              <a:xfrm>
                <a:off x="1488" y="1591"/>
                <a:ext cx="1056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6376" name="Line 70"/>
              <p:cNvSpPr/>
              <p:nvPr/>
            </p:nvSpPr>
            <p:spPr>
              <a:xfrm>
                <a:off x="1488" y="1964"/>
                <a:ext cx="1056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6377" name="Line 71"/>
              <p:cNvSpPr/>
              <p:nvPr/>
            </p:nvSpPr>
            <p:spPr>
              <a:xfrm>
                <a:off x="1488" y="2337"/>
                <a:ext cx="1056" cy="0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6378" name="Line 72"/>
              <p:cNvSpPr/>
              <p:nvPr/>
            </p:nvSpPr>
            <p:spPr>
              <a:xfrm>
                <a:off x="1488" y="2710"/>
                <a:ext cx="1056" cy="0"/>
              </a:xfrm>
              <a:prstGeom prst="line">
                <a:avLst/>
              </a:prstGeom>
              <a:ln w="38100" cap="sq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6379" name="Line 73"/>
              <p:cNvSpPr/>
              <p:nvPr/>
            </p:nvSpPr>
            <p:spPr>
              <a:xfrm>
                <a:off x="1488" y="1270"/>
                <a:ext cx="0" cy="1440"/>
              </a:xfrm>
              <a:prstGeom prst="line">
                <a:avLst/>
              </a:prstGeom>
              <a:ln w="38100" cap="sq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6380" name="Line 74"/>
              <p:cNvSpPr/>
              <p:nvPr/>
            </p:nvSpPr>
            <p:spPr>
              <a:xfrm>
                <a:off x="2544" y="1270"/>
                <a:ext cx="0" cy="1440"/>
              </a:xfrm>
              <a:prstGeom prst="line">
                <a:avLst/>
              </a:prstGeom>
              <a:ln w="38100" cap="sq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56362" name="Group 75"/>
            <p:cNvGrpSpPr/>
            <p:nvPr/>
          </p:nvGrpSpPr>
          <p:grpSpPr>
            <a:xfrm>
              <a:off x="2544" y="1086"/>
              <a:ext cx="1873" cy="1432"/>
              <a:chOff x="2544" y="1086"/>
              <a:chExt cx="1873" cy="1432"/>
            </a:xfrm>
          </p:grpSpPr>
          <p:sp>
            <p:nvSpPr>
              <p:cNvPr id="356363" name="Rectangle 76"/>
              <p:cNvSpPr/>
              <p:nvPr/>
            </p:nvSpPr>
            <p:spPr>
              <a:xfrm>
                <a:off x="3552" y="1094"/>
                <a:ext cx="864" cy="357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tIns="0" bIns="0" anchor="ctr" anchorCtr="1"/>
              <a:p>
                <a:pPr>
                  <a:spcBef>
                    <a:spcPct val="20000"/>
                  </a:spcBef>
                </a:pPr>
                <a:r>
                  <a:rPr lang="en-US" altLang="zh-CN" sz="2000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zh-CN" altLang="en-US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字块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0</a:t>
                </a:r>
                <a:endParaRPr lang="en-US" altLang="zh-CN" sz="2000" b="1" dirty="0">
                  <a:solidFill>
                    <a:schemeClr val="bg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56364" name="Line 77"/>
              <p:cNvSpPr/>
              <p:nvPr/>
            </p:nvSpPr>
            <p:spPr>
              <a:xfrm>
                <a:off x="3552" y="1094"/>
                <a:ext cx="86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6365" name="Line 78"/>
              <p:cNvSpPr/>
              <p:nvPr/>
            </p:nvSpPr>
            <p:spPr>
              <a:xfrm>
                <a:off x="3552" y="1451"/>
                <a:ext cx="86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6366" name="Line 79"/>
              <p:cNvSpPr/>
              <p:nvPr/>
            </p:nvSpPr>
            <p:spPr>
              <a:xfrm flipV="1">
                <a:off x="2544" y="1270"/>
                <a:ext cx="1008" cy="144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6367" name="Line 80"/>
              <p:cNvSpPr/>
              <p:nvPr/>
            </p:nvSpPr>
            <p:spPr>
              <a:xfrm flipV="1">
                <a:off x="2544" y="1270"/>
                <a:ext cx="1008" cy="528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6368" name="Line 81"/>
              <p:cNvSpPr/>
              <p:nvPr/>
            </p:nvSpPr>
            <p:spPr>
              <a:xfrm flipV="1">
                <a:off x="2544" y="1270"/>
                <a:ext cx="1008" cy="1248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56369" name="Group 82"/>
              <p:cNvGrpSpPr/>
              <p:nvPr/>
            </p:nvGrpSpPr>
            <p:grpSpPr>
              <a:xfrm>
                <a:off x="3552" y="1086"/>
                <a:ext cx="865" cy="372"/>
                <a:chOff x="3552" y="1086"/>
                <a:chExt cx="865" cy="372"/>
              </a:xfrm>
            </p:grpSpPr>
            <p:sp>
              <p:nvSpPr>
                <p:cNvPr id="356370" name="Line 83"/>
                <p:cNvSpPr/>
                <p:nvPr/>
              </p:nvSpPr>
              <p:spPr>
                <a:xfrm>
                  <a:off x="3552" y="1094"/>
                  <a:ext cx="864" cy="0"/>
                </a:xfrm>
                <a:prstGeom prst="line">
                  <a:avLst/>
                </a:prstGeom>
                <a:ln w="28575" cap="sq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6371" name="Line 84"/>
                <p:cNvSpPr/>
                <p:nvPr/>
              </p:nvSpPr>
              <p:spPr>
                <a:xfrm>
                  <a:off x="3552" y="1451"/>
                  <a:ext cx="864" cy="0"/>
                </a:xfrm>
                <a:prstGeom prst="line">
                  <a:avLst/>
                </a:prstGeom>
                <a:ln w="28575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6372" name="Freeform 85"/>
                <p:cNvSpPr/>
                <p:nvPr/>
              </p:nvSpPr>
              <p:spPr>
                <a:xfrm>
                  <a:off x="3552" y="1089"/>
                  <a:ext cx="1" cy="366"/>
                </a:xfrm>
                <a:custGeom>
                  <a:avLst/>
                  <a:gdLst>
                    <a:gd name="txL" fmla="*/ 0 w 1"/>
                    <a:gd name="txT" fmla="*/ 0 h 366"/>
                    <a:gd name="txR" fmla="*/ 1 w 1"/>
                    <a:gd name="txB" fmla="*/ 366 h 366"/>
                  </a:gdLst>
                  <a:ahLst/>
                  <a:cxnLst>
                    <a:cxn ang="0">
                      <a:pos x="0" y="0"/>
                    </a:cxn>
                    <a:cxn ang="0">
                      <a:pos x="0" y="366"/>
                    </a:cxn>
                  </a:cxnLst>
                  <a:rect l="txL" t="txT" r="txR" b="txB"/>
                  <a:pathLst>
                    <a:path w="1" h="366">
                      <a:moveTo>
                        <a:pt x="0" y="0"/>
                      </a:moveTo>
                      <a:lnTo>
                        <a:pt x="0" y="36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6373" name="Freeform 86"/>
                <p:cNvSpPr/>
                <p:nvPr/>
              </p:nvSpPr>
              <p:spPr>
                <a:xfrm>
                  <a:off x="4416" y="1086"/>
                  <a:ext cx="1" cy="372"/>
                </a:xfrm>
                <a:custGeom>
                  <a:avLst/>
                  <a:gdLst>
                    <a:gd name="txL" fmla="*/ 0 w 1"/>
                    <a:gd name="txT" fmla="*/ 0 h 372"/>
                    <a:gd name="txR" fmla="*/ 1 w 1"/>
                    <a:gd name="txB" fmla="*/ 372 h 372"/>
                  </a:gdLst>
                  <a:ahLst/>
                  <a:cxnLst>
                    <a:cxn ang="0">
                      <a:pos x="0" y="0"/>
                    </a:cxn>
                    <a:cxn ang="0">
                      <a:pos x="0" y="372"/>
                    </a:cxn>
                  </a:cxnLst>
                  <a:rect l="txL" t="txT" r="txR" b="txB"/>
                  <a:pathLst>
                    <a:path w="1" h="372">
                      <a:moveTo>
                        <a:pt x="0" y="0"/>
                      </a:moveTo>
                      <a:lnTo>
                        <a:pt x="0" y="372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289879" name="Rectangle 8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6359" name="AutoShape 8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636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57378" name="Group 2"/>
          <p:cNvGrpSpPr/>
          <p:nvPr/>
        </p:nvGrpSpPr>
        <p:grpSpPr>
          <a:xfrm>
            <a:off x="2219325" y="838200"/>
            <a:ext cx="8067675" cy="4876800"/>
            <a:chOff x="438" y="528"/>
            <a:chExt cx="5082" cy="3072"/>
          </a:xfrm>
        </p:grpSpPr>
        <p:grpSp>
          <p:nvGrpSpPr>
            <p:cNvPr id="357438" name="Group 3"/>
            <p:cNvGrpSpPr/>
            <p:nvPr/>
          </p:nvGrpSpPr>
          <p:grpSpPr>
            <a:xfrm>
              <a:off x="438" y="528"/>
              <a:ext cx="5082" cy="3072"/>
              <a:chOff x="438" y="528"/>
              <a:chExt cx="5082" cy="3072"/>
            </a:xfrm>
          </p:grpSpPr>
          <p:grpSp>
            <p:nvGrpSpPr>
              <p:cNvPr id="357440" name="Group 4"/>
              <p:cNvGrpSpPr/>
              <p:nvPr/>
            </p:nvGrpSpPr>
            <p:grpSpPr>
              <a:xfrm>
                <a:off x="438" y="528"/>
                <a:ext cx="5082" cy="3072"/>
                <a:chOff x="438" y="528"/>
                <a:chExt cx="5082" cy="3072"/>
              </a:xfrm>
            </p:grpSpPr>
            <p:grpSp>
              <p:nvGrpSpPr>
                <p:cNvPr id="357442" name="Group 5"/>
                <p:cNvGrpSpPr/>
                <p:nvPr/>
              </p:nvGrpSpPr>
              <p:grpSpPr>
                <a:xfrm>
                  <a:off x="4512" y="899"/>
                  <a:ext cx="1008" cy="2701"/>
                  <a:chOff x="4512" y="899"/>
                  <a:chExt cx="1008" cy="2701"/>
                </a:xfrm>
              </p:grpSpPr>
              <p:sp>
                <p:nvSpPr>
                  <p:cNvPr id="357508" name="Rectangle 6"/>
                  <p:cNvSpPr/>
                  <p:nvPr/>
                </p:nvSpPr>
                <p:spPr>
                  <a:xfrm>
                    <a:off x="4579" y="3351"/>
                    <a:ext cx="912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2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m</a:t>
                    </a:r>
                    <a:r>
                      <a:rPr lang="zh-CN" altLang="en-US" sz="1400" b="1" dirty="0">
                        <a:latin typeface="Arial" panose="020B0604020202020204" pitchFamily="34" charset="0"/>
                      </a:rPr>
                      <a:t>－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1</a:t>
                    </a:r>
                    <a:endParaRPr lang="en-US" altLang="zh-CN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09" name="Rectangle 7"/>
                  <p:cNvSpPr/>
                  <p:nvPr/>
                </p:nvSpPr>
                <p:spPr>
                  <a:xfrm>
                    <a:off x="4608" y="2872"/>
                    <a:ext cx="912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2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c</a:t>
                    </a:r>
                    <a:r>
                      <a:rPr lang="en-US" altLang="zh-CN" sz="2000" b="1" baseline="30000" dirty="0">
                        <a:latin typeface="Arial" panose="020B0604020202020204" pitchFamily="34" charset="0"/>
                      </a:rPr>
                      <a:t>-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r</a:t>
                    </a:r>
                    <a:r>
                      <a:rPr lang="en-US" altLang="zh-CN" sz="2000" b="1" baseline="30000" dirty="0">
                        <a:latin typeface="Arial" panose="020B0604020202020204" pitchFamily="34" charset="0"/>
                      </a:rPr>
                      <a:t>+1</a:t>
                    </a:r>
                    <a:endParaRPr lang="en-US" altLang="zh-CN" sz="2000" b="1" baseline="300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10" name="Rectangle 8"/>
                  <p:cNvSpPr/>
                  <p:nvPr/>
                </p:nvSpPr>
                <p:spPr>
                  <a:xfrm>
                    <a:off x="4512" y="2623"/>
                    <a:ext cx="912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en-US" altLang="zh-CN" sz="2000" dirty="0">
                        <a:latin typeface="Arial" panose="020B0604020202020204" pitchFamily="34" charset="0"/>
                      </a:rPr>
                      <a:t> </a:t>
                    </a:r>
                    <a:endParaRPr lang="en-US" altLang="zh-CN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11" name="Rectangle 9"/>
                  <p:cNvSpPr/>
                  <p:nvPr/>
                </p:nvSpPr>
                <p:spPr>
                  <a:xfrm>
                    <a:off x="4522" y="2125"/>
                    <a:ext cx="912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en-US" altLang="zh-CN" sz="2000" dirty="0">
                        <a:latin typeface="Arial" panose="020B0604020202020204" pitchFamily="34" charset="0"/>
                      </a:rPr>
                      <a:t> </a:t>
                    </a: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2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c</a:t>
                    </a:r>
                    <a:r>
                      <a:rPr lang="en-US" altLang="zh-CN" sz="2000" b="1" baseline="30000" dirty="0">
                        <a:latin typeface="Arial" panose="020B0604020202020204" pitchFamily="34" charset="0"/>
                      </a:rPr>
                      <a:t>-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r 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+</a:t>
                    </a:r>
                    <a:r>
                      <a:rPr lang="en-US" altLang="zh-CN" sz="1000" b="1" dirty="0">
                        <a:latin typeface="Arial" panose="020B0604020202020204" pitchFamily="34" charset="0"/>
                      </a:rPr>
                      <a:t> 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1</a:t>
                    </a:r>
                    <a:endParaRPr lang="en-US" altLang="zh-CN" sz="2000" b="1" baseline="300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12" name="Rectangle 10"/>
                  <p:cNvSpPr/>
                  <p:nvPr/>
                </p:nvSpPr>
                <p:spPr>
                  <a:xfrm>
                    <a:off x="4512" y="1876"/>
                    <a:ext cx="912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    </a:t>
                    </a: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2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c</a:t>
                    </a:r>
                    <a:r>
                      <a:rPr lang="en-US" altLang="zh-CN" sz="2000" b="1" baseline="30000" dirty="0">
                        <a:latin typeface="Arial" panose="020B0604020202020204" pitchFamily="34" charset="0"/>
                      </a:rPr>
                      <a:t>-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r</a:t>
                    </a:r>
                    <a:endParaRPr lang="en-US" altLang="zh-CN" sz="2000" b="1" i="1" baseline="300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13" name="Rectangle 11"/>
                  <p:cNvSpPr/>
                  <p:nvPr/>
                </p:nvSpPr>
                <p:spPr>
                  <a:xfrm>
                    <a:off x="4560" y="1627"/>
                    <a:ext cx="912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2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c</a:t>
                    </a:r>
                    <a:r>
                      <a:rPr lang="en-US" altLang="zh-CN" sz="2000" b="1" baseline="30000" dirty="0">
                        <a:latin typeface="Arial" panose="020B0604020202020204" pitchFamily="34" charset="0"/>
                      </a:rPr>
                      <a:t>-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r</a:t>
                    </a:r>
                    <a:r>
                      <a:rPr lang="en-US" altLang="zh-CN" sz="2000" b="1" baseline="30000" dirty="0">
                        <a:latin typeface="Arial" panose="020B0604020202020204" pitchFamily="34" charset="0"/>
                      </a:rPr>
                      <a:t> </a:t>
                    </a:r>
                    <a:r>
                      <a:rPr lang="zh-CN" altLang="en-US" sz="1400" b="1" dirty="0">
                        <a:latin typeface="Arial" panose="020B0604020202020204" pitchFamily="34" charset="0"/>
                      </a:rPr>
                      <a:t>－</a:t>
                    </a:r>
                    <a:endParaRPr lang="zh-CN" altLang="en-US" sz="14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14" name="Rectangle 12"/>
                  <p:cNvSpPr/>
                  <p:nvPr/>
                </p:nvSpPr>
                <p:spPr>
                  <a:xfrm>
                    <a:off x="4512" y="1397"/>
                    <a:ext cx="912" cy="23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endParaRPr lang="zh-CN" altLang="zh-CN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15" name="Rectangle 13"/>
                  <p:cNvSpPr/>
                  <p:nvPr/>
                </p:nvSpPr>
                <p:spPr>
                  <a:xfrm>
                    <a:off x="4560" y="1148"/>
                    <a:ext cx="912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en-US" altLang="zh-CN" sz="2000" dirty="0">
                        <a:latin typeface="Arial" panose="020B0604020202020204" pitchFamily="34" charset="0"/>
                      </a:rPr>
                      <a:t>    </a:t>
                    </a: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1</a:t>
                    </a:r>
                    <a:endParaRPr lang="en-US" altLang="zh-CN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16" name="Rectangle 14"/>
                  <p:cNvSpPr/>
                  <p:nvPr/>
                </p:nvSpPr>
                <p:spPr>
                  <a:xfrm>
                    <a:off x="4560" y="899"/>
                    <a:ext cx="912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    </a:t>
                    </a: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0</a:t>
                    </a:r>
                    <a:endParaRPr lang="en-US" altLang="zh-CN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17" name="Line 15"/>
                  <p:cNvSpPr/>
                  <p:nvPr/>
                </p:nvSpPr>
                <p:spPr>
                  <a:xfrm>
                    <a:off x="4512" y="899"/>
                    <a:ext cx="912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18" name="Line 16"/>
                  <p:cNvSpPr/>
                  <p:nvPr/>
                </p:nvSpPr>
                <p:spPr>
                  <a:xfrm>
                    <a:off x="4512" y="1148"/>
                    <a:ext cx="91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19" name="Line 17"/>
                  <p:cNvSpPr/>
                  <p:nvPr/>
                </p:nvSpPr>
                <p:spPr>
                  <a:xfrm>
                    <a:off x="4512" y="1397"/>
                    <a:ext cx="91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20" name="Line 18"/>
                  <p:cNvSpPr/>
                  <p:nvPr/>
                </p:nvSpPr>
                <p:spPr>
                  <a:xfrm>
                    <a:off x="4512" y="1627"/>
                    <a:ext cx="91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21" name="Line 19"/>
                  <p:cNvSpPr/>
                  <p:nvPr/>
                </p:nvSpPr>
                <p:spPr>
                  <a:xfrm>
                    <a:off x="4512" y="1876"/>
                    <a:ext cx="91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22" name="Line 20"/>
                  <p:cNvSpPr/>
                  <p:nvPr/>
                </p:nvSpPr>
                <p:spPr>
                  <a:xfrm>
                    <a:off x="4512" y="2125"/>
                    <a:ext cx="91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23" name="Line 21"/>
                  <p:cNvSpPr/>
                  <p:nvPr/>
                </p:nvSpPr>
                <p:spPr>
                  <a:xfrm>
                    <a:off x="4512" y="2374"/>
                    <a:ext cx="91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24" name="Line 22"/>
                  <p:cNvSpPr/>
                  <p:nvPr/>
                </p:nvSpPr>
                <p:spPr>
                  <a:xfrm>
                    <a:off x="4512" y="2623"/>
                    <a:ext cx="91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25" name="Line 23"/>
                  <p:cNvSpPr/>
                  <p:nvPr/>
                </p:nvSpPr>
                <p:spPr>
                  <a:xfrm>
                    <a:off x="4512" y="2872"/>
                    <a:ext cx="91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26" name="Line 24"/>
                  <p:cNvSpPr/>
                  <p:nvPr/>
                </p:nvSpPr>
                <p:spPr>
                  <a:xfrm>
                    <a:off x="4512" y="3121"/>
                    <a:ext cx="91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27" name="Line 25"/>
                  <p:cNvSpPr/>
                  <p:nvPr/>
                </p:nvSpPr>
                <p:spPr>
                  <a:xfrm>
                    <a:off x="4512" y="3351"/>
                    <a:ext cx="912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28" name="Line 26"/>
                  <p:cNvSpPr/>
                  <p:nvPr/>
                </p:nvSpPr>
                <p:spPr>
                  <a:xfrm>
                    <a:off x="4512" y="3600"/>
                    <a:ext cx="912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29" name="Line 27"/>
                  <p:cNvSpPr/>
                  <p:nvPr/>
                </p:nvSpPr>
                <p:spPr>
                  <a:xfrm>
                    <a:off x="4512" y="899"/>
                    <a:ext cx="0" cy="2701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30" name="Line 28"/>
                  <p:cNvSpPr/>
                  <p:nvPr/>
                </p:nvSpPr>
                <p:spPr>
                  <a:xfrm>
                    <a:off x="5424" y="899"/>
                    <a:ext cx="0" cy="2701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31" name="Text Box 29"/>
                  <p:cNvSpPr txBox="1"/>
                  <p:nvPr/>
                </p:nvSpPr>
                <p:spPr>
                  <a:xfrm>
                    <a:off x="4884" y="1405"/>
                    <a:ext cx="348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wrap="none">
                    <a:spAutoFit/>
                  </a:bodyPr>
                  <a:p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7532" name="Text Box 30"/>
                  <p:cNvSpPr txBox="1"/>
                  <p:nvPr/>
                </p:nvSpPr>
                <p:spPr>
                  <a:xfrm>
                    <a:off x="4884" y="2398"/>
                    <a:ext cx="348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wrap="none">
                    <a:spAutoFit/>
                  </a:bodyPr>
                  <a:p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7533" name="Text Box 31"/>
                  <p:cNvSpPr txBox="1"/>
                  <p:nvPr/>
                </p:nvSpPr>
                <p:spPr>
                  <a:xfrm>
                    <a:off x="4884" y="3119"/>
                    <a:ext cx="348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wrap="none">
                    <a:spAutoFit/>
                  </a:bodyPr>
                  <a:p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57443" name="Group 32"/>
                <p:cNvGrpSpPr/>
                <p:nvPr/>
              </p:nvGrpSpPr>
              <p:grpSpPr>
                <a:xfrm>
                  <a:off x="1152" y="1043"/>
                  <a:ext cx="2705" cy="1209"/>
                  <a:chOff x="1152" y="1043"/>
                  <a:chExt cx="2705" cy="1209"/>
                </a:xfrm>
              </p:grpSpPr>
              <p:sp>
                <p:nvSpPr>
                  <p:cNvPr id="357476" name="Rectangle 33"/>
                  <p:cNvSpPr/>
                  <p:nvPr/>
                </p:nvSpPr>
                <p:spPr>
                  <a:xfrm>
                    <a:off x="2976" y="1292"/>
                    <a:ext cx="864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    </a:t>
                    </a: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 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3</a:t>
                    </a:r>
                    <a:endParaRPr lang="en-US" altLang="zh-CN" sz="20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477" name="Rectangle 34"/>
                  <p:cNvSpPr/>
                  <p:nvPr/>
                </p:nvSpPr>
                <p:spPr>
                  <a:xfrm>
                    <a:off x="2511" y="1292"/>
                    <a:ext cx="480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标记</a:t>
                    </a:r>
                    <a:endParaRPr lang="zh-CN" altLang="en-US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478" name="Rectangle 35"/>
                  <p:cNvSpPr/>
                  <p:nvPr/>
                </p:nvSpPr>
                <p:spPr>
                  <a:xfrm>
                    <a:off x="2976" y="1043"/>
                    <a:ext cx="864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    </a:t>
                    </a: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 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1</a:t>
                    </a:r>
                    <a:endParaRPr lang="en-US" altLang="zh-CN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479" name="Rectangle 36"/>
                  <p:cNvSpPr/>
                  <p:nvPr/>
                </p:nvSpPr>
                <p:spPr>
                  <a:xfrm>
                    <a:off x="2511" y="1043"/>
                    <a:ext cx="480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标记</a:t>
                    </a:r>
                    <a:endParaRPr lang="zh-CN" altLang="en-US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480" name="Line 37"/>
                  <p:cNvSpPr/>
                  <p:nvPr/>
                </p:nvSpPr>
                <p:spPr>
                  <a:xfrm>
                    <a:off x="2496" y="1043"/>
                    <a:ext cx="1344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81" name="Line 38"/>
                  <p:cNvSpPr/>
                  <p:nvPr/>
                </p:nvSpPr>
                <p:spPr>
                  <a:xfrm>
                    <a:off x="2496" y="1292"/>
                    <a:ext cx="1344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82" name="Line 39"/>
                  <p:cNvSpPr/>
                  <p:nvPr/>
                </p:nvSpPr>
                <p:spPr>
                  <a:xfrm>
                    <a:off x="2496" y="1541"/>
                    <a:ext cx="1344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83" name="Line 40"/>
                  <p:cNvSpPr/>
                  <p:nvPr/>
                </p:nvSpPr>
                <p:spPr>
                  <a:xfrm>
                    <a:off x="2496" y="1043"/>
                    <a:ext cx="0" cy="120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84" name="Line 41"/>
                  <p:cNvSpPr/>
                  <p:nvPr/>
                </p:nvSpPr>
                <p:spPr>
                  <a:xfrm>
                    <a:off x="2976" y="1043"/>
                    <a:ext cx="0" cy="120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85" name="Line 42"/>
                  <p:cNvSpPr/>
                  <p:nvPr/>
                </p:nvSpPr>
                <p:spPr>
                  <a:xfrm>
                    <a:off x="3840" y="1043"/>
                    <a:ext cx="0" cy="120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86" name="Rectangle 43"/>
                  <p:cNvSpPr/>
                  <p:nvPr/>
                </p:nvSpPr>
                <p:spPr>
                  <a:xfrm>
                    <a:off x="2990" y="2003"/>
                    <a:ext cx="867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 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2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c</a:t>
                    </a: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－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1</a:t>
                    </a:r>
                    <a:endParaRPr lang="en-US" altLang="zh-CN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487" name="Rectangle 44"/>
                  <p:cNvSpPr/>
                  <p:nvPr/>
                </p:nvSpPr>
                <p:spPr>
                  <a:xfrm>
                    <a:off x="2511" y="2003"/>
                    <a:ext cx="477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标记</a:t>
                    </a:r>
                    <a:endParaRPr lang="zh-CN" altLang="en-US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488" name="Line 45"/>
                  <p:cNvSpPr/>
                  <p:nvPr/>
                </p:nvSpPr>
                <p:spPr>
                  <a:xfrm>
                    <a:off x="2496" y="2003"/>
                    <a:ext cx="1344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89" name="Line 46"/>
                  <p:cNvSpPr/>
                  <p:nvPr/>
                </p:nvSpPr>
                <p:spPr>
                  <a:xfrm>
                    <a:off x="2496" y="2252"/>
                    <a:ext cx="1344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90" name="Rectangle 47"/>
                  <p:cNvSpPr/>
                  <p:nvPr/>
                </p:nvSpPr>
                <p:spPr>
                  <a:xfrm>
                    <a:off x="1632" y="1292"/>
                    <a:ext cx="864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    </a:t>
                    </a: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 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2</a:t>
                    </a:r>
                    <a:endParaRPr lang="en-US" altLang="zh-CN" sz="20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491" name="Rectangle 48"/>
                  <p:cNvSpPr/>
                  <p:nvPr/>
                </p:nvSpPr>
                <p:spPr>
                  <a:xfrm>
                    <a:off x="1169" y="1292"/>
                    <a:ext cx="480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标记</a:t>
                    </a:r>
                    <a:endParaRPr lang="zh-CN" altLang="en-US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492" name="Rectangle 49"/>
                  <p:cNvSpPr/>
                  <p:nvPr/>
                </p:nvSpPr>
                <p:spPr>
                  <a:xfrm>
                    <a:off x="1632" y="1043"/>
                    <a:ext cx="864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    </a:t>
                    </a: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 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0</a:t>
                    </a:r>
                    <a:endParaRPr lang="en-US" altLang="zh-CN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493" name="Rectangle 50"/>
                  <p:cNvSpPr/>
                  <p:nvPr/>
                </p:nvSpPr>
                <p:spPr>
                  <a:xfrm>
                    <a:off x="1169" y="1043"/>
                    <a:ext cx="480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标记</a:t>
                    </a:r>
                    <a:endParaRPr lang="zh-CN" altLang="en-US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494" name="Line 51"/>
                  <p:cNvSpPr/>
                  <p:nvPr/>
                </p:nvSpPr>
                <p:spPr>
                  <a:xfrm>
                    <a:off x="1152" y="1043"/>
                    <a:ext cx="1344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95" name="Line 52"/>
                  <p:cNvSpPr/>
                  <p:nvPr/>
                </p:nvSpPr>
                <p:spPr>
                  <a:xfrm>
                    <a:off x="1152" y="1292"/>
                    <a:ext cx="1344" cy="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96" name="Line 53"/>
                  <p:cNvSpPr/>
                  <p:nvPr/>
                </p:nvSpPr>
                <p:spPr>
                  <a:xfrm>
                    <a:off x="1152" y="1541"/>
                    <a:ext cx="1344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97" name="Line 54"/>
                  <p:cNvSpPr/>
                  <p:nvPr/>
                </p:nvSpPr>
                <p:spPr>
                  <a:xfrm>
                    <a:off x="1152" y="1043"/>
                    <a:ext cx="0" cy="120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98" name="Line 55"/>
                  <p:cNvSpPr/>
                  <p:nvPr/>
                </p:nvSpPr>
                <p:spPr>
                  <a:xfrm>
                    <a:off x="1632" y="1043"/>
                    <a:ext cx="0" cy="120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499" name="Rectangle 56"/>
                  <p:cNvSpPr/>
                  <p:nvPr/>
                </p:nvSpPr>
                <p:spPr>
                  <a:xfrm>
                    <a:off x="1629" y="2003"/>
                    <a:ext cx="867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字块 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2</a:t>
                    </a:r>
                    <a:r>
                      <a:rPr lang="en-US" altLang="zh-CN" sz="2000" b="1" i="1" baseline="30000" dirty="0">
                        <a:latin typeface="Arial" panose="020B0604020202020204" pitchFamily="34" charset="0"/>
                      </a:rPr>
                      <a:t>c</a:t>
                    </a: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－</a:t>
                    </a:r>
                    <a:r>
                      <a:rPr lang="en-US" altLang="zh-CN" sz="2000" b="1" dirty="0">
                        <a:latin typeface="Arial" panose="020B0604020202020204" pitchFamily="34" charset="0"/>
                      </a:rPr>
                      <a:t>2</a:t>
                    </a:r>
                    <a:endParaRPr lang="en-US" altLang="zh-CN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00" name="Rectangle 57"/>
                  <p:cNvSpPr/>
                  <p:nvPr/>
                </p:nvSpPr>
                <p:spPr>
                  <a:xfrm>
                    <a:off x="1169" y="2003"/>
                    <a:ext cx="477" cy="24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/>
                  <a:p>
                    <a:pPr>
                      <a:spcBef>
                        <a:spcPct val="20000"/>
                      </a:spcBef>
                    </a:pPr>
                    <a:r>
                      <a:rPr lang="zh-CN" altLang="en-US" sz="2000" b="1" dirty="0">
                        <a:latin typeface="Arial" panose="020B0604020202020204" pitchFamily="34" charset="0"/>
                      </a:rPr>
                      <a:t>标记</a:t>
                    </a:r>
                    <a:endParaRPr lang="zh-CN" altLang="en-US" sz="2000" b="1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357501" name="Line 58"/>
                  <p:cNvSpPr/>
                  <p:nvPr/>
                </p:nvSpPr>
                <p:spPr>
                  <a:xfrm>
                    <a:off x="1152" y="2003"/>
                    <a:ext cx="1344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02" name="Line 59"/>
                  <p:cNvSpPr/>
                  <p:nvPr/>
                </p:nvSpPr>
                <p:spPr>
                  <a:xfrm>
                    <a:off x="1152" y="2252"/>
                    <a:ext cx="1344" cy="0"/>
                  </a:xfrm>
                  <a:prstGeom prst="line">
                    <a:avLst/>
                  </a:prstGeom>
                  <a:ln w="38100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57503" name="Text Box 60"/>
                  <p:cNvSpPr txBox="1"/>
                  <p:nvPr/>
                </p:nvSpPr>
                <p:spPr>
                  <a:xfrm>
                    <a:off x="3300" y="1670"/>
                    <a:ext cx="348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wrap="none">
                    <a:spAutoFit/>
                  </a:bodyPr>
                  <a:p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7504" name="Text Box 61"/>
                  <p:cNvSpPr txBox="1"/>
                  <p:nvPr/>
                </p:nvSpPr>
                <p:spPr>
                  <a:xfrm>
                    <a:off x="2628" y="1670"/>
                    <a:ext cx="348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wrap="none">
                    <a:spAutoFit/>
                  </a:bodyPr>
                  <a:p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7505" name="Text Box 62"/>
                  <p:cNvSpPr txBox="1"/>
                  <p:nvPr/>
                </p:nvSpPr>
                <p:spPr>
                  <a:xfrm>
                    <a:off x="1956" y="1670"/>
                    <a:ext cx="348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wrap="none">
                    <a:spAutoFit/>
                  </a:bodyPr>
                  <a:p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7506" name="Text Box 63"/>
                  <p:cNvSpPr txBox="1"/>
                  <p:nvPr/>
                </p:nvSpPr>
                <p:spPr>
                  <a:xfrm>
                    <a:off x="1284" y="1670"/>
                    <a:ext cx="348" cy="25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 vert="eaVert" wrap="none">
                    <a:spAutoFit/>
                  </a:bodyPr>
                  <a:p>
                    <a:r>
                      <a:rPr lang="en-US" altLang="zh-CN" sz="2400" b="1" dirty="0">
                        <a:latin typeface="Times New Roman" panose="02020603050405020304" pitchFamily="18" charset="0"/>
                      </a:rPr>
                      <a:t>…</a:t>
                    </a:r>
                    <a:endParaRPr lang="en-US" altLang="zh-CN" sz="24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57507" name="Line 64"/>
                  <p:cNvSpPr/>
                  <p:nvPr/>
                </p:nvSpPr>
                <p:spPr>
                  <a:xfrm>
                    <a:off x="3840" y="1523"/>
                    <a:ext cx="0" cy="480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57444" name="Line 65"/>
                <p:cNvSpPr/>
                <p:nvPr/>
              </p:nvSpPr>
              <p:spPr>
                <a:xfrm>
                  <a:off x="3840" y="2147"/>
                  <a:ext cx="672" cy="124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45" name="Line 66"/>
                <p:cNvSpPr/>
                <p:nvPr/>
              </p:nvSpPr>
              <p:spPr>
                <a:xfrm flipV="1">
                  <a:off x="3840" y="995"/>
                  <a:ext cx="672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46" name="Line 67"/>
                <p:cNvSpPr/>
                <p:nvPr/>
              </p:nvSpPr>
              <p:spPr>
                <a:xfrm flipV="1">
                  <a:off x="3840" y="1283"/>
                  <a:ext cx="672" cy="14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47" name="Line 68"/>
                <p:cNvSpPr/>
                <p:nvPr/>
              </p:nvSpPr>
              <p:spPr>
                <a:xfrm>
                  <a:off x="3840" y="1139"/>
                  <a:ext cx="672" cy="86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48" name="Line 69"/>
                <p:cNvSpPr/>
                <p:nvPr/>
              </p:nvSpPr>
              <p:spPr>
                <a:xfrm>
                  <a:off x="3840" y="1427"/>
                  <a:ext cx="672" cy="86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49" name="Line 70"/>
                <p:cNvSpPr/>
                <p:nvPr/>
              </p:nvSpPr>
              <p:spPr>
                <a:xfrm>
                  <a:off x="3840" y="1139"/>
                  <a:ext cx="672" cy="182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50" name="Line 71"/>
                <p:cNvSpPr/>
                <p:nvPr/>
              </p:nvSpPr>
              <p:spPr>
                <a:xfrm flipV="1">
                  <a:off x="3840" y="1715"/>
                  <a:ext cx="672" cy="43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51" name="Line 72"/>
                <p:cNvSpPr/>
                <p:nvPr/>
              </p:nvSpPr>
              <p:spPr>
                <a:xfrm>
                  <a:off x="3840" y="2147"/>
                  <a:ext cx="672" cy="624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52" name="Rectangle 73"/>
                <p:cNvSpPr/>
                <p:nvPr/>
              </p:nvSpPr>
              <p:spPr>
                <a:xfrm>
                  <a:off x="2832" y="2541"/>
                  <a:ext cx="1008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>
                    <a:spcBef>
                      <a:spcPct val="20000"/>
                    </a:spcBef>
                  </a:pPr>
                  <a:r>
                    <a:rPr lang="en-US" altLang="zh-CN" sz="2000" b="1" dirty="0">
                      <a:latin typeface="Arial" panose="020B0604020202020204" pitchFamily="34" charset="0"/>
                    </a:rPr>
                    <a:t> </a:t>
                  </a:r>
                  <a:r>
                    <a:rPr lang="zh-CN" altLang="en-US" sz="2000" b="1" dirty="0">
                      <a:latin typeface="Arial" panose="020B0604020202020204" pitchFamily="34" charset="0"/>
                    </a:rPr>
                    <a:t>字块内地址</a:t>
                  </a:r>
                  <a:endParaRPr lang="zh-CN" altLang="en-US" sz="20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53" name="Rectangle 74"/>
                <p:cNvSpPr/>
                <p:nvPr/>
              </p:nvSpPr>
              <p:spPr>
                <a:xfrm>
                  <a:off x="2086" y="2541"/>
                  <a:ext cx="602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>
                    <a:spcBef>
                      <a:spcPct val="20000"/>
                    </a:spcBef>
                  </a:pPr>
                  <a:r>
                    <a:rPr lang="zh-CN" altLang="en-US" sz="2000" b="1" dirty="0">
                      <a:latin typeface="Arial" panose="020B0604020202020204" pitchFamily="34" charset="0"/>
                    </a:rPr>
                    <a:t>组地址</a:t>
                  </a:r>
                  <a:endParaRPr lang="zh-CN" altLang="en-US" sz="20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54" name="Rectangle 75"/>
                <p:cNvSpPr/>
                <p:nvPr/>
              </p:nvSpPr>
              <p:spPr>
                <a:xfrm>
                  <a:off x="816" y="2541"/>
                  <a:ext cx="1126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>
                    <a:spcBef>
                      <a:spcPct val="20000"/>
                    </a:spcBef>
                  </a:pPr>
                  <a:r>
                    <a:rPr lang="zh-CN" altLang="en-US" sz="2000" b="1" dirty="0">
                      <a:latin typeface="Arial" panose="020B0604020202020204" pitchFamily="34" charset="0"/>
                    </a:rPr>
                    <a:t>主存字块标记</a:t>
                  </a:r>
                  <a:endParaRPr lang="zh-CN" altLang="en-US" sz="2000" b="1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55" name="Freeform 76"/>
                <p:cNvSpPr/>
                <p:nvPr/>
              </p:nvSpPr>
              <p:spPr>
                <a:xfrm>
                  <a:off x="816" y="2531"/>
                  <a:ext cx="3027" cy="3"/>
                </a:xfrm>
                <a:custGeom>
                  <a:avLst/>
                  <a:gdLst>
                    <a:gd name="txL" fmla="*/ 0 w 3027"/>
                    <a:gd name="txT" fmla="*/ 0 h 3"/>
                    <a:gd name="txR" fmla="*/ 3027 w 3027"/>
                    <a:gd name="txB" fmla="*/ 3 h 3"/>
                  </a:gdLst>
                  <a:ahLst/>
                  <a:cxnLst>
                    <a:cxn ang="0">
                      <a:pos x="0" y="0"/>
                    </a:cxn>
                    <a:cxn ang="0">
                      <a:pos x="3027" y="3"/>
                    </a:cxn>
                  </a:cxnLst>
                  <a:rect l="txL" t="txT" r="txR" b="txB"/>
                  <a:pathLst>
                    <a:path w="3027" h="3">
                      <a:moveTo>
                        <a:pt x="0" y="0"/>
                      </a:moveTo>
                      <a:lnTo>
                        <a:pt x="3027" y="3"/>
                      </a:lnTo>
                    </a:path>
                  </a:pathLst>
                </a:custGeom>
                <a:noFill/>
                <a:ln w="381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56" name="Freeform 77"/>
                <p:cNvSpPr/>
                <p:nvPr/>
              </p:nvSpPr>
              <p:spPr>
                <a:xfrm>
                  <a:off x="816" y="2819"/>
                  <a:ext cx="3021" cy="1"/>
                </a:xfrm>
                <a:custGeom>
                  <a:avLst/>
                  <a:gdLst>
                    <a:gd name="txL" fmla="*/ 0 w 3021"/>
                    <a:gd name="txT" fmla="*/ 0 h 1"/>
                    <a:gd name="txR" fmla="*/ 3021 w 3021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3021" y="0"/>
                    </a:cxn>
                  </a:cxnLst>
                  <a:rect l="txL" t="txT" r="txR" b="txB"/>
                  <a:pathLst>
                    <a:path w="3021" h="1">
                      <a:moveTo>
                        <a:pt x="0" y="0"/>
                      </a:moveTo>
                      <a:lnTo>
                        <a:pt x="3021" y="0"/>
                      </a:lnTo>
                    </a:path>
                  </a:pathLst>
                </a:custGeom>
                <a:noFill/>
                <a:ln w="381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57" name="Freeform 78"/>
                <p:cNvSpPr/>
                <p:nvPr/>
              </p:nvSpPr>
              <p:spPr>
                <a:xfrm>
                  <a:off x="816" y="2541"/>
                  <a:ext cx="1" cy="275"/>
                </a:xfrm>
                <a:custGeom>
                  <a:avLst/>
                  <a:gdLst>
                    <a:gd name="txL" fmla="*/ 0 w 1"/>
                    <a:gd name="txT" fmla="*/ 0 h 275"/>
                    <a:gd name="txR" fmla="*/ 1 w 1"/>
                    <a:gd name="txB" fmla="*/ 275 h 275"/>
                  </a:gdLst>
                  <a:ahLst/>
                  <a:cxnLst>
                    <a:cxn ang="0">
                      <a:pos x="0" y="0"/>
                    </a:cxn>
                    <a:cxn ang="0">
                      <a:pos x="0" y="275"/>
                    </a:cxn>
                  </a:cxnLst>
                  <a:rect l="txL" t="txT" r="txR" b="txB"/>
                  <a:pathLst>
                    <a:path w="1" h="275">
                      <a:moveTo>
                        <a:pt x="0" y="0"/>
                      </a:moveTo>
                      <a:lnTo>
                        <a:pt x="0" y="275"/>
                      </a:lnTo>
                    </a:path>
                  </a:pathLst>
                </a:custGeom>
                <a:noFill/>
                <a:ln w="381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58" name="Line 79"/>
                <p:cNvSpPr/>
                <p:nvPr/>
              </p:nvSpPr>
              <p:spPr>
                <a:xfrm>
                  <a:off x="1942" y="2541"/>
                  <a:ext cx="0" cy="28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59" name="Line 80"/>
                <p:cNvSpPr/>
                <p:nvPr/>
              </p:nvSpPr>
              <p:spPr>
                <a:xfrm>
                  <a:off x="2832" y="2541"/>
                  <a:ext cx="0" cy="288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60" name="Freeform 81"/>
                <p:cNvSpPr/>
                <p:nvPr/>
              </p:nvSpPr>
              <p:spPr>
                <a:xfrm>
                  <a:off x="3837" y="2540"/>
                  <a:ext cx="4" cy="279"/>
                </a:xfrm>
                <a:custGeom>
                  <a:avLst/>
                  <a:gdLst>
                    <a:gd name="txL" fmla="*/ 0 w 4"/>
                    <a:gd name="txT" fmla="*/ 0 h 279"/>
                    <a:gd name="txR" fmla="*/ 4 w 4"/>
                    <a:gd name="txB" fmla="*/ 279 h 279"/>
                  </a:gdLst>
                  <a:ahLst/>
                  <a:cxnLst>
                    <a:cxn ang="0">
                      <a:pos x="0" y="0"/>
                    </a:cxn>
                    <a:cxn ang="0">
                      <a:pos x="4" y="279"/>
                    </a:cxn>
                  </a:cxnLst>
                  <a:rect l="txL" t="txT" r="txR" b="txB"/>
                  <a:pathLst>
                    <a:path w="4" h="279">
                      <a:moveTo>
                        <a:pt x="0" y="0"/>
                      </a:moveTo>
                      <a:lnTo>
                        <a:pt x="4" y="279"/>
                      </a:lnTo>
                    </a:path>
                  </a:pathLst>
                </a:custGeom>
                <a:noFill/>
                <a:ln w="38100" cap="sq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61" name="Text Box 82"/>
                <p:cNvSpPr txBox="1"/>
                <p:nvPr/>
              </p:nvSpPr>
              <p:spPr>
                <a:xfrm>
                  <a:off x="912" y="2857"/>
                  <a:ext cx="867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s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= </a:t>
                  </a:r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+</a:t>
                  </a:r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 r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 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位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7462" name="Text Box 83"/>
                <p:cNvSpPr txBox="1"/>
                <p:nvPr/>
              </p:nvSpPr>
              <p:spPr>
                <a:xfrm>
                  <a:off x="1920" y="2819"/>
                  <a:ext cx="854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q</a:t>
                  </a:r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 =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c</a:t>
                  </a:r>
                  <a:r>
                    <a:rPr lang="zh-CN" altLang="en-US" sz="1600" b="1" dirty="0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r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位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7463" name="Text Box 84"/>
                <p:cNvSpPr txBox="1"/>
                <p:nvPr/>
              </p:nvSpPr>
              <p:spPr>
                <a:xfrm>
                  <a:off x="3120" y="2850"/>
                  <a:ext cx="3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b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位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7464" name="Text Box 85"/>
                <p:cNvSpPr txBox="1"/>
                <p:nvPr/>
              </p:nvSpPr>
              <p:spPr>
                <a:xfrm>
                  <a:off x="758" y="702"/>
                  <a:ext cx="27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组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7465" name="Text Box 86"/>
                <p:cNvSpPr txBox="1"/>
                <p:nvPr/>
              </p:nvSpPr>
              <p:spPr>
                <a:xfrm>
                  <a:off x="806" y="1008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7466" name="Text Box 87"/>
                <p:cNvSpPr txBox="1"/>
                <p:nvPr/>
              </p:nvSpPr>
              <p:spPr>
                <a:xfrm>
                  <a:off x="806" y="1296"/>
                  <a:ext cx="19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7467" name="Text Box 88"/>
                <p:cNvSpPr txBox="1"/>
                <p:nvPr/>
              </p:nvSpPr>
              <p:spPr>
                <a:xfrm>
                  <a:off x="438" y="2003"/>
                  <a:ext cx="556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2</a:t>
                  </a:r>
                  <a:r>
                    <a:rPr lang="en-US" altLang="zh-CN" sz="2000" b="1" i="1" baseline="50000" dirty="0">
                      <a:latin typeface="Times New Roman" panose="02020603050405020304" pitchFamily="18" charset="0"/>
                    </a:rPr>
                    <a:t>c</a:t>
                  </a:r>
                  <a:r>
                    <a:rPr lang="en-US" altLang="zh-CN" sz="2000" b="1" baseline="50000" dirty="0">
                      <a:latin typeface="Times New Roman" panose="02020603050405020304" pitchFamily="18" charset="0"/>
                    </a:rPr>
                    <a:t>-</a:t>
                  </a:r>
                  <a:r>
                    <a:rPr lang="en-US" altLang="zh-CN" sz="2000" b="1" i="1" baseline="50000" dirty="0">
                      <a:latin typeface="Times New Roman" panose="02020603050405020304" pitchFamily="18" charset="0"/>
                    </a:rPr>
                    <a:t>r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－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7468" name="Text Box 89"/>
                <p:cNvSpPr txBox="1"/>
                <p:nvPr/>
              </p:nvSpPr>
              <p:spPr>
                <a:xfrm>
                  <a:off x="1344" y="2291"/>
                  <a:ext cx="755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主存地址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7469" name="Text Box 90"/>
                <p:cNvSpPr txBox="1"/>
                <p:nvPr/>
              </p:nvSpPr>
              <p:spPr>
                <a:xfrm>
                  <a:off x="1088" y="689"/>
                  <a:ext cx="627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400" b="1" dirty="0">
                      <a:latin typeface="Times New Roman" panose="02020603050405020304" pitchFamily="18" charset="0"/>
                    </a:rPr>
                    <a:t>Cache</a:t>
                  </a:r>
                  <a:endParaRPr lang="en-US" altLang="zh-CN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7470" name="Text Box 91"/>
                <p:cNvSpPr txBox="1"/>
                <p:nvPr/>
              </p:nvSpPr>
              <p:spPr>
                <a:xfrm>
                  <a:off x="4550" y="528"/>
                  <a:ext cx="883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主存储器</a:t>
                  </a:r>
                  <a:endParaRPr lang="zh-CN" altLang="en-US" sz="2400" b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7471" name="Freeform 92"/>
                <p:cNvSpPr/>
                <p:nvPr/>
              </p:nvSpPr>
              <p:spPr>
                <a:xfrm>
                  <a:off x="813" y="2813"/>
                  <a:ext cx="1" cy="490"/>
                </a:xfrm>
                <a:custGeom>
                  <a:avLst/>
                  <a:gdLst>
                    <a:gd name="txL" fmla="*/ 0 w 1"/>
                    <a:gd name="txT" fmla="*/ 0 h 490"/>
                    <a:gd name="txR" fmla="*/ 1 w 1"/>
                    <a:gd name="txB" fmla="*/ 490 h 490"/>
                  </a:gdLst>
                  <a:ahLst/>
                  <a:cxnLst>
                    <a:cxn ang="0">
                      <a:pos x="0" y="0"/>
                    </a:cxn>
                    <a:cxn ang="0">
                      <a:pos x="0" y="490"/>
                    </a:cxn>
                  </a:cxnLst>
                  <a:rect l="txL" t="txT" r="txR" b="txB"/>
                  <a:pathLst>
                    <a:path w="1" h="490">
                      <a:moveTo>
                        <a:pt x="0" y="0"/>
                      </a:moveTo>
                      <a:lnTo>
                        <a:pt x="0" y="490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72" name="Freeform 93"/>
                <p:cNvSpPr/>
                <p:nvPr/>
              </p:nvSpPr>
              <p:spPr>
                <a:xfrm>
                  <a:off x="2832" y="2825"/>
                  <a:ext cx="1" cy="474"/>
                </a:xfrm>
                <a:custGeom>
                  <a:avLst/>
                  <a:gdLst>
                    <a:gd name="txL" fmla="*/ 0 w 1"/>
                    <a:gd name="txT" fmla="*/ 0 h 474"/>
                    <a:gd name="txR" fmla="*/ 1 w 1"/>
                    <a:gd name="txB" fmla="*/ 474 h 474"/>
                  </a:gdLst>
                  <a:ahLst/>
                  <a:cxnLst>
                    <a:cxn ang="0">
                      <a:pos x="0" y="0"/>
                    </a:cxn>
                    <a:cxn ang="0">
                      <a:pos x="1" y="474"/>
                    </a:cxn>
                  </a:cxnLst>
                  <a:rect l="txL" t="txT" r="txR" b="txB"/>
                  <a:pathLst>
                    <a:path w="1" h="474">
                      <a:moveTo>
                        <a:pt x="0" y="0"/>
                      </a:moveTo>
                      <a:lnTo>
                        <a:pt x="1" y="47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73" name="Line 94"/>
                <p:cNvSpPr/>
                <p:nvPr/>
              </p:nvSpPr>
              <p:spPr>
                <a:xfrm>
                  <a:off x="2208" y="3203"/>
                  <a:ext cx="62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57474" name="Line 95"/>
                <p:cNvSpPr/>
                <p:nvPr/>
              </p:nvSpPr>
              <p:spPr>
                <a:xfrm rot="10800000">
                  <a:off x="816" y="3203"/>
                  <a:ext cx="62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57475" name="Text Box 96"/>
                <p:cNvSpPr txBox="1"/>
                <p:nvPr/>
              </p:nvSpPr>
              <p:spPr>
                <a:xfrm>
                  <a:off x="1614" y="3059"/>
                  <a:ext cx="440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en-US" altLang="zh-CN" sz="2000" b="1" i="1" dirty="0">
                      <a:latin typeface="Times New Roman" panose="02020603050405020304" pitchFamily="18" charset="0"/>
                    </a:rPr>
                    <a:t>m</a:t>
                  </a:r>
                  <a:r>
                    <a:rPr lang="en-US" altLang="zh-CN" sz="2000" b="1" dirty="0">
                      <a:latin typeface="Times New Roman" panose="02020603050405020304" pitchFamily="18" charset="0"/>
                    </a:rPr>
                    <a:t> </a:t>
                  </a:r>
                  <a:r>
                    <a:rPr lang="zh-CN" altLang="en-US" sz="2000" b="1" dirty="0">
                      <a:latin typeface="Times New Roman" panose="02020603050405020304" pitchFamily="18" charset="0"/>
                    </a:rPr>
                    <a:t>位</a:t>
                  </a:r>
                  <a:endParaRPr lang="zh-CN" altLang="en-US" sz="2000" b="1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57441" name="Text Box 97"/>
              <p:cNvSpPr txBox="1"/>
              <p:nvPr/>
            </p:nvSpPr>
            <p:spPr>
              <a:xfrm>
                <a:off x="1736" y="720"/>
                <a:ext cx="211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共 </a:t>
                </a:r>
                <a:r>
                  <a:rPr lang="en-US" altLang="zh-CN" sz="2000" b="1" i="1" dirty="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000" b="1" dirty="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b="1" dirty="0">
                    <a:solidFill>
                      <a:srgbClr val="0000CC"/>
                    </a:solidFill>
                    <a:latin typeface="Times New Roman" panose="02020603050405020304" pitchFamily="18" charset="0"/>
                  </a:rPr>
                  <a:t>组</a:t>
                </a:r>
                <a:r>
                  <a:rPr lang="zh-CN" altLang="en-US" sz="2000" b="1" dirty="0">
                    <a:latin typeface="Times New Roman" panose="02020603050405020304" pitchFamily="18" charset="0"/>
                  </a:rPr>
                  <a:t>，每组内两块（</a:t>
                </a:r>
                <a:r>
                  <a:rPr lang="en-US" altLang="zh-CN" sz="2000" b="1" i="1" dirty="0"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b="1" dirty="0">
                    <a:latin typeface="Times New Roman" panose="02020603050405020304" pitchFamily="18" charset="0"/>
                  </a:rPr>
                  <a:t> = 1)</a:t>
                </a:r>
                <a:endParaRPr lang="en-US" altLang="zh-CN" sz="20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57439" name="Text Box 98"/>
            <p:cNvSpPr txBox="1"/>
            <p:nvPr/>
          </p:nvSpPr>
          <p:spPr>
            <a:xfrm>
              <a:off x="5214" y="1632"/>
              <a:ext cx="24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</a:rPr>
                <a:t>1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7379" name="Text Box 99"/>
          <p:cNvSpPr txBox="1"/>
          <p:nvPr/>
        </p:nvSpPr>
        <p:spPr>
          <a:xfrm>
            <a:off x="1981200" y="6100763"/>
            <a:ext cx="80314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某一主存块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按模 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映射到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缓存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的第 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组</a:t>
            </a:r>
            <a:r>
              <a:rPr lang="zh-CN" altLang="en-US" sz="2800" b="1" dirty="0">
                <a:latin typeface="Times New Roman" panose="02020603050405020304" pitchFamily="18" charset="0"/>
              </a:rPr>
              <a:t>中的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任一块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7380" name="Text Box 100"/>
          <p:cNvSpPr txBox="1"/>
          <p:nvPr/>
        </p:nvSpPr>
        <p:spPr>
          <a:xfrm>
            <a:off x="2057400" y="5414963"/>
            <a:ext cx="17716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j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mod</a:t>
            </a:r>
            <a:r>
              <a:rPr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Q</a:t>
            </a:r>
            <a:endParaRPr lang="en-US" altLang="zh-CN" sz="2800" b="1" i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57381" name="Group 101"/>
          <p:cNvGrpSpPr/>
          <p:nvPr/>
        </p:nvGrpSpPr>
        <p:grpSpPr>
          <a:xfrm>
            <a:off x="4495800" y="5410200"/>
            <a:ext cx="3805238" cy="914400"/>
            <a:chOff x="1620" y="3408"/>
            <a:chExt cx="2397" cy="576"/>
          </a:xfrm>
        </p:grpSpPr>
        <p:sp>
          <p:nvSpPr>
            <p:cNvPr id="357435" name="Freeform 102"/>
            <p:cNvSpPr/>
            <p:nvPr/>
          </p:nvSpPr>
          <p:spPr>
            <a:xfrm>
              <a:off x="1620" y="3600"/>
              <a:ext cx="876" cy="369"/>
            </a:xfrm>
            <a:custGeom>
              <a:avLst/>
              <a:gdLst>
                <a:gd name="txL" fmla="*/ 0 w 876"/>
                <a:gd name="txT" fmla="*/ 0 h 369"/>
                <a:gd name="txR" fmla="*/ 876 w 876"/>
                <a:gd name="txB" fmla="*/ 369 h 369"/>
              </a:gdLst>
              <a:ahLst/>
              <a:cxnLst>
                <a:cxn ang="0">
                  <a:pos x="0" y="369"/>
                </a:cxn>
                <a:cxn ang="0">
                  <a:pos x="876" y="0"/>
                </a:cxn>
              </a:cxnLst>
              <a:rect l="txL" t="txT" r="txR" b="txB"/>
              <a:pathLst>
                <a:path w="876" h="369">
                  <a:moveTo>
                    <a:pt x="0" y="369"/>
                  </a:moveTo>
                  <a:lnTo>
                    <a:pt x="876" y="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7436" name="Freeform 103"/>
            <p:cNvSpPr/>
            <p:nvPr/>
          </p:nvSpPr>
          <p:spPr>
            <a:xfrm>
              <a:off x="3354" y="3627"/>
              <a:ext cx="663" cy="357"/>
            </a:xfrm>
            <a:custGeom>
              <a:avLst/>
              <a:gdLst>
                <a:gd name="txL" fmla="*/ 0 w 663"/>
                <a:gd name="txT" fmla="*/ 0 h 357"/>
                <a:gd name="txR" fmla="*/ 663 w 663"/>
                <a:gd name="txB" fmla="*/ 357 h 357"/>
              </a:gdLst>
              <a:ahLst/>
              <a:cxnLst>
                <a:cxn ang="0">
                  <a:pos x="663" y="357"/>
                </a:cxn>
                <a:cxn ang="0">
                  <a:pos x="0" y="0"/>
                </a:cxn>
              </a:cxnLst>
              <a:rect l="txL" t="txT" r="txR" b="txB"/>
              <a:pathLst>
                <a:path w="663" h="357">
                  <a:moveTo>
                    <a:pt x="663" y="357"/>
                  </a:move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57437" name="Text Box 104"/>
            <p:cNvSpPr txBox="1"/>
            <p:nvPr/>
          </p:nvSpPr>
          <p:spPr>
            <a:xfrm>
              <a:off x="2400" y="3408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直接映射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57382" name="Group 105"/>
          <p:cNvGrpSpPr/>
          <p:nvPr/>
        </p:nvGrpSpPr>
        <p:grpSpPr>
          <a:xfrm>
            <a:off x="4572000" y="4953000"/>
            <a:ext cx="5257800" cy="869950"/>
            <a:chOff x="1632" y="3388"/>
            <a:chExt cx="3312" cy="548"/>
          </a:xfrm>
        </p:grpSpPr>
        <p:sp>
          <p:nvSpPr>
            <p:cNvPr id="357432" name="Text Box 106"/>
            <p:cNvSpPr txBox="1"/>
            <p:nvPr/>
          </p:nvSpPr>
          <p:spPr>
            <a:xfrm>
              <a:off x="2736" y="3388"/>
              <a:ext cx="123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rgbClr val="0000CC"/>
                  </a:solidFill>
                  <a:latin typeface="Times New Roman" panose="02020603050405020304" pitchFamily="18" charset="0"/>
                </a:rPr>
                <a:t>全相联映射</a:t>
              </a:r>
              <a:endParaRPr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7433" name="Line 107"/>
            <p:cNvSpPr/>
            <p:nvPr/>
          </p:nvSpPr>
          <p:spPr>
            <a:xfrm flipV="1">
              <a:off x="1632" y="3600"/>
              <a:ext cx="1152" cy="336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57434" name="Line 108"/>
            <p:cNvSpPr/>
            <p:nvPr/>
          </p:nvSpPr>
          <p:spPr>
            <a:xfrm flipH="1" flipV="1">
              <a:off x="3936" y="3600"/>
              <a:ext cx="1008" cy="336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357383" name="Text Box 109"/>
          <p:cNvSpPr txBox="1"/>
          <p:nvPr/>
        </p:nvSpPr>
        <p:spPr>
          <a:xfrm>
            <a:off x="2041525" y="334963"/>
            <a:ext cx="33337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3. </a:t>
            </a:r>
            <a:r>
              <a:rPr lang="zh-CN" altLang="en-US" sz="3200" b="1" dirty="0">
                <a:latin typeface="Times New Roman" panose="02020603050405020304" pitchFamily="18" charset="0"/>
              </a:rPr>
              <a:t>组相联映射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90926" name="Rectangle 11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57385" name="Group 111"/>
          <p:cNvGrpSpPr/>
          <p:nvPr/>
        </p:nvGrpSpPr>
        <p:grpSpPr>
          <a:xfrm>
            <a:off x="3348038" y="1414463"/>
            <a:ext cx="6788150" cy="3557587"/>
            <a:chOff x="1149" y="891"/>
            <a:chExt cx="4276" cy="2241"/>
          </a:xfrm>
        </p:grpSpPr>
        <p:grpSp>
          <p:nvGrpSpPr>
            <p:cNvPr id="357388" name="Group 112"/>
            <p:cNvGrpSpPr/>
            <p:nvPr/>
          </p:nvGrpSpPr>
          <p:grpSpPr>
            <a:xfrm>
              <a:off x="4512" y="899"/>
              <a:ext cx="912" cy="249"/>
              <a:chOff x="4512" y="899"/>
              <a:chExt cx="912" cy="249"/>
            </a:xfrm>
          </p:grpSpPr>
          <p:sp>
            <p:nvSpPr>
              <p:cNvPr id="357429" name="Rectangle 113"/>
              <p:cNvSpPr/>
              <p:nvPr/>
            </p:nvSpPr>
            <p:spPr>
              <a:xfrm>
                <a:off x="4512" y="899"/>
                <a:ext cx="912" cy="24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     </a:t>
                </a:r>
                <a:r>
                  <a:rPr lang="zh-CN" altLang="en-US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字块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0</a:t>
                </a:r>
                <a:endParaRPr lang="en-US" altLang="zh-CN" sz="2000" b="1" dirty="0">
                  <a:solidFill>
                    <a:schemeClr val="bg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57430" name="Line 114"/>
              <p:cNvSpPr/>
              <p:nvPr/>
            </p:nvSpPr>
            <p:spPr>
              <a:xfrm>
                <a:off x="4512" y="899"/>
                <a:ext cx="912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7431" name="Line 115"/>
              <p:cNvSpPr/>
              <p:nvPr/>
            </p:nvSpPr>
            <p:spPr>
              <a:xfrm>
                <a:off x="4512" y="1148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57389" name="Group 116"/>
            <p:cNvGrpSpPr/>
            <p:nvPr/>
          </p:nvGrpSpPr>
          <p:grpSpPr>
            <a:xfrm>
              <a:off x="1152" y="1043"/>
              <a:ext cx="2688" cy="249"/>
              <a:chOff x="1152" y="1043"/>
              <a:chExt cx="2688" cy="249"/>
            </a:xfrm>
          </p:grpSpPr>
          <p:sp>
            <p:nvSpPr>
              <p:cNvPr id="357423" name="Rectangle 117"/>
              <p:cNvSpPr/>
              <p:nvPr/>
            </p:nvSpPr>
            <p:spPr>
              <a:xfrm>
                <a:off x="2976" y="1043"/>
                <a:ext cx="864" cy="249"/>
              </a:xfrm>
              <a:prstGeom prst="rect">
                <a:avLst/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    </a:t>
                </a:r>
                <a:r>
                  <a:rPr lang="zh-CN" altLang="en-US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字块 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1</a:t>
                </a:r>
                <a:endParaRPr lang="en-US" altLang="zh-CN" sz="2000" b="1" dirty="0">
                  <a:solidFill>
                    <a:schemeClr val="bg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57424" name="Line 118"/>
              <p:cNvSpPr/>
              <p:nvPr/>
            </p:nvSpPr>
            <p:spPr>
              <a:xfrm>
                <a:off x="2496" y="1043"/>
                <a:ext cx="1344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7425" name="Line 119"/>
              <p:cNvSpPr/>
              <p:nvPr/>
            </p:nvSpPr>
            <p:spPr>
              <a:xfrm>
                <a:off x="2496" y="1292"/>
                <a:ext cx="13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7426" name="Rectangle 120"/>
              <p:cNvSpPr/>
              <p:nvPr/>
            </p:nvSpPr>
            <p:spPr>
              <a:xfrm>
                <a:off x="1632" y="1043"/>
                <a:ext cx="864" cy="249"/>
              </a:xfrm>
              <a:prstGeom prst="rect">
                <a:avLst/>
              </a:pr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    </a:t>
                </a:r>
                <a:r>
                  <a:rPr lang="zh-CN" altLang="en-US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字块 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0</a:t>
                </a:r>
                <a:endParaRPr lang="en-US" altLang="zh-CN" sz="2000" b="1" dirty="0">
                  <a:solidFill>
                    <a:schemeClr val="bg2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357427" name="Line 121"/>
              <p:cNvSpPr/>
              <p:nvPr/>
            </p:nvSpPr>
            <p:spPr>
              <a:xfrm>
                <a:off x="1152" y="1043"/>
                <a:ext cx="1344" cy="0"/>
              </a:xfrm>
              <a:prstGeom prst="line">
                <a:avLst/>
              </a:prstGeom>
              <a:ln w="38100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57428" name="Line 122"/>
              <p:cNvSpPr/>
              <p:nvPr/>
            </p:nvSpPr>
            <p:spPr>
              <a:xfrm>
                <a:off x="1152" y="1292"/>
                <a:ext cx="1344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57390" name="Line 123"/>
            <p:cNvSpPr/>
            <p:nvPr/>
          </p:nvSpPr>
          <p:spPr>
            <a:xfrm>
              <a:off x="3840" y="1139"/>
              <a:ext cx="672" cy="86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7391" name="Line 124"/>
            <p:cNvSpPr/>
            <p:nvPr/>
          </p:nvSpPr>
          <p:spPr>
            <a:xfrm>
              <a:off x="3840" y="1139"/>
              <a:ext cx="672" cy="182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57392" name="Group 125"/>
            <p:cNvGrpSpPr/>
            <p:nvPr/>
          </p:nvGrpSpPr>
          <p:grpSpPr>
            <a:xfrm>
              <a:off x="1149" y="891"/>
              <a:ext cx="4276" cy="414"/>
              <a:chOff x="1149" y="891"/>
              <a:chExt cx="4276" cy="414"/>
            </a:xfrm>
          </p:grpSpPr>
          <p:sp>
            <p:nvSpPr>
              <p:cNvPr id="357407" name="Line 126"/>
              <p:cNvSpPr/>
              <p:nvPr/>
            </p:nvSpPr>
            <p:spPr>
              <a:xfrm flipV="1">
                <a:off x="3840" y="995"/>
                <a:ext cx="672" cy="144"/>
              </a:xfrm>
              <a:prstGeom prst="line">
                <a:avLst/>
              </a:prstGeom>
              <a:ln w="3810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57408" name="Group 127"/>
              <p:cNvGrpSpPr/>
              <p:nvPr/>
            </p:nvGrpSpPr>
            <p:grpSpPr>
              <a:xfrm>
                <a:off x="4512" y="891"/>
                <a:ext cx="913" cy="267"/>
                <a:chOff x="4512" y="891"/>
                <a:chExt cx="913" cy="267"/>
              </a:xfrm>
            </p:grpSpPr>
            <p:sp>
              <p:nvSpPr>
                <p:cNvPr id="357419" name="Line 128"/>
                <p:cNvSpPr/>
                <p:nvPr/>
              </p:nvSpPr>
              <p:spPr>
                <a:xfrm>
                  <a:off x="4512" y="899"/>
                  <a:ext cx="912" cy="0"/>
                </a:xfrm>
                <a:prstGeom prst="line">
                  <a:avLst/>
                </a:prstGeom>
                <a:ln w="38100" cap="sq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20" name="Line 129"/>
                <p:cNvSpPr/>
                <p:nvPr/>
              </p:nvSpPr>
              <p:spPr>
                <a:xfrm>
                  <a:off x="4512" y="1148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21" name="Freeform 130"/>
                <p:cNvSpPr/>
                <p:nvPr/>
              </p:nvSpPr>
              <p:spPr>
                <a:xfrm>
                  <a:off x="4512" y="891"/>
                  <a:ext cx="1" cy="267"/>
                </a:xfrm>
                <a:custGeom>
                  <a:avLst/>
                  <a:gdLst>
                    <a:gd name="txL" fmla="*/ 0 w 1"/>
                    <a:gd name="txT" fmla="*/ 0 h 267"/>
                    <a:gd name="txR" fmla="*/ 1 w 1"/>
                    <a:gd name="txB" fmla="*/ 267 h 267"/>
                  </a:gdLst>
                  <a:ahLst/>
                  <a:cxnLst>
                    <a:cxn ang="0">
                      <a:pos x="0" y="0"/>
                    </a:cxn>
                    <a:cxn ang="0">
                      <a:pos x="0" y="267"/>
                    </a:cxn>
                  </a:cxnLst>
                  <a:rect l="txL" t="txT" r="txR" b="txB"/>
                  <a:pathLst>
                    <a:path w="1" h="267">
                      <a:moveTo>
                        <a:pt x="0" y="0"/>
                      </a:moveTo>
                      <a:lnTo>
                        <a:pt x="0" y="267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22" name="Freeform 131"/>
                <p:cNvSpPr/>
                <p:nvPr/>
              </p:nvSpPr>
              <p:spPr>
                <a:xfrm>
                  <a:off x="5424" y="891"/>
                  <a:ext cx="1" cy="267"/>
                </a:xfrm>
                <a:custGeom>
                  <a:avLst/>
                  <a:gdLst>
                    <a:gd name="txL" fmla="*/ 0 w 1"/>
                    <a:gd name="txT" fmla="*/ 0 h 267"/>
                    <a:gd name="txR" fmla="*/ 1 w 1"/>
                    <a:gd name="txB" fmla="*/ 267 h 267"/>
                  </a:gdLst>
                  <a:ahLst/>
                  <a:cxnLst>
                    <a:cxn ang="0">
                      <a:pos x="0" y="0"/>
                    </a:cxn>
                    <a:cxn ang="0">
                      <a:pos x="0" y="267"/>
                    </a:cxn>
                  </a:cxnLst>
                  <a:rect l="txL" t="txT" r="txR" b="txB"/>
                  <a:pathLst>
                    <a:path w="1" h="267">
                      <a:moveTo>
                        <a:pt x="0" y="0"/>
                      </a:moveTo>
                      <a:lnTo>
                        <a:pt x="0" y="267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57409" name="Group 132"/>
              <p:cNvGrpSpPr/>
              <p:nvPr/>
            </p:nvGrpSpPr>
            <p:grpSpPr>
              <a:xfrm>
                <a:off x="1149" y="1035"/>
                <a:ext cx="2691" cy="270"/>
                <a:chOff x="1149" y="1035"/>
                <a:chExt cx="2691" cy="270"/>
              </a:xfrm>
            </p:grpSpPr>
            <p:sp>
              <p:nvSpPr>
                <p:cNvPr id="357410" name="Line 133"/>
                <p:cNvSpPr/>
                <p:nvPr/>
              </p:nvSpPr>
              <p:spPr>
                <a:xfrm>
                  <a:off x="2496" y="1043"/>
                  <a:ext cx="1344" cy="0"/>
                </a:xfrm>
                <a:prstGeom prst="line">
                  <a:avLst/>
                </a:prstGeom>
                <a:ln w="38100" cap="sq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11" name="Line 134"/>
                <p:cNvSpPr/>
                <p:nvPr/>
              </p:nvSpPr>
              <p:spPr>
                <a:xfrm>
                  <a:off x="2496" y="1292"/>
                  <a:ext cx="1344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12" name="Line 135"/>
                <p:cNvSpPr/>
                <p:nvPr/>
              </p:nvSpPr>
              <p:spPr>
                <a:xfrm>
                  <a:off x="1152" y="1043"/>
                  <a:ext cx="1344" cy="0"/>
                </a:xfrm>
                <a:prstGeom prst="line">
                  <a:avLst/>
                </a:prstGeom>
                <a:ln w="38100" cap="sq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13" name="Line 136"/>
                <p:cNvSpPr/>
                <p:nvPr/>
              </p:nvSpPr>
              <p:spPr>
                <a:xfrm>
                  <a:off x="1152" y="1292"/>
                  <a:ext cx="1344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14" name="Freeform 137"/>
                <p:cNvSpPr/>
                <p:nvPr/>
              </p:nvSpPr>
              <p:spPr>
                <a:xfrm>
                  <a:off x="1149" y="1035"/>
                  <a:ext cx="3" cy="270"/>
                </a:xfrm>
                <a:custGeom>
                  <a:avLst/>
                  <a:gdLst>
                    <a:gd name="txL" fmla="*/ 0 w 3"/>
                    <a:gd name="txT" fmla="*/ 0 h 270"/>
                    <a:gd name="txR" fmla="*/ 3 w 3"/>
                    <a:gd name="txB" fmla="*/ 270 h 270"/>
                  </a:gdLst>
                  <a:ahLst/>
                  <a:cxnLst>
                    <a:cxn ang="0">
                      <a:pos x="0" y="0"/>
                    </a:cxn>
                    <a:cxn ang="0">
                      <a:pos x="3" y="270"/>
                    </a:cxn>
                  </a:cxnLst>
                  <a:rect l="txL" t="txT" r="txR" b="txB"/>
                  <a:pathLst>
                    <a:path w="3" h="270">
                      <a:moveTo>
                        <a:pt x="0" y="0"/>
                      </a:moveTo>
                      <a:lnTo>
                        <a:pt x="3" y="27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15" name="Line 138"/>
                <p:cNvSpPr/>
                <p:nvPr/>
              </p:nvSpPr>
              <p:spPr>
                <a:xfrm>
                  <a:off x="1632" y="1056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16" name="Line 139"/>
                <p:cNvSpPr/>
                <p:nvPr/>
              </p:nvSpPr>
              <p:spPr>
                <a:xfrm>
                  <a:off x="2496" y="1056"/>
                  <a:ext cx="0" cy="24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17" name="Freeform 140"/>
                <p:cNvSpPr/>
                <p:nvPr/>
              </p:nvSpPr>
              <p:spPr>
                <a:xfrm>
                  <a:off x="2973" y="1041"/>
                  <a:ext cx="3" cy="261"/>
                </a:xfrm>
                <a:custGeom>
                  <a:avLst/>
                  <a:gdLst>
                    <a:gd name="txL" fmla="*/ 0 w 3"/>
                    <a:gd name="txT" fmla="*/ 0 h 261"/>
                    <a:gd name="txR" fmla="*/ 3 w 3"/>
                    <a:gd name="txB" fmla="*/ 261 h 261"/>
                  </a:gdLst>
                  <a:ahLst/>
                  <a:cxnLst>
                    <a:cxn ang="0">
                      <a:pos x="3" y="0"/>
                    </a:cxn>
                    <a:cxn ang="0">
                      <a:pos x="0" y="261"/>
                    </a:cxn>
                  </a:cxnLst>
                  <a:rect l="txL" t="txT" r="txR" b="txB"/>
                  <a:pathLst>
                    <a:path w="3" h="261">
                      <a:moveTo>
                        <a:pt x="3" y="0"/>
                      </a:moveTo>
                      <a:lnTo>
                        <a:pt x="0" y="26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18" name="Freeform 141"/>
                <p:cNvSpPr/>
                <p:nvPr/>
              </p:nvSpPr>
              <p:spPr>
                <a:xfrm>
                  <a:off x="3837" y="1038"/>
                  <a:ext cx="3" cy="261"/>
                </a:xfrm>
                <a:custGeom>
                  <a:avLst/>
                  <a:gdLst>
                    <a:gd name="txL" fmla="*/ 0 w 3"/>
                    <a:gd name="txT" fmla="*/ 0 h 261"/>
                    <a:gd name="txR" fmla="*/ 3 w 3"/>
                    <a:gd name="txB" fmla="*/ 261 h 261"/>
                  </a:gdLst>
                  <a:ahLst/>
                  <a:cxnLst>
                    <a:cxn ang="0">
                      <a:pos x="0" y="0"/>
                    </a:cxn>
                    <a:cxn ang="0">
                      <a:pos x="3" y="261"/>
                    </a:cxn>
                  </a:cxnLst>
                  <a:rect l="txL" t="txT" r="txR" b="txB"/>
                  <a:pathLst>
                    <a:path w="3" h="261">
                      <a:moveTo>
                        <a:pt x="0" y="0"/>
                      </a:moveTo>
                      <a:lnTo>
                        <a:pt x="3" y="261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57393" name="Group 142"/>
            <p:cNvGrpSpPr/>
            <p:nvPr/>
          </p:nvGrpSpPr>
          <p:grpSpPr>
            <a:xfrm>
              <a:off x="4509" y="1863"/>
              <a:ext cx="916" cy="273"/>
              <a:chOff x="4509" y="1863"/>
              <a:chExt cx="916" cy="273"/>
            </a:xfrm>
          </p:grpSpPr>
          <p:sp>
            <p:nvSpPr>
              <p:cNvPr id="357401" name="Rectangle 143"/>
              <p:cNvSpPr/>
              <p:nvPr/>
            </p:nvSpPr>
            <p:spPr>
              <a:xfrm>
                <a:off x="4512" y="1876"/>
                <a:ext cx="912" cy="24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    </a:t>
                </a:r>
                <a:r>
                  <a:rPr lang="zh-CN" altLang="en-US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字块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2</a:t>
                </a:r>
                <a:r>
                  <a:rPr lang="en-US" altLang="zh-CN" sz="2000" b="1" i="1" baseline="30000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c</a:t>
                </a:r>
                <a:r>
                  <a:rPr lang="en-US" altLang="zh-CN" sz="2000" b="1" baseline="30000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-</a:t>
                </a:r>
                <a:r>
                  <a:rPr lang="en-US" altLang="zh-CN" sz="2000" b="1" i="1" baseline="30000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r</a:t>
                </a:r>
                <a:endParaRPr lang="en-US" altLang="zh-CN" sz="2000" b="1" i="1" baseline="30000" dirty="0">
                  <a:solidFill>
                    <a:schemeClr val="bg2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357402" name="Group 144"/>
              <p:cNvGrpSpPr/>
              <p:nvPr/>
            </p:nvGrpSpPr>
            <p:grpSpPr>
              <a:xfrm>
                <a:off x="4509" y="1863"/>
                <a:ext cx="916" cy="273"/>
                <a:chOff x="4509" y="1863"/>
                <a:chExt cx="916" cy="273"/>
              </a:xfrm>
            </p:grpSpPr>
            <p:sp>
              <p:nvSpPr>
                <p:cNvPr id="357403" name="Line 145"/>
                <p:cNvSpPr/>
                <p:nvPr/>
              </p:nvSpPr>
              <p:spPr>
                <a:xfrm>
                  <a:off x="4512" y="1876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04" name="Line 146"/>
                <p:cNvSpPr/>
                <p:nvPr/>
              </p:nvSpPr>
              <p:spPr>
                <a:xfrm>
                  <a:off x="4512" y="2125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405" name="Freeform 147"/>
                <p:cNvSpPr/>
                <p:nvPr/>
              </p:nvSpPr>
              <p:spPr>
                <a:xfrm>
                  <a:off x="5424" y="1866"/>
                  <a:ext cx="1" cy="270"/>
                </a:xfrm>
                <a:custGeom>
                  <a:avLst/>
                  <a:gdLst>
                    <a:gd name="txL" fmla="*/ 0 w 1"/>
                    <a:gd name="txT" fmla="*/ 0 h 270"/>
                    <a:gd name="txR" fmla="*/ 1 w 1"/>
                    <a:gd name="txB" fmla="*/ 270 h 270"/>
                  </a:gdLst>
                  <a:ahLst/>
                  <a:cxnLst>
                    <a:cxn ang="0">
                      <a:pos x="0" y="0"/>
                    </a:cxn>
                    <a:cxn ang="0">
                      <a:pos x="0" y="270"/>
                    </a:cxn>
                  </a:cxnLst>
                  <a:rect l="txL" t="txT" r="txR" b="txB"/>
                  <a:pathLst>
                    <a:path w="1" h="270">
                      <a:moveTo>
                        <a:pt x="0" y="0"/>
                      </a:moveTo>
                      <a:lnTo>
                        <a:pt x="0" y="270"/>
                      </a:lnTo>
                    </a:path>
                  </a:pathLst>
                </a:cu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06" name="Freeform 148"/>
                <p:cNvSpPr/>
                <p:nvPr/>
              </p:nvSpPr>
              <p:spPr>
                <a:xfrm>
                  <a:off x="4509" y="1863"/>
                  <a:ext cx="3" cy="273"/>
                </a:xfrm>
                <a:custGeom>
                  <a:avLst/>
                  <a:gdLst>
                    <a:gd name="txL" fmla="*/ 0 w 3"/>
                    <a:gd name="txT" fmla="*/ 0 h 273"/>
                    <a:gd name="txR" fmla="*/ 3 w 3"/>
                    <a:gd name="txB" fmla="*/ 273 h 273"/>
                  </a:gdLst>
                  <a:ahLst/>
                  <a:cxnLst>
                    <a:cxn ang="0">
                      <a:pos x="3" y="0"/>
                    </a:cxn>
                    <a:cxn ang="0">
                      <a:pos x="0" y="273"/>
                    </a:cxn>
                  </a:cxnLst>
                  <a:rect l="txL" t="txT" r="txR" b="txB"/>
                  <a:pathLst>
                    <a:path w="3" h="273">
                      <a:moveTo>
                        <a:pt x="3" y="0"/>
                      </a:moveTo>
                      <a:lnTo>
                        <a:pt x="0" y="273"/>
                      </a:lnTo>
                    </a:path>
                  </a:pathLst>
                </a:custGeom>
                <a:solidFill>
                  <a:schemeClr val="folHlink"/>
                </a:solidFill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57394" name="Group 149"/>
            <p:cNvGrpSpPr/>
            <p:nvPr/>
          </p:nvGrpSpPr>
          <p:grpSpPr>
            <a:xfrm>
              <a:off x="4512" y="2856"/>
              <a:ext cx="913" cy="276"/>
              <a:chOff x="4512" y="2856"/>
              <a:chExt cx="913" cy="276"/>
            </a:xfrm>
          </p:grpSpPr>
          <p:sp>
            <p:nvSpPr>
              <p:cNvPr id="357395" name="Rectangle 150"/>
              <p:cNvSpPr/>
              <p:nvPr/>
            </p:nvSpPr>
            <p:spPr>
              <a:xfrm>
                <a:off x="4512" y="2872"/>
                <a:ext cx="912" cy="24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/>
              <a:p>
                <a:pPr>
                  <a:spcBef>
                    <a:spcPct val="20000"/>
                  </a:spcBef>
                </a:pP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  </a:t>
                </a:r>
                <a:r>
                  <a:rPr lang="zh-CN" altLang="en-US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字块</a:t>
                </a:r>
                <a:r>
                  <a:rPr lang="en-US" altLang="zh-CN" sz="2000" b="1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2</a:t>
                </a:r>
                <a:r>
                  <a:rPr lang="en-US" altLang="zh-CN" sz="2000" b="1" i="1" baseline="30000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c</a:t>
                </a:r>
                <a:r>
                  <a:rPr lang="en-US" altLang="zh-CN" sz="2000" b="1" baseline="30000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-</a:t>
                </a:r>
                <a:r>
                  <a:rPr lang="en-US" altLang="zh-CN" sz="2000" b="1" i="1" baseline="30000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r</a:t>
                </a:r>
                <a:r>
                  <a:rPr lang="en-US" altLang="zh-CN" sz="2000" b="1" baseline="30000" dirty="0">
                    <a:solidFill>
                      <a:schemeClr val="bg2"/>
                    </a:solidFill>
                    <a:latin typeface="Arial" panose="020B0604020202020204" pitchFamily="34" charset="0"/>
                  </a:rPr>
                  <a:t>+1</a:t>
                </a:r>
                <a:endParaRPr lang="en-US" altLang="zh-CN" sz="2000" b="1" baseline="30000" dirty="0">
                  <a:solidFill>
                    <a:schemeClr val="bg2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357396" name="Group 151"/>
              <p:cNvGrpSpPr/>
              <p:nvPr/>
            </p:nvGrpSpPr>
            <p:grpSpPr>
              <a:xfrm>
                <a:off x="4512" y="2856"/>
                <a:ext cx="913" cy="276"/>
                <a:chOff x="4512" y="2856"/>
                <a:chExt cx="913" cy="276"/>
              </a:xfrm>
            </p:grpSpPr>
            <p:sp>
              <p:nvSpPr>
                <p:cNvPr id="357397" name="Line 152"/>
                <p:cNvSpPr/>
                <p:nvPr/>
              </p:nvSpPr>
              <p:spPr>
                <a:xfrm>
                  <a:off x="4512" y="2872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398" name="Line 153"/>
                <p:cNvSpPr/>
                <p:nvPr/>
              </p:nvSpPr>
              <p:spPr>
                <a:xfrm>
                  <a:off x="4512" y="3121"/>
                  <a:ext cx="912" cy="0"/>
                </a:xfrm>
                <a:prstGeom prst="line">
                  <a:avLst/>
                </a:prstGeom>
                <a:ln w="38100" cap="flat" cmpd="sng">
                  <a:solidFill>
                    <a:schemeClr val="folHlink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7399" name="Freeform 154"/>
                <p:cNvSpPr/>
                <p:nvPr/>
              </p:nvSpPr>
              <p:spPr>
                <a:xfrm>
                  <a:off x="4512" y="2856"/>
                  <a:ext cx="1" cy="276"/>
                </a:xfrm>
                <a:custGeom>
                  <a:avLst/>
                  <a:gdLst>
                    <a:gd name="txL" fmla="*/ 0 w 1"/>
                    <a:gd name="txT" fmla="*/ 0 h 276"/>
                    <a:gd name="txR" fmla="*/ 1 w 1"/>
                    <a:gd name="txB" fmla="*/ 276 h 276"/>
                  </a:gdLst>
                  <a:ahLst/>
                  <a:cxnLst>
                    <a:cxn ang="0">
                      <a:pos x="0" y="0"/>
                    </a:cxn>
                    <a:cxn ang="0">
                      <a:pos x="0" y="276"/>
                    </a:cxn>
                  </a:cxnLst>
                  <a:rect l="txL" t="txT" r="txR" b="txB"/>
                  <a:pathLst>
                    <a:path w="1" h="276">
                      <a:moveTo>
                        <a:pt x="0" y="0"/>
                      </a:moveTo>
                      <a:lnTo>
                        <a:pt x="0" y="27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57400" name="Freeform 155"/>
                <p:cNvSpPr/>
                <p:nvPr/>
              </p:nvSpPr>
              <p:spPr>
                <a:xfrm>
                  <a:off x="5424" y="2859"/>
                  <a:ext cx="1" cy="273"/>
                </a:xfrm>
                <a:custGeom>
                  <a:avLst/>
                  <a:gdLst>
                    <a:gd name="txL" fmla="*/ 0 w 1"/>
                    <a:gd name="txT" fmla="*/ 0 h 273"/>
                    <a:gd name="txR" fmla="*/ 1 w 1"/>
                    <a:gd name="txB" fmla="*/ 273 h 273"/>
                  </a:gdLst>
                  <a:ahLst/>
                  <a:cxnLst>
                    <a:cxn ang="0">
                      <a:pos x="0" y="0"/>
                    </a:cxn>
                    <a:cxn ang="0">
                      <a:pos x="0" y="273"/>
                    </a:cxn>
                  </a:cxnLst>
                  <a:rect l="txL" t="txT" r="txR" b="txB"/>
                  <a:pathLst>
                    <a:path w="1" h="273">
                      <a:moveTo>
                        <a:pt x="0" y="0"/>
                      </a:moveTo>
                      <a:lnTo>
                        <a:pt x="0" y="27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folHlink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357386" name="AutoShape 15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738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02" name="Text Box 5"/>
          <p:cNvSpPr txBox="1"/>
          <p:nvPr/>
        </p:nvSpPr>
        <p:spPr>
          <a:xfrm>
            <a:off x="3276600" y="1371600"/>
            <a:ext cx="4114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sz="36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小结</a:t>
            </a:r>
            <a:endParaRPr lang="zh-CN" altLang="en-US" sz="36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03" name="Text Box 6"/>
          <p:cNvSpPr txBox="1"/>
          <p:nvPr/>
        </p:nvSpPr>
        <p:spPr>
          <a:xfrm>
            <a:off x="3648075" y="3981450"/>
            <a:ext cx="64627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某一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主存块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只能固定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映射到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某一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缓存块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58404" name="Group 7"/>
          <p:cNvGrpSpPr/>
          <p:nvPr/>
        </p:nvGrpSpPr>
        <p:grpSpPr>
          <a:xfrm>
            <a:off x="2376488" y="3908425"/>
            <a:ext cx="1249362" cy="2198688"/>
            <a:chOff x="96" y="2462"/>
            <a:chExt cx="787" cy="1385"/>
          </a:xfrm>
        </p:grpSpPr>
        <p:sp>
          <p:nvSpPr>
            <p:cNvPr id="358412" name="Text Box 8"/>
            <p:cNvSpPr txBox="1"/>
            <p:nvPr/>
          </p:nvSpPr>
          <p:spPr>
            <a:xfrm>
              <a:off x="96" y="2462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直接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8413" name="Text Box 9"/>
            <p:cNvSpPr txBox="1"/>
            <p:nvPr/>
          </p:nvSpPr>
          <p:spPr>
            <a:xfrm>
              <a:off x="96" y="2990"/>
              <a:ext cx="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全相联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58414" name="Text Box 10"/>
            <p:cNvSpPr txBox="1"/>
            <p:nvPr/>
          </p:nvSpPr>
          <p:spPr>
            <a:xfrm>
              <a:off x="96" y="3518"/>
              <a:ext cx="78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组相联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58405" name="Text Box 11"/>
          <p:cNvSpPr txBox="1"/>
          <p:nvPr/>
        </p:nvSpPr>
        <p:spPr>
          <a:xfrm>
            <a:off x="3648075" y="4805363"/>
            <a:ext cx="68437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某一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主存块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能 </a:t>
            </a:r>
            <a:r>
              <a:rPr lang="zh-CN" altLang="en-US" sz="2400" b="1" dirty="0">
                <a:latin typeface="Times New Roman" panose="02020603050405020304" pitchFamily="18" charset="0"/>
              </a:rPr>
              <a:t>映射到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任一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缓存块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58406" name="Text Box 12"/>
          <p:cNvSpPr txBox="1"/>
          <p:nvPr/>
        </p:nvSpPr>
        <p:spPr>
          <a:xfrm>
            <a:off x="3648075" y="5643563"/>
            <a:ext cx="714851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某一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主存块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只能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映射到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某一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缓存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组 </a:t>
            </a:r>
            <a:r>
              <a:rPr lang="zh-CN" altLang="en-US" sz="2400" b="1" dirty="0">
                <a:latin typeface="Times New Roman" panose="02020603050405020304" pitchFamily="18" charset="0"/>
              </a:rPr>
              <a:t>中的 </a:t>
            </a:r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任一块</a:t>
            </a:r>
            <a:endParaRPr lang="zh-CN" altLang="en-US" sz="2400" b="1" dirty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07" name="AutoShape 13"/>
          <p:cNvSpPr/>
          <p:nvPr/>
        </p:nvSpPr>
        <p:spPr>
          <a:xfrm>
            <a:off x="3962400" y="3030538"/>
            <a:ext cx="1306558" cy="578848"/>
          </a:xfrm>
          <a:prstGeom prst="wedgeRoundRectCallout">
            <a:avLst>
              <a:gd name="adj1" fmla="val -96065"/>
              <a:gd name="adj2" fmla="val 151125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不灵活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58408" name="AutoShape 14"/>
          <p:cNvSpPr/>
          <p:nvPr/>
        </p:nvSpPr>
        <p:spPr>
          <a:xfrm>
            <a:off x="1676400" y="3352800"/>
            <a:ext cx="1306558" cy="578848"/>
          </a:xfrm>
          <a:prstGeom prst="wedgeRoundRectCallout">
            <a:avLst>
              <a:gd name="adj1" fmla="val 91019"/>
              <a:gd name="adj2" fmla="val 193324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成本高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91855" name="Rectangle 1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4.3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10" name="AutoShape 16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411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94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35942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Cache</a:t>
            </a:r>
            <a:r>
              <a:rPr lang="zh-CN" altLang="en-US" dirty="0"/>
              <a:t>为</a:t>
            </a:r>
            <a:r>
              <a:rPr lang="en-US" altLang="zh-CN" dirty="0"/>
              <a:t>8</a:t>
            </a:r>
            <a:r>
              <a:rPr lang="zh-CN" altLang="en-US" dirty="0"/>
              <a:t>块，主存</a:t>
            </a:r>
            <a:r>
              <a:rPr lang="en-US" altLang="zh-CN" dirty="0"/>
              <a:t>16</a:t>
            </a:r>
            <a:r>
              <a:rPr lang="zh-CN" altLang="en-US" dirty="0"/>
              <a:t>块，分别采用三种方式映射主存的块号是</a:t>
            </a:r>
            <a:r>
              <a:rPr lang="en-US" altLang="zh-CN" dirty="0"/>
              <a:t>9</a:t>
            </a:r>
            <a:r>
              <a:rPr lang="zh-CN" altLang="en-US" dirty="0"/>
              <a:t>对应到</a:t>
            </a:r>
            <a:r>
              <a:rPr lang="en-US" altLang="zh-CN" dirty="0"/>
              <a:t>cache</a:t>
            </a:r>
            <a:r>
              <a:rPr lang="zh-CN" altLang="en-US" dirty="0"/>
              <a:t>中。其中分</a:t>
            </a:r>
            <a:r>
              <a:rPr lang="en-US" altLang="zh-CN" dirty="0"/>
              <a:t>4</a:t>
            </a:r>
            <a:r>
              <a:rPr lang="zh-CN" altLang="en-US" dirty="0"/>
              <a:t>组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要求写出</a:t>
            </a:r>
            <a:r>
              <a:rPr lang="en-US" altLang="zh-CN" dirty="0"/>
              <a:t>tag </a:t>
            </a:r>
            <a:r>
              <a:rPr lang="zh-CN" altLang="en-US" dirty="0"/>
              <a:t>占几个二进制位，</a:t>
            </a:r>
            <a:r>
              <a:rPr lang="en-US" altLang="zh-CN" dirty="0"/>
              <a:t>tag</a:t>
            </a:r>
            <a:r>
              <a:rPr lang="zh-CN" altLang="en-US" dirty="0"/>
              <a:t>值是多少。</a:t>
            </a:r>
            <a:endParaRPr lang="zh-CN" altLang="en-US" dirty="0"/>
          </a:p>
        </p:txBody>
      </p:sp>
      <p:sp>
        <p:nvSpPr>
          <p:cNvPr id="35942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04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pic>
        <p:nvPicPr>
          <p:cNvPr id="360451" name="Picture 3" descr="arch5_20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611563" y="1600200"/>
            <a:ext cx="4968875" cy="4525963"/>
          </a:xfrm>
        </p:spPr>
      </p:pic>
      <p:sp>
        <p:nvSpPr>
          <p:cNvPr id="36045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14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pic>
        <p:nvPicPr>
          <p:cNvPr id="361475" name="Picture 3" descr="arch5_21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298825" y="1600200"/>
            <a:ext cx="5594350" cy="4525963"/>
          </a:xfrm>
        </p:spPr>
      </p:pic>
      <p:sp>
        <p:nvSpPr>
          <p:cNvPr id="36147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24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pic>
        <p:nvPicPr>
          <p:cNvPr id="362499" name="Picture 3" descr="arch5_22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3003550" y="1600200"/>
            <a:ext cx="6183313" cy="4525963"/>
          </a:xfrm>
        </p:spPr>
      </p:pic>
      <p:sp>
        <p:nvSpPr>
          <p:cNvPr id="36250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35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pic>
        <p:nvPicPr>
          <p:cNvPr id="363523" name="Picture 3" descr="arch5_25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719388" y="1600200"/>
            <a:ext cx="6751637" cy="4525963"/>
          </a:xfrm>
        </p:spPr>
      </p:pic>
      <p:sp>
        <p:nvSpPr>
          <p:cNvPr id="363524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45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3645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4.8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4.9</a:t>
            </a:r>
            <a:endParaRPr lang="en-US" altLang="zh-CN" dirty="0"/>
          </a:p>
        </p:txBody>
      </p:sp>
      <p:sp>
        <p:nvSpPr>
          <p:cNvPr id="36454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55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36557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sp>
        <p:nvSpPr>
          <p:cNvPr id="365572" name="Text Box 4"/>
          <p:cNvSpPr txBox="1"/>
          <p:nvPr/>
        </p:nvSpPr>
        <p:spPr>
          <a:xfrm>
            <a:off x="2057400" y="381000"/>
            <a:ext cx="4110038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三、替换算法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65573" name="Text Box 5"/>
          <p:cNvSpPr txBox="1"/>
          <p:nvPr/>
        </p:nvSpPr>
        <p:spPr>
          <a:xfrm>
            <a:off x="2590800" y="1249363"/>
            <a:ext cx="531939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 </a:t>
            </a:r>
            <a:r>
              <a:rPr lang="zh-CN" altLang="en-US" sz="3200" b="1" dirty="0">
                <a:latin typeface="Times New Roman" panose="02020603050405020304" pitchFamily="18" charset="0"/>
              </a:rPr>
              <a:t>先进先出 （ </a:t>
            </a:r>
            <a:r>
              <a:rPr lang="en-US" altLang="zh-CN" sz="3200" b="1" dirty="0">
                <a:latin typeface="Times New Roman" panose="02020603050405020304" pitchFamily="18" charset="0"/>
              </a:rPr>
              <a:t>FIFO </a:t>
            </a:r>
            <a:r>
              <a:rPr lang="zh-CN" altLang="en-US" sz="3200" b="1" dirty="0">
                <a:latin typeface="Times New Roman" panose="02020603050405020304" pitchFamily="18" charset="0"/>
              </a:rPr>
              <a:t>）算法 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65574" name="Text Box 6"/>
          <p:cNvSpPr txBox="1"/>
          <p:nvPr/>
        </p:nvSpPr>
        <p:spPr>
          <a:xfrm>
            <a:off x="2590800" y="2087563"/>
            <a:ext cx="70342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2.  </a:t>
            </a:r>
            <a:r>
              <a:rPr lang="zh-CN" altLang="en-US" sz="3200" b="1" dirty="0">
                <a:latin typeface="Times New Roman" panose="02020603050405020304" pitchFamily="18" charset="0"/>
              </a:rPr>
              <a:t>近期最少使用（ </a:t>
            </a:r>
            <a:r>
              <a:rPr lang="en-US" altLang="zh-CN" sz="3200" b="1" dirty="0">
                <a:latin typeface="Times New Roman" panose="02020603050405020304" pitchFamily="18" charset="0"/>
              </a:rPr>
              <a:t>LRU</a:t>
            </a:r>
            <a:r>
              <a:rPr lang="zh-CN" altLang="en-US" sz="3200" b="1" dirty="0">
                <a:latin typeface="Times New Roman" panose="02020603050405020304" pitchFamily="18" charset="0"/>
              </a:rPr>
              <a:t>）算法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65575" name="Text Box 7"/>
          <p:cNvSpPr txBox="1"/>
          <p:nvPr/>
        </p:nvSpPr>
        <p:spPr>
          <a:xfrm>
            <a:off x="2667000" y="2895600"/>
            <a:ext cx="70342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3.  </a:t>
            </a:r>
            <a:r>
              <a:rPr lang="zh-CN" altLang="en-US" sz="3200" b="1" dirty="0">
                <a:latin typeface="Times New Roman" panose="02020603050405020304" pitchFamily="18" charset="0"/>
              </a:rPr>
              <a:t>随机法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6557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6594" name="Rectangle 2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561975"/>
          </a:xfrm>
        </p:spPr>
        <p:txBody>
          <a:bodyPr vert="horz" wrap="square" lIns="91440" tIns="45720" rIns="91440" bIns="45720" anchor="ctr" anchorCtr="0">
            <a:normAutofit fontScale="90000"/>
          </a:bodyPr>
          <a:p>
            <a:pPr eaLnBrk="1" hangingPunct="1"/>
            <a:r>
              <a:rPr lang="zh-CN" altLang="en-US" sz="4000" b="1" dirty="0"/>
              <a:t>存 储 器总结</a:t>
            </a:r>
            <a:endParaRPr lang="zh-CN" altLang="en-US" sz="4000" b="1" dirty="0"/>
          </a:p>
        </p:txBody>
      </p:sp>
      <p:sp>
        <p:nvSpPr>
          <p:cNvPr id="366595" name="Rectangle 3"/>
          <p:cNvSpPr>
            <a:spLocks noGrp="1"/>
          </p:cNvSpPr>
          <p:nvPr>
            <p:ph idx="1"/>
          </p:nvPr>
        </p:nvSpPr>
        <p:spPr>
          <a:xfrm>
            <a:off x="1981200" y="981075"/>
            <a:ext cx="8229600" cy="5145088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存储器分类 </a:t>
            </a:r>
            <a:endParaRPr lang="zh-CN" altLang="en-US" b="1" dirty="0"/>
          </a:p>
          <a:p>
            <a:pPr lvl="1" eaLnBrk="1" hangingPunct="1"/>
            <a:r>
              <a:rPr lang="zh-CN" altLang="en-US" b="1" dirty="0">
                <a:solidFill>
                  <a:srgbClr val="CC00FF"/>
                </a:solidFill>
              </a:rPr>
              <a:t>按在计算机中的作用分类：内存  外存</a:t>
            </a:r>
            <a:endParaRPr lang="zh-CN" altLang="en-US" b="1" dirty="0">
              <a:solidFill>
                <a:srgbClr val="CC00FF"/>
              </a:solidFill>
            </a:endParaRPr>
          </a:p>
          <a:p>
            <a:pPr eaLnBrk="1" hangingPunct="1"/>
            <a:r>
              <a:rPr lang="zh-CN" altLang="en-US" b="1" dirty="0"/>
              <a:t>存储器的层次结构</a:t>
            </a:r>
            <a:endParaRPr lang="zh-CN" altLang="en-US" b="1" dirty="0"/>
          </a:p>
          <a:p>
            <a:pPr eaLnBrk="1" hangingPunct="1"/>
            <a:r>
              <a:rPr lang="en-US" altLang="zh-CN" b="1" dirty="0"/>
              <a:t>CPU</a:t>
            </a:r>
            <a:r>
              <a:rPr lang="zh-CN" altLang="en-US" b="1" dirty="0"/>
              <a:t>和存储器的连接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静态</a:t>
            </a:r>
            <a:r>
              <a:rPr lang="en-US" altLang="zh-CN" b="1" dirty="0"/>
              <a:t>RAM</a:t>
            </a:r>
            <a:r>
              <a:rPr lang="zh-CN" altLang="en-US" b="1" dirty="0"/>
              <a:t>和动态</a:t>
            </a:r>
            <a:r>
              <a:rPr lang="en-US" altLang="zh-CN" b="1" dirty="0"/>
              <a:t>RAM</a:t>
            </a:r>
            <a:endParaRPr lang="en-US" altLang="zh-CN" b="1" dirty="0"/>
          </a:p>
          <a:p>
            <a:pPr lvl="1" eaLnBrk="1" hangingPunct="1"/>
            <a:r>
              <a:rPr lang="zh-CN" altLang="en-US" b="1" dirty="0"/>
              <a:t>存储原理</a:t>
            </a:r>
            <a:endParaRPr lang="zh-CN" altLang="en-US" b="1" dirty="0"/>
          </a:p>
          <a:p>
            <a:pPr lvl="1" eaLnBrk="1" hangingPunct="1"/>
            <a:r>
              <a:rPr lang="zh-CN" altLang="en-US" b="1" dirty="0"/>
              <a:t>动态</a:t>
            </a:r>
            <a:r>
              <a:rPr lang="en-US" altLang="zh-CN" b="1" dirty="0"/>
              <a:t>RAM</a:t>
            </a:r>
            <a:r>
              <a:rPr lang="zh-CN" altLang="en-US" b="1" dirty="0"/>
              <a:t>刷新</a:t>
            </a:r>
            <a:endParaRPr lang="zh-CN" altLang="en-US" b="1" dirty="0"/>
          </a:p>
          <a:p>
            <a:pPr lvl="1" eaLnBrk="1" hangingPunct="1"/>
            <a:r>
              <a:rPr lang="zh-CN" altLang="en-US" b="1" dirty="0"/>
              <a:t>特点的比较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提高访存速度措施：</a:t>
            </a:r>
            <a:r>
              <a:rPr lang="en-US" altLang="zh-CN" b="1" dirty="0"/>
              <a:t>cache</a:t>
            </a:r>
            <a:endParaRPr lang="zh-CN" altLang="en-US" b="1" dirty="0"/>
          </a:p>
          <a:p>
            <a:pPr eaLnBrk="1" hangingPunct="1"/>
            <a:endParaRPr lang="en-US" altLang="zh-CN" b="1" dirty="0"/>
          </a:p>
        </p:txBody>
      </p:sp>
      <p:sp>
        <p:nvSpPr>
          <p:cNvPr id="366596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76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习题</a:t>
            </a:r>
            <a:endParaRPr lang="zh-CN" altLang="en-US" dirty="0"/>
          </a:p>
        </p:txBody>
      </p:sp>
      <p:sp>
        <p:nvSpPr>
          <p:cNvPr id="3676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zh-CN" dirty="0"/>
          </a:p>
        </p:txBody>
      </p:sp>
      <p:sp>
        <p:nvSpPr>
          <p:cNvPr id="36762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42" name="Rectangle 2"/>
          <p:cNvSpPr>
            <a:spLocks noGrp="1"/>
          </p:cNvSpPr>
          <p:nvPr>
            <p:ph type="title"/>
          </p:nvPr>
        </p:nvSpPr>
        <p:spPr>
          <a:xfrm>
            <a:off x="2209800" y="152400"/>
            <a:ext cx="7772400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1" dirty="0"/>
              <a:t>4.4   </a:t>
            </a:r>
            <a:r>
              <a:rPr lang="zh-CN" altLang="en-US" b="1" dirty="0"/>
              <a:t>辅助存储器</a:t>
            </a:r>
            <a:endParaRPr lang="zh-CN" altLang="en-US" b="1" dirty="0"/>
          </a:p>
        </p:txBody>
      </p:sp>
      <p:sp>
        <p:nvSpPr>
          <p:cNvPr id="368643" name="Text Box 3"/>
          <p:cNvSpPr txBox="1"/>
          <p:nvPr/>
        </p:nvSpPr>
        <p:spPr>
          <a:xfrm>
            <a:off x="1676400" y="981075"/>
            <a:ext cx="2133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一、概述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68644" name="Text Box 4"/>
          <p:cNvSpPr txBox="1"/>
          <p:nvPr/>
        </p:nvSpPr>
        <p:spPr>
          <a:xfrm>
            <a:off x="2057400" y="1590675"/>
            <a:ext cx="1676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1.  </a:t>
            </a:r>
            <a:r>
              <a:rPr lang="zh-CN" altLang="en-US" sz="2800" b="1" dirty="0">
                <a:latin typeface="Times New Roman" panose="02020603050405020304" pitchFamily="18" charset="0"/>
              </a:rPr>
              <a:t>特点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68645" name="Text Box 5"/>
          <p:cNvSpPr txBox="1"/>
          <p:nvPr/>
        </p:nvSpPr>
        <p:spPr>
          <a:xfrm>
            <a:off x="3657600" y="1543050"/>
            <a:ext cx="4472305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不直接与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CPU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交换信息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46" name="Text Box 6"/>
          <p:cNvSpPr txBox="1"/>
          <p:nvPr/>
        </p:nvSpPr>
        <p:spPr>
          <a:xfrm>
            <a:off x="2057400" y="2152650"/>
            <a:ext cx="5181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2.  </a:t>
            </a:r>
            <a:r>
              <a:rPr lang="zh-CN" altLang="en-US" sz="2800" b="1" dirty="0">
                <a:latin typeface="Times New Roman" panose="02020603050405020304" pitchFamily="18" charset="0"/>
              </a:rPr>
              <a:t>磁表面存储器的技术指标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368647" name="Group 7"/>
          <p:cNvGrpSpPr/>
          <p:nvPr/>
        </p:nvGrpSpPr>
        <p:grpSpPr>
          <a:xfrm>
            <a:off x="4949825" y="2809875"/>
            <a:ext cx="3352800" cy="460375"/>
            <a:chOff x="2592" y="1872"/>
            <a:chExt cx="2112" cy="290"/>
          </a:xfrm>
        </p:grpSpPr>
        <p:sp>
          <p:nvSpPr>
            <p:cNvPr id="368665" name="Text Box 8"/>
            <p:cNvSpPr txBox="1"/>
            <p:nvPr/>
          </p:nvSpPr>
          <p:spPr>
            <a:xfrm>
              <a:off x="2592" y="1872"/>
              <a:ext cx="115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道密度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t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368666" name="Text Box 9"/>
            <p:cNvSpPr txBox="1"/>
            <p:nvPr/>
          </p:nvSpPr>
          <p:spPr>
            <a:xfrm>
              <a:off x="3696" y="1872"/>
              <a:ext cx="100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位密度 </a:t>
              </a:r>
              <a:r>
                <a:rPr lang="en-US" altLang="zh-CN" sz="24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b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68648" name="Text Box 10"/>
          <p:cNvSpPr txBox="1"/>
          <p:nvPr/>
        </p:nvSpPr>
        <p:spPr>
          <a:xfrm>
            <a:off x="4949825" y="3355975"/>
            <a:ext cx="28987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n </a:t>
            </a:r>
            <a:r>
              <a:rPr lang="en-US" altLang="zh-CN" sz="2400" b="1" dirty="0">
                <a:latin typeface="Times New Roman" panose="02020603050405020304" pitchFamily="18" charset="0"/>
              </a:rPr>
              <a:t>×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 </a:t>
            </a:r>
            <a:r>
              <a:rPr lang="en-US" altLang="zh-CN" sz="2400" b="1" dirty="0">
                <a:latin typeface="Times New Roman" panose="02020603050405020304" pitchFamily="18" charset="0"/>
              </a:rPr>
              <a:t>×</a:t>
            </a:r>
            <a:r>
              <a:rPr lang="en-US" altLang="zh-CN" sz="20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368649" name="Text Box 11"/>
          <p:cNvSpPr txBox="1"/>
          <p:nvPr/>
        </p:nvSpPr>
        <p:spPr>
          <a:xfrm>
            <a:off x="4949825" y="3902075"/>
            <a:ext cx="54133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寻址时间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</a:rPr>
              <a:t>寻道时间 </a:t>
            </a:r>
            <a:r>
              <a:rPr lang="en-US" altLang="zh-CN" sz="2400" b="1" dirty="0">
                <a:latin typeface="Times New Roman" panose="02020603050405020304" pitchFamily="18" charset="0"/>
              </a:rPr>
              <a:t>+ </a:t>
            </a:r>
            <a:r>
              <a:rPr lang="zh-CN" altLang="en-US" sz="2400" b="1" dirty="0">
                <a:latin typeface="Times New Roman" panose="02020603050405020304" pitchFamily="18" charset="0"/>
              </a:rPr>
              <a:t>等待时间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68650" name="Group 12"/>
          <p:cNvGrpSpPr/>
          <p:nvPr/>
        </p:nvGrpSpPr>
        <p:grpSpPr>
          <a:xfrm>
            <a:off x="1752600" y="2819400"/>
            <a:ext cx="5502275" cy="3729025"/>
            <a:chOff x="634" y="1872"/>
            <a:chExt cx="3024" cy="2355"/>
          </a:xfrm>
        </p:grpSpPr>
        <p:sp>
          <p:nvSpPr>
            <p:cNvPr id="368660" name="Text Box 13"/>
            <p:cNvSpPr txBox="1"/>
            <p:nvPr/>
          </p:nvSpPr>
          <p:spPr>
            <a:xfrm>
              <a:off x="634" y="1872"/>
              <a:ext cx="100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(1)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记录密度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8661" name="Text Box 14"/>
            <p:cNvSpPr txBox="1"/>
            <p:nvPr/>
          </p:nvSpPr>
          <p:spPr>
            <a:xfrm>
              <a:off x="634" y="2216"/>
              <a:ext cx="100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(2)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存储容量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8662" name="Text Box 15"/>
            <p:cNvSpPr txBox="1"/>
            <p:nvPr/>
          </p:nvSpPr>
          <p:spPr>
            <a:xfrm>
              <a:off x="634" y="2560"/>
              <a:ext cx="1343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(3)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平均寻址时间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8663" name="Text Box 16"/>
            <p:cNvSpPr txBox="1"/>
            <p:nvPr/>
          </p:nvSpPr>
          <p:spPr>
            <a:xfrm>
              <a:off x="634" y="3592"/>
              <a:ext cx="3024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(4)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数据传输率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8664" name="Text Box 17"/>
            <p:cNvSpPr txBox="1"/>
            <p:nvPr/>
          </p:nvSpPr>
          <p:spPr>
            <a:xfrm>
              <a:off x="634" y="3936"/>
              <a:ext cx="1728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(5) </a:t>
              </a:r>
              <a:r>
                <a:rPr lang="zh-CN" altLang="en-US" sz="2400" b="1" dirty="0">
                  <a:latin typeface="Times New Roman" panose="02020603050405020304" pitchFamily="18" charset="0"/>
                </a:rPr>
                <a:t>误码率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68651" name="Text Box 18"/>
          <p:cNvSpPr txBox="1"/>
          <p:nvPr/>
        </p:nvSpPr>
        <p:spPr>
          <a:xfrm>
            <a:off x="2590800" y="4638675"/>
            <a:ext cx="216535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b="1" dirty="0">
                <a:latin typeface="Times New Roman" panose="02020603050405020304" pitchFamily="18" charset="0"/>
              </a:rPr>
              <a:t>辅存的速度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grpSp>
        <p:nvGrpSpPr>
          <p:cNvPr id="368652" name="Group 19"/>
          <p:cNvGrpSpPr/>
          <p:nvPr/>
        </p:nvGrpSpPr>
        <p:grpSpPr>
          <a:xfrm>
            <a:off x="4949825" y="4448175"/>
            <a:ext cx="2011049" cy="1006475"/>
            <a:chOff x="2592" y="2904"/>
            <a:chExt cx="880" cy="634"/>
          </a:xfrm>
        </p:grpSpPr>
        <p:sp>
          <p:nvSpPr>
            <p:cNvPr id="368658" name="Text Box 20"/>
            <p:cNvSpPr txBox="1"/>
            <p:nvPr/>
          </p:nvSpPr>
          <p:spPr>
            <a:xfrm>
              <a:off x="2592" y="2904"/>
              <a:ext cx="61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寻址时间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8659" name="Text Box 21"/>
            <p:cNvSpPr txBox="1"/>
            <p:nvPr/>
          </p:nvSpPr>
          <p:spPr>
            <a:xfrm>
              <a:off x="2592" y="3248"/>
              <a:ext cx="88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磁头读写时间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68653" name="AutoShape 22"/>
          <p:cNvSpPr/>
          <p:nvPr/>
        </p:nvSpPr>
        <p:spPr>
          <a:xfrm>
            <a:off x="4797425" y="4598988"/>
            <a:ext cx="152400" cy="762000"/>
          </a:xfrm>
          <a:prstGeom prst="leftBrace">
            <a:avLst>
              <a:gd name="adj1" fmla="val 4127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68654" name="Text Box 23"/>
          <p:cNvSpPr txBox="1"/>
          <p:nvPr/>
        </p:nvSpPr>
        <p:spPr>
          <a:xfrm>
            <a:off x="4949825" y="5540375"/>
            <a:ext cx="3200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1400" b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1400" b="1" dirty="0">
                <a:latin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D</a:t>
            </a:r>
            <a:r>
              <a:rPr lang="en-US" altLang="en-US" sz="2400" b="1" baseline="-25000" dirty="0">
                <a:latin typeface="Times New Roman" panose="02020603050405020304" pitchFamily="18" charset="0"/>
              </a:rPr>
              <a:t>b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×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 V</a:t>
            </a:r>
            <a:endParaRPr lang="en-US" altLang="zh-CN" sz="2400" b="1" i="1" dirty="0">
              <a:latin typeface="Times New Roman" panose="02020603050405020304" pitchFamily="18" charset="0"/>
            </a:endParaRPr>
          </a:p>
        </p:txBody>
      </p:sp>
      <p:sp>
        <p:nvSpPr>
          <p:cNvPr id="368655" name="Text Box 24"/>
          <p:cNvSpPr txBox="1"/>
          <p:nvPr/>
        </p:nvSpPr>
        <p:spPr>
          <a:xfrm>
            <a:off x="4419600" y="6086475"/>
            <a:ext cx="62452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</a:rPr>
              <a:t>出错信息位数与读出信息的总位数之比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368656" name="AutoShape 25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68657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9666" name="Text Box 2"/>
          <p:cNvSpPr txBox="1"/>
          <p:nvPr/>
        </p:nvSpPr>
        <p:spPr>
          <a:xfrm>
            <a:off x="2057400" y="373063"/>
            <a:ext cx="5059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二、磁记录原理和记录方式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69667" name="Text Box 3"/>
          <p:cNvSpPr txBox="1"/>
          <p:nvPr/>
        </p:nvSpPr>
        <p:spPr>
          <a:xfrm>
            <a:off x="2590800" y="1085850"/>
            <a:ext cx="2621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磁记录原理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69668" name="Text Box 4"/>
          <p:cNvSpPr txBox="1"/>
          <p:nvPr/>
        </p:nvSpPr>
        <p:spPr>
          <a:xfrm>
            <a:off x="2989263" y="1668463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写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3893" name="Rectangle 5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69670" name="Group 6"/>
          <p:cNvGrpSpPr/>
          <p:nvPr/>
        </p:nvGrpSpPr>
        <p:grpSpPr>
          <a:xfrm>
            <a:off x="2855913" y="2514600"/>
            <a:ext cx="6589712" cy="3813175"/>
            <a:chOff x="839" y="1584"/>
            <a:chExt cx="4151" cy="2402"/>
          </a:xfrm>
        </p:grpSpPr>
        <p:sp>
          <p:nvSpPr>
            <p:cNvPr id="369673" name="Line 7"/>
            <p:cNvSpPr/>
            <p:nvPr/>
          </p:nvSpPr>
          <p:spPr>
            <a:xfrm>
              <a:off x="1223" y="2127"/>
              <a:ext cx="1" cy="495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74" name="Line 8"/>
            <p:cNvSpPr/>
            <p:nvPr/>
          </p:nvSpPr>
          <p:spPr>
            <a:xfrm>
              <a:off x="1223" y="2127"/>
              <a:ext cx="1032" cy="1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75" name="Rectangle 9"/>
            <p:cNvSpPr/>
            <p:nvPr/>
          </p:nvSpPr>
          <p:spPr>
            <a:xfrm>
              <a:off x="935" y="3157"/>
              <a:ext cx="1155" cy="20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676" name="Rectangle 10"/>
            <p:cNvSpPr/>
            <p:nvPr/>
          </p:nvSpPr>
          <p:spPr>
            <a:xfrm>
              <a:off x="1077" y="3264"/>
              <a:ext cx="96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局部磁化单元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677" name="Line 11"/>
            <p:cNvSpPr/>
            <p:nvPr/>
          </p:nvSpPr>
          <p:spPr>
            <a:xfrm>
              <a:off x="889" y="2908"/>
              <a:ext cx="1941" cy="1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69678" name="Group 12"/>
            <p:cNvGrpSpPr/>
            <p:nvPr/>
          </p:nvGrpSpPr>
          <p:grpSpPr>
            <a:xfrm>
              <a:off x="839" y="2996"/>
              <a:ext cx="2041" cy="112"/>
              <a:chOff x="839" y="3140"/>
              <a:chExt cx="2041" cy="112"/>
            </a:xfrm>
          </p:grpSpPr>
          <p:sp>
            <p:nvSpPr>
              <p:cNvPr id="369872" name="Rectangle 13"/>
              <p:cNvSpPr/>
              <p:nvPr/>
            </p:nvSpPr>
            <p:spPr>
              <a:xfrm>
                <a:off x="839" y="3140"/>
                <a:ext cx="2037" cy="109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73" name="Rectangle 14"/>
              <p:cNvSpPr/>
              <p:nvPr/>
            </p:nvSpPr>
            <p:spPr>
              <a:xfrm>
                <a:off x="839" y="3140"/>
                <a:ext cx="2041" cy="112"/>
              </a:xfrm>
              <a:prstGeom prst="rect">
                <a:avLst/>
              </a:prstGeom>
              <a:noFill/>
              <a:ln w="23813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9679" name="Rectangle 15"/>
            <p:cNvSpPr/>
            <p:nvPr/>
          </p:nvSpPr>
          <p:spPr>
            <a:xfrm>
              <a:off x="2445" y="3264"/>
              <a:ext cx="48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载磁体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680" name="Line 16"/>
            <p:cNvSpPr/>
            <p:nvPr/>
          </p:nvSpPr>
          <p:spPr>
            <a:xfrm>
              <a:off x="1223" y="2622"/>
              <a:ext cx="479" cy="181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81" name="Line 17"/>
            <p:cNvSpPr/>
            <p:nvPr/>
          </p:nvSpPr>
          <p:spPr>
            <a:xfrm flipV="1">
              <a:off x="1702" y="2714"/>
              <a:ext cx="1" cy="89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82" name="Line 18"/>
            <p:cNvSpPr/>
            <p:nvPr/>
          </p:nvSpPr>
          <p:spPr>
            <a:xfrm flipH="1" flipV="1">
              <a:off x="1391" y="2501"/>
              <a:ext cx="311" cy="213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83" name="Line 19"/>
            <p:cNvSpPr/>
            <p:nvPr/>
          </p:nvSpPr>
          <p:spPr>
            <a:xfrm flipV="1">
              <a:off x="1391" y="2251"/>
              <a:ext cx="1" cy="250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69684" name="Group 20"/>
            <p:cNvGrpSpPr/>
            <p:nvPr/>
          </p:nvGrpSpPr>
          <p:grpSpPr>
            <a:xfrm>
              <a:off x="1330" y="2557"/>
              <a:ext cx="376" cy="233"/>
              <a:chOff x="1330" y="2701"/>
              <a:chExt cx="376" cy="233"/>
            </a:xfrm>
          </p:grpSpPr>
          <p:sp>
            <p:nvSpPr>
              <p:cNvPr id="369866" name="Freeform 21"/>
              <p:cNvSpPr/>
              <p:nvPr/>
            </p:nvSpPr>
            <p:spPr>
              <a:xfrm>
                <a:off x="1660" y="2901"/>
                <a:ext cx="46" cy="33"/>
              </a:xfrm>
              <a:custGeom>
                <a:avLst/>
                <a:gdLst>
                  <a:gd name="txL" fmla="*/ 0 w 46"/>
                  <a:gd name="txT" fmla="*/ 0 h 33"/>
                  <a:gd name="txR" fmla="*/ 46 w 46"/>
                  <a:gd name="txB" fmla="*/ 33 h 33"/>
                </a:gdLst>
                <a:ahLst/>
                <a:cxnLst>
                  <a:cxn ang="0">
                    <a:pos x="42" y="33"/>
                  </a:cxn>
                  <a:cxn ang="0">
                    <a:pos x="42" y="29"/>
                  </a:cxn>
                  <a:cxn ang="0">
                    <a:pos x="46" y="26"/>
                  </a:cxn>
                  <a:cxn ang="0">
                    <a:pos x="46" y="23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4" y="10"/>
                  </a:cxn>
                  <a:cxn ang="0">
                    <a:pos x="42" y="33"/>
                  </a:cxn>
                </a:cxnLst>
                <a:rect l="txL" t="txT" r="txR" b="txB"/>
                <a:pathLst>
                  <a:path w="46" h="33">
                    <a:moveTo>
                      <a:pt x="42" y="33"/>
                    </a:moveTo>
                    <a:lnTo>
                      <a:pt x="42" y="29"/>
                    </a:lnTo>
                    <a:lnTo>
                      <a:pt x="46" y="26"/>
                    </a:lnTo>
                    <a:lnTo>
                      <a:pt x="46" y="23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4" y="10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67" name="Freeform 22"/>
              <p:cNvSpPr/>
              <p:nvPr/>
            </p:nvSpPr>
            <p:spPr>
              <a:xfrm>
                <a:off x="1591" y="2862"/>
                <a:ext cx="50" cy="29"/>
              </a:xfrm>
              <a:custGeom>
                <a:avLst/>
                <a:gdLst>
                  <a:gd name="txL" fmla="*/ 0 w 50"/>
                  <a:gd name="txT" fmla="*/ 0 h 29"/>
                  <a:gd name="txR" fmla="*/ 50 w 50"/>
                  <a:gd name="txB" fmla="*/ 29 h 29"/>
                </a:gdLst>
                <a:ahLst/>
                <a:cxnLst>
                  <a:cxn ang="0">
                    <a:pos x="42" y="29"/>
                  </a:cxn>
                  <a:cxn ang="0">
                    <a:pos x="46" y="29"/>
                  </a:cxn>
                  <a:cxn ang="0">
                    <a:pos x="50" y="26"/>
                  </a:cxn>
                  <a:cxn ang="0">
                    <a:pos x="50" y="22"/>
                  </a:cxn>
                  <a:cxn ang="0">
                    <a:pos x="46" y="19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4" y="9"/>
                  </a:cxn>
                  <a:cxn ang="0">
                    <a:pos x="42" y="29"/>
                  </a:cxn>
                </a:cxnLst>
                <a:rect l="txL" t="txT" r="txR" b="txB"/>
                <a:pathLst>
                  <a:path w="50" h="29">
                    <a:moveTo>
                      <a:pt x="42" y="29"/>
                    </a:moveTo>
                    <a:lnTo>
                      <a:pt x="46" y="29"/>
                    </a:lnTo>
                    <a:lnTo>
                      <a:pt x="50" y="26"/>
                    </a:lnTo>
                    <a:lnTo>
                      <a:pt x="50" y="22"/>
                    </a:lnTo>
                    <a:lnTo>
                      <a:pt x="46" y="19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4" y="9"/>
                    </a:lnTo>
                    <a:lnTo>
                      <a:pt x="42" y="2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68" name="Freeform 23"/>
              <p:cNvSpPr/>
              <p:nvPr/>
            </p:nvSpPr>
            <p:spPr>
              <a:xfrm>
                <a:off x="1526" y="2822"/>
                <a:ext cx="50" cy="30"/>
              </a:xfrm>
              <a:custGeom>
                <a:avLst/>
                <a:gdLst>
                  <a:gd name="txL" fmla="*/ 0 w 50"/>
                  <a:gd name="txT" fmla="*/ 0 h 30"/>
                  <a:gd name="txR" fmla="*/ 50 w 50"/>
                  <a:gd name="txB" fmla="*/ 30 h 30"/>
                </a:gdLst>
                <a:ahLst/>
                <a:cxnLst>
                  <a:cxn ang="0">
                    <a:pos x="42" y="30"/>
                  </a:cxn>
                  <a:cxn ang="0">
                    <a:pos x="46" y="30"/>
                  </a:cxn>
                  <a:cxn ang="0">
                    <a:pos x="50" y="26"/>
                  </a:cxn>
                  <a:cxn ang="0">
                    <a:pos x="50" y="23"/>
                  </a:cxn>
                  <a:cxn ang="0">
                    <a:pos x="46" y="2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42" y="30"/>
                  </a:cxn>
                </a:cxnLst>
                <a:rect l="txL" t="txT" r="txR" b="txB"/>
                <a:pathLst>
                  <a:path w="50" h="30">
                    <a:moveTo>
                      <a:pt x="42" y="30"/>
                    </a:moveTo>
                    <a:lnTo>
                      <a:pt x="46" y="30"/>
                    </a:lnTo>
                    <a:lnTo>
                      <a:pt x="50" y="26"/>
                    </a:lnTo>
                    <a:lnTo>
                      <a:pt x="50" y="23"/>
                    </a:lnTo>
                    <a:lnTo>
                      <a:pt x="46" y="2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42" y="3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69" name="Freeform 24"/>
              <p:cNvSpPr/>
              <p:nvPr/>
            </p:nvSpPr>
            <p:spPr>
              <a:xfrm>
                <a:off x="1460" y="2779"/>
                <a:ext cx="50" cy="33"/>
              </a:xfrm>
              <a:custGeom>
                <a:avLst/>
                <a:gdLst>
                  <a:gd name="txL" fmla="*/ 0 w 50"/>
                  <a:gd name="txT" fmla="*/ 0 h 33"/>
                  <a:gd name="txR" fmla="*/ 50 w 50"/>
                  <a:gd name="txB" fmla="*/ 33 h 33"/>
                </a:gdLst>
                <a:ahLst/>
                <a:cxnLst>
                  <a:cxn ang="0">
                    <a:pos x="43" y="33"/>
                  </a:cxn>
                  <a:cxn ang="0">
                    <a:pos x="47" y="33"/>
                  </a:cxn>
                  <a:cxn ang="0">
                    <a:pos x="50" y="30"/>
                  </a:cxn>
                  <a:cxn ang="0">
                    <a:pos x="50" y="27"/>
                  </a:cxn>
                  <a:cxn ang="0">
                    <a:pos x="47" y="23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43" y="33"/>
                  </a:cxn>
                </a:cxnLst>
                <a:rect l="txL" t="txT" r="txR" b="txB"/>
                <a:pathLst>
                  <a:path w="50" h="33">
                    <a:moveTo>
                      <a:pt x="43" y="33"/>
                    </a:moveTo>
                    <a:lnTo>
                      <a:pt x="47" y="33"/>
                    </a:lnTo>
                    <a:lnTo>
                      <a:pt x="50" y="30"/>
                    </a:lnTo>
                    <a:lnTo>
                      <a:pt x="50" y="27"/>
                    </a:lnTo>
                    <a:lnTo>
                      <a:pt x="47" y="23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43" y="3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70" name="Freeform 25"/>
              <p:cNvSpPr/>
              <p:nvPr/>
            </p:nvSpPr>
            <p:spPr>
              <a:xfrm>
                <a:off x="1395" y="2740"/>
                <a:ext cx="50" cy="33"/>
              </a:xfrm>
              <a:custGeom>
                <a:avLst/>
                <a:gdLst>
                  <a:gd name="txL" fmla="*/ 0 w 50"/>
                  <a:gd name="txT" fmla="*/ 0 h 33"/>
                  <a:gd name="txR" fmla="*/ 50 w 50"/>
                  <a:gd name="txB" fmla="*/ 33 h 33"/>
                </a:gdLst>
                <a:ahLst/>
                <a:cxnLst>
                  <a:cxn ang="0">
                    <a:pos x="42" y="33"/>
                  </a:cxn>
                  <a:cxn ang="0">
                    <a:pos x="46" y="33"/>
                  </a:cxn>
                  <a:cxn ang="0">
                    <a:pos x="50" y="30"/>
                  </a:cxn>
                  <a:cxn ang="0">
                    <a:pos x="50" y="26"/>
                  </a:cxn>
                  <a:cxn ang="0">
                    <a:pos x="46" y="23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42" y="33"/>
                  </a:cxn>
                </a:cxnLst>
                <a:rect l="txL" t="txT" r="txR" b="txB"/>
                <a:pathLst>
                  <a:path w="50" h="33">
                    <a:moveTo>
                      <a:pt x="42" y="33"/>
                    </a:moveTo>
                    <a:lnTo>
                      <a:pt x="46" y="33"/>
                    </a:lnTo>
                    <a:lnTo>
                      <a:pt x="50" y="30"/>
                    </a:lnTo>
                    <a:lnTo>
                      <a:pt x="50" y="26"/>
                    </a:lnTo>
                    <a:lnTo>
                      <a:pt x="46" y="23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71" name="Freeform 26"/>
              <p:cNvSpPr/>
              <p:nvPr/>
            </p:nvSpPr>
            <p:spPr>
              <a:xfrm>
                <a:off x="1330" y="2701"/>
                <a:ext cx="46" cy="32"/>
              </a:xfrm>
              <a:custGeom>
                <a:avLst/>
                <a:gdLst>
                  <a:gd name="txL" fmla="*/ 0 w 46"/>
                  <a:gd name="txT" fmla="*/ 0 h 32"/>
                  <a:gd name="txR" fmla="*/ 46 w 46"/>
                  <a:gd name="txB" fmla="*/ 32 h 32"/>
                </a:gdLst>
                <a:ahLst/>
                <a:cxnLst>
                  <a:cxn ang="0">
                    <a:pos x="38" y="32"/>
                  </a:cxn>
                  <a:cxn ang="0">
                    <a:pos x="42" y="32"/>
                  </a:cxn>
                  <a:cxn ang="0">
                    <a:pos x="46" y="29"/>
                  </a:cxn>
                  <a:cxn ang="0">
                    <a:pos x="46" y="26"/>
                  </a:cxn>
                  <a:cxn ang="0">
                    <a:pos x="42" y="23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4" y="10"/>
                  </a:cxn>
                  <a:cxn ang="0">
                    <a:pos x="38" y="32"/>
                  </a:cxn>
                </a:cxnLst>
                <a:rect l="txL" t="txT" r="txR" b="txB"/>
                <a:pathLst>
                  <a:path w="46" h="32">
                    <a:moveTo>
                      <a:pt x="38" y="32"/>
                    </a:moveTo>
                    <a:lnTo>
                      <a:pt x="42" y="32"/>
                    </a:lnTo>
                    <a:lnTo>
                      <a:pt x="46" y="29"/>
                    </a:lnTo>
                    <a:lnTo>
                      <a:pt x="46" y="26"/>
                    </a:lnTo>
                    <a:lnTo>
                      <a:pt x="42" y="23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4" y="10"/>
                    </a:lnTo>
                    <a:lnTo>
                      <a:pt x="38" y="32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685" name="Group 27"/>
            <p:cNvGrpSpPr/>
            <p:nvPr/>
          </p:nvGrpSpPr>
          <p:grpSpPr>
            <a:xfrm>
              <a:off x="1315" y="2176"/>
              <a:ext cx="11" cy="381"/>
              <a:chOff x="1315" y="2320"/>
              <a:chExt cx="11" cy="381"/>
            </a:xfrm>
          </p:grpSpPr>
          <p:sp>
            <p:nvSpPr>
              <p:cNvPr id="369860" name="Freeform 28"/>
              <p:cNvSpPr/>
              <p:nvPr/>
            </p:nvSpPr>
            <p:spPr>
              <a:xfrm>
                <a:off x="1315" y="2655"/>
                <a:ext cx="11" cy="46"/>
              </a:xfrm>
              <a:custGeom>
                <a:avLst/>
                <a:gdLst>
                  <a:gd name="txL" fmla="*/ 0 w 11"/>
                  <a:gd name="txT" fmla="*/ 0 h 46"/>
                  <a:gd name="txR" fmla="*/ 11 w 11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7" y="42"/>
                  </a:cxn>
                  <a:cxn ang="0">
                    <a:pos x="11" y="42"/>
                  </a:cxn>
                  <a:cxn ang="0">
                    <a:pos x="11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46"/>
                  </a:cxn>
                </a:cxnLst>
                <a:rect l="txL" t="txT" r="txR" b="txB"/>
                <a:pathLst>
                  <a:path w="11" h="46">
                    <a:moveTo>
                      <a:pt x="0" y="46"/>
                    </a:moveTo>
                    <a:lnTo>
                      <a:pt x="4" y="46"/>
                    </a:lnTo>
                    <a:lnTo>
                      <a:pt x="7" y="42"/>
                    </a:lnTo>
                    <a:lnTo>
                      <a:pt x="11" y="42"/>
                    </a:lnTo>
                    <a:lnTo>
                      <a:pt x="11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61" name="Freeform 29"/>
              <p:cNvSpPr/>
              <p:nvPr/>
            </p:nvSpPr>
            <p:spPr>
              <a:xfrm>
                <a:off x="1315" y="2586"/>
                <a:ext cx="11" cy="46"/>
              </a:xfrm>
              <a:custGeom>
                <a:avLst/>
                <a:gdLst>
                  <a:gd name="txL" fmla="*/ 0 w 11"/>
                  <a:gd name="txT" fmla="*/ 0 h 46"/>
                  <a:gd name="txR" fmla="*/ 11 w 11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7" y="42"/>
                  </a:cxn>
                  <a:cxn ang="0">
                    <a:pos x="11" y="42"/>
                  </a:cxn>
                  <a:cxn ang="0">
                    <a:pos x="11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46"/>
                  </a:cxn>
                </a:cxnLst>
                <a:rect l="txL" t="txT" r="txR" b="txB"/>
                <a:pathLst>
                  <a:path w="11" h="46">
                    <a:moveTo>
                      <a:pt x="0" y="46"/>
                    </a:moveTo>
                    <a:lnTo>
                      <a:pt x="4" y="46"/>
                    </a:lnTo>
                    <a:lnTo>
                      <a:pt x="7" y="42"/>
                    </a:lnTo>
                    <a:lnTo>
                      <a:pt x="11" y="42"/>
                    </a:lnTo>
                    <a:lnTo>
                      <a:pt x="11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62" name="Freeform 30"/>
              <p:cNvSpPr/>
              <p:nvPr/>
            </p:nvSpPr>
            <p:spPr>
              <a:xfrm>
                <a:off x="1315" y="2517"/>
                <a:ext cx="11" cy="46"/>
              </a:xfrm>
              <a:custGeom>
                <a:avLst/>
                <a:gdLst>
                  <a:gd name="txL" fmla="*/ 0 w 11"/>
                  <a:gd name="txT" fmla="*/ 0 h 46"/>
                  <a:gd name="txR" fmla="*/ 11 w 11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7" y="43"/>
                  </a:cxn>
                  <a:cxn ang="0">
                    <a:pos x="11" y="43"/>
                  </a:cxn>
                  <a:cxn ang="0">
                    <a:pos x="11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46"/>
                  </a:cxn>
                </a:cxnLst>
                <a:rect l="txL" t="txT" r="txR" b="txB"/>
                <a:pathLst>
                  <a:path w="11" h="46">
                    <a:moveTo>
                      <a:pt x="0" y="46"/>
                    </a:moveTo>
                    <a:lnTo>
                      <a:pt x="4" y="46"/>
                    </a:lnTo>
                    <a:lnTo>
                      <a:pt x="7" y="43"/>
                    </a:lnTo>
                    <a:lnTo>
                      <a:pt x="11" y="43"/>
                    </a:lnTo>
                    <a:lnTo>
                      <a:pt x="11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63" name="Freeform 31"/>
              <p:cNvSpPr/>
              <p:nvPr/>
            </p:nvSpPr>
            <p:spPr>
              <a:xfrm>
                <a:off x="1315" y="2448"/>
                <a:ext cx="11" cy="46"/>
              </a:xfrm>
              <a:custGeom>
                <a:avLst/>
                <a:gdLst>
                  <a:gd name="txL" fmla="*/ 0 w 11"/>
                  <a:gd name="txT" fmla="*/ 0 h 46"/>
                  <a:gd name="txR" fmla="*/ 11 w 11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7" y="43"/>
                  </a:cxn>
                  <a:cxn ang="0">
                    <a:pos x="11" y="43"/>
                  </a:cxn>
                  <a:cxn ang="0">
                    <a:pos x="11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0" y="46"/>
                  </a:cxn>
                </a:cxnLst>
                <a:rect l="txL" t="txT" r="txR" b="txB"/>
                <a:pathLst>
                  <a:path w="11" h="46">
                    <a:moveTo>
                      <a:pt x="0" y="46"/>
                    </a:moveTo>
                    <a:lnTo>
                      <a:pt x="4" y="46"/>
                    </a:lnTo>
                    <a:lnTo>
                      <a:pt x="7" y="43"/>
                    </a:lnTo>
                    <a:lnTo>
                      <a:pt x="11" y="43"/>
                    </a:lnTo>
                    <a:lnTo>
                      <a:pt x="11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64" name="Freeform 32"/>
              <p:cNvSpPr/>
              <p:nvPr/>
            </p:nvSpPr>
            <p:spPr>
              <a:xfrm>
                <a:off x="1315" y="2379"/>
                <a:ext cx="11" cy="46"/>
              </a:xfrm>
              <a:custGeom>
                <a:avLst/>
                <a:gdLst>
                  <a:gd name="txL" fmla="*/ 0 w 11"/>
                  <a:gd name="txT" fmla="*/ 0 h 46"/>
                  <a:gd name="txR" fmla="*/ 11 w 11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7" y="43"/>
                  </a:cxn>
                  <a:cxn ang="0">
                    <a:pos x="11" y="43"/>
                  </a:cxn>
                  <a:cxn ang="0">
                    <a:pos x="11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0" y="46"/>
                  </a:cxn>
                </a:cxnLst>
                <a:rect l="txL" t="txT" r="txR" b="txB"/>
                <a:pathLst>
                  <a:path w="11" h="46">
                    <a:moveTo>
                      <a:pt x="0" y="46"/>
                    </a:moveTo>
                    <a:lnTo>
                      <a:pt x="4" y="46"/>
                    </a:lnTo>
                    <a:lnTo>
                      <a:pt x="7" y="43"/>
                    </a:lnTo>
                    <a:lnTo>
                      <a:pt x="11" y="43"/>
                    </a:lnTo>
                    <a:lnTo>
                      <a:pt x="11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65" name="Freeform 33"/>
              <p:cNvSpPr/>
              <p:nvPr/>
            </p:nvSpPr>
            <p:spPr>
              <a:xfrm>
                <a:off x="1315" y="2320"/>
                <a:ext cx="11" cy="36"/>
              </a:xfrm>
              <a:custGeom>
                <a:avLst/>
                <a:gdLst>
                  <a:gd name="txL" fmla="*/ 0 w 11"/>
                  <a:gd name="txT" fmla="*/ 0 h 36"/>
                  <a:gd name="txR" fmla="*/ 11 w 11"/>
                  <a:gd name="txB" fmla="*/ 36 h 36"/>
                </a:gdLst>
                <a:ahLst/>
                <a:cxnLst>
                  <a:cxn ang="0">
                    <a:pos x="0" y="36"/>
                  </a:cxn>
                  <a:cxn ang="0">
                    <a:pos x="4" y="36"/>
                  </a:cxn>
                  <a:cxn ang="0">
                    <a:pos x="7" y="33"/>
                  </a:cxn>
                  <a:cxn ang="0">
                    <a:pos x="11" y="33"/>
                  </a:cxn>
                  <a:cxn ang="0">
                    <a:pos x="11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0" y="36"/>
                  </a:cxn>
                </a:cxnLst>
                <a:rect l="txL" t="txT" r="txR" b="txB"/>
                <a:pathLst>
                  <a:path w="11" h="36">
                    <a:moveTo>
                      <a:pt x="0" y="36"/>
                    </a:moveTo>
                    <a:lnTo>
                      <a:pt x="4" y="36"/>
                    </a:lnTo>
                    <a:lnTo>
                      <a:pt x="7" y="33"/>
                    </a:lnTo>
                    <a:lnTo>
                      <a:pt x="11" y="33"/>
                    </a:lnTo>
                    <a:lnTo>
                      <a:pt x="11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686" name="Group 34"/>
            <p:cNvGrpSpPr/>
            <p:nvPr/>
          </p:nvGrpSpPr>
          <p:grpSpPr>
            <a:xfrm>
              <a:off x="1602" y="2780"/>
              <a:ext cx="85" cy="167"/>
              <a:chOff x="1602" y="2924"/>
              <a:chExt cx="85" cy="167"/>
            </a:xfrm>
          </p:grpSpPr>
          <p:sp>
            <p:nvSpPr>
              <p:cNvPr id="369857" name="Freeform 35"/>
              <p:cNvSpPr/>
              <p:nvPr/>
            </p:nvSpPr>
            <p:spPr>
              <a:xfrm>
                <a:off x="1656" y="2924"/>
                <a:ext cx="31" cy="46"/>
              </a:xfrm>
              <a:custGeom>
                <a:avLst/>
                <a:gdLst>
                  <a:gd name="txL" fmla="*/ 0 w 31"/>
                  <a:gd name="txT" fmla="*/ 0 h 46"/>
                  <a:gd name="txR" fmla="*/ 31 w 31"/>
                  <a:gd name="txB" fmla="*/ 46 h 46"/>
                </a:gdLst>
                <a:ahLst/>
                <a:cxnLst>
                  <a:cxn ang="0">
                    <a:pos x="31" y="6"/>
                  </a:cxn>
                  <a:cxn ang="0">
                    <a:pos x="27" y="3"/>
                  </a:cxn>
                  <a:cxn ang="0">
                    <a:pos x="23" y="0"/>
                  </a:cxn>
                  <a:cxn ang="0">
                    <a:pos x="19" y="3"/>
                  </a:cxn>
                  <a:cxn ang="0">
                    <a:pos x="0" y="39"/>
                  </a:cxn>
                  <a:cxn ang="0">
                    <a:pos x="0" y="43"/>
                  </a:cxn>
                  <a:cxn ang="0">
                    <a:pos x="4" y="46"/>
                  </a:cxn>
                  <a:cxn ang="0">
                    <a:pos x="8" y="46"/>
                  </a:cxn>
                  <a:cxn ang="0">
                    <a:pos x="12" y="43"/>
                  </a:cxn>
                  <a:cxn ang="0">
                    <a:pos x="31" y="6"/>
                  </a:cxn>
                </a:cxnLst>
                <a:rect l="txL" t="txT" r="txR" b="txB"/>
                <a:pathLst>
                  <a:path w="31" h="46">
                    <a:moveTo>
                      <a:pt x="31" y="6"/>
                    </a:moveTo>
                    <a:lnTo>
                      <a:pt x="27" y="3"/>
                    </a:lnTo>
                    <a:lnTo>
                      <a:pt x="23" y="0"/>
                    </a:lnTo>
                    <a:lnTo>
                      <a:pt x="19" y="3"/>
                    </a:lnTo>
                    <a:lnTo>
                      <a:pt x="0" y="39"/>
                    </a:lnTo>
                    <a:lnTo>
                      <a:pt x="0" y="43"/>
                    </a:lnTo>
                    <a:lnTo>
                      <a:pt x="4" y="46"/>
                    </a:lnTo>
                    <a:lnTo>
                      <a:pt x="8" y="46"/>
                    </a:lnTo>
                    <a:lnTo>
                      <a:pt x="12" y="43"/>
                    </a:lnTo>
                    <a:lnTo>
                      <a:pt x="31" y="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58" name="Freeform 36"/>
              <p:cNvSpPr/>
              <p:nvPr/>
            </p:nvSpPr>
            <p:spPr>
              <a:xfrm>
                <a:off x="1629" y="2986"/>
                <a:ext cx="27" cy="46"/>
              </a:xfrm>
              <a:custGeom>
                <a:avLst/>
                <a:gdLst>
                  <a:gd name="txL" fmla="*/ 0 w 27"/>
                  <a:gd name="txT" fmla="*/ 0 h 46"/>
                  <a:gd name="txR" fmla="*/ 27 w 27"/>
                  <a:gd name="txB" fmla="*/ 46 h 46"/>
                </a:gdLst>
                <a:ahLst/>
                <a:cxnLst>
                  <a:cxn ang="0">
                    <a:pos x="27" y="7"/>
                  </a:cxn>
                  <a:cxn ang="0">
                    <a:pos x="27" y="4"/>
                  </a:cxn>
                  <a:cxn ang="0">
                    <a:pos x="23" y="0"/>
                  </a:cxn>
                  <a:cxn ang="0">
                    <a:pos x="19" y="0"/>
                  </a:cxn>
                  <a:cxn ang="0">
                    <a:pos x="16" y="4"/>
                  </a:cxn>
                  <a:cxn ang="0">
                    <a:pos x="0" y="40"/>
                  </a:cxn>
                  <a:cxn ang="0">
                    <a:pos x="0" y="43"/>
                  </a:cxn>
                  <a:cxn ang="0">
                    <a:pos x="4" y="46"/>
                  </a:cxn>
                  <a:cxn ang="0">
                    <a:pos x="8" y="46"/>
                  </a:cxn>
                  <a:cxn ang="0">
                    <a:pos x="12" y="43"/>
                  </a:cxn>
                  <a:cxn ang="0">
                    <a:pos x="27" y="7"/>
                  </a:cxn>
                </a:cxnLst>
                <a:rect l="txL" t="txT" r="txR" b="txB"/>
                <a:pathLst>
                  <a:path w="27" h="46">
                    <a:moveTo>
                      <a:pt x="27" y="7"/>
                    </a:moveTo>
                    <a:lnTo>
                      <a:pt x="27" y="4"/>
                    </a:lnTo>
                    <a:lnTo>
                      <a:pt x="23" y="0"/>
                    </a:lnTo>
                    <a:lnTo>
                      <a:pt x="19" y="0"/>
                    </a:lnTo>
                    <a:lnTo>
                      <a:pt x="16" y="4"/>
                    </a:lnTo>
                    <a:lnTo>
                      <a:pt x="0" y="40"/>
                    </a:lnTo>
                    <a:lnTo>
                      <a:pt x="0" y="43"/>
                    </a:lnTo>
                    <a:lnTo>
                      <a:pt x="4" y="46"/>
                    </a:lnTo>
                    <a:lnTo>
                      <a:pt x="8" y="46"/>
                    </a:lnTo>
                    <a:lnTo>
                      <a:pt x="12" y="43"/>
                    </a:lnTo>
                    <a:lnTo>
                      <a:pt x="27" y="7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59" name="Freeform 37"/>
              <p:cNvSpPr/>
              <p:nvPr/>
            </p:nvSpPr>
            <p:spPr>
              <a:xfrm>
                <a:off x="1602" y="3052"/>
                <a:ext cx="23" cy="39"/>
              </a:xfrm>
              <a:custGeom>
                <a:avLst/>
                <a:gdLst>
                  <a:gd name="txL" fmla="*/ 0 w 23"/>
                  <a:gd name="txT" fmla="*/ 0 h 39"/>
                  <a:gd name="txR" fmla="*/ 23 w 23"/>
                  <a:gd name="txB" fmla="*/ 39 h 39"/>
                </a:gdLst>
                <a:ahLst/>
                <a:cxnLst>
                  <a:cxn ang="0">
                    <a:pos x="23" y="6"/>
                  </a:cxn>
                  <a:cxn ang="0">
                    <a:pos x="23" y="3"/>
                  </a:cxn>
                  <a:cxn ang="0">
                    <a:pos x="20" y="0"/>
                  </a:cxn>
                  <a:cxn ang="0">
                    <a:pos x="16" y="0"/>
                  </a:cxn>
                  <a:cxn ang="0">
                    <a:pos x="12" y="3"/>
                  </a:cxn>
                  <a:cxn ang="0">
                    <a:pos x="0" y="36"/>
                  </a:cxn>
                  <a:cxn ang="0">
                    <a:pos x="4" y="39"/>
                  </a:cxn>
                  <a:cxn ang="0">
                    <a:pos x="12" y="39"/>
                  </a:cxn>
                  <a:cxn ang="0">
                    <a:pos x="23" y="6"/>
                  </a:cxn>
                </a:cxnLst>
                <a:rect l="txL" t="txT" r="txR" b="txB"/>
                <a:pathLst>
                  <a:path w="23" h="39">
                    <a:moveTo>
                      <a:pt x="23" y="6"/>
                    </a:moveTo>
                    <a:lnTo>
                      <a:pt x="23" y="3"/>
                    </a:lnTo>
                    <a:lnTo>
                      <a:pt x="20" y="0"/>
                    </a:lnTo>
                    <a:lnTo>
                      <a:pt x="16" y="0"/>
                    </a:lnTo>
                    <a:lnTo>
                      <a:pt x="12" y="3"/>
                    </a:lnTo>
                    <a:lnTo>
                      <a:pt x="0" y="36"/>
                    </a:lnTo>
                    <a:lnTo>
                      <a:pt x="4" y="39"/>
                    </a:lnTo>
                    <a:lnTo>
                      <a:pt x="12" y="39"/>
                    </a:lnTo>
                    <a:lnTo>
                      <a:pt x="23" y="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9687" name="Line 38"/>
            <p:cNvSpPr/>
            <p:nvPr/>
          </p:nvSpPr>
          <p:spPr>
            <a:xfrm>
              <a:off x="2255" y="2127"/>
              <a:ext cx="1" cy="495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88" name="Line 39"/>
            <p:cNvSpPr/>
            <p:nvPr/>
          </p:nvSpPr>
          <p:spPr>
            <a:xfrm flipH="1">
              <a:off x="1775" y="2622"/>
              <a:ext cx="480" cy="181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89" name="Line 40"/>
            <p:cNvSpPr/>
            <p:nvPr/>
          </p:nvSpPr>
          <p:spPr>
            <a:xfrm flipV="1">
              <a:off x="1775" y="2714"/>
              <a:ext cx="1" cy="89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90" name="Line 41"/>
            <p:cNvSpPr/>
            <p:nvPr/>
          </p:nvSpPr>
          <p:spPr>
            <a:xfrm flipV="1">
              <a:off x="1775" y="2501"/>
              <a:ext cx="311" cy="213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91" name="Line 42"/>
            <p:cNvSpPr/>
            <p:nvPr/>
          </p:nvSpPr>
          <p:spPr>
            <a:xfrm flipV="1">
              <a:off x="2086" y="2251"/>
              <a:ext cx="1" cy="250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69692" name="Group 43"/>
            <p:cNvGrpSpPr/>
            <p:nvPr/>
          </p:nvGrpSpPr>
          <p:grpSpPr>
            <a:xfrm>
              <a:off x="1771" y="2557"/>
              <a:ext cx="376" cy="233"/>
              <a:chOff x="1771" y="2701"/>
              <a:chExt cx="376" cy="233"/>
            </a:xfrm>
          </p:grpSpPr>
          <p:sp>
            <p:nvSpPr>
              <p:cNvPr id="369851" name="Freeform 44"/>
              <p:cNvSpPr/>
              <p:nvPr/>
            </p:nvSpPr>
            <p:spPr>
              <a:xfrm>
                <a:off x="1771" y="2901"/>
                <a:ext cx="46" cy="33"/>
              </a:xfrm>
              <a:custGeom>
                <a:avLst/>
                <a:gdLst>
                  <a:gd name="txL" fmla="*/ 0 w 46"/>
                  <a:gd name="txT" fmla="*/ 0 h 33"/>
                  <a:gd name="txR" fmla="*/ 46 w 46"/>
                  <a:gd name="txB" fmla="*/ 33 h 33"/>
                </a:gdLst>
                <a:ahLst/>
                <a:cxnLst>
                  <a:cxn ang="0">
                    <a:pos x="4" y="23"/>
                  </a:cxn>
                  <a:cxn ang="0">
                    <a:pos x="0" y="26"/>
                  </a:cxn>
                  <a:cxn ang="0">
                    <a:pos x="4" y="29"/>
                  </a:cxn>
                  <a:cxn ang="0">
                    <a:pos x="8" y="33"/>
                  </a:cxn>
                  <a:cxn ang="0">
                    <a:pos x="42" y="10"/>
                  </a:cxn>
                  <a:cxn ang="0">
                    <a:pos x="46" y="6"/>
                  </a:cxn>
                  <a:cxn ang="0">
                    <a:pos x="46" y="3"/>
                  </a:cxn>
                  <a:cxn ang="0">
                    <a:pos x="42" y="0"/>
                  </a:cxn>
                  <a:cxn ang="0">
                    <a:pos x="39" y="0"/>
                  </a:cxn>
                  <a:cxn ang="0">
                    <a:pos x="4" y="23"/>
                  </a:cxn>
                </a:cxnLst>
                <a:rect l="txL" t="txT" r="txR" b="txB"/>
                <a:pathLst>
                  <a:path w="46" h="33">
                    <a:moveTo>
                      <a:pt x="4" y="23"/>
                    </a:moveTo>
                    <a:lnTo>
                      <a:pt x="0" y="26"/>
                    </a:lnTo>
                    <a:lnTo>
                      <a:pt x="4" y="29"/>
                    </a:lnTo>
                    <a:lnTo>
                      <a:pt x="8" y="33"/>
                    </a:lnTo>
                    <a:lnTo>
                      <a:pt x="42" y="10"/>
                    </a:lnTo>
                    <a:lnTo>
                      <a:pt x="46" y="6"/>
                    </a:lnTo>
                    <a:lnTo>
                      <a:pt x="46" y="3"/>
                    </a:lnTo>
                    <a:lnTo>
                      <a:pt x="42" y="0"/>
                    </a:lnTo>
                    <a:lnTo>
                      <a:pt x="39" y="0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52" name="Freeform 45"/>
              <p:cNvSpPr/>
              <p:nvPr/>
            </p:nvSpPr>
            <p:spPr>
              <a:xfrm>
                <a:off x="1836" y="2862"/>
                <a:ext cx="50" cy="29"/>
              </a:xfrm>
              <a:custGeom>
                <a:avLst/>
                <a:gdLst>
                  <a:gd name="txL" fmla="*/ 0 w 50"/>
                  <a:gd name="txT" fmla="*/ 0 h 29"/>
                  <a:gd name="txR" fmla="*/ 50 w 50"/>
                  <a:gd name="txB" fmla="*/ 29 h 29"/>
                </a:gdLst>
                <a:ahLst/>
                <a:cxnLst>
                  <a:cxn ang="0">
                    <a:pos x="4" y="19"/>
                  </a:cxn>
                  <a:cxn ang="0">
                    <a:pos x="0" y="22"/>
                  </a:cxn>
                  <a:cxn ang="0">
                    <a:pos x="0" y="26"/>
                  </a:cxn>
                  <a:cxn ang="0">
                    <a:pos x="4" y="29"/>
                  </a:cxn>
                  <a:cxn ang="0">
                    <a:pos x="8" y="29"/>
                  </a:cxn>
                  <a:cxn ang="0">
                    <a:pos x="46" y="9"/>
                  </a:cxn>
                  <a:cxn ang="0">
                    <a:pos x="50" y="6"/>
                  </a:cxn>
                  <a:cxn ang="0">
                    <a:pos x="50" y="3"/>
                  </a:cxn>
                  <a:cxn ang="0">
                    <a:pos x="46" y="0"/>
                  </a:cxn>
                  <a:cxn ang="0">
                    <a:pos x="43" y="0"/>
                  </a:cxn>
                  <a:cxn ang="0">
                    <a:pos x="4" y="19"/>
                  </a:cxn>
                </a:cxnLst>
                <a:rect l="txL" t="txT" r="txR" b="txB"/>
                <a:pathLst>
                  <a:path w="50" h="29">
                    <a:moveTo>
                      <a:pt x="4" y="19"/>
                    </a:moveTo>
                    <a:lnTo>
                      <a:pt x="0" y="22"/>
                    </a:lnTo>
                    <a:lnTo>
                      <a:pt x="0" y="26"/>
                    </a:lnTo>
                    <a:lnTo>
                      <a:pt x="4" y="29"/>
                    </a:lnTo>
                    <a:lnTo>
                      <a:pt x="8" y="29"/>
                    </a:lnTo>
                    <a:lnTo>
                      <a:pt x="46" y="9"/>
                    </a:lnTo>
                    <a:lnTo>
                      <a:pt x="50" y="6"/>
                    </a:lnTo>
                    <a:lnTo>
                      <a:pt x="50" y="3"/>
                    </a:lnTo>
                    <a:lnTo>
                      <a:pt x="46" y="0"/>
                    </a:lnTo>
                    <a:lnTo>
                      <a:pt x="43" y="0"/>
                    </a:lnTo>
                    <a:lnTo>
                      <a:pt x="4" y="1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53" name="Freeform 46"/>
              <p:cNvSpPr/>
              <p:nvPr/>
            </p:nvSpPr>
            <p:spPr>
              <a:xfrm>
                <a:off x="1902" y="2822"/>
                <a:ext cx="50" cy="30"/>
              </a:xfrm>
              <a:custGeom>
                <a:avLst/>
                <a:gdLst>
                  <a:gd name="txL" fmla="*/ 0 w 50"/>
                  <a:gd name="txT" fmla="*/ 0 h 30"/>
                  <a:gd name="txR" fmla="*/ 50 w 50"/>
                  <a:gd name="txB" fmla="*/ 30 h 30"/>
                </a:gdLst>
                <a:ahLst/>
                <a:cxnLst>
                  <a:cxn ang="0">
                    <a:pos x="4" y="20"/>
                  </a:cxn>
                  <a:cxn ang="0">
                    <a:pos x="0" y="23"/>
                  </a:cxn>
                  <a:cxn ang="0">
                    <a:pos x="0" y="26"/>
                  </a:cxn>
                  <a:cxn ang="0">
                    <a:pos x="4" y="30"/>
                  </a:cxn>
                  <a:cxn ang="0">
                    <a:pos x="7" y="30"/>
                  </a:cxn>
                  <a:cxn ang="0">
                    <a:pos x="46" y="10"/>
                  </a:cxn>
                  <a:cxn ang="0">
                    <a:pos x="50" y="7"/>
                  </a:cxn>
                  <a:cxn ang="0">
                    <a:pos x="50" y="3"/>
                  </a:cxn>
                  <a:cxn ang="0">
                    <a:pos x="46" y="0"/>
                  </a:cxn>
                  <a:cxn ang="0">
                    <a:pos x="42" y="0"/>
                  </a:cxn>
                  <a:cxn ang="0">
                    <a:pos x="4" y="20"/>
                  </a:cxn>
                </a:cxnLst>
                <a:rect l="txL" t="txT" r="txR" b="txB"/>
                <a:pathLst>
                  <a:path w="50" h="30">
                    <a:moveTo>
                      <a:pt x="4" y="20"/>
                    </a:moveTo>
                    <a:lnTo>
                      <a:pt x="0" y="23"/>
                    </a:lnTo>
                    <a:lnTo>
                      <a:pt x="0" y="26"/>
                    </a:lnTo>
                    <a:lnTo>
                      <a:pt x="4" y="30"/>
                    </a:lnTo>
                    <a:lnTo>
                      <a:pt x="7" y="30"/>
                    </a:lnTo>
                    <a:lnTo>
                      <a:pt x="46" y="10"/>
                    </a:lnTo>
                    <a:lnTo>
                      <a:pt x="50" y="7"/>
                    </a:lnTo>
                    <a:lnTo>
                      <a:pt x="50" y="3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4" y="2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54" name="Freeform 47"/>
              <p:cNvSpPr/>
              <p:nvPr/>
            </p:nvSpPr>
            <p:spPr>
              <a:xfrm>
                <a:off x="1967" y="2779"/>
                <a:ext cx="50" cy="33"/>
              </a:xfrm>
              <a:custGeom>
                <a:avLst/>
                <a:gdLst>
                  <a:gd name="txL" fmla="*/ 0 w 50"/>
                  <a:gd name="txT" fmla="*/ 0 h 33"/>
                  <a:gd name="txR" fmla="*/ 50 w 50"/>
                  <a:gd name="txB" fmla="*/ 33 h 33"/>
                </a:gdLst>
                <a:ahLst/>
                <a:cxnLst>
                  <a:cxn ang="0">
                    <a:pos x="4" y="23"/>
                  </a:cxn>
                  <a:cxn ang="0">
                    <a:pos x="0" y="27"/>
                  </a:cxn>
                  <a:cxn ang="0">
                    <a:pos x="0" y="30"/>
                  </a:cxn>
                  <a:cxn ang="0">
                    <a:pos x="4" y="33"/>
                  </a:cxn>
                  <a:cxn ang="0">
                    <a:pos x="8" y="33"/>
                  </a:cxn>
                  <a:cxn ang="0">
                    <a:pos x="46" y="10"/>
                  </a:cxn>
                  <a:cxn ang="0">
                    <a:pos x="50" y="7"/>
                  </a:cxn>
                  <a:cxn ang="0">
                    <a:pos x="50" y="4"/>
                  </a:cxn>
                  <a:cxn ang="0">
                    <a:pos x="46" y="0"/>
                  </a:cxn>
                  <a:cxn ang="0">
                    <a:pos x="42" y="0"/>
                  </a:cxn>
                  <a:cxn ang="0">
                    <a:pos x="4" y="23"/>
                  </a:cxn>
                </a:cxnLst>
                <a:rect l="txL" t="txT" r="txR" b="txB"/>
                <a:pathLst>
                  <a:path w="50" h="33">
                    <a:moveTo>
                      <a:pt x="4" y="23"/>
                    </a:moveTo>
                    <a:lnTo>
                      <a:pt x="0" y="27"/>
                    </a:lnTo>
                    <a:lnTo>
                      <a:pt x="0" y="30"/>
                    </a:lnTo>
                    <a:lnTo>
                      <a:pt x="4" y="33"/>
                    </a:lnTo>
                    <a:lnTo>
                      <a:pt x="8" y="33"/>
                    </a:lnTo>
                    <a:lnTo>
                      <a:pt x="46" y="10"/>
                    </a:lnTo>
                    <a:lnTo>
                      <a:pt x="50" y="7"/>
                    </a:lnTo>
                    <a:lnTo>
                      <a:pt x="50" y="4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55" name="Freeform 48"/>
              <p:cNvSpPr/>
              <p:nvPr/>
            </p:nvSpPr>
            <p:spPr>
              <a:xfrm>
                <a:off x="2032" y="2740"/>
                <a:ext cx="50" cy="33"/>
              </a:xfrm>
              <a:custGeom>
                <a:avLst/>
                <a:gdLst>
                  <a:gd name="txL" fmla="*/ 0 w 50"/>
                  <a:gd name="txT" fmla="*/ 0 h 33"/>
                  <a:gd name="txR" fmla="*/ 50 w 50"/>
                  <a:gd name="txB" fmla="*/ 33 h 33"/>
                </a:gdLst>
                <a:ahLst/>
                <a:cxnLst>
                  <a:cxn ang="0">
                    <a:pos x="4" y="23"/>
                  </a:cxn>
                  <a:cxn ang="0">
                    <a:pos x="0" y="26"/>
                  </a:cxn>
                  <a:cxn ang="0">
                    <a:pos x="0" y="30"/>
                  </a:cxn>
                  <a:cxn ang="0">
                    <a:pos x="4" y="33"/>
                  </a:cxn>
                  <a:cxn ang="0">
                    <a:pos x="8" y="33"/>
                  </a:cxn>
                  <a:cxn ang="0">
                    <a:pos x="46" y="10"/>
                  </a:cxn>
                  <a:cxn ang="0">
                    <a:pos x="50" y="7"/>
                  </a:cxn>
                  <a:cxn ang="0">
                    <a:pos x="50" y="3"/>
                  </a:cxn>
                  <a:cxn ang="0">
                    <a:pos x="46" y="0"/>
                  </a:cxn>
                  <a:cxn ang="0">
                    <a:pos x="42" y="0"/>
                  </a:cxn>
                  <a:cxn ang="0">
                    <a:pos x="4" y="23"/>
                  </a:cxn>
                </a:cxnLst>
                <a:rect l="txL" t="txT" r="txR" b="txB"/>
                <a:pathLst>
                  <a:path w="50" h="33">
                    <a:moveTo>
                      <a:pt x="4" y="23"/>
                    </a:moveTo>
                    <a:lnTo>
                      <a:pt x="0" y="26"/>
                    </a:lnTo>
                    <a:lnTo>
                      <a:pt x="0" y="30"/>
                    </a:lnTo>
                    <a:lnTo>
                      <a:pt x="4" y="33"/>
                    </a:lnTo>
                    <a:lnTo>
                      <a:pt x="8" y="33"/>
                    </a:lnTo>
                    <a:lnTo>
                      <a:pt x="46" y="10"/>
                    </a:lnTo>
                    <a:lnTo>
                      <a:pt x="50" y="7"/>
                    </a:lnTo>
                    <a:lnTo>
                      <a:pt x="50" y="3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56" name="Freeform 49"/>
              <p:cNvSpPr/>
              <p:nvPr/>
            </p:nvSpPr>
            <p:spPr>
              <a:xfrm>
                <a:off x="2101" y="2701"/>
                <a:ext cx="46" cy="32"/>
              </a:xfrm>
              <a:custGeom>
                <a:avLst/>
                <a:gdLst>
                  <a:gd name="txL" fmla="*/ 0 w 46"/>
                  <a:gd name="txT" fmla="*/ 0 h 32"/>
                  <a:gd name="txR" fmla="*/ 46 w 46"/>
                  <a:gd name="txB" fmla="*/ 32 h 32"/>
                </a:gdLst>
                <a:ahLst/>
                <a:cxnLst>
                  <a:cxn ang="0">
                    <a:pos x="4" y="23"/>
                  </a:cxn>
                  <a:cxn ang="0">
                    <a:pos x="0" y="26"/>
                  </a:cxn>
                  <a:cxn ang="0">
                    <a:pos x="0" y="29"/>
                  </a:cxn>
                  <a:cxn ang="0">
                    <a:pos x="4" y="32"/>
                  </a:cxn>
                  <a:cxn ang="0">
                    <a:pos x="8" y="32"/>
                  </a:cxn>
                  <a:cxn ang="0">
                    <a:pos x="42" y="10"/>
                  </a:cxn>
                  <a:cxn ang="0">
                    <a:pos x="46" y="6"/>
                  </a:cxn>
                  <a:cxn ang="0">
                    <a:pos x="46" y="3"/>
                  </a:cxn>
                  <a:cxn ang="0">
                    <a:pos x="42" y="0"/>
                  </a:cxn>
                  <a:cxn ang="0">
                    <a:pos x="39" y="0"/>
                  </a:cxn>
                  <a:cxn ang="0">
                    <a:pos x="4" y="23"/>
                  </a:cxn>
                </a:cxnLst>
                <a:rect l="txL" t="txT" r="txR" b="txB"/>
                <a:pathLst>
                  <a:path w="46" h="32">
                    <a:moveTo>
                      <a:pt x="4" y="23"/>
                    </a:moveTo>
                    <a:lnTo>
                      <a:pt x="0" y="26"/>
                    </a:lnTo>
                    <a:lnTo>
                      <a:pt x="0" y="29"/>
                    </a:lnTo>
                    <a:lnTo>
                      <a:pt x="4" y="32"/>
                    </a:lnTo>
                    <a:lnTo>
                      <a:pt x="8" y="32"/>
                    </a:lnTo>
                    <a:lnTo>
                      <a:pt x="42" y="10"/>
                    </a:lnTo>
                    <a:lnTo>
                      <a:pt x="46" y="6"/>
                    </a:lnTo>
                    <a:lnTo>
                      <a:pt x="46" y="3"/>
                    </a:lnTo>
                    <a:lnTo>
                      <a:pt x="42" y="0"/>
                    </a:lnTo>
                    <a:lnTo>
                      <a:pt x="39" y="0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693" name="Group 50"/>
            <p:cNvGrpSpPr/>
            <p:nvPr/>
          </p:nvGrpSpPr>
          <p:grpSpPr>
            <a:xfrm>
              <a:off x="2155" y="2461"/>
              <a:ext cx="11" cy="96"/>
              <a:chOff x="2155" y="2605"/>
              <a:chExt cx="11" cy="96"/>
            </a:xfrm>
          </p:grpSpPr>
          <p:sp>
            <p:nvSpPr>
              <p:cNvPr id="369849" name="Freeform 51"/>
              <p:cNvSpPr/>
              <p:nvPr/>
            </p:nvSpPr>
            <p:spPr>
              <a:xfrm>
                <a:off x="2155" y="2655"/>
                <a:ext cx="11" cy="46"/>
              </a:xfrm>
              <a:custGeom>
                <a:avLst/>
                <a:gdLst>
                  <a:gd name="txL" fmla="*/ 0 w 11"/>
                  <a:gd name="txT" fmla="*/ 0 h 46"/>
                  <a:gd name="txR" fmla="*/ 11 w 11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8" y="42"/>
                  </a:cxn>
                  <a:cxn ang="0">
                    <a:pos x="11" y="42"/>
                  </a:cxn>
                  <a:cxn ang="0">
                    <a:pos x="11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46"/>
                  </a:cxn>
                </a:cxnLst>
                <a:rect l="txL" t="txT" r="txR" b="txB"/>
                <a:pathLst>
                  <a:path w="11" h="46">
                    <a:moveTo>
                      <a:pt x="0" y="46"/>
                    </a:moveTo>
                    <a:lnTo>
                      <a:pt x="4" y="46"/>
                    </a:lnTo>
                    <a:lnTo>
                      <a:pt x="8" y="42"/>
                    </a:lnTo>
                    <a:lnTo>
                      <a:pt x="11" y="42"/>
                    </a:lnTo>
                    <a:lnTo>
                      <a:pt x="11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50" name="Freeform 52"/>
              <p:cNvSpPr/>
              <p:nvPr/>
            </p:nvSpPr>
            <p:spPr>
              <a:xfrm>
                <a:off x="2155" y="2605"/>
                <a:ext cx="11" cy="27"/>
              </a:xfrm>
              <a:custGeom>
                <a:avLst/>
                <a:gdLst>
                  <a:gd name="txL" fmla="*/ 0 w 11"/>
                  <a:gd name="txT" fmla="*/ 0 h 27"/>
                  <a:gd name="txR" fmla="*/ 11 w 11"/>
                  <a:gd name="txB" fmla="*/ 27 h 27"/>
                </a:gdLst>
                <a:ahLst/>
                <a:cxnLst>
                  <a:cxn ang="0">
                    <a:pos x="0" y="27"/>
                  </a:cxn>
                  <a:cxn ang="0">
                    <a:pos x="4" y="27"/>
                  </a:cxn>
                  <a:cxn ang="0">
                    <a:pos x="8" y="23"/>
                  </a:cxn>
                  <a:cxn ang="0">
                    <a:pos x="11" y="23"/>
                  </a:cxn>
                  <a:cxn ang="0">
                    <a:pos x="11" y="4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0" y="27"/>
                  </a:cxn>
                </a:cxnLst>
                <a:rect l="txL" t="txT" r="txR" b="txB"/>
                <a:pathLst>
                  <a:path w="11" h="27">
                    <a:moveTo>
                      <a:pt x="0" y="27"/>
                    </a:moveTo>
                    <a:lnTo>
                      <a:pt x="4" y="27"/>
                    </a:lnTo>
                    <a:lnTo>
                      <a:pt x="8" y="23"/>
                    </a:lnTo>
                    <a:lnTo>
                      <a:pt x="11" y="23"/>
                    </a:lnTo>
                    <a:lnTo>
                      <a:pt x="11" y="4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694" name="Group 53"/>
            <p:cNvGrpSpPr/>
            <p:nvPr/>
          </p:nvGrpSpPr>
          <p:grpSpPr>
            <a:xfrm>
              <a:off x="1794" y="2780"/>
              <a:ext cx="85" cy="167"/>
              <a:chOff x="1794" y="2924"/>
              <a:chExt cx="85" cy="167"/>
            </a:xfrm>
          </p:grpSpPr>
          <p:sp>
            <p:nvSpPr>
              <p:cNvPr id="369846" name="Freeform 54"/>
              <p:cNvSpPr/>
              <p:nvPr/>
            </p:nvSpPr>
            <p:spPr>
              <a:xfrm>
                <a:off x="1794" y="2924"/>
                <a:ext cx="27" cy="46"/>
              </a:xfrm>
              <a:custGeom>
                <a:avLst/>
                <a:gdLst>
                  <a:gd name="txL" fmla="*/ 0 w 27"/>
                  <a:gd name="txT" fmla="*/ 0 h 46"/>
                  <a:gd name="txR" fmla="*/ 27 w 27"/>
                  <a:gd name="txB" fmla="*/ 46 h 46"/>
                </a:gdLst>
                <a:ahLst/>
                <a:cxnLst>
                  <a:cxn ang="0">
                    <a:pos x="12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16" y="43"/>
                  </a:cxn>
                  <a:cxn ang="0">
                    <a:pos x="19" y="46"/>
                  </a:cxn>
                  <a:cxn ang="0">
                    <a:pos x="23" y="46"/>
                  </a:cxn>
                  <a:cxn ang="0">
                    <a:pos x="27" y="43"/>
                  </a:cxn>
                  <a:cxn ang="0">
                    <a:pos x="27" y="39"/>
                  </a:cxn>
                  <a:cxn ang="0">
                    <a:pos x="12" y="3"/>
                  </a:cxn>
                </a:cxnLst>
                <a:rect l="txL" t="txT" r="txR" b="txB"/>
                <a:pathLst>
                  <a:path w="27" h="46">
                    <a:moveTo>
                      <a:pt x="12" y="3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6" y="43"/>
                    </a:lnTo>
                    <a:lnTo>
                      <a:pt x="19" y="46"/>
                    </a:lnTo>
                    <a:lnTo>
                      <a:pt x="23" y="46"/>
                    </a:lnTo>
                    <a:lnTo>
                      <a:pt x="27" y="43"/>
                    </a:lnTo>
                    <a:lnTo>
                      <a:pt x="27" y="39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47" name="Freeform 55"/>
              <p:cNvSpPr/>
              <p:nvPr/>
            </p:nvSpPr>
            <p:spPr>
              <a:xfrm>
                <a:off x="1821" y="2986"/>
                <a:ext cx="27" cy="46"/>
              </a:xfrm>
              <a:custGeom>
                <a:avLst/>
                <a:gdLst>
                  <a:gd name="txL" fmla="*/ 0 w 27"/>
                  <a:gd name="txT" fmla="*/ 0 h 46"/>
                  <a:gd name="txR" fmla="*/ 27 w 27"/>
                  <a:gd name="txB" fmla="*/ 46 h 46"/>
                </a:gdLst>
                <a:ahLst/>
                <a:cxnLst>
                  <a:cxn ang="0">
                    <a:pos x="12" y="4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15" y="43"/>
                  </a:cxn>
                  <a:cxn ang="0">
                    <a:pos x="19" y="46"/>
                  </a:cxn>
                  <a:cxn ang="0">
                    <a:pos x="23" y="46"/>
                  </a:cxn>
                  <a:cxn ang="0">
                    <a:pos x="27" y="43"/>
                  </a:cxn>
                  <a:cxn ang="0">
                    <a:pos x="27" y="40"/>
                  </a:cxn>
                  <a:cxn ang="0">
                    <a:pos x="12" y="4"/>
                  </a:cxn>
                </a:cxnLst>
                <a:rect l="txL" t="txT" r="txR" b="txB"/>
                <a:pathLst>
                  <a:path w="27" h="46">
                    <a:moveTo>
                      <a:pt x="12" y="4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15" y="43"/>
                    </a:lnTo>
                    <a:lnTo>
                      <a:pt x="19" y="46"/>
                    </a:lnTo>
                    <a:lnTo>
                      <a:pt x="23" y="46"/>
                    </a:lnTo>
                    <a:lnTo>
                      <a:pt x="27" y="43"/>
                    </a:lnTo>
                    <a:lnTo>
                      <a:pt x="27" y="40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48" name="Freeform 56"/>
              <p:cNvSpPr/>
              <p:nvPr/>
            </p:nvSpPr>
            <p:spPr>
              <a:xfrm>
                <a:off x="1852" y="3052"/>
                <a:ext cx="27" cy="39"/>
              </a:xfrm>
              <a:custGeom>
                <a:avLst/>
                <a:gdLst>
                  <a:gd name="txL" fmla="*/ 0 w 27"/>
                  <a:gd name="txT" fmla="*/ 0 h 39"/>
                  <a:gd name="txR" fmla="*/ 27 w 27"/>
                  <a:gd name="txB" fmla="*/ 39 h 39"/>
                </a:gdLst>
                <a:ahLst/>
                <a:cxnLst>
                  <a:cxn ang="0">
                    <a:pos x="11" y="3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15" y="39"/>
                  </a:cxn>
                  <a:cxn ang="0">
                    <a:pos x="19" y="39"/>
                  </a:cxn>
                  <a:cxn ang="0">
                    <a:pos x="23" y="36"/>
                  </a:cxn>
                  <a:cxn ang="0">
                    <a:pos x="27" y="36"/>
                  </a:cxn>
                  <a:cxn ang="0">
                    <a:pos x="11" y="3"/>
                  </a:cxn>
                </a:cxnLst>
                <a:rect l="txL" t="txT" r="txR" b="txB"/>
                <a:pathLst>
                  <a:path w="27" h="39">
                    <a:moveTo>
                      <a:pt x="11" y="3"/>
                    </a:moveTo>
                    <a:lnTo>
                      <a:pt x="7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5" y="39"/>
                    </a:lnTo>
                    <a:lnTo>
                      <a:pt x="19" y="39"/>
                    </a:lnTo>
                    <a:lnTo>
                      <a:pt x="23" y="36"/>
                    </a:lnTo>
                    <a:lnTo>
                      <a:pt x="27" y="36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695" name="Group 57"/>
            <p:cNvGrpSpPr/>
            <p:nvPr/>
          </p:nvGrpSpPr>
          <p:grpSpPr>
            <a:xfrm>
              <a:off x="1315" y="2176"/>
              <a:ext cx="848" cy="10"/>
              <a:chOff x="1315" y="2320"/>
              <a:chExt cx="848" cy="10"/>
            </a:xfrm>
          </p:grpSpPr>
          <p:sp>
            <p:nvSpPr>
              <p:cNvPr id="369835" name="Freeform 58"/>
              <p:cNvSpPr/>
              <p:nvPr/>
            </p:nvSpPr>
            <p:spPr>
              <a:xfrm>
                <a:off x="1315" y="2320"/>
                <a:ext cx="53" cy="10"/>
              </a:xfrm>
              <a:custGeom>
                <a:avLst/>
                <a:gdLst>
                  <a:gd name="txL" fmla="*/ 0 w 53"/>
                  <a:gd name="txT" fmla="*/ 0 h 10"/>
                  <a:gd name="txR" fmla="*/ 53 w 53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4" y="10"/>
                  </a:cxn>
                  <a:cxn ang="0">
                    <a:pos x="46" y="10"/>
                  </a:cxn>
                  <a:cxn ang="0">
                    <a:pos x="50" y="10"/>
                  </a:cxn>
                  <a:cxn ang="0">
                    <a:pos x="53" y="7"/>
                  </a:cxn>
                  <a:cxn ang="0">
                    <a:pos x="53" y="3"/>
                  </a:cxn>
                  <a:cxn ang="0">
                    <a:pos x="50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53" h="10">
                    <a:moveTo>
                      <a:pt x="7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4" y="10"/>
                    </a:lnTo>
                    <a:lnTo>
                      <a:pt x="46" y="10"/>
                    </a:lnTo>
                    <a:lnTo>
                      <a:pt x="50" y="10"/>
                    </a:lnTo>
                    <a:lnTo>
                      <a:pt x="53" y="7"/>
                    </a:lnTo>
                    <a:lnTo>
                      <a:pt x="53" y="3"/>
                    </a:lnTo>
                    <a:lnTo>
                      <a:pt x="5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36" name="Freeform 59"/>
              <p:cNvSpPr/>
              <p:nvPr/>
            </p:nvSpPr>
            <p:spPr>
              <a:xfrm>
                <a:off x="1391" y="2320"/>
                <a:ext cx="58" cy="10"/>
              </a:xfrm>
              <a:custGeom>
                <a:avLst/>
                <a:gdLst>
                  <a:gd name="txL" fmla="*/ 0 w 58"/>
                  <a:gd name="txT" fmla="*/ 0 h 10"/>
                  <a:gd name="txR" fmla="*/ 58 w 58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8" y="7"/>
                  </a:cxn>
                  <a:cxn ang="0">
                    <a:pos x="58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8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8" y="7"/>
                    </a:lnTo>
                    <a:lnTo>
                      <a:pt x="58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37" name="Freeform 60"/>
              <p:cNvSpPr/>
              <p:nvPr/>
            </p:nvSpPr>
            <p:spPr>
              <a:xfrm>
                <a:off x="1472" y="2320"/>
                <a:ext cx="58" cy="10"/>
              </a:xfrm>
              <a:custGeom>
                <a:avLst/>
                <a:gdLst>
                  <a:gd name="txL" fmla="*/ 0 w 58"/>
                  <a:gd name="txT" fmla="*/ 0 h 10"/>
                  <a:gd name="txR" fmla="*/ 58 w 58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8" y="7"/>
                  </a:cxn>
                  <a:cxn ang="0">
                    <a:pos x="58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8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8" y="7"/>
                    </a:lnTo>
                    <a:lnTo>
                      <a:pt x="58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38" name="Freeform 61"/>
              <p:cNvSpPr/>
              <p:nvPr/>
            </p:nvSpPr>
            <p:spPr>
              <a:xfrm>
                <a:off x="1553" y="2320"/>
                <a:ext cx="57" cy="10"/>
              </a:xfrm>
              <a:custGeom>
                <a:avLst/>
                <a:gdLst>
                  <a:gd name="txL" fmla="*/ 0 w 57"/>
                  <a:gd name="txT" fmla="*/ 0 h 10"/>
                  <a:gd name="txR" fmla="*/ 57 w 57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3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49" y="10"/>
                  </a:cxn>
                  <a:cxn ang="0">
                    <a:pos x="53" y="10"/>
                  </a:cxn>
                  <a:cxn ang="0">
                    <a:pos x="57" y="7"/>
                  </a:cxn>
                  <a:cxn ang="0">
                    <a:pos x="57" y="3"/>
                  </a:cxn>
                  <a:cxn ang="0">
                    <a:pos x="53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57" h="10">
                    <a:moveTo>
                      <a:pt x="7" y="0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3" y="10"/>
                    </a:lnTo>
                    <a:lnTo>
                      <a:pt x="49" y="10"/>
                    </a:lnTo>
                    <a:lnTo>
                      <a:pt x="53" y="10"/>
                    </a:lnTo>
                    <a:lnTo>
                      <a:pt x="57" y="7"/>
                    </a:lnTo>
                    <a:lnTo>
                      <a:pt x="57" y="3"/>
                    </a:lnTo>
                    <a:lnTo>
                      <a:pt x="53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39" name="Freeform 62"/>
              <p:cNvSpPr/>
              <p:nvPr/>
            </p:nvSpPr>
            <p:spPr>
              <a:xfrm>
                <a:off x="1633" y="2320"/>
                <a:ext cx="58" cy="10"/>
              </a:xfrm>
              <a:custGeom>
                <a:avLst/>
                <a:gdLst>
                  <a:gd name="txL" fmla="*/ 0 w 58"/>
                  <a:gd name="txT" fmla="*/ 0 h 10"/>
                  <a:gd name="txR" fmla="*/ 58 w 58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8" y="7"/>
                  </a:cxn>
                  <a:cxn ang="0">
                    <a:pos x="58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8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8" y="7"/>
                    </a:lnTo>
                    <a:lnTo>
                      <a:pt x="58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40" name="Freeform 63"/>
              <p:cNvSpPr/>
              <p:nvPr/>
            </p:nvSpPr>
            <p:spPr>
              <a:xfrm>
                <a:off x="1714" y="2320"/>
                <a:ext cx="57" cy="10"/>
              </a:xfrm>
              <a:custGeom>
                <a:avLst/>
                <a:gdLst>
                  <a:gd name="txL" fmla="*/ 0 w 57"/>
                  <a:gd name="txT" fmla="*/ 0 h 10"/>
                  <a:gd name="txR" fmla="*/ 57 w 57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3" y="10"/>
                  </a:cxn>
                  <a:cxn ang="0">
                    <a:pos x="57" y="7"/>
                  </a:cxn>
                  <a:cxn ang="0">
                    <a:pos x="57" y="3"/>
                  </a:cxn>
                  <a:cxn ang="0">
                    <a:pos x="53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57" h="10">
                    <a:moveTo>
                      <a:pt x="7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3" y="10"/>
                    </a:lnTo>
                    <a:lnTo>
                      <a:pt x="57" y="7"/>
                    </a:lnTo>
                    <a:lnTo>
                      <a:pt x="57" y="3"/>
                    </a:lnTo>
                    <a:lnTo>
                      <a:pt x="53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41" name="Freeform 64"/>
              <p:cNvSpPr/>
              <p:nvPr/>
            </p:nvSpPr>
            <p:spPr>
              <a:xfrm>
                <a:off x="1794" y="2320"/>
                <a:ext cx="58" cy="10"/>
              </a:xfrm>
              <a:custGeom>
                <a:avLst/>
                <a:gdLst>
                  <a:gd name="txL" fmla="*/ 0 w 58"/>
                  <a:gd name="txT" fmla="*/ 0 h 10"/>
                  <a:gd name="txR" fmla="*/ 58 w 58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8" y="7"/>
                  </a:cxn>
                  <a:cxn ang="0">
                    <a:pos x="58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8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8" y="7"/>
                    </a:lnTo>
                    <a:lnTo>
                      <a:pt x="58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42" name="Freeform 65"/>
              <p:cNvSpPr/>
              <p:nvPr/>
            </p:nvSpPr>
            <p:spPr>
              <a:xfrm>
                <a:off x="1875" y="2320"/>
                <a:ext cx="57" cy="10"/>
              </a:xfrm>
              <a:custGeom>
                <a:avLst/>
                <a:gdLst>
                  <a:gd name="txL" fmla="*/ 0 w 57"/>
                  <a:gd name="txT" fmla="*/ 0 h 10"/>
                  <a:gd name="txR" fmla="*/ 57 w 57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7" y="7"/>
                  </a:cxn>
                  <a:cxn ang="0">
                    <a:pos x="57" y="3"/>
                  </a:cxn>
                  <a:cxn ang="0">
                    <a:pos x="54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57" h="10">
                    <a:moveTo>
                      <a:pt x="7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7" y="7"/>
                    </a:lnTo>
                    <a:lnTo>
                      <a:pt x="57" y="3"/>
                    </a:lnTo>
                    <a:lnTo>
                      <a:pt x="5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43" name="Freeform 66"/>
              <p:cNvSpPr/>
              <p:nvPr/>
            </p:nvSpPr>
            <p:spPr>
              <a:xfrm>
                <a:off x="1955" y="2320"/>
                <a:ext cx="58" cy="10"/>
              </a:xfrm>
              <a:custGeom>
                <a:avLst/>
                <a:gdLst>
                  <a:gd name="txL" fmla="*/ 0 w 58"/>
                  <a:gd name="txT" fmla="*/ 0 h 10"/>
                  <a:gd name="txR" fmla="*/ 58 w 58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8" y="7"/>
                  </a:cxn>
                  <a:cxn ang="0">
                    <a:pos x="58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8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8" y="7"/>
                    </a:lnTo>
                    <a:lnTo>
                      <a:pt x="58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44" name="Freeform 67"/>
              <p:cNvSpPr/>
              <p:nvPr/>
            </p:nvSpPr>
            <p:spPr>
              <a:xfrm>
                <a:off x="2036" y="2320"/>
                <a:ext cx="57" cy="10"/>
              </a:xfrm>
              <a:custGeom>
                <a:avLst/>
                <a:gdLst>
                  <a:gd name="txL" fmla="*/ 0 w 57"/>
                  <a:gd name="txT" fmla="*/ 0 h 10"/>
                  <a:gd name="txR" fmla="*/ 57 w 57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7" y="7"/>
                  </a:cxn>
                  <a:cxn ang="0">
                    <a:pos x="57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7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7" y="7"/>
                    </a:lnTo>
                    <a:lnTo>
                      <a:pt x="57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45" name="Freeform 68"/>
              <p:cNvSpPr/>
              <p:nvPr/>
            </p:nvSpPr>
            <p:spPr>
              <a:xfrm>
                <a:off x="2117" y="2320"/>
                <a:ext cx="46" cy="10"/>
              </a:xfrm>
              <a:custGeom>
                <a:avLst/>
                <a:gdLst>
                  <a:gd name="txL" fmla="*/ 0 w 46"/>
                  <a:gd name="txT" fmla="*/ 0 h 10"/>
                  <a:gd name="txR" fmla="*/ 46 w 46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3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42" y="10"/>
                  </a:cxn>
                  <a:cxn ang="0">
                    <a:pos x="42" y="7"/>
                  </a:cxn>
                  <a:cxn ang="0">
                    <a:pos x="46" y="3"/>
                  </a:cxn>
                  <a:cxn ang="0">
                    <a:pos x="46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46" h="10">
                    <a:moveTo>
                      <a:pt x="7" y="0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3" y="10"/>
                    </a:lnTo>
                    <a:lnTo>
                      <a:pt x="42" y="10"/>
                    </a:lnTo>
                    <a:lnTo>
                      <a:pt x="42" y="7"/>
                    </a:lnTo>
                    <a:lnTo>
                      <a:pt x="46" y="3"/>
                    </a:lnTo>
                    <a:lnTo>
                      <a:pt x="46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9696" name="Line 69"/>
            <p:cNvSpPr/>
            <p:nvPr/>
          </p:nvSpPr>
          <p:spPr>
            <a:xfrm>
              <a:off x="1391" y="2251"/>
              <a:ext cx="695" cy="1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69697" name="Group 70"/>
            <p:cNvGrpSpPr/>
            <p:nvPr/>
          </p:nvGrpSpPr>
          <p:grpSpPr>
            <a:xfrm>
              <a:off x="1602" y="2924"/>
              <a:ext cx="273" cy="69"/>
              <a:chOff x="1602" y="3068"/>
              <a:chExt cx="273" cy="69"/>
            </a:xfrm>
          </p:grpSpPr>
          <p:sp>
            <p:nvSpPr>
              <p:cNvPr id="369830" name="Freeform 71"/>
              <p:cNvSpPr/>
              <p:nvPr/>
            </p:nvSpPr>
            <p:spPr>
              <a:xfrm>
                <a:off x="1821" y="3101"/>
                <a:ext cx="54" cy="10"/>
              </a:xfrm>
              <a:custGeom>
                <a:avLst/>
                <a:gdLst>
                  <a:gd name="txL" fmla="*/ 0 w 54"/>
                  <a:gd name="txT" fmla="*/ 0 h 10"/>
                  <a:gd name="txR" fmla="*/ 54 w 54"/>
                  <a:gd name="txB" fmla="*/ 10 h 10"/>
                </a:gdLst>
                <a:ahLst/>
                <a:cxnLst>
                  <a:cxn ang="0">
                    <a:pos x="54" y="10"/>
                  </a:cxn>
                  <a:cxn ang="0">
                    <a:pos x="54" y="3"/>
                  </a:cxn>
                  <a:cxn ang="0">
                    <a:pos x="50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4" y="7"/>
                  </a:cxn>
                  <a:cxn ang="0">
                    <a:pos x="8" y="10"/>
                  </a:cxn>
                  <a:cxn ang="0">
                    <a:pos x="54" y="10"/>
                  </a:cxn>
                </a:cxnLst>
                <a:rect l="txL" t="txT" r="txR" b="txB"/>
                <a:pathLst>
                  <a:path w="54" h="10">
                    <a:moveTo>
                      <a:pt x="54" y="10"/>
                    </a:moveTo>
                    <a:lnTo>
                      <a:pt x="54" y="3"/>
                    </a:lnTo>
                    <a:lnTo>
                      <a:pt x="50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4" y="7"/>
                    </a:lnTo>
                    <a:lnTo>
                      <a:pt x="8" y="10"/>
                    </a:lnTo>
                    <a:lnTo>
                      <a:pt x="54" y="1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31" name="Freeform 72"/>
              <p:cNvSpPr/>
              <p:nvPr/>
            </p:nvSpPr>
            <p:spPr>
              <a:xfrm>
                <a:off x="1741" y="3101"/>
                <a:ext cx="53" cy="10"/>
              </a:xfrm>
              <a:custGeom>
                <a:avLst/>
                <a:gdLst>
                  <a:gd name="txL" fmla="*/ 0 w 53"/>
                  <a:gd name="txT" fmla="*/ 0 h 10"/>
                  <a:gd name="txR" fmla="*/ 53 w 53"/>
                  <a:gd name="txB" fmla="*/ 10 h 10"/>
                </a:gdLst>
                <a:ahLst/>
                <a:cxnLst>
                  <a:cxn ang="0">
                    <a:pos x="53" y="10"/>
                  </a:cxn>
                  <a:cxn ang="0">
                    <a:pos x="53" y="3"/>
                  </a:cxn>
                  <a:cxn ang="0">
                    <a:pos x="49" y="0"/>
                  </a:cxn>
                  <a:cxn ang="0">
                    <a:pos x="3" y="0"/>
                  </a:cxn>
                  <a:cxn ang="0">
                    <a:pos x="0" y="3"/>
                  </a:cxn>
                  <a:cxn ang="0">
                    <a:pos x="3" y="7"/>
                  </a:cxn>
                  <a:cxn ang="0">
                    <a:pos x="7" y="10"/>
                  </a:cxn>
                  <a:cxn ang="0">
                    <a:pos x="53" y="10"/>
                  </a:cxn>
                </a:cxnLst>
                <a:rect l="txL" t="txT" r="txR" b="txB"/>
                <a:pathLst>
                  <a:path w="53" h="10">
                    <a:moveTo>
                      <a:pt x="53" y="10"/>
                    </a:moveTo>
                    <a:lnTo>
                      <a:pt x="53" y="3"/>
                    </a:lnTo>
                    <a:lnTo>
                      <a:pt x="49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3" y="7"/>
                    </a:lnTo>
                    <a:lnTo>
                      <a:pt x="7" y="10"/>
                    </a:lnTo>
                    <a:lnTo>
                      <a:pt x="53" y="1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32" name="Freeform 73"/>
              <p:cNvSpPr/>
              <p:nvPr/>
            </p:nvSpPr>
            <p:spPr>
              <a:xfrm>
                <a:off x="1660" y="3101"/>
                <a:ext cx="54" cy="10"/>
              </a:xfrm>
              <a:custGeom>
                <a:avLst/>
                <a:gdLst>
                  <a:gd name="txL" fmla="*/ 0 w 54"/>
                  <a:gd name="txT" fmla="*/ 0 h 10"/>
                  <a:gd name="txR" fmla="*/ 54 w 54"/>
                  <a:gd name="txB" fmla="*/ 10 h 10"/>
                </a:gdLst>
                <a:ahLst/>
                <a:cxnLst>
                  <a:cxn ang="0">
                    <a:pos x="54" y="10"/>
                  </a:cxn>
                  <a:cxn ang="0">
                    <a:pos x="54" y="3"/>
                  </a:cxn>
                  <a:cxn ang="0">
                    <a:pos x="50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4" y="7"/>
                  </a:cxn>
                  <a:cxn ang="0">
                    <a:pos x="8" y="10"/>
                  </a:cxn>
                  <a:cxn ang="0">
                    <a:pos x="54" y="10"/>
                  </a:cxn>
                </a:cxnLst>
                <a:rect l="txL" t="txT" r="txR" b="txB"/>
                <a:pathLst>
                  <a:path w="54" h="10">
                    <a:moveTo>
                      <a:pt x="54" y="10"/>
                    </a:moveTo>
                    <a:lnTo>
                      <a:pt x="54" y="3"/>
                    </a:lnTo>
                    <a:lnTo>
                      <a:pt x="50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4" y="7"/>
                    </a:lnTo>
                    <a:lnTo>
                      <a:pt x="8" y="10"/>
                    </a:lnTo>
                    <a:lnTo>
                      <a:pt x="54" y="1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33" name="Freeform 74"/>
              <p:cNvSpPr/>
              <p:nvPr/>
            </p:nvSpPr>
            <p:spPr>
              <a:xfrm>
                <a:off x="1602" y="3101"/>
                <a:ext cx="31" cy="10"/>
              </a:xfrm>
              <a:custGeom>
                <a:avLst/>
                <a:gdLst>
                  <a:gd name="txL" fmla="*/ 0 w 31"/>
                  <a:gd name="txT" fmla="*/ 0 h 10"/>
                  <a:gd name="txR" fmla="*/ 31 w 31"/>
                  <a:gd name="txB" fmla="*/ 10 h 10"/>
                </a:gdLst>
                <a:ahLst/>
                <a:cxnLst>
                  <a:cxn ang="0">
                    <a:pos x="31" y="10"/>
                  </a:cxn>
                  <a:cxn ang="0">
                    <a:pos x="31" y="3"/>
                  </a:cxn>
                  <a:cxn ang="0">
                    <a:pos x="2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4" y="7"/>
                  </a:cxn>
                  <a:cxn ang="0">
                    <a:pos x="8" y="10"/>
                  </a:cxn>
                  <a:cxn ang="0">
                    <a:pos x="31" y="10"/>
                  </a:cxn>
                </a:cxnLst>
                <a:rect l="txL" t="txT" r="txR" b="txB"/>
                <a:pathLst>
                  <a:path w="31" h="10">
                    <a:moveTo>
                      <a:pt x="31" y="10"/>
                    </a:moveTo>
                    <a:lnTo>
                      <a:pt x="31" y="3"/>
                    </a:lnTo>
                    <a:lnTo>
                      <a:pt x="27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4" y="7"/>
                    </a:lnTo>
                    <a:lnTo>
                      <a:pt x="8" y="10"/>
                    </a:lnTo>
                    <a:lnTo>
                      <a:pt x="31" y="1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34" name="Freeform 75"/>
              <p:cNvSpPr/>
              <p:nvPr/>
            </p:nvSpPr>
            <p:spPr>
              <a:xfrm>
                <a:off x="1606" y="3068"/>
                <a:ext cx="81" cy="69"/>
              </a:xfrm>
              <a:custGeom>
                <a:avLst/>
                <a:gdLst>
                  <a:gd name="txL" fmla="*/ 0 w 81"/>
                  <a:gd name="txT" fmla="*/ 0 h 69"/>
                  <a:gd name="txR" fmla="*/ 81 w 81"/>
                  <a:gd name="txB" fmla="*/ 69 h 69"/>
                </a:gdLst>
                <a:ahLst/>
                <a:cxnLst>
                  <a:cxn ang="0">
                    <a:pos x="81" y="0"/>
                  </a:cxn>
                  <a:cxn ang="0">
                    <a:pos x="0" y="36"/>
                  </a:cxn>
                  <a:cxn ang="0">
                    <a:pos x="81" y="69"/>
                  </a:cxn>
                </a:cxnLst>
                <a:rect l="txL" t="txT" r="txR" b="txB"/>
                <a:pathLst>
                  <a:path w="81" h="69">
                    <a:moveTo>
                      <a:pt x="81" y="0"/>
                    </a:moveTo>
                    <a:lnTo>
                      <a:pt x="0" y="36"/>
                    </a:lnTo>
                    <a:lnTo>
                      <a:pt x="81" y="69"/>
                    </a:lnTo>
                  </a:path>
                </a:pathLst>
              </a:custGeom>
              <a:solidFill>
                <a:schemeClr val="folHlink"/>
              </a:solidFill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9698" name="Line 76"/>
            <p:cNvSpPr/>
            <p:nvPr/>
          </p:nvSpPr>
          <p:spPr>
            <a:xfrm>
              <a:off x="1464" y="2908"/>
              <a:ext cx="1" cy="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699" name="Line 77"/>
            <p:cNvSpPr/>
            <p:nvPr/>
          </p:nvSpPr>
          <p:spPr>
            <a:xfrm>
              <a:off x="1990" y="2908"/>
              <a:ext cx="1" cy="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00" name="Oval 78"/>
            <p:cNvSpPr/>
            <p:nvPr/>
          </p:nvSpPr>
          <p:spPr>
            <a:xfrm>
              <a:off x="1510" y="1772"/>
              <a:ext cx="54" cy="43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01" name="Freeform 79"/>
            <p:cNvSpPr/>
            <p:nvPr/>
          </p:nvSpPr>
          <p:spPr>
            <a:xfrm>
              <a:off x="1533" y="1825"/>
              <a:ext cx="50" cy="463"/>
            </a:xfrm>
            <a:custGeom>
              <a:avLst/>
              <a:gdLst>
                <a:gd name="txL" fmla="*/ 0 w 50"/>
                <a:gd name="txT" fmla="*/ 0 h 463"/>
                <a:gd name="txR" fmla="*/ 50 w 50"/>
                <a:gd name="txB" fmla="*/ 463 h 463"/>
              </a:gdLst>
              <a:ahLst/>
              <a:cxnLst>
                <a:cxn ang="0">
                  <a:pos x="0" y="0"/>
                </a:cxn>
                <a:cxn ang="0">
                  <a:pos x="0" y="443"/>
                </a:cxn>
                <a:cxn ang="0">
                  <a:pos x="27" y="463"/>
                </a:cxn>
                <a:cxn ang="0">
                  <a:pos x="50" y="443"/>
                </a:cxn>
                <a:cxn ang="0">
                  <a:pos x="50" y="426"/>
                </a:cxn>
              </a:cxnLst>
              <a:rect l="txL" t="txT" r="txR" b="txB"/>
              <a:pathLst>
                <a:path w="50" h="463">
                  <a:moveTo>
                    <a:pt x="0" y="0"/>
                  </a:moveTo>
                  <a:lnTo>
                    <a:pt x="0" y="443"/>
                  </a:lnTo>
                  <a:lnTo>
                    <a:pt x="27" y="463"/>
                  </a:lnTo>
                  <a:lnTo>
                    <a:pt x="50" y="443"/>
                  </a:lnTo>
                  <a:lnTo>
                    <a:pt x="50" y="42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02" name="Freeform 80"/>
            <p:cNvSpPr/>
            <p:nvPr/>
          </p:nvSpPr>
          <p:spPr>
            <a:xfrm>
              <a:off x="1629" y="2107"/>
              <a:ext cx="123" cy="181"/>
            </a:xfrm>
            <a:custGeom>
              <a:avLst/>
              <a:gdLst>
                <a:gd name="txL" fmla="*/ 0 w 123"/>
                <a:gd name="txT" fmla="*/ 0 h 181"/>
                <a:gd name="txR" fmla="*/ 123 w 123"/>
                <a:gd name="txB" fmla="*/ 181 h 181"/>
              </a:gdLst>
              <a:ahLst/>
              <a:cxnLst>
                <a:cxn ang="0">
                  <a:pos x="0" y="20"/>
                </a:cxn>
                <a:cxn ang="0">
                  <a:pos x="27" y="0"/>
                </a:cxn>
                <a:cxn ang="0">
                  <a:pos x="50" y="0"/>
                </a:cxn>
                <a:cxn ang="0">
                  <a:pos x="73" y="20"/>
                </a:cxn>
                <a:cxn ang="0">
                  <a:pos x="73" y="36"/>
                </a:cxn>
                <a:cxn ang="0">
                  <a:pos x="73" y="125"/>
                </a:cxn>
                <a:cxn ang="0">
                  <a:pos x="73" y="161"/>
                </a:cxn>
                <a:cxn ang="0">
                  <a:pos x="96" y="181"/>
                </a:cxn>
                <a:cxn ang="0">
                  <a:pos x="123" y="161"/>
                </a:cxn>
                <a:cxn ang="0">
                  <a:pos x="123" y="144"/>
                </a:cxn>
              </a:cxnLst>
              <a:rect l="txL" t="txT" r="txR" b="txB"/>
              <a:pathLst>
                <a:path w="123" h="181">
                  <a:moveTo>
                    <a:pt x="0" y="20"/>
                  </a:moveTo>
                  <a:lnTo>
                    <a:pt x="27" y="0"/>
                  </a:lnTo>
                  <a:lnTo>
                    <a:pt x="50" y="0"/>
                  </a:lnTo>
                  <a:lnTo>
                    <a:pt x="73" y="20"/>
                  </a:lnTo>
                  <a:lnTo>
                    <a:pt x="73" y="36"/>
                  </a:lnTo>
                  <a:lnTo>
                    <a:pt x="73" y="125"/>
                  </a:lnTo>
                  <a:lnTo>
                    <a:pt x="73" y="161"/>
                  </a:lnTo>
                  <a:lnTo>
                    <a:pt x="96" y="181"/>
                  </a:lnTo>
                  <a:lnTo>
                    <a:pt x="123" y="161"/>
                  </a:lnTo>
                  <a:lnTo>
                    <a:pt x="123" y="14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03" name="Freeform 81"/>
            <p:cNvSpPr/>
            <p:nvPr/>
          </p:nvSpPr>
          <p:spPr>
            <a:xfrm>
              <a:off x="1775" y="2107"/>
              <a:ext cx="119" cy="181"/>
            </a:xfrm>
            <a:custGeom>
              <a:avLst/>
              <a:gdLst>
                <a:gd name="txL" fmla="*/ 0 w 119"/>
                <a:gd name="txT" fmla="*/ 0 h 181"/>
                <a:gd name="txR" fmla="*/ 119 w 119"/>
                <a:gd name="txB" fmla="*/ 181 h 181"/>
              </a:gdLst>
              <a:ahLst/>
              <a:cxnLst>
                <a:cxn ang="0">
                  <a:pos x="0" y="20"/>
                </a:cxn>
                <a:cxn ang="0">
                  <a:pos x="23" y="0"/>
                </a:cxn>
                <a:cxn ang="0">
                  <a:pos x="46" y="0"/>
                </a:cxn>
                <a:cxn ang="0">
                  <a:pos x="73" y="20"/>
                </a:cxn>
                <a:cxn ang="0">
                  <a:pos x="73" y="36"/>
                </a:cxn>
                <a:cxn ang="0">
                  <a:pos x="73" y="125"/>
                </a:cxn>
                <a:cxn ang="0">
                  <a:pos x="73" y="161"/>
                </a:cxn>
                <a:cxn ang="0">
                  <a:pos x="96" y="181"/>
                </a:cxn>
                <a:cxn ang="0">
                  <a:pos x="119" y="161"/>
                </a:cxn>
                <a:cxn ang="0">
                  <a:pos x="119" y="144"/>
                </a:cxn>
              </a:cxnLst>
              <a:rect l="txL" t="txT" r="txR" b="txB"/>
              <a:pathLst>
                <a:path w="119" h="181">
                  <a:moveTo>
                    <a:pt x="0" y="20"/>
                  </a:moveTo>
                  <a:lnTo>
                    <a:pt x="23" y="0"/>
                  </a:lnTo>
                  <a:lnTo>
                    <a:pt x="46" y="0"/>
                  </a:lnTo>
                  <a:lnTo>
                    <a:pt x="73" y="20"/>
                  </a:lnTo>
                  <a:lnTo>
                    <a:pt x="73" y="36"/>
                  </a:lnTo>
                  <a:lnTo>
                    <a:pt x="73" y="125"/>
                  </a:lnTo>
                  <a:lnTo>
                    <a:pt x="73" y="161"/>
                  </a:lnTo>
                  <a:lnTo>
                    <a:pt x="96" y="181"/>
                  </a:lnTo>
                  <a:lnTo>
                    <a:pt x="119" y="161"/>
                  </a:lnTo>
                  <a:lnTo>
                    <a:pt x="119" y="14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04" name="Line 82"/>
            <p:cNvSpPr/>
            <p:nvPr/>
          </p:nvSpPr>
          <p:spPr>
            <a:xfrm flipV="1">
              <a:off x="1917" y="1805"/>
              <a:ext cx="4" cy="32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05" name="Oval 83"/>
            <p:cNvSpPr/>
            <p:nvPr/>
          </p:nvSpPr>
          <p:spPr>
            <a:xfrm>
              <a:off x="1894" y="1772"/>
              <a:ext cx="54" cy="43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06" name="Rectangle 84"/>
            <p:cNvSpPr/>
            <p:nvPr/>
          </p:nvSpPr>
          <p:spPr>
            <a:xfrm>
              <a:off x="1533" y="1584"/>
              <a:ext cx="48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写线圈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07" name="Rectangle 85"/>
            <p:cNvSpPr/>
            <p:nvPr/>
          </p:nvSpPr>
          <p:spPr>
            <a:xfrm>
              <a:off x="1848" y="2731"/>
              <a:ext cx="196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08" name="Rectangle 86"/>
            <p:cNvSpPr/>
            <p:nvPr/>
          </p:nvSpPr>
          <p:spPr>
            <a:xfrm>
              <a:off x="1927" y="2736"/>
              <a:ext cx="89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09" name="Rectangle 87"/>
            <p:cNvSpPr/>
            <p:nvPr/>
          </p:nvSpPr>
          <p:spPr>
            <a:xfrm>
              <a:off x="1441" y="2731"/>
              <a:ext cx="196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10" name="Rectangle 88"/>
            <p:cNvSpPr/>
            <p:nvPr/>
          </p:nvSpPr>
          <p:spPr>
            <a:xfrm>
              <a:off x="1440" y="2736"/>
              <a:ext cx="116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N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11" name="Rectangle 89"/>
            <p:cNvSpPr/>
            <p:nvPr/>
          </p:nvSpPr>
          <p:spPr>
            <a:xfrm>
              <a:off x="1272" y="1841"/>
              <a:ext cx="196" cy="18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12" name="Rectangle 90"/>
            <p:cNvSpPr/>
            <p:nvPr/>
          </p:nvSpPr>
          <p:spPr>
            <a:xfrm>
              <a:off x="1349" y="1890"/>
              <a:ext cx="53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i="1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13" name="Line 91"/>
            <p:cNvSpPr/>
            <p:nvPr/>
          </p:nvSpPr>
          <p:spPr>
            <a:xfrm>
              <a:off x="3333" y="2127"/>
              <a:ext cx="1" cy="495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14" name="Line 92"/>
            <p:cNvSpPr/>
            <p:nvPr/>
          </p:nvSpPr>
          <p:spPr>
            <a:xfrm>
              <a:off x="3333" y="2127"/>
              <a:ext cx="1032" cy="1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15" name="Rectangle 93"/>
            <p:cNvSpPr/>
            <p:nvPr/>
          </p:nvSpPr>
          <p:spPr>
            <a:xfrm>
              <a:off x="3502" y="3264"/>
              <a:ext cx="96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局部磁化单元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16" name="Line 94"/>
            <p:cNvSpPr/>
            <p:nvPr/>
          </p:nvSpPr>
          <p:spPr>
            <a:xfrm>
              <a:off x="2999" y="2908"/>
              <a:ext cx="1941" cy="1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69717" name="Group 95"/>
            <p:cNvGrpSpPr/>
            <p:nvPr/>
          </p:nvGrpSpPr>
          <p:grpSpPr>
            <a:xfrm>
              <a:off x="2949" y="2996"/>
              <a:ext cx="2041" cy="112"/>
              <a:chOff x="2949" y="3140"/>
              <a:chExt cx="2041" cy="112"/>
            </a:xfrm>
          </p:grpSpPr>
          <p:sp>
            <p:nvSpPr>
              <p:cNvPr id="369828" name="Rectangle 96"/>
              <p:cNvSpPr/>
              <p:nvPr/>
            </p:nvSpPr>
            <p:spPr>
              <a:xfrm>
                <a:off x="2949" y="3140"/>
                <a:ext cx="2037" cy="109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29" name="Rectangle 97"/>
              <p:cNvSpPr/>
              <p:nvPr/>
            </p:nvSpPr>
            <p:spPr>
              <a:xfrm>
                <a:off x="2949" y="3140"/>
                <a:ext cx="2041" cy="112"/>
              </a:xfrm>
              <a:prstGeom prst="rect">
                <a:avLst/>
              </a:prstGeom>
              <a:noFill/>
              <a:ln w="23813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9718" name="Line 98"/>
            <p:cNvSpPr/>
            <p:nvPr/>
          </p:nvSpPr>
          <p:spPr>
            <a:xfrm>
              <a:off x="3333" y="2622"/>
              <a:ext cx="479" cy="181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19" name="Line 99"/>
            <p:cNvSpPr/>
            <p:nvPr/>
          </p:nvSpPr>
          <p:spPr>
            <a:xfrm flipV="1">
              <a:off x="3812" y="2714"/>
              <a:ext cx="1" cy="89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20" name="Line 100"/>
            <p:cNvSpPr/>
            <p:nvPr/>
          </p:nvSpPr>
          <p:spPr>
            <a:xfrm flipH="1" flipV="1">
              <a:off x="3502" y="2501"/>
              <a:ext cx="310" cy="213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21" name="Line 101"/>
            <p:cNvSpPr/>
            <p:nvPr/>
          </p:nvSpPr>
          <p:spPr>
            <a:xfrm flipV="1">
              <a:off x="3502" y="2251"/>
              <a:ext cx="1" cy="250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69722" name="Group 102"/>
            <p:cNvGrpSpPr/>
            <p:nvPr/>
          </p:nvGrpSpPr>
          <p:grpSpPr>
            <a:xfrm>
              <a:off x="3440" y="2557"/>
              <a:ext cx="376" cy="233"/>
              <a:chOff x="3440" y="2701"/>
              <a:chExt cx="376" cy="233"/>
            </a:xfrm>
          </p:grpSpPr>
          <p:sp>
            <p:nvSpPr>
              <p:cNvPr id="369822" name="Freeform 103"/>
              <p:cNvSpPr/>
              <p:nvPr/>
            </p:nvSpPr>
            <p:spPr>
              <a:xfrm>
                <a:off x="3770" y="2901"/>
                <a:ext cx="46" cy="33"/>
              </a:xfrm>
              <a:custGeom>
                <a:avLst/>
                <a:gdLst>
                  <a:gd name="txL" fmla="*/ 0 w 46"/>
                  <a:gd name="txT" fmla="*/ 0 h 33"/>
                  <a:gd name="txR" fmla="*/ 46 w 46"/>
                  <a:gd name="txB" fmla="*/ 33 h 33"/>
                </a:gdLst>
                <a:ahLst/>
                <a:cxnLst>
                  <a:cxn ang="0">
                    <a:pos x="42" y="33"/>
                  </a:cxn>
                  <a:cxn ang="0">
                    <a:pos x="42" y="29"/>
                  </a:cxn>
                  <a:cxn ang="0">
                    <a:pos x="46" y="26"/>
                  </a:cxn>
                  <a:cxn ang="0">
                    <a:pos x="46" y="23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4" y="10"/>
                  </a:cxn>
                  <a:cxn ang="0">
                    <a:pos x="42" y="33"/>
                  </a:cxn>
                </a:cxnLst>
                <a:rect l="txL" t="txT" r="txR" b="txB"/>
                <a:pathLst>
                  <a:path w="46" h="33">
                    <a:moveTo>
                      <a:pt x="42" y="33"/>
                    </a:moveTo>
                    <a:lnTo>
                      <a:pt x="42" y="29"/>
                    </a:lnTo>
                    <a:lnTo>
                      <a:pt x="46" y="26"/>
                    </a:lnTo>
                    <a:lnTo>
                      <a:pt x="46" y="23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4" y="10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23" name="Freeform 104"/>
              <p:cNvSpPr/>
              <p:nvPr/>
            </p:nvSpPr>
            <p:spPr>
              <a:xfrm>
                <a:off x="3701" y="2862"/>
                <a:ext cx="50" cy="29"/>
              </a:xfrm>
              <a:custGeom>
                <a:avLst/>
                <a:gdLst>
                  <a:gd name="txL" fmla="*/ 0 w 50"/>
                  <a:gd name="txT" fmla="*/ 0 h 29"/>
                  <a:gd name="txR" fmla="*/ 50 w 50"/>
                  <a:gd name="txB" fmla="*/ 29 h 29"/>
                </a:gdLst>
                <a:ahLst/>
                <a:cxnLst>
                  <a:cxn ang="0">
                    <a:pos x="42" y="29"/>
                  </a:cxn>
                  <a:cxn ang="0">
                    <a:pos x="46" y="29"/>
                  </a:cxn>
                  <a:cxn ang="0">
                    <a:pos x="50" y="26"/>
                  </a:cxn>
                  <a:cxn ang="0">
                    <a:pos x="50" y="22"/>
                  </a:cxn>
                  <a:cxn ang="0">
                    <a:pos x="46" y="19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4" y="9"/>
                  </a:cxn>
                  <a:cxn ang="0">
                    <a:pos x="42" y="29"/>
                  </a:cxn>
                </a:cxnLst>
                <a:rect l="txL" t="txT" r="txR" b="txB"/>
                <a:pathLst>
                  <a:path w="50" h="29">
                    <a:moveTo>
                      <a:pt x="42" y="29"/>
                    </a:moveTo>
                    <a:lnTo>
                      <a:pt x="46" y="29"/>
                    </a:lnTo>
                    <a:lnTo>
                      <a:pt x="50" y="26"/>
                    </a:lnTo>
                    <a:lnTo>
                      <a:pt x="50" y="22"/>
                    </a:lnTo>
                    <a:lnTo>
                      <a:pt x="46" y="19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4" y="9"/>
                    </a:lnTo>
                    <a:lnTo>
                      <a:pt x="42" y="2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24" name="Freeform 105"/>
              <p:cNvSpPr/>
              <p:nvPr/>
            </p:nvSpPr>
            <p:spPr>
              <a:xfrm>
                <a:off x="3636" y="2822"/>
                <a:ext cx="50" cy="30"/>
              </a:xfrm>
              <a:custGeom>
                <a:avLst/>
                <a:gdLst>
                  <a:gd name="txL" fmla="*/ 0 w 50"/>
                  <a:gd name="txT" fmla="*/ 0 h 30"/>
                  <a:gd name="txR" fmla="*/ 50 w 50"/>
                  <a:gd name="txB" fmla="*/ 30 h 30"/>
                </a:gdLst>
                <a:ahLst/>
                <a:cxnLst>
                  <a:cxn ang="0">
                    <a:pos x="42" y="30"/>
                  </a:cxn>
                  <a:cxn ang="0">
                    <a:pos x="46" y="30"/>
                  </a:cxn>
                  <a:cxn ang="0">
                    <a:pos x="50" y="26"/>
                  </a:cxn>
                  <a:cxn ang="0">
                    <a:pos x="50" y="23"/>
                  </a:cxn>
                  <a:cxn ang="0">
                    <a:pos x="46" y="20"/>
                  </a:cxn>
                  <a:cxn ang="0">
                    <a:pos x="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42" y="30"/>
                  </a:cxn>
                </a:cxnLst>
                <a:rect l="txL" t="txT" r="txR" b="txB"/>
                <a:pathLst>
                  <a:path w="50" h="30">
                    <a:moveTo>
                      <a:pt x="42" y="30"/>
                    </a:moveTo>
                    <a:lnTo>
                      <a:pt x="46" y="30"/>
                    </a:lnTo>
                    <a:lnTo>
                      <a:pt x="50" y="26"/>
                    </a:lnTo>
                    <a:lnTo>
                      <a:pt x="50" y="23"/>
                    </a:lnTo>
                    <a:lnTo>
                      <a:pt x="46" y="20"/>
                    </a:lnTo>
                    <a:lnTo>
                      <a:pt x="7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42" y="3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25" name="Freeform 106"/>
              <p:cNvSpPr/>
              <p:nvPr/>
            </p:nvSpPr>
            <p:spPr>
              <a:xfrm>
                <a:off x="3571" y="2779"/>
                <a:ext cx="49" cy="33"/>
              </a:xfrm>
              <a:custGeom>
                <a:avLst/>
                <a:gdLst>
                  <a:gd name="txL" fmla="*/ 0 w 49"/>
                  <a:gd name="txT" fmla="*/ 0 h 33"/>
                  <a:gd name="txR" fmla="*/ 49 w 49"/>
                  <a:gd name="txB" fmla="*/ 33 h 33"/>
                </a:gdLst>
                <a:ahLst/>
                <a:cxnLst>
                  <a:cxn ang="0">
                    <a:pos x="42" y="33"/>
                  </a:cxn>
                  <a:cxn ang="0">
                    <a:pos x="46" y="33"/>
                  </a:cxn>
                  <a:cxn ang="0">
                    <a:pos x="49" y="30"/>
                  </a:cxn>
                  <a:cxn ang="0">
                    <a:pos x="49" y="27"/>
                  </a:cxn>
                  <a:cxn ang="0">
                    <a:pos x="46" y="23"/>
                  </a:cxn>
                  <a:cxn ang="0">
                    <a:pos x="7" y="0"/>
                  </a:cxn>
                  <a:cxn ang="0">
                    <a:pos x="3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42" y="33"/>
                  </a:cxn>
                </a:cxnLst>
                <a:rect l="txL" t="txT" r="txR" b="txB"/>
                <a:pathLst>
                  <a:path w="49" h="33">
                    <a:moveTo>
                      <a:pt x="42" y="33"/>
                    </a:moveTo>
                    <a:lnTo>
                      <a:pt x="46" y="33"/>
                    </a:lnTo>
                    <a:lnTo>
                      <a:pt x="49" y="30"/>
                    </a:lnTo>
                    <a:lnTo>
                      <a:pt x="49" y="27"/>
                    </a:lnTo>
                    <a:lnTo>
                      <a:pt x="46" y="23"/>
                    </a:lnTo>
                    <a:lnTo>
                      <a:pt x="7" y="0"/>
                    </a:lnTo>
                    <a:lnTo>
                      <a:pt x="3" y="0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3" y="10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26" name="Freeform 107"/>
              <p:cNvSpPr/>
              <p:nvPr/>
            </p:nvSpPr>
            <p:spPr>
              <a:xfrm>
                <a:off x="3505" y="2740"/>
                <a:ext cx="50" cy="33"/>
              </a:xfrm>
              <a:custGeom>
                <a:avLst/>
                <a:gdLst>
                  <a:gd name="txL" fmla="*/ 0 w 50"/>
                  <a:gd name="txT" fmla="*/ 0 h 33"/>
                  <a:gd name="txR" fmla="*/ 50 w 50"/>
                  <a:gd name="txB" fmla="*/ 33 h 33"/>
                </a:gdLst>
                <a:ahLst/>
                <a:cxnLst>
                  <a:cxn ang="0">
                    <a:pos x="43" y="33"/>
                  </a:cxn>
                  <a:cxn ang="0">
                    <a:pos x="46" y="33"/>
                  </a:cxn>
                  <a:cxn ang="0">
                    <a:pos x="50" y="30"/>
                  </a:cxn>
                  <a:cxn ang="0">
                    <a:pos x="50" y="26"/>
                  </a:cxn>
                  <a:cxn ang="0">
                    <a:pos x="46" y="23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43" y="33"/>
                  </a:cxn>
                </a:cxnLst>
                <a:rect l="txL" t="txT" r="txR" b="txB"/>
                <a:pathLst>
                  <a:path w="50" h="33">
                    <a:moveTo>
                      <a:pt x="43" y="33"/>
                    </a:moveTo>
                    <a:lnTo>
                      <a:pt x="46" y="33"/>
                    </a:lnTo>
                    <a:lnTo>
                      <a:pt x="50" y="30"/>
                    </a:lnTo>
                    <a:lnTo>
                      <a:pt x="50" y="26"/>
                    </a:lnTo>
                    <a:lnTo>
                      <a:pt x="46" y="23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43" y="3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27" name="Freeform 108"/>
              <p:cNvSpPr/>
              <p:nvPr/>
            </p:nvSpPr>
            <p:spPr>
              <a:xfrm>
                <a:off x="3440" y="2701"/>
                <a:ext cx="46" cy="32"/>
              </a:xfrm>
              <a:custGeom>
                <a:avLst/>
                <a:gdLst>
                  <a:gd name="txL" fmla="*/ 0 w 46"/>
                  <a:gd name="txT" fmla="*/ 0 h 32"/>
                  <a:gd name="txR" fmla="*/ 46 w 46"/>
                  <a:gd name="txB" fmla="*/ 32 h 32"/>
                </a:gdLst>
                <a:ahLst/>
                <a:cxnLst>
                  <a:cxn ang="0">
                    <a:pos x="39" y="32"/>
                  </a:cxn>
                  <a:cxn ang="0">
                    <a:pos x="42" y="32"/>
                  </a:cxn>
                  <a:cxn ang="0">
                    <a:pos x="46" y="29"/>
                  </a:cxn>
                  <a:cxn ang="0">
                    <a:pos x="46" y="26"/>
                  </a:cxn>
                  <a:cxn ang="0">
                    <a:pos x="42" y="23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4" y="10"/>
                  </a:cxn>
                  <a:cxn ang="0">
                    <a:pos x="39" y="32"/>
                  </a:cxn>
                </a:cxnLst>
                <a:rect l="txL" t="txT" r="txR" b="txB"/>
                <a:pathLst>
                  <a:path w="46" h="32">
                    <a:moveTo>
                      <a:pt x="39" y="32"/>
                    </a:moveTo>
                    <a:lnTo>
                      <a:pt x="42" y="32"/>
                    </a:lnTo>
                    <a:lnTo>
                      <a:pt x="46" y="29"/>
                    </a:lnTo>
                    <a:lnTo>
                      <a:pt x="46" y="26"/>
                    </a:lnTo>
                    <a:lnTo>
                      <a:pt x="42" y="23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4" y="10"/>
                    </a:lnTo>
                    <a:lnTo>
                      <a:pt x="39" y="32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723" name="Group 109"/>
            <p:cNvGrpSpPr/>
            <p:nvPr/>
          </p:nvGrpSpPr>
          <p:grpSpPr>
            <a:xfrm>
              <a:off x="3425" y="2442"/>
              <a:ext cx="11" cy="115"/>
              <a:chOff x="3425" y="2586"/>
              <a:chExt cx="11" cy="115"/>
            </a:xfrm>
          </p:grpSpPr>
          <p:sp>
            <p:nvSpPr>
              <p:cNvPr id="369820" name="Freeform 110"/>
              <p:cNvSpPr/>
              <p:nvPr/>
            </p:nvSpPr>
            <p:spPr>
              <a:xfrm>
                <a:off x="3425" y="2655"/>
                <a:ext cx="11" cy="46"/>
              </a:xfrm>
              <a:custGeom>
                <a:avLst/>
                <a:gdLst>
                  <a:gd name="txL" fmla="*/ 0 w 11"/>
                  <a:gd name="txT" fmla="*/ 0 h 46"/>
                  <a:gd name="txR" fmla="*/ 11 w 11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7" y="42"/>
                  </a:cxn>
                  <a:cxn ang="0">
                    <a:pos x="11" y="42"/>
                  </a:cxn>
                  <a:cxn ang="0">
                    <a:pos x="11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46"/>
                  </a:cxn>
                </a:cxnLst>
                <a:rect l="txL" t="txT" r="txR" b="txB"/>
                <a:pathLst>
                  <a:path w="11" h="46">
                    <a:moveTo>
                      <a:pt x="0" y="46"/>
                    </a:moveTo>
                    <a:lnTo>
                      <a:pt x="4" y="46"/>
                    </a:lnTo>
                    <a:lnTo>
                      <a:pt x="7" y="42"/>
                    </a:lnTo>
                    <a:lnTo>
                      <a:pt x="11" y="42"/>
                    </a:lnTo>
                    <a:lnTo>
                      <a:pt x="11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21" name="Freeform 111"/>
              <p:cNvSpPr/>
              <p:nvPr/>
            </p:nvSpPr>
            <p:spPr>
              <a:xfrm>
                <a:off x="3425" y="2586"/>
                <a:ext cx="11" cy="46"/>
              </a:xfrm>
              <a:custGeom>
                <a:avLst/>
                <a:gdLst>
                  <a:gd name="txL" fmla="*/ 0 w 11"/>
                  <a:gd name="txT" fmla="*/ 0 h 46"/>
                  <a:gd name="txR" fmla="*/ 11 w 11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7" y="42"/>
                  </a:cxn>
                  <a:cxn ang="0">
                    <a:pos x="11" y="42"/>
                  </a:cxn>
                  <a:cxn ang="0">
                    <a:pos x="11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46"/>
                  </a:cxn>
                </a:cxnLst>
                <a:rect l="txL" t="txT" r="txR" b="txB"/>
                <a:pathLst>
                  <a:path w="11" h="46">
                    <a:moveTo>
                      <a:pt x="0" y="46"/>
                    </a:moveTo>
                    <a:lnTo>
                      <a:pt x="4" y="46"/>
                    </a:lnTo>
                    <a:lnTo>
                      <a:pt x="7" y="42"/>
                    </a:lnTo>
                    <a:lnTo>
                      <a:pt x="11" y="42"/>
                    </a:lnTo>
                    <a:lnTo>
                      <a:pt x="11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724" name="Group 112"/>
            <p:cNvGrpSpPr/>
            <p:nvPr/>
          </p:nvGrpSpPr>
          <p:grpSpPr>
            <a:xfrm>
              <a:off x="3713" y="2780"/>
              <a:ext cx="84" cy="167"/>
              <a:chOff x="3713" y="2924"/>
              <a:chExt cx="84" cy="167"/>
            </a:xfrm>
          </p:grpSpPr>
          <p:sp>
            <p:nvSpPr>
              <p:cNvPr id="369817" name="Freeform 113"/>
              <p:cNvSpPr/>
              <p:nvPr/>
            </p:nvSpPr>
            <p:spPr>
              <a:xfrm>
                <a:off x="3766" y="2924"/>
                <a:ext cx="31" cy="46"/>
              </a:xfrm>
              <a:custGeom>
                <a:avLst/>
                <a:gdLst>
                  <a:gd name="txL" fmla="*/ 0 w 31"/>
                  <a:gd name="txT" fmla="*/ 0 h 46"/>
                  <a:gd name="txR" fmla="*/ 31 w 31"/>
                  <a:gd name="txB" fmla="*/ 46 h 46"/>
                </a:gdLst>
                <a:ahLst/>
                <a:cxnLst>
                  <a:cxn ang="0">
                    <a:pos x="31" y="6"/>
                  </a:cxn>
                  <a:cxn ang="0">
                    <a:pos x="27" y="3"/>
                  </a:cxn>
                  <a:cxn ang="0">
                    <a:pos x="23" y="0"/>
                  </a:cxn>
                  <a:cxn ang="0">
                    <a:pos x="19" y="3"/>
                  </a:cxn>
                  <a:cxn ang="0">
                    <a:pos x="0" y="39"/>
                  </a:cxn>
                  <a:cxn ang="0">
                    <a:pos x="0" y="43"/>
                  </a:cxn>
                  <a:cxn ang="0">
                    <a:pos x="4" y="46"/>
                  </a:cxn>
                  <a:cxn ang="0">
                    <a:pos x="8" y="46"/>
                  </a:cxn>
                  <a:cxn ang="0">
                    <a:pos x="12" y="43"/>
                  </a:cxn>
                  <a:cxn ang="0">
                    <a:pos x="31" y="6"/>
                  </a:cxn>
                </a:cxnLst>
                <a:rect l="txL" t="txT" r="txR" b="txB"/>
                <a:pathLst>
                  <a:path w="31" h="46">
                    <a:moveTo>
                      <a:pt x="31" y="6"/>
                    </a:moveTo>
                    <a:lnTo>
                      <a:pt x="27" y="3"/>
                    </a:lnTo>
                    <a:lnTo>
                      <a:pt x="23" y="0"/>
                    </a:lnTo>
                    <a:lnTo>
                      <a:pt x="19" y="3"/>
                    </a:lnTo>
                    <a:lnTo>
                      <a:pt x="0" y="39"/>
                    </a:lnTo>
                    <a:lnTo>
                      <a:pt x="0" y="43"/>
                    </a:lnTo>
                    <a:lnTo>
                      <a:pt x="4" y="46"/>
                    </a:lnTo>
                    <a:lnTo>
                      <a:pt x="8" y="46"/>
                    </a:lnTo>
                    <a:lnTo>
                      <a:pt x="12" y="43"/>
                    </a:lnTo>
                    <a:lnTo>
                      <a:pt x="31" y="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18" name="Freeform 114"/>
              <p:cNvSpPr/>
              <p:nvPr/>
            </p:nvSpPr>
            <p:spPr>
              <a:xfrm>
                <a:off x="3739" y="2986"/>
                <a:ext cx="27" cy="46"/>
              </a:xfrm>
              <a:custGeom>
                <a:avLst/>
                <a:gdLst>
                  <a:gd name="txL" fmla="*/ 0 w 27"/>
                  <a:gd name="txT" fmla="*/ 0 h 46"/>
                  <a:gd name="txR" fmla="*/ 27 w 27"/>
                  <a:gd name="txB" fmla="*/ 46 h 46"/>
                </a:gdLst>
                <a:ahLst/>
                <a:cxnLst>
                  <a:cxn ang="0">
                    <a:pos x="27" y="7"/>
                  </a:cxn>
                  <a:cxn ang="0">
                    <a:pos x="27" y="4"/>
                  </a:cxn>
                  <a:cxn ang="0">
                    <a:pos x="23" y="0"/>
                  </a:cxn>
                  <a:cxn ang="0">
                    <a:pos x="20" y="0"/>
                  </a:cxn>
                  <a:cxn ang="0">
                    <a:pos x="16" y="4"/>
                  </a:cxn>
                  <a:cxn ang="0">
                    <a:pos x="0" y="40"/>
                  </a:cxn>
                  <a:cxn ang="0">
                    <a:pos x="0" y="43"/>
                  </a:cxn>
                  <a:cxn ang="0">
                    <a:pos x="4" y="46"/>
                  </a:cxn>
                  <a:cxn ang="0">
                    <a:pos x="8" y="46"/>
                  </a:cxn>
                  <a:cxn ang="0">
                    <a:pos x="12" y="43"/>
                  </a:cxn>
                  <a:cxn ang="0">
                    <a:pos x="27" y="7"/>
                  </a:cxn>
                </a:cxnLst>
                <a:rect l="txL" t="txT" r="txR" b="txB"/>
                <a:pathLst>
                  <a:path w="27" h="46">
                    <a:moveTo>
                      <a:pt x="27" y="7"/>
                    </a:moveTo>
                    <a:lnTo>
                      <a:pt x="27" y="4"/>
                    </a:lnTo>
                    <a:lnTo>
                      <a:pt x="23" y="0"/>
                    </a:lnTo>
                    <a:lnTo>
                      <a:pt x="20" y="0"/>
                    </a:lnTo>
                    <a:lnTo>
                      <a:pt x="16" y="4"/>
                    </a:lnTo>
                    <a:lnTo>
                      <a:pt x="0" y="40"/>
                    </a:lnTo>
                    <a:lnTo>
                      <a:pt x="0" y="43"/>
                    </a:lnTo>
                    <a:lnTo>
                      <a:pt x="4" y="46"/>
                    </a:lnTo>
                    <a:lnTo>
                      <a:pt x="8" y="46"/>
                    </a:lnTo>
                    <a:lnTo>
                      <a:pt x="12" y="43"/>
                    </a:lnTo>
                    <a:lnTo>
                      <a:pt x="27" y="7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19" name="Freeform 115"/>
              <p:cNvSpPr/>
              <p:nvPr/>
            </p:nvSpPr>
            <p:spPr>
              <a:xfrm>
                <a:off x="3713" y="3052"/>
                <a:ext cx="23" cy="39"/>
              </a:xfrm>
              <a:custGeom>
                <a:avLst/>
                <a:gdLst>
                  <a:gd name="txL" fmla="*/ 0 w 23"/>
                  <a:gd name="txT" fmla="*/ 0 h 39"/>
                  <a:gd name="txR" fmla="*/ 23 w 23"/>
                  <a:gd name="txB" fmla="*/ 39 h 39"/>
                </a:gdLst>
                <a:ahLst/>
                <a:cxnLst>
                  <a:cxn ang="0">
                    <a:pos x="23" y="6"/>
                  </a:cxn>
                  <a:cxn ang="0">
                    <a:pos x="23" y="3"/>
                  </a:cxn>
                  <a:cxn ang="0">
                    <a:pos x="19" y="0"/>
                  </a:cxn>
                  <a:cxn ang="0">
                    <a:pos x="15" y="0"/>
                  </a:cxn>
                  <a:cxn ang="0">
                    <a:pos x="11" y="3"/>
                  </a:cxn>
                  <a:cxn ang="0">
                    <a:pos x="0" y="36"/>
                  </a:cxn>
                  <a:cxn ang="0">
                    <a:pos x="3" y="39"/>
                  </a:cxn>
                  <a:cxn ang="0">
                    <a:pos x="11" y="39"/>
                  </a:cxn>
                  <a:cxn ang="0">
                    <a:pos x="23" y="6"/>
                  </a:cxn>
                </a:cxnLst>
                <a:rect l="txL" t="txT" r="txR" b="txB"/>
                <a:pathLst>
                  <a:path w="23" h="39">
                    <a:moveTo>
                      <a:pt x="23" y="6"/>
                    </a:moveTo>
                    <a:lnTo>
                      <a:pt x="23" y="3"/>
                    </a:lnTo>
                    <a:lnTo>
                      <a:pt x="19" y="0"/>
                    </a:lnTo>
                    <a:lnTo>
                      <a:pt x="15" y="0"/>
                    </a:lnTo>
                    <a:lnTo>
                      <a:pt x="11" y="3"/>
                    </a:lnTo>
                    <a:lnTo>
                      <a:pt x="0" y="36"/>
                    </a:lnTo>
                    <a:lnTo>
                      <a:pt x="3" y="39"/>
                    </a:lnTo>
                    <a:lnTo>
                      <a:pt x="11" y="39"/>
                    </a:lnTo>
                    <a:lnTo>
                      <a:pt x="23" y="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9725" name="Line 116"/>
            <p:cNvSpPr/>
            <p:nvPr/>
          </p:nvSpPr>
          <p:spPr>
            <a:xfrm>
              <a:off x="4365" y="2127"/>
              <a:ext cx="1" cy="495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26" name="Line 117"/>
            <p:cNvSpPr/>
            <p:nvPr/>
          </p:nvSpPr>
          <p:spPr>
            <a:xfrm flipH="1">
              <a:off x="3885" y="2622"/>
              <a:ext cx="480" cy="181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27" name="Line 118"/>
            <p:cNvSpPr/>
            <p:nvPr/>
          </p:nvSpPr>
          <p:spPr>
            <a:xfrm flipV="1">
              <a:off x="3885" y="2714"/>
              <a:ext cx="1" cy="89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28" name="Line 119"/>
            <p:cNvSpPr/>
            <p:nvPr/>
          </p:nvSpPr>
          <p:spPr>
            <a:xfrm flipV="1">
              <a:off x="3885" y="2501"/>
              <a:ext cx="311" cy="213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29" name="Line 120"/>
            <p:cNvSpPr/>
            <p:nvPr/>
          </p:nvSpPr>
          <p:spPr>
            <a:xfrm flipV="1">
              <a:off x="4196" y="2251"/>
              <a:ext cx="1" cy="250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69730" name="Group 121"/>
            <p:cNvGrpSpPr/>
            <p:nvPr/>
          </p:nvGrpSpPr>
          <p:grpSpPr>
            <a:xfrm>
              <a:off x="3881" y="2557"/>
              <a:ext cx="376" cy="233"/>
              <a:chOff x="3881" y="2701"/>
              <a:chExt cx="376" cy="233"/>
            </a:xfrm>
          </p:grpSpPr>
          <p:sp>
            <p:nvSpPr>
              <p:cNvPr id="369811" name="Freeform 122"/>
              <p:cNvSpPr/>
              <p:nvPr/>
            </p:nvSpPr>
            <p:spPr>
              <a:xfrm>
                <a:off x="3881" y="2901"/>
                <a:ext cx="46" cy="33"/>
              </a:xfrm>
              <a:custGeom>
                <a:avLst/>
                <a:gdLst>
                  <a:gd name="txL" fmla="*/ 0 w 46"/>
                  <a:gd name="txT" fmla="*/ 0 h 33"/>
                  <a:gd name="txR" fmla="*/ 46 w 46"/>
                  <a:gd name="txB" fmla="*/ 33 h 33"/>
                </a:gdLst>
                <a:ahLst/>
                <a:cxnLst>
                  <a:cxn ang="0">
                    <a:pos x="4" y="23"/>
                  </a:cxn>
                  <a:cxn ang="0">
                    <a:pos x="0" y="26"/>
                  </a:cxn>
                  <a:cxn ang="0">
                    <a:pos x="4" y="29"/>
                  </a:cxn>
                  <a:cxn ang="0">
                    <a:pos x="8" y="33"/>
                  </a:cxn>
                  <a:cxn ang="0">
                    <a:pos x="43" y="10"/>
                  </a:cxn>
                  <a:cxn ang="0">
                    <a:pos x="46" y="6"/>
                  </a:cxn>
                  <a:cxn ang="0">
                    <a:pos x="46" y="3"/>
                  </a:cxn>
                  <a:cxn ang="0">
                    <a:pos x="43" y="0"/>
                  </a:cxn>
                  <a:cxn ang="0">
                    <a:pos x="39" y="0"/>
                  </a:cxn>
                  <a:cxn ang="0">
                    <a:pos x="4" y="23"/>
                  </a:cxn>
                </a:cxnLst>
                <a:rect l="txL" t="txT" r="txR" b="txB"/>
                <a:pathLst>
                  <a:path w="46" h="33">
                    <a:moveTo>
                      <a:pt x="4" y="23"/>
                    </a:moveTo>
                    <a:lnTo>
                      <a:pt x="0" y="26"/>
                    </a:lnTo>
                    <a:lnTo>
                      <a:pt x="4" y="29"/>
                    </a:lnTo>
                    <a:lnTo>
                      <a:pt x="8" y="33"/>
                    </a:lnTo>
                    <a:lnTo>
                      <a:pt x="43" y="10"/>
                    </a:lnTo>
                    <a:lnTo>
                      <a:pt x="46" y="6"/>
                    </a:lnTo>
                    <a:lnTo>
                      <a:pt x="46" y="3"/>
                    </a:lnTo>
                    <a:lnTo>
                      <a:pt x="43" y="0"/>
                    </a:lnTo>
                    <a:lnTo>
                      <a:pt x="39" y="0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12" name="Freeform 123"/>
              <p:cNvSpPr/>
              <p:nvPr/>
            </p:nvSpPr>
            <p:spPr>
              <a:xfrm>
                <a:off x="3947" y="2862"/>
                <a:ext cx="49" cy="29"/>
              </a:xfrm>
              <a:custGeom>
                <a:avLst/>
                <a:gdLst>
                  <a:gd name="txL" fmla="*/ 0 w 49"/>
                  <a:gd name="txT" fmla="*/ 0 h 29"/>
                  <a:gd name="txR" fmla="*/ 49 w 49"/>
                  <a:gd name="txB" fmla="*/ 29 h 29"/>
                </a:gdLst>
                <a:ahLst/>
                <a:cxnLst>
                  <a:cxn ang="0">
                    <a:pos x="3" y="19"/>
                  </a:cxn>
                  <a:cxn ang="0">
                    <a:pos x="0" y="22"/>
                  </a:cxn>
                  <a:cxn ang="0">
                    <a:pos x="0" y="26"/>
                  </a:cxn>
                  <a:cxn ang="0">
                    <a:pos x="3" y="29"/>
                  </a:cxn>
                  <a:cxn ang="0">
                    <a:pos x="7" y="29"/>
                  </a:cxn>
                  <a:cxn ang="0">
                    <a:pos x="46" y="9"/>
                  </a:cxn>
                  <a:cxn ang="0">
                    <a:pos x="49" y="6"/>
                  </a:cxn>
                  <a:cxn ang="0">
                    <a:pos x="49" y="3"/>
                  </a:cxn>
                  <a:cxn ang="0">
                    <a:pos x="46" y="0"/>
                  </a:cxn>
                  <a:cxn ang="0">
                    <a:pos x="42" y="0"/>
                  </a:cxn>
                  <a:cxn ang="0">
                    <a:pos x="3" y="19"/>
                  </a:cxn>
                </a:cxnLst>
                <a:rect l="txL" t="txT" r="txR" b="txB"/>
                <a:pathLst>
                  <a:path w="49" h="29">
                    <a:moveTo>
                      <a:pt x="3" y="19"/>
                    </a:moveTo>
                    <a:lnTo>
                      <a:pt x="0" y="22"/>
                    </a:lnTo>
                    <a:lnTo>
                      <a:pt x="0" y="26"/>
                    </a:lnTo>
                    <a:lnTo>
                      <a:pt x="3" y="29"/>
                    </a:lnTo>
                    <a:lnTo>
                      <a:pt x="7" y="29"/>
                    </a:lnTo>
                    <a:lnTo>
                      <a:pt x="46" y="9"/>
                    </a:lnTo>
                    <a:lnTo>
                      <a:pt x="49" y="6"/>
                    </a:lnTo>
                    <a:lnTo>
                      <a:pt x="49" y="3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3" y="1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13" name="Freeform 124"/>
              <p:cNvSpPr/>
              <p:nvPr/>
            </p:nvSpPr>
            <p:spPr>
              <a:xfrm>
                <a:off x="4012" y="2822"/>
                <a:ext cx="50" cy="30"/>
              </a:xfrm>
              <a:custGeom>
                <a:avLst/>
                <a:gdLst>
                  <a:gd name="txL" fmla="*/ 0 w 50"/>
                  <a:gd name="txT" fmla="*/ 0 h 30"/>
                  <a:gd name="txR" fmla="*/ 50 w 50"/>
                  <a:gd name="txB" fmla="*/ 30 h 30"/>
                </a:gdLst>
                <a:ahLst/>
                <a:cxnLst>
                  <a:cxn ang="0">
                    <a:pos x="4" y="20"/>
                  </a:cxn>
                  <a:cxn ang="0">
                    <a:pos x="0" y="23"/>
                  </a:cxn>
                  <a:cxn ang="0">
                    <a:pos x="0" y="26"/>
                  </a:cxn>
                  <a:cxn ang="0">
                    <a:pos x="4" y="30"/>
                  </a:cxn>
                  <a:cxn ang="0">
                    <a:pos x="7" y="30"/>
                  </a:cxn>
                  <a:cxn ang="0">
                    <a:pos x="46" y="10"/>
                  </a:cxn>
                  <a:cxn ang="0">
                    <a:pos x="50" y="7"/>
                  </a:cxn>
                  <a:cxn ang="0">
                    <a:pos x="50" y="3"/>
                  </a:cxn>
                  <a:cxn ang="0">
                    <a:pos x="46" y="0"/>
                  </a:cxn>
                  <a:cxn ang="0">
                    <a:pos x="42" y="0"/>
                  </a:cxn>
                  <a:cxn ang="0">
                    <a:pos x="4" y="20"/>
                  </a:cxn>
                </a:cxnLst>
                <a:rect l="txL" t="txT" r="txR" b="txB"/>
                <a:pathLst>
                  <a:path w="50" h="30">
                    <a:moveTo>
                      <a:pt x="4" y="20"/>
                    </a:moveTo>
                    <a:lnTo>
                      <a:pt x="0" y="23"/>
                    </a:lnTo>
                    <a:lnTo>
                      <a:pt x="0" y="26"/>
                    </a:lnTo>
                    <a:lnTo>
                      <a:pt x="4" y="30"/>
                    </a:lnTo>
                    <a:lnTo>
                      <a:pt x="7" y="30"/>
                    </a:lnTo>
                    <a:lnTo>
                      <a:pt x="46" y="10"/>
                    </a:lnTo>
                    <a:lnTo>
                      <a:pt x="50" y="7"/>
                    </a:lnTo>
                    <a:lnTo>
                      <a:pt x="50" y="3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4" y="2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14" name="Freeform 125"/>
              <p:cNvSpPr/>
              <p:nvPr/>
            </p:nvSpPr>
            <p:spPr>
              <a:xfrm>
                <a:off x="4077" y="2779"/>
                <a:ext cx="50" cy="33"/>
              </a:xfrm>
              <a:custGeom>
                <a:avLst/>
                <a:gdLst>
                  <a:gd name="txL" fmla="*/ 0 w 50"/>
                  <a:gd name="txT" fmla="*/ 0 h 33"/>
                  <a:gd name="txR" fmla="*/ 50 w 50"/>
                  <a:gd name="txB" fmla="*/ 33 h 33"/>
                </a:gdLst>
                <a:ahLst/>
                <a:cxnLst>
                  <a:cxn ang="0">
                    <a:pos x="4" y="23"/>
                  </a:cxn>
                  <a:cxn ang="0">
                    <a:pos x="0" y="27"/>
                  </a:cxn>
                  <a:cxn ang="0">
                    <a:pos x="0" y="30"/>
                  </a:cxn>
                  <a:cxn ang="0">
                    <a:pos x="4" y="33"/>
                  </a:cxn>
                  <a:cxn ang="0">
                    <a:pos x="8" y="33"/>
                  </a:cxn>
                  <a:cxn ang="0">
                    <a:pos x="46" y="10"/>
                  </a:cxn>
                  <a:cxn ang="0">
                    <a:pos x="50" y="7"/>
                  </a:cxn>
                  <a:cxn ang="0">
                    <a:pos x="50" y="4"/>
                  </a:cxn>
                  <a:cxn ang="0">
                    <a:pos x="46" y="0"/>
                  </a:cxn>
                  <a:cxn ang="0">
                    <a:pos x="42" y="0"/>
                  </a:cxn>
                  <a:cxn ang="0">
                    <a:pos x="4" y="23"/>
                  </a:cxn>
                </a:cxnLst>
                <a:rect l="txL" t="txT" r="txR" b="txB"/>
                <a:pathLst>
                  <a:path w="50" h="33">
                    <a:moveTo>
                      <a:pt x="4" y="23"/>
                    </a:moveTo>
                    <a:lnTo>
                      <a:pt x="0" y="27"/>
                    </a:lnTo>
                    <a:lnTo>
                      <a:pt x="0" y="30"/>
                    </a:lnTo>
                    <a:lnTo>
                      <a:pt x="4" y="33"/>
                    </a:lnTo>
                    <a:lnTo>
                      <a:pt x="8" y="33"/>
                    </a:lnTo>
                    <a:lnTo>
                      <a:pt x="46" y="10"/>
                    </a:lnTo>
                    <a:lnTo>
                      <a:pt x="50" y="7"/>
                    </a:lnTo>
                    <a:lnTo>
                      <a:pt x="50" y="4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15" name="Freeform 126"/>
              <p:cNvSpPr/>
              <p:nvPr/>
            </p:nvSpPr>
            <p:spPr>
              <a:xfrm>
                <a:off x="4142" y="2740"/>
                <a:ext cx="50" cy="33"/>
              </a:xfrm>
              <a:custGeom>
                <a:avLst/>
                <a:gdLst>
                  <a:gd name="txL" fmla="*/ 0 w 50"/>
                  <a:gd name="txT" fmla="*/ 0 h 33"/>
                  <a:gd name="txR" fmla="*/ 50 w 50"/>
                  <a:gd name="txB" fmla="*/ 33 h 33"/>
                </a:gdLst>
                <a:ahLst/>
                <a:cxnLst>
                  <a:cxn ang="0">
                    <a:pos x="4" y="23"/>
                  </a:cxn>
                  <a:cxn ang="0">
                    <a:pos x="0" y="26"/>
                  </a:cxn>
                  <a:cxn ang="0">
                    <a:pos x="0" y="30"/>
                  </a:cxn>
                  <a:cxn ang="0">
                    <a:pos x="4" y="33"/>
                  </a:cxn>
                  <a:cxn ang="0">
                    <a:pos x="8" y="33"/>
                  </a:cxn>
                  <a:cxn ang="0">
                    <a:pos x="46" y="10"/>
                  </a:cxn>
                  <a:cxn ang="0">
                    <a:pos x="50" y="7"/>
                  </a:cxn>
                  <a:cxn ang="0">
                    <a:pos x="50" y="3"/>
                  </a:cxn>
                  <a:cxn ang="0">
                    <a:pos x="46" y="0"/>
                  </a:cxn>
                  <a:cxn ang="0">
                    <a:pos x="42" y="0"/>
                  </a:cxn>
                  <a:cxn ang="0">
                    <a:pos x="4" y="23"/>
                  </a:cxn>
                </a:cxnLst>
                <a:rect l="txL" t="txT" r="txR" b="txB"/>
                <a:pathLst>
                  <a:path w="50" h="33">
                    <a:moveTo>
                      <a:pt x="4" y="23"/>
                    </a:moveTo>
                    <a:lnTo>
                      <a:pt x="0" y="26"/>
                    </a:lnTo>
                    <a:lnTo>
                      <a:pt x="0" y="30"/>
                    </a:lnTo>
                    <a:lnTo>
                      <a:pt x="4" y="33"/>
                    </a:lnTo>
                    <a:lnTo>
                      <a:pt x="8" y="33"/>
                    </a:lnTo>
                    <a:lnTo>
                      <a:pt x="46" y="10"/>
                    </a:lnTo>
                    <a:lnTo>
                      <a:pt x="50" y="7"/>
                    </a:lnTo>
                    <a:lnTo>
                      <a:pt x="50" y="3"/>
                    </a:lnTo>
                    <a:lnTo>
                      <a:pt x="46" y="0"/>
                    </a:lnTo>
                    <a:lnTo>
                      <a:pt x="42" y="0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16" name="Freeform 127"/>
              <p:cNvSpPr/>
              <p:nvPr/>
            </p:nvSpPr>
            <p:spPr>
              <a:xfrm>
                <a:off x="4211" y="2701"/>
                <a:ext cx="46" cy="32"/>
              </a:xfrm>
              <a:custGeom>
                <a:avLst/>
                <a:gdLst>
                  <a:gd name="txL" fmla="*/ 0 w 46"/>
                  <a:gd name="txT" fmla="*/ 0 h 32"/>
                  <a:gd name="txR" fmla="*/ 46 w 46"/>
                  <a:gd name="txB" fmla="*/ 32 h 32"/>
                </a:gdLst>
                <a:ahLst/>
                <a:cxnLst>
                  <a:cxn ang="0">
                    <a:pos x="4" y="23"/>
                  </a:cxn>
                  <a:cxn ang="0">
                    <a:pos x="0" y="26"/>
                  </a:cxn>
                  <a:cxn ang="0">
                    <a:pos x="0" y="29"/>
                  </a:cxn>
                  <a:cxn ang="0">
                    <a:pos x="4" y="32"/>
                  </a:cxn>
                  <a:cxn ang="0">
                    <a:pos x="8" y="32"/>
                  </a:cxn>
                  <a:cxn ang="0">
                    <a:pos x="42" y="10"/>
                  </a:cxn>
                  <a:cxn ang="0">
                    <a:pos x="46" y="6"/>
                  </a:cxn>
                  <a:cxn ang="0">
                    <a:pos x="46" y="3"/>
                  </a:cxn>
                  <a:cxn ang="0">
                    <a:pos x="42" y="0"/>
                  </a:cxn>
                  <a:cxn ang="0">
                    <a:pos x="39" y="0"/>
                  </a:cxn>
                  <a:cxn ang="0">
                    <a:pos x="4" y="23"/>
                  </a:cxn>
                </a:cxnLst>
                <a:rect l="txL" t="txT" r="txR" b="txB"/>
                <a:pathLst>
                  <a:path w="46" h="32">
                    <a:moveTo>
                      <a:pt x="4" y="23"/>
                    </a:moveTo>
                    <a:lnTo>
                      <a:pt x="0" y="26"/>
                    </a:lnTo>
                    <a:lnTo>
                      <a:pt x="0" y="29"/>
                    </a:lnTo>
                    <a:lnTo>
                      <a:pt x="4" y="32"/>
                    </a:lnTo>
                    <a:lnTo>
                      <a:pt x="8" y="32"/>
                    </a:lnTo>
                    <a:lnTo>
                      <a:pt x="42" y="10"/>
                    </a:lnTo>
                    <a:lnTo>
                      <a:pt x="46" y="6"/>
                    </a:lnTo>
                    <a:lnTo>
                      <a:pt x="46" y="3"/>
                    </a:lnTo>
                    <a:lnTo>
                      <a:pt x="42" y="0"/>
                    </a:lnTo>
                    <a:lnTo>
                      <a:pt x="39" y="0"/>
                    </a:lnTo>
                    <a:lnTo>
                      <a:pt x="4" y="2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731" name="Group 128"/>
            <p:cNvGrpSpPr/>
            <p:nvPr/>
          </p:nvGrpSpPr>
          <p:grpSpPr>
            <a:xfrm>
              <a:off x="4265" y="2176"/>
              <a:ext cx="12" cy="381"/>
              <a:chOff x="4265" y="2320"/>
              <a:chExt cx="12" cy="381"/>
            </a:xfrm>
          </p:grpSpPr>
          <p:sp>
            <p:nvSpPr>
              <p:cNvPr id="369805" name="Freeform 129"/>
              <p:cNvSpPr/>
              <p:nvPr/>
            </p:nvSpPr>
            <p:spPr>
              <a:xfrm>
                <a:off x="4265" y="2655"/>
                <a:ext cx="12" cy="46"/>
              </a:xfrm>
              <a:custGeom>
                <a:avLst/>
                <a:gdLst>
                  <a:gd name="txL" fmla="*/ 0 w 12"/>
                  <a:gd name="txT" fmla="*/ 0 h 46"/>
                  <a:gd name="txR" fmla="*/ 12 w 12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8" y="42"/>
                  </a:cxn>
                  <a:cxn ang="0">
                    <a:pos x="12" y="42"/>
                  </a:cxn>
                  <a:cxn ang="0">
                    <a:pos x="12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46"/>
                  </a:cxn>
                </a:cxnLst>
                <a:rect l="txL" t="txT" r="txR" b="txB"/>
                <a:pathLst>
                  <a:path w="12" h="46">
                    <a:moveTo>
                      <a:pt x="0" y="46"/>
                    </a:moveTo>
                    <a:lnTo>
                      <a:pt x="4" y="46"/>
                    </a:lnTo>
                    <a:lnTo>
                      <a:pt x="8" y="42"/>
                    </a:lnTo>
                    <a:lnTo>
                      <a:pt x="12" y="42"/>
                    </a:lnTo>
                    <a:lnTo>
                      <a:pt x="12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06" name="Freeform 130"/>
              <p:cNvSpPr/>
              <p:nvPr/>
            </p:nvSpPr>
            <p:spPr>
              <a:xfrm>
                <a:off x="4265" y="2586"/>
                <a:ext cx="12" cy="46"/>
              </a:xfrm>
              <a:custGeom>
                <a:avLst/>
                <a:gdLst>
                  <a:gd name="txL" fmla="*/ 0 w 12"/>
                  <a:gd name="txT" fmla="*/ 0 h 46"/>
                  <a:gd name="txR" fmla="*/ 12 w 12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8" y="42"/>
                  </a:cxn>
                  <a:cxn ang="0">
                    <a:pos x="12" y="42"/>
                  </a:cxn>
                  <a:cxn ang="0">
                    <a:pos x="12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46"/>
                  </a:cxn>
                </a:cxnLst>
                <a:rect l="txL" t="txT" r="txR" b="txB"/>
                <a:pathLst>
                  <a:path w="12" h="46">
                    <a:moveTo>
                      <a:pt x="0" y="46"/>
                    </a:moveTo>
                    <a:lnTo>
                      <a:pt x="4" y="46"/>
                    </a:lnTo>
                    <a:lnTo>
                      <a:pt x="8" y="42"/>
                    </a:lnTo>
                    <a:lnTo>
                      <a:pt x="12" y="42"/>
                    </a:lnTo>
                    <a:lnTo>
                      <a:pt x="12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07" name="Freeform 131"/>
              <p:cNvSpPr/>
              <p:nvPr/>
            </p:nvSpPr>
            <p:spPr>
              <a:xfrm>
                <a:off x="4265" y="2517"/>
                <a:ext cx="12" cy="46"/>
              </a:xfrm>
              <a:custGeom>
                <a:avLst/>
                <a:gdLst>
                  <a:gd name="txL" fmla="*/ 0 w 12"/>
                  <a:gd name="txT" fmla="*/ 0 h 46"/>
                  <a:gd name="txR" fmla="*/ 12 w 12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8" y="43"/>
                  </a:cxn>
                  <a:cxn ang="0">
                    <a:pos x="12" y="43"/>
                  </a:cxn>
                  <a:cxn ang="0">
                    <a:pos x="12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0" y="46"/>
                  </a:cxn>
                </a:cxnLst>
                <a:rect l="txL" t="txT" r="txR" b="txB"/>
                <a:pathLst>
                  <a:path w="12" h="46">
                    <a:moveTo>
                      <a:pt x="0" y="46"/>
                    </a:moveTo>
                    <a:lnTo>
                      <a:pt x="4" y="46"/>
                    </a:lnTo>
                    <a:lnTo>
                      <a:pt x="8" y="43"/>
                    </a:lnTo>
                    <a:lnTo>
                      <a:pt x="12" y="43"/>
                    </a:lnTo>
                    <a:lnTo>
                      <a:pt x="12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08" name="Freeform 132"/>
              <p:cNvSpPr/>
              <p:nvPr/>
            </p:nvSpPr>
            <p:spPr>
              <a:xfrm>
                <a:off x="4265" y="2448"/>
                <a:ext cx="12" cy="46"/>
              </a:xfrm>
              <a:custGeom>
                <a:avLst/>
                <a:gdLst>
                  <a:gd name="txL" fmla="*/ 0 w 12"/>
                  <a:gd name="txT" fmla="*/ 0 h 46"/>
                  <a:gd name="txR" fmla="*/ 12 w 12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8" y="43"/>
                  </a:cxn>
                  <a:cxn ang="0">
                    <a:pos x="12" y="43"/>
                  </a:cxn>
                  <a:cxn ang="0">
                    <a:pos x="12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0" y="46"/>
                  </a:cxn>
                </a:cxnLst>
                <a:rect l="txL" t="txT" r="txR" b="txB"/>
                <a:pathLst>
                  <a:path w="12" h="46">
                    <a:moveTo>
                      <a:pt x="0" y="46"/>
                    </a:moveTo>
                    <a:lnTo>
                      <a:pt x="4" y="46"/>
                    </a:lnTo>
                    <a:lnTo>
                      <a:pt x="8" y="43"/>
                    </a:lnTo>
                    <a:lnTo>
                      <a:pt x="12" y="43"/>
                    </a:lnTo>
                    <a:lnTo>
                      <a:pt x="12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09" name="Freeform 133"/>
              <p:cNvSpPr/>
              <p:nvPr/>
            </p:nvSpPr>
            <p:spPr>
              <a:xfrm>
                <a:off x="4265" y="2379"/>
                <a:ext cx="12" cy="46"/>
              </a:xfrm>
              <a:custGeom>
                <a:avLst/>
                <a:gdLst>
                  <a:gd name="txL" fmla="*/ 0 w 12"/>
                  <a:gd name="txT" fmla="*/ 0 h 46"/>
                  <a:gd name="txR" fmla="*/ 12 w 12"/>
                  <a:gd name="txB" fmla="*/ 46 h 46"/>
                </a:gdLst>
                <a:ahLst/>
                <a:cxnLst>
                  <a:cxn ang="0">
                    <a:pos x="0" y="46"/>
                  </a:cxn>
                  <a:cxn ang="0">
                    <a:pos x="4" y="46"/>
                  </a:cxn>
                  <a:cxn ang="0">
                    <a:pos x="8" y="43"/>
                  </a:cxn>
                  <a:cxn ang="0">
                    <a:pos x="12" y="43"/>
                  </a:cxn>
                  <a:cxn ang="0">
                    <a:pos x="12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0" y="46"/>
                  </a:cxn>
                </a:cxnLst>
                <a:rect l="txL" t="txT" r="txR" b="txB"/>
                <a:pathLst>
                  <a:path w="12" h="46">
                    <a:moveTo>
                      <a:pt x="0" y="46"/>
                    </a:moveTo>
                    <a:lnTo>
                      <a:pt x="4" y="46"/>
                    </a:lnTo>
                    <a:lnTo>
                      <a:pt x="8" y="43"/>
                    </a:lnTo>
                    <a:lnTo>
                      <a:pt x="12" y="43"/>
                    </a:lnTo>
                    <a:lnTo>
                      <a:pt x="12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10" name="Freeform 134"/>
              <p:cNvSpPr/>
              <p:nvPr/>
            </p:nvSpPr>
            <p:spPr>
              <a:xfrm>
                <a:off x="4265" y="2320"/>
                <a:ext cx="12" cy="36"/>
              </a:xfrm>
              <a:custGeom>
                <a:avLst/>
                <a:gdLst>
                  <a:gd name="txL" fmla="*/ 0 w 12"/>
                  <a:gd name="txT" fmla="*/ 0 h 36"/>
                  <a:gd name="txR" fmla="*/ 12 w 12"/>
                  <a:gd name="txB" fmla="*/ 36 h 36"/>
                </a:gdLst>
                <a:ahLst/>
                <a:cxnLst>
                  <a:cxn ang="0">
                    <a:pos x="0" y="36"/>
                  </a:cxn>
                  <a:cxn ang="0">
                    <a:pos x="4" y="36"/>
                  </a:cxn>
                  <a:cxn ang="0">
                    <a:pos x="8" y="33"/>
                  </a:cxn>
                  <a:cxn ang="0">
                    <a:pos x="12" y="33"/>
                  </a:cxn>
                  <a:cxn ang="0">
                    <a:pos x="12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0" y="36"/>
                  </a:cxn>
                </a:cxnLst>
                <a:rect l="txL" t="txT" r="txR" b="txB"/>
                <a:pathLst>
                  <a:path w="12" h="36">
                    <a:moveTo>
                      <a:pt x="0" y="36"/>
                    </a:moveTo>
                    <a:lnTo>
                      <a:pt x="4" y="36"/>
                    </a:lnTo>
                    <a:lnTo>
                      <a:pt x="8" y="33"/>
                    </a:lnTo>
                    <a:lnTo>
                      <a:pt x="12" y="33"/>
                    </a:lnTo>
                    <a:lnTo>
                      <a:pt x="12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732" name="Group 135"/>
            <p:cNvGrpSpPr/>
            <p:nvPr/>
          </p:nvGrpSpPr>
          <p:grpSpPr>
            <a:xfrm>
              <a:off x="3904" y="2780"/>
              <a:ext cx="85" cy="167"/>
              <a:chOff x="3904" y="2924"/>
              <a:chExt cx="85" cy="167"/>
            </a:xfrm>
          </p:grpSpPr>
          <p:sp>
            <p:nvSpPr>
              <p:cNvPr id="369802" name="Freeform 136"/>
              <p:cNvSpPr/>
              <p:nvPr/>
            </p:nvSpPr>
            <p:spPr>
              <a:xfrm>
                <a:off x="3904" y="2924"/>
                <a:ext cx="27" cy="46"/>
              </a:xfrm>
              <a:custGeom>
                <a:avLst/>
                <a:gdLst>
                  <a:gd name="txL" fmla="*/ 0 w 27"/>
                  <a:gd name="txT" fmla="*/ 0 h 46"/>
                  <a:gd name="txR" fmla="*/ 27 w 27"/>
                  <a:gd name="txB" fmla="*/ 46 h 46"/>
                </a:gdLst>
                <a:ahLst/>
                <a:cxnLst>
                  <a:cxn ang="0">
                    <a:pos x="12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16" y="43"/>
                  </a:cxn>
                  <a:cxn ang="0">
                    <a:pos x="20" y="46"/>
                  </a:cxn>
                  <a:cxn ang="0">
                    <a:pos x="23" y="46"/>
                  </a:cxn>
                  <a:cxn ang="0">
                    <a:pos x="27" y="43"/>
                  </a:cxn>
                  <a:cxn ang="0">
                    <a:pos x="27" y="39"/>
                  </a:cxn>
                  <a:cxn ang="0">
                    <a:pos x="12" y="3"/>
                  </a:cxn>
                </a:cxnLst>
                <a:rect l="txL" t="txT" r="txR" b="txB"/>
                <a:pathLst>
                  <a:path w="27" h="46">
                    <a:moveTo>
                      <a:pt x="12" y="3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6" y="43"/>
                    </a:lnTo>
                    <a:lnTo>
                      <a:pt x="20" y="46"/>
                    </a:lnTo>
                    <a:lnTo>
                      <a:pt x="23" y="46"/>
                    </a:lnTo>
                    <a:lnTo>
                      <a:pt x="27" y="43"/>
                    </a:lnTo>
                    <a:lnTo>
                      <a:pt x="27" y="39"/>
                    </a:lnTo>
                    <a:lnTo>
                      <a:pt x="12" y="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03" name="Freeform 137"/>
              <p:cNvSpPr/>
              <p:nvPr/>
            </p:nvSpPr>
            <p:spPr>
              <a:xfrm>
                <a:off x="3931" y="2986"/>
                <a:ext cx="27" cy="46"/>
              </a:xfrm>
              <a:custGeom>
                <a:avLst/>
                <a:gdLst>
                  <a:gd name="txL" fmla="*/ 0 w 27"/>
                  <a:gd name="txT" fmla="*/ 0 h 46"/>
                  <a:gd name="txR" fmla="*/ 27 w 27"/>
                  <a:gd name="txB" fmla="*/ 46 h 46"/>
                </a:gdLst>
                <a:ahLst/>
                <a:cxnLst>
                  <a:cxn ang="0">
                    <a:pos x="12" y="4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7"/>
                  </a:cxn>
                  <a:cxn ang="0">
                    <a:pos x="16" y="43"/>
                  </a:cxn>
                  <a:cxn ang="0">
                    <a:pos x="19" y="46"/>
                  </a:cxn>
                  <a:cxn ang="0">
                    <a:pos x="23" y="46"/>
                  </a:cxn>
                  <a:cxn ang="0">
                    <a:pos x="27" y="43"/>
                  </a:cxn>
                  <a:cxn ang="0">
                    <a:pos x="27" y="40"/>
                  </a:cxn>
                  <a:cxn ang="0">
                    <a:pos x="12" y="4"/>
                  </a:cxn>
                </a:cxnLst>
                <a:rect l="txL" t="txT" r="txR" b="txB"/>
                <a:pathLst>
                  <a:path w="27" h="46">
                    <a:moveTo>
                      <a:pt x="12" y="4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16" y="43"/>
                    </a:lnTo>
                    <a:lnTo>
                      <a:pt x="19" y="46"/>
                    </a:lnTo>
                    <a:lnTo>
                      <a:pt x="23" y="46"/>
                    </a:lnTo>
                    <a:lnTo>
                      <a:pt x="27" y="43"/>
                    </a:lnTo>
                    <a:lnTo>
                      <a:pt x="27" y="40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04" name="Freeform 138"/>
              <p:cNvSpPr/>
              <p:nvPr/>
            </p:nvSpPr>
            <p:spPr>
              <a:xfrm>
                <a:off x="3962" y="3052"/>
                <a:ext cx="27" cy="39"/>
              </a:xfrm>
              <a:custGeom>
                <a:avLst/>
                <a:gdLst>
                  <a:gd name="txL" fmla="*/ 0 w 27"/>
                  <a:gd name="txT" fmla="*/ 0 h 39"/>
                  <a:gd name="txR" fmla="*/ 27 w 27"/>
                  <a:gd name="txB" fmla="*/ 39 h 39"/>
                </a:gdLst>
                <a:ahLst/>
                <a:cxnLst>
                  <a:cxn ang="0">
                    <a:pos x="11" y="3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6"/>
                  </a:cxn>
                  <a:cxn ang="0">
                    <a:pos x="15" y="39"/>
                  </a:cxn>
                  <a:cxn ang="0">
                    <a:pos x="19" y="39"/>
                  </a:cxn>
                  <a:cxn ang="0">
                    <a:pos x="23" y="36"/>
                  </a:cxn>
                  <a:cxn ang="0">
                    <a:pos x="27" y="36"/>
                  </a:cxn>
                  <a:cxn ang="0">
                    <a:pos x="11" y="3"/>
                  </a:cxn>
                </a:cxnLst>
                <a:rect l="txL" t="txT" r="txR" b="txB"/>
                <a:pathLst>
                  <a:path w="27" h="39">
                    <a:moveTo>
                      <a:pt x="11" y="3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5" y="39"/>
                    </a:lnTo>
                    <a:lnTo>
                      <a:pt x="19" y="39"/>
                    </a:lnTo>
                    <a:lnTo>
                      <a:pt x="23" y="36"/>
                    </a:lnTo>
                    <a:lnTo>
                      <a:pt x="27" y="36"/>
                    </a:lnTo>
                    <a:lnTo>
                      <a:pt x="11" y="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733" name="Group 139"/>
            <p:cNvGrpSpPr/>
            <p:nvPr/>
          </p:nvGrpSpPr>
          <p:grpSpPr>
            <a:xfrm>
              <a:off x="3425" y="2176"/>
              <a:ext cx="848" cy="10"/>
              <a:chOff x="3425" y="2320"/>
              <a:chExt cx="848" cy="10"/>
            </a:xfrm>
          </p:grpSpPr>
          <p:sp>
            <p:nvSpPr>
              <p:cNvPr id="369791" name="Freeform 140"/>
              <p:cNvSpPr/>
              <p:nvPr/>
            </p:nvSpPr>
            <p:spPr>
              <a:xfrm>
                <a:off x="3425" y="2320"/>
                <a:ext cx="54" cy="10"/>
              </a:xfrm>
              <a:custGeom>
                <a:avLst/>
                <a:gdLst>
                  <a:gd name="txL" fmla="*/ 0 w 54"/>
                  <a:gd name="txT" fmla="*/ 0 h 10"/>
                  <a:gd name="txR" fmla="*/ 54 w 54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4" y="10"/>
                  </a:cxn>
                  <a:cxn ang="0">
                    <a:pos x="46" y="10"/>
                  </a:cxn>
                  <a:cxn ang="0">
                    <a:pos x="50" y="10"/>
                  </a:cxn>
                  <a:cxn ang="0">
                    <a:pos x="54" y="7"/>
                  </a:cxn>
                  <a:cxn ang="0">
                    <a:pos x="54" y="3"/>
                  </a:cxn>
                  <a:cxn ang="0">
                    <a:pos x="50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54" h="10">
                    <a:moveTo>
                      <a:pt x="7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4" y="10"/>
                    </a:lnTo>
                    <a:lnTo>
                      <a:pt x="46" y="10"/>
                    </a:lnTo>
                    <a:lnTo>
                      <a:pt x="50" y="10"/>
                    </a:lnTo>
                    <a:lnTo>
                      <a:pt x="54" y="7"/>
                    </a:lnTo>
                    <a:lnTo>
                      <a:pt x="54" y="3"/>
                    </a:lnTo>
                    <a:lnTo>
                      <a:pt x="50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92" name="Freeform 141"/>
              <p:cNvSpPr/>
              <p:nvPr/>
            </p:nvSpPr>
            <p:spPr>
              <a:xfrm>
                <a:off x="3502" y="2320"/>
                <a:ext cx="57" cy="10"/>
              </a:xfrm>
              <a:custGeom>
                <a:avLst/>
                <a:gdLst>
                  <a:gd name="txL" fmla="*/ 0 w 57"/>
                  <a:gd name="txT" fmla="*/ 0 h 10"/>
                  <a:gd name="txR" fmla="*/ 57 w 57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3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49" y="10"/>
                  </a:cxn>
                  <a:cxn ang="0">
                    <a:pos x="53" y="10"/>
                  </a:cxn>
                  <a:cxn ang="0">
                    <a:pos x="57" y="7"/>
                  </a:cxn>
                  <a:cxn ang="0">
                    <a:pos x="57" y="3"/>
                  </a:cxn>
                  <a:cxn ang="0">
                    <a:pos x="53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57" h="10">
                    <a:moveTo>
                      <a:pt x="7" y="0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3" y="10"/>
                    </a:lnTo>
                    <a:lnTo>
                      <a:pt x="49" y="10"/>
                    </a:lnTo>
                    <a:lnTo>
                      <a:pt x="53" y="10"/>
                    </a:lnTo>
                    <a:lnTo>
                      <a:pt x="57" y="7"/>
                    </a:lnTo>
                    <a:lnTo>
                      <a:pt x="57" y="3"/>
                    </a:lnTo>
                    <a:lnTo>
                      <a:pt x="53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93" name="Freeform 142"/>
              <p:cNvSpPr/>
              <p:nvPr/>
            </p:nvSpPr>
            <p:spPr>
              <a:xfrm>
                <a:off x="3582" y="2320"/>
                <a:ext cx="58" cy="10"/>
              </a:xfrm>
              <a:custGeom>
                <a:avLst/>
                <a:gdLst>
                  <a:gd name="txL" fmla="*/ 0 w 58"/>
                  <a:gd name="txT" fmla="*/ 0 h 10"/>
                  <a:gd name="txR" fmla="*/ 58 w 58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8" y="7"/>
                  </a:cxn>
                  <a:cxn ang="0">
                    <a:pos x="58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8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8" y="7"/>
                    </a:lnTo>
                    <a:lnTo>
                      <a:pt x="58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94" name="Freeform 143"/>
              <p:cNvSpPr/>
              <p:nvPr/>
            </p:nvSpPr>
            <p:spPr>
              <a:xfrm>
                <a:off x="3663" y="2320"/>
                <a:ext cx="57" cy="10"/>
              </a:xfrm>
              <a:custGeom>
                <a:avLst/>
                <a:gdLst>
                  <a:gd name="txL" fmla="*/ 0 w 57"/>
                  <a:gd name="txT" fmla="*/ 0 h 10"/>
                  <a:gd name="txR" fmla="*/ 57 w 57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3" y="10"/>
                  </a:cxn>
                  <a:cxn ang="0">
                    <a:pos x="57" y="7"/>
                  </a:cxn>
                  <a:cxn ang="0">
                    <a:pos x="57" y="3"/>
                  </a:cxn>
                  <a:cxn ang="0">
                    <a:pos x="53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57" h="10">
                    <a:moveTo>
                      <a:pt x="7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3" y="10"/>
                    </a:lnTo>
                    <a:lnTo>
                      <a:pt x="57" y="7"/>
                    </a:lnTo>
                    <a:lnTo>
                      <a:pt x="57" y="3"/>
                    </a:lnTo>
                    <a:lnTo>
                      <a:pt x="53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95" name="Freeform 144"/>
              <p:cNvSpPr/>
              <p:nvPr/>
            </p:nvSpPr>
            <p:spPr>
              <a:xfrm>
                <a:off x="3743" y="2320"/>
                <a:ext cx="58" cy="10"/>
              </a:xfrm>
              <a:custGeom>
                <a:avLst/>
                <a:gdLst>
                  <a:gd name="txL" fmla="*/ 0 w 58"/>
                  <a:gd name="txT" fmla="*/ 0 h 10"/>
                  <a:gd name="txR" fmla="*/ 58 w 58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8" y="7"/>
                  </a:cxn>
                  <a:cxn ang="0">
                    <a:pos x="58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8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8" y="7"/>
                    </a:lnTo>
                    <a:lnTo>
                      <a:pt x="58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96" name="Freeform 145"/>
              <p:cNvSpPr/>
              <p:nvPr/>
            </p:nvSpPr>
            <p:spPr>
              <a:xfrm>
                <a:off x="3824" y="2320"/>
                <a:ext cx="57" cy="10"/>
              </a:xfrm>
              <a:custGeom>
                <a:avLst/>
                <a:gdLst>
                  <a:gd name="txL" fmla="*/ 0 w 57"/>
                  <a:gd name="txT" fmla="*/ 0 h 10"/>
                  <a:gd name="txR" fmla="*/ 57 w 57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7" y="7"/>
                  </a:cxn>
                  <a:cxn ang="0">
                    <a:pos x="57" y="3"/>
                  </a:cxn>
                  <a:cxn ang="0">
                    <a:pos x="54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57" h="10">
                    <a:moveTo>
                      <a:pt x="7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7" y="7"/>
                    </a:lnTo>
                    <a:lnTo>
                      <a:pt x="57" y="3"/>
                    </a:lnTo>
                    <a:lnTo>
                      <a:pt x="54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97" name="Freeform 146"/>
              <p:cNvSpPr/>
              <p:nvPr/>
            </p:nvSpPr>
            <p:spPr>
              <a:xfrm>
                <a:off x="3904" y="2320"/>
                <a:ext cx="58" cy="10"/>
              </a:xfrm>
              <a:custGeom>
                <a:avLst/>
                <a:gdLst>
                  <a:gd name="txL" fmla="*/ 0 w 58"/>
                  <a:gd name="txT" fmla="*/ 0 h 10"/>
                  <a:gd name="txR" fmla="*/ 58 w 58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8" y="7"/>
                  </a:cxn>
                  <a:cxn ang="0">
                    <a:pos x="58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8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8" y="7"/>
                    </a:lnTo>
                    <a:lnTo>
                      <a:pt x="58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98" name="Freeform 147"/>
              <p:cNvSpPr/>
              <p:nvPr/>
            </p:nvSpPr>
            <p:spPr>
              <a:xfrm>
                <a:off x="3985" y="2320"/>
                <a:ext cx="57" cy="10"/>
              </a:xfrm>
              <a:custGeom>
                <a:avLst/>
                <a:gdLst>
                  <a:gd name="txL" fmla="*/ 0 w 57"/>
                  <a:gd name="txT" fmla="*/ 0 h 10"/>
                  <a:gd name="txR" fmla="*/ 57 w 57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7" y="7"/>
                  </a:cxn>
                  <a:cxn ang="0">
                    <a:pos x="57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7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7" y="7"/>
                    </a:lnTo>
                    <a:lnTo>
                      <a:pt x="57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99" name="Freeform 148"/>
              <p:cNvSpPr/>
              <p:nvPr/>
            </p:nvSpPr>
            <p:spPr>
              <a:xfrm>
                <a:off x="4066" y="2320"/>
                <a:ext cx="57" cy="10"/>
              </a:xfrm>
              <a:custGeom>
                <a:avLst/>
                <a:gdLst>
                  <a:gd name="txL" fmla="*/ 0 w 57"/>
                  <a:gd name="txT" fmla="*/ 0 h 10"/>
                  <a:gd name="txR" fmla="*/ 57 w 57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3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49" y="10"/>
                  </a:cxn>
                  <a:cxn ang="0">
                    <a:pos x="53" y="10"/>
                  </a:cxn>
                  <a:cxn ang="0">
                    <a:pos x="57" y="7"/>
                  </a:cxn>
                  <a:cxn ang="0">
                    <a:pos x="57" y="3"/>
                  </a:cxn>
                  <a:cxn ang="0">
                    <a:pos x="53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57" h="10">
                    <a:moveTo>
                      <a:pt x="7" y="0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3" y="10"/>
                    </a:lnTo>
                    <a:lnTo>
                      <a:pt x="49" y="10"/>
                    </a:lnTo>
                    <a:lnTo>
                      <a:pt x="53" y="10"/>
                    </a:lnTo>
                    <a:lnTo>
                      <a:pt x="57" y="7"/>
                    </a:lnTo>
                    <a:lnTo>
                      <a:pt x="57" y="3"/>
                    </a:lnTo>
                    <a:lnTo>
                      <a:pt x="53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00" name="Freeform 149"/>
              <p:cNvSpPr/>
              <p:nvPr/>
            </p:nvSpPr>
            <p:spPr>
              <a:xfrm>
                <a:off x="4146" y="2320"/>
                <a:ext cx="58" cy="10"/>
              </a:xfrm>
              <a:custGeom>
                <a:avLst/>
                <a:gdLst>
                  <a:gd name="txL" fmla="*/ 0 w 58"/>
                  <a:gd name="txT" fmla="*/ 0 h 10"/>
                  <a:gd name="txR" fmla="*/ 58 w 58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8" y="7"/>
                  </a:cxn>
                  <a:cxn ang="0">
                    <a:pos x="58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8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8" y="7"/>
                    </a:lnTo>
                    <a:lnTo>
                      <a:pt x="58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801" name="Freeform 150"/>
              <p:cNvSpPr/>
              <p:nvPr/>
            </p:nvSpPr>
            <p:spPr>
              <a:xfrm>
                <a:off x="4227" y="2320"/>
                <a:ext cx="46" cy="10"/>
              </a:xfrm>
              <a:custGeom>
                <a:avLst/>
                <a:gdLst>
                  <a:gd name="txL" fmla="*/ 0 w 46"/>
                  <a:gd name="txT" fmla="*/ 0 h 10"/>
                  <a:gd name="txR" fmla="*/ 46 w 46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3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42" y="10"/>
                  </a:cxn>
                  <a:cxn ang="0">
                    <a:pos x="42" y="7"/>
                  </a:cxn>
                  <a:cxn ang="0">
                    <a:pos x="46" y="3"/>
                  </a:cxn>
                  <a:cxn ang="0">
                    <a:pos x="46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46" h="10">
                    <a:moveTo>
                      <a:pt x="7" y="0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3" y="10"/>
                    </a:lnTo>
                    <a:lnTo>
                      <a:pt x="42" y="10"/>
                    </a:lnTo>
                    <a:lnTo>
                      <a:pt x="42" y="7"/>
                    </a:lnTo>
                    <a:lnTo>
                      <a:pt x="46" y="3"/>
                    </a:lnTo>
                    <a:lnTo>
                      <a:pt x="46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9734" name="Line 151"/>
            <p:cNvSpPr/>
            <p:nvPr/>
          </p:nvSpPr>
          <p:spPr>
            <a:xfrm>
              <a:off x="3502" y="2251"/>
              <a:ext cx="694" cy="1"/>
            </a:xfrm>
            <a:prstGeom prst="line">
              <a:avLst/>
            </a:prstGeom>
            <a:ln w="23813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69735" name="Group 152"/>
            <p:cNvGrpSpPr/>
            <p:nvPr/>
          </p:nvGrpSpPr>
          <p:grpSpPr>
            <a:xfrm>
              <a:off x="3713" y="2928"/>
              <a:ext cx="272" cy="68"/>
              <a:chOff x="3713" y="3072"/>
              <a:chExt cx="272" cy="68"/>
            </a:xfrm>
          </p:grpSpPr>
          <p:sp>
            <p:nvSpPr>
              <p:cNvPr id="369786" name="Freeform 153"/>
              <p:cNvSpPr/>
              <p:nvPr/>
            </p:nvSpPr>
            <p:spPr>
              <a:xfrm>
                <a:off x="3713" y="3101"/>
                <a:ext cx="53" cy="10"/>
              </a:xfrm>
              <a:custGeom>
                <a:avLst/>
                <a:gdLst>
                  <a:gd name="txL" fmla="*/ 0 w 53"/>
                  <a:gd name="txT" fmla="*/ 0 h 10"/>
                  <a:gd name="txR" fmla="*/ 53 w 53"/>
                  <a:gd name="txB" fmla="*/ 10 h 10"/>
                </a:gdLst>
                <a:ahLst/>
                <a:cxnLst>
                  <a:cxn ang="0">
                    <a:pos x="7" y="0"/>
                  </a:cxn>
                  <a:cxn ang="0">
                    <a:pos x="3" y="0"/>
                  </a:cxn>
                  <a:cxn ang="0">
                    <a:pos x="0" y="3"/>
                  </a:cxn>
                  <a:cxn ang="0">
                    <a:pos x="3" y="10"/>
                  </a:cxn>
                  <a:cxn ang="0">
                    <a:pos x="46" y="10"/>
                  </a:cxn>
                  <a:cxn ang="0">
                    <a:pos x="49" y="10"/>
                  </a:cxn>
                  <a:cxn ang="0">
                    <a:pos x="53" y="7"/>
                  </a:cxn>
                  <a:cxn ang="0">
                    <a:pos x="53" y="3"/>
                  </a:cxn>
                  <a:cxn ang="0">
                    <a:pos x="49" y="0"/>
                  </a:cxn>
                  <a:cxn ang="0">
                    <a:pos x="7" y="0"/>
                  </a:cxn>
                </a:cxnLst>
                <a:rect l="txL" t="txT" r="txR" b="txB"/>
                <a:pathLst>
                  <a:path w="53" h="10">
                    <a:moveTo>
                      <a:pt x="7" y="0"/>
                    </a:moveTo>
                    <a:lnTo>
                      <a:pt x="3" y="0"/>
                    </a:lnTo>
                    <a:lnTo>
                      <a:pt x="0" y="3"/>
                    </a:lnTo>
                    <a:lnTo>
                      <a:pt x="3" y="10"/>
                    </a:lnTo>
                    <a:lnTo>
                      <a:pt x="46" y="10"/>
                    </a:lnTo>
                    <a:lnTo>
                      <a:pt x="49" y="10"/>
                    </a:lnTo>
                    <a:lnTo>
                      <a:pt x="53" y="7"/>
                    </a:lnTo>
                    <a:lnTo>
                      <a:pt x="53" y="3"/>
                    </a:lnTo>
                    <a:lnTo>
                      <a:pt x="49" y="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87" name="Freeform 154"/>
              <p:cNvSpPr/>
              <p:nvPr/>
            </p:nvSpPr>
            <p:spPr>
              <a:xfrm>
                <a:off x="3789" y="3101"/>
                <a:ext cx="58" cy="10"/>
              </a:xfrm>
              <a:custGeom>
                <a:avLst/>
                <a:gdLst>
                  <a:gd name="txL" fmla="*/ 0 w 58"/>
                  <a:gd name="txT" fmla="*/ 0 h 10"/>
                  <a:gd name="txR" fmla="*/ 58 w 58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8" y="7"/>
                  </a:cxn>
                  <a:cxn ang="0">
                    <a:pos x="58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8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8" y="7"/>
                    </a:lnTo>
                    <a:lnTo>
                      <a:pt x="58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88" name="Freeform 155"/>
              <p:cNvSpPr/>
              <p:nvPr/>
            </p:nvSpPr>
            <p:spPr>
              <a:xfrm>
                <a:off x="3870" y="3101"/>
                <a:ext cx="57" cy="10"/>
              </a:xfrm>
              <a:custGeom>
                <a:avLst/>
                <a:gdLst>
                  <a:gd name="txL" fmla="*/ 0 w 57"/>
                  <a:gd name="txT" fmla="*/ 0 h 10"/>
                  <a:gd name="txR" fmla="*/ 57 w 57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50" y="10"/>
                  </a:cxn>
                  <a:cxn ang="0">
                    <a:pos x="54" y="10"/>
                  </a:cxn>
                  <a:cxn ang="0">
                    <a:pos x="57" y="7"/>
                  </a:cxn>
                  <a:cxn ang="0">
                    <a:pos x="57" y="3"/>
                  </a:cxn>
                  <a:cxn ang="0">
                    <a:pos x="54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57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50" y="10"/>
                    </a:lnTo>
                    <a:lnTo>
                      <a:pt x="54" y="10"/>
                    </a:lnTo>
                    <a:lnTo>
                      <a:pt x="57" y="7"/>
                    </a:lnTo>
                    <a:lnTo>
                      <a:pt x="57" y="3"/>
                    </a:lnTo>
                    <a:lnTo>
                      <a:pt x="54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89" name="Freeform 156"/>
              <p:cNvSpPr/>
              <p:nvPr/>
            </p:nvSpPr>
            <p:spPr>
              <a:xfrm>
                <a:off x="3950" y="3101"/>
                <a:ext cx="35" cy="10"/>
              </a:xfrm>
              <a:custGeom>
                <a:avLst/>
                <a:gdLst>
                  <a:gd name="txL" fmla="*/ 0 w 35"/>
                  <a:gd name="txT" fmla="*/ 0 h 10"/>
                  <a:gd name="txR" fmla="*/ 35 w 35"/>
                  <a:gd name="txB" fmla="*/ 10 h 10"/>
                </a:gdLst>
                <a:ahLst/>
                <a:cxnLst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7"/>
                  </a:cxn>
                  <a:cxn ang="0">
                    <a:pos x="4" y="10"/>
                  </a:cxn>
                  <a:cxn ang="0">
                    <a:pos x="31" y="10"/>
                  </a:cxn>
                  <a:cxn ang="0">
                    <a:pos x="31" y="7"/>
                  </a:cxn>
                  <a:cxn ang="0">
                    <a:pos x="35" y="3"/>
                  </a:cxn>
                  <a:cxn ang="0">
                    <a:pos x="35" y="0"/>
                  </a:cxn>
                  <a:cxn ang="0">
                    <a:pos x="8" y="0"/>
                  </a:cxn>
                </a:cxnLst>
                <a:rect l="txL" t="txT" r="txR" b="txB"/>
                <a:pathLst>
                  <a:path w="35" h="10">
                    <a:moveTo>
                      <a:pt x="8" y="0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7"/>
                    </a:lnTo>
                    <a:lnTo>
                      <a:pt x="4" y="10"/>
                    </a:lnTo>
                    <a:lnTo>
                      <a:pt x="31" y="10"/>
                    </a:lnTo>
                    <a:lnTo>
                      <a:pt x="31" y="7"/>
                    </a:lnTo>
                    <a:lnTo>
                      <a:pt x="35" y="3"/>
                    </a:lnTo>
                    <a:lnTo>
                      <a:pt x="35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90" name="Freeform 157"/>
              <p:cNvSpPr/>
              <p:nvPr/>
            </p:nvSpPr>
            <p:spPr>
              <a:xfrm>
                <a:off x="3901" y="3072"/>
                <a:ext cx="80" cy="68"/>
              </a:xfrm>
              <a:custGeom>
                <a:avLst/>
                <a:gdLst>
                  <a:gd name="txL" fmla="*/ 0 w 80"/>
                  <a:gd name="txT" fmla="*/ 0 h 68"/>
                  <a:gd name="txR" fmla="*/ 80 w 80"/>
                  <a:gd name="txB" fmla="*/ 68 h 68"/>
                </a:gdLst>
                <a:ahLst/>
                <a:cxnLst>
                  <a:cxn ang="0">
                    <a:pos x="0" y="68"/>
                  </a:cxn>
                  <a:cxn ang="0">
                    <a:pos x="80" y="32"/>
                  </a:cxn>
                  <a:cxn ang="0">
                    <a:pos x="0" y="0"/>
                  </a:cxn>
                </a:cxnLst>
                <a:rect l="txL" t="txT" r="txR" b="txB"/>
                <a:pathLst>
                  <a:path w="80" h="68">
                    <a:moveTo>
                      <a:pt x="0" y="68"/>
                    </a:moveTo>
                    <a:lnTo>
                      <a:pt x="80" y="32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folHlink"/>
              </a:solidFill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9736" name="Line 158"/>
            <p:cNvSpPr/>
            <p:nvPr/>
          </p:nvSpPr>
          <p:spPr>
            <a:xfrm>
              <a:off x="3574" y="2908"/>
              <a:ext cx="1" cy="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37" name="Line 159"/>
            <p:cNvSpPr/>
            <p:nvPr/>
          </p:nvSpPr>
          <p:spPr>
            <a:xfrm>
              <a:off x="4100" y="2908"/>
              <a:ext cx="1" cy="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38" name="Oval 160"/>
            <p:cNvSpPr/>
            <p:nvPr/>
          </p:nvSpPr>
          <p:spPr>
            <a:xfrm>
              <a:off x="3620" y="1772"/>
              <a:ext cx="54" cy="43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39" name="Freeform 161"/>
            <p:cNvSpPr/>
            <p:nvPr/>
          </p:nvSpPr>
          <p:spPr>
            <a:xfrm>
              <a:off x="3643" y="1825"/>
              <a:ext cx="50" cy="463"/>
            </a:xfrm>
            <a:custGeom>
              <a:avLst/>
              <a:gdLst>
                <a:gd name="txL" fmla="*/ 0 w 50"/>
                <a:gd name="txT" fmla="*/ 0 h 463"/>
                <a:gd name="txR" fmla="*/ 50 w 50"/>
                <a:gd name="txB" fmla="*/ 463 h 463"/>
              </a:gdLst>
              <a:ahLst/>
              <a:cxnLst>
                <a:cxn ang="0">
                  <a:pos x="0" y="0"/>
                </a:cxn>
                <a:cxn ang="0">
                  <a:pos x="0" y="443"/>
                </a:cxn>
                <a:cxn ang="0">
                  <a:pos x="27" y="463"/>
                </a:cxn>
                <a:cxn ang="0">
                  <a:pos x="50" y="443"/>
                </a:cxn>
                <a:cxn ang="0">
                  <a:pos x="50" y="426"/>
                </a:cxn>
              </a:cxnLst>
              <a:rect l="txL" t="txT" r="txR" b="txB"/>
              <a:pathLst>
                <a:path w="50" h="463">
                  <a:moveTo>
                    <a:pt x="0" y="0"/>
                  </a:moveTo>
                  <a:lnTo>
                    <a:pt x="0" y="443"/>
                  </a:lnTo>
                  <a:lnTo>
                    <a:pt x="27" y="463"/>
                  </a:lnTo>
                  <a:lnTo>
                    <a:pt x="50" y="443"/>
                  </a:lnTo>
                  <a:lnTo>
                    <a:pt x="50" y="42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40" name="Freeform 162"/>
            <p:cNvSpPr/>
            <p:nvPr/>
          </p:nvSpPr>
          <p:spPr>
            <a:xfrm>
              <a:off x="3739" y="2107"/>
              <a:ext cx="123" cy="181"/>
            </a:xfrm>
            <a:custGeom>
              <a:avLst/>
              <a:gdLst>
                <a:gd name="txL" fmla="*/ 0 w 123"/>
                <a:gd name="txT" fmla="*/ 0 h 181"/>
                <a:gd name="txR" fmla="*/ 123 w 123"/>
                <a:gd name="txB" fmla="*/ 181 h 181"/>
              </a:gdLst>
              <a:ahLst/>
              <a:cxnLst>
                <a:cxn ang="0">
                  <a:pos x="0" y="20"/>
                </a:cxn>
                <a:cxn ang="0">
                  <a:pos x="27" y="0"/>
                </a:cxn>
                <a:cxn ang="0">
                  <a:pos x="50" y="0"/>
                </a:cxn>
                <a:cxn ang="0">
                  <a:pos x="73" y="20"/>
                </a:cxn>
                <a:cxn ang="0">
                  <a:pos x="73" y="36"/>
                </a:cxn>
                <a:cxn ang="0">
                  <a:pos x="73" y="125"/>
                </a:cxn>
                <a:cxn ang="0">
                  <a:pos x="73" y="161"/>
                </a:cxn>
                <a:cxn ang="0">
                  <a:pos x="96" y="181"/>
                </a:cxn>
                <a:cxn ang="0">
                  <a:pos x="123" y="161"/>
                </a:cxn>
                <a:cxn ang="0">
                  <a:pos x="123" y="144"/>
                </a:cxn>
              </a:cxnLst>
              <a:rect l="txL" t="txT" r="txR" b="txB"/>
              <a:pathLst>
                <a:path w="123" h="181">
                  <a:moveTo>
                    <a:pt x="0" y="20"/>
                  </a:moveTo>
                  <a:lnTo>
                    <a:pt x="27" y="0"/>
                  </a:lnTo>
                  <a:lnTo>
                    <a:pt x="50" y="0"/>
                  </a:lnTo>
                  <a:lnTo>
                    <a:pt x="73" y="20"/>
                  </a:lnTo>
                  <a:lnTo>
                    <a:pt x="73" y="36"/>
                  </a:lnTo>
                  <a:lnTo>
                    <a:pt x="73" y="125"/>
                  </a:lnTo>
                  <a:lnTo>
                    <a:pt x="73" y="161"/>
                  </a:lnTo>
                  <a:lnTo>
                    <a:pt x="96" y="181"/>
                  </a:lnTo>
                  <a:lnTo>
                    <a:pt x="123" y="161"/>
                  </a:lnTo>
                  <a:lnTo>
                    <a:pt x="123" y="14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41" name="Freeform 163"/>
            <p:cNvSpPr/>
            <p:nvPr/>
          </p:nvSpPr>
          <p:spPr>
            <a:xfrm>
              <a:off x="3885" y="2107"/>
              <a:ext cx="119" cy="181"/>
            </a:xfrm>
            <a:custGeom>
              <a:avLst/>
              <a:gdLst>
                <a:gd name="txL" fmla="*/ 0 w 119"/>
                <a:gd name="txT" fmla="*/ 0 h 181"/>
                <a:gd name="txR" fmla="*/ 119 w 119"/>
                <a:gd name="txB" fmla="*/ 181 h 181"/>
              </a:gdLst>
              <a:ahLst/>
              <a:cxnLst>
                <a:cxn ang="0">
                  <a:pos x="0" y="20"/>
                </a:cxn>
                <a:cxn ang="0">
                  <a:pos x="23" y="0"/>
                </a:cxn>
                <a:cxn ang="0">
                  <a:pos x="46" y="0"/>
                </a:cxn>
                <a:cxn ang="0">
                  <a:pos x="73" y="20"/>
                </a:cxn>
                <a:cxn ang="0">
                  <a:pos x="73" y="36"/>
                </a:cxn>
                <a:cxn ang="0">
                  <a:pos x="73" y="125"/>
                </a:cxn>
                <a:cxn ang="0">
                  <a:pos x="73" y="161"/>
                </a:cxn>
                <a:cxn ang="0">
                  <a:pos x="96" y="181"/>
                </a:cxn>
                <a:cxn ang="0">
                  <a:pos x="119" y="161"/>
                </a:cxn>
                <a:cxn ang="0">
                  <a:pos x="119" y="144"/>
                </a:cxn>
              </a:cxnLst>
              <a:rect l="txL" t="txT" r="txR" b="txB"/>
              <a:pathLst>
                <a:path w="119" h="181">
                  <a:moveTo>
                    <a:pt x="0" y="20"/>
                  </a:moveTo>
                  <a:lnTo>
                    <a:pt x="23" y="0"/>
                  </a:lnTo>
                  <a:lnTo>
                    <a:pt x="46" y="0"/>
                  </a:lnTo>
                  <a:lnTo>
                    <a:pt x="73" y="20"/>
                  </a:lnTo>
                  <a:lnTo>
                    <a:pt x="73" y="36"/>
                  </a:lnTo>
                  <a:lnTo>
                    <a:pt x="73" y="125"/>
                  </a:lnTo>
                  <a:lnTo>
                    <a:pt x="73" y="161"/>
                  </a:lnTo>
                  <a:lnTo>
                    <a:pt x="96" y="181"/>
                  </a:lnTo>
                  <a:lnTo>
                    <a:pt x="119" y="161"/>
                  </a:lnTo>
                  <a:lnTo>
                    <a:pt x="119" y="14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42" name="Line 164"/>
            <p:cNvSpPr/>
            <p:nvPr/>
          </p:nvSpPr>
          <p:spPr>
            <a:xfrm flipV="1">
              <a:off x="4027" y="1805"/>
              <a:ext cx="4" cy="32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43" name="Oval 165"/>
            <p:cNvSpPr/>
            <p:nvPr/>
          </p:nvSpPr>
          <p:spPr>
            <a:xfrm>
              <a:off x="4004" y="1772"/>
              <a:ext cx="54" cy="43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44" name="Rectangle 166"/>
            <p:cNvSpPr/>
            <p:nvPr/>
          </p:nvSpPr>
          <p:spPr>
            <a:xfrm>
              <a:off x="3643" y="1584"/>
              <a:ext cx="48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写线圈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45" name="Rectangle 167"/>
            <p:cNvSpPr/>
            <p:nvPr/>
          </p:nvSpPr>
          <p:spPr>
            <a:xfrm>
              <a:off x="3551" y="2731"/>
              <a:ext cx="196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46" name="Rectangle 168"/>
            <p:cNvSpPr/>
            <p:nvPr/>
          </p:nvSpPr>
          <p:spPr>
            <a:xfrm>
              <a:off x="3559" y="2736"/>
              <a:ext cx="89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S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47" name="Rectangle 169"/>
            <p:cNvSpPr/>
            <p:nvPr/>
          </p:nvSpPr>
          <p:spPr>
            <a:xfrm>
              <a:off x="3958" y="2731"/>
              <a:ext cx="196" cy="18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48" name="Rectangle 170"/>
            <p:cNvSpPr/>
            <p:nvPr/>
          </p:nvSpPr>
          <p:spPr>
            <a:xfrm>
              <a:off x="4060" y="2736"/>
              <a:ext cx="116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b="1" dirty="0">
                  <a:latin typeface="Times New Roman" panose="02020603050405020304" pitchFamily="18" charset="0"/>
                </a:rPr>
                <a:t>N</a:t>
              </a:r>
              <a:endParaRPr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49" name="Line 171"/>
            <p:cNvSpPr/>
            <p:nvPr/>
          </p:nvSpPr>
          <p:spPr>
            <a:xfrm rot="900000">
              <a:off x="2064" y="3143"/>
              <a:ext cx="384" cy="15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50" name="Line 172"/>
            <p:cNvSpPr/>
            <p:nvPr/>
          </p:nvSpPr>
          <p:spPr>
            <a:xfrm>
              <a:off x="3670" y="2960"/>
              <a:ext cx="46" cy="27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51" name="Line 173"/>
            <p:cNvSpPr/>
            <p:nvPr/>
          </p:nvSpPr>
          <p:spPr>
            <a:xfrm rot="-1272720" flipH="1">
              <a:off x="2925" y="3158"/>
              <a:ext cx="385" cy="11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52" name="Rectangle 174"/>
            <p:cNvSpPr/>
            <p:nvPr/>
          </p:nvSpPr>
          <p:spPr>
            <a:xfrm>
              <a:off x="2469" y="1772"/>
              <a:ext cx="607" cy="161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53" name="Rectangle 175"/>
            <p:cNvSpPr/>
            <p:nvPr/>
          </p:nvSpPr>
          <p:spPr>
            <a:xfrm>
              <a:off x="2623" y="1812"/>
              <a:ext cx="32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铁芯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54" name="Line 176"/>
            <p:cNvSpPr/>
            <p:nvPr/>
          </p:nvSpPr>
          <p:spPr>
            <a:xfrm flipH="1">
              <a:off x="2255" y="1913"/>
              <a:ext cx="360" cy="21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55" name="Line 177"/>
            <p:cNvSpPr/>
            <p:nvPr/>
          </p:nvSpPr>
          <p:spPr>
            <a:xfrm>
              <a:off x="2903" y="1913"/>
              <a:ext cx="430" cy="26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56" name="Rectangle 178"/>
            <p:cNvSpPr/>
            <p:nvPr/>
          </p:nvSpPr>
          <p:spPr>
            <a:xfrm>
              <a:off x="2623" y="2133"/>
              <a:ext cx="32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磁通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57" name="Line 179"/>
            <p:cNvSpPr/>
            <p:nvPr/>
          </p:nvSpPr>
          <p:spPr>
            <a:xfrm flipH="1">
              <a:off x="2159" y="2232"/>
              <a:ext cx="456" cy="26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58" name="Line 180"/>
            <p:cNvSpPr/>
            <p:nvPr/>
          </p:nvSpPr>
          <p:spPr>
            <a:xfrm>
              <a:off x="2903" y="2232"/>
              <a:ext cx="526" cy="26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59" name="Rectangle 181"/>
            <p:cNvSpPr/>
            <p:nvPr/>
          </p:nvSpPr>
          <p:spPr>
            <a:xfrm>
              <a:off x="2496" y="2517"/>
              <a:ext cx="603" cy="16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69760" name="Rectangle 182"/>
            <p:cNvSpPr/>
            <p:nvPr/>
          </p:nvSpPr>
          <p:spPr>
            <a:xfrm>
              <a:off x="2650" y="2560"/>
              <a:ext cx="32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磁层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61" name="Line 183"/>
            <p:cNvSpPr/>
            <p:nvPr/>
          </p:nvSpPr>
          <p:spPr>
            <a:xfrm flipH="1">
              <a:off x="2301" y="2658"/>
              <a:ext cx="337" cy="286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762" name="Line 184"/>
            <p:cNvSpPr/>
            <p:nvPr/>
          </p:nvSpPr>
          <p:spPr>
            <a:xfrm>
              <a:off x="2926" y="2658"/>
              <a:ext cx="430" cy="27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69763" name="Group 185"/>
            <p:cNvGrpSpPr/>
            <p:nvPr/>
          </p:nvGrpSpPr>
          <p:grpSpPr>
            <a:xfrm>
              <a:off x="1488" y="1825"/>
              <a:ext cx="81" cy="193"/>
              <a:chOff x="1495" y="1969"/>
              <a:chExt cx="81" cy="193"/>
            </a:xfrm>
          </p:grpSpPr>
          <p:sp>
            <p:nvSpPr>
              <p:cNvPr id="369784" name="Line 186"/>
              <p:cNvSpPr/>
              <p:nvPr/>
            </p:nvSpPr>
            <p:spPr>
              <a:xfrm>
                <a:off x="1533" y="1969"/>
                <a:ext cx="4" cy="15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785" name="Freeform 187"/>
              <p:cNvSpPr/>
              <p:nvPr/>
            </p:nvSpPr>
            <p:spPr>
              <a:xfrm>
                <a:off x="1495" y="2093"/>
                <a:ext cx="81" cy="69"/>
              </a:xfrm>
              <a:custGeom>
                <a:avLst/>
                <a:gdLst>
                  <a:gd name="txL" fmla="*/ 0 w 81"/>
                  <a:gd name="txT" fmla="*/ 0 h 69"/>
                  <a:gd name="txR" fmla="*/ 81 w 81"/>
                  <a:gd name="txB" fmla="*/ 69 h 69"/>
                </a:gdLst>
                <a:ahLst/>
                <a:cxnLst>
                  <a:cxn ang="0">
                    <a:pos x="0" y="0"/>
                  </a:cxn>
                  <a:cxn ang="0">
                    <a:pos x="42" y="69"/>
                  </a:cxn>
                  <a:cxn ang="0">
                    <a:pos x="81" y="0"/>
                  </a:cxn>
                  <a:cxn ang="0">
                    <a:pos x="42" y="23"/>
                  </a:cxn>
                  <a:cxn ang="0">
                    <a:pos x="0" y="0"/>
                  </a:cxn>
                </a:cxnLst>
                <a:rect l="txL" t="txT" r="txR" b="txB"/>
                <a:pathLst>
                  <a:path w="81" h="69">
                    <a:moveTo>
                      <a:pt x="0" y="0"/>
                    </a:moveTo>
                    <a:lnTo>
                      <a:pt x="42" y="69"/>
                    </a:lnTo>
                    <a:lnTo>
                      <a:pt x="81" y="0"/>
                    </a:lnTo>
                    <a:lnTo>
                      <a:pt x="42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764" name="Group 188"/>
            <p:cNvGrpSpPr/>
            <p:nvPr/>
          </p:nvGrpSpPr>
          <p:grpSpPr>
            <a:xfrm>
              <a:off x="3386" y="2176"/>
              <a:ext cx="81" cy="253"/>
              <a:chOff x="3386" y="2320"/>
              <a:chExt cx="81" cy="253"/>
            </a:xfrm>
          </p:grpSpPr>
          <p:sp>
            <p:nvSpPr>
              <p:cNvPr id="369778" name="Freeform 189"/>
              <p:cNvSpPr/>
              <p:nvPr/>
            </p:nvSpPr>
            <p:spPr>
              <a:xfrm>
                <a:off x="3425" y="2320"/>
                <a:ext cx="7" cy="33"/>
              </a:xfrm>
              <a:custGeom>
                <a:avLst/>
                <a:gdLst>
                  <a:gd name="txL" fmla="*/ 0 w 7"/>
                  <a:gd name="txT" fmla="*/ 0 h 33"/>
                  <a:gd name="txR" fmla="*/ 7 w 7"/>
                  <a:gd name="txB" fmla="*/ 33 h 33"/>
                </a:gdLst>
                <a:ahLst/>
                <a:cxnLst>
                  <a:cxn ang="0">
                    <a:pos x="7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29"/>
                  </a:cxn>
                  <a:cxn ang="0">
                    <a:pos x="4" y="33"/>
                  </a:cxn>
                  <a:cxn ang="0">
                    <a:pos x="7" y="29"/>
                  </a:cxn>
                  <a:cxn ang="0">
                    <a:pos x="7" y="3"/>
                  </a:cxn>
                </a:cxnLst>
                <a:rect l="txL" t="txT" r="txR" b="txB"/>
                <a:pathLst>
                  <a:path w="7" h="33">
                    <a:moveTo>
                      <a:pt x="7" y="3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29"/>
                    </a:lnTo>
                    <a:lnTo>
                      <a:pt x="4" y="33"/>
                    </a:lnTo>
                    <a:lnTo>
                      <a:pt x="7" y="29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79" name="Freeform 190"/>
              <p:cNvSpPr/>
              <p:nvPr/>
            </p:nvSpPr>
            <p:spPr>
              <a:xfrm>
                <a:off x="3425" y="2366"/>
                <a:ext cx="7" cy="33"/>
              </a:xfrm>
              <a:custGeom>
                <a:avLst/>
                <a:gdLst>
                  <a:gd name="txL" fmla="*/ 0 w 7"/>
                  <a:gd name="txT" fmla="*/ 0 h 33"/>
                  <a:gd name="txR" fmla="*/ 7 w 7"/>
                  <a:gd name="txB" fmla="*/ 33 h 33"/>
                </a:gdLst>
                <a:ahLst/>
                <a:cxnLst>
                  <a:cxn ang="0">
                    <a:pos x="7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29"/>
                  </a:cxn>
                  <a:cxn ang="0">
                    <a:pos x="4" y="33"/>
                  </a:cxn>
                  <a:cxn ang="0">
                    <a:pos x="7" y="29"/>
                  </a:cxn>
                  <a:cxn ang="0">
                    <a:pos x="7" y="3"/>
                  </a:cxn>
                </a:cxnLst>
                <a:rect l="txL" t="txT" r="txR" b="txB"/>
                <a:pathLst>
                  <a:path w="7" h="33">
                    <a:moveTo>
                      <a:pt x="7" y="3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29"/>
                    </a:lnTo>
                    <a:lnTo>
                      <a:pt x="4" y="33"/>
                    </a:lnTo>
                    <a:lnTo>
                      <a:pt x="7" y="29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80" name="Freeform 191"/>
              <p:cNvSpPr/>
              <p:nvPr/>
            </p:nvSpPr>
            <p:spPr>
              <a:xfrm>
                <a:off x="3425" y="2412"/>
                <a:ext cx="7" cy="33"/>
              </a:xfrm>
              <a:custGeom>
                <a:avLst/>
                <a:gdLst>
                  <a:gd name="txL" fmla="*/ 0 w 7"/>
                  <a:gd name="txT" fmla="*/ 0 h 33"/>
                  <a:gd name="txR" fmla="*/ 7 w 7"/>
                  <a:gd name="txB" fmla="*/ 33 h 33"/>
                </a:gdLst>
                <a:ahLst/>
                <a:cxnLst>
                  <a:cxn ang="0">
                    <a:pos x="7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29"/>
                  </a:cxn>
                  <a:cxn ang="0">
                    <a:pos x="4" y="33"/>
                  </a:cxn>
                  <a:cxn ang="0">
                    <a:pos x="7" y="29"/>
                  </a:cxn>
                  <a:cxn ang="0">
                    <a:pos x="7" y="3"/>
                  </a:cxn>
                </a:cxnLst>
                <a:rect l="txL" t="txT" r="txR" b="txB"/>
                <a:pathLst>
                  <a:path w="7" h="33">
                    <a:moveTo>
                      <a:pt x="7" y="3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29"/>
                    </a:lnTo>
                    <a:lnTo>
                      <a:pt x="4" y="33"/>
                    </a:lnTo>
                    <a:lnTo>
                      <a:pt x="7" y="29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81" name="Freeform 192"/>
              <p:cNvSpPr/>
              <p:nvPr/>
            </p:nvSpPr>
            <p:spPr>
              <a:xfrm>
                <a:off x="3425" y="2458"/>
                <a:ext cx="7" cy="33"/>
              </a:xfrm>
              <a:custGeom>
                <a:avLst/>
                <a:gdLst>
                  <a:gd name="txL" fmla="*/ 0 w 7"/>
                  <a:gd name="txT" fmla="*/ 0 h 33"/>
                  <a:gd name="txR" fmla="*/ 7 w 7"/>
                  <a:gd name="txB" fmla="*/ 33 h 33"/>
                </a:gdLst>
                <a:ahLst/>
                <a:cxnLst>
                  <a:cxn ang="0">
                    <a:pos x="7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29"/>
                  </a:cxn>
                  <a:cxn ang="0">
                    <a:pos x="4" y="33"/>
                  </a:cxn>
                  <a:cxn ang="0">
                    <a:pos x="7" y="29"/>
                  </a:cxn>
                  <a:cxn ang="0">
                    <a:pos x="7" y="3"/>
                  </a:cxn>
                </a:cxnLst>
                <a:rect l="txL" t="txT" r="txR" b="txB"/>
                <a:pathLst>
                  <a:path w="7" h="33">
                    <a:moveTo>
                      <a:pt x="7" y="3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29"/>
                    </a:lnTo>
                    <a:lnTo>
                      <a:pt x="4" y="33"/>
                    </a:lnTo>
                    <a:lnTo>
                      <a:pt x="7" y="29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82" name="Freeform 193"/>
              <p:cNvSpPr/>
              <p:nvPr/>
            </p:nvSpPr>
            <p:spPr>
              <a:xfrm>
                <a:off x="3425" y="2504"/>
                <a:ext cx="7" cy="33"/>
              </a:xfrm>
              <a:custGeom>
                <a:avLst/>
                <a:gdLst>
                  <a:gd name="txL" fmla="*/ 0 w 7"/>
                  <a:gd name="txT" fmla="*/ 0 h 33"/>
                  <a:gd name="txR" fmla="*/ 7 w 7"/>
                  <a:gd name="txB" fmla="*/ 33 h 33"/>
                </a:gdLst>
                <a:ahLst/>
                <a:cxnLst>
                  <a:cxn ang="0">
                    <a:pos x="7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29"/>
                  </a:cxn>
                  <a:cxn ang="0">
                    <a:pos x="4" y="33"/>
                  </a:cxn>
                  <a:cxn ang="0">
                    <a:pos x="7" y="29"/>
                  </a:cxn>
                  <a:cxn ang="0">
                    <a:pos x="7" y="3"/>
                  </a:cxn>
                </a:cxnLst>
                <a:rect l="txL" t="txT" r="txR" b="txB"/>
                <a:pathLst>
                  <a:path w="7" h="33">
                    <a:moveTo>
                      <a:pt x="7" y="3"/>
                    </a:moveTo>
                    <a:lnTo>
                      <a:pt x="4" y="0"/>
                    </a:lnTo>
                    <a:lnTo>
                      <a:pt x="0" y="3"/>
                    </a:lnTo>
                    <a:lnTo>
                      <a:pt x="0" y="29"/>
                    </a:lnTo>
                    <a:lnTo>
                      <a:pt x="4" y="33"/>
                    </a:lnTo>
                    <a:lnTo>
                      <a:pt x="7" y="29"/>
                    </a:lnTo>
                    <a:lnTo>
                      <a:pt x="7" y="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83" name="Freeform 194"/>
              <p:cNvSpPr/>
              <p:nvPr/>
            </p:nvSpPr>
            <p:spPr>
              <a:xfrm>
                <a:off x="3386" y="2504"/>
                <a:ext cx="81" cy="69"/>
              </a:xfrm>
              <a:custGeom>
                <a:avLst/>
                <a:gdLst>
                  <a:gd name="txL" fmla="*/ 0 w 81"/>
                  <a:gd name="txT" fmla="*/ 0 h 69"/>
                  <a:gd name="txR" fmla="*/ 81 w 81"/>
                  <a:gd name="txB" fmla="*/ 69 h 69"/>
                </a:gdLst>
                <a:ahLst/>
                <a:cxnLst>
                  <a:cxn ang="0">
                    <a:pos x="0" y="0"/>
                  </a:cxn>
                  <a:cxn ang="0">
                    <a:pos x="43" y="69"/>
                  </a:cxn>
                  <a:cxn ang="0">
                    <a:pos x="81" y="0"/>
                  </a:cxn>
                  <a:cxn ang="0">
                    <a:pos x="43" y="23"/>
                  </a:cxn>
                  <a:cxn ang="0">
                    <a:pos x="0" y="0"/>
                  </a:cxn>
                </a:cxnLst>
                <a:rect l="txL" t="txT" r="txR" b="txB"/>
                <a:pathLst>
                  <a:path w="81" h="69">
                    <a:moveTo>
                      <a:pt x="0" y="0"/>
                    </a:moveTo>
                    <a:lnTo>
                      <a:pt x="43" y="69"/>
                    </a:lnTo>
                    <a:lnTo>
                      <a:pt x="81" y="0"/>
                    </a:lnTo>
                    <a:lnTo>
                      <a:pt x="43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69765" name="Group 195"/>
            <p:cNvGrpSpPr/>
            <p:nvPr/>
          </p:nvGrpSpPr>
          <p:grpSpPr>
            <a:xfrm>
              <a:off x="2117" y="2176"/>
              <a:ext cx="80" cy="289"/>
              <a:chOff x="2117" y="2320"/>
              <a:chExt cx="80" cy="289"/>
            </a:xfrm>
          </p:grpSpPr>
          <p:sp>
            <p:nvSpPr>
              <p:cNvPr id="369773" name="Freeform 196"/>
              <p:cNvSpPr/>
              <p:nvPr/>
            </p:nvSpPr>
            <p:spPr>
              <a:xfrm>
                <a:off x="2155" y="2320"/>
                <a:ext cx="11" cy="46"/>
              </a:xfrm>
              <a:custGeom>
                <a:avLst/>
                <a:gdLst>
                  <a:gd name="txL" fmla="*/ 0 w 11"/>
                  <a:gd name="txT" fmla="*/ 0 h 46"/>
                  <a:gd name="txR" fmla="*/ 11 w 11"/>
                  <a:gd name="txB" fmla="*/ 46 h 46"/>
                </a:gdLst>
                <a:ahLst/>
                <a:cxnLst>
                  <a:cxn ang="0">
                    <a:pos x="11" y="7"/>
                  </a:cxn>
                  <a:cxn ang="0">
                    <a:pos x="8" y="3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39"/>
                  </a:cxn>
                  <a:cxn ang="0">
                    <a:pos x="0" y="43"/>
                  </a:cxn>
                  <a:cxn ang="0">
                    <a:pos x="4" y="46"/>
                  </a:cxn>
                  <a:cxn ang="0">
                    <a:pos x="8" y="46"/>
                  </a:cxn>
                  <a:cxn ang="0">
                    <a:pos x="11" y="43"/>
                  </a:cxn>
                  <a:cxn ang="0">
                    <a:pos x="11" y="7"/>
                  </a:cxn>
                </a:cxnLst>
                <a:rect l="txL" t="txT" r="txR" b="txB"/>
                <a:pathLst>
                  <a:path w="11" h="46">
                    <a:moveTo>
                      <a:pt x="11" y="7"/>
                    </a:moveTo>
                    <a:lnTo>
                      <a:pt x="8" y="3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39"/>
                    </a:lnTo>
                    <a:lnTo>
                      <a:pt x="0" y="43"/>
                    </a:lnTo>
                    <a:lnTo>
                      <a:pt x="4" y="46"/>
                    </a:lnTo>
                    <a:lnTo>
                      <a:pt x="8" y="46"/>
                    </a:lnTo>
                    <a:lnTo>
                      <a:pt x="11" y="43"/>
                    </a:lnTo>
                    <a:lnTo>
                      <a:pt x="11" y="7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74" name="Freeform 197"/>
              <p:cNvSpPr/>
              <p:nvPr/>
            </p:nvSpPr>
            <p:spPr>
              <a:xfrm>
                <a:off x="2155" y="2386"/>
                <a:ext cx="11" cy="49"/>
              </a:xfrm>
              <a:custGeom>
                <a:avLst/>
                <a:gdLst>
                  <a:gd name="txL" fmla="*/ 0 w 11"/>
                  <a:gd name="txT" fmla="*/ 0 h 49"/>
                  <a:gd name="txR" fmla="*/ 11 w 11"/>
                  <a:gd name="txB" fmla="*/ 49 h 49"/>
                </a:gdLst>
                <a:ahLst/>
                <a:cxnLst>
                  <a:cxn ang="0">
                    <a:pos x="11" y="6"/>
                  </a:cxn>
                  <a:cxn ang="0">
                    <a:pos x="11" y="3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42"/>
                  </a:cxn>
                  <a:cxn ang="0">
                    <a:pos x="0" y="46"/>
                  </a:cxn>
                  <a:cxn ang="0">
                    <a:pos x="4" y="49"/>
                  </a:cxn>
                  <a:cxn ang="0">
                    <a:pos x="8" y="49"/>
                  </a:cxn>
                  <a:cxn ang="0">
                    <a:pos x="11" y="46"/>
                  </a:cxn>
                  <a:cxn ang="0">
                    <a:pos x="11" y="6"/>
                  </a:cxn>
                </a:cxnLst>
                <a:rect l="txL" t="txT" r="txR" b="txB"/>
                <a:pathLst>
                  <a:path w="11" h="49">
                    <a:moveTo>
                      <a:pt x="11" y="6"/>
                    </a:moveTo>
                    <a:lnTo>
                      <a:pt x="11" y="3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42"/>
                    </a:lnTo>
                    <a:lnTo>
                      <a:pt x="0" y="46"/>
                    </a:lnTo>
                    <a:lnTo>
                      <a:pt x="4" y="49"/>
                    </a:lnTo>
                    <a:lnTo>
                      <a:pt x="8" y="49"/>
                    </a:lnTo>
                    <a:lnTo>
                      <a:pt x="11" y="46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75" name="Freeform 198"/>
              <p:cNvSpPr/>
              <p:nvPr/>
            </p:nvSpPr>
            <p:spPr>
              <a:xfrm>
                <a:off x="2155" y="2455"/>
                <a:ext cx="11" cy="49"/>
              </a:xfrm>
              <a:custGeom>
                <a:avLst/>
                <a:gdLst>
                  <a:gd name="txL" fmla="*/ 0 w 11"/>
                  <a:gd name="txT" fmla="*/ 0 h 49"/>
                  <a:gd name="txR" fmla="*/ 11 w 11"/>
                  <a:gd name="txB" fmla="*/ 49 h 49"/>
                </a:gdLst>
                <a:ahLst/>
                <a:cxnLst>
                  <a:cxn ang="0">
                    <a:pos x="11" y="6"/>
                  </a:cxn>
                  <a:cxn ang="0">
                    <a:pos x="11" y="3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3"/>
                  </a:cxn>
                  <a:cxn ang="0">
                    <a:pos x="0" y="42"/>
                  </a:cxn>
                  <a:cxn ang="0">
                    <a:pos x="0" y="45"/>
                  </a:cxn>
                  <a:cxn ang="0">
                    <a:pos x="4" y="49"/>
                  </a:cxn>
                  <a:cxn ang="0">
                    <a:pos x="8" y="49"/>
                  </a:cxn>
                  <a:cxn ang="0">
                    <a:pos x="11" y="45"/>
                  </a:cxn>
                  <a:cxn ang="0">
                    <a:pos x="11" y="6"/>
                  </a:cxn>
                </a:cxnLst>
                <a:rect l="txL" t="txT" r="txR" b="txB"/>
                <a:pathLst>
                  <a:path w="11" h="49">
                    <a:moveTo>
                      <a:pt x="11" y="6"/>
                    </a:moveTo>
                    <a:lnTo>
                      <a:pt x="11" y="3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3"/>
                    </a:lnTo>
                    <a:lnTo>
                      <a:pt x="0" y="42"/>
                    </a:lnTo>
                    <a:lnTo>
                      <a:pt x="0" y="45"/>
                    </a:lnTo>
                    <a:lnTo>
                      <a:pt x="4" y="49"/>
                    </a:lnTo>
                    <a:lnTo>
                      <a:pt x="8" y="49"/>
                    </a:lnTo>
                    <a:lnTo>
                      <a:pt x="11" y="45"/>
                    </a:lnTo>
                    <a:lnTo>
                      <a:pt x="11" y="6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76" name="Freeform 199"/>
              <p:cNvSpPr/>
              <p:nvPr/>
            </p:nvSpPr>
            <p:spPr>
              <a:xfrm>
                <a:off x="2155" y="2523"/>
                <a:ext cx="11" cy="50"/>
              </a:xfrm>
              <a:custGeom>
                <a:avLst/>
                <a:gdLst>
                  <a:gd name="txL" fmla="*/ 0 w 11"/>
                  <a:gd name="txT" fmla="*/ 0 h 50"/>
                  <a:gd name="txR" fmla="*/ 11 w 11"/>
                  <a:gd name="txB" fmla="*/ 50 h 50"/>
                </a:gdLst>
                <a:ahLst/>
                <a:cxnLst>
                  <a:cxn ang="0">
                    <a:pos x="11" y="7"/>
                  </a:cxn>
                  <a:cxn ang="0">
                    <a:pos x="11" y="4"/>
                  </a:cxn>
                  <a:cxn ang="0">
                    <a:pos x="8" y="0"/>
                  </a:cxn>
                  <a:cxn ang="0">
                    <a:pos x="4" y="0"/>
                  </a:cxn>
                  <a:cxn ang="0">
                    <a:pos x="0" y="4"/>
                  </a:cxn>
                  <a:cxn ang="0">
                    <a:pos x="0" y="43"/>
                  </a:cxn>
                  <a:cxn ang="0">
                    <a:pos x="0" y="46"/>
                  </a:cxn>
                  <a:cxn ang="0">
                    <a:pos x="4" y="50"/>
                  </a:cxn>
                  <a:cxn ang="0">
                    <a:pos x="8" y="50"/>
                  </a:cxn>
                  <a:cxn ang="0">
                    <a:pos x="11" y="46"/>
                  </a:cxn>
                  <a:cxn ang="0">
                    <a:pos x="11" y="7"/>
                  </a:cxn>
                </a:cxnLst>
                <a:rect l="txL" t="txT" r="txR" b="txB"/>
                <a:pathLst>
                  <a:path w="11" h="50">
                    <a:moveTo>
                      <a:pt x="11" y="7"/>
                    </a:moveTo>
                    <a:lnTo>
                      <a:pt x="11" y="4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0" y="43"/>
                    </a:lnTo>
                    <a:lnTo>
                      <a:pt x="0" y="46"/>
                    </a:lnTo>
                    <a:lnTo>
                      <a:pt x="4" y="50"/>
                    </a:lnTo>
                    <a:lnTo>
                      <a:pt x="8" y="50"/>
                    </a:lnTo>
                    <a:lnTo>
                      <a:pt x="11" y="46"/>
                    </a:lnTo>
                    <a:lnTo>
                      <a:pt x="11" y="7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69777" name="Freeform 200"/>
              <p:cNvSpPr/>
              <p:nvPr/>
            </p:nvSpPr>
            <p:spPr>
              <a:xfrm>
                <a:off x="2117" y="2540"/>
                <a:ext cx="80" cy="69"/>
              </a:xfrm>
              <a:custGeom>
                <a:avLst/>
                <a:gdLst>
                  <a:gd name="txL" fmla="*/ 0 w 80"/>
                  <a:gd name="txT" fmla="*/ 0 h 69"/>
                  <a:gd name="txR" fmla="*/ 80 w 80"/>
                  <a:gd name="txB" fmla="*/ 69 h 69"/>
                </a:gdLst>
                <a:ahLst/>
                <a:cxnLst>
                  <a:cxn ang="0">
                    <a:pos x="0" y="0"/>
                  </a:cxn>
                  <a:cxn ang="0">
                    <a:pos x="42" y="69"/>
                  </a:cxn>
                  <a:cxn ang="0">
                    <a:pos x="80" y="0"/>
                  </a:cxn>
                  <a:cxn ang="0">
                    <a:pos x="42" y="23"/>
                  </a:cxn>
                  <a:cxn ang="0">
                    <a:pos x="0" y="0"/>
                  </a:cxn>
                </a:cxnLst>
                <a:rect l="txL" t="txT" r="txR" b="txB"/>
                <a:pathLst>
                  <a:path w="80" h="69">
                    <a:moveTo>
                      <a:pt x="0" y="0"/>
                    </a:moveTo>
                    <a:lnTo>
                      <a:pt x="42" y="69"/>
                    </a:lnTo>
                    <a:lnTo>
                      <a:pt x="80" y="0"/>
                    </a:lnTo>
                    <a:lnTo>
                      <a:pt x="42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9766" name="Text Box 201"/>
            <p:cNvSpPr txBox="1"/>
            <p:nvPr/>
          </p:nvSpPr>
          <p:spPr>
            <a:xfrm>
              <a:off x="1382" y="3674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写入“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0”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9767" name="Text Box 202"/>
            <p:cNvSpPr txBox="1"/>
            <p:nvPr/>
          </p:nvSpPr>
          <p:spPr>
            <a:xfrm>
              <a:off x="3482" y="3696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写入“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1”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369768" name="Group 203"/>
            <p:cNvGrpSpPr/>
            <p:nvPr/>
          </p:nvGrpSpPr>
          <p:grpSpPr>
            <a:xfrm>
              <a:off x="3984" y="1823"/>
              <a:ext cx="81" cy="193"/>
              <a:chOff x="1495" y="1969"/>
              <a:chExt cx="81" cy="193"/>
            </a:xfrm>
          </p:grpSpPr>
          <p:sp>
            <p:nvSpPr>
              <p:cNvPr id="369771" name="Line 204"/>
              <p:cNvSpPr/>
              <p:nvPr/>
            </p:nvSpPr>
            <p:spPr>
              <a:xfrm>
                <a:off x="1533" y="1969"/>
                <a:ext cx="4" cy="15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772" name="Freeform 205"/>
              <p:cNvSpPr/>
              <p:nvPr/>
            </p:nvSpPr>
            <p:spPr>
              <a:xfrm>
                <a:off x="1495" y="2093"/>
                <a:ext cx="81" cy="69"/>
              </a:xfrm>
              <a:custGeom>
                <a:avLst/>
                <a:gdLst>
                  <a:gd name="txL" fmla="*/ 0 w 81"/>
                  <a:gd name="txT" fmla="*/ 0 h 69"/>
                  <a:gd name="txR" fmla="*/ 81 w 81"/>
                  <a:gd name="txB" fmla="*/ 69 h 69"/>
                </a:gdLst>
                <a:ahLst/>
                <a:cxnLst>
                  <a:cxn ang="0">
                    <a:pos x="0" y="0"/>
                  </a:cxn>
                  <a:cxn ang="0">
                    <a:pos x="42" y="69"/>
                  </a:cxn>
                  <a:cxn ang="0">
                    <a:pos x="81" y="0"/>
                  </a:cxn>
                  <a:cxn ang="0">
                    <a:pos x="42" y="23"/>
                  </a:cxn>
                  <a:cxn ang="0">
                    <a:pos x="0" y="0"/>
                  </a:cxn>
                </a:cxnLst>
                <a:rect l="txL" t="txT" r="txR" b="txB"/>
                <a:pathLst>
                  <a:path w="81" h="69">
                    <a:moveTo>
                      <a:pt x="0" y="0"/>
                    </a:moveTo>
                    <a:lnTo>
                      <a:pt x="42" y="69"/>
                    </a:lnTo>
                    <a:lnTo>
                      <a:pt x="81" y="0"/>
                    </a:lnTo>
                    <a:lnTo>
                      <a:pt x="42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69769" name="Rectangle 206"/>
            <p:cNvSpPr/>
            <p:nvPr/>
          </p:nvSpPr>
          <p:spPr>
            <a:xfrm>
              <a:off x="4219" y="1872"/>
              <a:ext cx="53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000" i="1" dirty="0">
                  <a:latin typeface="Times New Roman" panose="02020603050405020304" pitchFamily="18" charset="0"/>
                </a:rPr>
                <a:t>I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770" name="Line 207"/>
            <p:cNvSpPr/>
            <p:nvPr/>
          </p:nvSpPr>
          <p:spPr>
            <a:xfrm flipH="1">
              <a:off x="1344" y="2928"/>
              <a:ext cx="215" cy="34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69671" name="AutoShape 208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69672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70690" name="Group 2"/>
          <p:cNvGrpSpPr/>
          <p:nvPr/>
        </p:nvGrpSpPr>
        <p:grpSpPr>
          <a:xfrm>
            <a:off x="3124200" y="1295400"/>
            <a:ext cx="6705600" cy="5119688"/>
            <a:chOff x="1008" y="816"/>
            <a:chExt cx="4224" cy="3225"/>
          </a:xfrm>
        </p:grpSpPr>
        <p:grpSp>
          <p:nvGrpSpPr>
            <p:cNvPr id="370696" name="Group 3"/>
            <p:cNvGrpSpPr/>
            <p:nvPr/>
          </p:nvGrpSpPr>
          <p:grpSpPr>
            <a:xfrm>
              <a:off x="1008" y="2150"/>
              <a:ext cx="1917" cy="96"/>
              <a:chOff x="1008" y="2438"/>
              <a:chExt cx="1917" cy="96"/>
            </a:xfrm>
          </p:grpSpPr>
          <p:sp>
            <p:nvSpPr>
              <p:cNvPr id="370897" name="Rectangle 4"/>
              <p:cNvSpPr/>
              <p:nvPr/>
            </p:nvSpPr>
            <p:spPr>
              <a:xfrm>
                <a:off x="1008" y="2438"/>
                <a:ext cx="1911" cy="92"/>
              </a:xfrm>
              <a:prstGeom prst="rect">
                <a:avLst/>
              </a:prstGeom>
              <a:blipFill rotWithShape="0">
                <a:blip r:embed="rId1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98" name="Rectangle 5"/>
              <p:cNvSpPr/>
              <p:nvPr/>
            </p:nvSpPr>
            <p:spPr>
              <a:xfrm>
                <a:off x="1008" y="2438"/>
                <a:ext cx="1917" cy="96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0697" name="Rectangle 6"/>
            <p:cNvSpPr/>
            <p:nvPr/>
          </p:nvSpPr>
          <p:spPr>
            <a:xfrm>
              <a:off x="1621" y="1939"/>
              <a:ext cx="10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N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698" name="Line 7"/>
            <p:cNvSpPr/>
            <p:nvPr/>
          </p:nvSpPr>
          <p:spPr>
            <a:xfrm>
              <a:off x="1369" y="1387"/>
              <a:ext cx="1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699" name="Line 8"/>
            <p:cNvSpPr/>
            <p:nvPr/>
          </p:nvSpPr>
          <p:spPr>
            <a:xfrm>
              <a:off x="1369" y="1382"/>
              <a:ext cx="967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00" name="Line 9"/>
            <p:cNvSpPr/>
            <p:nvPr/>
          </p:nvSpPr>
          <p:spPr>
            <a:xfrm>
              <a:off x="1050" y="2069"/>
              <a:ext cx="1827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01" name="Line 10"/>
            <p:cNvSpPr/>
            <p:nvPr/>
          </p:nvSpPr>
          <p:spPr>
            <a:xfrm>
              <a:off x="1369" y="1824"/>
              <a:ext cx="450" cy="1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02" name="Line 11"/>
            <p:cNvSpPr/>
            <p:nvPr/>
          </p:nvSpPr>
          <p:spPr>
            <a:xfrm flipV="1">
              <a:off x="1819" y="1901"/>
              <a:ext cx="1" cy="7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03" name="Line 12"/>
            <p:cNvSpPr/>
            <p:nvPr/>
          </p:nvSpPr>
          <p:spPr>
            <a:xfrm flipH="1" flipV="1">
              <a:off x="1525" y="1714"/>
              <a:ext cx="294" cy="1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04" name="Line 13"/>
            <p:cNvSpPr/>
            <p:nvPr/>
          </p:nvSpPr>
          <p:spPr>
            <a:xfrm flipV="1">
              <a:off x="1525" y="1493"/>
              <a:ext cx="1" cy="22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0705" name="Group 14"/>
            <p:cNvGrpSpPr/>
            <p:nvPr/>
          </p:nvGrpSpPr>
          <p:grpSpPr>
            <a:xfrm>
              <a:off x="1453" y="1752"/>
              <a:ext cx="372" cy="216"/>
              <a:chOff x="1453" y="2040"/>
              <a:chExt cx="372" cy="216"/>
            </a:xfrm>
          </p:grpSpPr>
          <p:sp>
            <p:nvSpPr>
              <p:cNvPr id="370891" name="Freeform 15"/>
              <p:cNvSpPr/>
              <p:nvPr/>
            </p:nvSpPr>
            <p:spPr>
              <a:xfrm>
                <a:off x="1771" y="2222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48" y="34"/>
                  </a:cxn>
                  <a:cxn ang="0">
                    <a:pos x="48" y="34"/>
                  </a:cxn>
                  <a:cxn ang="0">
                    <a:pos x="54" y="29"/>
                  </a:cxn>
                  <a:cxn ang="0">
                    <a:pos x="54" y="24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48" y="34"/>
                  </a:cxn>
                </a:cxnLst>
                <a:rect l="txL" t="txT" r="txR" b="txB"/>
                <a:pathLst>
                  <a:path w="54" h="34">
                    <a:moveTo>
                      <a:pt x="48" y="34"/>
                    </a:moveTo>
                    <a:lnTo>
                      <a:pt x="48" y="34"/>
                    </a:lnTo>
                    <a:lnTo>
                      <a:pt x="54" y="29"/>
                    </a:lnTo>
                    <a:lnTo>
                      <a:pt x="54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48" y="3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92" name="Freeform 16"/>
              <p:cNvSpPr/>
              <p:nvPr/>
            </p:nvSpPr>
            <p:spPr>
              <a:xfrm>
                <a:off x="1705" y="2184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42" y="34"/>
                  </a:cxn>
                  <a:cxn ang="0">
                    <a:pos x="48" y="34"/>
                  </a:cxn>
                  <a:cxn ang="0">
                    <a:pos x="54" y="29"/>
                  </a:cxn>
                  <a:cxn ang="0">
                    <a:pos x="48" y="24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42" y="34"/>
                  </a:cxn>
                </a:cxnLst>
                <a:rect l="txL" t="txT" r="txR" b="txB"/>
                <a:pathLst>
                  <a:path w="54" h="34">
                    <a:moveTo>
                      <a:pt x="42" y="34"/>
                    </a:moveTo>
                    <a:lnTo>
                      <a:pt x="48" y="34"/>
                    </a:lnTo>
                    <a:lnTo>
                      <a:pt x="54" y="29"/>
                    </a:lnTo>
                    <a:lnTo>
                      <a:pt x="48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42" y="3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93" name="Freeform 17"/>
              <p:cNvSpPr/>
              <p:nvPr/>
            </p:nvSpPr>
            <p:spPr>
              <a:xfrm>
                <a:off x="1639" y="2146"/>
                <a:ext cx="48" cy="33"/>
              </a:xfrm>
              <a:custGeom>
                <a:avLst/>
                <a:gdLst>
                  <a:gd name="txL" fmla="*/ 0 w 48"/>
                  <a:gd name="txT" fmla="*/ 0 h 33"/>
                  <a:gd name="txR" fmla="*/ 48 w 48"/>
                  <a:gd name="txB" fmla="*/ 33 h 33"/>
                </a:gdLst>
                <a:ahLst/>
                <a:cxnLst>
                  <a:cxn ang="0">
                    <a:pos x="42" y="33"/>
                  </a:cxn>
                  <a:cxn ang="0">
                    <a:pos x="48" y="33"/>
                  </a:cxn>
                  <a:cxn ang="0">
                    <a:pos x="48" y="28"/>
                  </a:cxn>
                  <a:cxn ang="0">
                    <a:pos x="48" y="24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2" y="33"/>
                  </a:cxn>
                </a:cxnLst>
                <a:rect l="txL" t="txT" r="txR" b="txB"/>
                <a:pathLst>
                  <a:path w="48" h="33">
                    <a:moveTo>
                      <a:pt x="42" y="33"/>
                    </a:moveTo>
                    <a:lnTo>
                      <a:pt x="48" y="33"/>
                    </a:lnTo>
                    <a:lnTo>
                      <a:pt x="48" y="28"/>
                    </a:lnTo>
                    <a:lnTo>
                      <a:pt x="48" y="24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94" name="Freeform 18"/>
              <p:cNvSpPr/>
              <p:nvPr/>
            </p:nvSpPr>
            <p:spPr>
              <a:xfrm>
                <a:off x="1567" y="2107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42" y="34"/>
                  </a:cxn>
                  <a:cxn ang="0">
                    <a:pos x="48" y="34"/>
                  </a:cxn>
                  <a:cxn ang="0">
                    <a:pos x="54" y="29"/>
                  </a:cxn>
                  <a:cxn ang="0">
                    <a:pos x="48" y="24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42" y="34"/>
                  </a:cxn>
                </a:cxnLst>
                <a:rect l="txL" t="txT" r="txR" b="txB"/>
                <a:pathLst>
                  <a:path w="54" h="34">
                    <a:moveTo>
                      <a:pt x="42" y="34"/>
                    </a:moveTo>
                    <a:lnTo>
                      <a:pt x="48" y="34"/>
                    </a:lnTo>
                    <a:lnTo>
                      <a:pt x="54" y="29"/>
                    </a:lnTo>
                    <a:lnTo>
                      <a:pt x="48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42" y="3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95" name="Freeform 19"/>
              <p:cNvSpPr/>
              <p:nvPr/>
            </p:nvSpPr>
            <p:spPr>
              <a:xfrm>
                <a:off x="1501" y="2069"/>
                <a:ext cx="48" cy="29"/>
              </a:xfrm>
              <a:custGeom>
                <a:avLst/>
                <a:gdLst>
                  <a:gd name="txL" fmla="*/ 0 w 48"/>
                  <a:gd name="txT" fmla="*/ 0 h 29"/>
                  <a:gd name="txR" fmla="*/ 48 w 48"/>
                  <a:gd name="txB" fmla="*/ 29 h 29"/>
                </a:gdLst>
                <a:ahLst/>
                <a:cxnLst>
                  <a:cxn ang="0">
                    <a:pos x="42" y="29"/>
                  </a:cxn>
                  <a:cxn ang="0">
                    <a:pos x="48" y="29"/>
                  </a:cxn>
                  <a:cxn ang="0">
                    <a:pos x="48" y="24"/>
                  </a:cxn>
                  <a:cxn ang="0">
                    <a:pos x="48" y="19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2" y="29"/>
                  </a:cxn>
                </a:cxnLst>
                <a:rect l="txL" t="txT" r="txR" b="txB"/>
                <a:pathLst>
                  <a:path w="48" h="29">
                    <a:moveTo>
                      <a:pt x="42" y="29"/>
                    </a:moveTo>
                    <a:lnTo>
                      <a:pt x="48" y="29"/>
                    </a:lnTo>
                    <a:lnTo>
                      <a:pt x="48" y="24"/>
                    </a:lnTo>
                    <a:lnTo>
                      <a:pt x="48" y="19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42" y="2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96" name="Freeform 20"/>
              <p:cNvSpPr/>
              <p:nvPr/>
            </p:nvSpPr>
            <p:spPr>
              <a:xfrm>
                <a:off x="1453" y="2040"/>
                <a:ext cx="30" cy="19"/>
              </a:xfrm>
              <a:custGeom>
                <a:avLst/>
                <a:gdLst>
                  <a:gd name="txL" fmla="*/ 0 w 30"/>
                  <a:gd name="txT" fmla="*/ 0 h 19"/>
                  <a:gd name="txR" fmla="*/ 30 w 30"/>
                  <a:gd name="txB" fmla="*/ 19 h 19"/>
                </a:gdLst>
                <a:ahLst/>
                <a:cxnLst>
                  <a:cxn ang="0">
                    <a:pos x="24" y="19"/>
                  </a:cxn>
                  <a:cxn ang="0">
                    <a:pos x="30" y="19"/>
                  </a:cxn>
                  <a:cxn ang="0">
                    <a:pos x="30" y="14"/>
                  </a:cxn>
                  <a:cxn ang="0">
                    <a:pos x="30" y="10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24" y="19"/>
                  </a:cxn>
                </a:cxnLst>
                <a:rect l="txL" t="txT" r="txR" b="txB"/>
                <a:pathLst>
                  <a:path w="30" h="19">
                    <a:moveTo>
                      <a:pt x="24" y="19"/>
                    </a:moveTo>
                    <a:lnTo>
                      <a:pt x="30" y="19"/>
                    </a:lnTo>
                    <a:lnTo>
                      <a:pt x="30" y="14"/>
                    </a:lnTo>
                    <a:lnTo>
                      <a:pt x="30" y="10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24" y="1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0706" name="Group 21"/>
            <p:cNvGrpSpPr/>
            <p:nvPr/>
          </p:nvGrpSpPr>
          <p:grpSpPr>
            <a:xfrm>
              <a:off x="1453" y="1445"/>
              <a:ext cx="12" cy="317"/>
              <a:chOff x="1453" y="1733"/>
              <a:chExt cx="12" cy="317"/>
            </a:xfrm>
          </p:grpSpPr>
          <p:sp>
            <p:nvSpPr>
              <p:cNvPr id="370886" name="Freeform 22"/>
              <p:cNvSpPr/>
              <p:nvPr/>
            </p:nvSpPr>
            <p:spPr>
              <a:xfrm>
                <a:off x="1453" y="2002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4"/>
                  </a:cxn>
                  <a:cxn ang="0">
                    <a:pos x="6" y="0"/>
                  </a:cxn>
                  <a:cxn ang="0">
                    <a:pos x="0" y="4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4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87" name="Freeform 23"/>
              <p:cNvSpPr/>
              <p:nvPr/>
            </p:nvSpPr>
            <p:spPr>
              <a:xfrm>
                <a:off x="1453" y="1934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4"/>
                  </a:cxn>
                  <a:cxn ang="0">
                    <a:pos x="6" y="48"/>
                  </a:cxn>
                  <a:cxn ang="0">
                    <a:pos x="12" y="44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4"/>
                  </a:cxn>
                </a:cxnLst>
                <a:rect l="txL" t="txT" r="txR" b="txB"/>
                <a:pathLst>
                  <a:path w="12" h="48">
                    <a:moveTo>
                      <a:pt x="0" y="44"/>
                    </a:moveTo>
                    <a:lnTo>
                      <a:pt x="6" y="48"/>
                    </a:lnTo>
                    <a:lnTo>
                      <a:pt x="12" y="44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88" name="Freeform 24"/>
              <p:cNvSpPr/>
              <p:nvPr/>
            </p:nvSpPr>
            <p:spPr>
              <a:xfrm>
                <a:off x="1453" y="1867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89" name="Freeform 25"/>
              <p:cNvSpPr/>
              <p:nvPr/>
            </p:nvSpPr>
            <p:spPr>
              <a:xfrm>
                <a:off x="1453" y="1800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90" name="Freeform 26"/>
              <p:cNvSpPr/>
              <p:nvPr/>
            </p:nvSpPr>
            <p:spPr>
              <a:xfrm>
                <a:off x="1453" y="1733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0707" name="Group 27"/>
            <p:cNvGrpSpPr/>
            <p:nvPr/>
          </p:nvGrpSpPr>
          <p:grpSpPr>
            <a:xfrm>
              <a:off x="1723" y="1958"/>
              <a:ext cx="78" cy="149"/>
              <a:chOff x="1723" y="2246"/>
              <a:chExt cx="78" cy="149"/>
            </a:xfrm>
          </p:grpSpPr>
          <p:sp>
            <p:nvSpPr>
              <p:cNvPr id="370883" name="Freeform 28"/>
              <p:cNvSpPr/>
              <p:nvPr/>
            </p:nvSpPr>
            <p:spPr>
              <a:xfrm>
                <a:off x="1771" y="2246"/>
                <a:ext cx="30" cy="44"/>
              </a:xfrm>
              <a:custGeom>
                <a:avLst/>
                <a:gdLst>
                  <a:gd name="txL" fmla="*/ 0 w 30"/>
                  <a:gd name="txT" fmla="*/ 0 h 44"/>
                  <a:gd name="txR" fmla="*/ 30 w 30"/>
                  <a:gd name="txB" fmla="*/ 44 h 44"/>
                </a:gdLst>
                <a:ahLst/>
                <a:cxnLst>
                  <a:cxn ang="0">
                    <a:pos x="30" y="5"/>
                  </a:cxn>
                  <a:cxn ang="0">
                    <a:pos x="24" y="0"/>
                  </a:cxn>
                  <a:cxn ang="0">
                    <a:pos x="18" y="5"/>
                  </a:cxn>
                  <a:cxn ang="0">
                    <a:pos x="0" y="39"/>
                  </a:cxn>
                  <a:cxn ang="0">
                    <a:pos x="6" y="44"/>
                  </a:cxn>
                  <a:cxn ang="0">
                    <a:pos x="12" y="44"/>
                  </a:cxn>
                  <a:cxn ang="0">
                    <a:pos x="12" y="39"/>
                  </a:cxn>
                  <a:cxn ang="0">
                    <a:pos x="30" y="5"/>
                  </a:cxn>
                </a:cxnLst>
                <a:rect l="txL" t="txT" r="txR" b="txB"/>
                <a:pathLst>
                  <a:path w="30" h="44">
                    <a:moveTo>
                      <a:pt x="30" y="5"/>
                    </a:moveTo>
                    <a:lnTo>
                      <a:pt x="24" y="0"/>
                    </a:lnTo>
                    <a:lnTo>
                      <a:pt x="18" y="5"/>
                    </a:lnTo>
                    <a:lnTo>
                      <a:pt x="0" y="39"/>
                    </a:lnTo>
                    <a:lnTo>
                      <a:pt x="6" y="44"/>
                    </a:lnTo>
                    <a:lnTo>
                      <a:pt x="12" y="44"/>
                    </a:lnTo>
                    <a:lnTo>
                      <a:pt x="12" y="39"/>
                    </a:lnTo>
                    <a:lnTo>
                      <a:pt x="30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84" name="Freeform 29"/>
              <p:cNvSpPr/>
              <p:nvPr/>
            </p:nvSpPr>
            <p:spPr>
              <a:xfrm>
                <a:off x="1741" y="2309"/>
                <a:ext cx="30" cy="48"/>
              </a:xfrm>
              <a:custGeom>
                <a:avLst/>
                <a:gdLst>
                  <a:gd name="txL" fmla="*/ 0 w 30"/>
                  <a:gd name="txT" fmla="*/ 0 h 48"/>
                  <a:gd name="txR" fmla="*/ 30 w 30"/>
                  <a:gd name="txB" fmla="*/ 48 h 48"/>
                </a:gdLst>
                <a:ahLst/>
                <a:cxnLst>
                  <a:cxn ang="0">
                    <a:pos x="30" y="5"/>
                  </a:cxn>
                  <a:cxn ang="0">
                    <a:pos x="30" y="0"/>
                  </a:cxn>
                  <a:cxn ang="0">
                    <a:pos x="24" y="0"/>
                  </a:cxn>
                  <a:cxn ang="0">
                    <a:pos x="18" y="5"/>
                  </a:cxn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8"/>
                  </a:cxn>
                  <a:cxn ang="0">
                    <a:pos x="12" y="43"/>
                  </a:cxn>
                  <a:cxn ang="0">
                    <a:pos x="30" y="5"/>
                  </a:cxn>
                </a:cxnLst>
                <a:rect l="txL" t="txT" r="txR" b="txB"/>
                <a:pathLst>
                  <a:path w="30" h="48">
                    <a:moveTo>
                      <a:pt x="30" y="5"/>
                    </a:moveTo>
                    <a:lnTo>
                      <a:pt x="30" y="0"/>
                    </a:lnTo>
                    <a:lnTo>
                      <a:pt x="24" y="0"/>
                    </a:lnTo>
                    <a:lnTo>
                      <a:pt x="18" y="5"/>
                    </a:lnTo>
                    <a:lnTo>
                      <a:pt x="0" y="43"/>
                    </a:lnTo>
                    <a:lnTo>
                      <a:pt x="6" y="48"/>
                    </a:lnTo>
                    <a:lnTo>
                      <a:pt x="12" y="48"/>
                    </a:lnTo>
                    <a:lnTo>
                      <a:pt x="12" y="43"/>
                    </a:lnTo>
                    <a:lnTo>
                      <a:pt x="30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85" name="Freeform 30"/>
              <p:cNvSpPr/>
              <p:nvPr/>
            </p:nvSpPr>
            <p:spPr>
              <a:xfrm>
                <a:off x="1723" y="2371"/>
                <a:ext cx="18" cy="24"/>
              </a:xfrm>
              <a:custGeom>
                <a:avLst/>
                <a:gdLst>
                  <a:gd name="txL" fmla="*/ 0 w 18"/>
                  <a:gd name="txT" fmla="*/ 0 h 24"/>
                  <a:gd name="txR" fmla="*/ 18 w 18"/>
                  <a:gd name="txB" fmla="*/ 24 h 24"/>
                </a:gdLst>
                <a:ahLst/>
                <a:cxnLst>
                  <a:cxn ang="0">
                    <a:pos x="18" y="5"/>
                  </a:cxn>
                  <a:cxn ang="0">
                    <a:pos x="18" y="0"/>
                  </a:cxn>
                  <a:cxn ang="0">
                    <a:pos x="12" y="0"/>
                  </a:cxn>
                  <a:cxn ang="0">
                    <a:pos x="6" y="5"/>
                  </a:cxn>
                  <a:cxn ang="0">
                    <a:pos x="0" y="19"/>
                  </a:cxn>
                  <a:cxn ang="0">
                    <a:pos x="6" y="24"/>
                  </a:cxn>
                  <a:cxn ang="0">
                    <a:pos x="12" y="19"/>
                  </a:cxn>
                  <a:cxn ang="0">
                    <a:pos x="18" y="5"/>
                  </a:cxn>
                </a:cxnLst>
                <a:rect l="txL" t="txT" r="txR" b="txB"/>
                <a:pathLst>
                  <a:path w="18" h="24">
                    <a:moveTo>
                      <a:pt x="18" y="5"/>
                    </a:moveTo>
                    <a:lnTo>
                      <a:pt x="18" y="0"/>
                    </a:lnTo>
                    <a:lnTo>
                      <a:pt x="12" y="0"/>
                    </a:lnTo>
                    <a:lnTo>
                      <a:pt x="6" y="5"/>
                    </a:lnTo>
                    <a:lnTo>
                      <a:pt x="0" y="19"/>
                    </a:lnTo>
                    <a:lnTo>
                      <a:pt x="6" y="24"/>
                    </a:lnTo>
                    <a:lnTo>
                      <a:pt x="12" y="19"/>
                    </a:lnTo>
                    <a:lnTo>
                      <a:pt x="18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0708" name="Line 31"/>
            <p:cNvSpPr/>
            <p:nvPr/>
          </p:nvSpPr>
          <p:spPr>
            <a:xfrm>
              <a:off x="2336" y="1387"/>
              <a:ext cx="1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09" name="Line 32"/>
            <p:cNvSpPr/>
            <p:nvPr/>
          </p:nvSpPr>
          <p:spPr>
            <a:xfrm flipH="1">
              <a:off x="1885" y="1824"/>
              <a:ext cx="451" cy="1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10" name="Line 33"/>
            <p:cNvSpPr/>
            <p:nvPr/>
          </p:nvSpPr>
          <p:spPr>
            <a:xfrm flipV="1">
              <a:off x="1885" y="1901"/>
              <a:ext cx="1" cy="7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11" name="Line 34"/>
            <p:cNvSpPr/>
            <p:nvPr/>
          </p:nvSpPr>
          <p:spPr>
            <a:xfrm flipV="1">
              <a:off x="1885" y="1714"/>
              <a:ext cx="295" cy="1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12" name="Line 35"/>
            <p:cNvSpPr/>
            <p:nvPr/>
          </p:nvSpPr>
          <p:spPr>
            <a:xfrm flipV="1">
              <a:off x="2180" y="1493"/>
              <a:ext cx="1" cy="22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0713" name="Group 36"/>
            <p:cNvGrpSpPr/>
            <p:nvPr/>
          </p:nvGrpSpPr>
          <p:grpSpPr>
            <a:xfrm>
              <a:off x="1879" y="1752"/>
              <a:ext cx="373" cy="216"/>
              <a:chOff x="1879" y="2040"/>
              <a:chExt cx="373" cy="216"/>
            </a:xfrm>
          </p:grpSpPr>
          <p:sp>
            <p:nvSpPr>
              <p:cNvPr id="370877" name="Freeform 37"/>
              <p:cNvSpPr/>
              <p:nvPr/>
            </p:nvSpPr>
            <p:spPr>
              <a:xfrm>
                <a:off x="1879" y="2222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6" y="24"/>
                  </a:cxn>
                  <a:cxn ang="0">
                    <a:pos x="0" y="29"/>
                  </a:cxn>
                  <a:cxn ang="0">
                    <a:pos x="6" y="34"/>
                  </a:cxn>
                  <a:cxn ang="0">
                    <a:pos x="12" y="34"/>
                  </a:cxn>
                  <a:cxn ang="0">
                    <a:pos x="48" y="10"/>
                  </a:cxn>
                  <a:cxn ang="0">
                    <a:pos x="54" y="5"/>
                  </a:cxn>
                  <a:cxn ang="0">
                    <a:pos x="48" y="0"/>
                  </a:cxn>
                  <a:cxn ang="0">
                    <a:pos x="42" y="0"/>
                  </a:cxn>
                  <a:cxn ang="0">
                    <a:pos x="6" y="24"/>
                  </a:cxn>
                </a:cxnLst>
                <a:rect l="txL" t="txT" r="txR" b="txB"/>
                <a:pathLst>
                  <a:path w="54" h="34">
                    <a:moveTo>
                      <a:pt x="6" y="24"/>
                    </a:moveTo>
                    <a:lnTo>
                      <a:pt x="0" y="29"/>
                    </a:lnTo>
                    <a:lnTo>
                      <a:pt x="6" y="34"/>
                    </a:lnTo>
                    <a:lnTo>
                      <a:pt x="12" y="34"/>
                    </a:lnTo>
                    <a:lnTo>
                      <a:pt x="48" y="10"/>
                    </a:lnTo>
                    <a:lnTo>
                      <a:pt x="54" y="5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6" y="2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78" name="Freeform 38"/>
              <p:cNvSpPr/>
              <p:nvPr/>
            </p:nvSpPr>
            <p:spPr>
              <a:xfrm>
                <a:off x="1945" y="2184"/>
                <a:ext cx="55" cy="34"/>
              </a:xfrm>
              <a:custGeom>
                <a:avLst/>
                <a:gdLst>
                  <a:gd name="txL" fmla="*/ 0 w 55"/>
                  <a:gd name="txT" fmla="*/ 0 h 34"/>
                  <a:gd name="txR" fmla="*/ 55 w 55"/>
                  <a:gd name="txB" fmla="*/ 34 h 34"/>
                </a:gdLst>
                <a:ahLst/>
                <a:cxnLst>
                  <a:cxn ang="0">
                    <a:pos x="6" y="24"/>
                  </a:cxn>
                  <a:cxn ang="0">
                    <a:pos x="0" y="29"/>
                  </a:cxn>
                  <a:cxn ang="0">
                    <a:pos x="6" y="34"/>
                  </a:cxn>
                  <a:cxn ang="0">
                    <a:pos x="12" y="34"/>
                  </a:cxn>
                  <a:cxn ang="0">
                    <a:pos x="49" y="10"/>
                  </a:cxn>
                  <a:cxn ang="0">
                    <a:pos x="55" y="5"/>
                  </a:cxn>
                  <a:cxn ang="0">
                    <a:pos x="49" y="0"/>
                  </a:cxn>
                  <a:cxn ang="0">
                    <a:pos x="43" y="0"/>
                  </a:cxn>
                  <a:cxn ang="0">
                    <a:pos x="6" y="24"/>
                  </a:cxn>
                </a:cxnLst>
                <a:rect l="txL" t="txT" r="txR" b="txB"/>
                <a:pathLst>
                  <a:path w="55" h="34">
                    <a:moveTo>
                      <a:pt x="6" y="24"/>
                    </a:moveTo>
                    <a:lnTo>
                      <a:pt x="0" y="29"/>
                    </a:lnTo>
                    <a:lnTo>
                      <a:pt x="6" y="34"/>
                    </a:lnTo>
                    <a:lnTo>
                      <a:pt x="12" y="34"/>
                    </a:lnTo>
                    <a:lnTo>
                      <a:pt x="49" y="10"/>
                    </a:lnTo>
                    <a:lnTo>
                      <a:pt x="55" y="5"/>
                    </a:lnTo>
                    <a:lnTo>
                      <a:pt x="49" y="0"/>
                    </a:lnTo>
                    <a:lnTo>
                      <a:pt x="43" y="0"/>
                    </a:lnTo>
                    <a:lnTo>
                      <a:pt x="6" y="2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79" name="Freeform 39"/>
              <p:cNvSpPr/>
              <p:nvPr/>
            </p:nvSpPr>
            <p:spPr>
              <a:xfrm>
                <a:off x="2018" y="2146"/>
                <a:ext cx="48" cy="33"/>
              </a:xfrm>
              <a:custGeom>
                <a:avLst/>
                <a:gdLst>
                  <a:gd name="txL" fmla="*/ 0 w 48"/>
                  <a:gd name="txT" fmla="*/ 0 h 33"/>
                  <a:gd name="txR" fmla="*/ 48 w 48"/>
                  <a:gd name="txB" fmla="*/ 33 h 33"/>
                </a:gdLst>
                <a:ahLst/>
                <a:cxnLst>
                  <a:cxn ang="0">
                    <a:pos x="0" y="24"/>
                  </a:cxn>
                  <a:cxn ang="0">
                    <a:pos x="0" y="28"/>
                  </a:cxn>
                  <a:cxn ang="0">
                    <a:pos x="0" y="33"/>
                  </a:cxn>
                  <a:cxn ang="0">
                    <a:pos x="6" y="33"/>
                  </a:cxn>
                  <a:cxn ang="0">
                    <a:pos x="48" y="9"/>
                  </a:cxn>
                  <a:cxn ang="0">
                    <a:pos x="48" y="4"/>
                  </a:cxn>
                  <a:cxn ang="0">
                    <a:pos x="48" y="0"/>
                  </a:cxn>
                  <a:cxn ang="0">
                    <a:pos x="42" y="0"/>
                  </a:cxn>
                  <a:cxn ang="0">
                    <a:pos x="0" y="24"/>
                  </a:cxn>
                </a:cxnLst>
                <a:rect l="txL" t="txT" r="txR" b="txB"/>
                <a:pathLst>
                  <a:path w="48" h="33">
                    <a:moveTo>
                      <a:pt x="0" y="24"/>
                    </a:moveTo>
                    <a:lnTo>
                      <a:pt x="0" y="28"/>
                    </a:lnTo>
                    <a:lnTo>
                      <a:pt x="0" y="33"/>
                    </a:lnTo>
                    <a:lnTo>
                      <a:pt x="6" y="33"/>
                    </a:lnTo>
                    <a:lnTo>
                      <a:pt x="48" y="9"/>
                    </a:lnTo>
                    <a:lnTo>
                      <a:pt x="48" y="4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80" name="Freeform 40"/>
              <p:cNvSpPr/>
              <p:nvPr/>
            </p:nvSpPr>
            <p:spPr>
              <a:xfrm>
                <a:off x="2084" y="2107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6" y="24"/>
                  </a:cxn>
                  <a:cxn ang="0">
                    <a:pos x="0" y="29"/>
                  </a:cxn>
                  <a:cxn ang="0">
                    <a:pos x="6" y="34"/>
                  </a:cxn>
                  <a:cxn ang="0">
                    <a:pos x="12" y="34"/>
                  </a:cxn>
                  <a:cxn ang="0">
                    <a:pos x="48" y="10"/>
                  </a:cxn>
                  <a:cxn ang="0">
                    <a:pos x="54" y="5"/>
                  </a:cxn>
                  <a:cxn ang="0">
                    <a:pos x="48" y="0"/>
                  </a:cxn>
                  <a:cxn ang="0">
                    <a:pos x="42" y="0"/>
                  </a:cxn>
                  <a:cxn ang="0">
                    <a:pos x="6" y="24"/>
                  </a:cxn>
                </a:cxnLst>
                <a:rect l="txL" t="txT" r="txR" b="txB"/>
                <a:pathLst>
                  <a:path w="54" h="34">
                    <a:moveTo>
                      <a:pt x="6" y="24"/>
                    </a:moveTo>
                    <a:lnTo>
                      <a:pt x="0" y="29"/>
                    </a:lnTo>
                    <a:lnTo>
                      <a:pt x="6" y="34"/>
                    </a:lnTo>
                    <a:lnTo>
                      <a:pt x="12" y="34"/>
                    </a:lnTo>
                    <a:lnTo>
                      <a:pt x="48" y="10"/>
                    </a:lnTo>
                    <a:lnTo>
                      <a:pt x="54" y="5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6" y="2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81" name="Freeform 41"/>
              <p:cNvSpPr/>
              <p:nvPr/>
            </p:nvSpPr>
            <p:spPr>
              <a:xfrm>
                <a:off x="2156" y="2069"/>
                <a:ext cx="48" cy="29"/>
              </a:xfrm>
              <a:custGeom>
                <a:avLst/>
                <a:gdLst>
                  <a:gd name="txL" fmla="*/ 0 w 48"/>
                  <a:gd name="txT" fmla="*/ 0 h 29"/>
                  <a:gd name="txR" fmla="*/ 48 w 48"/>
                  <a:gd name="txB" fmla="*/ 29 h 29"/>
                </a:gdLst>
                <a:ahLst/>
                <a:cxnLst>
                  <a:cxn ang="0">
                    <a:pos x="0" y="19"/>
                  </a:cxn>
                  <a:cxn ang="0">
                    <a:pos x="0" y="24"/>
                  </a:cxn>
                  <a:cxn ang="0">
                    <a:pos x="0" y="29"/>
                  </a:cxn>
                  <a:cxn ang="0">
                    <a:pos x="6" y="29"/>
                  </a:cxn>
                  <a:cxn ang="0">
                    <a:pos x="48" y="9"/>
                  </a:cxn>
                  <a:cxn ang="0">
                    <a:pos x="48" y="5"/>
                  </a:cxn>
                  <a:cxn ang="0">
                    <a:pos x="48" y="0"/>
                  </a:cxn>
                  <a:cxn ang="0">
                    <a:pos x="42" y="0"/>
                  </a:cxn>
                  <a:cxn ang="0">
                    <a:pos x="0" y="19"/>
                  </a:cxn>
                </a:cxnLst>
                <a:rect l="txL" t="txT" r="txR" b="txB"/>
                <a:pathLst>
                  <a:path w="48" h="29">
                    <a:moveTo>
                      <a:pt x="0" y="19"/>
                    </a:moveTo>
                    <a:lnTo>
                      <a:pt x="0" y="24"/>
                    </a:lnTo>
                    <a:lnTo>
                      <a:pt x="0" y="29"/>
                    </a:lnTo>
                    <a:lnTo>
                      <a:pt x="6" y="29"/>
                    </a:lnTo>
                    <a:lnTo>
                      <a:pt x="48" y="9"/>
                    </a:lnTo>
                    <a:lnTo>
                      <a:pt x="48" y="5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82" name="Freeform 42"/>
              <p:cNvSpPr/>
              <p:nvPr/>
            </p:nvSpPr>
            <p:spPr>
              <a:xfrm>
                <a:off x="2222" y="2040"/>
                <a:ext cx="30" cy="19"/>
              </a:xfrm>
              <a:custGeom>
                <a:avLst/>
                <a:gdLst>
                  <a:gd name="txL" fmla="*/ 0 w 30"/>
                  <a:gd name="txT" fmla="*/ 0 h 19"/>
                  <a:gd name="txR" fmla="*/ 30 w 30"/>
                  <a:gd name="txB" fmla="*/ 19 h 19"/>
                </a:gdLst>
                <a:ahLst/>
                <a:cxnLst>
                  <a:cxn ang="0">
                    <a:pos x="0" y="10"/>
                  </a:cxn>
                  <a:cxn ang="0">
                    <a:pos x="0" y="14"/>
                  </a:cxn>
                  <a:cxn ang="0">
                    <a:pos x="0" y="19"/>
                  </a:cxn>
                  <a:cxn ang="0">
                    <a:pos x="6" y="19"/>
                  </a:cxn>
                  <a:cxn ang="0">
                    <a:pos x="30" y="10"/>
                  </a:cxn>
                  <a:cxn ang="0">
                    <a:pos x="30" y="5"/>
                  </a:cxn>
                  <a:cxn ang="0">
                    <a:pos x="24" y="0"/>
                  </a:cxn>
                  <a:cxn ang="0">
                    <a:pos x="0" y="10"/>
                  </a:cxn>
                </a:cxnLst>
                <a:rect l="txL" t="txT" r="txR" b="txB"/>
                <a:pathLst>
                  <a:path w="30" h="19">
                    <a:moveTo>
                      <a:pt x="0" y="10"/>
                    </a:moveTo>
                    <a:lnTo>
                      <a:pt x="0" y="14"/>
                    </a:lnTo>
                    <a:lnTo>
                      <a:pt x="0" y="19"/>
                    </a:lnTo>
                    <a:lnTo>
                      <a:pt x="6" y="19"/>
                    </a:lnTo>
                    <a:lnTo>
                      <a:pt x="30" y="10"/>
                    </a:lnTo>
                    <a:lnTo>
                      <a:pt x="30" y="5"/>
                    </a:lnTo>
                    <a:lnTo>
                      <a:pt x="24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0714" name="Group 43"/>
            <p:cNvGrpSpPr/>
            <p:nvPr/>
          </p:nvGrpSpPr>
          <p:grpSpPr>
            <a:xfrm>
              <a:off x="2240" y="1445"/>
              <a:ext cx="12" cy="317"/>
              <a:chOff x="2240" y="1733"/>
              <a:chExt cx="12" cy="317"/>
            </a:xfrm>
          </p:grpSpPr>
          <p:sp>
            <p:nvSpPr>
              <p:cNvPr id="370872" name="Freeform 44"/>
              <p:cNvSpPr/>
              <p:nvPr/>
            </p:nvSpPr>
            <p:spPr>
              <a:xfrm>
                <a:off x="2240" y="2002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4"/>
                  </a:cxn>
                  <a:cxn ang="0">
                    <a:pos x="6" y="0"/>
                  </a:cxn>
                  <a:cxn ang="0">
                    <a:pos x="0" y="4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4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73" name="Freeform 45"/>
              <p:cNvSpPr/>
              <p:nvPr/>
            </p:nvSpPr>
            <p:spPr>
              <a:xfrm>
                <a:off x="2240" y="1934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4"/>
                  </a:cxn>
                  <a:cxn ang="0">
                    <a:pos x="6" y="48"/>
                  </a:cxn>
                  <a:cxn ang="0">
                    <a:pos x="12" y="44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4"/>
                  </a:cxn>
                </a:cxnLst>
                <a:rect l="txL" t="txT" r="txR" b="txB"/>
                <a:pathLst>
                  <a:path w="12" h="48">
                    <a:moveTo>
                      <a:pt x="0" y="44"/>
                    </a:moveTo>
                    <a:lnTo>
                      <a:pt x="6" y="48"/>
                    </a:lnTo>
                    <a:lnTo>
                      <a:pt x="12" y="44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74" name="Freeform 46"/>
              <p:cNvSpPr/>
              <p:nvPr/>
            </p:nvSpPr>
            <p:spPr>
              <a:xfrm>
                <a:off x="2240" y="1867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75" name="Freeform 47"/>
              <p:cNvSpPr/>
              <p:nvPr/>
            </p:nvSpPr>
            <p:spPr>
              <a:xfrm>
                <a:off x="2240" y="1800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76" name="Freeform 48"/>
              <p:cNvSpPr/>
              <p:nvPr/>
            </p:nvSpPr>
            <p:spPr>
              <a:xfrm>
                <a:off x="2240" y="1733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0715" name="Group 49"/>
            <p:cNvGrpSpPr/>
            <p:nvPr/>
          </p:nvGrpSpPr>
          <p:grpSpPr>
            <a:xfrm>
              <a:off x="1903" y="1958"/>
              <a:ext cx="79" cy="149"/>
              <a:chOff x="1903" y="2246"/>
              <a:chExt cx="79" cy="149"/>
            </a:xfrm>
          </p:grpSpPr>
          <p:sp>
            <p:nvSpPr>
              <p:cNvPr id="370869" name="Freeform 50"/>
              <p:cNvSpPr/>
              <p:nvPr/>
            </p:nvSpPr>
            <p:spPr>
              <a:xfrm>
                <a:off x="1903" y="2246"/>
                <a:ext cx="30" cy="44"/>
              </a:xfrm>
              <a:custGeom>
                <a:avLst/>
                <a:gdLst>
                  <a:gd name="txL" fmla="*/ 0 w 30"/>
                  <a:gd name="txT" fmla="*/ 0 h 44"/>
                  <a:gd name="txR" fmla="*/ 30 w 30"/>
                  <a:gd name="txB" fmla="*/ 44 h 44"/>
                </a:gdLst>
                <a:ahLst/>
                <a:cxnLst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18" y="39"/>
                  </a:cxn>
                  <a:cxn ang="0">
                    <a:pos x="18" y="44"/>
                  </a:cxn>
                  <a:cxn ang="0">
                    <a:pos x="24" y="44"/>
                  </a:cxn>
                  <a:cxn ang="0">
                    <a:pos x="30" y="39"/>
                  </a:cxn>
                  <a:cxn ang="0">
                    <a:pos x="12" y="5"/>
                  </a:cxn>
                </a:cxnLst>
                <a:rect l="txL" t="txT" r="txR" b="txB"/>
                <a:pathLst>
                  <a:path w="30" h="44">
                    <a:moveTo>
                      <a:pt x="12" y="5"/>
                    </a:moveTo>
                    <a:lnTo>
                      <a:pt x="6" y="0"/>
                    </a:lnTo>
                    <a:lnTo>
                      <a:pt x="0" y="5"/>
                    </a:lnTo>
                    <a:lnTo>
                      <a:pt x="18" y="39"/>
                    </a:lnTo>
                    <a:lnTo>
                      <a:pt x="18" y="44"/>
                    </a:lnTo>
                    <a:lnTo>
                      <a:pt x="24" y="44"/>
                    </a:lnTo>
                    <a:lnTo>
                      <a:pt x="30" y="39"/>
                    </a:lnTo>
                    <a:lnTo>
                      <a:pt x="12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70" name="Freeform 51"/>
              <p:cNvSpPr/>
              <p:nvPr/>
            </p:nvSpPr>
            <p:spPr>
              <a:xfrm>
                <a:off x="1933" y="2309"/>
                <a:ext cx="30" cy="48"/>
              </a:xfrm>
              <a:custGeom>
                <a:avLst/>
                <a:gdLst>
                  <a:gd name="txL" fmla="*/ 0 w 30"/>
                  <a:gd name="txT" fmla="*/ 0 h 48"/>
                  <a:gd name="txR" fmla="*/ 30 w 30"/>
                  <a:gd name="txB" fmla="*/ 48 h 48"/>
                </a:gdLst>
                <a:ahLst/>
                <a:cxnLst>
                  <a:cxn ang="0">
                    <a:pos x="12" y="5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5"/>
                  </a:cxn>
                  <a:cxn ang="0">
                    <a:pos x="18" y="43"/>
                  </a:cxn>
                  <a:cxn ang="0">
                    <a:pos x="18" y="48"/>
                  </a:cxn>
                  <a:cxn ang="0">
                    <a:pos x="24" y="48"/>
                  </a:cxn>
                  <a:cxn ang="0">
                    <a:pos x="30" y="43"/>
                  </a:cxn>
                  <a:cxn ang="0">
                    <a:pos x="12" y="5"/>
                  </a:cxn>
                </a:cxnLst>
                <a:rect l="txL" t="txT" r="txR" b="txB"/>
                <a:pathLst>
                  <a:path w="30" h="48">
                    <a:moveTo>
                      <a:pt x="12" y="5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8" y="43"/>
                    </a:lnTo>
                    <a:lnTo>
                      <a:pt x="18" y="48"/>
                    </a:lnTo>
                    <a:lnTo>
                      <a:pt x="24" y="48"/>
                    </a:lnTo>
                    <a:lnTo>
                      <a:pt x="30" y="43"/>
                    </a:lnTo>
                    <a:lnTo>
                      <a:pt x="12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71" name="Freeform 52"/>
              <p:cNvSpPr/>
              <p:nvPr/>
            </p:nvSpPr>
            <p:spPr>
              <a:xfrm>
                <a:off x="1963" y="2371"/>
                <a:ext cx="19" cy="24"/>
              </a:xfrm>
              <a:custGeom>
                <a:avLst/>
                <a:gdLst>
                  <a:gd name="txL" fmla="*/ 0 w 19"/>
                  <a:gd name="txT" fmla="*/ 0 h 24"/>
                  <a:gd name="txR" fmla="*/ 19 w 19"/>
                  <a:gd name="txB" fmla="*/ 24 h 24"/>
                </a:gdLst>
                <a:ahLst/>
                <a:cxnLst>
                  <a:cxn ang="0">
                    <a:pos x="13" y="5"/>
                  </a:cxn>
                  <a:cxn ang="0">
                    <a:pos x="7" y="0"/>
                  </a:cxn>
                  <a:cxn ang="0">
                    <a:pos x="0" y="0"/>
                  </a:cxn>
                  <a:cxn ang="0">
                    <a:pos x="0" y="5"/>
                  </a:cxn>
                  <a:cxn ang="0">
                    <a:pos x="7" y="19"/>
                  </a:cxn>
                  <a:cxn ang="0">
                    <a:pos x="13" y="24"/>
                  </a:cxn>
                  <a:cxn ang="0">
                    <a:pos x="19" y="19"/>
                  </a:cxn>
                  <a:cxn ang="0">
                    <a:pos x="13" y="5"/>
                  </a:cxn>
                </a:cxnLst>
                <a:rect l="txL" t="txT" r="txR" b="txB"/>
                <a:pathLst>
                  <a:path w="19" h="24">
                    <a:moveTo>
                      <a:pt x="13" y="5"/>
                    </a:move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7" y="19"/>
                    </a:lnTo>
                    <a:lnTo>
                      <a:pt x="13" y="24"/>
                    </a:lnTo>
                    <a:lnTo>
                      <a:pt x="19" y="19"/>
                    </a:lnTo>
                    <a:lnTo>
                      <a:pt x="13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0716" name="Group 53"/>
            <p:cNvGrpSpPr/>
            <p:nvPr/>
          </p:nvGrpSpPr>
          <p:grpSpPr>
            <a:xfrm>
              <a:off x="1453" y="1426"/>
              <a:ext cx="799" cy="9"/>
              <a:chOff x="1453" y="1714"/>
              <a:chExt cx="799" cy="9"/>
            </a:xfrm>
          </p:grpSpPr>
          <p:sp>
            <p:nvSpPr>
              <p:cNvPr id="370859" name="Freeform 54"/>
              <p:cNvSpPr/>
              <p:nvPr/>
            </p:nvSpPr>
            <p:spPr>
              <a:xfrm>
                <a:off x="1453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12" y="0"/>
                  </a:cxn>
                  <a:cxn ang="0">
                    <a:pos x="6" y="0"/>
                  </a:cxn>
                  <a:cxn ang="0">
                    <a:pos x="0" y="4"/>
                  </a:cxn>
                  <a:cxn ang="0">
                    <a:pos x="6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12" y="0"/>
                  </a:cxn>
                </a:cxnLst>
                <a:rect l="txL" t="txT" r="txR" b="txB"/>
                <a:pathLst>
                  <a:path w="60" h="9">
                    <a:moveTo>
                      <a:pt x="12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6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60" name="Freeform 55"/>
              <p:cNvSpPr/>
              <p:nvPr/>
            </p:nvSpPr>
            <p:spPr>
              <a:xfrm>
                <a:off x="1537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61" name="Freeform 56"/>
              <p:cNvSpPr/>
              <p:nvPr/>
            </p:nvSpPr>
            <p:spPr>
              <a:xfrm>
                <a:off x="1621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62" name="Freeform 57"/>
              <p:cNvSpPr/>
              <p:nvPr/>
            </p:nvSpPr>
            <p:spPr>
              <a:xfrm>
                <a:off x="1705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63" name="Freeform 58"/>
              <p:cNvSpPr/>
              <p:nvPr/>
            </p:nvSpPr>
            <p:spPr>
              <a:xfrm>
                <a:off x="1789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64" name="Freeform 59"/>
              <p:cNvSpPr/>
              <p:nvPr/>
            </p:nvSpPr>
            <p:spPr>
              <a:xfrm>
                <a:off x="1873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65" name="Freeform 60"/>
              <p:cNvSpPr/>
              <p:nvPr/>
            </p:nvSpPr>
            <p:spPr>
              <a:xfrm>
                <a:off x="1957" y="1714"/>
                <a:ext cx="61" cy="9"/>
              </a:xfrm>
              <a:custGeom>
                <a:avLst/>
                <a:gdLst>
                  <a:gd name="txL" fmla="*/ 0 w 61"/>
                  <a:gd name="txT" fmla="*/ 0 h 9"/>
                  <a:gd name="txR" fmla="*/ 61 w 61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9" y="9"/>
                  </a:cxn>
                  <a:cxn ang="0">
                    <a:pos x="55" y="9"/>
                  </a:cxn>
                  <a:cxn ang="0">
                    <a:pos x="61" y="4"/>
                  </a:cxn>
                  <a:cxn ang="0">
                    <a:pos x="55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1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9" y="9"/>
                    </a:lnTo>
                    <a:lnTo>
                      <a:pt x="55" y="9"/>
                    </a:lnTo>
                    <a:lnTo>
                      <a:pt x="61" y="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66" name="Freeform 61"/>
              <p:cNvSpPr/>
              <p:nvPr/>
            </p:nvSpPr>
            <p:spPr>
              <a:xfrm>
                <a:off x="2042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67" name="Freeform 62"/>
              <p:cNvSpPr/>
              <p:nvPr/>
            </p:nvSpPr>
            <p:spPr>
              <a:xfrm>
                <a:off x="2126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68" name="Freeform 63"/>
              <p:cNvSpPr/>
              <p:nvPr/>
            </p:nvSpPr>
            <p:spPr>
              <a:xfrm>
                <a:off x="2210" y="1714"/>
                <a:ext cx="42" cy="9"/>
              </a:xfrm>
              <a:custGeom>
                <a:avLst/>
                <a:gdLst>
                  <a:gd name="txL" fmla="*/ 0 w 42"/>
                  <a:gd name="txT" fmla="*/ 0 h 9"/>
                  <a:gd name="txR" fmla="*/ 42 w 42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36" y="9"/>
                  </a:cxn>
                  <a:cxn ang="0">
                    <a:pos x="42" y="4"/>
                  </a:cxn>
                  <a:cxn ang="0">
                    <a:pos x="42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42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36" y="9"/>
                    </a:lnTo>
                    <a:lnTo>
                      <a:pt x="42" y="4"/>
                    </a:lnTo>
                    <a:lnTo>
                      <a:pt x="42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0717" name="Line 64"/>
            <p:cNvSpPr/>
            <p:nvPr/>
          </p:nvSpPr>
          <p:spPr>
            <a:xfrm>
              <a:off x="1525" y="1493"/>
              <a:ext cx="65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0718" name="Group 65"/>
            <p:cNvGrpSpPr/>
            <p:nvPr/>
          </p:nvGrpSpPr>
          <p:grpSpPr>
            <a:xfrm>
              <a:off x="1729" y="2083"/>
              <a:ext cx="253" cy="63"/>
              <a:chOff x="1729" y="2371"/>
              <a:chExt cx="253" cy="63"/>
            </a:xfrm>
          </p:grpSpPr>
          <p:sp>
            <p:nvSpPr>
              <p:cNvPr id="370855" name="Freeform 66"/>
              <p:cNvSpPr/>
              <p:nvPr/>
            </p:nvSpPr>
            <p:spPr>
              <a:xfrm>
                <a:off x="1921" y="2400"/>
                <a:ext cx="61" cy="10"/>
              </a:xfrm>
              <a:custGeom>
                <a:avLst/>
                <a:gdLst>
                  <a:gd name="txL" fmla="*/ 0 w 61"/>
                  <a:gd name="txT" fmla="*/ 0 h 10"/>
                  <a:gd name="txR" fmla="*/ 61 w 61"/>
                  <a:gd name="txB" fmla="*/ 10 h 10"/>
                </a:gdLst>
                <a:ahLst/>
                <a:cxnLst>
                  <a:cxn ang="0">
                    <a:pos x="61" y="10"/>
                  </a:cxn>
                  <a:cxn ang="0">
                    <a:pos x="61" y="5"/>
                  </a:cxn>
                  <a:cxn ang="0">
                    <a:pos x="55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12" y="10"/>
                  </a:cxn>
                  <a:cxn ang="0">
                    <a:pos x="61" y="10"/>
                  </a:cxn>
                </a:cxnLst>
                <a:rect l="txL" t="txT" r="txR" b="txB"/>
                <a:pathLst>
                  <a:path w="61" h="10">
                    <a:moveTo>
                      <a:pt x="61" y="10"/>
                    </a:moveTo>
                    <a:lnTo>
                      <a:pt x="61" y="5"/>
                    </a:lnTo>
                    <a:lnTo>
                      <a:pt x="55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12" y="10"/>
                    </a:lnTo>
                    <a:lnTo>
                      <a:pt x="61" y="1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56" name="Freeform 67"/>
              <p:cNvSpPr/>
              <p:nvPr/>
            </p:nvSpPr>
            <p:spPr>
              <a:xfrm>
                <a:off x="1837" y="2400"/>
                <a:ext cx="60" cy="10"/>
              </a:xfrm>
              <a:custGeom>
                <a:avLst/>
                <a:gdLst>
                  <a:gd name="txL" fmla="*/ 0 w 60"/>
                  <a:gd name="txT" fmla="*/ 0 h 10"/>
                  <a:gd name="txR" fmla="*/ 60 w 60"/>
                  <a:gd name="txB" fmla="*/ 10 h 10"/>
                </a:gdLst>
                <a:ahLst/>
                <a:cxnLst>
                  <a:cxn ang="0">
                    <a:pos x="60" y="10"/>
                  </a:cxn>
                  <a:cxn ang="0">
                    <a:pos x="60" y="5"/>
                  </a:cxn>
                  <a:cxn ang="0">
                    <a:pos x="54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12" y="10"/>
                  </a:cxn>
                  <a:cxn ang="0">
                    <a:pos x="60" y="10"/>
                  </a:cxn>
                </a:cxnLst>
                <a:rect l="txL" t="txT" r="txR" b="txB"/>
                <a:pathLst>
                  <a:path w="60" h="10">
                    <a:moveTo>
                      <a:pt x="60" y="10"/>
                    </a:moveTo>
                    <a:lnTo>
                      <a:pt x="60" y="5"/>
                    </a:lnTo>
                    <a:lnTo>
                      <a:pt x="54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12" y="10"/>
                    </a:lnTo>
                    <a:lnTo>
                      <a:pt x="60" y="1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57" name="Freeform 68"/>
              <p:cNvSpPr/>
              <p:nvPr/>
            </p:nvSpPr>
            <p:spPr>
              <a:xfrm>
                <a:off x="1753" y="2400"/>
                <a:ext cx="60" cy="10"/>
              </a:xfrm>
              <a:custGeom>
                <a:avLst/>
                <a:gdLst>
                  <a:gd name="txL" fmla="*/ 0 w 60"/>
                  <a:gd name="txT" fmla="*/ 0 h 10"/>
                  <a:gd name="txR" fmla="*/ 60 w 60"/>
                  <a:gd name="txB" fmla="*/ 10 h 10"/>
                </a:gdLst>
                <a:ahLst/>
                <a:cxnLst>
                  <a:cxn ang="0">
                    <a:pos x="60" y="10"/>
                  </a:cxn>
                  <a:cxn ang="0">
                    <a:pos x="60" y="5"/>
                  </a:cxn>
                  <a:cxn ang="0">
                    <a:pos x="54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12" y="10"/>
                  </a:cxn>
                  <a:cxn ang="0">
                    <a:pos x="60" y="10"/>
                  </a:cxn>
                </a:cxnLst>
                <a:rect l="txL" t="txT" r="txR" b="txB"/>
                <a:pathLst>
                  <a:path w="60" h="10">
                    <a:moveTo>
                      <a:pt x="60" y="10"/>
                    </a:moveTo>
                    <a:lnTo>
                      <a:pt x="60" y="5"/>
                    </a:lnTo>
                    <a:lnTo>
                      <a:pt x="54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12" y="10"/>
                    </a:lnTo>
                    <a:lnTo>
                      <a:pt x="60" y="1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58" name="Freeform 69"/>
              <p:cNvSpPr/>
              <p:nvPr/>
            </p:nvSpPr>
            <p:spPr>
              <a:xfrm>
                <a:off x="1729" y="2371"/>
                <a:ext cx="72" cy="63"/>
              </a:xfrm>
              <a:custGeom>
                <a:avLst/>
                <a:gdLst>
                  <a:gd name="txL" fmla="*/ 0 w 72"/>
                  <a:gd name="txT" fmla="*/ 0 h 63"/>
                  <a:gd name="txR" fmla="*/ 72 w 72"/>
                  <a:gd name="txB" fmla="*/ 63 h 63"/>
                </a:gdLst>
                <a:ahLst/>
                <a:cxnLst>
                  <a:cxn ang="0">
                    <a:pos x="72" y="0"/>
                  </a:cxn>
                  <a:cxn ang="0">
                    <a:pos x="0" y="34"/>
                  </a:cxn>
                  <a:cxn ang="0">
                    <a:pos x="72" y="63"/>
                  </a:cxn>
                </a:cxnLst>
                <a:rect l="txL" t="txT" r="txR" b="txB"/>
                <a:pathLst>
                  <a:path w="72" h="63">
                    <a:moveTo>
                      <a:pt x="72" y="0"/>
                    </a:moveTo>
                    <a:lnTo>
                      <a:pt x="0" y="34"/>
                    </a:lnTo>
                    <a:lnTo>
                      <a:pt x="72" y="63"/>
                    </a:lnTo>
                  </a:path>
                </a:pathLst>
              </a:custGeom>
              <a:solidFill>
                <a:schemeClr val="folHlink"/>
              </a:solidFill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0719" name="Line 70"/>
            <p:cNvSpPr/>
            <p:nvPr/>
          </p:nvSpPr>
          <p:spPr>
            <a:xfrm>
              <a:off x="1591" y="2074"/>
              <a:ext cx="1" cy="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20" name="Line 71"/>
            <p:cNvSpPr/>
            <p:nvPr/>
          </p:nvSpPr>
          <p:spPr>
            <a:xfrm>
              <a:off x="2090" y="2074"/>
              <a:ext cx="1" cy="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21" name="Oval 72"/>
            <p:cNvSpPr/>
            <p:nvPr/>
          </p:nvSpPr>
          <p:spPr>
            <a:xfrm>
              <a:off x="1639" y="1075"/>
              <a:ext cx="48" cy="39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22" name="Freeform 73"/>
            <p:cNvSpPr/>
            <p:nvPr/>
          </p:nvSpPr>
          <p:spPr>
            <a:xfrm>
              <a:off x="1663" y="1262"/>
              <a:ext cx="42" cy="264"/>
            </a:xfrm>
            <a:custGeom>
              <a:avLst/>
              <a:gdLst>
                <a:gd name="txL" fmla="*/ 0 w 42"/>
                <a:gd name="txT" fmla="*/ 0 h 264"/>
                <a:gd name="txR" fmla="*/ 42 w 42"/>
                <a:gd name="txB" fmla="*/ 264 h 264"/>
              </a:gdLst>
              <a:ahLst/>
              <a:cxnLst>
                <a:cxn ang="0">
                  <a:pos x="0" y="0"/>
                </a:cxn>
                <a:cxn ang="0">
                  <a:pos x="0" y="255"/>
                </a:cxn>
                <a:cxn ang="0">
                  <a:pos x="18" y="264"/>
                </a:cxn>
                <a:cxn ang="0">
                  <a:pos x="42" y="255"/>
                </a:cxn>
                <a:cxn ang="0">
                  <a:pos x="42" y="240"/>
                </a:cxn>
              </a:cxnLst>
              <a:rect l="txL" t="txT" r="txR" b="txB"/>
              <a:pathLst>
                <a:path w="42" h="264">
                  <a:moveTo>
                    <a:pt x="0" y="0"/>
                  </a:moveTo>
                  <a:lnTo>
                    <a:pt x="0" y="255"/>
                  </a:lnTo>
                  <a:lnTo>
                    <a:pt x="18" y="264"/>
                  </a:lnTo>
                  <a:lnTo>
                    <a:pt x="42" y="255"/>
                  </a:lnTo>
                  <a:lnTo>
                    <a:pt x="42" y="24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23" name="Freeform 74"/>
            <p:cNvSpPr/>
            <p:nvPr/>
          </p:nvSpPr>
          <p:spPr>
            <a:xfrm>
              <a:off x="1753" y="1368"/>
              <a:ext cx="108" cy="158"/>
            </a:xfrm>
            <a:custGeom>
              <a:avLst/>
              <a:gdLst>
                <a:gd name="txL" fmla="*/ 0 w 108"/>
                <a:gd name="txT" fmla="*/ 0 h 158"/>
                <a:gd name="txR" fmla="*/ 108 w 108"/>
                <a:gd name="txB" fmla="*/ 158 h 158"/>
              </a:gdLst>
              <a:ahLst/>
              <a:cxnLst>
                <a:cxn ang="0">
                  <a:pos x="0" y="14"/>
                </a:cxn>
                <a:cxn ang="0">
                  <a:pos x="18" y="0"/>
                </a:cxn>
                <a:cxn ang="0">
                  <a:pos x="42" y="0"/>
                </a:cxn>
                <a:cxn ang="0">
                  <a:pos x="66" y="14"/>
                </a:cxn>
                <a:cxn ang="0">
                  <a:pos x="66" y="34"/>
                </a:cxn>
                <a:cxn ang="0">
                  <a:pos x="66" y="110"/>
                </a:cxn>
                <a:cxn ang="0">
                  <a:pos x="66" y="139"/>
                </a:cxn>
                <a:cxn ang="0">
                  <a:pos x="84" y="158"/>
                </a:cxn>
                <a:cxn ang="0">
                  <a:pos x="108" y="139"/>
                </a:cxn>
                <a:cxn ang="0">
                  <a:pos x="108" y="125"/>
                </a:cxn>
              </a:cxnLst>
              <a:rect l="txL" t="txT" r="txR" b="txB"/>
              <a:pathLst>
                <a:path w="108" h="158">
                  <a:moveTo>
                    <a:pt x="0" y="14"/>
                  </a:moveTo>
                  <a:lnTo>
                    <a:pt x="18" y="0"/>
                  </a:lnTo>
                  <a:lnTo>
                    <a:pt x="42" y="0"/>
                  </a:lnTo>
                  <a:lnTo>
                    <a:pt x="66" y="14"/>
                  </a:lnTo>
                  <a:lnTo>
                    <a:pt x="66" y="34"/>
                  </a:lnTo>
                  <a:lnTo>
                    <a:pt x="66" y="110"/>
                  </a:lnTo>
                  <a:lnTo>
                    <a:pt x="66" y="139"/>
                  </a:lnTo>
                  <a:lnTo>
                    <a:pt x="84" y="158"/>
                  </a:lnTo>
                  <a:lnTo>
                    <a:pt x="108" y="139"/>
                  </a:lnTo>
                  <a:lnTo>
                    <a:pt x="108" y="12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24" name="Freeform 75"/>
            <p:cNvSpPr/>
            <p:nvPr/>
          </p:nvSpPr>
          <p:spPr>
            <a:xfrm>
              <a:off x="1885" y="1368"/>
              <a:ext cx="115" cy="158"/>
            </a:xfrm>
            <a:custGeom>
              <a:avLst/>
              <a:gdLst>
                <a:gd name="txL" fmla="*/ 0 w 115"/>
                <a:gd name="txT" fmla="*/ 0 h 158"/>
                <a:gd name="txR" fmla="*/ 115 w 115"/>
                <a:gd name="txB" fmla="*/ 158 h 158"/>
              </a:gdLst>
              <a:ahLst/>
              <a:cxnLst>
                <a:cxn ang="0">
                  <a:pos x="0" y="14"/>
                </a:cxn>
                <a:cxn ang="0">
                  <a:pos x="24" y="0"/>
                </a:cxn>
                <a:cxn ang="0">
                  <a:pos x="42" y="0"/>
                </a:cxn>
                <a:cxn ang="0">
                  <a:pos x="66" y="14"/>
                </a:cxn>
                <a:cxn ang="0">
                  <a:pos x="66" y="34"/>
                </a:cxn>
                <a:cxn ang="0">
                  <a:pos x="66" y="110"/>
                </a:cxn>
                <a:cxn ang="0">
                  <a:pos x="66" y="139"/>
                </a:cxn>
                <a:cxn ang="0">
                  <a:pos x="91" y="158"/>
                </a:cxn>
                <a:cxn ang="0">
                  <a:pos x="115" y="139"/>
                </a:cxn>
                <a:cxn ang="0">
                  <a:pos x="115" y="125"/>
                </a:cxn>
              </a:cxnLst>
              <a:rect l="txL" t="txT" r="txR" b="txB"/>
              <a:pathLst>
                <a:path w="115" h="158">
                  <a:moveTo>
                    <a:pt x="0" y="14"/>
                  </a:moveTo>
                  <a:lnTo>
                    <a:pt x="24" y="0"/>
                  </a:lnTo>
                  <a:lnTo>
                    <a:pt x="42" y="0"/>
                  </a:lnTo>
                  <a:lnTo>
                    <a:pt x="66" y="14"/>
                  </a:lnTo>
                  <a:lnTo>
                    <a:pt x="66" y="34"/>
                  </a:lnTo>
                  <a:lnTo>
                    <a:pt x="66" y="110"/>
                  </a:lnTo>
                  <a:lnTo>
                    <a:pt x="66" y="139"/>
                  </a:lnTo>
                  <a:lnTo>
                    <a:pt x="91" y="158"/>
                  </a:lnTo>
                  <a:lnTo>
                    <a:pt x="115" y="139"/>
                  </a:lnTo>
                  <a:lnTo>
                    <a:pt x="115" y="12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25" name="Line 76"/>
            <p:cNvSpPr/>
            <p:nvPr/>
          </p:nvSpPr>
          <p:spPr>
            <a:xfrm flipV="1">
              <a:off x="2018" y="1104"/>
              <a:ext cx="6" cy="27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26" name="Oval 77"/>
            <p:cNvSpPr/>
            <p:nvPr/>
          </p:nvSpPr>
          <p:spPr>
            <a:xfrm>
              <a:off x="2000" y="1075"/>
              <a:ext cx="48" cy="39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27" name="Rectangle 78"/>
            <p:cNvSpPr/>
            <p:nvPr/>
          </p:nvSpPr>
          <p:spPr>
            <a:xfrm>
              <a:off x="1657" y="816"/>
              <a:ext cx="432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读线圈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28" name="Rectangle 79"/>
            <p:cNvSpPr/>
            <p:nvPr/>
          </p:nvSpPr>
          <p:spPr>
            <a:xfrm>
              <a:off x="2006" y="1939"/>
              <a:ext cx="8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S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29" name="Line 80"/>
            <p:cNvSpPr/>
            <p:nvPr/>
          </p:nvSpPr>
          <p:spPr>
            <a:xfrm>
              <a:off x="3352" y="1387"/>
              <a:ext cx="1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30" name="Line 81"/>
            <p:cNvSpPr/>
            <p:nvPr/>
          </p:nvSpPr>
          <p:spPr>
            <a:xfrm>
              <a:off x="3352" y="1382"/>
              <a:ext cx="967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31" name="Line 82"/>
            <p:cNvSpPr/>
            <p:nvPr/>
          </p:nvSpPr>
          <p:spPr>
            <a:xfrm>
              <a:off x="3033" y="2069"/>
              <a:ext cx="1827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0732" name="Group 83"/>
            <p:cNvGrpSpPr/>
            <p:nvPr/>
          </p:nvGrpSpPr>
          <p:grpSpPr>
            <a:xfrm>
              <a:off x="2991" y="2150"/>
              <a:ext cx="1917" cy="96"/>
              <a:chOff x="2991" y="2438"/>
              <a:chExt cx="1917" cy="96"/>
            </a:xfrm>
          </p:grpSpPr>
          <p:sp>
            <p:nvSpPr>
              <p:cNvPr id="370853" name="Rectangle 84"/>
              <p:cNvSpPr/>
              <p:nvPr/>
            </p:nvSpPr>
            <p:spPr>
              <a:xfrm>
                <a:off x="2991" y="2438"/>
                <a:ext cx="1911" cy="92"/>
              </a:xfrm>
              <a:prstGeom prst="rect">
                <a:avLst/>
              </a:prstGeom>
              <a:blipFill rotWithShape="0">
                <a:blip r:embed="rId2"/>
              </a:blip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54" name="Rectangle 85"/>
              <p:cNvSpPr/>
              <p:nvPr/>
            </p:nvSpPr>
            <p:spPr>
              <a:xfrm>
                <a:off x="2991" y="2438"/>
                <a:ext cx="1917" cy="96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0733" name="Line 86"/>
            <p:cNvSpPr/>
            <p:nvPr/>
          </p:nvSpPr>
          <p:spPr>
            <a:xfrm>
              <a:off x="3352" y="1824"/>
              <a:ext cx="450" cy="1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34" name="Line 87"/>
            <p:cNvSpPr/>
            <p:nvPr/>
          </p:nvSpPr>
          <p:spPr>
            <a:xfrm flipV="1">
              <a:off x="3802" y="1901"/>
              <a:ext cx="1" cy="7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35" name="Line 88"/>
            <p:cNvSpPr/>
            <p:nvPr/>
          </p:nvSpPr>
          <p:spPr>
            <a:xfrm flipH="1" flipV="1">
              <a:off x="3508" y="1714"/>
              <a:ext cx="294" cy="1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36" name="Line 89"/>
            <p:cNvSpPr/>
            <p:nvPr/>
          </p:nvSpPr>
          <p:spPr>
            <a:xfrm flipV="1">
              <a:off x="3508" y="1493"/>
              <a:ext cx="1" cy="22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0737" name="Group 90"/>
            <p:cNvGrpSpPr/>
            <p:nvPr/>
          </p:nvGrpSpPr>
          <p:grpSpPr>
            <a:xfrm>
              <a:off x="3436" y="1752"/>
              <a:ext cx="372" cy="216"/>
              <a:chOff x="3436" y="2040"/>
              <a:chExt cx="372" cy="216"/>
            </a:xfrm>
          </p:grpSpPr>
          <p:sp>
            <p:nvSpPr>
              <p:cNvPr id="370847" name="Freeform 91"/>
              <p:cNvSpPr/>
              <p:nvPr/>
            </p:nvSpPr>
            <p:spPr>
              <a:xfrm>
                <a:off x="3754" y="2222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48" y="34"/>
                  </a:cxn>
                  <a:cxn ang="0">
                    <a:pos x="48" y="34"/>
                  </a:cxn>
                  <a:cxn ang="0">
                    <a:pos x="54" y="29"/>
                  </a:cxn>
                  <a:cxn ang="0">
                    <a:pos x="54" y="24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48" y="34"/>
                  </a:cxn>
                </a:cxnLst>
                <a:rect l="txL" t="txT" r="txR" b="txB"/>
                <a:pathLst>
                  <a:path w="54" h="34">
                    <a:moveTo>
                      <a:pt x="48" y="34"/>
                    </a:moveTo>
                    <a:lnTo>
                      <a:pt x="48" y="34"/>
                    </a:lnTo>
                    <a:lnTo>
                      <a:pt x="54" y="29"/>
                    </a:lnTo>
                    <a:lnTo>
                      <a:pt x="54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48" y="3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48" name="Freeform 92"/>
              <p:cNvSpPr/>
              <p:nvPr/>
            </p:nvSpPr>
            <p:spPr>
              <a:xfrm>
                <a:off x="3688" y="2184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42" y="34"/>
                  </a:cxn>
                  <a:cxn ang="0">
                    <a:pos x="48" y="34"/>
                  </a:cxn>
                  <a:cxn ang="0">
                    <a:pos x="54" y="29"/>
                  </a:cxn>
                  <a:cxn ang="0">
                    <a:pos x="48" y="24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42" y="34"/>
                  </a:cxn>
                </a:cxnLst>
                <a:rect l="txL" t="txT" r="txR" b="txB"/>
                <a:pathLst>
                  <a:path w="54" h="34">
                    <a:moveTo>
                      <a:pt x="42" y="34"/>
                    </a:moveTo>
                    <a:lnTo>
                      <a:pt x="48" y="34"/>
                    </a:lnTo>
                    <a:lnTo>
                      <a:pt x="54" y="29"/>
                    </a:lnTo>
                    <a:lnTo>
                      <a:pt x="48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42" y="3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49" name="Freeform 93"/>
              <p:cNvSpPr/>
              <p:nvPr/>
            </p:nvSpPr>
            <p:spPr>
              <a:xfrm>
                <a:off x="3622" y="2146"/>
                <a:ext cx="48" cy="33"/>
              </a:xfrm>
              <a:custGeom>
                <a:avLst/>
                <a:gdLst>
                  <a:gd name="txL" fmla="*/ 0 w 48"/>
                  <a:gd name="txT" fmla="*/ 0 h 33"/>
                  <a:gd name="txR" fmla="*/ 48 w 48"/>
                  <a:gd name="txB" fmla="*/ 33 h 33"/>
                </a:gdLst>
                <a:ahLst/>
                <a:cxnLst>
                  <a:cxn ang="0">
                    <a:pos x="42" y="33"/>
                  </a:cxn>
                  <a:cxn ang="0">
                    <a:pos x="48" y="33"/>
                  </a:cxn>
                  <a:cxn ang="0">
                    <a:pos x="48" y="28"/>
                  </a:cxn>
                  <a:cxn ang="0">
                    <a:pos x="48" y="24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2" y="33"/>
                  </a:cxn>
                </a:cxnLst>
                <a:rect l="txL" t="txT" r="txR" b="txB"/>
                <a:pathLst>
                  <a:path w="48" h="33">
                    <a:moveTo>
                      <a:pt x="42" y="33"/>
                    </a:moveTo>
                    <a:lnTo>
                      <a:pt x="48" y="33"/>
                    </a:lnTo>
                    <a:lnTo>
                      <a:pt x="48" y="28"/>
                    </a:lnTo>
                    <a:lnTo>
                      <a:pt x="48" y="24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2" y="3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50" name="Freeform 94"/>
              <p:cNvSpPr/>
              <p:nvPr/>
            </p:nvSpPr>
            <p:spPr>
              <a:xfrm>
                <a:off x="3550" y="2107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42" y="34"/>
                  </a:cxn>
                  <a:cxn ang="0">
                    <a:pos x="48" y="34"/>
                  </a:cxn>
                  <a:cxn ang="0">
                    <a:pos x="54" y="29"/>
                  </a:cxn>
                  <a:cxn ang="0">
                    <a:pos x="48" y="24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42" y="34"/>
                  </a:cxn>
                </a:cxnLst>
                <a:rect l="txL" t="txT" r="txR" b="txB"/>
                <a:pathLst>
                  <a:path w="54" h="34">
                    <a:moveTo>
                      <a:pt x="42" y="34"/>
                    </a:moveTo>
                    <a:lnTo>
                      <a:pt x="48" y="34"/>
                    </a:lnTo>
                    <a:lnTo>
                      <a:pt x="54" y="29"/>
                    </a:lnTo>
                    <a:lnTo>
                      <a:pt x="48" y="2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42" y="3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51" name="Freeform 95"/>
              <p:cNvSpPr/>
              <p:nvPr/>
            </p:nvSpPr>
            <p:spPr>
              <a:xfrm>
                <a:off x="3484" y="2069"/>
                <a:ext cx="48" cy="29"/>
              </a:xfrm>
              <a:custGeom>
                <a:avLst/>
                <a:gdLst>
                  <a:gd name="txL" fmla="*/ 0 w 48"/>
                  <a:gd name="txT" fmla="*/ 0 h 29"/>
                  <a:gd name="txR" fmla="*/ 48 w 48"/>
                  <a:gd name="txB" fmla="*/ 29 h 29"/>
                </a:gdLst>
                <a:ahLst/>
                <a:cxnLst>
                  <a:cxn ang="0">
                    <a:pos x="42" y="29"/>
                  </a:cxn>
                  <a:cxn ang="0">
                    <a:pos x="48" y="29"/>
                  </a:cxn>
                  <a:cxn ang="0">
                    <a:pos x="48" y="24"/>
                  </a:cxn>
                  <a:cxn ang="0">
                    <a:pos x="48" y="19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5"/>
                  </a:cxn>
                  <a:cxn ang="0">
                    <a:pos x="0" y="9"/>
                  </a:cxn>
                  <a:cxn ang="0">
                    <a:pos x="42" y="29"/>
                  </a:cxn>
                </a:cxnLst>
                <a:rect l="txL" t="txT" r="txR" b="txB"/>
                <a:pathLst>
                  <a:path w="48" h="29">
                    <a:moveTo>
                      <a:pt x="42" y="29"/>
                    </a:moveTo>
                    <a:lnTo>
                      <a:pt x="48" y="29"/>
                    </a:lnTo>
                    <a:lnTo>
                      <a:pt x="48" y="24"/>
                    </a:lnTo>
                    <a:lnTo>
                      <a:pt x="48" y="19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9"/>
                    </a:lnTo>
                    <a:lnTo>
                      <a:pt x="42" y="2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52" name="Freeform 96"/>
              <p:cNvSpPr/>
              <p:nvPr/>
            </p:nvSpPr>
            <p:spPr>
              <a:xfrm>
                <a:off x="3436" y="2040"/>
                <a:ext cx="30" cy="19"/>
              </a:xfrm>
              <a:custGeom>
                <a:avLst/>
                <a:gdLst>
                  <a:gd name="txL" fmla="*/ 0 w 30"/>
                  <a:gd name="txT" fmla="*/ 0 h 19"/>
                  <a:gd name="txR" fmla="*/ 30 w 30"/>
                  <a:gd name="txB" fmla="*/ 19 h 19"/>
                </a:gdLst>
                <a:ahLst/>
                <a:cxnLst>
                  <a:cxn ang="0">
                    <a:pos x="24" y="19"/>
                  </a:cxn>
                  <a:cxn ang="0">
                    <a:pos x="30" y="19"/>
                  </a:cxn>
                  <a:cxn ang="0">
                    <a:pos x="30" y="14"/>
                  </a:cxn>
                  <a:cxn ang="0">
                    <a:pos x="30" y="10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24" y="19"/>
                  </a:cxn>
                </a:cxnLst>
                <a:rect l="txL" t="txT" r="txR" b="txB"/>
                <a:pathLst>
                  <a:path w="30" h="19">
                    <a:moveTo>
                      <a:pt x="24" y="19"/>
                    </a:moveTo>
                    <a:lnTo>
                      <a:pt x="30" y="19"/>
                    </a:lnTo>
                    <a:lnTo>
                      <a:pt x="30" y="14"/>
                    </a:lnTo>
                    <a:lnTo>
                      <a:pt x="30" y="10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24" y="1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0738" name="Group 97"/>
            <p:cNvGrpSpPr/>
            <p:nvPr/>
          </p:nvGrpSpPr>
          <p:grpSpPr>
            <a:xfrm>
              <a:off x="3436" y="1445"/>
              <a:ext cx="12" cy="317"/>
              <a:chOff x="3436" y="1733"/>
              <a:chExt cx="12" cy="317"/>
            </a:xfrm>
          </p:grpSpPr>
          <p:sp>
            <p:nvSpPr>
              <p:cNvPr id="370842" name="Freeform 98"/>
              <p:cNvSpPr/>
              <p:nvPr/>
            </p:nvSpPr>
            <p:spPr>
              <a:xfrm>
                <a:off x="3436" y="2002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4"/>
                  </a:cxn>
                  <a:cxn ang="0">
                    <a:pos x="6" y="0"/>
                  </a:cxn>
                  <a:cxn ang="0">
                    <a:pos x="0" y="4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4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43" name="Freeform 99"/>
              <p:cNvSpPr/>
              <p:nvPr/>
            </p:nvSpPr>
            <p:spPr>
              <a:xfrm>
                <a:off x="3436" y="1934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4"/>
                  </a:cxn>
                  <a:cxn ang="0">
                    <a:pos x="6" y="48"/>
                  </a:cxn>
                  <a:cxn ang="0">
                    <a:pos x="12" y="44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4"/>
                  </a:cxn>
                </a:cxnLst>
                <a:rect l="txL" t="txT" r="txR" b="txB"/>
                <a:pathLst>
                  <a:path w="12" h="48">
                    <a:moveTo>
                      <a:pt x="0" y="44"/>
                    </a:moveTo>
                    <a:lnTo>
                      <a:pt x="6" y="48"/>
                    </a:lnTo>
                    <a:lnTo>
                      <a:pt x="12" y="44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44" name="Freeform 100"/>
              <p:cNvSpPr/>
              <p:nvPr/>
            </p:nvSpPr>
            <p:spPr>
              <a:xfrm>
                <a:off x="3436" y="1867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45" name="Freeform 101"/>
              <p:cNvSpPr/>
              <p:nvPr/>
            </p:nvSpPr>
            <p:spPr>
              <a:xfrm>
                <a:off x="3436" y="1800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46" name="Freeform 102"/>
              <p:cNvSpPr/>
              <p:nvPr/>
            </p:nvSpPr>
            <p:spPr>
              <a:xfrm>
                <a:off x="3436" y="1733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0739" name="Group 103"/>
            <p:cNvGrpSpPr/>
            <p:nvPr/>
          </p:nvGrpSpPr>
          <p:grpSpPr>
            <a:xfrm>
              <a:off x="3706" y="1958"/>
              <a:ext cx="78" cy="149"/>
              <a:chOff x="3706" y="2246"/>
              <a:chExt cx="78" cy="149"/>
            </a:xfrm>
          </p:grpSpPr>
          <p:sp>
            <p:nvSpPr>
              <p:cNvPr id="370839" name="Freeform 104"/>
              <p:cNvSpPr/>
              <p:nvPr/>
            </p:nvSpPr>
            <p:spPr>
              <a:xfrm>
                <a:off x="3754" y="2246"/>
                <a:ext cx="30" cy="44"/>
              </a:xfrm>
              <a:custGeom>
                <a:avLst/>
                <a:gdLst>
                  <a:gd name="txL" fmla="*/ 0 w 30"/>
                  <a:gd name="txT" fmla="*/ 0 h 44"/>
                  <a:gd name="txR" fmla="*/ 30 w 30"/>
                  <a:gd name="txB" fmla="*/ 44 h 44"/>
                </a:gdLst>
                <a:ahLst/>
                <a:cxnLst>
                  <a:cxn ang="0">
                    <a:pos x="30" y="5"/>
                  </a:cxn>
                  <a:cxn ang="0">
                    <a:pos x="24" y="0"/>
                  </a:cxn>
                  <a:cxn ang="0">
                    <a:pos x="18" y="5"/>
                  </a:cxn>
                  <a:cxn ang="0">
                    <a:pos x="0" y="39"/>
                  </a:cxn>
                  <a:cxn ang="0">
                    <a:pos x="6" y="44"/>
                  </a:cxn>
                  <a:cxn ang="0">
                    <a:pos x="12" y="44"/>
                  </a:cxn>
                  <a:cxn ang="0">
                    <a:pos x="12" y="39"/>
                  </a:cxn>
                  <a:cxn ang="0">
                    <a:pos x="30" y="5"/>
                  </a:cxn>
                </a:cxnLst>
                <a:rect l="txL" t="txT" r="txR" b="txB"/>
                <a:pathLst>
                  <a:path w="30" h="44">
                    <a:moveTo>
                      <a:pt x="30" y="5"/>
                    </a:moveTo>
                    <a:lnTo>
                      <a:pt x="24" y="0"/>
                    </a:lnTo>
                    <a:lnTo>
                      <a:pt x="18" y="5"/>
                    </a:lnTo>
                    <a:lnTo>
                      <a:pt x="0" y="39"/>
                    </a:lnTo>
                    <a:lnTo>
                      <a:pt x="6" y="44"/>
                    </a:lnTo>
                    <a:lnTo>
                      <a:pt x="12" y="44"/>
                    </a:lnTo>
                    <a:lnTo>
                      <a:pt x="12" y="39"/>
                    </a:lnTo>
                    <a:lnTo>
                      <a:pt x="30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40" name="Freeform 105"/>
              <p:cNvSpPr/>
              <p:nvPr/>
            </p:nvSpPr>
            <p:spPr>
              <a:xfrm>
                <a:off x="3724" y="2309"/>
                <a:ext cx="30" cy="48"/>
              </a:xfrm>
              <a:custGeom>
                <a:avLst/>
                <a:gdLst>
                  <a:gd name="txL" fmla="*/ 0 w 30"/>
                  <a:gd name="txT" fmla="*/ 0 h 48"/>
                  <a:gd name="txR" fmla="*/ 30 w 30"/>
                  <a:gd name="txB" fmla="*/ 48 h 48"/>
                </a:gdLst>
                <a:ahLst/>
                <a:cxnLst>
                  <a:cxn ang="0">
                    <a:pos x="30" y="5"/>
                  </a:cxn>
                  <a:cxn ang="0">
                    <a:pos x="30" y="0"/>
                  </a:cxn>
                  <a:cxn ang="0">
                    <a:pos x="24" y="0"/>
                  </a:cxn>
                  <a:cxn ang="0">
                    <a:pos x="18" y="5"/>
                  </a:cxn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8"/>
                  </a:cxn>
                  <a:cxn ang="0">
                    <a:pos x="12" y="43"/>
                  </a:cxn>
                  <a:cxn ang="0">
                    <a:pos x="30" y="5"/>
                  </a:cxn>
                </a:cxnLst>
                <a:rect l="txL" t="txT" r="txR" b="txB"/>
                <a:pathLst>
                  <a:path w="30" h="48">
                    <a:moveTo>
                      <a:pt x="30" y="5"/>
                    </a:moveTo>
                    <a:lnTo>
                      <a:pt x="30" y="0"/>
                    </a:lnTo>
                    <a:lnTo>
                      <a:pt x="24" y="0"/>
                    </a:lnTo>
                    <a:lnTo>
                      <a:pt x="18" y="5"/>
                    </a:lnTo>
                    <a:lnTo>
                      <a:pt x="0" y="43"/>
                    </a:lnTo>
                    <a:lnTo>
                      <a:pt x="6" y="48"/>
                    </a:lnTo>
                    <a:lnTo>
                      <a:pt x="12" y="48"/>
                    </a:lnTo>
                    <a:lnTo>
                      <a:pt x="12" y="43"/>
                    </a:lnTo>
                    <a:lnTo>
                      <a:pt x="30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41" name="Freeform 106"/>
              <p:cNvSpPr/>
              <p:nvPr/>
            </p:nvSpPr>
            <p:spPr>
              <a:xfrm>
                <a:off x="3706" y="2371"/>
                <a:ext cx="18" cy="24"/>
              </a:xfrm>
              <a:custGeom>
                <a:avLst/>
                <a:gdLst>
                  <a:gd name="txL" fmla="*/ 0 w 18"/>
                  <a:gd name="txT" fmla="*/ 0 h 24"/>
                  <a:gd name="txR" fmla="*/ 18 w 18"/>
                  <a:gd name="txB" fmla="*/ 24 h 24"/>
                </a:gdLst>
                <a:ahLst/>
                <a:cxnLst>
                  <a:cxn ang="0">
                    <a:pos x="18" y="5"/>
                  </a:cxn>
                  <a:cxn ang="0">
                    <a:pos x="18" y="0"/>
                  </a:cxn>
                  <a:cxn ang="0">
                    <a:pos x="12" y="0"/>
                  </a:cxn>
                  <a:cxn ang="0">
                    <a:pos x="6" y="5"/>
                  </a:cxn>
                  <a:cxn ang="0">
                    <a:pos x="0" y="19"/>
                  </a:cxn>
                  <a:cxn ang="0">
                    <a:pos x="6" y="24"/>
                  </a:cxn>
                  <a:cxn ang="0">
                    <a:pos x="12" y="19"/>
                  </a:cxn>
                  <a:cxn ang="0">
                    <a:pos x="18" y="5"/>
                  </a:cxn>
                </a:cxnLst>
                <a:rect l="txL" t="txT" r="txR" b="txB"/>
                <a:pathLst>
                  <a:path w="18" h="24">
                    <a:moveTo>
                      <a:pt x="18" y="5"/>
                    </a:moveTo>
                    <a:lnTo>
                      <a:pt x="18" y="0"/>
                    </a:lnTo>
                    <a:lnTo>
                      <a:pt x="12" y="0"/>
                    </a:lnTo>
                    <a:lnTo>
                      <a:pt x="6" y="5"/>
                    </a:lnTo>
                    <a:lnTo>
                      <a:pt x="0" y="19"/>
                    </a:lnTo>
                    <a:lnTo>
                      <a:pt x="6" y="24"/>
                    </a:lnTo>
                    <a:lnTo>
                      <a:pt x="12" y="19"/>
                    </a:lnTo>
                    <a:lnTo>
                      <a:pt x="18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0740" name="Line 107"/>
            <p:cNvSpPr/>
            <p:nvPr/>
          </p:nvSpPr>
          <p:spPr>
            <a:xfrm>
              <a:off x="4319" y="1387"/>
              <a:ext cx="1" cy="4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41" name="Line 108"/>
            <p:cNvSpPr/>
            <p:nvPr/>
          </p:nvSpPr>
          <p:spPr>
            <a:xfrm flipH="1">
              <a:off x="3868" y="1824"/>
              <a:ext cx="451" cy="1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42" name="Line 109"/>
            <p:cNvSpPr/>
            <p:nvPr/>
          </p:nvSpPr>
          <p:spPr>
            <a:xfrm flipV="1">
              <a:off x="3868" y="1901"/>
              <a:ext cx="1" cy="7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43" name="Line 110"/>
            <p:cNvSpPr/>
            <p:nvPr/>
          </p:nvSpPr>
          <p:spPr>
            <a:xfrm flipV="1">
              <a:off x="3868" y="1714"/>
              <a:ext cx="295" cy="18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44" name="Line 111"/>
            <p:cNvSpPr/>
            <p:nvPr/>
          </p:nvSpPr>
          <p:spPr>
            <a:xfrm flipV="1">
              <a:off x="4163" y="1493"/>
              <a:ext cx="1" cy="22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0745" name="Group 112"/>
            <p:cNvGrpSpPr/>
            <p:nvPr/>
          </p:nvGrpSpPr>
          <p:grpSpPr>
            <a:xfrm>
              <a:off x="3862" y="1752"/>
              <a:ext cx="373" cy="216"/>
              <a:chOff x="3862" y="2040"/>
              <a:chExt cx="373" cy="216"/>
            </a:xfrm>
          </p:grpSpPr>
          <p:sp>
            <p:nvSpPr>
              <p:cNvPr id="370833" name="Freeform 113"/>
              <p:cNvSpPr/>
              <p:nvPr/>
            </p:nvSpPr>
            <p:spPr>
              <a:xfrm>
                <a:off x="3862" y="2222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6" y="24"/>
                  </a:cxn>
                  <a:cxn ang="0">
                    <a:pos x="0" y="29"/>
                  </a:cxn>
                  <a:cxn ang="0">
                    <a:pos x="6" y="34"/>
                  </a:cxn>
                  <a:cxn ang="0">
                    <a:pos x="12" y="34"/>
                  </a:cxn>
                  <a:cxn ang="0">
                    <a:pos x="48" y="10"/>
                  </a:cxn>
                  <a:cxn ang="0">
                    <a:pos x="54" y="5"/>
                  </a:cxn>
                  <a:cxn ang="0">
                    <a:pos x="48" y="0"/>
                  </a:cxn>
                  <a:cxn ang="0">
                    <a:pos x="42" y="0"/>
                  </a:cxn>
                  <a:cxn ang="0">
                    <a:pos x="6" y="24"/>
                  </a:cxn>
                </a:cxnLst>
                <a:rect l="txL" t="txT" r="txR" b="txB"/>
                <a:pathLst>
                  <a:path w="54" h="34">
                    <a:moveTo>
                      <a:pt x="6" y="24"/>
                    </a:moveTo>
                    <a:lnTo>
                      <a:pt x="0" y="29"/>
                    </a:lnTo>
                    <a:lnTo>
                      <a:pt x="6" y="34"/>
                    </a:lnTo>
                    <a:lnTo>
                      <a:pt x="12" y="34"/>
                    </a:lnTo>
                    <a:lnTo>
                      <a:pt x="48" y="10"/>
                    </a:lnTo>
                    <a:lnTo>
                      <a:pt x="54" y="5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6" y="2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34" name="Freeform 114"/>
              <p:cNvSpPr/>
              <p:nvPr/>
            </p:nvSpPr>
            <p:spPr>
              <a:xfrm>
                <a:off x="3928" y="2184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6" y="24"/>
                  </a:cxn>
                  <a:cxn ang="0">
                    <a:pos x="0" y="29"/>
                  </a:cxn>
                  <a:cxn ang="0">
                    <a:pos x="6" y="34"/>
                  </a:cxn>
                  <a:cxn ang="0">
                    <a:pos x="12" y="34"/>
                  </a:cxn>
                  <a:cxn ang="0">
                    <a:pos x="48" y="10"/>
                  </a:cxn>
                  <a:cxn ang="0">
                    <a:pos x="54" y="5"/>
                  </a:cxn>
                  <a:cxn ang="0">
                    <a:pos x="48" y="0"/>
                  </a:cxn>
                  <a:cxn ang="0">
                    <a:pos x="42" y="0"/>
                  </a:cxn>
                  <a:cxn ang="0">
                    <a:pos x="6" y="24"/>
                  </a:cxn>
                </a:cxnLst>
                <a:rect l="txL" t="txT" r="txR" b="txB"/>
                <a:pathLst>
                  <a:path w="54" h="34">
                    <a:moveTo>
                      <a:pt x="6" y="24"/>
                    </a:moveTo>
                    <a:lnTo>
                      <a:pt x="0" y="29"/>
                    </a:lnTo>
                    <a:lnTo>
                      <a:pt x="6" y="34"/>
                    </a:lnTo>
                    <a:lnTo>
                      <a:pt x="12" y="34"/>
                    </a:lnTo>
                    <a:lnTo>
                      <a:pt x="48" y="10"/>
                    </a:lnTo>
                    <a:lnTo>
                      <a:pt x="54" y="5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6" y="2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35" name="Freeform 115"/>
              <p:cNvSpPr/>
              <p:nvPr/>
            </p:nvSpPr>
            <p:spPr>
              <a:xfrm>
                <a:off x="4001" y="2146"/>
                <a:ext cx="48" cy="33"/>
              </a:xfrm>
              <a:custGeom>
                <a:avLst/>
                <a:gdLst>
                  <a:gd name="txL" fmla="*/ 0 w 48"/>
                  <a:gd name="txT" fmla="*/ 0 h 33"/>
                  <a:gd name="txR" fmla="*/ 48 w 48"/>
                  <a:gd name="txB" fmla="*/ 33 h 33"/>
                </a:gdLst>
                <a:ahLst/>
                <a:cxnLst>
                  <a:cxn ang="0">
                    <a:pos x="0" y="24"/>
                  </a:cxn>
                  <a:cxn ang="0">
                    <a:pos x="0" y="28"/>
                  </a:cxn>
                  <a:cxn ang="0">
                    <a:pos x="0" y="33"/>
                  </a:cxn>
                  <a:cxn ang="0">
                    <a:pos x="6" y="33"/>
                  </a:cxn>
                  <a:cxn ang="0">
                    <a:pos x="48" y="9"/>
                  </a:cxn>
                  <a:cxn ang="0">
                    <a:pos x="48" y="4"/>
                  </a:cxn>
                  <a:cxn ang="0">
                    <a:pos x="48" y="0"/>
                  </a:cxn>
                  <a:cxn ang="0">
                    <a:pos x="42" y="0"/>
                  </a:cxn>
                  <a:cxn ang="0">
                    <a:pos x="0" y="24"/>
                  </a:cxn>
                </a:cxnLst>
                <a:rect l="txL" t="txT" r="txR" b="txB"/>
                <a:pathLst>
                  <a:path w="48" h="33">
                    <a:moveTo>
                      <a:pt x="0" y="24"/>
                    </a:moveTo>
                    <a:lnTo>
                      <a:pt x="0" y="28"/>
                    </a:lnTo>
                    <a:lnTo>
                      <a:pt x="0" y="33"/>
                    </a:lnTo>
                    <a:lnTo>
                      <a:pt x="6" y="33"/>
                    </a:lnTo>
                    <a:lnTo>
                      <a:pt x="48" y="9"/>
                    </a:lnTo>
                    <a:lnTo>
                      <a:pt x="48" y="4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36" name="Freeform 116"/>
              <p:cNvSpPr/>
              <p:nvPr/>
            </p:nvSpPr>
            <p:spPr>
              <a:xfrm>
                <a:off x="4067" y="2107"/>
                <a:ext cx="54" cy="34"/>
              </a:xfrm>
              <a:custGeom>
                <a:avLst/>
                <a:gdLst>
                  <a:gd name="txL" fmla="*/ 0 w 54"/>
                  <a:gd name="txT" fmla="*/ 0 h 34"/>
                  <a:gd name="txR" fmla="*/ 54 w 54"/>
                  <a:gd name="txB" fmla="*/ 34 h 34"/>
                </a:gdLst>
                <a:ahLst/>
                <a:cxnLst>
                  <a:cxn ang="0">
                    <a:pos x="6" y="24"/>
                  </a:cxn>
                  <a:cxn ang="0">
                    <a:pos x="0" y="29"/>
                  </a:cxn>
                  <a:cxn ang="0">
                    <a:pos x="6" y="34"/>
                  </a:cxn>
                  <a:cxn ang="0">
                    <a:pos x="12" y="34"/>
                  </a:cxn>
                  <a:cxn ang="0">
                    <a:pos x="48" y="10"/>
                  </a:cxn>
                  <a:cxn ang="0">
                    <a:pos x="54" y="5"/>
                  </a:cxn>
                  <a:cxn ang="0">
                    <a:pos x="48" y="0"/>
                  </a:cxn>
                  <a:cxn ang="0">
                    <a:pos x="42" y="0"/>
                  </a:cxn>
                  <a:cxn ang="0">
                    <a:pos x="6" y="24"/>
                  </a:cxn>
                </a:cxnLst>
                <a:rect l="txL" t="txT" r="txR" b="txB"/>
                <a:pathLst>
                  <a:path w="54" h="34">
                    <a:moveTo>
                      <a:pt x="6" y="24"/>
                    </a:moveTo>
                    <a:lnTo>
                      <a:pt x="0" y="29"/>
                    </a:lnTo>
                    <a:lnTo>
                      <a:pt x="6" y="34"/>
                    </a:lnTo>
                    <a:lnTo>
                      <a:pt x="12" y="34"/>
                    </a:lnTo>
                    <a:lnTo>
                      <a:pt x="48" y="10"/>
                    </a:lnTo>
                    <a:lnTo>
                      <a:pt x="54" y="5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6" y="2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37" name="Freeform 117"/>
              <p:cNvSpPr/>
              <p:nvPr/>
            </p:nvSpPr>
            <p:spPr>
              <a:xfrm>
                <a:off x="4139" y="2069"/>
                <a:ext cx="48" cy="29"/>
              </a:xfrm>
              <a:custGeom>
                <a:avLst/>
                <a:gdLst>
                  <a:gd name="txL" fmla="*/ 0 w 48"/>
                  <a:gd name="txT" fmla="*/ 0 h 29"/>
                  <a:gd name="txR" fmla="*/ 48 w 48"/>
                  <a:gd name="txB" fmla="*/ 29 h 29"/>
                </a:gdLst>
                <a:ahLst/>
                <a:cxnLst>
                  <a:cxn ang="0">
                    <a:pos x="0" y="19"/>
                  </a:cxn>
                  <a:cxn ang="0">
                    <a:pos x="0" y="24"/>
                  </a:cxn>
                  <a:cxn ang="0">
                    <a:pos x="0" y="29"/>
                  </a:cxn>
                  <a:cxn ang="0">
                    <a:pos x="6" y="29"/>
                  </a:cxn>
                  <a:cxn ang="0">
                    <a:pos x="48" y="9"/>
                  </a:cxn>
                  <a:cxn ang="0">
                    <a:pos x="48" y="5"/>
                  </a:cxn>
                  <a:cxn ang="0">
                    <a:pos x="48" y="0"/>
                  </a:cxn>
                  <a:cxn ang="0">
                    <a:pos x="42" y="0"/>
                  </a:cxn>
                  <a:cxn ang="0">
                    <a:pos x="0" y="19"/>
                  </a:cxn>
                </a:cxnLst>
                <a:rect l="txL" t="txT" r="txR" b="txB"/>
                <a:pathLst>
                  <a:path w="48" h="29">
                    <a:moveTo>
                      <a:pt x="0" y="19"/>
                    </a:moveTo>
                    <a:lnTo>
                      <a:pt x="0" y="24"/>
                    </a:lnTo>
                    <a:lnTo>
                      <a:pt x="0" y="29"/>
                    </a:lnTo>
                    <a:lnTo>
                      <a:pt x="6" y="29"/>
                    </a:lnTo>
                    <a:lnTo>
                      <a:pt x="48" y="9"/>
                    </a:lnTo>
                    <a:lnTo>
                      <a:pt x="48" y="5"/>
                    </a:lnTo>
                    <a:lnTo>
                      <a:pt x="48" y="0"/>
                    </a:lnTo>
                    <a:lnTo>
                      <a:pt x="42" y="0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38" name="Freeform 118"/>
              <p:cNvSpPr/>
              <p:nvPr/>
            </p:nvSpPr>
            <p:spPr>
              <a:xfrm>
                <a:off x="4205" y="2040"/>
                <a:ext cx="30" cy="19"/>
              </a:xfrm>
              <a:custGeom>
                <a:avLst/>
                <a:gdLst>
                  <a:gd name="txL" fmla="*/ 0 w 30"/>
                  <a:gd name="txT" fmla="*/ 0 h 19"/>
                  <a:gd name="txR" fmla="*/ 30 w 30"/>
                  <a:gd name="txB" fmla="*/ 19 h 19"/>
                </a:gdLst>
                <a:ahLst/>
                <a:cxnLst>
                  <a:cxn ang="0">
                    <a:pos x="0" y="10"/>
                  </a:cxn>
                  <a:cxn ang="0">
                    <a:pos x="0" y="14"/>
                  </a:cxn>
                  <a:cxn ang="0">
                    <a:pos x="0" y="19"/>
                  </a:cxn>
                  <a:cxn ang="0">
                    <a:pos x="6" y="19"/>
                  </a:cxn>
                  <a:cxn ang="0">
                    <a:pos x="30" y="10"/>
                  </a:cxn>
                  <a:cxn ang="0">
                    <a:pos x="30" y="5"/>
                  </a:cxn>
                  <a:cxn ang="0">
                    <a:pos x="24" y="0"/>
                  </a:cxn>
                  <a:cxn ang="0">
                    <a:pos x="0" y="10"/>
                  </a:cxn>
                </a:cxnLst>
                <a:rect l="txL" t="txT" r="txR" b="txB"/>
                <a:pathLst>
                  <a:path w="30" h="19">
                    <a:moveTo>
                      <a:pt x="0" y="10"/>
                    </a:moveTo>
                    <a:lnTo>
                      <a:pt x="0" y="14"/>
                    </a:lnTo>
                    <a:lnTo>
                      <a:pt x="0" y="19"/>
                    </a:lnTo>
                    <a:lnTo>
                      <a:pt x="6" y="19"/>
                    </a:lnTo>
                    <a:lnTo>
                      <a:pt x="30" y="10"/>
                    </a:lnTo>
                    <a:lnTo>
                      <a:pt x="30" y="5"/>
                    </a:lnTo>
                    <a:lnTo>
                      <a:pt x="24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0746" name="Group 119"/>
            <p:cNvGrpSpPr/>
            <p:nvPr/>
          </p:nvGrpSpPr>
          <p:grpSpPr>
            <a:xfrm>
              <a:off x="4223" y="1445"/>
              <a:ext cx="12" cy="317"/>
              <a:chOff x="4223" y="1733"/>
              <a:chExt cx="12" cy="317"/>
            </a:xfrm>
          </p:grpSpPr>
          <p:sp>
            <p:nvSpPr>
              <p:cNvPr id="370828" name="Freeform 120"/>
              <p:cNvSpPr/>
              <p:nvPr/>
            </p:nvSpPr>
            <p:spPr>
              <a:xfrm>
                <a:off x="4223" y="2002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4"/>
                  </a:cxn>
                  <a:cxn ang="0">
                    <a:pos x="6" y="0"/>
                  </a:cxn>
                  <a:cxn ang="0">
                    <a:pos x="0" y="4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4"/>
                    </a:lnTo>
                    <a:lnTo>
                      <a:pt x="6" y="0"/>
                    </a:lnTo>
                    <a:lnTo>
                      <a:pt x="0" y="4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29" name="Freeform 121"/>
              <p:cNvSpPr/>
              <p:nvPr/>
            </p:nvSpPr>
            <p:spPr>
              <a:xfrm>
                <a:off x="4223" y="1934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4"/>
                  </a:cxn>
                  <a:cxn ang="0">
                    <a:pos x="6" y="48"/>
                  </a:cxn>
                  <a:cxn ang="0">
                    <a:pos x="12" y="44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4"/>
                  </a:cxn>
                </a:cxnLst>
                <a:rect l="txL" t="txT" r="txR" b="txB"/>
                <a:pathLst>
                  <a:path w="12" h="48">
                    <a:moveTo>
                      <a:pt x="0" y="44"/>
                    </a:moveTo>
                    <a:lnTo>
                      <a:pt x="6" y="48"/>
                    </a:lnTo>
                    <a:lnTo>
                      <a:pt x="12" y="44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30" name="Freeform 122"/>
              <p:cNvSpPr/>
              <p:nvPr/>
            </p:nvSpPr>
            <p:spPr>
              <a:xfrm>
                <a:off x="4223" y="1867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31" name="Freeform 123"/>
              <p:cNvSpPr/>
              <p:nvPr/>
            </p:nvSpPr>
            <p:spPr>
              <a:xfrm>
                <a:off x="4223" y="1800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32" name="Freeform 124"/>
              <p:cNvSpPr/>
              <p:nvPr/>
            </p:nvSpPr>
            <p:spPr>
              <a:xfrm>
                <a:off x="4223" y="1733"/>
                <a:ext cx="12" cy="48"/>
              </a:xfrm>
              <a:custGeom>
                <a:avLst/>
                <a:gdLst>
                  <a:gd name="txL" fmla="*/ 0 w 12"/>
                  <a:gd name="txT" fmla="*/ 0 h 48"/>
                  <a:gd name="txR" fmla="*/ 12 w 12"/>
                  <a:gd name="txB" fmla="*/ 48 h 48"/>
                </a:gdLst>
                <a:ahLst/>
                <a:cxnLst>
                  <a:cxn ang="0">
                    <a:pos x="0" y="43"/>
                  </a:cxn>
                  <a:cxn ang="0">
                    <a:pos x="6" y="48"/>
                  </a:cxn>
                  <a:cxn ang="0">
                    <a:pos x="12" y="43"/>
                  </a:cxn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0" y="43"/>
                  </a:cxn>
                </a:cxnLst>
                <a:rect l="txL" t="txT" r="txR" b="txB"/>
                <a:pathLst>
                  <a:path w="12" h="48">
                    <a:moveTo>
                      <a:pt x="0" y="43"/>
                    </a:moveTo>
                    <a:lnTo>
                      <a:pt x="6" y="48"/>
                    </a:lnTo>
                    <a:lnTo>
                      <a:pt x="12" y="43"/>
                    </a:lnTo>
                    <a:lnTo>
                      <a:pt x="12" y="5"/>
                    </a:lnTo>
                    <a:lnTo>
                      <a:pt x="6" y="0"/>
                    </a:lnTo>
                    <a:lnTo>
                      <a:pt x="0" y="5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0747" name="Group 125"/>
            <p:cNvGrpSpPr/>
            <p:nvPr/>
          </p:nvGrpSpPr>
          <p:grpSpPr>
            <a:xfrm>
              <a:off x="3886" y="1958"/>
              <a:ext cx="78" cy="149"/>
              <a:chOff x="3886" y="2246"/>
              <a:chExt cx="78" cy="149"/>
            </a:xfrm>
          </p:grpSpPr>
          <p:sp>
            <p:nvSpPr>
              <p:cNvPr id="370825" name="Freeform 126"/>
              <p:cNvSpPr/>
              <p:nvPr/>
            </p:nvSpPr>
            <p:spPr>
              <a:xfrm>
                <a:off x="3886" y="2246"/>
                <a:ext cx="30" cy="44"/>
              </a:xfrm>
              <a:custGeom>
                <a:avLst/>
                <a:gdLst>
                  <a:gd name="txL" fmla="*/ 0 w 30"/>
                  <a:gd name="txT" fmla="*/ 0 h 44"/>
                  <a:gd name="txR" fmla="*/ 30 w 30"/>
                  <a:gd name="txB" fmla="*/ 44 h 44"/>
                </a:gdLst>
                <a:ahLst/>
                <a:cxnLst>
                  <a:cxn ang="0">
                    <a:pos x="12" y="5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18" y="39"/>
                  </a:cxn>
                  <a:cxn ang="0">
                    <a:pos x="18" y="44"/>
                  </a:cxn>
                  <a:cxn ang="0">
                    <a:pos x="24" y="44"/>
                  </a:cxn>
                  <a:cxn ang="0">
                    <a:pos x="30" y="39"/>
                  </a:cxn>
                  <a:cxn ang="0">
                    <a:pos x="12" y="5"/>
                  </a:cxn>
                </a:cxnLst>
                <a:rect l="txL" t="txT" r="txR" b="txB"/>
                <a:pathLst>
                  <a:path w="30" h="44">
                    <a:moveTo>
                      <a:pt x="12" y="5"/>
                    </a:moveTo>
                    <a:lnTo>
                      <a:pt x="6" y="0"/>
                    </a:lnTo>
                    <a:lnTo>
                      <a:pt x="0" y="5"/>
                    </a:lnTo>
                    <a:lnTo>
                      <a:pt x="18" y="39"/>
                    </a:lnTo>
                    <a:lnTo>
                      <a:pt x="18" y="44"/>
                    </a:lnTo>
                    <a:lnTo>
                      <a:pt x="24" y="44"/>
                    </a:lnTo>
                    <a:lnTo>
                      <a:pt x="30" y="39"/>
                    </a:lnTo>
                    <a:lnTo>
                      <a:pt x="12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26" name="Freeform 127"/>
              <p:cNvSpPr/>
              <p:nvPr/>
            </p:nvSpPr>
            <p:spPr>
              <a:xfrm>
                <a:off x="3916" y="2309"/>
                <a:ext cx="30" cy="48"/>
              </a:xfrm>
              <a:custGeom>
                <a:avLst/>
                <a:gdLst>
                  <a:gd name="txL" fmla="*/ 0 w 30"/>
                  <a:gd name="txT" fmla="*/ 0 h 48"/>
                  <a:gd name="txR" fmla="*/ 30 w 30"/>
                  <a:gd name="txB" fmla="*/ 48 h 48"/>
                </a:gdLst>
                <a:ahLst/>
                <a:cxnLst>
                  <a:cxn ang="0">
                    <a:pos x="12" y="5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5"/>
                  </a:cxn>
                  <a:cxn ang="0">
                    <a:pos x="18" y="43"/>
                  </a:cxn>
                  <a:cxn ang="0">
                    <a:pos x="18" y="48"/>
                  </a:cxn>
                  <a:cxn ang="0">
                    <a:pos x="24" y="48"/>
                  </a:cxn>
                  <a:cxn ang="0">
                    <a:pos x="30" y="43"/>
                  </a:cxn>
                  <a:cxn ang="0">
                    <a:pos x="12" y="5"/>
                  </a:cxn>
                </a:cxnLst>
                <a:rect l="txL" t="txT" r="txR" b="txB"/>
                <a:pathLst>
                  <a:path w="30" h="48">
                    <a:moveTo>
                      <a:pt x="12" y="5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18" y="43"/>
                    </a:lnTo>
                    <a:lnTo>
                      <a:pt x="18" y="48"/>
                    </a:lnTo>
                    <a:lnTo>
                      <a:pt x="24" y="48"/>
                    </a:lnTo>
                    <a:lnTo>
                      <a:pt x="30" y="43"/>
                    </a:lnTo>
                    <a:lnTo>
                      <a:pt x="12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27" name="Freeform 128"/>
              <p:cNvSpPr/>
              <p:nvPr/>
            </p:nvSpPr>
            <p:spPr>
              <a:xfrm>
                <a:off x="3946" y="2371"/>
                <a:ext cx="18" cy="24"/>
              </a:xfrm>
              <a:custGeom>
                <a:avLst/>
                <a:gdLst>
                  <a:gd name="txL" fmla="*/ 0 w 18"/>
                  <a:gd name="txT" fmla="*/ 0 h 24"/>
                  <a:gd name="txR" fmla="*/ 18 w 18"/>
                  <a:gd name="txB" fmla="*/ 24 h 24"/>
                </a:gdLst>
                <a:ahLst/>
                <a:cxnLst>
                  <a:cxn ang="0">
                    <a:pos x="12" y="5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5"/>
                  </a:cxn>
                  <a:cxn ang="0">
                    <a:pos x="6" y="19"/>
                  </a:cxn>
                  <a:cxn ang="0">
                    <a:pos x="12" y="24"/>
                  </a:cxn>
                  <a:cxn ang="0">
                    <a:pos x="18" y="19"/>
                  </a:cxn>
                  <a:cxn ang="0">
                    <a:pos x="12" y="5"/>
                  </a:cxn>
                </a:cxnLst>
                <a:rect l="txL" t="txT" r="txR" b="txB"/>
                <a:pathLst>
                  <a:path w="18" h="24">
                    <a:moveTo>
                      <a:pt x="12" y="5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6" y="19"/>
                    </a:lnTo>
                    <a:lnTo>
                      <a:pt x="12" y="24"/>
                    </a:lnTo>
                    <a:lnTo>
                      <a:pt x="18" y="19"/>
                    </a:lnTo>
                    <a:lnTo>
                      <a:pt x="12" y="5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0748" name="Group 129"/>
            <p:cNvGrpSpPr/>
            <p:nvPr/>
          </p:nvGrpSpPr>
          <p:grpSpPr>
            <a:xfrm>
              <a:off x="3436" y="1426"/>
              <a:ext cx="799" cy="9"/>
              <a:chOff x="3436" y="1714"/>
              <a:chExt cx="799" cy="9"/>
            </a:xfrm>
          </p:grpSpPr>
          <p:sp>
            <p:nvSpPr>
              <p:cNvPr id="370815" name="Freeform 130"/>
              <p:cNvSpPr/>
              <p:nvPr/>
            </p:nvSpPr>
            <p:spPr>
              <a:xfrm>
                <a:off x="3436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12" y="0"/>
                  </a:cxn>
                  <a:cxn ang="0">
                    <a:pos x="6" y="0"/>
                  </a:cxn>
                  <a:cxn ang="0">
                    <a:pos x="0" y="4"/>
                  </a:cxn>
                  <a:cxn ang="0">
                    <a:pos x="6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12" y="0"/>
                  </a:cxn>
                </a:cxnLst>
                <a:rect l="txL" t="txT" r="txR" b="txB"/>
                <a:pathLst>
                  <a:path w="60" h="9">
                    <a:moveTo>
                      <a:pt x="12" y="0"/>
                    </a:moveTo>
                    <a:lnTo>
                      <a:pt x="6" y="0"/>
                    </a:lnTo>
                    <a:lnTo>
                      <a:pt x="0" y="4"/>
                    </a:lnTo>
                    <a:lnTo>
                      <a:pt x="6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16" name="Freeform 131"/>
              <p:cNvSpPr/>
              <p:nvPr/>
            </p:nvSpPr>
            <p:spPr>
              <a:xfrm>
                <a:off x="3520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17" name="Freeform 132"/>
              <p:cNvSpPr/>
              <p:nvPr/>
            </p:nvSpPr>
            <p:spPr>
              <a:xfrm>
                <a:off x="3604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18" name="Freeform 133"/>
              <p:cNvSpPr/>
              <p:nvPr/>
            </p:nvSpPr>
            <p:spPr>
              <a:xfrm>
                <a:off x="3688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19" name="Freeform 134"/>
              <p:cNvSpPr/>
              <p:nvPr/>
            </p:nvSpPr>
            <p:spPr>
              <a:xfrm>
                <a:off x="3772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20" name="Freeform 135"/>
              <p:cNvSpPr/>
              <p:nvPr/>
            </p:nvSpPr>
            <p:spPr>
              <a:xfrm>
                <a:off x="3856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21" name="Freeform 136"/>
              <p:cNvSpPr/>
              <p:nvPr/>
            </p:nvSpPr>
            <p:spPr>
              <a:xfrm>
                <a:off x="3940" y="1714"/>
                <a:ext cx="61" cy="9"/>
              </a:xfrm>
              <a:custGeom>
                <a:avLst/>
                <a:gdLst>
                  <a:gd name="txL" fmla="*/ 0 w 61"/>
                  <a:gd name="txT" fmla="*/ 0 h 9"/>
                  <a:gd name="txR" fmla="*/ 61 w 61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9" y="9"/>
                  </a:cxn>
                  <a:cxn ang="0">
                    <a:pos x="55" y="9"/>
                  </a:cxn>
                  <a:cxn ang="0">
                    <a:pos x="61" y="4"/>
                  </a:cxn>
                  <a:cxn ang="0">
                    <a:pos x="55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1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9" y="9"/>
                    </a:lnTo>
                    <a:lnTo>
                      <a:pt x="55" y="9"/>
                    </a:lnTo>
                    <a:lnTo>
                      <a:pt x="61" y="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22" name="Freeform 137"/>
              <p:cNvSpPr/>
              <p:nvPr/>
            </p:nvSpPr>
            <p:spPr>
              <a:xfrm>
                <a:off x="4025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23" name="Freeform 138"/>
              <p:cNvSpPr/>
              <p:nvPr/>
            </p:nvSpPr>
            <p:spPr>
              <a:xfrm>
                <a:off x="4109" y="1714"/>
                <a:ext cx="60" cy="9"/>
              </a:xfrm>
              <a:custGeom>
                <a:avLst/>
                <a:gdLst>
                  <a:gd name="txL" fmla="*/ 0 w 60"/>
                  <a:gd name="txT" fmla="*/ 0 h 9"/>
                  <a:gd name="txR" fmla="*/ 60 w 60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48" y="9"/>
                  </a:cxn>
                  <a:cxn ang="0">
                    <a:pos x="54" y="9"/>
                  </a:cxn>
                  <a:cxn ang="0">
                    <a:pos x="60" y="4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4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24" name="Freeform 139"/>
              <p:cNvSpPr/>
              <p:nvPr/>
            </p:nvSpPr>
            <p:spPr>
              <a:xfrm>
                <a:off x="4193" y="1714"/>
                <a:ext cx="42" cy="9"/>
              </a:xfrm>
              <a:custGeom>
                <a:avLst/>
                <a:gdLst>
                  <a:gd name="txL" fmla="*/ 0 w 42"/>
                  <a:gd name="txT" fmla="*/ 0 h 9"/>
                  <a:gd name="txR" fmla="*/ 42 w 42"/>
                  <a:gd name="txB" fmla="*/ 9 h 9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4"/>
                  </a:cxn>
                  <a:cxn ang="0">
                    <a:pos x="0" y="9"/>
                  </a:cxn>
                  <a:cxn ang="0">
                    <a:pos x="36" y="9"/>
                  </a:cxn>
                  <a:cxn ang="0">
                    <a:pos x="42" y="4"/>
                  </a:cxn>
                  <a:cxn ang="0">
                    <a:pos x="42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42" h="9">
                    <a:moveTo>
                      <a:pt x="6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9"/>
                    </a:lnTo>
                    <a:lnTo>
                      <a:pt x="36" y="9"/>
                    </a:lnTo>
                    <a:lnTo>
                      <a:pt x="42" y="4"/>
                    </a:lnTo>
                    <a:lnTo>
                      <a:pt x="42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0749" name="Line 140"/>
            <p:cNvSpPr/>
            <p:nvPr/>
          </p:nvSpPr>
          <p:spPr>
            <a:xfrm>
              <a:off x="3508" y="1493"/>
              <a:ext cx="65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0750" name="Group 141"/>
            <p:cNvGrpSpPr/>
            <p:nvPr/>
          </p:nvGrpSpPr>
          <p:grpSpPr>
            <a:xfrm>
              <a:off x="3706" y="2088"/>
              <a:ext cx="252" cy="62"/>
              <a:chOff x="3706" y="2376"/>
              <a:chExt cx="252" cy="62"/>
            </a:xfrm>
          </p:grpSpPr>
          <p:sp>
            <p:nvSpPr>
              <p:cNvPr id="370811" name="Freeform 142"/>
              <p:cNvSpPr/>
              <p:nvPr/>
            </p:nvSpPr>
            <p:spPr>
              <a:xfrm>
                <a:off x="3706" y="2400"/>
                <a:ext cx="60" cy="10"/>
              </a:xfrm>
              <a:custGeom>
                <a:avLst/>
                <a:gdLst>
                  <a:gd name="txL" fmla="*/ 0 w 60"/>
                  <a:gd name="txT" fmla="*/ 0 h 10"/>
                  <a:gd name="txR" fmla="*/ 60 w 60"/>
                  <a:gd name="txB" fmla="*/ 10 h 10"/>
                </a:gdLst>
                <a:ahLst/>
                <a:cxnLst>
                  <a:cxn ang="0">
                    <a:pos x="12" y="0"/>
                  </a:cxn>
                  <a:cxn ang="0">
                    <a:pos x="6" y="0"/>
                  </a:cxn>
                  <a:cxn ang="0">
                    <a:pos x="0" y="5"/>
                  </a:cxn>
                  <a:cxn ang="0">
                    <a:pos x="6" y="10"/>
                  </a:cxn>
                  <a:cxn ang="0">
                    <a:pos x="48" y="10"/>
                  </a:cxn>
                  <a:cxn ang="0">
                    <a:pos x="54" y="10"/>
                  </a:cxn>
                  <a:cxn ang="0">
                    <a:pos x="60" y="5"/>
                  </a:cxn>
                  <a:cxn ang="0">
                    <a:pos x="54" y="0"/>
                  </a:cxn>
                  <a:cxn ang="0">
                    <a:pos x="12" y="0"/>
                  </a:cxn>
                </a:cxnLst>
                <a:rect l="txL" t="txT" r="txR" b="txB"/>
                <a:pathLst>
                  <a:path w="60" h="10">
                    <a:moveTo>
                      <a:pt x="12" y="0"/>
                    </a:moveTo>
                    <a:lnTo>
                      <a:pt x="6" y="0"/>
                    </a:lnTo>
                    <a:lnTo>
                      <a:pt x="0" y="5"/>
                    </a:lnTo>
                    <a:lnTo>
                      <a:pt x="6" y="10"/>
                    </a:lnTo>
                    <a:lnTo>
                      <a:pt x="48" y="10"/>
                    </a:lnTo>
                    <a:lnTo>
                      <a:pt x="54" y="10"/>
                    </a:lnTo>
                    <a:lnTo>
                      <a:pt x="60" y="5"/>
                    </a:lnTo>
                    <a:lnTo>
                      <a:pt x="54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12" name="Freeform 143"/>
              <p:cNvSpPr/>
              <p:nvPr/>
            </p:nvSpPr>
            <p:spPr>
              <a:xfrm>
                <a:off x="3790" y="2400"/>
                <a:ext cx="60" cy="10"/>
              </a:xfrm>
              <a:custGeom>
                <a:avLst/>
                <a:gdLst>
                  <a:gd name="txL" fmla="*/ 0 w 60"/>
                  <a:gd name="txT" fmla="*/ 0 h 10"/>
                  <a:gd name="txR" fmla="*/ 60 w 60"/>
                  <a:gd name="txB" fmla="*/ 10 h 10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5"/>
                  </a:cxn>
                  <a:cxn ang="0">
                    <a:pos x="0" y="10"/>
                  </a:cxn>
                  <a:cxn ang="0">
                    <a:pos x="48" y="10"/>
                  </a:cxn>
                  <a:cxn ang="0">
                    <a:pos x="54" y="10"/>
                  </a:cxn>
                  <a:cxn ang="0">
                    <a:pos x="60" y="5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10">
                    <a:moveTo>
                      <a:pt x="6" y="0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0" y="10"/>
                    </a:lnTo>
                    <a:lnTo>
                      <a:pt x="48" y="10"/>
                    </a:lnTo>
                    <a:lnTo>
                      <a:pt x="54" y="10"/>
                    </a:lnTo>
                    <a:lnTo>
                      <a:pt x="60" y="5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13" name="Freeform 144"/>
              <p:cNvSpPr/>
              <p:nvPr/>
            </p:nvSpPr>
            <p:spPr>
              <a:xfrm>
                <a:off x="3874" y="2400"/>
                <a:ext cx="60" cy="10"/>
              </a:xfrm>
              <a:custGeom>
                <a:avLst/>
                <a:gdLst>
                  <a:gd name="txL" fmla="*/ 0 w 60"/>
                  <a:gd name="txT" fmla="*/ 0 h 10"/>
                  <a:gd name="txR" fmla="*/ 60 w 60"/>
                  <a:gd name="txB" fmla="*/ 10 h 10"/>
                </a:gdLst>
                <a:ahLst/>
                <a:cxnLst>
                  <a:cxn ang="0">
                    <a:pos x="6" y="0"/>
                  </a:cxn>
                  <a:cxn ang="0">
                    <a:pos x="0" y="0"/>
                  </a:cxn>
                  <a:cxn ang="0">
                    <a:pos x="0" y="5"/>
                  </a:cxn>
                  <a:cxn ang="0">
                    <a:pos x="0" y="10"/>
                  </a:cxn>
                  <a:cxn ang="0">
                    <a:pos x="48" y="10"/>
                  </a:cxn>
                  <a:cxn ang="0">
                    <a:pos x="54" y="10"/>
                  </a:cxn>
                  <a:cxn ang="0">
                    <a:pos x="60" y="5"/>
                  </a:cxn>
                  <a:cxn ang="0">
                    <a:pos x="54" y="0"/>
                  </a:cxn>
                  <a:cxn ang="0">
                    <a:pos x="6" y="0"/>
                  </a:cxn>
                </a:cxnLst>
                <a:rect l="txL" t="txT" r="txR" b="txB"/>
                <a:pathLst>
                  <a:path w="60" h="10">
                    <a:moveTo>
                      <a:pt x="6" y="0"/>
                    </a:moveTo>
                    <a:lnTo>
                      <a:pt x="0" y="0"/>
                    </a:lnTo>
                    <a:lnTo>
                      <a:pt x="0" y="5"/>
                    </a:lnTo>
                    <a:lnTo>
                      <a:pt x="0" y="10"/>
                    </a:lnTo>
                    <a:lnTo>
                      <a:pt x="48" y="10"/>
                    </a:lnTo>
                    <a:lnTo>
                      <a:pt x="54" y="10"/>
                    </a:lnTo>
                    <a:lnTo>
                      <a:pt x="60" y="5"/>
                    </a:lnTo>
                    <a:lnTo>
                      <a:pt x="54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814" name="Freeform 145"/>
              <p:cNvSpPr/>
              <p:nvPr/>
            </p:nvSpPr>
            <p:spPr>
              <a:xfrm>
                <a:off x="3886" y="2376"/>
                <a:ext cx="72" cy="62"/>
              </a:xfrm>
              <a:custGeom>
                <a:avLst/>
                <a:gdLst>
                  <a:gd name="txL" fmla="*/ 0 w 72"/>
                  <a:gd name="txT" fmla="*/ 0 h 62"/>
                  <a:gd name="txR" fmla="*/ 72 w 72"/>
                  <a:gd name="txB" fmla="*/ 62 h 62"/>
                </a:gdLst>
                <a:ahLst/>
                <a:cxnLst>
                  <a:cxn ang="0">
                    <a:pos x="0" y="62"/>
                  </a:cxn>
                  <a:cxn ang="0">
                    <a:pos x="72" y="29"/>
                  </a:cxn>
                  <a:cxn ang="0">
                    <a:pos x="0" y="0"/>
                  </a:cxn>
                </a:cxnLst>
                <a:rect l="txL" t="txT" r="txR" b="txB"/>
                <a:pathLst>
                  <a:path w="72" h="62">
                    <a:moveTo>
                      <a:pt x="0" y="62"/>
                    </a:moveTo>
                    <a:lnTo>
                      <a:pt x="72" y="29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folHlink"/>
              </a:solidFill>
              <a:ln w="19050" cap="flat" cmpd="sng">
                <a:solidFill>
                  <a:schemeClr val="folHlink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0751" name="Line 146"/>
            <p:cNvSpPr/>
            <p:nvPr/>
          </p:nvSpPr>
          <p:spPr>
            <a:xfrm>
              <a:off x="3574" y="2074"/>
              <a:ext cx="1" cy="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52" name="Line 147"/>
            <p:cNvSpPr/>
            <p:nvPr/>
          </p:nvSpPr>
          <p:spPr>
            <a:xfrm>
              <a:off x="4073" y="2074"/>
              <a:ext cx="1" cy="76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53" name="Oval 148"/>
            <p:cNvSpPr/>
            <p:nvPr/>
          </p:nvSpPr>
          <p:spPr>
            <a:xfrm>
              <a:off x="3622" y="1075"/>
              <a:ext cx="48" cy="39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54" name="Freeform 149"/>
            <p:cNvSpPr/>
            <p:nvPr/>
          </p:nvSpPr>
          <p:spPr>
            <a:xfrm>
              <a:off x="3646" y="1118"/>
              <a:ext cx="42" cy="408"/>
            </a:xfrm>
            <a:custGeom>
              <a:avLst/>
              <a:gdLst>
                <a:gd name="txL" fmla="*/ 0 w 42"/>
                <a:gd name="txT" fmla="*/ 0 h 408"/>
                <a:gd name="txR" fmla="*/ 42 w 42"/>
                <a:gd name="txB" fmla="*/ 408 h 408"/>
              </a:gdLst>
              <a:ahLst/>
              <a:cxnLst>
                <a:cxn ang="0">
                  <a:pos x="0" y="0"/>
                </a:cxn>
                <a:cxn ang="0">
                  <a:pos x="0" y="389"/>
                </a:cxn>
                <a:cxn ang="0">
                  <a:pos x="18" y="408"/>
                </a:cxn>
                <a:cxn ang="0">
                  <a:pos x="42" y="389"/>
                </a:cxn>
                <a:cxn ang="0">
                  <a:pos x="42" y="375"/>
                </a:cxn>
              </a:cxnLst>
              <a:rect l="txL" t="txT" r="txR" b="txB"/>
              <a:pathLst>
                <a:path w="42" h="408">
                  <a:moveTo>
                    <a:pt x="0" y="0"/>
                  </a:moveTo>
                  <a:lnTo>
                    <a:pt x="0" y="389"/>
                  </a:lnTo>
                  <a:lnTo>
                    <a:pt x="18" y="408"/>
                  </a:lnTo>
                  <a:lnTo>
                    <a:pt x="42" y="389"/>
                  </a:lnTo>
                  <a:lnTo>
                    <a:pt x="42" y="37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55" name="Freeform 150"/>
            <p:cNvSpPr/>
            <p:nvPr/>
          </p:nvSpPr>
          <p:spPr>
            <a:xfrm>
              <a:off x="3736" y="1368"/>
              <a:ext cx="108" cy="158"/>
            </a:xfrm>
            <a:custGeom>
              <a:avLst/>
              <a:gdLst>
                <a:gd name="txL" fmla="*/ 0 w 108"/>
                <a:gd name="txT" fmla="*/ 0 h 158"/>
                <a:gd name="txR" fmla="*/ 108 w 108"/>
                <a:gd name="txB" fmla="*/ 158 h 158"/>
              </a:gdLst>
              <a:ahLst/>
              <a:cxnLst>
                <a:cxn ang="0">
                  <a:pos x="0" y="14"/>
                </a:cxn>
                <a:cxn ang="0">
                  <a:pos x="18" y="0"/>
                </a:cxn>
                <a:cxn ang="0">
                  <a:pos x="42" y="0"/>
                </a:cxn>
                <a:cxn ang="0">
                  <a:pos x="66" y="14"/>
                </a:cxn>
                <a:cxn ang="0">
                  <a:pos x="66" y="34"/>
                </a:cxn>
                <a:cxn ang="0">
                  <a:pos x="66" y="110"/>
                </a:cxn>
                <a:cxn ang="0">
                  <a:pos x="66" y="139"/>
                </a:cxn>
                <a:cxn ang="0">
                  <a:pos x="84" y="158"/>
                </a:cxn>
                <a:cxn ang="0">
                  <a:pos x="108" y="139"/>
                </a:cxn>
                <a:cxn ang="0">
                  <a:pos x="108" y="125"/>
                </a:cxn>
              </a:cxnLst>
              <a:rect l="txL" t="txT" r="txR" b="txB"/>
              <a:pathLst>
                <a:path w="108" h="158">
                  <a:moveTo>
                    <a:pt x="0" y="14"/>
                  </a:moveTo>
                  <a:lnTo>
                    <a:pt x="18" y="0"/>
                  </a:lnTo>
                  <a:lnTo>
                    <a:pt x="42" y="0"/>
                  </a:lnTo>
                  <a:lnTo>
                    <a:pt x="66" y="14"/>
                  </a:lnTo>
                  <a:lnTo>
                    <a:pt x="66" y="34"/>
                  </a:lnTo>
                  <a:lnTo>
                    <a:pt x="66" y="110"/>
                  </a:lnTo>
                  <a:lnTo>
                    <a:pt x="66" y="139"/>
                  </a:lnTo>
                  <a:lnTo>
                    <a:pt x="84" y="158"/>
                  </a:lnTo>
                  <a:lnTo>
                    <a:pt x="108" y="139"/>
                  </a:lnTo>
                  <a:lnTo>
                    <a:pt x="108" y="12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56" name="Freeform 151"/>
            <p:cNvSpPr/>
            <p:nvPr/>
          </p:nvSpPr>
          <p:spPr>
            <a:xfrm>
              <a:off x="3868" y="1368"/>
              <a:ext cx="114" cy="158"/>
            </a:xfrm>
            <a:custGeom>
              <a:avLst/>
              <a:gdLst>
                <a:gd name="txL" fmla="*/ 0 w 114"/>
                <a:gd name="txT" fmla="*/ 0 h 158"/>
                <a:gd name="txR" fmla="*/ 114 w 114"/>
                <a:gd name="txB" fmla="*/ 158 h 158"/>
              </a:gdLst>
              <a:ahLst/>
              <a:cxnLst>
                <a:cxn ang="0">
                  <a:pos x="0" y="14"/>
                </a:cxn>
                <a:cxn ang="0">
                  <a:pos x="24" y="0"/>
                </a:cxn>
                <a:cxn ang="0">
                  <a:pos x="42" y="0"/>
                </a:cxn>
                <a:cxn ang="0">
                  <a:pos x="66" y="14"/>
                </a:cxn>
                <a:cxn ang="0">
                  <a:pos x="66" y="34"/>
                </a:cxn>
                <a:cxn ang="0">
                  <a:pos x="66" y="110"/>
                </a:cxn>
                <a:cxn ang="0">
                  <a:pos x="66" y="139"/>
                </a:cxn>
                <a:cxn ang="0">
                  <a:pos x="90" y="158"/>
                </a:cxn>
                <a:cxn ang="0">
                  <a:pos x="114" y="139"/>
                </a:cxn>
                <a:cxn ang="0">
                  <a:pos x="114" y="125"/>
                </a:cxn>
              </a:cxnLst>
              <a:rect l="txL" t="txT" r="txR" b="txB"/>
              <a:pathLst>
                <a:path w="114" h="158">
                  <a:moveTo>
                    <a:pt x="0" y="14"/>
                  </a:moveTo>
                  <a:lnTo>
                    <a:pt x="24" y="0"/>
                  </a:lnTo>
                  <a:lnTo>
                    <a:pt x="42" y="0"/>
                  </a:lnTo>
                  <a:lnTo>
                    <a:pt x="66" y="14"/>
                  </a:lnTo>
                  <a:lnTo>
                    <a:pt x="66" y="34"/>
                  </a:lnTo>
                  <a:lnTo>
                    <a:pt x="66" y="110"/>
                  </a:lnTo>
                  <a:lnTo>
                    <a:pt x="66" y="139"/>
                  </a:lnTo>
                  <a:lnTo>
                    <a:pt x="90" y="158"/>
                  </a:lnTo>
                  <a:lnTo>
                    <a:pt x="114" y="139"/>
                  </a:lnTo>
                  <a:lnTo>
                    <a:pt x="114" y="125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57" name="Line 152"/>
            <p:cNvSpPr/>
            <p:nvPr/>
          </p:nvSpPr>
          <p:spPr>
            <a:xfrm flipV="1">
              <a:off x="4001" y="1104"/>
              <a:ext cx="6" cy="27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58" name="Oval 153"/>
            <p:cNvSpPr/>
            <p:nvPr/>
          </p:nvSpPr>
          <p:spPr>
            <a:xfrm>
              <a:off x="3982" y="1075"/>
              <a:ext cx="49" cy="39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59" name="Rectangle 154"/>
            <p:cNvSpPr/>
            <p:nvPr/>
          </p:nvSpPr>
          <p:spPr>
            <a:xfrm>
              <a:off x="3640" y="816"/>
              <a:ext cx="432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读线圈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60" name="Rectangle 155"/>
            <p:cNvSpPr/>
            <p:nvPr/>
          </p:nvSpPr>
          <p:spPr>
            <a:xfrm>
              <a:off x="3610" y="1939"/>
              <a:ext cx="8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S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61" name="Rectangle 156"/>
            <p:cNvSpPr/>
            <p:nvPr/>
          </p:nvSpPr>
          <p:spPr>
            <a:xfrm>
              <a:off x="3982" y="1939"/>
              <a:ext cx="10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b="1" dirty="0">
                  <a:latin typeface="Times New Roman" panose="02020603050405020304" pitchFamily="18" charset="0"/>
                </a:rPr>
                <a:t>N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62" name="Line 157"/>
            <p:cNvSpPr/>
            <p:nvPr/>
          </p:nvSpPr>
          <p:spPr>
            <a:xfrm>
              <a:off x="4007" y="1118"/>
              <a:ext cx="1" cy="17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63" name="Rectangle 158"/>
            <p:cNvSpPr/>
            <p:nvPr/>
          </p:nvSpPr>
          <p:spPr>
            <a:xfrm>
              <a:off x="2685" y="1094"/>
              <a:ext cx="32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铁芯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64" name="Line 159"/>
            <p:cNvSpPr/>
            <p:nvPr/>
          </p:nvSpPr>
          <p:spPr>
            <a:xfrm flipH="1">
              <a:off x="2336" y="1200"/>
              <a:ext cx="337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65" name="Line 160"/>
            <p:cNvSpPr/>
            <p:nvPr/>
          </p:nvSpPr>
          <p:spPr>
            <a:xfrm>
              <a:off x="2943" y="1200"/>
              <a:ext cx="409" cy="2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66" name="Rectangle 161"/>
            <p:cNvSpPr/>
            <p:nvPr/>
          </p:nvSpPr>
          <p:spPr>
            <a:xfrm>
              <a:off x="2685" y="1358"/>
              <a:ext cx="32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磁通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67" name="Line 162"/>
            <p:cNvSpPr/>
            <p:nvPr/>
          </p:nvSpPr>
          <p:spPr>
            <a:xfrm flipH="1">
              <a:off x="2246" y="1478"/>
              <a:ext cx="427" cy="2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68" name="Line 163"/>
            <p:cNvSpPr/>
            <p:nvPr/>
          </p:nvSpPr>
          <p:spPr>
            <a:xfrm>
              <a:off x="2943" y="1478"/>
              <a:ext cx="499" cy="2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69" name="Rectangle 164"/>
            <p:cNvSpPr/>
            <p:nvPr/>
          </p:nvSpPr>
          <p:spPr>
            <a:xfrm>
              <a:off x="2709" y="1733"/>
              <a:ext cx="32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磁层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70" name="Line 165"/>
            <p:cNvSpPr/>
            <p:nvPr/>
          </p:nvSpPr>
          <p:spPr>
            <a:xfrm flipH="1">
              <a:off x="2378" y="1853"/>
              <a:ext cx="319" cy="24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71" name="Line 166"/>
            <p:cNvSpPr/>
            <p:nvPr/>
          </p:nvSpPr>
          <p:spPr>
            <a:xfrm>
              <a:off x="2967" y="1853"/>
              <a:ext cx="403" cy="2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0772" name="Group 167"/>
            <p:cNvGrpSpPr/>
            <p:nvPr/>
          </p:nvGrpSpPr>
          <p:grpSpPr>
            <a:xfrm>
              <a:off x="2138" y="2290"/>
              <a:ext cx="312" cy="62"/>
              <a:chOff x="2066" y="2578"/>
              <a:chExt cx="312" cy="62"/>
            </a:xfrm>
          </p:grpSpPr>
          <p:sp>
            <p:nvSpPr>
              <p:cNvPr id="370809" name="Line 168"/>
              <p:cNvSpPr/>
              <p:nvPr/>
            </p:nvSpPr>
            <p:spPr>
              <a:xfrm flipH="1">
                <a:off x="2102" y="2606"/>
                <a:ext cx="276" cy="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0810" name="Freeform 169"/>
              <p:cNvSpPr/>
              <p:nvPr/>
            </p:nvSpPr>
            <p:spPr>
              <a:xfrm>
                <a:off x="2066" y="2578"/>
                <a:ext cx="72" cy="62"/>
              </a:xfrm>
              <a:custGeom>
                <a:avLst/>
                <a:gdLst>
                  <a:gd name="txL" fmla="*/ 0 w 72"/>
                  <a:gd name="txT" fmla="*/ 0 h 62"/>
                  <a:gd name="txR" fmla="*/ 72 w 72"/>
                  <a:gd name="txB" fmla="*/ 62 h 62"/>
                </a:gdLst>
                <a:ahLst/>
                <a:cxnLst>
                  <a:cxn ang="0">
                    <a:pos x="72" y="0"/>
                  </a:cxn>
                  <a:cxn ang="0">
                    <a:pos x="0" y="33"/>
                  </a:cxn>
                  <a:cxn ang="0">
                    <a:pos x="72" y="62"/>
                  </a:cxn>
                  <a:cxn ang="0">
                    <a:pos x="48" y="33"/>
                  </a:cxn>
                  <a:cxn ang="0">
                    <a:pos x="72" y="0"/>
                  </a:cxn>
                </a:cxnLst>
                <a:rect l="txL" t="txT" r="txR" b="txB"/>
                <a:pathLst>
                  <a:path w="72" h="62">
                    <a:moveTo>
                      <a:pt x="72" y="0"/>
                    </a:moveTo>
                    <a:lnTo>
                      <a:pt x="0" y="33"/>
                    </a:lnTo>
                    <a:lnTo>
                      <a:pt x="72" y="62"/>
                    </a:lnTo>
                    <a:lnTo>
                      <a:pt x="48" y="33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0773" name="Rectangle 170"/>
            <p:cNvSpPr/>
            <p:nvPr/>
          </p:nvSpPr>
          <p:spPr>
            <a:xfrm>
              <a:off x="2492" y="2290"/>
              <a:ext cx="724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运动方向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0774" name="Group 171"/>
            <p:cNvGrpSpPr/>
            <p:nvPr/>
          </p:nvGrpSpPr>
          <p:grpSpPr>
            <a:xfrm>
              <a:off x="4128" y="2304"/>
              <a:ext cx="318" cy="62"/>
              <a:chOff x="4091" y="2592"/>
              <a:chExt cx="318" cy="62"/>
            </a:xfrm>
          </p:grpSpPr>
          <p:sp>
            <p:nvSpPr>
              <p:cNvPr id="370807" name="Line 172"/>
              <p:cNvSpPr/>
              <p:nvPr/>
            </p:nvSpPr>
            <p:spPr>
              <a:xfrm flipH="1">
                <a:off x="4127" y="2626"/>
                <a:ext cx="28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0808" name="Freeform 173"/>
              <p:cNvSpPr/>
              <p:nvPr/>
            </p:nvSpPr>
            <p:spPr>
              <a:xfrm>
                <a:off x="4091" y="2592"/>
                <a:ext cx="72" cy="62"/>
              </a:xfrm>
              <a:custGeom>
                <a:avLst/>
                <a:gdLst>
                  <a:gd name="txL" fmla="*/ 0 w 72"/>
                  <a:gd name="txT" fmla="*/ 0 h 62"/>
                  <a:gd name="txR" fmla="*/ 72 w 72"/>
                  <a:gd name="txB" fmla="*/ 62 h 62"/>
                </a:gdLst>
                <a:ahLst/>
                <a:cxnLst>
                  <a:cxn ang="0">
                    <a:pos x="72" y="0"/>
                  </a:cxn>
                  <a:cxn ang="0">
                    <a:pos x="0" y="34"/>
                  </a:cxn>
                  <a:cxn ang="0">
                    <a:pos x="72" y="62"/>
                  </a:cxn>
                  <a:cxn ang="0">
                    <a:pos x="48" y="34"/>
                  </a:cxn>
                  <a:cxn ang="0">
                    <a:pos x="72" y="0"/>
                  </a:cxn>
                </a:cxnLst>
                <a:rect l="txL" t="txT" r="txR" b="txB"/>
                <a:pathLst>
                  <a:path w="72" h="62">
                    <a:moveTo>
                      <a:pt x="72" y="0"/>
                    </a:moveTo>
                    <a:lnTo>
                      <a:pt x="0" y="34"/>
                    </a:lnTo>
                    <a:lnTo>
                      <a:pt x="72" y="62"/>
                    </a:lnTo>
                    <a:lnTo>
                      <a:pt x="48" y="34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0775" name="Rectangle 174"/>
            <p:cNvSpPr/>
            <p:nvPr/>
          </p:nvSpPr>
          <p:spPr>
            <a:xfrm>
              <a:off x="4499" y="2304"/>
              <a:ext cx="733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运动方向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76" name="Line 175"/>
            <p:cNvSpPr/>
            <p:nvPr/>
          </p:nvSpPr>
          <p:spPr>
            <a:xfrm>
              <a:off x="1248" y="2712"/>
              <a:ext cx="1316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70777" name="Freeform 176"/>
            <p:cNvSpPr/>
            <p:nvPr/>
          </p:nvSpPr>
          <p:spPr>
            <a:xfrm>
              <a:off x="1598" y="2712"/>
              <a:ext cx="469" cy="187"/>
            </a:xfrm>
            <a:custGeom>
              <a:avLst/>
              <a:gdLst>
                <a:gd name="txL" fmla="*/ 0 w 469"/>
                <a:gd name="txT" fmla="*/ 0 h 187"/>
                <a:gd name="txR" fmla="*/ 469 w 469"/>
                <a:gd name="txB" fmla="*/ 187 h 187"/>
              </a:gdLst>
              <a:ahLst/>
              <a:cxnLst>
                <a:cxn ang="0">
                  <a:pos x="0" y="0"/>
                </a:cxn>
                <a:cxn ang="0">
                  <a:pos x="18" y="5"/>
                </a:cxn>
                <a:cxn ang="0">
                  <a:pos x="42" y="14"/>
                </a:cxn>
                <a:cxn ang="0">
                  <a:pos x="72" y="29"/>
                </a:cxn>
                <a:cxn ang="0">
                  <a:pos x="96" y="43"/>
                </a:cxn>
                <a:cxn ang="0">
                  <a:pos x="114" y="67"/>
                </a:cxn>
                <a:cxn ang="0">
                  <a:pos x="132" y="91"/>
                </a:cxn>
                <a:cxn ang="0">
                  <a:pos x="150" y="120"/>
                </a:cxn>
                <a:cxn ang="0">
                  <a:pos x="168" y="139"/>
                </a:cxn>
                <a:cxn ang="0">
                  <a:pos x="204" y="173"/>
                </a:cxn>
                <a:cxn ang="0">
                  <a:pos x="222" y="182"/>
                </a:cxn>
                <a:cxn ang="0">
                  <a:pos x="246" y="187"/>
                </a:cxn>
                <a:cxn ang="0">
                  <a:pos x="264" y="182"/>
                </a:cxn>
                <a:cxn ang="0">
                  <a:pos x="288" y="173"/>
                </a:cxn>
                <a:cxn ang="0">
                  <a:pos x="324" y="139"/>
                </a:cxn>
                <a:cxn ang="0">
                  <a:pos x="342" y="120"/>
                </a:cxn>
                <a:cxn ang="0">
                  <a:pos x="354" y="101"/>
                </a:cxn>
                <a:cxn ang="0">
                  <a:pos x="366" y="82"/>
                </a:cxn>
                <a:cxn ang="0">
                  <a:pos x="378" y="62"/>
                </a:cxn>
                <a:cxn ang="0">
                  <a:pos x="403" y="43"/>
                </a:cxn>
                <a:cxn ang="0">
                  <a:pos x="427" y="24"/>
                </a:cxn>
                <a:cxn ang="0">
                  <a:pos x="451" y="10"/>
                </a:cxn>
                <a:cxn ang="0">
                  <a:pos x="469" y="0"/>
                </a:cxn>
              </a:cxnLst>
              <a:rect l="txL" t="txT" r="txR" b="txB"/>
              <a:pathLst>
                <a:path w="469" h="187">
                  <a:moveTo>
                    <a:pt x="0" y="0"/>
                  </a:moveTo>
                  <a:lnTo>
                    <a:pt x="18" y="5"/>
                  </a:lnTo>
                  <a:lnTo>
                    <a:pt x="42" y="14"/>
                  </a:lnTo>
                  <a:lnTo>
                    <a:pt x="72" y="29"/>
                  </a:lnTo>
                  <a:lnTo>
                    <a:pt x="96" y="43"/>
                  </a:lnTo>
                  <a:lnTo>
                    <a:pt x="114" y="67"/>
                  </a:lnTo>
                  <a:lnTo>
                    <a:pt x="132" y="91"/>
                  </a:lnTo>
                  <a:lnTo>
                    <a:pt x="150" y="120"/>
                  </a:lnTo>
                  <a:lnTo>
                    <a:pt x="168" y="139"/>
                  </a:lnTo>
                  <a:lnTo>
                    <a:pt x="204" y="173"/>
                  </a:lnTo>
                  <a:lnTo>
                    <a:pt x="222" y="182"/>
                  </a:lnTo>
                  <a:lnTo>
                    <a:pt x="246" y="187"/>
                  </a:lnTo>
                  <a:lnTo>
                    <a:pt x="264" y="182"/>
                  </a:lnTo>
                  <a:lnTo>
                    <a:pt x="288" y="173"/>
                  </a:lnTo>
                  <a:lnTo>
                    <a:pt x="324" y="139"/>
                  </a:lnTo>
                  <a:lnTo>
                    <a:pt x="342" y="120"/>
                  </a:lnTo>
                  <a:lnTo>
                    <a:pt x="354" y="101"/>
                  </a:lnTo>
                  <a:lnTo>
                    <a:pt x="366" y="82"/>
                  </a:lnTo>
                  <a:lnTo>
                    <a:pt x="378" y="62"/>
                  </a:lnTo>
                  <a:lnTo>
                    <a:pt x="403" y="43"/>
                  </a:lnTo>
                  <a:lnTo>
                    <a:pt x="427" y="24"/>
                  </a:lnTo>
                  <a:lnTo>
                    <a:pt x="451" y="10"/>
                  </a:lnTo>
                  <a:lnTo>
                    <a:pt x="469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78" name="Line 177"/>
            <p:cNvSpPr/>
            <p:nvPr/>
          </p:nvSpPr>
          <p:spPr>
            <a:xfrm flipV="1">
              <a:off x="1236" y="2976"/>
              <a:ext cx="1" cy="5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70779" name="Line 178"/>
            <p:cNvSpPr/>
            <p:nvPr/>
          </p:nvSpPr>
          <p:spPr>
            <a:xfrm>
              <a:off x="1248" y="3240"/>
              <a:ext cx="1316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70780" name="Freeform 179"/>
            <p:cNvSpPr/>
            <p:nvPr/>
          </p:nvSpPr>
          <p:spPr>
            <a:xfrm>
              <a:off x="1584" y="3105"/>
              <a:ext cx="492" cy="255"/>
            </a:xfrm>
            <a:custGeom>
              <a:avLst/>
              <a:gdLst>
                <a:gd name="txL" fmla="*/ 0 w 492"/>
                <a:gd name="txT" fmla="*/ 0 h 255"/>
                <a:gd name="txR" fmla="*/ 492 w 492"/>
                <a:gd name="txB" fmla="*/ 255 h 255"/>
              </a:gdLst>
              <a:ahLst/>
              <a:cxnLst>
                <a:cxn ang="0">
                  <a:pos x="0" y="118"/>
                </a:cxn>
                <a:cxn ang="0">
                  <a:pos x="31" y="125"/>
                </a:cxn>
                <a:cxn ang="0">
                  <a:pos x="49" y="116"/>
                </a:cxn>
                <a:cxn ang="0">
                  <a:pos x="79" y="92"/>
                </a:cxn>
                <a:cxn ang="0">
                  <a:pos x="91" y="68"/>
                </a:cxn>
                <a:cxn ang="0">
                  <a:pos x="103" y="39"/>
                </a:cxn>
                <a:cxn ang="0">
                  <a:pos x="115" y="10"/>
                </a:cxn>
                <a:cxn ang="0">
                  <a:pos x="121" y="5"/>
                </a:cxn>
                <a:cxn ang="0">
                  <a:pos x="127" y="0"/>
                </a:cxn>
                <a:cxn ang="0">
                  <a:pos x="133" y="5"/>
                </a:cxn>
                <a:cxn ang="0">
                  <a:pos x="139" y="10"/>
                </a:cxn>
                <a:cxn ang="0">
                  <a:pos x="151" y="39"/>
                </a:cxn>
                <a:cxn ang="0">
                  <a:pos x="163" y="68"/>
                </a:cxn>
                <a:cxn ang="0">
                  <a:pos x="169" y="82"/>
                </a:cxn>
                <a:cxn ang="0">
                  <a:pos x="175" y="92"/>
                </a:cxn>
                <a:cxn ang="0">
                  <a:pos x="187" y="106"/>
                </a:cxn>
                <a:cxn ang="0">
                  <a:pos x="205" y="116"/>
                </a:cxn>
                <a:cxn ang="0">
                  <a:pos x="235" y="130"/>
                </a:cxn>
                <a:cxn ang="0">
                  <a:pos x="253" y="135"/>
                </a:cxn>
                <a:cxn ang="0">
                  <a:pos x="271" y="140"/>
                </a:cxn>
                <a:cxn ang="0">
                  <a:pos x="289" y="140"/>
                </a:cxn>
                <a:cxn ang="0">
                  <a:pos x="307" y="149"/>
                </a:cxn>
                <a:cxn ang="0">
                  <a:pos x="319" y="159"/>
                </a:cxn>
                <a:cxn ang="0">
                  <a:pos x="325" y="178"/>
                </a:cxn>
                <a:cxn ang="0">
                  <a:pos x="331" y="197"/>
                </a:cxn>
                <a:cxn ang="0">
                  <a:pos x="337" y="212"/>
                </a:cxn>
                <a:cxn ang="0">
                  <a:pos x="361" y="240"/>
                </a:cxn>
                <a:cxn ang="0">
                  <a:pos x="373" y="250"/>
                </a:cxn>
                <a:cxn ang="0">
                  <a:pos x="385" y="255"/>
                </a:cxn>
                <a:cxn ang="0">
                  <a:pos x="397" y="250"/>
                </a:cxn>
                <a:cxn ang="0">
                  <a:pos x="403" y="236"/>
                </a:cxn>
                <a:cxn ang="0">
                  <a:pos x="415" y="216"/>
                </a:cxn>
                <a:cxn ang="0">
                  <a:pos x="422" y="202"/>
                </a:cxn>
                <a:cxn ang="0">
                  <a:pos x="428" y="183"/>
                </a:cxn>
                <a:cxn ang="0">
                  <a:pos x="428" y="173"/>
                </a:cxn>
                <a:cxn ang="0">
                  <a:pos x="434" y="164"/>
                </a:cxn>
                <a:cxn ang="0">
                  <a:pos x="440" y="154"/>
                </a:cxn>
                <a:cxn ang="0">
                  <a:pos x="492" y="136"/>
                </a:cxn>
                <a:cxn ang="0">
                  <a:pos x="464" y="140"/>
                </a:cxn>
                <a:cxn ang="0">
                  <a:pos x="470" y="130"/>
                </a:cxn>
              </a:cxnLst>
              <a:rect l="txL" t="txT" r="txR" b="txB"/>
              <a:pathLst>
                <a:path w="492" h="255">
                  <a:moveTo>
                    <a:pt x="0" y="118"/>
                  </a:moveTo>
                  <a:lnTo>
                    <a:pt x="31" y="125"/>
                  </a:lnTo>
                  <a:lnTo>
                    <a:pt x="49" y="116"/>
                  </a:lnTo>
                  <a:lnTo>
                    <a:pt x="79" y="92"/>
                  </a:lnTo>
                  <a:lnTo>
                    <a:pt x="91" y="68"/>
                  </a:lnTo>
                  <a:lnTo>
                    <a:pt x="103" y="39"/>
                  </a:lnTo>
                  <a:lnTo>
                    <a:pt x="115" y="10"/>
                  </a:lnTo>
                  <a:lnTo>
                    <a:pt x="121" y="5"/>
                  </a:lnTo>
                  <a:lnTo>
                    <a:pt x="127" y="0"/>
                  </a:lnTo>
                  <a:lnTo>
                    <a:pt x="133" y="5"/>
                  </a:lnTo>
                  <a:lnTo>
                    <a:pt x="139" y="10"/>
                  </a:lnTo>
                  <a:lnTo>
                    <a:pt x="151" y="39"/>
                  </a:lnTo>
                  <a:lnTo>
                    <a:pt x="163" y="68"/>
                  </a:lnTo>
                  <a:lnTo>
                    <a:pt x="169" y="82"/>
                  </a:lnTo>
                  <a:lnTo>
                    <a:pt x="175" y="92"/>
                  </a:lnTo>
                  <a:lnTo>
                    <a:pt x="187" y="106"/>
                  </a:lnTo>
                  <a:lnTo>
                    <a:pt x="205" y="116"/>
                  </a:lnTo>
                  <a:lnTo>
                    <a:pt x="235" y="130"/>
                  </a:lnTo>
                  <a:lnTo>
                    <a:pt x="253" y="135"/>
                  </a:lnTo>
                  <a:lnTo>
                    <a:pt x="271" y="140"/>
                  </a:lnTo>
                  <a:lnTo>
                    <a:pt x="289" y="140"/>
                  </a:lnTo>
                  <a:lnTo>
                    <a:pt x="307" y="149"/>
                  </a:lnTo>
                  <a:lnTo>
                    <a:pt x="319" y="159"/>
                  </a:lnTo>
                  <a:lnTo>
                    <a:pt x="325" y="178"/>
                  </a:lnTo>
                  <a:lnTo>
                    <a:pt x="331" y="197"/>
                  </a:lnTo>
                  <a:lnTo>
                    <a:pt x="337" y="212"/>
                  </a:lnTo>
                  <a:lnTo>
                    <a:pt x="361" y="240"/>
                  </a:lnTo>
                  <a:lnTo>
                    <a:pt x="373" y="250"/>
                  </a:lnTo>
                  <a:lnTo>
                    <a:pt x="385" y="255"/>
                  </a:lnTo>
                  <a:lnTo>
                    <a:pt x="397" y="250"/>
                  </a:lnTo>
                  <a:lnTo>
                    <a:pt x="403" y="236"/>
                  </a:lnTo>
                  <a:lnTo>
                    <a:pt x="415" y="216"/>
                  </a:lnTo>
                  <a:lnTo>
                    <a:pt x="422" y="202"/>
                  </a:lnTo>
                  <a:lnTo>
                    <a:pt x="428" y="183"/>
                  </a:lnTo>
                  <a:lnTo>
                    <a:pt x="428" y="173"/>
                  </a:lnTo>
                  <a:lnTo>
                    <a:pt x="434" y="164"/>
                  </a:lnTo>
                  <a:lnTo>
                    <a:pt x="440" y="154"/>
                  </a:lnTo>
                  <a:lnTo>
                    <a:pt x="492" y="136"/>
                  </a:lnTo>
                  <a:lnTo>
                    <a:pt x="464" y="140"/>
                  </a:lnTo>
                  <a:lnTo>
                    <a:pt x="470" y="13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81" name="Freeform 180"/>
            <p:cNvSpPr/>
            <p:nvPr/>
          </p:nvSpPr>
          <p:spPr>
            <a:xfrm>
              <a:off x="3262" y="2448"/>
              <a:ext cx="2" cy="506"/>
            </a:xfrm>
            <a:custGeom>
              <a:avLst/>
              <a:gdLst>
                <a:gd name="txL" fmla="*/ 0 w 2"/>
                <a:gd name="txT" fmla="*/ 0 h 450"/>
                <a:gd name="txR" fmla="*/ 2 w 2"/>
                <a:gd name="txB" fmla="*/ 450 h 450"/>
              </a:gdLst>
              <a:ahLst/>
              <a:cxnLst>
                <a:cxn ang="0">
                  <a:pos x="2" y="450"/>
                </a:cxn>
                <a:cxn ang="0">
                  <a:pos x="0" y="0"/>
                </a:cxn>
              </a:cxnLst>
              <a:rect l="txL" t="txT" r="txR" b="txB"/>
              <a:pathLst>
                <a:path w="2" h="450">
                  <a:moveTo>
                    <a:pt x="2" y="45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82" name="Freeform 181"/>
            <p:cNvSpPr/>
            <p:nvPr/>
          </p:nvSpPr>
          <p:spPr>
            <a:xfrm>
              <a:off x="3593" y="2525"/>
              <a:ext cx="475" cy="187"/>
            </a:xfrm>
            <a:custGeom>
              <a:avLst/>
              <a:gdLst>
                <a:gd name="txL" fmla="*/ 0 w 475"/>
                <a:gd name="txT" fmla="*/ 0 h 187"/>
                <a:gd name="txR" fmla="*/ 475 w 475"/>
                <a:gd name="txB" fmla="*/ 187 h 187"/>
              </a:gdLst>
              <a:ahLst/>
              <a:cxnLst>
                <a:cxn ang="0">
                  <a:pos x="0" y="187"/>
                </a:cxn>
                <a:cxn ang="0">
                  <a:pos x="18" y="177"/>
                </a:cxn>
                <a:cxn ang="0">
                  <a:pos x="48" y="168"/>
                </a:cxn>
                <a:cxn ang="0">
                  <a:pos x="78" y="158"/>
                </a:cxn>
                <a:cxn ang="0">
                  <a:pos x="102" y="144"/>
                </a:cxn>
                <a:cxn ang="0">
                  <a:pos x="120" y="125"/>
                </a:cxn>
                <a:cxn ang="0">
                  <a:pos x="138" y="96"/>
                </a:cxn>
                <a:cxn ang="0">
                  <a:pos x="150" y="72"/>
                </a:cxn>
                <a:cxn ang="0">
                  <a:pos x="168" y="48"/>
                </a:cxn>
                <a:cxn ang="0">
                  <a:pos x="210" y="14"/>
                </a:cxn>
                <a:cxn ang="0">
                  <a:pos x="228" y="5"/>
                </a:cxn>
                <a:cxn ang="0">
                  <a:pos x="246" y="0"/>
                </a:cxn>
                <a:cxn ang="0">
                  <a:pos x="270" y="5"/>
                </a:cxn>
                <a:cxn ang="0">
                  <a:pos x="288" y="14"/>
                </a:cxn>
                <a:cxn ang="0">
                  <a:pos x="330" y="48"/>
                </a:cxn>
                <a:cxn ang="0">
                  <a:pos x="342" y="67"/>
                </a:cxn>
                <a:cxn ang="0">
                  <a:pos x="354" y="86"/>
                </a:cxn>
                <a:cxn ang="0">
                  <a:pos x="384" y="125"/>
                </a:cxn>
                <a:cxn ang="0">
                  <a:pos x="408" y="144"/>
                </a:cxn>
                <a:cxn ang="0">
                  <a:pos x="433" y="158"/>
                </a:cxn>
                <a:cxn ang="0">
                  <a:pos x="457" y="173"/>
                </a:cxn>
                <a:cxn ang="0">
                  <a:pos x="475" y="187"/>
                </a:cxn>
              </a:cxnLst>
              <a:rect l="txL" t="txT" r="txR" b="txB"/>
              <a:pathLst>
                <a:path w="475" h="187">
                  <a:moveTo>
                    <a:pt x="0" y="187"/>
                  </a:moveTo>
                  <a:lnTo>
                    <a:pt x="18" y="177"/>
                  </a:lnTo>
                  <a:lnTo>
                    <a:pt x="48" y="168"/>
                  </a:lnTo>
                  <a:lnTo>
                    <a:pt x="78" y="158"/>
                  </a:lnTo>
                  <a:lnTo>
                    <a:pt x="102" y="144"/>
                  </a:lnTo>
                  <a:lnTo>
                    <a:pt x="120" y="125"/>
                  </a:lnTo>
                  <a:lnTo>
                    <a:pt x="138" y="96"/>
                  </a:lnTo>
                  <a:lnTo>
                    <a:pt x="150" y="72"/>
                  </a:lnTo>
                  <a:lnTo>
                    <a:pt x="168" y="48"/>
                  </a:lnTo>
                  <a:lnTo>
                    <a:pt x="210" y="14"/>
                  </a:lnTo>
                  <a:lnTo>
                    <a:pt x="228" y="5"/>
                  </a:lnTo>
                  <a:lnTo>
                    <a:pt x="246" y="0"/>
                  </a:lnTo>
                  <a:lnTo>
                    <a:pt x="270" y="5"/>
                  </a:lnTo>
                  <a:lnTo>
                    <a:pt x="288" y="14"/>
                  </a:lnTo>
                  <a:lnTo>
                    <a:pt x="330" y="48"/>
                  </a:lnTo>
                  <a:lnTo>
                    <a:pt x="342" y="67"/>
                  </a:lnTo>
                  <a:lnTo>
                    <a:pt x="354" y="86"/>
                  </a:lnTo>
                  <a:lnTo>
                    <a:pt x="384" y="125"/>
                  </a:lnTo>
                  <a:lnTo>
                    <a:pt x="408" y="144"/>
                  </a:lnTo>
                  <a:lnTo>
                    <a:pt x="433" y="158"/>
                  </a:lnTo>
                  <a:lnTo>
                    <a:pt x="457" y="173"/>
                  </a:lnTo>
                  <a:lnTo>
                    <a:pt x="475" y="187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83" name="Freeform 182"/>
            <p:cNvSpPr/>
            <p:nvPr/>
          </p:nvSpPr>
          <p:spPr>
            <a:xfrm>
              <a:off x="3262" y="2976"/>
              <a:ext cx="2" cy="506"/>
            </a:xfrm>
            <a:custGeom>
              <a:avLst/>
              <a:gdLst>
                <a:gd name="txL" fmla="*/ 0 w 2"/>
                <a:gd name="txT" fmla="*/ 0 h 450"/>
                <a:gd name="txR" fmla="*/ 2 w 2"/>
                <a:gd name="txB" fmla="*/ 450 h 450"/>
              </a:gdLst>
              <a:ahLst/>
              <a:cxnLst>
                <a:cxn ang="0">
                  <a:pos x="2" y="450"/>
                </a:cxn>
                <a:cxn ang="0">
                  <a:pos x="0" y="0"/>
                </a:cxn>
              </a:cxnLst>
              <a:rect l="txL" t="txT" r="txR" b="txB"/>
              <a:pathLst>
                <a:path w="2" h="450">
                  <a:moveTo>
                    <a:pt x="2" y="45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84" name="Freeform 183"/>
            <p:cNvSpPr/>
            <p:nvPr/>
          </p:nvSpPr>
          <p:spPr>
            <a:xfrm>
              <a:off x="3581" y="3114"/>
              <a:ext cx="461" cy="255"/>
            </a:xfrm>
            <a:custGeom>
              <a:avLst/>
              <a:gdLst>
                <a:gd name="txL" fmla="*/ 0 w 461"/>
                <a:gd name="txT" fmla="*/ 0 h 255"/>
                <a:gd name="txR" fmla="*/ 461 w 461"/>
                <a:gd name="txB" fmla="*/ 255 h 255"/>
              </a:gdLst>
              <a:ahLst/>
              <a:cxnLst>
                <a:cxn ang="0">
                  <a:pos x="0" y="130"/>
                </a:cxn>
                <a:cxn ang="0">
                  <a:pos x="22" y="130"/>
                </a:cxn>
                <a:cxn ang="0">
                  <a:pos x="40" y="140"/>
                </a:cxn>
                <a:cxn ang="0">
                  <a:pos x="70" y="168"/>
                </a:cxn>
                <a:cxn ang="0">
                  <a:pos x="82" y="192"/>
                </a:cxn>
                <a:cxn ang="0">
                  <a:pos x="94" y="221"/>
                </a:cxn>
                <a:cxn ang="0">
                  <a:pos x="106" y="245"/>
                </a:cxn>
                <a:cxn ang="0">
                  <a:pos x="112" y="250"/>
                </a:cxn>
                <a:cxn ang="0">
                  <a:pos x="118" y="255"/>
                </a:cxn>
                <a:cxn ang="0">
                  <a:pos x="124" y="250"/>
                </a:cxn>
                <a:cxn ang="0">
                  <a:pos x="130" y="245"/>
                </a:cxn>
                <a:cxn ang="0">
                  <a:pos x="142" y="216"/>
                </a:cxn>
                <a:cxn ang="0">
                  <a:pos x="154" y="188"/>
                </a:cxn>
                <a:cxn ang="0">
                  <a:pos x="160" y="173"/>
                </a:cxn>
                <a:cxn ang="0">
                  <a:pos x="166" y="164"/>
                </a:cxn>
                <a:cxn ang="0">
                  <a:pos x="178" y="149"/>
                </a:cxn>
                <a:cxn ang="0">
                  <a:pos x="196" y="140"/>
                </a:cxn>
                <a:cxn ang="0">
                  <a:pos x="226" y="125"/>
                </a:cxn>
                <a:cxn ang="0">
                  <a:pos x="244" y="120"/>
                </a:cxn>
                <a:cxn ang="0">
                  <a:pos x="262" y="116"/>
                </a:cxn>
                <a:cxn ang="0">
                  <a:pos x="280" y="116"/>
                </a:cxn>
                <a:cxn ang="0">
                  <a:pos x="298" y="106"/>
                </a:cxn>
                <a:cxn ang="0">
                  <a:pos x="304" y="96"/>
                </a:cxn>
                <a:cxn ang="0">
                  <a:pos x="316" y="77"/>
                </a:cxn>
                <a:cxn ang="0">
                  <a:pos x="322" y="58"/>
                </a:cxn>
                <a:cxn ang="0">
                  <a:pos x="328" y="44"/>
                </a:cxn>
                <a:cxn ang="0">
                  <a:pos x="340" y="29"/>
                </a:cxn>
                <a:cxn ang="0">
                  <a:pos x="352" y="15"/>
                </a:cxn>
                <a:cxn ang="0">
                  <a:pos x="364" y="5"/>
                </a:cxn>
                <a:cxn ang="0">
                  <a:pos x="376" y="0"/>
                </a:cxn>
                <a:cxn ang="0">
                  <a:pos x="388" y="5"/>
                </a:cxn>
                <a:cxn ang="0">
                  <a:pos x="394" y="20"/>
                </a:cxn>
                <a:cxn ang="0">
                  <a:pos x="400" y="39"/>
                </a:cxn>
                <a:cxn ang="0">
                  <a:pos x="406" y="53"/>
                </a:cxn>
                <a:cxn ang="0">
                  <a:pos x="412" y="63"/>
                </a:cxn>
                <a:cxn ang="0">
                  <a:pos x="412" y="77"/>
                </a:cxn>
                <a:cxn ang="0">
                  <a:pos x="418" y="96"/>
                </a:cxn>
                <a:cxn ang="0">
                  <a:pos x="443" y="111"/>
                </a:cxn>
                <a:cxn ang="0">
                  <a:pos x="455" y="120"/>
                </a:cxn>
                <a:cxn ang="0">
                  <a:pos x="461" y="125"/>
                </a:cxn>
              </a:cxnLst>
              <a:rect l="txL" t="txT" r="txR" b="txB"/>
              <a:pathLst>
                <a:path w="461" h="255">
                  <a:moveTo>
                    <a:pt x="0" y="130"/>
                  </a:moveTo>
                  <a:lnTo>
                    <a:pt x="22" y="130"/>
                  </a:lnTo>
                  <a:lnTo>
                    <a:pt x="40" y="140"/>
                  </a:lnTo>
                  <a:lnTo>
                    <a:pt x="70" y="168"/>
                  </a:lnTo>
                  <a:lnTo>
                    <a:pt x="82" y="192"/>
                  </a:lnTo>
                  <a:lnTo>
                    <a:pt x="94" y="221"/>
                  </a:lnTo>
                  <a:lnTo>
                    <a:pt x="106" y="245"/>
                  </a:lnTo>
                  <a:lnTo>
                    <a:pt x="112" y="250"/>
                  </a:lnTo>
                  <a:lnTo>
                    <a:pt x="118" y="255"/>
                  </a:lnTo>
                  <a:lnTo>
                    <a:pt x="124" y="250"/>
                  </a:lnTo>
                  <a:lnTo>
                    <a:pt x="130" y="245"/>
                  </a:lnTo>
                  <a:lnTo>
                    <a:pt x="142" y="216"/>
                  </a:lnTo>
                  <a:lnTo>
                    <a:pt x="154" y="188"/>
                  </a:lnTo>
                  <a:lnTo>
                    <a:pt x="160" y="173"/>
                  </a:lnTo>
                  <a:lnTo>
                    <a:pt x="166" y="164"/>
                  </a:lnTo>
                  <a:lnTo>
                    <a:pt x="178" y="149"/>
                  </a:lnTo>
                  <a:lnTo>
                    <a:pt x="196" y="140"/>
                  </a:lnTo>
                  <a:lnTo>
                    <a:pt x="226" y="125"/>
                  </a:lnTo>
                  <a:lnTo>
                    <a:pt x="244" y="120"/>
                  </a:lnTo>
                  <a:lnTo>
                    <a:pt x="262" y="116"/>
                  </a:lnTo>
                  <a:lnTo>
                    <a:pt x="280" y="116"/>
                  </a:lnTo>
                  <a:lnTo>
                    <a:pt x="298" y="106"/>
                  </a:lnTo>
                  <a:lnTo>
                    <a:pt x="304" y="96"/>
                  </a:lnTo>
                  <a:lnTo>
                    <a:pt x="316" y="77"/>
                  </a:lnTo>
                  <a:lnTo>
                    <a:pt x="322" y="58"/>
                  </a:lnTo>
                  <a:lnTo>
                    <a:pt x="328" y="44"/>
                  </a:lnTo>
                  <a:lnTo>
                    <a:pt x="340" y="29"/>
                  </a:lnTo>
                  <a:lnTo>
                    <a:pt x="352" y="15"/>
                  </a:lnTo>
                  <a:lnTo>
                    <a:pt x="364" y="5"/>
                  </a:lnTo>
                  <a:lnTo>
                    <a:pt x="376" y="0"/>
                  </a:lnTo>
                  <a:lnTo>
                    <a:pt x="388" y="5"/>
                  </a:lnTo>
                  <a:lnTo>
                    <a:pt x="394" y="20"/>
                  </a:lnTo>
                  <a:lnTo>
                    <a:pt x="400" y="39"/>
                  </a:lnTo>
                  <a:lnTo>
                    <a:pt x="406" y="53"/>
                  </a:lnTo>
                  <a:lnTo>
                    <a:pt x="412" y="63"/>
                  </a:lnTo>
                  <a:lnTo>
                    <a:pt x="412" y="77"/>
                  </a:lnTo>
                  <a:lnTo>
                    <a:pt x="418" y="96"/>
                  </a:lnTo>
                  <a:lnTo>
                    <a:pt x="443" y="111"/>
                  </a:lnTo>
                  <a:lnTo>
                    <a:pt x="455" y="120"/>
                  </a:lnTo>
                  <a:lnTo>
                    <a:pt x="461" y="125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0785" name="Line 184"/>
            <p:cNvSpPr/>
            <p:nvPr/>
          </p:nvSpPr>
          <p:spPr>
            <a:xfrm>
              <a:off x="3261" y="2712"/>
              <a:ext cx="1316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70786" name="Line 185"/>
            <p:cNvSpPr/>
            <p:nvPr/>
          </p:nvSpPr>
          <p:spPr>
            <a:xfrm>
              <a:off x="3261" y="3240"/>
              <a:ext cx="1316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70787" name="Rectangle 186"/>
            <p:cNvSpPr/>
            <p:nvPr/>
          </p:nvSpPr>
          <p:spPr>
            <a:xfrm>
              <a:off x="2640" y="2659"/>
              <a:ext cx="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s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88" name="Rectangle 187"/>
            <p:cNvSpPr/>
            <p:nvPr/>
          </p:nvSpPr>
          <p:spPr>
            <a:xfrm>
              <a:off x="4668" y="2659"/>
              <a:ext cx="7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s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89" name="Rectangle 188"/>
            <p:cNvSpPr/>
            <p:nvPr/>
          </p:nvSpPr>
          <p:spPr>
            <a:xfrm>
              <a:off x="2658" y="3192"/>
              <a:ext cx="5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90" name="Rectangle 189"/>
            <p:cNvSpPr/>
            <p:nvPr/>
          </p:nvSpPr>
          <p:spPr>
            <a:xfrm>
              <a:off x="4710" y="3192"/>
              <a:ext cx="53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t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91" name="Rectangle 190"/>
            <p:cNvSpPr/>
            <p:nvPr/>
          </p:nvSpPr>
          <p:spPr>
            <a:xfrm>
              <a:off x="3087" y="2400"/>
              <a:ext cx="10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i="1" dirty="0">
                  <a:latin typeface="Symbol" panose="05050102010706020507" pitchFamily="18" charset="2"/>
                </a:rPr>
                <a:t>f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92" name="Rectangle 191"/>
            <p:cNvSpPr/>
            <p:nvPr/>
          </p:nvSpPr>
          <p:spPr>
            <a:xfrm>
              <a:off x="1056" y="2400"/>
              <a:ext cx="10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i="1" dirty="0">
                  <a:latin typeface="Symbol" panose="05050102010706020507" pitchFamily="18" charset="2"/>
                </a:rPr>
                <a:t>f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93" name="Rectangle 192"/>
            <p:cNvSpPr/>
            <p:nvPr/>
          </p:nvSpPr>
          <p:spPr>
            <a:xfrm>
              <a:off x="1101" y="2938"/>
              <a:ext cx="8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e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94" name="Rectangle 193"/>
            <p:cNvSpPr/>
            <p:nvPr/>
          </p:nvSpPr>
          <p:spPr>
            <a:xfrm>
              <a:off x="3123" y="2938"/>
              <a:ext cx="85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en-US" altLang="zh-CN" sz="2400" i="1" dirty="0">
                  <a:latin typeface="Times New Roman" panose="02020603050405020304" pitchFamily="18" charset="0"/>
                </a:rPr>
                <a:t>e</a:t>
              </a:r>
              <a:endParaRPr lang="en-US" altLang="zh-CN" sz="24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70795" name="Line 194"/>
            <p:cNvSpPr/>
            <p:nvPr/>
          </p:nvSpPr>
          <p:spPr>
            <a:xfrm>
              <a:off x="1657" y="1104"/>
              <a:ext cx="6" cy="17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0796" name="Line 195"/>
            <p:cNvSpPr/>
            <p:nvPr/>
          </p:nvSpPr>
          <p:spPr>
            <a:xfrm flipV="1">
              <a:off x="1236" y="2448"/>
              <a:ext cx="1" cy="50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70797" name="Line 196"/>
            <p:cNvSpPr/>
            <p:nvPr/>
          </p:nvSpPr>
          <p:spPr>
            <a:xfrm>
              <a:off x="1584" y="220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0798" name="Line 197"/>
            <p:cNvSpPr/>
            <p:nvPr/>
          </p:nvSpPr>
          <p:spPr>
            <a:xfrm>
              <a:off x="1711" y="220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0799" name="Line 198"/>
            <p:cNvSpPr/>
            <p:nvPr/>
          </p:nvSpPr>
          <p:spPr>
            <a:xfrm>
              <a:off x="1968" y="220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0800" name="Line 199"/>
            <p:cNvSpPr/>
            <p:nvPr/>
          </p:nvSpPr>
          <p:spPr>
            <a:xfrm>
              <a:off x="2085" y="2208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0801" name="Line 200"/>
            <p:cNvSpPr/>
            <p:nvPr/>
          </p:nvSpPr>
          <p:spPr>
            <a:xfrm>
              <a:off x="3581" y="2256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0802" name="Line 201"/>
            <p:cNvSpPr/>
            <p:nvPr/>
          </p:nvSpPr>
          <p:spPr>
            <a:xfrm>
              <a:off x="3697" y="2256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0803" name="Line 202"/>
            <p:cNvSpPr/>
            <p:nvPr/>
          </p:nvSpPr>
          <p:spPr>
            <a:xfrm>
              <a:off x="3951" y="2256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0804" name="Line 203"/>
            <p:cNvSpPr/>
            <p:nvPr/>
          </p:nvSpPr>
          <p:spPr>
            <a:xfrm>
              <a:off x="4069" y="2256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0805" name="Text Box 204"/>
            <p:cNvSpPr txBox="1"/>
            <p:nvPr/>
          </p:nvSpPr>
          <p:spPr>
            <a:xfrm>
              <a:off x="1430" y="3729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读出 “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0”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0806" name="Text Box 205"/>
            <p:cNvSpPr txBox="1"/>
            <p:nvPr/>
          </p:nvSpPr>
          <p:spPr>
            <a:xfrm>
              <a:off x="3408" y="3751"/>
              <a:ext cx="93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读出 “</a:t>
              </a:r>
              <a:r>
                <a:rPr lang="en-US" altLang="zh-CN" sz="24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1”</a:t>
              </a:r>
              <a:endPara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95118" name="Rectangle 20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0692" name="Text Box 207"/>
          <p:cNvSpPr txBox="1"/>
          <p:nvPr/>
        </p:nvSpPr>
        <p:spPr>
          <a:xfrm>
            <a:off x="2455863" y="1042988"/>
            <a:ext cx="589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读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0693" name="Text Box 208"/>
          <p:cNvSpPr txBox="1"/>
          <p:nvPr/>
        </p:nvSpPr>
        <p:spPr>
          <a:xfrm>
            <a:off x="1992313" y="333375"/>
            <a:ext cx="26212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磁记录原理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70694" name="AutoShape 20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0695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1714" name="Text Box 2"/>
          <p:cNvSpPr txBox="1"/>
          <p:nvPr/>
        </p:nvSpPr>
        <p:spPr>
          <a:xfrm>
            <a:off x="2270125" y="228600"/>
            <a:ext cx="5059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2. </a:t>
            </a:r>
            <a:r>
              <a:rPr lang="zh-CN" altLang="en-US" sz="3200" b="1" dirty="0">
                <a:latin typeface="Times New Roman" panose="02020603050405020304" pitchFamily="18" charset="0"/>
              </a:rPr>
              <a:t>磁表面存储器的记录方式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71715" name="Group 3"/>
          <p:cNvGrpSpPr/>
          <p:nvPr/>
        </p:nvGrpSpPr>
        <p:grpSpPr>
          <a:xfrm>
            <a:off x="1736725" y="838200"/>
            <a:ext cx="8169275" cy="5661025"/>
            <a:chOff x="134" y="528"/>
            <a:chExt cx="5146" cy="3566"/>
          </a:xfrm>
        </p:grpSpPr>
        <p:grpSp>
          <p:nvGrpSpPr>
            <p:cNvPr id="371719" name="Group 4"/>
            <p:cNvGrpSpPr/>
            <p:nvPr/>
          </p:nvGrpSpPr>
          <p:grpSpPr>
            <a:xfrm>
              <a:off x="134" y="720"/>
              <a:ext cx="5146" cy="3374"/>
              <a:chOff x="134" y="720"/>
              <a:chExt cx="5146" cy="3374"/>
            </a:xfrm>
          </p:grpSpPr>
          <p:sp>
            <p:nvSpPr>
              <p:cNvPr id="371721" name="Line 5"/>
              <p:cNvSpPr/>
              <p:nvPr/>
            </p:nvSpPr>
            <p:spPr>
              <a:xfrm>
                <a:off x="1008" y="897"/>
                <a:ext cx="0" cy="315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71722" name="Line 6"/>
              <p:cNvSpPr/>
              <p:nvPr/>
            </p:nvSpPr>
            <p:spPr>
              <a:xfrm>
                <a:off x="1482" y="897"/>
                <a:ext cx="0" cy="315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71723" name="Line 7"/>
              <p:cNvSpPr/>
              <p:nvPr/>
            </p:nvSpPr>
            <p:spPr>
              <a:xfrm>
                <a:off x="1957" y="897"/>
                <a:ext cx="0" cy="315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71724" name="Line 8"/>
              <p:cNvSpPr/>
              <p:nvPr/>
            </p:nvSpPr>
            <p:spPr>
              <a:xfrm>
                <a:off x="2432" y="897"/>
                <a:ext cx="0" cy="315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71725" name="Line 9"/>
              <p:cNvSpPr/>
              <p:nvPr/>
            </p:nvSpPr>
            <p:spPr>
              <a:xfrm>
                <a:off x="2906" y="897"/>
                <a:ext cx="0" cy="315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71726" name="Line 10"/>
              <p:cNvSpPr/>
              <p:nvPr/>
            </p:nvSpPr>
            <p:spPr>
              <a:xfrm>
                <a:off x="3381" y="897"/>
                <a:ext cx="0" cy="315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71727" name="Line 11"/>
              <p:cNvSpPr/>
              <p:nvPr/>
            </p:nvSpPr>
            <p:spPr>
              <a:xfrm>
                <a:off x="3856" y="897"/>
                <a:ext cx="0" cy="315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71728" name="Line 12"/>
              <p:cNvSpPr/>
              <p:nvPr/>
            </p:nvSpPr>
            <p:spPr>
              <a:xfrm>
                <a:off x="4330" y="897"/>
                <a:ext cx="0" cy="315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71729" name="Line 13"/>
              <p:cNvSpPr/>
              <p:nvPr/>
            </p:nvSpPr>
            <p:spPr>
              <a:xfrm>
                <a:off x="4805" y="897"/>
                <a:ext cx="0" cy="315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371730" name="Line 14"/>
              <p:cNvSpPr/>
              <p:nvPr/>
            </p:nvSpPr>
            <p:spPr>
              <a:xfrm>
                <a:off x="5280" y="897"/>
                <a:ext cx="0" cy="3157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grpSp>
            <p:nvGrpSpPr>
              <p:cNvPr id="371731" name="Group 15"/>
              <p:cNvGrpSpPr/>
              <p:nvPr/>
            </p:nvGrpSpPr>
            <p:grpSpPr>
              <a:xfrm>
                <a:off x="1008" y="1255"/>
                <a:ext cx="4272" cy="399"/>
                <a:chOff x="1008" y="815"/>
                <a:chExt cx="4272" cy="481"/>
              </a:xfrm>
            </p:grpSpPr>
            <p:sp>
              <p:nvSpPr>
                <p:cNvPr id="371777" name="Freeform 16"/>
                <p:cNvSpPr/>
                <p:nvPr/>
              </p:nvSpPr>
              <p:spPr>
                <a:xfrm>
                  <a:off x="1008" y="1056"/>
                  <a:ext cx="480" cy="240"/>
                </a:xfrm>
                <a:custGeom>
                  <a:avLst/>
                  <a:gdLst>
                    <a:gd name="txL" fmla="*/ 0 w 480"/>
                    <a:gd name="txT" fmla="*/ 0 h 240"/>
                    <a:gd name="txR" fmla="*/ 480 w 480"/>
                    <a:gd name="txB" fmla="*/ 240 h 240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240"/>
                    </a:cxn>
                    <a:cxn ang="0">
                      <a:pos x="321" y="240"/>
                    </a:cxn>
                    <a:cxn ang="0">
                      <a:pos x="323" y="0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240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240"/>
                      </a:lnTo>
                      <a:lnTo>
                        <a:pt x="321" y="240"/>
                      </a:lnTo>
                      <a:lnTo>
                        <a:pt x="323" y="0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78" name="Freeform 17"/>
                <p:cNvSpPr/>
                <p:nvPr/>
              </p:nvSpPr>
              <p:spPr>
                <a:xfrm rot="10800000">
                  <a:off x="1968" y="816"/>
                  <a:ext cx="480" cy="240"/>
                </a:xfrm>
                <a:custGeom>
                  <a:avLst/>
                  <a:gdLst>
                    <a:gd name="txL" fmla="*/ 0 w 480"/>
                    <a:gd name="txT" fmla="*/ 0 h 240"/>
                    <a:gd name="txR" fmla="*/ 480 w 480"/>
                    <a:gd name="txB" fmla="*/ 240 h 240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240"/>
                    </a:cxn>
                    <a:cxn ang="0">
                      <a:pos x="321" y="240"/>
                    </a:cxn>
                    <a:cxn ang="0">
                      <a:pos x="323" y="0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240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240"/>
                      </a:lnTo>
                      <a:lnTo>
                        <a:pt x="321" y="240"/>
                      </a:lnTo>
                      <a:lnTo>
                        <a:pt x="323" y="0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79" name="Freeform 18"/>
                <p:cNvSpPr/>
                <p:nvPr/>
              </p:nvSpPr>
              <p:spPr>
                <a:xfrm rot="10800000">
                  <a:off x="2448" y="816"/>
                  <a:ext cx="480" cy="240"/>
                </a:xfrm>
                <a:custGeom>
                  <a:avLst/>
                  <a:gdLst>
                    <a:gd name="txL" fmla="*/ 0 w 480"/>
                    <a:gd name="txT" fmla="*/ 0 h 240"/>
                    <a:gd name="txR" fmla="*/ 480 w 480"/>
                    <a:gd name="txB" fmla="*/ 240 h 240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240"/>
                    </a:cxn>
                    <a:cxn ang="0">
                      <a:pos x="321" y="240"/>
                    </a:cxn>
                    <a:cxn ang="0">
                      <a:pos x="323" y="0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240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240"/>
                      </a:lnTo>
                      <a:lnTo>
                        <a:pt x="321" y="240"/>
                      </a:lnTo>
                      <a:lnTo>
                        <a:pt x="323" y="0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80" name="Freeform 19"/>
                <p:cNvSpPr/>
                <p:nvPr/>
              </p:nvSpPr>
              <p:spPr>
                <a:xfrm rot="10800000">
                  <a:off x="4320" y="816"/>
                  <a:ext cx="480" cy="240"/>
                </a:xfrm>
                <a:custGeom>
                  <a:avLst/>
                  <a:gdLst>
                    <a:gd name="txL" fmla="*/ 0 w 480"/>
                    <a:gd name="txT" fmla="*/ 0 h 240"/>
                    <a:gd name="txR" fmla="*/ 480 w 480"/>
                    <a:gd name="txB" fmla="*/ 240 h 240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240"/>
                    </a:cxn>
                    <a:cxn ang="0">
                      <a:pos x="321" y="240"/>
                    </a:cxn>
                    <a:cxn ang="0">
                      <a:pos x="323" y="0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240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240"/>
                      </a:lnTo>
                      <a:lnTo>
                        <a:pt x="321" y="240"/>
                      </a:lnTo>
                      <a:lnTo>
                        <a:pt x="323" y="0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81" name="Freeform 20"/>
                <p:cNvSpPr/>
                <p:nvPr/>
              </p:nvSpPr>
              <p:spPr>
                <a:xfrm>
                  <a:off x="1487" y="815"/>
                  <a:ext cx="480" cy="240"/>
                </a:xfrm>
                <a:custGeom>
                  <a:avLst/>
                  <a:gdLst>
                    <a:gd name="txL" fmla="*/ 0 w 480"/>
                    <a:gd name="txT" fmla="*/ 0 h 240"/>
                    <a:gd name="txR" fmla="*/ 480 w 480"/>
                    <a:gd name="txB" fmla="*/ 240 h 240"/>
                  </a:gdLst>
                  <a:ahLst/>
                  <a:cxnLst>
                    <a:cxn ang="0">
                      <a:pos x="480" y="240"/>
                    </a:cxn>
                    <a:cxn ang="0">
                      <a:pos x="336" y="240"/>
                    </a:cxn>
                    <a:cxn ang="0">
                      <a:pos x="336" y="0"/>
                    </a:cxn>
                    <a:cxn ang="0">
                      <a:pos x="157" y="1"/>
                    </a:cxn>
                    <a:cxn ang="0">
                      <a:pos x="157" y="240"/>
                    </a:cxn>
                    <a:cxn ang="0">
                      <a:pos x="0" y="240"/>
                    </a:cxn>
                  </a:cxnLst>
                  <a:rect l="txL" t="txT" r="txR" b="txB"/>
                  <a:pathLst>
                    <a:path w="480" h="240">
                      <a:moveTo>
                        <a:pt x="480" y="240"/>
                      </a:moveTo>
                      <a:lnTo>
                        <a:pt x="336" y="240"/>
                      </a:lnTo>
                      <a:lnTo>
                        <a:pt x="336" y="0"/>
                      </a:lnTo>
                      <a:lnTo>
                        <a:pt x="157" y="1"/>
                      </a:lnTo>
                      <a:lnTo>
                        <a:pt x="157" y="240"/>
                      </a:lnTo>
                      <a:lnTo>
                        <a:pt x="0" y="24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82" name="Freeform 21"/>
                <p:cNvSpPr/>
                <p:nvPr/>
              </p:nvSpPr>
              <p:spPr>
                <a:xfrm>
                  <a:off x="2928" y="1056"/>
                  <a:ext cx="480" cy="240"/>
                </a:xfrm>
                <a:custGeom>
                  <a:avLst/>
                  <a:gdLst>
                    <a:gd name="txL" fmla="*/ 0 w 480"/>
                    <a:gd name="txT" fmla="*/ 0 h 240"/>
                    <a:gd name="txR" fmla="*/ 480 w 480"/>
                    <a:gd name="txB" fmla="*/ 240 h 240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240"/>
                    </a:cxn>
                    <a:cxn ang="0">
                      <a:pos x="324" y="240"/>
                    </a:cxn>
                    <a:cxn ang="0">
                      <a:pos x="323" y="0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240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240"/>
                      </a:lnTo>
                      <a:lnTo>
                        <a:pt x="324" y="240"/>
                      </a:lnTo>
                      <a:lnTo>
                        <a:pt x="323" y="0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83" name="Freeform 22"/>
                <p:cNvSpPr/>
                <p:nvPr/>
              </p:nvSpPr>
              <p:spPr>
                <a:xfrm>
                  <a:off x="3408" y="1056"/>
                  <a:ext cx="480" cy="240"/>
                </a:xfrm>
                <a:custGeom>
                  <a:avLst/>
                  <a:gdLst>
                    <a:gd name="txL" fmla="*/ 0 w 480"/>
                    <a:gd name="txT" fmla="*/ 0 h 240"/>
                    <a:gd name="txR" fmla="*/ 480 w 480"/>
                    <a:gd name="txB" fmla="*/ 240 h 240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240"/>
                    </a:cxn>
                    <a:cxn ang="0">
                      <a:pos x="321" y="240"/>
                    </a:cxn>
                    <a:cxn ang="0">
                      <a:pos x="323" y="0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240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240"/>
                      </a:lnTo>
                      <a:lnTo>
                        <a:pt x="321" y="240"/>
                      </a:lnTo>
                      <a:lnTo>
                        <a:pt x="323" y="0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84" name="Freeform 23"/>
                <p:cNvSpPr/>
                <p:nvPr/>
              </p:nvSpPr>
              <p:spPr>
                <a:xfrm>
                  <a:off x="3888" y="1056"/>
                  <a:ext cx="480" cy="240"/>
                </a:xfrm>
                <a:custGeom>
                  <a:avLst/>
                  <a:gdLst>
                    <a:gd name="txL" fmla="*/ 0 w 480"/>
                    <a:gd name="txT" fmla="*/ 0 h 240"/>
                    <a:gd name="txR" fmla="*/ 480 w 480"/>
                    <a:gd name="txB" fmla="*/ 240 h 240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240"/>
                    </a:cxn>
                    <a:cxn ang="0">
                      <a:pos x="321" y="240"/>
                    </a:cxn>
                    <a:cxn ang="0">
                      <a:pos x="323" y="0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240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240"/>
                      </a:lnTo>
                      <a:lnTo>
                        <a:pt x="321" y="240"/>
                      </a:lnTo>
                      <a:lnTo>
                        <a:pt x="323" y="0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85" name="Freeform 24"/>
                <p:cNvSpPr/>
                <p:nvPr/>
              </p:nvSpPr>
              <p:spPr>
                <a:xfrm>
                  <a:off x="4800" y="1056"/>
                  <a:ext cx="480" cy="240"/>
                </a:xfrm>
                <a:custGeom>
                  <a:avLst/>
                  <a:gdLst>
                    <a:gd name="txL" fmla="*/ 0 w 480"/>
                    <a:gd name="txT" fmla="*/ 0 h 240"/>
                    <a:gd name="txR" fmla="*/ 480 w 480"/>
                    <a:gd name="txB" fmla="*/ 240 h 240"/>
                  </a:gdLst>
                  <a:ahLst/>
                  <a:cxnLst>
                    <a:cxn ang="0">
                      <a:pos x="0" y="0"/>
                    </a:cxn>
                    <a:cxn ang="0">
                      <a:pos x="144" y="0"/>
                    </a:cxn>
                    <a:cxn ang="0">
                      <a:pos x="144" y="240"/>
                    </a:cxn>
                    <a:cxn ang="0">
                      <a:pos x="324" y="240"/>
                    </a:cxn>
                    <a:cxn ang="0">
                      <a:pos x="323" y="0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240">
                      <a:moveTo>
                        <a:pt x="0" y="0"/>
                      </a:moveTo>
                      <a:lnTo>
                        <a:pt x="144" y="0"/>
                      </a:lnTo>
                      <a:lnTo>
                        <a:pt x="144" y="240"/>
                      </a:lnTo>
                      <a:lnTo>
                        <a:pt x="324" y="240"/>
                      </a:lnTo>
                      <a:lnTo>
                        <a:pt x="323" y="0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71732" name="Freeform 25"/>
              <p:cNvSpPr/>
              <p:nvPr/>
            </p:nvSpPr>
            <p:spPr>
              <a:xfrm>
                <a:off x="1008" y="1766"/>
                <a:ext cx="4272" cy="331"/>
              </a:xfrm>
              <a:custGeom>
                <a:avLst/>
                <a:gdLst>
                  <a:gd name="txL" fmla="*/ 0 w 4272"/>
                  <a:gd name="txT" fmla="*/ 0 h 331"/>
                  <a:gd name="txR" fmla="*/ 4272 w 4272"/>
                  <a:gd name="txB" fmla="*/ 331 h 331"/>
                </a:gdLst>
                <a:ahLst/>
                <a:cxnLst>
                  <a:cxn ang="0">
                    <a:pos x="0" y="321"/>
                  </a:cxn>
                  <a:cxn ang="0">
                    <a:pos x="474" y="321"/>
                  </a:cxn>
                  <a:cxn ang="0">
                    <a:pos x="474" y="2"/>
                  </a:cxn>
                  <a:cxn ang="0">
                    <a:pos x="1893" y="2"/>
                  </a:cxn>
                  <a:cxn ang="0">
                    <a:pos x="1893" y="326"/>
                  </a:cxn>
                  <a:cxn ang="0">
                    <a:pos x="3321" y="331"/>
                  </a:cxn>
                  <a:cxn ang="0">
                    <a:pos x="3321" y="0"/>
                  </a:cxn>
                  <a:cxn ang="0">
                    <a:pos x="3795" y="0"/>
                  </a:cxn>
                  <a:cxn ang="0">
                    <a:pos x="3798" y="321"/>
                  </a:cxn>
                  <a:cxn ang="0">
                    <a:pos x="4272" y="321"/>
                  </a:cxn>
                </a:cxnLst>
                <a:rect l="txL" t="txT" r="txR" b="txB"/>
                <a:pathLst>
                  <a:path w="4272" h="331">
                    <a:moveTo>
                      <a:pt x="0" y="321"/>
                    </a:moveTo>
                    <a:lnTo>
                      <a:pt x="474" y="321"/>
                    </a:lnTo>
                    <a:lnTo>
                      <a:pt x="474" y="2"/>
                    </a:lnTo>
                    <a:lnTo>
                      <a:pt x="1893" y="2"/>
                    </a:lnTo>
                    <a:lnTo>
                      <a:pt x="1893" y="326"/>
                    </a:lnTo>
                    <a:lnTo>
                      <a:pt x="3321" y="331"/>
                    </a:lnTo>
                    <a:lnTo>
                      <a:pt x="3321" y="0"/>
                    </a:lnTo>
                    <a:lnTo>
                      <a:pt x="3795" y="0"/>
                    </a:lnTo>
                    <a:lnTo>
                      <a:pt x="3798" y="321"/>
                    </a:lnTo>
                    <a:lnTo>
                      <a:pt x="4272" y="32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1733" name="Freeform 26"/>
              <p:cNvSpPr/>
              <p:nvPr/>
            </p:nvSpPr>
            <p:spPr>
              <a:xfrm>
                <a:off x="1008" y="2246"/>
                <a:ext cx="4272" cy="323"/>
              </a:xfrm>
              <a:custGeom>
                <a:avLst/>
                <a:gdLst>
                  <a:gd name="txL" fmla="*/ 0 w 4272"/>
                  <a:gd name="txT" fmla="*/ 0 h 390"/>
                  <a:gd name="txR" fmla="*/ 4272 w 4272"/>
                  <a:gd name="txB" fmla="*/ 390 h 390"/>
                </a:gdLst>
                <a:ahLst/>
                <a:cxnLst>
                  <a:cxn ang="0">
                    <a:pos x="0" y="390"/>
                  </a:cxn>
                  <a:cxn ang="0">
                    <a:pos x="471" y="390"/>
                  </a:cxn>
                  <a:cxn ang="0">
                    <a:pos x="468" y="6"/>
                  </a:cxn>
                  <a:cxn ang="0">
                    <a:pos x="945" y="6"/>
                  </a:cxn>
                  <a:cxn ang="0">
                    <a:pos x="945" y="390"/>
                  </a:cxn>
                  <a:cxn ang="0">
                    <a:pos x="1425" y="390"/>
                  </a:cxn>
                  <a:cxn ang="0">
                    <a:pos x="1425" y="0"/>
                  </a:cxn>
                  <a:cxn ang="0">
                    <a:pos x="3315" y="3"/>
                  </a:cxn>
                  <a:cxn ang="0">
                    <a:pos x="3312" y="390"/>
                  </a:cxn>
                  <a:cxn ang="0">
                    <a:pos x="4272" y="390"/>
                  </a:cxn>
                </a:cxnLst>
                <a:rect l="txL" t="txT" r="txR" b="txB"/>
                <a:pathLst>
                  <a:path w="4272" h="390">
                    <a:moveTo>
                      <a:pt x="0" y="390"/>
                    </a:moveTo>
                    <a:lnTo>
                      <a:pt x="471" y="390"/>
                    </a:lnTo>
                    <a:lnTo>
                      <a:pt x="468" y="6"/>
                    </a:lnTo>
                    <a:lnTo>
                      <a:pt x="945" y="6"/>
                    </a:lnTo>
                    <a:lnTo>
                      <a:pt x="945" y="390"/>
                    </a:lnTo>
                    <a:lnTo>
                      <a:pt x="1425" y="390"/>
                    </a:lnTo>
                    <a:lnTo>
                      <a:pt x="1425" y="0"/>
                    </a:lnTo>
                    <a:lnTo>
                      <a:pt x="3315" y="3"/>
                    </a:lnTo>
                    <a:lnTo>
                      <a:pt x="3312" y="390"/>
                    </a:lnTo>
                    <a:lnTo>
                      <a:pt x="4272" y="39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371734" name="Group 27"/>
              <p:cNvGrpSpPr/>
              <p:nvPr/>
            </p:nvGrpSpPr>
            <p:grpSpPr>
              <a:xfrm>
                <a:off x="1008" y="2729"/>
                <a:ext cx="4272" cy="327"/>
                <a:chOff x="1008" y="2592"/>
                <a:chExt cx="4272" cy="395"/>
              </a:xfrm>
            </p:grpSpPr>
            <p:sp>
              <p:nvSpPr>
                <p:cNvPr id="371768" name="Freeform 28"/>
                <p:cNvSpPr/>
                <p:nvPr/>
              </p:nvSpPr>
              <p:spPr>
                <a:xfrm>
                  <a:off x="1475" y="2592"/>
                  <a:ext cx="480" cy="384"/>
                </a:xfrm>
                <a:custGeom>
                  <a:avLst/>
                  <a:gdLst>
                    <a:gd name="txL" fmla="*/ 0 w 480"/>
                    <a:gd name="txT" fmla="*/ 0 h 384"/>
                    <a:gd name="txR" fmla="*/ 480 w 480"/>
                    <a:gd name="txB" fmla="*/ 384 h 384"/>
                  </a:gdLst>
                  <a:ahLst/>
                  <a:cxnLst>
                    <a:cxn ang="0">
                      <a:pos x="0" y="0"/>
                    </a:cxn>
                    <a:cxn ang="0">
                      <a:pos x="240" y="0"/>
                    </a:cxn>
                    <a:cxn ang="0">
                      <a:pos x="240" y="384"/>
                    </a:cxn>
                    <a:cxn ang="0">
                      <a:pos x="480" y="384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384">
                      <a:moveTo>
                        <a:pt x="0" y="0"/>
                      </a:moveTo>
                      <a:lnTo>
                        <a:pt x="240" y="0"/>
                      </a:lnTo>
                      <a:lnTo>
                        <a:pt x="240" y="384"/>
                      </a:lnTo>
                      <a:lnTo>
                        <a:pt x="480" y="384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69" name="Freeform 29"/>
                <p:cNvSpPr/>
                <p:nvPr/>
              </p:nvSpPr>
              <p:spPr>
                <a:xfrm>
                  <a:off x="1956" y="2592"/>
                  <a:ext cx="480" cy="384"/>
                </a:xfrm>
                <a:custGeom>
                  <a:avLst/>
                  <a:gdLst>
                    <a:gd name="txL" fmla="*/ 0 w 480"/>
                    <a:gd name="txT" fmla="*/ 0 h 384"/>
                    <a:gd name="txR" fmla="*/ 480 w 480"/>
                    <a:gd name="txB" fmla="*/ 384 h 384"/>
                  </a:gdLst>
                  <a:ahLst/>
                  <a:cxnLst>
                    <a:cxn ang="0">
                      <a:pos x="0" y="0"/>
                    </a:cxn>
                    <a:cxn ang="0">
                      <a:pos x="240" y="0"/>
                    </a:cxn>
                    <a:cxn ang="0">
                      <a:pos x="240" y="384"/>
                    </a:cxn>
                    <a:cxn ang="0">
                      <a:pos x="480" y="384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384">
                      <a:moveTo>
                        <a:pt x="0" y="0"/>
                      </a:moveTo>
                      <a:lnTo>
                        <a:pt x="240" y="0"/>
                      </a:lnTo>
                      <a:lnTo>
                        <a:pt x="240" y="384"/>
                      </a:lnTo>
                      <a:lnTo>
                        <a:pt x="480" y="384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70" name="Freeform 30"/>
                <p:cNvSpPr/>
                <p:nvPr/>
              </p:nvSpPr>
              <p:spPr>
                <a:xfrm>
                  <a:off x="2437" y="2592"/>
                  <a:ext cx="480" cy="395"/>
                </a:xfrm>
                <a:custGeom>
                  <a:avLst/>
                  <a:gdLst>
                    <a:gd name="txL" fmla="*/ 0 w 480"/>
                    <a:gd name="txT" fmla="*/ 0 h 395"/>
                    <a:gd name="txR" fmla="*/ 480 w 480"/>
                    <a:gd name="txB" fmla="*/ 395 h 395"/>
                  </a:gdLst>
                  <a:ahLst/>
                  <a:cxnLst>
                    <a:cxn ang="0">
                      <a:pos x="0" y="0"/>
                    </a:cxn>
                    <a:cxn ang="0">
                      <a:pos x="240" y="0"/>
                    </a:cxn>
                    <a:cxn ang="0">
                      <a:pos x="240" y="384"/>
                    </a:cxn>
                    <a:cxn ang="0">
                      <a:pos x="480" y="384"/>
                    </a:cxn>
                    <a:cxn ang="0">
                      <a:pos x="480" y="395"/>
                    </a:cxn>
                  </a:cxnLst>
                  <a:rect l="txL" t="txT" r="txR" b="txB"/>
                  <a:pathLst>
                    <a:path w="480" h="395">
                      <a:moveTo>
                        <a:pt x="0" y="0"/>
                      </a:moveTo>
                      <a:lnTo>
                        <a:pt x="240" y="0"/>
                      </a:lnTo>
                      <a:lnTo>
                        <a:pt x="240" y="384"/>
                      </a:lnTo>
                      <a:lnTo>
                        <a:pt x="480" y="384"/>
                      </a:lnTo>
                      <a:lnTo>
                        <a:pt x="480" y="39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71" name="Freeform 31"/>
                <p:cNvSpPr/>
                <p:nvPr/>
              </p:nvSpPr>
              <p:spPr>
                <a:xfrm>
                  <a:off x="1008" y="2592"/>
                  <a:ext cx="480" cy="384"/>
                </a:xfrm>
                <a:custGeom>
                  <a:avLst/>
                  <a:gdLst>
                    <a:gd name="txL" fmla="*/ 0 w 480"/>
                    <a:gd name="txT" fmla="*/ 0 h 384"/>
                    <a:gd name="txR" fmla="*/ 480 w 480"/>
                    <a:gd name="txB" fmla="*/ 384 h 384"/>
                  </a:gdLst>
                  <a:ahLst/>
                  <a:cxnLst>
                    <a:cxn ang="0">
                      <a:pos x="0" y="384"/>
                    </a:cxn>
                    <a:cxn ang="0">
                      <a:pos x="240" y="384"/>
                    </a:cxn>
                    <a:cxn ang="0">
                      <a:pos x="240" y="0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384">
                      <a:moveTo>
                        <a:pt x="0" y="384"/>
                      </a:moveTo>
                      <a:lnTo>
                        <a:pt x="240" y="384"/>
                      </a:lnTo>
                      <a:lnTo>
                        <a:pt x="240" y="0"/>
                      </a:ln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72" name="Freeform 32"/>
                <p:cNvSpPr/>
                <p:nvPr/>
              </p:nvSpPr>
              <p:spPr>
                <a:xfrm>
                  <a:off x="2880" y="2592"/>
                  <a:ext cx="501" cy="387"/>
                </a:xfrm>
                <a:custGeom>
                  <a:avLst/>
                  <a:gdLst>
                    <a:gd name="txL" fmla="*/ 0 w 501"/>
                    <a:gd name="txT" fmla="*/ 0 h 387"/>
                    <a:gd name="txR" fmla="*/ 501 w 501"/>
                    <a:gd name="txB" fmla="*/ 387 h 387"/>
                  </a:gdLst>
                  <a:ahLst/>
                  <a:cxnLst>
                    <a:cxn ang="0">
                      <a:pos x="0" y="384"/>
                    </a:cxn>
                    <a:cxn ang="0">
                      <a:pos x="270" y="384"/>
                    </a:cxn>
                    <a:cxn ang="0">
                      <a:pos x="267" y="0"/>
                    </a:cxn>
                    <a:cxn ang="0">
                      <a:pos x="501" y="0"/>
                    </a:cxn>
                    <a:cxn ang="0">
                      <a:pos x="501" y="387"/>
                    </a:cxn>
                  </a:cxnLst>
                  <a:rect l="txL" t="txT" r="txR" b="txB"/>
                  <a:pathLst>
                    <a:path w="501" h="387">
                      <a:moveTo>
                        <a:pt x="0" y="384"/>
                      </a:moveTo>
                      <a:lnTo>
                        <a:pt x="270" y="384"/>
                      </a:lnTo>
                      <a:lnTo>
                        <a:pt x="267" y="0"/>
                      </a:lnTo>
                      <a:lnTo>
                        <a:pt x="501" y="0"/>
                      </a:lnTo>
                      <a:lnTo>
                        <a:pt x="501" y="387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73" name="Freeform 33"/>
                <p:cNvSpPr/>
                <p:nvPr/>
              </p:nvSpPr>
              <p:spPr>
                <a:xfrm>
                  <a:off x="3381" y="2592"/>
                  <a:ext cx="474" cy="387"/>
                </a:xfrm>
                <a:custGeom>
                  <a:avLst/>
                  <a:gdLst>
                    <a:gd name="txL" fmla="*/ 0 w 474"/>
                    <a:gd name="txT" fmla="*/ 0 h 387"/>
                    <a:gd name="txR" fmla="*/ 474 w 474"/>
                    <a:gd name="txB" fmla="*/ 387 h 387"/>
                  </a:gdLst>
                  <a:ahLst/>
                  <a:cxnLst>
                    <a:cxn ang="0">
                      <a:pos x="0" y="384"/>
                    </a:cxn>
                    <a:cxn ang="0">
                      <a:pos x="249" y="384"/>
                    </a:cxn>
                    <a:cxn ang="0">
                      <a:pos x="246" y="0"/>
                    </a:cxn>
                    <a:cxn ang="0">
                      <a:pos x="474" y="0"/>
                    </a:cxn>
                    <a:cxn ang="0">
                      <a:pos x="474" y="387"/>
                    </a:cxn>
                  </a:cxnLst>
                  <a:rect l="txL" t="txT" r="txR" b="txB"/>
                  <a:pathLst>
                    <a:path w="474" h="387">
                      <a:moveTo>
                        <a:pt x="0" y="384"/>
                      </a:moveTo>
                      <a:lnTo>
                        <a:pt x="249" y="384"/>
                      </a:lnTo>
                      <a:lnTo>
                        <a:pt x="246" y="0"/>
                      </a:lnTo>
                      <a:lnTo>
                        <a:pt x="474" y="0"/>
                      </a:lnTo>
                      <a:lnTo>
                        <a:pt x="474" y="387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74" name="Freeform 34"/>
                <p:cNvSpPr/>
                <p:nvPr/>
              </p:nvSpPr>
              <p:spPr>
                <a:xfrm>
                  <a:off x="3858" y="2592"/>
                  <a:ext cx="483" cy="384"/>
                </a:xfrm>
                <a:custGeom>
                  <a:avLst/>
                  <a:gdLst>
                    <a:gd name="txL" fmla="*/ 0 w 483"/>
                    <a:gd name="txT" fmla="*/ 0 h 384"/>
                    <a:gd name="txR" fmla="*/ 483 w 483"/>
                    <a:gd name="txB" fmla="*/ 384 h 384"/>
                  </a:gdLst>
                  <a:ahLst/>
                  <a:cxnLst>
                    <a:cxn ang="0">
                      <a:pos x="0" y="384"/>
                    </a:cxn>
                    <a:cxn ang="0">
                      <a:pos x="252" y="384"/>
                    </a:cxn>
                    <a:cxn ang="0">
                      <a:pos x="252" y="0"/>
                    </a:cxn>
                    <a:cxn ang="0">
                      <a:pos x="483" y="0"/>
                    </a:cxn>
                    <a:cxn ang="0">
                      <a:pos x="483" y="3"/>
                    </a:cxn>
                  </a:cxnLst>
                  <a:rect l="txL" t="txT" r="txR" b="txB"/>
                  <a:pathLst>
                    <a:path w="483" h="384">
                      <a:moveTo>
                        <a:pt x="0" y="384"/>
                      </a:moveTo>
                      <a:lnTo>
                        <a:pt x="252" y="384"/>
                      </a:lnTo>
                      <a:lnTo>
                        <a:pt x="252" y="0"/>
                      </a:lnTo>
                      <a:lnTo>
                        <a:pt x="483" y="0"/>
                      </a:lnTo>
                      <a:lnTo>
                        <a:pt x="483" y="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75" name="Freeform 35"/>
                <p:cNvSpPr/>
                <p:nvPr/>
              </p:nvSpPr>
              <p:spPr>
                <a:xfrm>
                  <a:off x="4320" y="2592"/>
                  <a:ext cx="484" cy="395"/>
                </a:xfrm>
                <a:custGeom>
                  <a:avLst/>
                  <a:gdLst>
                    <a:gd name="txL" fmla="*/ 0 w 484"/>
                    <a:gd name="txT" fmla="*/ 0 h 395"/>
                    <a:gd name="txR" fmla="*/ 484 w 484"/>
                    <a:gd name="txB" fmla="*/ 395 h 395"/>
                  </a:gdLst>
                  <a:ahLst/>
                  <a:cxnLst>
                    <a:cxn ang="0">
                      <a:pos x="0" y="0"/>
                    </a:cxn>
                    <a:cxn ang="0">
                      <a:pos x="240" y="0"/>
                    </a:cxn>
                    <a:cxn ang="0">
                      <a:pos x="240" y="384"/>
                    </a:cxn>
                    <a:cxn ang="0">
                      <a:pos x="480" y="384"/>
                    </a:cxn>
                    <a:cxn ang="0">
                      <a:pos x="484" y="395"/>
                    </a:cxn>
                  </a:cxnLst>
                  <a:rect l="txL" t="txT" r="txR" b="txB"/>
                  <a:pathLst>
                    <a:path w="484" h="395">
                      <a:moveTo>
                        <a:pt x="0" y="0"/>
                      </a:moveTo>
                      <a:lnTo>
                        <a:pt x="240" y="0"/>
                      </a:lnTo>
                      <a:lnTo>
                        <a:pt x="240" y="384"/>
                      </a:lnTo>
                      <a:lnTo>
                        <a:pt x="480" y="384"/>
                      </a:lnTo>
                      <a:lnTo>
                        <a:pt x="484" y="39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76" name="Freeform 36"/>
                <p:cNvSpPr/>
                <p:nvPr/>
              </p:nvSpPr>
              <p:spPr>
                <a:xfrm>
                  <a:off x="4797" y="2592"/>
                  <a:ext cx="483" cy="384"/>
                </a:xfrm>
                <a:custGeom>
                  <a:avLst/>
                  <a:gdLst>
                    <a:gd name="txL" fmla="*/ 0 w 483"/>
                    <a:gd name="txT" fmla="*/ 0 h 384"/>
                    <a:gd name="txR" fmla="*/ 483 w 483"/>
                    <a:gd name="txB" fmla="*/ 384 h 384"/>
                  </a:gdLst>
                  <a:ahLst/>
                  <a:cxnLst>
                    <a:cxn ang="0">
                      <a:pos x="0" y="384"/>
                    </a:cxn>
                    <a:cxn ang="0">
                      <a:pos x="252" y="384"/>
                    </a:cxn>
                    <a:cxn ang="0">
                      <a:pos x="252" y="0"/>
                    </a:cxn>
                    <a:cxn ang="0">
                      <a:pos x="483" y="0"/>
                    </a:cxn>
                    <a:cxn ang="0">
                      <a:pos x="483" y="3"/>
                    </a:cxn>
                  </a:cxnLst>
                  <a:rect l="txL" t="txT" r="txR" b="txB"/>
                  <a:pathLst>
                    <a:path w="483" h="384">
                      <a:moveTo>
                        <a:pt x="0" y="384"/>
                      </a:moveTo>
                      <a:lnTo>
                        <a:pt x="252" y="384"/>
                      </a:lnTo>
                      <a:lnTo>
                        <a:pt x="252" y="0"/>
                      </a:lnTo>
                      <a:lnTo>
                        <a:pt x="483" y="0"/>
                      </a:lnTo>
                      <a:lnTo>
                        <a:pt x="483" y="3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71735" name="Freeform 37"/>
              <p:cNvSpPr/>
              <p:nvPr/>
            </p:nvSpPr>
            <p:spPr>
              <a:xfrm>
                <a:off x="1008" y="3207"/>
                <a:ext cx="474" cy="318"/>
              </a:xfrm>
              <a:custGeom>
                <a:avLst/>
                <a:gdLst>
                  <a:gd name="txL" fmla="*/ 0 w 474"/>
                  <a:gd name="txT" fmla="*/ 0 h 318"/>
                  <a:gd name="txR" fmla="*/ 474 w 474"/>
                  <a:gd name="txB" fmla="*/ 318 h 318"/>
                </a:gdLst>
                <a:ahLst/>
                <a:cxnLst>
                  <a:cxn ang="0">
                    <a:pos x="0" y="318"/>
                  </a:cxn>
                  <a:cxn ang="0">
                    <a:pos x="474" y="318"/>
                  </a:cxn>
                  <a:cxn ang="0">
                    <a:pos x="474" y="0"/>
                  </a:cxn>
                </a:cxnLst>
                <a:rect l="txL" t="txT" r="txR" b="txB"/>
                <a:pathLst>
                  <a:path w="474" h="318">
                    <a:moveTo>
                      <a:pt x="0" y="318"/>
                    </a:moveTo>
                    <a:lnTo>
                      <a:pt x="474" y="318"/>
                    </a:lnTo>
                    <a:lnTo>
                      <a:pt x="474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1736" name="Freeform 38"/>
              <p:cNvSpPr/>
              <p:nvPr/>
            </p:nvSpPr>
            <p:spPr>
              <a:xfrm>
                <a:off x="1488" y="3206"/>
                <a:ext cx="471" cy="319"/>
              </a:xfrm>
              <a:custGeom>
                <a:avLst/>
                <a:gdLst>
                  <a:gd name="txL" fmla="*/ 0 w 471"/>
                  <a:gd name="txT" fmla="*/ 0 h 319"/>
                  <a:gd name="txR" fmla="*/ 471 w 471"/>
                  <a:gd name="txB" fmla="*/ 319 h 319"/>
                </a:gdLst>
                <a:ahLst/>
                <a:cxnLst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319"/>
                  </a:cxn>
                  <a:cxn ang="0">
                    <a:pos x="471" y="319"/>
                  </a:cxn>
                  <a:cxn ang="0">
                    <a:pos x="468" y="4"/>
                  </a:cxn>
                </a:cxnLst>
                <a:rect l="txL" t="txT" r="txR" b="txB"/>
                <a:pathLst>
                  <a:path w="471" h="319">
                    <a:moveTo>
                      <a:pt x="0" y="0"/>
                    </a:moveTo>
                    <a:lnTo>
                      <a:pt x="240" y="0"/>
                    </a:lnTo>
                    <a:lnTo>
                      <a:pt x="240" y="319"/>
                    </a:lnTo>
                    <a:lnTo>
                      <a:pt x="471" y="319"/>
                    </a:lnTo>
                    <a:lnTo>
                      <a:pt x="468" y="4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1737" name="Freeform 39"/>
              <p:cNvSpPr/>
              <p:nvPr/>
            </p:nvSpPr>
            <p:spPr>
              <a:xfrm>
                <a:off x="1956" y="3206"/>
                <a:ext cx="480" cy="319"/>
              </a:xfrm>
              <a:custGeom>
                <a:avLst/>
                <a:gdLst>
                  <a:gd name="txL" fmla="*/ 0 w 480"/>
                  <a:gd name="txT" fmla="*/ 0 h 384"/>
                  <a:gd name="txR" fmla="*/ 480 w 480"/>
                  <a:gd name="txB" fmla="*/ 384 h 384"/>
                </a:gdLst>
                <a:ahLst/>
                <a:cxnLst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384"/>
                  </a:cxn>
                  <a:cxn ang="0">
                    <a:pos x="480" y="384"/>
                  </a:cxn>
                  <a:cxn ang="0">
                    <a:pos x="480" y="0"/>
                  </a:cxn>
                </a:cxnLst>
                <a:rect l="txL" t="txT" r="txR" b="txB"/>
                <a:pathLst>
                  <a:path w="480" h="384">
                    <a:moveTo>
                      <a:pt x="0" y="0"/>
                    </a:moveTo>
                    <a:lnTo>
                      <a:pt x="240" y="0"/>
                    </a:lnTo>
                    <a:lnTo>
                      <a:pt x="240" y="384"/>
                    </a:lnTo>
                    <a:lnTo>
                      <a:pt x="480" y="384"/>
                    </a:lnTo>
                    <a:lnTo>
                      <a:pt x="480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1738" name="Freeform 40"/>
              <p:cNvSpPr/>
              <p:nvPr/>
            </p:nvSpPr>
            <p:spPr>
              <a:xfrm>
                <a:off x="2437" y="3206"/>
                <a:ext cx="470" cy="321"/>
              </a:xfrm>
              <a:custGeom>
                <a:avLst/>
                <a:gdLst>
                  <a:gd name="txL" fmla="*/ 0 w 470"/>
                  <a:gd name="txT" fmla="*/ 0 h 387"/>
                  <a:gd name="txR" fmla="*/ 470 w 470"/>
                  <a:gd name="txB" fmla="*/ 387 h 387"/>
                </a:gdLst>
                <a:ahLst/>
                <a:cxnLst>
                  <a:cxn ang="0">
                    <a:pos x="0" y="0"/>
                  </a:cxn>
                  <a:cxn ang="0">
                    <a:pos x="240" y="0"/>
                  </a:cxn>
                  <a:cxn ang="0">
                    <a:pos x="240" y="384"/>
                  </a:cxn>
                  <a:cxn ang="0">
                    <a:pos x="470" y="384"/>
                  </a:cxn>
                  <a:cxn ang="0">
                    <a:pos x="464" y="387"/>
                  </a:cxn>
                </a:cxnLst>
                <a:rect l="txL" t="txT" r="txR" b="txB"/>
                <a:pathLst>
                  <a:path w="470" h="387">
                    <a:moveTo>
                      <a:pt x="0" y="0"/>
                    </a:moveTo>
                    <a:lnTo>
                      <a:pt x="240" y="0"/>
                    </a:lnTo>
                    <a:lnTo>
                      <a:pt x="240" y="384"/>
                    </a:lnTo>
                    <a:lnTo>
                      <a:pt x="470" y="384"/>
                    </a:lnTo>
                    <a:lnTo>
                      <a:pt x="464" y="3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1739" name="Freeform 41"/>
              <p:cNvSpPr/>
              <p:nvPr/>
            </p:nvSpPr>
            <p:spPr>
              <a:xfrm>
                <a:off x="2907" y="3206"/>
                <a:ext cx="1422" cy="322"/>
              </a:xfrm>
              <a:custGeom>
                <a:avLst/>
                <a:gdLst>
                  <a:gd name="txL" fmla="*/ 0 w 1422"/>
                  <a:gd name="txT" fmla="*/ 0 h 322"/>
                  <a:gd name="txR" fmla="*/ 1422 w 1422"/>
                  <a:gd name="txB" fmla="*/ 322 h 322"/>
                </a:gdLst>
                <a:ahLst/>
                <a:cxnLst>
                  <a:cxn ang="0">
                    <a:pos x="0" y="319"/>
                  </a:cxn>
                  <a:cxn ang="0">
                    <a:pos x="0" y="0"/>
                  </a:cxn>
                  <a:cxn ang="0">
                    <a:pos x="474" y="0"/>
                  </a:cxn>
                  <a:cxn ang="0">
                    <a:pos x="474" y="319"/>
                  </a:cxn>
                  <a:cxn ang="0">
                    <a:pos x="951" y="322"/>
                  </a:cxn>
                  <a:cxn ang="0">
                    <a:pos x="951" y="2"/>
                  </a:cxn>
                  <a:cxn ang="0">
                    <a:pos x="1422" y="2"/>
                  </a:cxn>
                  <a:cxn ang="0">
                    <a:pos x="1422" y="321"/>
                  </a:cxn>
                </a:cxnLst>
                <a:rect l="txL" t="txT" r="txR" b="txB"/>
                <a:pathLst>
                  <a:path w="1422" h="322">
                    <a:moveTo>
                      <a:pt x="0" y="319"/>
                    </a:moveTo>
                    <a:lnTo>
                      <a:pt x="0" y="0"/>
                    </a:lnTo>
                    <a:lnTo>
                      <a:pt x="474" y="0"/>
                    </a:lnTo>
                    <a:lnTo>
                      <a:pt x="474" y="319"/>
                    </a:lnTo>
                    <a:lnTo>
                      <a:pt x="951" y="322"/>
                    </a:lnTo>
                    <a:lnTo>
                      <a:pt x="951" y="2"/>
                    </a:lnTo>
                    <a:lnTo>
                      <a:pt x="1422" y="2"/>
                    </a:lnTo>
                    <a:lnTo>
                      <a:pt x="1422" y="321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1740" name="Freeform 42"/>
              <p:cNvSpPr/>
              <p:nvPr/>
            </p:nvSpPr>
            <p:spPr>
              <a:xfrm>
                <a:off x="4326" y="3204"/>
                <a:ext cx="480" cy="321"/>
              </a:xfrm>
              <a:custGeom>
                <a:avLst/>
                <a:gdLst>
                  <a:gd name="txL" fmla="*/ 0 w 480"/>
                  <a:gd name="txT" fmla="*/ 0 h 387"/>
                  <a:gd name="txR" fmla="*/ 480 w 480"/>
                  <a:gd name="txB" fmla="*/ 387 h 387"/>
                </a:gdLst>
                <a:ahLst/>
                <a:cxnLst>
                  <a:cxn ang="0">
                    <a:pos x="0" y="387"/>
                  </a:cxn>
                  <a:cxn ang="0">
                    <a:pos x="249" y="387"/>
                  </a:cxn>
                  <a:cxn ang="0">
                    <a:pos x="249" y="0"/>
                  </a:cxn>
                  <a:cxn ang="0">
                    <a:pos x="480" y="0"/>
                  </a:cxn>
                  <a:cxn ang="0">
                    <a:pos x="480" y="387"/>
                  </a:cxn>
                </a:cxnLst>
                <a:rect l="txL" t="txT" r="txR" b="txB"/>
                <a:pathLst>
                  <a:path w="480" h="387">
                    <a:moveTo>
                      <a:pt x="0" y="387"/>
                    </a:moveTo>
                    <a:lnTo>
                      <a:pt x="249" y="387"/>
                    </a:lnTo>
                    <a:lnTo>
                      <a:pt x="249" y="0"/>
                    </a:lnTo>
                    <a:lnTo>
                      <a:pt x="480" y="0"/>
                    </a:lnTo>
                    <a:lnTo>
                      <a:pt x="480" y="387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1741" name="Line 43"/>
              <p:cNvSpPr/>
              <p:nvPr/>
            </p:nvSpPr>
            <p:spPr>
              <a:xfrm>
                <a:off x="4800" y="3525"/>
                <a:ext cx="4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71742" name="Group 44"/>
              <p:cNvGrpSpPr/>
              <p:nvPr/>
            </p:nvGrpSpPr>
            <p:grpSpPr>
              <a:xfrm>
                <a:off x="1008" y="3681"/>
                <a:ext cx="4269" cy="325"/>
                <a:chOff x="1008" y="3789"/>
                <a:chExt cx="4269" cy="391"/>
              </a:xfrm>
            </p:grpSpPr>
            <p:sp>
              <p:nvSpPr>
                <p:cNvPr id="371761" name="Freeform 45"/>
                <p:cNvSpPr/>
                <p:nvPr/>
              </p:nvSpPr>
              <p:spPr>
                <a:xfrm>
                  <a:off x="1008" y="4179"/>
                  <a:ext cx="480" cy="1"/>
                </a:xfrm>
                <a:custGeom>
                  <a:avLst/>
                  <a:gdLst>
                    <a:gd name="txL" fmla="*/ 0 w 480"/>
                    <a:gd name="txT" fmla="*/ 0 h 1"/>
                    <a:gd name="txR" fmla="*/ 480 w 480"/>
                    <a:gd name="txB" fmla="*/ 1 h 1"/>
                  </a:gdLst>
                  <a:ahLst/>
                  <a:cxnLst>
                    <a:cxn ang="0">
                      <a:pos x="0" y="0"/>
                    </a:cxn>
                    <a:cxn ang="0">
                      <a:pos x="480" y="0"/>
                    </a:cxn>
                  </a:cxnLst>
                  <a:rect l="txL" t="txT" r="txR" b="txB"/>
                  <a:pathLst>
                    <a:path w="480" h="1">
                      <a:moveTo>
                        <a:pt x="0" y="0"/>
                      </a:moveTo>
                      <a:lnTo>
                        <a:pt x="48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62" name="Freeform 46"/>
                <p:cNvSpPr/>
                <p:nvPr/>
              </p:nvSpPr>
              <p:spPr>
                <a:xfrm>
                  <a:off x="1488" y="3792"/>
                  <a:ext cx="480" cy="387"/>
                </a:xfrm>
                <a:custGeom>
                  <a:avLst/>
                  <a:gdLst>
                    <a:gd name="txL" fmla="*/ 0 w 480"/>
                    <a:gd name="txT" fmla="*/ 0 h 387"/>
                    <a:gd name="txR" fmla="*/ 480 w 480"/>
                    <a:gd name="txB" fmla="*/ 387 h 387"/>
                  </a:gdLst>
                  <a:ahLst/>
                  <a:cxnLst>
                    <a:cxn ang="0">
                      <a:pos x="0" y="387"/>
                    </a:cxn>
                    <a:cxn ang="0">
                      <a:pos x="249" y="387"/>
                    </a:cxn>
                    <a:cxn ang="0">
                      <a:pos x="249" y="0"/>
                    </a:cxn>
                    <a:cxn ang="0">
                      <a:pos x="480" y="0"/>
                    </a:cxn>
                    <a:cxn ang="0">
                      <a:pos x="477" y="6"/>
                    </a:cxn>
                  </a:cxnLst>
                  <a:rect l="txL" t="txT" r="txR" b="txB"/>
                  <a:pathLst>
                    <a:path w="480" h="387">
                      <a:moveTo>
                        <a:pt x="0" y="387"/>
                      </a:moveTo>
                      <a:lnTo>
                        <a:pt x="249" y="387"/>
                      </a:lnTo>
                      <a:lnTo>
                        <a:pt x="249" y="0"/>
                      </a:lnTo>
                      <a:lnTo>
                        <a:pt x="480" y="0"/>
                      </a:lnTo>
                      <a:lnTo>
                        <a:pt x="477" y="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63" name="Freeform 47"/>
                <p:cNvSpPr/>
                <p:nvPr/>
              </p:nvSpPr>
              <p:spPr>
                <a:xfrm>
                  <a:off x="1968" y="3792"/>
                  <a:ext cx="471" cy="387"/>
                </a:xfrm>
                <a:custGeom>
                  <a:avLst/>
                  <a:gdLst>
                    <a:gd name="txL" fmla="*/ 0 w 471"/>
                    <a:gd name="txT" fmla="*/ 0 h 387"/>
                    <a:gd name="txR" fmla="*/ 471 w 471"/>
                    <a:gd name="txB" fmla="*/ 387 h 387"/>
                  </a:gdLst>
                  <a:ahLst/>
                  <a:cxnLst>
                    <a:cxn ang="0">
                      <a:pos x="0" y="0"/>
                    </a:cxn>
                    <a:cxn ang="0">
                      <a:pos x="240" y="0"/>
                    </a:cxn>
                    <a:cxn ang="0">
                      <a:pos x="240" y="384"/>
                    </a:cxn>
                    <a:cxn ang="0">
                      <a:pos x="468" y="384"/>
                    </a:cxn>
                    <a:cxn ang="0">
                      <a:pos x="471" y="387"/>
                    </a:cxn>
                  </a:cxnLst>
                  <a:rect l="txL" t="txT" r="txR" b="txB"/>
                  <a:pathLst>
                    <a:path w="471" h="387">
                      <a:moveTo>
                        <a:pt x="0" y="0"/>
                      </a:moveTo>
                      <a:lnTo>
                        <a:pt x="240" y="0"/>
                      </a:lnTo>
                      <a:lnTo>
                        <a:pt x="240" y="384"/>
                      </a:lnTo>
                      <a:lnTo>
                        <a:pt x="468" y="384"/>
                      </a:lnTo>
                      <a:lnTo>
                        <a:pt x="471" y="387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64" name="Freeform 48"/>
                <p:cNvSpPr/>
                <p:nvPr/>
              </p:nvSpPr>
              <p:spPr>
                <a:xfrm>
                  <a:off x="2423" y="3789"/>
                  <a:ext cx="480" cy="387"/>
                </a:xfrm>
                <a:custGeom>
                  <a:avLst/>
                  <a:gdLst>
                    <a:gd name="txL" fmla="*/ 0 w 480"/>
                    <a:gd name="txT" fmla="*/ 0 h 387"/>
                    <a:gd name="txR" fmla="*/ 480 w 480"/>
                    <a:gd name="txB" fmla="*/ 387 h 387"/>
                  </a:gdLst>
                  <a:ahLst/>
                  <a:cxnLst>
                    <a:cxn ang="0">
                      <a:pos x="0" y="387"/>
                    </a:cxn>
                    <a:cxn ang="0">
                      <a:pos x="249" y="387"/>
                    </a:cxn>
                    <a:cxn ang="0">
                      <a:pos x="249" y="0"/>
                    </a:cxn>
                    <a:cxn ang="0">
                      <a:pos x="480" y="0"/>
                    </a:cxn>
                    <a:cxn ang="0">
                      <a:pos x="477" y="6"/>
                    </a:cxn>
                  </a:cxnLst>
                  <a:rect l="txL" t="txT" r="txR" b="txB"/>
                  <a:pathLst>
                    <a:path w="480" h="387">
                      <a:moveTo>
                        <a:pt x="0" y="387"/>
                      </a:moveTo>
                      <a:lnTo>
                        <a:pt x="249" y="387"/>
                      </a:lnTo>
                      <a:lnTo>
                        <a:pt x="249" y="0"/>
                      </a:lnTo>
                      <a:lnTo>
                        <a:pt x="480" y="0"/>
                      </a:lnTo>
                      <a:lnTo>
                        <a:pt x="477" y="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65" name="Freeform 49"/>
                <p:cNvSpPr/>
                <p:nvPr/>
              </p:nvSpPr>
              <p:spPr>
                <a:xfrm>
                  <a:off x="2907" y="3789"/>
                  <a:ext cx="703" cy="387"/>
                </a:xfrm>
                <a:custGeom>
                  <a:avLst/>
                  <a:gdLst>
                    <a:gd name="txL" fmla="*/ 0 w 703"/>
                    <a:gd name="txT" fmla="*/ 0 h 387"/>
                    <a:gd name="txR" fmla="*/ 703 w 703"/>
                    <a:gd name="txB" fmla="*/ 387 h 387"/>
                  </a:gdLst>
                  <a:ahLst/>
                  <a:cxnLst>
                    <a:cxn ang="0">
                      <a:pos x="0" y="0"/>
                    </a:cxn>
                    <a:cxn ang="0">
                      <a:pos x="472" y="0"/>
                    </a:cxn>
                    <a:cxn ang="0">
                      <a:pos x="472" y="384"/>
                    </a:cxn>
                    <a:cxn ang="0">
                      <a:pos x="700" y="384"/>
                    </a:cxn>
                    <a:cxn ang="0">
                      <a:pos x="703" y="387"/>
                    </a:cxn>
                  </a:cxnLst>
                  <a:rect l="txL" t="txT" r="txR" b="txB"/>
                  <a:pathLst>
                    <a:path w="703" h="387">
                      <a:moveTo>
                        <a:pt x="0" y="0"/>
                      </a:moveTo>
                      <a:lnTo>
                        <a:pt x="472" y="0"/>
                      </a:lnTo>
                      <a:lnTo>
                        <a:pt x="472" y="384"/>
                      </a:lnTo>
                      <a:lnTo>
                        <a:pt x="700" y="384"/>
                      </a:lnTo>
                      <a:lnTo>
                        <a:pt x="703" y="387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66" name="Freeform 50"/>
                <p:cNvSpPr/>
                <p:nvPr/>
              </p:nvSpPr>
              <p:spPr>
                <a:xfrm>
                  <a:off x="3600" y="3789"/>
                  <a:ext cx="480" cy="387"/>
                </a:xfrm>
                <a:custGeom>
                  <a:avLst/>
                  <a:gdLst>
                    <a:gd name="txL" fmla="*/ 0 w 480"/>
                    <a:gd name="txT" fmla="*/ 0 h 387"/>
                    <a:gd name="txR" fmla="*/ 480 w 480"/>
                    <a:gd name="txB" fmla="*/ 387 h 387"/>
                  </a:gdLst>
                  <a:ahLst/>
                  <a:cxnLst>
                    <a:cxn ang="0">
                      <a:pos x="0" y="387"/>
                    </a:cxn>
                    <a:cxn ang="0">
                      <a:pos x="249" y="387"/>
                    </a:cxn>
                    <a:cxn ang="0">
                      <a:pos x="249" y="0"/>
                    </a:cxn>
                    <a:cxn ang="0">
                      <a:pos x="480" y="0"/>
                    </a:cxn>
                    <a:cxn ang="0">
                      <a:pos x="477" y="6"/>
                    </a:cxn>
                  </a:cxnLst>
                  <a:rect l="txL" t="txT" r="txR" b="txB"/>
                  <a:pathLst>
                    <a:path w="480" h="387">
                      <a:moveTo>
                        <a:pt x="0" y="387"/>
                      </a:moveTo>
                      <a:lnTo>
                        <a:pt x="249" y="387"/>
                      </a:lnTo>
                      <a:lnTo>
                        <a:pt x="249" y="0"/>
                      </a:lnTo>
                      <a:lnTo>
                        <a:pt x="480" y="0"/>
                      </a:lnTo>
                      <a:lnTo>
                        <a:pt x="477" y="6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1767" name="Freeform 51"/>
                <p:cNvSpPr/>
                <p:nvPr/>
              </p:nvSpPr>
              <p:spPr>
                <a:xfrm>
                  <a:off x="4074" y="3789"/>
                  <a:ext cx="1203" cy="390"/>
                </a:xfrm>
                <a:custGeom>
                  <a:avLst/>
                  <a:gdLst>
                    <a:gd name="txL" fmla="*/ 0 w 1203"/>
                    <a:gd name="txT" fmla="*/ 0 h 390"/>
                    <a:gd name="txR" fmla="*/ 1203 w 1203"/>
                    <a:gd name="txB" fmla="*/ 390 h 390"/>
                  </a:gdLst>
                  <a:ahLst/>
                  <a:cxnLst>
                    <a:cxn ang="0">
                      <a:pos x="0" y="0"/>
                    </a:cxn>
                    <a:cxn ang="0">
                      <a:pos x="492" y="0"/>
                    </a:cxn>
                    <a:cxn ang="0">
                      <a:pos x="492" y="390"/>
                    </a:cxn>
                    <a:cxn ang="0">
                      <a:pos x="1203" y="390"/>
                    </a:cxn>
                    <a:cxn ang="0">
                      <a:pos x="726" y="390"/>
                    </a:cxn>
                  </a:cxnLst>
                  <a:rect l="txL" t="txT" r="txR" b="txB"/>
                  <a:pathLst>
                    <a:path w="1203" h="390">
                      <a:moveTo>
                        <a:pt x="0" y="0"/>
                      </a:moveTo>
                      <a:lnTo>
                        <a:pt x="492" y="0"/>
                      </a:lnTo>
                      <a:lnTo>
                        <a:pt x="492" y="390"/>
                      </a:lnTo>
                      <a:lnTo>
                        <a:pt x="1203" y="390"/>
                      </a:lnTo>
                      <a:lnTo>
                        <a:pt x="726" y="39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371743" name="Text Box 52"/>
              <p:cNvSpPr txBox="1"/>
              <p:nvPr/>
            </p:nvSpPr>
            <p:spPr>
              <a:xfrm>
                <a:off x="1142" y="99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44" name="Text Box 53"/>
              <p:cNvSpPr txBox="1"/>
              <p:nvPr/>
            </p:nvSpPr>
            <p:spPr>
              <a:xfrm>
                <a:off x="1620" y="99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45" name="Text Box 54"/>
              <p:cNvSpPr txBox="1"/>
              <p:nvPr/>
            </p:nvSpPr>
            <p:spPr>
              <a:xfrm>
                <a:off x="2099" y="99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46" name="Text Box 55"/>
              <p:cNvSpPr txBox="1"/>
              <p:nvPr/>
            </p:nvSpPr>
            <p:spPr>
              <a:xfrm>
                <a:off x="2578" y="99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47" name="Text Box 56"/>
              <p:cNvSpPr txBox="1"/>
              <p:nvPr/>
            </p:nvSpPr>
            <p:spPr>
              <a:xfrm>
                <a:off x="3057" y="99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48" name="Text Box 57"/>
              <p:cNvSpPr txBox="1"/>
              <p:nvPr/>
            </p:nvSpPr>
            <p:spPr>
              <a:xfrm>
                <a:off x="3535" y="99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49" name="Text Box 58"/>
              <p:cNvSpPr txBox="1"/>
              <p:nvPr/>
            </p:nvSpPr>
            <p:spPr>
              <a:xfrm>
                <a:off x="4014" y="99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50" name="Text Box 59"/>
              <p:cNvSpPr txBox="1"/>
              <p:nvPr/>
            </p:nvSpPr>
            <p:spPr>
              <a:xfrm>
                <a:off x="4493" y="99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51" name="Text Box 60"/>
              <p:cNvSpPr txBox="1"/>
              <p:nvPr/>
            </p:nvSpPr>
            <p:spPr>
              <a:xfrm>
                <a:off x="4972" y="999"/>
                <a:ext cx="21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0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52" name="Line 61"/>
              <p:cNvSpPr/>
              <p:nvPr/>
            </p:nvSpPr>
            <p:spPr>
              <a:xfrm>
                <a:off x="1008" y="977"/>
                <a:ext cx="48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stealth" w="sm" len="sm"/>
                <a:tailEnd type="stealth" w="sm" len="sm"/>
              </a:ln>
            </p:spPr>
          </p:sp>
          <p:sp>
            <p:nvSpPr>
              <p:cNvPr id="371753" name="Text Box 62"/>
              <p:cNvSpPr txBox="1"/>
              <p:nvPr/>
            </p:nvSpPr>
            <p:spPr>
              <a:xfrm>
                <a:off x="134" y="1055"/>
                <a:ext cx="755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b="1" dirty="0">
                    <a:latin typeface="Times New Roman" panose="02020603050405020304" pitchFamily="18" charset="0"/>
                  </a:rPr>
                  <a:t>数据序列</a:t>
                </a:r>
                <a:endParaRPr lang="zh-CN" altLang="en-US" sz="20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54" name="Text Box 63"/>
              <p:cNvSpPr txBox="1"/>
              <p:nvPr/>
            </p:nvSpPr>
            <p:spPr>
              <a:xfrm>
                <a:off x="278" y="1476"/>
                <a:ext cx="38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RZ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55" name="Text Box 64"/>
              <p:cNvSpPr txBox="1"/>
              <p:nvPr/>
            </p:nvSpPr>
            <p:spPr>
              <a:xfrm>
                <a:off x="278" y="1942"/>
                <a:ext cx="521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NRZ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56" name="Text Box 65"/>
              <p:cNvSpPr txBox="1"/>
              <p:nvPr/>
            </p:nvSpPr>
            <p:spPr>
              <a:xfrm>
                <a:off x="278" y="2407"/>
                <a:ext cx="617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NRZ1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57" name="Text Box 66"/>
              <p:cNvSpPr txBox="1"/>
              <p:nvPr/>
            </p:nvSpPr>
            <p:spPr>
              <a:xfrm>
                <a:off x="278" y="2872"/>
                <a:ext cx="41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PM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58" name="Text Box 67"/>
              <p:cNvSpPr txBox="1"/>
              <p:nvPr/>
            </p:nvSpPr>
            <p:spPr>
              <a:xfrm>
                <a:off x="278" y="3337"/>
                <a:ext cx="414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FM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59" name="Text Box 68"/>
              <p:cNvSpPr txBox="1"/>
              <p:nvPr/>
            </p:nvSpPr>
            <p:spPr>
              <a:xfrm>
                <a:off x="278" y="3804"/>
                <a:ext cx="595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dirty="0">
                    <a:latin typeface="Times New Roman" panose="02020603050405020304" pitchFamily="18" charset="0"/>
                  </a:rPr>
                  <a:t>MFM</a:t>
                </a:r>
                <a:endParaRPr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1760" name="Text Box 69"/>
              <p:cNvSpPr txBox="1"/>
              <p:nvPr/>
            </p:nvSpPr>
            <p:spPr>
              <a:xfrm>
                <a:off x="1122" y="720"/>
                <a:ext cx="232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T</a:t>
                </a:r>
                <a:endParaRPr lang="en-US" altLang="zh-CN" sz="2400" b="1" i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1720" name="Text Box 70"/>
            <p:cNvSpPr txBox="1"/>
            <p:nvPr/>
          </p:nvSpPr>
          <p:spPr>
            <a:xfrm>
              <a:off x="960" y="52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位周期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96007" name="Rectangle 71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1717" name="AutoShape 72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1718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2738" name="Text Box 2"/>
          <p:cNvSpPr txBox="1"/>
          <p:nvPr/>
        </p:nvSpPr>
        <p:spPr>
          <a:xfrm>
            <a:off x="2133600" y="457200"/>
            <a:ext cx="5715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例</a:t>
            </a:r>
            <a:r>
              <a:rPr lang="zh-CN" altLang="en-US" sz="3200" b="1" dirty="0">
                <a:latin typeface="Times New Roman" panose="02020603050405020304" pitchFamily="18" charset="0"/>
              </a:rPr>
              <a:t>  </a:t>
            </a:r>
            <a:r>
              <a:rPr lang="en-US" altLang="zh-CN" sz="3200" b="1" dirty="0">
                <a:latin typeface="Times New Roman" panose="02020603050405020304" pitchFamily="18" charset="0"/>
              </a:rPr>
              <a:t>NRZ1 </a:t>
            </a:r>
            <a:r>
              <a:rPr lang="zh-CN" altLang="en-US" sz="3200" b="1" dirty="0">
                <a:latin typeface="Times New Roman" panose="02020603050405020304" pitchFamily="18" charset="0"/>
              </a:rPr>
              <a:t>的读出代码波形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372739" name="Group 3"/>
          <p:cNvGrpSpPr/>
          <p:nvPr/>
        </p:nvGrpSpPr>
        <p:grpSpPr>
          <a:xfrm>
            <a:off x="2651125" y="1524000"/>
            <a:ext cx="6873875" cy="4648200"/>
            <a:chOff x="710" y="960"/>
            <a:chExt cx="4330" cy="2928"/>
          </a:xfrm>
        </p:grpSpPr>
        <p:sp>
          <p:nvSpPr>
            <p:cNvPr id="372786" name="Line 4"/>
            <p:cNvSpPr/>
            <p:nvPr/>
          </p:nvSpPr>
          <p:spPr>
            <a:xfrm>
              <a:off x="1680" y="960"/>
              <a:ext cx="0" cy="29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2787" name="Line 5"/>
            <p:cNvSpPr/>
            <p:nvPr/>
          </p:nvSpPr>
          <p:spPr>
            <a:xfrm>
              <a:off x="2160" y="960"/>
              <a:ext cx="0" cy="29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2788" name="Line 6"/>
            <p:cNvSpPr/>
            <p:nvPr/>
          </p:nvSpPr>
          <p:spPr>
            <a:xfrm>
              <a:off x="2640" y="960"/>
              <a:ext cx="0" cy="29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2789" name="Line 7"/>
            <p:cNvSpPr/>
            <p:nvPr/>
          </p:nvSpPr>
          <p:spPr>
            <a:xfrm>
              <a:off x="3120" y="960"/>
              <a:ext cx="0" cy="29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2790" name="Line 8"/>
            <p:cNvSpPr/>
            <p:nvPr/>
          </p:nvSpPr>
          <p:spPr>
            <a:xfrm>
              <a:off x="3600" y="960"/>
              <a:ext cx="0" cy="29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2791" name="Line 9"/>
            <p:cNvSpPr/>
            <p:nvPr/>
          </p:nvSpPr>
          <p:spPr>
            <a:xfrm>
              <a:off x="4080" y="960"/>
              <a:ext cx="0" cy="29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2792" name="Line 10"/>
            <p:cNvSpPr/>
            <p:nvPr/>
          </p:nvSpPr>
          <p:spPr>
            <a:xfrm>
              <a:off x="4560" y="960"/>
              <a:ext cx="0" cy="29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2793" name="Line 11"/>
            <p:cNvSpPr/>
            <p:nvPr/>
          </p:nvSpPr>
          <p:spPr>
            <a:xfrm>
              <a:off x="5040" y="960"/>
              <a:ext cx="0" cy="292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72794" name="Text Box 12"/>
            <p:cNvSpPr txBox="1"/>
            <p:nvPr/>
          </p:nvSpPr>
          <p:spPr>
            <a:xfrm>
              <a:off x="1804" y="100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2795" name="Text Box 13"/>
            <p:cNvSpPr txBox="1"/>
            <p:nvPr/>
          </p:nvSpPr>
          <p:spPr>
            <a:xfrm>
              <a:off x="2287" y="100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2796" name="Text Box 14"/>
            <p:cNvSpPr txBox="1"/>
            <p:nvPr/>
          </p:nvSpPr>
          <p:spPr>
            <a:xfrm>
              <a:off x="2770" y="100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2797" name="Text Box 15"/>
            <p:cNvSpPr txBox="1"/>
            <p:nvPr/>
          </p:nvSpPr>
          <p:spPr>
            <a:xfrm>
              <a:off x="3254" y="100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2798" name="Text Box 16"/>
            <p:cNvSpPr txBox="1"/>
            <p:nvPr/>
          </p:nvSpPr>
          <p:spPr>
            <a:xfrm>
              <a:off x="3737" y="100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2799" name="Text Box 17"/>
            <p:cNvSpPr txBox="1"/>
            <p:nvPr/>
          </p:nvSpPr>
          <p:spPr>
            <a:xfrm>
              <a:off x="4220" y="100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1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2800" name="Text Box 18"/>
            <p:cNvSpPr txBox="1"/>
            <p:nvPr/>
          </p:nvSpPr>
          <p:spPr>
            <a:xfrm>
              <a:off x="4704" y="1008"/>
              <a:ext cx="211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b="1" dirty="0">
                  <a:latin typeface="Times New Roman" panose="02020603050405020304" pitchFamily="18" charset="0"/>
                </a:rPr>
                <a:t>0</a:t>
              </a:r>
              <a:endParaRPr lang="en-US" altLang="zh-CN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2801" name="Text Box 19"/>
            <p:cNvSpPr txBox="1"/>
            <p:nvPr/>
          </p:nvSpPr>
          <p:spPr>
            <a:xfrm>
              <a:off x="710" y="1008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数据序列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2740" name="Group 20"/>
          <p:cNvGrpSpPr/>
          <p:nvPr/>
        </p:nvGrpSpPr>
        <p:grpSpPr>
          <a:xfrm>
            <a:off x="2651125" y="2286000"/>
            <a:ext cx="6873875" cy="555625"/>
            <a:chOff x="710" y="1440"/>
            <a:chExt cx="4330" cy="350"/>
          </a:xfrm>
        </p:grpSpPr>
        <p:sp>
          <p:nvSpPr>
            <p:cNvPr id="372784" name="Freeform 21"/>
            <p:cNvSpPr/>
            <p:nvPr/>
          </p:nvSpPr>
          <p:spPr>
            <a:xfrm>
              <a:off x="1680" y="1440"/>
              <a:ext cx="3360" cy="336"/>
            </a:xfrm>
            <a:custGeom>
              <a:avLst/>
              <a:gdLst>
                <a:gd name="txL" fmla="*/ 0 w 3360"/>
                <a:gd name="txT" fmla="*/ 0 h 336"/>
                <a:gd name="txR" fmla="*/ 3360 w 3360"/>
                <a:gd name="txB" fmla="*/ 336 h 336"/>
              </a:gdLst>
              <a:ahLst/>
              <a:cxnLst>
                <a:cxn ang="0">
                  <a:pos x="0" y="336"/>
                </a:cxn>
                <a:cxn ang="0">
                  <a:pos x="480" y="336"/>
                </a:cxn>
                <a:cxn ang="0">
                  <a:pos x="480" y="0"/>
                </a:cxn>
                <a:cxn ang="0">
                  <a:pos x="960" y="0"/>
                </a:cxn>
                <a:cxn ang="0">
                  <a:pos x="960" y="336"/>
                </a:cxn>
                <a:cxn ang="0">
                  <a:pos x="2400" y="336"/>
                </a:cxn>
                <a:cxn ang="0">
                  <a:pos x="2400" y="0"/>
                </a:cxn>
                <a:cxn ang="0">
                  <a:pos x="3360" y="0"/>
                </a:cxn>
              </a:cxnLst>
              <a:rect l="txL" t="txT" r="txR" b="txB"/>
              <a:pathLst>
                <a:path w="3360" h="336">
                  <a:moveTo>
                    <a:pt x="0" y="336"/>
                  </a:moveTo>
                  <a:lnTo>
                    <a:pt x="480" y="336"/>
                  </a:lnTo>
                  <a:lnTo>
                    <a:pt x="480" y="0"/>
                  </a:lnTo>
                  <a:lnTo>
                    <a:pt x="960" y="0"/>
                  </a:lnTo>
                  <a:lnTo>
                    <a:pt x="960" y="336"/>
                  </a:lnTo>
                  <a:lnTo>
                    <a:pt x="2400" y="336"/>
                  </a:lnTo>
                  <a:lnTo>
                    <a:pt x="2400" y="0"/>
                  </a:lnTo>
                  <a:lnTo>
                    <a:pt x="33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85" name="Text Box 22"/>
            <p:cNvSpPr txBox="1"/>
            <p:nvPr/>
          </p:nvSpPr>
          <p:spPr>
            <a:xfrm>
              <a:off x="710" y="1500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驱动电流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2741" name="Group 23"/>
          <p:cNvGrpSpPr/>
          <p:nvPr/>
        </p:nvGrpSpPr>
        <p:grpSpPr>
          <a:xfrm>
            <a:off x="2651125" y="3124200"/>
            <a:ext cx="6873875" cy="533400"/>
            <a:chOff x="710" y="1968"/>
            <a:chExt cx="4330" cy="336"/>
          </a:xfrm>
        </p:grpSpPr>
        <p:sp>
          <p:nvSpPr>
            <p:cNvPr id="372782" name="Freeform 24"/>
            <p:cNvSpPr/>
            <p:nvPr/>
          </p:nvSpPr>
          <p:spPr>
            <a:xfrm>
              <a:off x="1680" y="1968"/>
              <a:ext cx="3360" cy="336"/>
            </a:xfrm>
            <a:custGeom>
              <a:avLst/>
              <a:gdLst>
                <a:gd name="txL" fmla="*/ 0 w 3360"/>
                <a:gd name="txT" fmla="*/ 0 h 336"/>
                <a:gd name="txR" fmla="*/ 3360 w 3360"/>
                <a:gd name="txB" fmla="*/ 336 h 336"/>
              </a:gdLst>
              <a:ahLst/>
              <a:cxnLst>
                <a:cxn ang="0">
                  <a:pos x="0" y="336"/>
                </a:cxn>
                <a:cxn ang="0">
                  <a:pos x="480" y="336"/>
                </a:cxn>
                <a:cxn ang="0">
                  <a:pos x="480" y="0"/>
                </a:cxn>
                <a:cxn ang="0">
                  <a:pos x="960" y="0"/>
                </a:cxn>
                <a:cxn ang="0">
                  <a:pos x="960" y="336"/>
                </a:cxn>
                <a:cxn ang="0">
                  <a:pos x="2400" y="336"/>
                </a:cxn>
                <a:cxn ang="0">
                  <a:pos x="2400" y="0"/>
                </a:cxn>
                <a:cxn ang="0">
                  <a:pos x="3360" y="0"/>
                </a:cxn>
              </a:cxnLst>
              <a:rect l="txL" t="txT" r="txR" b="txB"/>
              <a:pathLst>
                <a:path w="3360" h="336">
                  <a:moveTo>
                    <a:pt x="0" y="336"/>
                  </a:moveTo>
                  <a:lnTo>
                    <a:pt x="480" y="336"/>
                  </a:lnTo>
                  <a:lnTo>
                    <a:pt x="480" y="0"/>
                  </a:lnTo>
                  <a:lnTo>
                    <a:pt x="960" y="0"/>
                  </a:lnTo>
                  <a:lnTo>
                    <a:pt x="960" y="336"/>
                  </a:lnTo>
                  <a:lnTo>
                    <a:pt x="2400" y="336"/>
                  </a:lnTo>
                  <a:lnTo>
                    <a:pt x="2400" y="0"/>
                  </a:lnTo>
                  <a:lnTo>
                    <a:pt x="3360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83" name="Text Box 25"/>
            <p:cNvSpPr txBox="1"/>
            <p:nvPr/>
          </p:nvSpPr>
          <p:spPr>
            <a:xfrm>
              <a:off x="710" y="1992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磁通变化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2742" name="Group 26"/>
          <p:cNvGrpSpPr/>
          <p:nvPr/>
        </p:nvGrpSpPr>
        <p:grpSpPr>
          <a:xfrm>
            <a:off x="2651125" y="3910013"/>
            <a:ext cx="6873875" cy="719137"/>
            <a:chOff x="710" y="2463"/>
            <a:chExt cx="4330" cy="453"/>
          </a:xfrm>
        </p:grpSpPr>
        <p:sp>
          <p:nvSpPr>
            <p:cNvPr id="372774" name="Line 27"/>
            <p:cNvSpPr/>
            <p:nvPr/>
          </p:nvSpPr>
          <p:spPr>
            <a:xfrm>
              <a:off x="2400" y="2688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2775" name="Group 28"/>
            <p:cNvGrpSpPr/>
            <p:nvPr/>
          </p:nvGrpSpPr>
          <p:grpSpPr>
            <a:xfrm>
              <a:off x="710" y="2463"/>
              <a:ext cx="4330" cy="453"/>
              <a:chOff x="710" y="2463"/>
              <a:chExt cx="4330" cy="453"/>
            </a:xfrm>
          </p:grpSpPr>
          <p:sp>
            <p:nvSpPr>
              <p:cNvPr id="372776" name="Line 29"/>
              <p:cNvSpPr/>
              <p:nvPr/>
            </p:nvSpPr>
            <p:spPr>
              <a:xfrm>
                <a:off x="4320" y="2688"/>
                <a:ext cx="720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72777" name="Group 30"/>
              <p:cNvGrpSpPr/>
              <p:nvPr/>
            </p:nvGrpSpPr>
            <p:grpSpPr>
              <a:xfrm>
                <a:off x="710" y="2463"/>
                <a:ext cx="3610" cy="453"/>
                <a:chOff x="710" y="2463"/>
                <a:chExt cx="3610" cy="453"/>
              </a:xfrm>
            </p:grpSpPr>
            <p:sp>
              <p:nvSpPr>
                <p:cNvPr id="372778" name="Freeform 31"/>
                <p:cNvSpPr/>
                <p:nvPr/>
              </p:nvSpPr>
              <p:spPr>
                <a:xfrm>
                  <a:off x="2640" y="2463"/>
                  <a:ext cx="1209" cy="225"/>
                </a:xfrm>
                <a:custGeom>
                  <a:avLst/>
                  <a:gdLst>
                    <a:gd name="txL" fmla="*/ 0 w 1209"/>
                    <a:gd name="txT" fmla="*/ 0 h 225"/>
                    <a:gd name="txR" fmla="*/ 1209 w 1209"/>
                    <a:gd name="txB" fmla="*/ 225 h 225"/>
                  </a:gdLst>
                  <a:ahLst/>
                  <a:cxnLst>
                    <a:cxn ang="0">
                      <a:pos x="0" y="225"/>
                    </a:cxn>
                    <a:cxn ang="0">
                      <a:pos x="0" y="0"/>
                    </a:cxn>
                    <a:cxn ang="0">
                      <a:pos x="237" y="0"/>
                    </a:cxn>
                    <a:cxn ang="0">
                      <a:pos x="237" y="225"/>
                    </a:cxn>
                    <a:cxn ang="0">
                      <a:pos x="1209" y="225"/>
                    </a:cxn>
                  </a:cxnLst>
                  <a:rect l="txL" t="txT" r="txR" b="txB"/>
                  <a:pathLst>
                    <a:path w="1209" h="225">
                      <a:moveTo>
                        <a:pt x="0" y="225"/>
                      </a:moveTo>
                      <a:lnTo>
                        <a:pt x="0" y="0"/>
                      </a:lnTo>
                      <a:lnTo>
                        <a:pt x="237" y="0"/>
                      </a:lnTo>
                      <a:lnTo>
                        <a:pt x="237" y="225"/>
                      </a:lnTo>
                      <a:lnTo>
                        <a:pt x="1209" y="225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2779" name="Freeform 32"/>
                <p:cNvSpPr/>
                <p:nvPr/>
              </p:nvSpPr>
              <p:spPr>
                <a:xfrm>
                  <a:off x="1680" y="2687"/>
                  <a:ext cx="720" cy="229"/>
                </a:xfrm>
                <a:custGeom>
                  <a:avLst/>
                  <a:gdLst>
                    <a:gd name="txL" fmla="*/ 0 w 720"/>
                    <a:gd name="txT" fmla="*/ 0 h 229"/>
                    <a:gd name="txR" fmla="*/ 720 w 720"/>
                    <a:gd name="txB" fmla="*/ 229 h 229"/>
                  </a:gdLst>
                  <a:ahLst/>
                  <a:cxnLst>
                    <a:cxn ang="0">
                      <a:pos x="719" y="0"/>
                    </a:cxn>
                    <a:cxn ang="0">
                      <a:pos x="720" y="229"/>
                    </a:cxn>
                    <a:cxn ang="0">
                      <a:pos x="479" y="228"/>
                    </a:cxn>
                    <a:cxn ang="0">
                      <a:pos x="482" y="3"/>
                    </a:cxn>
                    <a:cxn ang="0">
                      <a:pos x="0" y="4"/>
                    </a:cxn>
                  </a:cxnLst>
                  <a:rect l="txL" t="txT" r="txR" b="txB"/>
                  <a:pathLst>
                    <a:path w="720" h="229">
                      <a:moveTo>
                        <a:pt x="719" y="0"/>
                      </a:moveTo>
                      <a:lnTo>
                        <a:pt x="720" y="229"/>
                      </a:lnTo>
                      <a:lnTo>
                        <a:pt x="479" y="228"/>
                      </a:lnTo>
                      <a:lnTo>
                        <a:pt x="482" y="3"/>
                      </a:lnTo>
                      <a:lnTo>
                        <a:pt x="0" y="4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2780" name="Freeform 33"/>
                <p:cNvSpPr/>
                <p:nvPr/>
              </p:nvSpPr>
              <p:spPr>
                <a:xfrm>
                  <a:off x="3839" y="2687"/>
                  <a:ext cx="481" cy="229"/>
                </a:xfrm>
                <a:custGeom>
                  <a:avLst/>
                  <a:gdLst>
                    <a:gd name="txL" fmla="*/ 0 w 481"/>
                    <a:gd name="txT" fmla="*/ 0 h 229"/>
                    <a:gd name="txR" fmla="*/ 481 w 481"/>
                    <a:gd name="txB" fmla="*/ 229 h 229"/>
                  </a:gdLst>
                  <a:ahLst/>
                  <a:cxnLst>
                    <a:cxn ang="0">
                      <a:pos x="480" y="0"/>
                    </a:cxn>
                    <a:cxn ang="0">
                      <a:pos x="481" y="229"/>
                    </a:cxn>
                    <a:cxn ang="0">
                      <a:pos x="240" y="228"/>
                    </a:cxn>
                    <a:cxn ang="0">
                      <a:pos x="241" y="1"/>
                    </a:cxn>
                    <a:cxn ang="0">
                      <a:pos x="0" y="0"/>
                    </a:cxn>
                  </a:cxnLst>
                  <a:rect l="txL" t="txT" r="txR" b="txB"/>
                  <a:pathLst>
                    <a:path w="481" h="229">
                      <a:moveTo>
                        <a:pt x="480" y="0"/>
                      </a:moveTo>
                      <a:lnTo>
                        <a:pt x="481" y="229"/>
                      </a:lnTo>
                      <a:lnTo>
                        <a:pt x="240" y="228"/>
                      </a:lnTo>
                      <a:lnTo>
                        <a:pt x="241" y="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72781" name="Text Box 34"/>
                <p:cNvSpPr txBox="1"/>
                <p:nvPr/>
              </p:nvSpPr>
              <p:spPr>
                <a:xfrm>
                  <a:off x="710" y="2484"/>
                  <a:ext cx="883" cy="2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r>
                    <a:rPr lang="zh-CN" altLang="en-US" sz="2400" b="1" dirty="0">
                      <a:latin typeface="Times New Roman" panose="02020603050405020304" pitchFamily="18" charset="0"/>
                    </a:rPr>
                    <a:t>感应电势</a:t>
                  </a:r>
                  <a:endParaRPr lang="zh-CN" altLang="en-US" sz="2400" b="1" dirty="0"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372743" name="Group 35"/>
          <p:cNvGrpSpPr/>
          <p:nvPr/>
        </p:nvGrpSpPr>
        <p:grpSpPr>
          <a:xfrm>
            <a:off x="2651125" y="4724400"/>
            <a:ext cx="6873875" cy="460375"/>
            <a:chOff x="710" y="2976"/>
            <a:chExt cx="4330" cy="290"/>
          </a:xfrm>
        </p:grpSpPr>
        <p:sp>
          <p:nvSpPr>
            <p:cNvPr id="372766" name="Freeform 36"/>
            <p:cNvSpPr/>
            <p:nvPr/>
          </p:nvSpPr>
          <p:spPr>
            <a:xfrm>
              <a:off x="1680" y="3036"/>
              <a:ext cx="480" cy="228"/>
            </a:xfrm>
            <a:custGeom>
              <a:avLst/>
              <a:gdLst>
                <a:gd name="txL" fmla="*/ 0 w 480"/>
                <a:gd name="txT" fmla="*/ 0 h 228"/>
                <a:gd name="txR" fmla="*/ 480 w 480"/>
                <a:gd name="txB" fmla="*/ 228 h 228"/>
              </a:gdLst>
              <a:ahLst/>
              <a:cxnLst>
                <a:cxn ang="0">
                  <a:pos x="0" y="228"/>
                </a:cxn>
                <a:cxn ang="0">
                  <a:pos x="0" y="3"/>
                </a:cxn>
                <a:cxn ang="0">
                  <a:pos x="240" y="0"/>
                </a:cxn>
                <a:cxn ang="0">
                  <a:pos x="240" y="225"/>
                </a:cxn>
                <a:cxn ang="0">
                  <a:pos x="480" y="228"/>
                </a:cxn>
              </a:cxnLst>
              <a:rect l="txL" t="txT" r="txR" b="txB"/>
              <a:pathLst>
                <a:path w="480" h="228">
                  <a:moveTo>
                    <a:pt x="0" y="228"/>
                  </a:moveTo>
                  <a:lnTo>
                    <a:pt x="0" y="3"/>
                  </a:lnTo>
                  <a:lnTo>
                    <a:pt x="240" y="0"/>
                  </a:lnTo>
                  <a:lnTo>
                    <a:pt x="240" y="225"/>
                  </a:lnTo>
                  <a:lnTo>
                    <a:pt x="480" y="22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67" name="Freeform 37"/>
            <p:cNvSpPr/>
            <p:nvPr/>
          </p:nvSpPr>
          <p:spPr>
            <a:xfrm>
              <a:off x="2160" y="3036"/>
              <a:ext cx="480" cy="228"/>
            </a:xfrm>
            <a:custGeom>
              <a:avLst/>
              <a:gdLst>
                <a:gd name="txL" fmla="*/ 0 w 480"/>
                <a:gd name="txT" fmla="*/ 0 h 228"/>
                <a:gd name="txR" fmla="*/ 480 w 480"/>
                <a:gd name="txB" fmla="*/ 228 h 228"/>
              </a:gdLst>
              <a:ahLst/>
              <a:cxnLst>
                <a:cxn ang="0">
                  <a:pos x="0" y="228"/>
                </a:cxn>
                <a:cxn ang="0">
                  <a:pos x="0" y="3"/>
                </a:cxn>
                <a:cxn ang="0">
                  <a:pos x="240" y="0"/>
                </a:cxn>
                <a:cxn ang="0">
                  <a:pos x="237" y="225"/>
                </a:cxn>
                <a:cxn ang="0">
                  <a:pos x="480" y="228"/>
                </a:cxn>
              </a:cxnLst>
              <a:rect l="txL" t="txT" r="txR" b="txB"/>
              <a:pathLst>
                <a:path w="480" h="228">
                  <a:moveTo>
                    <a:pt x="0" y="228"/>
                  </a:moveTo>
                  <a:lnTo>
                    <a:pt x="0" y="3"/>
                  </a:lnTo>
                  <a:lnTo>
                    <a:pt x="240" y="0"/>
                  </a:lnTo>
                  <a:lnTo>
                    <a:pt x="237" y="225"/>
                  </a:lnTo>
                  <a:lnTo>
                    <a:pt x="480" y="22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68" name="Freeform 38"/>
            <p:cNvSpPr/>
            <p:nvPr/>
          </p:nvSpPr>
          <p:spPr>
            <a:xfrm>
              <a:off x="2640" y="3036"/>
              <a:ext cx="480" cy="228"/>
            </a:xfrm>
            <a:custGeom>
              <a:avLst/>
              <a:gdLst>
                <a:gd name="txL" fmla="*/ 0 w 480"/>
                <a:gd name="txT" fmla="*/ 0 h 228"/>
                <a:gd name="txR" fmla="*/ 480 w 480"/>
                <a:gd name="txB" fmla="*/ 228 h 228"/>
              </a:gdLst>
              <a:ahLst/>
              <a:cxnLst>
                <a:cxn ang="0">
                  <a:pos x="0" y="228"/>
                </a:cxn>
                <a:cxn ang="0">
                  <a:pos x="0" y="3"/>
                </a:cxn>
                <a:cxn ang="0">
                  <a:pos x="240" y="0"/>
                </a:cxn>
                <a:cxn ang="0">
                  <a:pos x="240" y="228"/>
                </a:cxn>
                <a:cxn ang="0">
                  <a:pos x="480" y="228"/>
                </a:cxn>
              </a:cxnLst>
              <a:rect l="txL" t="txT" r="txR" b="txB"/>
              <a:pathLst>
                <a:path w="480" h="228">
                  <a:moveTo>
                    <a:pt x="0" y="228"/>
                  </a:moveTo>
                  <a:lnTo>
                    <a:pt x="0" y="3"/>
                  </a:lnTo>
                  <a:lnTo>
                    <a:pt x="240" y="0"/>
                  </a:lnTo>
                  <a:lnTo>
                    <a:pt x="240" y="228"/>
                  </a:lnTo>
                  <a:lnTo>
                    <a:pt x="480" y="22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69" name="Freeform 39"/>
            <p:cNvSpPr/>
            <p:nvPr/>
          </p:nvSpPr>
          <p:spPr>
            <a:xfrm>
              <a:off x="3120" y="3036"/>
              <a:ext cx="480" cy="228"/>
            </a:xfrm>
            <a:custGeom>
              <a:avLst/>
              <a:gdLst>
                <a:gd name="txL" fmla="*/ 0 w 480"/>
                <a:gd name="txT" fmla="*/ 0 h 228"/>
                <a:gd name="txR" fmla="*/ 480 w 480"/>
                <a:gd name="txB" fmla="*/ 228 h 228"/>
              </a:gdLst>
              <a:ahLst/>
              <a:cxnLst>
                <a:cxn ang="0">
                  <a:pos x="0" y="228"/>
                </a:cxn>
                <a:cxn ang="0">
                  <a:pos x="0" y="3"/>
                </a:cxn>
                <a:cxn ang="0">
                  <a:pos x="240" y="0"/>
                </a:cxn>
                <a:cxn ang="0">
                  <a:pos x="240" y="228"/>
                </a:cxn>
                <a:cxn ang="0">
                  <a:pos x="480" y="228"/>
                </a:cxn>
              </a:cxnLst>
              <a:rect l="txL" t="txT" r="txR" b="txB"/>
              <a:pathLst>
                <a:path w="480" h="228">
                  <a:moveTo>
                    <a:pt x="0" y="228"/>
                  </a:moveTo>
                  <a:lnTo>
                    <a:pt x="0" y="3"/>
                  </a:lnTo>
                  <a:lnTo>
                    <a:pt x="240" y="0"/>
                  </a:lnTo>
                  <a:lnTo>
                    <a:pt x="240" y="228"/>
                  </a:lnTo>
                  <a:lnTo>
                    <a:pt x="480" y="22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70" name="Freeform 40"/>
            <p:cNvSpPr/>
            <p:nvPr/>
          </p:nvSpPr>
          <p:spPr>
            <a:xfrm>
              <a:off x="3600" y="3036"/>
              <a:ext cx="480" cy="228"/>
            </a:xfrm>
            <a:custGeom>
              <a:avLst/>
              <a:gdLst>
                <a:gd name="txL" fmla="*/ 0 w 480"/>
                <a:gd name="txT" fmla="*/ 0 h 228"/>
                <a:gd name="txR" fmla="*/ 480 w 480"/>
                <a:gd name="txB" fmla="*/ 228 h 228"/>
              </a:gdLst>
              <a:ahLst/>
              <a:cxnLst>
                <a:cxn ang="0">
                  <a:pos x="0" y="228"/>
                </a:cxn>
                <a:cxn ang="0">
                  <a:pos x="0" y="3"/>
                </a:cxn>
                <a:cxn ang="0">
                  <a:pos x="240" y="0"/>
                </a:cxn>
                <a:cxn ang="0">
                  <a:pos x="237" y="225"/>
                </a:cxn>
                <a:cxn ang="0">
                  <a:pos x="480" y="228"/>
                </a:cxn>
              </a:cxnLst>
              <a:rect l="txL" t="txT" r="txR" b="txB"/>
              <a:pathLst>
                <a:path w="480" h="228">
                  <a:moveTo>
                    <a:pt x="0" y="228"/>
                  </a:moveTo>
                  <a:lnTo>
                    <a:pt x="0" y="3"/>
                  </a:lnTo>
                  <a:lnTo>
                    <a:pt x="240" y="0"/>
                  </a:lnTo>
                  <a:lnTo>
                    <a:pt x="237" y="225"/>
                  </a:lnTo>
                  <a:lnTo>
                    <a:pt x="480" y="22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71" name="Freeform 41"/>
            <p:cNvSpPr/>
            <p:nvPr/>
          </p:nvSpPr>
          <p:spPr>
            <a:xfrm>
              <a:off x="4080" y="3039"/>
              <a:ext cx="480" cy="225"/>
            </a:xfrm>
            <a:custGeom>
              <a:avLst/>
              <a:gdLst>
                <a:gd name="txL" fmla="*/ 0 w 480"/>
                <a:gd name="txT" fmla="*/ 0 h 225"/>
                <a:gd name="txR" fmla="*/ 480 w 480"/>
                <a:gd name="txB" fmla="*/ 225 h 225"/>
              </a:gdLst>
              <a:ahLst/>
              <a:cxnLst>
                <a:cxn ang="0">
                  <a:pos x="0" y="225"/>
                </a:cxn>
                <a:cxn ang="0">
                  <a:pos x="0" y="0"/>
                </a:cxn>
                <a:cxn ang="0">
                  <a:pos x="237" y="0"/>
                </a:cxn>
                <a:cxn ang="0">
                  <a:pos x="237" y="222"/>
                </a:cxn>
                <a:cxn ang="0">
                  <a:pos x="480" y="225"/>
                </a:cxn>
              </a:cxnLst>
              <a:rect l="txL" t="txT" r="txR" b="txB"/>
              <a:pathLst>
                <a:path w="480" h="225">
                  <a:moveTo>
                    <a:pt x="0" y="225"/>
                  </a:moveTo>
                  <a:lnTo>
                    <a:pt x="0" y="0"/>
                  </a:lnTo>
                  <a:lnTo>
                    <a:pt x="237" y="0"/>
                  </a:lnTo>
                  <a:lnTo>
                    <a:pt x="237" y="222"/>
                  </a:lnTo>
                  <a:lnTo>
                    <a:pt x="480" y="225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72" name="Freeform 42"/>
            <p:cNvSpPr/>
            <p:nvPr/>
          </p:nvSpPr>
          <p:spPr>
            <a:xfrm>
              <a:off x="4560" y="3036"/>
              <a:ext cx="480" cy="228"/>
            </a:xfrm>
            <a:custGeom>
              <a:avLst/>
              <a:gdLst>
                <a:gd name="txL" fmla="*/ 0 w 480"/>
                <a:gd name="txT" fmla="*/ 0 h 228"/>
                <a:gd name="txR" fmla="*/ 480 w 480"/>
                <a:gd name="txB" fmla="*/ 228 h 228"/>
              </a:gdLst>
              <a:ahLst/>
              <a:cxnLst>
                <a:cxn ang="0">
                  <a:pos x="0" y="228"/>
                </a:cxn>
                <a:cxn ang="0">
                  <a:pos x="0" y="3"/>
                </a:cxn>
                <a:cxn ang="0">
                  <a:pos x="240" y="0"/>
                </a:cxn>
                <a:cxn ang="0">
                  <a:pos x="240" y="225"/>
                </a:cxn>
                <a:cxn ang="0">
                  <a:pos x="480" y="228"/>
                </a:cxn>
              </a:cxnLst>
              <a:rect l="txL" t="txT" r="txR" b="txB"/>
              <a:pathLst>
                <a:path w="480" h="228">
                  <a:moveTo>
                    <a:pt x="0" y="228"/>
                  </a:moveTo>
                  <a:lnTo>
                    <a:pt x="0" y="3"/>
                  </a:lnTo>
                  <a:lnTo>
                    <a:pt x="240" y="0"/>
                  </a:lnTo>
                  <a:lnTo>
                    <a:pt x="240" y="225"/>
                  </a:lnTo>
                  <a:lnTo>
                    <a:pt x="480" y="228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73" name="Text Box 43"/>
            <p:cNvSpPr txBox="1"/>
            <p:nvPr/>
          </p:nvSpPr>
          <p:spPr>
            <a:xfrm>
              <a:off x="710" y="2976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同步脉冲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2744" name="Group 44"/>
          <p:cNvGrpSpPr/>
          <p:nvPr/>
        </p:nvGrpSpPr>
        <p:grpSpPr>
          <a:xfrm>
            <a:off x="2651125" y="5505450"/>
            <a:ext cx="6873875" cy="461963"/>
            <a:chOff x="710" y="3468"/>
            <a:chExt cx="4330" cy="291"/>
          </a:xfrm>
        </p:grpSpPr>
        <p:sp>
          <p:nvSpPr>
            <p:cNvPr id="372760" name="Line 45"/>
            <p:cNvSpPr/>
            <p:nvPr/>
          </p:nvSpPr>
          <p:spPr>
            <a:xfrm>
              <a:off x="1680" y="3696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2761" name="Group 46"/>
            <p:cNvGrpSpPr/>
            <p:nvPr/>
          </p:nvGrpSpPr>
          <p:grpSpPr>
            <a:xfrm>
              <a:off x="710" y="3468"/>
              <a:ext cx="4330" cy="291"/>
              <a:chOff x="710" y="3468"/>
              <a:chExt cx="4330" cy="291"/>
            </a:xfrm>
          </p:grpSpPr>
          <p:sp>
            <p:nvSpPr>
              <p:cNvPr id="372762" name="Freeform 47"/>
              <p:cNvSpPr/>
              <p:nvPr/>
            </p:nvSpPr>
            <p:spPr>
              <a:xfrm>
                <a:off x="2160" y="3468"/>
                <a:ext cx="480" cy="228"/>
              </a:xfrm>
              <a:custGeom>
                <a:avLst/>
                <a:gdLst>
                  <a:gd name="txL" fmla="*/ 0 w 480"/>
                  <a:gd name="txT" fmla="*/ 0 h 228"/>
                  <a:gd name="txR" fmla="*/ 480 w 480"/>
                  <a:gd name="txB" fmla="*/ 228 h 228"/>
                </a:gdLst>
                <a:ahLst/>
                <a:cxnLst>
                  <a:cxn ang="0">
                    <a:pos x="0" y="228"/>
                  </a:cxn>
                  <a:cxn ang="0">
                    <a:pos x="0" y="3"/>
                  </a:cxn>
                  <a:cxn ang="0">
                    <a:pos x="240" y="0"/>
                  </a:cxn>
                  <a:cxn ang="0">
                    <a:pos x="237" y="225"/>
                  </a:cxn>
                  <a:cxn ang="0">
                    <a:pos x="480" y="228"/>
                  </a:cxn>
                </a:cxnLst>
                <a:rect l="txL" t="txT" r="txR" b="txB"/>
                <a:pathLst>
                  <a:path w="480" h="228">
                    <a:moveTo>
                      <a:pt x="0" y="228"/>
                    </a:moveTo>
                    <a:lnTo>
                      <a:pt x="0" y="3"/>
                    </a:lnTo>
                    <a:lnTo>
                      <a:pt x="240" y="0"/>
                    </a:lnTo>
                    <a:lnTo>
                      <a:pt x="237" y="225"/>
                    </a:lnTo>
                    <a:lnTo>
                      <a:pt x="480" y="228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2763" name="Freeform 48"/>
              <p:cNvSpPr/>
              <p:nvPr/>
            </p:nvSpPr>
            <p:spPr>
              <a:xfrm>
                <a:off x="2640" y="3468"/>
                <a:ext cx="1445" cy="231"/>
              </a:xfrm>
              <a:custGeom>
                <a:avLst/>
                <a:gdLst>
                  <a:gd name="txL" fmla="*/ 0 w 1445"/>
                  <a:gd name="txT" fmla="*/ 0 h 231"/>
                  <a:gd name="txR" fmla="*/ 1445 w 1445"/>
                  <a:gd name="txB" fmla="*/ 231 h 231"/>
                </a:gdLst>
                <a:ahLst/>
                <a:cxnLst>
                  <a:cxn ang="0">
                    <a:pos x="0" y="228"/>
                  </a:cxn>
                  <a:cxn ang="0">
                    <a:pos x="0" y="3"/>
                  </a:cxn>
                  <a:cxn ang="0">
                    <a:pos x="240" y="0"/>
                  </a:cxn>
                  <a:cxn ang="0">
                    <a:pos x="240" y="231"/>
                  </a:cxn>
                  <a:cxn ang="0">
                    <a:pos x="1445" y="230"/>
                  </a:cxn>
                </a:cxnLst>
                <a:rect l="txL" t="txT" r="txR" b="txB"/>
                <a:pathLst>
                  <a:path w="1445" h="231">
                    <a:moveTo>
                      <a:pt x="0" y="228"/>
                    </a:moveTo>
                    <a:lnTo>
                      <a:pt x="0" y="3"/>
                    </a:lnTo>
                    <a:lnTo>
                      <a:pt x="240" y="0"/>
                    </a:lnTo>
                    <a:lnTo>
                      <a:pt x="240" y="231"/>
                    </a:lnTo>
                    <a:lnTo>
                      <a:pt x="1445" y="23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2764" name="Freeform 49"/>
              <p:cNvSpPr/>
              <p:nvPr/>
            </p:nvSpPr>
            <p:spPr>
              <a:xfrm>
                <a:off x="4080" y="3468"/>
                <a:ext cx="960" cy="228"/>
              </a:xfrm>
              <a:custGeom>
                <a:avLst/>
                <a:gdLst>
                  <a:gd name="txL" fmla="*/ 0 w 960"/>
                  <a:gd name="txT" fmla="*/ 0 h 228"/>
                  <a:gd name="txR" fmla="*/ 960 w 960"/>
                  <a:gd name="txB" fmla="*/ 228 h 228"/>
                </a:gdLst>
                <a:ahLst/>
                <a:cxnLst>
                  <a:cxn ang="0">
                    <a:pos x="0" y="228"/>
                  </a:cxn>
                  <a:cxn ang="0">
                    <a:pos x="0" y="3"/>
                  </a:cxn>
                  <a:cxn ang="0">
                    <a:pos x="240" y="0"/>
                  </a:cxn>
                  <a:cxn ang="0">
                    <a:pos x="240" y="225"/>
                  </a:cxn>
                  <a:cxn ang="0">
                    <a:pos x="960" y="228"/>
                  </a:cxn>
                </a:cxnLst>
                <a:rect l="txL" t="txT" r="txR" b="txB"/>
                <a:pathLst>
                  <a:path w="960" h="228">
                    <a:moveTo>
                      <a:pt x="0" y="228"/>
                    </a:moveTo>
                    <a:lnTo>
                      <a:pt x="0" y="3"/>
                    </a:lnTo>
                    <a:lnTo>
                      <a:pt x="240" y="0"/>
                    </a:lnTo>
                    <a:lnTo>
                      <a:pt x="240" y="225"/>
                    </a:lnTo>
                    <a:lnTo>
                      <a:pt x="960" y="228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2765" name="Text Box 50"/>
              <p:cNvSpPr txBox="1"/>
              <p:nvPr/>
            </p:nvSpPr>
            <p:spPr>
              <a:xfrm>
                <a:off x="710" y="3469"/>
                <a:ext cx="883" cy="29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读出代码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72745" name="Freeform 51"/>
          <p:cNvSpPr/>
          <p:nvPr/>
        </p:nvSpPr>
        <p:spPr>
          <a:xfrm>
            <a:off x="4200525" y="3124200"/>
            <a:ext cx="5410200" cy="538163"/>
          </a:xfrm>
          <a:custGeom>
            <a:avLst/>
            <a:gdLst>
              <a:gd name="txL" fmla="*/ 0 w 3408"/>
              <a:gd name="txT" fmla="*/ 0 h 339"/>
              <a:gd name="txR" fmla="*/ 3408 w 3408"/>
              <a:gd name="txB" fmla="*/ 339 h 339"/>
            </a:gdLst>
            <a:ahLst/>
            <a:cxnLst>
              <a:cxn ang="0">
                <a:pos x="0" y="336"/>
              </a:cxn>
              <a:cxn ang="0">
                <a:pos x="459" y="336"/>
              </a:cxn>
              <a:cxn ang="0">
                <a:pos x="501" y="330"/>
              </a:cxn>
              <a:cxn ang="0">
                <a:pos x="516" y="309"/>
              </a:cxn>
              <a:cxn ang="0">
                <a:pos x="552" y="54"/>
              </a:cxn>
              <a:cxn ang="0">
                <a:pos x="573" y="24"/>
              </a:cxn>
              <a:cxn ang="0">
                <a:pos x="597" y="0"/>
              </a:cxn>
              <a:cxn ang="0">
                <a:pos x="759" y="0"/>
              </a:cxn>
              <a:cxn ang="0">
                <a:pos x="873" y="0"/>
              </a:cxn>
              <a:cxn ang="0">
                <a:pos x="930" y="0"/>
              </a:cxn>
              <a:cxn ang="0">
                <a:pos x="954" y="0"/>
              </a:cxn>
              <a:cxn ang="0">
                <a:pos x="966" y="15"/>
              </a:cxn>
              <a:cxn ang="0">
                <a:pos x="978" y="33"/>
              </a:cxn>
              <a:cxn ang="0">
                <a:pos x="1035" y="276"/>
              </a:cxn>
              <a:cxn ang="0">
                <a:pos x="1059" y="303"/>
              </a:cxn>
              <a:cxn ang="0">
                <a:pos x="1080" y="327"/>
              </a:cxn>
              <a:cxn ang="0">
                <a:pos x="1131" y="339"/>
              </a:cxn>
              <a:cxn ang="0">
                <a:pos x="2400" y="336"/>
              </a:cxn>
              <a:cxn ang="0">
                <a:pos x="2439" y="327"/>
              </a:cxn>
              <a:cxn ang="0">
                <a:pos x="2463" y="309"/>
              </a:cxn>
              <a:cxn ang="0">
                <a:pos x="2466" y="303"/>
              </a:cxn>
              <a:cxn ang="0">
                <a:pos x="2466" y="288"/>
              </a:cxn>
              <a:cxn ang="0">
                <a:pos x="2499" y="45"/>
              </a:cxn>
              <a:cxn ang="0">
                <a:pos x="2511" y="21"/>
              </a:cxn>
              <a:cxn ang="0">
                <a:pos x="2544" y="9"/>
              </a:cxn>
              <a:cxn ang="0">
                <a:pos x="2568" y="3"/>
              </a:cxn>
              <a:cxn ang="0">
                <a:pos x="3408" y="3"/>
              </a:cxn>
            </a:cxnLst>
            <a:rect l="txL" t="txT" r="txR" b="txB"/>
            <a:pathLst>
              <a:path w="3408" h="339">
                <a:moveTo>
                  <a:pt x="0" y="336"/>
                </a:moveTo>
                <a:lnTo>
                  <a:pt x="459" y="336"/>
                </a:lnTo>
                <a:lnTo>
                  <a:pt x="501" y="330"/>
                </a:lnTo>
                <a:lnTo>
                  <a:pt x="516" y="309"/>
                </a:lnTo>
                <a:lnTo>
                  <a:pt x="552" y="54"/>
                </a:lnTo>
                <a:lnTo>
                  <a:pt x="573" y="24"/>
                </a:lnTo>
                <a:lnTo>
                  <a:pt x="597" y="0"/>
                </a:lnTo>
                <a:lnTo>
                  <a:pt x="759" y="0"/>
                </a:lnTo>
                <a:lnTo>
                  <a:pt x="873" y="0"/>
                </a:lnTo>
                <a:lnTo>
                  <a:pt x="930" y="0"/>
                </a:lnTo>
                <a:lnTo>
                  <a:pt x="954" y="0"/>
                </a:lnTo>
                <a:lnTo>
                  <a:pt x="966" y="15"/>
                </a:lnTo>
                <a:lnTo>
                  <a:pt x="978" y="33"/>
                </a:lnTo>
                <a:lnTo>
                  <a:pt x="1035" y="276"/>
                </a:lnTo>
                <a:lnTo>
                  <a:pt x="1059" y="303"/>
                </a:lnTo>
                <a:lnTo>
                  <a:pt x="1080" y="327"/>
                </a:lnTo>
                <a:lnTo>
                  <a:pt x="1131" y="339"/>
                </a:lnTo>
                <a:lnTo>
                  <a:pt x="2400" y="336"/>
                </a:lnTo>
                <a:lnTo>
                  <a:pt x="2439" y="327"/>
                </a:lnTo>
                <a:lnTo>
                  <a:pt x="2463" y="309"/>
                </a:lnTo>
                <a:lnTo>
                  <a:pt x="2466" y="303"/>
                </a:lnTo>
                <a:lnTo>
                  <a:pt x="2466" y="288"/>
                </a:lnTo>
                <a:lnTo>
                  <a:pt x="2499" y="45"/>
                </a:lnTo>
                <a:lnTo>
                  <a:pt x="2511" y="21"/>
                </a:lnTo>
                <a:lnTo>
                  <a:pt x="2544" y="9"/>
                </a:lnTo>
                <a:lnTo>
                  <a:pt x="2568" y="3"/>
                </a:lnTo>
                <a:lnTo>
                  <a:pt x="3408" y="3"/>
                </a:lnTo>
              </a:path>
            </a:pathLst>
          </a:custGeom>
          <a:noFill/>
          <a:ln w="381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7012" name="Rectangle 52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72747" name="Group 53"/>
          <p:cNvGrpSpPr/>
          <p:nvPr/>
        </p:nvGrpSpPr>
        <p:grpSpPr>
          <a:xfrm>
            <a:off x="4191000" y="5500688"/>
            <a:ext cx="5334000" cy="371475"/>
            <a:chOff x="1680" y="3465"/>
            <a:chExt cx="3360" cy="234"/>
          </a:xfrm>
        </p:grpSpPr>
        <p:sp>
          <p:nvSpPr>
            <p:cNvPr id="372756" name="Freeform 54"/>
            <p:cNvSpPr/>
            <p:nvPr/>
          </p:nvSpPr>
          <p:spPr>
            <a:xfrm>
              <a:off x="1680" y="3691"/>
              <a:ext cx="480" cy="2"/>
            </a:xfrm>
            <a:custGeom>
              <a:avLst/>
              <a:gdLst>
                <a:gd name="txL" fmla="*/ 0 w 480"/>
                <a:gd name="txT" fmla="*/ 0 h 2"/>
                <a:gd name="txR" fmla="*/ 480 w 480"/>
                <a:gd name="txB" fmla="*/ 2 h 2"/>
              </a:gdLst>
              <a:ahLst/>
              <a:cxnLst>
                <a:cxn ang="0">
                  <a:pos x="480" y="0"/>
                </a:cxn>
                <a:cxn ang="0">
                  <a:pos x="0" y="2"/>
                </a:cxn>
              </a:cxnLst>
              <a:rect l="txL" t="txT" r="txR" b="txB"/>
              <a:pathLst>
                <a:path w="480" h="2">
                  <a:moveTo>
                    <a:pt x="480" y="0"/>
                  </a:moveTo>
                  <a:lnTo>
                    <a:pt x="0" y="2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57" name="Freeform 55"/>
            <p:cNvSpPr/>
            <p:nvPr/>
          </p:nvSpPr>
          <p:spPr>
            <a:xfrm>
              <a:off x="2532" y="3465"/>
              <a:ext cx="1542" cy="234"/>
            </a:xfrm>
            <a:custGeom>
              <a:avLst/>
              <a:gdLst>
                <a:gd name="txL" fmla="*/ 0 w 1542"/>
                <a:gd name="txT" fmla="*/ 0 h 234"/>
                <a:gd name="txR" fmla="*/ 1542 w 1542"/>
                <a:gd name="txB" fmla="*/ 234 h 234"/>
              </a:gdLst>
              <a:ahLst/>
              <a:cxnLst>
                <a:cxn ang="0">
                  <a:pos x="0" y="231"/>
                </a:cxn>
                <a:cxn ang="0">
                  <a:pos x="60" y="228"/>
                </a:cxn>
                <a:cxn ang="0">
                  <a:pos x="117" y="222"/>
                </a:cxn>
                <a:cxn ang="0">
                  <a:pos x="135" y="63"/>
                </a:cxn>
                <a:cxn ang="0">
                  <a:pos x="138" y="45"/>
                </a:cxn>
                <a:cxn ang="0">
                  <a:pos x="147" y="9"/>
                </a:cxn>
                <a:cxn ang="0">
                  <a:pos x="165" y="0"/>
                </a:cxn>
                <a:cxn ang="0">
                  <a:pos x="177" y="15"/>
                </a:cxn>
                <a:cxn ang="0">
                  <a:pos x="186" y="42"/>
                </a:cxn>
                <a:cxn ang="0">
                  <a:pos x="213" y="213"/>
                </a:cxn>
                <a:cxn ang="0">
                  <a:pos x="228" y="225"/>
                </a:cxn>
                <a:cxn ang="0">
                  <a:pos x="255" y="234"/>
                </a:cxn>
                <a:cxn ang="0">
                  <a:pos x="1542" y="234"/>
                </a:cxn>
              </a:cxnLst>
              <a:rect l="txL" t="txT" r="txR" b="txB"/>
              <a:pathLst>
                <a:path w="1542" h="234">
                  <a:moveTo>
                    <a:pt x="0" y="231"/>
                  </a:moveTo>
                  <a:lnTo>
                    <a:pt x="60" y="228"/>
                  </a:lnTo>
                  <a:lnTo>
                    <a:pt x="117" y="222"/>
                  </a:lnTo>
                  <a:lnTo>
                    <a:pt x="135" y="63"/>
                  </a:lnTo>
                  <a:lnTo>
                    <a:pt x="138" y="45"/>
                  </a:lnTo>
                  <a:lnTo>
                    <a:pt x="147" y="9"/>
                  </a:lnTo>
                  <a:lnTo>
                    <a:pt x="165" y="0"/>
                  </a:lnTo>
                  <a:lnTo>
                    <a:pt x="177" y="15"/>
                  </a:lnTo>
                  <a:lnTo>
                    <a:pt x="186" y="42"/>
                  </a:lnTo>
                  <a:lnTo>
                    <a:pt x="213" y="213"/>
                  </a:lnTo>
                  <a:lnTo>
                    <a:pt x="228" y="225"/>
                  </a:lnTo>
                  <a:lnTo>
                    <a:pt x="255" y="234"/>
                  </a:lnTo>
                  <a:lnTo>
                    <a:pt x="1542" y="234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58" name="Freeform 56"/>
            <p:cNvSpPr/>
            <p:nvPr/>
          </p:nvSpPr>
          <p:spPr>
            <a:xfrm>
              <a:off x="2070" y="3465"/>
              <a:ext cx="471" cy="231"/>
            </a:xfrm>
            <a:custGeom>
              <a:avLst/>
              <a:gdLst>
                <a:gd name="txL" fmla="*/ 0 w 471"/>
                <a:gd name="txT" fmla="*/ 0 h 231"/>
                <a:gd name="txR" fmla="*/ 471 w 471"/>
                <a:gd name="txB" fmla="*/ 231 h 231"/>
              </a:gdLst>
              <a:ahLst/>
              <a:cxnLst>
                <a:cxn ang="0">
                  <a:pos x="0" y="231"/>
                </a:cxn>
                <a:cxn ang="0">
                  <a:pos x="39" y="228"/>
                </a:cxn>
                <a:cxn ang="0">
                  <a:pos x="99" y="222"/>
                </a:cxn>
                <a:cxn ang="0">
                  <a:pos x="117" y="63"/>
                </a:cxn>
                <a:cxn ang="0">
                  <a:pos x="120" y="45"/>
                </a:cxn>
                <a:cxn ang="0">
                  <a:pos x="129" y="9"/>
                </a:cxn>
                <a:cxn ang="0">
                  <a:pos x="147" y="0"/>
                </a:cxn>
                <a:cxn ang="0">
                  <a:pos x="159" y="15"/>
                </a:cxn>
                <a:cxn ang="0">
                  <a:pos x="168" y="42"/>
                </a:cxn>
                <a:cxn ang="0">
                  <a:pos x="195" y="213"/>
                </a:cxn>
                <a:cxn ang="0">
                  <a:pos x="210" y="225"/>
                </a:cxn>
                <a:cxn ang="0">
                  <a:pos x="228" y="231"/>
                </a:cxn>
                <a:cxn ang="0">
                  <a:pos x="471" y="228"/>
                </a:cxn>
              </a:cxnLst>
              <a:rect l="txL" t="txT" r="txR" b="txB"/>
              <a:pathLst>
                <a:path w="471" h="231">
                  <a:moveTo>
                    <a:pt x="0" y="231"/>
                  </a:moveTo>
                  <a:lnTo>
                    <a:pt x="39" y="228"/>
                  </a:lnTo>
                  <a:lnTo>
                    <a:pt x="99" y="222"/>
                  </a:lnTo>
                  <a:lnTo>
                    <a:pt x="117" y="63"/>
                  </a:lnTo>
                  <a:lnTo>
                    <a:pt x="120" y="45"/>
                  </a:lnTo>
                  <a:lnTo>
                    <a:pt x="129" y="9"/>
                  </a:lnTo>
                  <a:lnTo>
                    <a:pt x="147" y="0"/>
                  </a:lnTo>
                  <a:lnTo>
                    <a:pt x="159" y="15"/>
                  </a:lnTo>
                  <a:lnTo>
                    <a:pt x="168" y="42"/>
                  </a:lnTo>
                  <a:lnTo>
                    <a:pt x="195" y="213"/>
                  </a:lnTo>
                  <a:lnTo>
                    <a:pt x="210" y="225"/>
                  </a:lnTo>
                  <a:lnTo>
                    <a:pt x="228" y="231"/>
                  </a:lnTo>
                  <a:lnTo>
                    <a:pt x="471" y="228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59" name="Freeform 57"/>
            <p:cNvSpPr/>
            <p:nvPr/>
          </p:nvSpPr>
          <p:spPr>
            <a:xfrm>
              <a:off x="3984" y="3465"/>
              <a:ext cx="1056" cy="234"/>
            </a:xfrm>
            <a:custGeom>
              <a:avLst/>
              <a:gdLst>
                <a:gd name="txL" fmla="*/ 0 w 1056"/>
                <a:gd name="txT" fmla="*/ 0 h 234"/>
                <a:gd name="txR" fmla="*/ 1056 w 1056"/>
                <a:gd name="txB" fmla="*/ 234 h 234"/>
              </a:gdLst>
              <a:ahLst/>
              <a:cxnLst>
                <a:cxn ang="0">
                  <a:pos x="0" y="234"/>
                </a:cxn>
                <a:cxn ang="0">
                  <a:pos x="42" y="234"/>
                </a:cxn>
                <a:cxn ang="0">
                  <a:pos x="105" y="222"/>
                </a:cxn>
                <a:cxn ang="0">
                  <a:pos x="123" y="63"/>
                </a:cxn>
                <a:cxn ang="0">
                  <a:pos x="126" y="45"/>
                </a:cxn>
                <a:cxn ang="0">
                  <a:pos x="135" y="9"/>
                </a:cxn>
                <a:cxn ang="0">
                  <a:pos x="153" y="0"/>
                </a:cxn>
                <a:cxn ang="0">
                  <a:pos x="165" y="15"/>
                </a:cxn>
                <a:cxn ang="0">
                  <a:pos x="174" y="42"/>
                </a:cxn>
                <a:cxn ang="0">
                  <a:pos x="201" y="213"/>
                </a:cxn>
                <a:cxn ang="0">
                  <a:pos x="216" y="225"/>
                </a:cxn>
                <a:cxn ang="0">
                  <a:pos x="234" y="231"/>
                </a:cxn>
                <a:cxn ang="0">
                  <a:pos x="1056" y="228"/>
                </a:cxn>
              </a:cxnLst>
              <a:rect l="txL" t="txT" r="txR" b="txB"/>
              <a:pathLst>
                <a:path w="1056" h="234">
                  <a:moveTo>
                    <a:pt x="0" y="234"/>
                  </a:moveTo>
                  <a:lnTo>
                    <a:pt x="42" y="234"/>
                  </a:lnTo>
                  <a:lnTo>
                    <a:pt x="105" y="222"/>
                  </a:lnTo>
                  <a:lnTo>
                    <a:pt x="123" y="63"/>
                  </a:lnTo>
                  <a:lnTo>
                    <a:pt x="126" y="45"/>
                  </a:lnTo>
                  <a:lnTo>
                    <a:pt x="135" y="9"/>
                  </a:lnTo>
                  <a:lnTo>
                    <a:pt x="153" y="0"/>
                  </a:lnTo>
                  <a:lnTo>
                    <a:pt x="165" y="15"/>
                  </a:lnTo>
                  <a:lnTo>
                    <a:pt x="174" y="42"/>
                  </a:lnTo>
                  <a:lnTo>
                    <a:pt x="201" y="213"/>
                  </a:lnTo>
                  <a:lnTo>
                    <a:pt x="216" y="225"/>
                  </a:lnTo>
                  <a:lnTo>
                    <a:pt x="234" y="231"/>
                  </a:lnTo>
                  <a:lnTo>
                    <a:pt x="1056" y="228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372748" name="Group 58"/>
          <p:cNvGrpSpPr/>
          <p:nvPr/>
        </p:nvGrpSpPr>
        <p:grpSpPr>
          <a:xfrm>
            <a:off x="4191000" y="3900488"/>
            <a:ext cx="5343525" cy="738187"/>
            <a:chOff x="1680" y="2457"/>
            <a:chExt cx="3366" cy="465"/>
          </a:xfrm>
        </p:grpSpPr>
        <p:sp>
          <p:nvSpPr>
            <p:cNvPr id="372751" name="Freeform 59"/>
            <p:cNvSpPr/>
            <p:nvPr/>
          </p:nvSpPr>
          <p:spPr>
            <a:xfrm>
              <a:off x="2550" y="2457"/>
              <a:ext cx="1533" cy="231"/>
            </a:xfrm>
            <a:custGeom>
              <a:avLst/>
              <a:gdLst>
                <a:gd name="txL" fmla="*/ 0 w 1533"/>
                <a:gd name="txT" fmla="*/ 0 h 231"/>
                <a:gd name="txR" fmla="*/ 1533 w 1533"/>
                <a:gd name="txB" fmla="*/ 231 h 231"/>
              </a:gdLst>
              <a:ahLst/>
              <a:cxnLst>
                <a:cxn ang="0">
                  <a:pos x="0" y="228"/>
                </a:cxn>
                <a:cxn ang="0">
                  <a:pos x="48" y="228"/>
                </a:cxn>
                <a:cxn ang="0">
                  <a:pos x="105" y="222"/>
                </a:cxn>
                <a:cxn ang="0">
                  <a:pos x="123" y="63"/>
                </a:cxn>
                <a:cxn ang="0">
                  <a:pos x="126" y="45"/>
                </a:cxn>
                <a:cxn ang="0">
                  <a:pos x="135" y="9"/>
                </a:cxn>
                <a:cxn ang="0">
                  <a:pos x="153" y="0"/>
                </a:cxn>
                <a:cxn ang="0">
                  <a:pos x="165" y="15"/>
                </a:cxn>
                <a:cxn ang="0">
                  <a:pos x="174" y="42"/>
                </a:cxn>
                <a:cxn ang="0">
                  <a:pos x="201" y="213"/>
                </a:cxn>
                <a:cxn ang="0">
                  <a:pos x="216" y="225"/>
                </a:cxn>
                <a:cxn ang="0">
                  <a:pos x="234" y="231"/>
                </a:cxn>
                <a:cxn ang="0">
                  <a:pos x="1533" y="231"/>
                </a:cxn>
              </a:cxnLst>
              <a:rect l="txL" t="txT" r="txR" b="txB"/>
              <a:pathLst>
                <a:path w="1533" h="231">
                  <a:moveTo>
                    <a:pt x="0" y="228"/>
                  </a:moveTo>
                  <a:lnTo>
                    <a:pt x="48" y="228"/>
                  </a:lnTo>
                  <a:lnTo>
                    <a:pt x="105" y="222"/>
                  </a:lnTo>
                  <a:lnTo>
                    <a:pt x="123" y="63"/>
                  </a:lnTo>
                  <a:lnTo>
                    <a:pt x="126" y="45"/>
                  </a:lnTo>
                  <a:lnTo>
                    <a:pt x="135" y="9"/>
                  </a:lnTo>
                  <a:lnTo>
                    <a:pt x="153" y="0"/>
                  </a:lnTo>
                  <a:lnTo>
                    <a:pt x="165" y="15"/>
                  </a:lnTo>
                  <a:lnTo>
                    <a:pt x="174" y="42"/>
                  </a:lnTo>
                  <a:lnTo>
                    <a:pt x="201" y="213"/>
                  </a:lnTo>
                  <a:lnTo>
                    <a:pt x="216" y="225"/>
                  </a:lnTo>
                  <a:lnTo>
                    <a:pt x="234" y="231"/>
                  </a:lnTo>
                  <a:lnTo>
                    <a:pt x="1533" y="231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52" name="Freeform 60"/>
            <p:cNvSpPr/>
            <p:nvPr/>
          </p:nvSpPr>
          <p:spPr>
            <a:xfrm>
              <a:off x="2265" y="2685"/>
              <a:ext cx="285" cy="1"/>
            </a:xfrm>
            <a:custGeom>
              <a:avLst/>
              <a:gdLst>
                <a:gd name="txL" fmla="*/ 0 w 285"/>
                <a:gd name="txT" fmla="*/ 0 h 1"/>
                <a:gd name="txR" fmla="*/ 285 w 285"/>
                <a:gd name="txB" fmla="*/ 1 h 1"/>
              </a:gdLst>
              <a:ahLst/>
              <a:cxnLst>
                <a:cxn ang="0">
                  <a:pos x="0" y="0"/>
                </a:cxn>
                <a:cxn ang="0">
                  <a:pos x="285" y="0"/>
                </a:cxn>
              </a:cxnLst>
              <a:rect l="txL" t="txT" r="txR" b="txB"/>
              <a:pathLst>
                <a:path w="285" h="1">
                  <a:moveTo>
                    <a:pt x="0" y="0"/>
                  </a:moveTo>
                  <a:lnTo>
                    <a:pt x="285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53" name="Freeform 61"/>
            <p:cNvSpPr/>
            <p:nvPr/>
          </p:nvSpPr>
          <p:spPr>
            <a:xfrm>
              <a:off x="3823" y="2685"/>
              <a:ext cx="506" cy="234"/>
            </a:xfrm>
            <a:custGeom>
              <a:avLst/>
              <a:gdLst>
                <a:gd name="txL" fmla="*/ 0 w 506"/>
                <a:gd name="txT" fmla="*/ 0 h 234"/>
                <a:gd name="txR" fmla="*/ 506 w 506"/>
                <a:gd name="txB" fmla="*/ 234 h 234"/>
              </a:gdLst>
              <a:ahLst/>
              <a:cxnLst>
                <a:cxn ang="0">
                  <a:pos x="506" y="3"/>
                </a:cxn>
                <a:cxn ang="0">
                  <a:pos x="420" y="0"/>
                </a:cxn>
                <a:cxn ang="0">
                  <a:pos x="378" y="9"/>
                </a:cxn>
                <a:cxn ang="0">
                  <a:pos x="363" y="30"/>
                </a:cxn>
                <a:cxn ang="0">
                  <a:pos x="363" y="21"/>
                </a:cxn>
                <a:cxn ang="0">
                  <a:pos x="342" y="171"/>
                </a:cxn>
                <a:cxn ang="0">
                  <a:pos x="339" y="189"/>
                </a:cxn>
                <a:cxn ang="0">
                  <a:pos x="330" y="225"/>
                </a:cxn>
                <a:cxn ang="0">
                  <a:pos x="312" y="234"/>
                </a:cxn>
                <a:cxn ang="0">
                  <a:pos x="300" y="219"/>
                </a:cxn>
                <a:cxn ang="0">
                  <a:pos x="291" y="192"/>
                </a:cxn>
                <a:cxn ang="0">
                  <a:pos x="264" y="21"/>
                </a:cxn>
                <a:cxn ang="0">
                  <a:pos x="249" y="9"/>
                </a:cxn>
                <a:cxn ang="0">
                  <a:pos x="231" y="3"/>
                </a:cxn>
                <a:cxn ang="0">
                  <a:pos x="0" y="3"/>
                </a:cxn>
              </a:cxnLst>
              <a:rect l="txL" t="txT" r="txR" b="txB"/>
              <a:pathLst>
                <a:path w="506" h="234">
                  <a:moveTo>
                    <a:pt x="506" y="3"/>
                  </a:moveTo>
                  <a:lnTo>
                    <a:pt x="420" y="0"/>
                  </a:lnTo>
                  <a:lnTo>
                    <a:pt x="378" y="9"/>
                  </a:lnTo>
                  <a:lnTo>
                    <a:pt x="363" y="30"/>
                  </a:lnTo>
                  <a:lnTo>
                    <a:pt x="363" y="21"/>
                  </a:lnTo>
                  <a:lnTo>
                    <a:pt x="342" y="171"/>
                  </a:lnTo>
                  <a:lnTo>
                    <a:pt x="339" y="189"/>
                  </a:lnTo>
                  <a:lnTo>
                    <a:pt x="330" y="225"/>
                  </a:lnTo>
                  <a:lnTo>
                    <a:pt x="312" y="234"/>
                  </a:lnTo>
                  <a:lnTo>
                    <a:pt x="300" y="219"/>
                  </a:lnTo>
                  <a:lnTo>
                    <a:pt x="291" y="192"/>
                  </a:lnTo>
                  <a:lnTo>
                    <a:pt x="264" y="21"/>
                  </a:lnTo>
                  <a:lnTo>
                    <a:pt x="249" y="9"/>
                  </a:lnTo>
                  <a:lnTo>
                    <a:pt x="231" y="3"/>
                  </a:lnTo>
                  <a:lnTo>
                    <a:pt x="0" y="3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2754" name="Line 62"/>
            <p:cNvSpPr/>
            <p:nvPr/>
          </p:nvSpPr>
          <p:spPr>
            <a:xfrm>
              <a:off x="4326" y="2688"/>
              <a:ext cx="720" cy="0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2755" name="Freeform 63"/>
            <p:cNvSpPr/>
            <p:nvPr/>
          </p:nvSpPr>
          <p:spPr>
            <a:xfrm>
              <a:off x="1680" y="2682"/>
              <a:ext cx="678" cy="240"/>
            </a:xfrm>
            <a:custGeom>
              <a:avLst/>
              <a:gdLst>
                <a:gd name="txL" fmla="*/ 0 w 678"/>
                <a:gd name="txT" fmla="*/ 0 h 240"/>
                <a:gd name="txR" fmla="*/ 678 w 678"/>
                <a:gd name="txB" fmla="*/ 240 h 240"/>
              </a:gdLst>
              <a:ahLst/>
              <a:cxnLst>
                <a:cxn ang="0">
                  <a:pos x="678" y="0"/>
                </a:cxn>
                <a:cxn ang="0">
                  <a:pos x="630" y="0"/>
                </a:cxn>
                <a:cxn ang="0">
                  <a:pos x="591" y="15"/>
                </a:cxn>
                <a:cxn ang="0">
                  <a:pos x="576" y="36"/>
                </a:cxn>
                <a:cxn ang="0">
                  <a:pos x="576" y="27"/>
                </a:cxn>
                <a:cxn ang="0">
                  <a:pos x="555" y="177"/>
                </a:cxn>
                <a:cxn ang="0">
                  <a:pos x="552" y="195"/>
                </a:cxn>
                <a:cxn ang="0">
                  <a:pos x="543" y="231"/>
                </a:cxn>
                <a:cxn ang="0">
                  <a:pos x="525" y="240"/>
                </a:cxn>
                <a:cxn ang="0">
                  <a:pos x="513" y="225"/>
                </a:cxn>
                <a:cxn ang="0">
                  <a:pos x="504" y="198"/>
                </a:cxn>
                <a:cxn ang="0">
                  <a:pos x="477" y="27"/>
                </a:cxn>
                <a:cxn ang="0">
                  <a:pos x="462" y="15"/>
                </a:cxn>
                <a:cxn ang="0">
                  <a:pos x="444" y="9"/>
                </a:cxn>
                <a:cxn ang="0">
                  <a:pos x="0" y="9"/>
                </a:cxn>
              </a:cxnLst>
              <a:rect l="txL" t="txT" r="txR" b="txB"/>
              <a:pathLst>
                <a:path w="678" h="240">
                  <a:moveTo>
                    <a:pt x="678" y="0"/>
                  </a:moveTo>
                  <a:lnTo>
                    <a:pt x="630" y="0"/>
                  </a:lnTo>
                  <a:lnTo>
                    <a:pt x="591" y="15"/>
                  </a:lnTo>
                  <a:lnTo>
                    <a:pt x="576" y="36"/>
                  </a:lnTo>
                  <a:lnTo>
                    <a:pt x="576" y="27"/>
                  </a:lnTo>
                  <a:lnTo>
                    <a:pt x="555" y="177"/>
                  </a:lnTo>
                  <a:lnTo>
                    <a:pt x="552" y="195"/>
                  </a:lnTo>
                  <a:lnTo>
                    <a:pt x="543" y="231"/>
                  </a:lnTo>
                  <a:lnTo>
                    <a:pt x="525" y="240"/>
                  </a:lnTo>
                  <a:lnTo>
                    <a:pt x="513" y="225"/>
                  </a:lnTo>
                  <a:lnTo>
                    <a:pt x="504" y="198"/>
                  </a:lnTo>
                  <a:lnTo>
                    <a:pt x="477" y="27"/>
                  </a:lnTo>
                  <a:lnTo>
                    <a:pt x="462" y="15"/>
                  </a:lnTo>
                  <a:lnTo>
                    <a:pt x="444" y="9"/>
                  </a:lnTo>
                  <a:lnTo>
                    <a:pt x="0" y="9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72749" name="AutoShape 64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2750" name="日期占位符 2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3762" name="Text Box 2"/>
          <p:cNvSpPr txBox="1"/>
          <p:nvPr/>
        </p:nvSpPr>
        <p:spPr>
          <a:xfrm>
            <a:off x="1889125" y="273050"/>
            <a:ext cx="3840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三、硬磁盘存储器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297987" name="Text Box 3"/>
          <p:cNvSpPr txBox="1"/>
          <p:nvPr/>
        </p:nvSpPr>
        <p:spPr>
          <a:xfrm>
            <a:off x="2651125" y="1085850"/>
            <a:ext cx="42468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硬磁盘存储器的类型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97988" name="Text Box 4"/>
          <p:cNvSpPr txBox="1"/>
          <p:nvPr/>
        </p:nvSpPr>
        <p:spPr>
          <a:xfrm>
            <a:off x="3165475" y="1843088"/>
            <a:ext cx="49879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(1) </a:t>
            </a:r>
            <a:r>
              <a:rPr lang="zh-CN" altLang="en-US" sz="2800" b="1" dirty="0">
                <a:latin typeface="Times New Roman" panose="02020603050405020304" pitchFamily="18" charset="0"/>
              </a:rPr>
              <a:t>固定磁头和移动磁头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97989" name="Text Box 5"/>
          <p:cNvSpPr txBox="1"/>
          <p:nvPr/>
        </p:nvSpPr>
        <p:spPr>
          <a:xfrm>
            <a:off x="3165475" y="2681288"/>
            <a:ext cx="44545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b="1" dirty="0">
                <a:latin typeface="Times New Roman" panose="02020603050405020304" pitchFamily="18" charset="0"/>
              </a:rPr>
              <a:t>(2) </a:t>
            </a:r>
            <a:r>
              <a:rPr lang="zh-CN" altLang="en-US" sz="2800" b="1" dirty="0">
                <a:latin typeface="Times New Roman" panose="02020603050405020304" pitchFamily="18" charset="0"/>
              </a:rPr>
              <a:t>可换盘和固定盘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97990" name="Text Box 6"/>
          <p:cNvSpPr txBox="1"/>
          <p:nvPr/>
        </p:nvSpPr>
        <p:spPr>
          <a:xfrm>
            <a:off x="2651125" y="3429000"/>
            <a:ext cx="38404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2. </a:t>
            </a:r>
            <a:r>
              <a:rPr lang="zh-CN" altLang="en-US" sz="3200" b="1" dirty="0">
                <a:latin typeface="Times New Roman" panose="02020603050405020304" pitchFamily="18" charset="0"/>
              </a:rPr>
              <a:t>硬磁盘存储器结构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3429000" y="4191000"/>
            <a:ext cx="5257800" cy="2209800"/>
            <a:chOff x="1104" y="2544"/>
            <a:chExt cx="3312" cy="1392"/>
          </a:xfrm>
        </p:grpSpPr>
        <p:grpSp>
          <p:nvGrpSpPr>
            <p:cNvPr id="373771" name="Group 8"/>
            <p:cNvGrpSpPr/>
            <p:nvPr/>
          </p:nvGrpSpPr>
          <p:grpSpPr>
            <a:xfrm>
              <a:off x="2048" y="2544"/>
              <a:ext cx="480" cy="1392"/>
              <a:chOff x="2448" y="1536"/>
              <a:chExt cx="480" cy="1392"/>
            </a:xfrm>
          </p:grpSpPr>
          <p:sp>
            <p:nvSpPr>
              <p:cNvPr id="373784" name="Text Box 9"/>
              <p:cNvSpPr txBox="1"/>
              <p:nvPr/>
            </p:nvSpPr>
            <p:spPr>
              <a:xfrm>
                <a:off x="2535" y="1617"/>
                <a:ext cx="348" cy="12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磁 盘 控 制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3785" name="Rectangle 10"/>
              <p:cNvSpPr/>
              <p:nvPr/>
            </p:nvSpPr>
            <p:spPr>
              <a:xfrm>
                <a:off x="2448" y="1536"/>
                <a:ext cx="480" cy="139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3772" name="Group 11"/>
            <p:cNvGrpSpPr/>
            <p:nvPr/>
          </p:nvGrpSpPr>
          <p:grpSpPr>
            <a:xfrm>
              <a:off x="2992" y="2544"/>
              <a:ext cx="480" cy="1392"/>
              <a:chOff x="3216" y="1536"/>
              <a:chExt cx="480" cy="1392"/>
            </a:xfrm>
          </p:grpSpPr>
          <p:sp>
            <p:nvSpPr>
              <p:cNvPr id="373782" name="Text Box 12"/>
              <p:cNvSpPr txBox="1"/>
              <p:nvPr/>
            </p:nvSpPr>
            <p:spPr>
              <a:xfrm>
                <a:off x="3303" y="1617"/>
                <a:ext cx="348" cy="12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磁 盘 驱 动 器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3783" name="Rectangle 13"/>
              <p:cNvSpPr/>
              <p:nvPr/>
            </p:nvSpPr>
            <p:spPr>
              <a:xfrm>
                <a:off x="3216" y="1536"/>
                <a:ext cx="480" cy="139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3773" name="Group 14"/>
            <p:cNvGrpSpPr/>
            <p:nvPr/>
          </p:nvGrpSpPr>
          <p:grpSpPr>
            <a:xfrm>
              <a:off x="3936" y="2544"/>
              <a:ext cx="480" cy="1392"/>
              <a:chOff x="3936" y="1536"/>
              <a:chExt cx="480" cy="1392"/>
            </a:xfrm>
          </p:grpSpPr>
          <p:sp>
            <p:nvSpPr>
              <p:cNvPr id="373780" name="Rectangle 15"/>
              <p:cNvSpPr/>
              <p:nvPr/>
            </p:nvSpPr>
            <p:spPr>
              <a:xfrm>
                <a:off x="3936" y="1536"/>
                <a:ext cx="480" cy="139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3781" name="Text Box 16"/>
              <p:cNvSpPr txBox="1"/>
              <p:nvPr/>
            </p:nvSpPr>
            <p:spPr>
              <a:xfrm>
                <a:off x="3982" y="1824"/>
                <a:ext cx="348" cy="7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盘       片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3774" name="Group 17"/>
            <p:cNvGrpSpPr/>
            <p:nvPr/>
          </p:nvGrpSpPr>
          <p:grpSpPr>
            <a:xfrm>
              <a:off x="1104" y="2544"/>
              <a:ext cx="480" cy="1392"/>
              <a:chOff x="1104" y="1536"/>
              <a:chExt cx="480" cy="1392"/>
            </a:xfrm>
          </p:grpSpPr>
          <p:sp>
            <p:nvSpPr>
              <p:cNvPr id="373778" name="Rectangle 18"/>
              <p:cNvSpPr/>
              <p:nvPr/>
            </p:nvSpPr>
            <p:spPr>
              <a:xfrm>
                <a:off x="1104" y="1536"/>
                <a:ext cx="480" cy="1392"/>
              </a:xfrm>
              <a:prstGeom prst="rect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3779" name="Text Box 19"/>
              <p:cNvSpPr txBox="1"/>
              <p:nvPr/>
            </p:nvSpPr>
            <p:spPr>
              <a:xfrm>
                <a:off x="1150" y="1824"/>
                <a:ext cx="348" cy="7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r>
                  <a:rPr lang="zh-CN" altLang="en-US" sz="2400" b="1" dirty="0">
                    <a:latin typeface="Times New Roman" panose="02020603050405020304" pitchFamily="18" charset="0"/>
                  </a:rPr>
                  <a:t>主       机</a:t>
                </a:r>
                <a:endParaRPr lang="zh-CN" altLang="en-US" sz="2400" b="1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3775" name="AutoShape 20"/>
            <p:cNvSpPr/>
            <p:nvPr/>
          </p:nvSpPr>
          <p:spPr>
            <a:xfrm>
              <a:off x="1584" y="3120"/>
              <a:ext cx="458" cy="240"/>
            </a:xfrm>
            <a:prstGeom prst="leftRightArrow">
              <a:avLst>
                <a:gd name="adj1" fmla="val 40000"/>
                <a:gd name="adj2" fmla="val 38016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3776" name="AutoShape 21"/>
            <p:cNvSpPr/>
            <p:nvPr/>
          </p:nvSpPr>
          <p:spPr>
            <a:xfrm>
              <a:off x="2518" y="3120"/>
              <a:ext cx="458" cy="240"/>
            </a:xfrm>
            <a:prstGeom prst="leftRightArrow">
              <a:avLst>
                <a:gd name="adj1" fmla="val 40000"/>
                <a:gd name="adj2" fmla="val 38016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3777" name="AutoShape 22"/>
            <p:cNvSpPr/>
            <p:nvPr/>
          </p:nvSpPr>
          <p:spPr>
            <a:xfrm>
              <a:off x="3478" y="3120"/>
              <a:ext cx="458" cy="240"/>
            </a:xfrm>
            <a:prstGeom prst="leftRightArrow">
              <a:avLst>
                <a:gd name="adj1" fmla="val 40000"/>
                <a:gd name="adj2" fmla="val 38016"/>
              </a:avLst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298007" name="Rectangle 23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3769" name="AutoShape 24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3770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7" grpId="0"/>
      <p:bldP spid="297988" grpId="0"/>
      <p:bldP spid="297989" grpId="0"/>
      <p:bldP spid="297990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2963863" y="1905000"/>
            <a:ext cx="6677025" cy="4229100"/>
            <a:chOff x="907" y="1200"/>
            <a:chExt cx="4206" cy="2664"/>
          </a:xfrm>
        </p:grpSpPr>
        <p:sp>
          <p:nvSpPr>
            <p:cNvPr id="374813" name="Rectangle 3"/>
            <p:cNvSpPr/>
            <p:nvPr/>
          </p:nvSpPr>
          <p:spPr>
            <a:xfrm>
              <a:off x="2095" y="1578"/>
              <a:ext cx="113" cy="1062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14" name="Rectangle 4"/>
            <p:cNvSpPr/>
            <p:nvPr/>
          </p:nvSpPr>
          <p:spPr>
            <a:xfrm>
              <a:off x="1238" y="1200"/>
              <a:ext cx="32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磁盘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15" name="Rectangle 5"/>
            <p:cNvSpPr/>
            <p:nvPr/>
          </p:nvSpPr>
          <p:spPr>
            <a:xfrm>
              <a:off x="1101" y="1817"/>
              <a:ext cx="16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磁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16" name="Rectangle 6"/>
            <p:cNvSpPr/>
            <p:nvPr/>
          </p:nvSpPr>
          <p:spPr>
            <a:xfrm>
              <a:off x="1101" y="2036"/>
              <a:ext cx="16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盘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17" name="Rectangle 7"/>
            <p:cNvSpPr/>
            <p:nvPr/>
          </p:nvSpPr>
          <p:spPr>
            <a:xfrm>
              <a:off x="1101" y="2252"/>
              <a:ext cx="16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组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18" name="Line 8"/>
            <p:cNvSpPr/>
            <p:nvPr/>
          </p:nvSpPr>
          <p:spPr>
            <a:xfrm>
              <a:off x="1491" y="1652"/>
              <a:ext cx="1179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19" name="Rectangle 9"/>
            <p:cNvSpPr/>
            <p:nvPr/>
          </p:nvSpPr>
          <p:spPr>
            <a:xfrm>
              <a:off x="2674" y="1652"/>
              <a:ext cx="153" cy="5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74820" name="Group 10"/>
            <p:cNvGrpSpPr/>
            <p:nvPr/>
          </p:nvGrpSpPr>
          <p:grpSpPr>
            <a:xfrm>
              <a:off x="1491" y="1787"/>
              <a:ext cx="1336" cy="94"/>
              <a:chOff x="1491" y="1883"/>
              <a:chExt cx="1336" cy="94"/>
            </a:xfrm>
          </p:grpSpPr>
          <p:sp>
            <p:nvSpPr>
              <p:cNvPr id="374914" name="Rectangle 11"/>
              <p:cNvSpPr/>
              <p:nvPr/>
            </p:nvSpPr>
            <p:spPr>
              <a:xfrm>
                <a:off x="2674" y="1883"/>
                <a:ext cx="153" cy="94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4915" name="Line 12"/>
              <p:cNvSpPr/>
              <p:nvPr/>
            </p:nvSpPr>
            <p:spPr>
              <a:xfrm>
                <a:off x="1491" y="1930"/>
                <a:ext cx="133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4821" name="Line 13"/>
            <p:cNvSpPr/>
            <p:nvPr/>
          </p:nvSpPr>
          <p:spPr>
            <a:xfrm>
              <a:off x="2823" y="1706"/>
              <a:ext cx="100" cy="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22" name="Line 14"/>
            <p:cNvSpPr/>
            <p:nvPr/>
          </p:nvSpPr>
          <p:spPr>
            <a:xfrm flipV="1">
              <a:off x="2823" y="1750"/>
              <a:ext cx="100" cy="3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23" name="Line 15"/>
            <p:cNvSpPr/>
            <p:nvPr/>
          </p:nvSpPr>
          <p:spPr>
            <a:xfrm>
              <a:off x="2923" y="1750"/>
              <a:ext cx="503" cy="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24" name="Line 16"/>
            <p:cNvSpPr/>
            <p:nvPr/>
          </p:nvSpPr>
          <p:spPr>
            <a:xfrm>
              <a:off x="1491" y="2544"/>
              <a:ext cx="1179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25" name="Rectangle 17"/>
            <p:cNvSpPr/>
            <p:nvPr/>
          </p:nvSpPr>
          <p:spPr>
            <a:xfrm>
              <a:off x="2674" y="2492"/>
              <a:ext cx="153" cy="57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26" name="Line 18"/>
            <p:cNvSpPr/>
            <p:nvPr/>
          </p:nvSpPr>
          <p:spPr>
            <a:xfrm>
              <a:off x="2823" y="2418"/>
              <a:ext cx="100" cy="5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27" name="Line 19"/>
            <p:cNvSpPr/>
            <p:nvPr/>
          </p:nvSpPr>
          <p:spPr>
            <a:xfrm flipV="1">
              <a:off x="2823" y="2472"/>
              <a:ext cx="100" cy="3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28" name="Line 20"/>
            <p:cNvSpPr/>
            <p:nvPr/>
          </p:nvSpPr>
          <p:spPr>
            <a:xfrm>
              <a:off x="2923" y="2472"/>
              <a:ext cx="50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29" name="Line 21"/>
            <p:cNvSpPr/>
            <p:nvPr/>
          </p:nvSpPr>
          <p:spPr>
            <a:xfrm>
              <a:off x="2823" y="1878"/>
              <a:ext cx="100" cy="4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30" name="Line 22"/>
            <p:cNvSpPr/>
            <p:nvPr/>
          </p:nvSpPr>
          <p:spPr>
            <a:xfrm flipV="1">
              <a:off x="2823" y="1925"/>
              <a:ext cx="100" cy="4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31" name="Line 23"/>
            <p:cNvSpPr/>
            <p:nvPr/>
          </p:nvSpPr>
          <p:spPr>
            <a:xfrm>
              <a:off x="2923" y="1925"/>
              <a:ext cx="503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74832" name="Group 24"/>
            <p:cNvGrpSpPr/>
            <p:nvPr/>
          </p:nvGrpSpPr>
          <p:grpSpPr>
            <a:xfrm>
              <a:off x="2823" y="2219"/>
              <a:ext cx="603" cy="91"/>
              <a:chOff x="2823" y="2315"/>
              <a:chExt cx="603" cy="91"/>
            </a:xfrm>
          </p:grpSpPr>
          <p:sp>
            <p:nvSpPr>
              <p:cNvPr id="374911" name="Line 25"/>
              <p:cNvSpPr/>
              <p:nvPr/>
            </p:nvSpPr>
            <p:spPr>
              <a:xfrm>
                <a:off x="2823" y="2315"/>
                <a:ext cx="100" cy="54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4912" name="Line 26"/>
              <p:cNvSpPr/>
              <p:nvPr/>
            </p:nvSpPr>
            <p:spPr>
              <a:xfrm flipV="1">
                <a:off x="2823" y="2369"/>
                <a:ext cx="100" cy="3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4913" name="Line 27"/>
              <p:cNvSpPr/>
              <p:nvPr/>
            </p:nvSpPr>
            <p:spPr>
              <a:xfrm>
                <a:off x="2923" y="2369"/>
                <a:ext cx="50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4833" name="Rectangle 28"/>
            <p:cNvSpPr/>
            <p:nvPr/>
          </p:nvSpPr>
          <p:spPr>
            <a:xfrm>
              <a:off x="3426" y="1689"/>
              <a:ext cx="382" cy="88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34" name="Oval 29"/>
            <p:cNvSpPr/>
            <p:nvPr/>
          </p:nvSpPr>
          <p:spPr>
            <a:xfrm>
              <a:off x="3479" y="2566"/>
              <a:ext cx="76" cy="67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35" name="Oval 30"/>
            <p:cNvSpPr/>
            <p:nvPr/>
          </p:nvSpPr>
          <p:spPr>
            <a:xfrm>
              <a:off x="3680" y="2566"/>
              <a:ext cx="76" cy="67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36" name="Oval 31"/>
            <p:cNvSpPr/>
            <p:nvPr/>
          </p:nvSpPr>
          <p:spPr>
            <a:xfrm>
              <a:off x="3479" y="1615"/>
              <a:ext cx="76" cy="67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37" name="Oval 32"/>
            <p:cNvSpPr/>
            <p:nvPr/>
          </p:nvSpPr>
          <p:spPr>
            <a:xfrm>
              <a:off x="3680" y="1615"/>
              <a:ext cx="76" cy="67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38" name="Line 33"/>
            <p:cNvSpPr/>
            <p:nvPr/>
          </p:nvSpPr>
          <p:spPr>
            <a:xfrm>
              <a:off x="3350" y="1433"/>
              <a:ext cx="1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39" name="Freeform 34"/>
            <p:cNvSpPr/>
            <p:nvPr/>
          </p:nvSpPr>
          <p:spPr>
            <a:xfrm>
              <a:off x="3881" y="1431"/>
              <a:ext cx="1" cy="184"/>
            </a:xfrm>
            <a:custGeom>
              <a:avLst/>
              <a:gdLst>
                <a:gd name="txL" fmla="*/ 0 w 1"/>
                <a:gd name="txT" fmla="*/ 0 h 184"/>
                <a:gd name="txR" fmla="*/ 1 w 1"/>
                <a:gd name="txB" fmla="*/ 184 h 184"/>
              </a:gdLst>
              <a:ahLst/>
              <a:cxnLst>
                <a:cxn ang="0">
                  <a:pos x="1" y="0"/>
                </a:cxn>
                <a:cxn ang="0">
                  <a:pos x="0" y="184"/>
                </a:cxn>
              </a:cxnLst>
              <a:rect l="txL" t="txT" r="txR" b="txB"/>
              <a:pathLst>
                <a:path w="1" h="184">
                  <a:moveTo>
                    <a:pt x="1" y="0"/>
                  </a:moveTo>
                  <a:lnTo>
                    <a:pt x="0" y="184"/>
                  </a:lnTo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40" name="Line 35"/>
            <p:cNvSpPr/>
            <p:nvPr/>
          </p:nvSpPr>
          <p:spPr>
            <a:xfrm>
              <a:off x="3350" y="1615"/>
              <a:ext cx="52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41" name="Line 36"/>
            <p:cNvSpPr/>
            <p:nvPr/>
          </p:nvSpPr>
          <p:spPr>
            <a:xfrm flipV="1">
              <a:off x="3350" y="2637"/>
              <a:ext cx="1" cy="18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42" name="Freeform 37"/>
            <p:cNvSpPr/>
            <p:nvPr/>
          </p:nvSpPr>
          <p:spPr>
            <a:xfrm>
              <a:off x="3879" y="2637"/>
              <a:ext cx="2" cy="180"/>
            </a:xfrm>
            <a:custGeom>
              <a:avLst/>
              <a:gdLst>
                <a:gd name="txL" fmla="*/ 0 w 2"/>
                <a:gd name="txT" fmla="*/ 0 h 180"/>
                <a:gd name="txR" fmla="*/ 2 w 2"/>
                <a:gd name="txB" fmla="*/ 180 h 180"/>
              </a:gdLst>
              <a:ahLst/>
              <a:cxnLst>
                <a:cxn ang="0">
                  <a:pos x="0" y="180"/>
                </a:cxn>
                <a:cxn ang="0">
                  <a:pos x="2" y="0"/>
                </a:cxn>
              </a:cxnLst>
              <a:rect l="txL" t="txT" r="txR" b="txB"/>
              <a:pathLst>
                <a:path w="2" h="180">
                  <a:moveTo>
                    <a:pt x="0" y="180"/>
                  </a:moveTo>
                  <a:lnTo>
                    <a:pt x="2" y="0"/>
                  </a:lnTo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43" name="Line 38"/>
            <p:cNvSpPr/>
            <p:nvPr/>
          </p:nvSpPr>
          <p:spPr>
            <a:xfrm>
              <a:off x="3350" y="2637"/>
              <a:ext cx="527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44" name="Rectangle 39"/>
            <p:cNvSpPr/>
            <p:nvPr/>
          </p:nvSpPr>
          <p:spPr>
            <a:xfrm>
              <a:off x="2042" y="2642"/>
              <a:ext cx="234" cy="120"/>
            </a:xfrm>
            <a:prstGeom prst="rect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45" name="Rectangle 40"/>
            <p:cNvSpPr/>
            <p:nvPr/>
          </p:nvSpPr>
          <p:spPr>
            <a:xfrm>
              <a:off x="1467" y="2674"/>
              <a:ext cx="833" cy="57"/>
            </a:xfrm>
            <a:prstGeom prst="rect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46" name="Freeform 41"/>
            <p:cNvSpPr/>
            <p:nvPr/>
          </p:nvSpPr>
          <p:spPr>
            <a:xfrm>
              <a:off x="1363" y="1652"/>
              <a:ext cx="100" cy="894"/>
            </a:xfrm>
            <a:custGeom>
              <a:avLst/>
              <a:gdLst>
                <a:gd name="txL" fmla="*/ 0 w 100"/>
                <a:gd name="txT" fmla="*/ 0 h 894"/>
                <a:gd name="txR" fmla="*/ 100 w 100"/>
                <a:gd name="txB" fmla="*/ 894 h 894"/>
              </a:gdLst>
              <a:ahLst/>
              <a:cxnLst>
                <a:cxn ang="0">
                  <a:pos x="100" y="0"/>
                </a:cxn>
                <a:cxn ang="0">
                  <a:pos x="84" y="7"/>
                </a:cxn>
                <a:cxn ang="0">
                  <a:pos x="68" y="24"/>
                </a:cxn>
                <a:cxn ang="0">
                  <a:pos x="56" y="47"/>
                </a:cxn>
                <a:cxn ang="0">
                  <a:pos x="52" y="74"/>
                </a:cxn>
                <a:cxn ang="0">
                  <a:pos x="52" y="371"/>
                </a:cxn>
                <a:cxn ang="0">
                  <a:pos x="48" y="401"/>
                </a:cxn>
                <a:cxn ang="0">
                  <a:pos x="36" y="425"/>
                </a:cxn>
                <a:cxn ang="0">
                  <a:pos x="20" y="438"/>
                </a:cxn>
                <a:cxn ang="0">
                  <a:pos x="0" y="445"/>
                </a:cxn>
                <a:cxn ang="0">
                  <a:pos x="20" y="452"/>
                </a:cxn>
                <a:cxn ang="0">
                  <a:pos x="36" y="469"/>
                </a:cxn>
                <a:cxn ang="0">
                  <a:pos x="48" y="492"/>
                </a:cxn>
                <a:cxn ang="0">
                  <a:pos x="52" y="523"/>
                </a:cxn>
                <a:cxn ang="0">
                  <a:pos x="52" y="820"/>
                </a:cxn>
                <a:cxn ang="0">
                  <a:pos x="56" y="850"/>
                </a:cxn>
                <a:cxn ang="0">
                  <a:pos x="68" y="873"/>
                </a:cxn>
                <a:cxn ang="0">
                  <a:pos x="84" y="887"/>
                </a:cxn>
                <a:cxn ang="0">
                  <a:pos x="100" y="894"/>
                </a:cxn>
              </a:cxnLst>
              <a:rect l="txL" t="txT" r="txR" b="txB"/>
              <a:pathLst>
                <a:path w="100" h="894">
                  <a:moveTo>
                    <a:pt x="100" y="0"/>
                  </a:moveTo>
                  <a:lnTo>
                    <a:pt x="84" y="7"/>
                  </a:lnTo>
                  <a:lnTo>
                    <a:pt x="68" y="24"/>
                  </a:lnTo>
                  <a:lnTo>
                    <a:pt x="56" y="47"/>
                  </a:lnTo>
                  <a:lnTo>
                    <a:pt x="52" y="74"/>
                  </a:lnTo>
                  <a:lnTo>
                    <a:pt x="52" y="371"/>
                  </a:lnTo>
                  <a:lnTo>
                    <a:pt x="48" y="401"/>
                  </a:lnTo>
                  <a:lnTo>
                    <a:pt x="36" y="425"/>
                  </a:lnTo>
                  <a:lnTo>
                    <a:pt x="20" y="438"/>
                  </a:lnTo>
                  <a:lnTo>
                    <a:pt x="0" y="445"/>
                  </a:lnTo>
                  <a:lnTo>
                    <a:pt x="20" y="452"/>
                  </a:lnTo>
                  <a:lnTo>
                    <a:pt x="36" y="469"/>
                  </a:lnTo>
                  <a:lnTo>
                    <a:pt x="48" y="492"/>
                  </a:lnTo>
                  <a:lnTo>
                    <a:pt x="52" y="523"/>
                  </a:lnTo>
                  <a:lnTo>
                    <a:pt x="52" y="820"/>
                  </a:lnTo>
                  <a:lnTo>
                    <a:pt x="56" y="850"/>
                  </a:lnTo>
                  <a:lnTo>
                    <a:pt x="68" y="873"/>
                  </a:lnTo>
                  <a:lnTo>
                    <a:pt x="84" y="887"/>
                  </a:lnTo>
                  <a:lnTo>
                    <a:pt x="100" y="894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47" name="Line 42"/>
            <p:cNvSpPr/>
            <p:nvPr/>
          </p:nvSpPr>
          <p:spPr>
            <a:xfrm flipH="1" flipV="1">
              <a:off x="1592" y="1450"/>
              <a:ext cx="249" cy="20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48" name="Line 43"/>
            <p:cNvSpPr/>
            <p:nvPr/>
          </p:nvSpPr>
          <p:spPr>
            <a:xfrm flipH="1">
              <a:off x="1238" y="1439"/>
              <a:ext cx="354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49" name="Line 44"/>
            <p:cNvSpPr/>
            <p:nvPr/>
          </p:nvSpPr>
          <p:spPr>
            <a:xfrm flipV="1">
              <a:off x="2746" y="1450"/>
              <a:ext cx="101" cy="219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50" name="Freeform 45"/>
            <p:cNvSpPr/>
            <p:nvPr/>
          </p:nvSpPr>
          <p:spPr>
            <a:xfrm>
              <a:off x="2847" y="1449"/>
              <a:ext cx="303" cy="1"/>
            </a:xfrm>
            <a:custGeom>
              <a:avLst/>
              <a:gdLst>
                <a:gd name="txL" fmla="*/ 0 w 303"/>
                <a:gd name="txT" fmla="*/ 0 h 1"/>
                <a:gd name="txR" fmla="*/ 303 w 303"/>
                <a:gd name="txB" fmla="*/ 1 h 1"/>
              </a:gdLst>
              <a:ahLst/>
              <a:cxnLst>
                <a:cxn ang="0">
                  <a:pos x="0" y="1"/>
                </a:cxn>
                <a:cxn ang="0">
                  <a:pos x="303" y="0"/>
                </a:cxn>
              </a:cxnLst>
              <a:rect l="txL" t="txT" r="txR" b="txB"/>
              <a:pathLst>
                <a:path w="303" h="1">
                  <a:moveTo>
                    <a:pt x="0" y="1"/>
                  </a:moveTo>
                  <a:lnTo>
                    <a:pt x="303" y="0"/>
                  </a:lnTo>
                </a:path>
              </a:pathLst>
            </a:custGeom>
            <a:solidFill>
              <a:srgbClr val="FFFFFF"/>
            </a:soli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51" name="Line 46"/>
            <p:cNvSpPr/>
            <p:nvPr/>
          </p:nvSpPr>
          <p:spPr>
            <a:xfrm flipV="1">
              <a:off x="2195" y="1433"/>
              <a:ext cx="125" cy="1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52" name="Line 47"/>
            <p:cNvSpPr/>
            <p:nvPr/>
          </p:nvSpPr>
          <p:spPr>
            <a:xfrm>
              <a:off x="2320" y="1439"/>
              <a:ext cx="27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53" name="Rectangle 48"/>
            <p:cNvSpPr/>
            <p:nvPr/>
          </p:nvSpPr>
          <p:spPr>
            <a:xfrm>
              <a:off x="2344" y="1200"/>
              <a:ext cx="32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主轴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54" name="Rectangle 49"/>
            <p:cNvSpPr/>
            <p:nvPr/>
          </p:nvSpPr>
          <p:spPr>
            <a:xfrm>
              <a:off x="2847" y="1200"/>
              <a:ext cx="320" cy="19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sz="2000" b="1" dirty="0">
                  <a:latin typeface="宋体" panose="02010600030101010101" pitchFamily="2" charset="-122"/>
                </a:rPr>
                <a:t>磁头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55" name="Line 50"/>
            <p:cNvSpPr/>
            <p:nvPr/>
          </p:nvSpPr>
          <p:spPr>
            <a:xfrm>
              <a:off x="3804" y="2159"/>
              <a:ext cx="27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56" name="Rectangle 51"/>
            <p:cNvSpPr/>
            <p:nvPr/>
          </p:nvSpPr>
          <p:spPr>
            <a:xfrm>
              <a:off x="4155" y="1960"/>
              <a:ext cx="288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音圈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57" name="Rectangle 52"/>
            <p:cNvSpPr/>
            <p:nvPr/>
          </p:nvSpPr>
          <p:spPr>
            <a:xfrm>
              <a:off x="4155" y="2112"/>
              <a:ext cx="288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电机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58" name="Rectangle 53"/>
            <p:cNvSpPr/>
            <p:nvPr/>
          </p:nvSpPr>
          <p:spPr>
            <a:xfrm>
              <a:off x="1741" y="3095"/>
              <a:ext cx="2192" cy="769"/>
            </a:xfrm>
            <a:prstGeom prst="rect">
              <a:avLst/>
            </a:prstGeom>
            <a:noFill/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59" name="Rectangle 54"/>
            <p:cNvSpPr/>
            <p:nvPr/>
          </p:nvSpPr>
          <p:spPr>
            <a:xfrm>
              <a:off x="1886" y="3264"/>
              <a:ext cx="576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位置检测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60" name="Rectangle 55"/>
            <p:cNvSpPr/>
            <p:nvPr/>
          </p:nvSpPr>
          <p:spPr>
            <a:xfrm>
              <a:off x="1886" y="3439"/>
              <a:ext cx="576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定位驱动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61" name="Rectangle 56"/>
            <p:cNvSpPr/>
            <p:nvPr/>
          </p:nvSpPr>
          <p:spPr>
            <a:xfrm>
              <a:off x="2725" y="3331"/>
              <a:ext cx="576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模拟控制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4862" name="Group 57"/>
            <p:cNvGrpSpPr/>
            <p:nvPr/>
          </p:nvGrpSpPr>
          <p:grpSpPr>
            <a:xfrm>
              <a:off x="3527" y="3311"/>
              <a:ext cx="144" cy="302"/>
              <a:chOff x="3511" y="3407"/>
              <a:chExt cx="144" cy="302"/>
            </a:xfrm>
          </p:grpSpPr>
          <p:sp>
            <p:nvSpPr>
              <p:cNvPr id="374909" name="Rectangle 58"/>
              <p:cNvSpPr/>
              <p:nvPr/>
            </p:nvSpPr>
            <p:spPr>
              <a:xfrm>
                <a:off x="3511" y="3407"/>
                <a:ext cx="144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b="1" dirty="0">
                    <a:latin typeface="宋体" panose="02010600030101010101" pitchFamily="2" charset="-122"/>
                  </a:rPr>
                  <a:t>放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4910" name="Rectangle 59"/>
              <p:cNvSpPr/>
              <p:nvPr/>
            </p:nvSpPr>
            <p:spPr>
              <a:xfrm>
                <a:off x="3511" y="3535"/>
                <a:ext cx="144" cy="17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p>
                <a:r>
                  <a:rPr lang="zh-CN" altLang="en-US" b="1" dirty="0">
                    <a:latin typeface="宋体" panose="02010600030101010101" pitchFamily="2" charset="-122"/>
                  </a:rPr>
                  <a:t>大</a:t>
                </a:r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4863" name="Group 60"/>
            <p:cNvGrpSpPr/>
            <p:nvPr/>
          </p:nvGrpSpPr>
          <p:grpSpPr>
            <a:xfrm>
              <a:off x="2496" y="3409"/>
              <a:ext cx="184" cy="71"/>
              <a:chOff x="2521" y="3505"/>
              <a:chExt cx="149" cy="71"/>
            </a:xfrm>
          </p:grpSpPr>
          <p:sp>
            <p:nvSpPr>
              <p:cNvPr id="374907" name="Line 61"/>
              <p:cNvSpPr/>
              <p:nvPr/>
            </p:nvSpPr>
            <p:spPr>
              <a:xfrm>
                <a:off x="2521" y="3539"/>
                <a:ext cx="101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4908" name="Freeform 62"/>
              <p:cNvSpPr/>
              <p:nvPr/>
            </p:nvSpPr>
            <p:spPr>
              <a:xfrm>
                <a:off x="2586" y="3505"/>
                <a:ext cx="84" cy="71"/>
              </a:xfrm>
              <a:custGeom>
                <a:avLst/>
                <a:gdLst>
                  <a:gd name="txL" fmla="*/ 0 w 84"/>
                  <a:gd name="txT" fmla="*/ 0 h 71"/>
                  <a:gd name="txR" fmla="*/ 84 w 84"/>
                  <a:gd name="txB" fmla="*/ 71 h 71"/>
                </a:gdLst>
                <a:ahLst/>
                <a:cxnLst>
                  <a:cxn ang="0">
                    <a:pos x="0" y="71"/>
                  </a:cxn>
                  <a:cxn ang="0">
                    <a:pos x="84" y="34"/>
                  </a:cxn>
                  <a:cxn ang="0">
                    <a:pos x="0" y="0"/>
                  </a:cxn>
                  <a:cxn ang="0">
                    <a:pos x="28" y="34"/>
                  </a:cxn>
                  <a:cxn ang="0">
                    <a:pos x="0" y="71"/>
                  </a:cxn>
                </a:cxnLst>
                <a:rect l="txL" t="txT" r="txR" b="txB"/>
                <a:pathLst>
                  <a:path w="84" h="71">
                    <a:moveTo>
                      <a:pt x="0" y="71"/>
                    </a:moveTo>
                    <a:lnTo>
                      <a:pt x="84" y="34"/>
                    </a:lnTo>
                    <a:lnTo>
                      <a:pt x="0" y="0"/>
                    </a:lnTo>
                    <a:lnTo>
                      <a:pt x="28" y="34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74864" name="Group 63"/>
            <p:cNvGrpSpPr/>
            <p:nvPr/>
          </p:nvGrpSpPr>
          <p:grpSpPr>
            <a:xfrm>
              <a:off x="3334" y="3409"/>
              <a:ext cx="170" cy="71"/>
              <a:chOff x="3302" y="3505"/>
              <a:chExt cx="148" cy="71"/>
            </a:xfrm>
          </p:grpSpPr>
          <p:sp>
            <p:nvSpPr>
              <p:cNvPr id="374905" name="Line 64"/>
              <p:cNvSpPr/>
              <p:nvPr/>
            </p:nvSpPr>
            <p:spPr>
              <a:xfrm>
                <a:off x="3302" y="3539"/>
                <a:ext cx="100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4906" name="Freeform 65"/>
              <p:cNvSpPr/>
              <p:nvPr/>
            </p:nvSpPr>
            <p:spPr>
              <a:xfrm>
                <a:off x="3366" y="3505"/>
                <a:ext cx="84" cy="71"/>
              </a:xfrm>
              <a:custGeom>
                <a:avLst/>
                <a:gdLst>
                  <a:gd name="txL" fmla="*/ 0 w 84"/>
                  <a:gd name="txT" fmla="*/ 0 h 71"/>
                  <a:gd name="txR" fmla="*/ 84 w 84"/>
                  <a:gd name="txB" fmla="*/ 71 h 71"/>
                </a:gdLst>
                <a:ahLst/>
                <a:cxnLst>
                  <a:cxn ang="0">
                    <a:pos x="0" y="71"/>
                  </a:cxn>
                  <a:cxn ang="0">
                    <a:pos x="84" y="34"/>
                  </a:cxn>
                  <a:cxn ang="0">
                    <a:pos x="0" y="0"/>
                  </a:cxn>
                  <a:cxn ang="0">
                    <a:pos x="28" y="34"/>
                  </a:cxn>
                  <a:cxn ang="0">
                    <a:pos x="0" y="71"/>
                  </a:cxn>
                </a:cxnLst>
                <a:rect l="txL" t="txT" r="txR" b="txB"/>
                <a:pathLst>
                  <a:path w="84" h="71">
                    <a:moveTo>
                      <a:pt x="0" y="71"/>
                    </a:moveTo>
                    <a:lnTo>
                      <a:pt x="84" y="34"/>
                    </a:lnTo>
                    <a:lnTo>
                      <a:pt x="0" y="0"/>
                    </a:lnTo>
                    <a:lnTo>
                      <a:pt x="28" y="34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4865" name="Rectangle 66"/>
            <p:cNvSpPr/>
            <p:nvPr/>
          </p:nvSpPr>
          <p:spPr>
            <a:xfrm>
              <a:off x="2296" y="3648"/>
              <a:ext cx="1152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闭环自动控制系统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4866" name="Group 67"/>
            <p:cNvGrpSpPr/>
            <p:nvPr/>
          </p:nvGrpSpPr>
          <p:grpSpPr>
            <a:xfrm>
              <a:off x="1632" y="3409"/>
              <a:ext cx="240" cy="71"/>
              <a:chOff x="1540" y="3505"/>
              <a:chExt cx="354" cy="71"/>
            </a:xfrm>
          </p:grpSpPr>
          <p:sp>
            <p:nvSpPr>
              <p:cNvPr id="374903" name="Line 68"/>
              <p:cNvSpPr/>
              <p:nvPr/>
            </p:nvSpPr>
            <p:spPr>
              <a:xfrm>
                <a:off x="1540" y="3539"/>
                <a:ext cx="305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4904" name="Freeform 69"/>
              <p:cNvSpPr/>
              <p:nvPr/>
            </p:nvSpPr>
            <p:spPr>
              <a:xfrm>
                <a:off x="1809" y="3505"/>
                <a:ext cx="85" cy="71"/>
              </a:xfrm>
              <a:custGeom>
                <a:avLst/>
                <a:gdLst>
                  <a:gd name="txL" fmla="*/ 0 w 85"/>
                  <a:gd name="txT" fmla="*/ 0 h 71"/>
                  <a:gd name="txR" fmla="*/ 85 w 85"/>
                  <a:gd name="txB" fmla="*/ 71 h 71"/>
                </a:gdLst>
                <a:ahLst/>
                <a:cxnLst>
                  <a:cxn ang="0">
                    <a:pos x="0" y="71"/>
                  </a:cxn>
                  <a:cxn ang="0">
                    <a:pos x="85" y="34"/>
                  </a:cxn>
                  <a:cxn ang="0">
                    <a:pos x="0" y="0"/>
                  </a:cxn>
                  <a:cxn ang="0">
                    <a:pos x="28" y="34"/>
                  </a:cxn>
                  <a:cxn ang="0">
                    <a:pos x="0" y="71"/>
                  </a:cxn>
                </a:cxnLst>
                <a:rect l="txL" t="txT" r="txR" b="txB"/>
                <a:pathLst>
                  <a:path w="85" h="71">
                    <a:moveTo>
                      <a:pt x="0" y="71"/>
                    </a:moveTo>
                    <a:lnTo>
                      <a:pt x="85" y="34"/>
                    </a:lnTo>
                    <a:lnTo>
                      <a:pt x="0" y="0"/>
                    </a:lnTo>
                    <a:lnTo>
                      <a:pt x="28" y="34"/>
                    </a:lnTo>
                    <a:lnTo>
                      <a:pt x="0" y="71"/>
                    </a:lnTo>
                    <a:close/>
                  </a:path>
                </a:pathLst>
              </a:cu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74867" name="Rectangle 70"/>
            <p:cNvSpPr/>
            <p:nvPr/>
          </p:nvSpPr>
          <p:spPr>
            <a:xfrm>
              <a:off x="907" y="3168"/>
              <a:ext cx="72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由磁盘控制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68" name="Rectangle 71"/>
            <p:cNvSpPr/>
            <p:nvPr/>
          </p:nvSpPr>
          <p:spPr>
            <a:xfrm>
              <a:off x="908" y="3359"/>
              <a:ext cx="72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器送来的目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69" name="Rectangle 72"/>
            <p:cNvSpPr/>
            <p:nvPr/>
          </p:nvSpPr>
          <p:spPr>
            <a:xfrm>
              <a:off x="908" y="3571"/>
              <a:ext cx="72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标磁道信号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70" name="Rectangle 73"/>
            <p:cNvSpPr/>
            <p:nvPr/>
          </p:nvSpPr>
          <p:spPr>
            <a:xfrm>
              <a:off x="4752" y="2131"/>
              <a:ext cx="14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测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71" name="Rectangle 74"/>
            <p:cNvSpPr/>
            <p:nvPr/>
          </p:nvSpPr>
          <p:spPr>
            <a:xfrm>
              <a:off x="4752" y="2350"/>
              <a:ext cx="14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速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72" name="Rectangle 75"/>
            <p:cNvSpPr/>
            <p:nvPr/>
          </p:nvSpPr>
          <p:spPr>
            <a:xfrm>
              <a:off x="4752" y="2569"/>
              <a:ext cx="14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输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73" name="Rectangle 76"/>
            <p:cNvSpPr/>
            <p:nvPr/>
          </p:nvSpPr>
          <p:spPr>
            <a:xfrm>
              <a:off x="4752" y="2785"/>
              <a:ext cx="144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出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74" name="Line 77"/>
            <p:cNvSpPr/>
            <p:nvPr/>
          </p:nvSpPr>
          <p:spPr>
            <a:xfrm flipH="1">
              <a:off x="2847" y="2472"/>
              <a:ext cx="201" cy="293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75" name="Rectangle 78"/>
            <p:cNvSpPr/>
            <p:nvPr/>
          </p:nvSpPr>
          <p:spPr>
            <a:xfrm>
              <a:off x="2907" y="2640"/>
              <a:ext cx="432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读写臂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4876" name="Group 79"/>
            <p:cNvGrpSpPr/>
            <p:nvPr/>
          </p:nvGrpSpPr>
          <p:grpSpPr>
            <a:xfrm>
              <a:off x="1491" y="1972"/>
              <a:ext cx="1336" cy="95"/>
              <a:chOff x="1491" y="2068"/>
              <a:chExt cx="1336" cy="95"/>
            </a:xfrm>
          </p:grpSpPr>
          <p:sp>
            <p:nvSpPr>
              <p:cNvPr id="374901" name="Rectangle 80"/>
              <p:cNvSpPr/>
              <p:nvPr/>
            </p:nvSpPr>
            <p:spPr>
              <a:xfrm>
                <a:off x="2674" y="2068"/>
                <a:ext cx="153" cy="95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4902" name="Line 81"/>
              <p:cNvSpPr/>
              <p:nvPr/>
            </p:nvSpPr>
            <p:spPr>
              <a:xfrm>
                <a:off x="1491" y="2112"/>
                <a:ext cx="133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74877" name="Group 82"/>
            <p:cNvGrpSpPr/>
            <p:nvPr/>
          </p:nvGrpSpPr>
          <p:grpSpPr>
            <a:xfrm>
              <a:off x="1491" y="2128"/>
              <a:ext cx="1336" cy="94"/>
              <a:chOff x="1491" y="2224"/>
              <a:chExt cx="1336" cy="94"/>
            </a:xfrm>
          </p:grpSpPr>
          <p:sp>
            <p:nvSpPr>
              <p:cNvPr id="374899" name="Rectangle 83"/>
              <p:cNvSpPr/>
              <p:nvPr/>
            </p:nvSpPr>
            <p:spPr>
              <a:xfrm>
                <a:off x="2674" y="2224"/>
                <a:ext cx="153" cy="94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4900" name="Line 84"/>
              <p:cNvSpPr/>
              <p:nvPr/>
            </p:nvSpPr>
            <p:spPr>
              <a:xfrm>
                <a:off x="1491" y="2267"/>
                <a:ext cx="133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74878" name="Group 85"/>
            <p:cNvGrpSpPr/>
            <p:nvPr/>
          </p:nvGrpSpPr>
          <p:grpSpPr>
            <a:xfrm>
              <a:off x="2823" y="2063"/>
              <a:ext cx="603" cy="65"/>
              <a:chOff x="2823" y="2159"/>
              <a:chExt cx="603" cy="65"/>
            </a:xfrm>
          </p:grpSpPr>
          <p:sp>
            <p:nvSpPr>
              <p:cNvPr id="374896" name="Line 86"/>
              <p:cNvSpPr/>
              <p:nvPr/>
            </p:nvSpPr>
            <p:spPr>
              <a:xfrm>
                <a:off x="2823" y="2159"/>
                <a:ext cx="100" cy="27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4897" name="Line 87"/>
              <p:cNvSpPr/>
              <p:nvPr/>
            </p:nvSpPr>
            <p:spPr>
              <a:xfrm flipV="1">
                <a:off x="2823" y="2186"/>
                <a:ext cx="100" cy="38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4898" name="Line 88"/>
              <p:cNvSpPr/>
              <p:nvPr/>
            </p:nvSpPr>
            <p:spPr>
              <a:xfrm>
                <a:off x="2923" y="2186"/>
                <a:ext cx="503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74879" name="Group 89"/>
            <p:cNvGrpSpPr/>
            <p:nvPr/>
          </p:nvGrpSpPr>
          <p:grpSpPr>
            <a:xfrm>
              <a:off x="1491" y="2316"/>
              <a:ext cx="1336" cy="98"/>
              <a:chOff x="1491" y="2412"/>
              <a:chExt cx="1336" cy="98"/>
            </a:xfrm>
          </p:grpSpPr>
          <p:sp>
            <p:nvSpPr>
              <p:cNvPr id="374894" name="Rectangle 90"/>
              <p:cNvSpPr/>
              <p:nvPr/>
            </p:nvSpPr>
            <p:spPr>
              <a:xfrm>
                <a:off x="2674" y="2412"/>
                <a:ext cx="153" cy="98"/>
              </a:xfrm>
              <a:prstGeom prst="rect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4895" name="Line 91"/>
              <p:cNvSpPr/>
              <p:nvPr/>
            </p:nvSpPr>
            <p:spPr>
              <a:xfrm>
                <a:off x="1491" y="2460"/>
                <a:ext cx="1332" cy="1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4880" name="Rectangle 92"/>
            <p:cNvSpPr/>
            <p:nvPr/>
          </p:nvSpPr>
          <p:spPr>
            <a:xfrm>
              <a:off x="1101" y="2880"/>
              <a:ext cx="576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p>
              <a:r>
                <a:rPr lang="zh-CN" altLang="en-US" b="1" dirty="0">
                  <a:latin typeface="宋体" panose="02010600030101010101" pitchFamily="2" charset="-122"/>
                </a:rPr>
                <a:t>传动机构</a:t>
              </a:r>
              <a:endParaRPr lang="zh-CN" altLang="en-US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81" name="Line 93"/>
            <p:cNvSpPr/>
            <p:nvPr/>
          </p:nvSpPr>
          <p:spPr>
            <a:xfrm flipV="1">
              <a:off x="1440" y="2735"/>
              <a:ext cx="249" cy="145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82" name="Rectangle 94"/>
            <p:cNvSpPr/>
            <p:nvPr/>
          </p:nvSpPr>
          <p:spPr>
            <a:xfrm>
              <a:off x="4080" y="1968"/>
              <a:ext cx="432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83" name="Rectangle 95"/>
            <p:cNvSpPr/>
            <p:nvPr/>
          </p:nvSpPr>
          <p:spPr>
            <a:xfrm>
              <a:off x="1872" y="3216"/>
              <a:ext cx="624" cy="4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84" name="Rectangle 96"/>
            <p:cNvSpPr/>
            <p:nvPr/>
          </p:nvSpPr>
          <p:spPr>
            <a:xfrm>
              <a:off x="2693" y="3312"/>
              <a:ext cx="62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85" name="Rectangle 97"/>
            <p:cNvSpPr/>
            <p:nvPr/>
          </p:nvSpPr>
          <p:spPr>
            <a:xfrm>
              <a:off x="3504" y="3264"/>
              <a:ext cx="192" cy="38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74886" name="Group 98"/>
            <p:cNvGrpSpPr/>
            <p:nvPr/>
          </p:nvGrpSpPr>
          <p:grpSpPr>
            <a:xfrm>
              <a:off x="2160" y="2547"/>
              <a:ext cx="597" cy="669"/>
              <a:chOff x="2160" y="2547"/>
              <a:chExt cx="597" cy="669"/>
            </a:xfrm>
          </p:grpSpPr>
          <p:sp>
            <p:nvSpPr>
              <p:cNvPr id="374892" name="Freeform 99"/>
              <p:cNvSpPr/>
              <p:nvPr/>
            </p:nvSpPr>
            <p:spPr>
              <a:xfrm>
                <a:off x="2160" y="2547"/>
                <a:ext cx="597" cy="669"/>
              </a:xfrm>
              <a:custGeom>
                <a:avLst/>
                <a:gdLst>
                  <a:gd name="txL" fmla="*/ 0 w 597"/>
                  <a:gd name="txT" fmla="*/ 0 h 669"/>
                  <a:gd name="txR" fmla="*/ 597 w 597"/>
                  <a:gd name="txB" fmla="*/ 669 h 669"/>
                </a:gdLst>
                <a:ahLst/>
                <a:cxnLst>
                  <a:cxn ang="0">
                    <a:pos x="594" y="0"/>
                  </a:cxn>
                  <a:cxn ang="0">
                    <a:pos x="597" y="318"/>
                  </a:cxn>
                  <a:cxn ang="0">
                    <a:pos x="576" y="333"/>
                  </a:cxn>
                  <a:cxn ang="0">
                    <a:pos x="0" y="333"/>
                  </a:cxn>
                  <a:cxn ang="0">
                    <a:pos x="0" y="669"/>
                  </a:cxn>
                </a:cxnLst>
                <a:rect l="txL" t="txT" r="txR" b="txB"/>
                <a:pathLst>
                  <a:path w="597" h="669">
                    <a:moveTo>
                      <a:pt x="594" y="0"/>
                    </a:moveTo>
                    <a:lnTo>
                      <a:pt x="597" y="318"/>
                    </a:lnTo>
                    <a:lnTo>
                      <a:pt x="576" y="333"/>
                    </a:lnTo>
                    <a:lnTo>
                      <a:pt x="0" y="333"/>
                    </a:lnTo>
                    <a:lnTo>
                      <a:pt x="0" y="669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4893" name="Line 100"/>
              <p:cNvSpPr/>
              <p:nvPr/>
            </p:nvSpPr>
            <p:spPr>
              <a:xfrm flipV="1">
                <a:off x="2160" y="3120"/>
                <a:ext cx="0" cy="4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74887" name="Freeform 101"/>
            <p:cNvSpPr/>
            <p:nvPr/>
          </p:nvSpPr>
          <p:spPr>
            <a:xfrm>
              <a:off x="3012" y="2160"/>
              <a:ext cx="1692" cy="1149"/>
            </a:xfrm>
            <a:custGeom>
              <a:avLst/>
              <a:gdLst>
                <a:gd name="txL" fmla="*/ 0 w 1692"/>
                <a:gd name="txT" fmla="*/ 0 h 1149"/>
                <a:gd name="txR" fmla="*/ 1692 w 1692"/>
                <a:gd name="txB" fmla="*/ 1149 h 1149"/>
              </a:gdLst>
              <a:ahLst/>
              <a:cxnLst>
                <a:cxn ang="0">
                  <a:pos x="1500" y="0"/>
                </a:cxn>
                <a:cxn ang="0">
                  <a:pos x="1692" y="0"/>
                </a:cxn>
                <a:cxn ang="0">
                  <a:pos x="1692" y="768"/>
                </a:cxn>
                <a:cxn ang="0">
                  <a:pos x="0" y="765"/>
                </a:cxn>
                <a:cxn ang="0">
                  <a:pos x="0" y="1149"/>
                </a:cxn>
              </a:cxnLst>
              <a:rect l="txL" t="txT" r="txR" b="txB"/>
              <a:pathLst>
                <a:path w="1692" h="1149">
                  <a:moveTo>
                    <a:pt x="1500" y="0"/>
                  </a:moveTo>
                  <a:lnTo>
                    <a:pt x="1692" y="0"/>
                  </a:lnTo>
                  <a:lnTo>
                    <a:pt x="1692" y="768"/>
                  </a:lnTo>
                  <a:lnTo>
                    <a:pt x="0" y="765"/>
                  </a:lnTo>
                  <a:lnTo>
                    <a:pt x="0" y="1149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dash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88" name="Line 102"/>
            <p:cNvSpPr/>
            <p:nvPr/>
          </p:nvSpPr>
          <p:spPr>
            <a:xfrm>
              <a:off x="3704" y="3443"/>
              <a:ext cx="1408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89" name="Line 103"/>
            <p:cNvSpPr/>
            <p:nvPr/>
          </p:nvSpPr>
          <p:spPr>
            <a:xfrm flipV="1">
              <a:off x="5112" y="1780"/>
              <a:ext cx="1" cy="1663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90" name="Line 104"/>
            <p:cNvSpPr/>
            <p:nvPr/>
          </p:nvSpPr>
          <p:spPr>
            <a:xfrm flipH="1">
              <a:off x="4279" y="1780"/>
              <a:ext cx="833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91" name="Line 105"/>
            <p:cNvSpPr/>
            <p:nvPr/>
          </p:nvSpPr>
          <p:spPr>
            <a:xfrm>
              <a:off x="4279" y="1768"/>
              <a:ext cx="1" cy="2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4" name="Group 106"/>
          <p:cNvGrpSpPr/>
          <p:nvPr/>
        </p:nvGrpSpPr>
        <p:grpSpPr>
          <a:xfrm>
            <a:off x="4953000" y="4043363"/>
            <a:ext cx="947738" cy="1062037"/>
            <a:chOff x="2160" y="2547"/>
            <a:chExt cx="597" cy="669"/>
          </a:xfrm>
        </p:grpSpPr>
        <p:sp>
          <p:nvSpPr>
            <p:cNvPr id="374811" name="Freeform 107"/>
            <p:cNvSpPr/>
            <p:nvPr/>
          </p:nvSpPr>
          <p:spPr>
            <a:xfrm>
              <a:off x="2160" y="2547"/>
              <a:ext cx="597" cy="669"/>
            </a:xfrm>
            <a:custGeom>
              <a:avLst/>
              <a:gdLst>
                <a:gd name="txL" fmla="*/ 0 w 597"/>
                <a:gd name="txT" fmla="*/ 0 h 669"/>
                <a:gd name="txR" fmla="*/ 597 w 597"/>
                <a:gd name="txB" fmla="*/ 669 h 669"/>
              </a:gdLst>
              <a:ahLst/>
              <a:cxnLst>
                <a:cxn ang="0">
                  <a:pos x="594" y="0"/>
                </a:cxn>
                <a:cxn ang="0">
                  <a:pos x="597" y="318"/>
                </a:cxn>
                <a:cxn ang="0">
                  <a:pos x="576" y="333"/>
                </a:cxn>
                <a:cxn ang="0">
                  <a:pos x="0" y="333"/>
                </a:cxn>
                <a:cxn ang="0">
                  <a:pos x="0" y="669"/>
                </a:cxn>
              </a:cxnLst>
              <a:rect l="txL" t="txT" r="txR" b="txB"/>
              <a:pathLst>
                <a:path w="597" h="669">
                  <a:moveTo>
                    <a:pt x="594" y="0"/>
                  </a:moveTo>
                  <a:lnTo>
                    <a:pt x="597" y="318"/>
                  </a:lnTo>
                  <a:lnTo>
                    <a:pt x="576" y="333"/>
                  </a:lnTo>
                  <a:lnTo>
                    <a:pt x="0" y="333"/>
                  </a:lnTo>
                  <a:lnTo>
                    <a:pt x="0" y="669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dash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4812" name="Line 108"/>
            <p:cNvSpPr/>
            <p:nvPr/>
          </p:nvSpPr>
          <p:spPr>
            <a:xfrm flipV="1">
              <a:off x="2160" y="3120"/>
              <a:ext cx="0" cy="48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99117" name="Freeform 109"/>
          <p:cNvSpPr/>
          <p:nvPr/>
        </p:nvSpPr>
        <p:spPr>
          <a:xfrm>
            <a:off x="6305550" y="3429000"/>
            <a:ext cx="2686050" cy="1824038"/>
          </a:xfrm>
          <a:custGeom>
            <a:avLst/>
            <a:gdLst>
              <a:gd name="txL" fmla="*/ 0 w 1692"/>
              <a:gd name="txT" fmla="*/ 0 h 1149"/>
              <a:gd name="txR" fmla="*/ 1692 w 1692"/>
              <a:gd name="txB" fmla="*/ 1149 h 1149"/>
            </a:gdLst>
            <a:ahLst/>
            <a:cxnLst>
              <a:cxn ang="0">
                <a:pos x="1500" y="0"/>
              </a:cxn>
              <a:cxn ang="0">
                <a:pos x="1692" y="0"/>
              </a:cxn>
              <a:cxn ang="0">
                <a:pos x="1692" y="768"/>
              </a:cxn>
              <a:cxn ang="0">
                <a:pos x="0" y="765"/>
              </a:cxn>
              <a:cxn ang="0">
                <a:pos x="0" y="1149"/>
              </a:cxn>
            </a:cxnLst>
            <a:rect l="txL" t="txT" r="txR" b="txB"/>
            <a:pathLst>
              <a:path w="1692" h="1149">
                <a:moveTo>
                  <a:pt x="1500" y="0"/>
                </a:moveTo>
                <a:lnTo>
                  <a:pt x="1692" y="0"/>
                </a:lnTo>
                <a:lnTo>
                  <a:pt x="1692" y="768"/>
                </a:lnTo>
                <a:lnTo>
                  <a:pt x="0" y="765"/>
                </a:lnTo>
                <a:lnTo>
                  <a:pt x="0" y="1149"/>
                </a:lnTo>
              </a:path>
            </a:pathLst>
          </a:custGeom>
          <a:noFill/>
          <a:ln w="38100" cap="flat" cmpd="sng">
            <a:solidFill>
              <a:schemeClr val="folHlink"/>
            </a:solidFill>
            <a:prstDash val="dash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5" name="Group 110"/>
          <p:cNvGrpSpPr/>
          <p:nvPr/>
        </p:nvGrpSpPr>
        <p:grpSpPr>
          <a:xfrm>
            <a:off x="7404100" y="2806700"/>
            <a:ext cx="2236788" cy="2660650"/>
            <a:chOff x="3704" y="1768"/>
            <a:chExt cx="1409" cy="1676"/>
          </a:xfrm>
        </p:grpSpPr>
        <p:sp>
          <p:nvSpPr>
            <p:cNvPr id="374807" name="Line 111"/>
            <p:cNvSpPr/>
            <p:nvPr/>
          </p:nvSpPr>
          <p:spPr>
            <a:xfrm>
              <a:off x="3704" y="3443"/>
              <a:ext cx="1408" cy="1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08" name="Line 112"/>
            <p:cNvSpPr/>
            <p:nvPr/>
          </p:nvSpPr>
          <p:spPr>
            <a:xfrm flipV="1">
              <a:off x="5112" y="1780"/>
              <a:ext cx="1" cy="1663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09" name="Line 113"/>
            <p:cNvSpPr/>
            <p:nvPr/>
          </p:nvSpPr>
          <p:spPr>
            <a:xfrm flipH="1">
              <a:off x="4279" y="1780"/>
              <a:ext cx="833" cy="1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10" name="Line 114"/>
            <p:cNvSpPr/>
            <p:nvPr/>
          </p:nvSpPr>
          <p:spPr>
            <a:xfrm>
              <a:off x="4279" y="1768"/>
              <a:ext cx="1" cy="20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16" name="Group 115"/>
          <p:cNvGrpSpPr/>
          <p:nvPr/>
        </p:nvGrpSpPr>
        <p:grpSpPr>
          <a:xfrm>
            <a:off x="3108325" y="1295400"/>
            <a:ext cx="4525963" cy="460375"/>
            <a:chOff x="998" y="816"/>
            <a:chExt cx="2851" cy="290"/>
          </a:xfrm>
        </p:grpSpPr>
        <p:sp>
          <p:nvSpPr>
            <p:cNvPr id="374804" name="Text Box 116"/>
            <p:cNvSpPr txBox="1"/>
            <p:nvPr/>
          </p:nvSpPr>
          <p:spPr>
            <a:xfrm>
              <a:off x="998" y="816"/>
              <a:ext cx="49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主轴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05" name="Text Box 117"/>
            <p:cNvSpPr txBox="1"/>
            <p:nvPr/>
          </p:nvSpPr>
          <p:spPr>
            <a:xfrm>
              <a:off x="1766" y="816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定位驱动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4806" name="Text Box 118"/>
            <p:cNvSpPr txBox="1"/>
            <p:nvPr/>
          </p:nvSpPr>
          <p:spPr>
            <a:xfrm>
              <a:off x="2966" y="816"/>
              <a:ext cx="883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400" b="1" dirty="0">
                  <a:latin typeface="Times New Roman" panose="02020603050405020304" pitchFamily="18" charset="0"/>
                </a:rPr>
                <a:t>数据控制</a:t>
              </a:r>
              <a:endParaRPr lang="zh-CN" altLang="en-US" sz="24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74791" name="Text Box 119"/>
          <p:cNvSpPr txBox="1"/>
          <p:nvPr/>
        </p:nvSpPr>
        <p:spPr>
          <a:xfrm>
            <a:off x="2209800" y="381000"/>
            <a:ext cx="3657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</a:rPr>
              <a:t>磁盘驱动器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299128" name="Rectangle 120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7" name="Group 121"/>
          <p:cNvGrpSpPr/>
          <p:nvPr/>
        </p:nvGrpSpPr>
        <p:grpSpPr>
          <a:xfrm>
            <a:off x="5486400" y="5411788"/>
            <a:ext cx="292100" cy="112712"/>
            <a:chOff x="2521" y="3505"/>
            <a:chExt cx="149" cy="71"/>
          </a:xfrm>
        </p:grpSpPr>
        <p:sp>
          <p:nvSpPr>
            <p:cNvPr id="374802" name="Line 122"/>
            <p:cNvSpPr/>
            <p:nvPr/>
          </p:nvSpPr>
          <p:spPr>
            <a:xfrm>
              <a:off x="2521" y="3539"/>
              <a:ext cx="101" cy="1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03" name="Freeform 123"/>
            <p:cNvSpPr/>
            <p:nvPr/>
          </p:nvSpPr>
          <p:spPr>
            <a:xfrm>
              <a:off x="2586" y="3505"/>
              <a:ext cx="84" cy="71"/>
            </a:xfrm>
            <a:custGeom>
              <a:avLst/>
              <a:gdLst>
                <a:gd name="txL" fmla="*/ 0 w 84"/>
                <a:gd name="txT" fmla="*/ 0 h 71"/>
                <a:gd name="txR" fmla="*/ 84 w 84"/>
                <a:gd name="txB" fmla="*/ 71 h 71"/>
              </a:gdLst>
              <a:ahLst/>
              <a:cxnLst>
                <a:cxn ang="0">
                  <a:pos x="0" y="71"/>
                </a:cxn>
                <a:cxn ang="0">
                  <a:pos x="84" y="34"/>
                </a:cxn>
                <a:cxn ang="0">
                  <a:pos x="0" y="0"/>
                </a:cxn>
                <a:cxn ang="0">
                  <a:pos x="28" y="34"/>
                </a:cxn>
                <a:cxn ang="0">
                  <a:pos x="0" y="71"/>
                </a:cxn>
              </a:cxnLst>
              <a:rect l="txL" t="txT" r="txR" b="txB"/>
              <a:pathLst>
                <a:path w="84" h="71">
                  <a:moveTo>
                    <a:pt x="0" y="71"/>
                  </a:moveTo>
                  <a:lnTo>
                    <a:pt x="84" y="34"/>
                  </a:lnTo>
                  <a:lnTo>
                    <a:pt x="0" y="0"/>
                  </a:lnTo>
                  <a:lnTo>
                    <a:pt x="28" y="34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24"/>
          <p:cNvGrpSpPr/>
          <p:nvPr/>
        </p:nvGrpSpPr>
        <p:grpSpPr>
          <a:xfrm>
            <a:off x="6816725" y="5411788"/>
            <a:ext cx="269875" cy="112712"/>
            <a:chOff x="3302" y="3505"/>
            <a:chExt cx="148" cy="71"/>
          </a:xfrm>
        </p:grpSpPr>
        <p:sp>
          <p:nvSpPr>
            <p:cNvPr id="374800" name="Line 125"/>
            <p:cNvSpPr/>
            <p:nvPr/>
          </p:nvSpPr>
          <p:spPr>
            <a:xfrm>
              <a:off x="3302" y="3539"/>
              <a:ext cx="100" cy="1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801" name="Freeform 126"/>
            <p:cNvSpPr/>
            <p:nvPr/>
          </p:nvSpPr>
          <p:spPr>
            <a:xfrm>
              <a:off x="3366" y="3505"/>
              <a:ext cx="84" cy="71"/>
            </a:xfrm>
            <a:custGeom>
              <a:avLst/>
              <a:gdLst>
                <a:gd name="txL" fmla="*/ 0 w 84"/>
                <a:gd name="txT" fmla="*/ 0 h 71"/>
                <a:gd name="txR" fmla="*/ 84 w 84"/>
                <a:gd name="txB" fmla="*/ 71 h 71"/>
              </a:gdLst>
              <a:ahLst/>
              <a:cxnLst>
                <a:cxn ang="0">
                  <a:pos x="0" y="71"/>
                </a:cxn>
                <a:cxn ang="0">
                  <a:pos x="84" y="34"/>
                </a:cxn>
                <a:cxn ang="0">
                  <a:pos x="0" y="0"/>
                </a:cxn>
                <a:cxn ang="0">
                  <a:pos x="28" y="34"/>
                </a:cxn>
                <a:cxn ang="0">
                  <a:pos x="0" y="71"/>
                </a:cxn>
              </a:cxnLst>
              <a:rect l="txL" t="txT" r="txR" b="txB"/>
              <a:pathLst>
                <a:path w="84" h="71">
                  <a:moveTo>
                    <a:pt x="0" y="71"/>
                  </a:moveTo>
                  <a:lnTo>
                    <a:pt x="84" y="34"/>
                  </a:lnTo>
                  <a:lnTo>
                    <a:pt x="0" y="0"/>
                  </a:lnTo>
                  <a:lnTo>
                    <a:pt x="28" y="34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9" name="Group 127"/>
          <p:cNvGrpSpPr/>
          <p:nvPr/>
        </p:nvGrpSpPr>
        <p:grpSpPr>
          <a:xfrm>
            <a:off x="4114800" y="5411788"/>
            <a:ext cx="381000" cy="112712"/>
            <a:chOff x="1540" y="3505"/>
            <a:chExt cx="354" cy="71"/>
          </a:xfrm>
        </p:grpSpPr>
        <p:sp>
          <p:nvSpPr>
            <p:cNvPr id="374798" name="Line 128"/>
            <p:cNvSpPr/>
            <p:nvPr/>
          </p:nvSpPr>
          <p:spPr>
            <a:xfrm>
              <a:off x="1540" y="3539"/>
              <a:ext cx="305" cy="1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4799" name="Freeform 129"/>
            <p:cNvSpPr/>
            <p:nvPr/>
          </p:nvSpPr>
          <p:spPr>
            <a:xfrm>
              <a:off x="1809" y="3505"/>
              <a:ext cx="85" cy="71"/>
            </a:xfrm>
            <a:custGeom>
              <a:avLst/>
              <a:gdLst>
                <a:gd name="txL" fmla="*/ 0 w 85"/>
                <a:gd name="txT" fmla="*/ 0 h 71"/>
                <a:gd name="txR" fmla="*/ 85 w 85"/>
                <a:gd name="txB" fmla="*/ 71 h 71"/>
              </a:gdLst>
              <a:ahLst/>
              <a:cxnLst>
                <a:cxn ang="0">
                  <a:pos x="0" y="71"/>
                </a:cxn>
                <a:cxn ang="0">
                  <a:pos x="85" y="34"/>
                </a:cxn>
                <a:cxn ang="0">
                  <a:pos x="0" y="0"/>
                </a:cxn>
                <a:cxn ang="0">
                  <a:pos x="28" y="34"/>
                </a:cxn>
                <a:cxn ang="0">
                  <a:pos x="0" y="71"/>
                </a:cxn>
              </a:cxnLst>
              <a:rect l="txL" t="txT" r="txR" b="txB"/>
              <a:pathLst>
                <a:path w="85" h="71">
                  <a:moveTo>
                    <a:pt x="0" y="71"/>
                  </a:moveTo>
                  <a:lnTo>
                    <a:pt x="85" y="34"/>
                  </a:lnTo>
                  <a:lnTo>
                    <a:pt x="0" y="0"/>
                  </a:lnTo>
                  <a:lnTo>
                    <a:pt x="28" y="34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74796" name="AutoShape 13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4797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29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117" grpId="0" bldLvl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5810" name="Text Box 2"/>
          <p:cNvSpPr txBox="1"/>
          <p:nvPr/>
        </p:nvSpPr>
        <p:spPr>
          <a:xfrm>
            <a:off x="1676400" y="476250"/>
            <a:ext cx="36480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(2) </a:t>
            </a:r>
            <a:r>
              <a:rPr lang="zh-CN" altLang="en-US" sz="3200" b="1" dirty="0">
                <a:latin typeface="Times New Roman" panose="02020603050405020304" pitchFamily="18" charset="0"/>
              </a:rPr>
              <a:t>磁盘控制器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00035" name="Text Box 3"/>
          <p:cNvSpPr txBox="1"/>
          <p:nvPr/>
        </p:nvSpPr>
        <p:spPr>
          <a:xfrm>
            <a:off x="2047875" y="1371600"/>
            <a:ext cx="85750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接收主机发来的命令，转换成磁盘驱动器的控制命令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0036" name="Text Box 4"/>
          <p:cNvSpPr txBox="1"/>
          <p:nvPr/>
        </p:nvSpPr>
        <p:spPr>
          <a:xfrm>
            <a:off x="2047875" y="2090738"/>
            <a:ext cx="64414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实现主机和驱动器之间的数据格式转换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0037" name="Text Box 5"/>
          <p:cNvSpPr txBox="1"/>
          <p:nvPr/>
        </p:nvSpPr>
        <p:spPr>
          <a:xfrm>
            <a:off x="2047875" y="2811463"/>
            <a:ext cx="359664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>
              <a:buChar char="•"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</a:rPr>
              <a:t>控制磁盘驱动器读写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0038" name="Text Box 6"/>
          <p:cNvSpPr txBox="1"/>
          <p:nvPr/>
        </p:nvSpPr>
        <p:spPr>
          <a:xfrm>
            <a:off x="8601075" y="4024313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通过总线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0039" name="Text Box 7"/>
          <p:cNvSpPr txBox="1"/>
          <p:nvPr/>
        </p:nvSpPr>
        <p:spPr>
          <a:xfrm>
            <a:off x="1676400" y="5080000"/>
            <a:ext cx="21240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(3) </a:t>
            </a:r>
            <a:r>
              <a:rPr lang="zh-CN" altLang="en-US" sz="3200" b="1" dirty="0">
                <a:latin typeface="Times New Roman" panose="02020603050405020304" pitchFamily="18" charset="0"/>
              </a:rPr>
              <a:t>盘片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8"/>
          <p:cNvGrpSpPr/>
          <p:nvPr/>
        </p:nvGrpSpPr>
        <p:grpSpPr>
          <a:xfrm>
            <a:off x="7345363" y="4032250"/>
            <a:ext cx="3008312" cy="971550"/>
            <a:chOff x="3721" y="2540"/>
            <a:chExt cx="1895" cy="612"/>
          </a:xfrm>
        </p:grpSpPr>
        <p:sp>
          <p:nvSpPr>
            <p:cNvPr id="375825" name="Text Box 9"/>
            <p:cNvSpPr txBox="1"/>
            <p:nvPr/>
          </p:nvSpPr>
          <p:spPr>
            <a:xfrm>
              <a:off x="3721" y="2540"/>
              <a:ext cx="122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对主机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5826" name="Text Box 10"/>
            <p:cNvSpPr txBox="1"/>
            <p:nvPr/>
          </p:nvSpPr>
          <p:spPr>
            <a:xfrm>
              <a:off x="3721" y="2823"/>
              <a:ext cx="18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对硬盘（设备）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0043" name="AutoShape 11"/>
          <p:cNvSpPr/>
          <p:nvPr/>
        </p:nvSpPr>
        <p:spPr>
          <a:xfrm>
            <a:off x="7192963" y="4184650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3" name="Group 12"/>
          <p:cNvGrpSpPr/>
          <p:nvPr/>
        </p:nvGrpSpPr>
        <p:grpSpPr>
          <a:xfrm>
            <a:off x="2276475" y="3554413"/>
            <a:ext cx="4894263" cy="1243012"/>
            <a:chOff x="528" y="2353"/>
            <a:chExt cx="3083" cy="783"/>
          </a:xfrm>
        </p:grpSpPr>
        <p:sp>
          <p:nvSpPr>
            <p:cNvPr id="375823" name="Text Box 13"/>
            <p:cNvSpPr txBox="1"/>
            <p:nvPr/>
          </p:nvSpPr>
          <p:spPr>
            <a:xfrm>
              <a:off x="528" y="2353"/>
              <a:ext cx="151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磁盘控制器 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是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5824" name="Text Box 14"/>
            <p:cNvSpPr txBox="1"/>
            <p:nvPr/>
          </p:nvSpPr>
          <p:spPr>
            <a:xfrm>
              <a:off x="528" y="2807"/>
              <a:ext cx="308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主机与磁盘驱动器之间的 </a:t>
              </a:r>
              <a:r>
                <a:rPr lang="zh-CN" altLang="en-US" sz="2800" b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接口</a:t>
              </a:r>
              <a:endPara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00047" name="Text Box 15"/>
          <p:cNvSpPr txBox="1"/>
          <p:nvPr/>
        </p:nvSpPr>
        <p:spPr>
          <a:xfrm>
            <a:off x="2276475" y="5881688"/>
            <a:ext cx="37388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由硬质铝合金材料制成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0048" name="Rectangle 16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5821" name="AutoShape 17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5822" name="日期占位符 4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300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0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0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/>
      <p:bldP spid="300036" grpId="0"/>
      <p:bldP spid="300037" grpId="0"/>
      <p:bldP spid="300038" grpId="0"/>
      <p:bldP spid="300039" grpId="0"/>
      <p:bldP spid="300043" grpId="0" bldLvl="0" animBg="1"/>
      <p:bldP spid="300047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6834" name="Text Box 2"/>
          <p:cNvSpPr txBox="1"/>
          <p:nvPr/>
        </p:nvSpPr>
        <p:spPr>
          <a:xfrm>
            <a:off x="2117725" y="473075"/>
            <a:ext cx="38404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四、软磁盘存储器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01059" name="Text Box 3"/>
          <p:cNvSpPr txBox="1"/>
          <p:nvPr/>
        </p:nvSpPr>
        <p:spPr>
          <a:xfrm>
            <a:off x="2727325" y="1314450"/>
            <a:ext cx="20732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概述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01060" name="Text Box 4"/>
          <p:cNvSpPr txBox="1"/>
          <p:nvPr/>
        </p:nvSpPr>
        <p:spPr>
          <a:xfrm>
            <a:off x="3200400" y="2262188"/>
            <a:ext cx="14478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速度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1061" name="Text Box 5"/>
          <p:cNvSpPr txBox="1"/>
          <p:nvPr/>
        </p:nvSpPr>
        <p:spPr>
          <a:xfrm>
            <a:off x="3200400" y="2924175"/>
            <a:ext cx="1219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磁头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1062" name="Text Box 6"/>
          <p:cNvSpPr txBox="1"/>
          <p:nvPr/>
        </p:nvSpPr>
        <p:spPr>
          <a:xfrm>
            <a:off x="3200400" y="4267200"/>
            <a:ext cx="1676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盘片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1063" name="Text Box 7"/>
          <p:cNvSpPr txBox="1"/>
          <p:nvPr/>
        </p:nvSpPr>
        <p:spPr>
          <a:xfrm>
            <a:off x="3200400" y="5294313"/>
            <a:ext cx="15240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价格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1064" name="Text Box 8"/>
          <p:cNvSpPr txBox="1"/>
          <p:nvPr/>
        </p:nvSpPr>
        <p:spPr>
          <a:xfrm>
            <a:off x="3200400" y="5957888"/>
            <a:ext cx="1676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环境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4876800" y="1644650"/>
            <a:ext cx="3792538" cy="522288"/>
            <a:chOff x="2112" y="1036"/>
            <a:chExt cx="2389" cy="329"/>
          </a:xfrm>
        </p:grpSpPr>
        <p:sp>
          <p:nvSpPr>
            <p:cNvPr id="376861" name="Text Box 10"/>
            <p:cNvSpPr txBox="1"/>
            <p:nvPr/>
          </p:nvSpPr>
          <p:spPr>
            <a:xfrm>
              <a:off x="2112" y="1036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硬盘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6862" name="Text Box 11"/>
            <p:cNvSpPr txBox="1"/>
            <p:nvPr/>
          </p:nvSpPr>
          <p:spPr>
            <a:xfrm>
              <a:off x="3938" y="1036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软盘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12"/>
          <p:cNvGrpSpPr/>
          <p:nvPr/>
        </p:nvGrpSpPr>
        <p:grpSpPr>
          <a:xfrm>
            <a:off x="4876800" y="2262188"/>
            <a:ext cx="3436938" cy="522287"/>
            <a:chOff x="2112" y="1425"/>
            <a:chExt cx="2165" cy="329"/>
          </a:xfrm>
        </p:grpSpPr>
        <p:sp>
          <p:nvSpPr>
            <p:cNvPr id="376859" name="Text Box 13"/>
            <p:cNvSpPr txBox="1"/>
            <p:nvPr/>
          </p:nvSpPr>
          <p:spPr>
            <a:xfrm>
              <a:off x="2112" y="1425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6860" name="Text Box 14"/>
            <p:cNvSpPr txBox="1"/>
            <p:nvPr/>
          </p:nvSpPr>
          <p:spPr>
            <a:xfrm>
              <a:off x="3938" y="1425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低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5"/>
          <p:cNvGrpSpPr/>
          <p:nvPr/>
        </p:nvGrpSpPr>
        <p:grpSpPr>
          <a:xfrm>
            <a:off x="4876800" y="2924175"/>
            <a:ext cx="3792538" cy="522288"/>
            <a:chOff x="2112" y="1842"/>
            <a:chExt cx="2389" cy="329"/>
          </a:xfrm>
        </p:grpSpPr>
        <p:sp>
          <p:nvSpPr>
            <p:cNvPr id="376857" name="Text Box 16"/>
            <p:cNvSpPr txBox="1"/>
            <p:nvPr/>
          </p:nvSpPr>
          <p:spPr>
            <a:xfrm>
              <a:off x="2112" y="1842"/>
              <a:ext cx="123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固定、活动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6858" name="Text Box 17"/>
            <p:cNvSpPr txBox="1"/>
            <p:nvPr/>
          </p:nvSpPr>
          <p:spPr>
            <a:xfrm>
              <a:off x="3938" y="1842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活动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8"/>
          <p:cNvGrpSpPr/>
          <p:nvPr/>
        </p:nvGrpSpPr>
        <p:grpSpPr>
          <a:xfrm>
            <a:off x="4876800" y="4267200"/>
            <a:ext cx="5257800" cy="952500"/>
            <a:chOff x="2112" y="2688"/>
            <a:chExt cx="3312" cy="600"/>
          </a:xfrm>
        </p:grpSpPr>
        <p:sp>
          <p:nvSpPr>
            <p:cNvPr id="376855" name="Text Box 19"/>
            <p:cNvSpPr txBox="1"/>
            <p:nvPr/>
          </p:nvSpPr>
          <p:spPr>
            <a:xfrm>
              <a:off x="2112" y="2688"/>
              <a:ext cx="1968" cy="60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固定盘、盘组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大部分不可换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6856" name="Text Box 20"/>
            <p:cNvSpPr txBox="1"/>
            <p:nvPr/>
          </p:nvSpPr>
          <p:spPr>
            <a:xfrm>
              <a:off x="3938" y="2688"/>
              <a:ext cx="148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可换盘片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1077" name="Text Box 21"/>
          <p:cNvSpPr txBox="1"/>
          <p:nvPr/>
        </p:nvSpPr>
        <p:spPr>
          <a:xfrm>
            <a:off x="4876800" y="5957888"/>
            <a:ext cx="2362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苛刻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6" name="Group 22"/>
          <p:cNvGrpSpPr/>
          <p:nvPr/>
        </p:nvGrpSpPr>
        <p:grpSpPr>
          <a:xfrm>
            <a:off x="4876800" y="3581400"/>
            <a:ext cx="4503738" cy="522288"/>
            <a:chOff x="2112" y="2256"/>
            <a:chExt cx="2837" cy="329"/>
          </a:xfrm>
        </p:grpSpPr>
        <p:sp>
          <p:nvSpPr>
            <p:cNvPr id="376853" name="Text Box 23"/>
            <p:cNvSpPr txBox="1"/>
            <p:nvPr/>
          </p:nvSpPr>
          <p:spPr>
            <a:xfrm>
              <a:off x="2112" y="2256"/>
              <a:ext cx="563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浮动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6854" name="Text Box 24"/>
            <p:cNvSpPr txBox="1"/>
            <p:nvPr/>
          </p:nvSpPr>
          <p:spPr>
            <a:xfrm>
              <a:off x="3938" y="2256"/>
              <a:ext cx="101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接触盘片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5"/>
          <p:cNvGrpSpPr/>
          <p:nvPr/>
        </p:nvGrpSpPr>
        <p:grpSpPr>
          <a:xfrm>
            <a:off x="4876800" y="5294313"/>
            <a:ext cx="3436938" cy="522287"/>
            <a:chOff x="2112" y="3335"/>
            <a:chExt cx="2165" cy="329"/>
          </a:xfrm>
        </p:grpSpPr>
        <p:sp>
          <p:nvSpPr>
            <p:cNvPr id="376851" name="Text Box 26"/>
            <p:cNvSpPr txBox="1"/>
            <p:nvPr/>
          </p:nvSpPr>
          <p:spPr>
            <a:xfrm>
              <a:off x="2112" y="3335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高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6852" name="Text Box 27"/>
            <p:cNvSpPr txBox="1"/>
            <p:nvPr/>
          </p:nvSpPr>
          <p:spPr>
            <a:xfrm>
              <a:off x="3938" y="3335"/>
              <a:ext cx="33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低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1084" name="Rectangle 28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6849" name="AutoShape 29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6850" name="日期占位符 8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0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0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0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9" grpId="0"/>
      <p:bldP spid="301060" grpId="0"/>
      <p:bldP spid="301061" grpId="0"/>
      <p:bldP spid="301062" grpId="0"/>
      <p:bldP spid="301063" grpId="0"/>
      <p:bldP spid="301064" grpId="0"/>
      <p:bldP spid="301077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8" name="Text Box 2"/>
          <p:cNvSpPr txBox="1"/>
          <p:nvPr/>
        </p:nvSpPr>
        <p:spPr>
          <a:xfrm>
            <a:off x="2270125" y="501650"/>
            <a:ext cx="2011680" cy="64516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3600" b="1" dirty="0">
                <a:latin typeface="Times New Roman" panose="02020603050405020304" pitchFamily="18" charset="0"/>
              </a:rPr>
              <a:t>2. </a:t>
            </a:r>
            <a:r>
              <a:rPr lang="zh-CN" altLang="en-US" sz="3600" b="1" dirty="0">
                <a:latin typeface="Times New Roman" panose="02020603050405020304" pitchFamily="18" charset="0"/>
              </a:rPr>
              <a:t>软盘片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02083" name="Text Box 3"/>
          <p:cNvSpPr txBox="1"/>
          <p:nvPr/>
        </p:nvSpPr>
        <p:spPr>
          <a:xfrm>
            <a:off x="3489325" y="1363663"/>
            <a:ext cx="3027680" cy="5835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b="1" dirty="0">
                <a:latin typeface="Times New Roman" panose="02020603050405020304" pitchFamily="18" charset="0"/>
              </a:rPr>
              <a:t>由聚酯薄膜制成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2362200" y="1905000"/>
            <a:ext cx="7934325" cy="4267200"/>
            <a:chOff x="528" y="1200"/>
            <a:chExt cx="4998" cy="2688"/>
          </a:xfrm>
        </p:grpSpPr>
        <p:graphicFrame>
          <p:nvGraphicFramePr>
            <p:cNvPr id="11266" name="Object 5"/>
            <p:cNvGraphicFramePr>
              <a:graphicFrameLocks noChangeAspect="1"/>
            </p:cNvGraphicFramePr>
            <p:nvPr/>
          </p:nvGraphicFramePr>
          <p:xfrm>
            <a:off x="3072" y="1968"/>
            <a:ext cx="1920" cy="1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1" imgW="3305175" imgH="3448050" progId="Photoshop.Image.7">
                    <p:embed/>
                  </p:oleObj>
                </mc:Choice>
                <mc:Fallback>
                  <p:oleObj name="" r:id="rId1" imgW="3305175" imgH="3448050" progId="Photoshop.Image.7">
                    <p:embed/>
                    <p:pic>
                      <p:nvPicPr>
                        <p:cNvPr id="0" name="20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072" y="1968"/>
                          <a:ext cx="1920" cy="18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67" name="Object 6"/>
            <p:cNvGraphicFramePr>
              <a:graphicFrameLocks noChangeAspect="1"/>
            </p:cNvGraphicFramePr>
            <p:nvPr/>
          </p:nvGraphicFramePr>
          <p:xfrm>
            <a:off x="576" y="1968"/>
            <a:ext cx="1872" cy="1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3" imgW="3209925" imgH="3486150" progId="Photoshop.Image.7">
                    <p:embed/>
                  </p:oleObj>
                </mc:Choice>
                <mc:Fallback>
                  <p:oleObj name="" r:id="rId3" imgW="3209925" imgH="3486150" progId="Photoshop.Image.7">
                    <p:embed/>
                    <p:pic>
                      <p:nvPicPr>
                        <p:cNvPr id="0" name="20 308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6" y="1968"/>
                          <a:ext cx="1872" cy="19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4" name="Freeform 7"/>
            <p:cNvSpPr/>
            <p:nvPr/>
          </p:nvSpPr>
          <p:spPr>
            <a:xfrm>
              <a:off x="1770" y="1752"/>
              <a:ext cx="183" cy="432"/>
            </a:xfrm>
            <a:custGeom>
              <a:avLst/>
              <a:gdLst>
                <a:gd name="txL" fmla="*/ 0 w 183"/>
                <a:gd name="txT" fmla="*/ 0 h 432"/>
                <a:gd name="txR" fmla="*/ 183 w 183"/>
                <a:gd name="txB" fmla="*/ 432 h 432"/>
              </a:gdLst>
              <a:ahLst/>
              <a:cxnLst>
                <a:cxn ang="0">
                  <a:pos x="0" y="432"/>
                </a:cxn>
                <a:cxn ang="0">
                  <a:pos x="183" y="0"/>
                </a:cxn>
              </a:cxnLst>
              <a:rect l="txL" t="txT" r="txR" b="txB"/>
              <a:pathLst>
                <a:path w="183" h="432">
                  <a:moveTo>
                    <a:pt x="0" y="432"/>
                  </a:moveTo>
                  <a:lnTo>
                    <a:pt x="183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75" name="Freeform 8"/>
            <p:cNvSpPr/>
            <p:nvPr/>
          </p:nvSpPr>
          <p:spPr>
            <a:xfrm>
              <a:off x="1488" y="1713"/>
              <a:ext cx="3" cy="1197"/>
            </a:xfrm>
            <a:custGeom>
              <a:avLst/>
              <a:gdLst>
                <a:gd name="txL" fmla="*/ 0 w 3"/>
                <a:gd name="txT" fmla="*/ 0 h 1197"/>
                <a:gd name="txR" fmla="*/ 3 w 3"/>
                <a:gd name="txB" fmla="*/ 1197 h 1197"/>
              </a:gdLst>
              <a:ahLst/>
              <a:cxnLst>
                <a:cxn ang="0">
                  <a:pos x="0" y="1197"/>
                </a:cxn>
                <a:cxn ang="0">
                  <a:pos x="3" y="0"/>
                </a:cxn>
              </a:cxnLst>
              <a:rect l="txL" t="txT" r="txR" b="txB"/>
              <a:pathLst>
                <a:path w="3" h="1197">
                  <a:moveTo>
                    <a:pt x="0" y="1197"/>
                  </a:moveTo>
                  <a:lnTo>
                    <a:pt x="3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76" name="Line 9"/>
            <p:cNvSpPr/>
            <p:nvPr/>
          </p:nvSpPr>
          <p:spPr>
            <a:xfrm flipV="1">
              <a:off x="864" y="1728"/>
              <a:ext cx="0" cy="336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77" name="Text Box 10"/>
            <p:cNvSpPr txBox="1"/>
            <p:nvPr/>
          </p:nvSpPr>
          <p:spPr>
            <a:xfrm>
              <a:off x="528" y="1486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保护套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78" name="Text Box 11"/>
            <p:cNvSpPr txBox="1"/>
            <p:nvPr/>
          </p:nvSpPr>
          <p:spPr>
            <a:xfrm>
              <a:off x="1152" y="1438"/>
              <a:ext cx="59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主轴孔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79" name="Text Box 12"/>
            <p:cNvSpPr txBox="1"/>
            <p:nvPr/>
          </p:nvSpPr>
          <p:spPr>
            <a:xfrm>
              <a:off x="1814" y="1534"/>
              <a:ext cx="107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实际的软盘片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80" name="Freeform 13"/>
            <p:cNvSpPr/>
            <p:nvPr/>
          </p:nvSpPr>
          <p:spPr>
            <a:xfrm>
              <a:off x="3198" y="1737"/>
              <a:ext cx="330" cy="561"/>
            </a:xfrm>
            <a:custGeom>
              <a:avLst/>
              <a:gdLst>
                <a:gd name="txL" fmla="*/ 0 w 330"/>
                <a:gd name="txT" fmla="*/ 0 h 561"/>
                <a:gd name="txR" fmla="*/ 330 w 330"/>
                <a:gd name="txB" fmla="*/ 561 h 561"/>
              </a:gdLst>
              <a:ahLst/>
              <a:cxnLst>
                <a:cxn ang="0">
                  <a:pos x="0" y="561"/>
                </a:cxn>
                <a:cxn ang="0">
                  <a:pos x="330" y="0"/>
                </a:cxn>
              </a:cxnLst>
              <a:rect l="txL" t="txT" r="txR" b="txB"/>
              <a:pathLst>
                <a:path w="330" h="561">
                  <a:moveTo>
                    <a:pt x="0" y="561"/>
                  </a:moveTo>
                  <a:lnTo>
                    <a:pt x="330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81" name="Freeform 14"/>
            <p:cNvSpPr/>
            <p:nvPr/>
          </p:nvSpPr>
          <p:spPr>
            <a:xfrm>
              <a:off x="4044" y="1419"/>
              <a:ext cx="3" cy="840"/>
            </a:xfrm>
            <a:custGeom>
              <a:avLst/>
              <a:gdLst>
                <a:gd name="txL" fmla="*/ 0 w 3"/>
                <a:gd name="txT" fmla="*/ 0 h 840"/>
                <a:gd name="txR" fmla="*/ 3 w 3"/>
                <a:gd name="txB" fmla="*/ 840 h 840"/>
              </a:gdLst>
              <a:ahLst/>
              <a:cxnLst>
                <a:cxn ang="0">
                  <a:pos x="3" y="840"/>
                </a:cxn>
                <a:cxn ang="0">
                  <a:pos x="0" y="0"/>
                </a:cxn>
              </a:cxnLst>
              <a:rect l="txL" t="txT" r="txR" b="txB"/>
              <a:pathLst>
                <a:path w="3" h="840">
                  <a:moveTo>
                    <a:pt x="3" y="84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82" name="Freeform 15"/>
            <p:cNvSpPr/>
            <p:nvPr/>
          </p:nvSpPr>
          <p:spPr>
            <a:xfrm>
              <a:off x="4677" y="1716"/>
              <a:ext cx="3" cy="732"/>
            </a:xfrm>
            <a:custGeom>
              <a:avLst/>
              <a:gdLst>
                <a:gd name="txL" fmla="*/ 0 w 3"/>
                <a:gd name="txT" fmla="*/ 0 h 732"/>
                <a:gd name="txR" fmla="*/ 3 w 3"/>
                <a:gd name="txB" fmla="*/ 732 h 732"/>
              </a:gdLst>
              <a:ahLst/>
              <a:cxnLst>
                <a:cxn ang="0">
                  <a:pos x="3" y="732"/>
                </a:cxn>
                <a:cxn ang="0">
                  <a:pos x="0" y="0"/>
                </a:cxn>
              </a:cxnLst>
              <a:rect l="txL" t="txT" r="txR" b="txB"/>
              <a:pathLst>
                <a:path w="3" h="732">
                  <a:moveTo>
                    <a:pt x="3" y="732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1283" name="Text Box 16"/>
            <p:cNvSpPr txBox="1"/>
            <p:nvPr/>
          </p:nvSpPr>
          <p:spPr>
            <a:xfrm>
              <a:off x="3158" y="1438"/>
              <a:ext cx="755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写保护口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84" name="Text Box 17"/>
            <p:cNvSpPr txBox="1"/>
            <p:nvPr/>
          </p:nvSpPr>
          <p:spPr>
            <a:xfrm>
              <a:off x="3648" y="1200"/>
              <a:ext cx="128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读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/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写磁头访问槽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1285" name="Text Box 18"/>
            <p:cNvSpPr txBox="1"/>
            <p:nvPr/>
          </p:nvSpPr>
          <p:spPr>
            <a:xfrm>
              <a:off x="4406" y="1497"/>
              <a:ext cx="1120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b="1" dirty="0">
                  <a:latin typeface="Times New Roman" panose="02020603050405020304" pitchFamily="18" charset="0"/>
                </a:rPr>
                <a:t>衬里</a:t>
              </a:r>
              <a:r>
                <a:rPr lang="en-US" altLang="zh-CN" sz="2000" b="1" dirty="0">
                  <a:latin typeface="Times New Roman" panose="02020603050405020304" pitchFamily="18" charset="0"/>
                </a:rPr>
                <a:t>/</a:t>
              </a:r>
              <a:r>
                <a:rPr lang="zh-CN" altLang="en-US" sz="2000" b="1" dirty="0">
                  <a:latin typeface="Times New Roman" panose="02020603050405020304" pitchFamily="18" charset="0"/>
                </a:rPr>
                <a:t>清洁材料</a:t>
              </a:r>
              <a:endParaRPr lang="zh-CN" altLang="en-US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2099" name="Rectangle 19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72" name="AutoShape 2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73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7858" name="Text Box 2"/>
          <p:cNvSpPr txBox="1"/>
          <p:nvPr/>
        </p:nvSpPr>
        <p:spPr>
          <a:xfrm>
            <a:off x="1593850" y="473075"/>
            <a:ext cx="5654675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600" b="1" dirty="0">
                <a:latin typeface="Times New Roman" panose="02020603050405020304" pitchFamily="18" charset="0"/>
              </a:rPr>
              <a:t>五、光盘存储器</a:t>
            </a:r>
            <a:endParaRPr lang="zh-CN" altLang="en-US" sz="3600" b="1" dirty="0">
              <a:latin typeface="Times New Roman" panose="02020603050405020304" pitchFamily="18" charset="0"/>
            </a:endParaRPr>
          </a:p>
        </p:txBody>
      </p:sp>
      <p:sp>
        <p:nvSpPr>
          <p:cNvPr id="303107" name="Text Box 3"/>
          <p:cNvSpPr txBox="1"/>
          <p:nvPr/>
        </p:nvSpPr>
        <p:spPr>
          <a:xfrm>
            <a:off x="2051050" y="1314450"/>
            <a:ext cx="268446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1. </a:t>
            </a:r>
            <a:r>
              <a:rPr lang="zh-CN" altLang="en-US" sz="3200" b="1" dirty="0">
                <a:latin typeface="Times New Roman" panose="02020603050405020304" pitchFamily="18" charset="0"/>
              </a:rPr>
              <a:t>概述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03108" name="Text Box 4"/>
          <p:cNvSpPr txBox="1"/>
          <p:nvPr/>
        </p:nvSpPr>
        <p:spPr>
          <a:xfrm>
            <a:off x="2449513" y="2101850"/>
            <a:ext cx="38862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采用光存储技术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3109" name="Text Box 5"/>
          <p:cNvSpPr txBox="1"/>
          <p:nvPr/>
        </p:nvSpPr>
        <p:spPr>
          <a:xfrm>
            <a:off x="5861050" y="2863850"/>
            <a:ext cx="2895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采用非磁性介质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3110" name="Text Box 6"/>
          <p:cNvSpPr txBox="1"/>
          <p:nvPr/>
        </p:nvSpPr>
        <p:spPr>
          <a:xfrm>
            <a:off x="5861050" y="3625850"/>
            <a:ext cx="28956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采用磁性介质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2449513" y="2863850"/>
            <a:ext cx="5038725" cy="1284288"/>
            <a:chOff x="539" y="1804"/>
            <a:chExt cx="3174" cy="809"/>
          </a:xfrm>
        </p:grpSpPr>
        <p:sp>
          <p:nvSpPr>
            <p:cNvPr id="377877" name="Text Box 8"/>
            <p:cNvSpPr txBox="1"/>
            <p:nvPr/>
          </p:nvSpPr>
          <p:spPr>
            <a:xfrm>
              <a:off x="539" y="1804"/>
              <a:ext cx="3174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第一代光存储技术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377878" name="Text Box 9"/>
            <p:cNvSpPr txBox="1"/>
            <p:nvPr/>
          </p:nvSpPr>
          <p:spPr>
            <a:xfrm>
              <a:off x="539" y="2284"/>
              <a:ext cx="2437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zh-CN" altLang="en-US" sz="2800" b="1" dirty="0">
                  <a:latin typeface="Times New Roman" panose="02020603050405020304" pitchFamily="18" charset="0"/>
                </a:rPr>
                <a:t>第二代光存储技术</a:t>
              </a:r>
              <a:endParaRPr lang="zh-CN" altLang="en-US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3114" name="Text Box 10"/>
          <p:cNvSpPr txBox="1"/>
          <p:nvPr/>
        </p:nvSpPr>
        <p:spPr>
          <a:xfrm>
            <a:off x="8832850" y="286385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不可擦写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3115" name="Text Box 11"/>
          <p:cNvSpPr txBox="1"/>
          <p:nvPr/>
        </p:nvSpPr>
        <p:spPr>
          <a:xfrm>
            <a:off x="8832850" y="3625850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可擦写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3116" name="Text Box 12"/>
          <p:cNvSpPr txBox="1"/>
          <p:nvPr/>
        </p:nvSpPr>
        <p:spPr>
          <a:xfrm>
            <a:off x="2051050" y="4332288"/>
            <a:ext cx="58293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</a:rPr>
              <a:t>2. </a:t>
            </a:r>
            <a:r>
              <a:rPr lang="zh-CN" altLang="en-US" sz="3200" b="1" dirty="0">
                <a:latin typeface="Times New Roman" panose="02020603050405020304" pitchFamily="18" charset="0"/>
              </a:rPr>
              <a:t>光盘的存储原理</a:t>
            </a:r>
            <a:endParaRPr lang="zh-CN" altLang="en-US" sz="3200" b="1" dirty="0">
              <a:latin typeface="Times New Roman" panose="02020603050405020304" pitchFamily="18" charset="0"/>
            </a:endParaRPr>
          </a:p>
        </p:txBody>
      </p:sp>
      <p:sp>
        <p:nvSpPr>
          <p:cNvPr id="303117" name="Text Box 13"/>
          <p:cNvSpPr txBox="1"/>
          <p:nvPr/>
        </p:nvSpPr>
        <p:spPr>
          <a:xfrm>
            <a:off x="2449513" y="5119688"/>
            <a:ext cx="57419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只读型和只写一次型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3118" name="Text Box 14"/>
          <p:cNvSpPr txBox="1"/>
          <p:nvPr/>
        </p:nvSpPr>
        <p:spPr>
          <a:xfrm>
            <a:off x="2449513" y="5881688"/>
            <a:ext cx="3328987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</a:rPr>
              <a:t>可擦写光盘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3119" name="Text Box 15"/>
          <p:cNvSpPr txBox="1"/>
          <p:nvPr/>
        </p:nvSpPr>
        <p:spPr>
          <a:xfrm>
            <a:off x="5861050" y="5119688"/>
            <a:ext cx="48069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热作用</a:t>
            </a:r>
            <a:r>
              <a:rPr lang="zh-CN" altLang="en-US" sz="2800" b="1" dirty="0">
                <a:latin typeface="Times New Roman" panose="02020603050405020304" pitchFamily="18" charset="0"/>
              </a:rPr>
              <a:t>（物理或化学变化）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303120" name="Text Box 16"/>
          <p:cNvSpPr txBox="1"/>
          <p:nvPr/>
        </p:nvSpPr>
        <p:spPr>
          <a:xfrm>
            <a:off x="5861050" y="5881688"/>
            <a:ext cx="27257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热磁效应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3121" name="Rectangle 17"/>
          <p:cNvSpPr>
            <a:spLocks noChangeArrowheads="1"/>
          </p:cNvSpPr>
          <p:nvPr/>
        </p:nvSpPr>
        <p:spPr bwMode="auto">
          <a:xfrm>
            <a:off x="9220200" y="152400"/>
            <a:ext cx="1143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4.4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3122" name="Text Box 18"/>
          <p:cNvSpPr txBox="1"/>
          <p:nvPr/>
        </p:nvSpPr>
        <p:spPr>
          <a:xfrm>
            <a:off x="5861050" y="2101850"/>
            <a:ext cx="624840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利用激光写入和读出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3123" name="AutoShape 19"/>
          <p:cNvSpPr/>
          <p:nvPr/>
        </p:nvSpPr>
        <p:spPr>
          <a:xfrm>
            <a:off x="2279650" y="3048000"/>
            <a:ext cx="228600" cy="990600"/>
          </a:xfrm>
          <a:prstGeom prst="leftBrace">
            <a:avLst>
              <a:gd name="adj1" fmla="val 35770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7874" name="AutoShape 20"/>
          <p:cNvSpPr/>
          <p:nvPr/>
        </p:nvSpPr>
        <p:spPr>
          <a:xfrm>
            <a:off x="10113963" y="6499226"/>
            <a:ext cx="309879" cy="368299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7875" name="Rectangle 21"/>
          <p:cNvSpPr>
            <a:spLocks noGrp="1"/>
          </p:cNvSpPr>
          <p:nvPr>
            <p:ph type="title" idx="4294967295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377876" name="日期占位符 3"/>
          <p:cNvSpPr txBox="1"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eaLnBrk="1" hangingPunct="1"/>
            <a:fld id="{BB962C8B-B14F-4D97-AF65-F5344CB8AC3E}" type="datetime10">
              <a:rPr lang="zh-CN" altLang="en-US" sz="1400" dirty="0"/>
            </a:fld>
            <a:endParaRPr lang="zh-CN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303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3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03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03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0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03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03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03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/>
      <p:bldP spid="303108" grpId="0"/>
      <p:bldP spid="303109" grpId="0"/>
      <p:bldP spid="303110" grpId="0"/>
      <p:bldP spid="303114" grpId="0"/>
      <p:bldP spid="303115" grpId="0"/>
      <p:bldP spid="303116" grpId="0"/>
      <p:bldP spid="303117" grpId="0"/>
      <p:bldP spid="303118" grpId="0"/>
      <p:bldP spid="303119" grpId="0"/>
      <p:bldP spid="303120" grpId="0"/>
      <p:bldP spid="303122" grpId="0"/>
      <p:bldP spid="303123" grpId="0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17637</Words>
  <Application>WPS 演示</Application>
  <PresentationFormat>宽屏</PresentationFormat>
  <Paragraphs>8752</Paragraphs>
  <Slides>126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126</vt:i4>
      </vt:variant>
    </vt:vector>
  </HeadingPairs>
  <TitlesOfParts>
    <vt:vector size="15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楷体_GB2312</vt:lpstr>
      <vt:lpstr>新宋体</vt:lpstr>
      <vt:lpstr>Symbol</vt:lpstr>
      <vt:lpstr>仿宋_GB2312</vt:lpstr>
      <vt:lpstr>仿宋</vt:lpstr>
      <vt:lpstr>MS Mincho</vt:lpstr>
      <vt:lpstr>Yu Gothic</vt:lpstr>
      <vt:lpstr>Office 主题​​</vt:lpstr>
      <vt:lpstr>Visio.Drawing.11</vt:lpstr>
      <vt:lpstr>Paint.Picture</vt:lpstr>
      <vt:lpstr>Paint.Picture</vt:lpstr>
      <vt:lpstr>Paint.Picture</vt:lpstr>
      <vt:lpstr>Visio.Drawing.11</vt:lpstr>
      <vt:lpstr>Visio.Drawing.11</vt:lpstr>
      <vt:lpstr>Photoshop.Image.7</vt:lpstr>
      <vt:lpstr>Photoshop.Image.7</vt:lpstr>
      <vt:lpstr>第４章  存 储 器</vt:lpstr>
      <vt:lpstr>4.1  概  述</vt:lpstr>
      <vt:lpstr>PowerPoint 演示文稿</vt:lpstr>
      <vt:lpstr>PowerPoint 演示文稿</vt:lpstr>
      <vt:lpstr>PowerPoint 演示文稿</vt:lpstr>
      <vt:lpstr>PowerPoint 演示文稿</vt:lpstr>
      <vt:lpstr>4.2 主存储器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ＤＲＡＭ优点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举例 存储器的字位扩展法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4.3   高速缓冲存储器</vt:lpstr>
      <vt:lpstr>PowerPoint 演示文稿</vt:lpstr>
      <vt:lpstr>cache的三个问题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存 储 器总结</vt:lpstr>
      <vt:lpstr>习题</vt:lpstr>
      <vt:lpstr>4.4   辅助存储器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fish</cp:lastModifiedBy>
  <cp:revision>172</cp:revision>
  <dcterms:created xsi:type="dcterms:W3CDTF">2019-06-19T02:08:00Z</dcterms:created>
  <dcterms:modified xsi:type="dcterms:W3CDTF">2022-03-23T02:18:33Z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EC635AC1CDF642DDB67A8F9DF88ED62E</vt:lpwstr>
  </property>
</Properties>
</file>