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4" Type="http://schemas.openxmlformats.org/officeDocument/2006/relationships/tableStyles" Target="tableStyles.xml"/><Relationship Id="rId153" Type="http://schemas.openxmlformats.org/officeDocument/2006/relationships/viewProps" Target="viewProps.xml"/><Relationship Id="rId152" Type="http://schemas.openxmlformats.org/officeDocument/2006/relationships/presProps" Target="presProps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0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8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8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8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8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8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2.bin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oleObject" Target="../embeddings/oleObject4.bin"/><Relationship Id="rId2" Type="http://schemas.openxmlformats.org/officeDocument/2006/relationships/image" Target="../media/image5.png"/><Relationship Id="rId1" Type="http://schemas.openxmlformats.org/officeDocument/2006/relationships/oleObject" Target="../embeddings/oleObject3.bin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5.bin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6.1  </a:t>
            </a:r>
            <a:r>
              <a:rPr lang="zh-CN" altLang="en-US" b="1" dirty="0"/>
              <a:t>无符号数和有符号数</a:t>
            </a:r>
            <a:endParaRPr lang="zh-CN" altLang="en-US" b="1" dirty="0"/>
          </a:p>
        </p:txBody>
      </p:sp>
      <p:sp>
        <p:nvSpPr>
          <p:cNvPr id="107523" name="Text Box 3"/>
          <p:cNvSpPr txBox="1"/>
          <p:nvPr/>
        </p:nvSpPr>
        <p:spPr>
          <a:xfrm>
            <a:off x="2041525" y="1295400"/>
            <a:ext cx="65690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一、无符号数：</a:t>
            </a:r>
            <a:r>
              <a:rPr lang="zh-CN" altLang="en-US" b="1" dirty="0">
                <a:latin typeface="Arial" panose="020B0604020202020204" pitchFamily="34" charset="0"/>
              </a:rPr>
              <a:t>例如</a:t>
            </a:r>
            <a:r>
              <a:rPr lang="en-US" altLang="zh-CN" b="1" dirty="0">
                <a:latin typeface="Arial" panose="020B0604020202020204" pitchFamily="34" charset="0"/>
              </a:rPr>
              <a:t>C</a:t>
            </a:r>
            <a:r>
              <a:rPr lang="zh-CN" altLang="en-US" b="1" dirty="0">
                <a:latin typeface="Arial" panose="020B0604020202020204" pitchFamily="34" charset="0"/>
              </a:rPr>
              <a:t>语言中 </a:t>
            </a:r>
            <a:r>
              <a:rPr lang="en-US" altLang="zh-CN" dirty="0">
                <a:latin typeface="Arial" panose="020B0604020202020204" pitchFamily="34" charset="0"/>
              </a:rPr>
              <a:t>unsigned int a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7524" name="Text Box 6"/>
          <p:cNvSpPr txBox="1"/>
          <p:nvPr/>
        </p:nvSpPr>
        <p:spPr>
          <a:xfrm>
            <a:off x="2336800" y="2128838"/>
            <a:ext cx="7493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寄存器的位数反映无符号数的表示范围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07525" name="Group 7"/>
          <p:cNvGrpSpPr/>
          <p:nvPr/>
        </p:nvGrpSpPr>
        <p:grpSpPr>
          <a:xfrm>
            <a:off x="3886200" y="3749675"/>
            <a:ext cx="3581400" cy="517525"/>
            <a:chOff x="1488" y="2304"/>
            <a:chExt cx="2256" cy="326"/>
          </a:xfrm>
        </p:grpSpPr>
        <p:sp>
          <p:nvSpPr>
            <p:cNvPr id="107566" name="Rectangle 8"/>
            <p:cNvSpPr/>
            <p:nvPr/>
          </p:nvSpPr>
          <p:spPr>
            <a:xfrm>
              <a:off x="3462" y="2304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67" name="Rectangle 9"/>
            <p:cNvSpPr/>
            <p:nvPr/>
          </p:nvSpPr>
          <p:spPr>
            <a:xfrm>
              <a:off x="3180" y="2304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68" name="Rectangle 10"/>
            <p:cNvSpPr/>
            <p:nvPr/>
          </p:nvSpPr>
          <p:spPr>
            <a:xfrm>
              <a:off x="2898" y="2304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69" name="Rectangle 11"/>
            <p:cNvSpPr/>
            <p:nvPr/>
          </p:nvSpPr>
          <p:spPr>
            <a:xfrm>
              <a:off x="2616" y="2304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70" name="Rectangle 12"/>
            <p:cNvSpPr/>
            <p:nvPr/>
          </p:nvSpPr>
          <p:spPr>
            <a:xfrm>
              <a:off x="2334" y="2304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71" name="Rectangle 13"/>
            <p:cNvSpPr/>
            <p:nvPr/>
          </p:nvSpPr>
          <p:spPr>
            <a:xfrm>
              <a:off x="2052" y="2304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72" name="Rectangle 14"/>
            <p:cNvSpPr/>
            <p:nvPr/>
          </p:nvSpPr>
          <p:spPr>
            <a:xfrm>
              <a:off x="1770" y="2304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73" name="Rectangle 15"/>
            <p:cNvSpPr/>
            <p:nvPr/>
          </p:nvSpPr>
          <p:spPr>
            <a:xfrm>
              <a:off x="1488" y="2304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74" name="Line 16"/>
            <p:cNvSpPr/>
            <p:nvPr/>
          </p:nvSpPr>
          <p:spPr>
            <a:xfrm>
              <a:off x="1488" y="2304"/>
              <a:ext cx="22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75" name="Line 17"/>
            <p:cNvSpPr/>
            <p:nvPr/>
          </p:nvSpPr>
          <p:spPr>
            <a:xfrm>
              <a:off x="1488" y="2630"/>
              <a:ext cx="22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76" name="Line 18"/>
            <p:cNvSpPr/>
            <p:nvPr/>
          </p:nvSpPr>
          <p:spPr>
            <a:xfrm>
              <a:off x="1488" y="2304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77" name="Line 19"/>
            <p:cNvSpPr/>
            <p:nvPr/>
          </p:nvSpPr>
          <p:spPr>
            <a:xfrm>
              <a:off x="1770" y="2304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78" name="Line 20"/>
            <p:cNvSpPr/>
            <p:nvPr/>
          </p:nvSpPr>
          <p:spPr>
            <a:xfrm>
              <a:off x="2052" y="2304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79" name="Line 21"/>
            <p:cNvSpPr/>
            <p:nvPr/>
          </p:nvSpPr>
          <p:spPr>
            <a:xfrm>
              <a:off x="2334" y="2304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80" name="Line 22"/>
            <p:cNvSpPr/>
            <p:nvPr/>
          </p:nvSpPr>
          <p:spPr>
            <a:xfrm>
              <a:off x="2616" y="2304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81" name="Line 23"/>
            <p:cNvSpPr/>
            <p:nvPr/>
          </p:nvSpPr>
          <p:spPr>
            <a:xfrm>
              <a:off x="3180" y="2304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82" name="Line 24"/>
            <p:cNvSpPr/>
            <p:nvPr/>
          </p:nvSpPr>
          <p:spPr>
            <a:xfrm>
              <a:off x="3462" y="2304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83" name="Line 25"/>
            <p:cNvSpPr/>
            <p:nvPr/>
          </p:nvSpPr>
          <p:spPr>
            <a:xfrm>
              <a:off x="3744" y="2304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7526" name="Text Box 26"/>
          <p:cNvSpPr txBox="1"/>
          <p:nvPr/>
        </p:nvSpPr>
        <p:spPr>
          <a:xfrm>
            <a:off x="3184525" y="4419600"/>
            <a:ext cx="6035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 8 </a:t>
            </a:r>
            <a:r>
              <a:rPr lang="zh-CN" altLang="en-US" sz="3200" b="1" dirty="0">
                <a:latin typeface="Times New Roman" panose="02020603050405020304" pitchFamily="18" charset="0"/>
              </a:rPr>
              <a:t>位                       </a:t>
            </a:r>
            <a:r>
              <a:rPr lang="en-US" altLang="zh-CN" sz="3200" b="1" dirty="0">
                <a:latin typeface="Times New Roman" panose="02020603050405020304" pitchFamily="18" charset="0"/>
              </a:rPr>
              <a:t>0 ~ 255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07527" name="Text Box 27"/>
          <p:cNvSpPr txBox="1"/>
          <p:nvPr/>
        </p:nvSpPr>
        <p:spPr>
          <a:xfrm>
            <a:off x="3184525" y="5821363"/>
            <a:ext cx="58832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16 </a:t>
            </a:r>
            <a:r>
              <a:rPr lang="zh-CN" altLang="en-US" sz="3200" b="1" dirty="0">
                <a:latin typeface="Times New Roman" panose="02020603050405020304" pitchFamily="18" charset="0"/>
              </a:rPr>
              <a:t>位                       </a:t>
            </a:r>
            <a:r>
              <a:rPr lang="en-US" altLang="zh-CN" sz="3200" b="1" dirty="0">
                <a:latin typeface="Times New Roman" panose="02020603050405020304" pitchFamily="18" charset="0"/>
              </a:rPr>
              <a:t>0 ~ 65535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07528" name="Group 28"/>
          <p:cNvGrpSpPr/>
          <p:nvPr/>
        </p:nvGrpSpPr>
        <p:grpSpPr>
          <a:xfrm>
            <a:off x="2819400" y="5197475"/>
            <a:ext cx="7162800" cy="517525"/>
            <a:chOff x="960" y="3130"/>
            <a:chExt cx="4512" cy="326"/>
          </a:xfrm>
        </p:grpSpPr>
        <p:sp>
          <p:nvSpPr>
            <p:cNvPr id="107531" name="Rectangle 29"/>
            <p:cNvSpPr/>
            <p:nvPr/>
          </p:nvSpPr>
          <p:spPr>
            <a:xfrm>
              <a:off x="2934" y="3130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32" name="Rectangle 30"/>
            <p:cNvSpPr/>
            <p:nvPr/>
          </p:nvSpPr>
          <p:spPr>
            <a:xfrm>
              <a:off x="2652" y="3130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33" name="Rectangle 31"/>
            <p:cNvSpPr/>
            <p:nvPr/>
          </p:nvSpPr>
          <p:spPr>
            <a:xfrm>
              <a:off x="2370" y="3130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34" name="Rectangle 32"/>
            <p:cNvSpPr/>
            <p:nvPr/>
          </p:nvSpPr>
          <p:spPr>
            <a:xfrm>
              <a:off x="2088" y="3130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35" name="Rectangle 33"/>
            <p:cNvSpPr/>
            <p:nvPr/>
          </p:nvSpPr>
          <p:spPr>
            <a:xfrm>
              <a:off x="1806" y="3130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36" name="Rectangle 34"/>
            <p:cNvSpPr/>
            <p:nvPr/>
          </p:nvSpPr>
          <p:spPr>
            <a:xfrm>
              <a:off x="1524" y="3130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37" name="Rectangle 35"/>
            <p:cNvSpPr/>
            <p:nvPr/>
          </p:nvSpPr>
          <p:spPr>
            <a:xfrm>
              <a:off x="1242" y="3130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38" name="Rectangle 36"/>
            <p:cNvSpPr/>
            <p:nvPr/>
          </p:nvSpPr>
          <p:spPr>
            <a:xfrm>
              <a:off x="960" y="3130"/>
              <a:ext cx="282" cy="32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7539" name="Line 37"/>
            <p:cNvSpPr/>
            <p:nvPr/>
          </p:nvSpPr>
          <p:spPr>
            <a:xfrm>
              <a:off x="960" y="3130"/>
              <a:ext cx="22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40" name="Line 38"/>
            <p:cNvSpPr/>
            <p:nvPr/>
          </p:nvSpPr>
          <p:spPr>
            <a:xfrm>
              <a:off x="960" y="3456"/>
              <a:ext cx="22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41" name="Line 39"/>
            <p:cNvSpPr/>
            <p:nvPr/>
          </p:nvSpPr>
          <p:spPr>
            <a:xfrm>
              <a:off x="960" y="3130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42" name="Line 40"/>
            <p:cNvSpPr/>
            <p:nvPr/>
          </p:nvSpPr>
          <p:spPr>
            <a:xfrm>
              <a:off x="1524" y="3130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43" name="Line 41"/>
            <p:cNvSpPr/>
            <p:nvPr/>
          </p:nvSpPr>
          <p:spPr>
            <a:xfrm>
              <a:off x="1806" y="3130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44" name="Line 42"/>
            <p:cNvSpPr/>
            <p:nvPr/>
          </p:nvSpPr>
          <p:spPr>
            <a:xfrm>
              <a:off x="2088" y="3130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45" name="Line 43"/>
            <p:cNvSpPr/>
            <p:nvPr/>
          </p:nvSpPr>
          <p:spPr>
            <a:xfrm>
              <a:off x="2652" y="3130"/>
              <a:ext cx="0" cy="3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46" name="Line 44"/>
            <p:cNvSpPr/>
            <p:nvPr/>
          </p:nvSpPr>
          <p:spPr>
            <a:xfrm>
              <a:off x="3216" y="3130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7547" name="Group 45"/>
            <p:cNvGrpSpPr/>
            <p:nvPr/>
          </p:nvGrpSpPr>
          <p:grpSpPr>
            <a:xfrm>
              <a:off x="3216" y="3130"/>
              <a:ext cx="2256" cy="326"/>
              <a:chOff x="1488" y="2304"/>
              <a:chExt cx="2256" cy="326"/>
            </a:xfrm>
          </p:grpSpPr>
          <p:sp>
            <p:nvSpPr>
              <p:cNvPr id="107548" name="Rectangle 46"/>
              <p:cNvSpPr/>
              <p:nvPr/>
            </p:nvSpPr>
            <p:spPr>
              <a:xfrm>
                <a:off x="3462" y="2304"/>
                <a:ext cx="282" cy="32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49" name="Rectangle 47"/>
              <p:cNvSpPr/>
              <p:nvPr/>
            </p:nvSpPr>
            <p:spPr>
              <a:xfrm>
                <a:off x="3180" y="2304"/>
                <a:ext cx="282" cy="32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50" name="Rectangle 48"/>
              <p:cNvSpPr/>
              <p:nvPr/>
            </p:nvSpPr>
            <p:spPr>
              <a:xfrm>
                <a:off x="2898" y="2304"/>
                <a:ext cx="282" cy="32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51" name="Rectangle 49"/>
              <p:cNvSpPr/>
              <p:nvPr/>
            </p:nvSpPr>
            <p:spPr>
              <a:xfrm>
                <a:off x="2616" y="2304"/>
                <a:ext cx="282" cy="32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52" name="Rectangle 50"/>
              <p:cNvSpPr/>
              <p:nvPr/>
            </p:nvSpPr>
            <p:spPr>
              <a:xfrm>
                <a:off x="2334" y="2304"/>
                <a:ext cx="282" cy="32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53" name="Rectangle 51"/>
              <p:cNvSpPr/>
              <p:nvPr/>
            </p:nvSpPr>
            <p:spPr>
              <a:xfrm>
                <a:off x="2052" y="2304"/>
                <a:ext cx="282" cy="32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54" name="Rectangle 52"/>
              <p:cNvSpPr/>
              <p:nvPr/>
            </p:nvSpPr>
            <p:spPr>
              <a:xfrm>
                <a:off x="1770" y="2304"/>
                <a:ext cx="282" cy="32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55" name="Rectangle 53"/>
              <p:cNvSpPr/>
              <p:nvPr/>
            </p:nvSpPr>
            <p:spPr>
              <a:xfrm>
                <a:off x="1488" y="2304"/>
                <a:ext cx="282" cy="32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56" name="Line 54"/>
              <p:cNvSpPr/>
              <p:nvPr/>
            </p:nvSpPr>
            <p:spPr>
              <a:xfrm>
                <a:off x="1488" y="2304"/>
                <a:ext cx="2256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57" name="Line 55"/>
              <p:cNvSpPr/>
              <p:nvPr/>
            </p:nvSpPr>
            <p:spPr>
              <a:xfrm>
                <a:off x="1488" y="2630"/>
                <a:ext cx="2256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58" name="Line 56"/>
              <p:cNvSpPr/>
              <p:nvPr/>
            </p:nvSpPr>
            <p:spPr>
              <a:xfrm>
                <a:off x="1488" y="2304"/>
                <a:ext cx="0" cy="32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59" name="Line 57"/>
              <p:cNvSpPr/>
              <p:nvPr/>
            </p:nvSpPr>
            <p:spPr>
              <a:xfrm>
                <a:off x="1770" y="2304"/>
                <a:ext cx="0" cy="3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60" name="Line 58"/>
              <p:cNvSpPr/>
              <p:nvPr/>
            </p:nvSpPr>
            <p:spPr>
              <a:xfrm>
                <a:off x="2052" y="2304"/>
                <a:ext cx="0" cy="3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61" name="Line 59"/>
              <p:cNvSpPr/>
              <p:nvPr/>
            </p:nvSpPr>
            <p:spPr>
              <a:xfrm>
                <a:off x="2334" y="2304"/>
                <a:ext cx="0" cy="3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62" name="Line 60"/>
              <p:cNvSpPr/>
              <p:nvPr/>
            </p:nvSpPr>
            <p:spPr>
              <a:xfrm>
                <a:off x="2616" y="2304"/>
                <a:ext cx="0" cy="3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63" name="Line 61"/>
              <p:cNvSpPr/>
              <p:nvPr/>
            </p:nvSpPr>
            <p:spPr>
              <a:xfrm>
                <a:off x="3180" y="2304"/>
                <a:ext cx="0" cy="3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64" name="Line 62"/>
              <p:cNvSpPr/>
              <p:nvPr/>
            </p:nvSpPr>
            <p:spPr>
              <a:xfrm>
                <a:off x="3462" y="2304"/>
                <a:ext cx="0" cy="3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65" name="Line 63"/>
              <p:cNvSpPr/>
              <p:nvPr/>
            </p:nvSpPr>
            <p:spPr>
              <a:xfrm>
                <a:off x="3744" y="2304"/>
                <a:ext cx="0" cy="32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07529" name="AutoShape 64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753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Text Box 2"/>
          <p:cNvSpPr txBox="1"/>
          <p:nvPr/>
        </p:nvSpPr>
        <p:spPr>
          <a:xfrm>
            <a:off x="2667000" y="2133600"/>
            <a:ext cx="5669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带符号的数                        符号数字化的数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08547" name="Text Box 3"/>
          <p:cNvSpPr txBox="1"/>
          <p:nvPr/>
        </p:nvSpPr>
        <p:spPr>
          <a:xfrm>
            <a:off x="2819400" y="2709863"/>
            <a:ext cx="14325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</a:rPr>
              <a:t> 0.1011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08548" name="Group 4"/>
          <p:cNvGrpSpPr/>
          <p:nvPr/>
        </p:nvGrpSpPr>
        <p:grpSpPr>
          <a:xfrm>
            <a:off x="6140450" y="2668588"/>
            <a:ext cx="4068763" cy="915987"/>
            <a:chOff x="2908" y="1681"/>
            <a:chExt cx="2563" cy="577"/>
          </a:xfrm>
        </p:grpSpPr>
        <p:sp>
          <p:nvSpPr>
            <p:cNvPr id="108579" name="Text Box 5"/>
            <p:cNvSpPr txBox="1"/>
            <p:nvPr/>
          </p:nvSpPr>
          <p:spPr>
            <a:xfrm>
              <a:off x="2936" y="1681"/>
              <a:ext cx="95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1011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8580" name="Rectangle 6"/>
            <p:cNvSpPr/>
            <p:nvPr/>
          </p:nvSpPr>
          <p:spPr>
            <a:xfrm>
              <a:off x="2908" y="1713"/>
              <a:ext cx="902" cy="3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8581" name="Line 7"/>
            <p:cNvSpPr/>
            <p:nvPr/>
          </p:nvSpPr>
          <p:spPr>
            <a:xfrm>
              <a:off x="3186" y="1713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82" name="Line 8"/>
            <p:cNvSpPr/>
            <p:nvPr/>
          </p:nvSpPr>
          <p:spPr>
            <a:xfrm>
              <a:off x="3234" y="1713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83" name="Freeform 9"/>
            <p:cNvSpPr/>
            <p:nvPr/>
          </p:nvSpPr>
          <p:spPr>
            <a:xfrm>
              <a:off x="3234" y="2010"/>
              <a:ext cx="912" cy="160"/>
            </a:xfrm>
            <a:custGeom>
              <a:avLst/>
              <a:gdLst>
                <a:gd name="txL" fmla="*/ 0 w 1152"/>
                <a:gd name="txT" fmla="*/ 0 h 96"/>
                <a:gd name="txR" fmla="*/ 1152 w 1152"/>
                <a:gd name="txB" fmla="*/ 96 h 96"/>
              </a:gdLst>
              <a:ahLst/>
              <a:cxnLst>
                <a:cxn ang="0">
                  <a:pos x="1152" y="96"/>
                </a:cxn>
                <a:cxn ang="0">
                  <a:pos x="0" y="96"/>
                </a:cxn>
                <a:cxn ang="0">
                  <a:pos x="0" y="0"/>
                </a:cxn>
              </a:cxnLst>
              <a:rect l="txL" t="txT" r="txR" b="txB"/>
              <a:pathLst>
                <a:path w="1152" h="96">
                  <a:moveTo>
                    <a:pt x="1152" y="96"/>
                  </a:moveTo>
                  <a:lnTo>
                    <a:pt x="0" y="9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8584" name="Text Box 10"/>
            <p:cNvSpPr txBox="1"/>
            <p:nvPr/>
          </p:nvSpPr>
          <p:spPr>
            <a:xfrm>
              <a:off x="4204" y="1968"/>
              <a:ext cx="126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小数点的位置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8549" name="Text Box 11"/>
          <p:cNvSpPr txBox="1"/>
          <p:nvPr/>
        </p:nvSpPr>
        <p:spPr>
          <a:xfrm>
            <a:off x="2819400" y="4841875"/>
            <a:ext cx="11658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</a:rPr>
              <a:t> 1100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08550" name="Group 12"/>
          <p:cNvGrpSpPr/>
          <p:nvPr/>
        </p:nvGrpSpPr>
        <p:grpSpPr>
          <a:xfrm>
            <a:off x="6140450" y="4800600"/>
            <a:ext cx="4068763" cy="915988"/>
            <a:chOff x="2908" y="3024"/>
            <a:chExt cx="2563" cy="577"/>
          </a:xfrm>
        </p:grpSpPr>
        <p:sp>
          <p:nvSpPr>
            <p:cNvPr id="108573" name="Text Box 13"/>
            <p:cNvSpPr txBox="1"/>
            <p:nvPr/>
          </p:nvSpPr>
          <p:spPr>
            <a:xfrm>
              <a:off x="2936" y="3024"/>
              <a:ext cx="12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1100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8574" name="Rectangle 14"/>
            <p:cNvSpPr/>
            <p:nvPr/>
          </p:nvSpPr>
          <p:spPr>
            <a:xfrm>
              <a:off x="2908" y="3056"/>
              <a:ext cx="902" cy="3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8575" name="Line 15"/>
            <p:cNvSpPr/>
            <p:nvPr/>
          </p:nvSpPr>
          <p:spPr>
            <a:xfrm>
              <a:off x="3186" y="3056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6" name="Line 16"/>
            <p:cNvSpPr/>
            <p:nvPr/>
          </p:nvSpPr>
          <p:spPr>
            <a:xfrm>
              <a:off x="3234" y="3056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7" name="Freeform 17"/>
            <p:cNvSpPr/>
            <p:nvPr/>
          </p:nvSpPr>
          <p:spPr>
            <a:xfrm>
              <a:off x="3810" y="3361"/>
              <a:ext cx="336" cy="165"/>
            </a:xfrm>
            <a:custGeom>
              <a:avLst/>
              <a:gdLst>
                <a:gd name="txL" fmla="*/ 0 w 1152"/>
                <a:gd name="txT" fmla="*/ 0 h 96"/>
                <a:gd name="txR" fmla="*/ 1152 w 1152"/>
                <a:gd name="txB" fmla="*/ 96 h 96"/>
              </a:gdLst>
              <a:ahLst/>
              <a:cxnLst>
                <a:cxn ang="0">
                  <a:pos x="1152" y="96"/>
                </a:cxn>
                <a:cxn ang="0">
                  <a:pos x="0" y="96"/>
                </a:cxn>
                <a:cxn ang="0">
                  <a:pos x="0" y="0"/>
                </a:cxn>
              </a:cxnLst>
              <a:rect l="txL" t="txT" r="txR" b="txB"/>
              <a:pathLst>
                <a:path w="1152" h="96">
                  <a:moveTo>
                    <a:pt x="1152" y="96"/>
                  </a:moveTo>
                  <a:lnTo>
                    <a:pt x="0" y="9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8578" name="Text Box 18"/>
            <p:cNvSpPr txBox="1"/>
            <p:nvPr/>
          </p:nvSpPr>
          <p:spPr>
            <a:xfrm>
              <a:off x="4204" y="3311"/>
              <a:ext cx="126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小数点的位置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8551" name="Text Box 19"/>
          <p:cNvSpPr txBox="1"/>
          <p:nvPr/>
        </p:nvSpPr>
        <p:spPr>
          <a:xfrm>
            <a:off x="2819400" y="5834063"/>
            <a:ext cx="11410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08552" name="Group 20"/>
          <p:cNvGrpSpPr/>
          <p:nvPr/>
        </p:nvGrpSpPr>
        <p:grpSpPr>
          <a:xfrm>
            <a:off x="6140450" y="5792788"/>
            <a:ext cx="4068763" cy="915987"/>
            <a:chOff x="2908" y="3649"/>
            <a:chExt cx="2563" cy="577"/>
          </a:xfrm>
        </p:grpSpPr>
        <p:sp>
          <p:nvSpPr>
            <p:cNvPr id="108567" name="Text Box 21"/>
            <p:cNvSpPr txBox="1"/>
            <p:nvPr/>
          </p:nvSpPr>
          <p:spPr>
            <a:xfrm>
              <a:off x="2936" y="3649"/>
              <a:ext cx="12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1100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8568" name="Rectangle 22"/>
            <p:cNvSpPr/>
            <p:nvPr/>
          </p:nvSpPr>
          <p:spPr>
            <a:xfrm>
              <a:off x="2908" y="3681"/>
              <a:ext cx="902" cy="3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8569" name="Line 23"/>
            <p:cNvSpPr/>
            <p:nvPr/>
          </p:nvSpPr>
          <p:spPr>
            <a:xfrm>
              <a:off x="3186" y="3681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0" name="Line 24"/>
            <p:cNvSpPr/>
            <p:nvPr/>
          </p:nvSpPr>
          <p:spPr>
            <a:xfrm>
              <a:off x="3234" y="3681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1" name="Text Box 25"/>
            <p:cNvSpPr txBox="1"/>
            <p:nvPr/>
          </p:nvSpPr>
          <p:spPr>
            <a:xfrm>
              <a:off x="4204" y="3936"/>
              <a:ext cx="126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小数点的位置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8572" name="Freeform 26"/>
            <p:cNvSpPr/>
            <p:nvPr/>
          </p:nvSpPr>
          <p:spPr>
            <a:xfrm>
              <a:off x="3810" y="3992"/>
              <a:ext cx="336" cy="165"/>
            </a:xfrm>
            <a:custGeom>
              <a:avLst/>
              <a:gdLst>
                <a:gd name="txL" fmla="*/ 0 w 1152"/>
                <a:gd name="txT" fmla="*/ 0 h 96"/>
                <a:gd name="txR" fmla="*/ 1152 w 1152"/>
                <a:gd name="txB" fmla="*/ 96 h 96"/>
              </a:gdLst>
              <a:ahLst/>
              <a:cxnLst>
                <a:cxn ang="0">
                  <a:pos x="1152" y="96"/>
                </a:cxn>
                <a:cxn ang="0">
                  <a:pos x="0" y="96"/>
                </a:cxn>
                <a:cxn ang="0">
                  <a:pos x="0" y="0"/>
                </a:cxn>
              </a:cxnLst>
              <a:rect l="txL" t="txT" r="txR" b="txB"/>
              <a:pathLst>
                <a:path w="1152" h="96">
                  <a:moveTo>
                    <a:pt x="1152" y="96"/>
                  </a:moveTo>
                  <a:lnTo>
                    <a:pt x="0" y="9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8553" name="Text Box 27"/>
          <p:cNvSpPr txBox="1"/>
          <p:nvPr/>
        </p:nvSpPr>
        <p:spPr>
          <a:xfrm>
            <a:off x="2819400" y="3700463"/>
            <a:ext cx="14077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2800" b="1" dirty="0">
                <a:latin typeface="Times New Roman" panose="02020603050405020304" pitchFamily="18" charset="0"/>
              </a:rPr>
              <a:t> 0.1011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08554" name="Group 28"/>
          <p:cNvGrpSpPr/>
          <p:nvPr/>
        </p:nvGrpSpPr>
        <p:grpSpPr>
          <a:xfrm>
            <a:off x="6140450" y="3659188"/>
            <a:ext cx="4068763" cy="915987"/>
            <a:chOff x="2908" y="2305"/>
            <a:chExt cx="2563" cy="577"/>
          </a:xfrm>
        </p:grpSpPr>
        <p:sp>
          <p:nvSpPr>
            <p:cNvPr id="108561" name="Text Box 29"/>
            <p:cNvSpPr txBox="1"/>
            <p:nvPr/>
          </p:nvSpPr>
          <p:spPr>
            <a:xfrm>
              <a:off x="2936" y="2305"/>
              <a:ext cx="10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1011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8562" name="Rectangle 30"/>
            <p:cNvSpPr/>
            <p:nvPr/>
          </p:nvSpPr>
          <p:spPr>
            <a:xfrm>
              <a:off x="2908" y="2337"/>
              <a:ext cx="902" cy="3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8563" name="Line 31"/>
            <p:cNvSpPr/>
            <p:nvPr/>
          </p:nvSpPr>
          <p:spPr>
            <a:xfrm>
              <a:off x="3186" y="2337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64" name="Line 32"/>
            <p:cNvSpPr/>
            <p:nvPr/>
          </p:nvSpPr>
          <p:spPr>
            <a:xfrm>
              <a:off x="3234" y="2337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65" name="Text Box 33"/>
            <p:cNvSpPr txBox="1"/>
            <p:nvPr/>
          </p:nvSpPr>
          <p:spPr>
            <a:xfrm>
              <a:off x="4204" y="2592"/>
              <a:ext cx="126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小数点的位置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8566" name="Freeform 34"/>
            <p:cNvSpPr/>
            <p:nvPr/>
          </p:nvSpPr>
          <p:spPr>
            <a:xfrm>
              <a:off x="3234" y="2641"/>
              <a:ext cx="912" cy="160"/>
            </a:xfrm>
            <a:custGeom>
              <a:avLst/>
              <a:gdLst>
                <a:gd name="txL" fmla="*/ 0 w 1152"/>
                <a:gd name="txT" fmla="*/ 0 h 96"/>
                <a:gd name="txR" fmla="*/ 1152 w 1152"/>
                <a:gd name="txB" fmla="*/ 96 h 96"/>
              </a:gdLst>
              <a:ahLst/>
              <a:cxnLst>
                <a:cxn ang="0">
                  <a:pos x="1152" y="96"/>
                </a:cxn>
                <a:cxn ang="0">
                  <a:pos x="0" y="96"/>
                </a:cxn>
                <a:cxn ang="0">
                  <a:pos x="0" y="0"/>
                </a:cxn>
              </a:cxnLst>
              <a:rect l="txL" t="txT" r="txR" b="txB"/>
              <a:pathLst>
                <a:path w="1152" h="96">
                  <a:moveTo>
                    <a:pt x="1152" y="96"/>
                  </a:moveTo>
                  <a:lnTo>
                    <a:pt x="0" y="9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8555" name="Text Box 35"/>
          <p:cNvSpPr txBox="1"/>
          <p:nvPr/>
        </p:nvSpPr>
        <p:spPr>
          <a:xfrm>
            <a:off x="2209800" y="1538288"/>
            <a:ext cx="8458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真值                              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机器数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数据和正负号编码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08556" name="Text Box 36"/>
          <p:cNvSpPr txBox="1"/>
          <p:nvPr/>
        </p:nvSpPr>
        <p:spPr>
          <a:xfrm>
            <a:off x="2295525" y="914400"/>
            <a:ext cx="3027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机器数与真值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08557" name="Text Box 37"/>
          <p:cNvSpPr txBox="1"/>
          <p:nvPr/>
        </p:nvSpPr>
        <p:spPr>
          <a:xfrm>
            <a:off x="1828800" y="176213"/>
            <a:ext cx="2926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二、有符号数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45094" name="Rectangle 3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59" name="AutoShape 39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856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Text Box 2"/>
          <p:cNvSpPr txBox="1"/>
          <p:nvPr/>
        </p:nvSpPr>
        <p:spPr>
          <a:xfrm>
            <a:off x="1828800" y="228600"/>
            <a:ext cx="2926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原码表示法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09571" name="Text Box 3"/>
          <p:cNvSpPr txBox="1"/>
          <p:nvPr/>
        </p:nvSpPr>
        <p:spPr>
          <a:xfrm>
            <a:off x="3306763" y="5949950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带符号的绝对值表示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2" name="Text Box 4"/>
          <p:cNvSpPr txBox="1"/>
          <p:nvPr/>
        </p:nvSpPr>
        <p:spPr>
          <a:xfrm>
            <a:off x="2236788" y="914400"/>
            <a:ext cx="31734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定义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09573" name="Text Box 5"/>
          <p:cNvSpPr txBox="1"/>
          <p:nvPr/>
        </p:nvSpPr>
        <p:spPr>
          <a:xfrm>
            <a:off x="2759075" y="1528763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整数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4" name="Text Box 6"/>
          <p:cNvSpPr txBox="1"/>
          <p:nvPr/>
        </p:nvSpPr>
        <p:spPr>
          <a:xfrm>
            <a:off x="3390900" y="3154363"/>
            <a:ext cx="1516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为真值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09575" name="Text Box 7"/>
          <p:cNvSpPr txBox="1"/>
          <p:nvPr/>
        </p:nvSpPr>
        <p:spPr>
          <a:xfrm>
            <a:off x="5410200" y="3154363"/>
            <a:ext cx="32943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为整数的位数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6" name="Text Box 8"/>
          <p:cNvSpPr txBox="1"/>
          <p:nvPr/>
        </p:nvSpPr>
        <p:spPr>
          <a:xfrm>
            <a:off x="2438400" y="4168775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09577" name="Text Box 9"/>
          <p:cNvSpPr txBox="1"/>
          <p:nvPr/>
        </p:nvSpPr>
        <p:spPr>
          <a:xfrm>
            <a:off x="3122613" y="4221163"/>
            <a:ext cx="14109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= +1110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09578" name="Text Box 10"/>
          <p:cNvSpPr txBox="1"/>
          <p:nvPr/>
        </p:nvSpPr>
        <p:spPr>
          <a:xfrm>
            <a:off x="5334000" y="4221163"/>
            <a:ext cx="205232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 , 1110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09579" name="Text Box 11"/>
          <p:cNvSpPr txBox="1"/>
          <p:nvPr/>
        </p:nvSpPr>
        <p:spPr>
          <a:xfrm>
            <a:off x="5334000" y="5287963"/>
            <a:ext cx="35052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2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4 </a:t>
            </a:r>
            <a:r>
              <a:rPr lang="en-US" altLang="zh-CN" sz="2400" b="1" dirty="0">
                <a:latin typeface="Times New Roman" panose="02020603050405020304" pitchFamily="18" charset="0"/>
              </a:rPr>
              <a:t>+ 1110 = 1 , 1110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09580" name="Group 12"/>
          <p:cNvGrpSpPr/>
          <p:nvPr/>
        </p:nvGrpSpPr>
        <p:grpSpPr>
          <a:xfrm>
            <a:off x="3122613" y="5287963"/>
            <a:ext cx="1414462" cy="460375"/>
            <a:chOff x="960" y="3744"/>
            <a:chExt cx="891" cy="290"/>
          </a:xfrm>
        </p:grpSpPr>
        <p:sp>
          <p:nvSpPr>
            <p:cNvPr id="109596" name="Text Box 13"/>
            <p:cNvSpPr txBox="1"/>
            <p:nvPr/>
          </p:nvSpPr>
          <p:spPr>
            <a:xfrm>
              <a:off x="960" y="3744"/>
              <a:ext cx="8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  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1110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9597" name="Line 14"/>
            <p:cNvSpPr/>
            <p:nvPr/>
          </p:nvSpPr>
          <p:spPr>
            <a:xfrm>
              <a:off x="1321" y="3899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9581" name="Group 15"/>
          <p:cNvGrpSpPr/>
          <p:nvPr/>
        </p:nvGrpSpPr>
        <p:grpSpPr>
          <a:xfrm>
            <a:off x="3319463" y="1706563"/>
            <a:ext cx="6357937" cy="1300163"/>
            <a:chOff x="1131" y="1075"/>
            <a:chExt cx="4005" cy="819"/>
          </a:xfrm>
        </p:grpSpPr>
        <p:sp>
          <p:nvSpPr>
            <p:cNvPr id="109590" name="Text Box 16"/>
            <p:cNvSpPr txBox="1"/>
            <p:nvPr/>
          </p:nvSpPr>
          <p:spPr>
            <a:xfrm>
              <a:off x="1131" y="1315"/>
              <a:ext cx="83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9591" name="Text Box 17"/>
            <p:cNvSpPr txBox="1"/>
            <p:nvPr/>
          </p:nvSpPr>
          <p:spPr>
            <a:xfrm>
              <a:off x="2074" y="1075"/>
              <a:ext cx="296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0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   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≥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9592" name="Text Box 18"/>
            <p:cNvSpPr txBox="1"/>
            <p:nvPr/>
          </p:nvSpPr>
          <p:spPr>
            <a:xfrm>
              <a:off x="2084" y="1526"/>
              <a:ext cx="30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   0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  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endParaRPr lang="en-US" altLang="zh-CN" sz="3200" b="1" i="1" baseline="40000" dirty="0">
                <a:latin typeface="Times New Roman" panose="02020603050405020304" pitchFamily="18" charset="0"/>
              </a:endParaRPr>
            </a:p>
          </p:txBody>
        </p:sp>
        <p:sp>
          <p:nvSpPr>
            <p:cNvPr id="109593" name="AutoShape 19"/>
            <p:cNvSpPr/>
            <p:nvPr/>
          </p:nvSpPr>
          <p:spPr>
            <a:xfrm>
              <a:off x="1940" y="1215"/>
              <a:ext cx="103" cy="580"/>
            </a:xfrm>
            <a:prstGeom prst="leftBrace">
              <a:avLst>
                <a:gd name="adj1" fmla="val 46482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9594" name="Line 20"/>
            <p:cNvSpPr/>
            <p:nvPr/>
          </p:nvSpPr>
          <p:spPr>
            <a:xfrm>
              <a:off x="4128" y="1724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595" name="Line 21"/>
            <p:cNvSpPr/>
            <p:nvPr/>
          </p:nvSpPr>
          <p:spPr>
            <a:xfrm>
              <a:off x="2400" y="1747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9582" name="Freeform 22"/>
          <p:cNvSpPr/>
          <p:nvPr/>
        </p:nvSpPr>
        <p:spPr>
          <a:xfrm>
            <a:off x="3762375" y="3992563"/>
            <a:ext cx="2613025" cy="304800"/>
          </a:xfrm>
          <a:custGeom>
            <a:avLst/>
            <a:gdLst>
              <a:gd name="txL" fmla="*/ 0 w 1646"/>
              <a:gd name="txT" fmla="*/ 0 h 192"/>
              <a:gd name="txR" fmla="*/ 1646 w 1646"/>
              <a:gd name="txB" fmla="*/ 192 h 192"/>
            </a:gdLst>
            <a:ahLst/>
            <a:cxnLst>
              <a:cxn ang="0">
                <a:pos x="0" y="192"/>
              </a:cxn>
              <a:cxn ang="0">
                <a:pos x="0" y="0"/>
              </a:cxn>
              <a:cxn ang="0">
                <a:pos x="1646" y="1"/>
              </a:cxn>
              <a:cxn ang="0">
                <a:pos x="1646" y="172"/>
              </a:cxn>
            </a:cxnLst>
            <a:rect l="txL" t="txT" r="txR" b="txB"/>
            <a:pathLst>
              <a:path w="1646" h="192">
                <a:moveTo>
                  <a:pt x="0" y="192"/>
                </a:moveTo>
                <a:lnTo>
                  <a:pt x="0" y="0"/>
                </a:lnTo>
                <a:lnTo>
                  <a:pt x="1646" y="1"/>
                </a:lnTo>
                <a:lnTo>
                  <a:pt x="1646" y="172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9583" name="Freeform 23"/>
          <p:cNvSpPr/>
          <p:nvPr/>
        </p:nvSpPr>
        <p:spPr>
          <a:xfrm>
            <a:off x="3805238" y="5087938"/>
            <a:ext cx="4043362" cy="276225"/>
          </a:xfrm>
          <a:custGeom>
            <a:avLst/>
            <a:gdLst>
              <a:gd name="txL" fmla="*/ 0 w 2547"/>
              <a:gd name="txT" fmla="*/ 0 h 174"/>
              <a:gd name="txR" fmla="*/ 2547 w 2547"/>
              <a:gd name="txB" fmla="*/ 174 h 174"/>
            </a:gdLst>
            <a:ahLst/>
            <a:cxnLst>
              <a:cxn ang="0">
                <a:pos x="3" y="174"/>
              </a:cxn>
              <a:cxn ang="0">
                <a:pos x="0" y="0"/>
              </a:cxn>
              <a:cxn ang="0">
                <a:pos x="2547" y="2"/>
              </a:cxn>
              <a:cxn ang="0">
                <a:pos x="2547" y="162"/>
              </a:cxn>
            </a:cxnLst>
            <a:rect l="txL" t="txT" r="txR" b="txB"/>
            <a:pathLst>
              <a:path w="2547" h="174">
                <a:moveTo>
                  <a:pt x="3" y="174"/>
                </a:moveTo>
                <a:lnTo>
                  <a:pt x="0" y="0"/>
                </a:lnTo>
                <a:lnTo>
                  <a:pt x="2547" y="2"/>
                </a:lnTo>
                <a:lnTo>
                  <a:pt x="2547" y="162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9584" name="Text Box 24"/>
          <p:cNvSpPr txBox="1"/>
          <p:nvPr/>
        </p:nvSpPr>
        <p:spPr>
          <a:xfrm>
            <a:off x="8077200" y="4410075"/>
            <a:ext cx="29718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用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逗号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将符号位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和数值部分隔开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09585" name="Freeform 25"/>
          <p:cNvSpPr/>
          <p:nvPr/>
        </p:nvSpPr>
        <p:spPr>
          <a:xfrm>
            <a:off x="8029575" y="5211763"/>
            <a:ext cx="1524000" cy="838200"/>
          </a:xfrm>
          <a:custGeom>
            <a:avLst/>
            <a:gdLst>
              <a:gd name="txL" fmla="*/ 0 w 960"/>
              <a:gd name="txT" fmla="*/ 0 h 528"/>
              <a:gd name="txR" fmla="*/ 960 w 960"/>
              <a:gd name="txB" fmla="*/ 528 h 528"/>
            </a:gdLst>
            <a:ahLst/>
            <a:cxnLst>
              <a:cxn ang="0">
                <a:pos x="960" y="0"/>
              </a:cxn>
              <a:cxn ang="0">
                <a:pos x="960" y="528"/>
              </a:cxn>
              <a:cxn ang="0">
                <a:pos x="0" y="528"/>
              </a:cxn>
              <a:cxn ang="0">
                <a:pos x="0" y="288"/>
              </a:cxn>
            </a:cxnLst>
            <a:rect l="txL" t="txT" r="txR" b="txB"/>
            <a:pathLst>
              <a:path w="960" h="528">
                <a:moveTo>
                  <a:pt x="960" y="0"/>
                </a:moveTo>
                <a:lnTo>
                  <a:pt x="960" y="528"/>
                </a:lnTo>
                <a:lnTo>
                  <a:pt x="0" y="528"/>
                </a:lnTo>
                <a:lnTo>
                  <a:pt x="0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9586" name="Freeform 26"/>
          <p:cNvSpPr/>
          <p:nvPr/>
        </p:nvSpPr>
        <p:spPr>
          <a:xfrm>
            <a:off x="6553200" y="4602163"/>
            <a:ext cx="1544638" cy="304800"/>
          </a:xfrm>
          <a:custGeom>
            <a:avLst/>
            <a:gdLst>
              <a:gd name="txL" fmla="*/ 0 w 973"/>
              <a:gd name="txT" fmla="*/ 0 h 192"/>
              <a:gd name="txR" fmla="*/ 973 w 973"/>
              <a:gd name="txB" fmla="*/ 192 h 192"/>
            </a:gdLst>
            <a:ahLst/>
            <a:cxnLst>
              <a:cxn ang="0">
                <a:pos x="973" y="187"/>
              </a:cxn>
              <a:cxn ang="0">
                <a:pos x="0" y="192"/>
              </a:cxn>
              <a:cxn ang="0">
                <a:pos x="0" y="0"/>
              </a:cxn>
            </a:cxnLst>
            <a:rect l="txL" t="txT" r="txR" b="txB"/>
            <a:pathLst>
              <a:path w="973" h="192">
                <a:moveTo>
                  <a:pt x="973" y="187"/>
                </a:moveTo>
                <a:lnTo>
                  <a:pt x="0" y="192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107" name="Rectangle 2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588" name="AutoShape 28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958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Text Box 2"/>
          <p:cNvSpPr txBox="1"/>
          <p:nvPr/>
        </p:nvSpPr>
        <p:spPr>
          <a:xfrm>
            <a:off x="1828800" y="228600"/>
            <a:ext cx="2926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原码表示法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10595" name="Text Box 3"/>
          <p:cNvSpPr txBox="1"/>
          <p:nvPr/>
        </p:nvSpPr>
        <p:spPr>
          <a:xfrm>
            <a:off x="2236788" y="914400"/>
            <a:ext cx="31734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定义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10596" name="Text Box 4"/>
          <p:cNvSpPr txBox="1"/>
          <p:nvPr/>
        </p:nvSpPr>
        <p:spPr>
          <a:xfrm>
            <a:off x="2759075" y="1528763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小数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7" name="Text Box 5"/>
          <p:cNvSpPr txBox="1"/>
          <p:nvPr/>
        </p:nvSpPr>
        <p:spPr>
          <a:xfrm>
            <a:off x="3390900" y="3154363"/>
            <a:ext cx="1516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为真值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10598" name="Text Box 6"/>
          <p:cNvSpPr txBox="1"/>
          <p:nvPr/>
        </p:nvSpPr>
        <p:spPr>
          <a:xfrm>
            <a:off x="5410200" y="3154363"/>
            <a:ext cx="26028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为整数的位数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10599" name="Group 7"/>
          <p:cNvGrpSpPr/>
          <p:nvPr/>
        </p:nvGrpSpPr>
        <p:grpSpPr>
          <a:xfrm>
            <a:off x="3657600" y="1371600"/>
            <a:ext cx="6357938" cy="1300163"/>
            <a:chOff x="1131" y="1075"/>
            <a:chExt cx="4005" cy="819"/>
          </a:xfrm>
        </p:grpSpPr>
        <p:sp>
          <p:nvSpPr>
            <p:cNvPr id="110603" name="Text Box 8"/>
            <p:cNvSpPr txBox="1"/>
            <p:nvPr/>
          </p:nvSpPr>
          <p:spPr>
            <a:xfrm>
              <a:off x="1131" y="1315"/>
              <a:ext cx="83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0604" name="Text Box 9"/>
            <p:cNvSpPr txBox="1"/>
            <p:nvPr/>
          </p:nvSpPr>
          <p:spPr>
            <a:xfrm>
              <a:off x="2074" y="1075"/>
              <a:ext cx="296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0.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   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≥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0605" name="Text Box 10"/>
            <p:cNvSpPr txBox="1"/>
            <p:nvPr/>
          </p:nvSpPr>
          <p:spPr>
            <a:xfrm>
              <a:off x="2084" y="1526"/>
              <a:ext cx="30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1  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   0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 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1</a:t>
              </a:r>
              <a:endParaRPr lang="en-US" altLang="zh-CN" sz="3200" b="1" i="1" baseline="40000" dirty="0">
                <a:latin typeface="Times New Roman" panose="02020603050405020304" pitchFamily="18" charset="0"/>
              </a:endParaRPr>
            </a:p>
          </p:txBody>
        </p:sp>
        <p:sp>
          <p:nvSpPr>
            <p:cNvPr id="110606" name="AutoShape 11"/>
            <p:cNvSpPr/>
            <p:nvPr/>
          </p:nvSpPr>
          <p:spPr>
            <a:xfrm>
              <a:off x="1940" y="1215"/>
              <a:ext cx="103" cy="580"/>
            </a:xfrm>
            <a:prstGeom prst="leftBrace">
              <a:avLst>
                <a:gd name="adj1" fmla="val 46482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0607" name="Line 12"/>
            <p:cNvSpPr/>
            <p:nvPr/>
          </p:nvSpPr>
          <p:spPr>
            <a:xfrm>
              <a:off x="4011" y="1724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608" name="Line 13"/>
            <p:cNvSpPr/>
            <p:nvPr/>
          </p:nvSpPr>
          <p:spPr>
            <a:xfrm>
              <a:off x="2400" y="1747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7118" name="Rectangle 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01" name="AutoShape 15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060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原码规律：</a:t>
            </a:r>
            <a:endParaRPr lang="zh-CN" altLang="en-US" dirty="0"/>
          </a:p>
        </p:txBody>
      </p:sp>
      <p:sp>
        <p:nvSpPr>
          <p:cNvPr id="111619" name="Rectangle 3"/>
          <p:cNvSpPr>
            <a:spLocks noGrp="1"/>
          </p:cNvSpPr>
          <p:nvPr>
            <p:ph idx="1"/>
          </p:nvPr>
        </p:nvSpPr>
        <p:spPr>
          <a:xfrm>
            <a:off x="1981200" y="1600200"/>
            <a:ext cx="8534400" cy="452596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正数的原码是去掉“＋”，符号位填</a:t>
            </a:r>
            <a:r>
              <a:rPr lang="en-US" altLang="zh-CN" dirty="0"/>
              <a:t>0</a:t>
            </a:r>
            <a:r>
              <a:rPr lang="zh-CN" altLang="en-US" dirty="0"/>
              <a:t>，数值不变；</a:t>
            </a:r>
            <a:endParaRPr lang="zh-CN" altLang="en-US" dirty="0"/>
          </a:p>
          <a:p>
            <a:pPr eaLnBrk="1" hangingPunct="1"/>
            <a:r>
              <a:rPr lang="zh-CN" altLang="en-US" dirty="0"/>
              <a:t>负数的原码是去掉“－”，符号位填</a:t>
            </a:r>
            <a:r>
              <a:rPr lang="en-US" altLang="zh-CN" dirty="0"/>
              <a:t>1</a:t>
            </a:r>
            <a:r>
              <a:rPr lang="zh-CN" altLang="en-US" dirty="0"/>
              <a:t>，数值不变；</a:t>
            </a:r>
            <a:endParaRPr lang="zh-CN" altLang="en-US" dirty="0"/>
          </a:p>
        </p:txBody>
      </p:sp>
      <p:sp>
        <p:nvSpPr>
          <p:cNvPr id="11162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Text Box 2"/>
          <p:cNvSpPr txBox="1"/>
          <p:nvPr/>
        </p:nvSpPr>
        <p:spPr>
          <a:xfrm>
            <a:off x="1676400" y="304800"/>
            <a:ext cx="8991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举例</a:t>
            </a:r>
            <a:r>
              <a:rPr lang="en-US" altLang="zh-CN" sz="3600" b="1" dirty="0">
                <a:latin typeface="Times New Roman" panose="02020603050405020304" pitchFamily="18" charset="0"/>
              </a:rPr>
              <a:t>--</a:t>
            </a:r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已知原码求真值和已知真值求原码</a:t>
            </a:r>
            <a:endParaRPr lang="zh-CN" altLang="en-US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43" name="Text Box 3"/>
          <p:cNvSpPr txBox="1"/>
          <p:nvPr/>
        </p:nvSpPr>
        <p:spPr>
          <a:xfrm>
            <a:off x="2362200" y="1173163"/>
            <a:ext cx="597344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例 </a:t>
            </a:r>
            <a:r>
              <a:rPr lang="en-US" altLang="zh-CN" sz="3200" b="1" dirty="0">
                <a:latin typeface="Times New Roman" panose="02020603050405020304" pitchFamily="18" charset="0"/>
              </a:rPr>
              <a:t>6.1   </a:t>
            </a:r>
            <a:r>
              <a:rPr lang="zh-CN" altLang="en-US" sz="3200" b="1" dirty="0">
                <a:latin typeface="Times New Roman" panose="02020603050405020304" pitchFamily="18" charset="0"/>
              </a:rPr>
              <a:t>已知 </a:t>
            </a:r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1.0011 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求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endParaRPr lang="en-US" altLang="zh-CN" sz="3200" b="1" i="1" dirty="0">
              <a:latin typeface="Times New Roman" panose="02020603050405020304" pitchFamily="18" charset="0"/>
            </a:endParaRPr>
          </a:p>
        </p:txBody>
      </p:sp>
      <p:sp>
        <p:nvSpPr>
          <p:cNvPr id="112644" name="Text Box 4"/>
          <p:cNvSpPr txBox="1"/>
          <p:nvPr/>
        </p:nvSpPr>
        <p:spPr>
          <a:xfrm>
            <a:off x="2847975" y="1957388"/>
            <a:ext cx="7245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</a:t>
            </a:r>
            <a:r>
              <a:rPr lang="en-US" altLang="zh-CN" sz="3200" b="1" dirty="0">
                <a:latin typeface="Times New Roman" panose="02020603050405020304" pitchFamily="18" charset="0"/>
              </a:rPr>
              <a:t>: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12645" name="Text Box 5"/>
          <p:cNvSpPr txBox="1"/>
          <p:nvPr/>
        </p:nvSpPr>
        <p:spPr>
          <a:xfrm>
            <a:off x="2371725" y="3986213"/>
            <a:ext cx="597344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例 </a:t>
            </a:r>
            <a:r>
              <a:rPr lang="en-US" altLang="zh-CN" sz="3200" b="1" dirty="0">
                <a:latin typeface="Times New Roman" panose="02020603050405020304" pitchFamily="18" charset="0"/>
              </a:rPr>
              <a:t>6.2   </a:t>
            </a:r>
            <a:r>
              <a:rPr lang="zh-CN" altLang="en-US" sz="3200" b="1" dirty="0">
                <a:latin typeface="Times New Roman" panose="02020603050405020304" pitchFamily="18" charset="0"/>
              </a:rPr>
              <a:t>已知 </a:t>
            </a:r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1,1100 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求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endParaRPr lang="en-US" altLang="zh-CN" sz="3200" b="1" i="1" dirty="0">
              <a:latin typeface="Times New Roman" panose="02020603050405020304" pitchFamily="18" charset="0"/>
            </a:endParaRPr>
          </a:p>
        </p:txBody>
      </p:sp>
      <p:sp>
        <p:nvSpPr>
          <p:cNvPr id="112646" name="Text Box 6"/>
          <p:cNvSpPr txBox="1"/>
          <p:nvPr/>
        </p:nvSpPr>
        <p:spPr>
          <a:xfrm>
            <a:off x="2895600" y="4772025"/>
            <a:ext cx="7245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</a:t>
            </a:r>
            <a:r>
              <a:rPr lang="en-US" altLang="zh-CN" sz="3200" b="1" dirty="0">
                <a:latin typeface="Times New Roman" panose="02020603050405020304" pitchFamily="18" charset="0"/>
              </a:rPr>
              <a:t>: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12647" name="Group 7"/>
          <p:cNvGrpSpPr/>
          <p:nvPr/>
        </p:nvGrpSpPr>
        <p:grpSpPr>
          <a:xfrm>
            <a:off x="3751263" y="2667000"/>
            <a:ext cx="5645150" cy="706438"/>
            <a:chOff x="1403" y="1680"/>
            <a:chExt cx="3556" cy="445"/>
          </a:xfrm>
        </p:grpSpPr>
        <p:sp>
          <p:nvSpPr>
            <p:cNvPr id="112670" name="Text Box 8"/>
            <p:cNvSpPr txBox="1"/>
            <p:nvPr/>
          </p:nvSpPr>
          <p:spPr>
            <a:xfrm>
              <a:off x="1403" y="1680"/>
              <a:ext cx="3556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i="1" dirty="0">
                  <a:latin typeface="Times New Roman" panose="02020603050405020304" pitchFamily="18" charset="0"/>
                </a:rPr>
                <a:t>x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</a:t>
              </a:r>
              <a:r>
                <a:rPr lang="en-US" altLang="zh-CN" sz="4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1.0011 =   0.0011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671" name="Line 9"/>
            <p:cNvSpPr/>
            <p:nvPr/>
          </p:nvSpPr>
          <p:spPr>
            <a:xfrm>
              <a:off x="2009" y="194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672" name="Line 10"/>
            <p:cNvSpPr/>
            <p:nvPr/>
          </p:nvSpPr>
          <p:spPr>
            <a:xfrm>
              <a:off x="3016" y="194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673" name="Line 11"/>
            <p:cNvSpPr/>
            <p:nvPr/>
          </p:nvSpPr>
          <p:spPr>
            <a:xfrm>
              <a:off x="4105" y="194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2648" name="Group 12"/>
          <p:cNvGrpSpPr/>
          <p:nvPr/>
        </p:nvGrpSpPr>
        <p:grpSpPr>
          <a:xfrm>
            <a:off x="3757613" y="5486400"/>
            <a:ext cx="6910387" cy="706438"/>
            <a:chOff x="1407" y="3456"/>
            <a:chExt cx="4353" cy="445"/>
          </a:xfrm>
        </p:grpSpPr>
        <p:sp>
          <p:nvSpPr>
            <p:cNvPr id="112666" name="Text Box 13"/>
            <p:cNvSpPr txBox="1"/>
            <p:nvPr/>
          </p:nvSpPr>
          <p:spPr>
            <a:xfrm>
              <a:off x="1407" y="3456"/>
              <a:ext cx="4353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2</a:t>
              </a:r>
              <a:r>
                <a:rPr lang="en-US" altLang="zh-CN" sz="3200" b="1" baseline="30000" dirty="0">
                  <a:latin typeface="Times New Roman" panose="02020603050405020304" pitchFamily="18" charset="0"/>
                </a:rPr>
                <a:t>4</a:t>
              </a:r>
              <a:r>
                <a:rPr lang="en-US" altLang="zh-CN" sz="4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10000   1,1100 =   1100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667" name="Line 14"/>
            <p:cNvSpPr/>
            <p:nvPr/>
          </p:nvSpPr>
          <p:spPr>
            <a:xfrm>
              <a:off x="2145" y="370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668" name="Line 15"/>
            <p:cNvSpPr/>
            <p:nvPr/>
          </p:nvSpPr>
          <p:spPr>
            <a:xfrm>
              <a:off x="3681" y="370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669" name="Line 16"/>
            <p:cNvSpPr/>
            <p:nvPr/>
          </p:nvSpPr>
          <p:spPr>
            <a:xfrm>
              <a:off x="4785" y="370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2649" name="Text Box 17"/>
          <p:cNvSpPr txBox="1"/>
          <p:nvPr/>
        </p:nvSpPr>
        <p:spPr>
          <a:xfrm>
            <a:off x="8458200" y="1143000"/>
            <a:ext cx="487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12650" name="Freeform 18"/>
          <p:cNvSpPr/>
          <p:nvPr/>
        </p:nvSpPr>
        <p:spPr>
          <a:xfrm>
            <a:off x="5943600" y="990600"/>
            <a:ext cx="2743200" cy="228600"/>
          </a:xfrm>
          <a:custGeom>
            <a:avLst/>
            <a:gdLst>
              <a:gd name="txL" fmla="*/ 0 w 1728"/>
              <a:gd name="txT" fmla="*/ 0 h 144"/>
              <a:gd name="txR" fmla="*/ 1728 w 1728"/>
              <a:gd name="txB" fmla="*/ 144 h 144"/>
            </a:gdLst>
            <a:ahLst/>
            <a:cxnLst>
              <a:cxn ang="0">
                <a:pos x="0" y="144"/>
              </a:cxn>
              <a:cxn ang="0">
                <a:pos x="0" y="0"/>
              </a:cxn>
              <a:cxn ang="0">
                <a:pos x="1728" y="0"/>
              </a:cxn>
              <a:cxn ang="0">
                <a:pos x="1728" y="144"/>
              </a:cxn>
            </a:cxnLst>
            <a:rect l="txL" t="txT" r="txR" b="txB"/>
            <a:pathLst>
              <a:path w="1728" h="144">
                <a:moveTo>
                  <a:pt x="0" y="144"/>
                </a:moveTo>
                <a:lnTo>
                  <a:pt x="0" y="0"/>
                </a:lnTo>
                <a:lnTo>
                  <a:pt x="1728" y="0"/>
                </a:lnTo>
                <a:lnTo>
                  <a:pt x="1728" y="144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12651" name="Group 19"/>
          <p:cNvGrpSpPr/>
          <p:nvPr/>
        </p:nvGrpSpPr>
        <p:grpSpPr>
          <a:xfrm>
            <a:off x="6172200" y="1676400"/>
            <a:ext cx="3429000" cy="457200"/>
            <a:chOff x="2928" y="1056"/>
            <a:chExt cx="2160" cy="288"/>
          </a:xfrm>
        </p:grpSpPr>
        <p:sp>
          <p:nvSpPr>
            <p:cNvPr id="112664" name="Freeform 20"/>
            <p:cNvSpPr/>
            <p:nvPr/>
          </p:nvSpPr>
          <p:spPr>
            <a:xfrm>
              <a:off x="3072" y="1056"/>
              <a:ext cx="2016" cy="288"/>
            </a:xfrm>
            <a:custGeom>
              <a:avLst/>
              <a:gdLst>
                <a:gd name="txL" fmla="*/ 0 w 1920"/>
                <a:gd name="txT" fmla="*/ 0 h 288"/>
                <a:gd name="txR" fmla="*/ 1920 w 1920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1920" y="288"/>
                </a:cxn>
                <a:cxn ang="0">
                  <a:pos x="1920" y="0"/>
                </a:cxn>
              </a:cxnLst>
              <a:rect l="txL" t="txT" r="txR" b="txB"/>
              <a:pathLst>
                <a:path w="1920" h="288">
                  <a:moveTo>
                    <a:pt x="0" y="0"/>
                  </a:moveTo>
                  <a:lnTo>
                    <a:pt x="0" y="288"/>
                  </a:lnTo>
                  <a:lnTo>
                    <a:pt x="1920" y="288"/>
                  </a:lnTo>
                  <a:lnTo>
                    <a:pt x="19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665" name="Line 21"/>
            <p:cNvSpPr/>
            <p:nvPr/>
          </p:nvSpPr>
          <p:spPr>
            <a:xfrm>
              <a:off x="2928" y="1056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12652" name="Text Box 22"/>
          <p:cNvSpPr txBox="1"/>
          <p:nvPr/>
        </p:nvSpPr>
        <p:spPr>
          <a:xfrm>
            <a:off x="8604250" y="4002088"/>
            <a:ext cx="3873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endParaRPr lang="en-US" altLang="zh-CN" sz="3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2653" name="Freeform 23"/>
          <p:cNvSpPr/>
          <p:nvPr/>
        </p:nvSpPr>
        <p:spPr>
          <a:xfrm>
            <a:off x="5943600" y="3810000"/>
            <a:ext cx="2895600" cy="304800"/>
          </a:xfrm>
          <a:custGeom>
            <a:avLst/>
            <a:gdLst>
              <a:gd name="txL" fmla="*/ 0 w 1728"/>
              <a:gd name="txT" fmla="*/ 0 h 144"/>
              <a:gd name="txR" fmla="*/ 1728 w 1728"/>
              <a:gd name="txB" fmla="*/ 144 h 144"/>
            </a:gdLst>
            <a:ahLst/>
            <a:cxnLst>
              <a:cxn ang="0">
                <a:pos x="0" y="144"/>
              </a:cxn>
              <a:cxn ang="0">
                <a:pos x="0" y="0"/>
              </a:cxn>
              <a:cxn ang="0">
                <a:pos x="1728" y="0"/>
              </a:cxn>
              <a:cxn ang="0">
                <a:pos x="1728" y="144"/>
              </a:cxn>
            </a:cxnLst>
            <a:rect l="txL" t="txT" r="txR" b="txB"/>
            <a:pathLst>
              <a:path w="1728" h="144">
                <a:moveTo>
                  <a:pt x="0" y="144"/>
                </a:moveTo>
                <a:lnTo>
                  <a:pt x="0" y="0"/>
                </a:lnTo>
                <a:lnTo>
                  <a:pt x="1728" y="0"/>
                </a:lnTo>
                <a:lnTo>
                  <a:pt x="1728" y="144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12654" name="Group 24"/>
          <p:cNvGrpSpPr/>
          <p:nvPr/>
        </p:nvGrpSpPr>
        <p:grpSpPr>
          <a:xfrm>
            <a:off x="6135688" y="4495800"/>
            <a:ext cx="3236912" cy="457200"/>
            <a:chOff x="2905" y="2832"/>
            <a:chExt cx="2039" cy="288"/>
          </a:xfrm>
        </p:grpSpPr>
        <p:sp>
          <p:nvSpPr>
            <p:cNvPr id="112662" name="Freeform 25"/>
            <p:cNvSpPr/>
            <p:nvPr/>
          </p:nvSpPr>
          <p:spPr>
            <a:xfrm>
              <a:off x="3072" y="2832"/>
              <a:ext cx="1872" cy="288"/>
            </a:xfrm>
            <a:custGeom>
              <a:avLst/>
              <a:gdLst>
                <a:gd name="txL" fmla="*/ 0 w 1920"/>
                <a:gd name="txT" fmla="*/ 0 h 288"/>
                <a:gd name="txR" fmla="*/ 1920 w 1920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1920" y="288"/>
                </a:cxn>
                <a:cxn ang="0">
                  <a:pos x="1920" y="0"/>
                </a:cxn>
              </a:cxnLst>
              <a:rect l="txL" t="txT" r="txR" b="txB"/>
              <a:pathLst>
                <a:path w="1920" h="288">
                  <a:moveTo>
                    <a:pt x="0" y="0"/>
                  </a:moveTo>
                  <a:lnTo>
                    <a:pt x="0" y="288"/>
                  </a:lnTo>
                  <a:lnTo>
                    <a:pt x="1920" y="288"/>
                  </a:lnTo>
                  <a:lnTo>
                    <a:pt x="19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663" name="Line 26"/>
            <p:cNvSpPr/>
            <p:nvPr/>
          </p:nvSpPr>
          <p:spPr>
            <a:xfrm>
              <a:off x="2905" y="2832"/>
              <a:ext cx="55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12655" name="Text Box 27"/>
          <p:cNvSpPr txBox="1"/>
          <p:nvPr/>
        </p:nvSpPr>
        <p:spPr>
          <a:xfrm>
            <a:off x="8839200" y="1173163"/>
            <a:ext cx="12776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0.0011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2656" name="Text Box 28"/>
          <p:cNvSpPr txBox="1"/>
          <p:nvPr/>
        </p:nvSpPr>
        <p:spPr>
          <a:xfrm>
            <a:off x="8832850" y="4002088"/>
            <a:ext cx="9728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2657" name="Text Box 29"/>
          <p:cNvSpPr txBox="1"/>
          <p:nvPr/>
        </p:nvSpPr>
        <p:spPr>
          <a:xfrm>
            <a:off x="3657600" y="1957388"/>
            <a:ext cx="1808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由定义得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12658" name="Text Box 30"/>
          <p:cNvSpPr txBox="1"/>
          <p:nvPr/>
        </p:nvSpPr>
        <p:spPr>
          <a:xfrm>
            <a:off x="3657600" y="4772025"/>
            <a:ext cx="1808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由定义得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8159" name="Rectangle 3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60" name="AutoShape 3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6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Text Box 2"/>
          <p:cNvSpPr txBox="1"/>
          <p:nvPr/>
        </p:nvSpPr>
        <p:spPr>
          <a:xfrm>
            <a:off x="1981200" y="1295400"/>
            <a:ext cx="4724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求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0 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的原码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13667" name="Text Box 3"/>
          <p:cNvSpPr txBox="1"/>
          <p:nvPr/>
        </p:nvSpPr>
        <p:spPr>
          <a:xfrm>
            <a:off x="2768600" y="3382963"/>
            <a:ext cx="7245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</a:t>
            </a:r>
            <a:r>
              <a:rPr lang="en-US" altLang="zh-CN" sz="3200" b="1" dirty="0">
                <a:latin typeface="Times New Roman" panose="02020603050405020304" pitchFamily="18" charset="0"/>
              </a:rPr>
              <a:t>: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13668" name="Text Box 4"/>
          <p:cNvSpPr txBox="1"/>
          <p:nvPr/>
        </p:nvSpPr>
        <p:spPr>
          <a:xfrm>
            <a:off x="3482975" y="3382963"/>
            <a:ext cx="3048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设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+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0.0000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13669" name="Text Box 8"/>
          <p:cNvSpPr txBox="1"/>
          <p:nvPr/>
        </p:nvSpPr>
        <p:spPr>
          <a:xfrm>
            <a:off x="3482975" y="4754563"/>
            <a:ext cx="3027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同理，对于整数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13670" name="Text Box 9"/>
          <p:cNvSpPr txBox="1"/>
          <p:nvPr/>
        </p:nvSpPr>
        <p:spPr>
          <a:xfrm>
            <a:off x="7340600" y="4800600"/>
            <a:ext cx="3114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[+ 0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0,0000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13671" name="Text Box 10"/>
          <p:cNvSpPr txBox="1"/>
          <p:nvPr/>
        </p:nvSpPr>
        <p:spPr>
          <a:xfrm>
            <a:off x="6553200" y="3382963"/>
            <a:ext cx="39020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[+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0.0000]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0.0000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13672" name="Group 11"/>
          <p:cNvGrpSpPr/>
          <p:nvPr/>
        </p:nvGrpSpPr>
        <p:grpSpPr>
          <a:xfrm>
            <a:off x="3992563" y="4068763"/>
            <a:ext cx="2679700" cy="584199"/>
            <a:chOff x="1555" y="2563"/>
            <a:chExt cx="1688" cy="368"/>
          </a:xfrm>
        </p:grpSpPr>
        <p:sp>
          <p:nvSpPr>
            <p:cNvPr id="113685" name="Text Box 12"/>
            <p:cNvSpPr txBox="1"/>
            <p:nvPr/>
          </p:nvSpPr>
          <p:spPr>
            <a:xfrm>
              <a:off x="1555" y="2563"/>
              <a:ext cx="168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0.0000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686" name="Line 13"/>
            <p:cNvSpPr/>
            <p:nvPr/>
          </p:nvSpPr>
          <p:spPr>
            <a:xfrm>
              <a:off x="2013" y="275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3673" name="Group 14"/>
          <p:cNvGrpSpPr/>
          <p:nvPr/>
        </p:nvGrpSpPr>
        <p:grpSpPr>
          <a:xfrm>
            <a:off x="6569075" y="4068763"/>
            <a:ext cx="3589338" cy="584199"/>
            <a:chOff x="3178" y="2563"/>
            <a:chExt cx="2261" cy="368"/>
          </a:xfrm>
        </p:grpSpPr>
        <p:sp>
          <p:nvSpPr>
            <p:cNvPr id="113683" name="Text Box 15"/>
            <p:cNvSpPr txBox="1"/>
            <p:nvPr/>
          </p:nvSpPr>
          <p:spPr>
            <a:xfrm>
              <a:off x="3178" y="2563"/>
              <a:ext cx="226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0.0000]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1.0000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684" name="Line 16"/>
            <p:cNvSpPr/>
            <p:nvPr/>
          </p:nvSpPr>
          <p:spPr>
            <a:xfrm>
              <a:off x="3334" y="275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3674" name="Group 17"/>
          <p:cNvGrpSpPr/>
          <p:nvPr/>
        </p:nvGrpSpPr>
        <p:grpSpPr>
          <a:xfrm>
            <a:off x="7367588" y="5516563"/>
            <a:ext cx="2776538" cy="584199"/>
            <a:chOff x="3815" y="3475"/>
            <a:chExt cx="1749" cy="368"/>
          </a:xfrm>
        </p:grpSpPr>
        <p:sp>
          <p:nvSpPr>
            <p:cNvPr id="113681" name="Text Box 18"/>
            <p:cNvSpPr txBox="1"/>
            <p:nvPr/>
          </p:nvSpPr>
          <p:spPr>
            <a:xfrm>
              <a:off x="3815" y="3475"/>
              <a:ext cx="174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   0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1,0000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682" name="Line 19"/>
            <p:cNvSpPr/>
            <p:nvPr/>
          </p:nvSpPr>
          <p:spPr>
            <a:xfrm>
              <a:off x="3984" y="367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3675" name="Group 20"/>
          <p:cNvGrpSpPr/>
          <p:nvPr/>
        </p:nvGrpSpPr>
        <p:grpSpPr>
          <a:xfrm>
            <a:off x="3762375" y="5775325"/>
            <a:ext cx="3397250" cy="584201"/>
            <a:chOff x="1344" y="3744"/>
            <a:chExt cx="2140" cy="368"/>
          </a:xfrm>
        </p:grpSpPr>
        <p:sp>
          <p:nvSpPr>
            <p:cNvPr id="113679" name="Text Box 21"/>
            <p:cNvSpPr txBox="1"/>
            <p:nvPr/>
          </p:nvSpPr>
          <p:spPr>
            <a:xfrm>
              <a:off x="1344" y="3744"/>
              <a:ext cx="214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∴   [+</a:t>
              </a:r>
              <a:r>
                <a:rPr lang="en-US" altLang="zh-CN" sz="10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0]</a:t>
              </a:r>
              <a:r>
                <a:rPr lang="zh-CN" altLang="en-US" sz="28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≠</a:t>
              </a:r>
              <a:r>
                <a:rPr lang="zh-CN" altLang="en-US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[  </a:t>
              </a:r>
              <a:r>
                <a:rPr lang="en-US" altLang="zh-CN" sz="10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0]</a:t>
              </a:r>
              <a:r>
                <a:rPr lang="zh-CN" altLang="en-US" sz="28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680" name="Line 22"/>
            <p:cNvSpPr/>
            <p:nvPr/>
          </p:nvSpPr>
          <p:spPr>
            <a:xfrm flipV="1">
              <a:off x="2910" y="3946"/>
              <a:ext cx="96" cy="9"/>
            </a:xfrm>
            <a:prstGeom prst="line">
              <a:avLst/>
            </a:prstGeom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9176" name="Rectangle 2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677" name="AutoShape 25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367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原码的特点</a:t>
            </a:r>
            <a:endParaRPr lang="zh-CN" altLang="en-US" dirty="0"/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优点：简单直观</a:t>
            </a:r>
            <a:endParaRPr lang="zh-CN" altLang="en-US" dirty="0"/>
          </a:p>
          <a:p>
            <a:pPr eaLnBrk="1" hangingPunct="1"/>
            <a:r>
              <a:rPr lang="zh-CN" altLang="en-US" dirty="0"/>
              <a:t>缺点：设计加减法器复杂（</a:t>
            </a:r>
            <a:r>
              <a:rPr lang="zh-CN" altLang="en-US" sz="6000" dirty="0">
                <a:solidFill>
                  <a:srgbClr val="FF0000"/>
                </a:solidFill>
              </a:rPr>
              <a:t>负数或者减法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11469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5714" name="Group 2"/>
          <p:cNvGrpSpPr/>
          <p:nvPr/>
        </p:nvGrpSpPr>
        <p:grpSpPr>
          <a:xfrm>
            <a:off x="9002713" y="3382963"/>
            <a:ext cx="827087" cy="1041399"/>
            <a:chOff x="4711" y="2131"/>
            <a:chExt cx="521" cy="656"/>
          </a:xfrm>
        </p:grpSpPr>
        <p:grpSp>
          <p:nvGrpSpPr>
            <p:cNvPr id="115748" name="Group 3"/>
            <p:cNvGrpSpPr/>
            <p:nvPr/>
          </p:nvGrpSpPr>
          <p:grpSpPr>
            <a:xfrm>
              <a:off x="4711" y="2131"/>
              <a:ext cx="520" cy="656"/>
              <a:chOff x="4711" y="2131"/>
              <a:chExt cx="520" cy="656"/>
            </a:xfrm>
          </p:grpSpPr>
          <p:sp>
            <p:nvSpPr>
              <p:cNvPr id="115750" name="Text Box 4"/>
              <p:cNvSpPr txBox="1"/>
              <p:nvPr/>
            </p:nvSpPr>
            <p:spPr>
              <a:xfrm>
                <a:off x="4711" y="2131"/>
                <a:ext cx="520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- 12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5751" name="Text Box 5"/>
              <p:cNvSpPr txBox="1"/>
              <p:nvPr/>
            </p:nvSpPr>
            <p:spPr>
              <a:xfrm>
                <a:off x="4988" y="2419"/>
                <a:ext cx="24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5749" name="Line 6"/>
            <p:cNvSpPr/>
            <p:nvPr/>
          </p:nvSpPr>
          <p:spPr>
            <a:xfrm>
              <a:off x="4783" y="2448"/>
              <a:ext cx="4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5715" name="Text Box 7"/>
          <p:cNvSpPr txBox="1"/>
          <p:nvPr/>
        </p:nvSpPr>
        <p:spPr>
          <a:xfrm>
            <a:off x="2057400" y="1295400"/>
            <a:ext cx="3048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补的概念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15716" name="Text Box 8"/>
          <p:cNvSpPr txBox="1"/>
          <p:nvPr/>
        </p:nvSpPr>
        <p:spPr>
          <a:xfrm>
            <a:off x="2514600" y="2062163"/>
            <a:ext cx="190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har char="•"/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时钟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717" name="Text Box 9"/>
          <p:cNvSpPr txBox="1"/>
          <p:nvPr/>
        </p:nvSpPr>
        <p:spPr>
          <a:xfrm>
            <a:off x="4572000" y="2057400"/>
            <a:ext cx="1828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逆时针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15718" name="Group 10"/>
          <p:cNvGrpSpPr/>
          <p:nvPr/>
        </p:nvGrpSpPr>
        <p:grpSpPr>
          <a:xfrm>
            <a:off x="6069013" y="2209800"/>
            <a:ext cx="712787" cy="1422401"/>
            <a:chOff x="3264" y="1939"/>
            <a:chExt cx="449" cy="896"/>
          </a:xfrm>
        </p:grpSpPr>
        <p:sp>
          <p:nvSpPr>
            <p:cNvPr id="115744" name="Text Box 11"/>
            <p:cNvSpPr txBox="1"/>
            <p:nvPr/>
          </p:nvSpPr>
          <p:spPr>
            <a:xfrm>
              <a:off x="3264" y="2179"/>
              <a:ext cx="39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- 3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5745" name="Line 12"/>
            <p:cNvSpPr/>
            <p:nvPr/>
          </p:nvSpPr>
          <p:spPr>
            <a:xfrm>
              <a:off x="3264" y="2496"/>
              <a:ext cx="4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5746" name="Text Box 13"/>
            <p:cNvSpPr txBox="1"/>
            <p:nvPr/>
          </p:nvSpPr>
          <p:spPr>
            <a:xfrm>
              <a:off x="3413" y="1939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6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5747" name="Text Box 14"/>
            <p:cNvSpPr txBox="1"/>
            <p:nvPr/>
          </p:nvSpPr>
          <p:spPr>
            <a:xfrm>
              <a:off x="3413" y="2467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3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5719" name="Text Box 15"/>
          <p:cNvSpPr txBox="1"/>
          <p:nvPr/>
        </p:nvSpPr>
        <p:spPr>
          <a:xfrm>
            <a:off x="7515225" y="2057400"/>
            <a:ext cx="18573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顺时针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15720" name="Group 16"/>
          <p:cNvGrpSpPr/>
          <p:nvPr/>
        </p:nvGrpSpPr>
        <p:grpSpPr>
          <a:xfrm>
            <a:off x="9109075" y="2133600"/>
            <a:ext cx="720725" cy="1422401"/>
            <a:chOff x="4778" y="1344"/>
            <a:chExt cx="454" cy="896"/>
          </a:xfrm>
        </p:grpSpPr>
        <p:grpSp>
          <p:nvGrpSpPr>
            <p:cNvPr id="115739" name="Group 17"/>
            <p:cNvGrpSpPr/>
            <p:nvPr/>
          </p:nvGrpSpPr>
          <p:grpSpPr>
            <a:xfrm>
              <a:off x="4778" y="1344"/>
              <a:ext cx="453" cy="896"/>
              <a:chOff x="4778" y="1344"/>
              <a:chExt cx="453" cy="896"/>
            </a:xfrm>
          </p:grpSpPr>
          <p:sp>
            <p:nvSpPr>
              <p:cNvPr id="115741" name="Text Box 18"/>
              <p:cNvSpPr txBox="1"/>
              <p:nvPr/>
            </p:nvSpPr>
            <p:spPr>
              <a:xfrm>
                <a:off x="4778" y="1584"/>
                <a:ext cx="45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+ 9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5742" name="Text Box 19"/>
              <p:cNvSpPr txBox="1"/>
              <p:nvPr/>
            </p:nvSpPr>
            <p:spPr>
              <a:xfrm>
                <a:off x="4924" y="1344"/>
                <a:ext cx="307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 6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5743" name="Text Box 20"/>
              <p:cNvSpPr txBox="1"/>
              <p:nvPr/>
            </p:nvSpPr>
            <p:spPr>
              <a:xfrm>
                <a:off x="4860" y="1872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5740" name="Line 21"/>
            <p:cNvSpPr/>
            <p:nvPr/>
          </p:nvSpPr>
          <p:spPr>
            <a:xfrm>
              <a:off x="4783" y="1901"/>
              <a:ext cx="4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5721" name="Text Box 22"/>
          <p:cNvSpPr txBox="1"/>
          <p:nvPr/>
        </p:nvSpPr>
        <p:spPr>
          <a:xfrm>
            <a:off x="1752600" y="390525"/>
            <a:ext cx="6324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补码表示法（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引入原因</a:t>
            </a:r>
            <a:r>
              <a:rPr lang="zh-CN" altLang="en-US" sz="3600" b="1" dirty="0">
                <a:latin typeface="Times New Roman" panose="02020603050405020304" pitchFamily="18" charset="0"/>
              </a:rPr>
              <a:t>）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15722" name="Group 23"/>
          <p:cNvGrpSpPr/>
          <p:nvPr/>
        </p:nvGrpSpPr>
        <p:grpSpPr>
          <a:xfrm>
            <a:off x="3032125" y="3505200"/>
            <a:ext cx="3586163" cy="522288"/>
            <a:chOff x="950" y="2640"/>
            <a:chExt cx="2259" cy="329"/>
          </a:xfrm>
        </p:grpSpPr>
        <p:sp>
          <p:nvSpPr>
            <p:cNvPr id="115737" name="Text Box 24"/>
            <p:cNvSpPr txBox="1"/>
            <p:nvPr/>
          </p:nvSpPr>
          <p:spPr>
            <a:xfrm>
              <a:off x="950" y="2640"/>
              <a:ext cx="225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可见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3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可用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+ 9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代替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5738" name="Line 25"/>
            <p:cNvSpPr/>
            <p:nvPr/>
          </p:nvSpPr>
          <p:spPr>
            <a:xfrm>
              <a:off x="1536" y="280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5723" name="Group 26"/>
          <p:cNvGrpSpPr/>
          <p:nvPr/>
        </p:nvGrpSpPr>
        <p:grpSpPr>
          <a:xfrm>
            <a:off x="3032125" y="4648200"/>
            <a:ext cx="4192588" cy="522288"/>
            <a:chOff x="950" y="3072"/>
            <a:chExt cx="2641" cy="329"/>
          </a:xfrm>
        </p:grpSpPr>
        <p:sp>
          <p:nvSpPr>
            <p:cNvPr id="115735" name="Text Box 27"/>
            <p:cNvSpPr txBox="1"/>
            <p:nvPr/>
          </p:nvSpPr>
          <p:spPr>
            <a:xfrm>
              <a:off x="950" y="3072"/>
              <a:ext cx="264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记作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3 ≡ + 9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mod 12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5736" name="Line 28"/>
            <p:cNvSpPr/>
            <p:nvPr/>
          </p:nvSpPr>
          <p:spPr>
            <a:xfrm>
              <a:off x="1536" y="3239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5724" name="AutoShape 35"/>
          <p:cNvSpPr/>
          <p:nvPr/>
        </p:nvSpPr>
        <p:spPr>
          <a:xfrm>
            <a:off x="7924800" y="4760913"/>
            <a:ext cx="1524000" cy="1055111"/>
          </a:xfrm>
          <a:prstGeom prst="wedgeRoundRectCallout">
            <a:avLst>
              <a:gd name="adj1" fmla="val 43231"/>
              <a:gd name="adj2" fmla="val -147417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时钟以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latin typeface="Times New Roman" panose="02020603050405020304" pitchFamily="18" charset="0"/>
              </a:rPr>
              <a:t>为模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15725" name="Group 36"/>
          <p:cNvGrpSpPr/>
          <p:nvPr/>
        </p:nvGrpSpPr>
        <p:grpSpPr>
          <a:xfrm>
            <a:off x="6673850" y="3519488"/>
            <a:ext cx="2470150" cy="522287"/>
            <a:chOff x="3244" y="2217"/>
            <a:chExt cx="1556" cy="329"/>
          </a:xfrm>
        </p:grpSpPr>
        <p:sp>
          <p:nvSpPr>
            <p:cNvPr id="115733" name="Text Box 37"/>
            <p:cNvSpPr txBox="1"/>
            <p:nvPr/>
          </p:nvSpPr>
          <p:spPr>
            <a:xfrm>
              <a:off x="3244" y="2217"/>
              <a:ext cx="155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减法       加法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5734" name="Line 38"/>
            <p:cNvSpPr/>
            <p:nvPr/>
          </p:nvSpPr>
          <p:spPr>
            <a:xfrm>
              <a:off x="3792" y="2400"/>
              <a:ext cx="33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51239" name="Rectangle 3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7" name="AutoShape 40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15728" name="Group 41"/>
          <p:cNvGrpSpPr/>
          <p:nvPr/>
        </p:nvGrpSpPr>
        <p:grpSpPr>
          <a:xfrm>
            <a:off x="3048000" y="4029075"/>
            <a:ext cx="5486400" cy="522288"/>
            <a:chOff x="960" y="2538"/>
            <a:chExt cx="3456" cy="329"/>
          </a:xfrm>
        </p:grpSpPr>
        <p:sp>
          <p:nvSpPr>
            <p:cNvPr id="115731" name="Text Box 42"/>
            <p:cNvSpPr txBox="1"/>
            <p:nvPr/>
          </p:nvSpPr>
          <p:spPr>
            <a:xfrm>
              <a:off x="960" y="2538"/>
              <a:ext cx="345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称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+ 9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是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3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以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12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为模的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补数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5732" name="Line 43"/>
            <p:cNvSpPr/>
            <p:nvPr/>
          </p:nvSpPr>
          <p:spPr>
            <a:xfrm>
              <a:off x="1915" y="2704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572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  <p:sp>
        <p:nvSpPr>
          <p:cNvPr id="115730" name="Text Box 7"/>
          <p:cNvSpPr txBox="1"/>
          <p:nvPr/>
        </p:nvSpPr>
        <p:spPr>
          <a:xfrm>
            <a:off x="1879600" y="5707063"/>
            <a:ext cx="8504238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只要模确定了，找到一个与负数等价的正数代替负数，可以将减法变为加法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16738" name="Text Box 2"/>
          <p:cNvSpPr txBox="1"/>
          <p:nvPr/>
        </p:nvSpPr>
        <p:spPr>
          <a:xfrm>
            <a:off x="1620838" y="36513"/>
            <a:ext cx="12115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结论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52227" name="Text Box 3"/>
          <p:cNvSpPr txBox="1"/>
          <p:nvPr/>
        </p:nvSpPr>
        <p:spPr>
          <a:xfrm>
            <a:off x="2663825" y="223838"/>
            <a:ext cx="5821680" cy="169164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正数的补码是该正数本身。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一个负数可用它的正补数来代替，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这个正补数可以用 “模” 加上该负数求得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8" name="Text Box 4"/>
          <p:cNvSpPr txBox="1"/>
          <p:nvPr/>
        </p:nvSpPr>
        <p:spPr>
          <a:xfrm>
            <a:off x="1595438" y="1516063"/>
            <a:ext cx="92249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一个正数和一个负数互为补数时，它们绝对值之和即为 模 数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9" name="Text Box 5"/>
          <p:cNvSpPr txBox="1"/>
          <p:nvPr/>
        </p:nvSpPr>
        <p:spPr>
          <a:xfrm>
            <a:off x="2422525" y="2532063"/>
            <a:ext cx="38179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har char="•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计数器</a:t>
            </a:r>
            <a:r>
              <a:rPr lang="zh-CN" altLang="en-US" sz="2800" b="1" dirty="0">
                <a:latin typeface="Times New Roman" panose="02020603050405020304" pitchFamily="18" charset="0"/>
              </a:rPr>
              <a:t>（模 </a:t>
            </a:r>
            <a:r>
              <a:rPr lang="en-US" altLang="zh-CN" sz="2800" b="1" dirty="0">
                <a:latin typeface="Times New Roman" panose="02020603050405020304" pitchFamily="18" charset="0"/>
              </a:rPr>
              <a:t>16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5105400" y="3398838"/>
            <a:ext cx="1447800" cy="584199"/>
            <a:chOff x="2256" y="2064"/>
            <a:chExt cx="912" cy="368"/>
          </a:xfrm>
        </p:grpSpPr>
        <p:sp>
          <p:nvSpPr>
            <p:cNvPr id="116778" name="Text Box 7"/>
            <p:cNvSpPr txBox="1"/>
            <p:nvPr/>
          </p:nvSpPr>
          <p:spPr>
            <a:xfrm>
              <a:off x="2256" y="2064"/>
              <a:ext cx="80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– 1011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6779" name="Line 8"/>
            <p:cNvSpPr/>
            <p:nvPr/>
          </p:nvSpPr>
          <p:spPr>
            <a:xfrm>
              <a:off x="2261" y="2381"/>
              <a:ext cx="9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2233" name="Text Box 9"/>
          <p:cNvSpPr txBox="1"/>
          <p:nvPr/>
        </p:nvSpPr>
        <p:spPr>
          <a:xfrm>
            <a:off x="5426075" y="3017838"/>
            <a:ext cx="9728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1011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2234" name="Text Box 10"/>
          <p:cNvSpPr txBox="1"/>
          <p:nvPr/>
        </p:nvSpPr>
        <p:spPr>
          <a:xfrm>
            <a:off x="5426075" y="3856038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1"/>
          <p:cNvGrpSpPr/>
          <p:nvPr/>
        </p:nvGrpSpPr>
        <p:grpSpPr>
          <a:xfrm>
            <a:off x="7745413" y="3398838"/>
            <a:ext cx="1474787" cy="584199"/>
            <a:chOff x="3919" y="2064"/>
            <a:chExt cx="929" cy="368"/>
          </a:xfrm>
        </p:grpSpPr>
        <p:sp>
          <p:nvSpPr>
            <p:cNvPr id="116776" name="Text Box 12"/>
            <p:cNvSpPr txBox="1"/>
            <p:nvPr/>
          </p:nvSpPr>
          <p:spPr>
            <a:xfrm>
              <a:off x="3919" y="2064"/>
              <a:ext cx="83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+ 0101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6777" name="Line 13"/>
            <p:cNvSpPr/>
            <p:nvPr/>
          </p:nvSpPr>
          <p:spPr>
            <a:xfrm>
              <a:off x="3941" y="2381"/>
              <a:ext cx="9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2238" name="Text Box 14"/>
          <p:cNvSpPr txBox="1"/>
          <p:nvPr/>
        </p:nvSpPr>
        <p:spPr>
          <a:xfrm>
            <a:off x="7977188" y="3017838"/>
            <a:ext cx="10744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1011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2239" name="Text Box 15"/>
          <p:cNvSpPr txBox="1"/>
          <p:nvPr/>
        </p:nvSpPr>
        <p:spPr>
          <a:xfrm>
            <a:off x="7875588" y="3856038"/>
            <a:ext cx="11988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6"/>
          <p:cNvGrpSpPr/>
          <p:nvPr/>
        </p:nvGrpSpPr>
        <p:grpSpPr>
          <a:xfrm>
            <a:off x="5394325" y="2503488"/>
            <a:ext cx="4302125" cy="584199"/>
            <a:chOff x="2438" y="1500"/>
            <a:chExt cx="2710" cy="368"/>
          </a:xfrm>
        </p:grpSpPr>
        <p:sp>
          <p:nvSpPr>
            <p:cNvPr id="116774" name="Text Box 17"/>
            <p:cNvSpPr txBox="1"/>
            <p:nvPr/>
          </p:nvSpPr>
          <p:spPr>
            <a:xfrm>
              <a:off x="2438" y="1500"/>
              <a:ext cx="271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1011        0000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？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6775" name="Line 18"/>
            <p:cNvSpPr/>
            <p:nvPr/>
          </p:nvSpPr>
          <p:spPr>
            <a:xfrm>
              <a:off x="3024" y="1680"/>
              <a:ext cx="4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" name="Group 19"/>
          <p:cNvGrpSpPr/>
          <p:nvPr/>
        </p:nvGrpSpPr>
        <p:grpSpPr>
          <a:xfrm>
            <a:off x="2646363" y="4541838"/>
            <a:ext cx="4543425" cy="522287"/>
            <a:chOff x="707" y="2784"/>
            <a:chExt cx="2862" cy="329"/>
          </a:xfrm>
        </p:grpSpPr>
        <p:sp>
          <p:nvSpPr>
            <p:cNvPr id="116772" name="Text Box 20"/>
            <p:cNvSpPr txBox="1"/>
            <p:nvPr/>
          </p:nvSpPr>
          <p:spPr>
            <a:xfrm>
              <a:off x="707" y="2784"/>
              <a:ext cx="286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可见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1011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可用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+ 0101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代替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6773" name="Line 21"/>
            <p:cNvSpPr/>
            <p:nvPr/>
          </p:nvSpPr>
          <p:spPr>
            <a:xfrm>
              <a:off x="1248" y="2951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2"/>
          <p:cNvGrpSpPr/>
          <p:nvPr/>
        </p:nvGrpSpPr>
        <p:grpSpPr>
          <a:xfrm>
            <a:off x="2640013" y="5711825"/>
            <a:ext cx="2441575" cy="522288"/>
            <a:chOff x="703" y="3521"/>
            <a:chExt cx="1538" cy="329"/>
          </a:xfrm>
        </p:grpSpPr>
        <p:sp>
          <p:nvSpPr>
            <p:cNvPr id="116770" name="Text Box 23"/>
            <p:cNvSpPr txBox="1"/>
            <p:nvPr/>
          </p:nvSpPr>
          <p:spPr>
            <a:xfrm>
              <a:off x="703" y="3521"/>
              <a:ext cx="153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同理 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011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6771" name="Line 24"/>
            <p:cNvSpPr/>
            <p:nvPr/>
          </p:nvSpPr>
          <p:spPr>
            <a:xfrm>
              <a:off x="1333" y="370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25"/>
          <p:cNvGrpSpPr/>
          <p:nvPr/>
        </p:nvGrpSpPr>
        <p:grpSpPr>
          <a:xfrm>
            <a:off x="3176588" y="6294438"/>
            <a:ext cx="1911350" cy="522287"/>
            <a:chOff x="1041" y="3888"/>
            <a:chExt cx="1204" cy="329"/>
          </a:xfrm>
        </p:grpSpPr>
        <p:sp>
          <p:nvSpPr>
            <p:cNvPr id="116768" name="Text Box 26"/>
            <p:cNvSpPr txBox="1"/>
            <p:nvPr/>
          </p:nvSpPr>
          <p:spPr>
            <a:xfrm>
              <a:off x="1041" y="3888"/>
              <a:ext cx="120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0.1001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6769" name="Line 27"/>
            <p:cNvSpPr/>
            <p:nvPr/>
          </p:nvSpPr>
          <p:spPr>
            <a:xfrm>
              <a:off x="1056" y="4065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28"/>
          <p:cNvGrpSpPr/>
          <p:nvPr/>
        </p:nvGrpSpPr>
        <p:grpSpPr>
          <a:xfrm>
            <a:off x="7924800" y="3932238"/>
            <a:ext cx="1554163" cy="1374775"/>
            <a:chOff x="4368" y="2352"/>
            <a:chExt cx="979" cy="866"/>
          </a:xfrm>
        </p:grpSpPr>
        <p:sp>
          <p:nvSpPr>
            <p:cNvPr id="116766" name="Text Box 29"/>
            <p:cNvSpPr txBox="1"/>
            <p:nvPr/>
          </p:nvSpPr>
          <p:spPr>
            <a:xfrm>
              <a:off x="4464" y="2928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自然去掉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767" name="AutoShape 30"/>
            <p:cNvSpPr/>
            <p:nvPr/>
          </p:nvSpPr>
          <p:spPr>
            <a:xfrm>
              <a:off x="4368" y="2352"/>
              <a:ext cx="144" cy="288"/>
            </a:xfrm>
            <a:prstGeom prst="wedgeRoundRectCallout">
              <a:avLst>
                <a:gd name="adj1" fmla="val 347222"/>
                <a:gd name="adj2" fmla="val 153472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255" name="Rectangle 3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Group 32"/>
          <p:cNvGrpSpPr/>
          <p:nvPr/>
        </p:nvGrpSpPr>
        <p:grpSpPr>
          <a:xfrm>
            <a:off x="2646363" y="5110163"/>
            <a:ext cx="7762875" cy="547687"/>
            <a:chOff x="707" y="3219"/>
            <a:chExt cx="4890" cy="345"/>
          </a:xfrm>
        </p:grpSpPr>
        <p:grpSp>
          <p:nvGrpSpPr>
            <p:cNvPr id="116761" name="Group 33"/>
            <p:cNvGrpSpPr/>
            <p:nvPr/>
          </p:nvGrpSpPr>
          <p:grpSpPr>
            <a:xfrm>
              <a:off x="707" y="3219"/>
              <a:ext cx="1674" cy="329"/>
              <a:chOff x="707" y="3142"/>
              <a:chExt cx="1674" cy="329"/>
            </a:xfrm>
          </p:grpSpPr>
          <p:sp>
            <p:nvSpPr>
              <p:cNvPr id="116764" name="Text Box 34"/>
              <p:cNvSpPr txBox="1"/>
              <p:nvPr/>
            </p:nvSpPr>
            <p:spPr>
              <a:xfrm>
                <a:off x="707" y="3142"/>
                <a:ext cx="167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800" b="1" dirty="0">
                    <a:latin typeface="Times New Roman" panose="02020603050405020304" pitchFamily="18" charset="0"/>
                  </a:rPr>
                  <a:t>记作  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1011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765" name="Line 35"/>
              <p:cNvSpPr/>
              <p:nvPr/>
            </p:nvSpPr>
            <p:spPr>
              <a:xfrm>
                <a:off x="1248" y="3312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6762" name="Text Box 36"/>
            <p:cNvSpPr txBox="1"/>
            <p:nvPr/>
          </p:nvSpPr>
          <p:spPr>
            <a:xfrm>
              <a:off x="2925" y="3235"/>
              <a:ext cx="267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mod 2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4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6763" name="Text Box 37"/>
            <p:cNvSpPr txBox="1"/>
            <p:nvPr/>
          </p:nvSpPr>
          <p:spPr>
            <a:xfrm>
              <a:off x="1796" y="3219"/>
              <a:ext cx="267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≡ + 0101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262" name="Text Box 38"/>
          <p:cNvSpPr txBox="1"/>
          <p:nvPr/>
        </p:nvSpPr>
        <p:spPr>
          <a:xfrm>
            <a:off x="6167438" y="5740400"/>
            <a:ext cx="36655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mod 2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2263" name="Text Box 39"/>
          <p:cNvSpPr txBox="1"/>
          <p:nvPr/>
        </p:nvSpPr>
        <p:spPr>
          <a:xfrm>
            <a:off x="4375150" y="5740400"/>
            <a:ext cx="24415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≡ + 101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2264" name="Text Box 40"/>
          <p:cNvSpPr txBox="1"/>
          <p:nvPr/>
        </p:nvSpPr>
        <p:spPr>
          <a:xfrm>
            <a:off x="6167438" y="6294438"/>
            <a:ext cx="33512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mod 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2265" name="Text Box 41"/>
          <p:cNvSpPr txBox="1"/>
          <p:nvPr/>
        </p:nvSpPr>
        <p:spPr>
          <a:xfrm>
            <a:off x="4375150" y="6294438"/>
            <a:ext cx="1911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≡ + 1.0111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6759" name="AutoShape 4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6760" name="日期占位符 10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  <p:bldP spid="52228" grpId="0"/>
      <p:bldP spid="52229" grpId="0"/>
      <p:bldP spid="52233" grpId="0"/>
      <p:bldP spid="52234" grpId="0"/>
      <p:bldP spid="52238" grpId="0"/>
      <p:bldP spid="52239" grpId="0"/>
      <p:bldP spid="52262" grpId="0"/>
      <p:bldP spid="52263" grpId="0"/>
      <p:bldP spid="52264" grpId="0"/>
      <p:bldP spid="522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2D10A3-9E23-40E7-AA9B-A29EDA7FF604}" type="datetime10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Text Box 3"/>
          <p:cNvSpPr txBox="1"/>
          <p:nvPr/>
        </p:nvSpPr>
        <p:spPr>
          <a:xfrm>
            <a:off x="1676400" y="1447800"/>
            <a:ext cx="9323070" cy="2799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正数的补码是该正数本身。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一个负数可用它的正补数来代替，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这个正补数可以用 “模” 加上该负数求得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400" b="1" dirty="0"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sym typeface="+mn-ea"/>
              </a:rPr>
              <a:t>9</a:t>
            </a:r>
            <a:r>
              <a:rPr lang="zh-CN" altLang="en-US" sz="2400" b="1" dirty="0">
                <a:latin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sym typeface="+mn-ea"/>
              </a:rPr>
              <a:t>=12+</a:t>
            </a:r>
            <a:r>
              <a:rPr lang="zh-CN" altLang="en-US" sz="2400" b="1" dirty="0"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sym typeface="+mn-ea"/>
              </a:rPr>
              <a:t>-3</a:t>
            </a:r>
            <a:r>
              <a:rPr lang="zh-CN" altLang="en-US" sz="2400" b="1" dirty="0">
                <a:latin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</a:pP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一个正数和一个负数互为补数时，它们绝对值之和即为 模 数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-3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的绝对值）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的绝对值）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=12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38" name="Text Box 2"/>
          <p:cNvSpPr txBox="1"/>
          <p:nvPr/>
        </p:nvSpPr>
        <p:spPr>
          <a:xfrm>
            <a:off x="2514283" y="456883"/>
            <a:ext cx="12115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结论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5395913" y="838200"/>
            <a:ext cx="5449888" cy="630238"/>
            <a:chOff x="2439" y="595"/>
            <a:chExt cx="3433" cy="397"/>
          </a:xfrm>
        </p:grpSpPr>
        <p:sp>
          <p:nvSpPr>
            <p:cNvPr id="117827" name="Text Box 3"/>
            <p:cNvSpPr txBox="1"/>
            <p:nvPr/>
          </p:nvSpPr>
          <p:spPr>
            <a:xfrm>
              <a:off x="3744" y="624"/>
              <a:ext cx="212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 +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0101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mod2</a:t>
              </a:r>
              <a:r>
                <a:rPr lang="en-US" altLang="zh-CN" sz="3200" b="1" baseline="40000" dirty="0">
                  <a:latin typeface="Times New Roman" panose="02020603050405020304" pitchFamily="18" charset="0"/>
                </a:rPr>
                <a:t>4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）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28" name="Text Box 4"/>
            <p:cNvSpPr txBox="1"/>
            <p:nvPr/>
          </p:nvSpPr>
          <p:spPr>
            <a:xfrm>
              <a:off x="3307" y="595"/>
              <a:ext cx="26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≡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17829" name="Group 5"/>
            <p:cNvGrpSpPr/>
            <p:nvPr/>
          </p:nvGrpSpPr>
          <p:grpSpPr>
            <a:xfrm>
              <a:off x="2439" y="624"/>
              <a:ext cx="741" cy="368"/>
              <a:chOff x="2439" y="624"/>
              <a:chExt cx="741" cy="368"/>
            </a:xfrm>
          </p:grpSpPr>
          <p:sp>
            <p:nvSpPr>
              <p:cNvPr id="117830" name="Text Box 6"/>
              <p:cNvSpPr txBox="1"/>
              <p:nvPr/>
            </p:nvSpPr>
            <p:spPr>
              <a:xfrm>
                <a:off x="2439" y="624"/>
                <a:ext cx="74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  1011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831" name="Line 7"/>
              <p:cNvSpPr/>
              <p:nvPr/>
            </p:nvSpPr>
            <p:spPr>
              <a:xfrm>
                <a:off x="2496" y="816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53256" name="AutoShape 8"/>
          <p:cNvSpPr/>
          <p:nvPr/>
        </p:nvSpPr>
        <p:spPr>
          <a:xfrm>
            <a:off x="5257800" y="914400"/>
            <a:ext cx="3733800" cy="457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257" name="Text Box 9"/>
          <p:cNvSpPr txBox="1"/>
          <p:nvPr/>
        </p:nvSpPr>
        <p:spPr>
          <a:xfrm>
            <a:off x="8750300" y="884238"/>
            <a:ext cx="209867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mod2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）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65" name="Text Box 10"/>
          <p:cNvSpPr txBox="1"/>
          <p:nvPr/>
        </p:nvSpPr>
        <p:spPr>
          <a:xfrm>
            <a:off x="1752600" y="228600"/>
            <a:ext cx="6858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正数的补数即为其本身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1"/>
          <p:cNvGrpSpPr/>
          <p:nvPr/>
        </p:nvGrpSpPr>
        <p:grpSpPr>
          <a:xfrm>
            <a:off x="5095875" y="1371600"/>
            <a:ext cx="3827463" cy="584201"/>
            <a:chOff x="2250" y="864"/>
            <a:chExt cx="2411" cy="368"/>
          </a:xfrm>
        </p:grpSpPr>
        <p:sp>
          <p:nvSpPr>
            <p:cNvPr id="117825" name="Text Box 12"/>
            <p:cNvSpPr txBox="1"/>
            <p:nvPr/>
          </p:nvSpPr>
          <p:spPr>
            <a:xfrm>
              <a:off x="2250" y="864"/>
              <a:ext cx="96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10000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26" name="Text Box 13"/>
            <p:cNvSpPr txBox="1"/>
            <p:nvPr/>
          </p:nvSpPr>
          <p:spPr>
            <a:xfrm>
              <a:off x="3696" y="864"/>
              <a:ext cx="96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10000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5181600" y="1874838"/>
            <a:ext cx="3725863" cy="0"/>
            <a:chOff x="2304" y="1181"/>
            <a:chExt cx="2347" cy="0"/>
          </a:xfrm>
        </p:grpSpPr>
        <p:sp>
          <p:nvSpPr>
            <p:cNvPr id="117823" name="Line 15"/>
            <p:cNvSpPr/>
            <p:nvPr/>
          </p:nvSpPr>
          <p:spPr>
            <a:xfrm>
              <a:off x="2304" y="1181"/>
              <a:ext cx="9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7824" name="Line 16"/>
            <p:cNvSpPr/>
            <p:nvPr/>
          </p:nvSpPr>
          <p:spPr>
            <a:xfrm>
              <a:off x="3744" y="1181"/>
              <a:ext cx="9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265" name="Text Box 17"/>
          <p:cNvSpPr txBox="1"/>
          <p:nvPr/>
        </p:nvSpPr>
        <p:spPr>
          <a:xfrm>
            <a:off x="2057400" y="914400"/>
            <a:ext cx="411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两个互为补数的数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6" name="Group 18"/>
          <p:cNvGrpSpPr/>
          <p:nvPr/>
        </p:nvGrpSpPr>
        <p:grpSpPr>
          <a:xfrm>
            <a:off x="5299075" y="1828800"/>
            <a:ext cx="3624263" cy="614363"/>
            <a:chOff x="2378" y="1152"/>
            <a:chExt cx="2283" cy="387"/>
          </a:xfrm>
        </p:grpSpPr>
        <p:sp>
          <p:nvSpPr>
            <p:cNvPr id="117820" name="Text Box 19"/>
            <p:cNvSpPr txBox="1"/>
            <p:nvPr/>
          </p:nvSpPr>
          <p:spPr>
            <a:xfrm>
              <a:off x="2378" y="1152"/>
              <a:ext cx="83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+ 0101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21" name="Text Box 20"/>
            <p:cNvSpPr txBox="1"/>
            <p:nvPr/>
          </p:nvSpPr>
          <p:spPr>
            <a:xfrm>
              <a:off x="3696" y="1152"/>
              <a:ext cx="96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+ 10101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22" name="Text Box 21"/>
            <p:cNvSpPr txBox="1"/>
            <p:nvPr/>
          </p:nvSpPr>
          <p:spPr>
            <a:xfrm>
              <a:off x="3307" y="1171"/>
              <a:ext cx="26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≡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3270" name="Text Box 22"/>
          <p:cNvSpPr txBox="1"/>
          <p:nvPr/>
        </p:nvSpPr>
        <p:spPr>
          <a:xfrm>
            <a:off x="2057400" y="1371600"/>
            <a:ext cx="2895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分别加上模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3271" name="Text Box 23"/>
          <p:cNvSpPr txBox="1"/>
          <p:nvPr/>
        </p:nvSpPr>
        <p:spPr>
          <a:xfrm>
            <a:off x="2057400" y="1905000"/>
            <a:ext cx="3505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结果仍互为补数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3272" name="Text Box 24"/>
          <p:cNvSpPr txBox="1"/>
          <p:nvPr/>
        </p:nvSpPr>
        <p:spPr>
          <a:xfrm>
            <a:off x="3227388" y="2392363"/>
            <a:ext cx="341820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∴ + 0101 ≡ + 0101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273" name="Line 25"/>
          <p:cNvSpPr/>
          <p:nvPr/>
        </p:nvSpPr>
        <p:spPr>
          <a:xfrm>
            <a:off x="4953000" y="4267200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3274" name="Freeform 26"/>
          <p:cNvSpPr/>
          <p:nvPr/>
        </p:nvSpPr>
        <p:spPr>
          <a:xfrm>
            <a:off x="4938713" y="4876800"/>
            <a:ext cx="471487" cy="1588"/>
          </a:xfrm>
          <a:custGeom>
            <a:avLst/>
            <a:gdLst>
              <a:gd name="txL" fmla="*/ 0 w 297"/>
              <a:gd name="txT" fmla="*/ 0 h 1"/>
              <a:gd name="txR" fmla="*/ 297 w 297"/>
              <a:gd name="txB" fmla="*/ 1 h 1"/>
            </a:gdLst>
            <a:ahLst/>
            <a:cxnLst>
              <a:cxn ang="0">
                <a:pos x="0" y="0"/>
              </a:cxn>
              <a:cxn ang="0">
                <a:pos x="297" y="0"/>
              </a:cxn>
            </a:cxnLst>
            <a:rect l="txL" t="txT" r="txR" b="txB"/>
            <a:pathLst>
              <a:path w="297" h="1">
                <a:moveTo>
                  <a:pt x="0" y="0"/>
                </a:moveTo>
                <a:lnTo>
                  <a:pt x="297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275" name="Text Box 27"/>
          <p:cNvSpPr txBox="1"/>
          <p:nvPr/>
        </p:nvSpPr>
        <p:spPr>
          <a:xfrm>
            <a:off x="3314700" y="2971800"/>
            <a:ext cx="16338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  + 0101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276" name="Freeform 28"/>
          <p:cNvSpPr/>
          <p:nvPr/>
        </p:nvSpPr>
        <p:spPr>
          <a:xfrm>
            <a:off x="4918075" y="3276600"/>
            <a:ext cx="476250" cy="1588"/>
          </a:xfrm>
          <a:custGeom>
            <a:avLst/>
            <a:gdLst>
              <a:gd name="txL" fmla="*/ 0 w 300"/>
              <a:gd name="txT" fmla="*/ 0 h 1"/>
              <a:gd name="txR" fmla="*/ 300 w 300"/>
              <a:gd name="txB" fmla="*/ 1 h 1"/>
            </a:gdLst>
            <a:ahLst/>
            <a:cxnLst>
              <a:cxn ang="0">
                <a:pos x="0" y="0"/>
              </a:cxn>
              <a:cxn ang="0">
                <a:pos x="300" y="0"/>
              </a:cxn>
            </a:cxnLst>
            <a:rect l="txL" t="txT" r="txR" b="txB"/>
            <a:pathLst>
              <a:path w="300" h="1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277" name="Freeform 29"/>
          <p:cNvSpPr/>
          <p:nvPr/>
        </p:nvSpPr>
        <p:spPr>
          <a:xfrm>
            <a:off x="4495800" y="3505200"/>
            <a:ext cx="914400" cy="304800"/>
          </a:xfrm>
          <a:custGeom>
            <a:avLst/>
            <a:gdLst>
              <a:gd name="txL" fmla="*/ 0 w 576"/>
              <a:gd name="txT" fmla="*/ 0 h 192"/>
              <a:gd name="txR" fmla="*/ 576 w 576"/>
              <a:gd name="txB" fmla="*/ 192 h 192"/>
            </a:gdLst>
            <a:ahLst/>
            <a:cxnLst>
              <a:cxn ang="0">
                <a:pos x="0" y="0"/>
              </a:cxn>
              <a:cxn ang="0">
                <a:pos x="0" y="192"/>
              </a:cxn>
              <a:cxn ang="0">
                <a:pos x="576" y="192"/>
              </a:cxn>
            </a:cxnLst>
            <a:rect l="txL" t="txT" r="txR" b="txB"/>
            <a:pathLst>
              <a:path w="576" h="192">
                <a:moveTo>
                  <a:pt x="0" y="0"/>
                </a:moveTo>
                <a:lnTo>
                  <a:pt x="0" y="192"/>
                </a:lnTo>
                <a:lnTo>
                  <a:pt x="576" y="192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278" name="Text Box 30"/>
          <p:cNvSpPr txBox="1"/>
          <p:nvPr/>
        </p:nvSpPr>
        <p:spPr>
          <a:xfrm>
            <a:off x="3124200" y="5135563"/>
            <a:ext cx="2819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4+1</a:t>
            </a:r>
            <a:r>
              <a:rPr lang="en-US" altLang="zh-CN" sz="3200" b="1" dirty="0">
                <a:latin typeface="Times New Roman" panose="02020603050405020304" pitchFamily="18" charset="0"/>
              </a:rPr>
              <a:t> – 1011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279" name="Text Box 31"/>
          <p:cNvSpPr txBox="1"/>
          <p:nvPr/>
        </p:nvSpPr>
        <p:spPr>
          <a:xfrm>
            <a:off x="5521325" y="5943600"/>
            <a:ext cx="23272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1,0101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280" name="Line 32"/>
          <p:cNvSpPr/>
          <p:nvPr/>
        </p:nvSpPr>
        <p:spPr>
          <a:xfrm>
            <a:off x="5410200" y="6019800"/>
            <a:ext cx="1600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81" name="Text Box 33"/>
          <p:cNvSpPr txBox="1"/>
          <p:nvPr/>
        </p:nvSpPr>
        <p:spPr>
          <a:xfrm>
            <a:off x="7772400" y="5811838"/>
            <a:ext cx="28956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用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逗号 </a:t>
            </a:r>
            <a:r>
              <a:rPr lang="zh-CN" altLang="en-US" sz="2400" b="1" dirty="0">
                <a:latin typeface="Times New Roman" panose="02020603050405020304" pitchFamily="18" charset="0"/>
              </a:rPr>
              <a:t>将符号位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和数值部分隔开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7" name="Group 34"/>
          <p:cNvGrpSpPr/>
          <p:nvPr/>
        </p:nvGrpSpPr>
        <p:grpSpPr>
          <a:xfrm>
            <a:off x="7772400" y="1905000"/>
            <a:ext cx="2316163" cy="1069975"/>
            <a:chOff x="3936" y="1200"/>
            <a:chExt cx="1459" cy="674"/>
          </a:xfrm>
        </p:grpSpPr>
        <p:sp>
          <p:nvSpPr>
            <p:cNvPr id="117818" name="AutoShape 35"/>
            <p:cNvSpPr/>
            <p:nvPr/>
          </p:nvSpPr>
          <p:spPr>
            <a:xfrm>
              <a:off x="3936" y="1200"/>
              <a:ext cx="144" cy="288"/>
            </a:xfrm>
            <a:prstGeom prst="wedgeRoundRectCallout">
              <a:avLst>
                <a:gd name="adj1" fmla="val 634028"/>
                <a:gd name="adj2" fmla="val 94444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endParaRPr lang="zh-CN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19" name="Text Box 36"/>
            <p:cNvSpPr txBox="1"/>
            <p:nvPr/>
          </p:nvSpPr>
          <p:spPr>
            <a:xfrm>
              <a:off x="4896" y="1584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丢掉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37"/>
          <p:cNvGrpSpPr/>
          <p:nvPr/>
        </p:nvGrpSpPr>
        <p:grpSpPr>
          <a:xfrm>
            <a:off x="5616575" y="3448050"/>
            <a:ext cx="1176338" cy="584201"/>
            <a:chOff x="2578" y="2172"/>
            <a:chExt cx="741" cy="368"/>
          </a:xfrm>
        </p:grpSpPr>
        <p:sp>
          <p:nvSpPr>
            <p:cNvPr id="117816" name="Text Box 38"/>
            <p:cNvSpPr txBox="1"/>
            <p:nvPr/>
          </p:nvSpPr>
          <p:spPr>
            <a:xfrm>
              <a:off x="2578" y="2172"/>
              <a:ext cx="74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  1011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17" name="Line 39"/>
            <p:cNvSpPr/>
            <p:nvPr/>
          </p:nvSpPr>
          <p:spPr>
            <a:xfrm>
              <a:off x="2592" y="235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40"/>
          <p:cNvGrpSpPr/>
          <p:nvPr/>
        </p:nvGrpSpPr>
        <p:grpSpPr>
          <a:xfrm>
            <a:off x="3657600" y="3992563"/>
            <a:ext cx="690563" cy="584199"/>
            <a:chOff x="1344" y="2515"/>
            <a:chExt cx="435" cy="368"/>
          </a:xfrm>
        </p:grpSpPr>
        <p:sp>
          <p:nvSpPr>
            <p:cNvPr id="117814" name="Text Box 41"/>
            <p:cNvSpPr txBox="1"/>
            <p:nvPr/>
          </p:nvSpPr>
          <p:spPr>
            <a:xfrm>
              <a:off x="1344" y="2515"/>
              <a:ext cx="43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, 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15" name="AutoShape 42"/>
            <p:cNvSpPr/>
            <p:nvPr/>
          </p:nvSpPr>
          <p:spPr>
            <a:xfrm>
              <a:off x="1344" y="2544"/>
              <a:ext cx="240" cy="288"/>
            </a:xfrm>
            <a:prstGeom prst="flowChartAlternateProcess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43"/>
          <p:cNvGrpSpPr/>
          <p:nvPr/>
        </p:nvGrpSpPr>
        <p:grpSpPr>
          <a:xfrm>
            <a:off x="3657600" y="4572000"/>
            <a:ext cx="588963" cy="584201"/>
            <a:chOff x="1344" y="2880"/>
            <a:chExt cx="371" cy="368"/>
          </a:xfrm>
        </p:grpSpPr>
        <p:sp>
          <p:nvSpPr>
            <p:cNvPr id="117812" name="Text Box 44"/>
            <p:cNvSpPr txBox="1"/>
            <p:nvPr/>
          </p:nvSpPr>
          <p:spPr>
            <a:xfrm>
              <a:off x="1344" y="288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,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13" name="AutoShape 45"/>
            <p:cNvSpPr/>
            <p:nvPr/>
          </p:nvSpPr>
          <p:spPr>
            <a:xfrm>
              <a:off x="1344" y="2928"/>
              <a:ext cx="240" cy="288"/>
            </a:xfrm>
            <a:prstGeom prst="flowChartAlternateProcess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46"/>
          <p:cNvGrpSpPr/>
          <p:nvPr/>
        </p:nvGrpSpPr>
        <p:grpSpPr>
          <a:xfrm>
            <a:off x="3200400" y="3886200"/>
            <a:ext cx="436563" cy="1376363"/>
            <a:chOff x="1056" y="2448"/>
            <a:chExt cx="275" cy="867"/>
          </a:xfrm>
        </p:grpSpPr>
        <p:sp>
          <p:nvSpPr>
            <p:cNvPr id="117810" name="Text Box 47"/>
            <p:cNvSpPr txBox="1"/>
            <p:nvPr/>
          </p:nvSpPr>
          <p:spPr>
            <a:xfrm>
              <a:off x="1056" y="2448"/>
              <a:ext cx="27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4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?</a:t>
              </a:r>
              <a:endParaRPr lang="en-US" altLang="zh-CN" sz="4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7811" name="Text Box 48"/>
            <p:cNvSpPr txBox="1"/>
            <p:nvPr/>
          </p:nvSpPr>
          <p:spPr>
            <a:xfrm>
              <a:off x="1056" y="2870"/>
              <a:ext cx="27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4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?</a:t>
              </a:r>
              <a:endParaRPr lang="en-US" altLang="zh-CN" sz="4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3297" name="Freeform 49"/>
          <p:cNvSpPr/>
          <p:nvPr/>
        </p:nvSpPr>
        <p:spPr>
          <a:xfrm>
            <a:off x="5867400" y="6096000"/>
            <a:ext cx="1828800" cy="609600"/>
          </a:xfrm>
          <a:custGeom>
            <a:avLst/>
            <a:gdLst>
              <a:gd name="txL" fmla="*/ 0 w 1152"/>
              <a:gd name="txT" fmla="*/ 0 h 384"/>
              <a:gd name="txR" fmla="*/ 1152 w 1152"/>
              <a:gd name="txB" fmla="*/ 384 h 384"/>
            </a:gdLst>
            <a:ahLst/>
            <a:cxnLst>
              <a:cxn ang="0">
                <a:pos x="0" y="240"/>
              </a:cxn>
              <a:cxn ang="0">
                <a:pos x="0" y="384"/>
              </a:cxn>
              <a:cxn ang="0">
                <a:pos x="864" y="384"/>
              </a:cxn>
              <a:cxn ang="0">
                <a:pos x="864" y="0"/>
              </a:cxn>
              <a:cxn ang="0">
                <a:pos x="1152" y="0"/>
              </a:cxn>
            </a:cxnLst>
            <a:rect l="txL" t="txT" r="txR" b="txB"/>
            <a:pathLst>
              <a:path w="1152" h="384">
                <a:moveTo>
                  <a:pt x="0" y="240"/>
                </a:moveTo>
                <a:lnTo>
                  <a:pt x="0" y="384"/>
                </a:lnTo>
                <a:lnTo>
                  <a:pt x="864" y="384"/>
                </a:lnTo>
                <a:lnTo>
                  <a:pt x="864" y="0"/>
                </a:lnTo>
                <a:lnTo>
                  <a:pt x="1152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stealth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2" name="Group 50"/>
          <p:cNvGrpSpPr/>
          <p:nvPr/>
        </p:nvGrpSpPr>
        <p:grpSpPr>
          <a:xfrm>
            <a:off x="5665788" y="5505450"/>
            <a:ext cx="1125538" cy="584201"/>
            <a:chOff x="2592" y="3468"/>
            <a:chExt cx="709" cy="368"/>
          </a:xfrm>
        </p:grpSpPr>
        <p:sp>
          <p:nvSpPr>
            <p:cNvPr id="117808" name="Text Box 51"/>
            <p:cNvSpPr txBox="1"/>
            <p:nvPr/>
          </p:nvSpPr>
          <p:spPr>
            <a:xfrm>
              <a:off x="2688" y="3468"/>
              <a:ext cx="61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1011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7809" name="Line 52"/>
            <p:cNvSpPr/>
            <p:nvPr/>
          </p:nvSpPr>
          <p:spPr>
            <a:xfrm>
              <a:off x="2592" y="364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301" name="Text Box 53"/>
          <p:cNvSpPr txBox="1"/>
          <p:nvPr/>
        </p:nvSpPr>
        <p:spPr>
          <a:xfrm>
            <a:off x="6808788" y="2362200"/>
            <a:ext cx="209867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</a:rPr>
              <a:t>mod2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4</a:t>
            </a:r>
            <a:r>
              <a:rPr lang="zh-CN" altLang="en-US" sz="32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3302" name="Text Box 54"/>
          <p:cNvSpPr txBox="1"/>
          <p:nvPr/>
        </p:nvSpPr>
        <p:spPr>
          <a:xfrm>
            <a:off x="2651125" y="2940050"/>
            <a:ext cx="1768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可见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3303" name="Text Box 55"/>
          <p:cNvSpPr txBox="1"/>
          <p:nvPr/>
        </p:nvSpPr>
        <p:spPr>
          <a:xfrm>
            <a:off x="4895850" y="3184525"/>
            <a:ext cx="43688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4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?</a:t>
            </a:r>
            <a:endParaRPr lang="en-US" altLang="zh-CN" sz="4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304" name="Text Box 56"/>
          <p:cNvSpPr txBox="1"/>
          <p:nvPr/>
        </p:nvSpPr>
        <p:spPr>
          <a:xfrm>
            <a:off x="5486400" y="2971800"/>
            <a:ext cx="13290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+ 0101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305" name="Text Box 57"/>
          <p:cNvSpPr txBox="1"/>
          <p:nvPr/>
        </p:nvSpPr>
        <p:spPr>
          <a:xfrm>
            <a:off x="4032250" y="3992563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306" name="Text Box 58"/>
          <p:cNvSpPr txBox="1"/>
          <p:nvPr/>
        </p:nvSpPr>
        <p:spPr>
          <a:xfrm>
            <a:off x="5819775" y="40386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307" name="Line 59"/>
          <p:cNvSpPr/>
          <p:nvPr/>
        </p:nvSpPr>
        <p:spPr>
          <a:xfrm>
            <a:off x="5562600" y="4876800"/>
            <a:ext cx="152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308" name="Text Box 60"/>
          <p:cNvSpPr txBox="1"/>
          <p:nvPr/>
        </p:nvSpPr>
        <p:spPr>
          <a:xfrm>
            <a:off x="5819775" y="4572000"/>
            <a:ext cx="9728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3309" name="Text Box 61"/>
          <p:cNvSpPr txBox="1"/>
          <p:nvPr/>
        </p:nvSpPr>
        <p:spPr>
          <a:xfrm>
            <a:off x="4038600" y="45720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310" name="Freeform 62"/>
          <p:cNvSpPr/>
          <p:nvPr/>
        </p:nvSpPr>
        <p:spPr>
          <a:xfrm>
            <a:off x="3962400" y="3940175"/>
            <a:ext cx="1657350" cy="252413"/>
          </a:xfrm>
          <a:custGeom>
            <a:avLst/>
            <a:gdLst>
              <a:gd name="txL" fmla="*/ 0 w 1044"/>
              <a:gd name="txT" fmla="*/ 0 h 159"/>
              <a:gd name="txR" fmla="*/ 1044 w 1044"/>
              <a:gd name="txB" fmla="*/ 159 h 159"/>
            </a:gdLst>
            <a:ahLst/>
            <a:cxnLst>
              <a:cxn ang="0">
                <a:pos x="0" y="64"/>
              </a:cxn>
              <a:cxn ang="0">
                <a:pos x="0" y="0"/>
              </a:cxn>
              <a:cxn ang="0">
                <a:pos x="1041" y="0"/>
              </a:cxn>
              <a:cxn ang="0">
                <a:pos x="1044" y="159"/>
              </a:cxn>
            </a:cxnLst>
            <a:rect l="txL" t="txT" r="txR" b="txB"/>
            <a:pathLst>
              <a:path w="1044" h="159">
                <a:moveTo>
                  <a:pt x="0" y="64"/>
                </a:moveTo>
                <a:lnTo>
                  <a:pt x="0" y="0"/>
                </a:lnTo>
                <a:lnTo>
                  <a:pt x="1041" y="0"/>
                </a:lnTo>
                <a:lnTo>
                  <a:pt x="1044" y="159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311" name="Text Box 63"/>
          <p:cNvSpPr txBox="1"/>
          <p:nvPr/>
        </p:nvSpPr>
        <p:spPr>
          <a:xfrm>
            <a:off x="5451475" y="4038600"/>
            <a:ext cx="4146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+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312" name="Freeform 64"/>
          <p:cNvSpPr/>
          <p:nvPr/>
        </p:nvSpPr>
        <p:spPr>
          <a:xfrm>
            <a:off x="3886200" y="4983163"/>
            <a:ext cx="1752600" cy="228600"/>
          </a:xfrm>
          <a:custGeom>
            <a:avLst/>
            <a:gdLst>
              <a:gd name="txL" fmla="*/ 0 w 1104"/>
              <a:gd name="txT" fmla="*/ 0 h 192"/>
              <a:gd name="txR" fmla="*/ 1104 w 1104"/>
              <a:gd name="txB" fmla="*/ 192 h 192"/>
            </a:gdLst>
            <a:ahLst/>
            <a:cxnLst>
              <a:cxn ang="0">
                <a:pos x="0" y="96"/>
              </a:cxn>
              <a:cxn ang="0">
                <a:pos x="0" y="192"/>
              </a:cxn>
              <a:cxn ang="0">
                <a:pos x="1104" y="192"/>
              </a:cxn>
              <a:cxn ang="0">
                <a:pos x="1104" y="0"/>
              </a:cxn>
            </a:cxnLst>
            <a:rect l="txL" t="txT" r="txR" b="txB"/>
            <a:pathLst>
              <a:path w="1104" h="192">
                <a:moveTo>
                  <a:pt x="0" y="96"/>
                </a:moveTo>
                <a:lnTo>
                  <a:pt x="0" y="192"/>
                </a:lnTo>
                <a:lnTo>
                  <a:pt x="1104" y="192"/>
                </a:lnTo>
                <a:lnTo>
                  <a:pt x="1104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313" name="Line 65"/>
          <p:cNvSpPr/>
          <p:nvPr/>
        </p:nvSpPr>
        <p:spPr>
          <a:xfrm>
            <a:off x="10134600" y="1447800"/>
            <a:ext cx="0" cy="365760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53314" name="Text Box 66"/>
          <p:cNvSpPr txBox="1"/>
          <p:nvPr/>
        </p:nvSpPr>
        <p:spPr>
          <a:xfrm>
            <a:off x="8355013" y="5135563"/>
            <a:ext cx="238125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mod2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4+1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）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315" name="Rectangle 6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316" name="Text Box 68"/>
          <p:cNvSpPr txBox="1"/>
          <p:nvPr/>
        </p:nvSpPr>
        <p:spPr>
          <a:xfrm>
            <a:off x="5410200" y="5135563"/>
            <a:ext cx="1828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100000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3317" name="Text Box 69"/>
          <p:cNvSpPr txBox="1"/>
          <p:nvPr/>
        </p:nvSpPr>
        <p:spPr>
          <a:xfrm>
            <a:off x="5105400" y="5135563"/>
            <a:ext cx="1676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=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17806" name="AutoShape 70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7807" name="日期占位符 1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2" dur="500"/>
                                        <p:tgtEl>
                                          <p:spTgt spid="5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5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5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5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2" dur="500"/>
                                        <p:tgtEl>
                                          <p:spTgt spid="5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5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5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7" dur="500"/>
                                        <p:tgtEl>
                                          <p:spTgt spid="5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5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5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1" dur="500"/>
                                        <p:tgtEl>
                                          <p:spTgt spid="5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5" dur="500"/>
                                        <p:tgtEl>
                                          <p:spTgt spid="5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4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5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5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8" dur="500"/>
                                        <p:tgtEl>
                                          <p:spTgt spid="5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 bldLvl="0" animBg="1"/>
      <p:bldP spid="53257" grpId="0"/>
      <p:bldP spid="53265" grpId="0"/>
      <p:bldP spid="53270" grpId="0"/>
      <p:bldP spid="53271" grpId="0"/>
      <p:bldP spid="53272" grpId="0"/>
      <p:bldP spid="53274" grpId="0" bldLvl="0" animBg="1"/>
      <p:bldP spid="53275" grpId="0"/>
      <p:bldP spid="53276" grpId="0" bldLvl="0" animBg="1"/>
      <p:bldP spid="53277" grpId="0" bldLvl="0" animBg="1"/>
      <p:bldP spid="53278" grpId="0"/>
      <p:bldP spid="53279" grpId="0"/>
      <p:bldP spid="53281" grpId="0"/>
      <p:bldP spid="53297" grpId="0" bldLvl="0" animBg="1"/>
      <p:bldP spid="53301" grpId="0"/>
      <p:bldP spid="53302" grpId="0"/>
      <p:bldP spid="53303" grpId="0"/>
      <p:bldP spid="53304" grpId="0"/>
      <p:bldP spid="53305" grpId="0"/>
      <p:bldP spid="53306" grpId="0"/>
      <p:bldP spid="53308" grpId="0"/>
      <p:bldP spid="53309" grpId="0"/>
      <p:bldP spid="53310" grpId="0" bldLvl="0" animBg="1"/>
      <p:bldP spid="53311" grpId="0"/>
      <p:bldP spid="53312" grpId="0" bldLvl="0" animBg="1"/>
      <p:bldP spid="53314" grpId="0"/>
      <p:bldP spid="53316" grpId="0"/>
      <p:bldP spid="533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Text Box 2"/>
          <p:cNvSpPr txBox="1"/>
          <p:nvPr/>
        </p:nvSpPr>
        <p:spPr>
          <a:xfrm>
            <a:off x="1905000" y="304800"/>
            <a:ext cx="3581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(3) </a:t>
            </a:r>
            <a:r>
              <a:rPr lang="zh-CN" altLang="en-US" sz="3600" b="1" dirty="0">
                <a:latin typeface="Times New Roman" panose="02020603050405020304" pitchFamily="18" charset="0"/>
              </a:rPr>
              <a:t>补码定义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18787" name="Text Box 3"/>
          <p:cNvSpPr txBox="1"/>
          <p:nvPr/>
        </p:nvSpPr>
        <p:spPr>
          <a:xfrm>
            <a:off x="2514600" y="1028700"/>
            <a:ext cx="1752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整数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788" name="Text Box 4"/>
          <p:cNvSpPr txBox="1"/>
          <p:nvPr/>
        </p:nvSpPr>
        <p:spPr>
          <a:xfrm>
            <a:off x="2554288" y="2971800"/>
            <a:ext cx="19415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为真值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8789" name="Text Box 5"/>
          <p:cNvSpPr txBox="1"/>
          <p:nvPr/>
        </p:nvSpPr>
        <p:spPr>
          <a:xfrm>
            <a:off x="5257800" y="2971800"/>
            <a:ext cx="3048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为整数的位数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8790" name="Group 6"/>
          <p:cNvGrpSpPr/>
          <p:nvPr/>
        </p:nvGrpSpPr>
        <p:grpSpPr>
          <a:xfrm>
            <a:off x="2514600" y="1447800"/>
            <a:ext cx="7272338" cy="1314450"/>
            <a:chOff x="624" y="912"/>
            <a:chExt cx="4581" cy="828"/>
          </a:xfrm>
        </p:grpSpPr>
        <p:sp>
          <p:nvSpPr>
            <p:cNvPr id="118812" name="Text Box 7"/>
            <p:cNvSpPr txBox="1"/>
            <p:nvPr/>
          </p:nvSpPr>
          <p:spPr>
            <a:xfrm>
              <a:off x="624" y="1152"/>
              <a:ext cx="7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8813" name="Text Box 8"/>
            <p:cNvSpPr txBox="1"/>
            <p:nvPr/>
          </p:nvSpPr>
          <p:spPr>
            <a:xfrm>
              <a:off x="1567" y="912"/>
              <a:ext cx="270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 2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＞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8814" name="Text Box 9"/>
            <p:cNvSpPr txBox="1"/>
            <p:nvPr/>
          </p:nvSpPr>
          <p:spPr>
            <a:xfrm>
              <a:off x="1577" y="1411"/>
              <a:ext cx="362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+1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+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＞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2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mod 2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+1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8815" name="AutoShape 10"/>
            <p:cNvSpPr/>
            <p:nvPr/>
          </p:nvSpPr>
          <p:spPr>
            <a:xfrm>
              <a:off x="1392" y="1026"/>
              <a:ext cx="144" cy="616"/>
            </a:xfrm>
            <a:prstGeom prst="leftBrace">
              <a:avLst>
                <a:gd name="adj1" fmla="val 35311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8816" name="Line 11"/>
            <p:cNvSpPr/>
            <p:nvPr/>
          </p:nvSpPr>
          <p:spPr>
            <a:xfrm>
              <a:off x="3663" y="1584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8791" name="Text Box 12"/>
          <p:cNvSpPr txBox="1"/>
          <p:nvPr/>
        </p:nvSpPr>
        <p:spPr>
          <a:xfrm>
            <a:off x="2582863" y="3733800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18792" name="Text Box 13"/>
          <p:cNvSpPr txBox="1"/>
          <p:nvPr/>
        </p:nvSpPr>
        <p:spPr>
          <a:xfrm>
            <a:off x="3886200" y="3733800"/>
            <a:ext cx="16548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+1010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18793" name="Group 14"/>
          <p:cNvGrpSpPr/>
          <p:nvPr/>
        </p:nvGrpSpPr>
        <p:grpSpPr>
          <a:xfrm>
            <a:off x="6299200" y="4471988"/>
            <a:ext cx="3857625" cy="522287"/>
            <a:chOff x="3008" y="2913"/>
            <a:chExt cx="2430" cy="329"/>
          </a:xfrm>
        </p:grpSpPr>
        <p:sp>
          <p:nvSpPr>
            <p:cNvPr id="118810" name="Text Box 15"/>
            <p:cNvSpPr txBox="1"/>
            <p:nvPr/>
          </p:nvSpPr>
          <p:spPr>
            <a:xfrm>
              <a:off x="3008" y="2913"/>
              <a:ext cx="243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7+1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+(   1011000 )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8811" name="Line 16"/>
            <p:cNvSpPr/>
            <p:nvPr/>
          </p:nvSpPr>
          <p:spPr>
            <a:xfrm>
              <a:off x="4368" y="3083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8794" name="Text Box 17"/>
          <p:cNvSpPr txBox="1"/>
          <p:nvPr/>
        </p:nvSpPr>
        <p:spPr>
          <a:xfrm>
            <a:off x="7070725" y="4876800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5" name="Text Box 18"/>
          <p:cNvSpPr txBox="1"/>
          <p:nvPr/>
        </p:nvSpPr>
        <p:spPr>
          <a:xfrm>
            <a:off x="3429000" y="4495800"/>
            <a:ext cx="3098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0,1010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18796" name="Group 19"/>
          <p:cNvGrpSpPr/>
          <p:nvPr/>
        </p:nvGrpSpPr>
        <p:grpSpPr>
          <a:xfrm>
            <a:off x="6802438" y="3733800"/>
            <a:ext cx="2143125" cy="522288"/>
            <a:chOff x="1228" y="2913"/>
            <a:chExt cx="1350" cy="329"/>
          </a:xfrm>
        </p:grpSpPr>
        <p:sp>
          <p:nvSpPr>
            <p:cNvPr id="118808" name="Line 20"/>
            <p:cNvSpPr/>
            <p:nvPr/>
          </p:nvSpPr>
          <p:spPr>
            <a:xfrm>
              <a:off x="1639" y="3083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8809" name="Text Box 21"/>
            <p:cNvSpPr txBox="1"/>
            <p:nvPr/>
          </p:nvSpPr>
          <p:spPr>
            <a:xfrm>
              <a:off x="1228" y="2913"/>
              <a:ext cx="135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  1011000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8797" name="Text Box 22"/>
          <p:cNvSpPr txBox="1"/>
          <p:nvPr/>
        </p:nvSpPr>
        <p:spPr>
          <a:xfrm>
            <a:off x="7448550" y="5791200"/>
            <a:ext cx="1694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1,0101000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8" name="Freeform 23"/>
          <p:cNvSpPr/>
          <p:nvPr/>
        </p:nvSpPr>
        <p:spPr>
          <a:xfrm>
            <a:off x="5735638" y="6237288"/>
            <a:ext cx="2036762" cy="468312"/>
          </a:xfrm>
          <a:custGeom>
            <a:avLst/>
            <a:gdLst>
              <a:gd name="txL" fmla="*/ 0 w 1314"/>
              <a:gd name="txT" fmla="*/ 0 h 300"/>
              <a:gd name="txR" fmla="*/ 1314 w 1314"/>
              <a:gd name="txB" fmla="*/ 300 h 300"/>
            </a:gdLst>
            <a:ahLst/>
            <a:cxnLst>
              <a:cxn ang="0">
                <a:pos x="0" y="0"/>
              </a:cxn>
              <a:cxn ang="0">
                <a:pos x="156" y="3"/>
              </a:cxn>
              <a:cxn ang="0">
                <a:pos x="157" y="300"/>
              </a:cxn>
              <a:cxn ang="0">
                <a:pos x="1314" y="300"/>
              </a:cxn>
              <a:cxn ang="0">
                <a:pos x="1314" y="48"/>
              </a:cxn>
            </a:cxnLst>
            <a:rect l="txL" t="txT" r="txR" b="txB"/>
            <a:pathLst>
              <a:path w="1314" h="300">
                <a:moveTo>
                  <a:pt x="0" y="0"/>
                </a:moveTo>
                <a:lnTo>
                  <a:pt x="156" y="3"/>
                </a:lnTo>
                <a:lnTo>
                  <a:pt x="157" y="300"/>
                </a:lnTo>
                <a:lnTo>
                  <a:pt x="1314" y="300"/>
                </a:lnTo>
                <a:lnTo>
                  <a:pt x="1314" y="4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8799" name="Text Box 24"/>
          <p:cNvSpPr txBox="1"/>
          <p:nvPr/>
        </p:nvSpPr>
        <p:spPr>
          <a:xfrm>
            <a:off x="3448050" y="5583238"/>
            <a:ext cx="2468880" cy="8299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用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逗号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将符号位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和数值部分隔开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8800" name="Line 25"/>
          <p:cNvSpPr/>
          <p:nvPr/>
        </p:nvSpPr>
        <p:spPr>
          <a:xfrm flipV="1">
            <a:off x="4800600" y="5029200"/>
            <a:ext cx="0" cy="60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4298" name="Rectangle 2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802" name="Line 27"/>
          <p:cNvSpPr/>
          <p:nvPr/>
        </p:nvSpPr>
        <p:spPr>
          <a:xfrm>
            <a:off x="6477000" y="5791200"/>
            <a:ext cx="3429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3" name="Text Box 28"/>
          <p:cNvSpPr txBox="1"/>
          <p:nvPr/>
        </p:nvSpPr>
        <p:spPr>
          <a:xfrm>
            <a:off x="7715250" y="5257800"/>
            <a:ext cx="14077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1011000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804" name="Line 29"/>
          <p:cNvSpPr/>
          <p:nvPr/>
        </p:nvSpPr>
        <p:spPr>
          <a:xfrm>
            <a:off x="7175500" y="5502275"/>
            <a:ext cx="152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5" name="Text Box 30"/>
          <p:cNvSpPr txBox="1"/>
          <p:nvPr/>
        </p:nvSpPr>
        <p:spPr>
          <a:xfrm>
            <a:off x="7335838" y="4876800"/>
            <a:ext cx="23050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100000000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806" name="AutoShape 31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880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Text Box 2"/>
          <p:cNvSpPr txBox="1"/>
          <p:nvPr/>
        </p:nvSpPr>
        <p:spPr>
          <a:xfrm>
            <a:off x="2057400" y="428625"/>
            <a:ext cx="1828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小数</a:t>
            </a:r>
            <a:endParaRPr lang="zh-CN" altLang="en-US" sz="3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1" name="Text Box 3"/>
          <p:cNvSpPr txBox="1"/>
          <p:nvPr/>
        </p:nvSpPr>
        <p:spPr>
          <a:xfrm>
            <a:off x="3049588" y="2590800"/>
            <a:ext cx="21320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为真值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19812" name="Text Box 4"/>
          <p:cNvSpPr txBox="1"/>
          <p:nvPr/>
        </p:nvSpPr>
        <p:spPr>
          <a:xfrm>
            <a:off x="3625850" y="3276600"/>
            <a:ext cx="19710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+ 0.1110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19813" name="Group 5"/>
          <p:cNvGrpSpPr/>
          <p:nvPr/>
        </p:nvGrpSpPr>
        <p:grpSpPr>
          <a:xfrm>
            <a:off x="2970213" y="1095375"/>
            <a:ext cx="7697787" cy="1300163"/>
            <a:chOff x="911" y="690"/>
            <a:chExt cx="4849" cy="819"/>
          </a:xfrm>
        </p:grpSpPr>
        <p:sp>
          <p:nvSpPr>
            <p:cNvPr id="119837" name="Text Box 6"/>
            <p:cNvSpPr txBox="1"/>
            <p:nvPr/>
          </p:nvSpPr>
          <p:spPr>
            <a:xfrm>
              <a:off x="911" y="930"/>
              <a:ext cx="83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9838" name="Text Box 7"/>
            <p:cNvSpPr txBox="1"/>
            <p:nvPr/>
          </p:nvSpPr>
          <p:spPr>
            <a:xfrm>
              <a:off x="1854" y="690"/>
              <a:ext cx="275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       1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0</a:t>
              </a:r>
              <a:endPara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839" name="Text Box 8"/>
            <p:cNvSpPr txBox="1"/>
            <p:nvPr/>
          </p:nvSpPr>
          <p:spPr>
            <a:xfrm>
              <a:off x="1864" y="1141"/>
              <a:ext cx="389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2 +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1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mod 2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）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9840" name="AutoShape 9"/>
            <p:cNvSpPr/>
            <p:nvPr/>
          </p:nvSpPr>
          <p:spPr>
            <a:xfrm>
              <a:off x="1720" y="864"/>
              <a:ext cx="104" cy="528"/>
            </a:xfrm>
            <a:prstGeom prst="leftBrace">
              <a:avLst>
                <a:gd name="adj1" fmla="val 41908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9841" name="Line 10"/>
            <p:cNvSpPr/>
            <p:nvPr/>
          </p:nvSpPr>
          <p:spPr>
            <a:xfrm>
              <a:off x="3744" y="1344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9814" name="Text Box 11"/>
          <p:cNvSpPr txBox="1"/>
          <p:nvPr/>
        </p:nvSpPr>
        <p:spPr>
          <a:xfrm>
            <a:off x="2438400" y="3251200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19815" name="Text Box 12"/>
          <p:cNvSpPr txBox="1"/>
          <p:nvPr/>
        </p:nvSpPr>
        <p:spPr>
          <a:xfrm>
            <a:off x="3124200" y="3976688"/>
            <a:ext cx="3276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0.1110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19816" name="Group 13"/>
          <p:cNvGrpSpPr/>
          <p:nvPr/>
        </p:nvGrpSpPr>
        <p:grpSpPr>
          <a:xfrm>
            <a:off x="6559550" y="3276600"/>
            <a:ext cx="2409825" cy="522288"/>
            <a:chOff x="1056" y="2505"/>
            <a:chExt cx="1518" cy="329"/>
          </a:xfrm>
        </p:grpSpPr>
        <p:sp>
          <p:nvSpPr>
            <p:cNvPr id="119835" name="Text Box 14"/>
            <p:cNvSpPr txBox="1"/>
            <p:nvPr/>
          </p:nvSpPr>
          <p:spPr>
            <a:xfrm>
              <a:off x="1056" y="2505"/>
              <a:ext cx="151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  0.1100000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9836" name="Line 15"/>
            <p:cNvSpPr/>
            <p:nvPr/>
          </p:nvSpPr>
          <p:spPr>
            <a:xfrm>
              <a:off x="1440" y="268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9817" name="Text Box 16"/>
          <p:cNvSpPr txBox="1"/>
          <p:nvPr/>
        </p:nvSpPr>
        <p:spPr>
          <a:xfrm>
            <a:off x="7327900" y="5410200"/>
            <a:ext cx="22240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1.0100000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19818" name="Group 17"/>
          <p:cNvGrpSpPr/>
          <p:nvPr/>
        </p:nvGrpSpPr>
        <p:grpSpPr>
          <a:xfrm>
            <a:off x="6096000" y="3976688"/>
            <a:ext cx="4176713" cy="522287"/>
            <a:chOff x="2880" y="2505"/>
            <a:chExt cx="2631" cy="329"/>
          </a:xfrm>
        </p:grpSpPr>
        <p:sp>
          <p:nvSpPr>
            <p:cNvPr id="119833" name="Text Box 18"/>
            <p:cNvSpPr txBox="1"/>
            <p:nvPr/>
          </p:nvSpPr>
          <p:spPr>
            <a:xfrm>
              <a:off x="2880" y="2505"/>
              <a:ext cx="263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2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   0.1100000 )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9834" name="Line 19"/>
            <p:cNvSpPr/>
            <p:nvPr/>
          </p:nvSpPr>
          <p:spPr>
            <a:xfrm>
              <a:off x="4009" y="268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9819" name="Text Box 20"/>
          <p:cNvSpPr txBox="1"/>
          <p:nvPr/>
        </p:nvSpPr>
        <p:spPr>
          <a:xfrm>
            <a:off x="6858000" y="4471988"/>
            <a:ext cx="8937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9820" name="Freeform 21"/>
          <p:cNvSpPr/>
          <p:nvPr/>
        </p:nvSpPr>
        <p:spPr>
          <a:xfrm>
            <a:off x="5838825" y="5876925"/>
            <a:ext cx="1803400" cy="447675"/>
          </a:xfrm>
          <a:custGeom>
            <a:avLst/>
            <a:gdLst>
              <a:gd name="txL" fmla="*/ 0 w 1363"/>
              <a:gd name="txT" fmla="*/ 0 h 282"/>
              <a:gd name="txR" fmla="*/ 1363 w 1363"/>
              <a:gd name="txB" fmla="*/ 282 h 282"/>
            </a:gdLst>
            <a:ahLst/>
            <a:cxnLst>
              <a:cxn ang="0">
                <a:pos x="1362" y="0"/>
              </a:cxn>
              <a:cxn ang="0">
                <a:pos x="1363" y="282"/>
              </a:cxn>
              <a:cxn ang="0">
                <a:pos x="0" y="282"/>
              </a:cxn>
            </a:cxnLst>
            <a:rect l="txL" t="txT" r="txR" b="txB"/>
            <a:pathLst>
              <a:path w="1363" h="282">
                <a:moveTo>
                  <a:pt x="1362" y="0"/>
                </a:moveTo>
                <a:lnTo>
                  <a:pt x="1363" y="282"/>
                </a:lnTo>
                <a:lnTo>
                  <a:pt x="0" y="28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stealth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19821" name="Group 22"/>
          <p:cNvGrpSpPr/>
          <p:nvPr/>
        </p:nvGrpSpPr>
        <p:grpSpPr>
          <a:xfrm>
            <a:off x="3290888" y="5583238"/>
            <a:ext cx="2773363" cy="973137"/>
            <a:chOff x="1104" y="3517"/>
            <a:chExt cx="1747" cy="613"/>
          </a:xfrm>
        </p:grpSpPr>
        <p:sp>
          <p:nvSpPr>
            <p:cNvPr id="119831" name="Text Box 23"/>
            <p:cNvSpPr txBox="1"/>
            <p:nvPr/>
          </p:nvSpPr>
          <p:spPr>
            <a:xfrm>
              <a:off x="1104" y="3517"/>
              <a:ext cx="174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用 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小数点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将符号位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9832" name="Text Box 24"/>
            <p:cNvSpPr txBox="1"/>
            <p:nvPr/>
          </p:nvSpPr>
          <p:spPr>
            <a:xfrm>
              <a:off x="1104" y="3840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和数值部分隔开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9822" name="Freeform 25"/>
          <p:cNvSpPr/>
          <p:nvPr/>
        </p:nvSpPr>
        <p:spPr>
          <a:xfrm>
            <a:off x="4481513" y="4452938"/>
            <a:ext cx="1587" cy="1138237"/>
          </a:xfrm>
          <a:custGeom>
            <a:avLst/>
            <a:gdLst>
              <a:gd name="txL" fmla="*/ 0 w 1"/>
              <a:gd name="txT" fmla="*/ 0 h 717"/>
              <a:gd name="txR" fmla="*/ 1 w 1"/>
              <a:gd name="txB" fmla="*/ 717 h 717"/>
            </a:gdLst>
            <a:ahLst/>
            <a:cxnLst>
              <a:cxn ang="0">
                <a:pos x="0" y="717"/>
              </a:cxn>
              <a:cxn ang="0">
                <a:pos x="0" y="0"/>
              </a:cxn>
            </a:cxnLst>
            <a:rect l="txL" t="txT" r="txR" b="txB"/>
            <a:pathLst>
              <a:path w="1" h="717">
                <a:moveTo>
                  <a:pt x="0" y="717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5322" name="Rectangle 2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9824" name="Group 27"/>
          <p:cNvGrpSpPr/>
          <p:nvPr/>
        </p:nvGrpSpPr>
        <p:grpSpPr>
          <a:xfrm>
            <a:off x="6629400" y="4471988"/>
            <a:ext cx="3211513" cy="1017587"/>
            <a:chOff x="3216" y="2817"/>
            <a:chExt cx="2023" cy="641"/>
          </a:xfrm>
        </p:grpSpPr>
        <p:sp>
          <p:nvSpPr>
            <p:cNvPr id="119827" name="Text Box 28"/>
            <p:cNvSpPr txBox="1"/>
            <p:nvPr/>
          </p:nvSpPr>
          <p:spPr>
            <a:xfrm>
              <a:off x="3656" y="3129"/>
              <a:ext cx="149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0.1100000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9828" name="Line 29"/>
            <p:cNvSpPr/>
            <p:nvPr/>
          </p:nvSpPr>
          <p:spPr>
            <a:xfrm>
              <a:off x="3424" y="329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9829" name="Line 30"/>
            <p:cNvSpPr/>
            <p:nvPr/>
          </p:nvSpPr>
          <p:spPr>
            <a:xfrm>
              <a:off x="3216" y="3456"/>
              <a:ext cx="16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9830" name="Text Box 31"/>
            <p:cNvSpPr txBox="1"/>
            <p:nvPr/>
          </p:nvSpPr>
          <p:spPr>
            <a:xfrm>
              <a:off x="3545" y="2817"/>
              <a:ext cx="169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10.0000000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9825" name="AutoShape 3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982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Text Box 2"/>
          <p:cNvSpPr txBox="1"/>
          <p:nvPr/>
        </p:nvSpPr>
        <p:spPr>
          <a:xfrm>
            <a:off x="1752600" y="273050"/>
            <a:ext cx="52736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(4) </a:t>
            </a:r>
            <a:r>
              <a:rPr lang="zh-CN" altLang="en-US" sz="3600" b="1" dirty="0">
                <a:latin typeface="Times New Roman" panose="02020603050405020304" pitchFamily="18" charset="0"/>
              </a:rPr>
              <a:t>求补码的快捷方式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56323" name="Text Box 3"/>
          <p:cNvSpPr txBox="1"/>
          <p:nvPr/>
        </p:nvSpPr>
        <p:spPr>
          <a:xfrm>
            <a:off x="3933825" y="2247900"/>
            <a:ext cx="17354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100000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6324" name="Text Box 4"/>
          <p:cNvSpPr txBox="1"/>
          <p:nvPr/>
        </p:nvSpPr>
        <p:spPr>
          <a:xfrm>
            <a:off x="3933825" y="3276600"/>
            <a:ext cx="17125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 1,0110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6325" name="Line 5"/>
          <p:cNvSpPr/>
          <p:nvPr/>
        </p:nvSpPr>
        <p:spPr>
          <a:xfrm>
            <a:off x="3765550" y="3257550"/>
            <a:ext cx="2133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26" name="Text Box 6"/>
          <p:cNvSpPr txBox="1"/>
          <p:nvPr/>
        </p:nvSpPr>
        <p:spPr>
          <a:xfrm>
            <a:off x="6902450" y="3276600"/>
            <a:ext cx="18370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10101 + 1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6327" name="Text Box 7"/>
          <p:cNvSpPr txBox="1"/>
          <p:nvPr/>
        </p:nvSpPr>
        <p:spPr>
          <a:xfrm>
            <a:off x="6569075" y="3763963"/>
            <a:ext cx="16109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1,0110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6328" name="Line 8"/>
          <p:cNvSpPr/>
          <p:nvPr/>
        </p:nvSpPr>
        <p:spPr>
          <a:xfrm>
            <a:off x="6492875" y="3257550"/>
            <a:ext cx="2286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29" name="Text Box 9"/>
          <p:cNvSpPr txBox="1"/>
          <p:nvPr/>
        </p:nvSpPr>
        <p:spPr>
          <a:xfrm>
            <a:off x="2598738" y="4297363"/>
            <a:ext cx="3794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又</a:t>
            </a:r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 1,1010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2700338" y="1752600"/>
            <a:ext cx="3565525" cy="584201"/>
            <a:chOff x="912" y="1104"/>
            <a:chExt cx="2246" cy="368"/>
          </a:xfrm>
        </p:grpSpPr>
        <p:sp>
          <p:nvSpPr>
            <p:cNvPr id="120867" name="Text Box 11"/>
            <p:cNvSpPr txBox="1"/>
            <p:nvPr/>
          </p:nvSpPr>
          <p:spPr>
            <a:xfrm>
              <a:off x="912" y="1104"/>
              <a:ext cx="224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则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2</a:t>
              </a:r>
              <a:r>
                <a:rPr lang="en-US" altLang="zh-CN" sz="3200" b="1" baseline="40000" dirty="0">
                  <a:latin typeface="Times New Roman" panose="02020603050405020304" pitchFamily="18" charset="0"/>
                </a:rPr>
                <a:t>4+1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1010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0868" name="Line 12"/>
            <p:cNvSpPr/>
            <p:nvPr/>
          </p:nvSpPr>
          <p:spPr>
            <a:xfrm>
              <a:off x="2448" y="1296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3"/>
          <p:cNvGrpSpPr/>
          <p:nvPr/>
        </p:nvGrpSpPr>
        <p:grpSpPr>
          <a:xfrm>
            <a:off x="6569075" y="1752600"/>
            <a:ext cx="3298825" cy="584201"/>
            <a:chOff x="3360" y="1104"/>
            <a:chExt cx="2078" cy="368"/>
          </a:xfrm>
        </p:grpSpPr>
        <p:sp>
          <p:nvSpPr>
            <p:cNvPr id="120865" name="Text Box 14"/>
            <p:cNvSpPr txBox="1"/>
            <p:nvPr/>
          </p:nvSpPr>
          <p:spPr>
            <a:xfrm>
              <a:off x="3360" y="1104"/>
              <a:ext cx="207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= 11111 + 1    1010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0866" name="Line 15"/>
            <p:cNvSpPr/>
            <p:nvPr/>
          </p:nvSpPr>
          <p:spPr>
            <a:xfrm>
              <a:off x="4752" y="1296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16"/>
          <p:cNvGrpSpPr/>
          <p:nvPr/>
        </p:nvGrpSpPr>
        <p:grpSpPr>
          <a:xfrm>
            <a:off x="6569075" y="2247900"/>
            <a:ext cx="2819400" cy="1079501"/>
            <a:chOff x="3360" y="1416"/>
            <a:chExt cx="1776" cy="680"/>
          </a:xfrm>
        </p:grpSpPr>
        <p:sp>
          <p:nvSpPr>
            <p:cNvPr id="120861" name="Text Box 17"/>
            <p:cNvSpPr txBox="1"/>
            <p:nvPr/>
          </p:nvSpPr>
          <p:spPr>
            <a:xfrm>
              <a:off x="3360" y="1416"/>
              <a:ext cx="177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= 11111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20862" name="Group 18"/>
            <p:cNvGrpSpPr/>
            <p:nvPr/>
          </p:nvGrpSpPr>
          <p:grpSpPr>
            <a:xfrm>
              <a:off x="3600" y="1728"/>
              <a:ext cx="719" cy="368"/>
              <a:chOff x="3600" y="1728"/>
              <a:chExt cx="719" cy="368"/>
            </a:xfrm>
          </p:grpSpPr>
          <p:sp>
            <p:nvSpPr>
              <p:cNvPr id="120863" name="Text Box 19"/>
              <p:cNvSpPr txBox="1"/>
              <p:nvPr/>
            </p:nvSpPr>
            <p:spPr>
              <a:xfrm>
                <a:off x="3692" y="1728"/>
                <a:ext cx="627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1010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864" name="Line 20"/>
              <p:cNvSpPr/>
              <p:nvPr/>
            </p:nvSpPr>
            <p:spPr>
              <a:xfrm>
                <a:off x="3600" y="1920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" name="Group 21"/>
          <p:cNvGrpSpPr/>
          <p:nvPr/>
        </p:nvGrpSpPr>
        <p:grpSpPr>
          <a:xfrm>
            <a:off x="4511675" y="2743200"/>
            <a:ext cx="1141413" cy="584201"/>
            <a:chOff x="1882" y="1728"/>
            <a:chExt cx="719" cy="368"/>
          </a:xfrm>
        </p:grpSpPr>
        <p:sp>
          <p:nvSpPr>
            <p:cNvPr id="120859" name="Text Box 22"/>
            <p:cNvSpPr txBox="1"/>
            <p:nvPr/>
          </p:nvSpPr>
          <p:spPr>
            <a:xfrm>
              <a:off x="1974" y="1728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1010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0860" name="Line 23"/>
            <p:cNvSpPr/>
            <p:nvPr/>
          </p:nvSpPr>
          <p:spPr>
            <a:xfrm>
              <a:off x="1882" y="192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24"/>
          <p:cNvGrpSpPr/>
          <p:nvPr/>
        </p:nvGrpSpPr>
        <p:grpSpPr>
          <a:xfrm>
            <a:off x="4402138" y="3352800"/>
            <a:ext cx="3690937" cy="1458913"/>
            <a:chOff x="1813" y="2112"/>
            <a:chExt cx="2325" cy="919"/>
          </a:xfrm>
        </p:grpSpPr>
        <p:sp>
          <p:nvSpPr>
            <p:cNvPr id="120857" name="AutoShape 25"/>
            <p:cNvSpPr/>
            <p:nvPr/>
          </p:nvSpPr>
          <p:spPr>
            <a:xfrm>
              <a:off x="1813" y="2743"/>
              <a:ext cx="816" cy="288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0858" name="AutoShape 26"/>
            <p:cNvSpPr/>
            <p:nvPr/>
          </p:nvSpPr>
          <p:spPr>
            <a:xfrm>
              <a:off x="3418" y="2112"/>
              <a:ext cx="720" cy="288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27"/>
          <p:cNvGrpSpPr/>
          <p:nvPr/>
        </p:nvGrpSpPr>
        <p:grpSpPr>
          <a:xfrm>
            <a:off x="2301875" y="5162550"/>
            <a:ext cx="7904163" cy="1319213"/>
            <a:chOff x="768" y="3252"/>
            <a:chExt cx="4979" cy="831"/>
          </a:xfrm>
        </p:grpSpPr>
        <p:sp>
          <p:nvSpPr>
            <p:cNvPr id="120855" name="Text Box 28"/>
            <p:cNvSpPr txBox="1"/>
            <p:nvPr/>
          </p:nvSpPr>
          <p:spPr>
            <a:xfrm>
              <a:off x="768" y="3252"/>
              <a:ext cx="497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当真值为 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负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时，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补码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可用 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原码除符号位外</a:t>
              </a:r>
              <a:endPara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0856" name="Text Box 29"/>
            <p:cNvSpPr txBox="1"/>
            <p:nvPr/>
          </p:nvSpPr>
          <p:spPr>
            <a:xfrm>
              <a:off x="768" y="3715"/>
              <a:ext cx="293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每位取反，末位加 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求得</a:t>
              </a:r>
              <a:endPara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51" name="Text Box 31"/>
          <p:cNvSpPr txBox="1"/>
          <p:nvPr/>
        </p:nvSpPr>
        <p:spPr>
          <a:xfrm>
            <a:off x="8021638" y="2247900"/>
            <a:ext cx="1828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+ 1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grpSp>
        <p:nvGrpSpPr>
          <p:cNvPr id="9" name="Group 32"/>
          <p:cNvGrpSpPr/>
          <p:nvPr/>
        </p:nvGrpSpPr>
        <p:grpSpPr>
          <a:xfrm>
            <a:off x="2301875" y="1096963"/>
            <a:ext cx="3565525" cy="584199"/>
            <a:chOff x="490" y="691"/>
            <a:chExt cx="2246" cy="368"/>
          </a:xfrm>
        </p:grpSpPr>
        <p:sp>
          <p:nvSpPr>
            <p:cNvPr id="120853" name="Text Box 33"/>
            <p:cNvSpPr txBox="1"/>
            <p:nvPr/>
          </p:nvSpPr>
          <p:spPr>
            <a:xfrm>
              <a:off x="490" y="691"/>
              <a:ext cx="224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   1010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时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0854" name="Line 34"/>
            <p:cNvSpPr/>
            <p:nvPr/>
          </p:nvSpPr>
          <p:spPr>
            <a:xfrm>
              <a:off x="1296" y="884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0851" name="AutoShape 35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0852" name="日期占位符 9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/>
      <p:bldP spid="56326" grpId="0"/>
      <p:bldP spid="56327" grpId="0"/>
      <p:bldP spid="56329" grpId="0"/>
      <p:bldP spid="563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1858" name="Text Box 2"/>
          <p:cNvSpPr txBox="1"/>
          <p:nvPr/>
        </p:nvSpPr>
        <p:spPr>
          <a:xfrm>
            <a:off x="1905000" y="152400"/>
            <a:ext cx="2819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(5) </a:t>
            </a:r>
            <a:r>
              <a:rPr lang="zh-CN" altLang="en-US" sz="3600" b="1" dirty="0">
                <a:latin typeface="Times New Roman" panose="02020603050405020304" pitchFamily="18" charset="0"/>
              </a:rPr>
              <a:t>举例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21859" name="Text Box 3"/>
          <p:cNvSpPr txBox="1"/>
          <p:nvPr/>
        </p:nvSpPr>
        <p:spPr>
          <a:xfrm>
            <a:off x="3159125" y="2163763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1860" name="Text Box 4"/>
          <p:cNvSpPr txBox="1"/>
          <p:nvPr/>
        </p:nvSpPr>
        <p:spPr>
          <a:xfrm>
            <a:off x="6172200" y="2163763"/>
            <a:ext cx="2895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+ 0.0001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1861" name="Text Box 5"/>
          <p:cNvSpPr txBox="1"/>
          <p:nvPr/>
        </p:nvSpPr>
        <p:spPr>
          <a:xfrm>
            <a:off x="3159125" y="4273550"/>
            <a:ext cx="33940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解：由定义得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1862" name="Text Box 6"/>
          <p:cNvSpPr txBox="1"/>
          <p:nvPr/>
        </p:nvSpPr>
        <p:spPr>
          <a:xfrm>
            <a:off x="4114800" y="4887913"/>
            <a:ext cx="3657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– 2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1863" name="Text Box 7"/>
          <p:cNvSpPr txBox="1"/>
          <p:nvPr/>
        </p:nvSpPr>
        <p:spPr>
          <a:xfrm>
            <a:off x="4410075" y="5500688"/>
            <a:ext cx="33610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1.0001 – 10.0000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1864" name="Text Box 8"/>
          <p:cNvSpPr txBox="1"/>
          <p:nvPr/>
        </p:nvSpPr>
        <p:spPr>
          <a:xfrm>
            <a:off x="7743825" y="3660775"/>
            <a:ext cx="267652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b="1" dirty="0"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</a:rPr>
              <a:t>=   1.1111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21865" name="Group 9"/>
          <p:cNvGrpSpPr/>
          <p:nvPr/>
        </p:nvGrpSpPr>
        <p:grpSpPr>
          <a:xfrm>
            <a:off x="2574925" y="3048000"/>
            <a:ext cx="4776788" cy="1196976"/>
            <a:chOff x="662" y="1920"/>
            <a:chExt cx="3009" cy="754"/>
          </a:xfrm>
        </p:grpSpPr>
        <p:sp>
          <p:nvSpPr>
            <p:cNvPr id="121884" name="Text Box 10"/>
            <p:cNvSpPr txBox="1"/>
            <p:nvPr/>
          </p:nvSpPr>
          <p:spPr>
            <a:xfrm>
              <a:off x="662" y="1920"/>
              <a:ext cx="300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例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6.6   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已知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1.0001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1885" name="Text Box 11"/>
            <p:cNvSpPr txBox="1"/>
            <p:nvPr/>
          </p:nvSpPr>
          <p:spPr>
            <a:xfrm>
              <a:off x="1584" y="2306"/>
              <a:ext cx="56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求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endParaRPr lang="en-US" altLang="zh-CN" sz="32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1866" name="Group 12"/>
          <p:cNvGrpSpPr/>
          <p:nvPr/>
        </p:nvGrpSpPr>
        <p:grpSpPr>
          <a:xfrm>
            <a:off x="7743825" y="2849563"/>
            <a:ext cx="2471738" cy="782638"/>
            <a:chOff x="3918" y="1795"/>
            <a:chExt cx="1557" cy="493"/>
          </a:xfrm>
        </p:grpSpPr>
        <p:grpSp>
          <p:nvGrpSpPr>
            <p:cNvPr id="121880" name="Group 13"/>
            <p:cNvGrpSpPr/>
            <p:nvPr/>
          </p:nvGrpSpPr>
          <p:grpSpPr>
            <a:xfrm>
              <a:off x="3918" y="1920"/>
              <a:ext cx="1557" cy="368"/>
              <a:chOff x="3918" y="1920"/>
              <a:chExt cx="1557" cy="368"/>
            </a:xfrm>
          </p:grpSpPr>
          <p:sp>
            <p:nvSpPr>
              <p:cNvPr id="121882" name="Text Box 14"/>
              <p:cNvSpPr txBox="1"/>
              <p:nvPr/>
            </p:nvSpPr>
            <p:spPr>
              <a:xfrm>
                <a:off x="3918" y="1920"/>
                <a:ext cx="1557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32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32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8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3200" b="1" baseline="-250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       </a:t>
                </a:r>
                <a:r>
                  <a:rPr lang="en-US" altLang="zh-CN" sz="32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32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32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800" b="1" baseline="-25000" dirty="0">
                    <a:latin typeface="Times New Roman" panose="02020603050405020304" pitchFamily="18" charset="0"/>
                  </a:rPr>
                  <a:t>原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 </a:t>
                </a:r>
                <a:endParaRPr lang="zh-CN" altLang="en-US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883" name="Line 15"/>
              <p:cNvSpPr/>
              <p:nvPr/>
            </p:nvSpPr>
            <p:spPr>
              <a:xfrm>
                <a:off x="4560" y="2136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121881" name="Text Box 16"/>
            <p:cNvSpPr txBox="1"/>
            <p:nvPr/>
          </p:nvSpPr>
          <p:spPr>
            <a:xfrm>
              <a:off x="4523" y="179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？</a:t>
              </a:r>
              <a:endPara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21867" name="Text Box 17"/>
          <p:cNvSpPr txBox="1"/>
          <p:nvPr/>
        </p:nvSpPr>
        <p:spPr>
          <a:xfrm>
            <a:off x="3987800" y="2163763"/>
            <a:ext cx="2514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由定义得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1869" name="Group 19"/>
          <p:cNvGrpSpPr/>
          <p:nvPr/>
        </p:nvGrpSpPr>
        <p:grpSpPr>
          <a:xfrm>
            <a:off x="2574925" y="868363"/>
            <a:ext cx="6721475" cy="1239838"/>
            <a:chOff x="662" y="547"/>
            <a:chExt cx="4234" cy="781"/>
          </a:xfrm>
        </p:grpSpPr>
        <p:sp>
          <p:nvSpPr>
            <p:cNvPr id="121878" name="Text Box 20"/>
            <p:cNvSpPr txBox="1"/>
            <p:nvPr/>
          </p:nvSpPr>
          <p:spPr>
            <a:xfrm>
              <a:off x="662" y="547"/>
              <a:ext cx="423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例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6.5   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已知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0.0001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1879" name="Text Box 21"/>
            <p:cNvSpPr txBox="1"/>
            <p:nvPr/>
          </p:nvSpPr>
          <p:spPr>
            <a:xfrm>
              <a:off x="1584" y="960"/>
              <a:ext cx="153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</a:rPr>
                <a:t>求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endParaRPr lang="en-US" altLang="zh-CN" sz="32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1870" name="Group 22"/>
          <p:cNvGrpSpPr/>
          <p:nvPr/>
        </p:nvGrpSpPr>
        <p:grpSpPr>
          <a:xfrm>
            <a:off x="7756525" y="4267200"/>
            <a:ext cx="2682875" cy="584201"/>
            <a:chOff x="3926" y="2688"/>
            <a:chExt cx="1690" cy="368"/>
          </a:xfrm>
        </p:grpSpPr>
        <p:sp>
          <p:nvSpPr>
            <p:cNvPr id="121876" name="Text Box 23"/>
            <p:cNvSpPr txBox="1"/>
            <p:nvPr/>
          </p:nvSpPr>
          <p:spPr>
            <a:xfrm>
              <a:off x="3926" y="2688"/>
              <a:ext cx="169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∴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=   0.1111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1877" name="Rectangle 24"/>
            <p:cNvSpPr/>
            <p:nvPr/>
          </p:nvSpPr>
          <p:spPr>
            <a:xfrm>
              <a:off x="4676" y="2689"/>
              <a:ext cx="2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1871" name="Group 25"/>
          <p:cNvGrpSpPr/>
          <p:nvPr/>
        </p:nvGrpSpPr>
        <p:grpSpPr>
          <a:xfrm>
            <a:off x="4419600" y="6115050"/>
            <a:ext cx="1768475" cy="584201"/>
            <a:chOff x="1824" y="3852"/>
            <a:chExt cx="1114" cy="368"/>
          </a:xfrm>
        </p:grpSpPr>
        <p:sp>
          <p:nvSpPr>
            <p:cNvPr id="121874" name="Text Box 26"/>
            <p:cNvSpPr txBox="1"/>
            <p:nvPr/>
          </p:nvSpPr>
          <p:spPr>
            <a:xfrm>
              <a:off x="1824" y="3852"/>
              <a:ext cx="111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=   0.1111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1875" name="Rectangle 27"/>
            <p:cNvSpPr/>
            <p:nvPr/>
          </p:nvSpPr>
          <p:spPr>
            <a:xfrm>
              <a:off x="1994" y="3858"/>
              <a:ext cx="2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1872" name="AutoShape 28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187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2882" name="Text Box 2"/>
          <p:cNvSpPr txBox="1"/>
          <p:nvPr/>
        </p:nvSpPr>
        <p:spPr>
          <a:xfrm>
            <a:off x="1981200" y="273050"/>
            <a:ext cx="1325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 </a:t>
            </a:r>
            <a:r>
              <a:rPr lang="en-US" altLang="zh-CN" sz="3600" b="1" dirty="0">
                <a:latin typeface="Times New Roman" panose="02020603050405020304" pitchFamily="18" charset="0"/>
              </a:rPr>
              <a:t>6.7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58371" name="Text Box 3"/>
          <p:cNvSpPr txBox="1"/>
          <p:nvPr/>
        </p:nvSpPr>
        <p:spPr>
          <a:xfrm>
            <a:off x="2590800" y="194945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58372" name="Text Box 4"/>
          <p:cNvSpPr txBox="1"/>
          <p:nvPr/>
        </p:nvSpPr>
        <p:spPr>
          <a:xfrm>
            <a:off x="3521075" y="2681288"/>
            <a:ext cx="33369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– 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4+1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8373" name="Text Box 5"/>
          <p:cNvSpPr txBox="1"/>
          <p:nvPr/>
        </p:nvSpPr>
        <p:spPr>
          <a:xfrm>
            <a:off x="3825875" y="3413125"/>
            <a:ext cx="32137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1,1110 – 100000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8374" name="Text Box 6"/>
          <p:cNvSpPr txBox="1"/>
          <p:nvPr/>
        </p:nvSpPr>
        <p:spPr>
          <a:xfrm>
            <a:off x="7616825" y="2681288"/>
            <a:ext cx="254190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b="1" dirty="0"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</a:rPr>
              <a:t>= 1,0010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2667000" y="5056188"/>
            <a:ext cx="7904409" cy="1425574"/>
            <a:chOff x="768" y="3185"/>
            <a:chExt cx="4756" cy="898"/>
          </a:xfrm>
        </p:grpSpPr>
        <p:sp>
          <p:nvSpPr>
            <p:cNvPr id="122905" name="Text Box 8"/>
            <p:cNvSpPr txBox="1"/>
            <p:nvPr/>
          </p:nvSpPr>
          <p:spPr>
            <a:xfrm>
              <a:off x="768" y="3185"/>
              <a:ext cx="475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当真值为 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负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时，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原码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可用 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补码除符号位外</a:t>
              </a:r>
              <a:endPara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2906" name="Text Box 9"/>
            <p:cNvSpPr txBox="1"/>
            <p:nvPr/>
          </p:nvSpPr>
          <p:spPr>
            <a:xfrm>
              <a:off x="768" y="3715"/>
              <a:ext cx="280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每位取反，末位加 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求得</a:t>
              </a:r>
              <a:endPara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7620000" y="1782763"/>
            <a:ext cx="2505075" cy="750888"/>
            <a:chOff x="3840" y="1123"/>
            <a:chExt cx="1578" cy="473"/>
          </a:xfrm>
        </p:grpSpPr>
        <p:sp>
          <p:nvSpPr>
            <p:cNvPr id="122902" name="Text Box 11"/>
            <p:cNvSpPr txBox="1"/>
            <p:nvPr/>
          </p:nvSpPr>
          <p:spPr>
            <a:xfrm>
              <a:off x="3840" y="1228"/>
              <a:ext cx="157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3200" b="1" baseline="-250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32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2903" name="Line 12"/>
            <p:cNvSpPr/>
            <p:nvPr/>
          </p:nvSpPr>
          <p:spPr>
            <a:xfrm>
              <a:off x="4501" y="146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22904" name="Text Box 13"/>
            <p:cNvSpPr txBox="1"/>
            <p:nvPr/>
          </p:nvSpPr>
          <p:spPr>
            <a:xfrm>
              <a:off x="4464" y="11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？</a:t>
              </a:r>
              <a:endPara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4"/>
          <p:cNvGrpSpPr/>
          <p:nvPr/>
        </p:nvGrpSpPr>
        <p:grpSpPr>
          <a:xfrm>
            <a:off x="7731125" y="3413125"/>
            <a:ext cx="2344738" cy="584201"/>
            <a:chOff x="3936" y="2150"/>
            <a:chExt cx="1477" cy="368"/>
          </a:xfrm>
        </p:grpSpPr>
        <p:sp>
          <p:nvSpPr>
            <p:cNvPr id="122900" name="Text Box 15"/>
            <p:cNvSpPr txBox="1"/>
            <p:nvPr/>
          </p:nvSpPr>
          <p:spPr>
            <a:xfrm>
              <a:off x="3936" y="2150"/>
              <a:ext cx="147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∴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  0010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2901" name="Line 16"/>
            <p:cNvSpPr/>
            <p:nvPr/>
          </p:nvSpPr>
          <p:spPr>
            <a:xfrm>
              <a:off x="4704" y="235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17"/>
          <p:cNvGrpSpPr/>
          <p:nvPr/>
        </p:nvGrpSpPr>
        <p:grpSpPr>
          <a:xfrm>
            <a:off x="3825875" y="4144963"/>
            <a:ext cx="1531938" cy="584199"/>
            <a:chOff x="1392" y="2611"/>
            <a:chExt cx="965" cy="368"/>
          </a:xfrm>
        </p:grpSpPr>
        <p:sp>
          <p:nvSpPr>
            <p:cNvPr id="122898" name="Text Box 18"/>
            <p:cNvSpPr txBox="1"/>
            <p:nvPr/>
          </p:nvSpPr>
          <p:spPr>
            <a:xfrm>
              <a:off x="1392" y="2611"/>
              <a:ext cx="96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=   0010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2899" name="Line 19"/>
            <p:cNvSpPr/>
            <p:nvPr/>
          </p:nvSpPr>
          <p:spPr>
            <a:xfrm>
              <a:off x="1642" y="2784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0"/>
          <p:cNvGrpSpPr/>
          <p:nvPr/>
        </p:nvGrpSpPr>
        <p:grpSpPr>
          <a:xfrm>
            <a:off x="3513138" y="323850"/>
            <a:ext cx="3341688" cy="1325563"/>
            <a:chOff x="1253" y="204"/>
            <a:chExt cx="2105" cy="835"/>
          </a:xfrm>
        </p:grpSpPr>
        <p:sp>
          <p:nvSpPr>
            <p:cNvPr id="122896" name="Text Box 21"/>
            <p:cNvSpPr txBox="1"/>
            <p:nvPr/>
          </p:nvSpPr>
          <p:spPr>
            <a:xfrm>
              <a:off x="1296" y="671"/>
              <a:ext cx="56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求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endParaRPr lang="en-US" altLang="zh-CN" sz="32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22897" name="Text Box 22"/>
            <p:cNvSpPr txBox="1"/>
            <p:nvPr/>
          </p:nvSpPr>
          <p:spPr>
            <a:xfrm>
              <a:off x="1253" y="204"/>
              <a:ext cx="210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已知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32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1,1110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91" name="Text Box 23"/>
          <p:cNvSpPr txBox="1"/>
          <p:nvPr/>
        </p:nvSpPr>
        <p:spPr>
          <a:xfrm>
            <a:off x="3513138" y="1949450"/>
            <a:ext cx="1808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由定义得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58392" name="Rectangle 2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894" name="AutoShape 25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895" name="日期占位符 7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/>
      <p:bldP spid="58372" grpId="0"/>
      <p:bldP spid="58373" grpId="0"/>
      <p:bldP spid="58374" grpId="0"/>
      <p:bldP spid="5839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9394" name="Text Box 2"/>
          <p:cNvSpPr txBox="1"/>
          <p:nvPr/>
        </p:nvSpPr>
        <p:spPr>
          <a:xfrm>
            <a:off x="2971800" y="941388"/>
            <a:ext cx="1600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真值</a:t>
            </a:r>
            <a:endParaRPr lang="zh-CN" altLang="en-US" sz="32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5" name="Text Box 3"/>
          <p:cNvSpPr txBox="1"/>
          <p:nvPr/>
        </p:nvSpPr>
        <p:spPr>
          <a:xfrm>
            <a:off x="6003925" y="1603375"/>
            <a:ext cx="2073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0, 1000110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396" name="Text Box 4"/>
          <p:cNvSpPr txBox="1"/>
          <p:nvPr/>
        </p:nvSpPr>
        <p:spPr>
          <a:xfrm>
            <a:off x="6003925" y="2076450"/>
            <a:ext cx="2073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1, 0111010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397" name="Text Box 5"/>
          <p:cNvSpPr txBox="1"/>
          <p:nvPr/>
        </p:nvSpPr>
        <p:spPr>
          <a:xfrm>
            <a:off x="6626225" y="2547938"/>
            <a:ext cx="14144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0.1110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398" name="Text Box 6"/>
          <p:cNvSpPr txBox="1"/>
          <p:nvPr/>
        </p:nvSpPr>
        <p:spPr>
          <a:xfrm>
            <a:off x="6626225" y="3019425"/>
            <a:ext cx="16303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1.0010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399" name="Text Box 7"/>
          <p:cNvSpPr txBox="1"/>
          <p:nvPr/>
        </p:nvSpPr>
        <p:spPr>
          <a:xfrm>
            <a:off x="6626225" y="3490913"/>
            <a:ext cx="1160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0.0000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00" name="Text Box 8"/>
          <p:cNvSpPr txBox="1"/>
          <p:nvPr/>
        </p:nvSpPr>
        <p:spPr>
          <a:xfrm>
            <a:off x="6626225" y="3962400"/>
            <a:ext cx="1160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0.0000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01" name="Text Box 9"/>
          <p:cNvSpPr txBox="1"/>
          <p:nvPr/>
        </p:nvSpPr>
        <p:spPr>
          <a:xfrm>
            <a:off x="6626225" y="4433888"/>
            <a:ext cx="1160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1.0000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02" name="Text Box 10"/>
          <p:cNvSpPr txBox="1"/>
          <p:nvPr/>
        </p:nvSpPr>
        <p:spPr>
          <a:xfrm>
            <a:off x="8426450" y="1603375"/>
            <a:ext cx="22415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0,1000110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03" name="Text Box 11"/>
          <p:cNvSpPr txBox="1"/>
          <p:nvPr/>
        </p:nvSpPr>
        <p:spPr>
          <a:xfrm>
            <a:off x="8426450" y="2076450"/>
            <a:ext cx="19907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1,1000110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04" name="Text Box 12"/>
          <p:cNvSpPr txBox="1"/>
          <p:nvPr/>
        </p:nvSpPr>
        <p:spPr>
          <a:xfrm>
            <a:off x="8959850" y="2547938"/>
            <a:ext cx="14573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0.1110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05" name="Text Box 13"/>
          <p:cNvSpPr txBox="1"/>
          <p:nvPr/>
        </p:nvSpPr>
        <p:spPr>
          <a:xfrm>
            <a:off x="8959850" y="3019425"/>
            <a:ext cx="17081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1.1110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06" name="Text Box 14"/>
          <p:cNvSpPr txBox="1"/>
          <p:nvPr/>
        </p:nvSpPr>
        <p:spPr>
          <a:xfrm>
            <a:off x="8959850" y="3490913"/>
            <a:ext cx="14573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0.0000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07" name="Text Box 15"/>
          <p:cNvSpPr txBox="1"/>
          <p:nvPr/>
        </p:nvSpPr>
        <p:spPr>
          <a:xfrm>
            <a:off x="8959850" y="3962400"/>
            <a:ext cx="14573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08" name="Text Box 16"/>
          <p:cNvSpPr txBox="1"/>
          <p:nvPr/>
        </p:nvSpPr>
        <p:spPr>
          <a:xfrm>
            <a:off x="8724900" y="4464050"/>
            <a:ext cx="17145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不能表示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21" name="Text Box 17"/>
          <p:cNvSpPr txBox="1"/>
          <p:nvPr/>
        </p:nvSpPr>
        <p:spPr>
          <a:xfrm>
            <a:off x="1793875" y="196850"/>
            <a:ext cx="171132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练习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59410" name="Text Box 18"/>
          <p:cNvSpPr txBox="1"/>
          <p:nvPr/>
        </p:nvSpPr>
        <p:spPr>
          <a:xfrm>
            <a:off x="3124200" y="307975"/>
            <a:ext cx="4114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求下列真值的补码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2743200" y="6186488"/>
            <a:ext cx="7467600" cy="522287"/>
            <a:chOff x="768" y="3897"/>
            <a:chExt cx="4704" cy="329"/>
          </a:xfrm>
        </p:grpSpPr>
        <p:sp>
          <p:nvSpPr>
            <p:cNvPr id="123965" name="Text Box 20"/>
            <p:cNvSpPr txBox="1"/>
            <p:nvPr/>
          </p:nvSpPr>
          <p:spPr>
            <a:xfrm>
              <a:off x="768" y="3897"/>
              <a:ext cx="470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[  1]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2 +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10.0000    1.0000 =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1.0000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966" name="Line 21"/>
            <p:cNvSpPr/>
            <p:nvPr/>
          </p:nvSpPr>
          <p:spPr>
            <a:xfrm>
              <a:off x="912" y="4080"/>
              <a:ext cx="9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967" name="Line 22"/>
            <p:cNvSpPr/>
            <p:nvPr/>
          </p:nvSpPr>
          <p:spPr>
            <a:xfrm>
              <a:off x="3072" y="408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23"/>
          <p:cNvGrpSpPr/>
          <p:nvPr/>
        </p:nvGrpSpPr>
        <p:grpSpPr>
          <a:xfrm>
            <a:off x="6553200" y="3578225"/>
            <a:ext cx="1295400" cy="842963"/>
            <a:chOff x="3168" y="2254"/>
            <a:chExt cx="816" cy="531"/>
          </a:xfrm>
        </p:grpSpPr>
        <p:sp>
          <p:nvSpPr>
            <p:cNvPr id="123963" name="AutoShape 24"/>
            <p:cNvSpPr/>
            <p:nvPr/>
          </p:nvSpPr>
          <p:spPr>
            <a:xfrm>
              <a:off x="3168" y="2254"/>
              <a:ext cx="816" cy="243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964" name="AutoShape 25"/>
            <p:cNvSpPr/>
            <p:nvPr/>
          </p:nvSpPr>
          <p:spPr>
            <a:xfrm>
              <a:off x="3168" y="2542"/>
              <a:ext cx="816" cy="243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6"/>
          <p:cNvGrpSpPr/>
          <p:nvPr/>
        </p:nvGrpSpPr>
        <p:grpSpPr>
          <a:xfrm>
            <a:off x="2819400" y="3582988"/>
            <a:ext cx="1295400" cy="838200"/>
            <a:chOff x="816" y="2257"/>
            <a:chExt cx="816" cy="528"/>
          </a:xfrm>
        </p:grpSpPr>
        <p:sp>
          <p:nvSpPr>
            <p:cNvPr id="123961" name="AutoShape 27"/>
            <p:cNvSpPr/>
            <p:nvPr/>
          </p:nvSpPr>
          <p:spPr>
            <a:xfrm>
              <a:off x="816" y="2257"/>
              <a:ext cx="816" cy="243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962" name="AutoShape 28"/>
            <p:cNvSpPr/>
            <p:nvPr/>
          </p:nvSpPr>
          <p:spPr>
            <a:xfrm>
              <a:off x="816" y="2542"/>
              <a:ext cx="816" cy="243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9"/>
          <p:cNvGrpSpPr/>
          <p:nvPr/>
        </p:nvGrpSpPr>
        <p:grpSpPr>
          <a:xfrm>
            <a:off x="4114800" y="3497263"/>
            <a:ext cx="2346325" cy="522287"/>
            <a:chOff x="1632" y="2442"/>
            <a:chExt cx="1478" cy="329"/>
          </a:xfrm>
        </p:grpSpPr>
        <p:sp>
          <p:nvSpPr>
            <p:cNvPr id="123959" name="Text Box 30"/>
            <p:cNvSpPr txBox="1"/>
            <p:nvPr/>
          </p:nvSpPr>
          <p:spPr>
            <a:xfrm>
              <a:off x="1632" y="2442"/>
              <a:ext cx="147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[+ 0]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= [   0]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endParaRPr lang="zh-CN" altLang="en-US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960" name="Line 31"/>
            <p:cNvSpPr/>
            <p:nvPr/>
          </p:nvSpPr>
          <p:spPr>
            <a:xfrm>
              <a:off x="2592" y="2618"/>
              <a:ext cx="9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9424" name="Text Box 32"/>
          <p:cNvSpPr txBox="1"/>
          <p:nvPr/>
        </p:nvSpPr>
        <p:spPr>
          <a:xfrm>
            <a:off x="2209800" y="5272088"/>
            <a:ext cx="2971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由小数补码定义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9425" name="Text Box 33"/>
          <p:cNvSpPr txBox="1"/>
          <p:nvPr/>
        </p:nvSpPr>
        <p:spPr>
          <a:xfrm>
            <a:off x="3581400" y="1603375"/>
            <a:ext cx="266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   1000110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9426" name="Text Box 34"/>
          <p:cNvSpPr txBox="1"/>
          <p:nvPr/>
        </p:nvSpPr>
        <p:spPr>
          <a:xfrm>
            <a:off x="6308725" y="941388"/>
            <a:ext cx="3749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    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9427" name="Rectangle 3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36"/>
          <p:cNvGrpSpPr/>
          <p:nvPr/>
        </p:nvGrpSpPr>
        <p:grpSpPr>
          <a:xfrm>
            <a:off x="2209800" y="1603375"/>
            <a:ext cx="1897063" cy="3352800"/>
            <a:chOff x="432" y="1010"/>
            <a:chExt cx="1195" cy="2112"/>
          </a:xfrm>
        </p:grpSpPr>
        <p:grpSp>
          <p:nvGrpSpPr>
            <p:cNvPr id="123944" name="Group 37"/>
            <p:cNvGrpSpPr/>
            <p:nvPr/>
          </p:nvGrpSpPr>
          <p:grpSpPr>
            <a:xfrm>
              <a:off x="432" y="1010"/>
              <a:ext cx="1195" cy="2112"/>
              <a:chOff x="432" y="1010"/>
              <a:chExt cx="1195" cy="2112"/>
            </a:xfrm>
          </p:grpSpPr>
          <p:sp>
            <p:nvSpPr>
              <p:cNvPr id="123946" name="Text Box 38"/>
              <p:cNvSpPr txBox="1"/>
              <p:nvPr/>
            </p:nvSpPr>
            <p:spPr>
              <a:xfrm>
                <a:off x="432" y="1010"/>
                <a:ext cx="81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+70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947" name="Text Box 39"/>
              <p:cNvSpPr txBox="1"/>
              <p:nvPr/>
            </p:nvSpPr>
            <p:spPr>
              <a:xfrm>
                <a:off x="432" y="1605"/>
                <a:ext cx="1170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  0.1110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948" name="Text Box 40"/>
              <p:cNvSpPr txBox="1"/>
              <p:nvPr/>
            </p:nvSpPr>
            <p:spPr>
              <a:xfrm>
                <a:off x="432" y="2199"/>
                <a:ext cx="1195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  0.0000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949" name="Text Box 41"/>
              <p:cNvSpPr txBox="1"/>
              <p:nvPr/>
            </p:nvSpPr>
            <p:spPr>
              <a:xfrm>
                <a:off x="432" y="1308"/>
                <a:ext cx="80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  70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3950" name="Group 42"/>
              <p:cNvGrpSpPr/>
              <p:nvPr/>
            </p:nvGrpSpPr>
            <p:grpSpPr>
              <a:xfrm>
                <a:off x="432" y="1902"/>
                <a:ext cx="1170" cy="329"/>
                <a:chOff x="432" y="1902"/>
                <a:chExt cx="1170" cy="329"/>
              </a:xfrm>
            </p:grpSpPr>
            <p:sp>
              <p:nvSpPr>
                <p:cNvPr id="123957" name="Text Box 43"/>
                <p:cNvSpPr txBox="1"/>
                <p:nvPr/>
              </p:nvSpPr>
              <p:spPr>
                <a:xfrm>
                  <a:off x="432" y="1902"/>
                  <a:ext cx="1170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 b="1" i="1" dirty="0"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=   0.1110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958" name="Line 44"/>
                <p:cNvSpPr/>
                <p:nvPr/>
              </p:nvSpPr>
              <p:spPr>
                <a:xfrm>
                  <a:off x="816" y="2076"/>
                  <a:ext cx="9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951" name="Group 45"/>
              <p:cNvGrpSpPr/>
              <p:nvPr/>
            </p:nvGrpSpPr>
            <p:grpSpPr>
              <a:xfrm>
                <a:off x="432" y="2496"/>
                <a:ext cx="1195" cy="329"/>
                <a:chOff x="432" y="2496"/>
                <a:chExt cx="1195" cy="329"/>
              </a:xfrm>
            </p:grpSpPr>
            <p:sp>
              <p:nvSpPr>
                <p:cNvPr id="123955" name="Text Box 46"/>
                <p:cNvSpPr txBox="1"/>
                <p:nvPr/>
              </p:nvSpPr>
              <p:spPr>
                <a:xfrm>
                  <a:off x="432" y="2496"/>
                  <a:ext cx="1195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 b="1" i="1" dirty="0"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=   0.0000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956" name="Line 47"/>
                <p:cNvSpPr/>
                <p:nvPr/>
              </p:nvSpPr>
              <p:spPr>
                <a:xfrm>
                  <a:off x="816" y="2676"/>
                  <a:ext cx="9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952" name="Group 48"/>
              <p:cNvGrpSpPr/>
              <p:nvPr/>
            </p:nvGrpSpPr>
            <p:grpSpPr>
              <a:xfrm>
                <a:off x="432" y="2793"/>
                <a:ext cx="1195" cy="329"/>
                <a:chOff x="432" y="2793"/>
                <a:chExt cx="1195" cy="329"/>
              </a:xfrm>
            </p:grpSpPr>
            <p:sp>
              <p:nvSpPr>
                <p:cNvPr id="123953" name="Text Box 49"/>
                <p:cNvSpPr txBox="1"/>
                <p:nvPr/>
              </p:nvSpPr>
              <p:spPr>
                <a:xfrm>
                  <a:off x="432" y="2793"/>
                  <a:ext cx="1195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 b="1" i="1" dirty="0"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=   1.0000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954" name="Line 50"/>
                <p:cNvSpPr/>
                <p:nvPr/>
              </p:nvSpPr>
              <p:spPr>
                <a:xfrm>
                  <a:off x="816" y="2976"/>
                  <a:ext cx="9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23945" name="Line 51"/>
            <p:cNvSpPr/>
            <p:nvPr/>
          </p:nvSpPr>
          <p:spPr>
            <a:xfrm>
              <a:off x="816" y="148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52"/>
          <p:cNvGrpSpPr/>
          <p:nvPr/>
        </p:nvGrpSpPr>
        <p:grpSpPr>
          <a:xfrm>
            <a:off x="3581400" y="2057400"/>
            <a:ext cx="2438400" cy="522288"/>
            <a:chOff x="1296" y="1296"/>
            <a:chExt cx="1536" cy="329"/>
          </a:xfrm>
        </p:grpSpPr>
        <p:sp>
          <p:nvSpPr>
            <p:cNvPr id="123942" name="Text Box 53"/>
            <p:cNvSpPr txBox="1"/>
            <p:nvPr/>
          </p:nvSpPr>
          <p:spPr>
            <a:xfrm>
              <a:off x="1296" y="1296"/>
              <a:ext cx="15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   1000110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943" name="Line 54"/>
            <p:cNvSpPr/>
            <p:nvPr/>
          </p:nvSpPr>
          <p:spPr>
            <a:xfrm>
              <a:off x="1565" y="148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55"/>
          <p:cNvGrpSpPr/>
          <p:nvPr/>
        </p:nvGrpSpPr>
        <p:grpSpPr>
          <a:xfrm>
            <a:off x="5114925" y="5029200"/>
            <a:ext cx="6315075" cy="1023938"/>
            <a:chOff x="2262" y="3168"/>
            <a:chExt cx="3978" cy="645"/>
          </a:xfrm>
        </p:grpSpPr>
        <p:grpSp>
          <p:nvGrpSpPr>
            <p:cNvPr id="123936" name="Group 56"/>
            <p:cNvGrpSpPr/>
            <p:nvPr/>
          </p:nvGrpSpPr>
          <p:grpSpPr>
            <a:xfrm>
              <a:off x="2262" y="3168"/>
              <a:ext cx="3978" cy="645"/>
              <a:chOff x="2118" y="3168"/>
              <a:chExt cx="3978" cy="645"/>
            </a:xfrm>
          </p:grpSpPr>
          <p:sp>
            <p:nvSpPr>
              <p:cNvPr id="123938" name="Text Box 57"/>
              <p:cNvSpPr txBox="1"/>
              <p:nvPr/>
            </p:nvSpPr>
            <p:spPr>
              <a:xfrm>
                <a:off x="2118" y="3360"/>
                <a:ext cx="67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= 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939" name="Text Box 58"/>
              <p:cNvSpPr txBox="1"/>
              <p:nvPr/>
            </p:nvSpPr>
            <p:spPr>
              <a:xfrm>
                <a:off x="2826" y="3168"/>
                <a:ext cx="2358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           </a:t>
                </a:r>
                <a:r>
                  <a:rPr lang="en-US" altLang="zh-CN" sz="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1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＞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≥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 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940" name="Text Box 59"/>
              <p:cNvSpPr txBox="1"/>
              <p:nvPr/>
            </p:nvSpPr>
            <p:spPr>
              <a:xfrm>
                <a:off x="2832" y="3523"/>
                <a:ext cx="326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2+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      0 </a:t>
                </a: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＞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≥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 1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mod 2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）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941" name="AutoShape 60"/>
              <p:cNvSpPr/>
              <p:nvPr/>
            </p:nvSpPr>
            <p:spPr>
              <a:xfrm>
                <a:off x="2739" y="3264"/>
                <a:ext cx="99" cy="514"/>
              </a:xfrm>
              <a:prstGeom prst="leftBrace">
                <a:avLst>
                  <a:gd name="adj1" fmla="val 42857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3937" name="Line 61"/>
            <p:cNvSpPr/>
            <p:nvPr/>
          </p:nvSpPr>
          <p:spPr>
            <a:xfrm>
              <a:off x="4441" y="367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934" name="AutoShape 6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935" name="日期占位符 7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5" grpId="0"/>
      <p:bldP spid="59396" grpId="0"/>
      <p:bldP spid="59397" grpId="0"/>
      <p:bldP spid="59398" grpId="0"/>
      <p:bldP spid="59399" grpId="0"/>
      <p:bldP spid="59400" grpId="0"/>
      <p:bldP spid="59401" grpId="0"/>
      <p:bldP spid="59402" grpId="0"/>
      <p:bldP spid="59403" grpId="0"/>
      <p:bldP spid="59404" grpId="0"/>
      <p:bldP spid="59405" grpId="0"/>
      <p:bldP spid="59406" grpId="0"/>
      <p:bldP spid="59407" grpId="0"/>
      <p:bldP spid="59408" grpId="0"/>
      <p:bldP spid="59410" grpId="0"/>
      <p:bldP spid="59424" grpId="0"/>
      <p:bldP spid="59425" grpId="0"/>
      <p:bldP spid="594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Text Box 2"/>
          <p:cNvSpPr txBox="1"/>
          <p:nvPr/>
        </p:nvSpPr>
        <p:spPr>
          <a:xfrm>
            <a:off x="1847850" y="196850"/>
            <a:ext cx="56692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反码表示法（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引入原因</a:t>
            </a:r>
            <a:r>
              <a:rPr lang="zh-CN" altLang="en-US" sz="3600" b="1" dirty="0">
                <a:latin typeface="Times New Roman" panose="02020603050405020304" pitchFamily="18" charset="0"/>
              </a:rPr>
              <a:t>）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24931" name="Text Box 3"/>
          <p:cNvSpPr txBox="1"/>
          <p:nvPr/>
        </p:nvSpPr>
        <p:spPr>
          <a:xfrm>
            <a:off x="2305050" y="933450"/>
            <a:ext cx="25304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定义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24932" name="Text Box 4"/>
          <p:cNvSpPr txBox="1"/>
          <p:nvPr/>
        </p:nvSpPr>
        <p:spPr>
          <a:xfrm>
            <a:off x="2794000" y="15240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整数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4933" name="Group 5"/>
          <p:cNvGrpSpPr/>
          <p:nvPr/>
        </p:nvGrpSpPr>
        <p:grpSpPr>
          <a:xfrm>
            <a:off x="1992313" y="2060575"/>
            <a:ext cx="9215437" cy="1238250"/>
            <a:chOff x="295" y="1298"/>
            <a:chExt cx="5805" cy="780"/>
          </a:xfrm>
        </p:grpSpPr>
        <p:sp>
          <p:nvSpPr>
            <p:cNvPr id="124958" name="Text Box 6"/>
            <p:cNvSpPr txBox="1"/>
            <p:nvPr/>
          </p:nvSpPr>
          <p:spPr>
            <a:xfrm>
              <a:off x="295" y="1538"/>
              <a:ext cx="173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反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4959" name="Text Box 7"/>
            <p:cNvSpPr txBox="1"/>
            <p:nvPr/>
          </p:nvSpPr>
          <p:spPr>
            <a:xfrm>
              <a:off x="1142" y="1298"/>
              <a:ext cx="337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        2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≥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4960" name="Text Box 8"/>
            <p:cNvSpPr txBox="1"/>
            <p:nvPr/>
          </p:nvSpPr>
          <p:spPr>
            <a:xfrm>
              <a:off x="1152" y="1749"/>
              <a:ext cx="494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( 2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+1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– 1) +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0  ≥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mod 2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+1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endParaRPr lang="zh-CN" altLang="en-US" sz="2800" b="1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124961" name="AutoShape 9"/>
            <p:cNvSpPr/>
            <p:nvPr/>
          </p:nvSpPr>
          <p:spPr>
            <a:xfrm>
              <a:off x="1008" y="1404"/>
              <a:ext cx="103" cy="632"/>
            </a:xfrm>
            <a:prstGeom prst="leftBrace">
              <a:avLst>
                <a:gd name="adj1" fmla="val 50649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4962" name="Line 10"/>
            <p:cNvSpPr/>
            <p:nvPr/>
          </p:nvSpPr>
          <p:spPr>
            <a:xfrm>
              <a:off x="3691" y="192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963" name="Line 11"/>
            <p:cNvSpPr/>
            <p:nvPr/>
          </p:nvSpPr>
          <p:spPr>
            <a:xfrm>
              <a:off x="5155" y="192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4934" name="Text Box 12"/>
          <p:cNvSpPr txBox="1"/>
          <p:nvPr/>
        </p:nvSpPr>
        <p:spPr>
          <a:xfrm>
            <a:off x="2016125" y="3914775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4935" name="Text Box 13"/>
          <p:cNvSpPr txBox="1"/>
          <p:nvPr/>
        </p:nvSpPr>
        <p:spPr>
          <a:xfrm>
            <a:off x="3311525" y="3886200"/>
            <a:ext cx="2438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+1101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4936" name="Text Box 14"/>
          <p:cNvSpPr txBox="1"/>
          <p:nvPr/>
        </p:nvSpPr>
        <p:spPr>
          <a:xfrm>
            <a:off x="2762250" y="4495800"/>
            <a:ext cx="251904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0,1101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4937" name="Text Box 15"/>
          <p:cNvSpPr txBox="1"/>
          <p:nvPr/>
        </p:nvSpPr>
        <p:spPr>
          <a:xfrm>
            <a:off x="6804025" y="5573713"/>
            <a:ext cx="16338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1,0010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24938" name="Group 16"/>
          <p:cNvGrpSpPr/>
          <p:nvPr/>
        </p:nvGrpSpPr>
        <p:grpSpPr>
          <a:xfrm>
            <a:off x="6502400" y="3886200"/>
            <a:ext cx="1814513" cy="584201"/>
            <a:chOff x="3258" y="2448"/>
            <a:chExt cx="1143" cy="368"/>
          </a:xfrm>
        </p:grpSpPr>
        <p:sp>
          <p:nvSpPr>
            <p:cNvPr id="124956" name="Text Box 17"/>
            <p:cNvSpPr txBox="1"/>
            <p:nvPr/>
          </p:nvSpPr>
          <p:spPr>
            <a:xfrm>
              <a:off x="3258" y="2448"/>
              <a:ext cx="11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  1101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4957" name="Line 18"/>
            <p:cNvSpPr/>
            <p:nvPr/>
          </p:nvSpPr>
          <p:spPr>
            <a:xfrm>
              <a:off x="3696" y="264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4939" name="Group 19"/>
          <p:cNvGrpSpPr/>
          <p:nvPr/>
        </p:nvGrpSpPr>
        <p:grpSpPr>
          <a:xfrm>
            <a:off x="5972175" y="4495800"/>
            <a:ext cx="3914775" cy="584201"/>
            <a:chOff x="2901" y="2928"/>
            <a:chExt cx="2466" cy="368"/>
          </a:xfrm>
        </p:grpSpPr>
        <p:sp>
          <p:nvSpPr>
            <p:cNvPr id="124953" name="Text Box 20"/>
            <p:cNvSpPr txBox="1"/>
            <p:nvPr/>
          </p:nvSpPr>
          <p:spPr>
            <a:xfrm>
              <a:off x="2901" y="2928"/>
              <a:ext cx="246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反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(2</a:t>
              </a:r>
              <a:r>
                <a:rPr lang="en-US" altLang="zh-CN" sz="3200" b="1" baseline="45000" dirty="0">
                  <a:latin typeface="Times New Roman" panose="02020603050405020304" pitchFamily="18" charset="0"/>
                </a:rPr>
                <a:t>4+1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1)   1101 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4954" name="Line 21"/>
            <p:cNvSpPr/>
            <p:nvPr/>
          </p:nvSpPr>
          <p:spPr>
            <a:xfrm>
              <a:off x="4224" y="312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955" name="Line 22"/>
            <p:cNvSpPr/>
            <p:nvPr/>
          </p:nvSpPr>
          <p:spPr>
            <a:xfrm>
              <a:off x="4608" y="312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4940" name="Group 23"/>
          <p:cNvGrpSpPr/>
          <p:nvPr/>
        </p:nvGrpSpPr>
        <p:grpSpPr>
          <a:xfrm>
            <a:off x="6804025" y="5029200"/>
            <a:ext cx="2535238" cy="584201"/>
            <a:chOff x="3466" y="3401"/>
            <a:chExt cx="1597" cy="368"/>
          </a:xfrm>
        </p:grpSpPr>
        <p:sp>
          <p:nvSpPr>
            <p:cNvPr id="124951" name="Text Box 24"/>
            <p:cNvSpPr txBox="1"/>
            <p:nvPr/>
          </p:nvSpPr>
          <p:spPr>
            <a:xfrm>
              <a:off x="3466" y="3401"/>
              <a:ext cx="159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= 11111   1101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4952" name="Line 25"/>
            <p:cNvSpPr/>
            <p:nvPr/>
          </p:nvSpPr>
          <p:spPr>
            <a:xfrm>
              <a:off x="4415" y="360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4941" name="Group 26"/>
          <p:cNvGrpSpPr/>
          <p:nvPr/>
        </p:nvGrpSpPr>
        <p:grpSpPr>
          <a:xfrm>
            <a:off x="2778125" y="5583238"/>
            <a:ext cx="2468563" cy="973137"/>
            <a:chOff x="790" y="3517"/>
            <a:chExt cx="1555" cy="613"/>
          </a:xfrm>
        </p:grpSpPr>
        <p:sp>
          <p:nvSpPr>
            <p:cNvPr id="124949" name="Text Box 27"/>
            <p:cNvSpPr txBox="1"/>
            <p:nvPr/>
          </p:nvSpPr>
          <p:spPr>
            <a:xfrm>
              <a:off x="790" y="3517"/>
              <a:ext cx="1555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用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逗号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将符号位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4950" name="Text Box 28"/>
            <p:cNvSpPr txBox="1"/>
            <p:nvPr/>
          </p:nvSpPr>
          <p:spPr>
            <a:xfrm>
              <a:off x="790" y="3840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和数值部分隔开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4942" name="Line 29"/>
          <p:cNvSpPr/>
          <p:nvPr/>
        </p:nvSpPr>
        <p:spPr>
          <a:xfrm flipV="1">
            <a:off x="4268788" y="5029200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124943" name="Freeform 30"/>
          <p:cNvSpPr/>
          <p:nvPr/>
        </p:nvSpPr>
        <p:spPr>
          <a:xfrm>
            <a:off x="5303838" y="6116638"/>
            <a:ext cx="2171700" cy="265112"/>
          </a:xfrm>
          <a:custGeom>
            <a:avLst/>
            <a:gdLst>
              <a:gd name="txL" fmla="*/ 0 w 1536"/>
              <a:gd name="txT" fmla="*/ 0 h 144"/>
              <a:gd name="txR" fmla="*/ 1536 w 1536"/>
              <a:gd name="txB" fmla="*/ 144 h 144"/>
            </a:gdLst>
            <a:ahLst/>
            <a:cxnLst>
              <a:cxn ang="0">
                <a:pos x="0" y="144"/>
              </a:cxn>
              <a:cxn ang="0">
                <a:pos x="1536" y="144"/>
              </a:cxn>
              <a:cxn ang="0">
                <a:pos x="1536" y="0"/>
              </a:cxn>
            </a:cxnLst>
            <a:rect l="txL" t="txT" r="txR" b="txB"/>
            <a:pathLst>
              <a:path w="1536" h="144">
                <a:moveTo>
                  <a:pt x="0" y="144"/>
                </a:moveTo>
                <a:lnTo>
                  <a:pt x="1536" y="144"/>
                </a:lnTo>
                <a:lnTo>
                  <a:pt x="153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4944" name="Text Box 31"/>
          <p:cNvSpPr txBox="1"/>
          <p:nvPr/>
        </p:nvSpPr>
        <p:spPr>
          <a:xfrm>
            <a:off x="2016125" y="3341688"/>
            <a:ext cx="2286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为真值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24945" name="Text Box 32"/>
          <p:cNvSpPr txBox="1"/>
          <p:nvPr/>
        </p:nvSpPr>
        <p:spPr>
          <a:xfrm>
            <a:off x="4835525" y="3341688"/>
            <a:ext cx="3429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为整数的位数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60449" name="Rectangle 3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47" name="AutoShape 34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494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Text Box 2"/>
          <p:cNvSpPr txBox="1"/>
          <p:nvPr/>
        </p:nvSpPr>
        <p:spPr>
          <a:xfrm>
            <a:off x="2209800" y="304800"/>
            <a:ext cx="1941513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小数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5955" name="Text Box 3"/>
          <p:cNvSpPr txBox="1"/>
          <p:nvPr/>
        </p:nvSpPr>
        <p:spPr>
          <a:xfrm>
            <a:off x="3089275" y="3576638"/>
            <a:ext cx="30781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+ 0.1101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5956" name="Text Box 4"/>
          <p:cNvSpPr txBox="1"/>
          <p:nvPr/>
        </p:nvSpPr>
        <p:spPr>
          <a:xfrm>
            <a:off x="2590800" y="4262438"/>
            <a:ext cx="31448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   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0.1101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25957" name="Group 5"/>
          <p:cNvGrpSpPr/>
          <p:nvPr/>
        </p:nvGrpSpPr>
        <p:grpSpPr>
          <a:xfrm>
            <a:off x="6629400" y="3546475"/>
            <a:ext cx="2141538" cy="584201"/>
            <a:chOff x="3216" y="2234"/>
            <a:chExt cx="1349" cy="368"/>
          </a:xfrm>
        </p:grpSpPr>
        <p:sp>
          <p:nvSpPr>
            <p:cNvPr id="125984" name="Text Box 6"/>
            <p:cNvSpPr txBox="1"/>
            <p:nvPr/>
          </p:nvSpPr>
          <p:spPr>
            <a:xfrm>
              <a:off x="3216" y="2234"/>
              <a:ext cx="134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  0.1010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5985" name="Line 7"/>
            <p:cNvSpPr/>
            <p:nvPr/>
          </p:nvSpPr>
          <p:spPr>
            <a:xfrm>
              <a:off x="3648" y="244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5958" name="Group 8"/>
          <p:cNvGrpSpPr/>
          <p:nvPr/>
        </p:nvGrpSpPr>
        <p:grpSpPr>
          <a:xfrm>
            <a:off x="6096000" y="4262438"/>
            <a:ext cx="4572000" cy="584199"/>
            <a:chOff x="2880" y="2685"/>
            <a:chExt cx="2880" cy="368"/>
          </a:xfrm>
        </p:grpSpPr>
        <p:sp>
          <p:nvSpPr>
            <p:cNvPr id="125981" name="Text Box 9"/>
            <p:cNvSpPr txBox="1"/>
            <p:nvPr/>
          </p:nvSpPr>
          <p:spPr>
            <a:xfrm>
              <a:off x="2880" y="2685"/>
              <a:ext cx="288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反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(2  2</a:t>
              </a:r>
              <a:r>
                <a:rPr lang="en-US" altLang="zh-CN" sz="2800" b="1" baseline="40000" dirty="0">
                  <a:latin typeface="Times New Roman" panose="02020603050405020304" pitchFamily="18" charset="0"/>
                </a:rPr>
                <a:t>-4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) 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0.1010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5982" name="Line 10"/>
            <p:cNvSpPr/>
            <p:nvPr/>
          </p:nvSpPr>
          <p:spPr>
            <a:xfrm>
              <a:off x="3915" y="2877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5983" name="Line 11"/>
            <p:cNvSpPr/>
            <p:nvPr/>
          </p:nvSpPr>
          <p:spPr>
            <a:xfrm>
              <a:off x="4425" y="2877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5959" name="Group 12"/>
          <p:cNvGrpSpPr/>
          <p:nvPr/>
        </p:nvGrpSpPr>
        <p:grpSpPr>
          <a:xfrm>
            <a:off x="6934200" y="4953000"/>
            <a:ext cx="3733800" cy="584201"/>
            <a:chOff x="3408" y="3120"/>
            <a:chExt cx="2352" cy="368"/>
          </a:xfrm>
        </p:grpSpPr>
        <p:sp>
          <p:nvSpPr>
            <p:cNvPr id="125979" name="Text Box 13"/>
            <p:cNvSpPr txBox="1"/>
            <p:nvPr/>
          </p:nvSpPr>
          <p:spPr>
            <a:xfrm>
              <a:off x="3408" y="3120"/>
              <a:ext cx="23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= 1.1111 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0.1010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5980" name="Line 14"/>
            <p:cNvSpPr/>
            <p:nvPr/>
          </p:nvSpPr>
          <p:spPr>
            <a:xfrm>
              <a:off x="4425" y="330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5960" name="Text Box 15"/>
          <p:cNvSpPr txBox="1"/>
          <p:nvPr/>
        </p:nvSpPr>
        <p:spPr>
          <a:xfrm>
            <a:off x="6934200" y="5562600"/>
            <a:ext cx="2286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1.0101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25961" name="Text Box 16"/>
          <p:cNvSpPr txBox="1"/>
          <p:nvPr/>
        </p:nvSpPr>
        <p:spPr>
          <a:xfrm>
            <a:off x="2286000" y="3152775"/>
            <a:ext cx="1143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25962" name="Group 17"/>
          <p:cNvGrpSpPr/>
          <p:nvPr/>
        </p:nvGrpSpPr>
        <p:grpSpPr>
          <a:xfrm>
            <a:off x="2286000" y="1066800"/>
            <a:ext cx="8382000" cy="1238250"/>
            <a:chOff x="480" y="854"/>
            <a:chExt cx="5280" cy="780"/>
          </a:xfrm>
        </p:grpSpPr>
        <p:sp>
          <p:nvSpPr>
            <p:cNvPr id="125973" name="Text Box 18"/>
            <p:cNvSpPr txBox="1"/>
            <p:nvPr/>
          </p:nvSpPr>
          <p:spPr>
            <a:xfrm>
              <a:off x="480" y="1094"/>
              <a:ext cx="7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反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5974" name="Text Box 19"/>
            <p:cNvSpPr txBox="1"/>
            <p:nvPr/>
          </p:nvSpPr>
          <p:spPr>
            <a:xfrm>
              <a:off x="1344" y="854"/>
              <a:ext cx="32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              1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≥ 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5975" name="Text Box 20"/>
            <p:cNvSpPr txBox="1"/>
            <p:nvPr/>
          </p:nvSpPr>
          <p:spPr>
            <a:xfrm>
              <a:off x="1354" y="1305"/>
              <a:ext cx="440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( 2 – 2</a:t>
              </a:r>
              <a:r>
                <a:rPr lang="en-US" altLang="zh-CN" sz="2800" b="1" baseline="40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 +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 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0 ≥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mod 2   2</a:t>
              </a:r>
              <a:r>
                <a:rPr lang="en-US" altLang="zh-CN" sz="2800" b="1" baseline="40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endParaRPr lang="zh-CN" altLang="en-US" sz="2800" b="1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125976" name="AutoShape 21"/>
            <p:cNvSpPr/>
            <p:nvPr/>
          </p:nvSpPr>
          <p:spPr>
            <a:xfrm>
              <a:off x="1200" y="960"/>
              <a:ext cx="151" cy="632"/>
            </a:xfrm>
            <a:prstGeom prst="leftBrace">
              <a:avLst>
                <a:gd name="adj1" fmla="val 34549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5977" name="Line 22"/>
            <p:cNvSpPr/>
            <p:nvPr/>
          </p:nvSpPr>
          <p:spPr>
            <a:xfrm>
              <a:off x="4800" y="148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5978" name="Line 23"/>
            <p:cNvSpPr/>
            <p:nvPr/>
          </p:nvSpPr>
          <p:spPr>
            <a:xfrm>
              <a:off x="3696" y="148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5963" name="Group 24"/>
          <p:cNvGrpSpPr/>
          <p:nvPr/>
        </p:nvGrpSpPr>
        <p:grpSpPr>
          <a:xfrm>
            <a:off x="2971800" y="5583238"/>
            <a:ext cx="2773363" cy="973137"/>
            <a:chOff x="912" y="3517"/>
            <a:chExt cx="1747" cy="613"/>
          </a:xfrm>
        </p:grpSpPr>
        <p:sp>
          <p:nvSpPr>
            <p:cNvPr id="125971" name="Text Box 25"/>
            <p:cNvSpPr txBox="1"/>
            <p:nvPr/>
          </p:nvSpPr>
          <p:spPr>
            <a:xfrm>
              <a:off x="912" y="3517"/>
              <a:ext cx="174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用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小数点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将符号位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5972" name="Text Box 26"/>
            <p:cNvSpPr txBox="1"/>
            <p:nvPr/>
          </p:nvSpPr>
          <p:spPr>
            <a:xfrm>
              <a:off x="912" y="3840"/>
              <a:ext cx="165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和数值部分隔开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5964" name="Line 27"/>
          <p:cNvSpPr/>
          <p:nvPr/>
        </p:nvSpPr>
        <p:spPr>
          <a:xfrm flipV="1">
            <a:off x="4419600" y="4751388"/>
            <a:ext cx="0" cy="838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125965" name="Freeform 28"/>
          <p:cNvSpPr/>
          <p:nvPr/>
        </p:nvSpPr>
        <p:spPr>
          <a:xfrm>
            <a:off x="5375275" y="6096000"/>
            <a:ext cx="2244725" cy="212725"/>
          </a:xfrm>
          <a:custGeom>
            <a:avLst/>
            <a:gdLst>
              <a:gd name="txL" fmla="*/ 0 w 1536"/>
              <a:gd name="txT" fmla="*/ 0 h 144"/>
              <a:gd name="txR" fmla="*/ 1536 w 1536"/>
              <a:gd name="txB" fmla="*/ 144 h 144"/>
            </a:gdLst>
            <a:ahLst/>
            <a:cxnLst>
              <a:cxn ang="0">
                <a:pos x="0" y="144"/>
              </a:cxn>
              <a:cxn ang="0">
                <a:pos x="1536" y="144"/>
              </a:cxn>
              <a:cxn ang="0">
                <a:pos x="1536" y="0"/>
              </a:cxn>
            </a:cxnLst>
            <a:rect l="txL" t="txT" r="txR" b="txB"/>
            <a:pathLst>
              <a:path w="1536" h="144">
                <a:moveTo>
                  <a:pt x="0" y="144"/>
                </a:moveTo>
                <a:lnTo>
                  <a:pt x="1536" y="144"/>
                </a:lnTo>
                <a:lnTo>
                  <a:pt x="153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5966" name="Text Box 29"/>
          <p:cNvSpPr txBox="1"/>
          <p:nvPr/>
        </p:nvSpPr>
        <p:spPr>
          <a:xfrm>
            <a:off x="2286000" y="2514600"/>
            <a:ext cx="69786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为真值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61470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68" name="Text Box 31"/>
          <p:cNvSpPr txBox="1"/>
          <p:nvPr/>
        </p:nvSpPr>
        <p:spPr>
          <a:xfrm>
            <a:off x="4224338" y="2492375"/>
            <a:ext cx="69786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为小数的位数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5969" name="AutoShape 3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597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Text Box 2"/>
          <p:cNvSpPr txBox="1"/>
          <p:nvPr/>
        </p:nvSpPr>
        <p:spPr>
          <a:xfrm>
            <a:off x="1752600" y="207963"/>
            <a:ext cx="2590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举例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26979" name="Text Box 3"/>
          <p:cNvSpPr txBox="1"/>
          <p:nvPr/>
        </p:nvSpPr>
        <p:spPr>
          <a:xfrm>
            <a:off x="2063750" y="4076700"/>
            <a:ext cx="47180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例 </a:t>
            </a:r>
            <a:r>
              <a:rPr lang="en-US" altLang="zh-CN" sz="2800" b="1" dirty="0">
                <a:latin typeface="Times New Roman" panose="02020603050405020304" pitchFamily="18" charset="0"/>
              </a:rPr>
              <a:t>6.10    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 </a:t>
            </a:r>
            <a:r>
              <a:rPr lang="en-US" altLang="zh-CN" sz="2800" b="1" dirty="0">
                <a:latin typeface="Times New Roman" panose="02020603050405020304" pitchFamily="18" charset="0"/>
              </a:rPr>
              <a:t>0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的反码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6980" name="Text Box 4"/>
          <p:cNvSpPr txBox="1"/>
          <p:nvPr/>
        </p:nvSpPr>
        <p:spPr>
          <a:xfrm>
            <a:off x="3505200" y="4573588"/>
            <a:ext cx="31670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+</a:t>
            </a:r>
            <a:r>
              <a:rPr lang="en-US" altLang="zh-CN" sz="10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0.0000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26981" name="Text Box 5"/>
          <p:cNvSpPr txBox="1"/>
          <p:nvPr/>
        </p:nvSpPr>
        <p:spPr>
          <a:xfrm>
            <a:off x="6429375" y="4573588"/>
            <a:ext cx="42386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[+0.0000]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sz="2800" b="1" dirty="0">
                <a:latin typeface="Times New Roman" panose="02020603050405020304" pitchFamily="18" charset="0"/>
              </a:rPr>
              <a:t>= 0.0000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26982" name="Text Box 6"/>
          <p:cNvSpPr txBox="1"/>
          <p:nvPr/>
        </p:nvSpPr>
        <p:spPr>
          <a:xfrm>
            <a:off x="2454275" y="45735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6983" name="Text Box 7"/>
          <p:cNvSpPr txBox="1"/>
          <p:nvPr/>
        </p:nvSpPr>
        <p:spPr>
          <a:xfrm>
            <a:off x="2057400" y="5581650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同理，对于整数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6984" name="Text Box 8"/>
          <p:cNvSpPr txBox="1"/>
          <p:nvPr/>
        </p:nvSpPr>
        <p:spPr>
          <a:xfrm>
            <a:off x="5103813" y="5581650"/>
            <a:ext cx="2936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[+0]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sz="2800" b="1" dirty="0">
                <a:latin typeface="Times New Roman" panose="02020603050405020304" pitchFamily="18" charset="0"/>
              </a:rPr>
              <a:t>= 0,0000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26985" name="Text Box 9"/>
          <p:cNvSpPr txBox="1"/>
          <p:nvPr/>
        </p:nvSpPr>
        <p:spPr>
          <a:xfrm>
            <a:off x="2057400" y="2133600"/>
            <a:ext cx="74945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</a:rPr>
              <a:t>6.9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已知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1,1110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126986" name="Text Box 10"/>
          <p:cNvSpPr txBox="1"/>
          <p:nvPr/>
        </p:nvSpPr>
        <p:spPr>
          <a:xfrm>
            <a:off x="2057400" y="904875"/>
            <a:ext cx="70627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</a:rPr>
              <a:t>6.8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已知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0,1110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126987" name="Text Box 11"/>
          <p:cNvSpPr txBox="1"/>
          <p:nvPr/>
        </p:nvSpPr>
        <p:spPr>
          <a:xfrm>
            <a:off x="2454275" y="2638425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6988" name="Text Box 12"/>
          <p:cNvSpPr txBox="1"/>
          <p:nvPr/>
        </p:nvSpPr>
        <p:spPr>
          <a:xfrm>
            <a:off x="3505200" y="1409700"/>
            <a:ext cx="48958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由定义得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+ 1110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26989" name="Text Box 13"/>
          <p:cNvSpPr txBox="1"/>
          <p:nvPr/>
        </p:nvSpPr>
        <p:spPr>
          <a:xfrm>
            <a:off x="2454275" y="14097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62478" name="Rectangle 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6991" name="Group 15"/>
          <p:cNvGrpSpPr/>
          <p:nvPr/>
        </p:nvGrpSpPr>
        <p:grpSpPr>
          <a:xfrm>
            <a:off x="5734050" y="3141663"/>
            <a:ext cx="3241675" cy="522287"/>
            <a:chOff x="2652" y="1979"/>
            <a:chExt cx="2042" cy="329"/>
          </a:xfrm>
        </p:grpSpPr>
        <p:sp>
          <p:nvSpPr>
            <p:cNvPr id="127015" name="Text Box 16"/>
            <p:cNvSpPr txBox="1"/>
            <p:nvPr/>
          </p:nvSpPr>
          <p:spPr>
            <a:xfrm>
              <a:off x="2652" y="1979"/>
              <a:ext cx="204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1,1110   11111</a:t>
              </a:r>
              <a:endPara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7016" name="Line 17"/>
            <p:cNvSpPr/>
            <p:nvPr/>
          </p:nvSpPr>
          <p:spPr>
            <a:xfrm>
              <a:off x="3567" y="216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6992" name="Group 18"/>
          <p:cNvGrpSpPr/>
          <p:nvPr/>
        </p:nvGrpSpPr>
        <p:grpSpPr>
          <a:xfrm>
            <a:off x="5734050" y="3646488"/>
            <a:ext cx="1452563" cy="522287"/>
            <a:chOff x="2652" y="2297"/>
            <a:chExt cx="915" cy="329"/>
          </a:xfrm>
        </p:grpSpPr>
        <p:sp>
          <p:nvSpPr>
            <p:cNvPr id="127013" name="Text Box 19"/>
            <p:cNvSpPr txBox="1"/>
            <p:nvPr/>
          </p:nvSpPr>
          <p:spPr>
            <a:xfrm>
              <a:off x="2652" y="2297"/>
              <a:ext cx="91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   0001</a:t>
              </a:r>
              <a:endPara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7014" name="Line 20"/>
            <p:cNvSpPr/>
            <p:nvPr/>
          </p:nvSpPr>
          <p:spPr>
            <a:xfrm>
              <a:off x="2920" y="2466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6993" name="Group 21"/>
          <p:cNvGrpSpPr/>
          <p:nvPr/>
        </p:nvGrpSpPr>
        <p:grpSpPr>
          <a:xfrm>
            <a:off x="3505200" y="2638425"/>
            <a:ext cx="6781800" cy="522288"/>
            <a:chOff x="1248" y="1662"/>
            <a:chExt cx="4272" cy="329"/>
          </a:xfrm>
        </p:grpSpPr>
        <p:grpSp>
          <p:nvGrpSpPr>
            <p:cNvPr id="127008" name="Group 22"/>
            <p:cNvGrpSpPr/>
            <p:nvPr/>
          </p:nvGrpSpPr>
          <p:grpSpPr>
            <a:xfrm>
              <a:off x="1248" y="1662"/>
              <a:ext cx="4272" cy="329"/>
              <a:chOff x="1248" y="1662"/>
              <a:chExt cx="4272" cy="329"/>
            </a:xfrm>
          </p:grpSpPr>
          <p:sp>
            <p:nvSpPr>
              <p:cNvPr id="127011" name="Text Box 23"/>
              <p:cNvSpPr txBox="1"/>
              <p:nvPr/>
            </p:nvSpPr>
            <p:spPr>
              <a:xfrm>
                <a:off x="1248" y="1662"/>
                <a:ext cx="175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800" b="1" dirty="0">
                    <a:latin typeface="Times New Roman" panose="02020603050405020304" pitchFamily="18" charset="0"/>
                  </a:rPr>
                  <a:t>由定义得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012" name="Text Box 24"/>
              <p:cNvSpPr txBox="1"/>
              <p:nvPr/>
            </p:nvSpPr>
            <p:spPr>
              <a:xfrm>
                <a:off x="2496" y="1662"/>
                <a:ext cx="302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[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反 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  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(2</a:t>
                </a:r>
                <a:r>
                  <a:rPr lang="en-US" altLang="zh-CN" sz="2800" b="1" baseline="40000" dirty="0">
                    <a:latin typeface="Times New Roman" panose="02020603050405020304" pitchFamily="18" charset="0"/>
                  </a:rPr>
                  <a:t>4+1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1)</a:t>
                </a:r>
                <a:endParaRPr lang="en-US" altLang="zh-CN" sz="2800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127009" name="Line 25"/>
            <p:cNvSpPr/>
            <p:nvPr/>
          </p:nvSpPr>
          <p:spPr>
            <a:xfrm>
              <a:off x="4002" y="184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10" name="Line 26"/>
            <p:cNvSpPr/>
            <p:nvPr/>
          </p:nvSpPr>
          <p:spPr>
            <a:xfrm>
              <a:off x="3367" y="184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6994" name="Group 27"/>
          <p:cNvGrpSpPr/>
          <p:nvPr/>
        </p:nvGrpSpPr>
        <p:grpSpPr>
          <a:xfrm>
            <a:off x="3962400" y="5076825"/>
            <a:ext cx="2205038" cy="522288"/>
            <a:chOff x="1536" y="3198"/>
            <a:chExt cx="1389" cy="329"/>
          </a:xfrm>
        </p:grpSpPr>
        <p:sp>
          <p:nvSpPr>
            <p:cNvPr id="127006" name="Text Box 28"/>
            <p:cNvSpPr txBox="1"/>
            <p:nvPr/>
          </p:nvSpPr>
          <p:spPr>
            <a:xfrm>
              <a:off x="1536" y="3198"/>
              <a:ext cx="138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   0.0000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7007" name="Line 29"/>
            <p:cNvSpPr/>
            <p:nvPr/>
          </p:nvSpPr>
          <p:spPr>
            <a:xfrm>
              <a:off x="1949" y="337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6995" name="Group 30"/>
          <p:cNvGrpSpPr/>
          <p:nvPr/>
        </p:nvGrpSpPr>
        <p:grpSpPr>
          <a:xfrm>
            <a:off x="6421438" y="5076825"/>
            <a:ext cx="3865562" cy="522288"/>
            <a:chOff x="3085" y="3198"/>
            <a:chExt cx="2435" cy="329"/>
          </a:xfrm>
        </p:grpSpPr>
        <p:sp>
          <p:nvSpPr>
            <p:cNvPr id="127004" name="Text Box 31"/>
            <p:cNvSpPr txBox="1"/>
            <p:nvPr/>
          </p:nvSpPr>
          <p:spPr>
            <a:xfrm>
              <a:off x="3085" y="3198"/>
              <a:ext cx="243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  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0.0000]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反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1.1111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7005" name="Line 32"/>
            <p:cNvSpPr/>
            <p:nvPr/>
          </p:nvSpPr>
          <p:spPr>
            <a:xfrm>
              <a:off x="3231" y="3375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6996" name="Group 33"/>
          <p:cNvGrpSpPr/>
          <p:nvPr/>
        </p:nvGrpSpPr>
        <p:grpSpPr>
          <a:xfrm>
            <a:off x="7539038" y="5581650"/>
            <a:ext cx="2824162" cy="522288"/>
            <a:chOff x="3789" y="3516"/>
            <a:chExt cx="1779" cy="329"/>
          </a:xfrm>
        </p:grpSpPr>
        <p:sp>
          <p:nvSpPr>
            <p:cNvPr id="127002" name="Text Box 34"/>
            <p:cNvSpPr txBox="1"/>
            <p:nvPr/>
          </p:nvSpPr>
          <p:spPr>
            <a:xfrm>
              <a:off x="3789" y="3516"/>
              <a:ext cx="17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   0]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反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1,1111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7003" name="Line 35"/>
            <p:cNvSpPr/>
            <p:nvPr/>
          </p:nvSpPr>
          <p:spPr>
            <a:xfrm>
              <a:off x="3947" y="369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6997" name="Group 36"/>
          <p:cNvGrpSpPr/>
          <p:nvPr/>
        </p:nvGrpSpPr>
        <p:grpSpPr>
          <a:xfrm>
            <a:off x="4038600" y="6161088"/>
            <a:ext cx="3929063" cy="522287"/>
            <a:chOff x="1584" y="3881"/>
            <a:chExt cx="2475" cy="329"/>
          </a:xfrm>
        </p:grpSpPr>
        <p:sp>
          <p:nvSpPr>
            <p:cNvPr id="127000" name="Text Box 37"/>
            <p:cNvSpPr txBox="1"/>
            <p:nvPr/>
          </p:nvSpPr>
          <p:spPr>
            <a:xfrm>
              <a:off x="1584" y="3881"/>
              <a:ext cx="247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∴   [+ 0]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反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≠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[   0]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反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7001" name="Line 38"/>
            <p:cNvSpPr/>
            <p:nvPr/>
          </p:nvSpPr>
          <p:spPr>
            <a:xfrm>
              <a:off x="2976" y="4050"/>
              <a:ext cx="9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998" name="AutoShape 39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699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反码规律</a:t>
            </a:r>
            <a:endParaRPr lang="zh-CN" altLang="en-US" dirty="0"/>
          </a:p>
        </p:txBody>
      </p:sp>
      <p:sp>
        <p:nvSpPr>
          <p:cNvPr id="1280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正数的反码是去掉“＋”，符号位为</a:t>
            </a:r>
            <a:r>
              <a:rPr lang="en-US" altLang="zh-CN" dirty="0"/>
              <a:t>0</a:t>
            </a:r>
            <a:r>
              <a:rPr lang="zh-CN" altLang="en-US" dirty="0"/>
              <a:t>，数值不变</a:t>
            </a:r>
            <a:endParaRPr lang="zh-CN" altLang="en-US" dirty="0"/>
          </a:p>
          <a:p>
            <a:pPr eaLnBrk="1" hangingPunct="1"/>
            <a:r>
              <a:rPr lang="zh-CN" altLang="en-US" dirty="0"/>
              <a:t>负数的反码是去掉“－”，符号位为</a:t>
            </a:r>
            <a:r>
              <a:rPr lang="en-US" altLang="zh-CN" dirty="0"/>
              <a:t>1</a:t>
            </a:r>
            <a:r>
              <a:rPr lang="zh-CN" altLang="en-US" dirty="0"/>
              <a:t>，数值各位取反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12800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Text Box 2"/>
          <p:cNvSpPr txBox="1"/>
          <p:nvPr/>
        </p:nvSpPr>
        <p:spPr>
          <a:xfrm>
            <a:off x="1828800" y="404813"/>
            <a:ext cx="3840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三种机器数的小结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29027" name="Text Box 3"/>
          <p:cNvSpPr txBox="1"/>
          <p:nvPr/>
        </p:nvSpPr>
        <p:spPr>
          <a:xfrm>
            <a:off x="2362200" y="3059113"/>
            <a:ext cx="594741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对于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正数</a:t>
            </a:r>
            <a:r>
              <a:rPr lang="zh-CN" altLang="en-US" sz="3200" b="1" dirty="0">
                <a:latin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原码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= 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补码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= 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反码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9028" name="Group 4"/>
          <p:cNvGrpSpPr/>
          <p:nvPr/>
        </p:nvGrpSpPr>
        <p:grpSpPr>
          <a:xfrm>
            <a:off x="2362200" y="4114800"/>
            <a:ext cx="8305800" cy="1968501"/>
            <a:chOff x="528" y="2507"/>
            <a:chExt cx="5232" cy="1240"/>
          </a:xfrm>
        </p:grpSpPr>
        <p:sp>
          <p:nvSpPr>
            <p:cNvPr id="129035" name="Text Box 5"/>
            <p:cNvSpPr txBox="1"/>
            <p:nvPr/>
          </p:nvSpPr>
          <p:spPr>
            <a:xfrm>
              <a:off x="528" y="2507"/>
              <a:ext cx="499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Font typeface="Wingdings" panose="05000000000000000000" pitchFamily="2" charset="2"/>
                <a:buChar char="Ø"/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对于</a:t>
              </a:r>
              <a:r>
                <a:rPr lang="zh-CN" alt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负数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符号位为 </a:t>
              </a:r>
              <a:r>
                <a:rPr lang="en-US" altLang="zh-CN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其 </a:t>
              </a:r>
              <a:r>
                <a:rPr lang="zh-CN" alt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数值部分</a:t>
              </a:r>
              <a:endPara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9036" name="Text Box 6"/>
            <p:cNvSpPr txBox="1"/>
            <p:nvPr/>
          </p:nvSpPr>
          <p:spPr>
            <a:xfrm>
              <a:off x="774" y="2943"/>
              <a:ext cx="498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原码除符号位外每位取反末位加 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      </a:t>
              </a:r>
              <a:r>
                <a:rPr lang="zh-CN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补码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9037" name="Text Box 7"/>
            <p:cNvSpPr txBox="1"/>
            <p:nvPr/>
          </p:nvSpPr>
          <p:spPr>
            <a:xfrm>
              <a:off x="774" y="3379"/>
              <a:ext cx="431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原码除符号位外每位取反      反码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9038" name="Line 8"/>
            <p:cNvSpPr/>
            <p:nvPr/>
          </p:nvSpPr>
          <p:spPr>
            <a:xfrm>
              <a:off x="3696" y="3552"/>
              <a:ext cx="288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29039" name="Line 9"/>
            <p:cNvSpPr/>
            <p:nvPr/>
          </p:nvSpPr>
          <p:spPr>
            <a:xfrm>
              <a:off x="4656" y="3120"/>
              <a:ext cx="288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29029" name="Group 10"/>
          <p:cNvGrpSpPr/>
          <p:nvPr/>
        </p:nvGrpSpPr>
        <p:grpSpPr>
          <a:xfrm>
            <a:off x="2362200" y="1447800"/>
            <a:ext cx="7820026" cy="1274763"/>
            <a:chOff x="528" y="912"/>
            <a:chExt cx="4926" cy="803"/>
          </a:xfrm>
        </p:grpSpPr>
        <p:sp>
          <p:nvSpPr>
            <p:cNvPr id="129033" name="Text Box 11"/>
            <p:cNvSpPr txBox="1"/>
            <p:nvPr/>
          </p:nvSpPr>
          <p:spPr>
            <a:xfrm>
              <a:off x="528" y="912"/>
              <a:ext cx="492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buFont typeface="Wingdings" panose="05000000000000000000" pitchFamily="2" charset="2"/>
                <a:buChar char="Ø"/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最高位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为</a:t>
              </a:r>
              <a:r>
                <a:rPr lang="zh-CN" alt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符号位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，书写上用“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,”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（整数）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9034" name="Text Box 12"/>
            <p:cNvSpPr txBox="1"/>
            <p:nvPr/>
          </p:nvSpPr>
          <p:spPr>
            <a:xfrm>
              <a:off x="774" y="1347"/>
              <a:ext cx="465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或“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.”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（小数）将数值部分和符号位隔开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31" name="AutoShape 14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903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补码</a:t>
            </a:r>
            <a:endParaRPr lang="zh-CN" altLang="en-US" dirty="0"/>
          </a:p>
        </p:txBody>
      </p:sp>
      <p:sp>
        <p:nvSpPr>
          <p:cNvPr id="1300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公式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负数</a:t>
            </a:r>
            <a:r>
              <a:rPr lang="zh-CN" altLang="en-US" dirty="0"/>
              <a:t>根据反码求补码</a:t>
            </a:r>
            <a:endParaRPr lang="zh-CN" altLang="en-US" dirty="0"/>
          </a:p>
        </p:txBody>
      </p:sp>
      <p:sp>
        <p:nvSpPr>
          <p:cNvPr id="13005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Text Box 2"/>
          <p:cNvSpPr txBox="1"/>
          <p:nvPr/>
        </p:nvSpPr>
        <p:spPr>
          <a:xfrm>
            <a:off x="1752600" y="182563"/>
            <a:ext cx="13792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</a:rPr>
              <a:t>6.11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31075" name="Group 3"/>
          <p:cNvGrpSpPr/>
          <p:nvPr/>
        </p:nvGrpSpPr>
        <p:grpSpPr>
          <a:xfrm>
            <a:off x="2057400" y="2381250"/>
            <a:ext cx="1419225" cy="4041775"/>
            <a:chOff x="517" y="1212"/>
            <a:chExt cx="894" cy="2546"/>
          </a:xfrm>
        </p:grpSpPr>
        <p:sp>
          <p:nvSpPr>
            <p:cNvPr id="131156" name="Text Box 4"/>
            <p:cNvSpPr txBox="1"/>
            <p:nvPr/>
          </p:nvSpPr>
          <p:spPr>
            <a:xfrm>
              <a:off x="517" y="1212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00000000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57" name="Text Box 5"/>
            <p:cNvSpPr txBox="1"/>
            <p:nvPr/>
          </p:nvSpPr>
          <p:spPr>
            <a:xfrm>
              <a:off x="528" y="1406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00000001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58" name="Text Box 6"/>
            <p:cNvSpPr txBox="1"/>
            <p:nvPr/>
          </p:nvSpPr>
          <p:spPr>
            <a:xfrm>
              <a:off x="517" y="1600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00000010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59" name="Text Box 7"/>
            <p:cNvSpPr txBox="1"/>
            <p:nvPr/>
          </p:nvSpPr>
          <p:spPr>
            <a:xfrm>
              <a:off x="851" y="1874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60" name="Text Box 8"/>
            <p:cNvSpPr txBox="1"/>
            <p:nvPr/>
          </p:nvSpPr>
          <p:spPr>
            <a:xfrm>
              <a:off x="517" y="2124"/>
              <a:ext cx="81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01111111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61" name="Text Box 9"/>
            <p:cNvSpPr txBox="1"/>
            <p:nvPr/>
          </p:nvSpPr>
          <p:spPr>
            <a:xfrm>
              <a:off x="517" y="2316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10000000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62" name="Text Box 10"/>
            <p:cNvSpPr txBox="1"/>
            <p:nvPr/>
          </p:nvSpPr>
          <p:spPr>
            <a:xfrm>
              <a:off x="517" y="2508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10000001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63" name="Text Box 11"/>
            <p:cNvSpPr txBox="1"/>
            <p:nvPr/>
          </p:nvSpPr>
          <p:spPr>
            <a:xfrm>
              <a:off x="517" y="3084"/>
              <a:ext cx="82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11111101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64" name="Text Box 12"/>
            <p:cNvSpPr txBox="1"/>
            <p:nvPr/>
          </p:nvSpPr>
          <p:spPr>
            <a:xfrm>
              <a:off x="517" y="3276"/>
              <a:ext cx="81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11111110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65" name="Text Box 13"/>
            <p:cNvSpPr txBox="1"/>
            <p:nvPr/>
          </p:nvSpPr>
          <p:spPr>
            <a:xfrm>
              <a:off x="517" y="3468"/>
              <a:ext cx="80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11111111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66" name="Text Box 14"/>
            <p:cNvSpPr txBox="1"/>
            <p:nvPr/>
          </p:nvSpPr>
          <p:spPr>
            <a:xfrm>
              <a:off x="852" y="2844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1076" name="Group 15"/>
          <p:cNvGrpSpPr/>
          <p:nvPr/>
        </p:nvGrpSpPr>
        <p:grpSpPr>
          <a:xfrm>
            <a:off x="4098925" y="4133850"/>
            <a:ext cx="639763" cy="765175"/>
            <a:chOff x="1862" y="2316"/>
            <a:chExt cx="403" cy="482"/>
          </a:xfrm>
        </p:grpSpPr>
        <p:sp>
          <p:nvSpPr>
            <p:cNvPr id="131154" name="Text Box 16"/>
            <p:cNvSpPr txBox="1"/>
            <p:nvPr/>
          </p:nvSpPr>
          <p:spPr>
            <a:xfrm>
              <a:off x="1862" y="2316"/>
              <a:ext cx="4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128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1155" name="Text Box 17"/>
            <p:cNvSpPr txBox="1"/>
            <p:nvPr/>
          </p:nvSpPr>
          <p:spPr>
            <a:xfrm>
              <a:off x="1862" y="2508"/>
              <a:ext cx="4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129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1077" name="Text Box 18"/>
          <p:cNvSpPr txBox="1"/>
          <p:nvPr/>
        </p:nvSpPr>
        <p:spPr>
          <a:xfrm>
            <a:off x="5943600" y="4133850"/>
            <a:ext cx="43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-0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78" name="Text Box 19"/>
          <p:cNvSpPr txBox="1"/>
          <p:nvPr/>
        </p:nvSpPr>
        <p:spPr>
          <a:xfrm>
            <a:off x="5959475" y="4438650"/>
            <a:ext cx="43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-1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79" name="Text Box 20"/>
          <p:cNvSpPr txBox="1"/>
          <p:nvPr/>
        </p:nvSpPr>
        <p:spPr>
          <a:xfrm>
            <a:off x="7456488" y="4133850"/>
            <a:ext cx="741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-128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080" name="Text Box 21"/>
          <p:cNvSpPr txBox="1"/>
          <p:nvPr/>
        </p:nvSpPr>
        <p:spPr>
          <a:xfrm>
            <a:off x="7456488" y="4438650"/>
            <a:ext cx="741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-127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81" name="Text Box 22"/>
          <p:cNvSpPr txBox="1"/>
          <p:nvPr/>
        </p:nvSpPr>
        <p:spPr>
          <a:xfrm>
            <a:off x="8986838" y="4133850"/>
            <a:ext cx="741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-127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82" name="Text Box 23"/>
          <p:cNvSpPr txBox="1"/>
          <p:nvPr/>
        </p:nvSpPr>
        <p:spPr>
          <a:xfrm>
            <a:off x="8986838" y="4438650"/>
            <a:ext cx="741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-126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31083" name="Group 24"/>
          <p:cNvGrpSpPr/>
          <p:nvPr/>
        </p:nvGrpSpPr>
        <p:grpSpPr>
          <a:xfrm>
            <a:off x="1905000" y="1752600"/>
            <a:ext cx="8382000" cy="4667250"/>
            <a:chOff x="192" y="1104"/>
            <a:chExt cx="5280" cy="2940"/>
          </a:xfrm>
        </p:grpSpPr>
        <p:sp>
          <p:nvSpPr>
            <p:cNvPr id="131141" name="Freeform 25"/>
            <p:cNvSpPr/>
            <p:nvPr/>
          </p:nvSpPr>
          <p:spPr>
            <a:xfrm>
              <a:off x="204" y="1548"/>
              <a:ext cx="5268" cy="1"/>
            </a:xfrm>
            <a:custGeom>
              <a:avLst/>
              <a:gdLst>
                <a:gd name="txL" fmla="*/ 0 w 5268"/>
                <a:gd name="txT" fmla="*/ 0 h 1"/>
                <a:gd name="txR" fmla="*/ 5268 w 526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5268" y="1"/>
                </a:cxn>
              </a:cxnLst>
              <a:rect l="txL" t="txT" r="txR" b="txB"/>
              <a:pathLst>
                <a:path w="5268" h="1">
                  <a:moveTo>
                    <a:pt x="0" y="0"/>
                  </a:moveTo>
                  <a:lnTo>
                    <a:pt x="5268" y="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31142" name="Group 26"/>
            <p:cNvGrpSpPr/>
            <p:nvPr/>
          </p:nvGrpSpPr>
          <p:grpSpPr>
            <a:xfrm>
              <a:off x="192" y="1104"/>
              <a:ext cx="5280" cy="2940"/>
              <a:chOff x="192" y="1104"/>
              <a:chExt cx="5280" cy="2940"/>
            </a:xfrm>
          </p:grpSpPr>
          <p:sp>
            <p:nvSpPr>
              <p:cNvPr id="131143" name="Freeform 27"/>
              <p:cNvSpPr/>
              <p:nvPr/>
            </p:nvSpPr>
            <p:spPr>
              <a:xfrm>
                <a:off x="1248" y="1116"/>
                <a:ext cx="1" cy="2928"/>
              </a:xfrm>
              <a:custGeom>
                <a:avLst/>
                <a:gdLst>
                  <a:gd name="txL" fmla="*/ 0 w 1"/>
                  <a:gd name="txT" fmla="*/ 0 h 3744"/>
                  <a:gd name="txR" fmla="*/ 1 w 1"/>
                  <a:gd name="txB" fmla="*/ 3744 h 3744"/>
                </a:gdLst>
                <a:ahLst/>
                <a:cxnLst>
                  <a:cxn ang="0">
                    <a:pos x="0" y="0"/>
                  </a:cxn>
                  <a:cxn ang="0">
                    <a:pos x="0" y="3744"/>
                  </a:cxn>
                </a:cxnLst>
                <a:rect l="txL" t="txT" r="txR" b="txB"/>
                <a:pathLst>
                  <a:path w="1" h="3744">
                    <a:moveTo>
                      <a:pt x="0" y="0"/>
                    </a:moveTo>
                    <a:lnTo>
                      <a:pt x="0" y="37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1144" name="Freeform 28"/>
              <p:cNvSpPr/>
              <p:nvPr/>
            </p:nvSpPr>
            <p:spPr>
              <a:xfrm>
                <a:off x="2304" y="1116"/>
                <a:ext cx="1" cy="2928"/>
              </a:xfrm>
              <a:custGeom>
                <a:avLst/>
                <a:gdLst>
                  <a:gd name="txL" fmla="*/ 0 w 1"/>
                  <a:gd name="txT" fmla="*/ 0 h 3744"/>
                  <a:gd name="txR" fmla="*/ 1 w 1"/>
                  <a:gd name="txB" fmla="*/ 3744 h 3744"/>
                </a:gdLst>
                <a:ahLst/>
                <a:cxnLst>
                  <a:cxn ang="0">
                    <a:pos x="0" y="0"/>
                  </a:cxn>
                  <a:cxn ang="0">
                    <a:pos x="0" y="3744"/>
                  </a:cxn>
                </a:cxnLst>
                <a:rect l="txL" t="txT" r="txR" b="txB"/>
                <a:pathLst>
                  <a:path w="1" h="3744">
                    <a:moveTo>
                      <a:pt x="0" y="0"/>
                    </a:moveTo>
                    <a:lnTo>
                      <a:pt x="0" y="37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1145" name="Freeform 29"/>
              <p:cNvSpPr/>
              <p:nvPr/>
            </p:nvSpPr>
            <p:spPr>
              <a:xfrm>
                <a:off x="3360" y="1116"/>
                <a:ext cx="4" cy="2928"/>
              </a:xfrm>
              <a:custGeom>
                <a:avLst/>
                <a:gdLst>
                  <a:gd name="txL" fmla="*/ 0 w 4"/>
                  <a:gd name="txT" fmla="*/ 0 h 3744"/>
                  <a:gd name="txR" fmla="*/ 4 w 4"/>
                  <a:gd name="txB" fmla="*/ 3744 h 3744"/>
                </a:gdLst>
                <a:ahLst/>
                <a:cxnLst>
                  <a:cxn ang="0">
                    <a:pos x="0" y="0"/>
                  </a:cxn>
                  <a:cxn ang="0">
                    <a:pos x="4" y="3744"/>
                  </a:cxn>
                </a:cxnLst>
                <a:rect l="txL" t="txT" r="txR" b="txB"/>
                <a:pathLst>
                  <a:path w="4" h="3744">
                    <a:moveTo>
                      <a:pt x="0" y="0"/>
                    </a:moveTo>
                    <a:lnTo>
                      <a:pt x="4" y="37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1146" name="Freeform 30"/>
              <p:cNvSpPr/>
              <p:nvPr/>
            </p:nvSpPr>
            <p:spPr>
              <a:xfrm>
                <a:off x="4416" y="1116"/>
                <a:ext cx="1" cy="2928"/>
              </a:xfrm>
              <a:custGeom>
                <a:avLst/>
                <a:gdLst>
                  <a:gd name="txL" fmla="*/ 0 w 1"/>
                  <a:gd name="txT" fmla="*/ 0 h 3744"/>
                  <a:gd name="txR" fmla="*/ 1 w 1"/>
                  <a:gd name="txB" fmla="*/ 3744 h 3744"/>
                </a:gdLst>
                <a:ahLst/>
                <a:cxnLst>
                  <a:cxn ang="0">
                    <a:pos x="0" y="0"/>
                  </a:cxn>
                  <a:cxn ang="0">
                    <a:pos x="0" y="3744"/>
                  </a:cxn>
                </a:cxnLst>
                <a:rect l="txL" t="txT" r="txR" b="txB"/>
                <a:pathLst>
                  <a:path w="1" h="3744">
                    <a:moveTo>
                      <a:pt x="0" y="0"/>
                    </a:moveTo>
                    <a:lnTo>
                      <a:pt x="0" y="37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31147" name="Group 31"/>
              <p:cNvGrpSpPr/>
              <p:nvPr/>
            </p:nvGrpSpPr>
            <p:grpSpPr>
              <a:xfrm>
                <a:off x="192" y="1104"/>
                <a:ext cx="5280" cy="2940"/>
                <a:chOff x="192" y="1104"/>
                <a:chExt cx="5280" cy="2940"/>
              </a:xfrm>
            </p:grpSpPr>
            <p:sp>
              <p:nvSpPr>
                <p:cNvPr id="131148" name="Text Box 32"/>
                <p:cNvSpPr txBox="1"/>
                <p:nvPr/>
              </p:nvSpPr>
              <p:spPr>
                <a:xfrm>
                  <a:off x="240" y="1212"/>
                  <a:ext cx="915" cy="25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二进制代码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1149" name="Text Box 33"/>
                <p:cNvSpPr txBox="1"/>
                <p:nvPr/>
              </p:nvSpPr>
              <p:spPr>
                <a:xfrm>
                  <a:off x="1344" y="1104"/>
                  <a:ext cx="915" cy="44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无符号数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对应的真值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1150" name="Text Box 34"/>
                <p:cNvSpPr txBox="1"/>
                <p:nvPr/>
              </p:nvSpPr>
              <p:spPr>
                <a:xfrm>
                  <a:off x="2448" y="1106"/>
                  <a:ext cx="755" cy="44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原码对应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  的真值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1151" name="Text Box 35"/>
                <p:cNvSpPr txBox="1"/>
                <p:nvPr/>
              </p:nvSpPr>
              <p:spPr>
                <a:xfrm>
                  <a:off x="3486" y="1106"/>
                  <a:ext cx="755" cy="44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补码对应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  的真值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1152" name="Text Box 36"/>
                <p:cNvSpPr txBox="1"/>
                <p:nvPr/>
              </p:nvSpPr>
              <p:spPr>
                <a:xfrm>
                  <a:off x="4520" y="1106"/>
                  <a:ext cx="755" cy="44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反码对应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  的真值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1153" name="Rectangle 37"/>
                <p:cNvSpPr/>
                <p:nvPr/>
              </p:nvSpPr>
              <p:spPr>
                <a:xfrm>
                  <a:off x="192" y="1116"/>
                  <a:ext cx="5280" cy="292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31084" name="Group 38"/>
          <p:cNvGrpSpPr/>
          <p:nvPr/>
        </p:nvGrpSpPr>
        <p:grpSpPr>
          <a:xfrm>
            <a:off x="4098925" y="2381250"/>
            <a:ext cx="681038" cy="1908175"/>
            <a:chOff x="1862" y="1212"/>
            <a:chExt cx="429" cy="1202"/>
          </a:xfrm>
        </p:grpSpPr>
        <p:grpSp>
          <p:nvGrpSpPr>
            <p:cNvPr id="131135" name="Group 39"/>
            <p:cNvGrpSpPr/>
            <p:nvPr/>
          </p:nvGrpSpPr>
          <p:grpSpPr>
            <a:xfrm>
              <a:off x="1862" y="1212"/>
              <a:ext cx="403" cy="1202"/>
              <a:chOff x="1862" y="1212"/>
              <a:chExt cx="403" cy="1202"/>
            </a:xfrm>
          </p:grpSpPr>
          <p:sp>
            <p:nvSpPr>
              <p:cNvPr id="131137" name="Text Box 40"/>
              <p:cNvSpPr txBox="1"/>
              <p:nvPr/>
            </p:nvSpPr>
            <p:spPr>
              <a:xfrm>
                <a:off x="1948" y="1212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38" name="Text Box 41"/>
              <p:cNvSpPr txBox="1"/>
              <p:nvPr/>
            </p:nvSpPr>
            <p:spPr>
              <a:xfrm>
                <a:off x="1948" y="1406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39" name="Text Box 42"/>
              <p:cNvSpPr txBox="1"/>
              <p:nvPr/>
            </p:nvSpPr>
            <p:spPr>
              <a:xfrm>
                <a:off x="1948" y="1600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40" name="Text Box 43"/>
              <p:cNvSpPr txBox="1"/>
              <p:nvPr/>
            </p:nvSpPr>
            <p:spPr>
              <a:xfrm>
                <a:off x="1862" y="2124"/>
                <a:ext cx="40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127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1136" name="Text Box 44"/>
            <p:cNvSpPr txBox="1"/>
            <p:nvPr/>
          </p:nvSpPr>
          <p:spPr>
            <a:xfrm>
              <a:off x="1905" y="1878"/>
              <a:ext cx="38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1085" name="Group 45"/>
          <p:cNvGrpSpPr/>
          <p:nvPr/>
        </p:nvGrpSpPr>
        <p:grpSpPr>
          <a:xfrm>
            <a:off x="4098925" y="4962525"/>
            <a:ext cx="701675" cy="1460500"/>
            <a:chOff x="1862" y="2838"/>
            <a:chExt cx="442" cy="920"/>
          </a:xfrm>
        </p:grpSpPr>
        <p:grpSp>
          <p:nvGrpSpPr>
            <p:cNvPr id="131130" name="Group 46"/>
            <p:cNvGrpSpPr/>
            <p:nvPr/>
          </p:nvGrpSpPr>
          <p:grpSpPr>
            <a:xfrm>
              <a:off x="1862" y="3084"/>
              <a:ext cx="403" cy="674"/>
              <a:chOff x="1862" y="3084"/>
              <a:chExt cx="403" cy="674"/>
            </a:xfrm>
          </p:grpSpPr>
          <p:sp>
            <p:nvSpPr>
              <p:cNvPr id="131132" name="Text Box 47"/>
              <p:cNvSpPr txBox="1"/>
              <p:nvPr/>
            </p:nvSpPr>
            <p:spPr>
              <a:xfrm>
                <a:off x="1862" y="3084"/>
                <a:ext cx="40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253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33" name="Text Box 48"/>
              <p:cNvSpPr txBox="1"/>
              <p:nvPr/>
            </p:nvSpPr>
            <p:spPr>
              <a:xfrm>
                <a:off x="1862" y="3276"/>
                <a:ext cx="40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254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34" name="Text Box 49"/>
              <p:cNvSpPr txBox="1"/>
              <p:nvPr/>
            </p:nvSpPr>
            <p:spPr>
              <a:xfrm>
                <a:off x="1862" y="3468"/>
                <a:ext cx="40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255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1131" name="Text Box 50"/>
            <p:cNvSpPr txBox="1"/>
            <p:nvPr/>
          </p:nvSpPr>
          <p:spPr>
            <a:xfrm>
              <a:off x="1918" y="2838"/>
              <a:ext cx="38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1086" name="Group 51"/>
          <p:cNvGrpSpPr/>
          <p:nvPr/>
        </p:nvGrpSpPr>
        <p:grpSpPr>
          <a:xfrm>
            <a:off x="5715000" y="4962525"/>
            <a:ext cx="854075" cy="1460500"/>
            <a:chOff x="2918" y="2838"/>
            <a:chExt cx="538" cy="920"/>
          </a:xfrm>
        </p:grpSpPr>
        <p:grpSp>
          <p:nvGrpSpPr>
            <p:cNvPr id="131125" name="Group 52"/>
            <p:cNvGrpSpPr/>
            <p:nvPr/>
          </p:nvGrpSpPr>
          <p:grpSpPr>
            <a:xfrm>
              <a:off x="2918" y="3084"/>
              <a:ext cx="467" cy="674"/>
              <a:chOff x="2918" y="3084"/>
              <a:chExt cx="467" cy="674"/>
            </a:xfrm>
          </p:grpSpPr>
          <p:sp>
            <p:nvSpPr>
              <p:cNvPr id="131127" name="Text Box 53"/>
              <p:cNvSpPr txBox="1"/>
              <p:nvPr/>
            </p:nvSpPr>
            <p:spPr>
              <a:xfrm>
                <a:off x="2918" y="3084"/>
                <a:ext cx="46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-125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28" name="Text Box 54"/>
              <p:cNvSpPr txBox="1"/>
              <p:nvPr/>
            </p:nvSpPr>
            <p:spPr>
              <a:xfrm>
                <a:off x="2918" y="3276"/>
                <a:ext cx="46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-126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29" name="Text Box 55"/>
              <p:cNvSpPr txBox="1"/>
              <p:nvPr/>
            </p:nvSpPr>
            <p:spPr>
              <a:xfrm>
                <a:off x="2918" y="3468"/>
                <a:ext cx="46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-127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1126" name="Text Box 56"/>
            <p:cNvSpPr txBox="1"/>
            <p:nvPr/>
          </p:nvSpPr>
          <p:spPr>
            <a:xfrm>
              <a:off x="3070" y="2838"/>
              <a:ext cx="38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1087" name="Text Box 57"/>
          <p:cNvSpPr txBox="1"/>
          <p:nvPr/>
        </p:nvSpPr>
        <p:spPr>
          <a:xfrm>
            <a:off x="7639050" y="5353050"/>
            <a:ext cx="43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-3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88" name="Text Box 58"/>
          <p:cNvSpPr txBox="1"/>
          <p:nvPr/>
        </p:nvSpPr>
        <p:spPr>
          <a:xfrm>
            <a:off x="7639050" y="5657850"/>
            <a:ext cx="43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-2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89" name="Text Box 59"/>
          <p:cNvSpPr txBox="1"/>
          <p:nvPr/>
        </p:nvSpPr>
        <p:spPr>
          <a:xfrm>
            <a:off x="7639050" y="5962650"/>
            <a:ext cx="43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-1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90" name="Text Box 60"/>
          <p:cNvSpPr txBox="1"/>
          <p:nvPr/>
        </p:nvSpPr>
        <p:spPr>
          <a:xfrm>
            <a:off x="7692390" y="4962525"/>
            <a:ext cx="613410" cy="44704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…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31091" name="Group 61"/>
          <p:cNvGrpSpPr/>
          <p:nvPr/>
        </p:nvGrpSpPr>
        <p:grpSpPr>
          <a:xfrm>
            <a:off x="9163050" y="4962525"/>
            <a:ext cx="666750" cy="1460500"/>
            <a:chOff x="4908" y="2838"/>
            <a:chExt cx="420" cy="920"/>
          </a:xfrm>
        </p:grpSpPr>
        <p:grpSp>
          <p:nvGrpSpPr>
            <p:cNvPr id="131120" name="Group 62"/>
            <p:cNvGrpSpPr/>
            <p:nvPr/>
          </p:nvGrpSpPr>
          <p:grpSpPr>
            <a:xfrm>
              <a:off x="4908" y="3084"/>
              <a:ext cx="275" cy="674"/>
              <a:chOff x="4956" y="3084"/>
              <a:chExt cx="275" cy="674"/>
            </a:xfrm>
          </p:grpSpPr>
          <p:sp>
            <p:nvSpPr>
              <p:cNvPr id="131122" name="Text Box 63"/>
              <p:cNvSpPr txBox="1"/>
              <p:nvPr/>
            </p:nvSpPr>
            <p:spPr>
              <a:xfrm>
                <a:off x="4956" y="3084"/>
                <a:ext cx="27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-2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23" name="Text Box 64"/>
              <p:cNvSpPr txBox="1"/>
              <p:nvPr/>
            </p:nvSpPr>
            <p:spPr>
              <a:xfrm>
                <a:off x="4956" y="3276"/>
                <a:ext cx="27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-1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24" name="Text Box 65"/>
              <p:cNvSpPr txBox="1"/>
              <p:nvPr/>
            </p:nvSpPr>
            <p:spPr>
              <a:xfrm>
                <a:off x="4956" y="3468"/>
                <a:ext cx="27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-0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1121" name="Text Box 66"/>
            <p:cNvSpPr txBox="1"/>
            <p:nvPr/>
          </p:nvSpPr>
          <p:spPr>
            <a:xfrm>
              <a:off x="4942" y="2838"/>
              <a:ext cx="38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1092" name="Group 67"/>
          <p:cNvGrpSpPr/>
          <p:nvPr/>
        </p:nvGrpSpPr>
        <p:grpSpPr>
          <a:xfrm>
            <a:off x="7385050" y="2381250"/>
            <a:ext cx="920750" cy="1908175"/>
            <a:chOff x="3692" y="1500"/>
            <a:chExt cx="580" cy="1202"/>
          </a:xfrm>
        </p:grpSpPr>
        <p:grpSp>
          <p:nvGrpSpPr>
            <p:cNvPr id="131114" name="Group 68"/>
            <p:cNvGrpSpPr/>
            <p:nvPr/>
          </p:nvGrpSpPr>
          <p:grpSpPr>
            <a:xfrm>
              <a:off x="3692" y="1500"/>
              <a:ext cx="513" cy="1202"/>
              <a:chOff x="3692" y="1500"/>
              <a:chExt cx="513" cy="1202"/>
            </a:xfrm>
          </p:grpSpPr>
          <p:sp>
            <p:nvSpPr>
              <p:cNvPr id="131116" name="Text Box 69"/>
              <p:cNvSpPr txBox="1"/>
              <p:nvPr/>
            </p:nvSpPr>
            <p:spPr>
              <a:xfrm>
                <a:off x="3772" y="1500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17" name="Text Box 70"/>
              <p:cNvSpPr txBox="1"/>
              <p:nvPr/>
            </p:nvSpPr>
            <p:spPr>
              <a:xfrm>
                <a:off x="3772" y="1694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18" name="Text Box 71"/>
              <p:cNvSpPr txBox="1"/>
              <p:nvPr/>
            </p:nvSpPr>
            <p:spPr>
              <a:xfrm>
                <a:off x="3772" y="1888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19" name="Text Box 72"/>
              <p:cNvSpPr txBox="1"/>
              <p:nvPr/>
            </p:nvSpPr>
            <p:spPr>
              <a:xfrm>
                <a:off x="3692" y="2412"/>
                <a:ext cx="51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+127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1115" name="Text Box 73"/>
            <p:cNvSpPr txBox="1"/>
            <p:nvPr/>
          </p:nvSpPr>
          <p:spPr>
            <a:xfrm>
              <a:off x="3886" y="2166"/>
              <a:ext cx="38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1093" name="Group 74"/>
          <p:cNvGrpSpPr/>
          <p:nvPr/>
        </p:nvGrpSpPr>
        <p:grpSpPr>
          <a:xfrm>
            <a:off x="8939213" y="2381250"/>
            <a:ext cx="892175" cy="1908175"/>
            <a:chOff x="4767" y="1212"/>
            <a:chExt cx="562" cy="1202"/>
          </a:xfrm>
        </p:grpSpPr>
        <p:grpSp>
          <p:nvGrpSpPr>
            <p:cNvPr id="131108" name="Group 75"/>
            <p:cNvGrpSpPr/>
            <p:nvPr/>
          </p:nvGrpSpPr>
          <p:grpSpPr>
            <a:xfrm>
              <a:off x="4767" y="1212"/>
              <a:ext cx="513" cy="1202"/>
              <a:chOff x="4767" y="1212"/>
              <a:chExt cx="513" cy="1202"/>
            </a:xfrm>
          </p:grpSpPr>
          <p:sp>
            <p:nvSpPr>
              <p:cNvPr id="131110" name="Text Box 76"/>
              <p:cNvSpPr txBox="1"/>
              <p:nvPr/>
            </p:nvSpPr>
            <p:spPr>
              <a:xfrm>
                <a:off x="4863" y="1212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11" name="Text Box 77"/>
              <p:cNvSpPr txBox="1"/>
              <p:nvPr/>
            </p:nvSpPr>
            <p:spPr>
              <a:xfrm>
                <a:off x="4863" y="1406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12" name="Text Box 78"/>
              <p:cNvSpPr txBox="1"/>
              <p:nvPr/>
            </p:nvSpPr>
            <p:spPr>
              <a:xfrm>
                <a:off x="4863" y="1600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13" name="Text Box 79"/>
              <p:cNvSpPr txBox="1"/>
              <p:nvPr/>
            </p:nvSpPr>
            <p:spPr>
              <a:xfrm>
                <a:off x="4767" y="2124"/>
                <a:ext cx="51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+127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1109" name="Text Box 80"/>
            <p:cNvSpPr txBox="1"/>
            <p:nvPr/>
          </p:nvSpPr>
          <p:spPr>
            <a:xfrm>
              <a:off x="4943" y="1878"/>
              <a:ext cx="38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1094" name="Group 81"/>
          <p:cNvGrpSpPr/>
          <p:nvPr/>
        </p:nvGrpSpPr>
        <p:grpSpPr>
          <a:xfrm>
            <a:off x="5715000" y="2381250"/>
            <a:ext cx="854075" cy="1908175"/>
            <a:chOff x="2918" y="1212"/>
            <a:chExt cx="538" cy="1202"/>
          </a:xfrm>
        </p:grpSpPr>
        <p:grpSp>
          <p:nvGrpSpPr>
            <p:cNvPr id="131102" name="Group 82"/>
            <p:cNvGrpSpPr/>
            <p:nvPr/>
          </p:nvGrpSpPr>
          <p:grpSpPr>
            <a:xfrm>
              <a:off x="2918" y="1212"/>
              <a:ext cx="513" cy="1202"/>
              <a:chOff x="2918" y="1212"/>
              <a:chExt cx="513" cy="1202"/>
            </a:xfrm>
          </p:grpSpPr>
          <p:sp>
            <p:nvSpPr>
              <p:cNvPr id="131104" name="Text Box 83"/>
              <p:cNvSpPr txBox="1"/>
              <p:nvPr/>
            </p:nvSpPr>
            <p:spPr>
              <a:xfrm>
                <a:off x="3004" y="1212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05" name="Text Box 84"/>
              <p:cNvSpPr txBox="1"/>
              <p:nvPr/>
            </p:nvSpPr>
            <p:spPr>
              <a:xfrm>
                <a:off x="3004" y="1406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06" name="Text Box 85"/>
              <p:cNvSpPr txBox="1"/>
              <p:nvPr/>
            </p:nvSpPr>
            <p:spPr>
              <a:xfrm>
                <a:off x="3004" y="1600"/>
                <a:ext cx="3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07" name="Text Box 86"/>
              <p:cNvSpPr txBox="1"/>
              <p:nvPr/>
            </p:nvSpPr>
            <p:spPr>
              <a:xfrm>
                <a:off x="2918" y="2124"/>
                <a:ext cx="51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+127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1103" name="Text Box 87"/>
            <p:cNvSpPr txBox="1"/>
            <p:nvPr/>
          </p:nvSpPr>
          <p:spPr>
            <a:xfrm>
              <a:off x="3070" y="1878"/>
              <a:ext cx="38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600" name="Rectangle 88"/>
          <p:cNvSpPr>
            <a:spLocks noChangeArrowheads="1"/>
          </p:cNvSpPr>
          <p:nvPr/>
        </p:nvSpPr>
        <p:spPr bwMode="auto">
          <a:xfrm>
            <a:off x="9677400" y="-762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1096" name="Group 89"/>
          <p:cNvGrpSpPr/>
          <p:nvPr/>
        </p:nvGrpSpPr>
        <p:grpSpPr>
          <a:xfrm>
            <a:off x="7512050" y="2381250"/>
            <a:ext cx="509588" cy="460375"/>
            <a:chOff x="3772" y="1500"/>
            <a:chExt cx="321" cy="290"/>
          </a:xfrm>
        </p:grpSpPr>
        <p:sp>
          <p:nvSpPr>
            <p:cNvPr id="131100" name="Text Box 90"/>
            <p:cNvSpPr txBox="1"/>
            <p:nvPr/>
          </p:nvSpPr>
          <p:spPr>
            <a:xfrm>
              <a:off x="3772" y="1500"/>
              <a:ext cx="32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1101" name="Line 91"/>
            <p:cNvSpPr/>
            <p:nvPr/>
          </p:nvSpPr>
          <p:spPr>
            <a:xfrm>
              <a:off x="3840" y="1728"/>
              <a:ext cx="9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1097" name="Text Box 92"/>
          <p:cNvSpPr txBox="1"/>
          <p:nvPr/>
        </p:nvSpPr>
        <p:spPr>
          <a:xfrm>
            <a:off x="1905000" y="200025"/>
            <a:ext cx="8183880" cy="1383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设机器数字长为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8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位（其中１位为符号位）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对于整数，当其分别代表无符号数、原码、补码和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反码时，对应的真值范围各为多少？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1098" name="AutoShape 93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109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2098" name="Group 2"/>
          <p:cNvGrpSpPr/>
          <p:nvPr/>
        </p:nvGrpSpPr>
        <p:grpSpPr>
          <a:xfrm>
            <a:off x="3657600" y="4000500"/>
            <a:ext cx="4038600" cy="2811463"/>
            <a:chOff x="1344" y="2520"/>
            <a:chExt cx="2544" cy="1771"/>
          </a:xfrm>
        </p:grpSpPr>
        <p:sp>
          <p:nvSpPr>
            <p:cNvPr id="132178" name="AutoShape 3"/>
            <p:cNvSpPr/>
            <p:nvPr/>
          </p:nvSpPr>
          <p:spPr>
            <a:xfrm>
              <a:off x="1488" y="2520"/>
              <a:ext cx="1920" cy="299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2179" name="AutoShape 4"/>
            <p:cNvSpPr/>
            <p:nvPr/>
          </p:nvSpPr>
          <p:spPr>
            <a:xfrm>
              <a:off x="1344" y="3955"/>
              <a:ext cx="2544" cy="336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32099" name="Text Box 5"/>
          <p:cNvSpPr txBox="1"/>
          <p:nvPr/>
        </p:nvSpPr>
        <p:spPr>
          <a:xfrm>
            <a:off x="1524000" y="228600"/>
            <a:ext cx="262255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6.12</a:t>
            </a:r>
            <a:r>
              <a:rPr lang="zh-CN" altLang="en-US" sz="1600" b="1" dirty="0">
                <a:latin typeface="Times New Roman" panose="02020603050405020304" pitchFamily="18" charset="0"/>
              </a:rPr>
              <a:t>书</a:t>
            </a:r>
            <a:r>
              <a:rPr lang="en-US" altLang="zh-CN" sz="1600" b="1" dirty="0">
                <a:latin typeface="Times New Roman" panose="02020603050405020304" pitchFamily="18" charset="0"/>
              </a:rPr>
              <a:t>p226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endParaRPr lang="en-US" altLang="zh-CN" sz="3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32100" name="Text Box 6"/>
          <p:cNvSpPr txBox="1"/>
          <p:nvPr/>
        </p:nvSpPr>
        <p:spPr>
          <a:xfrm>
            <a:off x="2590800" y="8382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32101" name="Group 7"/>
          <p:cNvGrpSpPr/>
          <p:nvPr/>
        </p:nvGrpSpPr>
        <p:grpSpPr>
          <a:xfrm>
            <a:off x="3970338" y="246063"/>
            <a:ext cx="4948237" cy="584200"/>
            <a:chOff x="1541" y="155"/>
            <a:chExt cx="3117" cy="368"/>
          </a:xfrm>
        </p:grpSpPr>
        <p:sp>
          <p:nvSpPr>
            <p:cNvPr id="132176" name="Text Box 8"/>
            <p:cNvSpPr txBox="1"/>
            <p:nvPr/>
          </p:nvSpPr>
          <p:spPr>
            <a:xfrm>
              <a:off x="1541" y="155"/>
              <a:ext cx="311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已知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       求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[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2177" name="Line 9"/>
            <p:cNvSpPr/>
            <p:nvPr/>
          </p:nvSpPr>
          <p:spPr>
            <a:xfrm>
              <a:off x="3478" y="391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2102" name="Group 10"/>
          <p:cNvGrpSpPr/>
          <p:nvPr/>
        </p:nvGrpSpPr>
        <p:grpSpPr>
          <a:xfrm>
            <a:off x="2174875" y="1476375"/>
            <a:ext cx="5216525" cy="522288"/>
            <a:chOff x="410" y="930"/>
            <a:chExt cx="3286" cy="329"/>
          </a:xfrm>
        </p:grpSpPr>
        <p:sp>
          <p:nvSpPr>
            <p:cNvPr id="132174" name="Text Box 11"/>
            <p:cNvSpPr txBox="1"/>
            <p:nvPr/>
          </p:nvSpPr>
          <p:spPr>
            <a:xfrm>
              <a:off x="410" y="930"/>
              <a:ext cx="328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  &lt;Ⅰ&gt;     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0.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75" name="Text Box 12"/>
            <p:cNvSpPr txBox="1"/>
            <p:nvPr/>
          </p:nvSpPr>
          <p:spPr>
            <a:xfrm>
              <a:off x="2780" y="930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2103" name="Group 13"/>
          <p:cNvGrpSpPr/>
          <p:nvPr/>
        </p:nvGrpSpPr>
        <p:grpSpPr>
          <a:xfrm>
            <a:off x="4362450" y="2011363"/>
            <a:ext cx="2443163" cy="522287"/>
            <a:chOff x="1788" y="1267"/>
            <a:chExt cx="1539" cy="329"/>
          </a:xfrm>
        </p:grpSpPr>
        <p:sp>
          <p:nvSpPr>
            <p:cNvPr id="132172" name="Text Box 14"/>
            <p:cNvSpPr txBox="1"/>
            <p:nvPr/>
          </p:nvSpPr>
          <p:spPr>
            <a:xfrm>
              <a:off x="1788" y="1267"/>
              <a:ext cx="15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y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0.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 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73" name="Text Box 15"/>
            <p:cNvSpPr txBox="1"/>
            <p:nvPr/>
          </p:nvSpPr>
          <p:spPr>
            <a:xfrm>
              <a:off x="2784" y="1267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2104" name="Group 16"/>
          <p:cNvGrpSpPr/>
          <p:nvPr/>
        </p:nvGrpSpPr>
        <p:grpSpPr>
          <a:xfrm>
            <a:off x="4257675" y="2547938"/>
            <a:ext cx="2735263" cy="522287"/>
            <a:chOff x="1722" y="1605"/>
            <a:chExt cx="1723" cy="329"/>
          </a:xfrm>
        </p:grpSpPr>
        <p:sp>
          <p:nvSpPr>
            <p:cNvPr id="132168" name="Text Box 17"/>
            <p:cNvSpPr txBox="1"/>
            <p:nvPr/>
          </p:nvSpPr>
          <p:spPr>
            <a:xfrm>
              <a:off x="1789" y="1605"/>
              <a:ext cx="165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   0.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69" name="Text Box 18"/>
            <p:cNvSpPr txBox="1"/>
            <p:nvPr/>
          </p:nvSpPr>
          <p:spPr>
            <a:xfrm>
              <a:off x="2928" y="1605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2170" name="Line 19"/>
            <p:cNvSpPr/>
            <p:nvPr/>
          </p:nvSpPr>
          <p:spPr>
            <a:xfrm>
              <a:off x="2173" y="1797"/>
              <a:ext cx="1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71" name="Line 20"/>
            <p:cNvSpPr/>
            <p:nvPr/>
          </p:nvSpPr>
          <p:spPr>
            <a:xfrm>
              <a:off x="1722" y="1797"/>
              <a:ext cx="1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2105" name="Group 21"/>
          <p:cNvGrpSpPr/>
          <p:nvPr/>
        </p:nvGrpSpPr>
        <p:grpSpPr>
          <a:xfrm>
            <a:off x="3643313" y="3082925"/>
            <a:ext cx="3884613" cy="546100"/>
            <a:chOff x="1335" y="1942"/>
            <a:chExt cx="2447" cy="344"/>
          </a:xfrm>
        </p:grpSpPr>
        <p:sp>
          <p:nvSpPr>
            <p:cNvPr id="132162" name="Text Box 22"/>
            <p:cNvSpPr txBox="1"/>
            <p:nvPr/>
          </p:nvSpPr>
          <p:spPr>
            <a:xfrm>
              <a:off x="1335" y="1957"/>
              <a:ext cx="24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1.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+ 2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63" name="Line 23"/>
            <p:cNvSpPr/>
            <p:nvPr/>
          </p:nvSpPr>
          <p:spPr>
            <a:xfrm>
              <a:off x="1479" y="2149"/>
              <a:ext cx="1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64" name="Text Box 24"/>
            <p:cNvSpPr txBox="1"/>
            <p:nvPr/>
          </p:nvSpPr>
          <p:spPr>
            <a:xfrm>
              <a:off x="2784" y="1942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2165" name="Line 25"/>
            <p:cNvSpPr/>
            <p:nvPr/>
          </p:nvSpPr>
          <p:spPr>
            <a:xfrm>
              <a:off x="2304" y="2044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66" name="Line 26"/>
            <p:cNvSpPr/>
            <p:nvPr/>
          </p:nvSpPr>
          <p:spPr>
            <a:xfrm>
              <a:off x="2544" y="2044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67" name="Line 27"/>
            <p:cNvSpPr/>
            <p:nvPr/>
          </p:nvSpPr>
          <p:spPr>
            <a:xfrm>
              <a:off x="3060" y="2044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2106" name="Group 28"/>
          <p:cNvGrpSpPr/>
          <p:nvPr/>
        </p:nvGrpSpPr>
        <p:grpSpPr>
          <a:xfrm>
            <a:off x="2617788" y="3843338"/>
            <a:ext cx="4095750" cy="584200"/>
            <a:chOff x="689" y="2421"/>
            <a:chExt cx="2580" cy="368"/>
          </a:xfrm>
        </p:grpSpPr>
        <p:sp>
          <p:nvSpPr>
            <p:cNvPr id="132160" name="Text Box 29"/>
            <p:cNvSpPr txBox="1"/>
            <p:nvPr/>
          </p:nvSpPr>
          <p:spPr>
            <a:xfrm>
              <a:off x="689" y="2460"/>
              <a:ext cx="258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&lt;Ⅱ&gt;     [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1.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61" name="Text Box 30"/>
            <p:cNvSpPr txBox="1"/>
            <p:nvPr/>
          </p:nvSpPr>
          <p:spPr>
            <a:xfrm>
              <a:off x="2784" y="2421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2107" name="Group 31"/>
          <p:cNvGrpSpPr/>
          <p:nvPr/>
        </p:nvGrpSpPr>
        <p:grpSpPr>
          <a:xfrm>
            <a:off x="3810000" y="4440238"/>
            <a:ext cx="4446588" cy="598487"/>
            <a:chOff x="1440" y="2797"/>
            <a:chExt cx="2801" cy="377"/>
          </a:xfrm>
        </p:grpSpPr>
        <p:sp>
          <p:nvSpPr>
            <p:cNvPr id="132155" name="Text Box 32"/>
            <p:cNvSpPr txBox="1"/>
            <p:nvPr/>
          </p:nvSpPr>
          <p:spPr>
            <a:xfrm>
              <a:off x="1440" y="2845"/>
              <a:ext cx="280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1.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+ 2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56" name="Text Box 33"/>
            <p:cNvSpPr txBox="1"/>
            <p:nvPr/>
          </p:nvSpPr>
          <p:spPr>
            <a:xfrm>
              <a:off x="2784" y="2797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2157" name="Line 34"/>
            <p:cNvSpPr/>
            <p:nvPr/>
          </p:nvSpPr>
          <p:spPr>
            <a:xfrm>
              <a:off x="2372" y="2932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58" name="Line 35"/>
            <p:cNvSpPr/>
            <p:nvPr/>
          </p:nvSpPr>
          <p:spPr>
            <a:xfrm>
              <a:off x="2599" y="2932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59" name="Line 36"/>
            <p:cNvSpPr/>
            <p:nvPr/>
          </p:nvSpPr>
          <p:spPr>
            <a:xfrm>
              <a:off x="3098" y="2932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2108" name="Group 37"/>
          <p:cNvGrpSpPr/>
          <p:nvPr/>
        </p:nvGrpSpPr>
        <p:grpSpPr>
          <a:xfrm>
            <a:off x="4065588" y="5053013"/>
            <a:ext cx="4456112" cy="584200"/>
            <a:chOff x="1601" y="3183"/>
            <a:chExt cx="2807" cy="368"/>
          </a:xfrm>
        </p:grpSpPr>
        <p:sp>
          <p:nvSpPr>
            <p:cNvPr id="132149" name="Text Box 38"/>
            <p:cNvSpPr txBox="1"/>
            <p:nvPr/>
          </p:nvSpPr>
          <p:spPr>
            <a:xfrm>
              <a:off x="1601" y="3222"/>
              <a:ext cx="280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0.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endParaRPr lang="zh-CN" altLang="en-US" sz="2800" b="1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50" name="Text Box 39"/>
            <p:cNvSpPr txBox="1"/>
            <p:nvPr/>
          </p:nvSpPr>
          <p:spPr>
            <a:xfrm>
              <a:off x="3120" y="3183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2151" name="Line 40"/>
            <p:cNvSpPr/>
            <p:nvPr/>
          </p:nvSpPr>
          <p:spPr>
            <a:xfrm>
              <a:off x="2735" y="3309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52" name="Line 41"/>
            <p:cNvSpPr/>
            <p:nvPr/>
          </p:nvSpPr>
          <p:spPr>
            <a:xfrm>
              <a:off x="2962" y="3309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53" name="Line 42"/>
            <p:cNvSpPr/>
            <p:nvPr/>
          </p:nvSpPr>
          <p:spPr>
            <a:xfrm>
              <a:off x="3461" y="3309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54" name="Line 43"/>
            <p:cNvSpPr/>
            <p:nvPr/>
          </p:nvSpPr>
          <p:spPr>
            <a:xfrm>
              <a:off x="2225" y="3405"/>
              <a:ext cx="1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2109" name="Group 44"/>
          <p:cNvGrpSpPr/>
          <p:nvPr/>
        </p:nvGrpSpPr>
        <p:grpSpPr>
          <a:xfrm>
            <a:off x="4078288" y="5649913"/>
            <a:ext cx="4465637" cy="536575"/>
            <a:chOff x="1609" y="3559"/>
            <a:chExt cx="2813" cy="338"/>
          </a:xfrm>
        </p:grpSpPr>
        <p:sp>
          <p:nvSpPr>
            <p:cNvPr id="132143" name="Text Box 45"/>
            <p:cNvSpPr txBox="1"/>
            <p:nvPr/>
          </p:nvSpPr>
          <p:spPr>
            <a:xfrm>
              <a:off x="1609" y="3568"/>
              <a:ext cx="281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0.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+ 2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44" name="Text Box 46"/>
            <p:cNvSpPr txBox="1"/>
            <p:nvPr/>
          </p:nvSpPr>
          <p:spPr>
            <a:xfrm>
              <a:off x="2832" y="3559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2145" name="Line 47"/>
            <p:cNvSpPr/>
            <p:nvPr/>
          </p:nvSpPr>
          <p:spPr>
            <a:xfrm>
              <a:off x="2372" y="3655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46" name="Line 48"/>
            <p:cNvSpPr/>
            <p:nvPr/>
          </p:nvSpPr>
          <p:spPr>
            <a:xfrm>
              <a:off x="2645" y="3655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47" name="Line 49"/>
            <p:cNvSpPr/>
            <p:nvPr/>
          </p:nvSpPr>
          <p:spPr>
            <a:xfrm>
              <a:off x="3126" y="3655"/>
              <a:ext cx="19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148" name="Line 50"/>
            <p:cNvSpPr/>
            <p:nvPr/>
          </p:nvSpPr>
          <p:spPr>
            <a:xfrm>
              <a:off x="1706" y="3751"/>
              <a:ext cx="1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2110" name="Group 51"/>
          <p:cNvGrpSpPr/>
          <p:nvPr/>
        </p:nvGrpSpPr>
        <p:grpSpPr>
          <a:xfrm>
            <a:off x="3643313" y="6189663"/>
            <a:ext cx="4005263" cy="584200"/>
            <a:chOff x="1335" y="3899"/>
            <a:chExt cx="2523" cy="368"/>
          </a:xfrm>
        </p:grpSpPr>
        <p:grpSp>
          <p:nvGrpSpPr>
            <p:cNvPr id="132136" name="Group 52"/>
            <p:cNvGrpSpPr/>
            <p:nvPr/>
          </p:nvGrpSpPr>
          <p:grpSpPr>
            <a:xfrm>
              <a:off x="1335" y="3938"/>
              <a:ext cx="2523" cy="329"/>
              <a:chOff x="1335" y="3938"/>
              <a:chExt cx="2523" cy="329"/>
            </a:xfrm>
          </p:grpSpPr>
          <p:sp>
            <p:nvSpPr>
              <p:cNvPr id="132138" name="Text Box 53"/>
              <p:cNvSpPr txBox="1"/>
              <p:nvPr/>
            </p:nvSpPr>
            <p:spPr>
              <a:xfrm>
                <a:off x="1335" y="3938"/>
                <a:ext cx="252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[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1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= 0.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+ 2</a:t>
                </a:r>
                <a:r>
                  <a:rPr lang="en-US" altLang="zh-CN" sz="2800" b="1" baseline="45000" dirty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800" b="1" i="1" baseline="45000" dirty="0">
                    <a:latin typeface="Times New Roman" panose="02020603050405020304" pitchFamily="18" charset="0"/>
                  </a:rPr>
                  <a:t>n</a:t>
                </a:r>
                <a:endParaRPr lang="en-US" altLang="zh-CN" sz="2800" b="1" i="1" baseline="4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139" name="Line 54"/>
              <p:cNvSpPr/>
              <p:nvPr/>
            </p:nvSpPr>
            <p:spPr>
              <a:xfrm>
                <a:off x="1479" y="4130"/>
                <a:ext cx="12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2140" name="Line 55"/>
              <p:cNvSpPr/>
              <p:nvPr/>
            </p:nvSpPr>
            <p:spPr>
              <a:xfrm>
                <a:off x="2372" y="4025"/>
                <a:ext cx="1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2141" name="Line 56"/>
              <p:cNvSpPr/>
              <p:nvPr/>
            </p:nvSpPr>
            <p:spPr>
              <a:xfrm>
                <a:off x="2608" y="4025"/>
                <a:ext cx="1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2142" name="Line 57"/>
              <p:cNvSpPr/>
              <p:nvPr/>
            </p:nvSpPr>
            <p:spPr>
              <a:xfrm>
                <a:off x="3126" y="4025"/>
                <a:ext cx="1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32137" name="Text Box 58"/>
            <p:cNvSpPr txBox="1"/>
            <p:nvPr/>
          </p:nvSpPr>
          <p:spPr>
            <a:xfrm>
              <a:off x="2832" y="3899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2111" name="Group 59"/>
          <p:cNvGrpSpPr/>
          <p:nvPr/>
        </p:nvGrpSpPr>
        <p:grpSpPr>
          <a:xfrm>
            <a:off x="3455988" y="893763"/>
            <a:ext cx="3462337" cy="584199"/>
            <a:chOff x="1217" y="563"/>
            <a:chExt cx="2181" cy="368"/>
          </a:xfrm>
        </p:grpSpPr>
        <p:sp>
          <p:nvSpPr>
            <p:cNvPr id="132134" name="Text Box 60"/>
            <p:cNvSpPr txBox="1"/>
            <p:nvPr/>
          </p:nvSpPr>
          <p:spPr>
            <a:xfrm>
              <a:off x="1217" y="563"/>
              <a:ext cx="218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 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2135" name="Text Box 61"/>
            <p:cNvSpPr txBox="1"/>
            <p:nvPr/>
          </p:nvSpPr>
          <p:spPr>
            <a:xfrm>
              <a:off x="2880" y="576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5598" name="Rectangle 6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113" name="Rectangle 63"/>
          <p:cNvSpPr/>
          <p:nvPr/>
        </p:nvSpPr>
        <p:spPr>
          <a:xfrm>
            <a:off x="3303588" y="2133600"/>
            <a:ext cx="5764212" cy="914400"/>
          </a:xfrm>
          <a:prstGeom prst="rect">
            <a:avLst/>
          </a:prstGeom>
          <a:solidFill>
            <a:srgbClr val="0033CC"/>
          </a:solidFill>
          <a:ln w="9525" cap="flat" cmpd="sng">
            <a:solidFill>
              <a:srgbClr val="00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132114" name="Group 64"/>
          <p:cNvGrpSpPr/>
          <p:nvPr/>
        </p:nvGrpSpPr>
        <p:grpSpPr>
          <a:xfrm>
            <a:off x="3303588" y="2057400"/>
            <a:ext cx="5649912" cy="1011238"/>
            <a:chOff x="1104" y="1333"/>
            <a:chExt cx="3559" cy="637"/>
          </a:xfrm>
        </p:grpSpPr>
        <p:sp>
          <p:nvSpPr>
            <p:cNvPr id="132128" name="Line 65"/>
            <p:cNvSpPr/>
            <p:nvPr/>
          </p:nvSpPr>
          <p:spPr>
            <a:xfrm>
              <a:off x="1589" y="1850"/>
              <a:ext cx="77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32129" name="Group 66"/>
            <p:cNvGrpSpPr/>
            <p:nvPr/>
          </p:nvGrpSpPr>
          <p:grpSpPr>
            <a:xfrm>
              <a:off x="1104" y="1333"/>
              <a:ext cx="3559" cy="637"/>
              <a:chOff x="1104" y="1333"/>
              <a:chExt cx="3559" cy="637"/>
            </a:xfrm>
          </p:grpSpPr>
          <p:sp>
            <p:nvSpPr>
              <p:cNvPr id="132130" name="Text Box 67"/>
              <p:cNvSpPr txBox="1"/>
              <p:nvPr/>
            </p:nvSpPr>
            <p:spPr>
              <a:xfrm>
                <a:off x="2944" y="1333"/>
                <a:ext cx="995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每位取反，</a:t>
                </a:r>
                <a:endPara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131" name="Text Box 68"/>
              <p:cNvSpPr txBox="1"/>
              <p:nvPr/>
            </p:nvSpPr>
            <p:spPr>
              <a:xfrm>
                <a:off x="1104" y="1699"/>
                <a:ext cx="855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即得</a:t>
                </a:r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[  </a:t>
                </a:r>
                <a:r>
                  <a:rPr lang="en-US" altLang="zh-CN" sz="2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132" name="Text Box 69"/>
              <p:cNvSpPr txBox="1"/>
              <p:nvPr/>
            </p:nvSpPr>
            <p:spPr>
              <a:xfrm>
                <a:off x="1104" y="1344"/>
                <a:ext cx="182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连同符号位在内，</a:t>
                </a:r>
                <a:endPara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133" name="Text Box 70"/>
              <p:cNvSpPr txBox="1"/>
              <p:nvPr/>
            </p:nvSpPr>
            <p:spPr>
              <a:xfrm>
                <a:off x="3888" y="1344"/>
                <a:ext cx="775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末位加 </a:t>
                </a:r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2115" name="Group 71"/>
          <p:cNvGrpSpPr/>
          <p:nvPr/>
        </p:nvGrpSpPr>
        <p:grpSpPr>
          <a:xfrm>
            <a:off x="3678238" y="1582738"/>
            <a:ext cx="3886200" cy="2074862"/>
            <a:chOff x="1357" y="997"/>
            <a:chExt cx="2448" cy="1307"/>
          </a:xfrm>
        </p:grpSpPr>
        <p:sp>
          <p:nvSpPr>
            <p:cNvPr id="132126" name="AutoShape 72"/>
            <p:cNvSpPr/>
            <p:nvPr/>
          </p:nvSpPr>
          <p:spPr>
            <a:xfrm>
              <a:off x="1488" y="997"/>
              <a:ext cx="1872" cy="288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2127" name="AutoShape 73"/>
            <p:cNvSpPr/>
            <p:nvPr/>
          </p:nvSpPr>
          <p:spPr>
            <a:xfrm>
              <a:off x="1357" y="1968"/>
              <a:ext cx="2448" cy="336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32116" name="Rectangle 74"/>
          <p:cNvSpPr/>
          <p:nvPr/>
        </p:nvSpPr>
        <p:spPr>
          <a:xfrm>
            <a:off x="3352800" y="4495800"/>
            <a:ext cx="5764213" cy="1752600"/>
          </a:xfrm>
          <a:prstGeom prst="rect">
            <a:avLst/>
          </a:prstGeom>
          <a:solidFill>
            <a:srgbClr val="0033CC"/>
          </a:solidFill>
          <a:ln w="9525" cap="flat" cmpd="sng">
            <a:solidFill>
              <a:srgbClr val="00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2117" name="Group 75"/>
          <p:cNvGrpSpPr/>
          <p:nvPr/>
        </p:nvGrpSpPr>
        <p:grpSpPr>
          <a:xfrm>
            <a:off x="3352800" y="4876800"/>
            <a:ext cx="5649913" cy="1011238"/>
            <a:chOff x="1104" y="3072"/>
            <a:chExt cx="3559" cy="637"/>
          </a:xfrm>
        </p:grpSpPr>
        <p:sp>
          <p:nvSpPr>
            <p:cNvPr id="132120" name="Line 76"/>
            <p:cNvSpPr/>
            <p:nvPr/>
          </p:nvSpPr>
          <p:spPr>
            <a:xfrm>
              <a:off x="1589" y="3589"/>
              <a:ext cx="77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32121" name="Group 77"/>
            <p:cNvGrpSpPr/>
            <p:nvPr/>
          </p:nvGrpSpPr>
          <p:grpSpPr>
            <a:xfrm>
              <a:off x="1104" y="3072"/>
              <a:ext cx="3559" cy="637"/>
              <a:chOff x="1104" y="1333"/>
              <a:chExt cx="3559" cy="637"/>
            </a:xfrm>
          </p:grpSpPr>
          <p:sp>
            <p:nvSpPr>
              <p:cNvPr id="132122" name="Text Box 78"/>
              <p:cNvSpPr txBox="1"/>
              <p:nvPr/>
            </p:nvSpPr>
            <p:spPr>
              <a:xfrm>
                <a:off x="2944" y="1333"/>
                <a:ext cx="995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每位取反，</a:t>
                </a:r>
                <a:endPara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123" name="Text Box 79"/>
              <p:cNvSpPr txBox="1"/>
              <p:nvPr/>
            </p:nvSpPr>
            <p:spPr>
              <a:xfrm>
                <a:off x="1104" y="1699"/>
                <a:ext cx="855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即得</a:t>
                </a:r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[  </a:t>
                </a:r>
                <a:r>
                  <a:rPr lang="en-US" altLang="zh-CN" sz="2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124" name="Text Box 80"/>
              <p:cNvSpPr txBox="1"/>
              <p:nvPr/>
            </p:nvSpPr>
            <p:spPr>
              <a:xfrm>
                <a:off x="1104" y="1344"/>
                <a:ext cx="182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连同符号位在内，</a:t>
                </a:r>
                <a:endPara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125" name="Text Box 81"/>
              <p:cNvSpPr txBox="1"/>
              <p:nvPr/>
            </p:nvSpPr>
            <p:spPr>
              <a:xfrm>
                <a:off x="3888" y="1344"/>
                <a:ext cx="775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末位加 </a:t>
                </a:r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32118" name="AutoShape 8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211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补码</a:t>
            </a:r>
            <a:endParaRPr lang="zh-CN" altLang="en-US" dirty="0"/>
          </a:p>
        </p:txBody>
      </p:sp>
      <p:sp>
        <p:nvSpPr>
          <p:cNvPr id="1331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公式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负数</a:t>
            </a:r>
            <a:r>
              <a:rPr lang="zh-CN" altLang="en-US" dirty="0"/>
              <a:t>根据反码求补码</a:t>
            </a:r>
            <a:endParaRPr lang="en-US" altLang="zh-CN" dirty="0"/>
          </a:p>
          <a:p>
            <a:pPr eaLnBrk="1" hangingPunct="1"/>
            <a:r>
              <a:rPr lang="zh-CN" altLang="en-US" dirty="0"/>
              <a:t>已知一个数（</a:t>
            </a:r>
            <a:r>
              <a:rPr lang="zh-CN" altLang="en-US" dirty="0">
                <a:solidFill>
                  <a:srgbClr val="FF0000"/>
                </a:solidFill>
              </a:rPr>
              <a:t>正数和负数</a:t>
            </a:r>
            <a:r>
              <a:rPr lang="zh-CN" altLang="en-US" dirty="0"/>
              <a:t>）的补码，求相反数的补码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13312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Text Box 2"/>
          <p:cNvSpPr txBox="1"/>
          <p:nvPr/>
        </p:nvSpPr>
        <p:spPr>
          <a:xfrm>
            <a:off x="2209800" y="228600"/>
            <a:ext cx="5541963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5. </a:t>
            </a:r>
            <a:r>
              <a:rPr lang="zh-CN" altLang="en-US" sz="3600" b="1" dirty="0">
                <a:latin typeface="Times New Roman" panose="02020603050405020304" pitchFamily="18" charset="0"/>
              </a:rPr>
              <a:t>移码表示法（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引入原因</a:t>
            </a:r>
            <a:r>
              <a:rPr lang="zh-CN" altLang="en-US" sz="3600" b="1" dirty="0">
                <a:latin typeface="Times New Roman" panose="02020603050405020304" pitchFamily="18" charset="0"/>
              </a:rPr>
              <a:t>）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34147" name="Text Box 3"/>
          <p:cNvSpPr txBox="1"/>
          <p:nvPr/>
        </p:nvSpPr>
        <p:spPr>
          <a:xfrm>
            <a:off x="3184525" y="914400"/>
            <a:ext cx="5516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补码表示很难直接判断其真值大小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4148" name="Text Box 4"/>
          <p:cNvSpPr txBox="1"/>
          <p:nvPr/>
        </p:nvSpPr>
        <p:spPr>
          <a:xfrm>
            <a:off x="2574925" y="1447800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4149" name="Text Box 5"/>
          <p:cNvSpPr txBox="1"/>
          <p:nvPr/>
        </p:nvSpPr>
        <p:spPr>
          <a:xfrm>
            <a:off x="3200400" y="144780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十进制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4150" name="Group 6"/>
          <p:cNvGrpSpPr/>
          <p:nvPr/>
        </p:nvGrpSpPr>
        <p:grpSpPr>
          <a:xfrm>
            <a:off x="3276600" y="2012950"/>
            <a:ext cx="1343025" cy="2166938"/>
            <a:chOff x="1104" y="1268"/>
            <a:chExt cx="846" cy="1365"/>
          </a:xfrm>
        </p:grpSpPr>
        <p:sp>
          <p:nvSpPr>
            <p:cNvPr id="134193" name="Text Box 7"/>
            <p:cNvSpPr txBox="1"/>
            <p:nvPr/>
          </p:nvSpPr>
          <p:spPr>
            <a:xfrm>
              <a:off x="1104" y="1268"/>
              <a:ext cx="81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+21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4194" name="Text Box 8"/>
            <p:cNvSpPr txBox="1"/>
            <p:nvPr/>
          </p:nvSpPr>
          <p:spPr>
            <a:xfrm>
              <a:off x="1114" y="1619"/>
              <a:ext cx="80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–21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4195" name="Text Box 9"/>
            <p:cNvSpPr txBox="1"/>
            <p:nvPr/>
          </p:nvSpPr>
          <p:spPr>
            <a:xfrm>
              <a:off x="1114" y="1955"/>
              <a:ext cx="8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+31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4196" name="Text Box 10"/>
            <p:cNvSpPr txBox="1"/>
            <p:nvPr/>
          </p:nvSpPr>
          <p:spPr>
            <a:xfrm>
              <a:off x="1114" y="2304"/>
              <a:ext cx="80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–31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4151" name="Text Box 11"/>
          <p:cNvSpPr txBox="1"/>
          <p:nvPr/>
        </p:nvSpPr>
        <p:spPr>
          <a:xfrm>
            <a:off x="2743200" y="4191000"/>
            <a:ext cx="11563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+ 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5</a:t>
            </a:r>
            <a:endParaRPr lang="en-US" altLang="zh-CN" sz="3200" b="1" baseline="40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2" name="Text Box 12"/>
          <p:cNvSpPr txBox="1"/>
          <p:nvPr/>
        </p:nvSpPr>
        <p:spPr>
          <a:xfrm>
            <a:off x="3505200" y="4572000"/>
            <a:ext cx="27216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+10101 + 100000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53" name="Text Box 13"/>
          <p:cNvSpPr txBox="1"/>
          <p:nvPr/>
        </p:nvSpPr>
        <p:spPr>
          <a:xfrm>
            <a:off x="3517900" y="5648325"/>
            <a:ext cx="26428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+11111 + 100000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34154" name="Group 14"/>
          <p:cNvGrpSpPr/>
          <p:nvPr/>
        </p:nvGrpSpPr>
        <p:grpSpPr>
          <a:xfrm>
            <a:off x="3609975" y="5110163"/>
            <a:ext cx="2636838" cy="522287"/>
            <a:chOff x="1314" y="3225"/>
            <a:chExt cx="1661" cy="329"/>
          </a:xfrm>
        </p:grpSpPr>
        <p:sp>
          <p:nvSpPr>
            <p:cNvPr id="134191" name="Text Box 15"/>
            <p:cNvSpPr txBox="1"/>
            <p:nvPr/>
          </p:nvSpPr>
          <p:spPr>
            <a:xfrm>
              <a:off x="1388" y="3225"/>
              <a:ext cx="15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10101 + 100000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4192" name="Line 16"/>
            <p:cNvSpPr/>
            <p:nvPr/>
          </p:nvSpPr>
          <p:spPr>
            <a:xfrm>
              <a:off x="1314" y="3408"/>
              <a:ext cx="1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4155" name="Group 17"/>
          <p:cNvGrpSpPr/>
          <p:nvPr/>
        </p:nvGrpSpPr>
        <p:grpSpPr>
          <a:xfrm>
            <a:off x="3616325" y="6186488"/>
            <a:ext cx="2551113" cy="522287"/>
            <a:chOff x="1318" y="3897"/>
            <a:chExt cx="1607" cy="329"/>
          </a:xfrm>
        </p:grpSpPr>
        <p:sp>
          <p:nvSpPr>
            <p:cNvPr id="134189" name="Text Box 18"/>
            <p:cNvSpPr txBox="1"/>
            <p:nvPr/>
          </p:nvSpPr>
          <p:spPr>
            <a:xfrm>
              <a:off x="1388" y="3897"/>
              <a:ext cx="153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11111 + 100000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4190" name="Line 19"/>
            <p:cNvSpPr/>
            <p:nvPr/>
          </p:nvSpPr>
          <p:spPr>
            <a:xfrm>
              <a:off x="1318" y="4080"/>
              <a:ext cx="12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4156" name="Group 20"/>
          <p:cNvGrpSpPr/>
          <p:nvPr/>
        </p:nvGrpSpPr>
        <p:grpSpPr>
          <a:xfrm>
            <a:off x="9312275" y="2133600"/>
            <a:ext cx="852488" cy="765175"/>
            <a:chOff x="4906" y="1344"/>
            <a:chExt cx="537" cy="482"/>
          </a:xfrm>
        </p:grpSpPr>
        <p:sp>
          <p:nvSpPr>
            <p:cNvPr id="134187" name="AutoShape 21"/>
            <p:cNvSpPr/>
            <p:nvPr/>
          </p:nvSpPr>
          <p:spPr>
            <a:xfrm rot="-5400000">
              <a:off x="4786" y="1464"/>
              <a:ext cx="432" cy="192"/>
            </a:xfrm>
            <a:prstGeom prst="curvedUpArrow">
              <a:avLst>
                <a:gd name="adj1" fmla="val 45000"/>
                <a:gd name="adj2" fmla="val 90000"/>
                <a:gd name="adj3" fmla="val 33254"/>
              </a:avLst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4188" name="Text Box 22"/>
            <p:cNvSpPr txBox="1"/>
            <p:nvPr/>
          </p:nvSpPr>
          <p:spPr>
            <a:xfrm>
              <a:off x="5136" y="1536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大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4157" name="Group 23"/>
          <p:cNvGrpSpPr/>
          <p:nvPr/>
        </p:nvGrpSpPr>
        <p:grpSpPr>
          <a:xfrm>
            <a:off x="9312275" y="3352800"/>
            <a:ext cx="836613" cy="765175"/>
            <a:chOff x="4906" y="2112"/>
            <a:chExt cx="527" cy="482"/>
          </a:xfrm>
        </p:grpSpPr>
        <p:sp>
          <p:nvSpPr>
            <p:cNvPr id="134185" name="AutoShape 24"/>
            <p:cNvSpPr/>
            <p:nvPr/>
          </p:nvSpPr>
          <p:spPr>
            <a:xfrm rot="-5400000">
              <a:off x="4786" y="2232"/>
              <a:ext cx="432" cy="192"/>
            </a:xfrm>
            <a:prstGeom prst="curvedUpArrow">
              <a:avLst>
                <a:gd name="adj1" fmla="val 45000"/>
                <a:gd name="adj2" fmla="val 90000"/>
                <a:gd name="adj3" fmla="val 33254"/>
              </a:avLst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4186" name="Text Box 25"/>
            <p:cNvSpPr txBox="1"/>
            <p:nvPr/>
          </p:nvSpPr>
          <p:spPr>
            <a:xfrm>
              <a:off x="5126" y="2304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大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4158" name="Text Box 26"/>
          <p:cNvSpPr txBox="1"/>
          <p:nvPr/>
        </p:nvSpPr>
        <p:spPr>
          <a:xfrm>
            <a:off x="9923463" y="2033588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错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9" name="Text Box 27"/>
          <p:cNvSpPr txBox="1"/>
          <p:nvPr/>
        </p:nvSpPr>
        <p:spPr>
          <a:xfrm>
            <a:off x="9923463" y="3206750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错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4160" name="Group 28"/>
          <p:cNvGrpSpPr/>
          <p:nvPr/>
        </p:nvGrpSpPr>
        <p:grpSpPr>
          <a:xfrm>
            <a:off x="7696200" y="4572000"/>
            <a:ext cx="944563" cy="914400"/>
            <a:chOff x="3888" y="2832"/>
            <a:chExt cx="595" cy="576"/>
          </a:xfrm>
        </p:grpSpPr>
        <p:sp>
          <p:nvSpPr>
            <p:cNvPr id="134183" name="AutoShape 29"/>
            <p:cNvSpPr/>
            <p:nvPr/>
          </p:nvSpPr>
          <p:spPr>
            <a:xfrm rot="5400000">
              <a:off x="3792" y="3072"/>
              <a:ext cx="432" cy="240"/>
            </a:xfrm>
            <a:prstGeom prst="curvedDownArrow">
              <a:avLst>
                <a:gd name="adj1" fmla="val 36000"/>
                <a:gd name="adj2" fmla="val 72000"/>
                <a:gd name="adj3" fmla="val 33254"/>
              </a:avLst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4184" name="Text Box 30"/>
            <p:cNvSpPr txBox="1"/>
            <p:nvPr/>
          </p:nvSpPr>
          <p:spPr>
            <a:xfrm>
              <a:off x="4176" y="2832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大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4161" name="Group 31"/>
          <p:cNvGrpSpPr/>
          <p:nvPr/>
        </p:nvGrpSpPr>
        <p:grpSpPr>
          <a:xfrm>
            <a:off x="7696200" y="5715000"/>
            <a:ext cx="944563" cy="838200"/>
            <a:chOff x="3888" y="3552"/>
            <a:chExt cx="595" cy="528"/>
          </a:xfrm>
        </p:grpSpPr>
        <p:sp>
          <p:nvSpPr>
            <p:cNvPr id="134181" name="Text Box 32"/>
            <p:cNvSpPr txBox="1"/>
            <p:nvPr/>
          </p:nvSpPr>
          <p:spPr>
            <a:xfrm>
              <a:off x="4176" y="3552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大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4182" name="AutoShape 33"/>
            <p:cNvSpPr/>
            <p:nvPr/>
          </p:nvSpPr>
          <p:spPr>
            <a:xfrm rot="5400000">
              <a:off x="3792" y="3744"/>
              <a:ext cx="432" cy="240"/>
            </a:xfrm>
            <a:prstGeom prst="curvedDownArrow">
              <a:avLst>
                <a:gd name="adj1" fmla="val 36000"/>
                <a:gd name="adj2" fmla="val 72000"/>
                <a:gd name="adj3" fmla="val 33254"/>
              </a:avLst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34162" name="Text Box 34"/>
          <p:cNvSpPr txBox="1"/>
          <p:nvPr/>
        </p:nvSpPr>
        <p:spPr>
          <a:xfrm>
            <a:off x="8594725" y="4821238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正确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3" name="Text Box 35"/>
          <p:cNvSpPr txBox="1"/>
          <p:nvPr/>
        </p:nvSpPr>
        <p:spPr>
          <a:xfrm>
            <a:off x="8610600" y="59436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正确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4" name="Text Box 36"/>
          <p:cNvSpPr txBox="1"/>
          <p:nvPr/>
        </p:nvSpPr>
        <p:spPr>
          <a:xfrm>
            <a:off x="8001000" y="2012950"/>
            <a:ext cx="13385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0,10101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65" name="Text Box 37"/>
          <p:cNvSpPr txBox="1"/>
          <p:nvPr/>
        </p:nvSpPr>
        <p:spPr>
          <a:xfrm>
            <a:off x="8001000" y="2570163"/>
            <a:ext cx="13188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1,01011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66" name="Text Box 38"/>
          <p:cNvSpPr txBox="1"/>
          <p:nvPr/>
        </p:nvSpPr>
        <p:spPr>
          <a:xfrm>
            <a:off x="8001000" y="3103563"/>
            <a:ext cx="12598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0,11111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67" name="Text Box 39"/>
          <p:cNvSpPr txBox="1"/>
          <p:nvPr/>
        </p:nvSpPr>
        <p:spPr>
          <a:xfrm>
            <a:off x="8001000" y="3657600"/>
            <a:ext cx="13385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1,00001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68" name="Text Box 40"/>
          <p:cNvSpPr txBox="1"/>
          <p:nvPr/>
        </p:nvSpPr>
        <p:spPr>
          <a:xfrm>
            <a:off x="5638800" y="2012950"/>
            <a:ext cx="1274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+10101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69" name="Text Box 41"/>
          <p:cNvSpPr txBox="1"/>
          <p:nvPr/>
        </p:nvSpPr>
        <p:spPr>
          <a:xfrm>
            <a:off x="5638800" y="2570163"/>
            <a:ext cx="1275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10101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70" name="Text Box 42"/>
          <p:cNvSpPr txBox="1"/>
          <p:nvPr/>
        </p:nvSpPr>
        <p:spPr>
          <a:xfrm>
            <a:off x="5638800" y="3103563"/>
            <a:ext cx="11957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+11111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71" name="Text Box 43"/>
          <p:cNvSpPr txBox="1"/>
          <p:nvPr/>
        </p:nvSpPr>
        <p:spPr>
          <a:xfrm>
            <a:off x="5638800" y="3657600"/>
            <a:ext cx="11963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11111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72" name="Text Box 44"/>
          <p:cNvSpPr txBox="1"/>
          <p:nvPr/>
        </p:nvSpPr>
        <p:spPr>
          <a:xfrm>
            <a:off x="6172200" y="4572000"/>
            <a:ext cx="15214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110101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73" name="Text Box 45"/>
          <p:cNvSpPr txBox="1"/>
          <p:nvPr/>
        </p:nvSpPr>
        <p:spPr>
          <a:xfrm>
            <a:off x="6172200" y="5110163"/>
            <a:ext cx="15214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001011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74" name="Text Box 46"/>
          <p:cNvSpPr txBox="1"/>
          <p:nvPr/>
        </p:nvSpPr>
        <p:spPr>
          <a:xfrm>
            <a:off x="6172200" y="5648325"/>
            <a:ext cx="14427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111111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75" name="Text Box 47"/>
          <p:cNvSpPr txBox="1"/>
          <p:nvPr/>
        </p:nvSpPr>
        <p:spPr>
          <a:xfrm>
            <a:off x="6172200" y="6186488"/>
            <a:ext cx="15411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000001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4176" name="Text Box 48"/>
          <p:cNvSpPr txBox="1"/>
          <p:nvPr/>
        </p:nvSpPr>
        <p:spPr>
          <a:xfrm>
            <a:off x="5638800" y="1447800"/>
            <a:ext cx="1981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二进制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77" name="Text Box 49"/>
          <p:cNvSpPr txBox="1"/>
          <p:nvPr/>
        </p:nvSpPr>
        <p:spPr>
          <a:xfrm>
            <a:off x="8229600" y="1447800"/>
            <a:ext cx="1828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补码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610" name="Rectangle 5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79" name="AutoShape 51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418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Text Box 2"/>
          <p:cNvSpPr txBox="1"/>
          <p:nvPr/>
        </p:nvSpPr>
        <p:spPr>
          <a:xfrm>
            <a:off x="2057400" y="228600"/>
            <a:ext cx="4953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移码定义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35171" name="Text Box 3"/>
          <p:cNvSpPr txBox="1"/>
          <p:nvPr/>
        </p:nvSpPr>
        <p:spPr>
          <a:xfrm>
            <a:off x="3032125" y="1571625"/>
            <a:ext cx="5578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为真值，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整数的位数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172" name="Text Box 4"/>
          <p:cNvSpPr txBox="1"/>
          <p:nvPr/>
        </p:nvSpPr>
        <p:spPr>
          <a:xfrm>
            <a:off x="3794125" y="2159000"/>
            <a:ext cx="6721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移码在数轴上的表示（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？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35173" name="Group 5"/>
          <p:cNvGrpSpPr/>
          <p:nvPr/>
        </p:nvGrpSpPr>
        <p:grpSpPr>
          <a:xfrm>
            <a:off x="4156075" y="2667000"/>
            <a:ext cx="4754563" cy="1733550"/>
            <a:chOff x="1658" y="1680"/>
            <a:chExt cx="2995" cy="1092"/>
          </a:xfrm>
        </p:grpSpPr>
        <p:sp>
          <p:nvSpPr>
            <p:cNvPr id="135190" name="Line 6"/>
            <p:cNvSpPr/>
            <p:nvPr/>
          </p:nvSpPr>
          <p:spPr>
            <a:xfrm>
              <a:off x="2107" y="1968"/>
              <a:ext cx="1999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35191" name="Line 7"/>
            <p:cNvSpPr/>
            <p:nvPr/>
          </p:nvSpPr>
          <p:spPr>
            <a:xfrm>
              <a:off x="1658" y="2448"/>
              <a:ext cx="201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35192" name="Freeform 8"/>
            <p:cNvSpPr/>
            <p:nvPr/>
          </p:nvSpPr>
          <p:spPr>
            <a:xfrm>
              <a:off x="1985" y="1968"/>
              <a:ext cx="489" cy="486"/>
            </a:xfrm>
            <a:custGeom>
              <a:avLst/>
              <a:gdLst>
                <a:gd name="txL" fmla="*/ 0 w 489"/>
                <a:gd name="txT" fmla="*/ 0 h 486"/>
                <a:gd name="txR" fmla="*/ 489 w 489"/>
                <a:gd name="txB" fmla="*/ 486 h 486"/>
              </a:gdLst>
              <a:ahLst/>
              <a:cxnLst>
                <a:cxn ang="0">
                  <a:pos x="489" y="0"/>
                </a:cxn>
                <a:cxn ang="0">
                  <a:pos x="0" y="486"/>
                </a:cxn>
              </a:cxnLst>
              <a:rect l="txL" t="txT" r="txR" b="tx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5193" name="Freeform 9"/>
            <p:cNvSpPr/>
            <p:nvPr/>
          </p:nvSpPr>
          <p:spPr>
            <a:xfrm>
              <a:off x="2657" y="1968"/>
              <a:ext cx="489" cy="486"/>
            </a:xfrm>
            <a:custGeom>
              <a:avLst/>
              <a:gdLst>
                <a:gd name="txL" fmla="*/ 0 w 489"/>
                <a:gd name="txT" fmla="*/ 0 h 486"/>
                <a:gd name="txR" fmla="*/ 489 w 489"/>
                <a:gd name="txB" fmla="*/ 486 h 486"/>
              </a:gdLst>
              <a:ahLst/>
              <a:cxnLst>
                <a:cxn ang="0">
                  <a:pos x="489" y="0"/>
                </a:cxn>
                <a:cxn ang="0">
                  <a:pos x="0" y="486"/>
                </a:cxn>
              </a:cxnLst>
              <a:rect l="txL" t="txT" r="txR" b="tx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5194" name="Freeform 10"/>
            <p:cNvSpPr/>
            <p:nvPr/>
          </p:nvSpPr>
          <p:spPr>
            <a:xfrm>
              <a:off x="3338" y="1968"/>
              <a:ext cx="489" cy="486"/>
            </a:xfrm>
            <a:custGeom>
              <a:avLst/>
              <a:gdLst>
                <a:gd name="txL" fmla="*/ 0 w 489"/>
                <a:gd name="txT" fmla="*/ 0 h 486"/>
                <a:gd name="txR" fmla="*/ 489 w 489"/>
                <a:gd name="txB" fmla="*/ 486 h 486"/>
              </a:gdLst>
              <a:ahLst/>
              <a:cxnLst>
                <a:cxn ang="0">
                  <a:pos x="489" y="0"/>
                </a:cxn>
                <a:cxn ang="0">
                  <a:pos x="0" y="486"/>
                </a:cxn>
              </a:cxnLst>
              <a:rect l="txL" t="txT" r="txR" b="tx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5195" name="Text Box 11"/>
            <p:cNvSpPr txBox="1"/>
            <p:nvPr/>
          </p:nvSpPr>
          <p:spPr>
            <a:xfrm>
              <a:off x="4106" y="1872"/>
              <a:ext cx="54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移码</a:t>
              </a:r>
              <a:endParaRPr lang="zh-CN" altLang="en-US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5196" name="Text Box 12"/>
            <p:cNvSpPr txBox="1"/>
            <p:nvPr/>
          </p:nvSpPr>
          <p:spPr>
            <a:xfrm>
              <a:off x="3616" y="1680"/>
              <a:ext cx="67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3200" b="1" baseline="40000" dirty="0">
                  <a:latin typeface="Times New Roman" panose="02020603050405020304" pitchFamily="18" charset="0"/>
                </a:rPr>
                <a:t>+1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–1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5197" name="Text Box 13"/>
            <p:cNvSpPr txBox="1"/>
            <p:nvPr/>
          </p:nvSpPr>
          <p:spPr>
            <a:xfrm>
              <a:off x="3103" y="1680"/>
              <a:ext cx="30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endParaRPr lang="en-US" altLang="zh-CN" sz="3200" b="1" i="1" baseline="40000" dirty="0">
                <a:latin typeface="Times New Roman" panose="02020603050405020304" pitchFamily="18" charset="0"/>
              </a:endParaRPr>
            </a:p>
          </p:txBody>
        </p:sp>
        <p:sp>
          <p:nvSpPr>
            <p:cNvPr id="135198" name="Text Box 14"/>
            <p:cNvSpPr txBox="1"/>
            <p:nvPr/>
          </p:nvSpPr>
          <p:spPr>
            <a:xfrm>
              <a:off x="3135" y="2482"/>
              <a:ext cx="52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–1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5199" name="Text Box 15"/>
            <p:cNvSpPr txBox="1"/>
            <p:nvPr/>
          </p:nvSpPr>
          <p:spPr>
            <a:xfrm>
              <a:off x="1850" y="2482"/>
              <a:ext cx="40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–2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endParaRPr lang="en-US" altLang="zh-CN" sz="3200" b="1" i="1" baseline="40000" dirty="0">
                <a:latin typeface="Times New Roman" panose="02020603050405020304" pitchFamily="18" charset="0"/>
              </a:endParaRPr>
            </a:p>
          </p:txBody>
        </p:sp>
        <p:sp>
          <p:nvSpPr>
            <p:cNvPr id="135200" name="Text Box 16"/>
            <p:cNvSpPr txBox="1"/>
            <p:nvPr/>
          </p:nvSpPr>
          <p:spPr>
            <a:xfrm>
              <a:off x="2560" y="2482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5201" name="Text Box 17"/>
            <p:cNvSpPr txBox="1"/>
            <p:nvPr/>
          </p:nvSpPr>
          <p:spPr>
            <a:xfrm>
              <a:off x="2426" y="1680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5202" name="Text Box 18"/>
            <p:cNvSpPr txBox="1"/>
            <p:nvPr/>
          </p:nvSpPr>
          <p:spPr>
            <a:xfrm>
              <a:off x="3674" y="2342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真值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5174" name="Text Box 19"/>
          <p:cNvSpPr txBox="1"/>
          <p:nvPr/>
        </p:nvSpPr>
        <p:spPr>
          <a:xfrm>
            <a:off x="2514600" y="4352925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5175" name="Text Box 20"/>
          <p:cNvSpPr txBox="1"/>
          <p:nvPr/>
        </p:nvSpPr>
        <p:spPr>
          <a:xfrm>
            <a:off x="3549650" y="4343400"/>
            <a:ext cx="45275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10100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5176" name="Text Box 21"/>
          <p:cNvSpPr txBox="1"/>
          <p:nvPr/>
        </p:nvSpPr>
        <p:spPr>
          <a:xfrm>
            <a:off x="3048000" y="4906963"/>
            <a:ext cx="3733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移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</a:rPr>
              <a:t> + 10100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5177" name="Text Box 22"/>
          <p:cNvSpPr txBox="1"/>
          <p:nvPr/>
        </p:nvSpPr>
        <p:spPr>
          <a:xfrm>
            <a:off x="8077200" y="5273675"/>
            <a:ext cx="25908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用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逗号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将符号位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和数值部分隔开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35178" name="Text Box 23"/>
          <p:cNvSpPr txBox="1"/>
          <p:nvPr/>
        </p:nvSpPr>
        <p:spPr>
          <a:xfrm>
            <a:off x="3546475" y="5486400"/>
            <a:ext cx="2209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–10100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5179" name="Text Box 24"/>
          <p:cNvSpPr txBox="1"/>
          <p:nvPr/>
        </p:nvSpPr>
        <p:spPr>
          <a:xfrm>
            <a:off x="3048000" y="6030913"/>
            <a:ext cx="3352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移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 10100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35180" name="Group 25"/>
          <p:cNvGrpSpPr/>
          <p:nvPr/>
        </p:nvGrpSpPr>
        <p:grpSpPr>
          <a:xfrm>
            <a:off x="2955925" y="914400"/>
            <a:ext cx="4983163" cy="584201"/>
            <a:chOff x="902" y="576"/>
            <a:chExt cx="3139" cy="368"/>
          </a:xfrm>
        </p:grpSpPr>
        <p:sp>
          <p:nvSpPr>
            <p:cNvPr id="135188" name="Text Box 26"/>
            <p:cNvSpPr txBox="1"/>
            <p:nvPr/>
          </p:nvSpPr>
          <p:spPr>
            <a:xfrm>
              <a:off x="902" y="576"/>
              <a:ext cx="313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移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+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2</a:t>
              </a:r>
              <a:r>
                <a:rPr lang="en-US" altLang="zh-CN" sz="3200" b="1" i="1" baseline="4000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）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5189" name="Line 27"/>
            <p:cNvSpPr/>
            <p:nvPr/>
          </p:nvSpPr>
          <p:spPr>
            <a:xfrm>
              <a:off x="3408" y="768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5181" name="Text Box 28"/>
          <p:cNvSpPr txBox="1"/>
          <p:nvPr/>
        </p:nvSpPr>
        <p:spPr>
          <a:xfrm>
            <a:off x="5759450" y="4906963"/>
            <a:ext cx="16300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1,10100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5182" name="Text Box 29"/>
          <p:cNvSpPr txBox="1"/>
          <p:nvPr/>
        </p:nvSpPr>
        <p:spPr>
          <a:xfrm>
            <a:off x="5759450" y="6030913"/>
            <a:ext cx="16103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0,01100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5183" name="Freeform 30"/>
          <p:cNvSpPr/>
          <p:nvPr/>
        </p:nvSpPr>
        <p:spPr>
          <a:xfrm>
            <a:off x="6330950" y="5360988"/>
            <a:ext cx="1746250" cy="430212"/>
          </a:xfrm>
          <a:custGeom>
            <a:avLst/>
            <a:gdLst>
              <a:gd name="txL" fmla="*/ 0 w 1152"/>
              <a:gd name="txT" fmla="*/ 0 h 240"/>
              <a:gd name="txR" fmla="*/ 1152 w 1152"/>
              <a:gd name="txB" fmla="*/ 240 h 240"/>
            </a:gdLst>
            <a:ahLst/>
            <a:cxnLst>
              <a:cxn ang="0">
                <a:pos x="0" y="0"/>
              </a:cxn>
              <a:cxn ang="0">
                <a:pos x="0" y="240"/>
              </a:cxn>
              <a:cxn ang="0">
                <a:pos x="1152" y="240"/>
              </a:cxn>
            </a:cxnLst>
            <a:rect l="txL" t="txT" r="txR" b="txB"/>
            <a:pathLst>
              <a:path w="1152" h="240">
                <a:moveTo>
                  <a:pt x="0" y="0"/>
                </a:moveTo>
                <a:lnTo>
                  <a:pt x="0" y="240"/>
                </a:lnTo>
                <a:lnTo>
                  <a:pt x="1152" y="24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5184" name="Freeform 31"/>
          <p:cNvSpPr/>
          <p:nvPr/>
        </p:nvSpPr>
        <p:spPr>
          <a:xfrm>
            <a:off x="6364288" y="6224588"/>
            <a:ext cx="2819400" cy="533400"/>
          </a:xfrm>
          <a:custGeom>
            <a:avLst/>
            <a:gdLst>
              <a:gd name="txL" fmla="*/ 0 w 1776"/>
              <a:gd name="txT" fmla="*/ 0 h 336"/>
              <a:gd name="txR" fmla="*/ 1776 w 1776"/>
              <a:gd name="txB" fmla="*/ 336 h 336"/>
            </a:gdLst>
            <a:ahLst/>
            <a:cxnLst>
              <a:cxn ang="0">
                <a:pos x="0" y="192"/>
              </a:cxn>
              <a:cxn ang="0">
                <a:pos x="0" y="336"/>
              </a:cxn>
              <a:cxn ang="0">
                <a:pos x="1776" y="336"/>
              </a:cxn>
              <a:cxn ang="0">
                <a:pos x="1776" y="0"/>
              </a:cxn>
            </a:cxnLst>
            <a:rect l="txL" t="txT" r="txR" b="txB"/>
            <a:pathLst>
              <a:path w="1776" h="336">
                <a:moveTo>
                  <a:pt x="0" y="192"/>
                </a:moveTo>
                <a:lnTo>
                  <a:pt x="0" y="336"/>
                </a:lnTo>
                <a:lnTo>
                  <a:pt x="1776" y="336"/>
                </a:lnTo>
                <a:lnTo>
                  <a:pt x="177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7616" name="Rectangle 3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186" name="AutoShape 33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518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Text Box 2"/>
          <p:cNvSpPr txBox="1"/>
          <p:nvPr/>
        </p:nvSpPr>
        <p:spPr>
          <a:xfrm>
            <a:off x="2041525" y="501650"/>
            <a:ext cx="51212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移码和补码的比较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36195" name="Text Box 3"/>
          <p:cNvSpPr txBox="1"/>
          <p:nvPr/>
        </p:nvSpPr>
        <p:spPr>
          <a:xfrm>
            <a:off x="2667000" y="1466850"/>
            <a:ext cx="356997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设     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+1100100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6196" name="Text Box 4"/>
          <p:cNvSpPr txBox="1"/>
          <p:nvPr/>
        </p:nvSpPr>
        <p:spPr>
          <a:xfrm>
            <a:off x="3276600" y="2133600"/>
            <a:ext cx="349250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移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7</a:t>
            </a:r>
            <a:r>
              <a:rPr lang="en-US" altLang="zh-CN" sz="3200" b="1" dirty="0">
                <a:latin typeface="Times New Roman" panose="02020603050405020304" pitchFamily="18" charset="0"/>
              </a:rPr>
              <a:t> + 1100100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6197" name="Text Box 5"/>
          <p:cNvSpPr txBox="1"/>
          <p:nvPr/>
        </p:nvSpPr>
        <p:spPr>
          <a:xfrm>
            <a:off x="3276600" y="2895600"/>
            <a:ext cx="302704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0,1100100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6198" name="Text Box 6"/>
          <p:cNvSpPr txBox="1"/>
          <p:nvPr/>
        </p:nvSpPr>
        <p:spPr>
          <a:xfrm>
            <a:off x="2667000" y="3744913"/>
            <a:ext cx="35413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设     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–1100100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6199" name="Text Box 7"/>
          <p:cNvSpPr txBox="1"/>
          <p:nvPr/>
        </p:nvSpPr>
        <p:spPr>
          <a:xfrm>
            <a:off x="3276600" y="4411663"/>
            <a:ext cx="346392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移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7</a:t>
            </a:r>
            <a:r>
              <a:rPr lang="en-US" altLang="zh-CN" sz="3200" b="1" dirty="0">
                <a:latin typeface="Times New Roman" panose="02020603050405020304" pitchFamily="18" charset="0"/>
              </a:rPr>
              <a:t> – 1100100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6200" name="Text Box 8"/>
          <p:cNvSpPr txBox="1"/>
          <p:nvPr/>
        </p:nvSpPr>
        <p:spPr>
          <a:xfrm>
            <a:off x="3276600" y="5105400"/>
            <a:ext cx="300418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1,0011100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6201" name="Text Box 9"/>
          <p:cNvSpPr txBox="1"/>
          <p:nvPr/>
        </p:nvSpPr>
        <p:spPr>
          <a:xfrm>
            <a:off x="2727325" y="5845175"/>
            <a:ext cx="56692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补码与移码只差一个符号位</a:t>
            </a:r>
            <a:endParaRPr lang="zh-CN" altLang="en-US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202" name="Text Box 10"/>
          <p:cNvSpPr txBox="1"/>
          <p:nvPr/>
        </p:nvSpPr>
        <p:spPr>
          <a:xfrm>
            <a:off x="6781800" y="2133600"/>
            <a:ext cx="22205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1,1100100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6203" name="Text Box 11"/>
          <p:cNvSpPr txBox="1"/>
          <p:nvPr/>
        </p:nvSpPr>
        <p:spPr>
          <a:xfrm>
            <a:off x="6781800" y="4411663"/>
            <a:ext cx="21977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0,0011100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6204" name="Text Box 12"/>
          <p:cNvSpPr txBox="1"/>
          <p:nvPr/>
        </p:nvSpPr>
        <p:spPr>
          <a:xfrm>
            <a:off x="7119938" y="2133600"/>
            <a:ext cx="457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205" name="Text Box 13"/>
          <p:cNvSpPr txBox="1"/>
          <p:nvPr/>
        </p:nvSpPr>
        <p:spPr>
          <a:xfrm>
            <a:off x="4430713" y="2895600"/>
            <a:ext cx="457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206" name="Text Box 14"/>
          <p:cNvSpPr txBox="1"/>
          <p:nvPr/>
        </p:nvSpPr>
        <p:spPr>
          <a:xfrm>
            <a:off x="7119938" y="4419600"/>
            <a:ext cx="457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207" name="Text Box 15"/>
          <p:cNvSpPr txBox="1"/>
          <p:nvPr/>
        </p:nvSpPr>
        <p:spPr>
          <a:xfrm>
            <a:off x="4430713" y="5105400"/>
            <a:ext cx="457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4" name="Rectangle 1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209" name="AutoShape 17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621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7218" name="Group 2"/>
          <p:cNvGrpSpPr/>
          <p:nvPr/>
        </p:nvGrpSpPr>
        <p:grpSpPr>
          <a:xfrm>
            <a:off x="2195513" y="2098675"/>
            <a:ext cx="1765300" cy="4152900"/>
            <a:chOff x="411" y="1322"/>
            <a:chExt cx="1112" cy="2616"/>
          </a:xfrm>
        </p:grpSpPr>
        <p:sp>
          <p:nvSpPr>
            <p:cNvPr id="137277" name="Text Box 3"/>
            <p:cNvSpPr txBox="1"/>
            <p:nvPr/>
          </p:nvSpPr>
          <p:spPr>
            <a:xfrm>
              <a:off x="480" y="1322"/>
              <a:ext cx="10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- 1 0 0 0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78" name="Text Box 4"/>
            <p:cNvSpPr txBox="1"/>
            <p:nvPr/>
          </p:nvSpPr>
          <p:spPr>
            <a:xfrm>
              <a:off x="480" y="1562"/>
              <a:ext cx="10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-    1 1 1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79" name="Text Box 5"/>
            <p:cNvSpPr txBox="1"/>
            <p:nvPr/>
          </p:nvSpPr>
          <p:spPr>
            <a:xfrm>
              <a:off x="480" y="1824"/>
              <a:ext cx="10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-    1 1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80" name="Text Box 6"/>
            <p:cNvSpPr txBox="1"/>
            <p:nvPr/>
          </p:nvSpPr>
          <p:spPr>
            <a:xfrm>
              <a:off x="480" y="2245"/>
              <a:ext cx="10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-    0 0 0 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81" name="Text Box 7"/>
            <p:cNvSpPr txBox="1"/>
            <p:nvPr/>
          </p:nvSpPr>
          <p:spPr>
            <a:xfrm>
              <a:off x="411" y="2496"/>
              <a:ext cx="107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±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0 0 0 0 0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82" name="Text Box 8"/>
            <p:cNvSpPr txBox="1"/>
            <p:nvPr/>
          </p:nvSpPr>
          <p:spPr>
            <a:xfrm>
              <a:off x="480" y="2736"/>
              <a:ext cx="104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+   0 0 0 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83" name="Text Box 9"/>
            <p:cNvSpPr txBox="1"/>
            <p:nvPr/>
          </p:nvSpPr>
          <p:spPr>
            <a:xfrm>
              <a:off x="480" y="2976"/>
              <a:ext cx="104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+   0 0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84" name="Text Box 10"/>
            <p:cNvSpPr txBox="1"/>
            <p:nvPr/>
          </p:nvSpPr>
          <p:spPr>
            <a:xfrm>
              <a:off x="480" y="3408"/>
              <a:ext cx="104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+   1 1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85" name="Text Box 11"/>
            <p:cNvSpPr txBox="1"/>
            <p:nvPr/>
          </p:nvSpPr>
          <p:spPr>
            <a:xfrm>
              <a:off x="480" y="3648"/>
              <a:ext cx="104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+   1 1 1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86" name="Text Box 12"/>
            <p:cNvSpPr txBox="1"/>
            <p:nvPr/>
          </p:nvSpPr>
          <p:spPr>
            <a:xfrm>
              <a:off x="996" y="2043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87" name="Text Box 13"/>
            <p:cNvSpPr txBox="1"/>
            <p:nvPr/>
          </p:nvSpPr>
          <p:spPr>
            <a:xfrm>
              <a:off x="996" y="3206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7219" name="Group 14"/>
          <p:cNvGrpSpPr/>
          <p:nvPr/>
        </p:nvGrpSpPr>
        <p:grpSpPr>
          <a:xfrm>
            <a:off x="2133600" y="1295400"/>
            <a:ext cx="8229600" cy="5105400"/>
            <a:chOff x="384" y="816"/>
            <a:chExt cx="5184" cy="3216"/>
          </a:xfrm>
        </p:grpSpPr>
        <p:sp>
          <p:nvSpPr>
            <p:cNvPr id="137268" name="Text Box 15"/>
            <p:cNvSpPr txBox="1"/>
            <p:nvPr/>
          </p:nvSpPr>
          <p:spPr>
            <a:xfrm>
              <a:off x="396" y="912"/>
              <a:ext cx="1260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真值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(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5 )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69" name="Text Box 16"/>
            <p:cNvSpPr txBox="1"/>
            <p:nvPr/>
          </p:nvSpPr>
          <p:spPr>
            <a:xfrm>
              <a:off x="2133" y="864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endParaRPr lang="zh-CN" altLang="en-US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7270" name="Text Box 17"/>
            <p:cNvSpPr txBox="1"/>
            <p:nvPr/>
          </p:nvSpPr>
          <p:spPr>
            <a:xfrm>
              <a:off x="3456" y="864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移</a:t>
              </a:r>
              <a:endParaRPr lang="zh-CN" altLang="en-US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37271" name="Text Box 18"/>
            <p:cNvSpPr txBox="1"/>
            <p:nvPr/>
          </p:nvSpPr>
          <p:spPr>
            <a:xfrm>
              <a:off x="4464" y="816"/>
              <a:ext cx="926" cy="44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] 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移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对应的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十进制整数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72" name="Rectangle 19"/>
            <p:cNvSpPr/>
            <p:nvPr/>
          </p:nvSpPr>
          <p:spPr>
            <a:xfrm>
              <a:off x="384" y="816"/>
              <a:ext cx="5184" cy="321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7273" name="Line 20"/>
            <p:cNvSpPr/>
            <p:nvPr/>
          </p:nvSpPr>
          <p:spPr>
            <a:xfrm>
              <a:off x="384" y="1296"/>
              <a:ext cx="51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7274" name="Line 21"/>
            <p:cNvSpPr/>
            <p:nvPr/>
          </p:nvSpPr>
          <p:spPr>
            <a:xfrm>
              <a:off x="1680" y="816"/>
              <a:ext cx="0" cy="32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7275" name="Line 22"/>
            <p:cNvSpPr/>
            <p:nvPr/>
          </p:nvSpPr>
          <p:spPr>
            <a:xfrm>
              <a:off x="2976" y="816"/>
              <a:ext cx="0" cy="32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7276" name="Line 23"/>
            <p:cNvSpPr/>
            <p:nvPr/>
          </p:nvSpPr>
          <p:spPr>
            <a:xfrm>
              <a:off x="4272" y="816"/>
              <a:ext cx="0" cy="32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7220" name="Text Box 24"/>
          <p:cNvSpPr txBox="1"/>
          <p:nvPr/>
        </p:nvSpPr>
        <p:spPr>
          <a:xfrm>
            <a:off x="2133600" y="349250"/>
            <a:ext cx="6781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(3) </a:t>
            </a:r>
            <a:r>
              <a:rPr lang="zh-CN" altLang="en-US" sz="3600" b="1" dirty="0">
                <a:latin typeface="Times New Roman" panose="02020603050405020304" pitchFamily="18" charset="0"/>
              </a:rPr>
              <a:t>真值、补码和移码的对照表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37221" name="Group 25"/>
          <p:cNvGrpSpPr/>
          <p:nvPr/>
        </p:nvGrpSpPr>
        <p:grpSpPr>
          <a:xfrm>
            <a:off x="9067800" y="2098675"/>
            <a:ext cx="685800" cy="4152900"/>
            <a:chOff x="4704" y="1322"/>
            <a:chExt cx="432" cy="2616"/>
          </a:xfrm>
        </p:grpSpPr>
        <p:sp>
          <p:nvSpPr>
            <p:cNvPr id="137256" name="Text Box 26"/>
            <p:cNvSpPr txBox="1"/>
            <p:nvPr/>
          </p:nvSpPr>
          <p:spPr>
            <a:xfrm>
              <a:off x="4788" y="2064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57" name="Text Box 27"/>
            <p:cNvSpPr txBox="1"/>
            <p:nvPr/>
          </p:nvSpPr>
          <p:spPr>
            <a:xfrm>
              <a:off x="4788" y="3227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37258" name="Group 28"/>
            <p:cNvGrpSpPr/>
            <p:nvPr/>
          </p:nvGrpSpPr>
          <p:grpSpPr>
            <a:xfrm>
              <a:off x="4704" y="1322"/>
              <a:ext cx="307" cy="2616"/>
              <a:chOff x="4704" y="1322"/>
              <a:chExt cx="307" cy="2616"/>
            </a:xfrm>
          </p:grpSpPr>
          <p:sp>
            <p:nvSpPr>
              <p:cNvPr id="137259" name="Text Box 29"/>
              <p:cNvSpPr txBox="1"/>
              <p:nvPr/>
            </p:nvSpPr>
            <p:spPr>
              <a:xfrm>
                <a:off x="4780" y="1322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260" name="Text Box 30"/>
              <p:cNvSpPr txBox="1"/>
              <p:nvPr/>
            </p:nvSpPr>
            <p:spPr>
              <a:xfrm>
                <a:off x="4780" y="1562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261" name="Text Box 31"/>
              <p:cNvSpPr txBox="1"/>
              <p:nvPr/>
            </p:nvSpPr>
            <p:spPr>
              <a:xfrm>
                <a:off x="4780" y="1824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262" name="Text Box 32"/>
              <p:cNvSpPr txBox="1"/>
              <p:nvPr/>
            </p:nvSpPr>
            <p:spPr>
              <a:xfrm>
                <a:off x="4704" y="2245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263" name="Text Box 33"/>
              <p:cNvSpPr txBox="1"/>
              <p:nvPr/>
            </p:nvSpPr>
            <p:spPr>
              <a:xfrm>
                <a:off x="4704" y="24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264" name="Text Box 34"/>
              <p:cNvSpPr txBox="1"/>
              <p:nvPr/>
            </p:nvSpPr>
            <p:spPr>
              <a:xfrm>
                <a:off x="4704" y="273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33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265" name="Text Box 35"/>
              <p:cNvSpPr txBox="1"/>
              <p:nvPr/>
            </p:nvSpPr>
            <p:spPr>
              <a:xfrm>
                <a:off x="4704" y="297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34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266" name="Text Box 36"/>
              <p:cNvSpPr txBox="1"/>
              <p:nvPr/>
            </p:nvSpPr>
            <p:spPr>
              <a:xfrm>
                <a:off x="4704" y="3408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62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267" name="Text Box 37"/>
              <p:cNvSpPr txBox="1"/>
              <p:nvPr/>
            </p:nvSpPr>
            <p:spPr>
              <a:xfrm>
                <a:off x="4704" y="3648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7222" name="Group 38"/>
          <p:cNvGrpSpPr/>
          <p:nvPr/>
        </p:nvGrpSpPr>
        <p:grpSpPr>
          <a:xfrm>
            <a:off x="6553200" y="2098675"/>
            <a:ext cx="1477963" cy="4152900"/>
            <a:chOff x="3302" y="1322"/>
            <a:chExt cx="931" cy="2616"/>
          </a:xfrm>
        </p:grpSpPr>
        <p:sp>
          <p:nvSpPr>
            <p:cNvPr id="137245" name="Text Box 39"/>
            <p:cNvSpPr txBox="1"/>
            <p:nvPr/>
          </p:nvSpPr>
          <p:spPr>
            <a:xfrm>
              <a:off x="3636" y="2064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6" name="Text Box 40"/>
            <p:cNvSpPr txBox="1"/>
            <p:nvPr/>
          </p:nvSpPr>
          <p:spPr>
            <a:xfrm>
              <a:off x="3636" y="3227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7" name="Text Box 41"/>
            <p:cNvSpPr txBox="1"/>
            <p:nvPr/>
          </p:nvSpPr>
          <p:spPr>
            <a:xfrm>
              <a:off x="3302" y="1322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0 0 0 0 0 0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8" name="Text Box 42"/>
            <p:cNvSpPr txBox="1"/>
            <p:nvPr/>
          </p:nvSpPr>
          <p:spPr>
            <a:xfrm>
              <a:off x="3302" y="1824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9" name="Text Box 43"/>
            <p:cNvSpPr txBox="1"/>
            <p:nvPr/>
          </p:nvSpPr>
          <p:spPr>
            <a:xfrm>
              <a:off x="3302" y="1562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0 0 0 0 0 1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50" name="Text Box 44"/>
            <p:cNvSpPr txBox="1"/>
            <p:nvPr/>
          </p:nvSpPr>
          <p:spPr>
            <a:xfrm>
              <a:off x="3302" y="2245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0 1 1 1 1 1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51" name="Text Box 45"/>
            <p:cNvSpPr txBox="1"/>
            <p:nvPr/>
          </p:nvSpPr>
          <p:spPr>
            <a:xfrm>
              <a:off x="3302" y="2496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1 0 0 0 0 0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52" name="Text Box 46"/>
            <p:cNvSpPr txBox="1"/>
            <p:nvPr/>
          </p:nvSpPr>
          <p:spPr>
            <a:xfrm>
              <a:off x="3302" y="2736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53" name="Text Box 47"/>
            <p:cNvSpPr txBox="1"/>
            <p:nvPr/>
          </p:nvSpPr>
          <p:spPr>
            <a:xfrm>
              <a:off x="3302" y="2976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1 0 0 0 1 0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54" name="Text Box 48"/>
            <p:cNvSpPr txBox="1"/>
            <p:nvPr/>
          </p:nvSpPr>
          <p:spPr>
            <a:xfrm>
              <a:off x="3302" y="3408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1 1 1 1 1 0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55" name="Text Box 49"/>
            <p:cNvSpPr txBox="1"/>
            <p:nvPr/>
          </p:nvSpPr>
          <p:spPr>
            <a:xfrm>
              <a:off x="3302" y="3648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1 1 1 1 1 1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7223" name="Group 50"/>
          <p:cNvGrpSpPr/>
          <p:nvPr/>
        </p:nvGrpSpPr>
        <p:grpSpPr>
          <a:xfrm>
            <a:off x="4495800" y="2098675"/>
            <a:ext cx="1477963" cy="4152900"/>
            <a:chOff x="1958" y="1322"/>
            <a:chExt cx="931" cy="2616"/>
          </a:xfrm>
        </p:grpSpPr>
        <p:sp>
          <p:nvSpPr>
            <p:cNvPr id="137234" name="Text Box 51"/>
            <p:cNvSpPr txBox="1"/>
            <p:nvPr/>
          </p:nvSpPr>
          <p:spPr>
            <a:xfrm>
              <a:off x="2292" y="2043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35" name="Text Box 52"/>
            <p:cNvSpPr txBox="1"/>
            <p:nvPr/>
          </p:nvSpPr>
          <p:spPr>
            <a:xfrm>
              <a:off x="2292" y="3206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36" name="Text Box 53"/>
            <p:cNvSpPr txBox="1"/>
            <p:nvPr/>
          </p:nvSpPr>
          <p:spPr>
            <a:xfrm>
              <a:off x="1958" y="3648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37" name="Text Box 54"/>
            <p:cNvSpPr txBox="1"/>
            <p:nvPr/>
          </p:nvSpPr>
          <p:spPr>
            <a:xfrm>
              <a:off x="1958" y="3408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0 1 1 1 1 0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38" name="Text Box 55"/>
            <p:cNvSpPr txBox="1"/>
            <p:nvPr/>
          </p:nvSpPr>
          <p:spPr>
            <a:xfrm>
              <a:off x="1958" y="2976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0 0 0 0 1 0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39" name="Text Box 56"/>
            <p:cNvSpPr txBox="1"/>
            <p:nvPr/>
          </p:nvSpPr>
          <p:spPr>
            <a:xfrm>
              <a:off x="1958" y="2736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0" name="Text Box 57"/>
            <p:cNvSpPr txBox="1"/>
            <p:nvPr/>
          </p:nvSpPr>
          <p:spPr>
            <a:xfrm>
              <a:off x="1958" y="2496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0 0 0 0 0 0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1" name="Text Box 58"/>
            <p:cNvSpPr txBox="1"/>
            <p:nvPr/>
          </p:nvSpPr>
          <p:spPr>
            <a:xfrm>
              <a:off x="1958" y="2245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1 1 1 1 1 1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2" name="Text Box 59"/>
            <p:cNvSpPr txBox="1"/>
            <p:nvPr/>
          </p:nvSpPr>
          <p:spPr>
            <a:xfrm>
              <a:off x="1958" y="1824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3" name="Text Box 60"/>
            <p:cNvSpPr txBox="1"/>
            <p:nvPr/>
          </p:nvSpPr>
          <p:spPr>
            <a:xfrm>
              <a:off x="1958" y="1562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7244" name="Text Box 61"/>
            <p:cNvSpPr txBox="1"/>
            <p:nvPr/>
          </p:nvSpPr>
          <p:spPr>
            <a:xfrm>
              <a:off x="1958" y="1322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1 0 0 0 0 0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7224" name="Text Box 62"/>
          <p:cNvSpPr txBox="1"/>
          <p:nvPr/>
        </p:nvSpPr>
        <p:spPr>
          <a:xfrm>
            <a:off x="2303463" y="2105025"/>
            <a:ext cx="1656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- 1 0 0 0 0 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25" name="Text Box 63"/>
          <p:cNvSpPr txBox="1"/>
          <p:nvPr/>
        </p:nvSpPr>
        <p:spPr>
          <a:xfrm>
            <a:off x="2195513" y="3962400"/>
            <a:ext cx="170942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±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0 0 0 0 0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26" name="Text Box 64"/>
          <p:cNvSpPr txBox="1"/>
          <p:nvPr/>
        </p:nvSpPr>
        <p:spPr>
          <a:xfrm>
            <a:off x="2300288" y="5791200"/>
            <a:ext cx="16522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   1 1 1 1 1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27" name="Text Box 65"/>
          <p:cNvSpPr txBox="1"/>
          <p:nvPr/>
        </p:nvSpPr>
        <p:spPr>
          <a:xfrm>
            <a:off x="6553200" y="2105025"/>
            <a:ext cx="1478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0 0 0 0 0 0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28" name="Text Box 66"/>
          <p:cNvSpPr txBox="1"/>
          <p:nvPr/>
        </p:nvSpPr>
        <p:spPr>
          <a:xfrm>
            <a:off x="6553200" y="5791200"/>
            <a:ext cx="1478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1 1 1 1 1 1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29" name="Text Box 67"/>
          <p:cNvSpPr txBox="1"/>
          <p:nvPr/>
        </p:nvSpPr>
        <p:spPr>
          <a:xfrm>
            <a:off x="4495800" y="3962400"/>
            <a:ext cx="1478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0 0 0 0 0 0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30" name="Text Box 68"/>
          <p:cNvSpPr txBox="1"/>
          <p:nvPr/>
        </p:nvSpPr>
        <p:spPr>
          <a:xfrm>
            <a:off x="6553200" y="3962400"/>
            <a:ext cx="1478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1 0 0 0 0 0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701" name="Rectangle 6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7232" name="AutoShape 70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723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Text Box 2"/>
          <p:cNvSpPr txBox="1"/>
          <p:nvPr/>
        </p:nvSpPr>
        <p:spPr>
          <a:xfrm>
            <a:off x="2438400" y="914400"/>
            <a:ext cx="24644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当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0 </a:t>
            </a:r>
            <a:r>
              <a:rPr lang="zh-CN" altLang="en-US" sz="3200" b="1" dirty="0">
                <a:latin typeface="Times New Roman" panose="02020603050405020304" pitchFamily="18" charset="0"/>
              </a:rPr>
              <a:t>时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38243" name="Text Box 3"/>
          <p:cNvSpPr txBox="1"/>
          <p:nvPr/>
        </p:nvSpPr>
        <p:spPr>
          <a:xfrm>
            <a:off x="4860925" y="914400"/>
            <a:ext cx="25279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[+0]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移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= 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5</a:t>
            </a:r>
            <a:r>
              <a:rPr lang="en-US" altLang="zh-CN" sz="3200" b="1" dirty="0">
                <a:latin typeface="Times New Roman" panose="02020603050405020304" pitchFamily="18" charset="0"/>
              </a:rPr>
              <a:t> + 0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8244" name="Text Box 4"/>
          <p:cNvSpPr txBox="1"/>
          <p:nvPr/>
        </p:nvSpPr>
        <p:spPr>
          <a:xfrm>
            <a:off x="2438400" y="3200400"/>
            <a:ext cx="24872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当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 = 5 </a:t>
            </a:r>
            <a:r>
              <a:rPr lang="zh-CN" altLang="en-US" sz="3200" b="1" dirty="0">
                <a:latin typeface="Times New Roman" panose="02020603050405020304" pitchFamily="18" charset="0"/>
              </a:rPr>
              <a:t>时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38245" name="Text Box 5"/>
          <p:cNvSpPr txBox="1"/>
          <p:nvPr/>
        </p:nvSpPr>
        <p:spPr>
          <a:xfrm>
            <a:off x="3870325" y="4667250"/>
            <a:ext cx="5364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可见，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最小真值的移码为全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46" name="Text Box 6"/>
          <p:cNvSpPr txBox="1"/>
          <p:nvPr/>
        </p:nvSpPr>
        <p:spPr>
          <a:xfrm>
            <a:off x="1905000" y="152400"/>
            <a:ext cx="4038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(4) </a:t>
            </a:r>
            <a:r>
              <a:rPr lang="zh-CN" altLang="en-US" sz="3600" b="1" dirty="0">
                <a:latin typeface="Times New Roman" panose="02020603050405020304" pitchFamily="18" charset="0"/>
              </a:rPr>
              <a:t>移码的特点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38247" name="Text Box 7"/>
          <p:cNvSpPr txBox="1"/>
          <p:nvPr/>
        </p:nvSpPr>
        <p:spPr>
          <a:xfrm>
            <a:off x="3209925" y="5281613"/>
            <a:ext cx="5212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用移码表示浮点数的阶码</a:t>
            </a:r>
            <a:endParaRPr lang="zh-CN" altLang="en-US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48" name="Text Box 8"/>
          <p:cNvSpPr txBox="1"/>
          <p:nvPr/>
        </p:nvSpPr>
        <p:spPr>
          <a:xfrm>
            <a:off x="3225800" y="5913438"/>
            <a:ext cx="5872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能方便地判断浮点数的阶码大小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38249" name="Text Box 9"/>
          <p:cNvSpPr txBox="1"/>
          <p:nvPr/>
        </p:nvSpPr>
        <p:spPr>
          <a:xfrm>
            <a:off x="7467600" y="914400"/>
            <a:ext cx="18370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1,00000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8250" name="Text Box 10"/>
          <p:cNvSpPr txBox="1"/>
          <p:nvPr/>
        </p:nvSpPr>
        <p:spPr>
          <a:xfrm>
            <a:off x="7467600" y="1477963"/>
            <a:ext cx="18370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1,00000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38251" name="Text Box 11"/>
          <p:cNvSpPr txBox="1"/>
          <p:nvPr/>
        </p:nvSpPr>
        <p:spPr>
          <a:xfrm>
            <a:off x="8169275" y="3840163"/>
            <a:ext cx="21748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  000000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70668" name="Rectangle 1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8253" name="Group 13"/>
          <p:cNvGrpSpPr/>
          <p:nvPr/>
        </p:nvGrpSpPr>
        <p:grpSpPr>
          <a:xfrm>
            <a:off x="4876800" y="1530350"/>
            <a:ext cx="2266950" cy="584201"/>
            <a:chOff x="2112" y="964"/>
            <a:chExt cx="1428" cy="368"/>
          </a:xfrm>
        </p:grpSpPr>
        <p:sp>
          <p:nvSpPr>
            <p:cNvPr id="138271" name="Text Box 14"/>
            <p:cNvSpPr txBox="1"/>
            <p:nvPr/>
          </p:nvSpPr>
          <p:spPr>
            <a:xfrm>
              <a:off x="2112" y="964"/>
              <a:ext cx="142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  0]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移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2</a:t>
              </a:r>
              <a:r>
                <a:rPr lang="en-US" altLang="zh-CN" sz="3200" b="1" baseline="40000" dirty="0">
                  <a:latin typeface="Times New Roman" panose="02020603050405020304" pitchFamily="18" charset="0"/>
                </a:rPr>
                <a:t>5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8272" name="Line 15"/>
            <p:cNvSpPr/>
            <p:nvPr/>
          </p:nvSpPr>
          <p:spPr>
            <a:xfrm>
              <a:off x="2245" y="116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8273" name="Line 16"/>
            <p:cNvSpPr/>
            <p:nvPr/>
          </p:nvSpPr>
          <p:spPr>
            <a:xfrm>
              <a:off x="3243" y="1162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8254" name="Group 17"/>
          <p:cNvGrpSpPr/>
          <p:nvPr/>
        </p:nvGrpSpPr>
        <p:grpSpPr>
          <a:xfrm>
            <a:off x="4364038" y="2239963"/>
            <a:ext cx="3000375" cy="584199"/>
            <a:chOff x="2112" y="1411"/>
            <a:chExt cx="1890" cy="368"/>
          </a:xfrm>
        </p:grpSpPr>
        <p:sp>
          <p:nvSpPr>
            <p:cNvPr id="138269" name="Text Box 18"/>
            <p:cNvSpPr txBox="1"/>
            <p:nvPr/>
          </p:nvSpPr>
          <p:spPr>
            <a:xfrm>
              <a:off x="2112" y="1411"/>
              <a:ext cx="189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∴ [+0]</a:t>
              </a:r>
              <a:r>
                <a:rPr lang="zh-CN" altLang="en-US" sz="32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移 </a:t>
              </a:r>
              <a:r>
                <a:rPr lang="en-US" altLang="zh-CN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= [  0]</a:t>
              </a:r>
              <a:r>
                <a:rPr lang="zh-CN" altLang="en-US" sz="32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移</a:t>
              </a:r>
              <a:endParaRPr lang="zh-CN" altLang="en-US" sz="3200" b="1" baseline="-25000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8270" name="Line 19"/>
            <p:cNvSpPr/>
            <p:nvPr/>
          </p:nvSpPr>
          <p:spPr>
            <a:xfrm>
              <a:off x="3434" y="1616"/>
              <a:ext cx="9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8255" name="Group 20"/>
          <p:cNvGrpSpPr/>
          <p:nvPr/>
        </p:nvGrpSpPr>
        <p:grpSpPr>
          <a:xfrm>
            <a:off x="3810000" y="3840163"/>
            <a:ext cx="2322513" cy="584199"/>
            <a:chOff x="1440" y="2419"/>
            <a:chExt cx="1463" cy="368"/>
          </a:xfrm>
        </p:grpSpPr>
        <p:sp>
          <p:nvSpPr>
            <p:cNvPr id="138267" name="Text Box 21"/>
            <p:cNvSpPr txBox="1"/>
            <p:nvPr/>
          </p:nvSpPr>
          <p:spPr>
            <a:xfrm>
              <a:off x="1440" y="2419"/>
              <a:ext cx="146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100000]</a:t>
              </a:r>
              <a:r>
                <a:rPr lang="zh-CN" altLang="en-US" sz="3200" b="1" baseline="-25000" dirty="0">
                  <a:latin typeface="Times New Roman" panose="02020603050405020304" pitchFamily="18" charset="0"/>
                </a:rPr>
                <a:t>移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8268" name="Line 22"/>
            <p:cNvSpPr/>
            <p:nvPr/>
          </p:nvSpPr>
          <p:spPr>
            <a:xfrm>
              <a:off x="1589" y="2614"/>
              <a:ext cx="10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8256" name="Group 23"/>
          <p:cNvGrpSpPr/>
          <p:nvPr/>
        </p:nvGrpSpPr>
        <p:grpSpPr>
          <a:xfrm>
            <a:off x="5962650" y="3840163"/>
            <a:ext cx="2336800" cy="584199"/>
            <a:chOff x="2796" y="2419"/>
            <a:chExt cx="1472" cy="368"/>
          </a:xfrm>
        </p:grpSpPr>
        <p:sp>
          <p:nvSpPr>
            <p:cNvPr id="138265" name="Text Box 24"/>
            <p:cNvSpPr txBox="1"/>
            <p:nvPr/>
          </p:nvSpPr>
          <p:spPr>
            <a:xfrm>
              <a:off x="2796" y="2419"/>
              <a:ext cx="147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= 2</a:t>
              </a:r>
              <a:r>
                <a:rPr lang="en-US" altLang="zh-CN" sz="3200" b="1" baseline="40000" dirty="0">
                  <a:latin typeface="Times New Roman" panose="02020603050405020304" pitchFamily="18" charset="0"/>
                </a:rPr>
                <a:t>5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100000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8266" name="Line 25"/>
            <p:cNvSpPr/>
            <p:nvPr/>
          </p:nvSpPr>
          <p:spPr>
            <a:xfrm>
              <a:off x="3334" y="2614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8257" name="Group 26"/>
          <p:cNvGrpSpPr/>
          <p:nvPr/>
        </p:nvGrpSpPr>
        <p:grpSpPr>
          <a:xfrm>
            <a:off x="4953000" y="3200400"/>
            <a:ext cx="3260725" cy="584201"/>
            <a:chOff x="2160" y="2016"/>
            <a:chExt cx="2054" cy="368"/>
          </a:xfrm>
        </p:grpSpPr>
        <p:sp>
          <p:nvSpPr>
            <p:cNvPr id="138263" name="Text Box 27"/>
            <p:cNvSpPr txBox="1"/>
            <p:nvPr/>
          </p:nvSpPr>
          <p:spPr>
            <a:xfrm>
              <a:off x="2160" y="2016"/>
              <a:ext cx="205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最小的真值为 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baseline="40000" dirty="0">
                  <a:latin typeface="Times New Roman" panose="02020603050405020304" pitchFamily="18" charset="0"/>
                </a:rPr>
                <a:t>5</a:t>
              </a:r>
              <a:endParaRPr lang="en-US" altLang="zh-CN" sz="3200" b="1" baseline="40000" dirty="0">
                <a:latin typeface="Times New Roman" panose="02020603050405020304" pitchFamily="18" charset="0"/>
              </a:endParaRPr>
            </a:p>
          </p:txBody>
        </p:sp>
        <p:sp>
          <p:nvSpPr>
            <p:cNvPr id="138264" name="Line 28"/>
            <p:cNvSpPr/>
            <p:nvPr/>
          </p:nvSpPr>
          <p:spPr>
            <a:xfrm>
              <a:off x="3833" y="2205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8258" name="Group 29"/>
          <p:cNvGrpSpPr/>
          <p:nvPr/>
        </p:nvGrpSpPr>
        <p:grpSpPr>
          <a:xfrm>
            <a:off x="8169275" y="3200400"/>
            <a:ext cx="2133600" cy="584201"/>
            <a:chOff x="4186" y="2016"/>
            <a:chExt cx="1344" cy="368"/>
          </a:xfrm>
        </p:grpSpPr>
        <p:sp>
          <p:nvSpPr>
            <p:cNvPr id="138261" name="Text Box 30"/>
            <p:cNvSpPr txBox="1"/>
            <p:nvPr/>
          </p:nvSpPr>
          <p:spPr>
            <a:xfrm>
              <a:off x="4186" y="2016"/>
              <a:ext cx="13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100000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8262" name="Line 31"/>
            <p:cNvSpPr/>
            <p:nvPr/>
          </p:nvSpPr>
          <p:spPr>
            <a:xfrm>
              <a:off x="4443" y="2205"/>
              <a:ext cx="10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8259" name="AutoShape 3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826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Text Box 25"/>
          <p:cNvSpPr txBox="1"/>
          <p:nvPr/>
        </p:nvSpPr>
        <p:spPr>
          <a:xfrm>
            <a:off x="2117725" y="274320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定点机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9267" name="Text Box 26"/>
          <p:cNvSpPr txBox="1"/>
          <p:nvPr/>
        </p:nvSpPr>
        <p:spPr>
          <a:xfrm>
            <a:off x="4278313" y="274320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小数定点机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9268" name="Text Box 27"/>
          <p:cNvSpPr txBox="1"/>
          <p:nvPr/>
        </p:nvSpPr>
        <p:spPr>
          <a:xfrm>
            <a:off x="7554913" y="274320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整数定点机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9269" name="Text Box 28"/>
          <p:cNvSpPr txBox="1"/>
          <p:nvPr/>
        </p:nvSpPr>
        <p:spPr>
          <a:xfrm>
            <a:off x="2117725" y="33274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原码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9270" name="Text Box 29"/>
          <p:cNvSpPr txBox="1"/>
          <p:nvPr/>
        </p:nvSpPr>
        <p:spPr>
          <a:xfrm>
            <a:off x="2117725" y="39116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补码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9271" name="Text Box 30"/>
          <p:cNvSpPr txBox="1"/>
          <p:nvPr/>
        </p:nvSpPr>
        <p:spPr>
          <a:xfrm>
            <a:off x="2117725" y="44958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反码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9272" name="Text Box 31"/>
          <p:cNvSpPr txBox="1"/>
          <p:nvPr/>
        </p:nvSpPr>
        <p:spPr>
          <a:xfrm>
            <a:off x="3581400" y="3327400"/>
            <a:ext cx="323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 ~ +(1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9273" name="Text Box 32"/>
          <p:cNvSpPr txBox="1"/>
          <p:nvPr/>
        </p:nvSpPr>
        <p:spPr>
          <a:xfrm>
            <a:off x="7159625" y="3327400"/>
            <a:ext cx="3103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 ~ +( 2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9274" name="Text Box 33"/>
          <p:cNvSpPr txBox="1"/>
          <p:nvPr/>
        </p:nvSpPr>
        <p:spPr>
          <a:xfrm>
            <a:off x="4484688" y="3911600"/>
            <a:ext cx="312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 1 ~ +(1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9275" name="Text Box 34"/>
          <p:cNvSpPr txBox="1"/>
          <p:nvPr/>
        </p:nvSpPr>
        <p:spPr>
          <a:xfrm>
            <a:off x="7807325" y="3911600"/>
            <a:ext cx="3508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~ +( 2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9276" name="Text Box 35"/>
          <p:cNvSpPr txBox="1"/>
          <p:nvPr/>
        </p:nvSpPr>
        <p:spPr>
          <a:xfrm>
            <a:off x="3581400" y="4495800"/>
            <a:ext cx="323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 ~ +(1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9277" name="Text Box 36"/>
          <p:cNvSpPr txBox="1"/>
          <p:nvPr/>
        </p:nvSpPr>
        <p:spPr>
          <a:xfrm>
            <a:off x="7177088" y="4495800"/>
            <a:ext cx="3508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1) ~ +( 2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9278" name="AutoShape 37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927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  <p:sp>
        <p:nvSpPr>
          <p:cNvPr id="139280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定点数的区间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6.2   </a:t>
            </a:r>
            <a:r>
              <a:rPr lang="zh-CN" altLang="en-US" b="1" dirty="0"/>
              <a:t>数的定点表示和浮点表示</a:t>
            </a:r>
            <a:endParaRPr lang="zh-CN" altLang="en-US" b="1" dirty="0"/>
          </a:p>
        </p:txBody>
      </p:sp>
      <p:sp>
        <p:nvSpPr>
          <p:cNvPr id="140291" name="Text Box 3"/>
          <p:cNvSpPr txBox="1"/>
          <p:nvPr/>
        </p:nvSpPr>
        <p:spPr>
          <a:xfrm>
            <a:off x="2117725" y="1295400"/>
            <a:ext cx="42468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小数点按约定方式标出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40292" name="Text Box 4"/>
          <p:cNvSpPr txBox="1"/>
          <p:nvPr/>
        </p:nvSpPr>
        <p:spPr>
          <a:xfrm>
            <a:off x="2193925" y="1905000"/>
            <a:ext cx="2621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一、定点表示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40293" name="Group 5"/>
          <p:cNvGrpSpPr/>
          <p:nvPr/>
        </p:nvGrpSpPr>
        <p:grpSpPr>
          <a:xfrm>
            <a:off x="2819400" y="2446338"/>
            <a:ext cx="6848475" cy="1685924"/>
            <a:chOff x="816" y="1541"/>
            <a:chExt cx="4314" cy="1062"/>
          </a:xfrm>
        </p:grpSpPr>
        <p:sp>
          <p:nvSpPr>
            <p:cNvPr id="140308" name="Text Box 6"/>
            <p:cNvSpPr txBox="1"/>
            <p:nvPr/>
          </p:nvSpPr>
          <p:spPr>
            <a:xfrm>
              <a:off x="902" y="1646"/>
              <a:ext cx="129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f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40309" name="Text Box 7"/>
            <p:cNvSpPr txBox="1"/>
            <p:nvPr/>
          </p:nvSpPr>
          <p:spPr>
            <a:xfrm>
              <a:off x="1632" y="1550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0310" name="Rectangle 8"/>
            <p:cNvSpPr/>
            <p:nvPr/>
          </p:nvSpPr>
          <p:spPr>
            <a:xfrm>
              <a:off x="864" y="1685"/>
              <a:ext cx="134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0311" name="Line 9"/>
            <p:cNvSpPr/>
            <p:nvPr/>
          </p:nvSpPr>
          <p:spPr>
            <a:xfrm>
              <a:off x="1200" y="1685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0312" name="Line 10"/>
            <p:cNvSpPr/>
            <p:nvPr/>
          </p:nvSpPr>
          <p:spPr>
            <a:xfrm flipV="1">
              <a:off x="1200" y="1973"/>
              <a:ext cx="0" cy="43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40313" name="Text Box 11"/>
            <p:cNvSpPr txBox="1"/>
            <p:nvPr/>
          </p:nvSpPr>
          <p:spPr>
            <a:xfrm>
              <a:off x="874" y="1992"/>
              <a:ext cx="309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数符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0314" name="Text Box 12"/>
            <p:cNvSpPr txBox="1"/>
            <p:nvPr/>
          </p:nvSpPr>
          <p:spPr>
            <a:xfrm>
              <a:off x="1352" y="2059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数值部分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0315" name="Text Box 13"/>
            <p:cNvSpPr txBox="1"/>
            <p:nvPr/>
          </p:nvSpPr>
          <p:spPr>
            <a:xfrm>
              <a:off x="816" y="2352"/>
              <a:ext cx="9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小数点位置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0316" name="Text Box 14"/>
            <p:cNvSpPr txBox="1"/>
            <p:nvPr/>
          </p:nvSpPr>
          <p:spPr>
            <a:xfrm>
              <a:off x="3292" y="1637"/>
              <a:ext cx="129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f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40317" name="Text Box 15"/>
            <p:cNvSpPr txBox="1"/>
            <p:nvPr/>
          </p:nvSpPr>
          <p:spPr>
            <a:xfrm>
              <a:off x="4022" y="1541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0318" name="Rectangle 16"/>
            <p:cNvSpPr/>
            <p:nvPr/>
          </p:nvSpPr>
          <p:spPr>
            <a:xfrm>
              <a:off x="3254" y="1676"/>
              <a:ext cx="134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0319" name="Line 17"/>
            <p:cNvSpPr/>
            <p:nvPr/>
          </p:nvSpPr>
          <p:spPr>
            <a:xfrm>
              <a:off x="3590" y="1676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0320" name="Line 18"/>
            <p:cNvSpPr/>
            <p:nvPr/>
          </p:nvSpPr>
          <p:spPr>
            <a:xfrm flipV="1">
              <a:off x="4599" y="1964"/>
              <a:ext cx="0" cy="43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40321" name="Text Box 19"/>
            <p:cNvSpPr txBox="1"/>
            <p:nvPr/>
          </p:nvSpPr>
          <p:spPr>
            <a:xfrm>
              <a:off x="3264" y="1983"/>
              <a:ext cx="309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数符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0322" name="Text Box 20"/>
            <p:cNvSpPr txBox="1"/>
            <p:nvPr/>
          </p:nvSpPr>
          <p:spPr>
            <a:xfrm>
              <a:off x="3696" y="2059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数值部分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0323" name="Text Box 21"/>
            <p:cNvSpPr txBox="1"/>
            <p:nvPr/>
          </p:nvSpPr>
          <p:spPr>
            <a:xfrm>
              <a:off x="4215" y="2348"/>
              <a:ext cx="9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小数点位置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0324" name="AutoShape 22"/>
            <p:cNvSpPr/>
            <p:nvPr/>
          </p:nvSpPr>
          <p:spPr>
            <a:xfrm rot="-5400000">
              <a:off x="1656" y="1517"/>
              <a:ext cx="96" cy="1008"/>
            </a:xfrm>
            <a:prstGeom prst="leftBrace">
              <a:avLst>
                <a:gd name="adj1" fmla="val 8750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0325" name="AutoShape 23"/>
            <p:cNvSpPr/>
            <p:nvPr/>
          </p:nvSpPr>
          <p:spPr>
            <a:xfrm rot="-5400000">
              <a:off x="4056" y="1517"/>
              <a:ext cx="96" cy="1008"/>
            </a:xfrm>
            <a:prstGeom prst="leftBrace">
              <a:avLst>
                <a:gd name="adj1" fmla="val 8750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0326" name="Text Box 24"/>
            <p:cNvSpPr txBox="1"/>
            <p:nvPr/>
          </p:nvSpPr>
          <p:spPr>
            <a:xfrm>
              <a:off x="2534" y="1665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或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0294" name="Text Box 25"/>
          <p:cNvSpPr txBox="1"/>
          <p:nvPr/>
        </p:nvSpPr>
        <p:spPr>
          <a:xfrm>
            <a:off x="2117725" y="431165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定点机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0295" name="Text Box 26"/>
          <p:cNvSpPr txBox="1"/>
          <p:nvPr/>
        </p:nvSpPr>
        <p:spPr>
          <a:xfrm>
            <a:off x="4278313" y="431165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小数定点机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0296" name="Text Box 27"/>
          <p:cNvSpPr txBox="1"/>
          <p:nvPr/>
        </p:nvSpPr>
        <p:spPr>
          <a:xfrm>
            <a:off x="7554913" y="431165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整数定点机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0297" name="Text Box 28"/>
          <p:cNvSpPr txBox="1"/>
          <p:nvPr/>
        </p:nvSpPr>
        <p:spPr>
          <a:xfrm>
            <a:off x="2117725" y="489585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原码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0298" name="Text Box 29"/>
          <p:cNvSpPr txBox="1"/>
          <p:nvPr/>
        </p:nvSpPr>
        <p:spPr>
          <a:xfrm>
            <a:off x="2117725" y="548005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补码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0299" name="Text Box 30"/>
          <p:cNvSpPr txBox="1"/>
          <p:nvPr/>
        </p:nvSpPr>
        <p:spPr>
          <a:xfrm>
            <a:off x="2117725" y="606425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反码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0300" name="Text Box 31"/>
          <p:cNvSpPr txBox="1"/>
          <p:nvPr/>
        </p:nvSpPr>
        <p:spPr>
          <a:xfrm>
            <a:off x="3581400" y="4895850"/>
            <a:ext cx="323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 ~ +(1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0301" name="Text Box 32"/>
          <p:cNvSpPr txBox="1"/>
          <p:nvPr/>
        </p:nvSpPr>
        <p:spPr>
          <a:xfrm>
            <a:off x="7159625" y="4895850"/>
            <a:ext cx="3103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 ~ +( 2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0302" name="Text Box 33"/>
          <p:cNvSpPr txBox="1"/>
          <p:nvPr/>
        </p:nvSpPr>
        <p:spPr>
          <a:xfrm>
            <a:off x="4484688" y="5480050"/>
            <a:ext cx="312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 1 ~ +(1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0303" name="Text Box 34"/>
          <p:cNvSpPr txBox="1"/>
          <p:nvPr/>
        </p:nvSpPr>
        <p:spPr>
          <a:xfrm>
            <a:off x="7807325" y="5480050"/>
            <a:ext cx="3508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~ +( 2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0304" name="Text Box 35"/>
          <p:cNvSpPr txBox="1"/>
          <p:nvPr/>
        </p:nvSpPr>
        <p:spPr>
          <a:xfrm>
            <a:off x="3581400" y="6064250"/>
            <a:ext cx="323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 ~ +(1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0305" name="Text Box 36"/>
          <p:cNvSpPr txBox="1"/>
          <p:nvPr/>
        </p:nvSpPr>
        <p:spPr>
          <a:xfrm>
            <a:off x="7177088" y="6064250"/>
            <a:ext cx="3508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1) ~ +( 2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0306" name="AutoShape 37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030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Text Box 2"/>
          <p:cNvSpPr txBox="1"/>
          <p:nvPr/>
        </p:nvSpPr>
        <p:spPr>
          <a:xfrm>
            <a:off x="2193925" y="244475"/>
            <a:ext cx="2926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二、浮点表示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41315" name="Group 3"/>
          <p:cNvGrpSpPr/>
          <p:nvPr/>
        </p:nvGrpSpPr>
        <p:grpSpPr>
          <a:xfrm>
            <a:off x="3181350" y="1020763"/>
            <a:ext cx="5618163" cy="584199"/>
            <a:chOff x="1044" y="643"/>
            <a:chExt cx="3539" cy="368"/>
          </a:xfrm>
        </p:grpSpPr>
        <p:sp>
          <p:nvSpPr>
            <p:cNvPr id="141338" name="Text Box 4"/>
            <p:cNvSpPr txBox="1"/>
            <p:nvPr/>
          </p:nvSpPr>
          <p:spPr>
            <a:xfrm>
              <a:off x="1044" y="643"/>
              <a:ext cx="103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×</a:t>
              </a:r>
              <a:r>
                <a: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3200" b="1" i="1" baseline="30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j</a:t>
              </a:r>
              <a:endParaRPr lang="en-US" altLang="zh-CN" sz="3200" b="1" i="1" baseline="30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1339" name="Text Box 5"/>
            <p:cNvSpPr txBox="1"/>
            <p:nvPr/>
          </p:nvSpPr>
          <p:spPr>
            <a:xfrm>
              <a:off x="2676" y="676"/>
              <a:ext cx="190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浮点数的一般形式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1316" name="Group 6"/>
          <p:cNvGrpSpPr/>
          <p:nvPr/>
        </p:nvGrpSpPr>
        <p:grpSpPr>
          <a:xfrm>
            <a:off x="3181350" y="1614488"/>
            <a:ext cx="5229225" cy="522287"/>
            <a:chOff x="1044" y="1017"/>
            <a:chExt cx="3294" cy="329"/>
          </a:xfrm>
        </p:grpSpPr>
        <p:sp>
          <p:nvSpPr>
            <p:cNvPr id="141335" name="Text Box 7"/>
            <p:cNvSpPr txBox="1"/>
            <p:nvPr/>
          </p:nvSpPr>
          <p:spPr>
            <a:xfrm>
              <a:off x="1044" y="1017"/>
              <a:ext cx="7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尾数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1336" name="Text Box 8"/>
            <p:cNvSpPr txBox="1"/>
            <p:nvPr/>
          </p:nvSpPr>
          <p:spPr>
            <a:xfrm>
              <a:off x="1915" y="1017"/>
              <a:ext cx="68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j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阶码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1337" name="Text Box 9"/>
            <p:cNvSpPr txBox="1"/>
            <p:nvPr/>
          </p:nvSpPr>
          <p:spPr>
            <a:xfrm>
              <a:off x="2736" y="1017"/>
              <a:ext cx="16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基数（基值）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1317" name="Text Box 10"/>
          <p:cNvSpPr txBox="1"/>
          <p:nvPr/>
        </p:nvSpPr>
        <p:spPr>
          <a:xfrm>
            <a:off x="3200400" y="2286000"/>
            <a:ext cx="61150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计算机中 </a:t>
            </a:r>
            <a:r>
              <a: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取 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16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41318" name="Text Box 11"/>
          <p:cNvSpPr txBox="1"/>
          <p:nvPr/>
        </p:nvSpPr>
        <p:spPr>
          <a:xfrm>
            <a:off x="3181350" y="2971800"/>
            <a:ext cx="148717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当 </a:t>
            </a:r>
            <a:r>
              <a: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= 2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319" name="Text Box 12"/>
          <p:cNvSpPr txBox="1"/>
          <p:nvPr/>
        </p:nvSpPr>
        <p:spPr>
          <a:xfrm>
            <a:off x="5181600" y="2873375"/>
            <a:ext cx="2234565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 = 11</a:t>
            </a:r>
            <a:r>
              <a:rPr lang="en-US" altLang="zh-CN" sz="4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</a:rPr>
              <a:t>0101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141320" name="Text Box 13"/>
          <p:cNvSpPr txBox="1"/>
          <p:nvPr/>
        </p:nvSpPr>
        <p:spPr>
          <a:xfrm>
            <a:off x="5562600" y="3357563"/>
            <a:ext cx="288544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0</a:t>
            </a:r>
            <a:r>
              <a:rPr lang="en-US" altLang="zh-CN" sz="4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</a:rPr>
              <a:t>110101×2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10 </a:t>
            </a:r>
            <a:endParaRPr lang="en-US" altLang="zh-CN" sz="3200" b="1" baseline="40000" dirty="0">
              <a:latin typeface="Times New Roman" panose="02020603050405020304" pitchFamily="18" charset="0"/>
            </a:endParaRPr>
          </a:p>
        </p:txBody>
      </p:sp>
      <p:sp>
        <p:nvSpPr>
          <p:cNvPr id="141321" name="Text Box 14"/>
          <p:cNvSpPr txBox="1"/>
          <p:nvPr/>
        </p:nvSpPr>
        <p:spPr>
          <a:xfrm>
            <a:off x="5578475" y="3841750"/>
            <a:ext cx="257302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</a:t>
            </a:r>
            <a:r>
              <a:rPr lang="en-US" altLang="zh-CN" sz="4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</a:rPr>
              <a:t>10101×2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1 </a:t>
            </a:r>
            <a:endParaRPr lang="en-US" altLang="zh-CN" sz="3200" b="1" baseline="40000" dirty="0">
              <a:latin typeface="Times New Roman" panose="02020603050405020304" pitchFamily="18" charset="0"/>
            </a:endParaRPr>
          </a:p>
        </p:txBody>
      </p:sp>
      <p:sp>
        <p:nvSpPr>
          <p:cNvPr id="141322" name="Text Box 15"/>
          <p:cNvSpPr txBox="1"/>
          <p:nvPr/>
        </p:nvSpPr>
        <p:spPr>
          <a:xfrm>
            <a:off x="5578475" y="4325938"/>
            <a:ext cx="2770505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1101</a:t>
            </a:r>
            <a:r>
              <a:rPr lang="en-US" altLang="zh-CN" sz="4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</a:rPr>
              <a:t>01×2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-10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 </a:t>
            </a:r>
            <a:endParaRPr lang="en-US" altLang="zh-CN" sz="3200" b="1" baseline="30000" dirty="0">
              <a:latin typeface="Times New Roman" panose="02020603050405020304" pitchFamily="18" charset="0"/>
            </a:endParaRPr>
          </a:p>
        </p:txBody>
      </p:sp>
      <p:sp>
        <p:nvSpPr>
          <p:cNvPr id="141323" name="Text Box 16"/>
          <p:cNvSpPr txBox="1"/>
          <p:nvPr/>
        </p:nvSpPr>
        <p:spPr>
          <a:xfrm>
            <a:off x="5578475" y="4808538"/>
            <a:ext cx="342392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= 0</a:t>
            </a:r>
            <a:r>
              <a:rPr lang="en-US" altLang="zh-CN" sz="4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</a:rPr>
              <a:t>00110101×2</a:t>
            </a:r>
            <a:r>
              <a:rPr lang="en-US" altLang="zh-CN" sz="3200" b="1" baseline="40000" dirty="0">
                <a:latin typeface="Times New Roman" panose="02020603050405020304" pitchFamily="18" charset="0"/>
              </a:rPr>
              <a:t>100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 </a:t>
            </a:r>
            <a:endParaRPr lang="en-US" altLang="zh-CN" sz="3200" b="1" baseline="30000" dirty="0">
              <a:latin typeface="Times New Roman" panose="02020603050405020304" pitchFamily="18" charset="0"/>
            </a:endParaRPr>
          </a:p>
        </p:txBody>
      </p:sp>
      <p:sp>
        <p:nvSpPr>
          <p:cNvPr id="141324" name="Text Box 17"/>
          <p:cNvSpPr txBox="1"/>
          <p:nvPr/>
        </p:nvSpPr>
        <p:spPr>
          <a:xfrm>
            <a:off x="2879725" y="5581650"/>
            <a:ext cx="69500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计算机中    </a:t>
            </a:r>
            <a:r>
              <a:rPr lang="en-US" altLang="zh-CN" sz="32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小数、可正可负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325" name="Text Box 18"/>
          <p:cNvSpPr txBox="1"/>
          <p:nvPr/>
        </p:nvSpPr>
        <p:spPr>
          <a:xfrm>
            <a:off x="5008563" y="6115050"/>
            <a:ext cx="43640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整数、可正可负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326" name="Text Box 19"/>
          <p:cNvSpPr txBox="1"/>
          <p:nvPr/>
        </p:nvSpPr>
        <p:spPr>
          <a:xfrm>
            <a:off x="5254625" y="3505200"/>
            <a:ext cx="551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ü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327" name="Text Box 20"/>
          <p:cNvSpPr txBox="1"/>
          <p:nvPr/>
        </p:nvSpPr>
        <p:spPr>
          <a:xfrm>
            <a:off x="5273675" y="4967288"/>
            <a:ext cx="551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ü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328" name="Text Box 21"/>
          <p:cNvSpPr txBox="1"/>
          <p:nvPr/>
        </p:nvSpPr>
        <p:spPr>
          <a:xfrm>
            <a:off x="8550275" y="344328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规格化数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1329" name="Group 22"/>
          <p:cNvGrpSpPr/>
          <p:nvPr/>
        </p:nvGrpSpPr>
        <p:grpSpPr>
          <a:xfrm>
            <a:off x="8145463" y="2879725"/>
            <a:ext cx="2309812" cy="930275"/>
            <a:chOff x="4171" y="1814"/>
            <a:chExt cx="1455" cy="586"/>
          </a:xfrm>
        </p:grpSpPr>
        <p:sp>
          <p:nvSpPr>
            <p:cNvPr id="141333" name="AutoShape 23"/>
            <p:cNvSpPr/>
            <p:nvPr/>
          </p:nvSpPr>
          <p:spPr>
            <a:xfrm>
              <a:off x="4171" y="2160"/>
              <a:ext cx="227" cy="240"/>
            </a:xfrm>
            <a:prstGeom prst="wedgeRoundRectCallout">
              <a:avLst>
                <a:gd name="adj1" fmla="val 145153"/>
                <a:gd name="adj2" fmla="val -105000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1334" name="Text Box 24"/>
            <p:cNvSpPr txBox="1"/>
            <p:nvPr/>
          </p:nvSpPr>
          <p:spPr>
            <a:xfrm>
              <a:off x="4570" y="1814"/>
              <a:ext cx="10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二进制表示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2729" name="Rectangle 2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1331" name="AutoShape 26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133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Text Box 2"/>
          <p:cNvSpPr txBox="1"/>
          <p:nvPr/>
        </p:nvSpPr>
        <p:spPr>
          <a:xfrm>
            <a:off x="1919288" y="476250"/>
            <a:ext cx="42976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1. </a:t>
            </a:r>
            <a:r>
              <a:rPr lang="zh-CN" altLang="en-US" sz="3600" b="1" dirty="0">
                <a:latin typeface="Times New Roman" panose="02020603050405020304" pitchFamily="18" charset="0"/>
              </a:rPr>
              <a:t>浮点数的表示形式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42339" name="Text Box 3"/>
          <p:cNvSpPr txBox="1"/>
          <p:nvPr/>
        </p:nvSpPr>
        <p:spPr>
          <a:xfrm>
            <a:off x="3122613" y="4010025"/>
            <a:ext cx="377126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代表浮点数的符号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42340" name="Text Box 4"/>
          <p:cNvSpPr txBox="1"/>
          <p:nvPr/>
        </p:nvSpPr>
        <p:spPr>
          <a:xfrm>
            <a:off x="3122613" y="4648200"/>
            <a:ext cx="46958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其位数反映浮点数的精度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42341" name="Text Box 5"/>
          <p:cNvSpPr txBox="1"/>
          <p:nvPr/>
        </p:nvSpPr>
        <p:spPr>
          <a:xfrm>
            <a:off x="3122613" y="5286375"/>
            <a:ext cx="52965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其位数反映浮点数的表示范围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42342" name="Text Box 6"/>
          <p:cNvSpPr txBox="1"/>
          <p:nvPr/>
        </p:nvSpPr>
        <p:spPr>
          <a:xfrm>
            <a:off x="3122613" y="5924550"/>
            <a:ext cx="60975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共同表示小数点的实际位置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73735" name="Rectangle 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2344" name="Group 8"/>
          <p:cNvGrpSpPr/>
          <p:nvPr/>
        </p:nvGrpSpPr>
        <p:grpSpPr>
          <a:xfrm>
            <a:off x="3040063" y="1524000"/>
            <a:ext cx="6256338" cy="2159001"/>
            <a:chOff x="955" y="960"/>
            <a:chExt cx="3941" cy="1360"/>
          </a:xfrm>
        </p:grpSpPr>
        <p:grpSp>
          <p:nvGrpSpPr>
            <p:cNvPr id="142347" name="Group 9"/>
            <p:cNvGrpSpPr/>
            <p:nvPr/>
          </p:nvGrpSpPr>
          <p:grpSpPr>
            <a:xfrm>
              <a:off x="955" y="960"/>
              <a:ext cx="3941" cy="1248"/>
              <a:chOff x="955" y="960"/>
              <a:chExt cx="3941" cy="1248"/>
            </a:xfrm>
          </p:grpSpPr>
          <p:sp>
            <p:nvSpPr>
              <p:cNvPr id="142351" name="Text Box 10"/>
              <p:cNvSpPr txBox="1"/>
              <p:nvPr/>
            </p:nvSpPr>
            <p:spPr>
              <a:xfrm>
                <a:off x="998" y="1242"/>
                <a:ext cx="380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i="1" baseline="-250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</a:rPr>
                  <a:t>       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</a:t>
                </a:r>
                <a:r>
                  <a:rPr lang="en-US" altLang="zh-CN" sz="28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         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</a:rPr>
                  <a:t> 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52" name="Rectangle 11"/>
              <p:cNvSpPr/>
              <p:nvPr/>
            </p:nvSpPr>
            <p:spPr>
              <a:xfrm>
                <a:off x="960" y="1248"/>
                <a:ext cx="3936" cy="336"/>
              </a:xfrm>
              <a:prstGeom prst="rect">
                <a:avLst/>
              </a:prstGeom>
              <a:noFill/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2353" name="Line 12"/>
              <p:cNvSpPr/>
              <p:nvPr/>
            </p:nvSpPr>
            <p:spPr>
              <a:xfrm>
                <a:off x="1248" y="124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2354" name="Line 13"/>
              <p:cNvSpPr/>
              <p:nvPr/>
            </p:nvSpPr>
            <p:spPr>
              <a:xfrm>
                <a:off x="2640" y="1248"/>
                <a:ext cx="0" cy="336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2355" name="Line 14"/>
              <p:cNvSpPr/>
              <p:nvPr/>
            </p:nvSpPr>
            <p:spPr>
              <a:xfrm>
                <a:off x="2976" y="124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2356" name="Text Box 15"/>
              <p:cNvSpPr txBox="1"/>
              <p:nvPr/>
            </p:nvSpPr>
            <p:spPr>
              <a:xfrm>
                <a:off x="1956" y="1200"/>
                <a:ext cx="395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 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57" name="Text Box 16"/>
              <p:cNvSpPr txBox="1"/>
              <p:nvPr/>
            </p:nvSpPr>
            <p:spPr>
              <a:xfrm>
                <a:off x="3744" y="1200"/>
                <a:ext cx="39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 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58" name="Line 17"/>
              <p:cNvSpPr/>
              <p:nvPr/>
            </p:nvSpPr>
            <p:spPr>
              <a:xfrm>
                <a:off x="960" y="1056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2359" name="Line 18"/>
              <p:cNvSpPr/>
              <p:nvPr/>
            </p:nvSpPr>
            <p:spPr>
              <a:xfrm>
                <a:off x="2640" y="1056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2360" name="Line 19"/>
              <p:cNvSpPr/>
              <p:nvPr/>
            </p:nvSpPr>
            <p:spPr>
              <a:xfrm>
                <a:off x="4896" y="1056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2361" name="Line 20"/>
              <p:cNvSpPr/>
              <p:nvPr/>
            </p:nvSpPr>
            <p:spPr>
              <a:xfrm flipH="1">
                <a:off x="960" y="1152"/>
                <a:ext cx="56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42362" name="Line 21"/>
              <p:cNvSpPr/>
              <p:nvPr/>
            </p:nvSpPr>
            <p:spPr>
              <a:xfrm flipH="1">
                <a:off x="2640" y="1152"/>
                <a:ext cx="72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42363" name="Line 22"/>
              <p:cNvSpPr/>
              <p:nvPr/>
            </p:nvSpPr>
            <p:spPr>
              <a:xfrm rot="-10800000" flipH="1">
                <a:off x="2208" y="1151"/>
                <a:ext cx="431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42364" name="Line 23"/>
              <p:cNvSpPr/>
              <p:nvPr/>
            </p:nvSpPr>
            <p:spPr>
              <a:xfrm rot="-10800000" flipH="1">
                <a:off x="4170" y="1150"/>
                <a:ext cx="72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42365" name="Text Box 24"/>
              <p:cNvSpPr txBox="1"/>
              <p:nvPr/>
            </p:nvSpPr>
            <p:spPr>
              <a:xfrm>
                <a:off x="1584" y="960"/>
                <a:ext cx="72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阶码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66" name="Text Box 25"/>
              <p:cNvSpPr txBox="1"/>
              <p:nvPr/>
            </p:nvSpPr>
            <p:spPr>
              <a:xfrm>
                <a:off x="3456" y="960"/>
                <a:ext cx="72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尾数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67" name="Text Box 26"/>
              <p:cNvSpPr txBox="1"/>
              <p:nvPr/>
            </p:nvSpPr>
            <p:spPr>
              <a:xfrm>
                <a:off x="955" y="1642"/>
                <a:ext cx="309" cy="5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阶符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68" name="Text Box 27"/>
              <p:cNvSpPr txBox="1"/>
              <p:nvPr/>
            </p:nvSpPr>
            <p:spPr>
              <a:xfrm>
                <a:off x="2667" y="1642"/>
                <a:ext cx="309" cy="5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数符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69" name="Text Box 28"/>
              <p:cNvSpPr txBox="1"/>
              <p:nvPr/>
            </p:nvSpPr>
            <p:spPr>
              <a:xfrm>
                <a:off x="1656" y="1670"/>
                <a:ext cx="984" cy="4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阶码的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数值部分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70" name="Text Box 29"/>
              <p:cNvSpPr txBox="1"/>
              <p:nvPr/>
            </p:nvSpPr>
            <p:spPr>
              <a:xfrm>
                <a:off x="3237" y="1728"/>
                <a:ext cx="15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尾数的数值部分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71" name="AutoShape 30"/>
              <p:cNvSpPr/>
              <p:nvPr/>
            </p:nvSpPr>
            <p:spPr>
              <a:xfrm rot="-5400000">
                <a:off x="1896" y="936"/>
                <a:ext cx="96" cy="1392"/>
              </a:xfrm>
              <a:prstGeom prst="leftBrace">
                <a:avLst>
                  <a:gd name="adj1" fmla="val 119692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2372" name="AutoShape 31"/>
              <p:cNvSpPr/>
              <p:nvPr/>
            </p:nvSpPr>
            <p:spPr>
              <a:xfrm rot="-5400000">
                <a:off x="3888" y="672"/>
                <a:ext cx="96" cy="1920"/>
              </a:xfrm>
              <a:prstGeom prst="leftBrace">
                <a:avLst>
                  <a:gd name="adj1" fmla="val 165092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48" name="Line 32"/>
            <p:cNvSpPr/>
            <p:nvPr/>
          </p:nvSpPr>
          <p:spPr>
            <a:xfrm flipV="1">
              <a:off x="2632" y="1649"/>
              <a:ext cx="0" cy="43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42349" name="Line 33"/>
            <p:cNvSpPr/>
            <p:nvPr/>
          </p:nvSpPr>
          <p:spPr>
            <a:xfrm flipV="1">
              <a:off x="2995" y="1649"/>
              <a:ext cx="0" cy="43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42350" name="Text Box 34"/>
            <p:cNvSpPr txBox="1"/>
            <p:nvPr/>
          </p:nvSpPr>
          <p:spPr>
            <a:xfrm>
              <a:off x="2381" y="2069"/>
              <a:ext cx="9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小数点位置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42345" name="AutoShape 35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2346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1549400" y="6356350"/>
            <a:ext cx="2133600" cy="4762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Text Box 2"/>
          <p:cNvSpPr txBox="1"/>
          <p:nvPr/>
        </p:nvSpPr>
        <p:spPr>
          <a:xfrm>
            <a:off x="2117725" y="228600"/>
            <a:ext cx="42976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浮点数的表示范围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43363" name="Text Box 3"/>
          <p:cNvSpPr txBox="1"/>
          <p:nvPr/>
        </p:nvSpPr>
        <p:spPr>
          <a:xfrm>
            <a:off x="2057400" y="3756025"/>
            <a:ext cx="2971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( 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1)</a:t>
            </a:r>
            <a:r>
              <a:rPr lang="en-US" altLang="zh-CN" sz="2400" b="1" dirty="0">
                <a:latin typeface="Times New Roman" panose="02020603050405020304" pitchFamily="18" charset="0"/>
              </a:rPr>
              <a:t>×( 1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43364" name="Text Box 4"/>
          <p:cNvSpPr txBox="1"/>
          <p:nvPr/>
        </p:nvSpPr>
        <p:spPr>
          <a:xfrm>
            <a:off x="4343400" y="5789613"/>
            <a:ext cx="2438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( 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1)</a:t>
            </a:r>
            <a:r>
              <a:rPr lang="en-US" altLang="zh-CN" sz="2400" b="1" dirty="0">
                <a:latin typeface="Times New Roman" panose="02020603050405020304" pitchFamily="18" charset="0"/>
              </a:rPr>
              <a:t>×2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i="1" baseline="40000" dirty="0">
                <a:latin typeface="Times New Roman" panose="02020603050405020304" pitchFamily="18" charset="0"/>
              </a:rPr>
              <a:t>n</a:t>
            </a:r>
            <a:endParaRPr lang="en-US" altLang="zh-CN" sz="2400" b="1" i="1" baseline="40000" dirty="0">
              <a:latin typeface="Times New Roman" panose="02020603050405020304" pitchFamily="18" charset="0"/>
            </a:endParaRPr>
          </a:p>
        </p:txBody>
      </p:sp>
      <p:sp>
        <p:nvSpPr>
          <p:cNvPr id="143365" name="Text Box 5"/>
          <p:cNvSpPr txBox="1"/>
          <p:nvPr/>
        </p:nvSpPr>
        <p:spPr>
          <a:xfrm>
            <a:off x="8001000" y="3778250"/>
            <a:ext cx="266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( 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1)</a:t>
            </a:r>
            <a:r>
              <a:rPr lang="en-US" altLang="zh-CN" sz="2400" b="1" dirty="0">
                <a:latin typeface="Times New Roman" panose="02020603050405020304" pitchFamily="18" charset="0"/>
              </a:rPr>
              <a:t>×( 1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1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43366" name="Text Box 6"/>
          <p:cNvSpPr txBox="1"/>
          <p:nvPr/>
        </p:nvSpPr>
        <p:spPr>
          <a:xfrm>
            <a:off x="5729288" y="4514850"/>
            <a:ext cx="2286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( 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1)</a:t>
            </a:r>
            <a:r>
              <a:rPr lang="en-US" altLang="zh-CN" sz="2400" b="1" dirty="0">
                <a:latin typeface="Times New Roman" panose="02020603050405020304" pitchFamily="18" charset="0"/>
              </a:rPr>
              <a:t>×2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i="1" baseline="40000" dirty="0">
                <a:latin typeface="Times New Roman" panose="02020603050405020304" pitchFamily="18" charset="0"/>
              </a:rPr>
              <a:t>n</a:t>
            </a:r>
            <a:endParaRPr lang="en-US" altLang="zh-CN" sz="2400" b="1" i="1" baseline="40000" dirty="0">
              <a:latin typeface="Times New Roman" panose="02020603050405020304" pitchFamily="18" charset="0"/>
            </a:endParaRPr>
          </a:p>
        </p:txBody>
      </p:sp>
      <p:grpSp>
        <p:nvGrpSpPr>
          <p:cNvPr id="143367" name="Group 7"/>
          <p:cNvGrpSpPr/>
          <p:nvPr/>
        </p:nvGrpSpPr>
        <p:grpSpPr>
          <a:xfrm>
            <a:off x="2667000" y="2971800"/>
            <a:ext cx="1401516" cy="841375"/>
            <a:chOff x="720" y="1661"/>
            <a:chExt cx="764" cy="530"/>
          </a:xfrm>
        </p:grpSpPr>
        <p:sp>
          <p:nvSpPr>
            <p:cNvPr id="143407" name="Text Box 8"/>
            <p:cNvSpPr txBox="1"/>
            <p:nvPr/>
          </p:nvSpPr>
          <p:spPr>
            <a:xfrm>
              <a:off x="720" y="1901"/>
              <a:ext cx="76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最小负数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408" name="Line 9"/>
            <p:cNvSpPr/>
            <p:nvPr/>
          </p:nvSpPr>
          <p:spPr>
            <a:xfrm flipV="1">
              <a:off x="1104" y="1661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43368" name="Group 10"/>
          <p:cNvGrpSpPr/>
          <p:nvPr/>
        </p:nvGrpSpPr>
        <p:grpSpPr>
          <a:xfrm>
            <a:off x="4686300" y="2971800"/>
            <a:ext cx="1401763" cy="2882900"/>
            <a:chOff x="1992" y="1872"/>
            <a:chExt cx="883" cy="1816"/>
          </a:xfrm>
        </p:grpSpPr>
        <p:sp>
          <p:nvSpPr>
            <p:cNvPr id="143405" name="Text Box 11"/>
            <p:cNvSpPr txBox="1"/>
            <p:nvPr/>
          </p:nvSpPr>
          <p:spPr>
            <a:xfrm>
              <a:off x="1992" y="3398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最大负数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406" name="Freeform 12"/>
            <p:cNvSpPr/>
            <p:nvPr/>
          </p:nvSpPr>
          <p:spPr>
            <a:xfrm>
              <a:off x="2448" y="1872"/>
              <a:ext cx="1" cy="1524"/>
            </a:xfrm>
            <a:custGeom>
              <a:avLst/>
              <a:gdLst>
                <a:gd name="txL" fmla="*/ 0 w 1"/>
                <a:gd name="txT" fmla="*/ 0 h 1524"/>
                <a:gd name="txR" fmla="*/ 1 w 1"/>
                <a:gd name="txB" fmla="*/ 1524 h 1524"/>
              </a:gdLst>
              <a:ahLst/>
              <a:cxnLst>
                <a:cxn ang="0">
                  <a:pos x="0" y="1524"/>
                </a:cxn>
                <a:cxn ang="0">
                  <a:pos x="1" y="0"/>
                </a:cxn>
              </a:cxnLst>
              <a:rect l="txL" t="txT" r="txR" b="txB"/>
              <a:pathLst>
                <a:path w="1" h="1524">
                  <a:moveTo>
                    <a:pt x="0" y="1524"/>
                  </a:moveTo>
                  <a:lnTo>
                    <a:pt x="1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43369" name="Group 13"/>
          <p:cNvGrpSpPr/>
          <p:nvPr/>
        </p:nvGrpSpPr>
        <p:grpSpPr>
          <a:xfrm>
            <a:off x="8272463" y="2971800"/>
            <a:ext cx="1568450" cy="841375"/>
            <a:chOff x="4296" y="1661"/>
            <a:chExt cx="888" cy="530"/>
          </a:xfrm>
        </p:grpSpPr>
        <p:sp>
          <p:nvSpPr>
            <p:cNvPr id="143403" name="Text Box 14"/>
            <p:cNvSpPr txBox="1"/>
            <p:nvPr/>
          </p:nvSpPr>
          <p:spPr>
            <a:xfrm>
              <a:off x="4296" y="1901"/>
              <a:ext cx="88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最大正数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404" name="Line 15"/>
            <p:cNvSpPr/>
            <p:nvPr/>
          </p:nvSpPr>
          <p:spPr>
            <a:xfrm flipV="1">
              <a:off x="4608" y="1661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43370" name="Group 16"/>
          <p:cNvGrpSpPr/>
          <p:nvPr/>
        </p:nvGrpSpPr>
        <p:grpSpPr>
          <a:xfrm>
            <a:off x="5943600" y="2971800"/>
            <a:ext cx="1401763" cy="1527175"/>
            <a:chOff x="2784" y="1661"/>
            <a:chExt cx="883" cy="962"/>
          </a:xfrm>
        </p:grpSpPr>
        <p:sp>
          <p:nvSpPr>
            <p:cNvPr id="143401" name="Text Box 17"/>
            <p:cNvSpPr txBox="1"/>
            <p:nvPr/>
          </p:nvSpPr>
          <p:spPr>
            <a:xfrm>
              <a:off x="2784" y="2333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最小正数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402" name="Freeform 18"/>
            <p:cNvSpPr/>
            <p:nvPr/>
          </p:nvSpPr>
          <p:spPr>
            <a:xfrm>
              <a:off x="3264" y="1661"/>
              <a:ext cx="1" cy="687"/>
            </a:xfrm>
            <a:custGeom>
              <a:avLst/>
              <a:gdLst>
                <a:gd name="txL" fmla="*/ 0 w 1"/>
                <a:gd name="txT" fmla="*/ 0 h 687"/>
                <a:gd name="txR" fmla="*/ 1 w 1"/>
                <a:gd name="txB" fmla="*/ 687 h 687"/>
              </a:gdLst>
              <a:ahLst/>
              <a:cxnLst>
                <a:cxn ang="0">
                  <a:pos x="0" y="687"/>
                </a:cxn>
                <a:cxn ang="0">
                  <a:pos x="1" y="0"/>
                </a:cxn>
              </a:cxnLst>
              <a:rect l="txL" t="txT" r="txR" b="txB"/>
              <a:pathLst>
                <a:path w="1" h="687">
                  <a:moveTo>
                    <a:pt x="0" y="687"/>
                  </a:moveTo>
                  <a:lnTo>
                    <a:pt x="1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43371" name="Group 19"/>
          <p:cNvGrpSpPr/>
          <p:nvPr/>
        </p:nvGrpSpPr>
        <p:grpSpPr>
          <a:xfrm>
            <a:off x="2133600" y="1758950"/>
            <a:ext cx="7848600" cy="1827213"/>
            <a:chOff x="384" y="897"/>
            <a:chExt cx="4944" cy="1151"/>
          </a:xfrm>
        </p:grpSpPr>
        <p:grpSp>
          <p:nvGrpSpPr>
            <p:cNvPr id="143383" name="Group 20"/>
            <p:cNvGrpSpPr/>
            <p:nvPr/>
          </p:nvGrpSpPr>
          <p:grpSpPr>
            <a:xfrm>
              <a:off x="384" y="1229"/>
              <a:ext cx="4944" cy="525"/>
              <a:chOff x="384" y="1229"/>
              <a:chExt cx="4944" cy="525"/>
            </a:xfrm>
          </p:grpSpPr>
          <p:grpSp>
            <p:nvGrpSpPr>
              <p:cNvPr id="143394" name="Group 21"/>
              <p:cNvGrpSpPr/>
              <p:nvPr/>
            </p:nvGrpSpPr>
            <p:grpSpPr>
              <a:xfrm>
                <a:off x="384" y="1229"/>
                <a:ext cx="4944" cy="525"/>
                <a:chOff x="384" y="1229"/>
                <a:chExt cx="4944" cy="525"/>
              </a:xfrm>
            </p:grpSpPr>
            <p:grpSp>
              <p:nvGrpSpPr>
                <p:cNvPr id="143396" name="Group 22"/>
                <p:cNvGrpSpPr/>
                <p:nvPr/>
              </p:nvGrpSpPr>
              <p:grpSpPr>
                <a:xfrm>
                  <a:off x="1104" y="1229"/>
                  <a:ext cx="1752" cy="525"/>
                  <a:chOff x="1104" y="1229"/>
                  <a:chExt cx="1752" cy="525"/>
                </a:xfrm>
              </p:grpSpPr>
              <p:sp>
                <p:nvSpPr>
                  <p:cNvPr id="143399" name="Line 23"/>
                  <p:cNvSpPr/>
                  <p:nvPr/>
                </p:nvSpPr>
                <p:spPr>
                  <a:xfrm flipV="1">
                    <a:off x="2856" y="1661"/>
                    <a:ext cx="0" cy="93"/>
                  </a:xfrm>
                  <a:prstGeom prst="line">
                    <a:avLst/>
                  </a:prstGeom>
                  <a:ln w="28575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43400" name="Line 24"/>
                  <p:cNvSpPr/>
                  <p:nvPr/>
                </p:nvSpPr>
                <p:spPr>
                  <a:xfrm>
                    <a:off x="1104" y="1229"/>
                    <a:ext cx="0" cy="432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43397" name="Line 25"/>
                <p:cNvSpPr/>
                <p:nvPr/>
              </p:nvSpPr>
              <p:spPr>
                <a:xfrm>
                  <a:off x="3264" y="1229"/>
                  <a:ext cx="0" cy="43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3398" name="Line 26"/>
                <p:cNvSpPr/>
                <p:nvPr/>
              </p:nvSpPr>
              <p:spPr>
                <a:xfrm>
                  <a:off x="384" y="1661"/>
                  <a:ext cx="49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3395" name="Line 27"/>
              <p:cNvSpPr/>
              <p:nvPr/>
            </p:nvSpPr>
            <p:spPr>
              <a:xfrm>
                <a:off x="4608" y="1229"/>
                <a:ext cx="0" cy="432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43384" name="Group 28"/>
            <p:cNvGrpSpPr/>
            <p:nvPr/>
          </p:nvGrpSpPr>
          <p:grpSpPr>
            <a:xfrm>
              <a:off x="384" y="897"/>
              <a:ext cx="4944" cy="1151"/>
              <a:chOff x="384" y="897"/>
              <a:chExt cx="4944" cy="1151"/>
            </a:xfrm>
          </p:grpSpPr>
          <p:sp>
            <p:nvSpPr>
              <p:cNvPr id="143385" name="Rectangle 29"/>
              <p:cNvSpPr/>
              <p:nvPr/>
            </p:nvSpPr>
            <p:spPr>
              <a:xfrm>
                <a:off x="384" y="1229"/>
                <a:ext cx="720" cy="432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noFill/>
              </a:ln>
            </p:spPr>
            <p:txBody>
              <a:bodyPr wrap="none" anchor="ctr" anchorCtr="0"/>
              <a:p>
                <a:pPr algn="ctr"/>
                <a:endParaRPr lang="zh-CN" altLang="zh-CN" sz="32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386" name="Line 30"/>
              <p:cNvSpPr/>
              <p:nvPr/>
            </p:nvSpPr>
            <p:spPr>
              <a:xfrm>
                <a:off x="2448" y="1229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387" name="Rectangle 31"/>
              <p:cNvSpPr/>
              <p:nvPr/>
            </p:nvSpPr>
            <p:spPr>
              <a:xfrm>
                <a:off x="4608" y="1229"/>
                <a:ext cx="720" cy="432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noFill/>
              </a:ln>
            </p:spPr>
            <p:txBody>
              <a:bodyPr wrap="none" anchor="ctr" anchorCtr="0"/>
              <a:p>
                <a:pPr algn="ctr"/>
                <a:endParaRPr lang="zh-CN" altLang="zh-CN" sz="32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388" name="Text Box 32"/>
              <p:cNvSpPr txBox="1"/>
              <p:nvPr/>
            </p:nvSpPr>
            <p:spPr>
              <a:xfrm>
                <a:off x="1321" y="1310"/>
                <a:ext cx="78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Times New Roman" panose="02020603050405020304" pitchFamily="18" charset="0"/>
                  </a:rPr>
                  <a:t>负数区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389" name="Text Box 33"/>
              <p:cNvSpPr txBox="1"/>
              <p:nvPr/>
            </p:nvSpPr>
            <p:spPr>
              <a:xfrm>
                <a:off x="3481" y="1310"/>
                <a:ext cx="78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Times New Roman" panose="02020603050405020304" pitchFamily="18" charset="0"/>
                  </a:rPr>
                  <a:t>正数区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390" name="Text Box 34"/>
              <p:cNvSpPr txBox="1"/>
              <p:nvPr/>
            </p:nvSpPr>
            <p:spPr>
              <a:xfrm>
                <a:off x="2538" y="1310"/>
                <a:ext cx="56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下溢</a:t>
                </a:r>
                <a:endPara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391" name="Text Box 35"/>
              <p:cNvSpPr txBox="1"/>
              <p:nvPr/>
            </p:nvSpPr>
            <p:spPr>
              <a:xfrm>
                <a:off x="2734" y="1680"/>
                <a:ext cx="24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32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392" name="Text Box 36"/>
              <p:cNvSpPr txBox="1"/>
              <p:nvPr/>
            </p:nvSpPr>
            <p:spPr>
              <a:xfrm>
                <a:off x="432" y="897"/>
                <a:ext cx="56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上溢</a:t>
                </a:r>
                <a:endPara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393" name="Text Box 37"/>
              <p:cNvSpPr txBox="1"/>
              <p:nvPr/>
            </p:nvSpPr>
            <p:spPr>
              <a:xfrm>
                <a:off x="4608" y="897"/>
                <a:ext cx="56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上溢</a:t>
                </a:r>
                <a:endPara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3372" name="Text Box 38"/>
          <p:cNvSpPr txBox="1"/>
          <p:nvPr/>
        </p:nvSpPr>
        <p:spPr>
          <a:xfrm>
            <a:off x="2438400" y="4221163"/>
            <a:ext cx="2590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×( 1</a:t>
            </a:r>
            <a:r>
              <a:rPr lang="en-US" altLang="zh-CN" sz="1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9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8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zh-CN" altLang="zh-CN" sz="24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3200" b="1" baseline="30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73" name="Text Box 39"/>
          <p:cNvSpPr txBox="1"/>
          <p:nvPr/>
        </p:nvSpPr>
        <p:spPr>
          <a:xfrm>
            <a:off x="4767263" y="6202363"/>
            <a:ext cx="2209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4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×2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4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3200" b="1" baseline="30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74" name="Text Box 40"/>
          <p:cNvSpPr txBox="1"/>
          <p:nvPr/>
        </p:nvSpPr>
        <p:spPr>
          <a:xfrm>
            <a:off x="8418513" y="4221163"/>
            <a:ext cx="2590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×( 1</a:t>
            </a:r>
            <a:r>
              <a:rPr lang="en-US" altLang="zh-CN" sz="1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1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4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 </a:t>
            </a:r>
            <a:endParaRPr lang="en-US" altLang="zh-CN" sz="3200" b="1" baseline="30000" dirty="0">
              <a:latin typeface="Times New Roman" panose="02020603050405020304" pitchFamily="18" charset="0"/>
            </a:endParaRPr>
          </a:p>
        </p:txBody>
      </p:sp>
      <p:grpSp>
        <p:nvGrpSpPr>
          <p:cNvPr id="143375" name="Group 41"/>
          <p:cNvGrpSpPr/>
          <p:nvPr/>
        </p:nvGrpSpPr>
        <p:grpSpPr>
          <a:xfrm>
            <a:off x="7924800" y="5364163"/>
            <a:ext cx="3124200" cy="993775"/>
            <a:chOff x="144" y="3024"/>
            <a:chExt cx="1968" cy="626"/>
          </a:xfrm>
        </p:grpSpPr>
        <p:sp>
          <p:nvSpPr>
            <p:cNvPr id="143381" name="Text Box 42"/>
            <p:cNvSpPr txBox="1"/>
            <p:nvPr/>
          </p:nvSpPr>
          <p:spPr>
            <a:xfrm>
              <a:off x="144" y="3024"/>
              <a:ext cx="163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设  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 4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382" name="Text Box 43"/>
            <p:cNvSpPr txBox="1"/>
            <p:nvPr/>
          </p:nvSpPr>
          <p:spPr>
            <a:xfrm>
              <a:off x="480" y="3321"/>
              <a:ext cx="163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=10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43376" name="Text Box 44"/>
          <p:cNvSpPr txBox="1"/>
          <p:nvPr/>
        </p:nvSpPr>
        <p:spPr>
          <a:xfrm>
            <a:off x="3048000" y="1062038"/>
            <a:ext cx="6781800" cy="849630"/>
          </a:xfrm>
          <a:prstGeom prst="rect">
            <a:avLst/>
          </a:prstGeom>
          <a:noFill/>
          <a:ln w="9525">
            <a:noFill/>
          </a:ln>
        </p:spPr>
        <p:txBody>
          <a:bodyPr tIns="7200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上溢   阶码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800" b="1" dirty="0">
                <a:latin typeface="Times New Roman" panose="02020603050405020304" pitchFamily="18" charset="0"/>
              </a:rPr>
              <a:t>最大阶码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下溢   阶码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 </a:t>
            </a:r>
            <a:r>
              <a:rPr lang="zh-CN" altLang="en-US" sz="2800" b="1" dirty="0">
                <a:latin typeface="Times New Roman" panose="02020603050405020304" pitchFamily="18" charset="0"/>
              </a:rPr>
              <a:t>最小阶码   按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机器零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处理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4797" name="Rectangle 4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78" name="AutoShape 46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379" name="Text Box 47"/>
          <p:cNvSpPr txBox="1"/>
          <p:nvPr/>
        </p:nvSpPr>
        <p:spPr>
          <a:xfrm>
            <a:off x="6165850" y="4941888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4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×2</a:t>
            </a:r>
            <a:r>
              <a:rPr lang="en-US" altLang="zh-CN" sz="3200" b="1" baseline="4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400" b="1" baseline="5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3200" b="1" baseline="30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8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44386" name="Text Box 2"/>
          <p:cNvSpPr txBox="1"/>
          <p:nvPr/>
        </p:nvSpPr>
        <p:spPr>
          <a:xfrm>
            <a:off x="2057400" y="3048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练习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4387" name="Text Box 3"/>
          <p:cNvSpPr txBox="1"/>
          <p:nvPr/>
        </p:nvSpPr>
        <p:spPr>
          <a:xfrm>
            <a:off x="2057400" y="1036638"/>
            <a:ext cx="8610600" cy="16471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设机器数字长为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24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位，欲表示</a:t>
            </a:r>
            <a:r>
              <a:rPr lang="en-US" altLang="zh-CN" sz="2800" b="1" dirty="0">
                <a:latin typeface="Times New Roman" panose="02020603050405020304" pitchFamily="18" charset="0"/>
              </a:rPr>
              <a:t>±3</a:t>
            </a:r>
            <a:r>
              <a:rPr lang="zh-CN" altLang="en-US" sz="2800" b="1" dirty="0">
                <a:latin typeface="Times New Roman" panose="02020603050405020304" pitchFamily="18" charset="0"/>
              </a:rPr>
              <a:t>万的十进制数，试问在保证数的最大精度的前提下，除阶符、数符各 取</a:t>
            </a:r>
            <a:r>
              <a:rPr lang="en-US" altLang="zh-CN" sz="2800" b="1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位外，阶码、尾数各取几位？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4388" name="Text Box 4"/>
          <p:cNvSpPr txBox="1"/>
          <p:nvPr/>
        </p:nvSpPr>
        <p:spPr>
          <a:xfrm>
            <a:off x="2819400" y="5943600"/>
            <a:ext cx="6705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满足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最大精度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可取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= 4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= 18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4389" name="Text Box 5"/>
          <p:cNvSpPr txBox="1"/>
          <p:nvPr/>
        </p:nvSpPr>
        <p:spPr>
          <a:xfrm>
            <a:off x="2133600" y="27432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44390" name="Group 6"/>
          <p:cNvGrpSpPr/>
          <p:nvPr/>
        </p:nvGrpSpPr>
        <p:grpSpPr>
          <a:xfrm>
            <a:off x="3743325" y="4191000"/>
            <a:ext cx="3098800" cy="1681163"/>
            <a:chOff x="1398" y="2640"/>
            <a:chExt cx="1952" cy="1059"/>
          </a:xfrm>
        </p:grpSpPr>
        <p:sp>
          <p:nvSpPr>
            <p:cNvPr id="144407" name="Text Box 7"/>
            <p:cNvSpPr txBox="1"/>
            <p:nvPr/>
          </p:nvSpPr>
          <p:spPr>
            <a:xfrm>
              <a:off x="2979" y="328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44408" name="Group 8"/>
            <p:cNvGrpSpPr/>
            <p:nvPr/>
          </p:nvGrpSpPr>
          <p:grpSpPr>
            <a:xfrm>
              <a:off x="1398" y="2640"/>
              <a:ext cx="1800" cy="1059"/>
              <a:chOff x="1398" y="2640"/>
              <a:chExt cx="1800" cy="1059"/>
            </a:xfrm>
          </p:grpSpPr>
          <p:sp>
            <p:nvSpPr>
              <p:cNvPr id="144409" name="Text Box 9"/>
              <p:cNvSpPr txBox="1"/>
              <p:nvPr/>
            </p:nvSpPr>
            <p:spPr>
              <a:xfrm>
                <a:off x="1398" y="3331"/>
                <a:ext cx="1800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3200" b="1" i="1" dirty="0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3200" b="1" dirty="0">
                    <a:latin typeface="Times New Roman" panose="02020603050405020304" pitchFamily="18" charset="0"/>
                  </a:rPr>
                  <a:t> = 4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3200" b="1" dirty="0">
                    <a:latin typeface="Times New Roman" panose="02020603050405020304" pitchFamily="18" charset="0"/>
                  </a:rPr>
                  <a:t>5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3200" b="1" dirty="0">
                    <a:latin typeface="Times New Roman" panose="02020603050405020304" pitchFamily="18" charset="0"/>
                  </a:rPr>
                  <a:t>6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，</a:t>
                </a:r>
                <a:endParaRPr lang="zh-CN" altLang="en-US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410" name="AutoShape 10"/>
              <p:cNvSpPr/>
              <p:nvPr/>
            </p:nvSpPr>
            <p:spPr>
              <a:xfrm>
                <a:off x="1455" y="2640"/>
                <a:ext cx="240" cy="240"/>
              </a:xfrm>
              <a:prstGeom prst="wedgeRoundRectCallout">
                <a:avLst>
                  <a:gd name="adj1" fmla="val 11250"/>
                  <a:gd name="adj2" fmla="val 280000"/>
                  <a:gd name="adj3" fmla="val 16667"/>
                </a:avLst>
              </a:prstGeom>
              <a:noFill/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/>
                <a:endParaRPr lang="zh-CN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4391" name="Group 11"/>
          <p:cNvGrpSpPr/>
          <p:nvPr/>
        </p:nvGrpSpPr>
        <p:grpSpPr>
          <a:xfrm>
            <a:off x="2362200" y="3459163"/>
            <a:ext cx="7659688" cy="584199"/>
            <a:chOff x="528" y="2179"/>
            <a:chExt cx="4825" cy="368"/>
          </a:xfrm>
        </p:grpSpPr>
        <p:sp>
          <p:nvSpPr>
            <p:cNvPr id="144405" name="Text Box 12"/>
            <p:cNvSpPr txBox="1"/>
            <p:nvPr/>
          </p:nvSpPr>
          <p:spPr>
            <a:xfrm>
              <a:off x="923" y="2209"/>
              <a:ext cx="443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15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位二进制数可反映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±3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万之间的十进制数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4406" name="Text Box 13"/>
            <p:cNvSpPr txBox="1"/>
            <p:nvPr/>
          </p:nvSpPr>
          <p:spPr>
            <a:xfrm>
              <a:off x="528" y="2179"/>
              <a:ext cx="62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∴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4392" name="Group 14"/>
          <p:cNvGrpSpPr/>
          <p:nvPr/>
        </p:nvGrpSpPr>
        <p:grpSpPr>
          <a:xfrm>
            <a:off x="3124200" y="2819400"/>
            <a:ext cx="5505450" cy="584201"/>
            <a:chOff x="1008" y="1776"/>
            <a:chExt cx="3468" cy="368"/>
          </a:xfrm>
        </p:grpSpPr>
        <p:sp>
          <p:nvSpPr>
            <p:cNvPr id="144402" name="Text Box 15"/>
            <p:cNvSpPr txBox="1"/>
            <p:nvPr/>
          </p:nvSpPr>
          <p:spPr>
            <a:xfrm>
              <a:off x="3216" y="1776"/>
              <a:ext cx="126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50000" dirty="0">
                  <a:latin typeface="Times New Roman" panose="02020603050405020304" pitchFamily="18" charset="0"/>
                </a:rPr>
                <a:t>15</a:t>
              </a:r>
              <a:r>
                <a:rPr lang="en-US" altLang="zh-CN" sz="3200" b="1" baseline="30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32768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4403" name="Text Box 16"/>
            <p:cNvSpPr txBox="1"/>
            <p:nvPr/>
          </p:nvSpPr>
          <p:spPr>
            <a:xfrm>
              <a:off x="1536" y="1776"/>
              <a:ext cx="126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50000" dirty="0">
                  <a:latin typeface="Times New Roman" panose="02020603050405020304" pitchFamily="18" charset="0"/>
                </a:rPr>
                <a:t>14</a:t>
              </a:r>
              <a:r>
                <a:rPr lang="en-US" altLang="zh-CN" sz="3200" b="1" baseline="30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16384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4404" name="Text Box 17"/>
            <p:cNvSpPr txBox="1"/>
            <p:nvPr/>
          </p:nvSpPr>
          <p:spPr>
            <a:xfrm>
              <a:off x="1008" y="1776"/>
              <a:ext cx="48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∵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5794" name="Rectangle 1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394" name="AutoShape 19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44395" name="Group 20"/>
          <p:cNvGrpSpPr/>
          <p:nvPr/>
        </p:nvGrpSpPr>
        <p:grpSpPr>
          <a:xfrm>
            <a:off x="3565525" y="4121150"/>
            <a:ext cx="4892675" cy="1258888"/>
            <a:chOff x="1286" y="2596"/>
            <a:chExt cx="3082" cy="793"/>
          </a:xfrm>
        </p:grpSpPr>
        <p:grpSp>
          <p:nvGrpSpPr>
            <p:cNvPr id="144397" name="Group 21"/>
            <p:cNvGrpSpPr/>
            <p:nvPr/>
          </p:nvGrpSpPr>
          <p:grpSpPr>
            <a:xfrm>
              <a:off x="1286" y="2652"/>
              <a:ext cx="3082" cy="737"/>
              <a:chOff x="1286" y="2652"/>
              <a:chExt cx="3082" cy="737"/>
            </a:xfrm>
          </p:grpSpPr>
          <p:sp>
            <p:nvSpPr>
              <p:cNvPr id="144399" name="Text Box 22"/>
              <p:cNvSpPr txBox="1"/>
              <p:nvPr/>
            </p:nvSpPr>
            <p:spPr>
              <a:xfrm>
                <a:off x="1286" y="2652"/>
                <a:ext cx="308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 b="1" baseline="50000" dirty="0">
                    <a:latin typeface="Times New Roman" panose="02020603050405020304" pitchFamily="18" charset="0"/>
                  </a:rPr>
                  <a:t>15</a:t>
                </a:r>
                <a:r>
                  <a:rPr lang="en-US" altLang="zh-CN" sz="3200" b="1" dirty="0">
                    <a:latin typeface="Times New Roman" panose="02020603050405020304" pitchFamily="18" charset="0"/>
                  </a:rPr>
                  <a:t> × 0.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××× </a:t>
                </a:r>
                <a:r>
                  <a:rPr lang="zh-CN" altLang="en-US" sz="1200" b="1" dirty="0">
                    <a:latin typeface="Times New Roman" panose="02020603050405020304" pitchFamily="18" charset="0"/>
                  </a:rPr>
                  <a:t>　 　         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×××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400" name="AutoShape 23"/>
              <p:cNvSpPr/>
              <p:nvPr/>
            </p:nvSpPr>
            <p:spPr>
              <a:xfrm rot="5380329">
                <a:off x="3047" y="2231"/>
                <a:ext cx="144" cy="1632"/>
              </a:xfrm>
              <a:prstGeom prst="rightBrace">
                <a:avLst>
                  <a:gd name="adj1" fmla="val 93552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4401" name="Text Box 24"/>
              <p:cNvSpPr txBox="1"/>
              <p:nvPr/>
            </p:nvSpPr>
            <p:spPr>
              <a:xfrm>
                <a:off x="2880" y="3099"/>
                <a:ext cx="96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15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位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4398" name="Text Box 25"/>
            <p:cNvSpPr txBox="1"/>
            <p:nvPr/>
          </p:nvSpPr>
          <p:spPr>
            <a:xfrm>
              <a:off x="2934" y="2596"/>
              <a:ext cx="5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4439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Text Box 2"/>
          <p:cNvSpPr txBox="1"/>
          <p:nvPr/>
        </p:nvSpPr>
        <p:spPr>
          <a:xfrm>
            <a:off x="2346325" y="990600"/>
            <a:ext cx="832167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当浮点数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尾数为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时，不论其阶码为何值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按机器零处理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5411" name="Text Box 3"/>
          <p:cNvSpPr txBox="1"/>
          <p:nvPr/>
        </p:nvSpPr>
        <p:spPr>
          <a:xfrm>
            <a:off x="2193925" y="244475"/>
            <a:ext cx="36734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机器零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45412" name="Text Box 4"/>
          <p:cNvSpPr txBox="1"/>
          <p:nvPr/>
        </p:nvSpPr>
        <p:spPr>
          <a:xfrm>
            <a:off x="2346325" y="1981200"/>
            <a:ext cx="755967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当浮点数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阶码等于或小于它所表示的最小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  数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时，不论尾数为何值，按机器零处理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81938" name="Rectangle 1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5414" name="AutoShape 2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541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46434" name="Rectangle 3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 vert="horz" wrap="square" lIns="91440" tIns="45720" rIns="91440" bIns="45720" anchor="t" anchorCtr="0">
            <a:normAutofit fontScale="70000"/>
          </a:bodyPr>
          <a:p>
            <a:pPr eaLnBrk="1" hangingPunct="1"/>
            <a:r>
              <a:rPr lang="zh-CN" altLang="en-US" sz="2800" dirty="0"/>
              <a:t>原码</a:t>
            </a:r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zh-CN" altLang="en-US" sz="2800" dirty="0"/>
              <a:t>补码</a:t>
            </a:r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zh-CN" altLang="en-US" sz="2800" dirty="0"/>
              <a:t>反码</a:t>
            </a:r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zh-CN" altLang="en-US" sz="2800" dirty="0"/>
              <a:t>例如：用原码表示，</a:t>
            </a:r>
            <a:r>
              <a:rPr lang="zh-CN" altLang="en-US" sz="2800" dirty="0">
                <a:solidFill>
                  <a:srgbClr val="0000CC"/>
                </a:solidFill>
              </a:rPr>
              <a:t>阶码</a:t>
            </a:r>
            <a:r>
              <a:rPr lang="en-US" altLang="zh-CN" sz="2800" dirty="0">
                <a:solidFill>
                  <a:srgbClr val="0000CC"/>
                </a:solidFill>
              </a:rPr>
              <a:t>2</a:t>
            </a:r>
            <a:r>
              <a:rPr lang="zh-CN" altLang="en-US" sz="2800" dirty="0">
                <a:solidFill>
                  <a:srgbClr val="0000CC"/>
                </a:solidFill>
              </a:rPr>
              <a:t>位</a:t>
            </a:r>
            <a:r>
              <a:rPr lang="zh-CN" altLang="en-US" sz="2800" dirty="0"/>
              <a:t>，阶符</a:t>
            </a:r>
            <a:r>
              <a:rPr lang="en-US" altLang="zh-CN" sz="2800" dirty="0"/>
              <a:t>1</a:t>
            </a:r>
            <a:r>
              <a:rPr lang="zh-CN" altLang="en-US" sz="2800" dirty="0"/>
              <a:t>位，</a:t>
            </a:r>
            <a:r>
              <a:rPr lang="zh-CN" altLang="en-US" sz="2800" dirty="0">
                <a:solidFill>
                  <a:srgbClr val="FF0000"/>
                </a:solidFill>
              </a:rPr>
              <a:t>尾数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>
                <a:solidFill>
                  <a:srgbClr val="FF0000"/>
                </a:solidFill>
              </a:rPr>
              <a:t>位</a:t>
            </a:r>
            <a:r>
              <a:rPr lang="zh-CN" altLang="en-US" sz="2800" dirty="0"/>
              <a:t>，数据符号</a:t>
            </a:r>
            <a:r>
              <a:rPr lang="en-US" altLang="zh-CN" sz="2800" dirty="0"/>
              <a:t>1</a:t>
            </a:r>
            <a:r>
              <a:rPr lang="zh-CN" altLang="en-US" sz="2800" dirty="0"/>
              <a:t>位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－</a:t>
            </a:r>
            <a:r>
              <a:rPr lang="en-US" altLang="zh-CN" sz="2800" dirty="0"/>
              <a:t>4—</a:t>
            </a:r>
            <a:r>
              <a:rPr lang="zh-CN" altLang="en-US" sz="2800" dirty="0"/>
              <a:t>＋</a:t>
            </a:r>
            <a:r>
              <a:rPr lang="en-US" altLang="zh-CN" sz="2800" dirty="0"/>
              <a:t>3</a:t>
            </a:r>
            <a:r>
              <a:rPr lang="zh-CN" altLang="en-US" sz="2800" dirty="0"/>
              <a:t>；</a:t>
            </a:r>
            <a:r>
              <a:rPr lang="en-US" altLang="zh-CN" sz="2800" dirty="0"/>
              <a:t>—0.111—</a:t>
            </a:r>
            <a:r>
              <a:rPr lang="zh-CN" altLang="en-US" sz="2800" dirty="0"/>
              <a:t>＋</a:t>
            </a:r>
            <a:r>
              <a:rPr lang="en-US" altLang="zh-CN" sz="2800" dirty="0"/>
              <a:t>0.111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0.0000000001</a:t>
            </a:r>
            <a:endParaRPr lang="en-US" altLang="zh-CN" sz="2800" dirty="0"/>
          </a:p>
        </p:txBody>
      </p:sp>
      <p:sp>
        <p:nvSpPr>
          <p:cNvPr id="146435" name="Text Box 4"/>
          <p:cNvSpPr txBox="1"/>
          <p:nvPr/>
        </p:nvSpPr>
        <p:spPr>
          <a:xfrm>
            <a:off x="3648075" y="2852738"/>
            <a:ext cx="323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 ~ +(1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6436" name="Text Box 5"/>
          <p:cNvSpPr txBox="1"/>
          <p:nvPr/>
        </p:nvSpPr>
        <p:spPr>
          <a:xfrm>
            <a:off x="7104063" y="2924175"/>
            <a:ext cx="3103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 ~ +( 2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6437" name="Text Box 6"/>
          <p:cNvSpPr txBox="1"/>
          <p:nvPr/>
        </p:nvSpPr>
        <p:spPr>
          <a:xfrm>
            <a:off x="3503613" y="1773238"/>
            <a:ext cx="34582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–( 1- 2</a:t>
            </a:r>
            <a:r>
              <a:rPr lang="zh-CN" altLang="en-US" sz="2800" b="1" i="1" baseline="40000" dirty="0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800" b="1" i="1" baseline="4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~ +(1- 2</a:t>
            </a:r>
            <a:r>
              <a:rPr lang="zh-CN" altLang="en-US" sz="2800" b="1" i="1" baseline="40000" dirty="0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800" b="1" i="1" baseline="4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6438" name="Text Box 7"/>
          <p:cNvSpPr txBox="1"/>
          <p:nvPr/>
        </p:nvSpPr>
        <p:spPr>
          <a:xfrm>
            <a:off x="6888163" y="1844675"/>
            <a:ext cx="3508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– 2</a:t>
            </a:r>
            <a:r>
              <a:rPr lang="en-US" altLang="zh-CN" sz="2800" b="1" i="1" baseline="40000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~ +( 2</a:t>
            </a:r>
            <a:r>
              <a:rPr lang="en-US" altLang="zh-CN" sz="2800" b="1" i="1" baseline="40000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6439" name="Text Box 8"/>
          <p:cNvSpPr txBox="1"/>
          <p:nvPr/>
        </p:nvSpPr>
        <p:spPr>
          <a:xfrm>
            <a:off x="3648075" y="4149725"/>
            <a:ext cx="323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 ~ +(1 – 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6440" name="Text Box 9"/>
          <p:cNvSpPr txBox="1"/>
          <p:nvPr/>
        </p:nvSpPr>
        <p:spPr>
          <a:xfrm>
            <a:off x="7159625" y="4221163"/>
            <a:ext cx="3508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–(2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1) ~ +( 2</a:t>
            </a:r>
            <a:r>
              <a:rPr lang="en-US" altLang="zh-CN" sz="2800" b="1" i="1" baseline="4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1)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6441" name="Rectangle 1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l" eaLnBrk="1" hangingPunct="1"/>
            <a:endParaRPr lang="zh-CN" altLang="zh-CN" b="1" dirty="0"/>
          </a:p>
        </p:txBody>
      </p:sp>
      <p:sp>
        <p:nvSpPr>
          <p:cNvPr id="146442" name="Text Box 11"/>
          <p:cNvSpPr txBox="1"/>
          <p:nvPr/>
        </p:nvSpPr>
        <p:spPr>
          <a:xfrm>
            <a:off x="4038600" y="106680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小数定点机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6443" name="Text Box 12"/>
          <p:cNvSpPr txBox="1"/>
          <p:nvPr/>
        </p:nvSpPr>
        <p:spPr>
          <a:xfrm>
            <a:off x="7086600" y="91440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整数定点机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644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Text Box 2"/>
          <p:cNvSpPr txBox="1"/>
          <p:nvPr/>
        </p:nvSpPr>
        <p:spPr>
          <a:xfrm>
            <a:off x="2209800" y="228600"/>
            <a:ext cx="5257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3. </a:t>
            </a:r>
            <a:r>
              <a:rPr lang="zh-CN" altLang="en-US" sz="3200" b="1" dirty="0">
                <a:latin typeface="Times New Roman" panose="02020603050405020304" pitchFamily="18" charset="0"/>
              </a:rPr>
              <a:t>浮点数的规格化形式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47459" name="Text Box 3"/>
          <p:cNvSpPr txBox="1"/>
          <p:nvPr/>
        </p:nvSpPr>
        <p:spPr>
          <a:xfrm>
            <a:off x="2454275" y="823913"/>
            <a:ext cx="17367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= 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47460" name="Text Box 4"/>
          <p:cNvSpPr txBox="1"/>
          <p:nvPr/>
        </p:nvSpPr>
        <p:spPr>
          <a:xfrm>
            <a:off x="3733800" y="762000"/>
            <a:ext cx="3657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尾数最高</a:t>
            </a:r>
            <a:r>
              <a:rPr lang="zh-CN" altLang="en-US" sz="2400" b="1" dirty="0">
                <a:latin typeface="Arial" panose="020B0604020202020204" pitchFamily="34" charset="0"/>
              </a:rPr>
              <a:t>有效</a:t>
            </a:r>
            <a:r>
              <a:rPr lang="zh-CN" altLang="en-US" sz="2400" b="1" dirty="0">
                <a:latin typeface="Times New Roman" panose="02020603050405020304" pitchFamily="18" charset="0"/>
              </a:rPr>
              <a:t>位为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7461" name="Text Box 9"/>
          <p:cNvSpPr txBox="1"/>
          <p:nvPr/>
        </p:nvSpPr>
        <p:spPr>
          <a:xfrm>
            <a:off x="2209800" y="2295525"/>
            <a:ext cx="34340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4. </a:t>
            </a:r>
            <a:r>
              <a:rPr lang="zh-CN" altLang="en-US" sz="3200" b="1" dirty="0">
                <a:latin typeface="Times New Roman" panose="02020603050405020304" pitchFamily="18" charset="0"/>
              </a:rPr>
              <a:t>浮点数的规格化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47462" name="Text Box 10"/>
          <p:cNvSpPr txBox="1"/>
          <p:nvPr/>
        </p:nvSpPr>
        <p:spPr>
          <a:xfrm>
            <a:off x="2819400" y="2941638"/>
            <a:ext cx="78041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= 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47463" name="Text Box 11"/>
          <p:cNvSpPr txBox="1"/>
          <p:nvPr/>
        </p:nvSpPr>
        <p:spPr>
          <a:xfrm>
            <a:off x="4038600" y="2941638"/>
            <a:ext cx="6329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左规       尾数左移 </a:t>
            </a:r>
            <a:r>
              <a:rPr lang="en-US" altLang="zh-CN" sz="2400" b="1" dirty="0">
                <a:latin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位，阶码减 </a:t>
            </a:r>
            <a:r>
              <a:rPr lang="en-US" altLang="zh-CN" sz="2400" b="1" dirty="0">
                <a:latin typeface="Times New Roman" panose="02020603050405020304" pitchFamily="18" charset="0"/>
              </a:rPr>
              <a:t>1(</a:t>
            </a:r>
            <a:r>
              <a:rPr lang="zh-CN" altLang="en-US" sz="2400" b="1" dirty="0">
                <a:latin typeface="Times New Roman" panose="02020603050405020304" pitchFamily="18" charset="0"/>
              </a:rPr>
              <a:t>小数点右移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47464" name="Text Box 12"/>
          <p:cNvSpPr txBox="1"/>
          <p:nvPr/>
        </p:nvSpPr>
        <p:spPr>
          <a:xfrm>
            <a:off x="4038600" y="3416300"/>
            <a:ext cx="6405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右规       尾数右移 </a:t>
            </a:r>
            <a:r>
              <a:rPr lang="en-US" altLang="zh-CN" sz="2400" b="1" dirty="0">
                <a:latin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位，阶码加 </a:t>
            </a:r>
            <a:r>
              <a:rPr lang="en-US" altLang="zh-CN" sz="2400" b="1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zh-CN" altLang="en-US" sz="2400" b="1" dirty="0">
                <a:latin typeface="Arial" panose="020B0604020202020204" pitchFamily="34" charset="0"/>
              </a:rPr>
              <a:t>小数点左移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47465" name="Text Box 19"/>
          <p:cNvSpPr txBox="1"/>
          <p:nvPr/>
        </p:nvSpPr>
        <p:spPr>
          <a:xfrm>
            <a:off x="2895600" y="5791200"/>
            <a:ext cx="6400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基数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越大，可表示的浮点数的范围越大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47466" name="Text Box 21"/>
          <p:cNvSpPr txBox="1"/>
          <p:nvPr/>
        </p:nvSpPr>
        <p:spPr>
          <a:xfrm>
            <a:off x="2895600" y="6248400"/>
            <a:ext cx="44926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基数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越大，浮点数的精度降低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76822" name="Rectangle 2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7468" name="AutoShape 23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746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48482" name="Text Box 2"/>
          <p:cNvSpPr txBox="1"/>
          <p:nvPr/>
        </p:nvSpPr>
        <p:spPr>
          <a:xfrm>
            <a:off x="1828800" y="304800"/>
            <a:ext cx="1554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例如：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48483" name="Text Box 3"/>
          <p:cNvSpPr txBox="1"/>
          <p:nvPr/>
        </p:nvSpPr>
        <p:spPr>
          <a:xfrm>
            <a:off x="1752600" y="16764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最大正数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4" name="Text Box 4"/>
          <p:cNvSpPr txBox="1"/>
          <p:nvPr/>
        </p:nvSpPr>
        <p:spPr>
          <a:xfrm>
            <a:off x="7620000" y="1676400"/>
            <a:ext cx="245427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15</a:t>
            </a:r>
            <a:r>
              <a:rPr lang="en-US" altLang="zh-CN" sz="2800" b="1" dirty="0">
                <a:latin typeface="Times New Roman" panose="02020603050405020304" pitchFamily="18" charset="0"/>
              </a:rPr>
              <a:t>×( 1–2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–10</a:t>
            </a:r>
            <a:r>
              <a:rPr lang="en-US" altLang="zh-CN" sz="2800" b="1" dirty="0">
                <a:latin typeface="Times New Roman" panose="02020603050405020304" pitchFamily="18" charset="0"/>
              </a:rPr>
              <a:t> )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48485" name="Group 5"/>
          <p:cNvGrpSpPr/>
          <p:nvPr/>
        </p:nvGrpSpPr>
        <p:grpSpPr>
          <a:xfrm>
            <a:off x="3657600" y="1676400"/>
            <a:ext cx="3292475" cy="1084263"/>
            <a:chOff x="1344" y="1056"/>
            <a:chExt cx="2074" cy="683"/>
          </a:xfrm>
        </p:grpSpPr>
        <p:sp>
          <p:nvSpPr>
            <p:cNvPr id="148511" name="Text Box 6"/>
            <p:cNvSpPr txBox="1"/>
            <p:nvPr/>
          </p:nvSpPr>
          <p:spPr>
            <a:xfrm>
              <a:off x="1344" y="1056"/>
              <a:ext cx="197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+1111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× 0.1111111111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8512" name="AutoShape 7"/>
            <p:cNvSpPr/>
            <p:nvPr/>
          </p:nvSpPr>
          <p:spPr>
            <a:xfrm rot="-5400000">
              <a:off x="2813" y="883"/>
              <a:ext cx="144" cy="1066"/>
            </a:xfrm>
            <a:prstGeom prst="leftBrace">
              <a:avLst>
                <a:gd name="adj1" fmla="val 61107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8513" name="Text Box 8"/>
            <p:cNvSpPr txBox="1"/>
            <p:nvPr/>
          </p:nvSpPr>
          <p:spPr>
            <a:xfrm>
              <a:off x="2506" y="148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10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个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8486" name="Text Box 9"/>
          <p:cNvSpPr txBox="1"/>
          <p:nvPr/>
        </p:nvSpPr>
        <p:spPr>
          <a:xfrm>
            <a:off x="1768475" y="29718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最小正数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7" name="Text Box 10"/>
          <p:cNvSpPr txBox="1"/>
          <p:nvPr/>
        </p:nvSpPr>
        <p:spPr>
          <a:xfrm>
            <a:off x="1768475" y="42672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最大负数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8" name="Text Box 11"/>
          <p:cNvSpPr txBox="1"/>
          <p:nvPr/>
        </p:nvSpPr>
        <p:spPr>
          <a:xfrm>
            <a:off x="1768475" y="550068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最小负数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9" name="Text Box 12"/>
          <p:cNvSpPr txBox="1"/>
          <p:nvPr/>
        </p:nvSpPr>
        <p:spPr>
          <a:xfrm>
            <a:off x="7620000" y="2971800"/>
            <a:ext cx="16846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–15</a:t>
            </a:r>
            <a:r>
              <a:rPr lang="en-US" altLang="zh-CN" sz="2800" b="1" dirty="0">
                <a:latin typeface="Times New Roman" panose="02020603050405020304" pitchFamily="18" charset="0"/>
              </a:rPr>
              <a:t>×2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–1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8490" name="Text Box 13"/>
          <p:cNvSpPr txBox="1"/>
          <p:nvPr/>
        </p:nvSpPr>
        <p:spPr>
          <a:xfrm>
            <a:off x="7610475" y="5500688"/>
            <a:ext cx="26816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–2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15</a:t>
            </a:r>
            <a:r>
              <a:rPr lang="en-US" altLang="zh-CN" sz="2800" b="1" dirty="0">
                <a:latin typeface="Times New Roman" panose="02020603050405020304" pitchFamily="18" charset="0"/>
              </a:rPr>
              <a:t>×( 1–2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– 10</a:t>
            </a:r>
            <a:r>
              <a:rPr lang="en-US" altLang="zh-CN" sz="2800" b="1" dirty="0">
                <a:latin typeface="Times New Roman" panose="02020603050405020304" pitchFamily="18" charset="0"/>
              </a:rPr>
              <a:t> )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8491" name="Text Box 14"/>
          <p:cNvSpPr txBox="1"/>
          <p:nvPr/>
        </p:nvSpPr>
        <p:spPr>
          <a:xfrm>
            <a:off x="9461500" y="2971800"/>
            <a:ext cx="9493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–16</a:t>
            </a:r>
            <a:endParaRPr lang="en-US" altLang="zh-CN" sz="2400" b="1" baseline="45000" dirty="0">
              <a:latin typeface="Times New Roman" panose="02020603050405020304" pitchFamily="18" charset="0"/>
            </a:endParaRPr>
          </a:p>
        </p:txBody>
      </p:sp>
      <p:sp>
        <p:nvSpPr>
          <p:cNvPr id="148492" name="Text Box 15"/>
          <p:cNvSpPr txBox="1"/>
          <p:nvPr/>
        </p:nvSpPr>
        <p:spPr>
          <a:xfrm>
            <a:off x="7620000" y="4281488"/>
            <a:ext cx="18624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–2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–15</a:t>
            </a:r>
            <a:r>
              <a:rPr lang="en-US" altLang="zh-CN" sz="2800" b="1" dirty="0">
                <a:latin typeface="Times New Roman" panose="02020603050405020304" pitchFamily="18" charset="0"/>
              </a:rPr>
              <a:t>×2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–1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8493" name="Text Box 16"/>
          <p:cNvSpPr txBox="1"/>
          <p:nvPr/>
        </p:nvSpPr>
        <p:spPr>
          <a:xfrm>
            <a:off x="9461500" y="4281488"/>
            <a:ext cx="11271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–2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–16</a:t>
            </a:r>
            <a:endParaRPr lang="en-US" altLang="zh-CN" sz="2400" b="1" baseline="45000" dirty="0">
              <a:latin typeface="Times New Roman" panose="02020603050405020304" pitchFamily="18" charset="0"/>
            </a:endParaRPr>
          </a:p>
        </p:txBody>
      </p:sp>
      <p:grpSp>
        <p:nvGrpSpPr>
          <p:cNvPr id="148494" name="Group 17"/>
          <p:cNvGrpSpPr/>
          <p:nvPr/>
        </p:nvGrpSpPr>
        <p:grpSpPr>
          <a:xfrm>
            <a:off x="3657600" y="2921000"/>
            <a:ext cx="3276600" cy="1058863"/>
            <a:chOff x="1344" y="1840"/>
            <a:chExt cx="2064" cy="667"/>
          </a:xfrm>
        </p:grpSpPr>
        <p:sp>
          <p:nvSpPr>
            <p:cNvPr id="148508" name="Text Box 18"/>
            <p:cNvSpPr txBox="1"/>
            <p:nvPr/>
          </p:nvSpPr>
          <p:spPr>
            <a:xfrm>
              <a:off x="1344" y="1840"/>
              <a:ext cx="205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-1111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× 0.1000000000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8509" name="AutoShape 19"/>
            <p:cNvSpPr/>
            <p:nvPr/>
          </p:nvSpPr>
          <p:spPr>
            <a:xfrm rot="-5400000">
              <a:off x="2856" y="1704"/>
              <a:ext cx="144" cy="960"/>
            </a:xfrm>
            <a:prstGeom prst="leftBrace">
              <a:avLst>
                <a:gd name="adj1" fmla="val 5503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8510" name="Text Box 20"/>
            <p:cNvSpPr txBox="1"/>
            <p:nvPr/>
          </p:nvSpPr>
          <p:spPr>
            <a:xfrm>
              <a:off x="2592" y="2256"/>
              <a:ext cx="5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9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个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8495" name="Group 21"/>
          <p:cNvGrpSpPr/>
          <p:nvPr/>
        </p:nvGrpSpPr>
        <p:grpSpPr>
          <a:xfrm>
            <a:off x="3657600" y="4267200"/>
            <a:ext cx="3678238" cy="1084263"/>
            <a:chOff x="1344" y="2688"/>
            <a:chExt cx="2317" cy="683"/>
          </a:xfrm>
        </p:grpSpPr>
        <p:sp>
          <p:nvSpPr>
            <p:cNvPr id="148505" name="Text Box 22"/>
            <p:cNvSpPr txBox="1"/>
            <p:nvPr/>
          </p:nvSpPr>
          <p:spPr>
            <a:xfrm>
              <a:off x="1344" y="2688"/>
              <a:ext cx="231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-1111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×(– 0.1000000000)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8506" name="AutoShape 23"/>
            <p:cNvSpPr/>
            <p:nvPr/>
          </p:nvSpPr>
          <p:spPr>
            <a:xfrm rot="-5400000">
              <a:off x="3053" y="2563"/>
              <a:ext cx="134" cy="960"/>
            </a:xfrm>
            <a:prstGeom prst="leftBrace">
              <a:avLst>
                <a:gd name="adj1" fmla="val 59137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8507" name="Text Box 24"/>
            <p:cNvSpPr txBox="1"/>
            <p:nvPr/>
          </p:nvSpPr>
          <p:spPr>
            <a:xfrm>
              <a:off x="2843" y="3120"/>
              <a:ext cx="5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9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个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8496" name="Group 25"/>
          <p:cNvGrpSpPr/>
          <p:nvPr/>
        </p:nvGrpSpPr>
        <p:grpSpPr>
          <a:xfrm>
            <a:off x="3657600" y="5500688"/>
            <a:ext cx="3632200" cy="1054099"/>
            <a:chOff x="1344" y="3465"/>
            <a:chExt cx="2288" cy="664"/>
          </a:xfrm>
        </p:grpSpPr>
        <p:sp>
          <p:nvSpPr>
            <p:cNvPr id="148502" name="Text Box 26"/>
            <p:cNvSpPr txBox="1"/>
            <p:nvPr/>
          </p:nvSpPr>
          <p:spPr>
            <a:xfrm>
              <a:off x="1344" y="3465"/>
              <a:ext cx="223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+1111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×(– 0.1111111111)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8503" name="AutoShape 27"/>
            <p:cNvSpPr/>
            <p:nvPr/>
          </p:nvSpPr>
          <p:spPr>
            <a:xfrm rot="-5400000">
              <a:off x="3037" y="3235"/>
              <a:ext cx="134" cy="1056"/>
            </a:xfrm>
            <a:prstGeom prst="leftBrace">
              <a:avLst>
                <a:gd name="adj1" fmla="val 65051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8504" name="Text Box 28"/>
            <p:cNvSpPr txBox="1"/>
            <p:nvPr/>
          </p:nvSpPr>
          <p:spPr>
            <a:xfrm>
              <a:off x="2784" y="387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10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个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8497" name="Text Box 29"/>
          <p:cNvSpPr txBox="1"/>
          <p:nvPr/>
        </p:nvSpPr>
        <p:spPr>
          <a:xfrm>
            <a:off x="3171825" y="381000"/>
            <a:ext cx="52292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 = 4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= 10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= 2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8498" name="Text Box 30"/>
          <p:cNvSpPr txBox="1"/>
          <p:nvPr/>
        </p:nvSpPr>
        <p:spPr>
          <a:xfrm>
            <a:off x="3171825" y="914400"/>
            <a:ext cx="5161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尾数规格化后的浮点数表示范围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55" name="Rectangle 3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500" name="AutoShape 32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850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2"/>
          <p:cNvSpPr txBox="1"/>
          <p:nvPr/>
        </p:nvSpPr>
        <p:spPr>
          <a:xfrm>
            <a:off x="1965325" y="228600"/>
            <a:ext cx="20116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三、举例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49507" name="Group 3"/>
          <p:cNvGrpSpPr/>
          <p:nvPr/>
        </p:nvGrpSpPr>
        <p:grpSpPr>
          <a:xfrm>
            <a:off x="1981200" y="735013"/>
            <a:ext cx="8686800" cy="1549399"/>
            <a:chOff x="288" y="463"/>
            <a:chExt cx="5472" cy="976"/>
          </a:xfrm>
        </p:grpSpPr>
        <p:sp>
          <p:nvSpPr>
            <p:cNvPr id="149531" name="Text Box 4"/>
            <p:cNvSpPr txBox="1"/>
            <p:nvPr/>
          </p:nvSpPr>
          <p:spPr>
            <a:xfrm>
              <a:off x="288" y="486"/>
              <a:ext cx="5472" cy="9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10000"/>
                </a:lnSpc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例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6.13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将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 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写成二进制定点数、浮点数及在定点机和浮点机中的机器数形式。其中数值部分均取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10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位，数符取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位，浮点数阶码取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5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位（含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位阶符）。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49532" name="Group 5"/>
            <p:cNvGrpSpPr/>
            <p:nvPr/>
          </p:nvGrpSpPr>
          <p:grpSpPr>
            <a:xfrm>
              <a:off x="1660" y="463"/>
              <a:ext cx="355" cy="450"/>
              <a:chOff x="1728" y="552"/>
              <a:chExt cx="355" cy="450"/>
            </a:xfrm>
          </p:grpSpPr>
          <p:sp>
            <p:nvSpPr>
              <p:cNvPr id="149533" name="Line 6"/>
              <p:cNvSpPr/>
              <p:nvPr/>
            </p:nvSpPr>
            <p:spPr>
              <a:xfrm>
                <a:off x="1728" y="768"/>
                <a:ext cx="29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534" name="Text Box 7"/>
              <p:cNvSpPr txBox="1"/>
              <p:nvPr/>
            </p:nvSpPr>
            <p:spPr>
              <a:xfrm>
                <a:off x="1766" y="55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19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535" name="Text Box 8"/>
              <p:cNvSpPr txBox="1"/>
              <p:nvPr/>
            </p:nvSpPr>
            <p:spPr>
              <a:xfrm>
                <a:off x="1728" y="751"/>
                <a:ext cx="3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128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9508" name="Text Box 9"/>
          <p:cNvSpPr txBox="1"/>
          <p:nvPr/>
        </p:nvSpPr>
        <p:spPr>
          <a:xfrm>
            <a:off x="2438400" y="2316163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49509" name="Group 10"/>
          <p:cNvGrpSpPr/>
          <p:nvPr/>
        </p:nvGrpSpPr>
        <p:grpSpPr>
          <a:xfrm>
            <a:off x="3429000" y="2259013"/>
            <a:ext cx="2103438" cy="714374"/>
            <a:chOff x="1478" y="1327"/>
            <a:chExt cx="1325" cy="450"/>
          </a:xfrm>
        </p:grpSpPr>
        <p:sp>
          <p:nvSpPr>
            <p:cNvPr id="149526" name="Text Box 11"/>
            <p:cNvSpPr txBox="1"/>
            <p:nvPr/>
          </p:nvSpPr>
          <p:spPr>
            <a:xfrm>
              <a:off x="1478" y="1356"/>
              <a:ext cx="95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设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+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49527" name="Group 12"/>
            <p:cNvGrpSpPr/>
            <p:nvPr/>
          </p:nvGrpSpPr>
          <p:grpSpPr>
            <a:xfrm>
              <a:off x="2448" y="1327"/>
              <a:ext cx="355" cy="450"/>
              <a:chOff x="1728" y="552"/>
              <a:chExt cx="355" cy="450"/>
            </a:xfrm>
          </p:grpSpPr>
          <p:sp>
            <p:nvSpPr>
              <p:cNvPr id="149528" name="Line 13"/>
              <p:cNvSpPr/>
              <p:nvPr/>
            </p:nvSpPr>
            <p:spPr>
              <a:xfrm>
                <a:off x="1728" y="768"/>
                <a:ext cx="29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529" name="Text Box 14"/>
              <p:cNvSpPr txBox="1"/>
              <p:nvPr/>
            </p:nvSpPr>
            <p:spPr>
              <a:xfrm>
                <a:off x="1766" y="55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19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530" name="Text Box 15"/>
              <p:cNvSpPr txBox="1"/>
              <p:nvPr/>
            </p:nvSpPr>
            <p:spPr>
              <a:xfrm>
                <a:off x="1728" y="751"/>
                <a:ext cx="3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128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9510" name="Text Box 16"/>
          <p:cNvSpPr txBox="1"/>
          <p:nvPr/>
        </p:nvSpPr>
        <p:spPr>
          <a:xfrm>
            <a:off x="2438400" y="2979738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二进制形式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11" name="Text Box 17"/>
          <p:cNvSpPr txBox="1"/>
          <p:nvPr/>
        </p:nvSpPr>
        <p:spPr>
          <a:xfrm>
            <a:off x="2438400" y="350996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定点表示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9512" name="Text Box 18"/>
          <p:cNvSpPr txBox="1"/>
          <p:nvPr/>
        </p:nvSpPr>
        <p:spPr>
          <a:xfrm>
            <a:off x="2438400" y="4041775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浮点规格化形式</a:t>
            </a:r>
            <a:endParaRPr lang="zh-CN" altLang="en-US" sz="2800" b="1" baseline="30000" dirty="0">
              <a:latin typeface="Times New Roman" panose="02020603050405020304" pitchFamily="18" charset="0"/>
            </a:endParaRPr>
          </a:p>
        </p:txBody>
      </p:sp>
      <p:sp>
        <p:nvSpPr>
          <p:cNvPr id="149513" name="Text Box 19"/>
          <p:cNvSpPr txBox="1"/>
          <p:nvPr/>
        </p:nvSpPr>
        <p:spPr>
          <a:xfrm>
            <a:off x="4824413" y="5135563"/>
            <a:ext cx="46520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1, 0010;  0. 1001100000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9514" name="Text Box 20"/>
          <p:cNvSpPr txBox="1"/>
          <p:nvPr/>
        </p:nvSpPr>
        <p:spPr>
          <a:xfrm>
            <a:off x="4824413" y="5699125"/>
            <a:ext cx="46126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1, 1110;  0. 1001100000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9515" name="Text Box 21"/>
          <p:cNvSpPr txBox="1"/>
          <p:nvPr/>
        </p:nvSpPr>
        <p:spPr>
          <a:xfrm>
            <a:off x="4824413" y="6262688"/>
            <a:ext cx="46323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1, 1101;  0. 1001100000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9516" name="Text Box 22"/>
          <p:cNvSpPr txBox="1"/>
          <p:nvPr/>
        </p:nvSpPr>
        <p:spPr>
          <a:xfrm>
            <a:off x="2438400" y="454977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定点机中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9517" name="Text Box 23"/>
          <p:cNvSpPr txBox="1"/>
          <p:nvPr/>
        </p:nvSpPr>
        <p:spPr>
          <a:xfrm>
            <a:off x="2438400" y="510381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浮点机中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9518" name="Text Box 24"/>
          <p:cNvSpPr txBox="1"/>
          <p:nvPr/>
        </p:nvSpPr>
        <p:spPr>
          <a:xfrm>
            <a:off x="7359650" y="3509963"/>
            <a:ext cx="716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000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19" name="Text Box 25"/>
          <p:cNvSpPr txBox="1"/>
          <p:nvPr/>
        </p:nvSpPr>
        <p:spPr>
          <a:xfrm>
            <a:off x="5257800" y="2979738"/>
            <a:ext cx="22326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0.0010011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9520" name="Text Box 26"/>
          <p:cNvSpPr txBox="1"/>
          <p:nvPr/>
        </p:nvSpPr>
        <p:spPr>
          <a:xfrm>
            <a:off x="5257800" y="3509963"/>
            <a:ext cx="22326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0.0010011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49521" name="Text Box 27"/>
          <p:cNvSpPr txBox="1"/>
          <p:nvPr/>
        </p:nvSpPr>
        <p:spPr>
          <a:xfrm>
            <a:off x="5257800" y="4041775"/>
            <a:ext cx="34836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0.1001100000</a:t>
            </a:r>
            <a:r>
              <a:rPr lang="en-US" altLang="zh-CN" sz="24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-10</a:t>
            </a:r>
            <a:endParaRPr lang="en-US" altLang="zh-CN" sz="2800" b="1" baseline="40000" dirty="0">
              <a:latin typeface="Times New Roman" panose="02020603050405020304" pitchFamily="18" charset="0"/>
            </a:endParaRPr>
          </a:p>
        </p:txBody>
      </p:sp>
      <p:sp>
        <p:nvSpPr>
          <p:cNvPr id="149522" name="Text Box 28"/>
          <p:cNvSpPr txBox="1"/>
          <p:nvPr/>
        </p:nvSpPr>
        <p:spPr>
          <a:xfrm>
            <a:off x="4824413" y="4549775"/>
            <a:ext cx="51854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0.0010011000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8877" name="Rectangle 2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9524" name="AutoShape 30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952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Text Box 2"/>
          <p:cNvSpPr txBox="1"/>
          <p:nvPr/>
        </p:nvSpPr>
        <p:spPr>
          <a:xfrm>
            <a:off x="5995988" y="3048000"/>
            <a:ext cx="37576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        111010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0531" name="Text Box 3"/>
          <p:cNvSpPr txBox="1"/>
          <p:nvPr/>
        </p:nvSpPr>
        <p:spPr>
          <a:xfrm>
            <a:off x="6781800" y="3048000"/>
            <a:ext cx="1447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0000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0532" name="Text Box 4"/>
          <p:cNvSpPr txBox="1"/>
          <p:nvPr/>
        </p:nvSpPr>
        <p:spPr>
          <a:xfrm>
            <a:off x="1676400" y="228600"/>
            <a:ext cx="1554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 </a:t>
            </a:r>
            <a:r>
              <a:rPr lang="en-US" altLang="zh-CN" sz="3600" b="1" dirty="0">
                <a:latin typeface="Times New Roman" panose="02020603050405020304" pitchFamily="18" charset="0"/>
              </a:rPr>
              <a:t>6.14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50533" name="Text Box 5"/>
          <p:cNvSpPr txBox="1"/>
          <p:nvPr/>
        </p:nvSpPr>
        <p:spPr>
          <a:xfrm>
            <a:off x="1676400" y="228600"/>
            <a:ext cx="8747125" cy="1576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将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–58 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表示成二进制定点数和浮点数，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并写出它在定点机和浮点机中的三种机器数及阶码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为移码、尾数为补码的形式（其他要求同上例）。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50534" name="Text Box 6"/>
          <p:cNvSpPr txBox="1"/>
          <p:nvPr/>
        </p:nvSpPr>
        <p:spPr>
          <a:xfrm>
            <a:off x="2270125" y="18288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50535" name="Text Box 7"/>
          <p:cNvSpPr txBox="1"/>
          <p:nvPr/>
        </p:nvSpPr>
        <p:spPr>
          <a:xfrm>
            <a:off x="3260725" y="1828800"/>
            <a:ext cx="4130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–58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0536" name="Text Box 8"/>
          <p:cNvSpPr txBox="1"/>
          <p:nvPr/>
        </p:nvSpPr>
        <p:spPr>
          <a:xfrm>
            <a:off x="3240088" y="2482850"/>
            <a:ext cx="23987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二进制形式</a:t>
            </a:r>
            <a:endParaRPr lang="zh-CN" alt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0537" name="Text Box 9"/>
          <p:cNvSpPr txBox="1"/>
          <p:nvPr/>
        </p:nvSpPr>
        <p:spPr>
          <a:xfrm>
            <a:off x="3240088" y="3078163"/>
            <a:ext cx="21701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定点表示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50538" name="Text Box 10"/>
          <p:cNvSpPr txBox="1"/>
          <p:nvPr/>
        </p:nvSpPr>
        <p:spPr>
          <a:xfrm>
            <a:off x="3240088" y="3671888"/>
            <a:ext cx="31607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浮点规格化形式</a:t>
            </a:r>
            <a:endParaRPr lang="zh-CN" altLang="en-US" sz="2800" b="1" baseline="30000" dirty="0">
              <a:latin typeface="Times New Roman" panose="02020603050405020304" pitchFamily="18" charset="0"/>
            </a:endParaRPr>
          </a:p>
        </p:txBody>
      </p:sp>
      <p:sp>
        <p:nvSpPr>
          <p:cNvPr id="150539" name="Text Box 11"/>
          <p:cNvSpPr txBox="1"/>
          <p:nvPr/>
        </p:nvSpPr>
        <p:spPr>
          <a:xfrm>
            <a:off x="1978025" y="4724400"/>
            <a:ext cx="32035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1, 0000111010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50540" name="Text Box 12"/>
          <p:cNvSpPr txBox="1"/>
          <p:nvPr/>
        </p:nvSpPr>
        <p:spPr>
          <a:xfrm>
            <a:off x="1978025" y="5181600"/>
            <a:ext cx="33559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1, 1111000110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50541" name="Text Box 13"/>
          <p:cNvSpPr txBox="1"/>
          <p:nvPr/>
        </p:nvSpPr>
        <p:spPr>
          <a:xfrm>
            <a:off x="1978025" y="5638800"/>
            <a:ext cx="33559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1, 1111000101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50542" name="Text Box 14"/>
          <p:cNvSpPr txBox="1"/>
          <p:nvPr/>
        </p:nvSpPr>
        <p:spPr>
          <a:xfrm>
            <a:off x="5562600" y="4724400"/>
            <a:ext cx="441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0, 0110; 1. 1110100000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50543" name="Text Box 15"/>
          <p:cNvSpPr txBox="1"/>
          <p:nvPr/>
        </p:nvSpPr>
        <p:spPr>
          <a:xfrm>
            <a:off x="5562600" y="5181600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0, 0110; 1. 0001100000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50544" name="Text Box 16"/>
          <p:cNvSpPr txBox="1"/>
          <p:nvPr/>
        </p:nvSpPr>
        <p:spPr>
          <a:xfrm>
            <a:off x="5562600" y="5638800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0, 0110; 1. 0001011111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50545" name="Text Box 17"/>
          <p:cNvSpPr txBox="1"/>
          <p:nvPr/>
        </p:nvSpPr>
        <p:spPr>
          <a:xfrm>
            <a:off x="2578100" y="42672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定点机中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0546" name="Text Box 18"/>
          <p:cNvSpPr txBox="1"/>
          <p:nvPr/>
        </p:nvSpPr>
        <p:spPr>
          <a:xfrm>
            <a:off x="6464300" y="42672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浮点机中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0547" name="Text Box 19"/>
          <p:cNvSpPr txBox="1"/>
          <p:nvPr/>
        </p:nvSpPr>
        <p:spPr>
          <a:xfrm>
            <a:off x="5562600" y="6096000"/>
            <a:ext cx="5105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阶移、尾补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1, 0110; 1. 0001100000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50548" name="Text Box 20"/>
          <p:cNvSpPr txBox="1"/>
          <p:nvPr/>
        </p:nvSpPr>
        <p:spPr>
          <a:xfrm>
            <a:off x="5995988" y="2482850"/>
            <a:ext cx="36814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111010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0549" name="Text Box 21"/>
          <p:cNvSpPr txBox="1"/>
          <p:nvPr/>
        </p:nvSpPr>
        <p:spPr>
          <a:xfrm>
            <a:off x="5995988" y="3671888"/>
            <a:ext cx="46720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(0.1110100000) </a:t>
            </a:r>
            <a:r>
              <a:rPr lang="en-US" altLang="zh-CN" sz="2400" b="1" dirty="0">
                <a:latin typeface="Times New Roman" panose="02020603050405020304" pitchFamily="18" charset="0"/>
              </a:rPr>
              <a:t>× 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0000" dirty="0">
                <a:latin typeface="Times New Roman" panose="02020603050405020304" pitchFamily="18" charset="0"/>
              </a:rPr>
              <a:t>110</a:t>
            </a:r>
            <a:endParaRPr lang="en-US" altLang="zh-CN" sz="2800" b="1" baseline="40000" dirty="0">
              <a:latin typeface="Times New Roman" panose="02020603050405020304" pitchFamily="18" charset="0"/>
            </a:endParaRPr>
          </a:p>
        </p:txBody>
      </p:sp>
      <p:sp>
        <p:nvSpPr>
          <p:cNvPr id="79894" name="Rectangle 22"/>
          <p:cNvSpPr>
            <a:spLocks noChangeArrowheads="1"/>
          </p:cNvSpPr>
          <p:nvPr/>
        </p:nvSpPr>
        <p:spPr bwMode="auto">
          <a:xfrm>
            <a:off x="93726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0551" name="AutoShape 23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055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51554" name="Text Box 2"/>
          <p:cNvSpPr txBox="1"/>
          <p:nvPr/>
        </p:nvSpPr>
        <p:spPr>
          <a:xfrm>
            <a:off x="1757363" y="228600"/>
            <a:ext cx="1440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6.15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51555" name="Text Box 3"/>
          <p:cNvSpPr txBox="1"/>
          <p:nvPr/>
        </p:nvSpPr>
        <p:spPr>
          <a:xfrm>
            <a:off x="1524000" y="304800"/>
            <a:ext cx="8763000" cy="10388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写出对应下图所示的浮点数的补码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   形式。 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= 10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 = 4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阶符、数符各取 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位。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51556" name="Group 4"/>
          <p:cNvGrpSpPr/>
          <p:nvPr/>
        </p:nvGrpSpPr>
        <p:grpSpPr>
          <a:xfrm>
            <a:off x="2057400" y="1371600"/>
            <a:ext cx="8135938" cy="2884488"/>
            <a:chOff x="336" y="864"/>
            <a:chExt cx="5125" cy="1817"/>
          </a:xfrm>
        </p:grpSpPr>
        <p:sp>
          <p:nvSpPr>
            <p:cNvPr id="151575" name="Line 5"/>
            <p:cNvSpPr/>
            <p:nvPr/>
          </p:nvSpPr>
          <p:spPr>
            <a:xfrm flipV="1">
              <a:off x="2856" y="1439"/>
              <a:ext cx="0" cy="6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1576" name="Line 6"/>
            <p:cNvSpPr/>
            <p:nvPr/>
          </p:nvSpPr>
          <p:spPr>
            <a:xfrm>
              <a:off x="1104" y="1153"/>
              <a:ext cx="0" cy="28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1577" name="Line 7"/>
            <p:cNvSpPr/>
            <p:nvPr/>
          </p:nvSpPr>
          <p:spPr>
            <a:xfrm>
              <a:off x="3264" y="1153"/>
              <a:ext cx="0" cy="2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1578" name="Line 8"/>
            <p:cNvSpPr/>
            <p:nvPr/>
          </p:nvSpPr>
          <p:spPr>
            <a:xfrm>
              <a:off x="384" y="1439"/>
              <a:ext cx="49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1579" name="Line 9"/>
            <p:cNvSpPr/>
            <p:nvPr/>
          </p:nvSpPr>
          <p:spPr>
            <a:xfrm>
              <a:off x="4608" y="1153"/>
              <a:ext cx="0" cy="28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51580" name="Rectangle 10"/>
            <p:cNvSpPr/>
            <p:nvPr/>
          </p:nvSpPr>
          <p:spPr>
            <a:xfrm>
              <a:off x="384" y="1153"/>
              <a:ext cx="720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zh-CN" sz="32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81" name="Line 11"/>
            <p:cNvSpPr/>
            <p:nvPr/>
          </p:nvSpPr>
          <p:spPr>
            <a:xfrm>
              <a:off x="2448" y="1153"/>
              <a:ext cx="0" cy="2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1582" name="Rectangle 12"/>
            <p:cNvSpPr/>
            <p:nvPr/>
          </p:nvSpPr>
          <p:spPr>
            <a:xfrm>
              <a:off x="4608" y="1153"/>
              <a:ext cx="720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zh-CN" sz="32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83" name="Text Box 13"/>
            <p:cNvSpPr txBox="1"/>
            <p:nvPr/>
          </p:nvSpPr>
          <p:spPr>
            <a:xfrm>
              <a:off x="1321" y="1137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负数区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1584" name="Text Box 14"/>
            <p:cNvSpPr txBox="1"/>
            <p:nvPr/>
          </p:nvSpPr>
          <p:spPr>
            <a:xfrm>
              <a:off x="3481" y="1137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正数区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1585" name="Text Box 15"/>
            <p:cNvSpPr txBox="1"/>
            <p:nvPr/>
          </p:nvSpPr>
          <p:spPr>
            <a:xfrm>
              <a:off x="2538" y="1137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下溢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86" name="Text Box 16"/>
            <p:cNvSpPr txBox="1"/>
            <p:nvPr/>
          </p:nvSpPr>
          <p:spPr>
            <a:xfrm>
              <a:off x="2734" y="1452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32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87" name="Text Box 17"/>
            <p:cNvSpPr txBox="1"/>
            <p:nvPr/>
          </p:nvSpPr>
          <p:spPr>
            <a:xfrm>
              <a:off x="432" y="864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上溢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88" name="Text Box 18"/>
            <p:cNvSpPr txBox="1"/>
            <p:nvPr/>
          </p:nvSpPr>
          <p:spPr>
            <a:xfrm>
              <a:off x="4608" y="864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上溢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89" name="Text Box 19"/>
            <p:cNvSpPr txBox="1"/>
            <p:nvPr/>
          </p:nvSpPr>
          <p:spPr>
            <a:xfrm>
              <a:off x="336" y="1785"/>
              <a:ext cx="154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i="1" baseline="6000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1)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×( 1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1590" name="Text Box 20"/>
            <p:cNvSpPr txBox="1"/>
            <p:nvPr/>
          </p:nvSpPr>
          <p:spPr>
            <a:xfrm>
              <a:off x="4080" y="1787"/>
              <a:ext cx="138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i="1" baseline="6000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1)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×(1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1591" name="Text Box 21"/>
            <p:cNvSpPr txBox="1"/>
            <p:nvPr/>
          </p:nvSpPr>
          <p:spPr>
            <a:xfrm>
              <a:off x="2544" y="1961"/>
              <a:ext cx="10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i="1" baseline="6000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1)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i="1" baseline="4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151592" name="Text Box 22"/>
            <p:cNvSpPr txBox="1"/>
            <p:nvPr/>
          </p:nvSpPr>
          <p:spPr>
            <a:xfrm>
              <a:off x="720" y="158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最小负数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93" name="Line 23"/>
            <p:cNvSpPr/>
            <p:nvPr/>
          </p:nvSpPr>
          <p:spPr>
            <a:xfrm flipV="1">
              <a:off x="1104" y="1395"/>
              <a:ext cx="0" cy="19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51594" name="Text Box 24"/>
            <p:cNvSpPr txBox="1"/>
            <p:nvPr/>
          </p:nvSpPr>
          <p:spPr>
            <a:xfrm>
              <a:off x="4296" y="158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最大正数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95" name="Line 25"/>
            <p:cNvSpPr/>
            <p:nvPr/>
          </p:nvSpPr>
          <p:spPr>
            <a:xfrm flipV="1">
              <a:off x="4608" y="1395"/>
              <a:ext cx="0" cy="19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51596" name="Text Box 26"/>
            <p:cNvSpPr txBox="1"/>
            <p:nvPr/>
          </p:nvSpPr>
          <p:spPr>
            <a:xfrm>
              <a:off x="2784" y="1713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最小正数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597" name="Freeform 27"/>
            <p:cNvSpPr/>
            <p:nvPr/>
          </p:nvSpPr>
          <p:spPr>
            <a:xfrm>
              <a:off x="3250" y="1440"/>
              <a:ext cx="1" cy="308"/>
            </a:xfrm>
            <a:custGeom>
              <a:avLst/>
              <a:gdLst>
                <a:gd name="txL" fmla="*/ 0 w 1"/>
                <a:gd name="txT" fmla="*/ 0 h 308"/>
                <a:gd name="txR" fmla="*/ 1 w 1"/>
                <a:gd name="txB" fmla="*/ 308 h 308"/>
              </a:gdLst>
              <a:ahLst/>
              <a:cxnLst>
                <a:cxn ang="0">
                  <a:pos x="0" y="308"/>
                </a:cxn>
                <a:cxn ang="0">
                  <a:pos x="1" y="0"/>
                </a:cxn>
              </a:cxnLst>
              <a:rect l="txL" t="txT" r="txR" b="txB"/>
              <a:pathLst>
                <a:path w="1" h="308">
                  <a:moveTo>
                    <a:pt x="0" y="308"/>
                  </a:moveTo>
                  <a:lnTo>
                    <a:pt x="1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51598" name="Text Box 28"/>
            <p:cNvSpPr txBox="1"/>
            <p:nvPr/>
          </p:nvSpPr>
          <p:spPr>
            <a:xfrm>
              <a:off x="1776" y="2352"/>
              <a:ext cx="119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i="1" baseline="6000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1)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i="1" baseline="4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151599" name="Text Box 29"/>
            <p:cNvSpPr txBox="1"/>
            <p:nvPr/>
          </p:nvSpPr>
          <p:spPr>
            <a:xfrm>
              <a:off x="1992" y="2145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最大负数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600" name="Freeform 30"/>
            <p:cNvSpPr/>
            <p:nvPr/>
          </p:nvSpPr>
          <p:spPr>
            <a:xfrm>
              <a:off x="2448" y="1440"/>
              <a:ext cx="1" cy="712"/>
            </a:xfrm>
            <a:custGeom>
              <a:avLst/>
              <a:gdLst>
                <a:gd name="txL" fmla="*/ 0 w 1"/>
                <a:gd name="txT" fmla="*/ 0 h 712"/>
                <a:gd name="txR" fmla="*/ 1 w 1"/>
                <a:gd name="txB" fmla="*/ 712 h 712"/>
              </a:gdLst>
              <a:ahLst/>
              <a:cxnLst>
                <a:cxn ang="0">
                  <a:pos x="0" y="712"/>
                </a:cxn>
                <a:cxn ang="0">
                  <a:pos x="1" y="0"/>
                </a:cxn>
              </a:cxnLst>
              <a:rect l="txL" t="txT" r="txR" b="txB"/>
              <a:pathLst>
                <a:path w="1" h="712">
                  <a:moveTo>
                    <a:pt x="0" y="712"/>
                  </a:moveTo>
                  <a:lnTo>
                    <a:pt x="1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51557" name="Text Box 31"/>
          <p:cNvSpPr txBox="1"/>
          <p:nvPr/>
        </p:nvSpPr>
        <p:spPr>
          <a:xfrm>
            <a:off x="1828800" y="4138613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51558" name="Text Box 32"/>
          <p:cNvSpPr txBox="1"/>
          <p:nvPr/>
        </p:nvSpPr>
        <p:spPr>
          <a:xfrm>
            <a:off x="4511675" y="4168775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真值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51559" name="Text Box 33"/>
          <p:cNvSpPr txBox="1"/>
          <p:nvPr/>
        </p:nvSpPr>
        <p:spPr>
          <a:xfrm>
            <a:off x="2362200" y="4776788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最大正数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51560" name="Text Box 34"/>
          <p:cNvSpPr txBox="1"/>
          <p:nvPr/>
        </p:nvSpPr>
        <p:spPr>
          <a:xfrm>
            <a:off x="2362200" y="526732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最小正数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51561" name="Text Box 35"/>
          <p:cNvSpPr txBox="1"/>
          <p:nvPr/>
        </p:nvSpPr>
        <p:spPr>
          <a:xfrm>
            <a:off x="2362200" y="575786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最大负数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51562" name="Text Box 36"/>
          <p:cNvSpPr txBox="1"/>
          <p:nvPr/>
        </p:nvSpPr>
        <p:spPr>
          <a:xfrm>
            <a:off x="2362200" y="624840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最小负数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51563" name="Text Box 37"/>
          <p:cNvSpPr txBox="1"/>
          <p:nvPr/>
        </p:nvSpPr>
        <p:spPr>
          <a:xfrm>
            <a:off x="4059238" y="4724400"/>
            <a:ext cx="26463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15</a:t>
            </a:r>
            <a:r>
              <a:rPr lang="en-US" altLang="zh-CN" sz="2800" b="1" dirty="0">
                <a:latin typeface="Times New Roman" panose="02020603050405020304" pitchFamily="18" charset="0"/>
              </a:rPr>
              <a:t>×(1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7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10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1564" name="Text Box 38"/>
          <p:cNvSpPr txBox="1"/>
          <p:nvPr/>
        </p:nvSpPr>
        <p:spPr>
          <a:xfrm>
            <a:off x="3962400" y="5214938"/>
            <a:ext cx="15252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7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15</a:t>
            </a:r>
            <a:r>
              <a:rPr lang="en-US" altLang="zh-CN" sz="2800" b="1" dirty="0">
                <a:latin typeface="Times New Roman" panose="02020603050405020304" pitchFamily="18" charset="0"/>
              </a:rPr>
              <a:t>× 2</a:t>
            </a:r>
            <a:r>
              <a:rPr lang="en-US" altLang="zh-CN" sz="2800" b="1" baseline="47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1565" name="Text Box 39"/>
          <p:cNvSpPr txBox="1"/>
          <p:nvPr/>
        </p:nvSpPr>
        <p:spPr>
          <a:xfrm>
            <a:off x="3810000" y="5705475"/>
            <a:ext cx="17030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–2</a:t>
            </a:r>
            <a:r>
              <a:rPr lang="en-US" altLang="zh-CN" sz="2800" b="1" baseline="47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15</a:t>
            </a:r>
            <a:r>
              <a:rPr lang="en-US" altLang="zh-CN" sz="2800" b="1" dirty="0">
                <a:latin typeface="Times New Roman" panose="02020603050405020304" pitchFamily="18" charset="0"/>
              </a:rPr>
              <a:t>× 2</a:t>
            </a:r>
            <a:r>
              <a:rPr lang="en-US" altLang="zh-CN" sz="2800" b="1" baseline="47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10</a:t>
            </a:r>
            <a:endParaRPr lang="en-US" altLang="zh-CN" sz="2400" b="1" baseline="45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1566" name="Text Box 40"/>
          <p:cNvSpPr txBox="1"/>
          <p:nvPr/>
        </p:nvSpPr>
        <p:spPr>
          <a:xfrm>
            <a:off x="3810000" y="6196013"/>
            <a:ext cx="2819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–2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15</a:t>
            </a:r>
            <a:r>
              <a:rPr lang="en-US" altLang="zh-CN" sz="2800" b="1" dirty="0">
                <a:latin typeface="Times New Roman" panose="02020603050405020304" pitchFamily="18" charset="0"/>
              </a:rPr>
              <a:t>×(1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7000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10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1567" name="Text Box 41"/>
          <p:cNvSpPr txBox="1"/>
          <p:nvPr/>
        </p:nvSpPr>
        <p:spPr>
          <a:xfrm>
            <a:off x="6781800" y="4724400"/>
            <a:ext cx="31762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0,1111; 0.1111111111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1568" name="Text Box 42"/>
          <p:cNvSpPr txBox="1"/>
          <p:nvPr/>
        </p:nvSpPr>
        <p:spPr>
          <a:xfrm>
            <a:off x="6781800" y="5214938"/>
            <a:ext cx="34124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1,0001; 0.0000000001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1569" name="Text Box 43"/>
          <p:cNvSpPr txBox="1"/>
          <p:nvPr/>
        </p:nvSpPr>
        <p:spPr>
          <a:xfrm>
            <a:off x="6781800" y="5705475"/>
            <a:ext cx="32353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1,0001; 1.1111111111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1570" name="Text Box 44"/>
          <p:cNvSpPr txBox="1"/>
          <p:nvPr/>
        </p:nvSpPr>
        <p:spPr>
          <a:xfrm>
            <a:off x="6781800" y="6196013"/>
            <a:ext cx="33534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0,1111; 1.0000000001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1571" name="Text Box 45"/>
          <p:cNvSpPr txBox="1"/>
          <p:nvPr/>
        </p:nvSpPr>
        <p:spPr>
          <a:xfrm>
            <a:off x="8001000" y="4168775"/>
            <a:ext cx="1295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补码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80942" name="Rectangle 4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1573" name="AutoShape 4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157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8" name="Text Box 2"/>
          <p:cNvSpPr txBox="1"/>
          <p:nvPr/>
        </p:nvSpPr>
        <p:spPr>
          <a:xfrm>
            <a:off x="1828800" y="273050"/>
            <a:ext cx="4800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四、</a:t>
            </a:r>
            <a:r>
              <a:rPr lang="en-US" altLang="zh-CN" sz="3600" b="1" dirty="0">
                <a:latin typeface="Times New Roman" panose="02020603050405020304" pitchFamily="18" charset="0"/>
              </a:rPr>
              <a:t>IEEE 754  </a:t>
            </a:r>
            <a:r>
              <a:rPr lang="zh-CN" altLang="en-US" sz="3600" b="1" dirty="0">
                <a:latin typeface="Times New Roman" panose="02020603050405020304" pitchFamily="18" charset="0"/>
              </a:rPr>
              <a:t>标准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52579" name="Group 3"/>
          <p:cNvGrpSpPr/>
          <p:nvPr/>
        </p:nvGrpSpPr>
        <p:grpSpPr>
          <a:xfrm>
            <a:off x="2422525" y="4494213"/>
            <a:ext cx="1604963" cy="1833562"/>
            <a:chOff x="566" y="2246"/>
            <a:chExt cx="1011" cy="1155"/>
          </a:xfrm>
        </p:grpSpPr>
        <p:sp>
          <p:nvSpPr>
            <p:cNvPr id="152600" name="Text Box 4"/>
            <p:cNvSpPr txBox="1"/>
            <p:nvPr/>
          </p:nvSpPr>
          <p:spPr>
            <a:xfrm>
              <a:off x="566" y="2246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短实数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2601" name="Text Box 5"/>
            <p:cNvSpPr txBox="1"/>
            <p:nvPr/>
          </p:nvSpPr>
          <p:spPr>
            <a:xfrm>
              <a:off x="566" y="2640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长实数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2602" name="Text Box 6"/>
            <p:cNvSpPr txBox="1"/>
            <p:nvPr/>
          </p:nvSpPr>
          <p:spPr>
            <a:xfrm>
              <a:off x="566" y="3072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临时实数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2580" name="Text Box 7"/>
          <p:cNvSpPr txBox="1"/>
          <p:nvPr/>
        </p:nvSpPr>
        <p:spPr>
          <a:xfrm>
            <a:off x="4022725" y="3716338"/>
            <a:ext cx="309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2581" name="Text Box 8"/>
          <p:cNvSpPr txBox="1"/>
          <p:nvPr/>
        </p:nvSpPr>
        <p:spPr>
          <a:xfrm>
            <a:off x="4479925" y="4494213"/>
            <a:ext cx="56343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              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 8             23               32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2582" name="Text Box 9"/>
          <p:cNvSpPr txBox="1"/>
          <p:nvPr/>
        </p:nvSpPr>
        <p:spPr>
          <a:xfrm>
            <a:off x="4495800" y="5119688"/>
            <a:ext cx="55860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1                    11            52               64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2583" name="Text Box 10"/>
          <p:cNvSpPr txBox="1"/>
          <p:nvPr/>
        </p:nvSpPr>
        <p:spPr>
          <a:xfrm>
            <a:off x="4495800" y="5805488"/>
            <a:ext cx="5791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1                    15            64               80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52584" name="Group 11"/>
          <p:cNvGrpSpPr/>
          <p:nvPr/>
        </p:nvGrpSpPr>
        <p:grpSpPr>
          <a:xfrm>
            <a:off x="2514600" y="1362075"/>
            <a:ext cx="6781800" cy="1093788"/>
            <a:chOff x="624" y="858"/>
            <a:chExt cx="4272" cy="689"/>
          </a:xfrm>
        </p:grpSpPr>
        <p:grpSp>
          <p:nvGrpSpPr>
            <p:cNvPr id="152591" name="Group 12"/>
            <p:cNvGrpSpPr/>
            <p:nvPr/>
          </p:nvGrpSpPr>
          <p:grpSpPr>
            <a:xfrm>
              <a:off x="672" y="858"/>
              <a:ext cx="4224" cy="329"/>
              <a:chOff x="672" y="858"/>
              <a:chExt cx="4224" cy="329"/>
            </a:xfrm>
          </p:grpSpPr>
          <p:sp>
            <p:nvSpPr>
              <p:cNvPr id="152596" name="Text Box 13"/>
              <p:cNvSpPr txBox="1"/>
              <p:nvPr/>
            </p:nvSpPr>
            <p:spPr>
              <a:xfrm>
                <a:off x="710" y="858"/>
                <a:ext cx="393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 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阶码（含阶符）              尾          数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597" name="Rectangle 14"/>
              <p:cNvSpPr/>
              <p:nvPr/>
            </p:nvSpPr>
            <p:spPr>
              <a:xfrm>
                <a:off x="672" y="864"/>
                <a:ext cx="422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2598" name="Line 15"/>
              <p:cNvSpPr/>
              <p:nvPr/>
            </p:nvSpPr>
            <p:spPr>
              <a:xfrm>
                <a:off x="960" y="864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52599" name="Line 16"/>
              <p:cNvSpPr/>
              <p:nvPr/>
            </p:nvSpPr>
            <p:spPr>
              <a:xfrm>
                <a:off x="2928" y="864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52592" name="Text Box 17"/>
            <p:cNvSpPr txBox="1"/>
            <p:nvPr/>
          </p:nvSpPr>
          <p:spPr>
            <a:xfrm>
              <a:off x="624" y="129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数符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2593" name="Text Box 18"/>
            <p:cNvSpPr txBox="1"/>
            <p:nvPr/>
          </p:nvSpPr>
          <p:spPr>
            <a:xfrm>
              <a:off x="2583" y="1296"/>
              <a:ext cx="9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小数点位置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2594" name="Line 19"/>
            <p:cNvSpPr/>
            <p:nvPr/>
          </p:nvSpPr>
          <p:spPr>
            <a:xfrm flipV="1">
              <a:off x="822" y="115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52595" name="Line 20"/>
            <p:cNvSpPr/>
            <p:nvPr/>
          </p:nvSpPr>
          <p:spPr>
            <a:xfrm flipV="1">
              <a:off x="2928" y="115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52585" name="Text Box 21"/>
          <p:cNvSpPr txBox="1"/>
          <p:nvPr/>
        </p:nvSpPr>
        <p:spPr>
          <a:xfrm>
            <a:off x="2743200" y="2514600"/>
            <a:ext cx="3027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尾数为规格化表示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52586" name="Text Box 22"/>
          <p:cNvSpPr txBox="1"/>
          <p:nvPr/>
        </p:nvSpPr>
        <p:spPr>
          <a:xfrm>
            <a:off x="2743200" y="3062288"/>
            <a:ext cx="6494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非 “</a:t>
            </a:r>
            <a:r>
              <a:rPr lang="en-US" altLang="zh-CN" sz="2800" b="1" dirty="0">
                <a:latin typeface="Times New Roman" panose="02020603050405020304" pitchFamily="18" charset="0"/>
              </a:rPr>
              <a:t>0”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的有效位最高位为 “</a:t>
            </a:r>
            <a:r>
              <a:rPr lang="en-US" altLang="zh-CN" sz="2800" b="1" dirty="0">
                <a:latin typeface="Times New Roman" panose="02020603050405020304" pitchFamily="18" charset="0"/>
              </a:rPr>
              <a:t>1”</a:t>
            </a:r>
            <a:r>
              <a:rPr lang="zh-CN" altLang="en-US" sz="2800" b="1" dirty="0">
                <a:latin typeface="Times New Roman" panose="02020603050405020304" pitchFamily="18" charset="0"/>
              </a:rPr>
              <a:t>（隐含）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82967" name="Rectangle 2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88" name="AutoShape 2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2589" name="Rectangle 25"/>
          <p:cNvSpPr>
            <a:spLocks noGrp="1"/>
          </p:cNvSpPr>
          <p:nvPr>
            <p:ph type="title" idx="4294967295"/>
          </p:nvPr>
        </p:nvSpPr>
        <p:spPr>
          <a:xfrm>
            <a:off x="2209800" y="3733800"/>
            <a:ext cx="8229600" cy="609600"/>
          </a:xfrm>
        </p:spPr>
        <p:txBody>
          <a:bodyPr vert="horz" wrap="square" lIns="91440" tIns="45720" rIns="91440" bIns="45720" anchor="ctr" anchorCtr="0">
            <a:normAutofit fontScale="90000"/>
          </a:bodyPr>
          <a:p>
            <a:pPr algn="l" eaLnBrk="1" hangingPunct="1"/>
            <a:r>
              <a:rPr lang="en-US" altLang="zh-CN" sz="2800" dirty="0"/>
              <a:t>                  </a:t>
            </a:r>
            <a:r>
              <a:rPr lang="zh-CN" altLang="en-US" sz="2800" dirty="0"/>
              <a:t>符号位           阶码        尾数      总位数</a:t>
            </a:r>
            <a:endParaRPr lang="zh-CN" altLang="en-US" sz="2800" dirty="0"/>
          </a:p>
        </p:txBody>
      </p:sp>
      <p:sp>
        <p:nvSpPr>
          <p:cNvPr id="15259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53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600" b="1" dirty="0"/>
              <a:t>[</a:t>
            </a:r>
            <a:r>
              <a:rPr lang="zh-CN" altLang="en-US" sz="3600" b="1" dirty="0"/>
              <a:t>例</a:t>
            </a:r>
            <a:r>
              <a:rPr lang="en-US" altLang="zh-CN" sz="3600" b="1" dirty="0"/>
              <a:t>1] </a:t>
            </a:r>
            <a:r>
              <a:rPr lang="zh-CN" altLang="en-US" sz="3600" b="1" dirty="0"/>
              <a:t>若浮点数</a:t>
            </a:r>
            <a:r>
              <a:rPr lang="zh-CN" altLang="en-US" sz="3600" b="1" i="1" dirty="0"/>
              <a:t>ｘ</a:t>
            </a:r>
            <a:r>
              <a:rPr lang="zh-CN" altLang="en-US" sz="3600" b="1" dirty="0"/>
              <a:t>的</a:t>
            </a:r>
            <a:r>
              <a:rPr lang="en-US" altLang="zh-CN" sz="3600" b="1" dirty="0"/>
              <a:t>754</a:t>
            </a:r>
            <a:r>
              <a:rPr lang="zh-CN" altLang="en-US" sz="3600" b="1" dirty="0"/>
              <a:t>标准存储格式为</a:t>
            </a:r>
            <a:r>
              <a:rPr lang="en-US" altLang="zh-CN" sz="3600" b="1" dirty="0"/>
              <a:t>(41360000)</a:t>
            </a:r>
            <a:r>
              <a:rPr lang="en-US" altLang="zh-CN" sz="3600" b="1" baseline="-30000" dirty="0"/>
              <a:t>16</a:t>
            </a:r>
            <a:r>
              <a:rPr lang="zh-CN" altLang="en-US" sz="3600" b="1" dirty="0"/>
              <a:t>，求其浮点数的十进制数值。</a:t>
            </a:r>
            <a:endParaRPr lang="zh-CN" altLang="en-US" sz="3600" b="1" dirty="0"/>
          </a:p>
        </p:txBody>
      </p:sp>
      <p:sp>
        <p:nvSpPr>
          <p:cNvPr id="15360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6" name="Rectangle 2"/>
          <p:cNvSpPr>
            <a:spLocks noGrp="1"/>
          </p:cNvSpPr>
          <p:nvPr>
            <p:ph type="title"/>
          </p:nvPr>
        </p:nvSpPr>
        <p:spPr>
          <a:xfrm>
            <a:off x="2971800" y="0"/>
            <a:ext cx="7696200" cy="1371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2800" b="1" dirty="0"/>
              <a:t>[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1] </a:t>
            </a:r>
            <a:r>
              <a:rPr lang="zh-CN" altLang="en-US" sz="2800" b="1" dirty="0"/>
              <a:t>若浮点数</a:t>
            </a:r>
            <a:r>
              <a:rPr lang="zh-CN" altLang="en-US" sz="2800" b="1" i="1" dirty="0"/>
              <a:t>ｘ</a:t>
            </a:r>
            <a:r>
              <a:rPr lang="zh-CN" altLang="en-US" sz="2800" b="1" dirty="0"/>
              <a:t>的</a:t>
            </a:r>
            <a:r>
              <a:rPr lang="en-US" altLang="zh-CN" sz="2800" b="1" dirty="0"/>
              <a:t>754</a:t>
            </a:r>
            <a:r>
              <a:rPr lang="zh-CN" altLang="en-US" sz="2800" b="1" dirty="0"/>
              <a:t>标准存储格式为</a:t>
            </a:r>
            <a:r>
              <a:rPr lang="en-US" altLang="zh-CN" sz="2800" b="1" dirty="0"/>
              <a:t>(41360000)</a:t>
            </a:r>
            <a:r>
              <a:rPr lang="en-US" altLang="zh-CN" sz="2800" b="1" baseline="-30000" dirty="0"/>
              <a:t>16</a:t>
            </a:r>
            <a:r>
              <a:rPr lang="zh-CN" altLang="en-US" sz="2800" b="1" dirty="0"/>
              <a:t>，求其浮点数的十进制数值。</a:t>
            </a:r>
            <a:endParaRPr lang="zh-CN" altLang="en-US" sz="2800" b="1" dirty="0"/>
          </a:p>
        </p:txBody>
      </p:sp>
      <p:sp>
        <p:nvSpPr>
          <p:cNvPr id="154627" name="Rectangle 3"/>
          <p:cNvSpPr>
            <a:spLocks noGrp="1"/>
          </p:cNvSpPr>
          <p:nvPr>
            <p:ph idx="1"/>
          </p:nvPr>
        </p:nvSpPr>
        <p:spPr>
          <a:xfrm>
            <a:off x="1981200" y="1600200"/>
            <a:ext cx="868680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/>
              <a:t>[</a:t>
            </a:r>
            <a:r>
              <a:rPr lang="zh-CN" altLang="en-US" b="1" dirty="0"/>
              <a:t>解</a:t>
            </a:r>
            <a:r>
              <a:rPr lang="en-US" altLang="zh-CN" b="1" dirty="0"/>
              <a:t>]</a:t>
            </a:r>
            <a:endParaRPr lang="en-US" altLang="zh-CN" b="1" dirty="0"/>
          </a:p>
          <a:p>
            <a:pPr eaLnBrk="1" hangingPunct="1">
              <a:buNone/>
            </a:pPr>
            <a:endParaRPr lang="en-US" altLang="zh-CN" b="1" dirty="0"/>
          </a:p>
          <a:p>
            <a:pPr eaLnBrk="1" hangingPunct="1">
              <a:buNone/>
            </a:pPr>
            <a:r>
              <a:rPr lang="zh-CN" altLang="en-US" b="1" dirty="0"/>
              <a:t>指数</a:t>
            </a:r>
            <a:r>
              <a:rPr lang="en-US" altLang="zh-CN" b="1" dirty="0"/>
              <a:t>e</a:t>
            </a:r>
            <a:r>
              <a:rPr lang="zh-CN" altLang="en-US" b="1" dirty="0"/>
              <a:t>＝阶码－</a:t>
            </a:r>
            <a:r>
              <a:rPr lang="en-US" altLang="zh-CN" b="1" dirty="0"/>
              <a:t>127</a:t>
            </a:r>
            <a:r>
              <a:rPr lang="zh-CN" altLang="en-US" b="1" dirty="0"/>
              <a:t>＝</a:t>
            </a:r>
            <a:r>
              <a:rPr lang="en-US" altLang="zh-CN" b="1" dirty="0"/>
              <a:t>10000010</a:t>
            </a:r>
            <a:r>
              <a:rPr lang="zh-CN" altLang="en-US" b="1" dirty="0"/>
              <a:t>－</a:t>
            </a:r>
            <a:r>
              <a:rPr lang="en-US" altLang="zh-CN" b="1" dirty="0"/>
              <a:t>01111111</a:t>
            </a:r>
            <a:r>
              <a:rPr lang="zh-CN" altLang="en-US" b="1" dirty="0"/>
              <a:t>＝</a:t>
            </a:r>
            <a:r>
              <a:rPr lang="en-US" altLang="zh-CN" b="1" dirty="0"/>
              <a:t>00000011=(3)</a:t>
            </a:r>
            <a:r>
              <a:rPr lang="en-US" altLang="zh-CN" b="1" baseline="-30000" dirty="0"/>
              <a:t>10</a:t>
            </a:r>
            <a:endParaRPr lang="en-US" altLang="zh-CN" b="1" baseline="-30000" dirty="0"/>
          </a:p>
          <a:p>
            <a:pPr eaLnBrk="1" hangingPunct="1">
              <a:buNone/>
            </a:pPr>
            <a:r>
              <a:rPr lang="zh-CN" altLang="en-US" b="1" dirty="0"/>
              <a:t>包括隐藏位</a:t>
            </a:r>
            <a:r>
              <a:rPr lang="en-US" altLang="zh-CN" b="1" dirty="0"/>
              <a:t>1</a:t>
            </a:r>
            <a:r>
              <a:rPr lang="zh-CN" altLang="en-US" b="1" dirty="0"/>
              <a:t>的尾数</a:t>
            </a:r>
            <a:r>
              <a:rPr lang="en-US" altLang="zh-CN" b="1" dirty="0"/>
              <a:t>1.</a:t>
            </a:r>
            <a:r>
              <a:rPr lang="en-US" altLang="zh-CN" b="1" i="1" dirty="0"/>
              <a:t>M</a:t>
            </a:r>
            <a:r>
              <a:rPr lang="zh-CN" altLang="en-US" b="1" dirty="0"/>
              <a:t>＝</a:t>
            </a:r>
            <a:r>
              <a:rPr lang="en-US" altLang="zh-CN" b="1" dirty="0"/>
              <a:t>1.011 0110 0000 0000 0000 0000</a:t>
            </a:r>
            <a:r>
              <a:rPr lang="zh-CN" altLang="en-US" b="1" dirty="0"/>
              <a:t>＝</a:t>
            </a:r>
            <a:r>
              <a:rPr lang="en-US" altLang="zh-CN" b="1" dirty="0"/>
              <a:t>1.011011</a:t>
            </a:r>
            <a:endParaRPr lang="en-US" altLang="zh-CN" b="1" dirty="0"/>
          </a:p>
          <a:p>
            <a:pPr eaLnBrk="1" hangingPunct="1">
              <a:buNone/>
            </a:pPr>
            <a:r>
              <a:rPr lang="zh-CN" altLang="en-US" b="1" i="1" dirty="0"/>
              <a:t>ｘ</a:t>
            </a:r>
            <a:r>
              <a:rPr lang="zh-CN" altLang="en-US" b="1" dirty="0"/>
              <a:t>＝</a:t>
            </a:r>
            <a:r>
              <a:rPr lang="en-US" altLang="zh-CN" b="1" dirty="0"/>
              <a:t>(</a:t>
            </a:r>
            <a:r>
              <a:rPr lang="zh-CN" altLang="en-US" b="1" dirty="0"/>
              <a:t>－</a:t>
            </a:r>
            <a:r>
              <a:rPr lang="en-US" altLang="zh-CN" b="1" dirty="0"/>
              <a:t>1)</a:t>
            </a:r>
            <a:r>
              <a:rPr lang="en-US" altLang="zh-CN" b="1" baseline="30000" dirty="0"/>
              <a:t>s</a:t>
            </a:r>
            <a:r>
              <a:rPr lang="en-US" altLang="zh-CN" b="1" dirty="0"/>
              <a:t>×1.</a:t>
            </a:r>
            <a:r>
              <a:rPr lang="en-US" altLang="zh-CN" b="1" i="1" dirty="0"/>
              <a:t>M</a:t>
            </a:r>
            <a:r>
              <a:rPr lang="en-US" altLang="zh-CN" b="1" dirty="0"/>
              <a:t>×2</a:t>
            </a:r>
            <a:r>
              <a:rPr lang="en-US" altLang="zh-CN" b="1" baseline="30000" dirty="0"/>
              <a:t>e</a:t>
            </a:r>
            <a:r>
              <a:rPr lang="zh-CN" altLang="en-US" b="1" dirty="0"/>
              <a:t>＝＋</a:t>
            </a:r>
            <a:r>
              <a:rPr lang="en-US" altLang="zh-CN" b="1" dirty="0"/>
              <a:t>(1.011011)×2</a:t>
            </a:r>
            <a:r>
              <a:rPr lang="en-US" altLang="zh-CN" b="1" baseline="30000" dirty="0"/>
              <a:t>3</a:t>
            </a:r>
            <a:r>
              <a:rPr lang="zh-CN" altLang="en-US" b="1" dirty="0"/>
              <a:t>＝＋</a:t>
            </a:r>
            <a:r>
              <a:rPr lang="en-US" altLang="zh-CN" b="1" dirty="0"/>
              <a:t>1011.011</a:t>
            </a:r>
            <a:r>
              <a:rPr lang="zh-CN" altLang="en-US" b="1" dirty="0"/>
              <a:t>＝</a:t>
            </a:r>
            <a:r>
              <a:rPr lang="en-US" altLang="zh-CN" b="1" dirty="0"/>
              <a:t>(11.375)</a:t>
            </a:r>
            <a:r>
              <a:rPr lang="en-US" altLang="zh-CN" b="1" baseline="-30000" dirty="0"/>
              <a:t>10</a:t>
            </a:r>
            <a:r>
              <a:rPr lang="en-US" altLang="zh-CN" b="1" dirty="0"/>
              <a:t> </a:t>
            </a:r>
            <a:endParaRPr lang="en-US" altLang="zh-CN" b="1" dirty="0"/>
          </a:p>
        </p:txBody>
      </p:sp>
      <p:pic>
        <p:nvPicPr>
          <p:cNvPr id="154628" name="Picture 4" descr="question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1676400"/>
            <a:ext cx="4876800" cy="91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462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556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/>
              <a:t>[</a:t>
            </a:r>
            <a:r>
              <a:rPr lang="zh-CN" altLang="en-US" b="1" dirty="0"/>
              <a:t>例</a:t>
            </a:r>
            <a:r>
              <a:rPr lang="en-US" altLang="zh-CN" b="1" dirty="0"/>
              <a:t>2] </a:t>
            </a:r>
            <a:r>
              <a:rPr lang="zh-CN" altLang="en-US" b="1" dirty="0"/>
              <a:t>将</a:t>
            </a:r>
            <a:r>
              <a:rPr lang="en-US" altLang="zh-CN" b="1" dirty="0"/>
              <a:t>(20.59375)</a:t>
            </a:r>
            <a:r>
              <a:rPr lang="en-US" altLang="zh-CN" b="1" baseline="-25000" dirty="0"/>
              <a:t>10</a:t>
            </a:r>
            <a:r>
              <a:rPr lang="zh-CN" altLang="en-US" b="1" dirty="0"/>
              <a:t>转换成</a:t>
            </a:r>
            <a:r>
              <a:rPr lang="en-US" altLang="zh-CN" b="1" dirty="0"/>
              <a:t>754</a:t>
            </a:r>
            <a:r>
              <a:rPr lang="zh-CN" altLang="en-US" b="1" dirty="0"/>
              <a:t>标准的</a:t>
            </a:r>
            <a:r>
              <a:rPr lang="en-US" altLang="zh-CN" b="1" dirty="0"/>
              <a:t>32</a:t>
            </a:r>
            <a:r>
              <a:rPr lang="zh-CN" altLang="en-US" b="1" dirty="0"/>
              <a:t>位浮点数的二进制存储格式。</a:t>
            </a:r>
            <a:endParaRPr lang="zh-CN" altLang="en-US" b="1" dirty="0"/>
          </a:p>
        </p:txBody>
      </p:sp>
      <p:sp>
        <p:nvSpPr>
          <p:cNvPr id="15565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4" name="Rectangle 2"/>
          <p:cNvSpPr>
            <a:spLocks noGrp="1"/>
          </p:cNvSpPr>
          <p:nvPr>
            <p:ph type="title"/>
          </p:nvPr>
        </p:nvSpPr>
        <p:spPr>
          <a:xfrm>
            <a:off x="2819400" y="762000"/>
            <a:ext cx="7696200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zh-CN" sz="2800" b="1" dirty="0"/>
          </a:p>
        </p:txBody>
      </p:sp>
      <p:sp>
        <p:nvSpPr>
          <p:cNvPr id="156675" name="Rectangle 3"/>
          <p:cNvSpPr>
            <a:spLocks noGrp="1"/>
          </p:cNvSpPr>
          <p:nvPr>
            <p:ph idx="1"/>
          </p:nvPr>
        </p:nvSpPr>
        <p:spPr>
          <a:xfrm>
            <a:off x="2057400" y="1447800"/>
            <a:ext cx="8610600" cy="5181600"/>
          </a:xfrm>
        </p:spPr>
        <p:txBody>
          <a:bodyPr vert="horz" wrap="square" lIns="91440" tIns="45720" rIns="91440" bIns="45720" anchor="t" anchorCtr="0">
            <a:normAutofit fontScale="70000"/>
          </a:bodyPr>
          <a:p>
            <a:pPr eaLnBrk="1" hangingPunct="1">
              <a:buNone/>
            </a:pPr>
            <a:r>
              <a:rPr lang="en-US" altLang="zh-CN" sz="2400" b="1" dirty="0"/>
              <a:t>[</a:t>
            </a:r>
            <a:r>
              <a:rPr lang="zh-CN" altLang="en-US" sz="2400" b="1" dirty="0"/>
              <a:t>解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首先分别将整数和</a:t>
            </a:r>
            <a:r>
              <a:rPr lang="zh-CN" altLang="en-US" sz="3600" b="1" i="1" dirty="0">
                <a:solidFill>
                  <a:srgbClr val="0000CC"/>
                </a:solidFill>
              </a:rPr>
              <a:t>分数</a:t>
            </a:r>
            <a:r>
              <a:rPr lang="zh-CN" altLang="en-US" sz="2400" b="1" dirty="0"/>
              <a:t>部分转换成二进制数：</a:t>
            </a:r>
            <a:endParaRPr lang="zh-CN" altLang="en-US" sz="2400" b="1" dirty="0"/>
          </a:p>
          <a:p>
            <a:pPr eaLnBrk="1" hangingPunct="1">
              <a:buNone/>
            </a:pPr>
            <a:r>
              <a:rPr lang="zh-CN" altLang="en-US" sz="2400" b="1" dirty="0"/>
              <a:t>	</a:t>
            </a:r>
            <a:r>
              <a:rPr lang="en-US" altLang="zh-CN" sz="2400" b="1" dirty="0"/>
              <a:t>20.59375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10100.10011</a:t>
            </a:r>
            <a:endParaRPr lang="en-US" altLang="zh-CN" sz="2400" b="1" dirty="0"/>
          </a:p>
          <a:p>
            <a:pPr eaLnBrk="1" hangingPunct="1">
              <a:buNone/>
            </a:pPr>
            <a:r>
              <a:rPr lang="zh-CN" altLang="en-US" sz="2400" b="1" dirty="0"/>
              <a:t>　然后移动小数点，使其在第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位之间</a:t>
            </a:r>
            <a:r>
              <a:rPr lang="en-US" altLang="zh-CN" sz="2400" b="1" dirty="0"/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规格化表示</a:t>
            </a:r>
            <a:r>
              <a:rPr lang="en-US" altLang="zh-CN" sz="2400" b="1" dirty="0"/>
              <a:t>)</a:t>
            </a:r>
            <a:endParaRPr lang="en-US" altLang="zh-CN" sz="2400" b="1" dirty="0"/>
          </a:p>
          <a:p>
            <a:pPr eaLnBrk="1" hangingPunct="1">
              <a:buNone/>
            </a:pPr>
            <a:r>
              <a:rPr lang="zh-CN" altLang="en-US" sz="2400" b="1" dirty="0"/>
              <a:t>　</a:t>
            </a:r>
            <a:r>
              <a:rPr lang="en-US" altLang="zh-CN" sz="2400" b="1" dirty="0"/>
              <a:t>10100.10011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1.010010011×2</a:t>
            </a:r>
            <a:r>
              <a:rPr lang="en-US" altLang="zh-CN" sz="2400" b="1" baseline="30000" dirty="0"/>
              <a:t>4</a:t>
            </a:r>
            <a:r>
              <a:rPr lang="zh-CN" altLang="en-US" sz="2400" b="1" baseline="30000" dirty="0"/>
              <a:t>　　　　</a:t>
            </a:r>
            <a:r>
              <a:rPr lang="zh-CN" altLang="en-US" sz="2400" b="1" i="1" dirty="0"/>
              <a:t>　</a:t>
            </a:r>
            <a:r>
              <a:rPr lang="zh-CN" altLang="en-US" sz="2800" b="1" dirty="0"/>
              <a:t>指数</a:t>
            </a:r>
            <a:r>
              <a:rPr lang="en-US" altLang="zh-CN" sz="2400" b="1" i="1" dirty="0"/>
              <a:t>e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4</a:t>
            </a:r>
            <a:endParaRPr lang="en-US" altLang="zh-CN" sz="2400" b="1" dirty="0"/>
          </a:p>
          <a:p>
            <a:pPr eaLnBrk="1" hangingPunct="1">
              <a:buNone/>
            </a:pPr>
            <a:r>
              <a:rPr lang="zh-CN" altLang="en-US" sz="2400" b="1" dirty="0"/>
              <a:t>　于是</a:t>
            </a:r>
            <a:r>
              <a:rPr lang="en-US" altLang="zh-CN" sz="2400" b="1" dirty="0"/>
              <a:t>:</a:t>
            </a:r>
            <a:r>
              <a:rPr lang="zh-CN" altLang="en-US" sz="2400" b="1" i="1" dirty="0"/>
              <a:t>ｘ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－</a:t>
            </a:r>
            <a:r>
              <a:rPr lang="en-US" altLang="zh-CN" sz="2400" b="1" dirty="0"/>
              <a:t>1)</a:t>
            </a:r>
            <a:r>
              <a:rPr lang="en-US" altLang="zh-CN" sz="2400" b="1" i="1" baseline="30000" dirty="0"/>
              <a:t>s</a:t>
            </a:r>
            <a:r>
              <a:rPr lang="en-US" altLang="zh-CN" sz="2400" b="1" dirty="0"/>
              <a:t>×(1.</a:t>
            </a:r>
            <a:r>
              <a:rPr lang="zh-CN" altLang="en-US" sz="2400" b="1" i="1" dirty="0"/>
              <a:t>Ｍ</a:t>
            </a:r>
            <a:r>
              <a:rPr lang="en-US" altLang="zh-CN" sz="2400" b="1" dirty="0"/>
              <a:t>)×2</a:t>
            </a:r>
            <a:r>
              <a:rPr lang="en-US" altLang="zh-CN" sz="2400" b="1" baseline="30000" dirty="0"/>
              <a:t>e</a:t>
            </a:r>
            <a:r>
              <a:rPr lang="zh-CN" altLang="en-US" sz="2400" b="1" i="1" baseline="30000" dirty="0"/>
              <a:t>　 </a:t>
            </a:r>
            <a:r>
              <a:rPr lang="zh-CN" altLang="en-US" sz="2400" b="1" i="1" dirty="0"/>
              <a:t>　</a:t>
            </a:r>
            <a:r>
              <a:rPr lang="en-US" altLang="zh-CN" sz="2400" b="1" i="1" dirty="0"/>
              <a:t>e</a:t>
            </a:r>
            <a:r>
              <a:rPr lang="zh-CN" altLang="en-US" sz="2400" b="1" dirty="0"/>
              <a:t>＝</a:t>
            </a:r>
            <a:r>
              <a:rPr lang="zh-CN" altLang="en-US" sz="2400" b="1" i="1" dirty="0"/>
              <a:t>Ｅ</a:t>
            </a:r>
            <a:r>
              <a:rPr lang="zh-CN" altLang="en-US" sz="2400" b="1" dirty="0"/>
              <a:t>－</a:t>
            </a:r>
            <a:r>
              <a:rPr lang="en-US" altLang="zh-CN" sz="2400" b="1" dirty="0"/>
              <a:t>127</a:t>
            </a:r>
            <a:endParaRPr lang="en-US" altLang="zh-CN" sz="2400" b="1" i="1" dirty="0"/>
          </a:p>
          <a:p>
            <a:pPr eaLnBrk="1" hangingPunct="1">
              <a:buNone/>
            </a:pPr>
            <a:r>
              <a:rPr lang="en-US" altLang="zh-CN" sz="2400" b="1" i="1" dirty="0"/>
              <a:t>    </a:t>
            </a:r>
            <a:r>
              <a:rPr lang="zh-CN" altLang="en-US" sz="2400" b="1" i="1" dirty="0"/>
              <a:t>符号位</a:t>
            </a:r>
            <a:r>
              <a:rPr lang="en-US" altLang="zh-CN" sz="2400" b="1" i="1" dirty="0"/>
              <a:t>S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0</a:t>
            </a:r>
            <a:endParaRPr lang="en-US" altLang="zh-CN" sz="2400" b="1" dirty="0"/>
          </a:p>
          <a:p>
            <a:pPr eaLnBrk="1" hangingPunct="1">
              <a:buNone/>
            </a:pPr>
            <a:r>
              <a:rPr lang="en-US" altLang="zh-CN" sz="2400" b="1" dirty="0"/>
              <a:t>	</a:t>
            </a:r>
            <a:r>
              <a:rPr lang="zh-CN" altLang="en-US" sz="2400" b="1" dirty="0"/>
              <a:t>阶码</a:t>
            </a:r>
            <a:r>
              <a:rPr lang="en-US" altLang="zh-CN" sz="2400" b="1" i="1" dirty="0"/>
              <a:t>E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＋</a:t>
            </a:r>
            <a:r>
              <a:rPr lang="en-US" altLang="zh-CN" sz="2400" b="1" dirty="0"/>
              <a:t>127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131</a:t>
            </a:r>
            <a:endParaRPr lang="en-US" altLang="zh-CN" sz="2400" b="1" dirty="0"/>
          </a:p>
          <a:p>
            <a:pPr eaLnBrk="1" hangingPunct="1">
              <a:buNone/>
            </a:pPr>
            <a:r>
              <a:rPr lang="en-US" altLang="zh-CN" sz="2400" b="1" dirty="0"/>
              <a:t>	</a:t>
            </a:r>
            <a:r>
              <a:rPr lang="zh-CN" altLang="en-US" sz="2400" b="1" dirty="0"/>
              <a:t>尾数</a:t>
            </a:r>
            <a:r>
              <a:rPr lang="en-US" altLang="zh-CN" sz="2400" b="1" i="1" dirty="0"/>
              <a:t>M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010010011</a:t>
            </a:r>
            <a:endParaRPr lang="en-US" altLang="zh-CN" sz="2400" b="1" dirty="0"/>
          </a:p>
          <a:p>
            <a:pPr eaLnBrk="1" hangingPunct="1">
              <a:buNone/>
            </a:pPr>
            <a:r>
              <a:rPr lang="zh-CN" altLang="en-US" sz="2400" b="1" dirty="0"/>
              <a:t>　最后得到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位浮点数的二进制存储格式为：</a:t>
            </a:r>
            <a:endParaRPr lang="zh-CN" altLang="en-US" sz="2400" b="1" dirty="0"/>
          </a:p>
          <a:p>
            <a:pPr algn="ctr" eaLnBrk="1" hangingPunct="1">
              <a:buNone/>
            </a:pPr>
            <a:r>
              <a:rPr lang="en-US" altLang="zh-CN" sz="2400" b="1" dirty="0"/>
              <a:t>0100 0001 1010 0100 1100 0000 0000 0000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(41A4C000)</a:t>
            </a:r>
            <a:r>
              <a:rPr lang="en-US" altLang="zh-CN" sz="2400" b="1" baseline="-30000" dirty="0"/>
              <a:t>16</a:t>
            </a:r>
            <a:r>
              <a:rPr lang="en-US" altLang="zh-CN" sz="2400" b="1" dirty="0"/>
              <a:t> </a:t>
            </a:r>
            <a:endParaRPr lang="en-US" altLang="zh-CN" sz="2400" b="1" dirty="0"/>
          </a:p>
        </p:txBody>
      </p:sp>
      <p:sp>
        <p:nvSpPr>
          <p:cNvPr id="15667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57698" name="Rectangle 2"/>
          <p:cNvSpPr>
            <a:spLocks noGrp="1"/>
          </p:cNvSpPr>
          <p:nvPr>
            <p:ph idx="1"/>
          </p:nvPr>
        </p:nvSpPr>
        <p:spPr>
          <a:xfrm>
            <a:off x="2819400" y="1600200"/>
            <a:ext cx="7086600" cy="4800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浮点数一般采用以下四种基本格式：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(1)</a:t>
            </a:r>
            <a:r>
              <a:rPr lang="zh-CN" altLang="en-US" b="1" dirty="0">
                <a:solidFill>
                  <a:srgbClr val="FF0000"/>
                </a:solidFill>
              </a:rPr>
              <a:t>单精度格式</a:t>
            </a:r>
            <a:r>
              <a:rPr lang="en-US" altLang="zh-CN" b="1" dirty="0">
                <a:solidFill>
                  <a:srgbClr val="FF0000"/>
                </a:solidFill>
              </a:rPr>
              <a:t>(32</a:t>
            </a:r>
            <a:r>
              <a:rPr lang="zh-CN" altLang="en-US" b="1" dirty="0">
                <a:solidFill>
                  <a:srgbClr val="FF0000"/>
                </a:solidFill>
              </a:rPr>
              <a:t>位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：除去符号位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位后，</a:t>
            </a:r>
            <a:r>
              <a:rPr lang="en-US" altLang="zh-CN" b="1" dirty="0">
                <a:solidFill>
                  <a:srgbClr val="FF0000"/>
                </a:solidFill>
              </a:rPr>
              <a:t>E</a:t>
            </a:r>
            <a:r>
              <a:rPr lang="zh-CN" altLang="en-US" b="1" dirty="0">
                <a:solidFill>
                  <a:srgbClr val="FF0000"/>
                </a:solidFill>
              </a:rPr>
              <a:t>占</a:t>
            </a:r>
            <a:r>
              <a:rPr lang="en-US" altLang="zh-CN" b="1" dirty="0">
                <a:solidFill>
                  <a:srgbClr val="FF0000"/>
                </a:solidFill>
              </a:rPr>
              <a:t>8</a:t>
            </a:r>
            <a:r>
              <a:rPr lang="zh-CN" altLang="en-US" b="1" dirty="0">
                <a:solidFill>
                  <a:srgbClr val="FF0000"/>
                </a:solidFill>
              </a:rPr>
              <a:t>位，</a:t>
            </a:r>
            <a:r>
              <a:rPr lang="en-US" altLang="zh-CN" b="1" dirty="0">
                <a:solidFill>
                  <a:srgbClr val="FF0000"/>
                </a:solidFill>
              </a:rPr>
              <a:t>M</a:t>
            </a:r>
            <a:r>
              <a:rPr lang="zh-CN" altLang="en-US" b="1" dirty="0">
                <a:solidFill>
                  <a:srgbClr val="FF0000"/>
                </a:solidFill>
              </a:rPr>
              <a:t>占</a:t>
            </a:r>
            <a:r>
              <a:rPr lang="en-US" altLang="zh-CN" b="1" dirty="0">
                <a:solidFill>
                  <a:srgbClr val="FF0000"/>
                </a:solidFill>
              </a:rPr>
              <a:t>23</a:t>
            </a:r>
            <a:r>
              <a:rPr lang="zh-CN" altLang="en-US" b="1" dirty="0">
                <a:solidFill>
                  <a:srgbClr val="FF0000"/>
                </a:solidFill>
              </a:rPr>
              <a:t>位。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(2)</a:t>
            </a:r>
            <a:r>
              <a:rPr lang="zh-CN" altLang="en-US" b="1" dirty="0"/>
              <a:t>扩展单精度格式：</a:t>
            </a:r>
            <a:r>
              <a:rPr lang="en-US" altLang="zh-CN" b="1" dirty="0"/>
              <a:t>E&gt;=11</a:t>
            </a:r>
            <a:r>
              <a:rPr lang="zh-CN" altLang="en-US" b="1" dirty="0"/>
              <a:t>位，</a:t>
            </a:r>
            <a:r>
              <a:rPr lang="en-US" altLang="zh-CN" b="1" dirty="0"/>
              <a:t>M31</a:t>
            </a:r>
            <a:r>
              <a:rPr lang="zh-CN" altLang="en-US" b="1" dirty="0"/>
              <a:t>位。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FF33CC"/>
                </a:solidFill>
              </a:rPr>
              <a:t>(3)</a:t>
            </a:r>
            <a:r>
              <a:rPr lang="zh-CN" altLang="en-US" b="1" dirty="0">
                <a:solidFill>
                  <a:srgbClr val="FF33CC"/>
                </a:solidFill>
              </a:rPr>
              <a:t>双精度格式</a:t>
            </a:r>
            <a:r>
              <a:rPr lang="zh-CN" altLang="en-US" b="1" dirty="0"/>
              <a:t>：</a:t>
            </a:r>
            <a:r>
              <a:rPr lang="en-US" altLang="zh-CN" b="1" dirty="0"/>
              <a:t>(64</a:t>
            </a:r>
            <a:r>
              <a:rPr lang="zh-CN" altLang="en-US" b="1" dirty="0"/>
              <a:t>位</a:t>
            </a:r>
            <a:r>
              <a:rPr lang="en-US" altLang="zh-CN" b="1" dirty="0"/>
              <a:t>)</a:t>
            </a:r>
            <a:r>
              <a:rPr lang="zh-CN" altLang="en-US" b="1" dirty="0"/>
              <a:t>；</a:t>
            </a:r>
            <a:r>
              <a:rPr lang="en-US" altLang="zh-CN" b="1" dirty="0"/>
              <a:t>E=11</a:t>
            </a:r>
            <a:r>
              <a:rPr lang="zh-CN" altLang="en-US" b="1" dirty="0"/>
              <a:t>位，</a:t>
            </a:r>
            <a:r>
              <a:rPr lang="en-US" altLang="zh-CN" b="1" dirty="0"/>
              <a:t>M=52</a:t>
            </a:r>
            <a:r>
              <a:rPr lang="zh-CN" altLang="en-US" b="1" dirty="0"/>
              <a:t>位。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(4)</a:t>
            </a:r>
            <a:r>
              <a:rPr lang="zh-CN" altLang="en-US" b="1" dirty="0"/>
              <a:t>扩展双精度格式：</a:t>
            </a:r>
            <a:r>
              <a:rPr lang="en-US" altLang="zh-CN" b="1" dirty="0"/>
              <a:t>E&gt;=15</a:t>
            </a:r>
            <a:r>
              <a:rPr lang="zh-CN" altLang="en-US" b="1" dirty="0"/>
              <a:t>位，</a:t>
            </a:r>
            <a:r>
              <a:rPr lang="en-US" altLang="zh-CN" b="1" dirty="0"/>
              <a:t>M&gt;63</a:t>
            </a:r>
            <a:r>
              <a:rPr lang="zh-CN" altLang="en-US" b="1" dirty="0"/>
              <a:t>位。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b="1" dirty="0"/>
          </a:p>
        </p:txBody>
      </p:sp>
      <p:sp>
        <p:nvSpPr>
          <p:cNvPr id="157699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5770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58722" name="Rectangle 2"/>
          <p:cNvSpPr>
            <a:spLocks noGrp="1"/>
          </p:cNvSpPr>
          <p:nvPr>
            <p:ph type="title"/>
          </p:nvPr>
        </p:nvSpPr>
        <p:spPr>
          <a:xfrm>
            <a:off x="2052638" y="342900"/>
            <a:ext cx="7483475" cy="6858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选择计算机数的表示格式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8723" name="Rectangle 3"/>
          <p:cNvSpPr>
            <a:spLocks noGrp="1"/>
          </p:cNvSpPr>
          <p:nvPr>
            <p:ph idx="1"/>
          </p:nvPr>
        </p:nvSpPr>
        <p:spPr>
          <a:xfrm>
            <a:off x="2514600" y="1600200"/>
            <a:ext cx="8001000" cy="4953000"/>
          </a:xfrm>
        </p:spPr>
        <p:txBody>
          <a:bodyPr vert="horz" wrap="square" lIns="91440" tIns="45720" rIns="91440" bIns="45720" anchor="t" anchorCtr="0">
            <a:normAutofit lnSpcReduction="10000"/>
          </a:bodyPr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浮点数所表示的范围远比定点数大；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</a:rPr>
              <a:t>中的</a:t>
            </a:r>
            <a:r>
              <a:rPr lang="en-US" altLang="zh-CN" sz="2400" dirty="0">
                <a:latin typeface="Times New Roman" panose="02020603050405020304" pitchFamily="18" charset="0"/>
              </a:rPr>
              <a:t>long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</a:rPr>
              <a:t>float</a:t>
            </a:r>
            <a:r>
              <a:rPr lang="zh-CN" altLang="en-US" sz="2400" dirty="0">
                <a:latin typeface="Times New Roman" panose="02020603050405020304" pitchFamily="18" charset="0"/>
              </a:rPr>
              <a:t>占</a:t>
            </a: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r>
              <a:rPr lang="zh-CN" altLang="en-US" sz="2400" dirty="0">
                <a:latin typeface="Times New Roman" panose="02020603050405020304" pitchFamily="18" charset="0"/>
              </a:rPr>
              <a:t>位，但范围不同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64</a:t>
            </a:r>
            <a:r>
              <a:rPr lang="zh-CN" altLang="en-US" sz="2800" b="1" dirty="0">
                <a:latin typeface="Times New Roman" panose="02020603050405020304" pitchFamily="18" charset="0"/>
              </a:rPr>
              <a:t>位符点比</a:t>
            </a:r>
            <a:r>
              <a:rPr lang="en-US" altLang="zh-CN" sz="2800" b="1" dirty="0">
                <a:latin typeface="Times New Roman" panose="02020603050405020304" pitchFamily="18" charset="0"/>
              </a:rPr>
              <a:t>32</a:t>
            </a:r>
            <a:r>
              <a:rPr lang="zh-CN" altLang="en-US" sz="2800" b="1" dirty="0">
                <a:latin typeface="Times New Roman" panose="02020603050405020304" pitchFamily="18" charset="0"/>
              </a:rPr>
              <a:t>位符点表示的范围大。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考虑的因素：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要表示数的类型</a:t>
            </a:r>
            <a:r>
              <a:rPr lang="en-US" altLang="zh-CN" sz="2400" dirty="0"/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小数、整数、实数和复数</a:t>
            </a:r>
            <a:r>
              <a:rPr lang="en-US" altLang="zh-CN" sz="2400" dirty="0"/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：决定表示方式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可能遇到的数值范围：确定存储、处理能力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数值精确度：处理能力相关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数据存储和处理所需要的硬件代价：造价高低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例如</a:t>
            </a:r>
            <a:r>
              <a:rPr lang="en-US" altLang="zh-CN" sz="2800" b="1" dirty="0"/>
              <a:t>:C</a:t>
            </a:r>
            <a:r>
              <a:rPr lang="zh-CN" altLang="en-US" sz="2800" b="1" dirty="0"/>
              <a:t>语言中实数型数用</a:t>
            </a:r>
            <a:r>
              <a:rPr lang="en-US" altLang="zh-CN" sz="2800" b="1" dirty="0"/>
              <a:t>float</a:t>
            </a:r>
            <a:r>
              <a:rPr lang="zh-CN" altLang="en-US" sz="2800" b="1" dirty="0"/>
              <a:t>型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个字节</a:t>
            </a:r>
            <a:r>
              <a:rPr lang="en-US" altLang="zh-CN" sz="2800" b="1" dirty="0"/>
              <a:t>,double</a:t>
            </a:r>
            <a:r>
              <a:rPr lang="zh-CN" altLang="en-US" sz="2800" b="1" dirty="0"/>
              <a:t>型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个字节表示</a:t>
            </a:r>
            <a:r>
              <a:rPr lang="en-US" altLang="zh-CN" sz="2800" b="1" dirty="0"/>
              <a:t>.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	float a,b; </a:t>
            </a:r>
            <a:endParaRPr lang="en-US" altLang="zh-CN" sz="2800" b="1" dirty="0"/>
          </a:p>
        </p:txBody>
      </p:sp>
      <p:sp>
        <p:nvSpPr>
          <p:cNvPr id="15872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6.3   </a:t>
            </a:r>
            <a:r>
              <a:rPr lang="zh-CN" altLang="en-US" b="1" dirty="0"/>
              <a:t>定 点 运 算</a:t>
            </a:r>
            <a:endParaRPr lang="zh-CN" altLang="en-US" b="1" dirty="0"/>
          </a:p>
        </p:txBody>
      </p:sp>
      <p:sp>
        <p:nvSpPr>
          <p:cNvPr id="159747" name="Text Box 3"/>
          <p:cNvSpPr txBox="1"/>
          <p:nvPr/>
        </p:nvSpPr>
        <p:spPr>
          <a:xfrm>
            <a:off x="1812925" y="1143000"/>
            <a:ext cx="2926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一、移位运算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59748" name="Text Box 4"/>
          <p:cNvSpPr txBox="1"/>
          <p:nvPr/>
        </p:nvSpPr>
        <p:spPr>
          <a:xfrm>
            <a:off x="2362200" y="1905000"/>
            <a:ext cx="2621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移位的意义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59749" name="Text Box 5"/>
          <p:cNvSpPr txBox="1"/>
          <p:nvPr/>
        </p:nvSpPr>
        <p:spPr>
          <a:xfrm>
            <a:off x="3048000" y="2566988"/>
            <a:ext cx="2824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15  m = 1500  cm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59750" name="Text Box 6"/>
          <p:cNvSpPr txBox="1"/>
          <p:nvPr/>
        </p:nvSpPr>
        <p:spPr>
          <a:xfrm>
            <a:off x="3336925" y="3170238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小数点右移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9751" name="Text Box 7"/>
          <p:cNvSpPr txBox="1"/>
          <p:nvPr/>
        </p:nvSpPr>
        <p:spPr>
          <a:xfrm>
            <a:off x="2498725" y="3824288"/>
            <a:ext cx="20116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机器用语</a:t>
            </a:r>
            <a:endParaRPr lang="zh-CN" altLang="en-US" sz="3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9752" name="Group 8"/>
          <p:cNvGrpSpPr/>
          <p:nvPr/>
        </p:nvGrpSpPr>
        <p:grpSpPr>
          <a:xfrm>
            <a:off x="4640263" y="3824288"/>
            <a:ext cx="4271963" cy="1112837"/>
            <a:chOff x="1963" y="2409"/>
            <a:chExt cx="2691" cy="701"/>
          </a:xfrm>
        </p:grpSpPr>
        <p:sp>
          <p:nvSpPr>
            <p:cNvPr id="159761" name="Text Box 9"/>
            <p:cNvSpPr txBox="1"/>
            <p:nvPr/>
          </p:nvSpPr>
          <p:spPr>
            <a:xfrm>
              <a:off x="1963" y="2409"/>
              <a:ext cx="269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15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相对于小数点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左移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9762" name="Text Box 10"/>
            <p:cNvSpPr txBox="1"/>
            <p:nvPr/>
          </p:nvSpPr>
          <p:spPr>
            <a:xfrm>
              <a:off x="2203" y="2781"/>
              <a:ext cx="17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 小数点不动 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9753" name="Group 11"/>
          <p:cNvGrpSpPr/>
          <p:nvPr/>
        </p:nvGrpSpPr>
        <p:grpSpPr>
          <a:xfrm>
            <a:off x="3414713" y="2590800"/>
            <a:ext cx="1846263" cy="584201"/>
            <a:chOff x="1191" y="1632"/>
            <a:chExt cx="1163" cy="368"/>
          </a:xfrm>
        </p:grpSpPr>
        <p:sp>
          <p:nvSpPr>
            <p:cNvPr id="159759" name="Text Box 12"/>
            <p:cNvSpPr txBox="1"/>
            <p:nvPr/>
          </p:nvSpPr>
          <p:spPr>
            <a:xfrm>
              <a:off x="1191" y="1632"/>
              <a:ext cx="17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9760" name="Text Box 13"/>
            <p:cNvSpPr txBox="1"/>
            <p:nvPr/>
          </p:nvSpPr>
          <p:spPr>
            <a:xfrm>
              <a:off x="2175" y="1632"/>
              <a:ext cx="17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9754" name="Text Box 14"/>
          <p:cNvSpPr txBox="1"/>
          <p:nvPr/>
        </p:nvSpPr>
        <p:spPr>
          <a:xfrm>
            <a:off x="3108325" y="5005388"/>
            <a:ext cx="3561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左移          绝对值扩大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59755" name="Text Box 15"/>
          <p:cNvSpPr txBox="1"/>
          <p:nvPr/>
        </p:nvSpPr>
        <p:spPr>
          <a:xfrm>
            <a:off x="3124200" y="5595938"/>
            <a:ext cx="3561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右移          绝对值缩小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59756" name="Text Box 16"/>
          <p:cNvSpPr txBox="1"/>
          <p:nvPr/>
        </p:nvSpPr>
        <p:spPr>
          <a:xfrm>
            <a:off x="2209800" y="6186488"/>
            <a:ext cx="8458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在计算机中，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移位与加减配合，能够实现乘除运算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9757" name="AutoShape 1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975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Text Box 2"/>
          <p:cNvSpPr txBox="1"/>
          <p:nvPr/>
        </p:nvSpPr>
        <p:spPr>
          <a:xfrm>
            <a:off x="1981200" y="381000"/>
            <a:ext cx="33832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算术移位规则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60771" name="Rectangle 3"/>
          <p:cNvSpPr/>
          <p:nvPr/>
        </p:nvSpPr>
        <p:spPr>
          <a:xfrm>
            <a:off x="7824788" y="5210175"/>
            <a:ext cx="1700212" cy="67786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endParaRPr lang="en-US" altLang="zh-CN" sz="28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0772" name="Rectangle 4"/>
          <p:cNvSpPr/>
          <p:nvPr/>
        </p:nvSpPr>
        <p:spPr>
          <a:xfrm>
            <a:off x="7824788" y="4533900"/>
            <a:ext cx="1700212" cy="676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i="1" dirty="0">
                <a:solidFill>
                  <a:srgbClr val="FF0000"/>
                </a:solidFill>
                <a:latin typeface="Arial" panose="020B0604020202020204" pitchFamily="34" charset="0"/>
              </a:rPr>
              <a:t>右移</a:t>
            </a:r>
            <a:r>
              <a:rPr lang="zh-CN" altLang="en-US" sz="2800" b="1" i="1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</a:rPr>
              <a:t>添 </a:t>
            </a:r>
            <a:r>
              <a:rPr lang="en-US" altLang="zh-CN" sz="2800" b="1" i="1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zh-CN" sz="2800" b="1" i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0773" name="Rectangle 5"/>
          <p:cNvSpPr/>
          <p:nvPr/>
        </p:nvSpPr>
        <p:spPr>
          <a:xfrm>
            <a:off x="7824788" y="3856038"/>
            <a:ext cx="1700212" cy="67786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左移 </a:t>
            </a:r>
            <a:r>
              <a:rPr lang="zh-CN" altLang="en-US" sz="2800" b="1" dirty="0">
                <a:latin typeface="Arial" panose="020B0604020202020204" pitchFamily="34" charset="0"/>
              </a:rPr>
              <a:t>添 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endParaRPr lang="en-US" altLang="zh-CN" sz="28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0774" name="Rectangle 6"/>
          <p:cNvSpPr/>
          <p:nvPr/>
        </p:nvSpPr>
        <p:spPr>
          <a:xfrm>
            <a:off x="7824788" y="3140075"/>
            <a:ext cx="1700212" cy="71596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endParaRPr lang="en-US" altLang="zh-CN" sz="28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0775" name="Rectangle 7"/>
          <p:cNvSpPr/>
          <p:nvPr/>
        </p:nvSpPr>
        <p:spPr>
          <a:xfrm>
            <a:off x="4505325" y="5210175"/>
            <a:ext cx="3319463" cy="67786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反       码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60776" name="Rectangle 8"/>
          <p:cNvSpPr/>
          <p:nvPr/>
        </p:nvSpPr>
        <p:spPr>
          <a:xfrm>
            <a:off x="4505325" y="3856038"/>
            <a:ext cx="3319463" cy="1354137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i="1" dirty="0">
                <a:solidFill>
                  <a:srgbClr val="FF0000"/>
                </a:solidFill>
                <a:latin typeface="Arial" panose="020B0604020202020204" pitchFamily="34" charset="0"/>
              </a:rPr>
              <a:t>补       码</a:t>
            </a:r>
            <a:endParaRPr lang="zh-CN" altLang="en-US" sz="2800" b="1" i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0777" name="Rectangle 9"/>
          <p:cNvSpPr/>
          <p:nvPr/>
        </p:nvSpPr>
        <p:spPr>
          <a:xfrm>
            <a:off x="4505325" y="3140075"/>
            <a:ext cx="3319463" cy="71596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原       码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60778" name="Rectangle 10"/>
          <p:cNvSpPr/>
          <p:nvPr/>
        </p:nvSpPr>
        <p:spPr>
          <a:xfrm>
            <a:off x="3048000" y="3140075"/>
            <a:ext cx="1457325" cy="274796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3200" b="1" i="1" dirty="0">
                <a:solidFill>
                  <a:srgbClr val="FF0000"/>
                </a:solidFill>
                <a:latin typeface="Arial" panose="020B0604020202020204" pitchFamily="34" charset="0"/>
              </a:rPr>
              <a:t>负数</a:t>
            </a:r>
            <a:endParaRPr lang="zh-CN" altLang="en-US" sz="3200" b="1" i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0779" name="Rectangle 11"/>
          <p:cNvSpPr/>
          <p:nvPr/>
        </p:nvSpPr>
        <p:spPr>
          <a:xfrm>
            <a:off x="7824788" y="2463800"/>
            <a:ext cx="1700212" cy="676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endParaRPr lang="en-US" altLang="zh-CN" sz="28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0780" name="Rectangle 12"/>
          <p:cNvSpPr/>
          <p:nvPr/>
        </p:nvSpPr>
        <p:spPr>
          <a:xfrm>
            <a:off x="4505325" y="2463800"/>
            <a:ext cx="3319463" cy="676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原码、补码、反码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60781" name="Rectangle 13"/>
          <p:cNvSpPr/>
          <p:nvPr/>
        </p:nvSpPr>
        <p:spPr>
          <a:xfrm>
            <a:off x="3048000" y="2463800"/>
            <a:ext cx="1457325" cy="676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正数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60782" name="Rectangle 14"/>
          <p:cNvSpPr/>
          <p:nvPr/>
        </p:nvSpPr>
        <p:spPr>
          <a:xfrm>
            <a:off x="7824788" y="1803400"/>
            <a:ext cx="1700212" cy="660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添补代码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60783" name="Rectangle 15"/>
          <p:cNvSpPr/>
          <p:nvPr/>
        </p:nvSpPr>
        <p:spPr>
          <a:xfrm>
            <a:off x="4505325" y="1803400"/>
            <a:ext cx="3319463" cy="660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码     制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grpSp>
        <p:nvGrpSpPr>
          <p:cNvPr id="160784" name="Group 16"/>
          <p:cNvGrpSpPr/>
          <p:nvPr/>
        </p:nvGrpSpPr>
        <p:grpSpPr>
          <a:xfrm>
            <a:off x="3048000" y="1803400"/>
            <a:ext cx="6477000" cy="4084638"/>
            <a:chOff x="960" y="1136"/>
            <a:chExt cx="4080" cy="2573"/>
          </a:xfrm>
        </p:grpSpPr>
        <p:sp>
          <p:nvSpPr>
            <p:cNvPr id="160789" name="Rectangle 17"/>
            <p:cNvSpPr/>
            <p:nvPr/>
          </p:nvSpPr>
          <p:spPr>
            <a:xfrm>
              <a:off x="960" y="1136"/>
              <a:ext cx="918" cy="41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endParaRPr lang="zh-CN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160790" name="Line 18"/>
            <p:cNvSpPr/>
            <p:nvPr/>
          </p:nvSpPr>
          <p:spPr>
            <a:xfrm>
              <a:off x="960" y="1136"/>
              <a:ext cx="40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1" name="Line 19"/>
            <p:cNvSpPr/>
            <p:nvPr/>
          </p:nvSpPr>
          <p:spPr>
            <a:xfrm>
              <a:off x="960" y="1552"/>
              <a:ext cx="40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2" name="Line 20"/>
            <p:cNvSpPr/>
            <p:nvPr/>
          </p:nvSpPr>
          <p:spPr>
            <a:xfrm>
              <a:off x="960" y="1978"/>
              <a:ext cx="40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3" name="Line 21"/>
            <p:cNvSpPr/>
            <p:nvPr/>
          </p:nvSpPr>
          <p:spPr>
            <a:xfrm>
              <a:off x="960" y="3709"/>
              <a:ext cx="40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4" name="Line 22"/>
            <p:cNvSpPr/>
            <p:nvPr/>
          </p:nvSpPr>
          <p:spPr>
            <a:xfrm>
              <a:off x="960" y="1136"/>
              <a:ext cx="0" cy="2573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5" name="Line 23"/>
            <p:cNvSpPr/>
            <p:nvPr/>
          </p:nvSpPr>
          <p:spPr>
            <a:xfrm>
              <a:off x="1878" y="1136"/>
              <a:ext cx="0" cy="257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6" name="Line 24"/>
            <p:cNvSpPr/>
            <p:nvPr/>
          </p:nvSpPr>
          <p:spPr>
            <a:xfrm>
              <a:off x="3969" y="1136"/>
              <a:ext cx="0" cy="257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7" name="Line 25"/>
            <p:cNvSpPr/>
            <p:nvPr/>
          </p:nvSpPr>
          <p:spPr>
            <a:xfrm>
              <a:off x="5040" y="1136"/>
              <a:ext cx="0" cy="2573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8" name="Line 26"/>
            <p:cNvSpPr/>
            <p:nvPr/>
          </p:nvSpPr>
          <p:spPr>
            <a:xfrm>
              <a:off x="1878" y="2429"/>
              <a:ext cx="316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799" name="Line 27"/>
            <p:cNvSpPr/>
            <p:nvPr/>
          </p:nvSpPr>
          <p:spPr>
            <a:xfrm>
              <a:off x="1878" y="3282"/>
              <a:ext cx="316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0800" name="Line 28"/>
            <p:cNvSpPr/>
            <p:nvPr/>
          </p:nvSpPr>
          <p:spPr>
            <a:xfrm>
              <a:off x="3969" y="2856"/>
              <a:ext cx="107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60785" name="Text Box 29"/>
          <p:cNvSpPr txBox="1"/>
          <p:nvPr/>
        </p:nvSpPr>
        <p:spPr>
          <a:xfrm>
            <a:off x="3108325" y="1187450"/>
            <a:ext cx="2468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符号位不变</a:t>
            </a:r>
            <a:endParaRPr lang="zh-CN" altLang="en-US" sz="3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18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0787" name="AutoShape 3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078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Text Box 2"/>
          <p:cNvSpPr txBox="1"/>
          <p:nvPr/>
        </p:nvSpPr>
        <p:spPr>
          <a:xfrm>
            <a:off x="1905000" y="228600"/>
            <a:ext cx="1440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6.16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61795" name="Text Box 3"/>
          <p:cNvSpPr txBox="1"/>
          <p:nvPr/>
        </p:nvSpPr>
        <p:spPr>
          <a:xfrm>
            <a:off x="2133600" y="838200"/>
            <a:ext cx="8153400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设机器数字长为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8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位（含１位符号位），写出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= +26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时，三种机器数左、右移一位和两位后的表示形式及对应的真值，并分析结果的正确性。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1796" name="Text Box 4"/>
          <p:cNvSpPr txBox="1"/>
          <p:nvPr/>
        </p:nvSpPr>
        <p:spPr>
          <a:xfrm>
            <a:off x="2422525" y="22098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1797" name="Text Box 5"/>
          <p:cNvSpPr txBox="1"/>
          <p:nvPr/>
        </p:nvSpPr>
        <p:spPr>
          <a:xfrm>
            <a:off x="3946525" y="2209800"/>
            <a:ext cx="13589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= +26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1798" name="Text Box 6"/>
          <p:cNvSpPr txBox="1"/>
          <p:nvPr/>
        </p:nvSpPr>
        <p:spPr>
          <a:xfrm>
            <a:off x="3378200" y="2681288"/>
            <a:ext cx="599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反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0,0011010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1799" name="Rectangle 7"/>
          <p:cNvSpPr/>
          <p:nvPr/>
        </p:nvSpPr>
        <p:spPr>
          <a:xfrm>
            <a:off x="7467600" y="6021388"/>
            <a:ext cx="20574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 +</a:t>
            </a:r>
            <a:r>
              <a:rPr lang="en-US" altLang="zh-CN" sz="8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1800" name="Rectangle 8"/>
          <p:cNvSpPr/>
          <p:nvPr/>
        </p:nvSpPr>
        <p:spPr>
          <a:xfrm>
            <a:off x="5080000" y="6021388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0,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00</a:t>
            </a:r>
            <a:r>
              <a:rPr lang="en-US" altLang="zh-CN" sz="2400" b="1" dirty="0">
                <a:latin typeface="Arial" panose="020B0604020202020204" pitchFamily="34" charset="0"/>
              </a:rPr>
              <a:t>00110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1801" name="Rectangle 9"/>
          <p:cNvSpPr/>
          <p:nvPr/>
        </p:nvSpPr>
        <p:spPr>
          <a:xfrm>
            <a:off x="3048000" y="6021388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161802" name="Rectangle 10"/>
          <p:cNvSpPr/>
          <p:nvPr/>
        </p:nvSpPr>
        <p:spPr>
          <a:xfrm>
            <a:off x="7467600" y="5565775"/>
            <a:ext cx="20574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+13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1803" name="Rectangle 11"/>
          <p:cNvSpPr/>
          <p:nvPr/>
        </p:nvSpPr>
        <p:spPr>
          <a:xfrm>
            <a:off x="5080000" y="5565775"/>
            <a:ext cx="23876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0,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</a:rPr>
              <a:t>001101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1804" name="Rectangle 12"/>
          <p:cNvSpPr/>
          <p:nvPr/>
        </p:nvSpPr>
        <p:spPr>
          <a:xfrm>
            <a:off x="7467600" y="5110163"/>
            <a:ext cx="20574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+104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1805" name="Rectangle 13"/>
          <p:cNvSpPr/>
          <p:nvPr/>
        </p:nvSpPr>
        <p:spPr>
          <a:xfrm>
            <a:off x="5080000" y="5110163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0,11010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00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1806" name="Rectangle 14"/>
          <p:cNvSpPr/>
          <p:nvPr/>
        </p:nvSpPr>
        <p:spPr>
          <a:xfrm>
            <a:off x="3048000" y="5110163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161807" name="Rectangle 15"/>
          <p:cNvSpPr/>
          <p:nvPr/>
        </p:nvSpPr>
        <p:spPr>
          <a:xfrm>
            <a:off x="7467600" y="4654550"/>
            <a:ext cx="20574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+</a:t>
            </a:r>
            <a:r>
              <a:rPr lang="en-US" altLang="zh-CN" sz="8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52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1808" name="Rectangle 16"/>
          <p:cNvSpPr/>
          <p:nvPr/>
        </p:nvSpPr>
        <p:spPr>
          <a:xfrm>
            <a:off x="5080000" y="4654550"/>
            <a:ext cx="23876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0,011010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1809" name="Rectangle 17"/>
          <p:cNvSpPr/>
          <p:nvPr/>
        </p:nvSpPr>
        <p:spPr>
          <a:xfrm>
            <a:off x="7467600" y="4198938"/>
            <a:ext cx="20574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+26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1810" name="Rectangle 18"/>
          <p:cNvSpPr/>
          <p:nvPr/>
        </p:nvSpPr>
        <p:spPr>
          <a:xfrm>
            <a:off x="5080000" y="4198938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0,0011010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1811" name="Rectangle 19"/>
          <p:cNvSpPr/>
          <p:nvPr/>
        </p:nvSpPr>
        <p:spPr>
          <a:xfrm>
            <a:off x="3048000" y="4198938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移位前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161812" name="Group 20"/>
          <p:cNvGrpSpPr/>
          <p:nvPr/>
        </p:nvGrpSpPr>
        <p:grpSpPr>
          <a:xfrm>
            <a:off x="3048000" y="3287713"/>
            <a:ext cx="6477000" cy="3189287"/>
            <a:chOff x="960" y="2071"/>
            <a:chExt cx="4080" cy="2009"/>
          </a:xfrm>
        </p:grpSpPr>
        <p:sp>
          <p:nvSpPr>
            <p:cNvPr id="161821" name="Rectangle 21"/>
            <p:cNvSpPr/>
            <p:nvPr/>
          </p:nvSpPr>
          <p:spPr>
            <a:xfrm>
              <a:off x="2240" y="2358"/>
              <a:ext cx="150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[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A</a:t>
              </a:r>
              <a:r>
                <a:rPr lang="en-US" altLang="zh-CN" sz="2400" b="1" dirty="0">
                  <a:latin typeface="Arial" panose="020B0604020202020204" pitchFamily="34" charset="0"/>
                </a:rPr>
                <a:t>]</a:t>
              </a:r>
              <a:r>
                <a:rPr lang="zh-CN" altLang="en-US" sz="2000" b="1" baseline="-25000" dirty="0">
                  <a:latin typeface="Arial" panose="020B0604020202020204" pitchFamily="34" charset="0"/>
                </a:rPr>
                <a:t>原</a:t>
              </a:r>
              <a:r>
                <a:rPr lang="en-US" altLang="zh-CN" sz="2400" b="1" dirty="0">
                  <a:latin typeface="Arial" panose="020B0604020202020204" pitchFamily="34" charset="0"/>
                </a:rPr>
                <a:t>=[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A</a:t>
              </a:r>
              <a:r>
                <a:rPr lang="en-US" altLang="zh-CN" sz="2400" b="1" dirty="0">
                  <a:latin typeface="Arial" panose="020B0604020202020204" pitchFamily="34" charset="0"/>
                </a:rPr>
                <a:t>]</a:t>
              </a:r>
              <a:r>
                <a:rPr lang="zh-CN" altLang="en-US" sz="2000" b="1" baseline="-25000" dirty="0">
                  <a:latin typeface="Arial" panose="020B0604020202020204" pitchFamily="34" charset="0"/>
                </a:rPr>
                <a:t>补</a:t>
              </a:r>
              <a:r>
                <a:rPr lang="en-US" altLang="zh-CN" sz="2400" b="1" dirty="0">
                  <a:latin typeface="Arial" panose="020B0604020202020204" pitchFamily="34" charset="0"/>
                </a:rPr>
                <a:t>=[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A</a:t>
              </a:r>
              <a:r>
                <a:rPr lang="en-US" altLang="zh-CN" sz="2400" b="1" dirty="0">
                  <a:latin typeface="Arial" panose="020B0604020202020204" pitchFamily="34" charset="0"/>
                </a:rPr>
                <a:t>]</a:t>
              </a:r>
              <a:r>
                <a:rPr lang="zh-CN" altLang="en-US" sz="2000" b="1" baseline="-25000" dirty="0">
                  <a:latin typeface="Arial" panose="020B0604020202020204" pitchFamily="34" charset="0"/>
                </a:rPr>
                <a:t>反</a:t>
              </a:r>
              <a:endParaRPr lang="zh-CN" altLang="en-US" sz="2000" b="1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161822" name="Rectangle 22"/>
            <p:cNvSpPr/>
            <p:nvPr/>
          </p:nvSpPr>
          <p:spPr>
            <a:xfrm>
              <a:off x="3744" y="2071"/>
              <a:ext cx="1296" cy="57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对应的真值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61823" name="Rectangle 23"/>
            <p:cNvSpPr/>
            <p:nvPr/>
          </p:nvSpPr>
          <p:spPr>
            <a:xfrm>
              <a:off x="2240" y="2071"/>
              <a:ext cx="150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机    器    数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61824" name="Rectangle 24"/>
            <p:cNvSpPr/>
            <p:nvPr/>
          </p:nvSpPr>
          <p:spPr>
            <a:xfrm>
              <a:off x="960" y="2071"/>
              <a:ext cx="1280" cy="57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移位操作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grpSp>
          <p:nvGrpSpPr>
            <p:cNvPr id="161825" name="Group 25"/>
            <p:cNvGrpSpPr/>
            <p:nvPr/>
          </p:nvGrpSpPr>
          <p:grpSpPr>
            <a:xfrm>
              <a:off x="960" y="2071"/>
              <a:ext cx="4080" cy="2009"/>
              <a:chOff x="960" y="2071"/>
              <a:chExt cx="4080" cy="2009"/>
            </a:xfrm>
          </p:grpSpPr>
          <p:sp>
            <p:nvSpPr>
              <p:cNvPr id="161826" name="Line 26"/>
              <p:cNvSpPr/>
              <p:nvPr/>
            </p:nvSpPr>
            <p:spPr>
              <a:xfrm>
                <a:off x="960" y="2071"/>
                <a:ext cx="40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27" name="Line 27"/>
              <p:cNvSpPr/>
              <p:nvPr/>
            </p:nvSpPr>
            <p:spPr>
              <a:xfrm>
                <a:off x="960" y="2645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28" name="Line 28"/>
              <p:cNvSpPr/>
              <p:nvPr/>
            </p:nvSpPr>
            <p:spPr>
              <a:xfrm>
                <a:off x="960" y="2932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29" name="Line 29"/>
              <p:cNvSpPr/>
              <p:nvPr/>
            </p:nvSpPr>
            <p:spPr>
              <a:xfrm>
                <a:off x="960" y="3219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30" name="Line 30"/>
              <p:cNvSpPr/>
              <p:nvPr/>
            </p:nvSpPr>
            <p:spPr>
              <a:xfrm>
                <a:off x="960" y="3506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31" name="Line 31"/>
              <p:cNvSpPr/>
              <p:nvPr/>
            </p:nvSpPr>
            <p:spPr>
              <a:xfrm>
                <a:off x="960" y="3793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32" name="Line 32"/>
              <p:cNvSpPr/>
              <p:nvPr/>
            </p:nvSpPr>
            <p:spPr>
              <a:xfrm>
                <a:off x="960" y="4080"/>
                <a:ext cx="40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33" name="Line 33"/>
              <p:cNvSpPr/>
              <p:nvPr/>
            </p:nvSpPr>
            <p:spPr>
              <a:xfrm>
                <a:off x="960" y="2071"/>
                <a:ext cx="0" cy="2009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34" name="Line 34"/>
              <p:cNvSpPr/>
              <p:nvPr/>
            </p:nvSpPr>
            <p:spPr>
              <a:xfrm>
                <a:off x="2240" y="2071"/>
                <a:ext cx="0" cy="200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35" name="Line 35"/>
              <p:cNvSpPr/>
              <p:nvPr/>
            </p:nvSpPr>
            <p:spPr>
              <a:xfrm>
                <a:off x="3744" y="2071"/>
                <a:ext cx="0" cy="200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36" name="Line 36"/>
              <p:cNvSpPr/>
              <p:nvPr/>
            </p:nvSpPr>
            <p:spPr>
              <a:xfrm>
                <a:off x="5040" y="2071"/>
                <a:ext cx="0" cy="2009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1837" name="Line 37"/>
              <p:cNvSpPr/>
              <p:nvPr/>
            </p:nvSpPr>
            <p:spPr>
              <a:xfrm>
                <a:off x="2240" y="2358"/>
                <a:ext cx="150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161813" name="Text Box 38"/>
          <p:cNvSpPr txBox="1"/>
          <p:nvPr/>
        </p:nvSpPr>
        <p:spPr>
          <a:xfrm>
            <a:off x="5254625" y="2209800"/>
            <a:ext cx="16351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+11010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51" name="Rectangle 3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815" name="AutoShape 4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1816" name="Rectangle 41"/>
          <p:cNvSpPr/>
          <p:nvPr/>
        </p:nvSpPr>
        <p:spPr>
          <a:xfrm>
            <a:off x="3043238" y="4638675"/>
            <a:ext cx="20320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左移一位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1817" name="Rectangle 42"/>
          <p:cNvSpPr/>
          <p:nvPr/>
        </p:nvSpPr>
        <p:spPr>
          <a:xfrm>
            <a:off x="3043238" y="5084763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左移两位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1818" name="Rectangle 43"/>
          <p:cNvSpPr/>
          <p:nvPr/>
        </p:nvSpPr>
        <p:spPr>
          <a:xfrm>
            <a:off x="3043238" y="5561013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右移一位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1819" name="Rectangle 44"/>
          <p:cNvSpPr/>
          <p:nvPr/>
        </p:nvSpPr>
        <p:spPr>
          <a:xfrm>
            <a:off x="3043238" y="5992813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右移两位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182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Text Box 2"/>
          <p:cNvSpPr txBox="1"/>
          <p:nvPr/>
        </p:nvSpPr>
        <p:spPr>
          <a:xfrm>
            <a:off x="1905000" y="228600"/>
            <a:ext cx="1440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6.17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62819" name="Text Box 3"/>
          <p:cNvSpPr txBox="1"/>
          <p:nvPr/>
        </p:nvSpPr>
        <p:spPr>
          <a:xfrm>
            <a:off x="2133600" y="838200"/>
            <a:ext cx="8153400" cy="1706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设机器数字长为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8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位（含１位符号位），写出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–26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时，三种机器数左、右移一位和两位后的表示形式及对应的真值，并分析结果的正确性。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2820" name="Text Box 4"/>
          <p:cNvSpPr txBox="1"/>
          <p:nvPr/>
        </p:nvSpPr>
        <p:spPr>
          <a:xfrm>
            <a:off x="2422525" y="2671763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2821" name="Text Box 5"/>
          <p:cNvSpPr txBox="1"/>
          <p:nvPr/>
        </p:nvSpPr>
        <p:spPr>
          <a:xfrm>
            <a:off x="3946525" y="2671763"/>
            <a:ext cx="1920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26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2822" name="Rectangle 6"/>
          <p:cNvSpPr/>
          <p:nvPr/>
        </p:nvSpPr>
        <p:spPr>
          <a:xfrm>
            <a:off x="7377113" y="5783263"/>
            <a:ext cx="22098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– 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2823" name="Rectangle 7"/>
          <p:cNvSpPr/>
          <p:nvPr/>
        </p:nvSpPr>
        <p:spPr>
          <a:xfrm>
            <a:off x="5080000" y="5783263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00</a:t>
            </a:r>
            <a:r>
              <a:rPr lang="en-US" altLang="zh-CN" sz="2400" b="1" dirty="0">
                <a:latin typeface="Arial" panose="020B0604020202020204" pitchFamily="34" charset="0"/>
              </a:rPr>
              <a:t>00110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2824" name="Rectangle 8"/>
          <p:cNvSpPr/>
          <p:nvPr/>
        </p:nvSpPr>
        <p:spPr>
          <a:xfrm>
            <a:off x="7334250" y="5327650"/>
            <a:ext cx="22098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– 13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2825" name="Rectangle 9"/>
          <p:cNvSpPr/>
          <p:nvPr/>
        </p:nvSpPr>
        <p:spPr>
          <a:xfrm>
            <a:off x="5080000" y="5327650"/>
            <a:ext cx="23876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</a:rPr>
              <a:t>001101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2826" name="Rectangle 10"/>
          <p:cNvSpPr/>
          <p:nvPr/>
        </p:nvSpPr>
        <p:spPr>
          <a:xfrm>
            <a:off x="7258050" y="4872038"/>
            <a:ext cx="2286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– 104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2827" name="Rectangle 11"/>
          <p:cNvSpPr/>
          <p:nvPr/>
        </p:nvSpPr>
        <p:spPr>
          <a:xfrm>
            <a:off x="5080000" y="4872038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1,11010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00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2828" name="Rectangle 12"/>
          <p:cNvSpPr/>
          <p:nvPr/>
        </p:nvSpPr>
        <p:spPr>
          <a:xfrm>
            <a:off x="7315200" y="4419600"/>
            <a:ext cx="22098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– 52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2829" name="Rectangle 13"/>
          <p:cNvSpPr/>
          <p:nvPr/>
        </p:nvSpPr>
        <p:spPr>
          <a:xfrm>
            <a:off x="5080000" y="4416425"/>
            <a:ext cx="23876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1,011010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2830" name="Rectangle 14"/>
          <p:cNvSpPr/>
          <p:nvPr/>
        </p:nvSpPr>
        <p:spPr>
          <a:xfrm>
            <a:off x="7258050" y="3960813"/>
            <a:ext cx="2286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– 26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2831" name="Rectangle 15"/>
          <p:cNvSpPr/>
          <p:nvPr/>
        </p:nvSpPr>
        <p:spPr>
          <a:xfrm>
            <a:off x="5080000" y="3960813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1,0011010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2832" name="Rectangle 16"/>
          <p:cNvSpPr/>
          <p:nvPr/>
        </p:nvSpPr>
        <p:spPr>
          <a:xfrm>
            <a:off x="3048000" y="3960813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移位前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162833" name="Group 17"/>
          <p:cNvGrpSpPr/>
          <p:nvPr/>
        </p:nvGrpSpPr>
        <p:grpSpPr>
          <a:xfrm>
            <a:off x="3048000" y="3419475"/>
            <a:ext cx="6477000" cy="2828925"/>
            <a:chOff x="960" y="2154"/>
            <a:chExt cx="4080" cy="1782"/>
          </a:xfrm>
        </p:grpSpPr>
        <p:grpSp>
          <p:nvGrpSpPr>
            <p:cNvPr id="162843" name="Group 18"/>
            <p:cNvGrpSpPr/>
            <p:nvPr/>
          </p:nvGrpSpPr>
          <p:grpSpPr>
            <a:xfrm>
              <a:off x="960" y="2154"/>
              <a:ext cx="4080" cy="1782"/>
              <a:chOff x="960" y="2154"/>
              <a:chExt cx="4080" cy="1782"/>
            </a:xfrm>
          </p:grpSpPr>
          <p:sp>
            <p:nvSpPr>
              <p:cNvPr id="162845" name="Rectangle 19"/>
              <p:cNvSpPr/>
              <p:nvPr/>
            </p:nvSpPr>
            <p:spPr>
              <a:xfrm>
                <a:off x="3744" y="2197"/>
                <a:ext cx="1296" cy="2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对应的真值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2846" name="Rectangle 20"/>
              <p:cNvSpPr/>
              <p:nvPr/>
            </p:nvSpPr>
            <p:spPr>
              <a:xfrm>
                <a:off x="2240" y="2203"/>
                <a:ext cx="1504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机    器    数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2847" name="Rectangle 21"/>
              <p:cNvSpPr/>
              <p:nvPr/>
            </p:nvSpPr>
            <p:spPr>
              <a:xfrm>
                <a:off x="960" y="2202"/>
                <a:ext cx="1280" cy="2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移位操作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62848" name="Group 22"/>
              <p:cNvGrpSpPr/>
              <p:nvPr/>
            </p:nvGrpSpPr>
            <p:grpSpPr>
              <a:xfrm>
                <a:off x="960" y="2154"/>
                <a:ext cx="4080" cy="1782"/>
                <a:chOff x="960" y="2154"/>
                <a:chExt cx="4080" cy="1782"/>
              </a:xfrm>
            </p:grpSpPr>
            <p:sp>
              <p:nvSpPr>
                <p:cNvPr id="162849" name="Line 23"/>
                <p:cNvSpPr/>
                <p:nvPr/>
              </p:nvSpPr>
              <p:spPr>
                <a:xfrm>
                  <a:off x="960" y="2154"/>
                  <a:ext cx="4080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0" name="Line 24"/>
                <p:cNvSpPr/>
                <p:nvPr/>
              </p:nvSpPr>
              <p:spPr>
                <a:xfrm>
                  <a:off x="960" y="2495"/>
                  <a:ext cx="408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1" name="Line 25"/>
                <p:cNvSpPr/>
                <p:nvPr/>
              </p:nvSpPr>
              <p:spPr>
                <a:xfrm>
                  <a:off x="960" y="2782"/>
                  <a:ext cx="408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2" name="Line 26"/>
                <p:cNvSpPr/>
                <p:nvPr/>
              </p:nvSpPr>
              <p:spPr>
                <a:xfrm>
                  <a:off x="960" y="3069"/>
                  <a:ext cx="408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3" name="Line 27"/>
                <p:cNvSpPr/>
                <p:nvPr/>
              </p:nvSpPr>
              <p:spPr>
                <a:xfrm>
                  <a:off x="960" y="3356"/>
                  <a:ext cx="408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4" name="Line 28"/>
                <p:cNvSpPr/>
                <p:nvPr/>
              </p:nvSpPr>
              <p:spPr>
                <a:xfrm>
                  <a:off x="960" y="3643"/>
                  <a:ext cx="408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5" name="Line 29"/>
                <p:cNvSpPr/>
                <p:nvPr/>
              </p:nvSpPr>
              <p:spPr>
                <a:xfrm>
                  <a:off x="960" y="3930"/>
                  <a:ext cx="4080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6" name="Line 30"/>
                <p:cNvSpPr/>
                <p:nvPr/>
              </p:nvSpPr>
              <p:spPr>
                <a:xfrm>
                  <a:off x="960" y="2154"/>
                  <a:ext cx="0" cy="1782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7" name="Line 31"/>
                <p:cNvSpPr/>
                <p:nvPr/>
              </p:nvSpPr>
              <p:spPr>
                <a:xfrm>
                  <a:off x="2240" y="2154"/>
                  <a:ext cx="0" cy="1782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62858" name="Line 32"/>
                <p:cNvSpPr/>
                <p:nvPr/>
              </p:nvSpPr>
              <p:spPr>
                <a:xfrm>
                  <a:off x="3744" y="2154"/>
                  <a:ext cx="0" cy="1782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62844" name="Line 33"/>
            <p:cNvSpPr/>
            <p:nvPr/>
          </p:nvSpPr>
          <p:spPr>
            <a:xfrm>
              <a:off x="5040" y="2154"/>
              <a:ext cx="0" cy="178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62834" name="Text Box 34"/>
          <p:cNvSpPr txBox="1"/>
          <p:nvPr/>
        </p:nvSpPr>
        <p:spPr>
          <a:xfrm>
            <a:off x="2133600" y="3357563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原码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2835" name="Text Box 35"/>
          <p:cNvSpPr txBox="1"/>
          <p:nvPr/>
        </p:nvSpPr>
        <p:spPr>
          <a:xfrm>
            <a:off x="5289550" y="2671763"/>
            <a:ext cx="16992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– 11010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1172" name="Rectangle 3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2837" name="AutoShape 3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2838" name="Rectangle 38"/>
          <p:cNvSpPr/>
          <p:nvPr/>
        </p:nvSpPr>
        <p:spPr>
          <a:xfrm>
            <a:off x="3043238" y="4395788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左移一位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2839" name="Rectangle 39"/>
          <p:cNvSpPr/>
          <p:nvPr/>
        </p:nvSpPr>
        <p:spPr>
          <a:xfrm>
            <a:off x="3043238" y="4841875"/>
            <a:ext cx="20320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左移两位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2840" name="Rectangle 40"/>
          <p:cNvSpPr/>
          <p:nvPr/>
        </p:nvSpPr>
        <p:spPr>
          <a:xfrm>
            <a:off x="3043238" y="5303838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右移一位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2841" name="Rectangle 41"/>
          <p:cNvSpPr/>
          <p:nvPr/>
        </p:nvSpPr>
        <p:spPr>
          <a:xfrm>
            <a:off x="3043238" y="5762625"/>
            <a:ext cx="20320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右移两位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284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Rectangle 2"/>
          <p:cNvSpPr/>
          <p:nvPr/>
        </p:nvSpPr>
        <p:spPr>
          <a:xfrm>
            <a:off x="7258050" y="6021388"/>
            <a:ext cx="20574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– 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43" name="Rectangle 3"/>
          <p:cNvSpPr/>
          <p:nvPr/>
        </p:nvSpPr>
        <p:spPr>
          <a:xfrm>
            <a:off x="4851400" y="6021388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11</a:t>
            </a:r>
            <a:r>
              <a:rPr lang="en-US" altLang="zh-CN" sz="2400" b="1" dirty="0">
                <a:latin typeface="Arial" panose="020B0604020202020204" pitchFamily="34" charset="0"/>
              </a:rPr>
              <a:t>11001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44" name="Rectangle 4"/>
          <p:cNvSpPr/>
          <p:nvPr/>
        </p:nvSpPr>
        <p:spPr>
          <a:xfrm>
            <a:off x="7239000" y="5565775"/>
            <a:ext cx="20574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– 13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45" name="Rectangle 5"/>
          <p:cNvSpPr/>
          <p:nvPr/>
        </p:nvSpPr>
        <p:spPr>
          <a:xfrm>
            <a:off x="4851400" y="5565775"/>
            <a:ext cx="23876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110010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46" name="Rectangle 6"/>
          <p:cNvSpPr/>
          <p:nvPr/>
        </p:nvSpPr>
        <p:spPr>
          <a:xfrm>
            <a:off x="7048500" y="5110163"/>
            <a:ext cx="2286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– 104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47" name="Rectangle 7"/>
          <p:cNvSpPr/>
          <p:nvPr/>
        </p:nvSpPr>
        <p:spPr>
          <a:xfrm>
            <a:off x="4851400" y="5110163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1,00101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3848" name="Rectangle 8"/>
          <p:cNvSpPr/>
          <p:nvPr/>
        </p:nvSpPr>
        <p:spPr>
          <a:xfrm>
            <a:off x="7239000" y="4654550"/>
            <a:ext cx="20574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– 52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49" name="Rectangle 9"/>
          <p:cNvSpPr/>
          <p:nvPr/>
        </p:nvSpPr>
        <p:spPr>
          <a:xfrm>
            <a:off x="4851400" y="4654550"/>
            <a:ext cx="23876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1,100101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3850" name="Rectangle 10"/>
          <p:cNvSpPr/>
          <p:nvPr/>
        </p:nvSpPr>
        <p:spPr>
          <a:xfrm>
            <a:off x="7258050" y="4198938"/>
            <a:ext cx="20574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– 26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51" name="Rectangle 11"/>
          <p:cNvSpPr/>
          <p:nvPr/>
        </p:nvSpPr>
        <p:spPr>
          <a:xfrm>
            <a:off x="4851400" y="4198938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1,1100101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52" name="Rectangle 12"/>
          <p:cNvSpPr/>
          <p:nvPr/>
        </p:nvSpPr>
        <p:spPr>
          <a:xfrm>
            <a:off x="2819400" y="4198938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移位前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163853" name="Group 13"/>
          <p:cNvGrpSpPr/>
          <p:nvPr/>
        </p:nvGrpSpPr>
        <p:grpSpPr>
          <a:xfrm>
            <a:off x="2819400" y="3657600"/>
            <a:ext cx="6477000" cy="2828925"/>
            <a:chOff x="816" y="2304"/>
            <a:chExt cx="4080" cy="1782"/>
          </a:xfrm>
        </p:grpSpPr>
        <p:sp>
          <p:nvSpPr>
            <p:cNvPr id="163894" name="Rectangle 14"/>
            <p:cNvSpPr/>
            <p:nvPr/>
          </p:nvSpPr>
          <p:spPr>
            <a:xfrm>
              <a:off x="3600" y="2347"/>
              <a:ext cx="1296" cy="2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对应的真值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63895" name="Rectangle 15"/>
            <p:cNvSpPr/>
            <p:nvPr/>
          </p:nvSpPr>
          <p:spPr>
            <a:xfrm>
              <a:off x="2096" y="2353"/>
              <a:ext cx="150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机    器    数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63896" name="Rectangle 16"/>
            <p:cNvSpPr/>
            <p:nvPr/>
          </p:nvSpPr>
          <p:spPr>
            <a:xfrm>
              <a:off x="816" y="2352"/>
              <a:ext cx="1280" cy="24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移位操作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grpSp>
          <p:nvGrpSpPr>
            <p:cNvPr id="163897" name="Group 17"/>
            <p:cNvGrpSpPr/>
            <p:nvPr/>
          </p:nvGrpSpPr>
          <p:grpSpPr>
            <a:xfrm>
              <a:off x="816" y="2304"/>
              <a:ext cx="4080" cy="1782"/>
              <a:chOff x="816" y="2304"/>
              <a:chExt cx="4080" cy="1782"/>
            </a:xfrm>
          </p:grpSpPr>
          <p:sp>
            <p:nvSpPr>
              <p:cNvPr id="163898" name="Line 18"/>
              <p:cNvSpPr/>
              <p:nvPr/>
            </p:nvSpPr>
            <p:spPr>
              <a:xfrm>
                <a:off x="816" y="2304"/>
                <a:ext cx="40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99" name="Line 19"/>
              <p:cNvSpPr/>
              <p:nvPr/>
            </p:nvSpPr>
            <p:spPr>
              <a:xfrm>
                <a:off x="816" y="2645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0" name="Line 20"/>
              <p:cNvSpPr/>
              <p:nvPr/>
            </p:nvSpPr>
            <p:spPr>
              <a:xfrm>
                <a:off x="816" y="2932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1" name="Line 21"/>
              <p:cNvSpPr/>
              <p:nvPr/>
            </p:nvSpPr>
            <p:spPr>
              <a:xfrm>
                <a:off x="816" y="3219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2" name="Line 22"/>
              <p:cNvSpPr/>
              <p:nvPr/>
            </p:nvSpPr>
            <p:spPr>
              <a:xfrm>
                <a:off x="816" y="3506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3" name="Line 23"/>
              <p:cNvSpPr/>
              <p:nvPr/>
            </p:nvSpPr>
            <p:spPr>
              <a:xfrm>
                <a:off x="816" y="3793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4" name="Line 24"/>
              <p:cNvSpPr/>
              <p:nvPr/>
            </p:nvSpPr>
            <p:spPr>
              <a:xfrm>
                <a:off x="816" y="4080"/>
                <a:ext cx="40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5" name="Line 25"/>
              <p:cNvSpPr/>
              <p:nvPr/>
            </p:nvSpPr>
            <p:spPr>
              <a:xfrm>
                <a:off x="816" y="2304"/>
                <a:ext cx="0" cy="1782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6" name="Line 26"/>
              <p:cNvSpPr/>
              <p:nvPr/>
            </p:nvSpPr>
            <p:spPr>
              <a:xfrm>
                <a:off x="2096" y="2304"/>
                <a:ext cx="0" cy="178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7" name="Line 27"/>
              <p:cNvSpPr/>
              <p:nvPr/>
            </p:nvSpPr>
            <p:spPr>
              <a:xfrm>
                <a:off x="3600" y="2304"/>
                <a:ext cx="0" cy="178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908" name="Line 28"/>
              <p:cNvSpPr/>
              <p:nvPr/>
            </p:nvSpPr>
            <p:spPr>
              <a:xfrm>
                <a:off x="4896" y="2304"/>
                <a:ext cx="0" cy="1782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163854" name="Rectangle 29"/>
          <p:cNvSpPr/>
          <p:nvPr/>
        </p:nvSpPr>
        <p:spPr>
          <a:xfrm>
            <a:off x="7258050" y="2973388"/>
            <a:ext cx="20574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 – 7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55" name="Rectangle 30"/>
          <p:cNvSpPr/>
          <p:nvPr/>
        </p:nvSpPr>
        <p:spPr>
          <a:xfrm>
            <a:off x="4851400" y="2973388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11</a:t>
            </a:r>
            <a:r>
              <a:rPr lang="en-US" altLang="zh-CN" sz="2400" b="1" dirty="0">
                <a:latin typeface="Arial" panose="020B0604020202020204" pitchFamily="34" charset="0"/>
              </a:rPr>
              <a:t>11001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56" name="Rectangle 31"/>
          <p:cNvSpPr/>
          <p:nvPr/>
        </p:nvSpPr>
        <p:spPr>
          <a:xfrm>
            <a:off x="7239000" y="2517775"/>
            <a:ext cx="20574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– 13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57" name="Rectangle 32"/>
          <p:cNvSpPr/>
          <p:nvPr/>
        </p:nvSpPr>
        <p:spPr>
          <a:xfrm>
            <a:off x="4851400" y="2517775"/>
            <a:ext cx="23876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110011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58" name="Rectangle 33"/>
          <p:cNvSpPr/>
          <p:nvPr/>
        </p:nvSpPr>
        <p:spPr>
          <a:xfrm>
            <a:off x="7048500" y="2062163"/>
            <a:ext cx="2286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– 104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59" name="Rectangle 34"/>
          <p:cNvSpPr/>
          <p:nvPr/>
        </p:nvSpPr>
        <p:spPr>
          <a:xfrm>
            <a:off x="4851400" y="2062163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1,00110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00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3860" name="Rectangle 35"/>
          <p:cNvSpPr/>
          <p:nvPr/>
        </p:nvSpPr>
        <p:spPr>
          <a:xfrm>
            <a:off x="7239000" y="1606550"/>
            <a:ext cx="20574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 – 52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61" name="Rectangle 36"/>
          <p:cNvSpPr/>
          <p:nvPr/>
        </p:nvSpPr>
        <p:spPr>
          <a:xfrm>
            <a:off x="4851400" y="1606550"/>
            <a:ext cx="23876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1,100110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63862" name="Rectangle 37"/>
          <p:cNvSpPr/>
          <p:nvPr/>
        </p:nvSpPr>
        <p:spPr>
          <a:xfrm>
            <a:off x="7258050" y="1150938"/>
            <a:ext cx="20574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– 26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63" name="Rectangle 38"/>
          <p:cNvSpPr/>
          <p:nvPr/>
        </p:nvSpPr>
        <p:spPr>
          <a:xfrm>
            <a:off x="4851400" y="1150938"/>
            <a:ext cx="23876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1,1100110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63864" name="Rectangle 39"/>
          <p:cNvSpPr/>
          <p:nvPr/>
        </p:nvSpPr>
        <p:spPr>
          <a:xfrm>
            <a:off x="2819400" y="1150938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移位前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163865" name="Group 40"/>
          <p:cNvGrpSpPr/>
          <p:nvPr/>
        </p:nvGrpSpPr>
        <p:grpSpPr>
          <a:xfrm>
            <a:off x="2819400" y="609600"/>
            <a:ext cx="6477000" cy="2828925"/>
            <a:chOff x="816" y="384"/>
            <a:chExt cx="4080" cy="1782"/>
          </a:xfrm>
        </p:grpSpPr>
        <p:sp>
          <p:nvSpPr>
            <p:cNvPr id="163879" name="Rectangle 41"/>
            <p:cNvSpPr/>
            <p:nvPr/>
          </p:nvSpPr>
          <p:spPr>
            <a:xfrm>
              <a:off x="3600" y="427"/>
              <a:ext cx="1296" cy="2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对应的真值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63880" name="Rectangle 42"/>
            <p:cNvSpPr/>
            <p:nvPr/>
          </p:nvSpPr>
          <p:spPr>
            <a:xfrm>
              <a:off x="2096" y="433"/>
              <a:ext cx="150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机    器    数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63881" name="Rectangle 43"/>
            <p:cNvSpPr/>
            <p:nvPr/>
          </p:nvSpPr>
          <p:spPr>
            <a:xfrm>
              <a:off x="816" y="432"/>
              <a:ext cx="1280" cy="24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移位操作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grpSp>
          <p:nvGrpSpPr>
            <p:cNvPr id="163882" name="Group 44"/>
            <p:cNvGrpSpPr/>
            <p:nvPr/>
          </p:nvGrpSpPr>
          <p:grpSpPr>
            <a:xfrm>
              <a:off x="816" y="384"/>
              <a:ext cx="4080" cy="1782"/>
              <a:chOff x="816" y="384"/>
              <a:chExt cx="4080" cy="1782"/>
            </a:xfrm>
          </p:grpSpPr>
          <p:sp>
            <p:nvSpPr>
              <p:cNvPr id="163883" name="Line 45"/>
              <p:cNvSpPr/>
              <p:nvPr/>
            </p:nvSpPr>
            <p:spPr>
              <a:xfrm>
                <a:off x="816" y="384"/>
                <a:ext cx="40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84" name="Line 46"/>
              <p:cNvSpPr/>
              <p:nvPr/>
            </p:nvSpPr>
            <p:spPr>
              <a:xfrm>
                <a:off x="816" y="725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85" name="Line 47"/>
              <p:cNvSpPr/>
              <p:nvPr/>
            </p:nvSpPr>
            <p:spPr>
              <a:xfrm>
                <a:off x="816" y="1012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86" name="Line 48"/>
              <p:cNvSpPr/>
              <p:nvPr/>
            </p:nvSpPr>
            <p:spPr>
              <a:xfrm>
                <a:off x="816" y="1299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87" name="Line 49"/>
              <p:cNvSpPr/>
              <p:nvPr/>
            </p:nvSpPr>
            <p:spPr>
              <a:xfrm>
                <a:off x="816" y="1586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88" name="Line 50"/>
              <p:cNvSpPr/>
              <p:nvPr/>
            </p:nvSpPr>
            <p:spPr>
              <a:xfrm>
                <a:off x="816" y="1873"/>
                <a:ext cx="40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89" name="Line 51"/>
              <p:cNvSpPr/>
              <p:nvPr/>
            </p:nvSpPr>
            <p:spPr>
              <a:xfrm>
                <a:off x="816" y="2160"/>
                <a:ext cx="40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90" name="Line 52"/>
              <p:cNvSpPr/>
              <p:nvPr/>
            </p:nvSpPr>
            <p:spPr>
              <a:xfrm>
                <a:off x="816" y="384"/>
                <a:ext cx="0" cy="1782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91" name="Line 53"/>
              <p:cNvSpPr/>
              <p:nvPr/>
            </p:nvSpPr>
            <p:spPr>
              <a:xfrm>
                <a:off x="2096" y="384"/>
                <a:ext cx="0" cy="178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92" name="Line 54"/>
              <p:cNvSpPr/>
              <p:nvPr/>
            </p:nvSpPr>
            <p:spPr>
              <a:xfrm>
                <a:off x="3600" y="384"/>
                <a:ext cx="0" cy="178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3893" name="Line 55"/>
              <p:cNvSpPr/>
              <p:nvPr/>
            </p:nvSpPr>
            <p:spPr>
              <a:xfrm>
                <a:off x="4896" y="384"/>
                <a:ext cx="0" cy="1782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163866" name="Text Box 56"/>
          <p:cNvSpPr txBox="1"/>
          <p:nvPr/>
        </p:nvSpPr>
        <p:spPr>
          <a:xfrm>
            <a:off x="1768475" y="6238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补码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3867" name="Text Box 57"/>
          <p:cNvSpPr txBox="1"/>
          <p:nvPr/>
        </p:nvSpPr>
        <p:spPr>
          <a:xfrm>
            <a:off x="1768475" y="36718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反码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2218" name="Rectangle 5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69" name="AutoShape 5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3870" name="Rectangle 60"/>
          <p:cNvSpPr/>
          <p:nvPr/>
        </p:nvSpPr>
        <p:spPr>
          <a:xfrm>
            <a:off x="2781300" y="1585913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左移一位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3871" name="Rectangle 61"/>
          <p:cNvSpPr/>
          <p:nvPr/>
        </p:nvSpPr>
        <p:spPr>
          <a:xfrm>
            <a:off x="2781300" y="2046288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左移两位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3872" name="Rectangle 62"/>
          <p:cNvSpPr/>
          <p:nvPr/>
        </p:nvSpPr>
        <p:spPr>
          <a:xfrm>
            <a:off x="2781300" y="2506663"/>
            <a:ext cx="2032000" cy="455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右移一位</a:t>
            </a:r>
            <a:endParaRPr lang="zh-CN" altLang="en-US" sz="2400" b="1" i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3873" name="Rectangle 63"/>
          <p:cNvSpPr/>
          <p:nvPr/>
        </p:nvSpPr>
        <p:spPr>
          <a:xfrm>
            <a:off x="2781300" y="2940050"/>
            <a:ext cx="20320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i="1" dirty="0">
                <a:solidFill>
                  <a:srgbClr val="FF0000"/>
                </a:solidFill>
                <a:latin typeface="Arial" panose="020B0604020202020204" pitchFamily="34" charset="0"/>
              </a:rPr>
              <a:t>右移两位</a:t>
            </a:r>
            <a:endParaRPr lang="zh-CN" altLang="en-US" sz="2400" b="1" i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3874" name="Rectangle 64"/>
          <p:cNvSpPr/>
          <p:nvPr/>
        </p:nvSpPr>
        <p:spPr>
          <a:xfrm>
            <a:off x="2781300" y="4638675"/>
            <a:ext cx="20320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左移一位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3875" name="Rectangle 65"/>
          <p:cNvSpPr/>
          <p:nvPr/>
        </p:nvSpPr>
        <p:spPr>
          <a:xfrm>
            <a:off x="2781300" y="5099050"/>
            <a:ext cx="20320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左移两位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3876" name="Rectangle 66"/>
          <p:cNvSpPr/>
          <p:nvPr/>
        </p:nvSpPr>
        <p:spPr>
          <a:xfrm>
            <a:off x="2781300" y="5537200"/>
            <a:ext cx="20320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右移一位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3877" name="Rectangle 67"/>
          <p:cNvSpPr/>
          <p:nvPr/>
        </p:nvSpPr>
        <p:spPr>
          <a:xfrm>
            <a:off x="2781300" y="6007100"/>
            <a:ext cx="2032000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右移两位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387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64866" name="Text Box 2"/>
          <p:cNvSpPr txBox="1"/>
          <p:nvPr/>
        </p:nvSpPr>
        <p:spPr>
          <a:xfrm>
            <a:off x="1908175" y="304800"/>
            <a:ext cx="4754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算术移位的硬件实现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64867" name="Text Box 3"/>
          <p:cNvSpPr txBox="1"/>
          <p:nvPr/>
        </p:nvSpPr>
        <p:spPr>
          <a:xfrm>
            <a:off x="2079625" y="4689475"/>
            <a:ext cx="20243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zh-CN" altLang="en-US" sz="2000" b="1" dirty="0">
                <a:latin typeface="Times New Roman" panose="02020603050405020304" pitchFamily="18" charset="0"/>
              </a:rPr>
              <a:t>真值为正 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68" name="Text Box 4"/>
          <p:cNvSpPr txBox="1"/>
          <p:nvPr/>
        </p:nvSpPr>
        <p:spPr>
          <a:xfrm>
            <a:off x="4059238" y="4689475"/>
            <a:ext cx="2232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zh-CN" altLang="en-US" sz="2000" b="1" dirty="0">
                <a:latin typeface="Times New Roman" panose="02020603050405020304" pitchFamily="18" charset="0"/>
              </a:rPr>
              <a:t>负数的原码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69" name="Text Box 5"/>
          <p:cNvSpPr txBox="1"/>
          <p:nvPr/>
        </p:nvSpPr>
        <p:spPr>
          <a:xfrm>
            <a:off x="6248400" y="4689475"/>
            <a:ext cx="21977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zh-CN" altLang="en-US" sz="2000" b="1" dirty="0">
                <a:latin typeface="Times New Roman" panose="02020603050405020304" pitchFamily="18" charset="0"/>
              </a:rPr>
              <a:t>负数的补码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70" name="Text Box 6"/>
          <p:cNvSpPr txBox="1"/>
          <p:nvPr/>
        </p:nvSpPr>
        <p:spPr>
          <a:xfrm>
            <a:off x="8401050" y="4689475"/>
            <a:ext cx="2232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zh-CN" altLang="en-US" sz="2000" b="1" dirty="0">
                <a:latin typeface="Times New Roman" panose="02020603050405020304" pitchFamily="18" charset="0"/>
              </a:rPr>
              <a:t>负数的反码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64871" name="Group 7"/>
          <p:cNvGrpSpPr/>
          <p:nvPr/>
        </p:nvGrpSpPr>
        <p:grpSpPr>
          <a:xfrm>
            <a:off x="1847850" y="1524000"/>
            <a:ext cx="2173288" cy="1284288"/>
            <a:chOff x="204" y="960"/>
            <a:chExt cx="1369" cy="809"/>
          </a:xfrm>
        </p:grpSpPr>
        <p:grpSp>
          <p:nvGrpSpPr>
            <p:cNvPr id="164950" name="Group 8"/>
            <p:cNvGrpSpPr/>
            <p:nvPr/>
          </p:nvGrpSpPr>
          <p:grpSpPr>
            <a:xfrm>
              <a:off x="204" y="960"/>
              <a:ext cx="1369" cy="809"/>
              <a:chOff x="204" y="960"/>
              <a:chExt cx="1369" cy="809"/>
            </a:xfrm>
          </p:grpSpPr>
          <p:sp>
            <p:nvSpPr>
              <p:cNvPr id="164952" name="Rectangle 9"/>
              <p:cNvSpPr/>
              <p:nvPr/>
            </p:nvSpPr>
            <p:spPr>
              <a:xfrm>
                <a:off x="348" y="960"/>
                <a:ext cx="192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53" name="Rectangle 10"/>
              <p:cNvSpPr/>
              <p:nvPr/>
            </p:nvSpPr>
            <p:spPr>
              <a:xfrm>
                <a:off x="732" y="960"/>
                <a:ext cx="576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54" name="Freeform 11"/>
              <p:cNvSpPr/>
              <p:nvPr/>
            </p:nvSpPr>
            <p:spPr>
              <a:xfrm>
                <a:off x="204" y="1122"/>
                <a:ext cx="240" cy="384"/>
              </a:xfrm>
              <a:custGeom>
                <a:avLst/>
                <a:gdLst>
                  <a:gd name="txL" fmla="*/ 0 w 240"/>
                  <a:gd name="txT" fmla="*/ 0 h 384"/>
                  <a:gd name="txR" fmla="*/ 240 w 240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  <a:cxn ang="0">
                    <a:pos x="240" y="384"/>
                  </a:cxn>
                  <a:cxn ang="0">
                    <a:pos x="240" y="144"/>
                  </a:cxn>
                </a:cxnLst>
                <a:rect l="txL" t="txT" r="txR" b="tx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55" name="Freeform 12"/>
              <p:cNvSpPr/>
              <p:nvPr/>
            </p:nvSpPr>
            <p:spPr>
              <a:xfrm>
                <a:off x="636" y="1104"/>
                <a:ext cx="100" cy="384"/>
              </a:xfrm>
              <a:custGeom>
                <a:avLst/>
                <a:gdLst>
                  <a:gd name="txL" fmla="*/ 0 w 144"/>
                  <a:gd name="txT" fmla="*/ 0 h 384"/>
                  <a:gd name="txR" fmla="*/ 144 w 144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</a:cxnLst>
                <a:rect l="txL" t="txT" r="txR" b="tx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56" name="Freeform 13"/>
              <p:cNvSpPr/>
              <p:nvPr/>
            </p:nvSpPr>
            <p:spPr>
              <a:xfrm>
                <a:off x="1308" y="1104"/>
                <a:ext cx="141" cy="384"/>
              </a:xfrm>
              <a:custGeom>
                <a:avLst/>
                <a:gdLst>
                  <a:gd name="txL" fmla="*/ 0 w 96"/>
                  <a:gd name="txT" fmla="*/ 0 h 384"/>
                  <a:gd name="txR" fmla="*/ 96 w 96"/>
                  <a:gd name="txB" fmla="*/ 384 h 384"/>
                </a:gdLst>
                <a:ahLst/>
                <a:cxnLst>
                  <a:cxn ang="0">
                    <a:pos x="96" y="384"/>
                  </a:cxn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57" name="Text Box 14"/>
              <p:cNvSpPr txBox="1"/>
              <p:nvPr/>
            </p:nvSpPr>
            <p:spPr>
              <a:xfrm>
                <a:off x="1346" y="1440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951" name="Line 15"/>
            <p:cNvSpPr/>
            <p:nvPr/>
          </p:nvSpPr>
          <p:spPr>
            <a:xfrm flipH="1">
              <a:off x="876" y="110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4872" name="Group 16"/>
          <p:cNvGrpSpPr/>
          <p:nvPr/>
        </p:nvGrpSpPr>
        <p:grpSpPr>
          <a:xfrm>
            <a:off x="4057650" y="1524000"/>
            <a:ext cx="2173288" cy="1284288"/>
            <a:chOff x="1596" y="960"/>
            <a:chExt cx="1369" cy="809"/>
          </a:xfrm>
        </p:grpSpPr>
        <p:grpSp>
          <p:nvGrpSpPr>
            <p:cNvPr id="164942" name="Group 17"/>
            <p:cNvGrpSpPr/>
            <p:nvPr/>
          </p:nvGrpSpPr>
          <p:grpSpPr>
            <a:xfrm>
              <a:off x="1596" y="960"/>
              <a:ext cx="1369" cy="809"/>
              <a:chOff x="1596" y="960"/>
              <a:chExt cx="1369" cy="809"/>
            </a:xfrm>
          </p:grpSpPr>
          <p:sp>
            <p:nvSpPr>
              <p:cNvPr id="164944" name="Rectangle 18"/>
              <p:cNvSpPr/>
              <p:nvPr/>
            </p:nvSpPr>
            <p:spPr>
              <a:xfrm>
                <a:off x="1740" y="960"/>
                <a:ext cx="192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45" name="Rectangle 19"/>
              <p:cNvSpPr/>
              <p:nvPr/>
            </p:nvSpPr>
            <p:spPr>
              <a:xfrm>
                <a:off x="2124" y="960"/>
                <a:ext cx="576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46" name="Freeform 20"/>
              <p:cNvSpPr/>
              <p:nvPr/>
            </p:nvSpPr>
            <p:spPr>
              <a:xfrm>
                <a:off x="1596" y="1122"/>
                <a:ext cx="240" cy="384"/>
              </a:xfrm>
              <a:custGeom>
                <a:avLst/>
                <a:gdLst>
                  <a:gd name="txL" fmla="*/ 0 w 240"/>
                  <a:gd name="txT" fmla="*/ 0 h 384"/>
                  <a:gd name="txR" fmla="*/ 240 w 240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  <a:cxn ang="0">
                    <a:pos x="240" y="384"/>
                  </a:cxn>
                  <a:cxn ang="0">
                    <a:pos x="240" y="144"/>
                  </a:cxn>
                </a:cxnLst>
                <a:rect l="txL" t="txT" r="txR" b="tx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47" name="Freeform 21"/>
              <p:cNvSpPr/>
              <p:nvPr/>
            </p:nvSpPr>
            <p:spPr>
              <a:xfrm>
                <a:off x="2031" y="1104"/>
                <a:ext cx="100" cy="384"/>
              </a:xfrm>
              <a:custGeom>
                <a:avLst/>
                <a:gdLst>
                  <a:gd name="txL" fmla="*/ 0 w 144"/>
                  <a:gd name="txT" fmla="*/ 0 h 384"/>
                  <a:gd name="txR" fmla="*/ 144 w 144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</a:cxnLst>
                <a:rect l="txL" t="txT" r="txR" b="tx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48" name="Freeform 22"/>
              <p:cNvSpPr/>
              <p:nvPr/>
            </p:nvSpPr>
            <p:spPr>
              <a:xfrm>
                <a:off x="2703" y="1104"/>
                <a:ext cx="141" cy="384"/>
              </a:xfrm>
              <a:custGeom>
                <a:avLst/>
                <a:gdLst>
                  <a:gd name="txL" fmla="*/ 0 w 96"/>
                  <a:gd name="txT" fmla="*/ 0 h 384"/>
                  <a:gd name="txR" fmla="*/ 96 w 96"/>
                  <a:gd name="txB" fmla="*/ 384 h 384"/>
                </a:gdLst>
                <a:ahLst/>
                <a:cxnLst>
                  <a:cxn ang="0">
                    <a:pos x="96" y="384"/>
                  </a:cxn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49" name="Text Box 23"/>
              <p:cNvSpPr txBox="1"/>
              <p:nvPr/>
            </p:nvSpPr>
            <p:spPr>
              <a:xfrm>
                <a:off x="2738" y="1440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943" name="Line 24"/>
            <p:cNvSpPr/>
            <p:nvPr/>
          </p:nvSpPr>
          <p:spPr>
            <a:xfrm flipH="1">
              <a:off x="2268" y="110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4873" name="Group 25"/>
          <p:cNvGrpSpPr/>
          <p:nvPr/>
        </p:nvGrpSpPr>
        <p:grpSpPr>
          <a:xfrm>
            <a:off x="6267450" y="1524000"/>
            <a:ext cx="2132013" cy="1284288"/>
            <a:chOff x="2988" y="960"/>
            <a:chExt cx="1343" cy="809"/>
          </a:xfrm>
        </p:grpSpPr>
        <p:grpSp>
          <p:nvGrpSpPr>
            <p:cNvPr id="164934" name="Group 26"/>
            <p:cNvGrpSpPr/>
            <p:nvPr/>
          </p:nvGrpSpPr>
          <p:grpSpPr>
            <a:xfrm>
              <a:off x="2988" y="960"/>
              <a:ext cx="1343" cy="809"/>
              <a:chOff x="2988" y="960"/>
              <a:chExt cx="1343" cy="809"/>
            </a:xfrm>
          </p:grpSpPr>
          <p:sp>
            <p:nvSpPr>
              <p:cNvPr id="164936" name="Rectangle 27"/>
              <p:cNvSpPr/>
              <p:nvPr/>
            </p:nvSpPr>
            <p:spPr>
              <a:xfrm>
                <a:off x="3132" y="960"/>
                <a:ext cx="192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37" name="Rectangle 28"/>
              <p:cNvSpPr/>
              <p:nvPr/>
            </p:nvSpPr>
            <p:spPr>
              <a:xfrm>
                <a:off x="3516" y="960"/>
                <a:ext cx="576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38" name="Freeform 29"/>
              <p:cNvSpPr/>
              <p:nvPr/>
            </p:nvSpPr>
            <p:spPr>
              <a:xfrm>
                <a:off x="2988" y="1122"/>
                <a:ext cx="240" cy="384"/>
              </a:xfrm>
              <a:custGeom>
                <a:avLst/>
                <a:gdLst>
                  <a:gd name="txL" fmla="*/ 0 w 240"/>
                  <a:gd name="txT" fmla="*/ 0 h 384"/>
                  <a:gd name="txR" fmla="*/ 240 w 240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  <a:cxn ang="0">
                    <a:pos x="240" y="384"/>
                  </a:cxn>
                  <a:cxn ang="0">
                    <a:pos x="240" y="144"/>
                  </a:cxn>
                </a:cxnLst>
                <a:rect l="txL" t="txT" r="txR" b="tx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39" name="Freeform 30"/>
              <p:cNvSpPr/>
              <p:nvPr/>
            </p:nvSpPr>
            <p:spPr>
              <a:xfrm>
                <a:off x="3423" y="1104"/>
                <a:ext cx="100" cy="384"/>
              </a:xfrm>
              <a:custGeom>
                <a:avLst/>
                <a:gdLst>
                  <a:gd name="txL" fmla="*/ 0 w 144"/>
                  <a:gd name="txT" fmla="*/ 0 h 384"/>
                  <a:gd name="txR" fmla="*/ 144 w 144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</a:cxnLst>
                <a:rect l="txL" t="txT" r="txR" b="tx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40" name="Freeform 31"/>
              <p:cNvSpPr/>
              <p:nvPr/>
            </p:nvSpPr>
            <p:spPr>
              <a:xfrm>
                <a:off x="4095" y="1104"/>
                <a:ext cx="141" cy="384"/>
              </a:xfrm>
              <a:custGeom>
                <a:avLst/>
                <a:gdLst>
                  <a:gd name="txL" fmla="*/ 0 w 96"/>
                  <a:gd name="txT" fmla="*/ 0 h 384"/>
                  <a:gd name="txR" fmla="*/ 96 w 96"/>
                  <a:gd name="txB" fmla="*/ 384 h 384"/>
                </a:gdLst>
                <a:ahLst/>
                <a:cxnLst>
                  <a:cxn ang="0">
                    <a:pos x="96" y="384"/>
                  </a:cxn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41" name="Text Box 32"/>
              <p:cNvSpPr txBox="1"/>
              <p:nvPr/>
            </p:nvSpPr>
            <p:spPr>
              <a:xfrm>
                <a:off x="4104" y="1440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935" name="Line 33"/>
            <p:cNvSpPr/>
            <p:nvPr/>
          </p:nvSpPr>
          <p:spPr>
            <a:xfrm flipH="1">
              <a:off x="3660" y="110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4874" name="Group 34"/>
          <p:cNvGrpSpPr/>
          <p:nvPr/>
        </p:nvGrpSpPr>
        <p:grpSpPr>
          <a:xfrm>
            <a:off x="8477250" y="1524000"/>
            <a:ext cx="2189163" cy="1284288"/>
            <a:chOff x="4380" y="960"/>
            <a:chExt cx="1379" cy="809"/>
          </a:xfrm>
        </p:grpSpPr>
        <p:grpSp>
          <p:nvGrpSpPr>
            <p:cNvPr id="164926" name="Group 35"/>
            <p:cNvGrpSpPr/>
            <p:nvPr/>
          </p:nvGrpSpPr>
          <p:grpSpPr>
            <a:xfrm>
              <a:off x="4380" y="960"/>
              <a:ext cx="1379" cy="809"/>
              <a:chOff x="4380" y="960"/>
              <a:chExt cx="1379" cy="809"/>
            </a:xfrm>
          </p:grpSpPr>
          <p:sp>
            <p:nvSpPr>
              <p:cNvPr id="164928" name="Rectangle 36"/>
              <p:cNvSpPr/>
              <p:nvPr/>
            </p:nvSpPr>
            <p:spPr>
              <a:xfrm>
                <a:off x="4524" y="960"/>
                <a:ext cx="192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29" name="Rectangle 37"/>
              <p:cNvSpPr/>
              <p:nvPr/>
            </p:nvSpPr>
            <p:spPr>
              <a:xfrm>
                <a:off x="4908" y="960"/>
                <a:ext cx="576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30" name="Freeform 38"/>
              <p:cNvSpPr/>
              <p:nvPr/>
            </p:nvSpPr>
            <p:spPr>
              <a:xfrm>
                <a:off x="4380" y="1122"/>
                <a:ext cx="240" cy="384"/>
              </a:xfrm>
              <a:custGeom>
                <a:avLst/>
                <a:gdLst>
                  <a:gd name="txL" fmla="*/ 0 w 240"/>
                  <a:gd name="txT" fmla="*/ 0 h 384"/>
                  <a:gd name="txR" fmla="*/ 240 w 240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  <a:cxn ang="0">
                    <a:pos x="240" y="384"/>
                  </a:cxn>
                  <a:cxn ang="0">
                    <a:pos x="240" y="144"/>
                  </a:cxn>
                </a:cxnLst>
                <a:rect l="txL" t="txT" r="txR" b="tx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31" name="Freeform 39"/>
              <p:cNvSpPr/>
              <p:nvPr/>
            </p:nvSpPr>
            <p:spPr>
              <a:xfrm>
                <a:off x="4815" y="1104"/>
                <a:ext cx="100" cy="384"/>
              </a:xfrm>
              <a:custGeom>
                <a:avLst/>
                <a:gdLst>
                  <a:gd name="txL" fmla="*/ 0 w 144"/>
                  <a:gd name="txT" fmla="*/ 0 h 384"/>
                  <a:gd name="txR" fmla="*/ 144 w 144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</a:cxnLst>
                <a:rect l="txL" t="txT" r="txR" b="tx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32" name="Freeform 40"/>
              <p:cNvSpPr/>
              <p:nvPr/>
            </p:nvSpPr>
            <p:spPr>
              <a:xfrm>
                <a:off x="5487" y="1104"/>
                <a:ext cx="141" cy="384"/>
              </a:xfrm>
              <a:custGeom>
                <a:avLst/>
                <a:gdLst>
                  <a:gd name="txL" fmla="*/ 0 w 96"/>
                  <a:gd name="txT" fmla="*/ 0 h 384"/>
                  <a:gd name="txR" fmla="*/ 96 w 96"/>
                  <a:gd name="txB" fmla="*/ 384 h 384"/>
                </a:gdLst>
                <a:ahLst/>
                <a:cxnLst>
                  <a:cxn ang="0">
                    <a:pos x="96" y="384"/>
                  </a:cxn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33" name="Text Box 41"/>
              <p:cNvSpPr txBox="1"/>
              <p:nvPr/>
            </p:nvSpPr>
            <p:spPr>
              <a:xfrm>
                <a:off x="5532" y="1440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927" name="Line 42"/>
            <p:cNvSpPr/>
            <p:nvPr/>
          </p:nvSpPr>
          <p:spPr>
            <a:xfrm flipH="1">
              <a:off x="5052" y="110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4875" name="Group 43"/>
          <p:cNvGrpSpPr/>
          <p:nvPr/>
        </p:nvGrpSpPr>
        <p:grpSpPr>
          <a:xfrm>
            <a:off x="8477250" y="3276600"/>
            <a:ext cx="1981200" cy="866775"/>
            <a:chOff x="4380" y="2064"/>
            <a:chExt cx="1248" cy="546"/>
          </a:xfrm>
        </p:grpSpPr>
        <p:grpSp>
          <p:nvGrpSpPr>
            <p:cNvPr id="164919" name="Group 44"/>
            <p:cNvGrpSpPr/>
            <p:nvPr/>
          </p:nvGrpSpPr>
          <p:grpSpPr>
            <a:xfrm>
              <a:off x="4380" y="2064"/>
              <a:ext cx="1248" cy="546"/>
              <a:chOff x="4380" y="2064"/>
              <a:chExt cx="1248" cy="546"/>
            </a:xfrm>
          </p:grpSpPr>
          <p:sp>
            <p:nvSpPr>
              <p:cNvPr id="164921" name="Rectangle 45"/>
              <p:cNvSpPr/>
              <p:nvPr/>
            </p:nvSpPr>
            <p:spPr>
              <a:xfrm>
                <a:off x="4524" y="2064"/>
                <a:ext cx="192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22" name="Rectangle 46"/>
              <p:cNvSpPr/>
              <p:nvPr/>
            </p:nvSpPr>
            <p:spPr>
              <a:xfrm>
                <a:off x="4908" y="2064"/>
                <a:ext cx="576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23" name="Freeform 47"/>
              <p:cNvSpPr/>
              <p:nvPr/>
            </p:nvSpPr>
            <p:spPr>
              <a:xfrm>
                <a:off x="4380" y="2226"/>
                <a:ext cx="240" cy="384"/>
              </a:xfrm>
              <a:custGeom>
                <a:avLst/>
                <a:gdLst>
                  <a:gd name="txL" fmla="*/ 0 w 240"/>
                  <a:gd name="txT" fmla="*/ 0 h 384"/>
                  <a:gd name="txR" fmla="*/ 240 w 240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  <a:cxn ang="0">
                    <a:pos x="240" y="384"/>
                  </a:cxn>
                  <a:cxn ang="0">
                    <a:pos x="240" y="144"/>
                  </a:cxn>
                </a:cxnLst>
                <a:rect l="txL" t="txT" r="txR" b="tx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24" name="Freeform 48"/>
              <p:cNvSpPr/>
              <p:nvPr/>
            </p:nvSpPr>
            <p:spPr>
              <a:xfrm>
                <a:off x="5487" y="2208"/>
                <a:ext cx="141" cy="384"/>
              </a:xfrm>
              <a:custGeom>
                <a:avLst/>
                <a:gdLst>
                  <a:gd name="txL" fmla="*/ 0 w 96"/>
                  <a:gd name="txT" fmla="*/ 0 h 384"/>
                  <a:gd name="txR" fmla="*/ 96 w 96"/>
                  <a:gd name="txB" fmla="*/ 384 h 384"/>
                </a:gdLst>
                <a:ahLst/>
                <a:cxnLst>
                  <a:cxn ang="0">
                    <a:pos x="96" y="384"/>
                  </a:cxn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25" name="Line 49"/>
              <p:cNvSpPr/>
              <p:nvPr/>
            </p:nvSpPr>
            <p:spPr>
              <a:xfrm>
                <a:off x="4716" y="2208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  <p:sp>
          <p:nvSpPr>
            <p:cNvPr id="164920" name="Line 50"/>
            <p:cNvSpPr/>
            <p:nvPr/>
          </p:nvSpPr>
          <p:spPr>
            <a:xfrm rot="-10800000" flipH="1">
              <a:off x="5100" y="2208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4876" name="Group 51"/>
          <p:cNvGrpSpPr/>
          <p:nvPr/>
        </p:nvGrpSpPr>
        <p:grpSpPr>
          <a:xfrm>
            <a:off x="6267450" y="3276600"/>
            <a:ext cx="1981200" cy="866775"/>
            <a:chOff x="2988" y="2064"/>
            <a:chExt cx="1248" cy="546"/>
          </a:xfrm>
        </p:grpSpPr>
        <p:grpSp>
          <p:nvGrpSpPr>
            <p:cNvPr id="164912" name="Group 52"/>
            <p:cNvGrpSpPr/>
            <p:nvPr/>
          </p:nvGrpSpPr>
          <p:grpSpPr>
            <a:xfrm>
              <a:off x="2988" y="2064"/>
              <a:ext cx="1248" cy="546"/>
              <a:chOff x="2988" y="2064"/>
              <a:chExt cx="1248" cy="546"/>
            </a:xfrm>
          </p:grpSpPr>
          <p:sp>
            <p:nvSpPr>
              <p:cNvPr id="164914" name="Rectangle 53"/>
              <p:cNvSpPr/>
              <p:nvPr/>
            </p:nvSpPr>
            <p:spPr>
              <a:xfrm>
                <a:off x="3132" y="2064"/>
                <a:ext cx="192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15" name="Rectangle 54"/>
              <p:cNvSpPr/>
              <p:nvPr/>
            </p:nvSpPr>
            <p:spPr>
              <a:xfrm>
                <a:off x="3516" y="2064"/>
                <a:ext cx="576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16" name="Freeform 55"/>
              <p:cNvSpPr/>
              <p:nvPr/>
            </p:nvSpPr>
            <p:spPr>
              <a:xfrm>
                <a:off x="2988" y="2226"/>
                <a:ext cx="240" cy="384"/>
              </a:xfrm>
              <a:custGeom>
                <a:avLst/>
                <a:gdLst>
                  <a:gd name="txL" fmla="*/ 0 w 240"/>
                  <a:gd name="txT" fmla="*/ 0 h 384"/>
                  <a:gd name="txR" fmla="*/ 240 w 240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  <a:cxn ang="0">
                    <a:pos x="240" y="384"/>
                  </a:cxn>
                  <a:cxn ang="0">
                    <a:pos x="240" y="144"/>
                  </a:cxn>
                </a:cxnLst>
                <a:rect l="txL" t="txT" r="txR" b="tx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17" name="Freeform 56"/>
              <p:cNvSpPr/>
              <p:nvPr/>
            </p:nvSpPr>
            <p:spPr>
              <a:xfrm>
                <a:off x="4095" y="2208"/>
                <a:ext cx="141" cy="384"/>
              </a:xfrm>
              <a:custGeom>
                <a:avLst/>
                <a:gdLst>
                  <a:gd name="txL" fmla="*/ 0 w 96"/>
                  <a:gd name="txT" fmla="*/ 0 h 384"/>
                  <a:gd name="txR" fmla="*/ 96 w 96"/>
                  <a:gd name="txB" fmla="*/ 384 h 384"/>
                </a:gdLst>
                <a:ahLst/>
                <a:cxnLst>
                  <a:cxn ang="0">
                    <a:pos x="96" y="384"/>
                  </a:cxn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18" name="Line 57"/>
              <p:cNvSpPr/>
              <p:nvPr/>
            </p:nvSpPr>
            <p:spPr>
              <a:xfrm>
                <a:off x="3324" y="2208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  <p:sp>
          <p:nvSpPr>
            <p:cNvPr id="164913" name="Line 58"/>
            <p:cNvSpPr/>
            <p:nvPr/>
          </p:nvSpPr>
          <p:spPr>
            <a:xfrm rot="-10800000" flipH="1">
              <a:off x="3660" y="2208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4877" name="Group 59"/>
          <p:cNvGrpSpPr/>
          <p:nvPr/>
        </p:nvGrpSpPr>
        <p:grpSpPr>
          <a:xfrm>
            <a:off x="4057650" y="3276600"/>
            <a:ext cx="1981200" cy="1274763"/>
            <a:chOff x="1596" y="2064"/>
            <a:chExt cx="1248" cy="803"/>
          </a:xfrm>
        </p:grpSpPr>
        <p:grpSp>
          <p:nvGrpSpPr>
            <p:cNvPr id="164904" name="Group 60"/>
            <p:cNvGrpSpPr/>
            <p:nvPr/>
          </p:nvGrpSpPr>
          <p:grpSpPr>
            <a:xfrm>
              <a:off x="1596" y="2064"/>
              <a:ext cx="1248" cy="803"/>
              <a:chOff x="1596" y="2064"/>
              <a:chExt cx="1248" cy="803"/>
            </a:xfrm>
          </p:grpSpPr>
          <p:sp>
            <p:nvSpPr>
              <p:cNvPr id="164906" name="Rectangle 61"/>
              <p:cNvSpPr/>
              <p:nvPr/>
            </p:nvSpPr>
            <p:spPr>
              <a:xfrm>
                <a:off x="1740" y="2064"/>
                <a:ext cx="192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07" name="Rectangle 62"/>
              <p:cNvSpPr/>
              <p:nvPr/>
            </p:nvSpPr>
            <p:spPr>
              <a:xfrm>
                <a:off x="2124" y="2064"/>
                <a:ext cx="576" cy="3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08" name="Freeform 63"/>
              <p:cNvSpPr/>
              <p:nvPr/>
            </p:nvSpPr>
            <p:spPr>
              <a:xfrm>
                <a:off x="1596" y="2226"/>
                <a:ext cx="240" cy="384"/>
              </a:xfrm>
              <a:custGeom>
                <a:avLst/>
                <a:gdLst>
                  <a:gd name="txL" fmla="*/ 0 w 240"/>
                  <a:gd name="txT" fmla="*/ 0 h 384"/>
                  <a:gd name="txR" fmla="*/ 240 w 240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  <a:cxn ang="0">
                    <a:pos x="240" y="384"/>
                  </a:cxn>
                  <a:cxn ang="0">
                    <a:pos x="240" y="144"/>
                  </a:cxn>
                </a:cxnLst>
                <a:rect l="txL" t="txT" r="txR" b="tx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09" name="Freeform 64"/>
              <p:cNvSpPr/>
              <p:nvPr/>
            </p:nvSpPr>
            <p:spPr>
              <a:xfrm>
                <a:off x="2031" y="2208"/>
                <a:ext cx="100" cy="384"/>
              </a:xfrm>
              <a:custGeom>
                <a:avLst/>
                <a:gdLst>
                  <a:gd name="txL" fmla="*/ 0 w 144"/>
                  <a:gd name="txT" fmla="*/ 0 h 384"/>
                  <a:gd name="txR" fmla="*/ 144 w 144"/>
                  <a:gd name="txB" fmla="*/ 384 h 384"/>
                </a:gdLst>
                <a:ahLst/>
                <a:cxnLst>
                  <a:cxn ang="0">
                    <a:pos x="144" y="0"/>
                  </a:cxn>
                  <a:cxn ang="0">
                    <a:pos x="0" y="0"/>
                  </a:cxn>
                  <a:cxn ang="0">
                    <a:pos x="0" y="384"/>
                  </a:cxn>
                </a:cxnLst>
                <a:rect l="txL" t="txT" r="txR" b="tx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10" name="Freeform 65"/>
              <p:cNvSpPr/>
              <p:nvPr/>
            </p:nvSpPr>
            <p:spPr>
              <a:xfrm>
                <a:off x="2703" y="2208"/>
                <a:ext cx="141" cy="384"/>
              </a:xfrm>
              <a:custGeom>
                <a:avLst/>
                <a:gdLst>
                  <a:gd name="txL" fmla="*/ 0 w 96"/>
                  <a:gd name="txT" fmla="*/ 0 h 384"/>
                  <a:gd name="txR" fmla="*/ 96 w 96"/>
                  <a:gd name="txB" fmla="*/ 384 h 384"/>
                </a:gdLst>
                <a:ahLst/>
                <a:cxnLst>
                  <a:cxn ang="0">
                    <a:pos x="96" y="384"/>
                  </a:cxn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911" name="Text Box 66"/>
              <p:cNvSpPr txBox="1"/>
              <p:nvPr/>
            </p:nvSpPr>
            <p:spPr>
              <a:xfrm>
                <a:off x="1922" y="2538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905" name="Line 67"/>
            <p:cNvSpPr/>
            <p:nvPr/>
          </p:nvSpPr>
          <p:spPr>
            <a:xfrm rot="-10800000" flipH="1">
              <a:off x="2268" y="2208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4878" name="Group 68"/>
          <p:cNvGrpSpPr/>
          <p:nvPr/>
        </p:nvGrpSpPr>
        <p:grpSpPr>
          <a:xfrm>
            <a:off x="1752600" y="5181600"/>
            <a:ext cx="911225" cy="460375"/>
            <a:chOff x="240" y="3264"/>
            <a:chExt cx="574" cy="290"/>
          </a:xfrm>
        </p:grpSpPr>
        <p:sp>
          <p:nvSpPr>
            <p:cNvPr id="164902" name="Line 69"/>
            <p:cNvSpPr/>
            <p:nvPr/>
          </p:nvSpPr>
          <p:spPr>
            <a:xfrm flipH="1">
              <a:off x="240" y="340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903" name="Text Box 70"/>
            <p:cNvSpPr txBox="1"/>
            <p:nvPr/>
          </p:nvSpPr>
          <p:spPr>
            <a:xfrm>
              <a:off x="395" y="3264"/>
              <a:ext cx="41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丢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4879" name="Group 71"/>
          <p:cNvGrpSpPr/>
          <p:nvPr/>
        </p:nvGrpSpPr>
        <p:grpSpPr>
          <a:xfrm>
            <a:off x="1752600" y="5638800"/>
            <a:ext cx="911225" cy="460375"/>
            <a:chOff x="240" y="3552"/>
            <a:chExt cx="574" cy="290"/>
          </a:xfrm>
        </p:grpSpPr>
        <p:sp>
          <p:nvSpPr>
            <p:cNvPr id="164900" name="Line 72"/>
            <p:cNvSpPr/>
            <p:nvPr/>
          </p:nvSpPr>
          <p:spPr>
            <a:xfrm rot="-10800000" flipH="1">
              <a:off x="240" y="3696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901" name="Text Box 73"/>
            <p:cNvSpPr txBox="1"/>
            <p:nvPr/>
          </p:nvSpPr>
          <p:spPr>
            <a:xfrm>
              <a:off x="395" y="3552"/>
              <a:ext cx="41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丢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4880" name="Text Box 74"/>
          <p:cNvSpPr txBox="1"/>
          <p:nvPr/>
        </p:nvSpPr>
        <p:spPr>
          <a:xfrm>
            <a:off x="3032125" y="51816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出错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81" name="Text Box 75"/>
          <p:cNvSpPr txBox="1"/>
          <p:nvPr/>
        </p:nvSpPr>
        <p:spPr>
          <a:xfrm>
            <a:off x="2819400" y="5699125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影响精度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82" name="Text Box 76"/>
          <p:cNvSpPr txBox="1"/>
          <p:nvPr/>
        </p:nvSpPr>
        <p:spPr>
          <a:xfrm>
            <a:off x="5330825" y="51816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出错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83" name="Text Box 77"/>
          <p:cNvSpPr txBox="1"/>
          <p:nvPr/>
        </p:nvSpPr>
        <p:spPr>
          <a:xfrm>
            <a:off x="5118100" y="5699125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影响精度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84" name="Text Box 78"/>
          <p:cNvSpPr txBox="1"/>
          <p:nvPr/>
        </p:nvSpPr>
        <p:spPr>
          <a:xfrm>
            <a:off x="7235825" y="51816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正确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85" name="Text Box 79"/>
          <p:cNvSpPr txBox="1"/>
          <p:nvPr/>
        </p:nvSpPr>
        <p:spPr>
          <a:xfrm>
            <a:off x="7023100" y="5699125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影响精度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86" name="Text Box 80"/>
          <p:cNvSpPr txBox="1"/>
          <p:nvPr/>
        </p:nvSpPr>
        <p:spPr>
          <a:xfrm>
            <a:off x="9280525" y="51816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正确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4887" name="Text Box 81"/>
          <p:cNvSpPr txBox="1"/>
          <p:nvPr/>
        </p:nvSpPr>
        <p:spPr>
          <a:xfrm>
            <a:off x="9290050" y="5699125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正确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93266" name="Rectangle 8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4889" name="Group 83"/>
          <p:cNvGrpSpPr/>
          <p:nvPr/>
        </p:nvGrpSpPr>
        <p:grpSpPr>
          <a:xfrm>
            <a:off x="1847850" y="3276600"/>
            <a:ext cx="1976438" cy="866775"/>
            <a:chOff x="204" y="2064"/>
            <a:chExt cx="1245" cy="546"/>
          </a:xfrm>
        </p:grpSpPr>
        <p:grpSp>
          <p:nvGrpSpPr>
            <p:cNvPr id="164892" name="Group 84"/>
            <p:cNvGrpSpPr/>
            <p:nvPr/>
          </p:nvGrpSpPr>
          <p:grpSpPr>
            <a:xfrm>
              <a:off x="732" y="2064"/>
              <a:ext cx="717" cy="528"/>
              <a:chOff x="732" y="2064"/>
              <a:chExt cx="717" cy="528"/>
            </a:xfrm>
          </p:grpSpPr>
          <p:grpSp>
            <p:nvGrpSpPr>
              <p:cNvPr id="164896" name="Group 85"/>
              <p:cNvGrpSpPr/>
              <p:nvPr/>
            </p:nvGrpSpPr>
            <p:grpSpPr>
              <a:xfrm>
                <a:off x="732" y="2064"/>
                <a:ext cx="717" cy="528"/>
                <a:chOff x="732" y="2064"/>
                <a:chExt cx="717" cy="528"/>
              </a:xfrm>
            </p:grpSpPr>
            <p:sp>
              <p:nvSpPr>
                <p:cNvPr id="164898" name="Rectangle 86"/>
                <p:cNvSpPr/>
                <p:nvPr/>
              </p:nvSpPr>
              <p:spPr>
                <a:xfrm>
                  <a:off x="732" y="2064"/>
                  <a:ext cx="576" cy="31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4899" name="Freeform 87"/>
                <p:cNvSpPr/>
                <p:nvPr/>
              </p:nvSpPr>
              <p:spPr>
                <a:xfrm>
                  <a:off x="1308" y="2208"/>
                  <a:ext cx="141" cy="384"/>
                </a:xfrm>
                <a:custGeom>
                  <a:avLst/>
                  <a:gdLst>
                    <a:gd name="txL" fmla="*/ 0 w 96"/>
                    <a:gd name="txT" fmla="*/ 0 h 384"/>
                    <a:gd name="txR" fmla="*/ 96 w 96"/>
                    <a:gd name="txB" fmla="*/ 384 h 384"/>
                  </a:gdLst>
                  <a:ahLst/>
                  <a:cxnLst>
                    <a:cxn ang="0">
                      <a:pos x="96" y="384"/>
                    </a:cxn>
                    <a:cxn ang="0">
                      <a:pos x="96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96" h="384">
                      <a:moveTo>
                        <a:pt x="96" y="384"/>
                      </a:moveTo>
                      <a:lnTo>
                        <a:pt x="9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stealth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64897" name="Line 88"/>
              <p:cNvSpPr/>
              <p:nvPr/>
            </p:nvSpPr>
            <p:spPr>
              <a:xfrm rot="-10800000" flipH="1">
                <a:off x="924" y="2208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  <p:sp>
          <p:nvSpPr>
            <p:cNvPr id="164893" name="Rectangle 89"/>
            <p:cNvSpPr/>
            <p:nvPr/>
          </p:nvSpPr>
          <p:spPr>
            <a:xfrm>
              <a:off x="348" y="2064"/>
              <a:ext cx="192" cy="31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4894" name="Freeform 90"/>
            <p:cNvSpPr/>
            <p:nvPr/>
          </p:nvSpPr>
          <p:spPr>
            <a:xfrm>
              <a:off x="204" y="2226"/>
              <a:ext cx="240" cy="384"/>
            </a:xfrm>
            <a:custGeom>
              <a:avLst/>
              <a:gdLst>
                <a:gd name="txL" fmla="*/ 0 w 240"/>
                <a:gd name="txT" fmla="*/ 0 h 384"/>
                <a:gd name="txR" fmla="*/ 240 w 240"/>
                <a:gd name="txB" fmla="*/ 384 h 384"/>
              </a:gdLst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0" y="384"/>
                </a:cxn>
                <a:cxn ang="0">
                  <a:pos x="240" y="384"/>
                </a:cxn>
                <a:cxn ang="0">
                  <a:pos x="240" y="144"/>
                </a:cxn>
              </a:cxnLst>
              <a:rect l="txL" t="txT" r="txR" b="txB"/>
              <a:pathLst>
                <a:path w="240" h="384">
                  <a:moveTo>
                    <a:pt x="144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240" y="384"/>
                  </a:lnTo>
                  <a:lnTo>
                    <a:pt x="240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4895" name="Line 91"/>
            <p:cNvSpPr/>
            <p:nvPr/>
          </p:nvSpPr>
          <p:spPr>
            <a:xfrm>
              <a:off x="540" y="220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64890" name="AutoShape 9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489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Text Box 2"/>
          <p:cNvSpPr txBox="1"/>
          <p:nvPr/>
        </p:nvSpPr>
        <p:spPr>
          <a:xfrm>
            <a:off x="1905000" y="304800"/>
            <a:ext cx="6126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算术移位和逻辑移位的区别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65891" name="Text Box 3"/>
          <p:cNvSpPr txBox="1"/>
          <p:nvPr/>
        </p:nvSpPr>
        <p:spPr>
          <a:xfrm>
            <a:off x="2270125" y="109061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算术移位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2" name="Text Box 4"/>
          <p:cNvSpPr txBox="1"/>
          <p:nvPr/>
        </p:nvSpPr>
        <p:spPr>
          <a:xfrm>
            <a:off x="4251325" y="1090613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有符号数的移位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3" name="Text Box 5"/>
          <p:cNvSpPr txBox="1"/>
          <p:nvPr/>
        </p:nvSpPr>
        <p:spPr>
          <a:xfrm>
            <a:off x="2270125" y="179863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逻辑移位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4" name="Text Box 6"/>
          <p:cNvSpPr txBox="1"/>
          <p:nvPr/>
        </p:nvSpPr>
        <p:spPr>
          <a:xfrm>
            <a:off x="4251325" y="1798638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无符号数的移位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5" name="Text Box 7"/>
          <p:cNvSpPr txBox="1"/>
          <p:nvPr/>
        </p:nvSpPr>
        <p:spPr>
          <a:xfrm>
            <a:off x="2270125" y="250666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逻辑左移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6" name="Text Box 8"/>
          <p:cNvSpPr txBox="1"/>
          <p:nvPr/>
        </p:nvSpPr>
        <p:spPr>
          <a:xfrm>
            <a:off x="2270125" y="321468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逻辑右移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7" name="Text Box 9"/>
          <p:cNvSpPr txBox="1"/>
          <p:nvPr/>
        </p:nvSpPr>
        <p:spPr>
          <a:xfrm>
            <a:off x="4251325" y="2506663"/>
            <a:ext cx="3294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低位添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，高位移丢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8" name="Text Box 10"/>
          <p:cNvSpPr txBox="1"/>
          <p:nvPr/>
        </p:nvSpPr>
        <p:spPr>
          <a:xfrm>
            <a:off x="4251325" y="3214688"/>
            <a:ext cx="3294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高位添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，低位移丢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9" name="Text Box 11"/>
          <p:cNvSpPr txBox="1"/>
          <p:nvPr/>
        </p:nvSpPr>
        <p:spPr>
          <a:xfrm>
            <a:off x="2270125" y="3886200"/>
            <a:ext cx="36099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例如            </a:t>
            </a:r>
            <a:r>
              <a:rPr lang="zh-CN" altLang="en-US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01010011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900" name="Text Box 12"/>
          <p:cNvSpPr txBox="1"/>
          <p:nvPr/>
        </p:nvSpPr>
        <p:spPr>
          <a:xfrm>
            <a:off x="2270125" y="448151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逻辑左移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5901" name="Text Box 13"/>
          <p:cNvSpPr txBox="1"/>
          <p:nvPr/>
        </p:nvSpPr>
        <p:spPr>
          <a:xfrm>
            <a:off x="4098925" y="4481513"/>
            <a:ext cx="1997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1010011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902" name="Text Box 14"/>
          <p:cNvSpPr txBox="1"/>
          <p:nvPr/>
        </p:nvSpPr>
        <p:spPr>
          <a:xfrm>
            <a:off x="6242050" y="448151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逻辑右移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5903" name="Text Box 15"/>
          <p:cNvSpPr txBox="1"/>
          <p:nvPr/>
        </p:nvSpPr>
        <p:spPr>
          <a:xfrm>
            <a:off x="7918450" y="4481513"/>
            <a:ext cx="15855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1011001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5904" name="Text Box 16"/>
          <p:cNvSpPr txBox="1"/>
          <p:nvPr/>
        </p:nvSpPr>
        <p:spPr>
          <a:xfrm>
            <a:off x="2270125" y="501332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算术左移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5905" name="Text Box 17"/>
          <p:cNvSpPr txBox="1"/>
          <p:nvPr/>
        </p:nvSpPr>
        <p:spPr>
          <a:xfrm>
            <a:off x="6257925" y="5013325"/>
            <a:ext cx="18192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算术右移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5906" name="Text Box 18"/>
          <p:cNvSpPr txBox="1"/>
          <p:nvPr/>
        </p:nvSpPr>
        <p:spPr>
          <a:xfrm>
            <a:off x="4098925" y="5013325"/>
            <a:ext cx="1997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0010011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907" name="Text Box 19"/>
          <p:cNvSpPr txBox="1"/>
          <p:nvPr/>
        </p:nvSpPr>
        <p:spPr>
          <a:xfrm>
            <a:off x="7918450" y="5013325"/>
            <a:ext cx="3435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CN" sz="2800" b="1" dirty="0">
                <a:latin typeface="Times New Roman" panose="02020603050405020304" pitchFamily="18" charset="0"/>
              </a:rPr>
              <a:t>011001</a:t>
            </a:r>
            <a:r>
              <a:rPr lang="zh-CN" altLang="en-US" sz="2000" b="1" dirty="0">
                <a:latin typeface="Times New Roman" panose="02020603050405020304" pitchFamily="18" charset="0"/>
              </a:rPr>
              <a:t>（补码）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5908" name="Text Box 20"/>
          <p:cNvSpPr txBox="1"/>
          <p:nvPr/>
        </p:nvSpPr>
        <p:spPr>
          <a:xfrm>
            <a:off x="3187700" y="5472113"/>
            <a:ext cx="145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高位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移丢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65909" name="Group 21"/>
          <p:cNvGrpSpPr/>
          <p:nvPr/>
        </p:nvGrpSpPr>
        <p:grpSpPr>
          <a:xfrm>
            <a:off x="6248400" y="5943600"/>
            <a:ext cx="3048000" cy="533400"/>
            <a:chOff x="3072" y="3792"/>
            <a:chExt cx="1920" cy="336"/>
          </a:xfrm>
        </p:grpSpPr>
        <p:sp>
          <p:nvSpPr>
            <p:cNvPr id="165930" name="Rectangle 22"/>
            <p:cNvSpPr/>
            <p:nvPr/>
          </p:nvSpPr>
          <p:spPr>
            <a:xfrm>
              <a:off x="3072" y="3792"/>
              <a:ext cx="240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5931" name="Rectangle 23"/>
            <p:cNvSpPr/>
            <p:nvPr/>
          </p:nvSpPr>
          <p:spPr>
            <a:xfrm>
              <a:off x="3552" y="3792"/>
              <a:ext cx="1440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800" b="1" dirty="0">
                  <a:latin typeface="Times New Roman" panose="02020603050405020304" pitchFamily="18" charset="0"/>
                </a:rPr>
                <a:t>1 0 1 0 0 1 1 0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5910" name="Group 24"/>
          <p:cNvGrpSpPr/>
          <p:nvPr/>
        </p:nvGrpSpPr>
        <p:grpSpPr>
          <a:xfrm>
            <a:off x="2590800" y="5943600"/>
            <a:ext cx="3048000" cy="533400"/>
            <a:chOff x="672" y="3792"/>
            <a:chExt cx="1920" cy="336"/>
          </a:xfrm>
        </p:grpSpPr>
        <p:sp>
          <p:nvSpPr>
            <p:cNvPr id="165927" name="Rectangle 25"/>
            <p:cNvSpPr/>
            <p:nvPr/>
          </p:nvSpPr>
          <p:spPr>
            <a:xfrm>
              <a:off x="672" y="3792"/>
              <a:ext cx="240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y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5928" name="Rectangle 26"/>
            <p:cNvSpPr/>
            <p:nvPr/>
          </p:nvSpPr>
          <p:spPr>
            <a:xfrm>
              <a:off x="1152" y="3792"/>
              <a:ext cx="1440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0 1 0 1 0 0 1 1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5929" name="Line 27"/>
            <p:cNvSpPr/>
            <p:nvPr/>
          </p:nvSpPr>
          <p:spPr>
            <a:xfrm flipH="1">
              <a:off x="912" y="3936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5911" name="Group 28"/>
          <p:cNvGrpSpPr/>
          <p:nvPr/>
        </p:nvGrpSpPr>
        <p:grpSpPr>
          <a:xfrm>
            <a:off x="8305800" y="2509838"/>
            <a:ext cx="1579563" cy="727075"/>
            <a:chOff x="4272" y="1581"/>
            <a:chExt cx="995" cy="458"/>
          </a:xfrm>
        </p:grpSpPr>
        <p:sp>
          <p:nvSpPr>
            <p:cNvPr id="165922" name="Rectangle 29"/>
            <p:cNvSpPr/>
            <p:nvPr/>
          </p:nvSpPr>
          <p:spPr>
            <a:xfrm>
              <a:off x="4368" y="1581"/>
              <a:ext cx="576" cy="21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5923" name="Freeform 30"/>
            <p:cNvSpPr/>
            <p:nvPr/>
          </p:nvSpPr>
          <p:spPr>
            <a:xfrm>
              <a:off x="4272" y="1704"/>
              <a:ext cx="96" cy="240"/>
            </a:xfrm>
            <a:custGeom>
              <a:avLst/>
              <a:gdLst>
                <a:gd name="txL" fmla="*/ 0 w 96"/>
                <a:gd name="txT" fmla="*/ 0 h 240"/>
                <a:gd name="txR" fmla="*/ 96 w 96"/>
                <a:gd name="txB" fmla="*/ 240 h 240"/>
              </a:gdLst>
              <a:ahLst/>
              <a:cxnLst>
                <a:cxn ang="0">
                  <a:pos x="96" y="0"/>
                </a:cxn>
                <a:cxn ang="0">
                  <a:pos x="0" y="0"/>
                </a:cxn>
                <a:cxn ang="0">
                  <a:pos x="0" y="240"/>
                </a:cxn>
              </a:cxnLst>
              <a:rect l="txL" t="txT" r="txR" b="txB"/>
              <a:pathLst>
                <a:path w="96" h="240">
                  <a:moveTo>
                    <a:pt x="96" y="0"/>
                  </a:moveTo>
                  <a:lnTo>
                    <a:pt x="0" y="0"/>
                  </a:lnTo>
                  <a:lnTo>
                    <a:pt x="0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5924" name="Freeform 31"/>
            <p:cNvSpPr/>
            <p:nvPr/>
          </p:nvSpPr>
          <p:spPr>
            <a:xfrm>
              <a:off x="4944" y="1704"/>
              <a:ext cx="96" cy="240"/>
            </a:xfrm>
            <a:custGeom>
              <a:avLst/>
              <a:gdLst>
                <a:gd name="txL" fmla="*/ 0 w 96"/>
                <a:gd name="txT" fmla="*/ 0 h 240"/>
                <a:gd name="txR" fmla="*/ 96 w 96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96" y="0"/>
                </a:cxn>
                <a:cxn ang="0">
                  <a:pos x="96" y="240"/>
                </a:cxn>
              </a:cxnLst>
              <a:rect l="txL" t="txT" r="txR" b="txB"/>
              <a:pathLst>
                <a:path w="96" h="240">
                  <a:moveTo>
                    <a:pt x="0" y="0"/>
                  </a:moveTo>
                  <a:lnTo>
                    <a:pt x="96" y="0"/>
                  </a:lnTo>
                  <a:lnTo>
                    <a:pt x="96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5925" name="Text Box 32"/>
            <p:cNvSpPr txBox="1"/>
            <p:nvPr/>
          </p:nvSpPr>
          <p:spPr>
            <a:xfrm>
              <a:off x="5040" y="1710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5926" name="Line 33"/>
            <p:cNvSpPr/>
            <p:nvPr/>
          </p:nvSpPr>
          <p:spPr>
            <a:xfrm flipH="1">
              <a:off x="4512" y="1677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65912" name="Group 34"/>
          <p:cNvGrpSpPr/>
          <p:nvPr/>
        </p:nvGrpSpPr>
        <p:grpSpPr>
          <a:xfrm>
            <a:off x="7918450" y="3271838"/>
            <a:ext cx="1606550" cy="693737"/>
            <a:chOff x="4028" y="2061"/>
            <a:chExt cx="1012" cy="437"/>
          </a:xfrm>
        </p:grpSpPr>
        <p:sp>
          <p:nvSpPr>
            <p:cNvPr id="165917" name="Rectangle 35"/>
            <p:cNvSpPr/>
            <p:nvPr/>
          </p:nvSpPr>
          <p:spPr>
            <a:xfrm>
              <a:off x="4368" y="2061"/>
              <a:ext cx="576" cy="21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5918" name="Freeform 36"/>
            <p:cNvSpPr/>
            <p:nvPr/>
          </p:nvSpPr>
          <p:spPr>
            <a:xfrm>
              <a:off x="4272" y="2184"/>
              <a:ext cx="96" cy="240"/>
            </a:xfrm>
            <a:custGeom>
              <a:avLst/>
              <a:gdLst>
                <a:gd name="txL" fmla="*/ 0 w 96"/>
                <a:gd name="txT" fmla="*/ 0 h 240"/>
                <a:gd name="txR" fmla="*/ 96 w 96"/>
                <a:gd name="txB" fmla="*/ 240 h 240"/>
              </a:gdLst>
              <a:ahLst/>
              <a:cxnLst>
                <a:cxn ang="0">
                  <a:pos x="96" y="0"/>
                </a:cxn>
                <a:cxn ang="0">
                  <a:pos x="0" y="0"/>
                </a:cxn>
                <a:cxn ang="0">
                  <a:pos x="0" y="240"/>
                </a:cxn>
              </a:cxnLst>
              <a:rect l="txL" t="txT" r="txR" b="txB"/>
              <a:pathLst>
                <a:path w="96" h="240">
                  <a:moveTo>
                    <a:pt x="96" y="0"/>
                  </a:moveTo>
                  <a:lnTo>
                    <a:pt x="0" y="0"/>
                  </a:lnTo>
                  <a:lnTo>
                    <a:pt x="0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5919" name="Freeform 37"/>
            <p:cNvSpPr/>
            <p:nvPr/>
          </p:nvSpPr>
          <p:spPr>
            <a:xfrm>
              <a:off x="4944" y="2184"/>
              <a:ext cx="96" cy="240"/>
            </a:xfrm>
            <a:custGeom>
              <a:avLst/>
              <a:gdLst>
                <a:gd name="txL" fmla="*/ 0 w 96"/>
                <a:gd name="txT" fmla="*/ 0 h 240"/>
                <a:gd name="txR" fmla="*/ 96 w 96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96" y="0"/>
                </a:cxn>
                <a:cxn ang="0">
                  <a:pos x="96" y="240"/>
                </a:cxn>
              </a:cxnLst>
              <a:rect l="txL" t="txT" r="txR" b="txB"/>
              <a:pathLst>
                <a:path w="96" h="240">
                  <a:moveTo>
                    <a:pt x="0" y="0"/>
                  </a:moveTo>
                  <a:lnTo>
                    <a:pt x="96" y="0"/>
                  </a:lnTo>
                  <a:lnTo>
                    <a:pt x="96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5920" name="Text Box 38"/>
            <p:cNvSpPr txBox="1"/>
            <p:nvPr/>
          </p:nvSpPr>
          <p:spPr>
            <a:xfrm>
              <a:off x="4028" y="2169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5921" name="Line 39"/>
            <p:cNvSpPr/>
            <p:nvPr/>
          </p:nvSpPr>
          <p:spPr>
            <a:xfrm rot="-10800000" flipH="1">
              <a:off x="4512" y="216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65913" name="Text Box 40"/>
          <p:cNvSpPr txBox="1"/>
          <p:nvPr/>
        </p:nvSpPr>
        <p:spPr>
          <a:xfrm>
            <a:off x="7912100" y="3886200"/>
            <a:ext cx="15855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10110010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49" name="Rectangle 4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915" name="AutoShape 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591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Text Box 2"/>
          <p:cNvSpPr txBox="1"/>
          <p:nvPr/>
        </p:nvSpPr>
        <p:spPr>
          <a:xfrm>
            <a:off x="1965325" y="196850"/>
            <a:ext cx="33832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二、加减法运算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66915" name="Text Box 3"/>
          <p:cNvSpPr txBox="1"/>
          <p:nvPr/>
        </p:nvSpPr>
        <p:spPr>
          <a:xfrm>
            <a:off x="1965325" y="990600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补码加减运算公式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6916" name="Text Box 4"/>
          <p:cNvSpPr txBox="1"/>
          <p:nvPr/>
        </p:nvSpPr>
        <p:spPr>
          <a:xfrm>
            <a:off x="2651125" y="1611313"/>
            <a:ext cx="31400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加法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36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前提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6917" name="Text Box 5"/>
          <p:cNvSpPr txBox="1"/>
          <p:nvPr/>
        </p:nvSpPr>
        <p:spPr>
          <a:xfrm>
            <a:off x="2651125" y="3563938"/>
            <a:ext cx="2225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减法</a:t>
            </a:r>
            <a:r>
              <a:rPr lang="en-US" altLang="zh-CN" b="1" dirty="0">
                <a:latin typeface="Arial" panose="020B0604020202020204" pitchFamily="34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前提</a:t>
            </a:r>
            <a:r>
              <a:rPr lang="en-US" altLang="zh-CN" b="1" dirty="0">
                <a:latin typeface="Arial" panose="020B0604020202020204" pitchFamily="34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6918" name="Text Box 6"/>
          <p:cNvSpPr txBox="1"/>
          <p:nvPr/>
        </p:nvSpPr>
        <p:spPr>
          <a:xfrm>
            <a:off x="2286000" y="2254250"/>
            <a:ext cx="982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整数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919" name="Text Box 7"/>
          <p:cNvSpPr txBox="1"/>
          <p:nvPr/>
        </p:nvSpPr>
        <p:spPr>
          <a:xfrm>
            <a:off x="3187700" y="2276475"/>
            <a:ext cx="19729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6920" name="Text Box 8"/>
          <p:cNvSpPr txBox="1"/>
          <p:nvPr/>
        </p:nvSpPr>
        <p:spPr>
          <a:xfrm>
            <a:off x="5073650" y="2276475"/>
            <a:ext cx="36436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mod 2</a:t>
            </a:r>
            <a:r>
              <a:rPr lang="en-US" altLang="zh-CN" sz="2800" b="1" i="1" baseline="45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45000" dirty="0">
                <a:latin typeface="Times New Roman" panose="02020603050405020304" pitchFamily="18" charset="0"/>
              </a:rPr>
              <a:t>+1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6921" name="Text Box 9"/>
          <p:cNvSpPr txBox="1"/>
          <p:nvPr/>
        </p:nvSpPr>
        <p:spPr>
          <a:xfrm>
            <a:off x="2286000" y="2874963"/>
            <a:ext cx="982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小数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922" name="Text Box 10"/>
          <p:cNvSpPr txBox="1"/>
          <p:nvPr/>
        </p:nvSpPr>
        <p:spPr>
          <a:xfrm>
            <a:off x="3187700" y="2909888"/>
            <a:ext cx="19729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6923" name="Text Box 11"/>
          <p:cNvSpPr txBox="1"/>
          <p:nvPr/>
        </p:nvSpPr>
        <p:spPr>
          <a:xfrm>
            <a:off x="5073650" y="2909888"/>
            <a:ext cx="32683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mod 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66924" name="Group 12"/>
          <p:cNvGrpSpPr/>
          <p:nvPr/>
        </p:nvGrpSpPr>
        <p:grpSpPr>
          <a:xfrm>
            <a:off x="3716338" y="4052888"/>
            <a:ext cx="2508250" cy="522287"/>
            <a:chOff x="1381" y="2553"/>
            <a:chExt cx="1580" cy="329"/>
          </a:xfrm>
        </p:grpSpPr>
        <p:sp>
          <p:nvSpPr>
            <p:cNvPr id="166939" name="Text Box 13"/>
            <p:cNvSpPr txBox="1"/>
            <p:nvPr/>
          </p:nvSpPr>
          <p:spPr>
            <a:xfrm>
              <a:off x="1381" y="2553"/>
              <a:ext cx="52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66940" name="Text Box 14"/>
            <p:cNvSpPr txBox="1"/>
            <p:nvPr/>
          </p:nvSpPr>
          <p:spPr>
            <a:xfrm>
              <a:off x="1919" y="2553"/>
              <a:ext cx="104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+(–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6925" name="Text Box 15"/>
          <p:cNvSpPr txBox="1"/>
          <p:nvPr/>
        </p:nvSpPr>
        <p:spPr>
          <a:xfrm>
            <a:off x="2286000" y="4737100"/>
            <a:ext cx="982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整数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926" name="Text Box 16"/>
          <p:cNvSpPr txBox="1"/>
          <p:nvPr/>
        </p:nvSpPr>
        <p:spPr>
          <a:xfrm>
            <a:off x="3187700" y="4714875"/>
            <a:ext cx="14808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6927" name="Text Box 17"/>
          <p:cNvSpPr txBox="1"/>
          <p:nvPr/>
        </p:nvSpPr>
        <p:spPr>
          <a:xfrm>
            <a:off x="4546600" y="4714875"/>
            <a:ext cx="21221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+(–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)]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6928" name="Text Box 18"/>
          <p:cNvSpPr txBox="1"/>
          <p:nvPr/>
        </p:nvSpPr>
        <p:spPr>
          <a:xfrm>
            <a:off x="6497638" y="4714875"/>
            <a:ext cx="35607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[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6929" name="Text Box 19"/>
          <p:cNvSpPr txBox="1"/>
          <p:nvPr/>
        </p:nvSpPr>
        <p:spPr>
          <a:xfrm>
            <a:off x="8980488" y="4776788"/>
            <a:ext cx="151320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(mod 2</a:t>
            </a:r>
            <a:r>
              <a:rPr lang="en-US" altLang="zh-CN" sz="2400" b="1" i="1" baseline="4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+1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6930" name="Text Box 20"/>
          <p:cNvSpPr txBox="1"/>
          <p:nvPr/>
        </p:nvSpPr>
        <p:spPr>
          <a:xfrm>
            <a:off x="2286000" y="5357813"/>
            <a:ext cx="982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小数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931" name="Text Box 21"/>
          <p:cNvSpPr txBox="1"/>
          <p:nvPr/>
        </p:nvSpPr>
        <p:spPr>
          <a:xfrm>
            <a:off x="3187700" y="5335588"/>
            <a:ext cx="14808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6932" name="Text Box 22"/>
          <p:cNvSpPr txBox="1"/>
          <p:nvPr/>
        </p:nvSpPr>
        <p:spPr>
          <a:xfrm>
            <a:off x="4546600" y="5335588"/>
            <a:ext cx="21221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+(–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)]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6933" name="Text Box 23"/>
          <p:cNvSpPr txBox="1"/>
          <p:nvPr/>
        </p:nvSpPr>
        <p:spPr>
          <a:xfrm>
            <a:off x="8980488" y="5397500"/>
            <a:ext cx="11906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(mod 2)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6934" name="Text Box 24"/>
          <p:cNvSpPr txBox="1"/>
          <p:nvPr/>
        </p:nvSpPr>
        <p:spPr>
          <a:xfrm>
            <a:off x="2286000" y="5957888"/>
            <a:ext cx="8006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连同符号位一起相加，符号位产生的进位自然丢掉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935" name="Text Box 25"/>
          <p:cNvSpPr txBox="1"/>
          <p:nvPr/>
        </p:nvSpPr>
        <p:spPr>
          <a:xfrm>
            <a:off x="6497638" y="5348288"/>
            <a:ext cx="34845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[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95258" name="Rectangle 2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6937" name="AutoShape 2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693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8" name="Text Box 2"/>
          <p:cNvSpPr txBox="1"/>
          <p:nvPr/>
        </p:nvSpPr>
        <p:spPr>
          <a:xfrm>
            <a:off x="1889125" y="152400"/>
            <a:ext cx="1554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举例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67939" name="Text Box 3"/>
          <p:cNvSpPr txBox="1"/>
          <p:nvPr/>
        </p:nvSpPr>
        <p:spPr>
          <a:xfrm>
            <a:off x="2987675" y="1774825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7940" name="Text Box 4"/>
          <p:cNvSpPr txBox="1"/>
          <p:nvPr/>
        </p:nvSpPr>
        <p:spPr>
          <a:xfrm>
            <a:off x="4046538" y="1774825"/>
            <a:ext cx="8877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7941" name="Text Box 5"/>
          <p:cNvSpPr txBox="1"/>
          <p:nvPr/>
        </p:nvSpPr>
        <p:spPr>
          <a:xfrm>
            <a:off x="4067175" y="2279650"/>
            <a:ext cx="8877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7942" name="Text Box 6"/>
          <p:cNvSpPr txBox="1"/>
          <p:nvPr/>
        </p:nvSpPr>
        <p:spPr>
          <a:xfrm>
            <a:off x="2932113" y="2743200"/>
            <a:ext cx="19729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7943" name="Line 7"/>
          <p:cNvSpPr/>
          <p:nvPr/>
        </p:nvSpPr>
        <p:spPr>
          <a:xfrm>
            <a:off x="2971800" y="2782888"/>
            <a:ext cx="464978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7944" name="Text Box 8"/>
          <p:cNvSpPr txBox="1"/>
          <p:nvPr/>
        </p:nvSpPr>
        <p:spPr>
          <a:xfrm>
            <a:off x="3803650" y="2286000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45" name="Text Box 9"/>
          <p:cNvSpPr txBox="1"/>
          <p:nvPr/>
        </p:nvSpPr>
        <p:spPr>
          <a:xfrm>
            <a:off x="5029200" y="1774825"/>
            <a:ext cx="266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   0 . 1 0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46" name="Text Box 10"/>
          <p:cNvSpPr txBox="1"/>
          <p:nvPr/>
        </p:nvSpPr>
        <p:spPr>
          <a:xfrm>
            <a:off x="5029200" y="2279650"/>
            <a:ext cx="266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   1 . 1 0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47" name="Text Box 11"/>
          <p:cNvSpPr txBox="1"/>
          <p:nvPr/>
        </p:nvSpPr>
        <p:spPr>
          <a:xfrm>
            <a:off x="5029200" y="2743200"/>
            <a:ext cx="2590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1 0 . 0 1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48" name="Text Box 12"/>
          <p:cNvSpPr txBox="1"/>
          <p:nvPr/>
        </p:nvSpPr>
        <p:spPr>
          <a:xfrm>
            <a:off x="7083425" y="2743200"/>
            <a:ext cx="17970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7949" name="Text Box 13"/>
          <p:cNvSpPr txBox="1"/>
          <p:nvPr/>
        </p:nvSpPr>
        <p:spPr>
          <a:xfrm>
            <a:off x="8153400" y="13716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验证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67950" name="Group 14"/>
          <p:cNvGrpSpPr/>
          <p:nvPr/>
        </p:nvGrpSpPr>
        <p:grpSpPr>
          <a:xfrm>
            <a:off x="2193925" y="762000"/>
            <a:ext cx="5888038" cy="1028700"/>
            <a:chOff x="422" y="480"/>
            <a:chExt cx="3709" cy="648"/>
          </a:xfrm>
        </p:grpSpPr>
        <p:grpSp>
          <p:nvGrpSpPr>
            <p:cNvPr id="167983" name="Group 15"/>
            <p:cNvGrpSpPr/>
            <p:nvPr/>
          </p:nvGrpSpPr>
          <p:grpSpPr>
            <a:xfrm>
              <a:off x="422" y="480"/>
              <a:ext cx="3709" cy="331"/>
              <a:chOff x="422" y="576"/>
              <a:chExt cx="3709" cy="331"/>
            </a:xfrm>
          </p:grpSpPr>
          <p:sp>
            <p:nvSpPr>
              <p:cNvPr id="167985" name="Text Box 16"/>
              <p:cNvSpPr txBox="1"/>
              <p:nvPr/>
            </p:nvSpPr>
            <p:spPr>
              <a:xfrm>
                <a:off x="422" y="576"/>
                <a:ext cx="78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Times New Roman" panose="02020603050405020304" pitchFamily="18" charset="0"/>
                  </a:rPr>
                  <a:t>例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6.18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986" name="Text Box 17"/>
              <p:cNvSpPr txBox="1"/>
              <p:nvPr/>
            </p:nvSpPr>
            <p:spPr>
              <a:xfrm>
                <a:off x="1382" y="576"/>
                <a:ext cx="2749" cy="3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Times New Roman" panose="02020603050405020304" pitchFamily="18" charset="0"/>
                  </a:rPr>
                  <a:t>设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0.1011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–</a:t>
                </a:r>
                <a:r>
                  <a:rPr lang="en-US" altLang="zh-CN" sz="1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0.0101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7984" name="Text Box 18"/>
            <p:cNvSpPr txBox="1"/>
            <p:nvPr/>
          </p:nvSpPr>
          <p:spPr>
            <a:xfrm>
              <a:off x="1392" y="799"/>
              <a:ext cx="122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求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+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7951" name="Text Box 19"/>
          <p:cNvSpPr txBox="1"/>
          <p:nvPr/>
        </p:nvSpPr>
        <p:spPr>
          <a:xfrm>
            <a:off x="9204325" y="2057400"/>
            <a:ext cx="10039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0.1011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7952" name="Text Box 20"/>
          <p:cNvSpPr txBox="1"/>
          <p:nvPr/>
        </p:nvSpPr>
        <p:spPr>
          <a:xfrm>
            <a:off x="8975725" y="2362200"/>
            <a:ext cx="1249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– 0.0101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7953" name="Line 21"/>
          <p:cNvSpPr/>
          <p:nvPr/>
        </p:nvSpPr>
        <p:spPr>
          <a:xfrm>
            <a:off x="8763000" y="2743200"/>
            <a:ext cx="1676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7954" name="Text Box 22"/>
          <p:cNvSpPr txBox="1"/>
          <p:nvPr/>
        </p:nvSpPr>
        <p:spPr>
          <a:xfrm>
            <a:off x="9204325" y="2667000"/>
            <a:ext cx="10039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0.0110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7955" name="AutoShape 23"/>
          <p:cNvSpPr/>
          <p:nvPr/>
        </p:nvSpPr>
        <p:spPr>
          <a:xfrm>
            <a:off x="5367338" y="2819400"/>
            <a:ext cx="304800" cy="457200"/>
          </a:xfrm>
          <a:prstGeom prst="wedgeRoundRectCallout">
            <a:avLst>
              <a:gd name="adj1" fmla="val -162500"/>
              <a:gd name="adj2" fmla="val 79167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56" name="Text Box 24"/>
          <p:cNvSpPr txBox="1"/>
          <p:nvPr/>
        </p:nvSpPr>
        <p:spPr>
          <a:xfrm>
            <a:off x="3603625" y="3290888"/>
            <a:ext cx="45402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   0 . 0 1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57" name="Text Box 25"/>
          <p:cNvSpPr txBox="1"/>
          <p:nvPr/>
        </p:nvSpPr>
        <p:spPr>
          <a:xfrm>
            <a:off x="4046538" y="4808538"/>
            <a:ext cx="8877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7958" name="Text Box 26"/>
          <p:cNvSpPr txBox="1"/>
          <p:nvPr/>
        </p:nvSpPr>
        <p:spPr>
          <a:xfrm>
            <a:off x="4046538" y="5313363"/>
            <a:ext cx="8877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7959" name="Text Box 27"/>
          <p:cNvSpPr txBox="1"/>
          <p:nvPr/>
        </p:nvSpPr>
        <p:spPr>
          <a:xfrm>
            <a:off x="2932113" y="5819775"/>
            <a:ext cx="19729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7960" name="Line 28"/>
          <p:cNvSpPr/>
          <p:nvPr/>
        </p:nvSpPr>
        <p:spPr>
          <a:xfrm>
            <a:off x="2971800" y="5867400"/>
            <a:ext cx="4648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7961" name="Text Box 29"/>
          <p:cNvSpPr txBox="1"/>
          <p:nvPr/>
        </p:nvSpPr>
        <p:spPr>
          <a:xfrm>
            <a:off x="3803650" y="5334000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62" name="Text Box 30"/>
          <p:cNvSpPr txBox="1"/>
          <p:nvPr/>
        </p:nvSpPr>
        <p:spPr>
          <a:xfrm>
            <a:off x="5029200" y="4808538"/>
            <a:ext cx="3352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   1 ,  0 1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63" name="Text Box 31"/>
          <p:cNvSpPr txBox="1"/>
          <p:nvPr/>
        </p:nvSpPr>
        <p:spPr>
          <a:xfrm>
            <a:off x="5029200" y="5313363"/>
            <a:ext cx="3200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   1 ,  1 0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64" name="Text Box 32"/>
          <p:cNvSpPr txBox="1"/>
          <p:nvPr/>
        </p:nvSpPr>
        <p:spPr>
          <a:xfrm>
            <a:off x="5029200" y="5819775"/>
            <a:ext cx="22523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1 1 ,  0 0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65" name="Text Box 33"/>
          <p:cNvSpPr txBox="1"/>
          <p:nvPr/>
        </p:nvSpPr>
        <p:spPr>
          <a:xfrm>
            <a:off x="7159625" y="5819775"/>
            <a:ext cx="17970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7966" name="Text Box 34"/>
          <p:cNvSpPr txBox="1"/>
          <p:nvPr/>
        </p:nvSpPr>
        <p:spPr>
          <a:xfrm>
            <a:off x="8153400" y="43434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验证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7967" name="Text Box 35"/>
          <p:cNvSpPr txBox="1"/>
          <p:nvPr/>
        </p:nvSpPr>
        <p:spPr>
          <a:xfrm>
            <a:off x="9051925" y="5094288"/>
            <a:ext cx="1021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– 1001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7968" name="Line 36"/>
          <p:cNvSpPr/>
          <p:nvPr/>
        </p:nvSpPr>
        <p:spPr>
          <a:xfrm>
            <a:off x="8610600" y="5867400"/>
            <a:ext cx="1676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7969" name="Text Box 37"/>
          <p:cNvSpPr txBox="1"/>
          <p:nvPr/>
        </p:nvSpPr>
        <p:spPr>
          <a:xfrm>
            <a:off x="9051925" y="5791200"/>
            <a:ext cx="98679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– 1110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67970" name="Group 38"/>
          <p:cNvGrpSpPr/>
          <p:nvPr/>
        </p:nvGrpSpPr>
        <p:grpSpPr>
          <a:xfrm>
            <a:off x="8786813" y="5410200"/>
            <a:ext cx="1285875" cy="460375"/>
            <a:chOff x="4575" y="3408"/>
            <a:chExt cx="810" cy="290"/>
          </a:xfrm>
        </p:grpSpPr>
        <p:sp>
          <p:nvSpPr>
            <p:cNvPr id="167981" name="Text Box 39"/>
            <p:cNvSpPr txBox="1"/>
            <p:nvPr/>
          </p:nvSpPr>
          <p:spPr>
            <a:xfrm>
              <a:off x="4742" y="3408"/>
              <a:ext cx="6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– 0101</a:t>
              </a:r>
              <a:endParaRPr lang="en-US" altLang="zh-CN" sz="24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7982" name="Text Box 40"/>
            <p:cNvSpPr txBox="1"/>
            <p:nvPr/>
          </p:nvSpPr>
          <p:spPr>
            <a:xfrm>
              <a:off x="4575" y="3408"/>
              <a:ext cx="22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+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7971" name="Group 41"/>
          <p:cNvGrpSpPr/>
          <p:nvPr/>
        </p:nvGrpSpPr>
        <p:grpSpPr>
          <a:xfrm>
            <a:off x="2193925" y="3797300"/>
            <a:ext cx="4914900" cy="1027113"/>
            <a:chOff x="422" y="2392"/>
            <a:chExt cx="3096" cy="647"/>
          </a:xfrm>
        </p:grpSpPr>
        <p:sp>
          <p:nvSpPr>
            <p:cNvPr id="167978" name="Text Box 42"/>
            <p:cNvSpPr txBox="1"/>
            <p:nvPr/>
          </p:nvSpPr>
          <p:spPr>
            <a:xfrm>
              <a:off x="422" y="2392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例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6.19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7979" name="Text Box 43"/>
            <p:cNvSpPr txBox="1"/>
            <p:nvPr/>
          </p:nvSpPr>
          <p:spPr>
            <a:xfrm>
              <a:off x="1392" y="2392"/>
              <a:ext cx="212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–9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–5     </a:t>
              </a:r>
              <a:endPara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7980" name="Text Box 44"/>
            <p:cNvSpPr txBox="1"/>
            <p:nvPr/>
          </p:nvSpPr>
          <p:spPr>
            <a:xfrm>
              <a:off x="1392" y="2710"/>
              <a:ext cx="11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求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endParaRPr lang="zh-CN" altLang="en-US" sz="28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7972" name="Text Box 45"/>
          <p:cNvSpPr txBox="1"/>
          <p:nvPr/>
        </p:nvSpPr>
        <p:spPr>
          <a:xfrm>
            <a:off x="2987675" y="480853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7973" name="Text Box 46"/>
          <p:cNvSpPr txBox="1"/>
          <p:nvPr/>
        </p:nvSpPr>
        <p:spPr>
          <a:xfrm>
            <a:off x="3595688" y="6324600"/>
            <a:ext cx="28270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– 1110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7974" name="AutoShape 47"/>
          <p:cNvSpPr/>
          <p:nvPr/>
        </p:nvSpPr>
        <p:spPr>
          <a:xfrm>
            <a:off x="5367338" y="5867400"/>
            <a:ext cx="304800" cy="457200"/>
          </a:xfrm>
          <a:prstGeom prst="wedgeRoundRectCallout">
            <a:avLst>
              <a:gd name="adj1" fmla="val -162500"/>
              <a:gd name="adj2" fmla="val 79167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6304" name="Rectangle 4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7976" name="AutoShape 4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797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2" name="Text Box 2"/>
          <p:cNvSpPr txBox="1"/>
          <p:nvPr/>
        </p:nvSpPr>
        <p:spPr>
          <a:xfrm>
            <a:off x="1752600" y="273050"/>
            <a:ext cx="1554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 </a:t>
            </a:r>
            <a:r>
              <a:rPr lang="en-US" altLang="zh-CN" sz="3600" b="1" dirty="0">
                <a:latin typeface="Times New Roman" panose="02020603050405020304" pitchFamily="18" charset="0"/>
              </a:rPr>
              <a:t>6.20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68963" name="Text Box 3"/>
          <p:cNvSpPr txBox="1"/>
          <p:nvPr/>
        </p:nvSpPr>
        <p:spPr>
          <a:xfrm>
            <a:off x="3429000" y="304800"/>
            <a:ext cx="6228080" cy="95313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设机器数字长为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8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位（含 </a:t>
            </a:r>
            <a:r>
              <a:rPr lang="en-US" altLang="zh-CN" sz="2800" b="1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位符号位）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且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= 15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= 24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，用补码求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168964" name="Text Box 4"/>
          <p:cNvSpPr txBox="1"/>
          <p:nvPr/>
        </p:nvSpPr>
        <p:spPr>
          <a:xfrm>
            <a:off x="2759075" y="1241425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68965" name="Group 5"/>
          <p:cNvGrpSpPr/>
          <p:nvPr/>
        </p:nvGrpSpPr>
        <p:grpSpPr>
          <a:xfrm>
            <a:off x="3794125" y="1241425"/>
            <a:ext cx="2908300" cy="522288"/>
            <a:chOff x="1430" y="782"/>
            <a:chExt cx="1832" cy="329"/>
          </a:xfrm>
        </p:grpSpPr>
        <p:sp>
          <p:nvSpPr>
            <p:cNvPr id="169008" name="Text Box 6"/>
            <p:cNvSpPr txBox="1"/>
            <p:nvPr/>
          </p:nvSpPr>
          <p:spPr>
            <a:xfrm>
              <a:off x="1430" y="782"/>
              <a:ext cx="89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15  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9009" name="Text Box 7"/>
            <p:cNvSpPr txBox="1"/>
            <p:nvPr/>
          </p:nvSpPr>
          <p:spPr>
            <a:xfrm>
              <a:off x="2160" y="782"/>
              <a:ext cx="11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 0001111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8966" name="Group 8"/>
          <p:cNvGrpSpPr/>
          <p:nvPr/>
        </p:nvGrpSpPr>
        <p:grpSpPr>
          <a:xfrm>
            <a:off x="3810000" y="1751013"/>
            <a:ext cx="2946400" cy="522287"/>
            <a:chOff x="1440" y="1103"/>
            <a:chExt cx="1856" cy="329"/>
          </a:xfrm>
        </p:grpSpPr>
        <p:sp>
          <p:nvSpPr>
            <p:cNvPr id="169006" name="Text Box 9"/>
            <p:cNvSpPr txBox="1"/>
            <p:nvPr/>
          </p:nvSpPr>
          <p:spPr>
            <a:xfrm>
              <a:off x="1440" y="1103"/>
              <a:ext cx="72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24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9007" name="Text Box 10"/>
            <p:cNvSpPr txBox="1"/>
            <p:nvPr/>
          </p:nvSpPr>
          <p:spPr>
            <a:xfrm>
              <a:off x="2170" y="1103"/>
              <a:ext cx="112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 0011000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8967" name="Text Box 11"/>
          <p:cNvSpPr txBox="1"/>
          <p:nvPr/>
        </p:nvSpPr>
        <p:spPr>
          <a:xfrm>
            <a:off x="2667000" y="3276600"/>
            <a:ext cx="22396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[–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8968" name="Text Box 12"/>
          <p:cNvSpPr txBox="1"/>
          <p:nvPr/>
        </p:nvSpPr>
        <p:spPr>
          <a:xfrm>
            <a:off x="3489325" y="2833688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68969" name="Group 13"/>
          <p:cNvGrpSpPr/>
          <p:nvPr/>
        </p:nvGrpSpPr>
        <p:grpSpPr>
          <a:xfrm>
            <a:off x="4046538" y="2259013"/>
            <a:ext cx="3027362" cy="522287"/>
            <a:chOff x="1589" y="1423"/>
            <a:chExt cx="1907" cy="329"/>
          </a:xfrm>
        </p:grpSpPr>
        <p:sp>
          <p:nvSpPr>
            <p:cNvPr id="169004" name="Text Box 14"/>
            <p:cNvSpPr txBox="1"/>
            <p:nvPr/>
          </p:nvSpPr>
          <p:spPr>
            <a:xfrm>
              <a:off x="1589" y="1423"/>
              <a:ext cx="55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endParaRPr lang="zh-CN" altLang="en-US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9005" name="Text Box 15"/>
            <p:cNvSpPr txBox="1"/>
            <p:nvPr/>
          </p:nvSpPr>
          <p:spPr>
            <a:xfrm>
              <a:off x="2170" y="1423"/>
              <a:ext cx="132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 0, 0001111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8970" name="Group 16"/>
          <p:cNvGrpSpPr/>
          <p:nvPr/>
        </p:nvGrpSpPr>
        <p:grpSpPr>
          <a:xfrm>
            <a:off x="3784600" y="2768600"/>
            <a:ext cx="3327400" cy="522288"/>
            <a:chOff x="1424" y="1744"/>
            <a:chExt cx="2096" cy="329"/>
          </a:xfrm>
        </p:grpSpPr>
        <p:sp>
          <p:nvSpPr>
            <p:cNvPr id="169002" name="Text Box 17"/>
            <p:cNvSpPr txBox="1"/>
            <p:nvPr/>
          </p:nvSpPr>
          <p:spPr>
            <a:xfrm>
              <a:off x="1424" y="1744"/>
              <a:ext cx="7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[–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endParaRPr lang="zh-CN" altLang="en-US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9003" name="Text Box 18"/>
            <p:cNvSpPr txBox="1"/>
            <p:nvPr/>
          </p:nvSpPr>
          <p:spPr>
            <a:xfrm>
              <a:off x="2170" y="1744"/>
              <a:ext cx="135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 1, 1101000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8971" name="Text Box 19"/>
          <p:cNvSpPr txBox="1"/>
          <p:nvPr/>
        </p:nvSpPr>
        <p:spPr>
          <a:xfrm>
            <a:off x="4967288" y="3276600"/>
            <a:ext cx="2438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 1, 1110111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8972" name="Text Box 20"/>
          <p:cNvSpPr txBox="1"/>
          <p:nvPr/>
        </p:nvSpPr>
        <p:spPr>
          <a:xfrm>
            <a:off x="7162800" y="3276600"/>
            <a:ext cx="17722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8973" name="Text Box 21"/>
          <p:cNvSpPr txBox="1"/>
          <p:nvPr/>
        </p:nvSpPr>
        <p:spPr>
          <a:xfrm>
            <a:off x="7680325" y="2259013"/>
            <a:ext cx="28486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0, 0011000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68974" name="Group 22"/>
          <p:cNvGrpSpPr/>
          <p:nvPr/>
        </p:nvGrpSpPr>
        <p:grpSpPr>
          <a:xfrm>
            <a:off x="1752600" y="4217988"/>
            <a:ext cx="6784975" cy="736599"/>
            <a:chOff x="470" y="2657"/>
            <a:chExt cx="4274" cy="464"/>
          </a:xfrm>
        </p:grpSpPr>
        <p:grpSp>
          <p:nvGrpSpPr>
            <p:cNvPr id="168991" name="Group 23"/>
            <p:cNvGrpSpPr/>
            <p:nvPr/>
          </p:nvGrpSpPr>
          <p:grpSpPr>
            <a:xfrm>
              <a:off x="470" y="2706"/>
              <a:ext cx="4274" cy="331"/>
              <a:chOff x="470" y="2706"/>
              <a:chExt cx="4274" cy="331"/>
            </a:xfrm>
          </p:grpSpPr>
          <p:sp>
            <p:nvSpPr>
              <p:cNvPr id="169000" name="Text Box 24"/>
              <p:cNvSpPr txBox="1"/>
              <p:nvPr/>
            </p:nvSpPr>
            <p:spPr>
              <a:xfrm>
                <a:off x="470" y="2706"/>
                <a:ext cx="73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Times New Roman" panose="02020603050405020304" pitchFamily="18" charset="0"/>
                  </a:rPr>
                  <a:t>练习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9001" name="Text Box 25"/>
              <p:cNvSpPr txBox="1"/>
              <p:nvPr/>
            </p:nvSpPr>
            <p:spPr>
              <a:xfrm>
                <a:off x="1303" y="2706"/>
                <a:ext cx="3441" cy="3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Times New Roman" panose="02020603050405020304" pitchFamily="18" charset="0"/>
                  </a:rPr>
                  <a:t>设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   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       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，用补码求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+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8992" name="Group 26"/>
            <p:cNvGrpSpPr/>
            <p:nvPr/>
          </p:nvGrpSpPr>
          <p:grpSpPr>
            <a:xfrm>
              <a:off x="2016" y="2657"/>
              <a:ext cx="299" cy="458"/>
              <a:chOff x="1680" y="2937"/>
              <a:chExt cx="299" cy="458"/>
            </a:xfrm>
          </p:grpSpPr>
          <p:sp>
            <p:nvSpPr>
              <p:cNvPr id="168997" name="Text Box 27"/>
              <p:cNvSpPr txBox="1"/>
              <p:nvPr/>
            </p:nvSpPr>
            <p:spPr>
              <a:xfrm>
                <a:off x="1772" y="2937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98" name="Text Box 28"/>
              <p:cNvSpPr txBox="1"/>
              <p:nvPr/>
            </p:nvSpPr>
            <p:spPr>
              <a:xfrm>
                <a:off x="1692" y="314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99" name="Line 29"/>
              <p:cNvSpPr/>
              <p:nvPr/>
            </p:nvSpPr>
            <p:spPr>
              <a:xfrm>
                <a:off x="1680" y="3168"/>
                <a:ext cx="29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68993" name="Group 30"/>
            <p:cNvGrpSpPr/>
            <p:nvPr/>
          </p:nvGrpSpPr>
          <p:grpSpPr>
            <a:xfrm>
              <a:off x="2821" y="2663"/>
              <a:ext cx="299" cy="458"/>
              <a:chOff x="2485" y="2943"/>
              <a:chExt cx="299" cy="458"/>
            </a:xfrm>
          </p:grpSpPr>
          <p:sp>
            <p:nvSpPr>
              <p:cNvPr id="168994" name="Text Box 31"/>
              <p:cNvSpPr txBox="1"/>
              <p:nvPr/>
            </p:nvSpPr>
            <p:spPr>
              <a:xfrm>
                <a:off x="2508" y="2943"/>
                <a:ext cx="26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95" name="Text Box 32"/>
              <p:cNvSpPr txBox="1"/>
              <p:nvPr/>
            </p:nvSpPr>
            <p:spPr>
              <a:xfrm>
                <a:off x="2508" y="315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96" name="Line 33"/>
              <p:cNvSpPr/>
              <p:nvPr/>
            </p:nvSpPr>
            <p:spPr>
              <a:xfrm>
                <a:off x="2485" y="3168"/>
                <a:ext cx="29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8975" name="Group 34"/>
          <p:cNvGrpSpPr/>
          <p:nvPr/>
        </p:nvGrpSpPr>
        <p:grpSpPr>
          <a:xfrm>
            <a:off x="3870325" y="4724400"/>
            <a:ext cx="3521075" cy="727076"/>
            <a:chOff x="1478" y="2976"/>
            <a:chExt cx="2218" cy="458"/>
          </a:xfrm>
        </p:grpSpPr>
        <p:sp>
          <p:nvSpPr>
            <p:cNvPr id="168985" name="Text Box 35"/>
            <p:cNvSpPr txBox="1"/>
            <p:nvPr/>
          </p:nvSpPr>
          <p:spPr>
            <a:xfrm>
              <a:off x="1478" y="3026"/>
              <a:ext cx="17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+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= – 0.1100 =</a:t>
              </a:r>
              <a:endPara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168986" name="Group 36"/>
            <p:cNvGrpSpPr/>
            <p:nvPr/>
          </p:nvGrpSpPr>
          <p:grpSpPr>
            <a:xfrm>
              <a:off x="3397" y="2976"/>
              <a:ext cx="299" cy="458"/>
              <a:chOff x="3397" y="2976"/>
              <a:chExt cx="299" cy="458"/>
            </a:xfrm>
          </p:grpSpPr>
          <p:sp>
            <p:nvSpPr>
              <p:cNvPr id="168988" name="Text Box 37"/>
              <p:cNvSpPr txBox="1"/>
              <p:nvPr/>
            </p:nvSpPr>
            <p:spPr>
              <a:xfrm>
                <a:off x="3420" y="2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12</a:t>
                </a:r>
                <a:endParaRPr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89" name="Text Box 38"/>
              <p:cNvSpPr txBox="1"/>
              <p:nvPr/>
            </p:nvSpPr>
            <p:spPr>
              <a:xfrm>
                <a:off x="3420" y="3183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90" name="Line 39"/>
              <p:cNvSpPr/>
              <p:nvPr/>
            </p:nvSpPr>
            <p:spPr>
              <a:xfrm>
                <a:off x="3397" y="3201"/>
                <a:ext cx="299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68987" name="Text Box 40"/>
            <p:cNvSpPr txBox="1"/>
            <p:nvPr/>
          </p:nvSpPr>
          <p:spPr>
            <a:xfrm>
              <a:off x="3195" y="3001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–</a:t>
              </a:r>
              <a:endPara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168976" name="Text Box 41"/>
          <p:cNvSpPr txBox="1"/>
          <p:nvPr/>
        </p:nvSpPr>
        <p:spPr>
          <a:xfrm>
            <a:off x="1752600" y="5313363"/>
            <a:ext cx="7472680" cy="95313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练习 </a:t>
            </a:r>
            <a:r>
              <a:rPr lang="en-US" altLang="zh-CN" sz="2800" b="1" dirty="0">
                <a:latin typeface="Times New Roman" panose="02020603050405020304" pitchFamily="18" charset="0"/>
              </a:rPr>
              <a:t>2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设机器数字长为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8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位（含 </a:t>
            </a:r>
            <a:r>
              <a:rPr lang="en-US" altLang="zh-CN" sz="2800" b="1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位符号位）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              且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97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= +41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，用补码求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168977" name="Text Box 42"/>
          <p:cNvSpPr txBox="1"/>
          <p:nvPr/>
        </p:nvSpPr>
        <p:spPr>
          <a:xfrm>
            <a:off x="3870325" y="6248400"/>
            <a:ext cx="4056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–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+ 1110110 = + 118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8978" name="Text Box 43"/>
          <p:cNvSpPr txBox="1"/>
          <p:nvPr/>
        </p:nvSpPr>
        <p:spPr>
          <a:xfrm>
            <a:off x="3581400" y="3786188"/>
            <a:ext cx="441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1001 = –9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8979" name="Line 44"/>
          <p:cNvSpPr/>
          <p:nvPr/>
        </p:nvSpPr>
        <p:spPr>
          <a:xfrm>
            <a:off x="2590800" y="3276600"/>
            <a:ext cx="6705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8980" name="Text Box 45"/>
          <p:cNvSpPr txBox="1"/>
          <p:nvPr/>
        </p:nvSpPr>
        <p:spPr>
          <a:xfrm>
            <a:off x="8129588" y="4768850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错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1" name="Text Box 46"/>
          <p:cNvSpPr txBox="1"/>
          <p:nvPr/>
        </p:nvSpPr>
        <p:spPr>
          <a:xfrm>
            <a:off x="8145463" y="6248400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错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327" name="Rectangle 47"/>
          <p:cNvSpPr>
            <a:spLocks noChangeArrowheads="1"/>
          </p:cNvSpPr>
          <p:nvPr/>
        </p:nvSpPr>
        <p:spPr bwMode="auto">
          <a:xfrm>
            <a:off x="94488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83" name="AutoShape 4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8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Text Box 2"/>
          <p:cNvSpPr txBox="1"/>
          <p:nvPr/>
        </p:nvSpPr>
        <p:spPr>
          <a:xfrm>
            <a:off x="2041525" y="273050"/>
            <a:ext cx="2468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溢出判断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69987" name="Text Box 3"/>
          <p:cNvSpPr txBox="1"/>
          <p:nvPr/>
        </p:nvSpPr>
        <p:spPr>
          <a:xfrm>
            <a:off x="1981200" y="1096963"/>
            <a:ext cx="5257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一位符号位判溢出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69988" name="Text Box 4"/>
          <p:cNvSpPr txBox="1"/>
          <p:nvPr/>
        </p:nvSpPr>
        <p:spPr>
          <a:xfrm>
            <a:off x="2590800" y="1698625"/>
            <a:ext cx="8094980" cy="18357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3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参加操作的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两个数</a:t>
            </a:r>
            <a:r>
              <a:rPr lang="zh-CN" altLang="en-US" sz="2800" b="1" dirty="0">
                <a:latin typeface="Times New Roman" panose="02020603050405020304" pitchFamily="18" charset="0"/>
              </a:rPr>
              <a:t>（减法时即为被减数和“求补”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以后的减数）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符号相同，其结果的符号与原操作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数的符号不同，即为溢出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26" name="Rectangle 2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9990" name="AutoShape 2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999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0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见书</a:t>
            </a:r>
            <a:endParaRPr lang="zh-CN" altLang="en-US" dirty="0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2133600" y="3200400"/>
          <a:ext cx="7745413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743825" imgH="2876550" progId="Paint.Picture">
                  <p:embed/>
                </p:oleObj>
              </mc:Choice>
              <mc:Fallback>
                <p:oleObj name="" r:id="rId1" imgW="7743825" imgH="2876550" progId="Paint.Picture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00" y="3200400"/>
                        <a:ext cx="7745413" cy="287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Text Box 2"/>
          <p:cNvSpPr txBox="1"/>
          <p:nvPr/>
        </p:nvSpPr>
        <p:spPr>
          <a:xfrm>
            <a:off x="1905000" y="304800"/>
            <a:ext cx="5257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两位符号位判溢出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71011" name="Group 3"/>
          <p:cNvGrpSpPr/>
          <p:nvPr/>
        </p:nvGrpSpPr>
        <p:grpSpPr>
          <a:xfrm>
            <a:off x="2667000" y="1209675"/>
            <a:ext cx="6645275" cy="1055688"/>
            <a:chOff x="720" y="762"/>
            <a:chExt cx="4186" cy="665"/>
          </a:xfrm>
        </p:grpSpPr>
        <p:sp>
          <p:nvSpPr>
            <p:cNvPr id="171030" name="Text Box 4"/>
            <p:cNvSpPr txBox="1"/>
            <p:nvPr/>
          </p:nvSpPr>
          <p:spPr>
            <a:xfrm>
              <a:off x="720" y="906"/>
              <a:ext cx="65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'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1031" name="Text Box 5"/>
            <p:cNvSpPr txBox="1"/>
            <p:nvPr/>
          </p:nvSpPr>
          <p:spPr>
            <a:xfrm>
              <a:off x="1248" y="912"/>
              <a:ext cx="24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1032" name="Text Box 6"/>
            <p:cNvSpPr txBox="1"/>
            <p:nvPr/>
          </p:nvSpPr>
          <p:spPr>
            <a:xfrm>
              <a:off x="1536" y="762"/>
              <a:ext cx="279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  1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≥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1033" name="Text Box 7"/>
            <p:cNvSpPr txBox="1"/>
            <p:nvPr/>
          </p:nvSpPr>
          <p:spPr>
            <a:xfrm>
              <a:off x="1536" y="1098"/>
              <a:ext cx="337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4 +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0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＞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≥ –1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mod 4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1034" name="AutoShape 8"/>
            <p:cNvSpPr/>
            <p:nvPr/>
          </p:nvSpPr>
          <p:spPr>
            <a:xfrm>
              <a:off x="1492" y="912"/>
              <a:ext cx="96" cy="384"/>
            </a:xfrm>
            <a:prstGeom prst="leftBrace">
              <a:avLst>
                <a:gd name="adj1" fmla="val 33018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71012" name="Text Box 9"/>
          <p:cNvSpPr txBox="1"/>
          <p:nvPr/>
        </p:nvSpPr>
        <p:spPr>
          <a:xfrm>
            <a:off x="2667000" y="2514600"/>
            <a:ext cx="55060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sz="2800" b="1" dirty="0">
                <a:latin typeface="Times New Roman" panose="02020603050405020304" pitchFamily="18" charset="0"/>
              </a:rPr>
              <a:t> +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sz="2800" b="1" dirty="0">
                <a:latin typeface="Times New Roman" panose="02020603050405020304" pitchFamily="18" charset="0"/>
              </a:rPr>
              <a:t> = [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mod 4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1013" name="Text Box 10"/>
          <p:cNvSpPr txBox="1"/>
          <p:nvPr/>
        </p:nvSpPr>
        <p:spPr>
          <a:xfrm>
            <a:off x="2682875" y="3376613"/>
            <a:ext cx="54813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sz="2800" b="1" dirty="0">
                <a:latin typeface="Times New Roman" panose="02020603050405020304" pitchFamily="18" charset="0"/>
              </a:rPr>
              <a:t> 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sz="2800" b="1" dirty="0">
                <a:latin typeface="Times New Roman" panose="02020603050405020304" pitchFamily="18" charset="0"/>
              </a:rPr>
              <a:t> + [–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mod 4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1014" name="Text Box 11"/>
          <p:cNvSpPr txBox="1"/>
          <p:nvPr/>
        </p:nvSpPr>
        <p:spPr>
          <a:xfrm>
            <a:off x="2667000" y="4205288"/>
            <a:ext cx="5250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结果的双符号位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相同        未溢出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1015" name="Text Box 12"/>
          <p:cNvSpPr txBox="1"/>
          <p:nvPr/>
        </p:nvSpPr>
        <p:spPr>
          <a:xfrm>
            <a:off x="2667000" y="5129213"/>
            <a:ext cx="5715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结果的双符号位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不同        溢出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1016" name="Text Box 13"/>
          <p:cNvSpPr txBox="1"/>
          <p:nvPr/>
        </p:nvSpPr>
        <p:spPr>
          <a:xfrm>
            <a:off x="2667000" y="6034088"/>
            <a:ext cx="5181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最高符号位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代表其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真正的符号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71017" name="Group 14"/>
          <p:cNvGrpSpPr/>
          <p:nvPr/>
        </p:nvGrpSpPr>
        <p:grpSpPr>
          <a:xfrm>
            <a:off x="8137525" y="4129088"/>
            <a:ext cx="1874838" cy="903287"/>
            <a:chOff x="4166" y="2601"/>
            <a:chExt cx="1181" cy="569"/>
          </a:xfrm>
        </p:grpSpPr>
        <p:sp>
          <p:nvSpPr>
            <p:cNvPr id="171028" name="Text Box 15"/>
            <p:cNvSpPr txBox="1"/>
            <p:nvPr/>
          </p:nvSpPr>
          <p:spPr>
            <a:xfrm>
              <a:off x="4166" y="2601"/>
              <a:ext cx="118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00.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×××××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1029" name="Text Box 16"/>
            <p:cNvSpPr txBox="1"/>
            <p:nvPr/>
          </p:nvSpPr>
          <p:spPr>
            <a:xfrm>
              <a:off x="4166" y="2841"/>
              <a:ext cx="116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11.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×××××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1018" name="Group 20"/>
          <p:cNvGrpSpPr/>
          <p:nvPr/>
        </p:nvGrpSpPr>
        <p:grpSpPr>
          <a:xfrm>
            <a:off x="8153400" y="4129088"/>
            <a:ext cx="1874838" cy="903287"/>
            <a:chOff x="4166" y="2601"/>
            <a:chExt cx="1181" cy="569"/>
          </a:xfrm>
        </p:grpSpPr>
        <p:sp>
          <p:nvSpPr>
            <p:cNvPr id="171026" name="Text Box 21"/>
            <p:cNvSpPr txBox="1"/>
            <p:nvPr/>
          </p:nvSpPr>
          <p:spPr>
            <a:xfrm>
              <a:off x="4166" y="2601"/>
              <a:ext cx="118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00,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×××××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1027" name="Text Box 22"/>
            <p:cNvSpPr txBox="1"/>
            <p:nvPr/>
          </p:nvSpPr>
          <p:spPr>
            <a:xfrm>
              <a:off x="4166" y="2841"/>
              <a:ext cx="116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11,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×××××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1019" name="Group 23"/>
          <p:cNvGrpSpPr/>
          <p:nvPr/>
        </p:nvGrpSpPr>
        <p:grpSpPr>
          <a:xfrm>
            <a:off x="8077200" y="5105400"/>
            <a:ext cx="1951038" cy="955675"/>
            <a:chOff x="4166" y="3231"/>
            <a:chExt cx="1229" cy="602"/>
          </a:xfrm>
        </p:grpSpPr>
        <p:sp>
          <p:nvSpPr>
            <p:cNvPr id="171024" name="Text Box 24"/>
            <p:cNvSpPr txBox="1"/>
            <p:nvPr/>
          </p:nvSpPr>
          <p:spPr>
            <a:xfrm>
              <a:off x="4166" y="3231"/>
              <a:ext cx="122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0,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×××××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1025" name="Text Box 25"/>
            <p:cNvSpPr txBox="1"/>
            <p:nvPr/>
          </p:nvSpPr>
          <p:spPr>
            <a:xfrm>
              <a:off x="4166" y="3504"/>
              <a:ext cx="118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1,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×××××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9354" name="Rectangle 2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1021" name="AutoShape 2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1022" name="Rectangle 28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7102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720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20000"/>
          </a:bodyPr>
          <a:p>
            <a:pPr eaLnBrk="1" hangingPunct="1"/>
            <a:r>
              <a:rPr lang="zh-CN" altLang="en-US" sz="2800" dirty="0"/>
              <a:t>举例</a:t>
            </a:r>
            <a:endParaRPr lang="zh-CN" altLang="en-US" sz="2800" dirty="0"/>
          </a:p>
          <a:p>
            <a:pPr eaLnBrk="1" hangingPunct="1"/>
            <a:r>
              <a:rPr lang="zh-CN" altLang="en-US" sz="2800" i="1" dirty="0"/>
              <a:t>ｘ</a:t>
            </a:r>
            <a:r>
              <a:rPr lang="zh-CN" altLang="en-US" sz="2800" dirty="0"/>
              <a:t>＝＋</a:t>
            </a:r>
            <a:r>
              <a:rPr lang="en-US" altLang="zh-CN" sz="2800" dirty="0"/>
              <a:t>0.1100, </a:t>
            </a:r>
            <a:r>
              <a:rPr lang="zh-CN" altLang="en-US" sz="2800" i="1" dirty="0"/>
              <a:t>ｙ</a:t>
            </a:r>
            <a:r>
              <a:rPr lang="zh-CN" altLang="en-US" sz="2800" dirty="0"/>
              <a:t>＝＋</a:t>
            </a:r>
            <a:r>
              <a:rPr lang="en-US" altLang="zh-CN" sz="2800" dirty="0"/>
              <a:t>0.1000,</a:t>
            </a:r>
            <a:r>
              <a:rPr lang="zh-CN" altLang="en-US" sz="2800" dirty="0"/>
              <a:t>求</a:t>
            </a:r>
            <a:r>
              <a:rPr lang="zh-CN" altLang="en-US" sz="2800" i="1" dirty="0"/>
              <a:t>ｘ</a:t>
            </a:r>
            <a:r>
              <a:rPr lang="zh-CN" altLang="en-US" sz="2800" dirty="0"/>
              <a:t>＋</a:t>
            </a:r>
            <a:r>
              <a:rPr lang="zh-CN" altLang="en-US" sz="2800" i="1" dirty="0"/>
              <a:t>ｙ。</a:t>
            </a:r>
            <a:endParaRPr lang="zh-CN" altLang="en-US" sz="2800" dirty="0"/>
          </a:p>
          <a:p>
            <a:pPr eaLnBrk="1" hangingPunct="1"/>
            <a:r>
              <a:rPr lang="en-US" altLang="zh-CN" sz="2800" b="1" dirty="0"/>
              <a:t>[</a:t>
            </a:r>
            <a:r>
              <a:rPr lang="zh-CN" altLang="en-US" sz="2800" b="1" dirty="0"/>
              <a:t>解</a:t>
            </a:r>
            <a:r>
              <a:rPr lang="en-US" altLang="zh-CN" sz="2800" b="1" dirty="0"/>
              <a:t>:]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　</a:t>
            </a:r>
            <a:r>
              <a:rPr lang="en-US" altLang="zh-CN" sz="2800" dirty="0"/>
              <a:t>[</a:t>
            </a:r>
            <a:r>
              <a:rPr lang="zh-CN" altLang="en-US" sz="2800" i="1" dirty="0"/>
              <a:t>ｘ</a:t>
            </a:r>
            <a:r>
              <a:rPr lang="en-US" altLang="zh-CN" sz="2800" dirty="0"/>
              <a:t>]</a:t>
            </a:r>
            <a:r>
              <a:rPr lang="zh-CN" altLang="en-US" sz="2800" baseline="-30000" dirty="0"/>
              <a:t>补</a:t>
            </a:r>
            <a:r>
              <a:rPr lang="zh-CN" altLang="en-US" sz="2800" dirty="0"/>
              <a:t>＝</a:t>
            </a:r>
            <a:r>
              <a:rPr lang="en-US" altLang="zh-CN" sz="2800" dirty="0"/>
              <a:t>00.1100,</a:t>
            </a:r>
            <a:r>
              <a:rPr lang="zh-CN" altLang="en-US" sz="2800" dirty="0"/>
              <a:t>　</a:t>
            </a:r>
            <a:r>
              <a:rPr lang="en-US" altLang="zh-CN" sz="2800" dirty="0"/>
              <a:t>[</a:t>
            </a:r>
            <a:r>
              <a:rPr lang="zh-CN" altLang="en-US" sz="2800" i="1" dirty="0"/>
              <a:t>ｙ</a:t>
            </a:r>
            <a:r>
              <a:rPr lang="en-US" altLang="zh-CN" sz="2800" dirty="0"/>
              <a:t>]</a:t>
            </a:r>
            <a:r>
              <a:rPr lang="zh-CN" altLang="en-US" sz="2800" baseline="-30000" dirty="0"/>
              <a:t>补</a:t>
            </a:r>
            <a:r>
              <a:rPr lang="zh-CN" altLang="en-US" sz="2800" dirty="0"/>
              <a:t>＝</a:t>
            </a:r>
            <a:r>
              <a:rPr lang="en-US" altLang="zh-CN" sz="2800" dirty="0"/>
              <a:t>00.1000</a:t>
            </a:r>
            <a:endParaRPr lang="en-US" altLang="zh-CN" sz="2800" dirty="0"/>
          </a:p>
          <a:p>
            <a:pPr algn="ctr" eaLnBrk="1" hangingPunct="1">
              <a:buNone/>
            </a:pPr>
            <a:r>
              <a:rPr lang="en-US" altLang="zh-CN" sz="2800" dirty="0"/>
              <a:t>      [</a:t>
            </a:r>
            <a:r>
              <a:rPr lang="zh-CN" altLang="en-US" sz="2800" i="1" dirty="0"/>
              <a:t>ｘ</a:t>
            </a:r>
            <a:r>
              <a:rPr lang="en-US" altLang="zh-CN" sz="2800" dirty="0"/>
              <a:t>]</a:t>
            </a:r>
            <a:r>
              <a:rPr lang="zh-CN" altLang="en-US" sz="2800" baseline="-30000" dirty="0"/>
              <a:t>补</a:t>
            </a:r>
            <a:r>
              <a:rPr lang="zh-CN" altLang="en-US" sz="2800" dirty="0"/>
              <a:t>　 </a:t>
            </a:r>
            <a:r>
              <a:rPr lang="en-US" altLang="zh-CN" sz="2800" dirty="0"/>
              <a:t>00.1100</a:t>
            </a:r>
            <a:endParaRPr lang="en-US" altLang="zh-CN" sz="2800" dirty="0"/>
          </a:p>
          <a:p>
            <a:pPr algn="ctr" eaLnBrk="1" hangingPunct="1">
              <a:buNone/>
            </a:pPr>
            <a:r>
              <a:rPr lang="zh-CN" altLang="en-US" sz="2800" u="sng" dirty="0"/>
              <a:t>＋</a:t>
            </a:r>
            <a:r>
              <a:rPr lang="en-US" altLang="zh-CN" sz="2800" u="sng" dirty="0"/>
              <a:t>[</a:t>
            </a:r>
            <a:r>
              <a:rPr lang="zh-CN" altLang="en-US" sz="2800" i="1" u="sng" dirty="0"/>
              <a:t>ｙ</a:t>
            </a:r>
            <a:r>
              <a:rPr lang="en-US" altLang="zh-CN" sz="2800" u="sng" dirty="0"/>
              <a:t>]</a:t>
            </a:r>
            <a:r>
              <a:rPr lang="zh-CN" altLang="en-US" sz="2800" u="sng" dirty="0"/>
              <a:t>补　　</a:t>
            </a:r>
            <a:r>
              <a:rPr lang="en-US" altLang="zh-CN" sz="2800" u="sng" dirty="0"/>
              <a:t>00.1000</a:t>
            </a:r>
            <a:r>
              <a:rPr lang="zh-CN" altLang="en-US" sz="2800" u="sng" dirty="0"/>
              <a:t>　</a:t>
            </a:r>
            <a:endParaRPr lang="zh-CN" altLang="en-US" sz="2800" dirty="0"/>
          </a:p>
          <a:p>
            <a:pPr algn="ctr" eaLnBrk="1" hangingPunct="1">
              <a:buNone/>
            </a:pPr>
            <a:r>
              <a:rPr lang="zh-CN" altLang="en-US" sz="2800" b="1" dirty="0"/>
              <a:t>　　　　　 </a:t>
            </a:r>
            <a:r>
              <a:rPr lang="en-US" altLang="zh-CN" sz="2800" b="1" dirty="0"/>
              <a:t>01</a:t>
            </a:r>
            <a:r>
              <a:rPr lang="en-US" altLang="zh-CN" sz="2800" dirty="0"/>
              <a:t>.0100</a:t>
            </a:r>
            <a:endParaRPr lang="en-US" altLang="zh-CN" sz="2800" dirty="0"/>
          </a:p>
          <a:p>
            <a:pPr eaLnBrk="1" hangingPunct="1"/>
            <a:r>
              <a:rPr lang="zh-CN" altLang="en-US" sz="2800" i="1" dirty="0"/>
              <a:t>两个符号位出现</a:t>
            </a:r>
            <a:r>
              <a:rPr lang="zh-CN" altLang="en-US" sz="2800" i="1" dirty="0">
                <a:latin typeface="Tahoma" panose="020B0604030504040204" pitchFamily="34" charset="0"/>
              </a:rPr>
              <a:t>“</a:t>
            </a:r>
            <a:r>
              <a:rPr lang="en-US" altLang="zh-CN" sz="2800" i="1" dirty="0"/>
              <a:t>01</a:t>
            </a:r>
            <a:r>
              <a:rPr lang="en-US" altLang="zh-CN" sz="2800" i="1" dirty="0">
                <a:latin typeface="Tahoma" panose="020B0604030504040204" pitchFamily="34" charset="0"/>
              </a:rPr>
              <a:t>”</a:t>
            </a:r>
            <a:r>
              <a:rPr lang="en-US" altLang="zh-CN" sz="2800" i="1" dirty="0"/>
              <a:t>,</a:t>
            </a:r>
            <a:r>
              <a:rPr lang="zh-CN" altLang="en-US" sz="2800" i="1" dirty="0"/>
              <a:t>表示已溢出</a:t>
            </a:r>
            <a:r>
              <a:rPr lang="en-US" altLang="zh-CN" sz="2800" i="1" dirty="0"/>
              <a:t>,</a:t>
            </a:r>
            <a:r>
              <a:rPr lang="zh-CN" altLang="en-US" sz="2800" i="1" dirty="0"/>
              <a:t>即结果大于＋</a:t>
            </a:r>
            <a:r>
              <a:rPr lang="en-US" altLang="zh-CN" sz="2800" i="1" dirty="0"/>
              <a:t>1</a:t>
            </a:r>
            <a:r>
              <a:rPr lang="zh-CN" altLang="en-US" sz="2800" i="1" dirty="0"/>
              <a:t>。</a:t>
            </a:r>
            <a:endParaRPr lang="zh-CN" altLang="en-US" sz="2800" i="1" dirty="0"/>
          </a:p>
        </p:txBody>
      </p:sp>
      <p:sp>
        <p:nvSpPr>
          <p:cNvPr id="17203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730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i="1" dirty="0"/>
              <a:t>ｘ</a:t>
            </a:r>
            <a:r>
              <a:rPr lang="zh-CN" altLang="en-US" dirty="0"/>
              <a:t>＝－</a:t>
            </a:r>
            <a:r>
              <a:rPr lang="en-US" altLang="zh-CN" dirty="0"/>
              <a:t>0.1100, </a:t>
            </a:r>
            <a:r>
              <a:rPr lang="zh-CN" altLang="en-US" i="1" dirty="0"/>
              <a:t>ｙ</a:t>
            </a:r>
            <a:r>
              <a:rPr lang="zh-CN" altLang="en-US" dirty="0"/>
              <a:t>＝－</a:t>
            </a:r>
            <a:r>
              <a:rPr lang="en-US" altLang="zh-CN" dirty="0"/>
              <a:t>0.1000,</a:t>
            </a:r>
            <a:r>
              <a:rPr lang="zh-CN" altLang="en-US" dirty="0"/>
              <a:t>用双符号位补码求</a:t>
            </a:r>
            <a:r>
              <a:rPr lang="zh-CN" altLang="en-US" i="1" dirty="0"/>
              <a:t>ｘ</a:t>
            </a:r>
            <a:r>
              <a:rPr lang="zh-CN" altLang="en-US" dirty="0"/>
              <a:t>＋</a:t>
            </a:r>
            <a:r>
              <a:rPr lang="zh-CN" altLang="en-US" i="1" dirty="0"/>
              <a:t>ｙ。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[</a:t>
            </a:r>
            <a:r>
              <a:rPr lang="zh-CN" altLang="en-US" b="1" dirty="0"/>
              <a:t>解</a:t>
            </a:r>
            <a:r>
              <a:rPr lang="en-US" altLang="zh-CN" b="1" dirty="0"/>
              <a:t>:]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[</a:t>
            </a:r>
            <a:r>
              <a:rPr lang="zh-CN" altLang="en-US" i="1" dirty="0"/>
              <a:t>ｘ</a:t>
            </a:r>
            <a:r>
              <a:rPr lang="en-US" altLang="zh-CN" dirty="0"/>
              <a:t>]</a:t>
            </a:r>
            <a:r>
              <a:rPr lang="zh-CN" altLang="en-US" baseline="-30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11.0100,</a:t>
            </a:r>
            <a:r>
              <a:rPr lang="zh-CN" altLang="en-US" dirty="0"/>
              <a:t>　</a:t>
            </a:r>
            <a:r>
              <a:rPr lang="en-US" altLang="zh-CN" dirty="0"/>
              <a:t>[</a:t>
            </a:r>
            <a:r>
              <a:rPr lang="zh-CN" altLang="en-US" i="1" dirty="0"/>
              <a:t>ｙ</a:t>
            </a:r>
            <a:r>
              <a:rPr lang="en-US" altLang="zh-CN" dirty="0"/>
              <a:t>]</a:t>
            </a:r>
            <a:r>
              <a:rPr lang="zh-CN" altLang="en-US" baseline="-30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11.1000</a:t>
            </a:r>
            <a:endParaRPr lang="en-US" altLang="zh-CN" dirty="0"/>
          </a:p>
          <a:p>
            <a:pPr algn="ctr" eaLnBrk="1" hangingPunct="1">
              <a:lnSpc>
                <a:spcPct val="90000"/>
              </a:lnSpc>
              <a:buNone/>
            </a:pPr>
            <a:r>
              <a:rPr lang="en-US" altLang="zh-CN" dirty="0"/>
              <a:t>[</a:t>
            </a:r>
            <a:r>
              <a:rPr lang="zh-CN" altLang="en-US" i="1" dirty="0"/>
              <a:t>ｘ</a:t>
            </a:r>
            <a:r>
              <a:rPr lang="en-US" altLang="zh-CN" dirty="0"/>
              <a:t>]</a:t>
            </a:r>
            <a:r>
              <a:rPr lang="zh-CN" altLang="en-US" baseline="-30000" dirty="0"/>
              <a:t>补</a:t>
            </a:r>
            <a:r>
              <a:rPr lang="zh-CN" altLang="en-US" dirty="0"/>
              <a:t>　　　     </a:t>
            </a:r>
            <a:r>
              <a:rPr lang="en-US" altLang="zh-CN" dirty="0"/>
              <a:t>11.0100</a:t>
            </a:r>
            <a:endParaRPr lang="en-US" altLang="zh-CN" dirty="0"/>
          </a:p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u="sng" dirty="0"/>
              <a:t>＋</a:t>
            </a:r>
            <a:r>
              <a:rPr lang="en-US" altLang="zh-CN" u="sng" dirty="0"/>
              <a:t>[</a:t>
            </a:r>
            <a:r>
              <a:rPr lang="zh-CN" altLang="en-US" i="1" u="sng" dirty="0"/>
              <a:t>ｙ</a:t>
            </a:r>
            <a:r>
              <a:rPr lang="en-US" altLang="zh-CN" u="sng" dirty="0"/>
              <a:t>]</a:t>
            </a:r>
            <a:r>
              <a:rPr lang="zh-CN" altLang="en-US" u="sng" dirty="0"/>
              <a:t>补　　　</a:t>
            </a:r>
            <a:r>
              <a:rPr lang="en-US" altLang="zh-CN" u="sng" dirty="0"/>
              <a:t>11.1000</a:t>
            </a:r>
            <a:r>
              <a:rPr lang="zh-CN" altLang="en-US" u="sng" dirty="0"/>
              <a:t>　</a:t>
            </a:r>
            <a:endParaRPr lang="zh-CN" altLang="en-US" dirty="0"/>
          </a:p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b="1" dirty="0"/>
              <a:t>　　　　　      </a:t>
            </a:r>
            <a:r>
              <a:rPr lang="en-US" altLang="zh-CN" b="1" dirty="0"/>
              <a:t>10</a:t>
            </a:r>
            <a:r>
              <a:rPr lang="en-US" altLang="zh-CN" dirty="0"/>
              <a:t>.1100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i="1" dirty="0"/>
              <a:t>两个符号位出现</a:t>
            </a:r>
            <a:r>
              <a:rPr lang="zh-CN" altLang="en-US" i="1" dirty="0">
                <a:latin typeface="Tahoma" panose="020B0604030504040204" pitchFamily="34" charset="0"/>
              </a:rPr>
              <a:t>“</a:t>
            </a:r>
            <a:r>
              <a:rPr lang="en-US" altLang="zh-CN" i="1" dirty="0"/>
              <a:t>10</a:t>
            </a:r>
            <a:r>
              <a:rPr lang="en-US" altLang="zh-CN" i="1" dirty="0">
                <a:latin typeface="Tahoma" panose="020B0604030504040204" pitchFamily="34" charset="0"/>
              </a:rPr>
              <a:t>”</a:t>
            </a:r>
            <a:r>
              <a:rPr lang="en-US" altLang="zh-CN" i="1" dirty="0"/>
              <a:t>,</a:t>
            </a:r>
            <a:r>
              <a:rPr lang="zh-CN" altLang="en-US" i="1" dirty="0"/>
              <a:t>表示已溢出</a:t>
            </a:r>
            <a:r>
              <a:rPr lang="en-US" altLang="zh-CN" i="1" dirty="0"/>
              <a:t>,</a:t>
            </a:r>
            <a:r>
              <a:rPr lang="zh-CN" altLang="en-US" i="1" dirty="0"/>
              <a:t>即结果小于－</a:t>
            </a:r>
            <a:r>
              <a:rPr lang="en-US" altLang="zh-CN" i="1" dirty="0"/>
              <a:t>1</a:t>
            </a:r>
            <a:r>
              <a:rPr lang="zh-CN" altLang="en-US" i="1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17306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740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i="1" dirty="0"/>
              <a:t>ｘ</a:t>
            </a:r>
            <a:r>
              <a:rPr lang="zh-CN" altLang="en-US" dirty="0"/>
              <a:t>＝－</a:t>
            </a:r>
            <a:r>
              <a:rPr lang="en-US" altLang="zh-CN" dirty="0"/>
              <a:t>0.110, </a:t>
            </a:r>
            <a:r>
              <a:rPr lang="zh-CN" altLang="en-US" i="1" dirty="0"/>
              <a:t>ｙ</a:t>
            </a:r>
            <a:r>
              <a:rPr lang="zh-CN" altLang="en-US" dirty="0"/>
              <a:t>＝</a:t>
            </a:r>
            <a:r>
              <a:rPr lang="en-US" altLang="zh-CN" dirty="0"/>
              <a:t>0.101,</a:t>
            </a:r>
            <a:endParaRPr lang="en-US" altLang="zh-CN" dirty="0"/>
          </a:p>
          <a:p>
            <a:pPr eaLnBrk="1" hangingPunct="1"/>
            <a:r>
              <a:rPr lang="zh-CN" altLang="en-US" dirty="0"/>
              <a:t>双符号位补码求</a:t>
            </a:r>
            <a:r>
              <a:rPr lang="zh-CN" altLang="en-US" i="1" dirty="0"/>
              <a:t>ｘ</a:t>
            </a:r>
            <a:r>
              <a:rPr lang="zh-CN" altLang="en-US" dirty="0"/>
              <a:t>＋</a:t>
            </a:r>
            <a:r>
              <a:rPr lang="zh-CN" altLang="en-US" i="1" dirty="0"/>
              <a:t>ｙ，ｘ</a:t>
            </a:r>
            <a:r>
              <a:rPr lang="zh-CN" altLang="en-US" dirty="0"/>
              <a:t>－</a:t>
            </a:r>
            <a:r>
              <a:rPr lang="zh-CN" altLang="en-US" i="1" dirty="0"/>
              <a:t>ｙ</a:t>
            </a:r>
            <a:endParaRPr lang="zh-CN" altLang="en-US" i="1" dirty="0"/>
          </a:p>
        </p:txBody>
      </p:sp>
      <p:sp>
        <p:nvSpPr>
          <p:cNvPr id="17408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5106" name="Text Box 2"/>
          <p:cNvSpPr txBox="1"/>
          <p:nvPr/>
        </p:nvSpPr>
        <p:spPr>
          <a:xfrm>
            <a:off x="2117725" y="425450"/>
            <a:ext cx="5212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补码加减法的硬件配置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75107" name="Group 3"/>
          <p:cNvGrpSpPr/>
          <p:nvPr/>
        </p:nvGrpSpPr>
        <p:grpSpPr>
          <a:xfrm>
            <a:off x="2590800" y="1752600"/>
            <a:ext cx="7010400" cy="3352800"/>
            <a:chOff x="672" y="1104"/>
            <a:chExt cx="4416" cy="2112"/>
          </a:xfrm>
        </p:grpSpPr>
        <p:sp>
          <p:nvSpPr>
            <p:cNvPr id="175115" name="Rectangle 4"/>
            <p:cNvSpPr/>
            <p:nvPr/>
          </p:nvSpPr>
          <p:spPr>
            <a:xfrm>
              <a:off x="720" y="1296"/>
              <a:ext cx="384" cy="33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V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5116" name="Rectangle 5"/>
            <p:cNvSpPr/>
            <p:nvPr/>
          </p:nvSpPr>
          <p:spPr>
            <a:xfrm>
              <a:off x="1680" y="1296"/>
              <a:ext cx="1584" cy="33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75117" name="Rectangle 6"/>
            <p:cNvSpPr/>
            <p:nvPr/>
          </p:nvSpPr>
          <p:spPr>
            <a:xfrm>
              <a:off x="3744" y="1296"/>
              <a:ext cx="384" cy="33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A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5118" name="Rectangle 7"/>
            <p:cNvSpPr/>
            <p:nvPr/>
          </p:nvSpPr>
          <p:spPr>
            <a:xfrm>
              <a:off x="4368" y="1296"/>
              <a:ext cx="384" cy="33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S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5119" name="Rectangle 8"/>
            <p:cNvSpPr/>
            <p:nvPr/>
          </p:nvSpPr>
          <p:spPr>
            <a:xfrm>
              <a:off x="1680" y="1992"/>
              <a:ext cx="1584" cy="33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加法器（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5120" name="Rectangle 9"/>
            <p:cNvSpPr/>
            <p:nvPr/>
          </p:nvSpPr>
          <p:spPr>
            <a:xfrm>
              <a:off x="672" y="1968"/>
              <a:ext cx="624" cy="6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溢出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判断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5121" name="Rectangle 10"/>
            <p:cNvSpPr/>
            <p:nvPr/>
          </p:nvSpPr>
          <p:spPr>
            <a:xfrm>
              <a:off x="3744" y="1968"/>
              <a:ext cx="1104" cy="6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求补控制 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逻  辑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5122" name="Rectangle 11"/>
            <p:cNvSpPr/>
            <p:nvPr/>
          </p:nvSpPr>
          <p:spPr>
            <a:xfrm>
              <a:off x="1680" y="2688"/>
              <a:ext cx="1584" cy="33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75123" name="Line 12"/>
            <p:cNvSpPr/>
            <p:nvPr/>
          </p:nvSpPr>
          <p:spPr>
            <a:xfrm flipV="1">
              <a:off x="912" y="1632"/>
              <a:ext cx="0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75124" name="AutoShape 13"/>
            <p:cNvSpPr/>
            <p:nvPr/>
          </p:nvSpPr>
          <p:spPr>
            <a:xfrm>
              <a:off x="2016" y="1644"/>
              <a:ext cx="144" cy="338"/>
            </a:xfrm>
            <a:prstGeom prst="upArrow">
              <a:avLst>
                <a:gd name="adj1" fmla="val 50000"/>
                <a:gd name="adj2" fmla="val 58495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5125" name="AutoShape 14"/>
            <p:cNvSpPr/>
            <p:nvPr/>
          </p:nvSpPr>
          <p:spPr>
            <a:xfrm rot="10800000">
              <a:off x="2784" y="1632"/>
              <a:ext cx="144" cy="36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5126" name="AutoShape 15"/>
            <p:cNvSpPr/>
            <p:nvPr/>
          </p:nvSpPr>
          <p:spPr>
            <a:xfrm>
              <a:off x="2400" y="2340"/>
              <a:ext cx="144" cy="338"/>
            </a:xfrm>
            <a:prstGeom prst="upArrow">
              <a:avLst>
                <a:gd name="adj1" fmla="val 50000"/>
                <a:gd name="adj2" fmla="val 58495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5127" name="Line 16"/>
            <p:cNvSpPr/>
            <p:nvPr/>
          </p:nvSpPr>
          <p:spPr>
            <a:xfrm flipH="1">
              <a:off x="3264" y="2160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75128" name="Freeform 17"/>
            <p:cNvSpPr/>
            <p:nvPr/>
          </p:nvSpPr>
          <p:spPr>
            <a:xfrm>
              <a:off x="2877" y="2160"/>
              <a:ext cx="627" cy="1056"/>
            </a:xfrm>
            <a:custGeom>
              <a:avLst/>
              <a:gdLst>
                <a:gd name="txL" fmla="*/ 0 w 627"/>
                <a:gd name="txT" fmla="*/ 0 h 1056"/>
                <a:gd name="txR" fmla="*/ 627 w 627"/>
                <a:gd name="txB" fmla="*/ 1056 h 1056"/>
              </a:gdLst>
              <a:ahLst/>
              <a:cxnLst>
                <a:cxn ang="0">
                  <a:pos x="627" y="0"/>
                </a:cxn>
                <a:cxn ang="0">
                  <a:pos x="627" y="1056"/>
                </a:cxn>
                <a:cxn ang="0">
                  <a:pos x="3" y="1056"/>
                </a:cxn>
                <a:cxn ang="0">
                  <a:pos x="0" y="873"/>
                </a:cxn>
              </a:cxnLst>
              <a:rect l="txL" t="txT" r="txR" b="txB"/>
              <a:pathLst>
                <a:path w="627" h="1056">
                  <a:moveTo>
                    <a:pt x="627" y="0"/>
                  </a:moveTo>
                  <a:lnTo>
                    <a:pt x="627" y="1056"/>
                  </a:lnTo>
                  <a:lnTo>
                    <a:pt x="3" y="1056"/>
                  </a:lnTo>
                  <a:lnTo>
                    <a:pt x="0" y="87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5129" name="Freeform 18"/>
            <p:cNvSpPr/>
            <p:nvPr/>
          </p:nvSpPr>
          <p:spPr>
            <a:xfrm>
              <a:off x="4560" y="1104"/>
              <a:ext cx="528" cy="1200"/>
            </a:xfrm>
            <a:custGeom>
              <a:avLst/>
              <a:gdLst>
                <a:gd name="txL" fmla="*/ 0 w 528"/>
                <a:gd name="txT" fmla="*/ 0 h 1200"/>
                <a:gd name="txR" fmla="*/ 528 w 528"/>
                <a:gd name="txB" fmla="*/ 1200 h 1200"/>
              </a:gdLst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528" y="0"/>
                </a:cxn>
                <a:cxn ang="0">
                  <a:pos x="528" y="1200"/>
                </a:cxn>
                <a:cxn ang="0">
                  <a:pos x="288" y="1200"/>
                </a:cxn>
              </a:cxnLst>
              <a:rect l="txL" t="txT" r="txR" b="txB"/>
              <a:pathLst>
                <a:path w="528" h="1200">
                  <a:moveTo>
                    <a:pt x="0" y="192"/>
                  </a:moveTo>
                  <a:lnTo>
                    <a:pt x="0" y="0"/>
                  </a:lnTo>
                  <a:lnTo>
                    <a:pt x="528" y="0"/>
                  </a:lnTo>
                  <a:lnTo>
                    <a:pt x="528" y="1200"/>
                  </a:lnTo>
                  <a:lnTo>
                    <a:pt x="288" y="120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5130" name="Line 19"/>
            <p:cNvSpPr/>
            <p:nvPr/>
          </p:nvSpPr>
          <p:spPr>
            <a:xfrm flipH="1">
              <a:off x="1296" y="2160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75108" name="Group 20"/>
          <p:cNvGrpSpPr/>
          <p:nvPr/>
        </p:nvGrpSpPr>
        <p:grpSpPr>
          <a:xfrm>
            <a:off x="2803525" y="5451475"/>
            <a:ext cx="4035425" cy="993775"/>
            <a:chOff x="806" y="3434"/>
            <a:chExt cx="2542" cy="626"/>
          </a:xfrm>
        </p:grpSpPr>
        <p:sp>
          <p:nvSpPr>
            <p:cNvPr id="175113" name="Text Box 21"/>
            <p:cNvSpPr txBox="1"/>
            <p:nvPr/>
          </p:nvSpPr>
          <p:spPr>
            <a:xfrm>
              <a:off x="806" y="3434"/>
              <a:ext cx="142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X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均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+1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5114" name="Text Box 22"/>
            <p:cNvSpPr txBox="1"/>
            <p:nvPr/>
          </p:nvSpPr>
          <p:spPr>
            <a:xfrm>
              <a:off x="806" y="3770"/>
              <a:ext cx="254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用减法标记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控制求补逻辑</a:t>
              </a:r>
              <a:endParaRPr lang="zh-CN" altLang="en-US" sz="24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0375" name="Rectangle 2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5110" name="AutoShape 2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5111" name="Rectangle 25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7511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一位全加器真值表</a:t>
            </a:r>
            <a:endParaRPr lang="zh-CN" altLang="en-US" dirty="0"/>
          </a:p>
        </p:txBody>
      </p:sp>
      <p:sp>
        <p:nvSpPr>
          <p:cNvPr id="205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1752600" y="1447800"/>
          <a:ext cx="86106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971925" imgH="2524125" progId="Paint.Picture">
                  <p:embed/>
                </p:oleObj>
              </mc:Choice>
              <mc:Fallback>
                <p:oleObj name="" r:id="rId1" imgW="3971925" imgH="2524125" progId="Paint.Picture">
                  <p:embed/>
                  <p:pic>
                    <p:nvPicPr>
                      <p:cNvPr id="0" name="20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1447800"/>
                        <a:ext cx="8610600" cy="510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761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17613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938" y="1271588"/>
            <a:ext cx="6335712" cy="4314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613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0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1219200" y="3352800"/>
          <a:ext cx="96774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6276975" imgH="2066925" progId="Paint.Picture">
                  <p:embed/>
                </p:oleObj>
              </mc:Choice>
              <mc:Fallback>
                <p:oleObj name="" r:id="rId1" imgW="6276975" imgH="2066925" progId="Paint.Picture">
                  <p:embed/>
                  <p:pic>
                    <p:nvPicPr>
                      <p:cNvPr id="0" name="20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9200" y="3352800"/>
                        <a:ext cx="9677400" cy="350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6096000" y="0"/>
          <a:ext cx="3721100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371600" imgH="1695450" progId="Paint.Picture">
                  <p:embed/>
                </p:oleObj>
              </mc:Choice>
              <mc:Fallback>
                <p:oleObj name="" r:id="rId3" imgW="1371600" imgH="1695450" progId="Paint.Picture">
                  <p:embed/>
                  <p:pic>
                    <p:nvPicPr>
                      <p:cNvPr id="0" name="20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0"/>
                        <a:ext cx="3721100" cy="3600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771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17715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669925"/>
            <a:ext cx="8915400" cy="5380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715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178" name="Text Box 2"/>
          <p:cNvSpPr txBox="1"/>
          <p:nvPr/>
        </p:nvSpPr>
        <p:spPr>
          <a:xfrm>
            <a:off x="2270125" y="320675"/>
            <a:ext cx="2926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三、乘法运算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78179" name="Text Box 3"/>
          <p:cNvSpPr txBox="1"/>
          <p:nvPr/>
        </p:nvSpPr>
        <p:spPr>
          <a:xfrm>
            <a:off x="2803525" y="1066800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分析笔算乘法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8180" name="Text Box 4"/>
          <p:cNvSpPr txBox="1"/>
          <p:nvPr/>
        </p:nvSpPr>
        <p:spPr>
          <a:xfrm>
            <a:off x="3336925" y="1752600"/>
            <a:ext cx="5730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0.1101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= 0.1011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8181" name="Text Box 5"/>
          <p:cNvSpPr txBox="1"/>
          <p:nvPr/>
        </p:nvSpPr>
        <p:spPr>
          <a:xfrm>
            <a:off x="3336925" y="2362200"/>
            <a:ext cx="3902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0.10001111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8182" name="Text Box 6"/>
          <p:cNvSpPr txBox="1"/>
          <p:nvPr/>
        </p:nvSpPr>
        <p:spPr>
          <a:xfrm>
            <a:off x="2917825" y="288607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8183" name="Text Box 7"/>
          <p:cNvSpPr txBox="1"/>
          <p:nvPr/>
        </p:nvSpPr>
        <p:spPr>
          <a:xfrm>
            <a:off x="2917825" y="334803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0 . 1 0 1 1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8184" name="Text Box 8"/>
          <p:cNvSpPr txBox="1"/>
          <p:nvPr/>
        </p:nvSpPr>
        <p:spPr>
          <a:xfrm>
            <a:off x="3362325" y="3808413"/>
            <a:ext cx="1160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8185" name="Text Box 9"/>
          <p:cNvSpPr txBox="1"/>
          <p:nvPr/>
        </p:nvSpPr>
        <p:spPr>
          <a:xfrm>
            <a:off x="3105150" y="4270375"/>
            <a:ext cx="1160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8186" name="Text Box 10"/>
          <p:cNvSpPr txBox="1"/>
          <p:nvPr/>
        </p:nvSpPr>
        <p:spPr>
          <a:xfrm>
            <a:off x="2800350" y="4732338"/>
            <a:ext cx="1160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0 0 0 0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8187" name="Text Box 11"/>
          <p:cNvSpPr txBox="1"/>
          <p:nvPr/>
        </p:nvSpPr>
        <p:spPr>
          <a:xfrm>
            <a:off x="2571750" y="5192713"/>
            <a:ext cx="1160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8188" name="Text Box 12"/>
          <p:cNvSpPr txBox="1"/>
          <p:nvPr/>
        </p:nvSpPr>
        <p:spPr>
          <a:xfrm>
            <a:off x="1851025" y="5653088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0 . 1 0 0 0 1 1 1 1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8189" name="Line 13"/>
          <p:cNvSpPr/>
          <p:nvPr/>
        </p:nvSpPr>
        <p:spPr>
          <a:xfrm>
            <a:off x="2514600" y="3886200"/>
            <a:ext cx="2133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190" name="Line 14"/>
          <p:cNvSpPr/>
          <p:nvPr/>
        </p:nvSpPr>
        <p:spPr>
          <a:xfrm>
            <a:off x="1905000" y="5715000"/>
            <a:ext cx="2667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191" name="Text Box 15"/>
          <p:cNvSpPr txBox="1"/>
          <p:nvPr/>
        </p:nvSpPr>
        <p:spPr>
          <a:xfrm>
            <a:off x="5407025" y="3244850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符号位单独处理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8192" name="Text Box 16"/>
          <p:cNvSpPr txBox="1"/>
          <p:nvPr/>
        </p:nvSpPr>
        <p:spPr>
          <a:xfrm>
            <a:off x="5407025" y="3935413"/>
            <a:ext cx="5161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乘数的某一位决定是否加被乘数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8193" name="Text Box 17"/>
          <p:cNvSpPr txBox="1"/>
          <p:nvPr/>
        </p:nvSpPr>
        <p:spPr>
          <a:xfrm>
            <a:off x="5407025" y="4603750"/>
            <a:ext cx="2938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4</a:t>
            </a:r>
            <a:r>
              <a:rPr lang="zh-CN" altLang="en-US" sz="2800" b="1" dirty="0">
                <a:latin typeface="Times New Roman" panose="02020603050405020304" pitchFamily="18" charset="0"/>
              </a:rPr>
              <a:t>个位积一起相加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8194" name="Text Box 18"/>
          <p:cNvSpPr txBox="1"/>
          <p:nvPr/>
        </p:nvSpPr>
        <p:spPr>
          <a:xfrm>
            <a:off x="5407025" y="5272088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乘积的位数扩大一倍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8195" name="Text Box 19"/>
          <p:cNvSpPr txBox="1"/>
          <p:nvPr/>
        </p:nvSpPr>
        <p:spPr>
          <a:xfrm>
            <a:off x="2557463" y="3367088"/>
            <a:ext cx="4533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8196" name="Text Box 20"/>
          <p:cNvSpPr txBox="1"/>
          <p:nvPr/>
        </p:nvSpPr>
        <p:spPr>
          <a:xfrm>
            <a:off x="6659563" y="2362200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乘积的符号心算求得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197" name="Text Box 21"/>
          <p:cNvSpPr txBox="1"/>
          <p:nvPr/>
        </p:nvSpPr>
        <p:spPr>
          <a:xfrm>
            <a:off x="4937125" y="3267075"/>
            <a:ext cx="551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ü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198" name="Text Box 22"/>
          <p:cNvSpPr txBox="1"/>
          <p:nvPr/>
        </p:nvSpPr>
        <p:spPr>
          <a:xfrm>
            <a:off x="4937125" y="3935413"/>
            <a:ext cx="551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ü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199" name="Text Box 23"/>
          <p:cNvSpPr txBox="1"/>
          <p:nvPr/>
        </p:nvSpPr>
        <p:spPr>
          <a:xfrm>
            <a:off x="4937125" y="5272088"/>
            <a:ext cx="551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ü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200" name="Text Box 24"/>
          <p:cNvSpPr txBox="1"/>
          <p:nvPr/>
        </p:nvSpPr>
        <p:spPr>
          <a:xfrm>
            <a:off x="4937125" y="4603750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401" name="Rectangle 2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8202" name="AutoShape 2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820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9202" name="Text Box 2"/>
          <p:cNvSpPr txBox="1"/>
          <p:nvPr/>
        </p:nvSpPr>
        <p:spPr>
          <a:xfrm>
            <a:off x="2117725" y="273050"/>
            <a:ext cx="33832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笔算乘法改进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79203" name="Text Box 3"/>
          <p:cNvSpPr txBox="1"/>
          <p:nvPr/>
        </p:nvSpPr>
        <p:spPr>
          <a:xfrm>
            <a:off x="3275013" y="914400"/>
            <a:ext cx="27597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800" b="1" dirty="0">
                <a:latin typeface="Times New Roman" panose="02020603050405020304" pitchFamily="18" charset="0"/>
              </a:rPr>
              <a:t> 0.1011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9204" name="Text Box 4"/>
          <p:cNvSpPr txBox="1"/>
          <p:nvPr/>
        </p:nvSpPr>
        <p:spPr>
          <a:xfrm>
            <a:off x="4094163" y="1524000"/>
            <a:ext cx="53213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0.1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+ 0.00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+ 0.001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+0.0001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endParaRPr lang="en-US" altLang="zh-CN" sz="28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9205" name="Text Box 5"/>
          <p:cNvSpPr txBox="1"/>
          <p:nvPr/>
        </p:nvSpPr>
        <p:spPr>
          <a:xfrm>
            <a:off x="4110038" y="2133600"/>
            <a:ext cx="51130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0.1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+ 0.00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0.001</a:t>
            </a:r>
            <a:r>
              <a:rPr lang="en-US" altLang="zh-CN" sz="2800" b="1" dirty="0">
                <a:latin typeface="Times New Roman" panose="02020603050405020304" pitchFamily="18" charset="0"/>
              </a:rPr>
              <a:t>(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+0.1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9206" name="Text Box 6"/>
          <p:cNvSpPr txBox="1"/>
          <p:nvPr/>
        </p:nvSpPr>
        <p:spPr>
          <a:xfrm>
            <a:off x="4110038" y="2743200"/>
            <a:ext cx="55270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0.1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0.01</a:t>
            </a:r>
            <a:r>
              <a:rPr lang="en-US" altLang="zh-CN" sz="2800" b="1" dirty="0">
                <a:latin typeface="Times New Roman" panose="02020603050405020304" pitchFamily="18" charset="0"/>
              </a:rPr>
              <a:t>[0 </a:t>
            </a: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+ 0. 1(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+0.1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)]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9207" name="Text Box 7"/>
          <p:cNvSpPr txBox="1"/>
          <p:nvPr/>
        </p:nvSpPr>
        <p:spPr>
          <a:xfrm>
            <a:off x="4110038" y="3352800"/>
            <a:ext cx="53632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0.1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+0.1[ 0 </a:t>
            </a: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+0.1(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+ 0.1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)]}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9208" name="Text Box 8"/>
          <p:cNvSpPr txBox="1"/>
          <p:nvPr/>
        </p:nvSpPr>
        <p:spPr>
          <a:xfrm>
            <a:off x="4110038" y="3962400"/>
            <a:ext cx="56826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baseline="4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baseline="4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</a:rPr>
              <a:t>[ 0 </a:t>
            </a: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baseline="4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baseline="4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</a:rPr>
              <a:t>0))]}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79209" name="Group 9"/>
          <p:cNvGrpSpPr/>
          <p:nvPr/>
        </p:nvGrpSpPr>
        <p:grpSpPr>
          <a:xfrm>
            <a:off x="8758238" y="4557713"/>
            <a:ext cx="533400" cy="439738"/>
            <a:chOff x="4750" y="2871"/>
            <a:chExt cx="336" cy="277"/>
          </a:xfrm>
        </p:grpSpPr>
        <p:sp>
          <p:nvSpPr>
            <p:cNvPr id="179232" name="AutoShape 10"/>
            <p:cNvSpPr/>
            <p:nvPr/>
          </p:nvSpPr>
          <p:spPr>
            <a:xfrm rot="-5400000">
              <a:off x="4894" y="2727"/>
              <a:ext cx="48" cy="336"/>
            </a:xfrm>
            <a:prstGeom prst="leftBrace">
              <a:avLst>
                <a:gd name="adj1" fmla="val 57782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9233" name="Text Box 11"/>
            <p:cNvSpPr txBox="1"/>
            <p:nvPr/>
          </p:nvSpPr>
          <p:spPr>
            <a:xfrm>
              <a:off x="4798" y="2897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①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9210" name="Group 12"/>
          <p:cNvGrpSpPr/>
          <p:nvPr/>
        </p:nvGrpSpPr>
        <p:grpSpPr>
          <a:xfrm>
            <a:off x="8228013" y="4979988"/>
            <a:ext cx="1143000" cy="433388"/>
            <a:chOff x="4416" y="3127"/>
            <a:chExt cx="720" cy="273"/>
          </a:xfrm>
        </p:grpSpPr>
        <p:sp>
          <p:nvSpPr>
            <p:cNvPr id="179230" name="AutoShape 13"/>
            <p:cNvSpPr/>
            <p:nvPr/>
          </p:nvSpPr>
          <p:spPr>
            <a:xfrm rot="-5400000">
              <a:off x="4752" y="2791"/>
              <a:ext cx="48" cy="720"/>
            </a:xfrm>
            <a:prstGeom prst="leftBrace">
              <a:avLst>
                <a:gd name="adj1" fmla="val 125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9231" name="Text Box 14"/>
            <p:cNvSpPr txBox="1"/>
            <p:nvPr/>
          </p:nvSpPr>
          <p:spPr>
            <a:xfrm>
              <a:off x="4654" y="3149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②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9211" name="Group 15"/>
          <p:cNvGrpSpPr/>
          <p:nvPr/>
        </p:nvGrpSpPr>
        <p:grpSpPr>
          <a:xfrm>
            <a:off x="4643438" y="6096000"/>
            <a:ext cx="5105400" cy="534988"/>
            <a:chOff x="2158" y="3840"/>
            <a:chExt cx="3216" cy="337"/>
          </a:xfrm>
        </p:grpSpPr>
        <p:sp>
          <p:nvSpPr>
            <p:cNvPr id="179228" name="AutoShape 16"/>
            <p:cNvSpPr/>
            <p:nvPr/>
          </p:nvSpPr>
          <p:spPr>
            <a:xfrm rot="-5400000">
              <a:off x="3718" y="2280"/>
              <a:ext cx="96" cy="3216"/>
            </a:xfrm>
            <a:prstGeom prst="leftBrace">
              <a:avLst>
                <a:gd name="adj1" fmla="val 27653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9229" name="Text Box 17"/>
            <p:cNvSpPr txBox="1"/>
            <p:nvPr/>
          </p:nvSpPr>
          <p:spPr>
            <a:xfrm>
              <a:off x="3646" y="392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⑧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9212" name="Text Box 18"/>
          <p:cNvSpPr txBox="1"/>
          <p:nvPr/>
        </p:nvSpPr>
        <p:spPr>
          <a:xfrm>
            <a:off x="2513013" y="4495800"/>
            <a:ext cx="2897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第一步   被乘数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000" b="1" dirty="0">
                <a:latin typeface="Times New Roman" panose="02020603050405020304" pitchFamily="18" charset="0"/>
              </a:rPr>
              <a:t> 0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79213" name="Text Box 19"/>
          <p:cNvSpPr txBox="1"/>
          <p:nvPr/>
        </p:nvSpPr>
        <p:spPr>
          <a:xfrm>
            <a:off x="2513013" y="4989513"/>
            <a:ext cx="41592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第二步   右移 一 位，得新的部分积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79214" name="Text Box 20"/>
          <p:cNvSpPr txBox="1"/>
          <p:nvPr/>
        </p:nvSpPr>
        <p:spPr>
          <a:xfrm>
            <a:off x="2513013" y="6232525"/>
            <a:ext cx="4014787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第八步   右移 一 位，得结果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79215" name="Group 21"/>
          <p:cNvGrpSpPr/>
          <p:nvPr/>
        </p:nvGrpSpPr>
        <p:grpSpPr>
          <a:xfrm>
            <a:off x="7466013" y="5394325"/>
            <a:ext cx="2057400" cy="500063"/>
            <a:chOff x="3936" y="3383"/>
            <a:chExt cx="1296" cy="315"/>
          </a:xfrm>
        </p:grpSpPr>
        <p:sp>
          <p:nvSpPr>
            <p:cNvPr id="179226" name="AutoShape 22"/>
            <p:cNvSpPr/>
            <p:nvPr/>
          </p:nvSpPr>
          <p:spPr>
            <a:xfrm rot="-5400000">
              <a:off x="4536" y="2783"/>
              <a:ext cx="96" cy="1296"/>
            </a:xfrm>
            <a:prstGeom prst="leftBrace">
              <a:avLst>
                <a:gd name="adj1" fmla="val 1125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9227" name="Text Box 23"/>
            <p:cNvSpPr txBox="1"/>
            <p:nvPr/>
          </p:nvSpPr>
          <p:spPr>
            <a:xfrm>
              <a:off x="4464" y="3447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③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9216" name="Text Box 24"/>
          <p:cNvSpPr txBox="1"/>
          <p:nvPr/>
        </p:nvSpPr>
        <p:spPr>
          <a:xfrm>
            <a:off x="2513013" y="5422900"/>
            <a:ext cx="38115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第三步   部分积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被乘数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79217" name="Group 25"/>
          <p:cNvGrpSpPr/>
          <p:nvPr/>
        </p:nvGrpSpPr>
        <p:grpSpPr>
          <a:xfrm>
            <a:off x="2816225" y="5592763"/>
            <a:ext cx="2990851" cy="625475"/>
            <a:chOff x="1815" y="3523"/>
            <a:chExt cx="1884" cy="394"/>
          </a:xfrm>
        </p:grpSpPr>
        <p:sp>
          <p:nvSpPr>
            <p:cNvPr id="179224" name="Text Box 26"/>
            <p:cNvSpPr txBox="1"/>
            <p:nvPr/>
          </p:nvSpPr>
          <p:spPr>
            <a:xfrm>
              <a:off x="3504" y="3523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9225" name="Text Box 27"/>
            <p:cNvSpPr txBox="1"/>
            <p:nvPr/>
          </p:nvSpPr>
          <p:spPr>
            <a:xfrm>
              <a:off x="1815" y="3667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9218" name="Group 28"/>
          <p:cNvGrpSpPr/>
          <p:nvPr/>
        </p:nvGrpSpPr>
        <p:grpSpPr>
          <a:xfrm>
            <a:off x="2438400" y="3479800"/>
            <a:ext cx="2436813" cy="1092200"/>
            <a:chOff x="576" y="2192"/>
            <a:chExt cx="1535" cy="688"/>
          </a:xfrm>
        </p:grpSpPr>
        <p:sp>
          <p:nvSpPr>
            <p:cNvPr id="179222" name="AutoShape 29"/>
            <p:cNvSpPr/>
            <p:nvPr/>
          </p:nvSpPr>
          <p:spPr>
            <a:xfrm>
              <a:off x="576" y="2192"/>
              <a:ext cx="913" cy="320"/>
            </a:xfrm>
            <a:prstGeom prst="wedgeRoundRectCallout">
              <a:avLst>
                <a:gd name="adj1" fmla="val 90185"/>
                <a:gd name="adj2" fmla="val 73926"/>
                <a:gd name="adj3" fmla="val 16667"/>
              </a:avLst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右移一位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9223" name="AutoShape 30"/>
            <p:cNvSpPr/>
            <p:nvPr/>
          </p:nvSpPr>
          <p:spPr>
            <a:xfrm>
              <a:off x="1823" y="2448"/>
              <a:ext cx="288" cy="432"/>
            </a:xfrm>
            <a:prstGeom prst="wedgeRoundRectCallout">
              <a:avLst>
                <a:gd name="adj1" fmla="val -171181"/>
                <a:gd name="adj2" fmla="val -57176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2431" name="Rectangle 3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9220" name="AutoShape 3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922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6" name="Text Box 2"/>
          <p:cNvSpPr txBox="1"/>
          <p:nvPr/>
        </p:nvSpPr>
        <p:spPr>
          <a:xfrm>
            <a:off x="2057400" y="273050"/>
            <a:ext cx="7040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改进后的笔算乘法过程（竖式）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80227" name="Text Box 3"/>
          <p:cNvSpPr txBox="1"/>
          <p:nvPr/>
        </p:nvSpPr>
        <p:spPr>
          <a:xfrm>
            <a:off x="2524125" y="15240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0 . 0 0 0 0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0228" name="Text Box 4"/>
          <p:cNvSpPr txBox="1"/>
          <p:nvPr/>
        </p:nvSpPr>
        <p:spPr>
          <a:xfrm>
            <a:off x="2524125" y="19177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0229" name="Text Box 5"/>
          <p:cNvSpPr txBox="1"/>
          <p:nvPr/>
        </p:nvSpPr>
        <p:spPr>
          <a:xfrm>
            <a:off x="2524125" y="230981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0230" name="Text Box 6"/>
          <p:cNvSpPr txBox="1"/>
          <p:nvPr/>
        </p:nvSpPr>
        <p:spPr>
          <a:xfrm>
            <a:off x="2524125" y="309562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0231" name="Text Box 7"/>
          <p:cNvSpPr txBox="1"/>
          <p:nvPr/>
        </p:nvSpPr>
        <p:spPr>
          <a:xfrm>
            <a:off x="2524125" y="427513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0 . 0 0 0 0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0232" name="Text Box 8"/>
          <p:cNvSpPr txBox="1"/>
          <p:nvPr/>
        </p:nvSpPr>
        <p:spPr>
          <a:xfrm>
            <a:off x="2524125" y="545306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0233" name="Text Box 9"/>
          <p:cNvSpPr txBox="1"/>
          <p:nvPr/>
        </p:nvSpPr>
        <p:spPr>
          <a:xfrm>
            <a:off x="7178675" y="1617663"/>
            <a:ext cx="2298065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初态，部分积 </a:t>
            </a:r>
            <a:r>
              <a:rPr lang="en-US" altLang="zh-CN" sz="2200" b="1" dirty="0">
                <a:latin typeface="Times New Roman" panose="02020603050405020304" pitchFamily="18" charset="0"/>
              </a:rPr>
              <a:t>= 0</a:t>
            </a:r>
            <a:endParaRPr lang="en-US" altLang="zh-CN" sz="2200" b="1" dirty="0">
              <a:latin typeface="Times New Roman" panose="02020603050405020304" pitchFamily="18" charset="0"/>
            </a:endParaRPr>
          </a:p>
        </p:txBody>
      </p:sp>
      <p:sp>
        <p:nvSpPr>
          <p:cNvPr id="180234" name="Text Box 10"/>
          <p:cNvSpPr txBox="1"/>
          <p:nvPr/>
        </p:nvSpPr>
        <p:spPr>
          <a:xfrm>
            <a:off x="7178675" y="2011363"/>
            <a:ext cx="262763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乘数为 </a:t>
            </a:r>
            <a:r>
              <a:rPr lang="en-US" altLang="zh-CN" sz="2200" b="1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，加被乘数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180235" name="Line 11"/>
          <p:cNvSpPr/>
          <p:nvPr/>
        </p:nvSpPr>
        <p:spPr>
          <a:xfrm>
            <a:off x="2301875" y="2389188"/>
            <a:ext cx="769461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0236" name="Line 12"/>
          <p:cNvSpPr/>
          <p:nvPr/>
        </p:nvSpPr>
        <p:spPr>
          <a:xfrm>
            <a:off x="2301875" y="3581400"/>
            <a:ext cx="769461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0237" name="Line 13"/>
          <p:cNvSpPr/>
          <p:nvPr/>
        </p:nvSpPr>
        <p:spPr>
          <a:xfrm>
            <a:off x="2301875" y="4724400"/>
            <a:ext cx="769461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0238" name="Line 14"/>
          <p:cNvSpPr/>
          <p:nvPr/>
        </p:nvSpPr>
        <p:spPr>
          <a:xfrm>
            <a:off x="2301875" y="5943600"/>
            <a:ext cx="769461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0239" name="Text Box 15"/>
          <p:cNvSpPr txBox="1"/>
          <p:nvPr/>
        </p:nvSpPr>
        <p:spPr>
          <a:xfrm>
            <a:off x="7178675" y="3119438"/>
            <a:ext cx="262763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乘数为 </a:t>
            </a:r>
            <a:r>
              <a:rPr lang="en-US" altLang="zh-CN" sz="2200" b="1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，加被乘数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180240" name="Text Box 16"/>
          <p:cNvSpPr txBox="1"/>
          <p:nvPr/>
        </p:nvSpPr>
        <p:spPr>
          <a:xfrm>
            <a:off x="7178675" y="4298950"/>
            <a:ext cx="19989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乘数为 </a:t>
            </a:r>
            <a:r>
              <a:rPr lang="en-US" altLang="zh-CN" sz="2200" b="1" dirty="0">
                <a:latin typeface="Times New Roman" panose="02020603050405020304" pitchFamily="18" charset="0"/>
              </a:rPr>
              <a:t>0</a:t>
            </a:r>
            <a:r>
              <a:rPr lang="zh-CN" altLang="en-US" sz="2200" b="1" dirty="0">
                <a:latin typeface="Times New Roman" panose="02020603050405020304" pitchFamily="18" charset="0"/>
              </a:rPr>
              <a:t>，加 </a:t>
            </a:r>
            <a:r>
              <a:rPr lang="en-US" altLang="zh-CN" sz="2200" b="1" dirty="0">
                <a:latin typeface="Times New Roman" panose="02020603050405020304" pitchFamily="18" charset="0"/>
              </a:rPr>
              <a:t>0</a:t>
            </a:r>
            <a:endParaRPr lang="en-US" altLang="zh-CN" sz="2200" b="1" dirty="0">
              <a:latin typeface="Times New Roman" panose="02020603050405020304" pitchFamily="18" charset="0"/>
            </a:endParaRPr>
          </a:p>
        </p:txBody>
      </p:sp>
      <p:grpSp>
        <p:nvGrpSpPr>
          <p:cNvPr id="180241" name="Group 17"/>
          <p:cNvGrpSpPr/>
          <p:nvPr/>
        </p:nvGrpSpPr>
        <p:grpSpPr>
          <a:xfrm>
            <a:off x="2524125" y="3489325"/>
            <a:ext cx="2728913" cy="522288"/>
            <a:chOff x="764" y="2198"/>
            <a:chExt cx="1719" cy="329"/>
          </a:xfrm>
        </p:grpSpPr>
        <p:sp>
          <p:nvSpPr>
            <p:cNvPr id="180294" name="Text Box 18"/>
            <p:cNvSpPr txBox="1"/>
            <p:nvPr/>
          </p:nvSpPr>
          <p:spPr>
            <a:xfrm>
              <a:off x="764" y="2198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1 . 0 0 1 1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0295" name="Text Box 19"/>
            <p:cNvSpPr txBox="1"/>
            <p:nvPr/>
          </p:nvSpPr>
          <p:spPr>
            <a:xfrm>
              <a:off x="2256" y="2198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0242" name="Group 20"/>
          <p:cNvGrpSpPr/>
          <p:nvPr/>
        </p:nvGrpSpPr>
        <p:grpSpPr>
          <a:xfrm>
            <a:off x="2524125" y="4667250"/>
            <a:ext cx="2995613" cy="522288"/>
            <a:chOff x="764" y="2940"/>
            <a:chExt cx="1887" cy="329"/>
          </a:xfrm>
        </p:grpSpPr>
        <p:sp>
          <p:nvSpPr>
            <p:cNvPr id="180292" name="Text Box 21"/>
            <p:cNvSpPr txBox="1"/>
            <p:nvPr/>
          </p:nvSpPr>
          <p:spPr>
            <a:xfrm>
              <a:off x="764" y="2940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0 . 1 0 0 1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0293" name="Text Box 22"/>
            <p:cNvSpPr txBox="1"/>
            <p:nvPr/>
          </p:nvSpPr>
          <p:spPr>
            <a:xfrm>
              <a:off x="2256" y="2940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0243" name="Group 23"/>
          <p:cNvGrpSpPr/>
          <p:nvPr/>
        </p:nvGrpSpPr>
        <p:grpSpPr>
          <a:xfrm>
            <a:off x="2524125" y="5870575"/>
            <a:ext cx="3262313" cy="522288"/>
            <a:chOff x="764" y="3698"/>
            <a:chExt cx="2055" cy="329"/>
          </a:xfrm>
        </p:grpSpPr>
        <p:sp>
          <p:nvSpPr>
            <p:cNvPr id="180290" name="Text Box 24"/>
            <p:cNvSpPr txBox="1"/>
            <p:nvPr/>
          </p:nvSpPr>
          <p:spPr>
            <a:xfrm>
              <a:off x="764" y="3698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1 . 0 0 0 1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0291" name="Text Box 25"/>
            <p:cNvSpPr txBox="1"/>
            <p:nvPr/>
          </p:nvSpPr>
          <p:spPr>
            <a:xfrm>
              <a:off x="2256" y="3698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0244" name="Text Box 26"/>
          <p:cNvSpPr txBox="1"/>
          <p:nvPr/>
        </p:nvSpPr>
        <p:spPr>
          <a:xfrm>
            <a:off x="7178675" y="5538788"/>
            <a:ext cx="26974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latin typeface="Times New Roman" panose="02020603050405020304" pitchFamily="18" charset="0"/>
              </a:rPr>
              <a:t>乘数为 </a:t>
            </a:r>
            <a:r>
              <a:rPr lang="en-US" altLang="zh-CN" sz="2200" b="1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，加 被乘数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grpSp>
        <p:nvGrpSpPr>
          <p:cNvPr id="180245" name="Group 27"/>
          <p:cNvGrpSpPr/>
          <p:nvPr/>
        </p:nvGrpSpPr>
        <p:grpSpPr>
          <a:xfrm>
            <a:off x="2524125" y="6262688"/>
            <a:ext cx="6418263" cy="522287"/>
            <a:chOff x="630" y="3945"/>
            <a:chExt cx="4043" cy="329"/>
          </a:xfrm>
        </p:grpSpPr>
        <p:sp>
          <p:nvSpPr>
            <p:cNvPr id="180285" name="Text Box 28"/>
            <p:cNvSpPr txBox="1"/>
            <p:nvPr/>
          </p:nvSpPr>
          <p:spPr>
            <a:xfrm>
              <a:off x="630" y="3945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0 . 1 0 0 0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0286" name="Text Box 29"/>
            <p:cNvSpPr txBox="1"/>
            <p:nvPr/>
          </p:nvSpPr>
          <p:spPr>
            <a:xfrm>
              <a:off x="2122" y="3945"/>
              <a:ext cx="73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0287" name="Group 30"/>
            <p:cNvGrpSpPr/>
            <p:nvPr/>
          </p:nvGrpSpPr>
          <p:grpSpPr>
            <a:xfrm>
              <a:off x="3622" y="3945"/>
              <a:ext cx="1051" cy="271"/>
              <a:chOff x="3622" y="3945"/>
              <a:chExt cx="1051" cy="271"/>
            </a:xfrm>
          </p:grpSpPr>
          <p:sp>
            <p:nvSpPr>
              <p:cNvPr id="180288" name="Text Box 31"/>
              <p:cNvSpPr txBox="1"/>
              <p:nvPr/>
            </p:nvSpPr>
            <p:spPr>
              <a:xfrm>
                <a:off x="3766" y="3945"/>
                <a:ext cx="90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，得结果</a:t>
                </a:r>
                <a:endParaRPr lang="zh-CN" altLang="en-US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289" name="Line 32"/>
              <p:cNvSpPr/>
              <p:nvPr/>
            </p:nvSpPr>
            <p:spPr>
              <a:xfrm>
                <a:off x="3622" y="408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</p:grpSp>
      <p:grpSp>
        <p:nvGrpSpPr>
          <p:cNvPr id="180246" name="Group 33"/>
          <p:cNvGrpSpPr/>
          <p:nvPr/>
        </p:nvGrpSpPr>
        <p:grpSpPr>
          <a:xfrm>
            <a:off x="4892675" y="1524000"/>
            <a:ext cx="1223963" cy="741363"/>
            <a:chOff x="2256" y="960"/>
            <a:chExt cx="771" cy="467"/>
          </a:xfrm>
        </p:grpSpPr>
        <p:sp>
          <p:nvSpPr>
            <p:cNvPr id="180283" name="Text Box 34"/>
            <p:cNvSpPr txBox="1"/>
            <p:nvPr/>
          </p:nvSpPr>
          <p:spPr>
            <a:xfrm>
              <a:off x="2256" y="960"/>
              <a:ext cx="73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1 0 1 1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0284" name="Text Box 35"/>
            <p:cNvSpPr txBox="1"/>
            <p:nvPr/>
          </p:nvSpPr>
          <p:spPr>
            <a:xfrm>
              <a:off x="2784" y="1098"/>
              <a:ext cx="24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=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0247" name="Group 36"/>
          <p:cNvGrpSpPr/>
          <p:nvPr/>
        </p:nvGrpSpPr>
        <p:grpSpPr>
          <a:xfrm>
            <a:off x="2524125" y="2703513"/>
            <a:ext cx="7535863" cy="728662"/>
            <a:chOff x="630" y="1703"/>
            <a:chExt cx="4747" cy="459"/>
          </a:xfrm>
        </p:grpSpPr>
        <p:sp>
          <p:nvSpPr>
            <p:cNvPr id="180276" name="Text Box 37"/>
            <p:cNvSpPr txBox="1"/>
            <p:nvPr/>
          </p:nvSpPr>
          <p:spPr>
            <a:xfrm>
              <a:off x="630" y="1703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0 . 0 1 1 0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0277" name="Group 38"/>
            <p:cNvGrpSpPr/>
            <p:nvPr/>
          </p:nvGrpSpPr>
          <p:grpSpPr>
            <a:xfrm>
              <a:off x="3622" y="1718"/>
              <a:ext cx="1755" cy="271"/>
              <a:chOff x="3622" y="1718"/>
              <a:chExt cx="1755" cy="271"/>
            </a:xfrm>
          </p:grpSpPr>
          <p:sp>
            <p:nvSpPr>
              <p:cNvPr id="180281" name="Text Box 39"/>
              <p:cNvSpPr txBox="1"/>
              <p:nvPr/>
            </p:nvSpPr>
            <p:spPr>
              <a:xfrm>
                <a:off x="3766" y="1718"/>
                <a:ext cx="1611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，形成新的部分积</a:t>
                </a:r>
                <a:endParaRPr lang="zh-CN" altLang="en-US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282" name="Line 40"/>
              <p:cNvSpPr/>
              <p:nvPr/>
            </p:nvSpPr>
            <p:spPr>
              <a:xfrm>
                <a:off x="3622" y="1872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  <p:grpSp>
          <p:nvGrpSpPr>
            <p:cNvPr id="180278" name="Group 41"/>
            <p:cNvGrpSpPr/>
            <p:nvPr/>
          </p:nvGrpSpPr>
          <p:grpSpPr>
            <a:xfrm>
              <a:off x="2122" y="1703"/>
              <a:ext cx="771" cy="459"/>
              <a:chOff x="2122" y="1703"/>
              <a:chExt cx="771" cy="459"/>
            </a:xfrm>
          </p:grpSpPr>
          <p:sp>
            <p:nvSpPr>
              <p:cNvPr id="180279" name="Text Box 42"/>
              <p:cNvSpPr txBox="1"/>
              <p:nvPr/>
            </p:nvSpPr>
            <p:spPr>
              <a:xfrm>
                <a:off x="2122" y="1703"/>
                <a:ext cx="73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1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1 0 1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280" name="Text Box 43"/>
              <p:cNvSpPr txBox="1"/>
              <p:nvPr/>
            </p:nvSpPr>
            <p:spPr>
              <a:xfrm>
                <a:off x="2650" y="1833"/>
                <a:ext cx="24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=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0248" name="Group 44"/>
          <p:cNvGrpSpPr/>
          <p:nvPr/>
        </p:nvGrpSpPr>
        <p:grpSpPr>
          <a:xfrm>
            <a:off x="2524125" y="3881438"/>
            <a:ext cx="7596188" cy="755650"/>
            <a:chOff x="630" y="2445"/>
            <a:chExt cx="4785" cy="476"/>
          </a:xfrm>
        </p:grpSpPr>
        <p:sp>
          <p:nvSpPr>
            <p:cNvPr id="180269" name="Text Box 45"/>
            <p:cNvSpPr txBox="1"/>
            <p:nvPr/>
          </p:nvSpPr>
          <p:spPr>
            <a:xfrm>
              <a:off x="630" y="2445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0 . 1 0 0 1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0270" name="Group 46"/>
            <p:cNvGrpSpPr/>
            <p:nvPr/>
          </p:nvGrpSpPr>
          <p:grpSpPr>
            <a:xfrm>
              <a:off x="3622" y="2489"/>
              <a:ext cx="1793" cy="271"/>
              <a:chOff x="3622" y="2489"/>
              <a:chExt cx="1793" cy="271"/>
            </a:xfrm>
          </p:grpSpPr>
          <p:sp>
            <p:nvSpPr>
              <p:cNvPr id="180274" name="Line 47"/>
              <p:cNvSpPr/>
              <p:nvPr/>
            </p:nvSpPr>
            <p:spPr>
              <a:xfrm>
                <a:off x="3622" y="264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  <p:sp>
            <p:nvSpPr>
              <p:cNvPr id="180275" name="Text Box 48"/>
              <p:cNvSpPr txBox="1"/>
              <p:nvPr/>
            </p:nvSpPr>
            <p:spPr>
              <a:xfrm>
                <a:off x="3804" y="2489"/>
                <a:ext cx="1611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，形成新的部分积</a:t>
                </a:r>
                <a:endParaRPr lang="zh-CN" altLang="en-US" sz="22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0271" name="Group 49"/>
            <p:cNvGrpSpPr/>
            <p:nvPr/>
          </p:nvGrpSpPr>
          <p:grpSpPr>
            <a:xfrm>
              <a:off x="2122" y="2445"/>
              <a:ext cx="771" cy="476"/>
              <a:chOff x="2122" y="2445"/>
              <a:chExt cx="771" cy="476"/>
            </a:xfrm>
          </p:grpSpPr>
          <p:sp>
            <p:nvSpPr>
              <p:cNvPr id="180272" name="Text Box 50"/>
              <p:cNvSpPr txBox="1"/>
              <p:nvPr/>
            </p:nvSpPr>
            <p:spPr>
              <a:xfrm>
                <a:off x="2122" y="2445"/>
                <a:ext cx="73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1 1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1 0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273" name="Text Box 51"/>
              <p:cNvSpPr txBox="1"/>
              <p:nvPr/>
            </p:nvSpPr>
            <p:spPr>
              <a:xfrm>
                <a:off x="2650" y="2592"/>
                <a:ext cx="24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=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0249" name="Group 52"/>
          <p:cNvGrpSpPr/>
          <p:nvPr/>
        </p:nvGrpSpPr>
        <p:grpSpPr>
          <a:xfrm>
            <a:off x="2524125" y="5060950"/>
            <a:ext cx="7596188" cy="733425"/>
            <a:chOff x="630" y="3188"/>
            <a:chExt cx="4785" cy="462"/>
          </a:xfrm>
        </p:grpSpPr>
        <p:sp>
          <p:nvSpPr>
            <p:cNvPr id="180262" name="Text Box 53"/>
            <p:cNvSpPr txBox="1"/>
            <p:nvPr/>
          </p:nvSpPr>
          <p:spPr>
            <a:xfrm>
              <a:off x="630" y="3188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0 . 0 1 0 0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0263" name="Group 54"/>
            <p:cNvGrpSpPr/>
            <p:nvPr/>
          </p:nvGrpSpPr>
          <p:grpSpPr>
            <a:xfrm>
              <a:off x="3622" y="3216"/>
              <a:ext cx="1793" cy="271"/>
              <a:chOff x="3622" y="3216"/>
              <a:chExt cx="1793" cy="271"/>
            </a:xfrm>
          </p:grpSpPr>
          <p:sp>
            <p:nvSpPr>
              <p:cNvPr id="180267" name="Line 55"/>
              <p:cNvSpPr/>
              <p:nvPr/>
            </p:nvSpPr>
            <p:spPr>
              <a:xfrm>
                <a:off x="3622" y="3367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  <p:sp>
            <p:nvSpPr>
              <p:cNvPr id="180268" name="Text Box 56"/>
              <p:cNvSpPr txBox="1"/>
              <p:nvPr/>
            </p:nvSpPr>
            <p:spPr>
              <a:xfrm>
                <a:off x="3804" y="3216"/>
                <a:ext cx="1611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，形成新的部分积</a:t>
                </a:r>
                <a:endParaRPr lang="zh-CN" altLang="en-US" sz="22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0264" name="Group 57"/>
            <p:cNvGrpSpPr/>
            <p:nvPr/>
          </p:nvGrpSpPr>
          <p:grpSpPr>
            <a:xfrm>
              <a:off x="2122" y="3188"/>
              <a:ext cx="771" cy="462"/>
              <a:chOff x="2122" y="3188"/>
              <a:chExt cx="771" cy="462"/>
            </a:xfrm>
          </p:grpSpPr>
          <p:sp>
            <p:nvSpPr>
              <p:cNvPr id="180265" name="Text Box 58"/>
              <p:cNvSpPr txBox="1"/>
              <p:nvPr/>
            </p:nvSpPr>
            <p:spPr>
              <a:xfrm>
                <a:off x="2122" y="3188"/>
                <a:ext cx="73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1 1 1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266" name="Text Box 59"/>
              <p:cNvSpPr txBox="1"/>
              <p:nvPr/>
            </p:nvSpPr>
            <p:spPr>
              <a:xfrm>
                <a:off x="2650" y="3321"/>
                <a:ext cx="24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=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0250" name="Group 60"/>
          <p:cNvGrpSpPr/>
          <p:nvPr/>
        </p:nvGrpSpPr>
        <p:grpSpPr>
          <a:xfrm>
            <a:off x="2133600" y="1066800"/>
            <a:ext cx="7862888" cy="5715000"/>
            <a:chOff x="518" y="672"/>
            <a:chExt cx="4953" cy="3600"/>
          </a:xfrm>
        </p:grpSpPr>
        <p:sp>
          <p:nvSpPr>
            <p:cNvPr id="180258" name="Text Box 61"/>
            <p:cNvSpPr txBox="1"/>
            <p:nvPr/>
          </p:nvSpPr>
          <p:spPr>
            <a:xfrm>
              <a:off x="518" y="672"/>
              <a:ext cx="420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部 分 积             乘 数                       说 明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0259" name="Line 62"/>
            <p:cNvSpPr/>
            <p:nvPr/>
          </p:nvSpPr>
          <p:spPr>
            <a:xfrm>
              <a:off x="624" y="1008"/>
              <a:ext cx="48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80260" name="Line 63"/>
            <p:cNvSpPr/>
            <p:nvPr/>
          </p:nvSpPr>
          <p:spPr>
            <a:xfrm>
              <a:off x="1968" y="672"/>
              <a:ext cx="0" cy="36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80261" name="Line 64"/>
            <p:cNvSpPr/>
            <p:nvPr/>
          </p:nvSpPr>
          <p:spPr>
            <a:xfrm>
              <a:off x="3360" y="672"/>
              <a:ext cx="0" cy="36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489" name="Rectangle 6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252" name="AutoShape 6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0253" name="Text Box 67"/>
          <p:cNvSpPr txBox="1"/>
          <p:nvPr/>
        </p:nvSpPr>
        <p:spPr>
          <a:xfrm>
            <a:off x="2208213" y="1989138"/>
            <a:ext cx="5397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80254" name="Text Box 68"/>
          <p:cNvSpPr txBox="1"/>
          <p:nvPr/>
        </p:nvSpPr>
        <p:spPr>
          <a:xfrm>
            <a:off x="2208213" y="3141663"/>
            <a:ext cx="5397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80255" name="Text Box 69"/>
          <p:cNvSpPr txBox="1"/>
          <p:nvPr/>
        </p:nvSpPr>
        <p:spPr>
          <a:xfrm>
            <a:off x="2208213" y="4357688"/>
            <a:ext cx="5397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80256" name="Text Box 70"/>
          <p:cNvSpPr txBox="1"/>
          <p:nvPr/>
        </p:nvSpPr>
        <p:spPr>
          <a:xfrm>
            <a:off x="2171700" y="5510213"/>
            <a:ext cx="5397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8025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Text Box 2"/>
          <p:cNvSpPr txBox="1"/>
          <p:nvPr/>
        </p:nvSpPr>
        <p:spPr>
          <a:xfrm>
            <a:off x="2193925" y="196850"/>
            <a:ext cx="10972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小结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81251" name="Text Box 3"/>
          <p:cNvSpPr txBox="1"/>
          <p:nvPr/>
        </p:nvSpPr>
        <p:spPr>
          <a:xfrm>
            <a:off x="1981200" y="4275138"/>
            <a:ext cx="51771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被乘数只与部分积的高位相加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1252" name="Group 4"/>
          <p:cNvGrpSpPr/>
          <p:nvPr/>
        </p:nvGrpSpPr>
        <p:grpSpPr>
          <a:xfrm>
            <a:off x="1981200" y="2201863"/>
            <a:ext cx="8362950" cy="1835149"/>
            <a:chOff x="288" y="1387"/>
            <a:chExt cx="5268" cy="1156"/>
          </a:xfrm>
        </p:grpSpPr>
        <p:sp>
          <p:nvSpPr>
            <p:cNvPr id="181260" name="Text Box 5"/>
            <p:cNvSpPr txBox="1"/>
            <p:nvPr/>
          </p:nvSpPr>
          <p:spPr>
            <a:xfrm>
              <a:off x="288" y="1387"/>
              <a:ext cx="5268" cy="11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35000"/>
                </a:lnSpc>
                <a:buFont typeface="Wingdings" panose="05000000000000000000" pitchFamily="2" charset="2"/>
                <a:buChar char="Ø"/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由乘数的末位决定被乘数是否与原部分积相加，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>
                <a:lnSpc>
                  <a:spcPct val="135000"/>
                </a:lnSpc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     然后      </a:t>
              </a:r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1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位形成新的部分积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，同时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乘数       </a:t>
              </a:r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9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　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135000"/>
                </a:lnSpc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　（末位移丢），空出高位存放部分积的低位。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1261" name="Line 6"/>
            <p:cNvSpPr/>
            <p:nvPr/>
          </p:nvSpPr>
          <p:spPr>
            <a:xfrm>
              <a:off x="1104" y="1988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81262" name="Line 7"/>
            <p:cNvSpPr/>
            <p:nvPr/>
          </p:nvSpPr>
          <p:spPr>
            <a:xfrm>
              <a:off x="4606" y="1988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81253" name="Text Box 8"/>
          <p:cNvSpPr txBox="1"/>
          <p:nvPr/>
        </p:nvSpPr>
        <p:spPr>
          <a:xfrm>
            <a:off x="2438400" y="518953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硬件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1254" name="Text Box 9"/>
          <p:cNvSpPr txBox="1"/>
          <p:nvPr/>
        </p:nvSpPr>
        <p:spPr>
          <a:xfrm>
            <a:off x="3690938" y="5211763"/>
            <a:ext cx="43865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900" b="1" dirty="0">
                <a:latin typeface="Times New Roman" panose="02020603050405020304" pitchFamily="18" charset="0"/>
              </a:rPr>
              <a:t>　</a:t>
            </a:r>
            <a:r>
              <a:rPr lang="zh-CN" altLang="en-US" sz="2800" b="1" dirty="0">
                <a:latin typeface="Times New Roman" panose="02020603050405020304" pitchFamily="18" charset="0"/>
              </a:rPr>
              <a:t>个寄存器，具有移位功能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81255" name="Text Box 10"/>
          <p:cNvSpPr txBox="1"/>
          <p:nvPr/>
        </p:nvSpPr>
        <p:spPr>
          <a:xfrm>
            <a:off x="3690938" y="5883275"/>
            <a:ext cx="1897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900" b="1" dirty="0">
                <a:latin typeface="Times New Roman" panose="02020603050405020304" pitchFamily="18" charset="0"/>
              </a:rPr>
              <a:t>　</a:t>
            </a:r>
            <a:r>
              <a:rPr lang="zh-CN" altLang="en-US" sz="2800" b="1" dirty="0">
                <a:latin typeface="Times New Roman" panose="02020603050405020304" pitchFamily="18" charset="0"/>
              </a:rPr>
              <a:t>个全加器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04459" name="Rectangle 1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1257" name="Text Box 12"/>
          <p:cNvSpPr txBox="1"/>
          <p:nvPr/>
        </p:nvSpPr>
        <p:spPr>
          <a:xfrm>
            <a:off x="1981200" y="1047750"/>
            <a:ext cx="6851650" cy="116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乘法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运算可用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加和移位实现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</a:pPr>
            <a:r>
              <a:rPr lang="zh-CN" altLang="en-US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　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4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加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次，移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1258" name="AutoShape 1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125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4" name="Text Box 2"/>
          <p:cNvSpPr txBox="1"/>
          <p:nvPr/>
        </p:nvSpPr>
        <p:spPr>
          <a:xfrm>
            <a:off x="2171700" y="304800"/>
            <a:ext cx="2468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原码乘法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82275" name="Text Box 3"/>
          <p:cNvSpPr txBox="1"/>
          <p:nvPr/>
        </p:nvSpPr>
        <p:spPr>
          <a:xfrm>
            <a:off x="2193925" y="990600"/>
            <a:ext cx="4664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原码一位乘运算规则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82276" name="Text Box 4"/>
          <p:cNvSpPr txBox="1"/>
          <p:nvPr/>
        </p:nvSpPr>
        <p:spPr>
          <a:xfrm>
            <a:off x="2727325" y="1533525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以小数为例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82277" name="Group 5"/>
          <p:cNvGrpSpPr/>
          <p:nvPr/>
        </p:nvGrpSpPr>
        <p:grpSpPr>
          <a:xfrm>
            <a:off x="2955925" y="2098675"/>
            <a:ext cx="4071938" cy="588963"/>
            <a:chOff x="902" y="1322"/>
            <a:chExt cx="2565" cy="371"/>
          </a:xfrm>
        </p:grpSpPr>
        <p:sp>
          <p:nvSpPr>
            <p:cNvPr id="182303" name="Text Box 6"/>
            <p:cNvSpPr txBox="1"/>
            <p:nvPr/>
          </p:nvSpPr>
          <p:spPr>
            <a:xfrm>
              <a:off x="902" y="1364"/>
              <a:ext cx="256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设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2304" name="Text Box 7"/>
            <p:cNvSpPr txBox="1"/>
            <p:nvPr/>
          </p:nvSpPr>
          <p:spPr>
            <a:xfrm>
              <a:off x="2630" y="1322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2278" name="Group 8"/>
          <p:cNvGrpSpPr/>
          <p:nvPr/>
        </p:nvGrpSpPr>
        <p:grpSpPr>
          <a:xfrm>
            <a:off x="3346450" y="2722563"/>
            <a:ext cx="3617913" cy="522287"/>
            <a:chOff x="1100" y="1715"/>
            <a:chExt cx="2279" cy="329"/>
          </a:xfrm>
        </p:grpSpPr>
        <p:sp>
          <p:nvSpPr>
            <p:cNvPr id="182301" name="Text Box 9"/>
            <p:cNvSpPr txBox="1"/>
            <p:nvPr/>
          </p:nvSpPr>
          <p:spPr>
            <a:xfrm>
              <a:off x="1100" y="1715"/>
              <a:ext cx="22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2302" name="Text Box 10"/>
            <p:cNvSpPr txBox="1"/>
            <p:nvPr/>
          </p:nvSpPr>
          <p:spPr>
            <a:xfrm>
              <a:off x="2640" y="1715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2279" name="Group 11"/>
          <p:cNvGrpSpPr/>
          <p:nvPr/>
        </p:nvGrpSpPr>
        <p:grpSpPr>
          <a:xfrm>
            <a:off x="4052888" y="3886200"/>
            <a:ext cx="3948112" cy="522288"/>
            <a:chOff x="1593" y="2448"/>
            <a:chExt cx="2487" cy="329"/>
          </a:xfrm>
        </p:grpSpPr>
        <p:sp>
          <p:nvSpPr>
            <p:cNvPr id="182299" name="Text Box 12"/>
            <p:cNvSpPr txBox="1"/>
            <p:nvPr/>
          </p:nvSpPr>
          <p:spPr>
            <a:xfrm>
              <a:off x="1593" y="2448"/>
              <a:ext cx="24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2300" name="AutoShape 13"/>
            <p:cNvSpPr/>
            <p:nvPr/>
          </p:nvSpPr>
          <p:spPr>
            <a:xfrm>
              <a:off x="2095" y="2547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2280" name="Group 14"/>
          <p:cNvGrpSpPr/>
          <p:nvPr/>
        </p:nvGrpSpPr>
        <p:grpSpPr>
          <a:xfrm>
            <a:off x="2895600" y="3276600"/>
            <a:ext cx="6678613" cy="554038"/>
            <a:chOff x="864" y="2064"/>
            <a:chExt cx="4207" cy="349"/>
          </a:xfrm>
        </p:grpSpPr>
        <p:sp>
          <p:nvSpPr>
            <p:cNvPr id="182294" name="AutoShape 15"/>
            <p:cNvSpPr/>
            <p:nvPr/>
          </p:nvSpPr>
          <p:spPr>
            <a:xfrm>
              <a:off x="2095" y="2183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82295" name="Group 16"/>
            <p:cNvGrpSpPr/>
            <p:nvPr/>
          </p:nvGrpSpPr>
          <p:grpSpPr>
            <a:xfrm>
              <a:off x="864" y="2064"/>
              <a:ext cx="4207" cy="349"/>
              <a:chOff x="864" y="2064"/>
              <a:chExt cx="4207" cy="349"/>
            </a:xfrm>
          </p:grpSpPr>
          <p:sp>
            <p:nvSpPr>
              <p:cNvPr id="182296" name="Text Box 17"/>
              <p:cNvSpPr txBox="1"/>
              <p:nvPr/>
            </p:nvSpPr>
            <p:spPr>
              <a:xfrm>
                <a:off x="864" y="2084"/>
                <a:ext cx="420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原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= (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).(0.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2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)(0.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297" name="Text Box 18"/>
              <p:cNvSpPr txBox="1"/>
              <p:nvPr/>
            </p:nvSpPr>
            <p:spPr>
              <a:xfrm>
                <a:off x="3195" y="2064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298" name="Text Box 19"/>
              <p:cNvSpPr txBox="1"/>
              <p:nvPr/>
            </p:nvSpPr>
            <p:spPr>
              <a:xfrm>
                <a:off x="4443" y="2064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2281" name="Group 20"/>
          <p:cNvGrpSpPr/>
          <p:nvPr/>
        </p:nvGrpSpPr>
        <p:grpSpPr>
          <a:xfrm>
            <a:off x="2819400" y="4357688"/>
            <a:ext cx="6175375" cy="574675"/>
            <a:chOff x="710" y="2745"/>
            <a:chExt cx="3890" cy="362"/>
          </a:xfrm>
        </p:grpSpPr>
        <p:sp>
          <p:nvSpPr>
            <p:cNvPr id="182292" name="Text Box 21"/>
            <p:cNvSpPr txBox="1"/>
            <p:nvPr/>
          </p:nvSpPr>
          <p:spPr>
            <a:xfrm>
              <a:off x="710" y="2778"/>
              <a:ext cx="389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式中  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0.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为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的绝对值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2293" name="Text Box 22"/>
            <p:cNvSpPr txBox="1"/>
            <p:nvPr/>
          </p:nvSpPr>
          <p:spPr>
            <a:xfrm>
              <a:off x="2256" y="2745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2282" name="Group 23"/>
          <p:cNvGrpSpPr/>
          <p:nvPr/>
        </p:nvGrpSpPr>
        <p:grpSpPr>
          <a:xfrm>
            <a:off x="3714750" y="4914900"/>
            <a:ext cx="5276850" cy="574675"/>
            <a:chOff x="1292" y="3096"/>
            <a:chExt cx="3324" cy="362"/>
          </a:xfrm>
        </p:grpSpPr>
        <p:sp>
          <p:nvSpPr>
            <p:cNvPr id="182290" name="Text Box 24"/>
            <p:cNvSpPr txBox="1"/>
            <p:nvPr/>
          </p:nvSpPr>
          <p:spPr>
            <a:xfrm>
              <a:off x="1292" y="3129"/>
              <a:ext cx="33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0</a:t>
              </a:r>
              <a:r>
                <a:rPr lang="en-US" altLang="en-US" sz="28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为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的绝对值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2291" name="Text Box 25"/>
            <p:cNvSpPr txBox="1"/>
            <p:nvPr/>
          </p:nvSpPr>
          <p:spPr>
            <a:xfrm>
              <a:off x="2256" y="3096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2283" name="Group 26"/>
          <p:cNvGrpSpPr/>
          <p:nvPr/>
        </p:nvGrpSpPr>
        <p:grpSpPr>
          <a:xfrm>
            <a:off x="2720975" y="5576888"/>
            <a:ext cx="4718050" cy="522287"/>
            <a:chOff x="754" y="3513"/>
            <a:chExt cx="2972" cy="329"/>
          </a:xfrm>
        </p:grpSpPr>
        <p:sp>
          <p:nvSpPr>
            <p:cNvPr id="182288" name="Text Box 27"/>
            <p:cNvSpPr txBox="1"/>
            <p:nvPr/>
          </p:nvSpPr>
          <p:spPr>
            <a:xfrm>
              <a:off x="754" y="3513"/>
              <a:ext cx="297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乘积的符号位单独处理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2289" name="AutoShape 28"/>
            <p:cNvSpPr/>
            <p:nvPr/>
          </p:nvSpPr>
          <p:spPr>
            <a:xfrm>
              <a:off x="3312" y="3609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82284" name="Text Box 29"/>
          <p:cNvSpPr txBox="1"/>
          <p:nvPr/>
        </p:nvSpPr>
        <p:spPr>
          <a:xfrm>
            <a:off x="2720975" y="6162675"/>
            <a:ext cx="480377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数值部分为绝对值相乘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*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5502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286" name="AutoShape 3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228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8" name="Text Box 2"/>
          <p:cNvSpPr txBox="1"/>
          <p:nvPr/>
        </p:nvSpPr>
        <p:spPr>
          <a:xfrm>
            <a:off x="1828800" y="381000"/>
            <a:ext cx="5791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原码一位乘递推公式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83299" name="Group 3"/>
          <p:cNvGrpSpPr/>
          <p:nvPr/>
        </p:nvGrpSpPr>
        <p:grpSpPr>
          <a:xfrm>
            <a:off x="2498725" y="1057275"/>
            <a:ext cx="4664075" cy="522288"/>
            <a:chOff x="614" y="666"/>
            <a:chExt cx="2938" cy="329"/>
          </a:xfrm>
        </p:grpSpPr>
        <p:sp>
          <p:nvSpPr>
            <p:cNvPr id="183325" name="Text Box 4"/>
            <p:cNvSpPr txBox="1"/>
            <p:nvPr/>
          </p:nvSpPr>
          <p:spPr>
            <a:xfrm>
              <a:off x="614" y="666"/>
              <a:ext cx="293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</a:t>
              </a:r>
              <a:r>
                <a:rPr lang="en-US" altLang="zh-CN" sz="14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 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*(0.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3326" name="Text Box 5"/>
            <p:cNvSpPr txBox="1"/>
            <p:nvPr/>
          </p:nvSpPr>
          <p:spPr>
            <a:xfrm>
              <a:off x="2245" y="666"/>
              <a:ext cx="80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3300" name="Group 6"/>
          <p:cNvGrpSpPr/>
          <p:nvPr/>
        </p:nvGrpSpPr>
        <p:grpSpPr>
          <a:xfrm>
            <a:off x="3422650" y="1725613"/>
            <a:ext cx="5049838" cy="588962"/>
            <a:chOff x="1196" y="1087"/>
            <a:chExt cx="3181" cy="371"/>
          </a:xfrm>
        </p:grpSpPr>
        <p:sp>
          <p:nvSpPr>
            <p:cNvPr id="183323" name="Text Box 7"/>
            <p:cNvSpPr txBox="1"/>
            <p:nvPr/>
          </p:nvSpPr>
          <p:spPr>
            <a:xfrm>
              <a:off x="1196" y="1129"/>
              <a:ext cx="318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-2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       +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4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3324" name="Text Box 8"/>
            <p:cNvSpPr txBox="1"/>
            <p:nvPr/>
          </p:nvSpPr>
          <p:spPr>
            <a:xfrm>
              <a:off x="2835" y="1087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3301" name="Group 9"/>
          <p:cNvGrpSpPr/>
          <p:nvPr/>
        </p:nvGrpSpPr>
        <p:grpSpPr>
          <a:xfrm>
            <a:off x="3422650" y="2462213"/>
            <a:ext cx="6705600" cy="588962"/>
            <a:chOff x="1196" y="1551"/>
            <a:chExt cx="4224" cy="371"/>
          </a:xfrm>
        </p:grpSpPr>
        <p:sp>
          <p:nvSpPr>
            <p:cNvPr id="183320" name="Text Box 10"/>
            <p:cNvSpPr txBox="1"/>
            <p:nvPr/>
          </p:nvSpPr>
          <p:spPr>
            <a:xfrm>
              <a:off x="1196" y="1593"/>
              <a:ext cx="42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*+2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*+      2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* + 0)     ))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3321" name="Text Box 11"/>
            <p:cNvSpPr txBox="1"/>
            <p:nvPr/>
          </p:nvSpPr>
          <p:spPr>
            <a:xfrm>
              <a:off x="3084" y="1551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3322" name="Text Box 12"/>
            <p:cNvSpPr txBox="1"/>
            <p:nvPr/>
          </p:nvSpPr>
          <p:spPr>
            <a:xfrm>
              <a:off x="4514" y="1551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3302" name="Group 13"/>
          <p:cNvGrpSpPr/>
          <p:nvPr/>
        </p:nvGrpSpPr>
        <p:grpSpPr>
          <a:xfrm>
            <a:off x="7086600" y="3276600"/>
            <a:ext cx="1676400" cy="612775"/>
            <a:chOff x="3504" y="2064"/>
            <a:chExt cx="1056" cy="386"/>
          </a:xfrm>
        </p:grpSpPr>
        <p:sp>
          <p:nvSpPr>
            <p:cNvPr id="183318" name="AutoShape 14"/>
            <p:cNvSpPr/>
            <p:nvPr/>
          </p:nvSpPr>
          <p:spPr>
            <a:xfrm rot="-5400000">
              <a:off x="3960" y="1608"/>
              <a:ext cx="144" cy="1056"/>
            </a:xfrm>
            <a:prstGeom prst="leftBrace">
              <a:avLst>
                <a:gd name="adj1" fmla="val 60533"/>
                <a:gd name="adj2" fmla="val 50000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3319" name="Text Box 15"/>
            <p:cNvSpPr txBox="1"/>
            <p:nvPr/>
          </p:nvSpPr>
          <p:spPr>
            <a:xfrm>
              <a:off x="3933" y="2121"/>
              <a:ext cx="26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3303" name="Group 16"/>
          <p:cNvGrpSpPr/>
          <p:nvPr/>
        </p:nvGrpSpPr>
        <p:grpSpPr>
          <a:xfrm>
            <a:off x="3886200" y="3810000"/>
            <a:ext cx="5562600" cy="612775"/>
            <a:chOff x="1488" y="2400"/>
            <a:chExt cx="3504" cy="386"/>
          </a:xfrm>
        </p:grpSpPr>
        <p:sp>
          <p:nvSpPr>
            <p:cNvPr id="183316" name="AutoShape 17"/>
            <p:cNvSpPr/>
            <p:nvPr/>
          </p:nvSpPr>
          <p:spPr>
            <a:xfrm rot="-5400000">
              <a:off x="3168" y="720"/>
              <a:ext cx="144" cy="3504"/>
            </a:xfrm>
            <a:prstGeom prst="leftBrace">
              <a:avLst>
                <a:gd name="adj1" fmla="val 200862"/>
                <a:gd name="adj2" fmla="val 50000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3317" name="Text Box 18"/>
            <p:cNvSpPr txBox="1"/>
            <p:nvPr/>
          </p:nvSpPr>
          <p:spPr>
            <a:xfrm>
              <a:off x="3120" y="2457"/>
              <a:ext cx="28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800" b="1" i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3304" name="Group 19"/>
          <p:cNvGrpSpPr/>
          <p:nvPr/>
        </p:nvGrpSpPr>
        <p:grpSpPr>
          <a:xfrm>
            <a:off x="2643187" y="4191000"/>
            <a:ext cx="2644775" cy="2289175"/>
            <a:chOff x="705" y="2640"/>
            <a:chExt cx="1666" cy="1442"/>
          </a:xfrm>
        </p:grpSpPr>
        <p:grpSp>
          <p:nvGrpSpPr>
            <p:cNvPr id="183310" name="Group 20"/>
            <p:cNvGrpSpPr/>
            <p:nvPr/>
          </p:nvGrpSpPr>
          <p:grpSpPr>
            <a:xfrm>
              <a:off x="720" y="2640"/>
              <a:ext cx="1651" cy="1442"/>
              <a:chOff x="720" y="2640"/>
              <a:chExt cx="1651" cy="1442"/>
            </a:xfrm>
          </p:grpSpPr>
          <p:sp>
            <p:nvSpPr>
              <p:cNvPr id="183312" name="Text Box 21"/>
              <p:cNvSpPr txBox="1"/>
              <p:nvPr/>
            </p:nvSpPr>
            <p:spPr>
              <a:xfrm>
                <a:off x="720" y="2640"/>
                <a:ext cx="61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0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313" name="Text Box 22"/>
              <p:cNvSpPr txBox="1"/>
              <p:nvPr/>
            </p:nvSpPr>
            <p:spPr>
              <a:xfrm>
                <a:off x="720" y="2909"/>
                <a:ext cx="1540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2</a:t>
                </a:r>
                <a:r>
                  <a:rPr lang="en-US" altLang="zh-CN" sz="2400" b="1" baseline="45000" dirty="0">
                    <a:latin typeface="Times New Roman" panose="02020603050405020304" pitchFamily="18" charset="0"/>
                  </a:rPr>
                  <a:t>-1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*+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314" name="Text Box 23"/>
              <p:cNvSpPr txBox="1"/>
              <p:nvPr/>
            </p:nvSpPr>
            <p:spPr>
              <a:xfrm>
                <a:off x="720" y="3177"/>
                <a:ext cx="164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2</a:t>
                </a:r>
                <a:r>
                  <a:rPr lang="en-US" altLang="zh-CN" sz="2400" b="1" baseline="45000" dirty="0">
                    <a:latin typeface="Times New Roman" panose="02020603050405020304" pitchFamily="18" charset="0"/>
                  </a:rPr>
                  <a:t>-1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-1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*+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315" name="Text Box 24"/>
              <p:cNvSpPr txBox="1"/>
              <p:nvPr/>
            </p:nvSpPr>
            <p:spPr>
              <a:xfrm>
                <a:off x="720" y="3753"/>
                <a:ext cx="165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2</a:t>
                </a:r>
                <a:r>
                  <a:rPr lang="en-US" altLang="zh-CN" sz="2400" b="1" baseline="45000" dirty="0">
                    <a:latin typeface="Times New Roman" panose="02020603050405020304" pitchFamily="18" charset="0"/>
                  </a:rPr>
                  <a:t>-1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*+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-1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3311" name="Text Box 25"/>
            <p:cNvSpPr txBox="1"/>
            <p:nvPr/>
          </p:nvSpPr>
          <p:spPr>
            <a:xfrm>
              <a:off x="705" y="3523"/>
              <a:ext cx="386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3305" name="Text Box 26"/>
          <p:cNvSpPr txBox="1"/>
          <p:nvPr/>
        </p:nvSpPr>
        <p:spPr>
          <a:xfrm>
            <a:off x="6383338" y="3352800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…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3306" name="Text Box 27"/>
          <p:cNvSpPr txBox="1"/>
          <p:nvPr/>
        </p:nvSpPr>
        <p:spPr>
          <a:xfrm>
            <a:off x="8289925" y="2819400"/>
            <a:ext cx="4203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24" name="Rectangle 2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308" name="AutoShape 2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330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2" name="Text Box 2"/>
          <p:cNvSpPr txBox="1"/>
          <p:nvPr/>
        </p:nvSpPr>
        <p:spPr>
          <a:xfrm>
            <a:off x="1676400" y="228600"/>
            <a:ext cx="1440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6.21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84323" name="Text Box 3"/>
          <p:cNvSpPr txBox="1"/>
          <p:nvPr/>
        </p:nvSpPr>
        <p:spPr>
          <a:xfrm>
            <a:off x="3124200" y="304800"/>
            <a:ext cx="685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已知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0.1110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0.1101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原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4324" name="Text Box 4"/>
          <p:cNvSpPr txBox="1"/>
          <p:nvPr/>
        </p:nvSpPr>
        <p:spPr>
          <a:xfrm>
            <a:off x="2149475" y="8524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26" name="Text Box 6"/>
          <p:cNvSpPr txBox="1"/>
          <p:nvPr/>
        </p:nvSpPr>
        <p:spPr>
          <a:xfrm>
            <a:off x="3276600" y="852488"/>
            <a:ext cx="4267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数值部分的运算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84327" name="Text Box 7"/>
          <p:cNvSpPr txBox="1"/>
          <p:nvPr/>
        </p:nvSpPr>
        <p:spPr>
          <a:xfrm>
            <a:off x="3032125" y="16002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0 . 0 0 0 0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4328" name="Text Box 8"/>
          <p:cNvSpPr txBox="1"/>
          <p:nvPr/>
        </p:nvSpPr>
        <p:spPr>
          <a:xfrm>
            <a:off x="3032125" y="198596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4329" name="Text Box 9"/>
          <p:cNvSpPr txBox="1"/>
          <p:nvPr/>
        </p:nvSpPr>
        <p:spPr>
          <a:xfrm>
            <a:off x="3032125" y="237172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4330" name="Text Box 10"/>
          <p:cNvSpPr txBox="1"/>
          <p:nvPr/>
        </p:nvSpPr>
        <p:spPr>
          <a:xfrm>
            <a:off x="3032125" y="314166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0 . 0 0 0 0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4331" name="Text Box 11"/>
          <p:cNvSpPr txBox="1"/>
          <p:nvPr/>
        </p:nvSpPr>
        <p:spPr>
          <a:xfrm>
            <a:off x="3032125" y="429895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4332" name="Text Box 12"/>
          <p:cNvSpPr txBox="1"/>
          <p:nvPr/>
        </p:nvSpPr>
        <p:spPr>
          <a:xfrm>
            <a:off x="3032125" y="545465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0 . 1 1 1 0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4333" name="Text Box 13"/>
          <p:cNvSpPr txBox="1"/>
          <p:nvPr/>
        </p:nvSpPr>
        <p:spPr>
          <a:xfrm>
            <a:off x="7239000" y="1549400"/>
            <a:ext cx="26682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部分积  初态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=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84334" name="Group 14"/>
          <p:cNvGrpSpPr/>
          <p:nvPr/>
        </p:nvGrpSpPr>
        <p:grpSpPr>
          <a:xfrm>
            <a:off x="2590800" y="1066800"/>
            <a:ext cx="7620000" cy="5767388"/>
            <a:chOff x="672" y="672"/>
            <a:chExt cx="4896" cy="3633"/>
          </a:xfrm>
        </p:grpSpPr>
        <p:sp>
          <p:nvSpPr>
            <p:cNvPr id="184389" name="Line 15"/>
            <p:cNvSpPr/>
            <p:nvPr/>
          </p:nvSpPr>
          <p:spPr>
            <a:xfrm>
              <a:off x="672" y="1008"/>
              <a:ext cx="48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pSp>
          <p:nvGrpSpPr>
            <p:cNvPr id="184390" name="Group 16"/>
            <p:cNvGrpSpPr/>
            <p:nvPr/>
          </p:nvGrpSpPr>
          <p:grpSpPr>
            <a:xfrm>
              <a:off x="912" y="672"/>
              <a:ext cx="3790" cy="3633"/>
              <a:chOff x="912" y="672"/>
              <a:chExt cx="3790" cy="3633"/>
            </a:xfrm>
          </p:grpSpPr>
          <p:sp>
            <p:nvSpPr>
              <p:cNvPr id="184391" name="Text Box 17"/>
              <p:cNvSpPr txBox="1"/>
              <p:nvPr/>
            </p:nvSpPr>
            <p:spPr>
              <a:xfrm>
                <a:off x="912" y="713"/>
                <a:ext cx="379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 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部 分 积                乘 数                        说 明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392" name="Line 18"/>
              <p:cNvSpPr/>
              <p:nvPr/>
            </p:nvSpPr>
            <p:spPr>
              <a:xfrm>
                <a:off x="2112" y="672"/>
                <a:ext cx="0" cy="363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84393" name="Line 19"/>
              <p:cNvSpPr/>
              <p:nvPr/>
            </p:nvSpPr>
            <p:spPr>
              <a:xfrm>
                <a:off x="3504" y="672"/>
                <a:ext cx="0" cy="363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184335" name="Line 20"/>
          <p:cNvSpPr/>
          <p:nvPr/>
        </p:nvSpPr>
        <p:spPr>
          <a:xfrm>
            <a:off x="2590800" y="2414588"/>
            <a:ext cx="7772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4336" name="Line 21"/>
          <p:cNvSpPr/>
          <p:nvPr/>
        </p:nvSpPr>
        <p:spPr>
          <a:xfrm>
            <a:off x="2590800" y="3573463"/>
            <a:ext cx="7772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4337" name="Line 22"/>
          <p:cNvSpPr/>
          <p:nvPr/>
        </p:nvSpPr>
        <p:spPr>
          <a:xfrm>
            <a:off x="2590800" y="4724400"/>
            <a:ext cx="7772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4338" name="Line 23"/>
          <p:cNvSpPr/>
          <p:nvPr/>
        </p:nvSpPr>
        <p:spPr>
          <a:xfrm>
            <a:off x="2590800" y="5876925"/>
            <a:ext cx="7772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184339" name="Group 24"/>
          <p:cNvGrpSpPr/>
          <p:nvPr/>
        </p:nvGrpSpPr>
        <p:grpSpPr>
          <a:xfrm>
            <a:off x="3032125" y="3527425"/>
            <a:ext cx="2643188" cy="522288"/>
            <a:chOff x="950" y="2222"/>
            <a:chExt cx="1665" cy="329"/>
          </a:xfrm>
        </p:grpSpPr>
        <p:sp>
          <p:nvSpPr>
            <p:cNvPr id="184387" name="Text Box 25"/>
            <p:cNvSpPr txBox="1"/>
            <p:nvPr/>
          </p:nvSpPr>
          <p:spPr>
            <a:xfrm>
              <a:off x="950" y="2222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0 . 0 1 1 1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388" name="Text Box 26"/>
            <p:cNvSpPr txBox="1"/>
            <p:nvPr/>
          </p:nvSpPr>
          <p:spPr>
            <a:xfrm>
              <a:off x="2388" y="2222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340" name="Group 27"/>
          <p:cNvGrpSpPr/>
          <p:nvPr/>
        </p:nvGrpSpPr>
        <p:grpSpPr>
          <a:xfrm>
            <a:off x="3048000" y="4648200"/>
            <a:ext cx="2909888" cy="522288"/>
            <a:chOff x="950" y="2950"/>
            <a:chExt cx="1833" cy="329"/>
          </a:xfrm>
        </p:grpSpPr>
        <p:sp>
          <p:nvSpPr>
            <p:cNvPr id="184385" name="Text Box 28"/>
            <p:cNvSpPr txBox="1"/>
            <p:nvPr/>
          </p:nvSpPr>
          <p:spPr>
            <a:xfrm>
              <a:off x="950" y="2950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1 . 0 0 0 1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386" name="Text Box 29"/>
            <p:cNvSpPr txBox="1"/>
            <p:nvPr/>
          </p:nvSpPr>
          <p:spPr>
            <a:xfrm>
              <a:off x="2388" y="2950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341" name="Group 30"/>
          <p:cNvGrpSpPr/>
          <p:nvPr/>
        </p:nvGrpSpPr>
        <p:grpSpPr>
          <a:xfrm>
            <a:off x="3032125" y="5840413"/>
            <a:ext cx="3176588" cy="522287"/>
            <a:chOff x="950" y="3679"/>
            <a:chExt cx="2001" cy="329"/>
          </a:xfrm>
        </p:grpSpPr>
        <p:sp>
          <p:nvSpPr>
            <p:cNvPr id="184383" name="Text Box 31"/>
            <p:cNvSpPr txBox="1"/>
            <p:nvPr/>
          </p:nvSpPr>
          <p:spPr>
            <a:xfrm>
              <a:off x="950" y="3679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1 . 0 1 1 0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384" name="Text Box 32"/>
            <p:cNvSpPr txBox="1"/>
            <p:nvPr/>
          </p:nvSpPr>
          <p:spPr>
            <a:xfrm>
              <a:off x="2388" y="3679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342" name="Group 33"/>
          <p:cNvGrpSpPr/>
          <p:nvPr/>
        </p:nvGrpSpPr>
        <p:grpSpPr>
          <a:xfrm>
            <a:off x="3032125" y="6186488"/>
            <a:ext cx="6270625" cy="560387"/>
            <a:chOff x="950" y="3897"/>
            <a:chExt cx="3950" cy="353"/>
          </a:xfrm>
        </p:grpSpPr>
        <p:sp>
          <p:nvSpPr>
            <p:cNvPr id="184378" name="Text Box 34"/>
            <p:cNvSpPr txBox="1"/>
            <p:nvPr/>
          </p:nvSpPr>
          <p:spPr>
            <a:xfrm>
              <a:off x="950" y="3921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0 . 1 0 1 1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379" name="Text Box 35"/>
            <p:cNvSpPr txBox="1"/>
            <p:nvPr/>
          </p:nvSpPr>
          <p:spPr>
            <a:xfrm>
              <a:off x="2388" y="3921"/>
              <a:ext cx="73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0 1 1 0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4380" name="Group 36"/>
            <p:cNvGrpSpPr/>
            <p:nvPr/>
          </p:nvGrpSpPr>
          <p:grpSpPr>
            <a:xfrm>
              <a:off x="3805" y="3897"/>
              <a:ext cx="1095" cy="329"/>
              <a:chOff x="3805" y="3897"/>
              <a:chExt cx="1095" cy="329"/>
            </a:xfrm>
          </p:grpSpPr>
          <p:sp>
            <p:nvSpPr>
              <p:cNvPr id="184381" name="Text Box 37"/>
              <p:cNvSpPr txBox="1"/>
              <p:nvPr/>
            </p:nvSpPr>
            <p:spPr>
              <a:xfrm>
                <a:off x="4041" y="3897"/>
                <a:ext cx="85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得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382" name="Line 38"/>
              <p:cNvSpPr/>
              <p:nvPr/>
            </p:nvSpPr>
            <p:spPr>
              <a:xfrm>
                <a:off x="3805" y="4047"/>
                <a:ext cx="247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</p:grpSp>
      <p:sp>
        <p:nvSpPr>
          <p:cNvPr id="184343" name="AutoShape 39"/>
          <p:cNvSpPr/>
          <p:nvPr/>
        </p:nvSpPr>
        <p:spPr>
          <a:xfrm>
            <a:off x="1631950" y="4972050"/>
            <a:ext cx="1242894" cy="442794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逻辑右移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344" name="Text Box 40"/>
          <p:cNvSpPr txBox="1"/>
          <p:nvPr/>
        </p:nvSpPr>
        <p:spPr>
          <a:xfrm>
            <a:off x="5334000" y="1600200"/>
            <a:ext cx="11607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1 1 0 1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45" name="Text Box 41"/>
          <p:cNvSpPr txBox="1"/>
          <p:nvPr/>
        </p:nvSpPr>
        <p:spPr>
          <a:xfrm>
            <a:off x="6129338" y="1828800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4346" name="Group 42"/>
          <p:cNvGrpSpPr/>
          <p:nvPr/>
        </p:nvGrpSpPr>
        <p:grpSpPr>
          <a:xfrm>
            <a:off x="3032125" y="2757488"/>
            <a:ext cx="6221413" cy="522287"/>
            <a:chOff x="950" y="1737"/>
            <a:chExt cx="3919" cy="329"/>
          </a:xfrm>
        </p:grpSpPr>
        <p:sp>
          <p:nvSpPr>
            <p:cNvPr id="184373" name="Text Box 43"/>
            <p:cNvSpPr txBox="1"/>
            <p:nvPr/>
          </p:nvSpPr>
          <p:spPr>
            <a:xfrm>
              <a:off x="950" y="1737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0 . 0 1 1 1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4374" name="Group 44"/>
            <p:cNvGrpSpPr/>
            <p:nvPr/>
          </p:nvGrpSpPr>
          <p:grpSpPr>
            <a:xfrm>
              <a:off x="2388" y="1737"/>
              <a:ext cx="2481" cy="329"/>
              <a:chOff x="2388" y="1737"/>
              <a:chExt cx="2481" cy="329"/>
            </a:xfrm>
          </p:grpSpPr>
          <p:sp>
            <p:nvSpPr>
              <p:cNvPr id="184375" name="Text Box 45"/>
              <p:cNvSpPr txBox="1"/>
              <p:nvPr/>
            </p:nvSpPr>
            <p:spPr>
              <a:xfrm>
                <a:off x="4010" y="1737"/>
                <a:ext cx="85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得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376" name="Line 46"/>
              <p:cNvSpPr/>
              <p:nvPr/>
            </p:nvSpPr>
            <p:spPr>
              <a:xfrm>
                <a:off x="3792" y="1887"/>
                <a:ext cx="247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  <p:sp>
            <p:nvSpPr>
              <p:cNvPr id="184377" name="Text Box 47"/>
              <p:cNvSpPr txBox="1"/>
              <p:nvPr/>
            </p:nvSpPr>
            <p:spPr>
              <a:xfrm>
                <a:off x="2388" y="1737"/>
                <a:ext cx="73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0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1 1 0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4347" name="Text Box 48"/>
          <p:cNvSpPr txBox="1"/>
          <p:nvPr/>
        </p:nvSpPr>
        <p:spPr>
          <a:xfrm>
            <a:off x="6129338" y="2986088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4348" name="Group 49"/>
          <p:cNvGrpSpPr/>
          <p:nvPr/>
        </p:nvGrpSpPr>
        <p:grpSpPr>
          <a:xfrm>
            <a:off x="3032125" y="3913188"/>
            <a:ext cx="6221413" cy="571500"/>
            <a:chOff x="950" y="2465"/>
            <a:chExt cx="3919" cy="360"/>
          </a:xfrm>
        </p:grpSpPr>
        <p:sp>
          <p:nvSpPr>
            <p:cNvPr id="184369" name="Text Box 50"/>
            <p:cNvSpPr txBox="1"/>
            <p:nvPr/>
          </p:nvSpPr>
          <p:spPr>
            <a:xfrm>
              <a:off x="950" y="2465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0 . 0 0 1 1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370" name="Text Box 51"/>
            <p:cNvSpPr txBox="1"/>
            <p:nvPr/>
          </p:nvSpPr>
          <p:spPr>
            <a:xfrm>
              <a:off x="4010" y="2496"/>
              <a:ext cx="85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得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371" name="Line 52"/>
            <p:cNvSpPr/>
            <p:nvPr/>
          </p:nvSpPr>
          <p:spPr>
            <a:xfrm>
              <a:off x="3792" y="2646"/>
              <a:ext cx="247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84372" name="Text Box 53"/>
            <p:cNvSpPr txBox="1"/>
            <p:nvPr/>
          </p:nvSpPr>
          <p:spPr>
            <a:xfrm>
              <a:off x="2388" y="2465"/>
              <a:ext cx="73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1 0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349" name="Text Box 54"/>
          <p:cNvSpPr txBox="1"/>
          <p:nvPr/>
        </p:nvSpPr>
        <p:spPr>
          <a:xfrm>
            <a:off x="6129338" y="4129088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4350" name="Group 55"/>
          <p:cNvGrpSpPr/>
          <p:nvPr/>
        </p:nvGrpSpPr>
        <p:grpSpPr>
          <a:xfrm>
            <a:off x="3032125" y="5068888"/>
            <a:ext cx="6270625" cy="573087"/>
            <a:chOff x="950" y="3193"/>
            <a:chExt cx="3950" cy="361"/>
          </a:xfrm>
        </p:grpSpPr>
        <p:sp>
          <p:nvSpPr>
            <p:cNvPr id="184365" name="Text Box 56"/>
            <p:cNvSpPr txBox="1"/>
            <p:nvPr/>
          </p:nvSpPr>
          <p:spPr>
            <a:xfrm>
              <a:off x="950" y="3193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0 . 1 0 0 0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366" name="Text Box 57"/>
            <p:cNvSpPr txBox="1"/>
            <p:nvPr/>
          </p:nvSpPr>
          <p:spPr>
            <a:xfrm>
              <a:off x="4041" y="3225"/>
              <a:ext cx="85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得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367" name="Line 58"/>
            <p:cNvSpPr/>
            <p:nvPr/>
          </p:nvSpPr>
          <p:spPr>
            <a:xfrm>
              <a:off x="3805" y="3375"/>
              <a:ext cx="247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84368" name="Text Box 59"/>
            <p:cNvSpPr txBox="1"/>
            <p:nvPr/>
          </p:nvSpPr>
          <p:spPr>
            <a:xfrm>
              <a:off x="2388" y="3193"/>
              <a:ext cx="73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1 1 0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351" name="Text Box 60"/>
          <p:cNvSpPr txBox="1"/>
          <p:nvPr/>
        </p:nvSpPr>
        <p:spPr>
          <a:xfrm>
            <a:off x="6129338" y="5272088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52" name="AutoShape 61"/>
          <p:cNvSpPr/>
          <p:nvPr/>
        </p:nvSpPr>
        <p:spPr>
          <a:xfrm>
            <a:off x="1631950" y="3808413"/>
            <a:ext cx="1242894" cy="442794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逻辑右移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353" name="AutoShape 62"/>
          <p:cNvSpPr/>
          <p:nvPr/>
        </p:nvSpPr>
        <p:spPr>
          <a:xfrm>
            <a:off x="1631950" y="2670175"/>
            <a:ext cx="1242894" cy="442794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逻辑右移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354" name="AutoShape 63"/>
          <p:cNvSpPr/>
          <p:nvPr/>
        </p:nvSpPr>
        <p:spPr>
          <a:xfrm>
            <a:off x="1631950" y="6127750"/>
            <a:ext cx="1242894" cy="442794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逻辑右移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355" name="AutoShape 6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4356" name="Text Box 65"/>
          <p:cNvSpPr txBox="1"/>
          <p:nvPr/>
        </p:nvSpPr>
        <p:spPr>
          <a:xfrm>
            <a:off x="2711450" y="1989138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84357" name="Text Box 66"/>
          <p:cNvSpPr txBox="1"/>
          <p:nvPr/>
        </p:nvSpPr>
        <p:spPr>
          <a:xfrm>
            <a:off x="2711450" y="3141663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84358" name="Text Box 67"/>
          <p:cNvSpPr txBox="1"/>
          <p:nvPr/>
        </p:nvSpPr>
        <p:spPr>
          <a:xfrm>
            <a:off x="2711450" y="4292600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84359" name="Text Box 68"/>
          <p:cNvSpPr txBox="1"/>
          <p:nvPr/>
        </p:nvSpPr>
        <p:spPr>
          <a:xfrm>
            <a:off x="2711450" y="5445125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84360" name="Text Box 69"/>
          <p:cNvSpPr txBox="1"/>
          <p:nvPr/>
        </p:nvSpPr>
        <p:spPr>
          <a:xfrm>
            <a:off x="7489825" y="1995488"/>
            <a:ext cx="2378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4361" name="Text Box 70"/>
          <p:cNvSpPr txBox="1"/>
          <p:nvPr/>
        </p:nvSpPr>
        <p:spPr>
          <a:xfrm>
            <a:off x="7489825" y="3125788"/>
            <a:ext cx="2378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4362" name="Text Box 71"/>
          <p:cNvSpPr txBox="1"/>
          <p:nvPr/>
        </p:nvSpPr>
        <p:spPr>
          <a:xfrm>
            <a:off x="7489825" y="4292600"/>
            <a:ext cx="2378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4363" name="Text Box 72"/>
          <p:cNvSpPr txBox="1"/>
          <p:nvPr/>
        </p:nvSpPr>
        <p:spPr>
          <a:xfrm>
            <a:off x="7489825" y="5445125"/>
            <a:ext cx="2378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436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1853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3600" dirty="0"/>
              <a:t>例</a:t>
            </a:r>
            <a:r>
              <a:rPr lang="en-US" altLang="zh-CN" sz="3600" dirty="0"/>
              <a:t>:x=-0.1001 y=+0.1101    </a:t>
            </a:r>
            <a:r>
              <a:rPr lang="zh-CN" altLang="en-US" sz="3600" dirty="0"/>
              <a:t>求</a:t>
            </a:r>
            <a:r>
              <a:rPr lang="en-US" altLang="zh-CN" sz="3600" dirty="0"/>
              <a:t>x*y</a:t>
            </a:r>
            <a:endParaRPr lang="en-US" altLang="zh-CN" sz="3600" dirty="0"/>
          </a:p>
          <a:p>
            <a:pPr eaLnBrk="1" hangingPunct="1"/>
            <a:endParaRPr lang="en-US" altLang="zh-CN" sz="3600" dirty="0"/>
          </a:p>
        </p:txBody>
      </p:sp>
      <p:sp>
        <p:nvSpPr>
          <p:cNvPr id="18534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0" name="Text Box 2"/>
          <p:cNvSpPr txBox="1"/>
          <p:nvPr/>
        </p:nvSpPr>
        <p:spPr>
          <a:xfrm>
            <a:off x="2422525" y="1836738"/>
            <a:ext cx="6797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</a:rPr>
              <a:t>数值部分按绝对值相乘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86371" name="Group 3"/>
          <p:cNvGrpSpPr/>
          <p:nvPr/>
        </p:nvGrpSpPr>
        <p:grpSpPr>
          <a:xfrm>
            <a:off x="2422525" y="1009650"/>
            <a:ext cx="8550275" cy="584201"/>
            <a:chOff x="566" y="636"/>
            <a:chExt cx="5386" cy="368"/>
          </a:xfrm>
        </p:grpSpPr>
        <p:sp>
          <p:nvSpPr>
            <p:cNvPr id="186382" name="Text Box 4"/>
            <p:cNvSpPr txBox="1"/>
            <p:nvPr/>
          </p:nvSpPr>
          <p:spPr>
            <a:xfrm>
              <a:off x="566" y="636"/>
              <a:ext cx="538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①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乘积的符号位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1     0 = 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6383" name="AutoShape 5"/>
            <p:cNvSpPr/>
            <p:nvPr/>
          </p:nvSpPr>
          <p:spPr>
            <a:xfrm>
              <a:off x="2685" y="768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6384" name="AutoShape 6"/>
            <p:cNvSpPr/>
            <p:nvPr/>
          </p:nvSpPr>
          <p:spPr>
            <a:xfrm>
              <a:off x="3543" y="765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86372" name="Text Box 7"/>
          <p:cNvSpPr txBox="1"/>
          <p:nvPr/>
        </p:nvSpPr>
        <p:spPr>
          <a:xfrm>
            <a:off x="4476750" y="2663825"/>
            <a:ext cx="42862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 = 0. 1 0 1 1 0 1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6373" name="Text Box 8"/>
          <p:cNvSpPr txBox="1"/>
          <p:nvPr/>
        </p:nvSpPr>
        <p:spPr>
          <a:xfrm>
            <a:off x="3810000" y="3432175"/>
            <a:ext cx="5105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16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1. 1 0 1 1 0 1 1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86374" name="Text Box 9"/>
          <p:cNvSpPr txBox="1"/>
          <p:nvPr/>
        </p:nvSpPr>
        <p:spPr>
          <a:xfrm>
            <a:off x="2803525" y="42052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特点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86375" name="Text Box 10"/>
          <p:cNvSpPr txBox="1"/>
          <p:nvPr/>
        </p:nvSpPr>
        <p:spPr>
          <a:xfrm>
            <a:off x="4038600" y="4198938"/>
            <a:ext cx="3581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绝对值运算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376" name="Text Box 11"/>
          <p:cNvSpPr txBox="1"/>
          <p:nvPr/>
        </p:nvSpPr>
        <p:spPr>
          <a:xfrm>
            <a:off x="4038600" y="5805488"/>
            <a:ext cx="2438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逻辑移位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377" name="Text Box 12"/>
          <p:cNvSpPr txBox="1"/>
          <p:nvPr/>
        </p:nvSpPr>
        <p:spPr>
          <a:xfrm>
            <a:off x="1981200" y="273050"/>
            <a:ext cx="2583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6.21  </a:t>
            </a:r>
            <a:r>
              <a:rPr lang="zh-CN" altLang="en-US" sz="3600" b="1" dirty="0">
                <a:latin typeface="Times New Roman" panose="02020603050405020304" pitchFamily="18" charset="0"/>
              </a:rPr>
              <a:t>结果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86378" name="Text Box 13"/>
          <p:cNvSpPr txBox="1"/>
          <p:nvPr/>
        </p:nvSpPr>
        <p:spPr>
          <a:xfrm>
            <a:off x="4038600" y="5002213"/>
            <a:ext cx="5943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用移位的次数判断乘法是否结束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58" name="Rectangle 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6380" name="AutoShape 15">
            <a:hlinkClick r:id="rId1" action="ppaction://hlinksldjump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638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394" name="Text Box 2"/>
          <p:cNvSpPr txBox="1"/>
          <p:nvPr/>
        </p:nvSpPr>
        <p:spPr>
          <a:xfrm>
            <a:off x="2041525" y="273050"/>
            <a:ext cx="61880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(3)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原码一位乘的硬件配置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87395" name="Group 3"/>
          <p:cNvGrpSpPr/>
          <p:nvPr/>
        </p:nvGrpSpPr>
        <p:grpSpPr>
          <a:xfrm>
            <a:off x="2346325" y="5562600"/>
            <a:ext cx="3535363" cy="1047750"/>
            <a:chOff x="518" y="3504"/>
            <a:chExt cx="2227" cy="660"/>
          </a:xfrm>
        </p:grpSpPr>
        <p:sp>
          <p:nvSpPr>
            <p:cNvPr id="187429" name="Text Box 4"/>
            <p:cNvSpPr txBox="1"/>
            <p:nvPr/>
          </p:nvSpPr>
          <p:spPr>
            <a:xfrm>
              <a:off x="518" y="3504"/>
              <a:ext cx="176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Q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均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+1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30" name="Text Box 5"/>
            <p:cNvSpPr txBox="1"/>
            <p:nvPr/>
          </p:nvSpPr>
          <p:spPr>
            <a:xfrm>
              <a:off x="518" y="3874"/>
              <a:ext cx="222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移位和加受末位乘数控制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7396" name="Group 6"/>
          <p:cNvGrpSpPr/>
          <p:nvPr/>
        </p:nvGrpSpPr>
        <p:grpSpPr>
          <a:xfrm>
            <a:off x="3200400" y="990600"/>
            <a:ext cx="6096000" cy="4191000"/>
            <a:chOff x="1056" y="624"/>
            <a:chExt cx="3840" cy="2640"/>
          </a:xfrm>
        </p:grpSpPr>
        <p:sp>
          <p:nvSpPr>
            <p:cNvPr id="187400" name="Rectangle 7"/>
            <p:cNvSpPr/>
            <p:nvPr/>
          </p:nvSpPr>
          <p:spPr>
            <a:xfrm>
              <a:off x="1056" y="816"/>
              <a:ext cx="158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A      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01" name="Rectangle 8"/>
            <p:cNvSpPr/>
            <p:nvPr/>
          </p:nvSpPr>
          <p:spPr>
            <a:xfrm>
              <a:off x="1056" y="1512"/>
              <a:ext cx="158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加   法   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02" name="Rectangle 9"/>
            <p:cNvSpPr/>
            <p:nvPr/>
          </p:nvSpPr>
          <p:spPr>
            <a:xfrm>
              <a:off x="1056" y="2208"/>
              <a:ext cx="158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Times New Roman" panose="02020603050405020304" pitchFamily="18" charset="0"/>
                </a:rPr>
                <a:t>控   制   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03" name="AutoShape 10"/>
            <p:cNvSpPr/>
            <p:nvPr/>
          </p:nvSpPr>
          <p:spPr>
            <a:xfrm>
              <a:off x="1728" y="1164"/>
              <a:ext cx="144" cy="338"/>
            </a:xfrm>
            <a:prstGeom prst="upArrow">
              <a:avLst>
                <a:gd name="adj1" fmla="val 50000"/>
                <a:gd name="adj2" fmla="val 58495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7404" name="AutoShape 11"/>
            <p:cNvSpPr/>
            <p:nvPr/>
          </p:nvSpPr>
          <p:spPr>
            <a:xfrm rot="10800000">
              <a:off x="1392" y="1152"/>
              <a:ext cx="144" cy="36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7405" name="AutoShape 12"/>
            <p:cNvSpPr/>
            <p:nvPr/>
          </p:nvSpPr>
          <p:spPr>
            <a:xfrm>
              <a:off x="1776" y="1860"/>
              <a:ext cx="144" cy="338"/>
            </a:xfrm>
            <a:prstGeom prst="upArrow">
              <a:avLst>
                <a:gd name="adj1" fmla="val 50000"/>
                <a:gd name="adj2" fmla="val 58495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7406" name="Rectangle 13"/>
            <p:cNvSpPr/>
            <p:nvPr/>
          </p:nvSpPr>
          <p:spPr>
            <a:xfrm>
              <a:off x="1056" y="2928"/>
              <a:ext cx="158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 X      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07" name="AutoShape 14"/>
            <p:cNvSpPr/>
            <p:nvPr/>
          </p:nvSpPr>
          <p:spPr>
            <a:xfrm>
              <a:off x="1776" y="2580"/>
              <a:ext cx="144" cy="338"/>
            </a:xfrm>
            <a:prstGeom prst="upArrow">
              <a:avLst>
                <a:gd name="adj1" fmla="val 50000"/>
                <a:gd name="adj2" fmla="val 58495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7408" name="Rectangle 15"/>
            <p:cNvSpPr/>
            <p:nvPr/>
          </p:nvSpPr>
          <p:spPr>
            <a:xfrm>
              <a:off x="3120" y="816"/>
              <a:ext cx="158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09" name="Line 16"/>
            <p:cNvSpPr/>
            <p:nvPr/>
          </p:nvSpPr>
          <p:spPr>
            <a:xfrm>
              <a:off x="4368" y="81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7410" name="Rectangle 17"/>
            <p:cNvSpPr/>
            <p:nvPr/>
          </p:nvSpPr>
          <p:spPr>
            <a:xfrm>
              <a:off x="3120" y="1512"/>
              <a:ext cx="1584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移位和加控制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11" name="Freeform 18"/>
            <p:cNvSpPr/>
            <p:nvPr/>
          </p:nvSpPr>
          <p:spPr>
            <a:xfrm>
              <a:off x="2016" y="1152"/>
              <a:ext cx="1920" cy="360"/>
            </a:xfrm>
            <a:custGeom>
              <a:avLst/>
              <a:gdLst>
                <a:gd name="txL" fmla="*/ 0 w 1920"/>
                <a:gd name="txT" fmla="*/ 0 h 360"/>
                <a:gd name="txR" fmla="*/ 1920 w 1920"/>
                <a:gd name="txB" fmla="*/ 360 h 360"/>
              </a:gdLst>
              <a:ahLst/>
              <a:cxnLst>
                <a:cxn ang="0">
                  <a:pos x="1920" y="360"/>
                </a:cxn>
                <a:cxn ang="0">
                  <a:pos x="1920" y="240"/>
                </a:cxn>
                <a:cxn ang="0">
                  <a:pos x="0" y="240"/>
                </a:cxn>
                <a:cxn ang="0">
                  <a:pos x="384" y="0"/>
                </a:cxn>
              </a:cxnLst>
              <a:rect l="txL" t="txT" r="txR" b="txB"/>
              <a:pathLst>
                <a:path w="1920" h="360">
                  <a:moveTo>
                    <a:pt x="1920" y="360"/>
                  </a:moveTo>
                  <a:lnTo>
                    <a:pt x="1920" y="240"/>
                  </a:lnTo>
                  <a:lnTo>
                    <a:pt x="0" y="240"/>
                  </a:lnTo>
                  <a:lnTo>
                    <a:pt x="38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7412" name="Line 19"/>
            <p:cNvSpPr/>
            <p:nvPr/>
          </p:nvSpPr>
          <p:spPr>
            <a:xfrm flipV="1">
              <a:off x="3168" y="1152"/>
              <a:ext cx="384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87413" name="Line 20"/>
            <p:cNvSpPr/>
            <p:nvPr/>
          </p:nvSpPr>
          <p:spPr>
            <a:xfrm flipH="1">
              <a:off x="2640" y="1680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87414" name="Freeform 21"/>
            <p:cNvSpPr/>
            <p:nvPr/>
          </p:nvSpPr>
          <p:spPr>
            <a:xfrm>
              <a:off x="4560" y="624"/>
              <a:ext cx="336" cy="1068"/>
            </a:xfrm>
            <a:custGeom>
              <a:avLst/>
              <a:gdLst>
                <a:gd name="txL" fmla="*/ 0 w 336"/>
                <a:gd name="txT" fmla="*/ 0 h 1068"/>
                <a:gd name="txR" fmla="*/ 336 w 336"/>
                <a:gd name="txB" fmla="*/ 1068 h 1068"/>
              </a:gdLst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336" y="0"/>
                </a:cxn>
                <a:cxn ang="0">
                  <a:pos x="336" y="1068"/>
                </a:cxn>
                <a:cxn ang="0">
                  <a:pos x="144" y="1068"/>
                </a:cxn>
              </a:cxnLst>
              <a:rect l="txL" t="txT" r="txR" b="txB"/>
              <a:pathLst>
                <a:path w="336" h="1068">
                  <a:moveTo>
                    <a:pt x="0" y="192"/>
                  </a:moveTo>
                  <a:lnTo>
                    <a:pt x="0" y="0"/>
                  </a:lnTo>
                  <a:lnTo>
                    <a:pt x="336" y="0"/>
                  </a:lnTo>
                  <a:lnTo>
                    <a:pt x="336" y="1068"/>
                  </a:lnTo>
                  <a:lnTo>
                    <a:pt x="144" y="10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7415" name="Line 22"/>
            <p:cNvSpPr/>
            <p:nvPr/>
          </p:nvSpPr>
          <p:spPr>
            <a:xfrm>
              <a:off x="2640" y="1008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grpSp>
          <p:nvGrpSpPr>
            <p:cNvPr id="187416" name="Group 23"/>
            <p:cNvGrpSpPr/>
            <p:nvPr/>
          </p:nvGrpSpPr>
          <p:grpSpPr>
            <a:xfrm>
              <a:off x="2784" y="2928"/>
              <a:ext cx="960" cy="336"/>
              <a:chOff x="2784" y="3312"/>
              <a:chExt cx="960" cy="336"/>
            </a:xfrm>
          </p:grpSpPr>
          <p:sp>
            <p:nvSpPr>
              <p:cNvPr id="187427" name="Rectangle 24"/>
              <p:cNvSpPr/>
              <p:nvPr/>
            </p:nvSpPr>
            <p:spPr>
              <a:xfrm>
                <a:off x="2784" y="3312"/>
                <a:ext cx="960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7428" name="Text Box 25"/>
              <p:cNvSpPr txBox="1"/>
              <p:nvPr/>
            </p:nvSpPr>
            <p:spPr>
              <a:xfrm>
                <a:off x="2880" y="3360"/>
                <a:ext cx="751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计数器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C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7417" name="Group 26"/>
            <p:cNvGrpSpPr/>
            <p:nvPr/>
          </p:nvGrpSpPr>
          <p:grpSpPr>
            <a:xfrm>
              <a:off x="3936" y="2928"/>
              <a:ext cx="288" cy="336"/>
              <a:chOff x="3936" y="3312"/>
              <a:chExt cx="288" cy="336"/>
            </a:xfrm>
          </p:grpSpPr>
          <p:sp>
            <p:nvSpPr>
              <p:cNvPr id="187425" name="Rectangle 27"/>
              <p:cNvSpPr/>
              <p:nvPr/>
            </p:nvSpPr>
            <p:spPr>
              <a:xfrm>
                <a:off x="3984" y="3350"/>
                <a:ext cx="20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S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426" name="Rectangle 28"/>
              <p:cNvSpPr/>
              <p:nvPr/>
            </p:nvSpPr>
            <p:spPr>
              <a:xfrm>
                <a:off x="3936" y="3312"/>
                <a:ext cx="288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87418" name="Group 29"/>
            <p:cNvGrpSpPr/>
            <p:nvPr/>
          </p:nvGrpSpPr>
          <p:grpSpPr>
            <a:xfrm>
              <a:off x="4416" y="2928"/>
              <a:ext cx="338" cy="336"/>
              <a:chOff x="4416" y="3312"/>
              <a:chExt cx="338" cy="336"/>
            </a:xfrm>
          </p:grpSpPr>
          <p:sp>
            <p:nvSpPr>
              <p:cNvPr id="187423" name="Rectangle 30"/>
              <p:cNvSpPr/>
              <p:nvPr/>
            </p:nvSpPr>
            <p:spPr>
              <a:xfrm>
                <a:off x="4416" y="3350"/>
                <a:ext cx="33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M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424" name="Rectangle 31"/>
              <p:cNvSpPr/>
              <p:nvPr/>
            </p:nvSpPr>
            <p:spPr>
              <a:xfrm>
                <a:off x="4416" y="3312"/>
                <a:ext cx="288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419" name="Text Box 32"/>
            <p:cNvSpPr txBox="1"/>
            <p:nvPr/>
          </p:nvSpPr>
          <p:spPr>
            <a:xfrm>
              <a:off x="3120" y="864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20" name="Text Box 33"/>
            <p:cNvSpPr txBox="1"/>
            <p:nvPr/>
          </p:nvSpPr>
          <p:spPr>
            <a:xfrm>
              <a:off x="3744" y="825"/>
              <a:ext cx="9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Q     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21" name="Text Box 34"/>
            <p:cNvSpPr txBox="1"/>
            <p:nvPr/>
          </p:nvSpPr>
          <p:spPr>
            <a:xfrm>
              <a:off x="3504" y="1152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右移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7422" name="Freeform 35"/>
            <p:cNvSpPr/>
            <p:nvPr/>
          </p:nvSpPr>
          <p:spPr>
            <a:xfrm>
              <a:off x="2640" y="1858"/>
              <a:ext cx="1296" cy="528"/>
            </a:xfrm>
            <a:custGeom>
              <a:avLst/>
              <a:gdLst>
                <a:gd name="txL" fmla="*/ 0 w 1296"/>
                <a:gd name="txT" fmla="*/ 0 h 528"/>
                <a:gd name="txR" fmla="*/ 1296 w 1296"/>
                <a:gd name="txB" fmla="*/ 528 h 528"/>
              </a:gdLst>
              <a:ahLst/>
              <a:cxnLst>
                <a:cxn ang="0">
                  <a:pos x="1296" y="0"/>
                </a:cxn>
                <a:cxn ang="0">
                  <a:pos x="1296" y="528"/>
                </a:cxn>
                <a:cxn ang="0">
                  <a:pos x="0" y="528"/>
                </a:cxn>
              </a:cxnLst>
              <a:rect l="txL" t="txT" r="txR" b="txB"/>
              <a:pathLst>
                <a:path w="1296" h="528">
                  <a:moveTo>
                    <a:pt x="1296" y="0"/>
                  </a:moveTo>
                  <a:lnTo>
                    <a:pt x="1296" y="528"/>
                  </a:lnTo>
                  <a:lnTo>
                    <a:pt x="0" y="52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9604" name="Rectangle 3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7398" name="AutoShape 3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739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884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188420" name="Picture 4" descr="2">
            <a:hlinkClick r:id="" action="ppaction://hlinkfil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0" y="800100"/>
            <a:ext cx="7239000" cy="519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842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89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不带符号位的阵列乘法器</a:t>
            </a:r>
            <a:endParaRPr lang="zh-CN" altLang="en-US" dirty="0"/>
          </a:p>
        </p:txBody>
      </p:sp>
      <p:sp>
        <p:nvSpPr>
          <p:cNvPr id="1894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2.5.swf</a:t>
            </a:r>
            <a:endParaRPr lang="en-US" altLang="zh-CN" dirty="0"/>
          </a:p>
        </p:txBody>
      </p:sp>
      <p:sp>
        <p:nvSpPr>
          <p:cNvPr id="18944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0466" name="Text Box 2"/>
          <p:cNvSpPr txBox="1"/>
          <p:nvPr/>
        </p:nvSpPr>
        <p:spPr>
          <a:xfrm>
            <a:off x="2117725" y="273050"/>
            <a:ext cx="39020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(4)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原码两位乘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90467" name="Text Box 3"/>
          <p:cNvSpPr txBox="1"/>
          <p:nvPr/>
        </p:nvSpPr>
        <p:spPr>
          <a:xfrm>
            <a:off x="2803525" y="1035050"/>
            <a:ext cx="1844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原码乘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0468" name="Text Box 4"/>
          <p:cNvSpPr txBox="1"/>
          <p:nvPr/>
        </p:nvSpPr>
        <p:spPr>
          <a:xfrm>
            <a:off x="4632325" y="1035050"/>
            <a:ext cx="5426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符号位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数值位 </a:t>
            </a:r>
            <a:r>
              <a:rPr lang="zh-CN" altLang="en-US" sz="2800" b="1" dirty="0">
                <a:latin typeface="Times New Roman" panose="02020603050405020304" pitchFamily="18" charset="0"/>
              </a:rPr>
              <a:t>部分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分开运算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69" name="Text Box 5"/>
          <p:cNvSpPr txBox="1"/>
          <p:nvPr/>
        </p:nvSpPr>
        <p:spPr>
          <a:xfrm>
            <a:off x="2803525" y="1720850"/>
            <a:ext cx="1692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两位乘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0470" name="Text Box 6"/>
          <p:cNvSpPr txBox="1"/>
          <p:nvPr/>
        </p:nvSpPr>
        <p:spPr>
          <a:xfrm>
            <a:off x="4708525" y="1743075"/>
            <a:ext cx="573087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每次用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乘数的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位判断 </a:t>
            </a:r>
            <a:r>
              <a:rPr lang="zh-CN" altLang="en-US" sz="2800" b="1" dirty="0">
                <a:latin typeface="Times New Roman" panose="02020603050405020304" pitchFamily="18" charset="0"/>
              </a:rPr>
              <a:t>原部分积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是否加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如何加 </a:t>
            </a:r>
            <a:r>
              <a:rPr lang="zh-CN" altLang="en-US" sz="2800" b="1" dirty="0">
                <a:latin typeface="Times New Roman" panose="02020603050405020304" pitchFamily="18" charset="0"/>
              </a:rPr>
              <a:t>被乘数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0471" name="Rectangle 7"/>
          <p:cNvSpPr/>
          <p:nvPr/>
        </p:nvSpPr>
        <p:spPr>
          <a:xfrm>
            <a:off x="3038475" y="4799013"/>
            <a:ext cx="1897063" cy="455612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1 1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90472" name="Rectangle 8"/>
          <p:cNvSpPr/>
          <p:nvPr/>
        </p:nvSpPr>
        <p:spPr>
          <a:xfrm>
            <a:off x="3038475" y="4343400"/>
            <a:ext cx="1897063" cy="455613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1 0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90473" name="Rectangle 9"/>
          <p:cNvSpPr/>
          <p:nvPr/>
        </p:nvSpPr>
        <p:spPr>
          <a:xfrm>
            <a:off x="3038475" y="3883025"/>
            <a:ext cx="1897063" cy="46037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0 1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90474" name="Rectangle 10"/>
          <p:cNvSpPr/>
          <p:nvPr/>
        </p:nvSpPr>
        <p:spPr>
          <a:xfrm>
            <a:off x="3038475" y="3427413"/>
            <a:ext cx="1897063" cy="455612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0 0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190475" name="Group 11"/>
          <p:cNvGrpSpPr/>
          <p:nvPr/>
        </p:nvGrpSpPr>
        <p:grpSpPr>
          <a:xfrm>
            <a:off x="4684713" y="3429000"/>
            <a:ext cx="4960937" cy="455613"/>
            <a:chOff x="1991" y="2160"/>
            <a:chExt cx="3125" cy="287"/>
          </a:xfrm>
        </p:grpSpPr>
        <p:sp>
          <p:nvSpPr>
            <p:cNvPr id="190510" name="Rectangle 12"/>
            <p:cNvSpPr/>
            <p:nvPr/>
          </p:nvSpPr>
          <p:spPr>
            <a:xfrm>
              <a:off x="1991" y="2160"/>
              <a:ext cx="3125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zh-CN" altLang="en-US" sz="2400" b="1" dirty="0">
                  <a:latin typeface="Arial" panose="020B0604020202020204" pitchFamily="34" charset="0"/>
                </a:rPr>
                <a:t>加 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0”       2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0511" name="Line 13"/>
            <p:cNvSpPr/>
            <p:nvPr/>
          </p:nvSpPr>
          <p:spPr>
            <a:xfrm>
              <a:off x="3680" y="2304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0476" name="Group 14"/>
          <p:cNvGrpSpPr/>
          <p:nvPr/>
        </p:nvGrpSpPr>
        <p:grpSpPr>
          <a:xfrm>
            <a:off x="4724400" y="3883025"/>
            <a:ext cx="4960938" cy="460375"/>
            <a:chOff x="2016" y="2446"/>
            <a:chExt cx="3125" cy="290"/>
          </a:xfrm>
        </p:grpSpPr>
        <p:sp>
          <p:nvSpPr>
            <p:cNvPr id="190508" name="Rectangle 15"/>
            <p:cNvSpPr/>
            <p:nvPr/>
          </p:nvSpPr>
          <p:spPr>
            <a:xfrm>
              <a:off x="2016" y="2446"/>
              <a:ext cx="312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加 </a:t>
              </a:r>
              <a:r>
                <a:rPr lang="en-US" altLang="zh-CN" sz="2400" b="1" dirty="0">
                  <a:latin typeface="Arial" panose="020B0604020202020204" pitchFamily="34" charset="0"/>
                </a:rPr>
                <a:t>1 </a:t>
              </a:r>
              <a:r>
                <a:rPr lang="zh-CN" altLang="en-US" sz="2400" b="1" dirty="0">
                  <a:latin typeface="Arial" panose="020B0604020202020204" pitchFamily="34" charset="0"/>
                </a:rPr>
                <a:t>倍的被乘数        </a:t>
              </a:r>
              <a:r>
                <a:rPr lang="en-US" altLang="zh-CN" sz="2400" b="1" dirty="0">
                  <a:latin typeface="Arial" panose="020B0604020202020204" pitchFamily="34" charset="0"/>
                </a:rPr>
                <a:t>2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0509" name="Line 16"/>
            <p:cNvSpPr/>
            <p:nvPr/>
          </p:nvSpPr>
          <p:spPr>
            <a:xfrm>
              <a:off x="4085" y="2592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0477" name="Group 17"/>
          <p:cNvGrpSpPr/>
          <p:nvPr/>
        </p:nvGrpSpPr>
        <p:grpSpPr>
          <a:xfrm>
            <a:off x="4724400" y="4343400"/>
            <a:ext cx="4960938" cy="455613"/>
            <a:chOff x="2016" y="2736"/>
            <a:chExt cx="3125" cy="287"/>
          </a:xfrm>
        </p:grpSpPr>
        <p:sp>
          <p:nvSpPr>
            <p:cNvPr id="190506" name="Rectangle 18"/>
            <p:cNvSpPr/>
            <p:nvPr/>
          </p:nvSpPr>
          <p:spPr>
            <a:xfrm>
              <a:off x="2016" y="2736"/>
              <a:ext cx="3125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加 </a:t>
              </a:r>
              <a:r>
                <a:rPr lang="en-US" altLang="zh-CN" sz="2400" b="1" dirty="0">
                  <a:latin typeface="Arial" panose="020B0604020202020204" pitchFamily="34" charset="0"/>
                </a:rPr>
                <a:t>2 </a:t>
              </a:r>
              <a:r>
                <a:rPr lang="zh-CN" altLang="en-US" sz="2400" b="1" dirty="0">
                  <a:latin typeface="Arial" panose="020B0604020202020204" pitchFamily="34" charset="0"/>
                </a:rPr>
                <a:t>倍的被乘数        </a:t>
              </a:r>
              <a:r>
                <a:rPr lang="en-US" altLang="zh-CN" sz="2400" b="1" dirty="0">
                  <a:latin typeface="Arial" panose="020B0604020202020204" pitchFamily="34" charset="0"/>
                </a:rPr>
                <a:t>2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0507" name="Line 19"/>
            <p:cNvSpPr/>
            <p:nvPr/>
          </p:nvSpPr>
          <p:spPr>
            <a:xfrm>
              <a:off x="4085" y="2880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0478" name="Group 20"/>
          <p:cNvGrpSpPr/>
          <p:nvPr/>
        </p:nvGrpSpPr>
        <p:grpSpPr>
          <a:xfrm>
            <a:off x="4724400" y="4799013"/>
            <a:ext cx="4960938" cy="455612"/>
            <a:chOff x="2016" y="3023"/>
            <a:chExt cx="3125" cy="287"/>
          </a:xfrm>
        </p:grpSpPr>
        <p:sp>
          <p:nvSpPr>
            <p:cNvPr id="190504" name="Rectangle 21"/>
            <p:cNvSpPr/>
            <p:nvPr/>
          </p:nvSpPr>
          <p:spPr>
            <a:xfrm>
              <a:off x="2016" y="3023"/>
              <a:ext cx="3125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加 </a:t>
              </a:r>
              <a:r>
                <a:rPr lang="en-US" altLang="zh-CN" sz="2400" b="1" dirty="0">
                  <a:latin typeface="Arial" panose="020B0604020202020204" pitchFamily="34" charset="0"/>
                </a:rPr>
                <a:t>3 </a:t>
              </a:r>
              <a:r>
                <a:rPr lang="zh-CN" altLang="en-US" sz="2400" b="1" dirty="0">
                  <a:latin typeface="Arial" panose="020B0604020202020204" pitchFamily="34" charset="0"/>
                </a:rPr>
                <a:t>倍的被乘数        </a:t>
              </a:r>
              <a:r>
                <a:rPr lang="en-US" altLang="zh-CN" sz="2400" b="1" dirty="0">
                  <a:latin typeface="Arial" panose="020B0604020202020204" pitchFamily="34" charset="0"/>
                </a:rPr>
                <a:t>2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0505" name="Line 22"/>
            <p:cNvSpPr/>
            <p:nvPr/>
          </p:nvSpPr>
          <p:spPr>
            <a:xfrm>
              <a:off x="4085" y="3168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90479" name="Text Box 23"/>
          <p:cNvSpPr txBox="1"/>
          <p:nvPr/>
        </p:nvSpPr>
        <p:spPr>
          <a:xfrm>
            <a:off x="3200400" y="5576888"/>
            <a:ext cx="805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0" name="Text Box 24"/>
          <p:cNvSpPr txBox="1"/>
          <p:nvPr/>
        </p:nvSpPr>
        <p:spPr>
          <a:xfrm>
            <a:off x="6537325" y="5530850"/>
            <a:ext cx="413067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先 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减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倍 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的被乘数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再 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加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倍 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的被乘数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90481" name="Group 25"/>
          <p:cNvGrpSpPr/>
          <p:nvPr/>
        </p:nvGrpSpPr>
        <p:grpSpPr>
          <a:xfrm>
            <a:off x="4019550" y="5324475"/>
            <a:ext cx="704850" cy="1360488"/>
            <a:chOff x="1572" y="3354"/>
            <a:chExt cx="444" cy="857"/>
          </a:xfrm>
        </p:grpSpPr>
        <p:sp>
          <p:nvSpPr>
            <p:cNvPr id="190500" name="Text Box 26"/>
            <p:cNvSpPr txBox="1"/>
            <p:nvPr/>
          </p:nvSpPr>
          <p:spPr>
            <a:xfrm>
              <a:off x="1718" y="3354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4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0501" name="Text Box 27"/>
            <p:cNvSpPr txBox="1"/>
            <p:nvPr/>
          </p:nvSpPr>
          <p:spPr>
            <a:xfrm>
              <a:off x="1572" y="3618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–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0502" name="Text Box 28"/>
            <p:cNvSpPr txBox="1"/>
            <p:nvPr/>
          </p:nvSpPr>
          <p:spPr>
            <a:xfrm>
              <a:off x="1718" y="3882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3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0503" name="Line 29"/>
            <p:cNvSpPr/>
            <p:nvPr/>
          </p:nvSpPr>
          <p:spPr>
            <a:xfrm>
              <a:off x="1632" y="388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90482" name="Group 30"/>
          <p:cNvGrpSpPr/>
          <p:nvPr/>
        </p:nvGrpSpPr>
        <p:grpSpPr>
          <a:xfrm>
            <a:off x="5013325" y="5324475"/>
            <a:ext cx="804863" cy="1360488"/>
            <a:chOff x="2198" y="3354"/>
            <a:chExt cx="507" cy="857"/>
          </a:xfrm>
        </p:grpSpPr>
        <p:sp>
          <p:nvSpPr>
            <p:cNvPr id="190496" name="Text Box 31"/>
            <p:cNvSpPr txBox="1"/>
            <p:nvPr/>
          </p:nvSpPr>
          <p:spPr>
            <a:xfrm>
              <a:off x="2254" y="3354"/>
              <a:ext cx="45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100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0497" name="Text Box 32"/>
            <p:cNvSpPr txBox="1"/>
            <p:nvPr/>
          </p:nvSpPr>
          <p:spPr>
            <a:xfrm>
              <a:off x="2198" y="3618"/>
              <a:ext cx="50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– 01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0498" name="Text Box 33"/>
            <p:cNvSpPr txBox="1"/>
            <p:nvPr/>
          </p:nvSpPr>
          <p:spPr>
            <a:xfrm>
              <a:off x="2366" y="3882"/>
              <a:ext cx="3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0499" name="Line 34"/>
            <p:cNvSpPr/>
            <p:nvPr/>
          </p:nvSpPr>
          <p:spPr>
            <a:xfrm>
              <a:off x="2208" y="3888"/>
              <a:ext cx="47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10627" name="Rectangle 3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0484" name="Group 36"/>
          <p:cNvGrpSpPr/>
          <p:nvPr/>
        </p:nvGrpSpPr>
        <p:grpSpPr>
          <a:xfrm>
            <a:off x="2970213" y="2962275"/>
            <a:ext cx="6510337" cy="2305050"/>
            <a:chOff x="911" y="1866"/>
            <a:chExt cx="4101" cy="1452"/>
          </a:xfrm>
        </p:grpSpPr>
        <p:sp>
          <p:nvSpPr>
            <p:cNvPr id="190487" name="Line 37"/>
            <p:cNvSpPr/>
            <p:nvPr/>
          </p:nvSpPr>
          <p:spPr>
            <a:xfrm>
              <a:off x="912" y="3310"/>
              <a:ext cx="409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pSp>
          <p:nvGrpSpPr>
            <p:cNvPr id="190488" name="Group 38"/>
            <p:cNvGrpSpPr/>
            <p:nvPr/>
          </p:nvGrpSpPr>
          <p:grpSpPr>
            <a:xfrm>
              <a:off x="912" y="1872"/>
              <a:ext cx="4094" cy="1438"/>
              <a:chOff x="912" y="1872"/>
              <a:chExt cx="4094" cy="1438"/>
            </a:xfrm>
          </p:grpSpPr>
          <p:sp>
            <p:nvSpPr>
              <p:cNvPr id="190491" name="Rectangle 39"/>
              <p:cNvSpPr/>
              <p:nvPr/>
            </p:nvSpPr>
            <p:spPr>
              <a:xfrm>
                <a:off x="2203" y="1872"/>
                <a:ext cx="271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rIns="19050"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 </a:t>
                </a:r>
                <a:r>
                  <a:rPr lang="zh-CN" altLang="en-US" sz="2400" b="1" dirty="0">
                    <a:latin typeface="Arial" panose="020B0604020202020204" pitchFamily="34" charset="0"/>
                  </a:rPr>
                  <a:t>新的部分积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0492" name="Rectangle 40"/>
              <p:cNvSpPr/>
              <p:nvPr/>
            </p:nvSpPr>
            <p:spPr>
              <a:xfrm>
                <a:off x="1008" y="1872"/>
                <a:ext cx="1195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>
                  <a:spcBef>
                    <a:spcPct val="20000"/>
                  </a:spcBef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乘数</a:t>
                </a:r>
                <a:r>
                  <a:rPr lang="en-US" altLang="zh-CN" sz="2400" b="1" i="1" dirty="0">
                    <a:latin typeface="Arial" panose="020B0604020202020204" pitchFamily="34" charset="0"/>
                  </a:rPr>
                  <a:t>y</a:t>
                </a:r>
                <a:r>
                  <a:rPr lang="en-US" altLang="zh-CN" sz="2400" b="1" i="1" baseline="-25000" dirty="0">
                    <a:latin typeface="Arial" panose="020B0604020202020204" pitchFamily="34" charset="0"/>
                  </a:rPr>
                  <a:t>n</a:t>
                </a:r>
                <a:r>
                  <a:rPr lang="en-US" altLang="zh-CN" sz="2400" b="1" baseline="-25000" dirty="0">
                    <a:latin typeface="Arial" panose="020B0604020202020204" pitchFamily="34" charset="0"/>
                  </a:rPr>
                  <a:t>-1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 </a:t>
                </a:r>
                <a:r>
                  <a:rPr lang="en-US" altLang="zh-CN" sz="2400" b="1" i="1" dirty="0">
                    <a:latin typeface="Arial" panose="020B0604020202020204" pitchFamily="34" charset="0"/>
                  </a:rPr>
                  <a:t>y</a:t>
                </a:r>
                <a:r>
                  <a:rPr lang="en-US" altLang="zh-CN" sz="2400" b="1" i="1" baseline="-25000" dirty="0">
                    <a:latin typeface="Arial" panose="020B0604020202020204" pitchFamily="34" charset="0"/>
                  </a:rPr>
                  <a:t>n</a:t>
                </a:r>
                <a:endParaRPr lang="en-US" altLang="zh-CN" sz="2400" b="1" i="1" baseline="-25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0493" name="Line 41"/>
              <p:cNvSpPr/>
              <p:nvPr/>
            </p:nvSpPr>
            <p:spPr>
              <a:xfrm>
                <a:off x="912" y="1872"/>
                <a:ext cx="409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0494" name="Line 42"/>
              <p:cNvSpPr/>
              <p:nvPr/>
            </p:nvSpPr>
            <p:spPr>
              <a:xfrm>
                <a:off x="912" y="2159"/>
                <a:ext cx="409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0495" name="Line 43"/>
              <p:cNvSpPr/>
              <p:nvPr/>
            </p:nvSpPr>
            <p:spPr>
              <a:xfrm>
                <a:off x="2203" y="1872"/>
                <a:ext cx="0" cy="143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90489" name="Line 44"/>
            <p:cNvSpPr/>
            <p:nvPr/>
          </p:nvSpPr>
          <p:spPr>
            <a:xfrm>
              <a:off x="911" y="1866"/>
              <a:ext cx="0" cy="14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0490" name="Line 45"/>
            <p:cNvSpPr/>
            <p:nvPr/>
          </p:nvSpPr>
          <p:spPr>
            <a:xfrm>
              <a:off x="5012" y="1866"/>
              <a:ext cx="0" cy="14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90485" name="AutoShape 4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048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1490" name="Text Box 2"/>
          <p:cNvSpPr txBox="1"/>
          <p:nvPr/>
        </p:nvSpPr>
        <p:spPr>
          <a:xfrm>
            <a:off x="2346325" y="349250"/>
            <a:ext cx="56546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(5)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原码两位乘运算规则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91491" name="Group 3"/>
          <p:cNvGrpSpPr/>
          <p:nvPr/>
        </p:nvGrpSpPr>
        <p:grpSpPr>
          <a:xfrm>
            <a:off x="2286000" y="3651250"/>
            <a:ext cx="4038600" cy="1822450"/>
            <a:chOff x="480" y="2300"/>
            <a:chExt cx="2544" cy="1148"/>
          </a:xfrm>
        </p:grpSpPr>
        <p:sp>
          <p:nvSpPr>
            <p:cNvPr id="191561" name="Rectangle 4"/>
            <p:cNvSpPr/>
            <p:nvPr/>
          </p:nvSpPr>
          <p:spPr>
            <a:xfrm>
              <a:off x="1824" y="3161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62" name="Rectangle 5"/>
            <p:cNvSpPr/>
            <p:nvPr/>
          </p:nvSpPr>
          <p:spPr>
            <a:xfrm>
              <a:off x="480" y="3161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1 1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63" name="Rectangle 6"/>
            <p:cNvSpPr/>
            <p:nvPr/>
          </p:nvSpPr>
          <p:spPr>
            <a:xfrm>
              <a:off x="1824" y="2874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64" name="Rectangle 7"/>
            <p:cNvSpPr/>
            <p:nvPr/>
          </p:nvSpPr>
          <p:spPr>
            <a:xfrm>
              <a:off x="480" y="2874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1 0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65" name="Rectangle 8"/>
            <p:cNvSpPr/>
            <p:nvPr/>
          </p:nvSpPr>
          <p:spPr>
            <a:xfrm>
              <a:off x="1824" y="2587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66" name="Rectangle 9"/>
            <p:cNvSpPr/>
            <p:nvPr/>
          </p:nvSpPr>
          <p:spPr>
            <a:xfrm>
              <a:off x="480" y="2587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0 1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67" name="Rectangle 10"/>
            <p:cNvSpPr/>
            <p:nvPr/>
          </p:nvSpPr>
          <p:spPr>
            <a:xfrm>
              <a:off x="1824" y="2300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68" name="Rectangle 11"/>
            <p:cNvSpPr/>
            <p:nvPr/>
          </p:nvSpPr>
          <p:spPr>
            <a:xfrm>
              <a:off x="480" y="2300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0 0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1492" name="Group 12"/>
          <p:cNvGrpSpPr/>
          <p:nvPr/>
        </p:nvGrpSpPr>
        <p:grpSpPr>
          <a:xfrm>
            <a:off x="2286000" y="1828800"/>
            <a:ext cx="4038600" cy="1822450"/>
            <a:chOff x="480" y="1152"/>
            <a:chExt cx="2544" cy="1148"/>
          </a:xfrm>
        </p:grpSpPr>
        <p:sp>
          <p:nvSpPr>
            <p:cNvPr id="191553" name="Rectangle 13"/>
            <p:cNvSpPr/>
            <p:nvPr/>
          </p:nvSpPr>
          <p:spPr>
            <a:xfrm>
              <a:off x="1824" y="2013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54" name="Rectangle 14"/>
            <p:cNvSpPr/>
            <p:nvPr/>
          </p:nvSpPr>
          <p:spPr>
            <a:xfrm>
              <a:off x="480" y="2013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1 1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55" name="Rectangle 15"/>
            <p:cNvSpPr/>
            <p:nvPr/>
          </p:nvSpPr>
          <p:spPr>
            <a:xfrm>
              <a:off x="1824" y="1726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56" name="Rectangle 16"/>
            <p:cNvSpPr/>
            <p:nvPr/>
          </p:nvSpPr>
          <p:spPr>
            <a:xfrm>
              <a:off x="480" y="1726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1 0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57" name="Rectangle 17"/>
            <p:cNvSpPr/>
            <p:nvPr/>
          </p:nvSpPr>
          <p:spPr>
            <a:xfrm>
              <a:off x="1824" y="1439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58" name="Rectangle 18"/>
            <p:cNvSpPr/>
            <p:nvPr/>
          </p:nvSpPr>
          <p:spPr>
            <a:xfrm>
              <a:off x="480" y="1439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0 1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59" name="Rectangle 19"/>
            <p:cNvSpPr/>
            <p:nvPr/>
          </p:nvSpPr>
          <p:spPr>
            <a:xfrm>
              <a:off x="1824" y="1152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60" name="Rectangle 20"/>
            <p:cNvSpPr/>
            <p:nvPr/>
          </p:nvSpPr>
          <p:spPr>
            <a:xfrm>
              <a:off x="480" y="1152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0 0 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1493" name="Group 21"/>
          <p:cNvGrpSpPr/>
          <p:nvPr/>
        </p:nvGrpSpPr>
        <p:grpSpPr>
          <a:xfrm>
            <a:off x="2286000" y="1397000"/>
            <a:ext cx="8001000" cy="4100513"/>
            <a:chOff x="480" y="880"/>
            <a:chExt cx="5040" cy="2583"/>
          </a:xfrm>
        </p:grpSpPr>
        <p:sp>
          <p:nvSpPr>
            <p:cNvPr id="191535" name="Rectangle 22"/>
            <p:cNvSpPr/>
            <p:nvPr/>
          </p:nvSpPr>
          <p:spPr>
            <a:xfrm>
              <a:off x="3024" y="880"/>
              <a:ext cx="249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Arial" panose="020B0604020202020204" pitchFamily="34" charset="0"/>
                </a:rPr>
                <a:t>操 作 内 容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36" name="Rectangle 23"/>
            <p:cNvSpPr/>
            <p:nvPr/>
          </p:nvSpPr>
          <p:spPr>
            <a:xfrm>
              <a:off x="1824" y="880"/>
              <a:ext cx="120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标志位 </a:t>
              </a:r>
              <a:r>
                <a:rPr lang="en-US" altLang="zh-CN" sz="2400" b="1" dirty="0">
                  <a:latin typeface="Arial" panose="020B0604020202020204" pitchFamily="34" charset="0"/>
                </a:rPr>
                <a:t>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</a:t>
              </a:r>
              <a:endParaRPr lang="en-US" altLang="zh-CN" sz="2400" b="1" i="1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191537" name="Rectangle 24"/>
            <p:cNvSpPr/>
            <p:nvPr/>
          </p:nvSpPr>
          <p:spPr>
            <a:xfrm>
              <a:off x="480" y="880"/>
              <a:ext cx="134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乘数判断位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n</a:t>
              </a:r>
              <a:r>
                <a:rPr lang="en-US" altLang="zh-CN" sz="2400" b="1" baseline="-25000" dirty="0">
                  <a:latin typeface="Arial" panose="020B0604020202020204" pitchFamily="34" charset="0"/>
                </a:rPr>
                <a:t>-1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n</a:t>
              </a:r>
              <a:endParaRPr lang="en-US" altLang="zh-CN" sz="2400" b="1" i="1" baseline="-25000" dirty="0">
                <a:latin typeface="Arial" panose="020B0604020202020204" pitchFamily="34" charset="0"/>
              </a:endParaRPr>
            </a:p>
          </p:txBody>
        </p:sp>
        <p:grpSp>
          <p:nvGrpSpPr>
            <p:cNvPr id="191538" name="Group 25"/>
            <p:cNvGrpSpPr/>
            <p:nvPr/>
          </p:nvGrpSpPr>
          <p:grpSpPr>
            <a:xfrm>
              <a:off x="480" y="880"/>
              <a:ext cx="5040" cy="2583"/>
              <a:chOff x="480" y="880"/>
              <a:chExt cx="5040" cy="2583"/>
            </a:xfrm>
          </p:grpSpPr>
          <p:sp>
            <p:nvSpPr>
              <p:cNvPr id="191539" name="Line 26"/>
              <p:cNvSpPr/>
              <p:nvPr/>
            </p:nvSpPr>
            <p:spPr>
              <a:xfrm>
                <a:off x="480" y="880"/>
                <a:ext cx="504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0" name="Line 27"/>
              <p:cNvSpPr/>
              <p:nvPr/>
            </p:nvSpPr>
            <p:spPr>
              <a:xfrm>
                <a:off x="480" y="1167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1" name="Line 28"/>
              <p:cNvSpPr/>
              <p:nvPr/>
            </p:nvSpPr>
            <p:spPr>
              <a:xfrm>
                <a:off x="480" y="1454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2" name="Line 29"/>
              <p:cNvSpPr/>
              <p:nvPr/>
            </p:nvSpPr>
            <p:spPr>
              <a:xfrm>
                <a:off x="480" y="1741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3" name="Line 30"/>
              <p:cNvSpPr/>
              <p:nvPr/>
            </p:nvSpPr>
            <p:spPr>
              <a:xfrm>
                <a:off x="480" y="2028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4" name="Line 31"/>
              <p:cNvSpPr/>
              <p:nvPr/>
            </p:nvSpPr>
            <p:spPr>
              <a:xfrm>
                <a:off x="480" y="2315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5" name="Line 32"/>
              <p:cNvSpPr/>
              <p:nvPr/>
            </p:nvSpPr>
            <p:spPr>
              <a:xfrm>
                <a:off x="480" y="2602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6" name="Line 33"/>
              <p:cNvSpPr/>
              <p:nvPr/>
            </p:nvSpPr>
            <p:spPr>
              <a:xfrm>
                <a:off x="480" y="2889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7" name="Line 34"/>
              <p:cNvSpPr/>
              <p:nvPr/>
            </p:nvSpPr>
            <p:spPr>
              <a:xfrm>
                <a:off x="480" y="3176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8" name="Line 35"/>
              <p:cNvSpPr/>
              <p:nvPr/>
            </p:nvSpPr>
            <p:spPr>
              <a:xfrm>
                <a:off x="480" y="3463"/>
                <a:ext cx="504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49" name="Line 36"/>
              <p:cNvSpPr/>
              <p:nvPr/>
            </p:nvSpPr>
            <p:spPr>
              <a:xfrm>
                <a:off x="480" y="880"/>
                <a:ext cx="0" cy="2583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50" name="Line 37"/>
              <p:cNvSpPr/>
              <p:nvPr/>
            </p:nvSpPr>
            <p:spPr>
              <a:xfrm>
                <a:off x="1824" y="880"/>
                <a:ext cx="0" cy="258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51" name="Line 38"/>
              <p:cNvSpPr/>
              <p:nvPr/>
            </p:nvSpPr>
            <p:spPr>
              <a:xfrm>
                <a:off x="3024" y="880"/>
                <a:ext cx="0" cy="258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1552" name="Line 39"/>
              <p:cNvSpPr/>
              <p:nvPr/>
            </p:nvSpPr>
            <p:spPr>
              <a:xfrm>
                <a:off x="5520" y="880"/>
                <a:ext cx="0" cy="2583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1494" name="Group 40"/>
          <p:cNvGrpSpPr/>
          <p:nvPr/>
        </p:nvGrpSpPr>
        <p:grpSpPr>
          <a:xfrm>
            <a:off x="6324600" y="1852613"/>
            <a:ext cx="3962400" cy="455612"/>
            <a:chOff x="3024" y="1167"/>
            <a:chExt cx="2496" cy="287"/>
          </a:xfrm>
        </p:grpSpPr>
        <p:sp>
          <p:nvSpPr>
            <p:cNvPr id="191532" name="Rectangle 41"/>
            <p:cNvSpPr/>
            <p:nvPr/>
          </p:nvSpPr>
          <p:spPr>
            <a:xfrm>
              <a:off x="3024" y="1167"/>
              <a:ext cx="249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     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z</a:t>
              </a:r>
              <a:r>
                <a:rPr lang="en-US" altLang="zh-CN" sz="2400" b="1" dirty="0">
                  <a:latin typeface="Arial" panose="020B0604020202020204" pitchFamily="34" charset="0"/>
                </a:rPr>
                <a:t>    2,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2, 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保持</a:t>
              </a:r>
              <a:r>
                <a:rPr lang="zh-CN" altLang="en-US" sz="24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0”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33" name="Line 42"/>
            <p:cNvSpPr/>
            <p:nvPr/>
          </p:nvSpPr>
          <p:spPr>
            <a:xfrm>
              <a:off x="3600" y="1344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91534" name="Line 43"/>
            <p:cNvSpPr/>
            <p:nvPr/>
          </p:nvSpPr>
          <p:spPr>
            <a:xfrm>
              <a:off x="4164" y="1344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1495" name="Group 44"/>
          <p:cNvGrpSpPr/>
          <p:nvPr/>
        </p:nvGrpSpPr>
        <p:grpSpPr>
          <a:xfrm>
            <a:off x="6324600" y="5029200"/>
            <a:ext cx="3962400" cy="455613"/>
            <a:chOff x="3024" y="3168"/>
            <a:chExt cx="2496" cy="287"/>
          </a:xfrm>
        </p:grpSpPr>
        <p:sp>
          <p:nvSpPr>
            <p:cNvPr id="191529" name="Rectangle 45"/>
            <p:cNvSpPr/>
            <p:nvPr/>
          </p:nvSpPr>
          <p:spPr>
            <a:xfrm>
              <a:off x="3024" y="3168"/>
              <a:ext cx="249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    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z</a:t>
              </a:r>
              <a:r>
                <a:rPr lang="en-US" altLang="zh-CN" sz="2400" b="1" dirty="0">
                  <a:latin typeface="Arial" panose="020B0604020202020204" pitchFamily="34" charset="0"/>
                </a:rPr>
                <a:t>     2,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2, 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</a:t>
              </a: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保持</a:t>
              </a:r>
              <a:r>
                <a:rPr lang="zh-CN" altLang="en-US" sz="24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1”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30" name="Line 46"/>
            <p:cNvSpPr/>
            <p:nvPr/>
          </p:nvSpPr>
          <p:spPr>
            <a:xfrm>
              <a:off x="4164" y="3328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91531" name="Line 47"/>
            <p:cNvSpPr/>
            <p:nvPr/>
          </p:nvSpPr>
          <p:spPr>
            <a:xfrm>
              <a:off x="3600" y="3328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1496" name="Group 48"/>
          <p:cNvGrpSpPr/>
          <p:nvPr/>
        </p:nvGrpSpPr>
        <p:grpSpPr>
          <a:xfrm>
            <a:off x="6324600" y="4586288"/>
            <a:ext cx="3962400" cy="455612"/>
            <a:chOff x="3024" y="2889"/>
            <a:chExt cx="2496" cy="287"/>
          </a:xfrm>
        </p:grpSpPr>
        <p:sp>
          <p:nvSpPr>
            <p:cNvPr id="191526" name="Rectangle 49"/>
            <p:cNvSpPr/>
            <p:nvPr/>
          </p:nvSpPr>
          <p:spPr>
            <a:xfrm>
              <a:off x="3024" y="2889"/>
              <a:ext cx="249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</a:rPr>
                <a:t>z</a:t>
              </a:r>
              <a:r>
                <a:rPr lang="en-US" altLang="zh-CN" sz="2400" b="1" dirty="0">
                  <a:latin typeface="Arial" panose="020B0604020202020204" pitchFamily="34" charset="0"/>
                </a:rPr>
                <a:t>–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x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 2,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2, 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</a:t>
              </a: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保持</a:t>
              </a:r>
              <a:r>
                <a:rPr lang="zh-CN" altLang="en-US" sz="24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1”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27" name="Line 50"/>
            <p:cNvSpPr/>
            <p:nvPr/>
          </p:nvSpPr>
          <p:spPr>
            <a:xfrm>
              <a:off x="4164" y="3048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91528" name="Line 51"/>
            <p:cNvSpPr/>
            <p:nvPr/>
          </p:nvSpPr>
          <p:spPr>
            <a:xfrm>
              <a:off x="3600" y="3048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1497" name="Group 52"/>
          <p:cNvGrpSpPr/>
          <p:nvPr/>
        </p:nvGrpSpPr>
        <p:grpSpPr>
          <a:xfrm>
            <a:off x="6096000" y="2763838"/>
            <a:ext cx="4191000" cy="455612"/>
            <a:chOff x="2880" y="1741"/>
            <a:chExt cx="2640" cy="287"/>
          </a:xfrm>
        </p:grpSpPr>
        <p:sp>
          <p:nvSpPr>
            <p:cNvPr id="191523" name="Rectangle 53"/>
            <p:cNvSpPr/>
            <p:nvPr/>
          </p:nvSpPr>
          <p:spPr>
            <a:xfrm>
              <a:off x="2880" y="1741"/>
              <a:ext cx="264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z</a:t>
              </a:r>
              <a:r>
                <a:rPr lang="en-US" altLang="zh-CN" sz="2400" b="1" dirty="0">
                  <a:latin typeface="Arial" panose="020B0604020202020204" pitchFamily="34" charset="0"/>
                </a:rPr>
                <a:t>+2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x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 2,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2, 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</a:t>
              </a: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保持</a:t>
              </a:r>
              <a:r>
                <a:rPr lang="zh-CN" altLang="en-US" sz="24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0”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24" name="Line 54"/>
            <p:cNvSpPr/>
            <p:nvPr/>
          </p:nvSpPr>
          <p:spPr>
            <a:xfrm>
              <a:off x="4155" y="1916"/>
              <a:ext cx="15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91525" name="Line 55"/>
            <p:cNvSpPr/>
            <p:nvPr/>
          </p:nvSpPr>
          <p:spPr>
            <a:xfrm>
              <a:off x="3592" y="1916"/>
              <a:ext cx="15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1498" name="Group 56"/>
          <p:cNvGrpSpPr/>
          <p:nvPr/>
        </p:nvGrpSpPr>
        <p:grpSpPr>
          <a:xfrm>
            <a:off x="6324600" y="2284413"/>
            <a:ext cx="3962400" cy="455612"/>
            <a:chOff x="3024" y="1439"/>
            <a:chExt cx="2496" cy="287"/>
          </a:xfrm>
        </p:grpSpPr>
        <p:sp>
          <p:nvSpPr>
            <p:cNvPr id="191520" name="Rectangle 57"/>
            <p:cNvSpPr/>
            <p:nvPr/>
          </p:nvSpPr>
          <p:spPr>
            <a:xfrm>
              <a:off x="3024" y="1439"/>
              <a:ext cx="249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</a:rPr>
                <a:t>z</a:t>
              </a:r>
              <a:r>
                <a:rPr lang="en-US" altLang="zh-CN" sz="2400" b="1" dirty="0">
                  <a:latin typeface="Arial" panose="020B0604020202020204" pitchFamily="34" charset="0"/>
                </a:rPr>
                <a:t>+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x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 2,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2, 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保持</a:t>
              </a:r>
              <a:r>
                <a:rPr lang="zh-CN" altLang="en-US" sz="24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0”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21" name="Line 58"/>
            <p:cNvSpPr/>
            <p:nvPr/>
          </p:nvSpPr>
          <p:spPr>
            <a:xfrm>
              <a:off x="4164" y="1617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91522" name="Line 59"/>
            <p:cNvSpPr/>
            <p:nvPr/>
          </p:nvSpPr>
          <p:spPr>
            <a:xfrm>
              <a:off x="3600" y="1617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1499" name="Group 60"/>
          <p:cNvGrpSpPr/>
          <p:nvPr/>
        </p:nvGrpSpPr>
        <p:grpSpPr>
          <a:xfrm>
            <a:off x="1981200" y="5567363"/>
            <a:ext cx="8153400" cy="522287"/>
            <a:chOff x="288" y="3552"/>
            <a:chExt cx="5136" cy="329"/>
          </a:xfrm>
        </p:grpSpPr>
        <p:sp>
          <p:nvSpPr>
            <p:cNvPr id="191518" name="Text Box 61"/>
            <p:cNvSpPr txBox="1"/>
            <p:nvPr/>
          </p:nvSpPr>
          <p:spPr>
            <a:xfrm>
              <a:off x="288" y="3552"/>
              <a:ext cx="51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共有操作   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          +2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         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             2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1519" name="Line 62"/>
            <p:cNvSpPr/>
            <p:nvPr/>
          </p:nvSpPr>
          <p:spPr>
            <a:xfrm>
              <a:off x="4464" y="374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1500" name="Group 63"/>
          <p:cNvGrpSpPr/>
          <p:nvPr/>
        </p:nvGrpSpPr>
        <p:grpSpPr>
          <a:xfrm>
            <a:off x="1981200" y="6110288"/>
            <a:ext cx="8299450" cy="522287"/>
            <a:chOff x="288" y="3894"/>
            <a:chExt cx="5228" cy="329"/>
          </a:xfrm>
        </p:grpSpPr>
        <p:sp>
          <p:nvSpPr>
            <p:cNvPr id="191516" name="Text Box 64"/>
            <p:cNvSpPr txBox="1"/>
            <p:nvPr/>
          </p:nvSpPr>
          <p:spPr>
            <a:xfrm>
              <a:off x="288" y="3894"/>
              <a:ext cx="522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实际操作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+[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+[2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+[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       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 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补码移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1517" name="Line 65"/>
            <p:cNvSpPr/>
            <p:nvPr/>
          </p:nvSpPr>
          <p:spPr>
            <a:xfrm>
              <a:off x="4464" y="4080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1501" name="Group 66"/>
          <p:cNvGrpSpPr/>
          <p:nvPr/>
        </p:nvGrpSpPr>
        <p:grpSpPr>
          <a:xfrm>
            <a:off x="6096000" y="3195638"/>
            <a:ext cx="4191000" cy="455612"/>
            <a:chOff x="2880" y="2013"/>
            <a:chExt cx="2640" cy="287"/>
          </a:xfrm>
        </p:grpSpPr>
        <p:sp>
          <p:nvSpPr>
            <p:cNvPr id="191513" name="Rectangle 67"/>
            <p:cNvSpPr/>
            <p:nvPr/>
          </p:nvSpPr>
          <p:spPr>
            <a:xfrm>
              <a:off x="2880" y="2013"/>
              <a:ext cx="264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>
                <a:spcBef>
                  <a:spcPct val="2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</a:rPr>
                <a:t>z</a:t>
              </a:r>
              <a:r>
                <a:rPr lang="en-US" altLang="zh-CN" sz="2400" b="1" dirty="0">
                  <a:latin typeface="Arial" panose="020B0604020202020204" pitchFamily="34" charset="0"/>
                </a:rPr>
                <a:t>–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x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 2,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 y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2, 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 </a:t>
              </a:r>
              <a:r>
                <a:rPr lang="zh-CN" altLang="en-US" sz="2000" b="1" dirty="0">
                  <a:latin typeface="Arial" panose="020B0604020202020204" pitchFamily="34" charset="0"/>
                </a:rPr>
                <a:t>置</a:t>
              </a:r>
              <a:r>
                <a:rPr lang="zh-CN" altLang="en-US" sz="24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1” 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14" name="Line 68"/>
            <p:cNvSpPr/>
            <p:nvPr/>
          </p:nvSpPr>
          <p:spPr>
            <a:xfrm>
              <a:off x="4155" y="2192"/>
              <a:ext cx="15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91515" name="Line 69"/>
            <p:cNvSpPr/>
            <p:nvPr/>
          </p:nvSpPr>
          <p:spPr>
            <a:xfrm>
              <a:off x="3591" y="2192"/>
              <a:ext cx="15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1502" name="Group 70"/>
          <p:cNvGrpSpPr/>
          <p:nvPr/>
        </p:nvGrpSpPr>
        <p:grpSpPr>
          <a:xfrm>
            <a:off x="6096000" y="4114800"/>
            <a:ext cx="4191000" cy="455613"/>
            <a:chOff x="2880" y="2592"/>
            <a:chExt cx="2640" cy="287"/>
          </a:xfrm>
        </p:grpSpPr>
        <p:sp>
          <p:nvSpPr>
            <p:cNvPr id="191510" name="Rectangle 71"/>
            <p:cNvSpPr/>
            <p:nvPr/>
          </p:nvSpPr>
          <p:spPr>
            <a:xfrm>
              <a:off x="2880" y="2592"/>
              <a:ext cx="264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19050"/>
            <a:p>
              <a:pPr>
                <a:spcBef>
                  <a:spcPct val="2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</a:rPr>
                <a:t>     z</a:t>
              </a:r>
              <a:r>
                <a:rPr lang="en-US" altLang="zh-CN" sz="2400" b="1" dirty="0">
                  <a:latin typeface="Arial" panose="020B0604020202020204" pitchFamily="34" charset="0"/>
                </a:rPr>
                <a:t>+2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x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 2,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2, 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 </a:t>
              </a:r>
              <a:r>
                <a:rPr lang="zh-CN" altLang="en-US" sz="2000" b="1" dirty="0">
                  <a:latin typeface="Arial" panose="020B0604020202020204" pitchFamily="34" charset="0"/>
                </a:rPr>
                <a:t>置</a:t>
              </a:r>
              <a:r>
                <a:rPr lang="zh-CN" altLang="en-US" sz="24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0” 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11" name="Line 72"/>
            <p:cNvSpPr/>
            <p:nvPr/>
          </p:nvSpPr>
          <p:spPr>
            <a:xfrm>
              <a:off x="3600" y="2755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91512" name="Line 73"/>
            <p:cNvSpPr/>
            <p:nvPr/>
          </p:nvSpPr>
          <p:spPr>
            <a:xfrm>
              <a:off x="4164" y="2755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11690" name="Rectangle 7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1504" name="Group 75"/>
          <p:cNvGrpSpPr/>
          <p:nvPr/>
        </p:nvGrpSpPr>
        <p:grpSpPr>
          <a:xfrm>
            <a:off x="6096000" y="3659188"/>
            <a:ext cx="4191000" cy="455612"/>
            <a:chOff x="2880" y="2305"/>
            <a:chExt cx="2640" cy="287"/>
          </a:xfrm>
        </p:grpSpPr>
        <p:sp>
          <p:nvSpPr>
            <p:cNvPr id="191507" name="Rectangle 76"/>
            <p:cNvSpPr/>
            <p:nvPr/>
          </p:nvSpPr>
          <p:spPr>
            <a:xfrm>
              <a:off x="2880" y="2305"/>
              <a:ext cx="264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/>
            <a:p>
              <a:pPr>
                <a:spcBef>
                  <a:spcPct val="20000"/>
                </a:spcBef>
              </a:pPr>
              <a:r>
                <a:rPr lang="en-US" altLang="zh-CN" sz="2400" b="1" i="1" dirty="0">
                  <a:latin typeface="Arial" panose="020B0604020202020204" pitchFamily="34" charset="0"/>
                </a:rPr>
                <a:t>      z</a:t>
              </a:r>
              <a:r>
                <a:rPr lang="en-US" altLang="zh-CN" sz="2400" b="1" dirty="0">
                  <a:latin typeface="Arial" panose="020B0604020202020204" pitchFamily="34" charset="0"/>
                </a:rPr>
                <a:t>+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x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  2,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y</a:t>
              </a:r>
              <a:r>
                <a:rPr lang="en-US" altLang="zh-CN" sz="2400" b="1" dirty="0">
                  <a:latin typeface="Arial" panose="020B0604020202020204" pitchFamily="34" charset="0"/>
                </a:rPr>
                <a:t>*   2, C</a:t>
              </a:r>
              <a:r>
                <a:rPr lang="en-US" altLang="zh-CN" sz="2400" b="1" i="1" baseline="-25000" dirty="0">
                  <a:latin typeface="Arial" panose="020B0604020202020204" pitchFamily="34" charset="0"/>
                </a:rPr>
                <a:t>j </a:t>
              </a:r>
              <a:r>
                <a:rPr lang="zh-CN" altLang="en-US" sz="2000" b="1" dirty="0">
                  <a:latin typeface="Arial" panose="020B0604020202020204" pitchFamily="34" charset="0"/>
                </a:rPr>
                <a:t>置</a:t>
              </a:r>
              <a:r>
                <a:rPr lang="zh-CN" altLang="en-US" sz="24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400" b="1" dirty="0">
                  <a:latin typeface="Arial" panose="020B0604020202020204" pitchFamily="34" charset="0"/>
                </a:rPr>
                <a:t>0” 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91508" name="Line 77"/>
            <p:cNvSpPr/>
            <p:nvPr/>
          </p:nvSpPr>
          <p:spPr>
            <a:xfrm>
              <a:off x="4155" y="2472"/>
              <a:ext cx="15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191509" name="Line 78"/>
            <p:cNvSpPr/>
            <p:nvPr/>
          </p:nvSpPr>
          <p:spPr>
            <a:xfrm>
              <a:off x="3591" y="2472"/>
              <a:ext cx="15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91505" name="AutoShape 7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150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2514" name="Text Box 2"/>
          <p:cNvSpPr txBox="1"/>
          <p:nvPr/>
        </p:nvSpPr>
        <p:spPr>
          <a:xfrm>
            <a:off x="1524000" y="207963"/>
            <a:ext cx="1440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6.22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92515" name="Text Box 3"/>
          <p:cNvSpPr txBox="1"/>
          <p:nvPr/>
        </p:nvSpPr>
        <p:spPr>
          <a:xfrm>
            <a:off x="2895600" y="284163"/>
            <a:ext cx="65557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已知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0.111111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0.111001 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原</a:t>
            </a:r>
            <a:endParaRPr lang="zh-CN" altLang="en-US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92516" name="Text Box 4"/>
          <p:cNvSpPr txBox="1"/>
          <p:nvPr/>
        </p:nvSpPr>
        <p:spPr>
          <a:xfrm>
            <a:off x="2362200" y="1422400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0 0 0 . 0 0 0 0 0 0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17" name="Text Box 5"/>
          <p:cNvSpPr txBox="1"/>
          <p:nvPr/>
        </p:nvSpPr>
        <p:spPr>
          <a:xfrm>
            <a:off x="2362200" y="1866900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0 0 0 . 1 1 1 1 1 1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18" name="Text Box 6"/>
          <p:cNvSpPr txBox="1"/>
          <p:nvPr/>
        </p:nvSpPr>
        <p:spPr>
          <a:xfrm>
            <a:off x="2362200" y="2311400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0 0 0 . 1 1 1 1 1 1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19" name="Text Box 7"/>
          <p:cNvSpPr txBox="1"/>
          <p:nvPr/>
        </p:nvSpPr>
        <p:spPr>
          <a:xfrm>
            <a:off x="5013325" y="1422400"/>
            <a:ext cx="2087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0 0 . 1 1 1 0 0 1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2520" name="Text Box 8"/>
          <p:cNvSpPr txBox="1"/>
          <p:nvPr/>
        </p:nvSpPr>
        <p:spPr>
          <a:xfrm>
            <a:off x="7375525" y="1422400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2521" name="Text Box 9"/>
          <p:cNvSpPr txBox="1"/>
          <p:nvPr/>
        </p:nvSpPr>
        <p:spPr>
          <a:xfrm>
            <a:off x="8289925" y="1433513"/>
            <a:ext cx="144716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初态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=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22" name="Text Box 10"/>
          <p:cNvSpPr txBox="1"/>
          <p:nvPr/>
        </p:nvSpPr>
        <p:spPr>
          <a:xfrm>
            <a:off x="8289925" y="1866900"/>
            <a:ext cx="2378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</a:rPr>
              <a:t>，  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 =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23" name="Line 11"/>
          <p:cNvSpPr/>
          <p:nvPr/>
        </p:nvSpPr>
        <p:spPr>
          <a:xfrm>
            <a:off x="2286000" y="2338388"/>
            <a:ext cx="800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2524" name="Line 12"/>
          <p:cNvSpPr/>
          <p:nvPr/>
        </p:nvSpPr>
        <p:spPr>
          <a:xfrm>
            <a:off x="2286000" y="3670300"/>
            <a:ext cx="800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2525" name="Line 13"/>
          <p:cNvSpPr/>
          <p:nvPr/>
        </p:nvSpPr>
        <p:spPr>
          <a:xfrm>
            <a:off x="2286000" y="5008563"/>
            <a:ext cx="800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2526" name="Line 14"/>
          <p:cNvSpPr/>
          <p:nvPr/>
        </p:nvSpPr>
        <p:spPr>
          <a:xfrm>
            <a:off x="2286000" y="6248400"/>
            <a:ext cx="800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192527" name="Group 15"/>
          <p:cNvGrpSpPr/>
          <p:nvPr/>
        </p:nvGrpSpPr>
        <p:grpSpPr>
          <a:xfrm>
            <a:off x="2362200" y="3644900"/>
            <a:ext cx="3230563" cy="460375"/>
            <a:chOff x="336" y="2296"/>
            <a:chExt cx="2035" cy="290"/>
          </a:xfrm>
        </p:grpSpPr>
        <p:sp>
          <p:nvSpPr>
            <p:cNvPr id="192592" name="Text Box 16"/>
            <p:cNvSpPr txBox="1"/>
            <p:nvPr/>
          </p:nvSpPr>
          <p:spPr>
            <a:xfrm>
              <a:off x="336" y="2296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. 0 0 1 1 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2593" name="Text Box 17"/>
            <p:cNvSpPr txBox="1"/>
            <p:nvPr/>
          </p:nvSpPr>
          <p:spPr>
            <a:xfrm>
              <a:off x="2016" y="2296"/>
              <a:ext cx="35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2528" name="Group 18"/>
          <p:cNvGrpSpPr/>
          <p:nvPr/>
        </p:nvGrpSpPr>
        <p:grpSpPr>
          <a:xfrm>
            <a:off x="2362200" y="6248400"/>
            <a:ext cx="4205288" cy="460375"/>
            <a:chOff x="336" y="3974"/>
            <a:chExt cx="2649" cy="290"/>
          </a:xfrm>
        </p:grpSpPr>
        <p:sp>
          <p:nvSpPr>
            <p:cNvPr id="192590" name="Text Box 19"/>
            <p:cNvSpPr txBox="1"/>
            <p:nvPr/>
          </p:nvSpPr>
          <p:spPr>
            <a:xfrm>
              <a:off x="336" y="3974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0 0 0 . 1 1 1 0 0 0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2591" name="Text Box 20"/>
            <p:cNvSpPr txBox="1"/>
            <p:nvPr/>
          </p:nvSpPr>
          <p:spPr>
            <a:xfrm>
              <a:off x="2006" y="3974"/>
              <a:ext cx="97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0 0 0 1 1 1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2529" name="Group 21"/>
          <p:cNvGrpSpPr/>
          <p:nvPr/>
        </p:nvGrpSpPr>
        <p:grpSpPr>
          <a:xfrm>
            <a:off x="2362200" y="4956175"/>
            <a:ext cx="5322888" cy="481013"/>
            <a:chOff x="336" y="3122"/>
            <a:chExt cx="3353" cy="303"/>
          </a:xfrm>
        </p:grpSpPr>
        <p:sp>
          <p:nvSpPr>
            <p:cNvPr id="192587" name="Text Box 22"/>
            <p:cNvSpPr txBox="1"/>
            <p:nvPr/>
          </p:nvSpPr>
          <p:spPr>
            <a:xfrm>
              <a:off x="336" y="3135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. 1 0 0 1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2588" name="Text Box 23"/>
            <p:cNvSpPr txBox="1"/>
            <p:nvPr/>
          </p:nvSpPr>
          <p:spPr>
            <a:xfrm>
              <a:off x="2006" y="3135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0 1 1 1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2589" name="Text Box 24"/>
            <p:cNvSpPr txBox="1"/>
            <p:nvPr/>
          </p:nvSpPr>
          <p:spPr>
            <a:xfrm>
              <a:off x="3494" y="3122"/>
              <a:ext cx="19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92530" name="Text Box 25"/>
          <p:cNvSpPr txBox="1"/>
          <p:nvPr/>
        </p:nvSpPr>
        <p:spPr>
          <a:xfrm>
            <a:off x="2362200" y="3200400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0 0 1 . 1 1 1 1 1 0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31" name="Text Box 26"/>
          <p:cNvSpPr txBox="1"/>
          <p:nvPr/>
        </p:nvSpPr>
        <p:spPr>
          <a:xfrm>
            <a:off x="8305800" y="3200400"/>
            <a:ext cx="19399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+ 2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 =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32" name="Text Box 27"/>
          <p:cNvSpPr txBox="1"/>
          <p:nvPr/>
        </p:nvSpPr>
        <p:spPr>
          <a:xfrm>
            <a:off x="2362200" y="4532313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1 1 1 . 0 0 0 0 0 1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33" name="Text Box 28"/>
          <p:cNvSpPr txBox="1"/>
          <p:nvPr/>
        </p:nvSpPr>
        <p:spPr>
          <a:xfrm>
            <a:off x="8305800" y="4533900"/>
            <a:ext cx="2362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</a:rPr>
              <a:t>，  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 =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34" name="Text Box 29"/>
          <p:cNvSpPr txBox="1"/>
          <p:nvPr/>
        </p:nvSpPr>
        <p:spPr>
          <a:xfrm>
            <a:off x="2362200" y="5791200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0 0 0 . 1 1 1 1 1 1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35" name="Text Box 30"/>
          <p:cNvSpPr txBox="1"/>
          <p:nvPr/>
        </p:nvSpPr>
        <p:spPr>
          <a:xfrm>
            <a:off x="8305800" y="5791200"/>
            <a:ext cx="2362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</a:rPr>
              <a:t>，  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 =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2536" name="Text Box 31"/>
          <p:cNvSpPr txBox="1"/>
          <p:nvPr/>
        </p:nvSpPr>
        <p:spPr>
          <a:xfrm>
            <a:off x="7391400" y="2755900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92537" name="Group 32"/>
          <p:cNvGrpSpPr/>
          <p:nvPr/>
        </p:nvGrpSpPr>
        <p:grpSpPr>
          <a:xfrm>
            <a:off x="2362200" y="2755900"/>
            <a:ext cx="6567488" cy="460375"/>
            <a:chOff x="336" y="1736"/>
            <a:chExt cx="4137" cy="290"/>
          </a:xfrm>
        </p:grpSpPr>
        <p:sp>
          <p:nvSpPr>
            <p:cNvPr id="192583" name="Text Box 33"/>
            <p:cNvSpPr txBox="1"/>
            <p:nvPr/>
          </p:nvSpPr>
          <p:spPr>
            <a:xfrm>
              <a:off x="336" y="1736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0 0 0 . 0 0 1 1 1 1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2584" name="Text Box 34"/>
            <p:cNvSpPr txBox="1"/>
            <p:nvPr/>
          </p:nvSpPr>
          <p:spPr>
            <a:xfrm>
              <a:off x="2006" y="1736"/>
              <a:ext cx="131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1 1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0 0 1 1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2585" name="Text Box 35"/>
            <p:cNvSpPr txBox="1"/>
            <p:nvPr/>
          </p:nvSpPr>
          <p:spPr>
            <a:xfrm>
              <a:off x="4262" y="1736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2586" name="Line 36"/>
            <p:cNvSpPr/>
            <p:nvPr/>
          </p:nvSpPr>
          <p:spPr>
            <a:xfrm>
              <a:off x="4128" y="1872"/>
              <a:ext cx="144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92538" name="Text Box 37"/>
          <p:cNvSpPr txBox="1"/>
          <p:nvPr/>
        </p:nvSpPr>
        <p:spPr>
          <a:xfrm>
            <a:off x="7391400" y="4087813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92539" name="Group 38"/>
          <p:cNvGrpSpPr/>
          <p:nvPr/>
        </p:nvGrpSpPr>
        <p:grpSpPr>
          <a:xfrm>
            <a:off x="2362200" y="4087813"/>
            <a:ext cx="6567488" cy="461962"/>
            <a:chOff x="336" y="2575"/>
            <a:chExt cx="4137" cy="291"/>
          </a:xfrm>
        </p:grpSpPr>
        <p:sp>
          <p:nvSpPr>
            <p:cNvPr id="192579" name="Text Box 39"/>
            <p:cNvSpPr txBox="1"/>
            <p:nvPr/>
          </p:nvSpPr>
          <p:spPr>
            <a:xfrm>
              <a:off x="336" y="2575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0 0 0 .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0 0 1 1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2580" name="Text Box 40"/>
            <p:cNvSpPr txBox="1"/>
            <p:nvPr/>
          </p:nvSpPr>
          <p:spPr>
            <a:xfrm>
              <a:off x="2006" y="2575"/>
              <a:ext cx="131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0 1 1 1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1 1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2581" name="Text Box 41"/>
            <p:cNvSpPr txBox="1"/>
            <p:nvPr/>
          </p:nvSpPr>
          <p:spPr>
            <a:xfrm>
              <a:off x="4262" y="2576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2582" name="Line 42"/>
            <p:cNvSpPr/>
            <p:nvPr/>
          </p:nvSpPr>
          <p:spPr>
            <a:xfrm>
              <a:off x="4128" y="2736"/>
              <a:ext cx="144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92540" name="Text Box 43"/>
          <p:cNvSpPr txBox="1"/>
          <p:nvPr/>
        </p:nvSpPr>
        <p:spPr>
          <a:xfrm>
            <a:off x="7391400" y="5399088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92541" name="Group 44"/>
          <p:cNvGrpSpPr/>
          <p:nvPr/>
        </p:nvGrpSpPr>
        <p:grpSpPr>
          <a:xfrm>
            <a:off x="2362200" y="5399088"/>
            <a:ext cx="6583363" cy="460375"/>
            <a:chOff x="336" y="3401"/>
            <a:chExt cx="4147" cy="290"/>
          </a:xfrm>
        </p:grpSpPr>
        <p:sp>
          <p:nvSpPr>
            <p:cNvPr id="192575" name="Text Box 45"/>
            <p:cNvSpPr txBox="1"/>
            <p:nvPr/>
          </p:nvSpPr>
          <p:spPr>
            <a:xfrm>
              <a:off x="336" y="3401"/>
              <a:ext cx="15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1 1 1 .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1 0 0 1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2576" name="Text Box 46"/>
            <p:cNvSpPr txBox="1"/>
            <p:nvPr/>
          </p:nvSpPr>
          <p:spPr>
            <a:xfrm>
              <a:off x="2006" y="3401"/>
              <a:ext cx="131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0 0 0 1 1 1 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2577" name="Text Box 47"/>
            <p:cNvSpPr txBox="1"/>
            <p:nvPr/>
          </p:nvSpPr>
          <p:spPr>
            <a:xfrm>
              <a:off x="4272" y="340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2578" name="Line 48"/>
            <p:cNvSpPr/>
            <p:nvPr/>
          </p:nvSpPr>
          <p:spPr>
            <a:xfrm>
              <a:off x="4128" y="3552"/>
              <a:ext cx="144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192542" name="Group 49"/>
          <p:cNvGrpSpPr/>
          <p:nvPr/>
        </p:nvGrpSpPr>
        <p:grpSpPr>
          <a:xfrm>
            <a:off x="2209800" y="852488"/>
            <a:ext cx="8153400" cy="5776912"/>
            <a:chOff x="432" y="537"/>
            <a:chExt cx="5136" cy="3639"/>
          </a:xfrm>
        </p:grpSpPr>
        <p:sp>
          <p:nvSpPr>
            <p:cNvPr id="192567" name="Line 50"/>
            <p:cNvSpPr/>
            <p:nvPr/>
          </p:nvSpPr>
          <p:spPr>
            <a:xfrm>
              <a:off x="432" y="879"/>
              <a:ext cx="51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pSp>
          <p:nvGrpSpPr>
            <p:cNvPr id="192568" name="Group 51"/>
            <p:cNvGrpSpPr/>
            <p:nvPr/>
          </p:nvGrpSpPr>
          <p:grpSpPr>
            <a:xfrm>
              <a:off x="912" y="537"/>
              <a:ext cx="4099" cy="329"/>
              <a:chOff x="720" y="537"/>
              <a:chExt cx="4099" cy="329"/>
            </a:xfrm>
          </p:grpSpPr>
          <p:sp>
            <p:nvSpPr>
              <p:cNvPr id="192572" name="Text Box 52"/>
              <p:cNvSpPr txBox="1"/>
              <p:nvPr/>
            </p:nvSpPr>
            <p:spPr>
              <a:xfrm>
                <a:off x="3415" y="537"/>
                <a:ext cx="312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j</a:t>
                </a:r>
                <a:endParaRPr lang="en-US" altLang="zh-CN" sz="2400" b="1" i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573" name="Text Box 53"/>
              <p:cNvSpPr txBox="1"/>
              <p:nvPr/>
            </p:nvSpPr>
            <p:spPr>
              <a:xfrm>
                <a:off x="720" y="554"/>
                <a:ext cx="2179" cy="2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部 分 积                    乘 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574" name="Text Box 54"/>
              <p:cNvSpPr txBox="1"/>
              <p:nvPr/>
            </p:nvSpPr>
            <p:spPr>
              <a:xfrm>
                <a:off x="4080" y="567"/>
                <a:ext cx="739" cy="2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  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说 明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2569" name="Line 55"/>
            <p:cNvSpPr/>
            <p:nvPr/>
          </p:nvSpPr>
          <p:spPr>
            <a:xfrm>
              <a:off x="2112" y="624"/>
              <a:ext cx="0" cy="35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2570" name="Line 56"/>
            <p:cNvSpPr/>
            <p:nvPr/>
          </p:nvSpPr>
          <p:spPr>
            <a:xfrm>
              <a:off x="3600" y="624"/>
              <a:ext cx="0" cy="35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2571" name="Line 57"/>
            <p:cNvSpPr/>
            <p:nvPr/>
          </p:nvSpPr>
          <p:spPr>
            <a:xfrm>
              <a:off x="4080" y="624"/>
              <a:ext cx="0" cy="35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92543" name="Group 58"/>
          <p:cNvGrpSpPr/>
          <p:nvPr/>
        </p:nvGrpSpPr>
        <p:grpSpPr>
          <a:xfrm>
            <a:off x="6629400" y="1828800"/>
            <a:ext cx="1066800" cy="41275"/>
            <a:chOff x="3024" y="1152"/>
            <a:chExt cx="672" cy="26"/>
          </a:xfrm>
        </p:grpSpPr>
        <p:sp>
          <p:nvSpPr>
            <p:cNvPr id="192565" name="Line 59"/>
            <p:cNvSpPr/>
            <p:nvPr/>
          </p:nvSpPr>
          <p:spPr>
            <a:xfrm>
              <a:off x="3024" y="1152"/>
              <a:ext cx="67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2566" name="Line 60"/>
            <p:cNvSpPr/>
            <p:nvPr/>
          </p:nvSpPr>
          <p:spPr>
            <a:xfrm>
              <a:off x="3024" y="1178"/>
              <a:ext cx="67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92544" name="Group 61"/>
          <p:cNvGrpSpPr/>
          <p:nvPr/>
        </p:nvGrpSpPr>
        <p:grpSpPr>
          <a:xfrm>
            <a:off x="6629400" y="3159125"/>
            <a:ext cx="1066800" cy="41275"/>
            <a:chOff x="3024" y="1152"/>
            <a:chExt cx="672" cy="26"/>
          </a:xfrm>
        </p:grpSpPr>
        <p:sp>
          <p:nvSpPr>
            <p:cNvPr id="192563" name="Line 62"/>
            <p:cNvSpPr/>
            <p:nvPr/>
          </p:nvSpPr>
          <p:spPr>
            <a:xfrm>
              <a:off x="3024" y="1152"/>
              <a:ext cx="67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2564" name="Line 63"/>
            <p:cNvSpPr/>
            <p:nvPr/>
          </p:nvSpPr>
          <p:spPr>
            <a:xfrm>
              <a:off x="3024" y="1178"/>
              <a:ext cx="67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92545" name="Group 64"/>
          <p:cNvGrpSpPr/>
          <p:nvPr/>
        </p:nvGrpSpPr>
        <p:grpSpPr>
          <a:xfrm>
            <a:off x="6629400" y="4495800"/>
            <a:ext cx="1066800" cy="41275"/>
            <a:chOff x="3024" y="1152"/>
            <a:chExt cx="672" cy="26"/>
          </a:xfrm>
        </p:grpSpPr>
        <p:sp>
          <p:nvSpPr>
            <p:cNvPr id="192561" name="Line 65"/>
            <p:cNvSpPr/>
            <p:nvPr/>
          </p:nvSpPr>
          <p:spPr>
            <a:xfrm>
              <a:off x="3024" y="1152"/>
              <a:ext cx="67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2562" name="Line 66"/>
            <p:cNvSpPr/>
            <p:nvPr/>
          </p:nvSpPr>
          <p:spPr>
            <a:xfrm>
              <a:off x="3024" y="1178"/>
              <a:ext cx="67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92546" name="Group 67"/>
          <p:cNvGrpSpPr/>
          <p:nvPr/>
        </p:nvGrpSpPr>
        <p:grpSpPr>
          <a:xfrm>
            <a:off x="6629400" y="5791200"/>
            <a:ext cx="1066800" cy="41275"/>
            <a:chOff x="3024" y="1152"/>
            <a:chExt cx="672" cy="26"/>
          </a:xfrm>
        </p:grpSpPr>
        <p:sp>
          <p:nvSpPr>
            <p:cNvPr id="192559" name="Line 68"/>
            <p:cNvSpPr/>
            <p:nvPr/>
          </p:nvSpPr>
          <p:spPr>
            <a:xfrm>
              <a:off x="3024" y="1152"/>
              <a:ext cx="67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2560" name="Line 69"/>
            <p:cNvSpPr/>
            <p:nvPr/>
          </p:nvSpPr>
          <p:spPr>
            <a:xfrm>
              <a:off x="3024" y="1178"/>
              <a:ext cx="67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92547" name="AutoShape 70"/>
          <p:cNvSpPr/>
          <p:nvPr/>
        </p:nvSpPr>
        <p:spPr>
          <a:xfrm>
            <a:off x="1752600" y="3357563"/>
            <a:ext cx="438150" cy="1364844"/>
          </a:xfrm>
          <a:prstGeom prst="wedgeRoundRectCallout">
            <a:avLst>
              <a:gd name="adj1" fmla="val 102537"/>
              <a:gd name="adj2" fmla="val 15894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补码右移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92548" name="AutoShape 71"/>
          <p:cNvSpPr/>
          <p:nvPr/>
        </p:nvSpPr>
        <p:spPr>
          <a:xfrm>
            <a:off x="1752600" y="5180013"/>
            <a:ext cx="438150" cy="1364844"/>
          </a:xfrm>
          <a:prstGeom prst="wedgeRoundRectCallout">
            <a:avLst>
              <a:gd name="adj1" fmla="val 111231"/>
              <a:gd name="adj2" fmla="val -19426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补码右移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12712" name="Rectangle 72"/>
          <p:cNvSpPr>
            <a:spLocks noChangeArrowheads="1"/>
          </p:cNvSpPr>
          <p:nvPr/>
        </p:nvSpPr>
        <p:spPr bwMode="auto">
          <a:xfrm>
            <a:off x="9601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2550" name="Text Box 73"/>
          <p:cNvSpPr txBox="1"/>
          <p:nvPr/>
        </p:nvSpPr>
        <p:spPr>
          <a:xfrm>
            <a:off x="1676400" y="8524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2551" name="Text Box 74"/>
          <p:cNvSpPr txBox="1"/>
          <p:nvPr/>
        </p:nvSpPr>
        <p:spPr>
          <a:xfrm>
            <a:off x="2362200" y="852488"/>
            <a:ext cx="4267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数值部分的运算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2552" name="AutoShape 75"/>
          <p:cNvSpPr/>
          <p:nvPr/>
        </p:nvSpPr>
        <p:spPr>
          <a:xfrm>
            <a:off x="1736725" y="1603375"/>
            <a:ext cx="438150" cy="1364844"/>
          </a:xfrm>
          <a:prstGeom prst="wedgeRoundRectCallout">
            <a:avLst>
              <a:gd name="adj1" fmla="val 106884"/>
              <a:gd name="adj2" fmla="val 42384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补码右移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92553" name="AutoShape 7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2554" name="Text Box 77"/>
          <p:cNvSpPr txBox="1"/>
          <p:nvPr/>
        </p:nvSpPr>
        <p:spPr>
          <a:xfrm>
            <a:off x="2135188" y="1844675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92555" name="Text Box 78"/>
          <p:cNvSpPr txBox="1"/>
          <p:nvPr/>
        </p:nvSpPr>
        <p:spPr>
          <a:xfrm>
            <a:off x="2135188" y="3187700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92556" name="Text Box 79"/>
          <p:cNvSpPr txBox="1"/>
          <p:nvPr/>
        </p:nvSpPr>
        <p:spPr>
          <a:xfrm>
            <a:off x="2135188" y="4508500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92557" name="Text Box 80"/>
          <p:cNvSpPr txBox="1"/>
          <p:nvPr/>
        </p:nvSpPr>
        <p:spPr>
          <a:xfrm>
            <a:off x="2135188" y="5780088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9255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3538" name="Text Box 2"/>
          <p:cNvSpPr txBox="1"/>
          <p:nvPr/>
        </p:nvSpPr>
        <p:spPr>
          <a:xfrm>
            <a:off x="2422525" y="2030413"/>
            <a:ext cx="6264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</a:rPr>
              <a:t>数值部分的运算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93539" name="Group 3"/>
          <p:cNvGrpSpPr/>
          <p:nvPr/>
        </p:nvGrpSpPr>
        <p:grpSpPr>
          <a:xfrm>
            <a:off x="2422525" y="1173163"/>
            <a:ext cx="7635875" cy="584199"/>
            <a:chOff x="566" y="739"/>
            <a:chExt cx="4810" cy="368"/>
          </a:xfrm>
        </p:grpSpPr>
        <p:sp>
          <p:nvSpPr>
            <p:cNvPr id="193550" name="Text Box 4"/>
            <p:cNvSpPr txBox="1"/>
            <p:nvPr/>
          </p:nvSpPr>
          <p:spPr>
            <a:xfrm>
              <a:off x="566" y="739"/>
              <a:ext cx="481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①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乘积的符号位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0     1 = 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3551" name="AutoShape 5"/>
            <p:cNvSpPr/>
            <p:nvPr/>
          </p:nvSpPr>
          <p:spPr>
            <a:xfrm>
              <a:off x="2688" y="871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3552" name="AutoShape 6"/>
            <p:cNvSpPr/>
            <p:nvPr/>
          </p:nvSpPr>
          <p:spPr>
            <a:xfrm>
              <a:off x="3575" y="868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93540" name="Text Box 7"/>
          <p:cNvSpPr txBox="1"/>
          <p:nvPr/>
        </p:nvSpPr>
        <p:spPr>
          <a:xfrm>
            <a:off x="3505200" y="2792413"/>
            <a:ext cx="6340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r>
              <a:rPr lang="en-US" altLang="zh-CN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 = 0. 1 1 1 0 0 0 0 0 0 1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93541" name="Text Box 8"/>
          <p:cNvSpPr txBox="1"/>
          <p:nvPr/>
        </p:nvSpPr>
        <p:spPr>
          <a:xfrm>
            <a:off x="2895600" y="3543300"/>
            <a:ext cx="685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1. 1 1 1 0 0 0 0 0 0 1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93542" name="Text Box 9"/>
          <p:cNvSpPr txBox="1"/>
          <p:nvPr/>
        </p:nvSpPr>
        <p:spPr>
          <a:xfrm>
            <a:off x="1981200" y="120650"/>
            <a:ext cx="2583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6.22  </a:t>
            </a:r>
            <a:r>
              <a:rPr lang="zh-CN" altLang="en-US" sz="3600" b="1" dirty="0">
                <a:latin typeface="Times New Roman" panose="02020603050405020304" pitchFamily="18" charset="0"/>
              </a:rPr>
              <a:t>结果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93543" name="Text Box 10"/>
          <p:cNvSpPr txBox="1"/>
          <p:nvPr/>
        </p:nvSpPr>
        <p:spPr>
          <a:xfrm>
            <a:off x="2803525" y="44338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特点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3544" name="Text Box 11"/>
          <p:cNvSpPr txBox="1"/>
          <p:nvPr/>
        </p:nvSpPr>
        <p:spPr>
          <a:xfrm>
            <a:off x="4038600" y="4427538"/>
            <a:ext cx="3027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绝对值的补码运算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3545" name="Text Box 12"/>
          <p:cNvSpPr txBox="1"/>
          <p:nvPr/>
        </p:nvSpPr>
        <p:spPr>
          <a:xfrm>
            <a:off x="4038600" y="603408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算术移位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3546" name="Text Box 13"/>
          <p:cNvSpPr txBox="1"/>
          <p:nvPr/>
        </p:nvSpPr>
        <p:spPr>
          <a:xfrm>
            <a:off x="4038600" y="5230813"/>
            <a:ext cx="5161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用移位的次数判断乘法是否结束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78" name="Rectangle 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3548" name="AutoShape 1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354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4562" name="Text Box 2"/>
          <p:cNvSpPr txBox="1"/>
          <p:nvPr/>
        </p:nvSpPr>
        <p:spPr>
          <a:xfrm>
            <a:off x="1981200" y="304800"/>
            <a:ext cx="7391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(6)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原码两位乘和原码一位乘比较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94563" name="Group 3"/>
          <p:cNvGrpSpPr/>
          <p:nvPr/>
        </p:nvGrpSpPr>
        <p:grpSpPr>
          <a:xfrm>
            <a:off x="2057400" y="1806575"/>
            <a:ext cx="2316163" cy="3616325"/>
            <a:chOff x="374" y="1138"/>
            <a:chExt cx="1459" cy="2278"/>
          </a:xfrm>
        </p:grpSpPr>
        <p:sp>
          <p:nvSpPr>
            <p:cNvPr id="194596" name="Text Box 4"/>
            <p:cNvSpPr txBox="1"/>
            <p:nvPr/>
          </p:nvSpPr>
          <p:spPr>
            <a:xfrm>
              <a:off x="374" y="1138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符号位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597" name="Text Box 5"/>
            <p:cNvSpPr txBox="1"/>
            <p:nvPr/>
          </p:nvSpPr>
          <p:spPr>
            <a:xfrm>
              <a:off x="374" y="1625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操作数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598" name="Text Box 6"/>
            <p:cNvSpPr txBox="1"/>
            <p:nvPr/>
          </p:nvSpPr>
          <p:spPr>
            <a:xfrm>
              <a:off x="374" y="2112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移位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599" name="Text Box 7"/>
            <p:cNvSpPr txBox="1"/>
            <p:nvPr/>
          </p:nvSpPr>
          <p:spPr>
            <a:xfrm>
              <a:off x="374" y="2599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移位次数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600" name="Text Box 8"/>
            <p:cNvSpPr txBox="1"/>
            <p:nvPr/>
          </p:nvSpPr>
          <p:spPr>
            <a:xfrm>
              <a:off x="374" y="3087"/>
              <a:ext cx="145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最多加法次数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564" name="Group 9"/>
          <p:cNvGrpSpPr/>
          <p:nvPr/>
        </p:nvGrpSpPr>
        <p:grpSpPr>
          <a:xfrm>
            <a:off x="4953000" y="1752600"/>
            <a:ext cx="1104900" cy="522288"/>
            <a:chOff x="2150" y="1104"/>
            <a:chExt cx="696" cy="329"/>
          </a:xfrm>
        </p:grpSpPr>
        <p:sp>
          <p:nvSpPr>
            <p:cNvPr id="194594" name="Text Box 10"/>
            <p:cNvSpPr txBox="1"/>
            <p:nvPr/>
          </p:nvSpPr>
          <p:spPr>
            <a:xfrm>
              <a:off x="2150" y="1104"/>
              <a:ext cx="69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4595" name="AutoShape 11"/>
            <p:cNvSpPr/>
            <p:nvPr/>
          </p:nvSpPr>
          <p:spPr>
            <a:xfrm>
              <a:off x="2445" y="1251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4565" name="Group 12"/>
          <p:cNvGrpSpPr/>
          <p:nvPr/>
        </p:nvGrpSpPr>
        <p:grpSpPr>
          <a:xfrm>
            <a:off x="7696200" y="1762125"/>
            <a:ext cx="1104900" cy="522288"/>
            <a:chOff x="3888" y="1110"/>
            <a:chExt cx="696" cy="329"/>
          </a:xfrm>
        </p:grpSpPr>
        <p:sp>
          <p:nvSpPr>
            <p:cNvPr id="194592" name="Text Box 13"/>
            <p:cNvSpPr txBox="1"/>
            <p:nvPr/>
          </p:nvSpPr>
          <p:spPr>
            <a:xfrm>
              <a:off x="3888" y="1110"/>
              <a:ext cx="69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4593" name="AutoShape 14"/>
            <p:cNvSpPr/>
            <p:nvPr/>
          </p:nvSpPr>
          <p:spPr>
            <a:xfrm>
              <a:off x="4173" y="1257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94566" name="Text Box 15"/>
          <p:cNvSpPr txBox="1"/>
          <p:nvPr/>
        </p:nvSpPr>
        <p:spPr>
          <a:xfrm>
            <a:off x="4953000" y="2568575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绝对值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4567" name="Text Box 16"/>
          <p:cNvSpPr txBox="1"/>
          <p:nvPr/>
        </p:nvSpPr>
        <p:spPr>
          <a:xfrm>
            <a:off x="7696200" y="2568575"/>
            <a:ext cx="2316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绝对值的补码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4568" name="Text Box 17"/>
          <p:cNvSpPr txBox="1"/>
          <p:nvPr/>
        </p:nvSpPr>
        <p:spPr>
          <a:xfrm>
            <a:off x="4953000" y="340677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逻辑右移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4569" name="Text Box 18"/>
          <p:cNvSpPr txBox="1"/>
          <p:nvPr/>
        </p:nvSpPr>
        <p:spPr>
          <a:xfrm>
            <a:off x="7696200" y="340677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算术右移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4570" name="Text Box 19"/>
          <p:cNvSpPr txBox="1"/>
          <p:nvPr/>
        </p:nvSpPr>
        <p:spPr>
          <a:xfrm>
            <a:off x="4953000" y="4125913"/>
            <a:ext cx="3803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194571" name="Text Box 20"/>
          <p:cNvSpPr txBox="1"/>
          <p:nvPr/>
        </p:nvSpPr>
        <p:spPr>
          <a:xfrm>
            <a:off x="4953000" y="4900613"/>
            <a:ext cx="3803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grpSp>
        <p:nvGrpSpPr>
          <p:cNvPr id="194572" name="Group 21"/>
          <p:cNvGrpSpPr/>
          <p:nvPr/>
        </p:nvGrpSpPr>
        <p:grpSpPr>
          <a:xfrm>
            <a:off x="7696200" y="4013200"/>
            <a:ext cx="2251075" cy="769938"/>
            <a:chOff x="4214" y="2528"/>
            <a:chExt cx="1418" cy="485"/>
          </a:xfrm>
        </p:grpSpPr>
        <p:grpSp>
          <p:nvGrpSpPr>
            <p:cNvPr id="194587" name="Group 22"/>
            <p:cNvGrpSpPr/>
            <p:nvPr/>
          </p:nvGrpSpPr>
          <p:grpSpPr>
            <a:xfrm>
              <a:off x="4214" y="2528"/>
              <a:ext cx="222" cy="485"/>
              <a:chOff x="4214" y="2618"/>
              <a:chExt cx="222" cy="485"/>
            </a:xfrm>
          </p:grpSpPr>
          <p:sp>
            <p:nvSpPr>
              <p:cNvPr id="194589" name="Text Box 23"/>
              <p:cNvSpPr txBox="1"/>
              <p:nvPr/>
            </p:nvSpPr>
            <p:spPr>
              <a:xfrm>
                <a:off x="4214" y="2618"/>
                <a:ext cx="22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n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590" name="Text Box 24"/>
              <p:cNvSpPr txBox="1"/>
              <p:nvPr/>
            </p:nvSpPr>
            <p:spPr>
              <a:xfrm>
                <a:off x="4233" y="2832"/>
                <a:ext cx="20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591" name="Line 25"/>
              <p:cNvSpPr/>
              <p:nvPr/>
            </p:nvSpPr>
            <p:spPr>
              <a:xfrm>
                <a:off x="4224" y="288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94588" name="Text Box 26"/>
            <p:cNvSpPr txBox="1"/>
            <p:nvPr/>
          </p:nvSpPr>
          <p:spPr>
            <a:xfrm>
              <a:off x="4272" y="2599"/>
              <a:ext cx="136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为偶数）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573" name="Group 27"/>
          <p:cNvGrpSpPr/>
          <p:nvPr/>
        </p:nvGrpSpPr>
        <p:grpSpPr>
          <a:xfrm>
            <a:off x="7696200" y="4733925"/>
            <a:ext cx="2782888" cy="769938"/>
            <a:chOff x="4128" y="2982"/>
            <a:chExt cx="1753" cy="485"/>
          </a:xfrm>
        </p:grpSpPr>
        <p:grpSp>
          <p:nvGrpSpPr>
            <p:cNvPr id="194582" name="Group 28"/>
            <p:cNvGrpSpPr/>
            <p:nvPr/>
          </p:nvGrpSpPr>
          <p:grpSpPr>
            <a:xfrm>
              <a:off x="4128" y="2982"/>
              <a:ext cx="222" cy="485"/>
              <a:chOff x="4214" y="2618"/>
              <a:chExt cx="222" cy="485"/>
            </a:xfrm>
          </p:grpSpPr>
          <p:sp>
            <p:nvSpPr>
              <p:cNvPr id="194584" name="Text Box 29"/>
              <p:cNvSpPr txBox="1"/>
              <p:nvPr/>
            </p:nvSpPr>
            <p:spPr>
              <a:xfrm>
                <a:off x="4214" y="2618"/>
                <a:ext cx="22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n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585" name="Text Box 30"/>
              <p:cNvSpPr txBox="1"/>
              <p:nvPr/>
            </p:nvSpPr>
            <p:spPr>
              <a:xfrm>
                <a:off x="4233" y="2832"/>
                <a:ext cx="20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586" name="Line 31"/>
              <p:cNvSpPr/>
              <p:nvPr/>
            </p:nvSpPr>
            <p:spPr>
              <a:xfrm>
                <a:off x="4224" y="288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94583" name="Text Box 32"/>
            <p:cNvSpPr txBox="1"/>
            <p:nvPr/>
          </p:nvSpPr>
          <p:spPr>
            <a:xfrm>
              <a:off x="4282" y="3087"/>
              <a:ext cx="15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+1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为偶数）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94574" name="Text Box 33"/>
          <p:cNvSpPr txBox="1"/>
          <p:nvPr/>
        </p:nvSpPr>
        <p:spPr>
          <a:xfrm>
            <a:off x="2057400" y="5867400"/>
            <a:ext cx="647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思考</a:t>
            </a: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为奇数时，原码两位乘 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移 ？次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75" name="Text Box 34"/>
          <p:cNvSpPr txBox="1"/>
          <p:nvPr/>
        </p:nvSpPr>
        <p:spPr>
          <a:xfrm>
            <a:off x="8458200" y="5867400"/>
            <a:ext cx="2209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最多加 ？次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94576" name="Group 35"/>
          <p:cNvGrpSpPr/>
          <p:nvPr/>
        </p:nvGrpSpPr>
        <p:grpSpPr>
          <a:xfrm>
            <a:off x="4953000" y="1133475"/>
            <a:ext cx="5029200" cy="522288"/>
            <a:chOff x="2160" y="714"/>
            <a:chExt cx="3168" cy="329"/>
          </a:xfrm>
        </p:grpSpPr>
        <p:sp>
          <p:nvSpPr>
            <p:cNvPr id="194580" name="Text Box 36"/>
            <p:cNvSpPr txBox="1"/>
            <p:nvPr/>
          </p:nvSpPr>
          <p:spPr>
            <a:xfrm>
              <a:off x="2160" y="714"/>
              <a:ext cx="15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原码一位乘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4581" name="Text Box 37"/>
            <p:cNvSpPr txBox="1"/>
            <p:nvPr/>
          </p:nvSpPr>
          <p:spPr>
            <a:xfrm>
              <a:off x="3888" y="714"/>
              <a:ext cx="14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原码两位乘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4726" name="Rectangle 3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78" name="AutoShape 3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57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5586" name="Text Box 2"/>
          <p:cNvSpPr txBox="1"/>
          <p:nvPr/>
        </p:nvSpPr>
        <p:spPr>
          <a:xfrm>
            <a:off x="1676400" y="152400"/>
            <a:ext cx="31400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5. </a:t>
            </a:r>
            <a:r>
              <a:rPr lang="zh-CN" altLang="en-US" sz="3600" b="1" dirty="0">
                <a:latin typeface="Times New Roman" panose="02020603050405020304" pitchFamily="18" charset="0"/>
              </a:rPr>
              <a:t>补码乘法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95587" name="Text Box 3"/>
          <p:cNvSpPr txBox="1"/>
          <p:nvPr/>
        </p:nvSpPr>
        <p:spPr>
          <a:xfrm>
            <a:off x="4813300" y="1614488"/>
            <a:ext cx="2438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设 被乘数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5588" name="Text Box 4"/>
          <p:cNvSpPr txBox="1"/>
          <p:nvPr/>
        </p:nvSpPr>
        <p:spPr>
          <a:xfrm>
            <a:off x="5265738" y="2147888"/>
            <a:ext cx="1600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乘数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95589" name="Group 5"/>
          <p:cNvGrpSpPr/>
          <p:nvPr/>
        </p:nvGrpSpPr>
        <p:grpSpPr>
          <a:xfrm>
            <a:off x="6626225" y="1557338"/>
            <a:ext cx="3271838" cy="547687"/>
            <a:chOff x="3214" y="981"/>
            <a:chExt cx="2061" cy="345"/>
          </a:xfrm>
        </p:grpSpPr>
        <p:sp>
          <p:nvSpPr>
            <p:cNvPr id="195605" name="Text Box 6"/>
            <p:cNvSpPr txBox="1"/>
            <p:nvPr/>
          </p:nvSpPr>
          <p:spPr>
            <a:xfrm>
              <a:off x="3214" y="997"/>
              <a:ext cx="20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606" name="Text Box 7"/>
            <p:cNvSpPr txBox="1"/>
            <p:nvPr/>
          </p:nvSpPr>
          <p:spPr>
            <a:xfrm>
              <a:off x="4558" y="981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5590" name="Group 8"/>
          <p:cNvGrpSpPr/>
          <p:nvPr/>
        </p:nvGrpSpPr>
        <p:grpSpPr>
          <a:xfrm>
            <a:off x="6626225" y="2120900"/>
            <a:ext cx="3173413" cy="549275"/>
            <a:chOff x="3214" y="1336"/>
            <a:chExt cx="1999" cy="346"/>
          </a:xfrm>
        </p:grpSpPr>
        <p:sp>
          <p:nvSpPr>
            <p:cNvPr id="195603" name="Text Box 9"/>
            <p:cNvSpPr txBox="1"/>
            <p:nvPr/>
          </p:nvSpPr>
          <p:spPr>
            <a:xfrm>
              <a:off x="3214" y="1353"/>
              <a:ext cx="19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604" name="Text Box 10"/>
            <p:cNvSpPr txBox="1"/>
            <p:nvPr/>
          </p:nvSpPr>
          <p:spPr>
            <a:xfrm>
              <a:off x="4558" y="1336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95591" name="Text Box 11"/>
          <p:cNvSpPr txBox="1"/>
          <p:nvPr/>
        </p:nvSpPr>
        <p:spPr>
          <a:xfrm>
            <a:off x="2732088" y="2757488"/>
            <a:ext cx="60436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① </a:t>
            </a:r>
            <a:r>
              <a:rPr lang="zh-CN" altLang="en-US" sz="2800" b="1" dirty="0">
                <a:latin typeface="Times New Roman" panose="02020603050405020304" pitchFamily="18" charset="0"/>
              </a:rPr>
              <a:t>被乘数任意，乘数为正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5592" name="Text Box 12"/>
          <p:cNvSpPr txBox="1"/>
          <p:nvPr/>
        </p:nvSpPr>
        <p:spPr>
          <a:xfrm>
            <a:off x="3260725" y="336708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同原码乘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593" name="Text Box 13"/>
          <p:cNvSpPr txBox="1"/>
          <p:nvPr/>
        </p:nvSpPr>
        <p:spPr>
          <a:xfrm>
            <a:off x="5318125" y="3389313"/>
            <a:ext cx="5349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但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加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移位 </a:t>
            </a:r>
            <a:r>
              <a:rPr lang="zh-CN" altLang="en-US" sz="2800" b="1" dirty="0">
                <a:latin typeface="Times New Roman" panose="02020603050405020304" pitchFamily="18" charset="0"/>
              </a:rPr>
              <a:t>按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补码规则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5594" name="Text Box 14"/>
          <p:cNvSpPr txBox="1"/>
          <p:nvPr/>
        </p:nvSpPr>
        <p:spPr>
          <a:xfrm>
            <a:off x="5318125" y="3976688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乘积的符号自然形成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595" name="Text Box 15"/>
          <p:cNvSpPr txBox="1"/>
          <p:nvPr/>
        </p:nvSpPr>
        <p:spPr>
          <a:xfrm>
            <a:off x="2732088" y="4662488"/>
            <a:ext cx="51165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</a:rPr>
              <a:t>被乘数任意，乘数为负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5596" name="Text Box 16"/>
          <p:cNvSpPr txBox="1"/>
          <p:nvPr/>
        </p:nvSpPr>
        <p:spPr>
          <a:xfrm>
            <a:off x="3260725" y="5272088"/>
            <a:ext cx="6492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乘数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去掉符号位</a:t>
            </a:r>
            <a:r>
              <a:rPr lang="zh-CN" altLang="en-US" sz="2800" b="1" dirty="0">
                <a:latin typeface="Times New Roman" panose="02020603050405020304" pitchFamily="18" charset="0"/>
              </a:rPr>
              <a:t>，操作同 ①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597" name="Text Box 17"/>
          <p:cNvSpPr txBox="1"/>
          <p:nvPr/>
        </p:nvSpPr>
        <p:spPr>
          <a:xfrm>
            <a:off x="3260725" y="5934075"/>
            <a:ext cx="3749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最后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加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[–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校正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598" name="Text Box 18"/>
          <p:cNvSpPr txBox="1"/>
          <p:nvPr/>
        </p:nvSpPr>
        <p:spPr>
          <a:xfrm>
            <a:off x="2133600" y="914400"/>
            <a:ext cx="4705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补码一位乘运算规则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15731" name="Rectangle 1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5600" name="Text Box 20"/>
          <p:cNvSpPr txBox="1"/>
          <p:nvPr/>
        </p:nvSpPr>
        <p:spPr>
          <a:xfrm>
            <a:off x="2667000" y="1614488"/>
            <a:ext cx="266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以小数为例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5601" name="AutoShape 2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560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6610" name="Text Box 2"/>
          <p:cNvSpPr txBox="1"/>
          <p:nvPr/>
        </p:nvSpPr>
        <p:spPr>
          <a:xfrm>
            <a:off x="2193925" y="273050"/>
            <a:ext cx="38258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③ Booth </a:t>
            </a:r>
            <a:r>
              <a:rPr lang="zh-CN" altLang="en-US" sz="3600" b="1" dirty="0">
                <a:latin typeface="Times New Roman" panose="02020603050405020304" pitchFamily="18" charset="0"/>
              </a:rPr>
              <a:t>算法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16739" name="Text Box 3"/>
          <p:cNvSpPr txBox="1"/>
          <p:nvPr/>
        </p:nvSpPr>
        <p:spPr>
          <a:xfrm>
            <a:off x="4953000" y="319088"/>
            <a:ext cx="50307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（被乘数、乘数符号任意）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905000" y="990600"/>
            <a:ext cx="8007350" cy="598488"/>
            <a:chOff x="240" y="624"/>
            <a:chExt cx="5044" cy="377"/>
          </a:xfrm>
        </p:grpSpPr>
        <p:sp>
          <p:nvSpPr>
            <p:cNvPr id="196653" name="Text Box 5"/>
            <p:cNvSpPr txBox="1"/>
            <p:nvPr/>
          </p:nvSpPr>
          <p:spPr>
            <a:xfrm>
              <a:off x="240" y="672"/>
              <a:ext cx="50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设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6654" name="Text Box 6"/>
            <p:cNvSpPr txBox="1"/>
            <p:nvPr/>
          </p:nvSpPr>
          <p:spPr>
            <a:xfrm>
              <a:off x="1776" y="624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55" name="Text Box 7"/>
            <p:cNvSpPr txBox="1"/>
            <p:nvPr/>
          </p:nvSpPr>
          <p:spPr>
            <a:xfrm>
              <a:off x="3787" y="630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6744" name="Text Box 8"/>
          <p:cNvSpPr txBox="1"/>
          <p:nvPr/>
        </p:nvSpPr>
        <p:spPr>
          <a:xfrm>
            <a:off x="2287588" y="1609725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1998663" y="2081213"/>
            <a:ext cx="4437063" cy="617537"/>
            <a:chOff x="299" y="1401"/>
            <a:chExt cx="2795" cy="389"/>
          </a:xfrm>
        </p:grpSpPr>
        <p:sp>
          <p:nvSpPr>
            <p:cNvPr id="196651" name="Text Box 10"/>
            <p:cNvSpPr txBox="1"/>
            <p:nvPr/>
          </p:nvSpPr>
          <p:spPr>
            <a:xfrm>
              <a:off x="299" y="1461"/>
              <a:ext cx="27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( 0.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) –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·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6652" name="Text Box 11"/>
            <p:cNvSpPr txBox="1"/>
            <p:nvPr/>
          </p:nvSpPr>
          <p:spPr>
            <a:xfrm>
              <a:off x="1440" y="1401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1998663" y="2725738"/>
            <a:ext cx="5980112" cy="574675"/>
            <a:chOff x="299" y="1717"/>
            <a:chExt cx="3767" cy="362"/>
          </a:xfrm>
        </p:grpSpPr>
        <p:sp>
          <p:nvSpPr>
            <p:cNvPr id="196649" name="Text Box 13"/>
            <p:cNvSpPr txBox="1"/>
            <p:nvPr/>
          </p:nvSpPr>
          <p:spPr>
            <a:xfrm>
              <a:off x="299" y="1750"/>
              <a:ext cx="376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     +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 –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·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50" name="Text Box 14"/>
            <p:cNvSpPr txBox="1"/>
            <p:nvPr/>
          </p:nvSpPr>
          <p:spPr>
            <a:xfrm>
              <a:off x="2137" y="1717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5"/>
          <p:cNvGrpSpPr/>
          <p:nvPr/>
        </p:nvGrpSpPr>
        <p:grpSpPr>
          <a:xfrm>
            <a:off x="1998663" y="3362325"/>
            <a:ext cx="5083175" cy="579438"/>
            <a:chOff x="299" y="2118"/>
            <a:chExt cx="3202" cy="365"/>
          </a:xfrm>
        </p:grpSpPr>
        <p:sp>
          <p:nvSpPr>
            <p:cNvPr id="196647" name="Text Box 16"/>
            <p:cNvSpPr txBox="1"/>
            <p:nvPr/>
          </p:nvSpPr>
          <p:spPr>
            <a:xfrm>
              <a:off x="299" y="2154"/>
              <a:ext cx="3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     +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48" name="Text Box 17"/>
            <p:cNvSpPr txBox="1"/>
            <p:nvPr/>
          </p:nvSpPr>
          <p:spPr>
            <a:xfrm>
              <a:off x="2527" y="2118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18"/>
          <p:cNvGrpSpPr/>
          <p:nvPr/>
        </p:nvGrpSpPr>
        <p:grpSpPr>
          <a:xfrm>
            <a:off x="1998663" y="3970338"/>
            <a:ext cx="8231187" cy="598487"/>
            <a:chOff x="299" y="2501"/>
            <a:chExt cx="5185" cy="377"/>
          </a:xfrm>
        </p:grpSpPr>
        <p:sp>
          <p:nvSpPr>
            <p:cNvPr id="196645" name="Text Box 19"/>
            <p:cNvSpPr txBox="1"/>
            <p:nvPr/>
          </p:nvSpPr>
          <p:spPr>
            <a:xfrm>
              <a:off x="299" y="2549"/>
              <a:ext cx="518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-2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     +(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-(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-1)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)]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46" name="Text Box 20"/>
            <p:cNvSpPr txBox="1"/>
            <p:nvPr/>
          </p:nvSpPr>
          <p:spPr>
            <a:xfrm>
              <a:off x="3640" y="2501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1"/>
          <p:cNvGrpSpPr/>
          <p:nvPr/>
        </p:nvGrpSpPr>
        <p:grpSpPr>
          <a:xfrm>
            <a:off x="1998663" y="4595813"/>
            <a:ext cx="8669337" cy="600075"/>
            <a:chOff x="299" y="2895"/>
            <a:chExt cx="5461" cy="378"/>
          </a:xfrm>
        </p:grpSpPr>
        <p:sp>
          <p:nvSpPr>
            <p:cNvPr id="196643" name="Text Box 22"/>
            <p:cNvSpPr txBox="1"/>
            <p:nvPr/>
          </p:nvSpPr>
          <p:spPr>
            <a:xfrm>
              <a:off x="299" y="2944"/>
              <a:ext cx="54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)+(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     +(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-(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-1)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+(0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)]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44" name="Text Box 23"/>
            <p:cNvSpPr txBox="1"/>
            <p:nvPr/>
          </p:nvSpPr>
          <p:spPr>
            <a:xfrm>
              <a:off x="2699" y="2895"/>
              <a:ext cx="41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24"/>
          <p:cNvGrpSpPr/>
          <p:nvPr/>
        </p:nvGrpSpPr>
        <p:grpSpPr>
          <a:xfrm>
            <a:off x="4708525" y="5891213"/>
            <a:ext cx="3825875" cy="584200"/>
            <a:chOff x="2006" y="3711"/>
            <a:chExt cx="2410" cy="368"/>
          </a:xfrm>
        </p:grpSpPr>
        <p:sp>
          <p:nvSpPr>
            <p:cNvPr id="196640" name="Text Box 25"/>
            <p:cNvSpPr txBox="1"/>
            <p:nvPr/>
          </p:nvSpPr>
          <p:spPr>
            <a:xfrm>
              <a:off x="2006" y="3750"/>
              <a:ext cx="241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-1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     +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41" name="Text Box 26"/>
            <p:cNvSpPr txBox="1"/>
            <p:nvPr/>
          </p:nvSpPr>
          <p:spPr>
            <a:xfrm>
              <a:off x="2694" y="3711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42" name="Text Box 27"/>
            <p:cNvSpPr txBox="1"/>
            <p:nvPr/>
          </p:nvSpPr>
          <p:spPr>
            <a:xfrm>
              <a:off x="3222" y="3750"/>
              <a:ext cx="74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i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4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28"/>
          <p:cNvGrpSpPr/>
          <p:nvPr/>
        </p:nvGrpSpPr>
        <p:grpSpPr>
          <a:xfrm>
            <a:off x="6705600" y="1600200"/>
            <a:ext cx="2438400" cy="595313"/>
            <a:chOff x="3264" y="1023"/>
            <a:chExt cx="1536" cy="375"/>
          </a:xfrm>
        </p:grpSpPr>
        <p:sp>
          <p:nvSpPr>
            <p:cNvPr id="196638" name="Text Box 29"/>
            <p:cNvSpPr txBox="1"/>
            <p:nvPr/>
          </p:nvSpPr>
          <p:spPr>
            <a:xfrm>
              <a:off x="3312" y="1023"/>
              <a:ext cx="148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–[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30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= +[–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39" name="AutoShape 30"/>
            <p:cNvSpPr/>
            <p:nvPr/>
          </p:nvSpPr>
          <p:spPr>
            <a:xfrm>
              <a:off x="3264" y="1062"/>
              <a:ext cx="1536" cy="336"/>
            </a:xfrm>
            <a:prstGeom prst="wedgeRoundRectCallout">
              <a:avLst>
                <a:gd name="adj1" fmla="val -99218"/>
                <a:gd name="adj2" fmla="val 69347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31"/>
          <p:cNvGrpSpPr/>
          <p:nvPr/>
        </p:nvGrpSpPr>
        <p:grpSpPr>
          <a:xfrm>
            <a:off x="8305800" y="2676525"/>
            <a:ext cx="1981200" cy="536575"/>
            <a:chOff x="4272" y="1686"/>
            <a:chExt cx="1248" cy="338"/>
          </a:xfrm>
        </p:grpSpPr>
        <p:sp>
          <p:nvSpPr>
            <p:cNvPr id="196636" name="Text Box 32"/>
            <p:cNvSpPr txBox="1"/>
            <p:nvPr/>
          </p:nvSpPr>
          <p:spPr>
            <a:xfrm>
              <a:off x="4272" y="1695"/>
              <a:ext cx="123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 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– 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-1</a:t>
              </a:r>
              <a:endParaRPr lang="en-US" altLang="zh-CN" sz="2800" b="1" baseline="45000" dirty="0">
                <a:solidFill>
                  <a:schemeClr val="folHlin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6637" name="AutoShape 33"/>
            <p:cNvSpPr/>
            <p:nvPr/>
          </p:nvSpPr>
          <p:spPr>
            <a:xfrm>
              <a:off x="4272" y="1686"/>
              <a:ext cx="1248" cy="33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34"/>
          <p:cNvGrpSpPr/>
          <p:nvPr/>
        </p:nvGrpSpPr>
        <p:grpSpPr>
          <a:xfrm>
            <a:off x="8304213" y="3438525"/>
            <a:ext cx="2058987" cy="533400"/>
            <a:chOff x="4271" y="2166"/>
            <a:chExt cx="1297" cy="336"/>
          </a:xfrm>
        </p:grpSpPr>
        <p:sp>
          <p:nvSpPr>
            <p:cNvPr id="196634" name="Text Box 35"/>
            <p:cNvSpPr txBox="1"/>
            <p:nvPr/>
          </p:nvSpPr>
          <p:spPr>
            <a:xfrm>
              <a:off x="4271" y="2166"/>
              <a:ext cx="127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-2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 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– 2</a:t>
              </a:r>
              <a:r>
                <a:rPr lang="en-US" altLang="zh-CN" sz="2800" b="1" baseline="4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-2</a:t>
              </a:r>
              <a:endParaRPr lang="en-US" altLang="zh-CN" sz="2800" b="1" baseline="45000" dirty="0">
                <a:solidFill>
                  <a:schemeClr val="folHlin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6635" name="AutoShape 36"/>
            <p:cNvSpPr/>
            <p:nvPr/>
          </p:nvSpPr>
          <p:spPr>
            <a:xfrm>
              <a:off x="4272" y="2166"/>
              <a:ext cx="1296" cy="336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16773" name="Text Box 37"/>
          <p:cNvSpPr txBox="1"/>
          <p:nvPr/>
        </p:nvSpPr>
        <p:spPr>
          <a:xfrm>
            <a:off x="4013200" y="3421063"/>
            <a:ext cx="685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baseline="4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endParaRPr lang="en-US" altLang="zh-CN" sz="2800" b="1" baseline="4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74" name="Text Box 38"/>
          <p:cNvSpPr txBox="1"/>
          <p:nvPr/>
        </p:nvSpPr>
        <p:spPr>
          <a:xfrm>
            <a:off x="4851400" y="3421063"/>
            <a:ext cx="60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baseline="4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-2</a:t>
            </a:r>
            <a:endParaRPr lang="en-US" altLang="zh-CN" sz="2800" b="1" baseline="4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75" name="AutoShape 39"/>
          <p:cNvSpPr/>
          <p:nvPr/>
        </p:nvSpPr>
        <p:spPr>
          <a:xfrm>
            <a:off x="4267200" y="5343525"/>
            <a:ext cx="935038" cy="533400"/>
          </a:xfrm>
          <a:prstGeom prst="wedgeRoundRectCallout">
            <a:avLst>
              <a:gd name="adj1" fmla="val 18750"/>
              <a:gd name="adj2" fmla="val 94347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2" name="Group 40"/>
          <p:cNvGrpSpPr/>
          <p:nvPr/>
        </p:nvGrpSpPr>
        <p:grpSpPr>
          <a:xfrm>
            <a:off x="1998663" y="5229225"/>
            <a:ext cx="6237288" cy="593725"/>
            <a:chOff x="299" y="3294"/>
            <a:chExt cx="3929" cy="374"/>
          </a:xfrm>
        </p:grpSpPr>
        <p:sp>
          <p:nvSpPr>
            <p:cNvPr id="196632" name="Text Box 41"/>
            <p:cNvSpPr txBox="1"/>
            <p:nvPr/>
          </p:nvSpPr>
          <p:spPr>
            <a:xfrm>
              <a:off x="299" y="3339"/>
              <a:ext cx="392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)+(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+      +(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+1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i="1" baseline="4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633" name="Text Box 42"/>
            <p:cNvSpPr txBox="1"/>
            <p:nvPr/>
          </p:nvSpPr>
          <p:spPr>
            <a:xfrm>
              <a:off x="2699" y="3294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6779" name="AutoShape 43"/>
          <p:cNvSpPr/>
          <p:nvPr/>
        </p:nvSpPr>
        <p:spPr>
          <a:xfrm>
            <a:off x="6526213" y="5343525"/>
            <a:ext cx="1169987" cy="533400"/>
          </a:xfrm>
          <a:prstGeom prst="wedgeRoundRectCallout">
            <a:avLst>
              <a:gd name="adj1" fmla="val -23264"/>
              <a:gd name="adj2" fmla="val 90773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6780" name="Rectangle 4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6781" name="AutoShape 45"/>
          <p:cNvSpPr/>
          <p:nvPr/>
        </p:nvSpPr>
        <p:spPr>
          <a:xfrm>
            <a:off x="8616950" y="5373688"/>
            <a:ext cx="1655763" cy="533400"/>
          </a:xfrm>
          <a:prstGeom prst="wedgeRoundRectCallout">
            <a:avLst>
              <a:gd name="adj1" fmla="val -34565"/>
              <a:gd name="adj2" fmla="val -102083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/>
          <a:p>
            <a:r>
              <a:rPr lang="en-US" altLang="zh-CN" sz="1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附加位</a:t>
            </a:r>
            <a:r>
              <a:rPr lang="zh-CN" altLang="en-US" sz="1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6630" name="AutoShape 4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6631" name="日期占位符 1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1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/>
      <p:bldP spid="116744" grpId="0"/>
      <p:bldP spid="116773" grpId="0"/>
      <p:bldP spid="116774" grpId="0"/>
      <p:bldP spid="116775" grpId="0" bldLvl="0" animBg="1"/>
      <p:bldP spid="116779" grpId="0" bldLvl="0" animBg="1"/>
      <p:bldP spid="116781" grpId="0" bldLvl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7634" name="Text Box 2"/>
          <p:cNvSpPr txBox="1"/>
          <p:nvPr/>
        </p:nvSpPr>
        <p:spPr>
          <a:xfrm>
            <a:off x="1981200" y="304800"/>
            <a:ext cx="6781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④ Booth </a:t>
            </a:r>
            <a:r>
              <a:rPr lang="zh-CN" altLang="en-US" sz="3600" b="1" dirty="0">
                <a:latin typeface="Times New Roman" panose="02020603050405020304" pitchFamily="18" charset="0"/>
              </a:rPr>
              <a:t>算法递推公式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17763" name="Text Box 3"/>
          <p:cNvSpPr txBox="1"/>
          <p:nvPr/>
        </p:nvSpPr>
        <p:spPr>
          <a:xfrm>
            <a:off x="2570163" y="990600"/>
            <a:ext cx="23828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=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7764" name="Text Box 4"/>
          <p:cNvSpPr txBox="1"/>
          <p:nvPr/>
        </p:nvSpPr>
        <p:spPr>
          <a:xfrm>
            <a:off x="2586038" y="1471613"/>
            <a:ext cx="67865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= 2</a:t>
            </a:r>
            <a:r>
              <a:rPr lang="en-US" altLang="zh-CN" sz="2800" b="1" baseline="45000" dirty="0">
                <a:latin typeface="Times New Roman" panose="02020603050405020304" pitchFamily="18" charset="0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</a:rPr>
              <a:t>{(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+[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}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sz="2400" b="1" dirty="0">
                <a:latin typeface="Times New Roman" panose="02020603050405020304" pitchFamily="18" charset="0"/>
              </a:rPr>
              <a:t> = 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17765" name="Text Box 5"/>
          <p:cNvSpPr txBox="1"/>
          <p:nvPr/>
        </p:nvSpPr>
        <p:spPr>
          <a:xfrm>
            <a:off x="2586038" y="2524125"/>
            <a:ext cx="43999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= 2</a:t>
            </a:r>
            <a:r>
              <a:rPr lang="en-US" altLang="zh-CN" sz="2800" b="1" baseline="45000" dirty="0">
                <a:latin typeface="Times New Roman" panose="02020603050405020304" pitchFamily="18" charset="0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</a:rPr>
              <a:t>{(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+[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endParaRPr lang="en-US" altLang="zh-CN" sz="2800" b="1" baseline="45000" dirty="0">
              <a:latin typeface="Times New Roman" panose="02020603050405020304" pitchFamily="18" charset="0"/>
            </a:endParaRPr>
          </a:p>
        </p:txBody>
      </p:sp>
      <p:sp>
        <p:nvSpPr>
          <p:cNvPr id="117766" name="Text Box 6"/>
          <p:cNvSpPr txBox="1"/>
          <p:nvPr/>
        </p:nvSpPr>
        <p:spPr>
          <a:xfrm>
            <a:off x="2942590" y="2097088"/>
            <a:ext cx="613410" cy="44704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…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7767" name="Text Box 7"/>
          <p:cNvSpPr txBox="1"/>
          <p:nvPr/>
        </p:nvSpPr>
        <p:spPr>
          <a:xfrm>
            <a:off x="2281238" y="3300413"/>
            <a:ext cx="39255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baseline="-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b="1" dirty="0">
                <a:latin typeface="Times New Roman" panose="02020603050405020304" pitchFamily="18" charset="0"/>
              </a:rPr>
              <a:t>+(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)[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7768" name="Text Box 8"/>
          <p:cNvSpPr txBox="1"/>
          <p:nvPr/>
        </p:nvSpPr>
        <p:spPr>
          <a:xfrm>
            <a:off x="7086600" y="3300413"/>
            <a:ext cx="312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最后一步不移位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69" name="Text Box 9"/>
          <p:cNvSpPr txBox="1"/>
          <p:nvPr/>
        </p:nvSpPr>
        <p:spPr>
          <a:xfrm>
            <a:off x="2932113" y="4387850"/>
            <a:ext cx="2782887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如何实现  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?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7770" name="Text Box 10"/>
          <p:cNvSpPr txBox="1"/>
          <p:nvPr/>
        </p:nvSpPr>
        <p:spPr>
          <a:xfrm>
            <a:off x="5715000" y="4572000"/>
            <a:ext cx="805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0   0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71" name="Text Box 11"/>
          <p:cNvSpPr txBox="1"/>
          <p:nvPr/>
        </p:nvSpPr>
        <p:spPr>
          <a:xfrm>
            <a:off x="5715000" y="5029200"/>
            <a:ext cx="805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0   1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72" name="Text Box 12"/>
          <p:cNvSpPr txBox="1"/>
          <p:nvPr/>
        </p:nvSpPr>
        <p:spPr>
          <a:xfrm>
            <a:off x="5715000" y="5486400"/>
            <a:ext cx="805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1   0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73" name="Text Box 13"/>
          <p:cNvSpPr txBox="1"/>
          <p:nvPr/>
        </p:nvSpPr>
        <p:spPr>
          <a:xfrm>
            <a:off x="5715000" y="5943600"/>
            <a:ext cx="805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1   1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9096375" y="4572000"/>
            <a:ext cx="608013" cy="522288"/>
            <a:chOff x="4848" y="2880"/>
            <a:chExt cx="383" cy="329"/>
          </a:xfrm>
        </p:grpSpPr>
        <p:sp>
          <p:nvSpPr>
            <p:cNvPr id="197674" name="Text Box 15"/>
            <p:cNvSpPr txBox="1"/>
            <p:nvPr/>
          </p:nvSpPr>
          <p:spPr>
            <a:xfrm>
              <a:off x="5004" y="2880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7675" name="Line 16"/>
            <p:cNvSpPr/>
            <p:nvPr/>
          </p:nvSpPr>
          <p:spPr>
            <a:xfrm>
              <a:off x="4848" y="3072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3" name="Group 17"/>
          <p:cNvGrpSpPr/>
          <p:nvPr/>
        </p:nvGrpSpPr>
        <p:grpSpPr>
          <a:xfrm>
            <a:off x="8066088" y="5070475"/>
            <a:ext cx="2173287" cy="522288"/>
            <a:chOff x="4199" y="3194"/>
            <a:chExt cx="1369" cy="329"/>
          </a:xfrm>
        </p:grpSpPr>
        <p:sp>
          <p:nvSpPr>
            <p:cNvPr id="197672" name="Text Box 18"/>
            <p:cNvSpPr txBox="1"/>
            <p:nvPr/>
          </p:nvSpPr>
          <p:spPr>
            <a:xfrm>
              <a:off x="4199" y="3194"/>
              <a:ext cx="136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+[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7673" name="Line 19"/>
            <p:cNvSpPr/>
            <p:nvPr/>
          </p:nvSpPr>
          <p:spPr>
            <a:xfrm>
              <a:off x="4848" y="3360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4" name="Group 20"/>
          <p:cNvGrpSpPr/>
          <p:nvPr/>
        </p:nvGrpSpPr>
        <p:grpSpPr>
          <a:xfrm>
            <a:off x="8001000" y="5486400"/>
            <a:ext cx="2162175" cy="522288"/>
            <a:chOff x="4080" y="3456"/>
            <a:chExt cx="1362" cy="329"/>
          </a:xfrm>
        </p:grpSpPr>
        <p:sp>
          <p:nvSpPr>
            <p:cNvPr id="197670" name="Text Box 21"/>
            <p:cNvSpPr txBox="1"/>
            <p:nvPr/>
          </p:nvSpPr>
          <p:spPr>
            <a:xfrm>
              <a:off x="4080" y="3456"/>
              <a:ext cx="136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+[–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</a:t>
              </a:r>
              <a:r>
                <a:rPr lang="zh-CN" altLang="en-US" sz="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7671" name="Line 22"/>
            <p:cNvSpPr/>
            <p:nvPr/>
          </p:nvSpPr>
          <p:spPr>
            <a:xfrm>
              <a:off x="4770" y="3648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5" name="Group 23"/>
          <p:cNvGrpSpPr/>
          <p:nvPr/>
        </p:nvGrpSpPr>
        <p:grpSpPr>
          <a:xfrm>
            <a:off x="9096375" y="5957888"/>
            <a:ext cx="990600" cy="522287"/>
            <a:chOff x="4848" y="3753"/>
            <a:chExt cx="624" cy="329"/>
          </a:xfrm>
        </p:grpSpPr>
        <p:sp>
          <p:nvSpPr>
            <p:cNvPr id="197668" name="Text Box 24"/>
            <p:cNvSpPr txBox="1"/>
            <p:nvPr/>
          </p:nvSpPr>
          <p:spPr>
            <a:xfrm>
              <a:off x="5004" y="3753"/>
              <a:ext cx="4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7669" name="Line 25"/>
            <p:cNvSpPr/>
            <p:nvPr/>
          </p:nvSpPr>
          <p:spPr>
            <a:xfrm>
              <a:off x="4848" y="3936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17786" name="Text Box 26"/>
          <p:cNvSpPr txBox="1"/>
          <p:nvPr/>
        </p:nvSpPr>
        <p:spPr>
          <a:xfrm>
            <a:off x="7205663" y="4572000"/>
            <a:ext cx="627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 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7787" name="Text Box 27"/>
          <p:cNvSpPr txBox="1"/>
          <p:nvPr/>
        </p:nvSpPr>
        <p:spPr>
          <a:xfrm>
            <a:off x="7205663" y="5029200"/>
            <a:ext cx="627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 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7788" name="Text Box 28"/>
          <p:cNvSpPr txBox="1"/>
          <p:nvPr/>
        </p:nvSpPr>
        <p:spPr>
          <a:xfrm>
            <a:off x="7086600" y="5500688"/>
            <a:ext cx="7454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-1  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7789" name="Text Box 29"/>
          <p:cNvSpPr txBox="1"/>
          <p:nvPr/>
        </p:nvSpPr>
        <p:spPr>
          <a:xfrm>
            <a:off x="7219950" y="5943600"/>
            <a:ext cx="627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 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7790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31"/>
          <p:cNvGrpSpPr/>
          <p:nvPr/>
        </p:nvGrpSpPr>
        <p:grpSpPr>
          <a:xfrm>
            <a:off x="5557838" y="4038600"/>
            <a:ext cx="4125912" cy="2438400"/>
            <a:chOff x="2541" y="2544"/>
            <a:chExt cx="2599" cy="1536"/>
          </a:xfrm>
        </p:grpSpPr>
        <p:sp>
          <p:nvSpPr>
            <p:cNvPr id="197658" name="Text Box 32"/>
            <p:cNvSpPr txBox="1"/>
            <p:nvPr/>
          </p:nvSpPr>
          <p:spPr>
            <a:xfrm>
              <a:off x="2592" y="2544"/>
              <a:ext cx="6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+1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7659" name="Text Box 33"/>
            <p:cNvSpPr txBox="1"/>
            <p:nvPr/>
          </p:nvSpPr>
          <p:spPr>
            <a:xfrm>
              <a:off x="4282" y="2601"/>
              <a:ext cx="75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操作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7660" name="Freeform 34"/>
            <p:cNvSpPr/>
            <p:nvPr/>
          </p:nvSpPr>
          <p:spPr>
            <a:xfrm>
              <a:off x="2544" y="2928"/>
              <a:ext cx="2596" cy="1"/>
            </a:xfrm>
            <a:custGeom>
              <a:avLst/>
              <a:gdLst>
                <a:gd name="txL" fmla="*/ 0 w 2596"/>
                <a:gd name="txT" fmla="*/ 0 h 1"/>
                <a:gd name="txR" fmla="*/ 2596 w 259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596" y="0"/>
                </a:cxn>
              </a:cxnLst>
              <a:rect l="txL" t="txT" r="txR" b="txB"/>
              <a:pathLst>
                <a:path w="2596" h="1">
                  <a:moveTo>
                    <a:pt x="0" y="0"/>
                  </a:moveTo>
                  <a:lnTo>
                    <a:pt x="259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7661" name="Line 35"/>
            <p:cNvSpPr/>
            <p:nvPr/>
          </p:nvSpPr>
          <p:spPr>
            <a:xfrm>
              <a:off x="3312" y="2640"/>
              <a:ext cx="0" cy="14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7662" name="Line 36"/>
            <p:cNvSpPr/>
            <p:nvPr/>
          </p:nvSpPr>
          <p:spPr>
            <a:xfrm>
              <a:off x="4080" y="2640"/>
              <a:ext cx="0" cy="14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7663" name="Text Box 37"/>
            <p:cNvSpPr txBox="1"/>
            <p:nvPr/>
          </p:nvSpPr>
          <p:spPr>
            <a:xfrm>
              <a:off x="3360" y="2544"/>
              <a:ext cx="6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+1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i </a:t>
              </a:r>
              <a:endParaRPr lang="en-US" altLang="zh-CN" sz="28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7664" name="Line 38"/>
            <p:cNvSpPr/>
            <p:nvPr/>
          </p:nvSpPr>
          <p:spPr>
            <a:xfrm>
              <a:off x="2541" y="2640"/>
              <a:ext cx="0" cy="14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7665" name="Line 39"/>
            <p:cNvSpPr/>
            <p:nvPr/>
          </p:nvSpPr>
          <p:spPr>
            <a:xfrm>
              <a:off x="5135" y="2640"/>
              <a:ext cx="0" cy="14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7666" name="Freeform 40"/>
            <p:cNvSpPr/>
            <p:nvPr/>
          </p:nvSpPr>
          <p:spPr>
            <a:xfrm>
              <a:off x="2544" y="4072"/>
              <a:ext cx="2596" cy="1"/>
            </a:xfrm>
            <a:custGeom>
              <a:avLst/>
              <a:gdLst>
                <a:gd name="txL" fmla="*/ 0 w 2596"/>
                <a:gd name="txT" fmla="*/ 0 h 1"/>
                <a:gd name="txR" fmla="*/ 2596 w 259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596" y="0"/>
                </a:cxn>
              </a:cxnLst>
              <a:rect l="txL" t="txT" r="txR" b="txB"/>
              <a:pathLst>
                <a:path w="2596" h="1">
                  <a:moveTo>
                    <a:pt x="0" y="0"/>
                  </a:moveTo>
                  <a:lnTo>
                    <a:pt x="259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7667" name="Freeform 41"/>
            <p:cNvSpPr/>
            <p:nvPr/>
          </p:nvSpPr>
          <p:spPr>
            <a:xfrm>
              <a:off x="2544" y="2648"/>
              <a:ext cx="2596" cy="1"/>
            </a:xfrm>
            <a:custGeom>
              <a:avLst/>
              <a:gdLst>
                <a:gd name="txL" fmla="*/ 0 w 2596"/>
                <a:gd name="txT" fmla="*/ 0 h 1"/>
                <a:gd name="txR" fmla="*/ 2596 w 259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596" y="0"/>
                </a:cxn>
              </a:cxnLst>
              <a:rect l="txL" t="txT" r="txR" b="txB"/>
              <a:pathLst>
                <a:path w="2596" h="1">
                  <a:moveTo>
                    <a:pt x="0" y="0"/>
                  </a:moveTo>
                  <a:lnTo>
                    <a:pt x="259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97656" name="AutoShape 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57" name="日期占位符 7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1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1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1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1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/>
      <p:bldP spid="117764" grpId="0"/>
      <p:bldP spid="117765" grpId="0"/>
      <p:bldP spid="117766" grpId="0"/>
      <p:bldP spid="117767" grpId="0"/>
      <p:bldP spid="117768" grpId="0"/>
      <p:bldP spid="117769" grpId="0"/>
      <p:bldP spid="117770" grpId="0"/>
      <p:bldP spid="117771" grpId="0"/>
      <p:bldP spid="117772" grpId="0"/>
      <p:bldP spid="117773" grpId="0"/>
      <p:bldP spid="117786" grpId="0"/>
      <p:bldP spid="117787" grpId="0"/>
      <p:bldP spid="117788" grpId="0"/>
      <p:bldP spid="117789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8658" name="Text Box 2"/>
          <p:cNvSpPr txBox="1"/>
          <p:nvPr/>
        </p:nvSpPr>
        <p:spPr>
          <a:xfrm>
            <a:off x="1681163" y="304800"/>
            <a:ext cx="327183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6.23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18787" name="Text Box 3"/>
          <p:cNvSpPr txBox="1"/>
          <p:nvPr/>
        </p:nvSpPr>
        <p:spPr>
          <a:xfrm>
            <a:off x="3124200" y="381000"/>
            <a:ext cx="7239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已知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+0.0011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0.1011 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1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18788" name="Text Box 4"/>
          <p:cNvSpPr txBox="1"/>
          <p:nvPr/>
        </p:nvSpPr>
        <p:spPr>
          <a:xfrm>
            <a:off x="1844675" y="9906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18789" name="Text Box 5"/>
          <p:cNvSpPr txBox="1"/>
          <p:nvPr/>
        </p:nvSpPr>
        <p:spPr>
          <a:xfrm>
            <a:off x="2559050" y="1057275"/>
            <a:ext cx="1871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0 0 . 0 0 0 0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0" name="Text Box 6"/>
          <p:cNvSpPr txBox="1"/>
          <p:nvPr/>
        </p:nvSpPr>
        <p:spPr>
          <a:xfrm>
            <a:off x="2559050" y="1371600"/>
            <a:ext cx="1871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1 1 . 1 1 0 1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1" name="Text Box 7"/>
          <p:cNvSpPr txBox="1"/>
          <p:nvPr/>
        </p:nvSpPr>
        <p:spPr>
          <a:xfrm>
            <a:off x="2559050" y="1790700"/>
            <a:ext cx="1871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1 1 . 1 1 0 1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2" name="Text Box 8"/>
          <p:cNvSpPr txBox="1"/>
          <p:nvPr/>
        </p:nvSpPr>
        <p:spPr>
          <a:xfrm>
            <a:off x="2559050" y="2524125"/>
            <a:ext cx="1871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0 0 . 0 0 1 1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3" name="Text Box 9"/>
          <p:cNvSpPr txBox="1"/>
          <p:nvPr/>
        </p:nvSpPr>
        <p:spPr>
          <a:xfrm>
            <a:off x="2559050" y="3581400"/>
            <a:ext cx="1871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1 1 . 1 1 0 1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4" name="Text Box 10"/>
          <p:cNvSpPr txBox="1"/>
          <p:nvPr/>
        </p:nvSpPr>
        <p:spPr>
          <a:xfrm>
            <a:off x="2559050" y="4721225"/>
            <a:ext cx="1871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0 0 . 0 0 1 1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5" name="Text Box 11"/>
          <p:cNvSpPr txBox="1"/>
          <p:nvPr/>
        </p:nvSpPr>
        <p:spPr>
          <a:xfrm>
            <a:off x="2559050" y="5791200"/>
            <a:ext cx="1871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1 1 . 1 1 0 1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796" name="Line 12"/>
          <p:cNvSpPr/>
          <p:nvPr/>
        </p:nvSpPr>
        <p:spPr>
          <a:xfrm>
            <a:off x="2351088" y="4038600"/>
            <a:ext cx="5410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8797" name="Line 13"/>
          <p:cNvSpPr/>
          <p:nvPr/>
        </p:nvSpPr>
        <p:spPr>
          <a:xfrm>
            <a:off x="2351088" y="5181600"/>
            <a:ext cx="5410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8798" name="Line 14"/>
          <p:cNvSpPr/>
          <p:nvPr/>
        </p:nvSpPr>
        <p:spPr>
          <a:xfrm>
            <a:off x="2362200" y="6248400"/>
            <a:ext cx="5486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8799" name="Text Box 15"/>
          <p:cNvSpPr txBox="1"/>
          <p:nvPr/>
        </p:nvSpPr>
        <p:spPr>
          <a:xfrm>
            <a:off x="4540250" y="105727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1 . 0 1 0 1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800" name="Text Box 16"/>
          <p:cNvSpPr txBox="1"/>
          <p:nvPr/>
        </p:nvSpPr>
        <p:spPr>
          <a:xfrm>
            <a:off x="6311900" y="1057275"/>
            <a:ext cx="360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2559050" y="2886075"/>
            <a:ext cx="2341563" cy="525463"/>
            <a:chOff x="652" y="1818"/>
            <a:chExt cx="1475" cy="331"/>
          </a:xfrm>
        </p:grpSpPr>
        <p:sp>
          <p:nvSpPr>
            <p:cNvPr id="198761" name="Text Box 18"/>
            <p:cNvSpPr txBox="1"/>
            <p:nvPr/>
          </p:nvSpPr>
          <p:spPr>
            <a:xfrm>
              <a:off x="652" y="1820"/>
              <a:ext cx="11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0 0 . 0 0 0 1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8762" name="Text Box 19"/>
            <p:cNvSpPr txBox="1"/>
            <p:nvPr/>
          </p:nvSpPr>
          <p:spPr>
            <a:xfrm>
              <a:off x="1900" y="1818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2559050" y="3989388"/>
            <a:ext cx="2608263" cy="522287"/>
            <a:chOff x="652" y="2513"/>
            <a:chExt cx="1643" cy="329"/>
          </a:xfrm>
        </p:grpSpPr>
        <p:sp>
          <p:nvSpPr>
            <p:cNvPr id="198759" name="Text Box 21"/>
            <p:cNvSpPr txBox="1"/>
            <p:nvPr/>
          </p:nvSpPr>
          <p:spPr>
            <a:xfrm>
              <a:off x="652" y="2513"/>
              <a:ext cx="11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1 1 . 1 1 0 1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8760" name="Text Box 22"/>
            <p:cNvSpPr txBox="1"/>
            <p:nvPr/>
          </p:nvSpPr>
          <p:spPr>
            <a:xfrm>
              <a:off x="1900" y="2513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23"/>
          <p:cNvGrpSpPr/>
          <p:nvPr/>
        </p:nvGrpSpPr>
        <p:grpSpPr>
          <a:xfrm>
            <a:off x="2559050" y="5087938"/>
            <a:ext cx="2874963" cy="522287"/>
            <a:chOff x="652" y="3205"/>
            <a:chExt cx="1811" cy="329"/>
          </a:xfrm>
        </p:grpSpPr>
        <p:sp>
          <p:nvSpPr>
            <p:cNvPr id="198757" name="Text Box 24"/>
            <p:cNvSpPr txBox="1"/>
            <p:nvPr/>
          </p:nvSpPr>
          <p:spPr>
            <a:xfrm>
              <a:off x="652" y="3205"/>
              <a:ext cx="11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0 0 . 0 0 0 1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8758" name="Text Box 25"/>
            <p:cNvSpPr txBox="1"/>
            <p:nvPr/>
          </p:nvSpPr>
          <p:spPr>
            <a:xfrm>
              <a:off x="1900" y="3205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6"/>
          <p:cNvGrpSpPr/>
          <p:nvPr/>
        </p:nvGrpSpPr>
        <p:grpSpPr>
          <a:xfrm>
            <a:off x="2559050" y="6186488"/>
            <a:ext cx="3230563" cy="522287"/>
            <a:chOff x="652" y="3897"/>
            <a:chExt cx="2035" cy="329"/>
          </a:xfrm>
        </p:grpSpPr>
        <p:sp>
          <p:nvSpPr>
            <p:cNvPr id="198755" name="Text Box 27"/>
            <p:cNvSpPr txBox="1"/>
            <p:nvPr/>
          </p:nvSpPr>
          <p:spPr>
            <a:xfrm>
              <a:off x="652" y="3897"/>
              <a:ext cx="11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1 1 . 1 1 0 1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8756" name="Text Box 28"/>
            <p:cNvSpPr txBox="1"/>
            <p:nvPr/>
          </p:nvSpPr>
          <p:spPr>
            <a:xfrm>
              <a:off x="1900" y="3897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1 1 1 1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8813" name="Text Box 29"/>
          <p:cNvSpPr txBox="1"/>
          <p:nvPr/>
        </p:nvSpPr>
        <p:spPr>
          <a:xfrm>
            <a:off x="8140700" y="1057275"/>
            <a:ext cx="25273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0.0011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814" name="Text Box 30"/>
          <p:cNvSpPr txBox="1"/>
          <p:nvPr/>
        </p:nvSpPr>
        <p:spPr>
          <a:xfrm>
            <a:off x="8156575" y="1614488"/>
            <a:ext cx="25114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1.0101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815" name="Text Box 31"/>
          <p:cNvSpPr txBox="1"/>
          <p:nvPr/>
        </p:nvSpPr>
        <p:spPr>
          <a:xfrm>
            <a:off x="8001000" y="2147888"/>
            <a:ext cx="266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1.1101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816" name="Line 32"/>
          <p:cNvSpPr/>
          <p:nvPr/>
        </p:nvSpPr>
        <p:spPr>
          <a:xfrm>
            <a:off x="2341563" y="1828800"/>
            <a:ext cx="5410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8817" name="Line 33"/>
          <p:cNvSpPr/>
          <p:nvPr/>
        </p:nvSpPr>
        <p:spPr>
          <a:xfrm>
            <a:off x="4540250" y="1143000"/>
            <a:ext cx="0" cy="5486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8818" name="Line 34"/>
          <p:cNvSpPr/>
          <p:nvPr/>
        </p:nvSpPr>
        <p:spPr>
          <a:xfrm>
            <a:off x="6311900" y="1143000"/>
            <a:ext cx="0" cy="5486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8819" name="Line 35"/>
          <p:cNvSpPr/>
          <p:nvPr/>
        </p:nvSpPr>
        <p:spPr>
          <a:xfrm>
            <a:off x="6750050" y="1143000"/>
            <a:ext cx="0" cy="5486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8820" name="Text Box 36"/>
          <p:cNvSpPr txBox="1"/>
          <p:nvPr/>
        </p:nvSpPr>
        <p:spPr>
          <a:xfrm>
            <a:off x="6705600" y="1371600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+[–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18821" name="Line 37"/>
          <p:cNvSpPr/>
          <p:nvPr/>
        </p:nvSpPr>
        <p:spPr>
          <a:xfrm>
            <a:off x="2341563" y="2971800"/>
            <a:ext cx="5410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6" name="Group 38"/>
          <p:cNvGrpSpPr/>
          <p:nvPr/>
        </p:nvGrpSpPr>
        <p:grpSpPr>
          <a:xfrm>
            <a:off x="5867400" y="1482725"/>
            <a:ext cx="762000" cy="41275"/>
            <a:chOff x="2736" y="934"/>
            <a:chExt cx="480" cy="26"/>
          </a:xfrm>
        </p:grpSpPr>
        <p:sp>
          <p:nvSpPr>
            <p:cNvPr id="198753" name="Line 39"/>
            <p:cNvSpPr/>
            <p:nvPr/>
          </p:nvSpPr>
          <p:spPr>
            <a:xfrm>
              <a:off x="2736" y="934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8754" name="Line 40"/>
            <p:cNvSpPr/>
            <p:nvPr/>
          </p:nvSpPr>
          <p:spPr>
            <a:xfrm>
              <a:off x="2736" y="960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7" name="Group 41"/>
          <p:cNvGrpSpPr/>
          <p:nvPr/>
        </p:nvGrpSpPr>
        <p:grpSpPr>
          <a:xfrm>
            <a:off x="2559050" y="2147888"/>
            <a:ext cx="4906963" cy="531812"/>
            <a:chOff x="652" y="1353"/>
            <a:chExt cx="3091" cy="335"/>
          </a:xfrm>
        </p:grpSpPr>
        <p:grpSp>
          <p:nvGrpSpPr>
            <p:cNvPr id="198745" name="Group 42"/>
            <p:cNvGrpSpPr/>
            <p:nvPr/>
          </p:nvGrpSpPr>
          <p:grpSpPr>
            <a:xfrm>
              <a:off x="652" y="1359"/>
              <a:ext cx="2591" cy="329"/>
              <a:chOff x="652" y="1359"/>
              <a:chExt cx="2591" cy="329"/>
            </a:xfrm>
          </p:grpSpPr>
          <p:grpSp>
            <p:nvGrpSpPr>
              <p:cNvPr id="198749" name="Group 43"/>
              <p:cNvGrpSpPr/>
              <p:nvPr/>
            </p:nvGrpSpPr>
            <p:grpSpPr>
              <a:xfrm>
                <a:off x="652" y="1359"/>
                <a:ext cx="2352" cy="329"/>
                <a:chOff x="652" y="1359"/>
                <a:chExt cx="2352" cy="329"/>
              </a:xfrm>
            </p:grpSpPr>
            <p:sp>
              <p:nvSpPr>
                <p:cNvPr id="198751" name="Text Box 44"/>
                <p:cNvSpPr txBox="1"/>
                <p:nvPr/>
              </p:nvSpPr>
              <p:spPr>
                <a:xfrm>
                  <a:off x="652" y="1359"/>
                  <a:ext cx="1179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1 1 . </a:t>
                  </a: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1 1 0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8752" name="Text Box 45"/>
                <p:cNvSpPr txBox="1"/>
                <p:nvPr/>
              </p:nvSpPr>
              <p:spPr>
                <a:xfrm>
                  <a:off x="1900" y="1359"/>
                  <a:ext cx="1104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1   </a:t>
                  </a: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1 0 1 0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8750" name="Text Box 46"/>
              <p:cNvSpPr txBox="1"/>
              <p:nvPr/>
            </p:nvSpPr>
            <p:spPr>
              <a:xfrm>
                <a:off x="3016" y="1359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8746" name="Group 47"/>
            <p:cNvGrpSpPr/>
            <p:nvPr/>
          </p:nvGrpSpPr>
          <p:grpSpPr>
            <a:xfrm>
              <a:off x="3360" y="1353"/>
              <a:ext cx="383" cy="329"/>
              <a:chOff x="3360" y="1353"/>
              <a:chExt cx="383" cy="329"/>
            </a:xfrm>
          </p:grpSpPr>
          <p:sp>
            <p:nvSpPr>
              <p:cNvPr id="198747" name="Line 48"/>
              <p:cNvSpPr/>
              <p:nvPr/>
            </p:nvSpPr>
            <p:spPr>
              <a:xfrm>
                <a:off x="3360" y="1536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  <p:sp>
            <p:nvSpPr>
              <p:cNvPr id="198748" name="Text Box 49"/>
              <p:cNvSpPr txBox="1"/>
              <p:nvPr/>
            </p:nvSpPr>
            <p:spPr>
              <a:xfrm>
                <a:off x="3516" y="1353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18834" name="Text Box 50"/>
          <p:cNvSpPr txBox="1"/>
          <p:nvPr/>
        </p:nvSpPr>
        <p:spPr>
          <a:xfrm>
            <a:off x="6705600" y="2514600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+[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51"/>
          <p:cNvGrpSpPr/>
          <p:nvPr/>
        </p:nvGrpSpPr>
        <p:grpSpPr>
          <a:xfrm>
            <a:off x="2559050" y="3230563"/>
            <a:ext cx="4906963" cy="547687"/>
            <a:chOff x="652" y="2035"/>
            <a:chExt cx="3091" cy="345"/>
          </a:xfrm>
        </p:grpSpPr>
        <p:grpSp>
          <p:nvGrpSpPr>
            <p:cNvPr id="198737" name="Group 52"/>
            <p:cNvGrpSpPr/>
            <p:nvPr/>
          </p:nvGrpSpPr>
          <p:grpSpPr>
            <a:xfrm>
              <a:off x="652" y="2051"/>
              <a:ext cx="2591" cy="329"/>
              <a:chOff x="652" y="2051"/>
              <a:chExt cx="2591" cy="329"/>
            </a:xfrm>
          </p:grpSpPr>
          <p:grpSp>
            <p:nvGrpSpPr>
              <p:cNvPr id="198741" name="Group 53"/>
              <p:cNvGrpSpPr/>
              <p:nvPr/>
            </p:nvGrpSpPr>
            <p:grpSpPr>
              <a:xfrm>
                <a:off x="652" y="2051"/>
                <a:ext cx="2448" cy="329"/>
                <a:chOff x="652" y="2051"/>
                <a:chExt cx="2448" cy="329"/>
              </a:xfrm>
            </p:grpSpPr>
            <p:sp>
              <p:nvSpPr>
                <p:cNvPr id="198743" name="Text Box 54"/>
                <p:cNvSpPr txBox="1"/>
                <p:nvPr/>
              </p:nvSpPr>
              <p:spPr>
                <a:xfrm>
                  <a:off x="652" y="2051"/>
                  <a:ext cx="1179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0 0 . </a:t>
                  </a: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0 0 0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8744" name="Text Box 55"/>
                <p:cNvSpPr txBox="1"/>
                <p:nvPr/>
              </p:nvSpPr>
              <p:spPr>
                <a:xfrm>
                  <a:off x="1900" y="2051"/>
                  <a:ext cx="1200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1 1   </a:t>
                  </a: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1 0 1</a:t>
                  </a:r>
                  <a:endPara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8742" name="Text Box 56"/>
              <p:cNvSpPr txBox="1"/>
              <p:nvPr/>
            </p:nvSpPr>
            <p:spPr>
              <a:xfrm>
                <a:off x="3016" y="2051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8738" name="Group 57"/>
            <p:cNvGrpSpPr/>
            <p:nvPr/>
          </p:nvGrpSpPr>
          <p:grpSpPr>
            <a:xfrm>
              <a:off x="3360" y="2035"/>
              <a:ext cx="383" cy="329"/>
              <a:chOff x="3360" y="2035"/>
              <a:chExt cx="383" cy="329"/>
            </a:xfrm>
          </p:grpSpPr>
          <p:sp>
            <p:nvSpPr>
              <p:cNvPr id="198739" name="Line 58"/>
              <p:cNvSpPr/>
              <p:nvPr/>
            </p:nvSpPr>
            <p:spPr>
              <a:xfrm>
                <a:off x="3360" y="2218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  <p:sp>
            <p:nvSpPr>
              <p:cNvPr id="198740" name="Text Box 59"/>
              <p:cNvSpPr txBox="1"/>
              <p:nvPr/>
            </p:nvSpPr>
            <p:spPr>
              <a:xfrm>
                <a:off x="3516" y="2035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18844" name="Text Box 60"/>
          <p:cNvSpPr txBox="1"/>
          <p:nvPr/>
        </p:nvSpPr>
        <p:spPr>
          <a:xfrm>
            <a:off x="6705600" y="3581400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+[–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15" name="Group 61"/>
          <p:cNvGrpSpPr/>
          <p:nvPr/>
        </p:nvGrpSpPr>
        <p:grpSpPr>
          <a:xfrm>
            <a:off x="2559050" y="4356100"/>
            <a:ext cx="4906963" cy="523875"/>
            <a:chOff x="652" y="2744"/>
            <a:chExt cx="3091" cy="330"/>
          </a:xfrm>
        </p:grpSpPr>
        <p:grpSp>
          <p:nvGrpSpPr>
            <p:cNvPr id="198729" name="Group 62"/>
            <p:cNvGrpSpPr/>
            <p:nvPr/>
          </p:nvGrpSpPr>
          <p:grpSpPr>
            <a:xfrm>
              <a:off x="652" y="2744"/>
              <a:ext cx="2591" cy="329"/>
              <a:chOff x="652" y="2744"/>
              <a:chExt cx="2591" cy="329"/>
            </a:xfrm>
          </p:grpSpPr>
          <p:grpSp>
            <p:nvGrpSpPr>
              <p:cNvPr id="198733" name="Group 63"/>
              <p:cNvGrpSpPr/>
              <p:nvPr/>
            </p:nvGrpSpPr>
            <p:grpSpPr>
              <a:xfrm>
                <a:off x="652" y="2744"/>
                <a:ext cx="2352" cy="329"/>
                <a:chOff x="652" y="2744"/>
                <a:chExt cx="2352" cy="329"/>
              </a:xfrm>
            </p:grpSpPr>
            <p:sp>
              <p:nvSpPr>
                <p:cNvPr id="198735" name="Text Box 64"/>
                <p:cNvSpPr txBox="1"/>
                <p:nvPr/>
              </p:nvSpPr>
              <p:spPr>
                <a:xfrm>
                  <a:off x="652" y="2744"/>
                  <a:ext cx="1179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1 1 . </a:t>
                  </a: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1 1 0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8736" name="Text Box 65"/>
                <p:cNvSpPr txBox="1"/>
                <p:nvPr/>
              </p:nvSpPr>
              <p:spPr>
                <a:xfrm>
                  <a:off x="1900" y="2744"/>
                  <a:ext cx="1104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1 1 1   </a:t>
                  </a: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1 0</a:t>
                  </a:r>
                  <a:endPara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8734" name="Text Box 66"/>
              <p:cNvSpPr txBox="1"/>
              <p:nvPr/>
            </p:nvSpPr>
            <p:spPr>
              <a:xfrm>
                <a:off x="3016" y="2744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8730" name="Group 67"/>
            <p:cNvGrpSpPr/>
            <p:nvPr/>
          </p:nvGrpSpPr>
          <p:grpSpPr>
            <a:xfrm>
              <a:off x="3360" y="2745"/>
              <a:ext cx="383" cy="329"/>
              <a:chOff x="3360" y="2745"/>
              <a:chExt cx="383" cy="329"/>
            </a:xfrm>
          </p:grpSpPr>
          <p:sp>
            <p:nvSpPr>
              <p:cNvPr id="198731" name="Line 68"/>
              <p:cNvSpPr/>
              <p:nvPr/>
            </p:nvSpPr>
            <p:spPr>
              <a:xfrm>
                <a:off x="3360" y="2928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  <p:sp>
            <p:nvSpPr>
              <p:cNvPr id="198732" name="Text Box 69"/>
              <p:cNvSpPr txBox="1"/>
              <p:nvPr/>
            </p:nvSpPr>
            <p:spPr>
              <a:xfrm>
                <a:off x="3516" y="2745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" name="Group 70"/>
          <p:cNvGrpSpPr/>
          <p:nvPr/>
        </p:nvGrpSpPr>
        <p:grpSpPr>
          <a:xfrm>
            <a:off x="2559050" y="5424488"/>
            <a:ext cx="4906963" cy="552450"/>
            <a:chOff x="652" y="3417"/>
            <a:chExt cx="3091" cy="348"/>
          </a:xfrm>
        </p:grpSpPr>
        <p:grpSp>
          <p:nvGrpSpPr>
            <p:cNvPr id="198721" name="Group 71"/>
            <p:cNvGrpSpPr/>
            <p:nvPr/>
          </p:nvGrpSpPr>
          <p:grpSpPr>
            <a:xfrm>
              <a:off x="652" y="3436"/>
              <a:ext cx="2591" cy="329"/>
              <a:chOff x="652" y="3436"/>
              <a:chExt cx="2591" cy="329"/>
            </a:xfrm>
          </p:grpSpPr>
          <p:grpSp>
            <p:nvGrpSpPr>
              <p:cNvPr id="198725" name="Group 72"/>
              <p:cNvGrpSpPr/>
              <p:nvPr/>
            </p:nvGrpSpPr>
            <p:grpSpPr>
              <a:xfrm>
                <a:off x="652" y="3436"/>
                <a:ext cx="2352" cy="329"/>
                <a:chOff x="652" y="3436"/>
                <a:chExt cx="2352" cy="329"/>
              </a:xfrm>
            </p:grpSpPr>
            <p:sp>
              <p:nvSpPr>
                <p:cNvPr id="198727" name="Text Box 73"/>
                <p:cNvSpPr txBox="1"/>
                <p:nvPr/>
              </p:nvSpPr>
              <p:spPr>
                <a:xfrm>
                  <a:off x="652" y="3436"/>
                  <a:ext cx="1235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0 0 . </a:t>
                  </a: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 0 0 0 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8728" name="Text Box 74"/>
                <p:cNvSpPr txBox="1"/>
                <p:nvPr/>
              </p:nvSpPr>
              <p:spPr>
                <a:xfrm>
                  <a:off x="1900" y="3436"/>
                  <a:ext cx="1104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1 1 1 1   </a:t>
                  </a: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8726" name="Text Box 75"/>
              <p:cNvSpPr txBox="1"/>
              <p:nvPr/>
            </p:nvSpPr>
            <p:spPr>
              <a:xfrm>
                <a:off x="3016" y="3436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8722" name="Group 76"/>
            <p:cNvGrpSpPr/>
            <p:nvPr/>
          </p:nvGrpSpPr>
          <p:grpSpPr>
            <a:xfrm>
              <a:off x="3360" y="3417"/>
              <a:ext cx="383" cy="329"/>
              <a:chOff x="3360" y="3417"/>
              <a:chExt cx="383" cy="329"/>
            </a:xfrm>
          </p:grpSpPr>
          <p:sp>
            <p:nvSpPr>
              <p:cNvPr id="198723" name="Line 77"/>
              <p:cNvSpPr/>
              <p:nvPr/>
            </p:nvSpPr>
            <p:spPr>
              <a:xfrm>
                <a:off x="3360" y="360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  <p:sp>
            <p:nvSpPr>
              <p:cNvPr id="198724" name="Text Box 78"/>
              <p:cNvSpPr txBox="1"/>
              <p:nvPr/>
            </p:nvSpPr>
            <p:spPr>
              <a:xfrm>
                <a:off x="3516" y="3417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18863" name="Text Box 79"/>
          <p:cNvSpPr txBox="1"/>
          <p:nvPr/>
        </p:nvSpPr>
        <p:spPr>
          <a:xfrm>
            <a:off x="6705600" y="5791200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+[–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18864" name="Text Box 80"/>
          <p:cNvSpPr txBox="1"/>
          <p:nvPr/>
        </p:nvSpPr>
        <p:spPr>
          <a:xfrm>
            <a:off x="6705600" y="4724400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+[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23" name="Group 81"/>
          <p:cNvGrpSpPr/>
          <p:nvPr/>
        </p:nvGrpSpPr>
        <p:grpSpPr>
          <a:xfrm>
            <a:off x="5867400" y="2590800"/>
            <a:ext cx="762000" cy="41275"/>
            <a:chOff x="2736" y="934"/>
            <a:chExt cx="480" cy="26"/>
          </a:xfrm>
        </p:grpSpPr>
        <p:sp>
          <p:nvSpPr>
            <p:cNvPr id="198719" name="Line 82"/>
            <p:cNvSpPr/>
            <p:nvPr/>
          </p:nvSpPr>
          <p:spPr>
            <a:xfrm>
              <a:off x="2736" y="934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8720" name="Line 83"/>
            <p:cNvSpPr/>
            <p:nvPr/>
          </p:nvSpPr>
          <p:spPr>
            <a:xfrm>
              <a:off x="2736" y="960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4" name="Group 84"/>
          <p:cNvGrpSpPr/>
          <p:nvPr/>
        </p:nvGrpSpPr>
        <p:grpSpPr>
          <a:xfrm>
            <a:off x="5867400" y="3692525"/>
            <a:ext cx="762000" cy="41275"/>
            <a:chOff x="2736" y="934"/>
            <a:chExt cx="480" cy="26"/>
          </a:xfrm>
        </p:grpSpPr>
        <p:sp>
          <p:nvSpPr>
            <p:cNvPr id="198717" name="Line 85"/>
            <p:cNvSpPr/>
            <p:nvPr/>
          </p:nvSpPr>
          <p:spPr>
            <a:xfrm>
              <a:off x="2736" y="934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8718" name="Line 86"/>
            <p:cNvSpPr/>
            <p:nvPr/>
          </p:nvSpPr>
          <p:spPr>
            <a:xfrm>
              <a:off x="2736" y="960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5" name="Group 87"/>
          <p:cNvGrpSpPr/>
          <p:nvPr/>
        </p:nvGrpSpPr>
        <p:grpSpPr>
          <a:xfrm>
            <a:off x="5867400" y="4800600"/>
            <a:ext cx="762000" cy="41275"/>
            <a:chOff x="2736" y="934"/>
            <a:chExt cx="480" cy="26"/>
          </a:xfrm>
        </p:grpSpPr>
        <p:sp>
          <p:nvSpPr>
            <p:cNvPr id="198715" name="Line 88"/>
            <p:cNvSpPr/>
            <p:nvPr/>
          </p:nvSpPr>
          <p:spPr>
            <a:xfrm>
              <a:off x="2736" y="934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8716" name="Line 89"/>
            <p:cNvSpPr/>
            <p:nvPr/>
          </p:nvSpPr>
          <p:spPr>
            <a:xfrm>
              <a:off x="2736" y="960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6" name="Group 90"/>
          <p:cNvGrpSpPr/>
          <p:nvPr/>
        </p:nvGrpSpPr>
        <p:grpSpPr>
          <a:xfrm>
            <a:off x="5867400" y="5902325"/>
            <a:ext cx="762000" cy="41275"/>
            <a:chOff x="2736" y="934"/>
            <a:chExt cx="480" cy="26"/>
          </a:xfrm>
        </p:grpSpPr>
        <p:sp>
          <p:nvSpPr>
            <p:cNvPr id="198713" name="Line 91"/>
            <p:cNvSpPr/>
            <p:nvPr/>
          </p:nvSpPr>
          <p:spPr>
            <a:xfrm>
              <a:off x="2736" y="934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8714" name="Line 92"/>
            <p:cNvSpPr/>
            <p:nvPr/>
          </p:nvSpPr>
          <p:spPr>
            <a:xfrm>
              <a:off x="2736" y="960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18877" name="Text Box 93"/>
          <p:cNvSpPr txBox="1"/>
          <p:nvPr/>
        </p:nvSpPr>
        <p:spPr>
          <a:xfrm>
            <a:off x="8001000" y="4148138"/>
            <a:ext cx="2590800" cy="10388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∴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1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=1.11011111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8878" name="Text Box 94"/>
          <p:cNvSpPr txBox="1"/>
          <p:nvPr/>
        </p:nvSpPr>
        <p:spPr>
          <a:xfrm>
            <a:off x="6705600" y="6324600"/>
            <a:ext cx="1981200" cy="307340"/>
          </a:xfrm>
          <a:prstGeom prst="rect">
            <a:avLst/>
          </a:prstGeom>
          <a:noFill/>
          <a:ln w="9525">
            <a:noFill/>
          </a:ln>
        </p:spPr>
        <p:txBody>
          <a:bodyPr lIns="18000" tIns="0" rIns="18000" bIns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  </a:t>
            </a:r>
            <a:r>
              <a:rPr lang="zh-CN" altLang="en-US" sz="2000" b="1" dirty="0">
                <a:latin typeface="Times New Roman" panose="02020603050405020304" pitchFamily="18" charset="0"/>
              </a:rPr>
              <a:t>最后一步不移位 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18879" name="Rectangle 9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880" name="AutoShape 96"/>
          <p:cNvSpPr/>
          <p:nvPr/>
        </p:nvSpPr>
        <p:spPr>
          <a:xfrm>
            <a:off x="1597025" y="1911350"/>
            <a:ext cx="827088" cy="782695"/>
          </a:xfrm>
          <a:prstGeom prst="wedgeRoundRectCallout">
            <a:avLst>
              <a:gd name="adj1" fmla="val 77833"/>
              <a:gd name="adj2" fmla="val 15894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补码右移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18881" name="AutoShape 97"/>
          <p:cNvSpPr/>
          <p:nvPr/>
        </p:nvSpPr>
        <p:spPr>
          <a:xfrm>
            <a:off x="1597025" y="2997200"/>
            <a:ext cx="827088" cy="782695"/>
          </a:xfrm>
          <a:prstGeom prst="wedgeRoundRectCallout">
            <a:avLst>
              <a:gd name="adj1" fmla="val 77833"/>
              <a:gd name="adj2" fmla="val 15894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补码右移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18882" name="AutoShape 98"/>
          <p:cNvSpPr/>
          <p:nvPr/>
        </p:nvSpPr>
        <p:spPr>
          <a:xfrm>
            <a:off x="1597025" y="4149725"/>
            <a:ext cx="827088" cy="782695"/>
          </a:xfrm>
          <a:prstGeom prst="wedgeRoundRectCallout">
            <a:avLst>
              <a:gd name="adj1" fmla="val 77833"/>
              <a:gd name="adj2" fmla="val 15894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补码右移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18883" name="AutoShape 99"/>
          <p:cNvSpPr/>
          <p:nvPr/>
        </p:nvSpPr>
        <p:spPr>
          <a:xfrm>
            <a:off x="1597025" y="5210175"/>
            <a:ext cx="827088" cy="782695"/>
          </a:xfrm>
          <a:prstGeom prst="wedgeRoundRectCallout">
            <a:avLst>
              <a:gd name="adj1" fmla="val 77833"/>
              <a:gd name="adj2" fmla="val 15917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补码右移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98706" name="AutoShape 10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8885" name="Text Box 101"/>
          <p:cNvSpPr txBox="1"/>
          <p:nvPr/>
        </p:nvSpPr>
        <p:spPr>
          <a:xfrm>
            <a:off x="2279650" y="1387475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18886" name="Text Box 102"/>
          <p:cNvSpPr txBox="1"/>
          <p:nvPr/>
        </p:nvSpPr>
        <p:spPr>
          <a:xfrm>
            <a:off x="2279650" y="2540000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18887" name="Text Box 103"/>
          <p:cNvSpPr txBox="1"/>
          <p:nvPr/>
        </p:nvSpPr>
        <p:spPr>
          <a:xfrm>
            <a:off x="2279650" y="3573463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18888" name="Text Box 104"/>
          <p:cNvSpPr txBox="1"/>
          <p:nvPr/>
        </p:nvSpPr>
        <p:spPr>
          <a:xfrm>
            <a:off x="2279650" y="4724400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18889" name="Text Box 105"/>
          <p:cNvSpPr txBox="1"/>
          <p:nvPr/>
        </p:nvSpPr>
        <p:spPr>
          <a:xfrm>
            <a:off x="2279650" y="5805488"/>
            <a:ext cx="539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98712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1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1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1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11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1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1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11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11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1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11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6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11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11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6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11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000"/>
                            </p:stCondLst>
                            <p:childTnLst>
                              <p:par>
                                <p:cTn id="19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4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9" dur="500"/>
                                        <p:tgtEl>
                                          <p:spTgt spid="11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9" dur="500"/>
                                        <p:tgtEl>
                                          <p:spTgt spid="11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4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8" dur="500"/>
                                        <p:tgtEl>
                                          <p:spTgt spid="11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2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2" dur="500"/>
                                        <p:tgtEl>
                                          <p:spTgt spid="11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7" dur="500"/>
                                        <p:tgtEl>
                                          <p:spTgt spid="11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/>
      <p:bldP spid="118788" grpId="0"/>
      <p:bldP spid="118789" grpId="0"/>
      <p:bldP spid="118790" grpId="0"/>
      <p:bldP spid="118791" grpId="0"/>
      <p:bldP spid="118792" grpId="0"/>
      <p:bldP spid="118793" grpId="0"/>
      <p:bldP spid="118794" grpId="0"/>
      <p:bldP spid="118795" grpId="0"/>
      <p:bldP spid="118799" grpId="0"/>
      <p:bldP spid="118800" grpId="0"/>
      <p:bldP spid="118813" grpId="0"/>
      <p:bldP spid="118814" grpId="0"/>
      <p:bldP spid="118815" grpId="0"/>
      <p:bldP spid="118820" grpId="0"/>
      <p:bldP spid="118834" grpId="0"/>
      <p:bldP spid="118844" grpId="0"/>
      <p:bldP spid="118863" grpId="0"/>
      <p:bldP spid="118864" grpId="0"/>
      <p:bldP spid="118877" grpId="0"/>
      <p:bldP spid="118878" grpId="0"/>
      <p:bldP spid="118880" grpId="0" bldLvl="0" animBg="1"/>
      <p:bldP spid="118881" grpId="0" bldLvl="0" animBg="1"/>
      <p:bldP spid="118882" grpId="0" bldLvl="0" animBg="1"/>
      <p:bldP spid="118883" grpId="0" bldLvl="0" animBg="1"/>
      <p:bldP spid="118885" grpId="0"/>
      <p:bldP spid="118886" grpId="0"/>
      <p:bldP spid="118887" grpId="0"/>
      <p:bldP spid="118888" grpId="0"/>
      <p:bldP spid="11888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9682" name="Text Box 2"/>
          <p:cNvSpPr txBox="1"/>
          <p:nvPr/>
        </p:nvSpPr>
        <p:spPr>
          <a:xfrm>
            <a:off x="1965325" y="273050"/>
            <a:ext cx="64928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Booth </a:t>
            </a:r>
            <a:r>
              <a:rPr lang="zh-CN" altLang="en-US" sz="3600" b="1" dirty="0">
                <a:latin typeface="Times New Roman" panose="02020603050405020304" pitchFamily="18" charset="0"/>
              </a:rPr>
              <a:t>算法的硬件配置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199683" name="Group 3"/>
          <p:cNvGrpSpPr/>
          <p:nvPr/>
        </p:nvGrpSpPr>
        <p:grpSpPr>
          <a:xfrm>
            <a:off x="2727325" y="5486400"/>
            <a:ext cx="4449763" cy="1055688"/>
            <a:chOff x="758" y="3456"/>
            <a:chExt cx="2803" cy="665"/>
          </a:xfrm>
        </p:grpSpPr>
        <p:sp>
          <p:nvSpPr>
            <p:cNvPr id="199725" name="Text Box 4"/>
            <p:cNvSpPr txBox="1"/>
            <p:nvPr/>
          </p:nvSpPr>
          <p:spPr>
            <a:xfrm>
              <a:off x="758" y="3456"/>
              <a:ext cx="243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Q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均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+ 2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9726" name="Text Box 5"/>
            <p:cNvSpPr txBox="1"/>
            <p:nvPr/>
          </p:nvSpPr>
          <p:spPr>
            <a:xfrm>
              <a:off x="758" y="3792"/>
              <a:ext cx="280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移位和加受末两位乘数控制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9814" name="Rectangle 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9685" name="Group 7"/>
          <p:cNvGrpSpPr/>
          <p:nvPr/>
        </p:nvGrpSpPr>
        <p:grpSpPr>
          <a:xfrm>
            <a:off x="2438400" y="1219200"/>
            <a:ext cx="7086600" cy="3810000"/>
            <a:chOff x="576" y="768"/>
            <a:chExt cx="4464" cy="2400"/>
          </a:xfrm>
        </p:grpSpPr>
        <p:grpSp>
          <p:nvGrpSpPr>
            <p:cNvPr id="199688" name="Group 8"/>
            <p:cNvGrpSpPr/>
            <p:nvPr/>
          </p:nvGrpSpPr>
          <p:grpSpPr>
            <a:xfrm>
              <a:off x="576" y="768"/>
              <a:ext cx="4464" cy="2400"/>
              <a:chOff x="576" y="768"/>
              <a:chExt cx="4464" cy="2400"/>
            </a:xfrm>
          </p:grpSpPr>
          <p:grpSp>
            <p:nvGrpSpPr>
              <p:cNvPr id="199690" name="Group 9"/>
              <p:cNvGrpSpPr/>
              <p:nvPr/>
            </p:nvGrpSpPr>
            <p:grpSpPr>
              <a:xfrm>
                <a:off x="576" y="768"/>
                <a:ext cx="4464" cy="2400"/>
                <a:chOff x="576" y="768"/>
                <a:chExt cx="4464" cy="2400"/>
              </a:xfrm>
            </p:grpSpPr>
            <p:sp>
              <p:nvSpPr>
                <p:cNvPr id="199692" name="Text Box 10"/>
                <p:cNvSpPr txBox="1"/>
                <p:nvPr/>
              </p:nvSpPr>
              <p:spPr>
                <a:xfrm>
                  <a:off x="614" y="1161"/>
                  <a:ext cx="16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                A              </a:t>
                  </a:r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+1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693" name="Rectangle 11"/>
                <p:cNvSpPr/>
                <p:nvPr/>
              </p:nvSpPr>
              <p:spPr>
                <a:xfrm>
                  <a:off x="576" y="1104"/>
                  <a:ext cx="1728" cy="33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9694" name="Group 12"/>
                <p:cNvGrpSpPr/>
                <p:nvPr/>
              </p:nvGrpSpPr>
              <p:grpSpPr>
                <a:xfrm>
                  <a:off x="576" y="1680"/>
                  <a:ext cx="1728" cy="336"/>
                  <a:chOff x="576" y="2112"/>
                  <a:chExt cx="1728" cy="336"/>
                </a:xfrm>
              </p:grpSpPr>
              <p:sp>
                <p:nvSpPr>
                  <p:cNvPr id="199723" name="Rectangle 13"/>
                  <p:cNvSpPr/>
                  <p:nvPr/>
                </p:nvSpPr>
                <p:spPr>
                  <a:xfrm>
                    <a:off x="576" y="2112"/>
                    <a:ext cx="1728" cy="336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99724" name="Text Box 14"/>
                  <p:cNvSpPr txBox="1"/>
                  <p:nvPr/>
                </p:nvSpPr>
                <p:spPr>
                  <a:xfrm>
                    <a:off x="876" y="2160"/>
                    <a:ext cx="113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sz="2000" b="1" i="1" dirty="0">
                        <a:latin typeface="Times New Roman" panose="02020603050405020304" pitchFamily="18" charset="0"/>
                      </a:rPr>
                      <a:t>n</a:t>
                    </a: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 + 2 </a:t>
                    </a: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位加法器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99695" name="Group 15"/>
                <p:cNvGrpSpPr/>
                <p:nvPr/>
              </p:nvGrpSpPr>
              <p:grpSpPr>
                <a:xfrm>
                  <a:off x="576" y="2256"/>
                  <a:ext cx="1728" cy="336"/>
                  <a:chOff x="576" y="2688"/>
                  <a:chExt cx="1728" cy="336"/>
                </a:xfrm>
              </p:grpSpPr>
              <p:sp>
                <p:nvSpPr>
                  <p:cNvPr id="199721" name="Rectangle 16"/>
                  <p:cNvSpPr/>
                  <p:nvPr/>
                </p:nvSpPr>
                <p:spPr>
                  <a:xfrm>
                    <a:off x="576" y="2688"/>
                    <a:ext cx="1728" cy="336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99722" name="Text Box 17"/>
                  <p:cNvSpPr txBox="1"/>
                  <p:nvPr/>
                </p:nvSpPr>
                <p:spPr>
                  <a:xfrm>
                    <a:off x="1046" y="2745"/>
                    <a:ext cx="6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控 制 门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9696" name="Rectangle 18"/>
                <p:cNvSpPr/>
                <p:nvPr/>
              </p:nvSpPr>
              <p:spPr>
                <a:xfrm>
                  <a:off x="576" y="2832"/>
                  <a:ext cx="1728" cy="33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697" name="Text Box 19"/>
                <p:cNvSpPr txBox="1"/>
                <p:nvPr/>
              </p:nvSpPr>
              <p:spPr>
                <a:xfrm>
                  <a:off x="624" y="2880"/>
                  <a:ext cx="171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                X              </a:t>
                  </a:r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+1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698" name="Text Box 20"/>
                <p:cNvSpPr txBox="1"/>
                <p:nvPr/>
              </p:nvSpPr>
              <p:spPr>
                <a:xfrm>
                  <a:off x="3014" y="1161"/>
                  <a:ext cx="1731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                Q         </a:t>
                  </a:r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</a:t>
                  </a:r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+1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699" name="Rectangle 21"/>
                <p:cNvSpPr/>
                <p:nvPr/>
              </p:nvSpPr>
              <p:spPr>
                <a:xfrm>
                  <a:off x="2976" y="1104"/>
                  <a:ext cx="1728" cy="33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700" name="Line 22"/>
                <p:cNvSpPr/>
                <p:nvPr/>
              </p:nvSpPr>
              <p:spPr>
                <a:xfrm>
                  <a:off x="4416" y="1104"/>
                  <a:ext cx="0" cy="33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9701" name="Line 23"/>
                <p:cNvSpPr/>
                <p:nvPr/>
              </p:nvSpPr>
              <p:spPr>
                <a:xfrm>
                  <a:off x="4128" y="1104"/>
                  <a:ext cx="0" cy="33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9702" name="Rectangle 24"/>
                <p:cNvSpPr/>
                <p:nvPr/>
              </p:nvSpPr>
              <p:spPr>
                <a:xfrm>
                  <a:off x="3120" y="2192"/>
                  <a:ext cx="755" cy="445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移位和加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控制逻辑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703" name="Rectangle 25"/>
                <p:cNvSpPr/>
                <p:nvPr/>
              </p:nvSpPr>
              <p:spPr>
                <a:xfrm>
                  <a:off x="2870" y="2912"/>
                  <a:ext cx="751" cy="251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计数器 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C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704" name="Rectangle 26"/>
                <p:cNvSpPr/>
                <p:nvPr/>
              </p:nvSpPr>
              <p:spPr>
                <a:xfrm>
                  <a:off x="4166" y="2912"/>
                  <a:ext cx="338" cy="251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G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M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705" name="Line 27"/>
                <p:cNvSpPr/>
                <p:nvPr/>
              </p:nvSpPr>
              <p:spPr>
                <a:xfrm flipH="1">
                  <a:off x="2304" y="2304"/>
                  <a:ext cx="81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199706" name="Line 28"/>
                <p:cNvSpPr/>
                <p:nvPr/>
              </p:nvSpPr>
              <p:spPr>
                <a:xfrm flipH="1">
                  <a:off x="2304" y="2544"/>
                  <a:ext cx="81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199707" name="Line 29"/>
                <p:cNvSpPr/>
                <p:nvPr/>
              </p:nvSpPr>
              <p:spPr>
                <a:xfrm flipH="1">
                  <a:off x="2304" y="2424"/>
                  <a:ext cx="81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199708" name="Text Box 30"/>
                <p:cNvSpPr txBox="1"/>
                <p:nvPr/>
              </p:nvSpPr>
              <p:spPr>
                <a:xfrm>
                  <a:off x="2582" y="2112"/>
                  <a:ext cx="39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00,11</a:t>
                  </a:r>
                  <a:endParaRPr lang="en-US" altLang="zh-CN" sz="1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709" name="Text Box 31"/>
                <p:cNvSpPr txBox="1"/>
                <p:nvPr/>
              </p:nvSpPr>
              <p:spPr>
                <a:xfrm>
                  <a:off x="2678" y="2247"/>
                  <a:ext cx="24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01</a:t>
                  </a:r>
                  <a:endParaRPr lang="en-US" altLang="zh-CN" sz="1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710" name="Text Box 32"/>
                <p:cNvSpPr txBox="1"/>
                <p:nvPr/>
              </p:nvSpPr>
              <p:spPr>
                <a:xfrm>
                  <a:off x="2678" y="2380"/>
                  <a:ext cx="24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10</a:t>
                  </a:r>
                  <a:endParaRPr lang="en-US" altLang="zh-CN" sz="1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9711" name="AutoShape 33"/>
                <p:cNvSpPr/>
                <p:nvPr/>
              </p:nvSpPr>
              <p:spPr>
                <a:xfrm>
                  <a:off x="1344" y="1440"/>
                  <a:ext cx="96" cy="240"/>
                </a:xfrm>
                <a:prstGeom prst="upArrow">
                  <a:avLst>
                    <a:gd name="adj1" fmla="val 50000"/>
                    <a:gd name="adj2" fmla="val 62500"/>
                  </a:avLst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712" name="AutoShape 34"/>
                <p:cNvSpPr/>
                <p:nvPr/>
              </p:nvSpPr>
              <p:spPr>
                <a:xfrm rot="10800000">
                  <a:off x="864" y="1440"/>
                  <a:ext cx="96" cy="240"/>
                </a:xfrm>
                <a:prstGeom prst="upArrow">
                  <a:avLst>
                    <a:gd name="adj1" fmla="val 50000"/>
                    <a:gd name="adj2" fmla="val 62500"/>
                  </a:avLst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713" name="AutoShape 35"/>
                <p:cNvSpPr/>
                <p:nvPr/>
              </p:nvSpPr>
              <p:spPr>
                <a:xfrm>
                  <a:off x="1344" y="2016"/>
                  <a:ext cx="96" cy="240"/>
                </a:xfrm>
                <a:prstGeom prst="upArrow">
                  <a:avLst>
                    <a:gd name="adj1" fmla="val 50000"/>
                    <a:gd name="adj2" fmla="val 62500"/>
                  </a:avLst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714" name="AutoShape 36"/>
                <p:cNvSpPr/>
                <p:nvPr/>
              </p:nvSpPr>
              <p:spPr>
                <a:xfrm>
                  <a:off x="1344" y="2592"/>
                  <a:ext cx="96" cy="240"/>
                </a:xfrm>
                <a:prstGeom prst="upArrow">
                  <a:avLst>
                    <a:gd name="adj1" fmla="val 50000"/>
                    <a:gd name="adj2" fmla="val 62500"/>
                  </a:avLst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715" name="Freeform 37"/>
                <p:cNvSpPr/>
                <p:nvPr/>
              </p:nvSpPr>
              <p:spPr>
                <a:xfrm>
                  <a:off x="1776" y="1440"/>
                  <a:ext cx="1824" cy="750"/>
                </a:xfrm>
                <a:custGeom>
                  <a:avLst/>
                  <a:gdLst>
                    <a:gd name="txL" fmla="*/ 0 w 1824"/>
                    <a:gd name="txT" fmla="*/ 0 h 750"/>
                    <a:gd name="txR" fmla="*/ 1824 w 1824"/>
                    <a:gd name="txB" fmla="*/ 750 h 750"/>
                  </a:gdLst>
                  <a:ahLst/>
                  <a:cxnLst>
                    <a:cxn ang="0">
                      <a:pos x="1824" y="750"/>
                    </a:cxn>
                    <a:cxn ang="0">
                      <a:pos x="1824" y="144"/>
                    </a:cxn>
                    <a:cxn ang="0">
                      <a:pos x="0" y="144"/>
                    </a:cxn>
                    <a:cxn ang="0">
                      <a:pos x="240" y="0"/>
                    </a:cxn>
                  </a:cxnLst>
                  <a:rect l="txL" t="txT" r="txR" b="txB"/>
                  <a:pathLst>
                    <a:path w="1824" h="750">
                      <a:moveTo>
                        <a:pt x="1824" y="750"/>
                      </a:moveTo>
                      <a:lnTo>
                        <a:pt x="1824" y="144"/>
                      </a:lnTo>
                      <a:lnTo>
                        <a:pt x="0" y="144"/>
                      </a:lnTo>
                      <a:lnTo>
                        <a:pt x="240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716" name="Line 38"/>
                <p:cNvSpPr/>
                <p:nvPr/>
              </p:nvSpPr>
              <p:spPr>
                <a:xfrm flipV="1">
                  <a:off x="3072" y="1440"/>
                  <a:ext cx="240" cy="14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199717" name="Line 39"/>
                <p:cNvSpPr/>
                <p:nvPr/>
              </p:nvSpPr>
              <p:spPr>
                <a:xfrm>
                  <a:off x="2304" y="1248"/>
                  <a:ext cx="67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199718" name="Freeform 40"/>
                <p:cNvSpPr/>
                <p:nvPr/>
              </p:nvSpPr>
              <p:spPr>
                <a:xfrm>
                  <a:off x="3888" y="960"/>
                  <a:ext cx="960" cy="1392"/>
                </a:xfrm>
                <a:custGeom>
                  <a:avLst/>
                  <a:gdLst>
                    <a:gd name="txL" fmla="*/ 0 w 960"/>
                    <a:gd name="txT" fmla="*/ 0 h 1392"/>
                    <a:gd name="txR" fmla="*/ 960 w 960"/>
                    <a:gd name="txB" fmla="*/ 1392 h 1392"/>
                  </a:gdLst>
                  <a:ahLst/>
                  <a:cxnLst>
                    <a:cxn ang="0">
                      <a:pos x="672" y="144"/>
                    </a:cxn>
                    <a:cxn ang="0">
                      <a:pos x="672" y="0"/>
                    </a:cxn>
                    <a:cxn ang="0">
                      <a:pos x="960" y="0"/>
                    </a:cxn>
                    <a:cxn ang="0">
                      <a:pos x="960" y="1392"/>
                    </a:cxn>
                    <a:cxn ang="0">
                      <a:pos x="0" y="1392"/>
                    </a:cxn>
                  </a:cxnLst>
                  <a:rect l="txL" t="txT" r="txR" b="txB"/>
                  <a:pathLst>
                    <a:path w="960" h="1392">
                      <a:moveTo>
                        <a:pt x="672" y="144"/>
                      </a:moveTo>
                      <a:lnTo>
                        <a:pt x="672" y="0"/>
                      </a:lnTo>
                      <a:lnTo>
                        <a:pt x="960" y="0"/>
                      </a:lnTo>
                      <a:lnTo>
                        <a:pt x="960" y="1392"/>
                      </a:lnTo>
                      <a:lnTo>
                        <a:pt x="0" y="1392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stealth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719" name="Freeform 41"/>
                <p:cNvSpPr/>
                <p:nvPr/>
              </p:nvSpPr>
              <p:spPr>
                <a:xfrm>
                  <a:off x="3888" y="768"/>
                  <a:ext cx="1152" cy="1776"/>
                </a:xfrm>
                <a:custGeom>
                  <a:avLst/>
                  <a:gdLst>
                    <a:gd name="txL" fmla="*/ 0 w 1152"/>
                    <a:gd name="txT" fmla="*/ 0 h 1776"/>
                    <a:gd name="txR" fmla="*/ 1152 w 1152"/>
                    <a:gd name="txB" fmla="*/ 1776 h 1776"/>
                  </a:gdLst>
                  <a:ahLst/>
                  <a:cxnLst>
                    <a:cxn ang="0">
                      <a:pos x="384" y="336"/>
                    </a:cxn>
                    <a:cxn ang="0">
                      <a:pos x="384" y="0"/>
                    </a:cxn>
                    <a:cxn ang="0">
                      <a:pos x="1152" y="0"/>
                    </a:cxn>
                    <a:cxn ang="0">
                      <a:pos x="1152" y="1776"/>
                    </a:cxn>
                    <a:cxn ang="0">
                      <a:pos x="0" y="1776"/>
                    </a:cxn>
                  </a:cxnLst>
                  <a:rect l="txL" t="txT" r="txR" b="txB"/>
                  <a:pathLst>
                    <a:path w="1152" h="1776">
                      <a:moveTo>
                        <a:pt x="384" y="336"/>
                      </a:moveTo>
                      <a:lnTo>
                        <a:pt x="384" y="0"/>
                      </a:lnTo>
                      <a:lnTo>
                        <a:pt x="1152" y="0"/>
                      </a:lnTo>
                      <a:lnTo>
                        <a:pt x="1152" y="1776"/>
                      </a:lnTo>
                      <a:lnTo>
                        <a:pt x="0" y="17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stealth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720" name="Text Box 42"/>
                <p:cNvSpPr txBox="1"/>
                <p:nvPr/>
              </p:nvSpPr>
              <p:spPr>
                <a:xfrm>
                  <a:off x="3612" y="1488"/>
                  <a:ext cx="624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右移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9691" name="Line 43"/>
              <p:cNvSpPr/>
              <p:nvPr/>
            </p:nvSpPr>
            <p:spPr>
              <a:xfrm>
                <a:off x="2312" y="1842"/>
                <a:ext cx="104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stealth" w="med" len="med"/>
                <a:tailEnd type="none" w="med" len="med"/>
              </a:ln>
            </p:spPr>
          </p:sp>
        </p:grpSp>
        <p:sp>
          <p:nvSpPr>
            <p:cNvPr id="199689" name="Line 44"/>
            <p:cNvSpPr/>
            <p:nvPr/>
          </p:nvSpPr>
          <p:spPr>
            <a:xfrm>
              <a:off x="3360" y="1830"/>
              <a:ext cx="0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99686" name="AutoShape 4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968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6" name="Text Box 2"/>
          <p:cNvSpPr txBox="1"/>
          <p:nvPr/>
        </p:nvSpPr>
        <p:spPr>
          <a:xfrm>
            <a:off x="2041525" y="396875"/>
            <a:ext cx="27590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乘法小结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00707" name="Text Box 3"/>
          <p:cNvSpPr txBox="1"/>
          <p:nvPr/>
        </p:nvSpPr>
        <p:spPr>
          <a:xfrm>
            <a:off x="2270125" y="2560638"/>
            <a:ext cx="5349875" cy="1210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原码乘   符号位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单独处理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补码乘   符号位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自然形成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0708" name="Text Box 4"/>
          <p:cNvSpPr txBox="1"/>
          <p:nvPr/>
        </p:nvSpPr>
        <p:spPr>
          <a:xfrm>
            <a:off x="2270125" y="4067175"/>
            <a:ext cx="8093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原码乘去掉符号位运算    即为无符号数乘法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0709" name="Text Box 5"/>
          <p:cNvSpPr txBox="1"/>
          <p:nvPr/>
        </p:nvSpPr>
        <p:spPr>
          <a:xfrm>
            <a:off x="2270125" y="4891088"/>
            <a:ext cx="62439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不同的乘法运算需有不同的硬件支持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0710" name="Text Box 6"/>
          <p:cNvSpPr txBox="1"/>
          <p:nvPr/>
        </p:nvSpPr>
        <p:spPr>
          <a:xfrm>
            <a:off x="2270125" y="1182688"/>
            <a:ext cx="5177155" cy="108204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整数乘法与小数乘法完全相同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Clr>
                <a:schemeClr val="folHlink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可用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逗号 </a:t>
            </a:r>
            <a:r>
              <a:rPr lang="zh-CN" altLang="en-US" sz="2800" b="1" dirty="0">
                <a:latin typeface="Times New Roman" panose="02020603050405020304" pitchFamily="18" charset="0"/>
              </a:rPr>
              <a:t>代替小数点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0839" name="Rectangle 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0712" name="AutoShape 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071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Text Box 2"/>
          <p:cNvSpPr txBox="1"/>
          <p:nvPr/>
        </p:nvSpPr>
        <p:spPr>
          <a:xfrm>
            <a:off x="1828800" y="152400"/>
            <a:ext cx="3429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四、除法运算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01731" name="Text Box 3"/>
          <p:cNvSpPr txBox="1"/>
          <p:nvPr/>
        </p:nvSpPr>
        <p:spPr>
          <a:xfrm>
            <a:off x="2378075" y="838200"/>
            <a:ext cx="3368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分析笔算除法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1732" name="Text Box 4"/>
          <p:cNvSpPr txBox="1"/>
          <p:nvPr/>
        </p:nvSpPr>
        <p:spPr>
          <a:xfrm>
            <a:off x="2774950" y="1281113"/>
            <a:ext cx="5867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0.1011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0.1101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÷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121861" name="Text Box 5"/>
          <p:cNvSpPr txBox="1"/>
          <p:nvPr/>
        </p:nvSpPr>
        <p:spPr>
          <a:xfrm>
            <a:off x="4114800" y="2362200"/>
            <a:ext cx="1752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62" name="Arc 6"/>
          <p:cNvSpPr/>
          <p:nvPr/>
        </p:nvSpPr>
        <p:spPr>
          <a:xfrm>
            <a:off x="2362200" y="2362200"/>
            <a:ext cx="1402080" cy="46037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3590926" y="2262187"/>
            <a:ext cx="2828924" cy="487363"/>
            <a:chOff x="1302" y="1326"/>
            <a:chExt cx="1782" cy="307"/>
          </a:xfrm>
        </p:grpSpPr>
        <p:sp>
          <p:nvSpPr>
            <p:cNvPr id="201769" name="Freeform 8"/>
            <p:cNvSpPr/>
            <p:nvPr/>
          </p:nvSpPr>
          <p:spPr>
            <a:xfrm>
              <a:off x="1460" y="1434"/>
              <a:ext cx="1624" cy="3"/>
            </a:xfrm>
            <a:custGeom>
              <a:avLst/>
              <a:gdLst>
                <a:gd name="txL" fmla="*/ 0 w 1624"/>
                <a:gd name="txT" fmla="*/ 0 h 3"/>
                <a:gd name="txR" fmla="*/ 1624 w 1624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1624" y="0"/>
                </a:cxn>
              </a:cxnLst>
              <a:rect l="txL" t="txT" r="txR" b="txB"/>
              <a:pathLst>
                <a:path w="1624" h="3">
                  <a:moveTo>
                    <a:pt x="0" y="3"/>
                  </a:moveTo>
                  <a:lnTo>
                    <a:pt x="162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1770" name="Text Box 9"/>
            <p:cNvSpPr txBox="1"/>
            <p:nvPr/>
          </p:nvSpPr>
          <p:spPr>
            <a:xfrm rot="5400000">
              <a:off x="1293" y="1334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⌒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1866" name="Text Box 10"/>
          <p:cNvSpPr txBox="1"/>
          <p:nvPr/>
        </p:nvSpPr>
        <p:spPr>
          <a:xfrm>
            <a:off x="4114800" y="2735263"/>
            <a:ext cx="1630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67" name="Text Box 11"/>
          <p:cNvSpPr txBox="1"/>
          <p:nvPr/>
        </p:nvSpPr>
        <p:spPr>
          <a:xfrm>
            <a:off x="4114800" y="3022600"/>
            <a:ext cx="1630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0 . 0 1 0 0 1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68" name="Text Box 12"/>
          <p:cNvSpPr txBox="1"/>
          <p:nvPr/>
        </p:nvSpPr>
        <p:spPr>
          <a:xfrm>
            <a:off x="4114800" y="3395663"/>
            <a:ext cx="1859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0 . 0 0 1 1 0 1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69" name="Text Box 13"/>
          <p:cNvSpPr txBox="1"/>
          <p:nvPr/>
        </p:nvSpPr>
        <p:spPr>
          <a:xfrm>
            <a:off x="4114800" y="3683000"/>
            <a:ext cx="1859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0 . 0 0 0 1 0 1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70" name="Text Box 14"/>
          <p:cNvSpPr txBox="1"/>
          <p:nvPr/>
        </p:nvSpPr>
        <p:spPr>
          <a:xfrm>
            <a:off x="4114800" y="4056063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0 . 0 0 0 0 1 1 0 1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71" name="Text Box 15"/>
          <p:cNvSpPr txBox="1"/>
          <p:nvPr/>
        </p:nvSpPr>
        <p:spPr>
          <a:xfrm>
            <a:off x="4114800" y="4343400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0 . 0 0 0 0 0 1 1 1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72" name="Line 16"/>
          <p:cNvSpPr/>
          <p:nvPr/>
        </p:nvSpPr>
        <p:spPr>
          <a:xfrm>
            <a:off x="3994150" y="3108325"/>
            <a:ext cx="2438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1873" name="Line 17"/>
          <p:cNvSpPr/>
          <p:nvPr/>
        </p:nvSpPr>
        <p:spPr>
          <a:xfrm>
            <a:off x="3994150" y="3768725"/>
            <a:ext cx="2438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1874" name="Line 18"/>
          <p:cNvSpPr/>
          <p:nvPr/>
        </p:nvSpPr>
        <p:spPr>
          <a:xfrm>
            <a:off x="3994150" y="4429125"/>
            <a:ext cx="2438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1875" name="Text Box 19"/>
          <p:cNvSpPr txBox="1"/>
          <p:nvPr/>
        </p:nvSpPr>
        <p:spPr>
          <a:xfrm>
            <a:off x="5029200" y="1981200"/>
            <a:ext cx="4889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76" name="Text Box 20"/>
          <p:cNvSpPr txBox="1"/>
          <p:nvPr/>
        </p:nvSpPr>
        <p:spPr>
          <a:xfrm>
            <a:off x="7045325" y="2108200"/>
            <a:ext cx="2860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lr>
                <a:schemeClr val="folHlink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</a:rPr>
              <a:t>商符单独处理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21877" name="Text Box 21"/>
          <p:cNvSpPr txBox="1"/>
          <p:nvPr/>
        </p:nvSpPr>
        <p:spPr>
          <a:xfrm>
            <a:off x="7045325" y="2706688"/>
            <a:ext cx="3241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心算上商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21878" name="Text Box 22"/>
          <p:cNvSpPr txBox="1"/>
          <p:nvPr/>
        </p:nvSpPr>
        <p:spPr>
          <a:xfrm>
            <a:off x="7045325" y="3306763"/>
            <a:ext cx="4156075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余数不动低位补“</a:t>
            </a:r>
            <a:r>
              <a:rPr lang="en-US" altLang="zh-CN" sz="2400" b="1" dirty="0">
                <a:latin typeface="Times New Roman" panose="02020603050405020304" pitchFamily="18" charset="0"/>
              </a:rPr>
              <a:t>0”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减右移一位的除数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21879" name="Text Box 23"/>
          <p:cNvSpPr txBox="1"/>
          <p:nvPr/>
        </p:nvSpPr>
        <p:spPr>
          <a:xfrm>
            <a:off x="7045325" y="4271963"/>
            <a:ext cx="4003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上商位置不固定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24"/>
          <p:cNvGrpSpPr/>
          <p:nvPr/>
        </p:nvGrpSpPr>
        <p:grpSpPr>
          <a:xfrm>
            <a:off x="2667000" y="5105400"/>
            <a:ext cx="3471863" cy="979488"/>
            <a:chOff x="720" y="2976"/>
            <a:chExt cx="2187" cy="617"/>
          </a:xfrm>
        </p:grpSpPr>
        <p:sp>
          <p:nvSpPr>
            <p:cNvPr id="201767" name="Text Box 25"/>
            <p:cNvSpPr txBox="1"/>
            <p:nvPr/>
          </p:nvSpPr>
          <p:spPr>
            <a:xfrm>
              <a:off x="720" y="2976"/>
              <a:ext cx="174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÷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–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0. 1 1 0 1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1768" name="Text Box 26"/>
            <p:cNvSpPr txBox="1"/>
            <p:nvPr/>
          </p:nvSpPr>
          <p:spPr>
            <a:xfrm>
              <a:off x="720" y="3264"/>
              <a:ext cx="21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余数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0. 0 0 0 0 0 1 1 1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1883" name="Text Box 27"/>
          <p:cNvSpPr txBox="1"/>
          <p:nvPr/>
        </p:nvSpPr>
        <p:spPr>
          <a:xfrm>
            <a:off x="5943600" y="5105400"/>
            <a:ext cx="3276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商符心算求得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84" name="Text Box 28"/>
          <p:cNvSpPr txBox="1"/>
          <p:nvPr/>
        </p:nvSpPr>
        <p:spPr>
          <a:xfrm>
            <a:off x="5410200" y="2366963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85" name="Text Box 29"/>
          <p:cNvSpPr txBox="1"/>
          <p:nvPr/>
        </p:nvSpPr>
        <p:spPr>
          <a:xfrm>
            <a:off x="4114800" y="1981200"/>
            <a:ext cx="990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0 .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86" name="Text Box 30"/>
          <p:cNvSpPr txBox="1"/>
          <p:nvPr/>
        </p:nvSpPr>
        <p:spPr>
          <a:xfrm>
            <a:off x="4495800" y="1981200"/>
            <a:ext cx="533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87" name="Text Box 31"/>
          <p:cNvSpPr txBox="1"/>
          <p:nvPr/>
        </p:nvSpPr>
        <p:spPr>
          <a:xfrm>
            <a:off x="5638800" y="3022600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88" name="Text Box 32"/>
          <p:cNvSpPr txBox="1"/>
          <p:nvPr/>
        </p:nvSpPr>
        <p:spPr>
          <a:xfrm>
            <a:off x="4724400" y="1981200"/>
            <a:ext cx="533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89" name="Text Box 33"/>
          <p:cNvSpPr txBox="1"/>
          <p:nvPr/>
        </p:nvSpPr>
        <p:spPr>
          <a:xfrm>
            <a:off x="5867400" y="3687763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90" name="Text Box 34"/>
          <p:cNvSpPr txBox="1"/>
          <p:nvPr/>
        </p:nvSpPr>
        <p:spPr>
          <a:xfrm>
            <a:off x="4953000" y="1981200"/>
            <a:ext cx="533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91" name="Text Box 35"/>
          <p:cNvSpPr txBox="1"/>
          <p:nvPr/>
        </p:nvSpPr>
        <p:spPr>
          <a:xfrm>
            <a:off x="6096000" y="3687763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92" name="Text Box 36"/>
          <p:cNvSpPr txBox="1"/>
          <p:nvPr/>
        </p:nvSpPr>
        <p:spPr>
          <a:xfrm>
            <a:off x="6781800" y="2071688"/>
            <a:ext cx="551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  <a:buChar char="ü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93" name="Text Box 37"/>
          <p:cNvSpPr txBox="1"/>
          <p:nvPr/>
        </p:nvSpPr>
        <p:spPr>
          <a:xfrm>
            <a:off x="6781800" y="2671763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94" name="Text Box 38"/>
          <p:cNvSpPr txBox="1"/>
          <p:nvPr/>
        </p:nvSpPr>
        <p:spPr>
          <a:xfrm>
            <a:off x="6781800" y="3281363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95" name="Text Box 39"/>
          <p:cNvSpPr txBox="1"/>
          <p:nvPr/>
        </p:nvSpPr>
        <p:spPr>
          <a:xfrm>
            <a:off x="6781800" y="4271963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96" name="Rectangle 4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1765" name="AutoShape 4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1766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2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2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12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2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2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500"/>
                                        <p:tgtEl>
                                          <p:spTgt spid="12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2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2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2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1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1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1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1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/>
      <p:bldP spid="121862" grpId="0"/>
      <p:bldP spid="121866" grpId="0"/>
      <p:bldP spid="121867" grpId="0"/>
      <p:bldP spid="121868" grpId="0"/>
      <p:bldP spid="121869" grpId="0"/>
      <p:bldP spid="121870" grpId="0"/>
      <p:bldP spid="121871" grpId="0"/>
      <p:bldP spid="121875" grpId="0"/>
      <p:bldP spid="121876" grpId="0"/>
      <p:bldP spid="121877" grpId="0"/>
      <p:bldP spid="121878" grpId="0"/>
      <p:bldP spid="121879" grpId="0"/>
      <p:bldP spid="121883" grpId="0"/>
      <p:bldP spid="121884" grpId="0"/>
      <p:bldP spid="121885" grpId="0"/>
      <p:bldP spid="121886" grpId="0"/>
      <p:bldP spid="121887" grpId="0"/>
      <p:bldP spid="121888" grpId="0"/>
      <p:bldP spid="121889" grpId="0"/>
      <p:bldP spid="121890" grpId="0"/>
      <p:bldP spid="121891" grpId="0"/>
      <p:bldP spid="121892" grpId="0"/>
      <p:bldP spid="121893" grpId="0"/>
      <p:bldP spid="121894" grpId="0"/>
      <p:bldP spid="12189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4" name="Text Box 2"/>
          <p:cNvSpPr txBox="1"/>
          <p:nvPr/>
        </p:nvSpPr>
        <p:spPr>
          <a:xfrm>
            <a:off x="1828800" y="228600"/>
            <a:ext cx="6126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笔算除法和机器除法的比较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02755" name="Group 3"/>
          <p:cNvGrpSpPr/>
          <p:nvPr/>
        </p:nvGrpSpPr>
        <p:grpSpPr>
          <a:xfrm>
            <a:off x="2819400" y="1295400"/>
            <a:ext cx="5262563" cy="544513"/>
            <a:chOff x="816" y="816"/>
            <a:chExt cx="3315" cy="343"/>
          </a:xfrm>
        </p:grpSpPr>
        <p:sp>
          <p:nvSpPr>
            <p:cNvPr id="202774" name="Text Box 4"/>
            <p:cNvSpPr txBox="1"/>
            <p:nvPr/>
          </p:nvSpPr>
          <p:spPr>
            <a:xfrm>
              <a:off x="816" y="816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笔算除法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2775" name="Text Box 5"/>
            <p:cNvSpPr txBox="1"/>
            <p:nvPr/>
          </p:nvSpPr>
          <p:spPr>
            <a:xfrm>
              <a:off x="2784" y="830"/>
              <a:ext cx="13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机器除法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2756" name="Text Box 6"/>
          <p:cNvSpPr txBox="1"/>
          <p:nvPr/>
        </p:nvSpPr>
        <p:spPr>
          <a:xfrm>
            <a:off x="2574925" y="1995488"/>
            <a:ext cx="2316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商符单独处理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2757" name="Text Box 7"/>
          <p:cNvSpPr txBox="1"/>
          <p:nvPr/>
        </p:nvSpPr>
        <p:spPr>
          <a:xfrm>
            <a:off x="2574925" y="257968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心算上商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2758" name="Text Box 8"/>
          <p:cNvSpPr txBox="1"/>
          <p:nvPr/>
        </p:nvSpPr>
        <p:spPr>
          <a:xfrm>
            <a:off x="6354763" y="1995488"/>
            <a:ext cx="31162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符号位异或形成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2759" name="Text Box 9"/>
          <p:cNvSpPr txBox="1"/>
          <p:nvPr/>
        </p:nvSpPr>
        <p:spPr>
          <a:xfrm>
            <a:off x="6354763" y="2579688"/>
            <a:ext cx="33204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| –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zh-CN" altLang="en-US" sz="2800" b="1" dirty="0">
                <a:latin typeface="Times New Roman" panose="02020603050405020304" pitchFamily="18" charset="0"/>
              </a:rPr>
              <a:t>＞ </a:t>
            </a:r>
            <a:r>
              <a:rPr lang="en-US" altLang="zh-CN" sz="2800" b="1" dirty="0">
                <a:latin typeface="Times New Roman" panose="02020603050405020304" pitchFamily="18" charset="0"/>
              </a:rPr>
              <a:t>0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上商 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02760" name="Text Box 10"/>
          <p:cNvSpPr txBox="1"/>
          <p:nvPr/>
        </p:nvSpPr>
        <p:spPr>
          <a:xfrm>
            <a:off x="6354763" y="3163888"/>
            <a:ext cx="33204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| –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zh-CN" altLang="en-US" sz="2800" b="1" dirty="0">
                <a:latin typeface="Times New Roman" panose="02020603050405020304" pitchFamily="18" charset="0"/>
              </a:rPr>
              <a:t>＜ </a:t>
            </a:r>
            <a:r>
              <a:rPr lang="en-US" altLang="zh-CN" sz="2800" b="1" dirty="0">
                <a:latin typeface="Times New Roman" panose="02020603050405020304" pitchFamily="18" charset="0"/>
              </a:rPr>
              <a:t>0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上商 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02761" name="Group 11"/>
          <p:cNvGrpSpPr/>
          <p:nvPr/>
        </p:nvGrpSpPr>
        <p:grpSpPr>
          <a:xfrm>
            <a:off x="2574925" y="3748088"/>
            <a:ext cx="3560763" cy="1001712"/>
            <a:chOff x="662" y="2361"/>
            <a:chExt cx="2243" cy="631"/>
          </a:xfrm>
        </p:grpSpPr>
        <p:sp>
          <p:nvSpPr>
            <p:cNvPr id="202772" name="Text Box 12"/>
            <p:cNvSpPr txBox="1"/>
            <p:nvPr/>
          </p:nvSpPr>
          <p:spPr>
            <a:xfrm>
              <a:off x="662" y="2361"/>
              <a:ext cx="224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余数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不动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低位补“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0”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2773" name="Text Box 13"/>
            <p:cNvSpPr txBox="1"/>
            <p:nvPr/>
          </p:nvSpPr>
          <p:spPr>
            <a:xfrm>
              <a:off x="662" y="2663"/>
              <a:ext cx="19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减右移一位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的除数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2762" name="Text Box 14"/>
          <p:cNvSpPr txBox="1"/>
          <p:nvPr/>
        </p:nvSpPr>
        <p:spPr>
          <a:xfrm>
            <a:off x="2574925" y="4916488"/>
            <a:ext cx="2583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倍字长加法器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2763" name="Text Box 15"/>
          <p:cNvSpPr txBox="1"/>
          <p:nvPr/>
        </p:nvSpPr>
        <p:spPr>
          <a:xfrm>
            <a:off x="2574925" y="5522913"/>
            <a:ext cx="2760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上商位置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不固定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02764" name="Group 16"/>
          <p:cNvGrpSpPr/>
          <p:nvPr/>
        </p:nvGrpSpPr>
        <p:grpSpPr>
          <a:xfrm>
            <a:off x="6354763" y="3770313"/>
            <a:ext cx="4271963" cy="965200"/>
            <a:chOff x="2741" y="2375"/>
            <a:chExt cx="2691" cy="608"/>
          </a:xfrm>
        </p:grpSpPr>
        <p:sp>
          <p:nvSpPr>
            <p:cNvPr id="202770" name="Text Box 17"/>
            <p:cNvSpPr txBox="1"/>
            <p:nvPr/>
          </p:nvSpPr>
          <p:spPr>
            <a:xfrm>
              <a:off x="2741" y="2375"/>
              <a:ext cx="269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余数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左移一位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低位补“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0”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2771" name="Text Box 18"/>
            <p:cNvSpPr txBox="1"/>
            <p:nvPr/>
          </p:nvSpPr>
          <p:spPr>
            <a:xfrm>
              <a:off x="2741" y="2654"/>
              <a:ext cx="84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减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除数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2765" name="Text Box 19"/>
          <p:cNvSpPr txBox="1"/>
          <p:nvPr/>
        </p:nvSpPr>
        <p:spPr>
          <a:xfrm>
            <a:off x="6354763" y="4916488"/>
            <a:ext cx="31162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倍字长加法器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2766" name="Text Box 20"/>
          <p:cNvSpPr txBox="1"/>
          <p:nvPr/>
        </p:nvSpPr>
        <p:spPr>
          <a:xfrm>
            <a:off x="6354763" y="5500688"/>
            <a:ext cx="38020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在寄存器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最末位上商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01" name="Rectangle 2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2768" name="AutoShape 2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276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778" name="Text Box 2"/>
          <p:cNvSpPr txBox="1"/>
          <p:nvPr/>
        </p:nvSpPr>
        <p:spPr>
          <a:xfrm>
            <a:off x="2057400" y="273050"/>
            <a:ext cx="38941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原码除法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03779" name="Text Box 3"/>
          <p:cNvSpPr txBox="1"/>
          <p:nvPr/>
        </p:nvSpPr>
        <p:spPr>
          <a:xfrm>
            <a:off x="2525713" y="990600"/>
            <a:ext cx="37988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以小数为例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03780" name="Group 4"/>
          <p:cNvGrpSpPr/>
          <p:nvPr/>
        </p:nvGrpSpPr>
        <p:grpSpPr>
          <a:xfrm>
            <a:off x="2857500" y="1590675"/>
            <a:ext cx="3360738" cy="522288"/>
            <a:chOff x="998" y="1002"/>
            <a:chExt cx="2117" cy="329"/>
          </a:xfrm>
        </p:grpSpPr>
        <p:sp>
          <p:nvSpPr>
            <p:cNvPr id="203818" name="Text Box 5"/>
            <p:cNvSpPr txBox="1"/>
            <p:nvPr/>
          </p:nvSpPr>
          <p:spPr>
            <a:xfrm>
              <a:off x="998" y="1002"/>
              <a:ext cx="211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03819" name="Text Box 6"/>
            <p:cNvSpPr txBox="1"/>
            <p:nvPr/>
          </p:nvSpPr>
          <p:spPr>
            <a:xfrm>
              <a:off x="2448" y="1002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3781" name="Group 7"/>
          <p:cNvGrpSpPr/>
          <p:nvPr/>
        </p:nvGrpSpPr>
        <p:grpSpPr>
          <a:xfrm>
            <a:off x="2857500" y="2071688"/>
            <a:ext cx="3281363" cy="522287"/>
            <a:chOff x="1008" y="1305"/>
            <a:chExt cx="2067" cy="329"/>
          </a:xfrm>
        </p:grpSpPr>
        <p:sp>
          <p:nvSpPr>
            <p:cNvPr id="203816" name="Text Box 8"/>
            <p:cNvSpPr txBox="1"/>
            <p:nvPr/>
          </p:nvSpPr>
          <p:spPr>
            <a:xfrm>
              <a:off x="1008" y="1305"/>
              <a:ext cx="206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03817" name="Text Box 9"/>
            <p:cNvSpPr txBox="1"/>
            <p:nvPr/>
          </p:nvSpPr>
          <p:spPr>
            <a:xfrm>
              <a:off x="2448" y="1305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3782" name="Group 10"/>
          <p:cNvGrpSpPr/>
          <p:nvPr/>
        </p:nvGrpSpPr>
        <p:grpSpPr>
          <a:xfrm>
            <a:off x="2657475" y="3200400"/>
            <a:ext cx="6678613" cy="882651"/>
            <a:chOff x="714" y="2016"/>
            <a:chExt cx="4207" cy="556"/>
          </a:xfrm>
        </p:grpSpPr>
        <p:sp>
          <p:nvSpPr>
            <p:cNvPr id="203813" name="Text Box 11"/>
            <p:cNvSpPr txBox="1"/>
            <p:nvPr/>
          </p:nvSpPr>
          <p:spPr>
            <a:xfrm>
              <a:off x="714" y="2049"/>
              <a:ext cx="4207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式中  </a:t>
              </a:r>
              <a:r>
                <a:rPr lang="en-US" altLang="zh-CN" sz="24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0</a:t>
              </a:r>
              <a:r>
                <a:rPr lang="en-US" altLang="en-US" sz="24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为 </a:t>
              </a:r>
              <a:r>
                <a:rPr lang="en-US" altLang="zh-CN" sz="24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的绝对值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r>
                <a:rPr lang="zh-CN" altLang="en-US" sz="1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        </a:t>
              </a:r>
              <a:r>
                <a:rPr lang="en-US" altLang="zh-CN" sz="24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0</a:t>
              </a:r>
              <a:r>
                <a:rPr lang="en-US" altLang="en-US" sz="2400" b="1" dirty="0">
                  <a:latin typeface="Times New Roman" panose="02020603050405020304" pitchFamily="18" charset="0"/>
                </a:rPr>
                <a:t>.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 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为 </a:t>
              </a:r>
              <a:r>
                <a:rPr lang="en-US" altLang="zh-CN" sz="24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的绝对值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3814" name="Text Box 12"/>
            <p:cNvSpPr txBox="1"/>
            <p:nvPr/>
          </p:nvSpPr>
          <p:spPr>
            <a:xfrm>
              <a:off x="2164" y="2016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3815" name="Text Box 13"/>
            <p:cNvSpPr txBox="1"/>
            <p:nvPr/>
          </p:nvSpPr>
          <p:spPr>
            <a:xfrm>
              <a:off x="2168" y="2247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3783" name="Group 14"/>
          <p:cNvGrpSpPr/>
          <p:nvPr/>
        </p:nvGrpSpPr>
        <p:grpSpPr>
          <a:xfrm>
            <a:off x="2803525" y="4648200"/>
            <a:ext cx="3779838" cy="766763"/>
            <a:chOff x="806" y="2928"/>
            <a:chExt cx="2381" cy="483"/>
          </a:xfrm>
        </p:grpSpPr>
        <p:sp>
          <p:nvSpPr>
            <p:cNvPr id="203808" name="Text Box 15"/>
            <p:cNvSpPr txBox="1"/>
            <p:nvPr/>
          </p:nvSpPr>
          <p:spPr>
            <a:xfrm>
              <a:off x="806" y="3024"/>
              <a:ext cx="203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数值部分为绝对值相除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03809" name="Group 16"/>
            <p:cNvGrpSpPr/>
            <p:nvPr/>
          </p:nvGrpSpPr>
          <p:grpSpPr>
            <a:xfrm>
              <a:off x="2880" y="2928"/>
              <a:ext cx="307" cy="483"/>
              <a:chOff x="2880" y="2928"/>
              <a:chExt cx="307" cy="483"/>
            </a:xfrm>
          </p:grpSpPr>
          <p:sp>
            <p:nvSpPr>
              <p:cNvPr id="203810" name="Text Box 17"/>
              <p:cNvSpPr txBox="1"/>
              <p:nvPr/>
            </p:nvSpPr>
            <p:spPr>
              <a:xfrm>
                <a:off x="2880" y="2928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*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811" name="Text Box 18"/>
              <p:cNvSpPr txBox="1"/>
              <p:nvPr/>
            </p:nvSpPr>
            <p:spPr>
              <a:xfrm>
                <a:off x="2880" y="3121"/>
                <a:ext cx="29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*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812" name="Line 19"/>
              <p:cNvSpPr/>
              <p:nvPr/>
            </p:nvSpPr>
            <p:spPr>
              <a:xfrm>
                <a:off x="2894" y="3190"/>
                <a:ext cx="190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203784" name="Text Box 20"/>
          <p:cNvSpPr txBox="1"/>
          <p:nvPr/>
        </p:nvSpPr>
        <p:spPr>
          <a:xfrm>
            <a:off x="3794125" y="5888038"/>
            <a:ext cx="2240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被除数不等于 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03785" name="Text Box 21"/>
          <p:cNvSpPr txBox="1"/>
          <p:nvPr/>
        </p:nvSpPr>
        <p:spPr>
          <a:xfrm>
            <a:off x="3794125" y="6324600"/>
            <a:ext cx="1935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除数不能为 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03786" name="Group 22"/>
          <p:cNvGrpSpPr/>
          <p:nvPr/>
        </p:nvGrpSpPr>
        <p:grpSpPr>
          <a:xfrm>
            <a:off x="3794125" y="5451475"/>
            <a:ext cx="6310313" cy="460375"/>
            <a:chOff x="1430" y="3434"/>
            <a:chExt cx="3975" cy="290"/>
          </a:xfrm>
        </p:grpSpPr>
        <p:sp>
          <p:nvSpPr>
            <p:cNvPr id="203806" name="Text Box 23"/>
            <p:cNvSpPr txBox="1"/>
            <p:nvPr/>
          </p:nvSpPr>
          <p:spPr>
            <a:xfrm>
              <a:off x="1430" y="3434"/>
              <a:ext cx="19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小数定点除法 </a:t>
              </a:r>
              <a:r>
                <a:rPr lang="en-US" altLang="zh-CN" sz="24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* </a:t>
              </a:r>
              <a:r>
                <a:rPr lang="zh-CN" altLang="en-US" sz="20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＜ </a:t>
              </a:r>
              <a:r>
                <a:rPr lang="en-US" altLang="zh-CN" sz="24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3807" name="Text Box 24"/>
            <p:cNvSpPr txBox="1"/>
            <p:nvPr/>
          </p:nvSpPr>
          <p:spPr>
            <a:xfrm>
              <a:off x="3461" y="3434"/>
              <a:ext cx="19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整数定点除法 </a:t>
              </a:r>
              <a:r>
                <a:rPr lang="en-US" altLang="zh-CN" sz="24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* </a:t>
              </a:r>
              <a:r>
                <a:rPr lang="zh-CN" altLang="en-US" sz="20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＞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3787" name="Group 25"/>
          <p:cNvGrpSpPr/>
          <p:nvPr/>
        </p:nvGrpSpPr>
        <p:grpSpPr>
          <a:xfrm>
            <a:off x="2803525" y="4267200"/>
            <a:ext cx="3994150" cy="522288"/>
            <a:chOff x="806" y="2688"/>
            <a:chExt cx="2516" cy="329"/>
          </a:xfrm>
        </p:grpSpPr>
        <p:sp>
          <p:nvSpPr>
            <p:cNvPr id="203804" name="Text Box 26"/>
            <p:cNvSpPr txBox="1"/>
            <p:nvPr/>
          </p:nvSpPr>
          <p:spPr>
            <a:xfrm>
              <a:off x="806" y="2688"/>
              <a:ext cx="25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商的符号位单独处理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i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3805" name="AutoShape 27"/>
            <p:cNvSpPr/>
            <p:nvPr/>
          </p:nvSpPr>
          <p:spPr>
            <a:xfrm>
              <a:off x="2877" y="2792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3788" name="Group 28"/>
          <p:cNvGrpSpPr/>
          <p:nvPr/>
        </p:nvGrpSpPr>
        <p:grpSpPr>
          <a:xfrm>
            <a:off x="2855913" y="2420938"/>
            <a:ext cx="3170238" cy="781050"/>
            <a:chOff x="839" y="1525"/>
            <a:chExt cx="1997" cy="492"/>
          </a:xfrm>
        </p:grpSpPr>
        <p:grpSp>
          <p:nvGrpSpPr>
            <p:cNvPr id="203793" name="Group 29"/>
            <p:cNvGrpSpPr/>
            <p:nvPr/>
          </p:nvGrpSpPr>
          <p:grpSpPr>
            <a:xfrm>
              <a:off x="839" y="1525"/>
              <a:ext cx="1997" cy="492"/>
              <a:chOff x="839" y="1525"/>
              <a:chExt cx="1997" cy="492"/>
            </a:xfrm>
          </p:grpSpPr>
          <p:sp>
            <p:nvSpPr>
              <p:cNvPr id="203795" name="Text Box 30"/>
              <p:cNvSpPr txBox="1"/>
              <p:nvPr/>
            </p:nvSpPr>
            <p:spPr>
              <a:xfrm>
                <a:off x="839" y="1615"/>
                <a:ext cx="167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原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= (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).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3796" name="Group 31"/>
              <p:cNvGrpSpPr/>
              <p:nvPr/>
            </p:nvGrpSpPr>
            <p:grpSpPr>
              <a:xfrm>
                <a:off x="973" y="1525"/>
                <a:ext cx="211" cy="456"/>
                <a:chOff x="1056" y="1728"/>
                <a:chExt cx="211" cy="456"/>
              </a:xfrm>
            </p:grpSpPr>
            <p:sp>
              <p:nvSpPr>
                <p:cNvPr id="203801" name="Text Box 32"/>
                <p:cNvSpPr txBox="1"/>
                <p:nvPr/>
              </p:nvSpPr>
              <p:spPr>
                <a:xfrm>
                  <a:off x="1056" y="1728"/>
                  <a:ext cx="211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3802" name="Text Box 33"/>
                <p:cNvSpPr txBox="1"/>
                <p:nvPr/>
              </p:nvSpPr>
              <p:spPr>
                <a:xfrm>
                  <a:off x="1056" y="1894"/>
                  <a:ext cx="199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3803" name="Line 34"/>
                <p:cNvSpPr/>
                <p:nvPr/>
              </p:nvSpPr>
              <p:spPr>
                <a:xfrm>
                  <a:off x="1070" y="1990"/>
                  <a:ext cx="19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03797" name="Group 35"/>
              <p:cNvGrpSpPr/>
              <p:nvPr/>
            </p:nvGrpSpPr>
            <p:grpSpPr>
              <a:xfrm>
                <a:off x="2529" y="1525"/>
                <a:ext cx="307" cy="492"/>
                <a:chOff x="2529" y="1525"/>
                <a:chExt cx="307" cy="492"/>
              </a:xfrm>
            </p:grpSpPr>
            <p:sp>
              <p:nvSpPr>
                <p:cNvPr id="203798" name="Text Box 36"/>
                <p:cNvSpPr txBox="1"/>
                <p:nvPr/>
              </p:nvSpPr>
              <p:spPr>
                <a:xfrm>
                  <a:off x="2529" y="1525"/>
                  <a:ext cx="307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*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3799" name="Text Box 37"/>
                <p:cNvSpPr txBox="1"/>
                <p:nvPr/>
              </p:nvSpPr>
              <p:spPr>
                <a:xfrm>
                  <a:off x="2529" y="1727"/>
                  <a:ext cx="296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y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*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3800" name="Line 38"/>
                <p:cNvSpPr/>
                <p:nvPr/>
              </p:nvSpPr>
              <p:spPr>
                <a:xfrm>
                  <a:off x="2543" y="1787"/>
                  <a:ext cx="19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03794" name="AutoShape 39"/>
            <p:cNvSpPr/>
            <p:nvPr/>
          </p:nvSpPr>
          <p:spPr>
            <a:xfrm>
              <a:off x="1940" y="1730"/>
              <a:ext cx="147" cy="147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03789" name="Text Box 40"/>
          <p:cNvSpPr txBox="1"/>
          <p:nvPr/>
        </p:nvSpPr>
        <p:spPr>
          <a:xfrm>
            <a:off x="2525713" y="5348288"/>
            <a:ext cx="1066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约定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45" name="Rectangle 4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3791" name="AutoShape 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379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02" name="Text Box 2"/>
          <p:cNvSpPr txBox="1"/>
          <p:nvPr/>
        </p:nvSpPr>
        <p:spPr>
          <a:xfrm>
            <a:off x="1981200" y="152400"/>
            <a:ext cx="388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(1) </a:t>
            </a:r>
            <a:r>
              <a:rPr lang="zh-CN" altLang="en-US" sz="3600" b="1" dirty="0">
                <a:latin typeface="Times New Roman" panose="02020603050405020304" pitchFamily="18" charset="0"/>
              </a:rPr>
              <a:t>恢复余数法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24931" name="Text Box 3"/>
          <p:cNvSpPr txBox="1"/>
          <p:nvPr/>
        </p:nvSpPr>
        <p:spPr>
          <a:xfrm>
            <a:off x="3357563" y="266700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4932" name="Text Box 4"/>
          <p:cNvSpPr txBox="1"/>
          <p:nvPr/>
        </p:nvSpPr>
        <p:spPr>
          <a:xfrm>
            <a:off x="3357563" y="3081338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4933" name="Text Box 5"/>
          <p:cNvSpPr txBox="1"/>
          <p:nvPr/>
        </p:nvSpPr>
        <p:spPr>
          <a:xfrm>
            <a:off x="3357563" y="506095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4934" name="Text Box 6"/>
          <p:cNvSpPr txBox="1"/>
          <p:nvPr/>
        </p:nvSpPr>
        <p:spPr>
          <a:xfrm>
            <a:off x="3357563" y="625792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4935" name="Text Box 7"/>
          <p:cNvSpPr txBox="1"/>
          <p:nvPr/>
        </p:nvSpPr>
        <p:spPr>
          <a:xfrm>
            <a:off x="5410200" y="266700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0 . 0 0 0 0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4936" name="Line 8"/>
          <p:cNvSpPr/>
          <p:nvPr/>
        </p:nvSpPr>
        <p:spPr>
          <a:xfrm>
            <a:off x="3048000" y="3505200"/>
            <a:ext cx="678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4937" name="Text Box 9"/>
          <p:cNvSpPr txBox="1"/>
          <p:nvPr/>
        </p:nvSpPr>
        <p:spPr>
          <a:xfrm>
            <a:off x="7315200" y="3081338"/>
            <a:ext cx="1241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24938" name="Text Box 10"/>
          <p:cNvSpPr txBox="1"/>
          <p:nvPr/>
        </p:nvSpPr>
        <p:spPr>
          <a:xfrm>
            <a:off x="6445250" y="345122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3357563" y="3451225"/>
            <a:ext cx="6108700" cy="460375"/>
            <a:chOff x="1155" y="2174"/>
            <a:chExt cx="3848" cy="290"/>
          </a:xfrm>
        </p:grpSpPr>
        <p:sp>
          <p:nvSpPr>
            <p:cNvPr id="204878" name="Text Box 12"/>
            <p:cNvSpPr txBox="1"/>
            <p:nvPr/>
          </p:nvSpPr>
          <p:spPr>
            <a:xfrm>
              <a:off x="1155" y="2174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1 . 1 1 1 0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79" name="Text Box 13"/>
            <p:cNvSpPr txBox="1"/>
            <p:nvPr/>
          </p:nvSpPr>
          <p:spPr>
            <a:xfrm>
              <a:off x="3648" y="2198"/>
              <a:ext cx="13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余数为负，上商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4942" name="Text Box 14"/>
          <p:cNvSpPr txBox="1"/>
          <p:nvPr/>
        </p:nvSpPr>
        <p:spPr>
          <a:xfrm>
            <a:off x="3352800" y="386397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4943" name="Text Box 15"/>
          <p:cNvSpPr txBox="1"/>
          <p:nvPr/>
        </p:nvSpPr>
        <p:spPr>
          <a:xfrm>
            <a:off x="7315200" y="3863975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恢复余数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6"/>
          <p:cNvGrpSpPr/>
          <p:nvPr/>
        </p:nvGrpSpPr>
        <p:grpSpPr>
          <a:xfrm>
            <a:off x="3357563" y="5430838"/>
            <a:ext cx="6108700" cy="460375"/>
            <a:chOff x="1155" y="3421"/>
            <a:chExt cx="3848" cy="290"/>
          </a:xfrm>
        </p:grpSpPr>
        <p:sp>
          <p:nvSpPr>
            <p:cNvPr id="204874" name="Text Box 17"/>
            <p:cNvSpPr txBox="1"/>
            <p:nvPr/>
          </p:nvSpPr>
          <p:spPr>
            <a:xfrm>
              <a:off x="2956" y="342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4875" name="Group 18"/>
            <p:cNvGrpSpPr/>
            <p:nvPr/>
          </p:nvGrpSpPr>
          <p:grpSpPr>
            <a:xfrm>
              <a:off x="1155" y="3421"/>
              <a:ext cx="3848" cy="290"/>
              <a:chOff x="1155" y="3421"/>
              <a:chExt cx="3848" cy="290"/>
            </a:xfrm>
          </p:grpSpPr>
          <p:sp>
            <p:nvSpPr>
              <p:cNvPr id="204876" name="Text Box 19"/>
              <p:cNvSpPr txBox="1"/>
              <p:nvPr/>
            </p:nvSpPr>
            <p:spPr>
              <a:xfrm>
                <a:off x="1155" y="3421"/>
                <a:ext cx="88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0 . 1 0 0 1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877" name="Text Box 20"/>
              <p:cNvSpPr txBox="1"/>
              <p:nvPr/>
            </p:nvSpPr>
            <p:spPr>
              <a:xfrm>
                <a:off x="3648" y="3446"/>
                <a:ext cx="1355" cy="2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余数为正，上商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24949" name="Text Box 21"/>
          <p:cNvSpPr txBox="1"/>
          <p:nvPr/>
        </p:nvSpPr>
        <p:spPr>
          <a:xfrm>
            <a:off x="7315200" y="6257925"/>
            <a:ext cx="1241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24950" name="Line 22"/>
          <p:cNvSpPr/>
          <p:nvPr/>
        </p:nvSpPr>
        <p:spPr>
          <a:xfrm>
            <a:off x="3048000" y="4289425"/>
            <a:ext cx="678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4951" name="Line 23"/>
          <p:cNvSpPr/>
          <p:nvPr/>
        </p:nvSpPr>
        <p:spPr>
          <a:xfrm>
            <a:off x="3048000" y="5486400"/>
            <a:ext cx="678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5" name="Group 24"/>
          <p:cNvGrpSpPr/>
          <p:nvPr/>
        </p:nvGrpSpPr>
        <p:grpSpPr>
          <a:xfrm>
            <a:off x="3357563" y="4648200"/>
            <a:ext cx="4657725" cy="522288"/>
            <a:chOff x="1155" y="2928"/>
            <a:chExt cx="2934" cy="329"/>
          </a:xfrm>
        </p:grpSpPr>
        <p:sp>
          <p:nvSpPr>
            <p:cNvPr id="204869" name="Text Box 25"/>
            <p:cNvSpPr txBox="1"/>
            <p:nvPr/>
          </p:nvSpPr>
          <p:spPr>
            <a:xfrm>
              <a:off x="1155" y="2928"/>
              <a:ext cx="8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. 0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70" name="Text Box 26"/>
            <p:cNvSpPr txBox="1"/>
            <p:nvPr/>
          </p:nvSpPr>
          <p:spPr>
            <a:xfrm>
              <a:off x="2956" y="292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4871" name="Group 27"/>
            <p:cNvGrpSpPr/>
            <p:nvPr/>
          </p:nvGrpSpPr>
          <p:grpSpPr>
            <a:xfrm>
              <a:off x="3696" y="2928"/>
              <a:ext cx="393" cy="290"/>
              <a:chOff x="3696" y="2928"/>
              <a:chExt cx="393" cy="290"/>
            </a:xfrm>
          </p:grpSpPr>
          <p:sp>
            <p:nvSpPr>
              <p:cNvPr id="204872" name="Text Box 28"/>
              <p:cNvSpPr txBox="1"/>
              <p:nvPr/>
            </p:nvSpPr>
            <p:spPr>
              <a:xfrm>
                <a:off x="3878" y="2928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873" name="Line 29"/>
              <p:cNvSpPr/>
              <p:nvPr/>
            </p:nvSpPr>
            <p:spPr>
              <a:xfrm flipH="1">
                <a:off x="3696" y="3065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</p:grpSp>
      <p:grpSp>
        <p:nvGrpSpPr>
          <p:cNvPr id="7" name="Group 30"/>
          <p:cNvGrpSpPr/>
          <p:nvPr/>
        </p:nvGrpSpPr>
        <p:grpSpPr>
          <a:xfrm>
            <a:off x="3357563" y="5845175"/>
            <a:ext cx="4657725" cy="460375"/>
            <a:chOff x="1155" y="3682"/>
            <a:chExt cx="2934" cy="290"/>
          </a:xfrm>
        </p:grpSpPr>
        <p:sp>
          <p:nvSpPr>
            <p:cNvPr id="204865" name="Text Box 31"/>
            <p:cNvSpPr txBox="1"/>
            <p:nvPr/>
          </p:nvSpPr>
          <p:spPr>
            <a:xfrm>
              <a:off x="1155" y="3682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1 . 0 0 1 0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66" name="Text Box 32"/>
            <p:cNvSpPr txBox="1"/>
            <p:nvPr/>
          </p:nvSpPr>
          <p:spPr>
            <a:xfrm>
              <a:off x="2832" y="3682"/>
              <a:ext cx="35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67" name="Text Box 33"/>
            <p:cNvSpPr txBox="1"/>
            <p:nvPr/>
          </p:nvSpPr>
          <p:spPr>
            <a:xfrm>
              <a:off x="3878" y="3682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868" name="Line 34"/>
            <p:cNvSpPr/>
            <p:nvPr/>
          </p:nvSpPr>
          <p:spPr>
            <a:xfrm flipH="1">
              <a:off x="3696" y="3819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24963" name="Text Box 35"/>
          <p:cNvSpPr txBox="1"/>
          <p:nvPr/>
        </p:nvSpPr>
        <p:spPr>
          <a:xfrm>
            <a:off x="7315200" y="5060950"/>
            <a:ext cx="11652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04821" name="Text Box 36"/>
          <p:cNvSpPr txBox="1"/>
          <p:nvPr/>
        </p:nvSpPr>
        <p:spPr>
          <a:xfrm>
            <a:off x="1981200" y="1173163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8" name="Group 37"/>
          <p:cNvGrpSpPr/>
          <p:nvPr/>
        </p:nvGrpSpPr>
        <p:grpSpPr>
          <a:xfrm>
            <a:off x="3048000" y="2179638"/>
            <a:ext cx="6781800" cy="4498975"/>
            <a:chOff x="960" y="1373"/>
            <a:chExt cx="4272" cy="2834"/>
          </a:xfrm>
        </p:grpSpPr>
        <p:sp>
          <p:nvSpPr>
            <p:cNvPr id="204860" name="Line 38"/>
            <p:cNvSpPr/>
            <p:nvPr/>
          </p:nvSpPr>
          <p:spPr>
            <a:xfrm>
              <a:off x="2304" y="1385"/>
              <a:ext cx="0" cy="282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4861" name="Line 39"/>
            <p:cNvSpPr/>
            <p:nvPr/>
          </p:nvSpPr>
          <p:spPr>
            <a:xfrm>
              <a:off x="3504" y="1385"/>
              <a:ext cx="0" cy="282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4862" name="Text Box 40"/>
            <p:cNvSpPr txBox="1"/>
            <p:nvPr/>
          </p:nvSpPr>
          <p:spPr>
            <a:xfrm>
              <a:off x="1008" y="1411"/>
              <a:ext cx="367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被除数（余数）            商                       说      明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63" name="Line 41"/>
            <p:cNvSpPr/>
            <p:nvPr/>
          </p:nvSpPr>
          <p:spPr>
            <a:xfrm>
              <a:off x="960" y="1680"/>
              <a:ext cx="4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4864" name="Line 42"/>
            <p:cNvSpPr/>
            <p:nvPr/>
          </p:nvSpPr>
          <p:spPr>
            <a:xfrm>
              <a:off x="960" y="1373"/>
              <a:ext cx="4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24971" name="Text Box 43"/>
          <p:cNvSpPr txBox="1"/>
          <p:nvPr/>
        </p:nvSpPr>
        <p:spPr>
          <a:xfrm>
            <a:off x="2667000" y="1277938"/>
            <a:ext cx="37179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1.1011   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1.1101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9" name="Group 44"/>
          <p:cNvGrpSpPr/>
          <p:nvPr/>
        </p:nvGrpSpPr>
        <p:grpSpPr>
          <a:xfrm>
            <a:off x="2590800" y="1741488"/>
            <a:ext cx="3003550" cy="460375"/>
            <a:chOff x="672" y="1097"/>
            <a:chExt cx="1892" cy="290"/>
          </a:xfrm>
        </p:grpSpPr>
        <p:sp>
          <p:nvSpPr>
            <p:cNvPr id="204857" name="Text Box 45"/>
            <p:cNvSpPr txBox="1"/>
            <p:nvPr/>
          </p:nvSpPr>
          <p:spPr>
            <a:xfrm>
              <a:off x="672" y="1097"/>
              <a:ext cx="189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marL="495300" indent="-495300"/>
              <a:r>
                <a:rPr lang="en-US" altLang="zh-CN" sz="2400" b="1" dirty="0">
                  <a:latin typeface="Times New Roman" panose="02020603050405020304" pitchFamily="18" charset="0"/>
                </a:rPr>
                <a:t>①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1 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 =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58" name="AutoShape 46"/>
            <p:cNvSpPr/>
            <p:nvPr/>
          </p:nvSpPr>
          <p:spPr>
            <a:xfrm>
              <a:off x="1267" y="1171"/>
              <a:ext cx="125" cy="125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59" name="AutoShape 47"/>
            <p:cNvSpPr/>
            <p:nvPr/>
          </p:nvSpPr>
          <p:spPr>
            <a:xfrm>
              <a:off x="1939" y="1171"/>
              <a:ext cx="125" cy="125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4976" name="Text Box 48"/>
          <p:cNvSpPr txBox="1"/>
          <p:nvPr/>
        </p:nvSpPr>
        <p:spPr>
          <a:xfrm>
            <a:off x="2597150" y="2189163"/>
            <a:ext cx="487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95300" indent="-495300"/>
            <a:r>
              <a:rPr lang="en-US" altLang="zh-CN" sz="2400" b="1" dirty="0">
                <a:latin typeface="Times New Roman" panose="02020603050405020304" pitchFamily="18" charset="0"/>
              </a:rPr>
              <a:t>②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04826" name="Group 49"/>
          <p:cNvGrpSpPr/>
          <p:nvPr/>
        </p:nvGrpSpPr>
        <p:grpSpPr>
          <a:xfrm>
            <a:off x="1981200" y="609600"/>
            <a:ext cx="6718300" cy="723900"/>
            <a:chOff x="288" y="384"/>
            <a:chExt cx="4232" cy="456"/>
          </a:xfrm>
        </p:grpSpPr>
        <p:grpSp>
          <p:nvGrpSpPr>
            <p:cNvPr id="204847" name="Group 50"/>
            <p:cNvGrpSpPr/>
            <p:nvPr/>
          </p:nvGrpSpPr>
          <p:grpSpPr>
            <a:xfrm>
              <a:off x="1056" y="384"/>
              <a:ext cx="3464" cy="456"/>
              <a:chOff x="1056" y="384"/>
              <a:chExt cx="3464" cy="456"/>
            </a:xfrm>
          </p:grpSpPr>
          <p:sp>
            <p:nvSpPr>
              <p:cNvPr id="204849" name="Text Box 51"/>
              <p:cNvSpPr txBox="1"/>
              <p:nvPr/>
            </p:nvSpPr>
            <p:spPr>
              <a:xfrm>
                <a:off x="1056" y="512"/>
                <a:ext cx="2238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= – 0.1011   </a:t>
                </a:r>
                <a:r>
                  <a:rPr lang="en-US" altLang="zh-CN" sz="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= – 0.1101</a:t>
                </a:r>
                <a:endParaRPr lang="en-US" altLang="zh-CN" sz="2400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04850" name="Text Box 52"/>
              <p:cNvSpPr txBox="1"/>
              <p:nvPr/>
            </p:nvSpPr>
            <p:spPr>
              <a:xfrm>
                <a:off x="3510" y="500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求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4851" name="Group 53"/>
              <p:cNvGrpSpPr/>
              <p:nvPr/>
            </p:nvGrpSpPr>
            <p:grpSpPr>
              <a:xfrm>
                <a:off x="3872" y="384"/>
                <a:ext cx="648" cy="456"/>
                <a:chOff x="902" y="1536"/>
                <a:chExt cx="648" cy="456"/>
              </a:xfrm>
            </p:grpSpPr>
            <p:sp>
              <p:nvSpPr>
                <p:cNvPr id="204852" name="Text Box 54"/>
                <p:cNvSpPr txBox="1"/>
                <p:nvPr/>
              </p:nvSpPr>
              <p:spPr>
                <a:xfrm>
                  <a:off x="902" y="1626"/>
                  <a:ext cx="648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[    ]</a:t>
                  </a:r>
                  <a:r>
                    <a:rPr lang="zh-CN" altLang="en-US" sz="2000" b="1" baseline="-25000" dirty="0">
                      <a:latin typeface="Times New Roman" panose="02020603050405020304" pitchFamily="18" charset="0"/>
                    </a:rPr>
                    <a:t>原</a:t>
                  </a:r>
                  <a:r>
                    <a:rPr lang="zh-CN" altLang="en-US" sz="2800" b="1" dirty="0">
                      <a:latin typeface="Times New Roman" panose="02020603050405020304" pitchFamily="18" charset="0"/>
                    </a:rPr>
                    <a:t> </a:t>
                  </a:r>
                  <a:endParaRPr lang="zh-CN" altLang="en-US" sz="28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04853" name="Group 55"/>
                <p:cNvGrpSpPr/>
                <p:nvPr/>
              </p:nvGrpSpPr>
              <p:grpSpPr>
                <a:xfrm>
                  <a:off x="1036" y="1536"/>
                  <a:ext cx="211" cy="456"/>
                  <a:chOff x="1056" y="1728"/>
                  <a:chExt cx="211" cy="456"/>
                </a:xfrm>
              </p:grpSpPr>
              <p:sp>
                <p:nvSpPr>
                  <p:cNvPr id="204854" name="Text Box 56"/>
                  <p:cNvSpPr txBox="1"/>
                  <p:nvPr/>
                </p:nvSpPr>
                <p:spPr>
                  <a:xfrm>
                    <a:off x="1056" y="1728"/>
                    <a:ext cx="211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sz="2400" b="1" i="1" dirty="0">
                        <a:latin typeface="Times New Roman" panose="02020603050405020304" pitchFamily="18" charset="0"/>
                      </a:rPr>
                      <a:t>x</a:t>
                    </a:r>
                    <a:endParaRPr lang="en-US" altLang="zh-CN" sz="2400" b="1" i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4855" name="Text Box 57"/>
                  <p:cNvSpPr txBox="1"/>
                  <p:nvPr/>
                </p:nvSpPr>
                <p:spPr>
                  <a:xfrm>
                    <a:off x="1056" y="1894"/>
                    <a:ext cx="199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sz="2400" b="1" i="1" dirty="0">
                        <a:latin typeface="Times New Roman" panose="02020603050405020304" pitchFamily="18" charset="0"/>
                      </a:rPr>
                      <a:t>y</a:t>
                    </a:r>
                    <a:endParaRPr lang="en-US" altLang="zh-CN" sz="2400" b="1" i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4856" name="Line 58"/>
                  <p:cNvSpPr/>
                  <p:nvPr/>
                </p:nvSpPr>
                <p:spPr>
                  <a:xfrm>
                    <a:off x="1070" y="1990"/>
                    <a:ext cx="19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04848" name="Text Box 59"/>
            <p:cNvSpPr txBox="1"/>
            <p:nvPr/>
          </p:nvSpPr>
          <p:spPr>
            <a:xfrm>
              <a:off x="288" y="489"/>
              <a:ext cx="73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例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6.24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4988" name="Text Box 60"/>
          <p:cNvSpPr txBox="1"/>
          <p:nvPr/>
        </p:nvSpPr>
        <p:spPr>
          <a:xfrm>
            <a:off x="6445250" y="5430838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4" name="Group 61"/>
          <p:cNvGrpSpPr/>
          <p:nvPr/>
        </p:nvGrpSpPr>
        <p:grpSpPr>
          <a:xfrm>
            <a:off x="3357563" y="4233863"/>
            <a:ext cx="5664200" cy="460375"/>
            <a:chOff x="1155" y="2667"/>
            <a:chExt cx="3568" cy="290"/>
          </a:xfrm>
        </p:grpSpPr>
        <p:sp>
          <p:nvSpPr>
            <p:cNvPr id="204844" name="Text Box 62"/>
            <p:cNvSpPr txBox="1"/>
            <p:nvPr/>
          </p:nvSpPr>
          <p:spPr>
            <a:xfrm>
              <a:off x="1155" y="2667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0 . 1 0 1 1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45" name="Text Box 63"/>
            <p:cNvSpPr txBox="1"/>
            <p:nvPr/>
          </p:nvSpPr>
          <p:spPr>
            <a:xfrm>
              <a:off x="3648" y="2667"/>
              <a:ext cx="10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恢复后的余数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46" name="Text Box 64"/>
            <p:cNvSpPr txBox="1"/>
            <p:nvPr/>
          </p:nvSpPr>
          <p:spPr>
            <a:xfrm>
              <a:off x="3100" y="2667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4993" name="Text Box 65"/>
          <p:cNvSpPr txBox="1"/>
          <p:nvPr/>
        </p:nvSpPr>
        <p:spPr>
          <a:xfrm>
            <a:off x="8610600" y="3849688"/>
            <a:ext cx="167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24994" name="Text Box 66"/>
          <p:cNvSpPr txBox="1"/>
          <p:nvPr/>
        </p:nvSpPr>
        <p:spPr>
          <a:xfrm>
            <a:off x="6477000" y="1277938"/>
            <a:ext cx="41579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0.1101  [–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1.0011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4995" name="AutoShape 67"/>
          <p:cNvSpPr/>
          <p:nvPr/>
        </p:nvSpPr>
        <p:spPr>
          <a:xfrm>
            <a:off x="1911350" y="4513263"/>
            <a:ext cx="1115894" cy="442794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左移</a:t>
            </a: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24996" name="AutoShape 68"/>
          <p:cNvSpPr/>
          <p:nvPr/>
        </p:nvSpPr>
        <p:spPr>
          <a:xfrm>
            <a:off x="1911350" y="5732463"/>
            <a:ext cx="1115894" cy="442794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左移</a:t>
            </a: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24997" name="Rectangle 6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" name="Group 70"/>
          <p:cNvGrpSpPr/>
          <p:nvPr/>
        </p:nvGrpSpPr>
        <p:grpSpPr>
          <a:xfrm>
            <a:off x="3359150" y="2708275"/>
            <a:ext cx="1368425" cy="1944688"/>
            <a:chOff x="1156" y="1706"/>
            <a:chExt cx="862" cy="1225"/>
          </a:xfrm>
        </p:grpSpPr>
        <p:sp>
          <p:nvSpPr>
            <p:cNvPr id="204842" name="AutoShape 71"/>
            <p:cNvSpPr/>
            <p:nvPr/>
          </p:nvSpPr>
          <p:spPr>
            <a:xfrm>
              <a:off x="1156" y="1706"/>
              <a:ext cx="862" cy="227"/>
            </a:xfrm>
            <a:prstGeom prst="flowChartAlternateProcess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4843" name="AutoShape 72"/>
            <p:cNvSpPr/>
            <p:nvPr/>
          </p:nvSpPr>
          <p:spPr>
            <a:xfrm>
              <a:off x="1156" y="2704"/>
              <a:ext cx="862" cy="227"/>
            </a:xfrm>
            <a:prstGeom prst="flowChartAlternateProcess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04835" name="AutoShape 7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5002" name="Text Box 74"/>
          <p:cNvSpPr txBox="1"/>
          <p:nvPr/>
        </p:nvSpPr>
        <p:spPr>
          <a:xfrm>
            <a:off x="3071813" y="3068638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5003" name="Text Box 75"/>
          <p:cNvSpPr txBox="1"/>
          <p:nvPr/>
        </p:nvSpPr>
        <p:spPr>
          <a:xfrm>
            <a:off x="3071813" y="3835400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5004" name="Text Box 76"/>
          <p:cNvSpPr txBox="1"/>
          <p:nvPr/>
        </p:nvSpPr>
        <p:spPr>
          <a:xfrm>
            <a:off x="3071813" y="5059363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5005" name="Text Box 77"/>
          <p:cNvSpPr txBox="1"/>
          <p:nvPr/>
        </p:nvSpPr>
        <p:spPr>
          <a:xfrm>
            <a:off x="3071813" y="6237288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5006" name="Line 78"/>
          <p:cNvSpPr/>
          <p:nvPr/>
        </p:nvSpPr>
        <p:spPr>
          <a:xfrm>
            <a:off x="3059113" y="6669088"/>
            <a:ext cx="678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4841" name="日期占位符 5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2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2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1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2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2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6" dur="500"/>
                                        <p:tgtEl>
                                          <p:spTgt spid="12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2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12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1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4" dur="500"/>
                                        <p:tgtEl>
                                          <p:spTgt spid="12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/>
      <p:bldP spid="124932" grpId="0"/>
      <p:bldP spid="124933" grpId="0"/>
      <p:bldP spid="124934" grpId="0"/>
      <p:bldP spid="124935" grpId="0"/>
      <p:bldP spid="124937" grpId="0"/>
      <p:bldP spid="124938" grpId="0"/>
      <p:bldP spid="124942" grpId="0"/>
      <p:bldP spid="124943" grpId="0"/>
      <p:bldP spid="124949" grpId="0"/>
      <p:bldP spid="124963" grpId="0"/>
      <p:bldP spid="124971" grpId="0"/>
      <p:bldP spid="124976" grpId="0"/>
      <p:bldP spid="124988" grpId="0"/>
      <p:bldP spid="124993" grpId="0"/>
      <p:bldP spid="124994" grpId="0"/>
      <p:bldP spid="124995" grpId="0" bldLvl="0" animBg="1"/>
      <p:bldP spid="124996" grpId="0" bldLvl="0" animBg="1"/>
      <p:bldP spid="125002" grpId="0"/>
      <p:bldP spid="125003" grpId="0"/>
      <p:bldP spid="125004" grpId="0"/>
      <p:bldP spid="12500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2955925" y="815975"/>
            <a:ext cx="6053138" cy="460375"/>
            <a:chOff x="710" y="514"/>
            <a:chExt cx="3813" cy="290"/>
          </a:xfrm>
        </p:grpSpPr>
        <p:sp>
          <p:nvSpPr>
            <p:cNvPr id="205900" name="Text Box 3"/>
            <p:cNvSpPr txBox="1"/>
            <p:nvPr/>
          </p:nvSpPr>
          <p:spPr>
            <a:xfrm>
              <a:off x="710" y="514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0 . 0 1 0 1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901" name="Text Box 4"/>
            <p:cNvSpPr txBox="1"/>
            <p:nvPr/>
          </p:nvSpPr>
          <p:spPr>
            <a:xfrm>
              <a:off x="2294" y="514"/>
              <a:ext cx="35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902" name="Text Box 5"/>
            <p:cNvSpPr txBox="1"/>
            <p:nvPr/>
          </p:nvSpPr>
          <p:spPr>
            <a:xfrm>
              <a:off x="3168" y="514"/>
              <a:ext cx="13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余数为正，上商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827" name="Group 6"/>
          <p:cNvGrpSpPr/>
          <p:nvPr/>
        </p:nvGrpSpPr>
        <p:grpSpPr>
          <a:xfrm>
            <a:off x="2590800" y="457200"/>
            <a:ext cx="6781800" cy="3808413"/>
            <a:chOff x="480" y="288"/>
            <a:chExt cx="4272" cy="2399"/>
          </a:xfrm>
        </p:grpSpPr>
        <p:sp>
          <p:nvSpPr>
            <p:cNvPr id="205896" name="Line 7"/>
            <p:cNvSpPr/>
            <p:nvPr/>
          </p:nvSpPr>
          <p:spPr>
            <a:xfrm>
              <a:off x="1824" y="336"/>
              <a:ext cx="0" cy="235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897" name="Line 8"/>
            <p:cNvSpPr/>
            <p:nvPr/>
          </p:nvSpPr>
          <p:spPr>
            <a:xfrm>
              <a:off x="3024" y="336"/>
              <a:ext cx="0" cy="235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898" name="Line 9"/>
            <p:cNvSpPr/>
            <p:nvPr/>
          </p:nvSpPr>
          <p:spPr>
            <a:xfrm>
              <a:off x="480" y="552"/>
              <a:ext cx="4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05899" name="Text Box 10"/>
            <p:cNvSpPr txBox="1"/>
            <p:nvPr/>
          </p:nvSpPr>
          <p:spPr>
            <a:xfrm>
              <a:off x="528" y="288"/>
              <a:ext cx="367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被除数（余数）            商                       说      明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5963" name="Text Box 11"/>
          <p:cNvSpPr txBox="1"/>
          <p:nvPr/>
        </p:nvSpPr>
        <p:spPr>
          <a:xfrm>
            <a:off x="2955925" y="160972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5964" name="Text Box 12"/>
          <p:cNvSpPr txBox="1"/>
          <p:nvPr/>
        </p:nvSpPr>
        <p:spPr>
          <a:xfrm>
            <a:off x="2955925" y="234315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5965" name="Text Box 13"/>
          <p:cNvSpPr txBox="1"/>
          <p:nvPr/>
        </p:nvSpPr>
        <p:spPr>
          <a:xfrm>
            <a:off x="2955925" y="347345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4"/>
          <p:cNvGrpSpPr/>
          <p:nvPr/>
        </p:nvGrpSpPr>
        <p:grpSpPr>
          <a:xfrm>
            <a:off x="2955925" y="1212850"/>
            <a:ext cx="4602163" cy="460375"/>
            <a:chOff x="710" y="764"/>
            <a:chExt cx="2899" cy="290"/>
          </a:xfrm>
        </p:grpSpPr>
        <p:grpSp>
          <p:nvGrpSpPr>
            <p:cNvPr id="205891" name="Group 15"/>
            <p:cNvGrpSpPr/>
            <p:nvPr/>
          </p:nvGrpSpPr>
          <p:grpSpPr>
            <a:xfrm>
              <a:off x="3216" y="764"/>
              <a:ext cx="393" cy="290"/>
              <a:chOff x="3216" y="780"/>
              <a:chExt cx="393" cy="290"/>
            </a:xfrm>
          </p:grpSpPr>
          <p:sp>
            <p:nvSpPr>
              <p:cNvPr id="205894" name="Text Box 16"/>
              <p:cNvSpPr txBox="1"/>
              <p:nvPr/>
            </p:nvSpPr>
            <p:spPr>
              <a:xfrm>
                <a:off x="3398" y="780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895" name="Line 17"/>
              <p:cNvSpPr/>
              <p:nvPr/>
            </p:nvSpPr>
            <p:spPr>
              <a:xfrm flipH="1">
                <a:off x="3216" y="917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  <p:sp>
          <p:nvSpPr>
            <p:cNvPr id="205892" name="Text Box 18"/>
            <p:cNvSpPr txBox="1"/>
            <p:nvPr/>
          </p:nvSpPr>
          <p:spPr>
            <a:xfrm>
              <a:off x="710" y="764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0 . 1 0 1 0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893" name="Text Box 19"/>
            <p:cNvSpPr txBox="1"/>
            <p:nvPr/>
          </p:nvSpPr>
          <p:spPr>
            <a:xfrm>
              <a:off x="2160" y="764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5972" name="Line 20"/>
          <p:cNvSpPr/>
          <p:nvPr/>
        </p:nvSpPr>
        <p:spPr>
          <a:xfrm>
            <a:off x="2590800" y="2006600"/>
            <a:ext cx="678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5973" name="Line 21"/>
          <p:cNvSpPr/>
          <p:nvPr/>
        </p:nvSpPr>
        <p:spPr>
          <a:xfrm>
            <a:off x="2590800" y="2740025"/>
            <a:ext cx="678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5974" name="Line 22"/>
          <p:cNvSpPr/>
          <p:nvPr/>
        </p:nvSpPr>
        <p:spPr>
          <a:xfrm>
            <a:off x="2590800" y="3870325"/>
            <a:ext cx="678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5975" name="Text Box 23"/>
          <p:cNvSpPr txBox="1"/>
          <p:nvPr/>
        </p:nvSpPr>
        <p:spPr>
          <a:xfrm>
            <a:off x="6854825" y="1557338"/>
            <a:ext cx="1241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6" name="Group 24"/>
          <p:cNvGrpSpPr/>
          <p:nvPr/>
        </p:nvGrpSpPr>
        <p:grpSpPr>
          <a:xfrm>
            <a:off x="2955925" y="1946275"/>
            <a:ext cx="6053138" cy="460375"/>
            <a:chOff x="710" y="1226"/>
            <a:chExt cx="3813" cy="290"/>
          </a:xfrm>
        </p:grpSpPr>
        <p:sp>
          <p:nvSpPr>
            <p:cNvPr id="205888" name="Text Box 25"/>
            <p:cNvSpPr txBox="1"/>
            <p:nvPr/>
          </p:nvSpPr>
          <p:spPr>
            <a:xfrm>
              <a:off x="710" y="1226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1 . 1 1 0 1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889" name="Text Box 26"/>
            <p:cNvSpPr txBox="1"/>
            <p:nvPr/>
          </p:nvSpPr>
          <p:spPr>
            <a:xfrm>
              <a:off x="2160" y="1226"/>
              <a:ext cx="54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890" name="Text Box 27"/>
            <p:cNvSpPr txBox="1"/>
            <p:nvPr/>
          </p:nvSpPr>
          <p:spPr>
            <a:xfrm>
              <a:off x="3168" y="1226"/>
              <a:ext cx="13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余数为负，上商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5980" name="Text Box 28"/>
          <p:cNvSpPr txBox="1"/>
          <p:nvPr/>
        </p:nvSpPr>
        <p:spPr>
          <a:xfrm>
            <a:off x="6858000" y="2346325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恢复余数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7" name="Group 29"/>
          <p:cNvGrpSpPr/>
          <p:nvPr/>
        </p:nvGrpSpPr>
        <p:grpSpPr>
          <a:xfrm>
            <a:off x="2955925" y="3076575"/>
            <a:ext cx="4602163" cy="460375"/>
            <a:chOff x="710" y="1938"/>
            <a:chExt cx="2899" cy="290"/>
          </a:xfrm>
        </p:grpSpPr>
        <p:sp>
          <p:nvSpPr>
            <p:cNvPr id="205883" name="Text Box 30"/>
            <p:cNvSpPr txBox="1"/>
            <p:nvPr/>
          </p:nvSpPr>
          <p:spPr>
            <a:xfrm>
              <a:off x="710" y="1938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1 . 0 1 0 0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884" name="Text Box 31"/>
            <p:cNvSpPr txBox="1"/>
            <p:nvPr/>
          </p:nvSpPr>
          <p:spPr>
            <a:xfrm>
              <a:off x="2013" y="1938"/>
              <a:ext cx="6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885" name="Group 32"/>
            <p:cNvGrpSpPr/>
            <p:nvPr/>
          </p:nvGrpSpPr>
          <p:grpSpPr>
            <a:xfrm>
              <a:off x="3216" y="1938"/>
              <a:ext cx="393" cy="290"/>
              <a:chOff x="3216" y="1944"/>
              <a:chExt cx="393" cy="290"/>
            </a:xfrm>
          </p:grpSpPr>
          <p:sp>
            <p:nvSpPr>
              <p:cNvPr id="205886" name="Text Box 33"/>
              <p:cNvSpPr txBox="1"/>
              <p:nvPr/>
            </p:nvSpPr>
            <p:spPr>
              <a:xfrm>
                <a:off x="3398" y="1944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887" name="Line 34"/>
              <p:cNvSpPr/>
              <p:nvPr/>
            </p:nvSpPr>
            <p:spPr>
              <a:xfrm flipH="1">
                <a:off x="3216" y="2081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</p:grpSp>
      <p:sp>
        <p:nvSpPr>
          <p:cNvPr id="125987" name="Text Box 35"/>
          <p:cNvSpPr txBox="1"/>
          <p:nvPr/>
        </p:nvSpPr>
        <p:spPr>
          <a:xfrm>
            <a:off x="6858000" y="3429000"/>
            <a:ext cx="1241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9" name="Group 36"/>
          <p:cNvGrpSpPr/>
          <p:nvPr/>
        </p:nvGrpSpPr>
        <p:grpSpPr>
          <a:xfrm>
            <a:off x="2955925" y="3810000"/>
            <a:ext cx="6053138" cy="460375"/>
            <a:chOff x="710" y="2400"/>
            <a:chExt cx="3813" cy="290"/>
          </a:xfrm>
        </p:grpSpPr>
        <p:sp>
          <p:nvSpPr>
            <p:cNvPr id="205880" name="Text Box 37"/>
            <p:cNvSpPr txBox="1"/>
            <p:nvPr/>
          </p:nvSpPr>
          <p:spPr>
            <a:xfrm>
              <a:off x="710" y="2400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0 . 0 1 1 1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881" name="Text Box 38"/>
            <p:cNvSpPr txBox="1"/>
            <p:nvPr/>
          </p:nvSpPr>
          <p:spPr>
            <a:xfrm>
              <a:off x="2016" y="2400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0 1 1 0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882" name="Text Box 39"/>
            <p:cNvSpPr txBox="1"/>
            <p:nvPr/>
          </p:nvSpPr>
          <p:spPr>
            <a:xfrm>
              <a:off x="3168" y="2400"/>
              <a:ext cx="13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余数为正，上商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40"/>
          <p:cNvGrpSpPr/>
          <p:nvPr/>
        </p:nvGrpSpPr>
        <p:grpSpPr>
          <a:xfrm>
            <a:off x="3063875" y="4232275"/>
            <a:ext cx="1797050" cy="723900"/>
            <a:chOff x="970" y="2666"/>
            <a:chExt cx="1132" cy="456"/>
          </a:xfrm>
        </p:grpSpPr>
        <p:sp>
          <p:nvSpPr>
            <p:cNvPr id="205875" name="Text Box 41"/>
            <p:cNvSpPr txBox="1"/>
            <p:nvPr/>
          </p:nvSpPr>
          <p:spPr>
            <a:xfrm>
              <a:off x="1200" y="2778"/>
              <a:ext cx="9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0.1101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876" name="Group 42"/>
            <p:cNvGrpSpPr/>
            <p:nvPr/>
          </p:nvGrpSpPr>
          <p:grpSpPr>
            <a:xfrm>
              <a:off x="970" y="2666"/>
              <a:ext cx="307" cy="456"/>
              <a:chOff x="1056" y="1728"/>
              <a:chExt cx="307" cy="456"/>
            </a:xfrm>
          </p:grpSpPr>
          <p:sp>
            <p:nvSpPr>
              <p:cNvPr id="205877" name="Text Box 43"/>
              <p:cNvSpPr txBox="1"/>
              <p:nvPr/>
            </p:nvSpPr>
            <p:spPr>
              <a:xfrm>
                <a:off x="1056" y="1728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*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878" name="Text Box 44"/>
              <p:cNvSpPr txBox="1"/>
              <p:nvPr/>
            </p:nvSpPr>
            <p:spPr>
              <a:xfrm>
                <a:off x="1056" y="1894"/>
                <a:ext cx="29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*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879" name="Line 45"/>
              <p:cNvSpPr/>
              <p:nvPr/>
            </p:nvSpPr>
            <p:spPr>
              <a:xfrm>
                <a:off x="1070" y="1990"/>
                <a:ext cx="1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" name="Group 46"/>
          <p:cNvGrpSpPr/>
          <p:nvPr/>
        </p:nvGrpSpPr>
        <p:grpSpPr>
          <a:xfrm>
            <a:off x="1981200" y="4648200"/>
            <a:ext cx="2879725" cy="776288"/>
            <a:chOff x="288" y="2928"/>
            <a:chExt cx="1814" cy="489"/>
          </a:xfrm>
        </p:grpSpPr>
        <p:sp>
          <p:nvSpPr>
            <p:cNvPr id="205867" name="Text Box 47"/>
            <p:cNvSpPr txBox="1"/>
            <p:nvPr/>
          </p:nvSpPr>
          <p:spPr>
            <a:xfrm>
              <a:off x="288" y="3088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∴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868" name="Group 48"/>
            <p:cNvGrpSpPr/>
            <p:nvPr/>
          </p:nvGrpSpPr>
          <p:grpSpPr>
            <a:xfrm>
              <a:off x="567" y="2928"/>
              <a:ext cx="613" cy="456"/>
              <a:chOff x="1085" y="1898"/>
              <a:chExt cx="613" cy="456"/>
            </a:xfrm>
          </p:grpSpPr>
          <p:sp>
            <p:nvSpPr>
              <p:cNvPr id="205870" name="Text Box 49"/>
              <p:cNvSpPr txBox="1"/>
              <p:nvPr/>
            </p:nvSpPr>
            <p:spPr>
              <a:xfrm>
                <a:off x="1085" y="1988"/>
                <a:ext cx="61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原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5871" name="Group 50"/>
              <p:cNvGrpSpPr/>
              <p:nvPr/>
            </p:nvGrpSpPr>
            <p:grpSpPr>
              <a:xfrm>
                <a:off x="1219" y="1898"/>
                <a:ext cx="209" cy="456"/>
                <a:chOff x="1056" y="1728"/>
                <a:chExt cx="209" cy="456"/>
              </a:xfrm>
            </p:grpSpPr>
            <p:sp>
              <p:nvSpPr>
                <p:cNvPr id="205872" name="Text Box 51"/>
                <p:cNvSpPr txBox="1"/>
                <p:nvPr/>
              </p:nvSpPr>
              <p:spPr>
                <a:xfrm>
                  <a:off x="1056" y="1728"/>
                  <a:ext cx="209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873" name="Text Box 52"/>
                <p:cNvSpPr txBox="1"/>
                <p:nvPr/>
              </p:nvSpPr>
              <p:spPr>
                <a:xfrm>
                  <a:off x="1056" y="1894"/>
                  <a:ext cx="196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874" name="Line 53"/>
                <p:cNvSpPr/>
                <p:nvPr/>
              </p:nvSpPr>
              <p:spPr>
                <a:xfrm>
                  <a:off x="1070" y="1990"/>
                  <a:ext cx="19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05869" name="Text Box 54"/>
            <p:cNvSpPr txBox="1"/>
            <p:nvPr/>
          </p:nvSpPr>
          <p:spPr>
            <a:xfrm>
              <a:off x="1200" y="3040"/>
              <a:ext cx="9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0.1101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6007" name="Text Box 55"/>
          <p:cNvSpPr txBox="1"/>
          <p:nvPr/>
        </p:nvSpPr>
        <p:spPr>
          <a:xfrm>
            <a:off x="6432550" y="4516438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上商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5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008" name="Text Box 56"/>
          <p:cNvSpPr txBox="1"/>
          <p:nvPr/>
        </p:nvSpPr>
        <p:spPr>
          <a:xfrm>
            <a:off x="6432550" y="5029200"/>
            <a:ext cx="2621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第一次上商判溢出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009" name="Text Box 57"/>
          <p:cNvSpPr txBox="1"/>
          <p:nvPr/>
        </p:nvSpPr>
        <p:spPr>
          <a:xfrm>
            <a:off x="2362200" y="5562600"/>
            <a:ext cx="2545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余数为正    上商 </a:t>
            </a:r>
            <a:r>
              <a:rPr lang="en-US" altLang="zh-CN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CC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010" name="Text Box 58"/>
          <p:cNvSpPr txBox="1"/>
          <p:nvPr/>
        </p:nvSpPr>
        <p:spPr>
          <a:xfrm>
            <a:off x="2362200" y="6170613"/>
            <a:ext cx="4069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余数为负    上商 </a:t>
            </a:r>
            <a:r>
              <a:rPr lang="en-US" altLang="zh-CN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，恢复余数</a:t>
            </a:r>
            <a:endParaRPr lang="zh-CN" altLang="en-US" sz="2400" b="1" dirty="0">
              <a:solidFill>
                <a:srgbClr val="CC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011" name="Text Box 59"/>
          <p:cNvSpPr txBox="1"/>
          <p:nvPr/>
        </p:nvSpPr>
        <p:spPr>
          <a:xfrm>
            <a:off x="6432550" y="5551488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移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012" name="Text Box 60"/>
          <p:cNvSpPr txBox="1"/>
          <p:nvPr/>
        </p:nvSpPr>
        <p:spPr>
          <a:xfrm>
            <a:off x="5943600" y="81597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6013" name="Text Box 61"/>
          <p:cNvSpPr txBox="1"/>
          <p:nvPr/>
        </p:nvSpPr>
        <p:spPr>
          <a:xfrm>
            <a:off x="5943600" y="194627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5" name="Group 62"/>
          <p:cNvGrpSpPr/>
          <p:nvPr/>
        </p:nvGrpSpPr>
        <p:grpSpPr>
          <a:xfrm>
            <a:off x="2955925" y="2679700"/>
            <a:ext cx="5608638" cy="460375"/>
            <a:chOff x="710" y="1688"/>
            <a:chExt cx="3533" cy="290"/>
          </a:xfrm>
        </p:grpSpPr>
        <p:sp>
          <p:nvSpPr>
            <p:cNvPr id="205864" name="Text Box 63"/>
            <p:cNvSpPr txBox="1"/>
            <p:nvPr/>
          </p:nvSpPr>
          <p:spPr>
            <a:xfrm>
              <a:off x="710" y="1688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0 . 1 0 1 0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865" name="Text Box 64"/>
            <p:cNvSpPr txBox="1"/>
            <p:nvPr/>
          </p:nvSpPr>
          <p:spPr>
            <a:xfrm>
              <a:off x="3168" y="1688"/>
              <a:ext cx="10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恢复后的余数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866" name="Text Box 65"/>
            <p:cNvSpPr txBox="1"/>
            <p:nvPr/>
          </p:nvSpPr>
          <p:spPr>
            <a:xfrm>
              <a:off x="2160" y="1688"/>
              <a:ext cx="6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6018" name="Text Box 66"/>
          <p:cNvSpPr txBox="1"/>
          <p:nvPr/>
        </p:nvSpPr>
        <p:spPr>
          <a:xfrm>
            <a:off x="5942013" y="3810000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6019" name="Text Box 67"/>
          <p:cNvSpPr txBox="1"/>
          <p:nvPr/>
        </p:nvSpPr>
        <p:spPr>
          <a:xfrm>
            <a:off x="7924800" y="2306638"/>
            <a:ext cx="1752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+[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26020" name="AutoShape 68"/>
          <p:cNvSpPr/>
          <p:nvPr/>
        </p:nvSpPr>
        <p:spPr>
          <a:xfrm>
            <a:off x="1603375" y="2989263"/>
            <a:ext cx="1115894" cy="442794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左移</a:t>
            </a: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26021" name="Rectangle 6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022" name="AutoShape 70"/>
          <p:cNvSpPr/>
          <p:nvPr/>
        </p:nvSpPr>
        <p:spPr>
          <a:xfrm>
            <a:off x="1603375" y="1143000"/>
            <a:ext cx="1115894" cy="442794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左移</a:t>
            </a: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6" name="Group 71"/>
          <p:cNvGrpSpPr/>
          <p:nvPr/>
        </p:nvGrpSpPr>
        <p:grpSpPr>
          <a:xfrm>
            <a:off x="2973388" y="1268413"/>
            <a:ext cx="1368425" cy="1825625"/>
            <a:chOff x="913" y="799"/>
            <a:chExt cx="862" cy="1150"/>
          </a:xfrm>
        </p:grpSpPr>
        <p:sp>
          <p:nvSpPr>
            <p:cNvPr id="205862" name="AutoShape 72"/>
            <p:cNvSpPr/>
            <p:nvPr/>
          </p:nvSpPr>
          <p:spPr>
            <a:xfrm>
              <a:off x="913" y="799"/>
              <a:ext cx="862" cy="227"/>
            </a:xfrm>
            <a:prstGeom prst="flowChartAlternateProcess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5863" name="AutoShape 73"/>
            <p:cNvSpPr/>
            <p:nvPr/>
          </p:nvSpPr>
          <p:spPr>
            <a:xfrm>
              <a:off x="913" y="1722"/>
              <a:ext cx="862" cy="227"/>
            </a:xfrm>
            <a:prstGeom prst="flowChartAlternateProcess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05857" name="AutoShape 7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6027" name="Text Box 75"/>
          <p:cNvSpPr txBox="1"/>
          <p:nvPr/>
        </p:nvSpPr>
        <p:spPr>
          <a:xfrm>
            <a:off x="2640013" y="1603375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6028" name="Text Box 76"/>
          <p:cNvSpPr txBox="1"/>
          <p:nvPr/>
        </p:nvSpPr>
        <p:spPr>
          <a:xfrm>
            <a:off x="2640013" y="2324100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6029" name="Text Box 77"/>
          <p:cNvSpPr txBox="1"/>
          <p:nvPr/>
        </p:nvSpPr>
        <p:spPr>
          <a:xfrm>
            <a:off x="2640013" y="3476625"/>
            <a:ext cx="43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205861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5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2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12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2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2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2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12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2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1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2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3" grpId="0"/>
      <p:bldP spid="125964" grpId="0"/>
      <p:bldP spid="125965" grpId="0"/>
      <p:bldP spid="125975" grpId="0"/>
      <p:bldP spid="125980" grpId="0"/>
      <p:bldP spid="125987" grpId="0"/>
      <p:bldP spid="126007" grpId="0"/>
      <p:bldP spid="126008" grpId="0"/>
      <p:bldP spid="126009" grpId="0"/>
      <p:bldP spid="126010" grpId="0"/>
      <p:bldP spid="126011" grpId="0"/>
      <p:bldP spid="126012" grpId="0"/>
      <p:bldP spid="126013" grpId="0"/>
      <p:bldP spid="126018" grpId="0"/>
      <p:bldP spid="126019" grpId="0"/>
      <p:bldP spid="126020" grpId="0" bldLvl="0" animBg="1"/>
      <p:bldP spid="126022" grpId="0" bldLvl="0" animBg="1"/>
      <p:bldP spid="126027" grpId="0"/>
      <p:bldP spid="126028" grpId="0"/>
      <p:bldP spid="126029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68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2068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3600" dirty="0"/>
              <a:t>例</a:t>
            </a:r>
            <a:r>
              <a:rPr lang="en-US" altLang="zh-CN" sz="3600" dirty="0"/>
              <a:t>:x=-0.1001 y=+0.1101    </a:t>
            </a:r>
            <a:endParaRPr lang="en-US" altLang="zh-CN" sz="36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3600" dirty="0"/>
              <a:t>求</a:t>
            </a:r>
            <a:r>
              <a:rPr lang="en-US" altLang="zh-CN" sz="3600" dirty="0"/>
              <a:t>【 x/y 】</a:t>
            </a:r>
            <a:r>
              <a:rPr lang="zh-CN" altLang="en-US" sz="3600" baseline="-25000" dirty="0"/>
              <a:t>原</a:t>
            </a:r>
            <a:endParaRPr lang="en-US" altLang="zh-CN" sz="3600" baseline="-25000" dirty="0"/>
          </a:p>
          <a:p>
            <a:pPr eaLnBrk="1" hangingPunct="1"/>
            <a:endParaRPr lang="en-US" altLang="zh-CN" sz="3600" dirty="0"/>
          </a:p>
        </p:txBody>
      </p:sp>
      <p:sp>
        <p:nvSpPr>
          <p:cNvPr id="20685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874" name="Text Box 2"/>
          <p:cNvSpPr txBox="1"/>
          <p:nvPr/>
        </p:nvSpPr>
        <p:spPr>
          <a:xfrm>
            <a:off x="1752600" y="228600"/>
            <a:ext cx="4648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不恢复余数法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07875" name="Text Box 3"/>
          <p:cNvSpPr txBox="1"/>
          <p:nvPr/>
        </p:nvSpPr>
        <p:spPr>
          <a:xfrm>
            <a:off x="2879725" y="1820863"/>
            <a:ext cx="53073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余数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＞</a:t>
            </a:r>
            <a:r>
              <a:rPr lang="en-US" altLang="zh-CN" sz="2800" b="1" dirty="0">
                <a:latin typeface="Times New Roman" panose="02020603050405020304" pitchFamily="18" charset="0"/>
              </a:rPr>
              <a:t>0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上商 “</a:t>
            </a:r>
            <a:r>
              <a:rPr lang="en-US" altLang="zh-CN" sz="2800" b="1" dirty="0">
                <a:latin typeface="Times New Roman" panose="02020603050405020304" pitchFamily="18" charset="0"/>
              </a:rPr>
              <a:t>1”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07876" name="Text Box 4"/>
          <p:cNvSpPr txBox="1"/>
          <p:nvPr/>
        </p:nvSpPr>
        <p:spPr>
          <a:xfrm>
            <a:off x="2879725" y="2495550"/>
            <a:ext cx="72275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余数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＜</a:t>
            </a:r>
            <a:r>
              <a:rPr lang="en-US" altLang="zh-CN" sz="2800" b="1" dirty="0">
                <a:latin typeface="Times New Roman" panose="02020603050405020304" pitchFamily="18" charset="0"/>
              </a:rPr>
              <a:t>0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上商 “</a:t>
            </a:r>
            <a:r>
              <a:rPr lang="en-US" altLang="zh-CN" sz="2800" b="1" dirty="0">
                <a:latin typeface="Times New Roman" panose="02020603050405020304" pitchFamily="18" charset="0"/>
              </a:rPr>
              <a:t>0”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zh-CN" altLang="en-US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恢复余数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7877" name="Text Box 5"/>
          <p:cNvSpPr txBox="1"/>
          <p:nvPr/>
        </p:nvSpPr>
        <p:spPr>
          <a:xfrm>
            <a:off x="5715000" y="3170238"/>
            <a:ext cx="385127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2(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*) 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 = 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 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7878" name="Text Box 6"/>
          <p:cNvSpPr txBox="1"/>
          <p:nvPr/>
        </p:nvSpPr>
        <p:spPr>
          <a:xfrm>
            <a:off x="7391400" y="5181600"/>
            <a:ext cx="1694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加减交替 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7879" name="Text Box 7"/>
          <p:cNvSpPr txBox="1"/>
          <p:nvPr/>
        </p:nvSpPr>
        <p:spPr>
          <a:xfrm>
            <a:off x="2362200" y="1085850"/>
            <a:ext cx="40843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恢复余数法运算规则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7880" name="Text Box 8"/>
          <p:cNvSpPr txBox="1"/>
          <p:nvPr/>
        </p:nvSpPr>
        <p:spPr>
          <a:xfrm>
            <a:off x="2362200" y="4102100"/>
            <a:ext cx="44907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不恢复余数法运算规则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7881" name="Text Box 9"/>
          <p:cNvSpPr txBox="1"/>
          <p:nvPr/>
        </p:nvSpPr>
        <p:spPr>
          <a:xfrm>
            <a:off x="2879725" y="4824413"/>
            <a:ext cx="53486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余数   </a:t>
            </a:r>
            <a:r>
              <a:rPr lang="en-US" altLang="zh-CN" b="1" i="1" dirty="0">
                <a:latin typeface="Arial" panose="020B0604020202020204" pitchFamily="34" charset="0"/>
              </a:rPr>
              <a:t>Ri</a:t>
            </a:r>
            <a:r>
              <a:rPr lang="zh-CN" altLang="en-US" b="1" dirty="0">
                <a:latin typeface="Arial" panose="020B0604020202020204" pitchFamily="34" charset="0"/>
              </a:rPr>
              <a:t>＞</a:t>
            </a:r>
            <a:r>
              <a:rPr lang="en-US" altLang="zh-CN" b="1" dirty="0">
                <a:latin typeface="Arial" panose="020B0604020202020204" pitchFamily="34" charset="0"/>
              </a:rPr>
              <a:t>0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上商“</a:t>
            </a:r>
            <a:r>
              <a:rPr lang="en-US" altLang="zh-CN" sz="2800" b="1" dirty="0">
                <a:latin typeface="Times New Roman" panose="02020603050405020304" pitchFamily="18" charset="0"/>
              </a:rPr>
              <a:t>1”        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     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07882" name="Text Box 10"/>
          <p:cNvSpPr txBox="1"/>
          <p:nvPr/>
        </p:nvSpPr>
        <p:spPr>
          <a:xfrm>
            <a:off x="2879725" y="5500688"/>
            <a:ext cx="49288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余数   </a:t>
            </a:r>
            <a:r>
              <a:rPr lang="en-US" altLang="zh-CN" b="1" i="1" dirty="0">
                <a:latin typeface="Arial" panose="020B0604020202020204" pitchFamily="34" charset="0"/>
              </a:rPr>
              <a:t>Ri</a:t>
            </a:r>
            <a:r>
              <a:rPr lang="zh-CN" altLang="en-US" b="1" dirty="0">
                <a:latin typeface="Arial" panose="020B0604020202020204" pitchFamily="34" charset="0"/>
              </a:rPr>
              <a:t>＜</a:t>
            </a:r>
            <a:r>
              <a:rPr lang="en-US" altLang="zh-CN" b="1" dirty="0">
                <a:latin typeface="Arial" panose="020B0604020202020204" pitchFamily="34" charset="0"/>
              </a:rPr>
              <a:t>0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上商“</a:t>
            </a:r>
            <a:r>
              <a:rPr lang="en-US" altLang="zh-CN" sz="2800" b="1" dirty="0">
                <a:latin typeface="Times New Roman" panose="02020603050405020304" pitchFamily="18" charset="0"/>
              </a:rPr>
              <a:t>0”        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 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7883" name="Text Box 11"/>
          <p:cNvSpPr txBox="1"/>
          <p:nvPr/>
        </p:nvSpPr>
        <p:spPr>
          <a:xfrm>
            <a:off x="5100638" y="228600"/>
            <a:ext cx="34975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（加减交替法）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26988" name="Rectangle 1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7885" name="AutoShape 1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788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8898" name="Group 2"/>
          <p:cNvGrpSpPr/>
          <p:nvPr/>
        </p:nvGrpSpPr>
        <p:grpSpPr>
          <a:xfrm>
            <a:off x="3201988" y="152400"/>
            <a:ext cx="5818187" cy="738369"/>
            <a:chOff x="1057" y="96"/>
            <a:chExt cx="3665" cy="465"/>
          </a:xfrm>
        </p:grpSpPr>
        <p:sp>
          <p:nvSpPr>
            <p:cNvPr id="208986" name="Text Box 3"/>
            <p:cNvSpPr txBox="1"/>
            <p:nvPr/>
          </p:nvSpPr>
          <p:spPr>
            <a:xfrm>
              <a:off x="1057" y="192"/>
              <a:ext cx="302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– 0.1011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– 0.1101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求</a:t>
              </a:r>
              <a:endParaRPr lang="zh-CN" altLang="en-US" sz="2800" b="1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8987" name="Group 4"/>
            <p:cNvGrpSpPr/>
            <p:nvPr/>
          </p:nvGrpSpPr>
          <p:grpSpPr>
            <a:xfrm>
              <a:off x="4109" y="96"/>
              <a:ext cx="613" cy="465"/>
              <a:chOff x="1085" y="1898"/>
              <a:chExt cx="613" cy="440"/>
            </a:xfrm>
          </p:grpSpPr>
          <p:sp>
            <p:nvSpPr>
              <p:cNvPr id="208988" name="Text Box 5"/>
              <p:cNvSpPr txBox="1"/>
              <p:nvPr/>
            </p:nvSpPr>
            <p:spPr>
              <a:xfrm>
                <a:off x="1085" y="1988"/>
                <a:ext cx="613" cy="3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原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8989" name="Group 6"/>
              <p:cNvGrpSpPr/>
              <p:nvPr/>
            </p:nvGrpSpPr>
            <p:grpSpPr>
              <a:xfrm>
                <a:off x="1219" y="1898"/>
                <a:ext cx="211" cy="440"/>
                <a:chOff x="1056" y="1728"/>
                <a:chExt cx="211" cy="440"/>
              </a:xfrm>
            </p:grpSpPr>
            <p:sp>
              <p:nvSpPr>
                <p:cNvPr id="208990" name="Text Box 7"/>
                <p:cNvSpPr txBox="1"/>
                <p:nvPr/>
              </p:nvSpPr>
              <p:spPr>
                <a:xfrm>
                  <a:off x="1056" y="1728"/>
                  <a:ext cx="211" cy="2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8991" name="Text Box 8"/>
                <p:cNvSpPr txBox="1"/>
                <p:nvPr/>
              </p:nvSpPr>
              <p:spPr>
                <a:xfrm>
                  <a:off x="1056" y="1894"/>
                  <a:ext cx="199" cy="2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8992" name="Line 9"/>
                <p:cNvSpPr/>
                <p:nvPr/>
              </p:nvSpPr>
              <p:spPr>
                <a:xfrm>
                  <a:off x="1070" y="1990"/>
                  <a:ext cx="19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208899" name="Text Box 10"/>
          <p:cNvSpPr txBox="1"/>
          <p:nvPr/>
        </p:nvSpPr>
        <p:spPr>
          <a:xfrm>
            <a:off x="1752600" y="9286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8900" name="Text Box 11"/>
          <p:cNvSpPr txBox="1"/>
          <p:nvPr/>
        </p:nvSpPr>
        <p:spPr>
          <a:xfrm>
            <a:off x="1604963" y="254000"/>
            <a:ext cx="1440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6.25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128012" name="Text Box 12"/>
          <p:cNvSpPr txBox="1"/>
          <p:nvPr/>
        </p:nvSpPr>
        <p:spPr>
          <a:xfrm>
            <a:off x="2559050" y="106680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13" name="Text Box 13"/>
          <p:cNvSpPr txBox="1"/>
          <p:nvPr/>
        </p:nvSpPr>
        <p:spPr>
          <a:xfrm>
            <a:off x="2559050" y="143192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14" name="Text Box 14"/>
          <p:cNvSpPr txBox="1"/>
          <p:nvPr/>
        </p:nvSpPr>
        <p:spPr>
          <a:xfrm>
            <a:off x="2559050" y="252571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15" name="Text Box 15"/>
          <p:cNvSpPr txBox="1"/>
          <p:nvPr/>
        </p:nvSpPr>
        <p:spPr>
          <a:xfrm>
            <a:off x="2559050" y="361950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16" name="Text Box 16"/>
          <p:cNvSpPr txBox="1"/>
          <p:nvPr/>
        </p:nvSpPr>
        <p:spPr>
          <a:xfrm>
            <a:off x="2559050" y="471487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17" name="Text Box 17"/>
          <p:cNvSpPr txBox="1"/>
          <p:nvPr/>
        </p:nvSpPr>
        <p:spPr>
          <a:xfrm>
            <a:off x="2559050" y="580866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18" name="Line 18"/>
          <p:cNvSpPr/>
          <p:nvPr/>
        </p:nvSpPr>
        <p:spPr>
          <a:xfrm>
            <a:off x="2398713" y="1827213"/>
            <a:ext cx="59134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8019" name="Text Box 19"/>
          <p:cNvSpPr txBox="1"/>
          <p:nvPr/>
        </p:nvSpPr>
        <p:spPr>
          <a:xfrm>
            <a:off x="4235450" y="106680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0 . 0 0 0 0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20" name="Line 20"/>
          <p:cNvSpPr/>
          <p:nvPr/>
        </p:nvSpPr>
        <p:spPr>
          <a:xfrm>
            <a:off x="2398713" y="2928938"/>
            <a:ext cx="59134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8021" name="Line 21"/>
          <p:cNvSpPr/>
          <p:nvPr/>
        </p:nvSpPr>
        <p:spPr>
          <a:xfrm>
            <a:off x="2398713" y="4032250"/>
            <a:ext cx="59134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8022" name="Line 22"/>
          <p:cNvSpPr/>
          <p:nvPr/>
        </p:nvSpPr>
        <p:spPr>
          <a:xfrm>
            <a:off x="2398713" y="5133975"/>
            <a:ext cx="59134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8023" name="Line 23"/>
          <p:cNvSpPr/>
          <p:nvPr/>
        </p:nvSpPr>
        <p:spPr>
          <a:xfrm>
            <a:off x="2398713" y="6235700"/>
            <a:ext cx="59134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8024" name="Line 24"/>
          <p:cNvSpPr/>
          <p:nvPr/>
        </p:nvSpPr>
        <p:spPr>
          <a:xfrm>
            <a:off x="4114800" y="990600"/>
            <a:ext cx="0" cy="5638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8025" name="Line 25"/>
          <p:cNvSpPr/>
          <p:nvPr/>
        </p:nvSpPr>
        <p:spPr>
          <a:xfrm>
            <a:off x="5791200" y="990600"/>
            <a:ext cx="0" cy="5638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8026" name="Text Box 26"/>
          <p:cNvSpPr txBox="1"/>
          <p:nvPr/>
        </p:nvSpPr>
        <p:spPr>
          <a:xfrm>
            <a:off x="5989638" y="1381125"/>
            <a:ext cx="1241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28027" name="Text Box 27"/>
          <p:cNvSpPr txBox="1"/>
          <p:nvPr/>
        </p:nvSpPr>
        <p:spPr>
          <a:xfrm>
            <a:off x="5302250" y="1797050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28"/>
          <p:cNvGrpSpPr/>
          <p:nvPr/>
        </p:nvGrpSpPr>
        <p:grpSpPr>
          <a:xfrm>
            <a:off x="2559050" y="1797050"/>
            <a:ext cx="5581650" cy="460375"/>
            <a:chOff x="652" y="1132"/>
            <a:chExt cx="3516" cy="290"/>
          </a:xfrm>
        </p:grpSpPr>
        <p:sp>
          <p:nvSpPr>
            <p:cNvPr id="208984" name="Text Box 29"/>
            <p:cNvSpPr txBox="1"/>
            <p:nvPr/>
          </p:nvSpPr>
          <p:spPr>
            <a:xfrm>
              <a:off x="652" y="1132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1 . 1 1 1 0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85" name="Text Box 30"/>
            <p:cNvSpPr txBox="1"/>
            <p:nvPr/>
          </p:nvSpPr>
          <p:spPr>
            <a:xfrm>
              <a:off x="2813" y="1142"/>
              <a:ext cx="13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余数为负，上商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31"/>
          <p:cNvGrpSpPr/>
          <p:nvPr/>
        </p:nvGrpSpPr>
        <p:grpSpPr>
          <a:xfrm>
            <a:off x="2559050" y="2162175"/>
            <a:ext cx="4144963" cy="471488"/>
            <a:chOff x="652" y="1362"/>
            <a:chExt cx="2611" cy="297"/>
          </a:xfrm>
        </p:grpSpPr>
        <p:sp>
          <p:nvSpPr>
            <p:cNvPr id="208979" name="Text Box 32"/>
            <p:cNvSpPr txBox="1"/>
            <p:nvPr/>
          </p:nvSpPr>
          <p:spPr>
            <a:xfrm>
              <a:off x="652" y="1362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1 . 1 1 0 0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80" name="Text Box 33"/>
            <p:cNvSpPr txBox="1"/>
            <p:nvPr/>
          </p:nvSpPr>
          <p:spPr>
            <a:xfrm>
              <a:off x="2246" y="1362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8981" name="Group 34"/>
            <p:cNvGrpSpPr/>
            <p:nvPr/>
          </p:nvGrpSpPr>
          <p:grpSpPr>
            <a:xfrm>
              <a:off x="2870" y="1369"/>
              <a:ext cx="393" cy="290"/>
              <a:chOff x="3216" y="780"/>
              <a:chExt cx="393" cy="290"/>
            </a:xfrm>
          </p:grpSpPr>
          <p:sp>
            <p:nvSpPr>
              <p:cNvPr id="208982" name="Text Box 35"/>
              <p:cNvSpPr txBox="1"/>
              <p:nvPr/>
            </p:nvSpPr>
            <p:spPr>
              <a:xfrm>
                <a:off x="3398" y="780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983" name="Line 36"/>
              <p:cNvSpPr/>
              <p:nvPr/>
            </p:nvSpPr>
            <p:spPr>
              <a:xfrm flipH="1">
                <a:off x="3216" y="917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</p:grpSp>
      <p:sp>
        <p:nvSpPr>
          <p:cNvPr id="128037" name="Text Box 37"/>
          <p:cNvSpPr txBox="1"/>
          <p:nvPr/>
        </p:nvSpPr>
        <p:spPr>
          <a:xfrm>
            <a:off x="5989638" y="2466975"/>
            <a:ext cx="10128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8" name="Group 38"/>
          <p:cNvGrpSpPr/>
          <p:nvPr/>
        </p:nvGrpSpPr>
        <p:grpSpPr>
          <a:xfrm>
            <a:off x="2559050" y="2890838"/>
            <a:ext cx="5581650" cy="460375"/>
            <a:chOff x="652" y="1821"/>
            <a:chExt cx="3516" cy="290"/>
          </a:xfrm>
        </p:grpSpPr>
        <p:sp>
          <p:nvSpPr>
            <p:cNvPr id="208975" name="Text Box 39"/>
            <p:cNvSpPr txBox="1"/>
            <p:nvPr/>
          </p:nvSpPr>
          <p:spPr>
            <a:xfrm>
              <a:off x="2236" y="182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8976" name="Group 40"/>
            <p:cNvGrpSpPr/>
            <p:nvPr/>
          </p:nvGrpSpPr>
          <p:grpSpPr>
            <a:xfrm>
              <a:off x="652" y="1821"/>
              <a:ext cx="3516" cy="290"/>
              <a:chOff x="652" y="1821"/>
              <a:chExt cx="3516" cy="290"/>
            </a:xfrm>
          </p:grpSpPr>
          <p:sp>
            <p:nvSpPr>
              <p:cNvPr id="208977" name="Text Box 41"/>
              <p:cNvSpPr txBox="1"/>
              <p:nvPr/>
            </p:nvSpPr>
            <p:spPr>
              <a:xfrm>
                <a:off x="652" y="1821"/>
                <a:ext cx="88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0 . 1 0 0 1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978" name="Text Box 42"/>
              <p:cNvSpPr txBox="1"/>
              <p:nvPr/>
            </p:nvSpPr>
            <p:spPr>
              <a:xfrm>
                <a:off x="2813" y="1824"/>
                <a:ext cx="1355" cy="2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余数为正，上商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28043" name="Text Box 43"/>
          <p:cNvSpPr txBox="1"/>
          <p:nvPr/>
        </p:nvSpPr>
        <p:spPr>
          <a:xfrm>
            <a:off x="5989638" y="3581400"/>
            <a:ext cx="1241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– 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10" name="Group 44"/>
          <p:cNvGrpSpPr/>
          <p:nvPr/>
        </p:nvGrpSpPr>
        <p:grpSpPr>
          <a:xfrm>
            <a:off x="2559050" y="3200400"/>
            <a:ext cx="4144963" cy="515938"/>
            <a:chOff x="652" y="2016"/>
            <a:chExt cx="2611" cy="325"/>
          </a:xfrm>
        </p:grpSpPr>
        <p:sp>
          <p:nvSpPr>
            <p:cNvPr id="208970" name="Text Box 45"/>
            <p:cNvSpPr txBox="1"/>
            <p:nvPr/>
          </p:nvSpPr>
          <p:spPr>
            <a:xfrm>
              <a:off x="652" y="2051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1 . 0 0 1 0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71" name="Text Box 46"/>
            <p:cNvSpPr txBox="1"/>
            <p:nvPr/>
          </p:nvSpPr>
          <p:spPr>
            <a:xfrm>
              <a:off x="2078" y="2051"/>
              <a:ext cx="35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8972" name="Group 47"/>
            <p:cNvGrpSpPr/>
            <p:nvPr/>
          </p:nvGrpSpPr>
          <p:grpSpPr>
            <a:xfrm>
              <a:off x="2870" y="2016"/>
              <a:ext cx="393" cy="290"/>
              <a:chOff x="3216" y="780"/>
              <a:chExt cx="393" cy="290"/>
            </a:xfrm>
          </p:grpSpPr>
          <p:sp>
            <p:nvSpPr>
              <p:cNvPr id="208973" name="Text Box 48"/>
              <p:cNvSpPr txBox="1"/>
              <p:nvPr/>
            </p:nvSpPr>
            <p:spPr>
              <a:xfrm>
                <a:off x="3398" y="780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974" name="Line 49"/>
              <p:cNvSpPr/>
              <p:nvPr/>
            </p:nvSpPr>
            <p:spPr>
              <a:xfrm flipH="1">
                <a:off x="3216" y="917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</p:grpSp>
      <p:sp>
        <p:nvSpPr>
          <p:cNvPr id="128050" name="Text Box 50"/>
          <p:cNvSpPr txBox="1"/>
          <p:nvPr/>
        </p:nvSpPr>
        <p:spPr>
          <a:xfrm>
            <a:off x="5989638" y="4648200"/>
            <a:ext cx="1241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28051" name="Text Box 51"/>
          <p:cNvSpPr txBox="1"/>
          <p:nvPr/>
        </p:nvSpPr>
        <p:spPr>
          <a:xfrm>
            <a:off x="5989638" y="5791200"/>
            <a:ext cx="10128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12" name="Group 52"/>
          <p:cNvGrpSpPr/>
          <p:nvPr/>
        </p:nvGrpSpPr>
        <p:grpSpPr>
          <a:xfrm>
            <a:off x="2559050" y="4343400"/>
            <a:ext cx="4144963" cy="466725"/>
            <a:chOff x="652" y="2736"/>
            <a:chExt cx="2611" cy="294"/>
          </a:xfrm>
        </p:grpSpPr>
        <p:sp>
          <p:nvSpPr>
            <p:cNvPr id="208965" name="Text Box 53"/>
            <p:cNvSpPr txBox="1"/>
            <p:nvPr/>
          </p:nvSpPr>
          <p:spPr>
            <a:xfrm>
              <a:off x="652" y="2740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0 . 1 0 1 0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66" name="Text Box 54"/>
            <p:cNvSpPr txBox="1"/>
            <p:nvPr/>
          </p:nvSpPr>
          <p:spPr>
            <a:xfrm>
              <a:off x="1948" y="2740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8967" name="Group 55"/>
            <p:cNvGrpSpPr/>
            <p:nvPr/>
          </p:nvGrpSpPr>
          <p:grpSpPr>
            <a:xfrm>
              <a:off x="2870" y="2736"/>
              <a:ext cx="393" cy="290"/>
              <a:chOff x="3216" y="780"/>
              <a:chExt cx="393" cy="290"/>
            </a:xfrm>
          </p:grpSpPr>
          <p:sp>
            <p:nvSpPr>
              <p:cNvPr id="208968" name="Text Box 56"/>
              <p:cNvSpPr txBox="1"/>
              <p:nvPr/>
            </p:nvSpPr>
            <p:spPr>
              <a:xfrm>
                <a:off x="3398" y="780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969" name="Line 57"/>
              <p:cNvSpPr/>
              <p:nvPr/>
            </p:nvSpPr>
            <p:spPr>
              <a:xfrm flipH="1">
                <a:off x="3216" y="917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</p:grpSp>
      <p:grpSp>
        <p:nvGrpSpPr>
          <p:cNvPr id="14" name="Group 58"/>
          <p:cNvGrpSpPr/>
          <p:nvPr/>
        </p:nvGrpSpPr>
        <p:grpSpPr>
          <a:xfrm>
            <a:off x="2559050" y="5443538"/>
            <a:ext cx="4144963" cy="503237"/>
            <a:chOff x="652" y="3429"/>
            <a:chExt cx="2611" cy="317"/>
          </a:xfrm>
        </p:grpSpPr>
        <p:sp>
          <p:nvSpPr>
            <p:cNvPr id="208960" name="Text Box 59"/>
            <p:cNvSpPr txBox="1"/>
            <p:nvPr/>
          </p:nvSpPr>
          <p:spPr>
            <a:xfrm>
              <a:off x="652" y="3429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1 . 1 0 1 0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61" name="Text Box 60"/>
            <p:cNvSpPr txBox="1"/>
            <p:nvPr/>
          </p:nvSpPr>
          <p:spPr>
            <a:xfrm>
              <a:off x="1804" y="3429"/>
              <a:ext cx="6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8962" name="Group 61"/>
            <p:cNvGrpSpPr/>
            <p:nvPr/>
          </p:nvGrpSpPr>
          <p:grpSpPr>
            <a:xfrm>
              <a:off x="2870" y="3456"/>
              <a:ext cx="393" cy="290"/>
              <a:chOff x="3216" y="780"/>
              <a:chExt cx="393" cy="290"/>
            </a:xfrm>
          </p:grpSpPr>
          <p:sp>
            <p:nvSpPr>
              <p:cNvPr id="208963" name="Text Box 62"/>
              <p:cNvSpPr txBox="1"/>
              <p:nvPr/>
            </p:nvSpPr>
            <p:spPr>
              <a:xfrm>
                <a:off x="3398" y="780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964" name="Line 63"/>
              <p:cNvSpPr/>
              <p:nvPr/>
            </p:nvSpPr>
            <p:spPr>
              <a:xfrm flipH="1">
                <a:off x="3216" y="917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</p:grpSp>
      </p:grpSp>
      <p:grpSp>
        <p:nvGrpSpPr>
          <p:cNvPr id="16" name="Group 64"/>
          <p:cNvGrpSpPr/>
          <p:nvPr/>
        </p:nvGrpSpPr>
        <p:grpSpPr>
          <a:xfrm>
            <a:off x="2559050" y="3984625"/>
            <a:ext cx="5581650" cy="460375"/>
            <a:chOff x="652" y="2510"/>
            <a:chExt cx="3516" cy="290"/>
          </a:xfrm>
        </p:grpSpPr>
        <p:sp>
          <p:nvSpPr>
            <p:cNvPr id="208957" name="Text Box 65"/>
            <p:cNvSpPr txBox="1"/>
            <p:nvPr/>
          </p:nvSpPr>
          <p:spPr>
            <a:xfrm>
              <a:off x="652" y="2510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0 . 0 1 0 1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58" name="Text Box 66"/>
            <p:cNvSpPr txBox="1"/>
            <p:nvPr/>
          </p:nvSpPr>
          <p:spPr>
            <a:xfrm>
              <a:off x="2092" y="2510"/>
              <a:ext cx="35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59" name="Text Box 67"/>
            <p:cNvSpPr txBox="1"/>
            <p:nvPr/>
          </p:nvSpPr>
          <p:spPr>
            <a:xfrm>
              <a:off x="2813" y="2544"/>
              <a:ext cx="13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余数为正，上商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68"/>
          <p:cNvGrpSpPr/>
          <p:nvPr/>
        </p:nvGrpSpPr>
        <p:grpSpPr>
          <a:xfrm>
            <a:off x="2559050" y="6172200"/>
            <a:ext cx="5581650" cy="474663"/>
            <a:chOff x="652" y="3888"/>
            <a:chExt cx="3516" cy="299"/>
          </a:xfrm>
        </p:grpSpPr>
        <p:sp>
          <p:nvSpPr>
            <p:cNvPr id="208954" name="Text Box 69"/>
            <p:cNvSpPr txBox="1"/>
            <p:nvPr/>
          </p:nvSpPr>
          <p:spPr>
            <a:xfrm>
              <a:off x="652" y="3888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0 . 0 1 1 1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55" name="Text Box 70"/>
            <p:cNvSpPr txBox="1"/>
            <p:nvPr/>
          </p:nvSpPr>
          <p:spPr>
            <a:xfrm>
              <a:off x="1804" y="3888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0 1 1 0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56" name="Text Box 71"/>
            <p:cNvSpPr txBox="1"/>
            <p:nvPr/>
          </p:nvSpPr>
          <p:spPr>
            <a:xfrm>
              <a:off x="2813" y="3936"/>
              <a:ext cx="13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余数为正，上商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72"/>
          <p:cNvGrpSpPr/>
          <p:nvPr/>
        </p:nvGrpSpPr>
        <p:grpSpPr>
          <a:xfrm>
            <a:off x="2559050" y="5078413"/>
            <a:ext cx="5581650" cy="460375"/>
            <a:chOff x="652" y="3199"/>
            <a:chExt cx="3516" cy="290"/>
          </a:xfrm>
        </p:grpSpPr>
        <p:sp>
          <p:nvSpPr>
            <p:cNvPr id="208951" name="Text Box 73"/>
            <p:cNvSpPr txBox="1"/>
            <p:nvPr/>
          </p:nvSpPr>
          <p:spPr>
            <a:xfrm>
              <a:off x="652" y="3199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1 . 1 1 0 1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52" name="Text Box 74"/>
            <p:cNvSpPr txBox="1"/>
            <p:nvPr/>
          </p:nvSpPr>
          <p:spPr>
            <a:xfrm>
              <a:off x="1948" y="3199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8953" name="Text Box 75"/>
            <p:cNvSpPr txBox="1"/>
            <p:nvPr/>
          </p:nvSpPr>
          <p:spPr>
            <a:xfrm>
              <a:off x="2813" y="3216"/>
              <a:ext cx="13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余数为负，上商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8076" name="Text Box 76"/>
          <p:cNvSpPr txBox="1"/>
          <p:nvPr/>
        </p:nvSpPr>
        <p:spPr>
          <a:xfrm>
            <a:off x="8763000" y="1108075"/>
            <a:ext cx="1851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1.1011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77" name="Text Box 77"/>
          <p:cNvSpPr txBox="1"/>
          <p:nvPr/>
        </p:nvSpPr>
        <p:spPr>
          <a:xfrm>
            <a:off x="8610600" y="2667000"/>
            <a:ext cx="1986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0.1101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78" name="Text Box 78"/>
          <p:cNvSpPr txBox="1"/>
          <p:nvPr/>
        </p:nvSpPr>
        <p:spPr>
          <a:xfrm>
            <a:off x="8458200" y="3187700"/>
            <a:ext cx="2138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1.0011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79" name="Text Box 79"/>
          <p:cNvSpPr txBox="1"/>
          <p:nvPr/>
        </p:nvSpPr>
        <p:spPr>
          <a:xfrm>
            <a:off x="8763000" y="1627188"/>
            <a:ext cx="1833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1.1101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80" name="Text Box 80"/>
          <p:cNvSpPr txBox="1"/>
          <p:nvPr/>
        </p:nvSpPr>
        <p:spPr>
          <a:xfrm>
            <a:off x="5302250" y="2890838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81" name="Text Box 81"/>
          <p:cNvSpPr txBox="1"/>
          <p:nvPr/>
        </p:nvSpPr>
        <p:spPr>
          <a:xfrm>
            <a:off x="5302250" y="398462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82" name="Text Box 82"/>
          <p:cNvSpPr txBox="1"/>
          <p:nvPr/>
        </p:nvSpPr>
        <p:spPr>
          <a:xfrm>
            <a:off x="5302250" y="5078413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83" name="Text Box 83"/>
          <p:cNvSpPr txBox="1"/>
          <p:nvPr/>
        </p:nvSpPr>
        <p:spPr>
          <a:xfrm>
            <a:off x="5302250" y="6172200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84" name="AutoShape 84"/>
          <p:cNvSpPr/>
          <p:nvPr/>
        </p:nvSpPr>
        <p:spPr>
          <a:xfrm>
            <a:off x="1604963" y="2817813"/>
            <a:ext cx="755650" cy="1088500"/>
          </a:xfrm>
          <a:prstGeom prst="wedgeRoundRectCallout">
            <a:avLst>
              <a:gd name="adj1" fmla="val 89958"/>
              <a:gd name="adj2" fmla="val 3625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左移</a:t>
            </a: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28085" name="Rectangle 8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8086" name="Text Box 86"/>
          <p:cNvSpPr txBox="1"/>
          <p:nvPr/>
        </p:nvSpPr>
        <p:spPr>
          <a:xfrm>
            <a:off x="8610600" y="2147888"/>
            <a:ext cx="2003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*]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8087" name="AutoShape 87"/>
          <p:cNvSpPr/>
          <p:nvPr/>
        </p:nvSpPr>
        <p:spPr>
          <a:xfrm>
            <a:off x="1603375" y="1773238"/>
            <a:ext cx="757238" cy="1088656"/>
          </a:xfrm>
          <a:prstGeom prst="wedgeRoundRectCallout">
            <a:avLst>
              <a:gd name="adj1" fmla="val 89958"/>
              <a:gd name="adj2" fmla="val 3625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左移</a:t>
            </a: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28088" name="AutoShape 88"/>
          <p:cNvSpPr/>
          <p:nvPr/>
        </p:nvSpPr>
        <p:spPr>
          <a:xfrm>
            <a:off x="1603375" y="3933825"/>
            <a:ext cx="757238" cy="1088656"/>
          </a:xfrm>
          <a:prstGeom prst="wedgeRoundRectCallout">
            <a:avLst>
              <a:gd name="adj1" fmla="val 89958"/>
              <a:gd name="adj2" fmla="val 3625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左移</a:t>
            </a: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28089" name="AutoShape 89"/>
          <p:cNvSpPr/>
          <p:nvPr/>
        </p:nvSpPr>
        <p:spPr>
          <a:xfrm>
            <a:off x="1603375" y="5037138"/>
            <a:ext cx="757238" cy="1088656"/>
          </a:xfrm>
          <a:prstGeom prst="wedgeRoundRectCallout">
            <a:avLst>
              <a:gd name="adj1" fmla="val 89958"/>
              <a:gd name="adj2" fmla="val 3625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左移</a:t>
            </a: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08944" name="AutoShape 9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8091" name="Text Box 91"/>
          <p:cNvSpPr txBox="1"/>
          <p:nvPr/>
        </p:nvSpPr>
        <p:spPr>
          <a:xfrm>
            <a:off x="2314575" y="1477963"/>
            <a:ext cx="4683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28092" name="Text Box 92"/>
          <p:cNvSpPr txBox="1"/>
          <p:nvPr/>
        </p:nvSpPr>
        <p:spPr>
          <a:xfrm>
            <a:off x="2314575" y="2565400"/>
            <a:ext cx="4683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28093" name="Text Box 93"/>
          <p:cNvSpPr txBox="1"/>
          <p:nvPr/>
        </p:nvSpPr>
        <p:spPr>
          <a:xfrm>
            <a:off x="2314575" y="3644900"/>
            <a:ext cx="4683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28094" name="Text Box 94"/>
          <p:cNvSpPr txBox="1"/>
          <p:nvPr/>
        </p:nvSpPr>
        <p:spPr>
          <a:xfrm>
            <a:off x="2314575" y="4724400"/>
            <a:ext cx="4683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28095" name="Text Box 95"/>
          <p:cNvSpPr txBox="1"/>
          <p:nvPr/>
        </p:nvSpPr>
        <p:spPr>
          <a:xfrm>
            <a:off x="2314575" y="5870575"/>
            <a:ext cx="4683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0895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2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128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8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8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12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8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2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3" dur="500"/>
                                        <p:tgtEl>
                                          <p:spTgt spid="12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2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2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128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12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1" dur="500"/>
                                        <p:tgtEl>
                                          <p:spTgt spid="12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12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12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12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9" dur="500"/>
                                        <p:tgtEl>
                                          <p:spTgt spid="12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2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12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1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9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3" dur="500"/>
                                        <p:tgtEl>
                                          <p:spTgt spid="12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000"/>
                            </p:stCondLst>
                            <p:childTnLst>
                              <p:par>
                                <p:cTn id="2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7" dur="500"/>
                                        <p:tgtEl>
                                          <p:spTgt spid="12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7" dur="500"/>
                                        <p:tgtEl>
                                          <p:spTgt spid="12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12" grpId="0"/>
      <p:bldP spid="128013" grpId="0"/>
      <p:bldP spid="128014" grpId="0"/>
      <p:bldP spid="128015" grpId="0"/>
      <p:bldP spid="128016" grpId="0"/>
      <p:bldP spid="128017" grpId="0"/>
      <p:bldP spid="128019" grpId="0"/>
      <p:bldP spid="128026" grpId="0"/>
      <p:bldP spid="128027" grpId="0"/>
      <p:bldP spid="128037" grpId="0"/>
      <p:bldP spid="128043" grpId="0"/>
      <p:bldP spid="128050" grpId="0"/>
      <p:bldP spid="128051" grpId="0"/>
      <p:bldP spid="128076" grpId="0"/>
      <p:bldP spid="128077" grpId="0"/>
      <p:bldP spid="128078" grpId="0"/>
      <p:bldP spid="128079" grpId="0"/>
      <p:bldP spid="128080" grpId="0"/>
      <p:bldP spid="128081" grpId="0"/>
      <p:bldP spid="128082" grpId="0"/>
      <p:bldP spid="128083" grpId="0"/>
      <p:bldP spid="128084" grpId="0" bldLvl="0" animBg="1"/>
      <p:bldP spid="128086" grpId="0"/>
      <p:bldP spid="128087" grpId="0" bldLvl="0" animBg="1"/>
      <p:bldP spid="128088" grpId="0" bldLvl="0" animBg="1"/>
      <p:bldP spid="128089" grpId="0" bldLvl="0" animBg="1"/>
      <p:bldP spid="128091" grpId="0"/>
      <p:bldP spid="128092" grpId="0"/>
      <p:bldP spid="128093" grpId="0"/>
      <p:bldP spid="128094" grpId="0"/>
      <p:bldP spid="12809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9922" name="Group 2"/>
          <p:cNvGrpSpPr/>
          <p:nvPr/>
        </p:nvGrpSpPr>
        <p:grpSpPr>
          <a:xfrm>
            <a:off x="2514600" y="1143000"/>
            <a:ext cx="3244850" cy="522288"/>
            <a:chOff x="624" y="720"/>
            <a:chExt cx="2044" cy="329"/>
          </a:xfrm>
        </p:grpSpPr>
        <p:sp>
          <p:nvSpPr>
            <p:cNvPr id="209948" name="Text Box 3"/>
            <p:cNvSpPr txBox="1"/>
            <p:nvPr/>
          </p:nvSpPr>
          <p:spPr>
            <a:xfrm>
              <a:off x="624" y="720"/>
              <a:ext cx="20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①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1    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 =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9949" name="AutoShape 4"/>
            <p:cNvSpPr/>
            <p:nvPr/>
          </p:nvSpPr>
          <p:spPr>
            <a:xfrm>
              <a:off x="1200" y="864"/>
              <a:ext cx="125" cy="125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9950" name="AutoShape 5"/>
            <p:cNvSpPr/>
            <p:nvPr/>
          </p:nvSpPr>
          <p:spPr>
            <a:xfrm>
              <a:off x="1978" y="816"/>
              <a:ext cx="125" cy="125"/>
            </a:xfrm>
            <a:prstGeom prst="flowChartOr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9923" name="Group 6"/>
          <p:cNvGrpSpPr/>
          <p:nvPr/>
        </p:nvGrpSpPr>
        <p:grpSpPr>
          <a:xfrm>
            <a:off x="2514600" y="1727200"/>
            <a:ext cx="2498725" cy="723900"/>
            <a:chOff x="624" y="1088"/>
            <a:chExt cx="1574" cy="456"/>
          </a:xfrm>
        </p:grpSpPr>
        <p:sp>
          <p:nvSpPr>
            <p:cNvPr id="209942" name="Text Box 7"/>
            <p:cNvSpPr txBox="1"/>
            <p:nvPr/>
          </p:nvSpPr>
          <p:spPr>
            <a:xfrm>
              <a:off x="624" y="1138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②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9943" name="Group 8"/>
            <p:cNvGrpSpPr/>
            <p:nvPr/>
          </p:nvGrpSpPr>
          <p:grpSpPr>
            <a:xfrm>
              <a:off x="1018" y="1088"/>
              <a:ext cx="307" cy="456"/>
              <a:chOff x="1056" y="1728"/>
              <a:chExt cx="307" cy="456"/>
            </a:xfrm>
          </p:grpSpPr>
          <p:sp>
            <p:nvSpPr>
              <p:cNvPr id="209945" name="Text Box 9"/>
              <p:cNvSpPr txBox="1"/>
              <p:nvPr/>
            </p:nvSpPr>
            <p:spPr>
              <a:xfrm>
                <a:off x="1056" y="1728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*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946" name="Text Box 10"/>
              <p:cNvSpPr txBox="1"/>
              <p:nvPr/>
            </p:nvSpPr>
            <p:spPr>
              <a:xfrm>
                <a:off x="1056" y="1894"/>
                <a:ext cx="29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*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947" name="Line 11"/>
              <p:cNvSpPr/>
              <p:nvPr/>
            </p:nvSpPr>
            <p:spPr>
              <a:xfrm>
                <a:off x="1070" y="1990"/>
                <a:ext cx="19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209944" name="Text Box 12"/>
            <p:cNvSpPr txBox="1"/>
            <p:nvPr/>
          </p:nvSpPr>
          <p:spPr>
            <a:xfrm>
              <a:off x="1296" y="1161"/>
              <a:ext cx="9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0.1101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9924" name="Group 13"/>
          <p:cNvGrpSpPr/>
          <p:nvPr/>
        </p:nvGrpSpPr>
        <p:grpSpPr>
          <a:xfrm>
            <a:off x="2133600" y="2362200"/>
            <a:ext cx="2854325" cy="741363"/>
            <a:chOff x="384" y="1488"/>
            <a:chExt cx="1798" cy="467"/>
          </a:xfrm>
        </p:grpSpPr>
        <p:sp>
          <p:nvSpPr>
            <p:cNvPr id="209935" name="Text Box 14"/>
            <p:cNvSpPr txBox="1"/>
            <p:nvPr/>
          </p:nvSpPr>
          <p:spPr>
            <a:xfrm>
              <a:off x="384" y="1626"/>
              <a:ext cx="179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∴            = 0.1101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9936" name="Group 15"/>
            <p:cNvGrpSpPr/>
            <p:nvPr/>
          </p:nvGrpSpPr>
          <p:grpSpPr>
            <a:xfrm>
              <a:off x="730" y="1488"/>
              <a:ext cx="613" cy="456"/>
              <a:chOff x="1085" y="1898"/>
              <a:chExt cx="613" cy="456"/>
            </a:xfrm>
          </p:grpSpPr>
          <p:sp>
            <p:nvSpPr>
              <p:cNvPr id="209937" name="Text Box 16"/>
              <p:cNvSpPr txBox="1"/>
              <p:nvPr/>
            </p:nvSpPr>
            <p:spPr>
              <a:xfrm>
                <a:off x="1085" y="1988"/>
                <a:ext cx="61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原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9938" name="Group 17"/>
              <p:cNvGrpSpPr/>
              <p:nvPr/>
            </p:nvGrpSpPr>
            <p:grpSpPr>
              <a:xfrm>
                <a:off x="1219" y="1898"/>
                <a:ext cx="209" cy="456"/>
                <a:chOff x="1056" y="1728"/>
                <a:chExt cx="209" cy="456"/>
              </a:xfrm>
            </p:grpSpPr>
            <p:sp>
              <p:nvSpPr>
                <p:cNvPr id="209939" name="Text Box 18"/>
                <p:cNvSpPr txBox="1"/>
                <p:nvPr/>
              </p:nvSpPr>
              <p:spPr>
                <a:xfrm>
                  <a:off x="1056" y="1728"/>
                  <a:ext cx="209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9940" name="Text Box 19"/>
                <p:cNvSpPr txBox="1"/>
                <p:nvPr/>
              </p:nvSpPr>
              <p:spPr>
                <a:xfrm>
                  <a:off x="1056" y="1894"/>
                  <a:ext cx="196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9941" name="Line 20"/>
                <p:cNvSpPr/>
                <p:nvPr/>
              </p:nvSpPr>
              <p:spPr>
                <a:xfrm>
                  <a:off x="1070" y="1990"/>
                  <a:ext cx="19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209925" name="Text Box 21"/>
          <p:cNvSpPr txBox="1"/>
          <p:nvPr/>
        </p:nvSpPr>
        <p:spPr>
          <a:xfrm>
            <a:off x="3409950" y="3513138"/>
            <a:ext cx="2094230" cy="6724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上商 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+1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926" name="Text Box 22"/>
          <p:cNvSpPr txBox="1"/>
          <p:nvPr/>
        </p:nvSpPr>
        <p:spPr>
          <a:xfrm>
            <a:off x="1905000" y="258763"/>
            <a:ext cx="4114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</a:rPr>
              <a:t>6.25  </a:t>
            </a:r>
            <a:r>
              <a:rPr lang="zh-CN" altLang="en-US" sz="3200" b="1" dirty="0">
                <a:latin typeface="Times New Roman" panose="02020603050405020304" pitchFamily="18" charset="0"/>
              </a:rPr>
              <a:t>结果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09927" name="Text Box 23"/>
          <p:cNvSpPr txBox="1"/>
          <p:nvPr/>
        </p:nvSpPr>
        <p:spPr>
          <a:xfrm>
            <a:off x="2514600" y="35956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特点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9928" name="Text Box 24"/>
          <p:cNvSpPr txBox="1"/>
          <p:nvPr/>
        </p:nvSpPr>
        <p:spPr>
          <a:xfrm>
            <a:off x="3409950" y="5537200"/>
            <a:ext cx="5161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用移位的次数判断除法是否结束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929" name="Text Box 25"/>
          <p:cNvSpPr txBox="1"/>
          <p:nvPr/>
        </p:nvSpPr>
        <p:spPr>
          <a:xfrm>
            <a:off x="3409950" y="4191000"/>
            <a:ext cx="3027680" cy="6724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第一次上商判溢出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930" name="Text Box 26"/>
          <p:cNvSpPr txBox="1"/>
          <p:nvPr/>
        </p:nvSpPr>
        <p:spPr>
          <a:xfrm>
            <a:off x="3409950" y="4938713"/>
            <a:ext cx="37528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移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次，加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+1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次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51" name="Rectangle 2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9932" name="AutoShape 2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9933" name="Rectangle 29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0993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09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2109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3600" dirty="0"/>
              <a:t>例</a:t>
            </a:r>
            <a:r>
              <a:rPr lang="en-US" altLang="zh-CN" sz="3600" dirty="0"/>
              <a:t>:x=-0.1001 y=+0.1101    </a:t>
            </a:r>
            <a:endParaRPr lang="en-US" altLang="zh-CN" sz="36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3600" dirty="0"/>
              <a:t>求</a:t>
            </a:r>
            <a:r>
              <a:rPr lang="en-US" altLang="zh-CN" sz="3600" dirty="0"/>
              <a:t>【 x/y 】</a:t>
            </a:r>
            <a:r>
              <a:rPr lang="zh-CN" altLang="en-US" sz="3600" baseline="-25000" dirty="0"/>
              <a:t>原</a:t>
            </a:r>
            <a:endParaRPr lang="en-US" altLang="zh-CN" sz="3600" baseline="-25000" dirty="0"/>
          </a:p>
          <a:p>
            <a:pPr eaLnBrk="1" hangingPunct="1"/>
            <a:endParaRPr lang="en-US" altLang="zh-CN" sz="3600" dirty="0"/>
          </a:p>
        </p:txBody>
      </p:sp>
      <p:sp>
        <p:nvSpPr>
          <p:cNvPr id="21094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11970" name="Rectangle 2"/>
          <p:cNvSpPr>
            <a:spLocks noGrp="1"/>
          </p:cNvSpPr>
          <p:nvPr>
            <p:ph idx="1"/>
          </p:nvPr>
        </p:nvSpPr>
        <p:spPr>
          <a:xfrm>
            <a:off x="2667000" y="692150"/>
            <a:ext cx="7772400" cy="5473700"/>
          </a:xfrm>
        </p:spPr>
        <p:txBody>
          <a:bodyPr vert="horz" wrap="square" lIns="91440" tIns="45720" rIns="91440" bIns="45720" anchor="t" anchorCtr="0">
            <a:normAutofit lnSpcReduction="20000"/>
          </a:bodyPr>
          <a:p>
            <a:pPr eaLnBrk="1" hangingPunct="1"/>
            <a:endParaRPr lang="en-US" altLang="zh-CN" sz="2800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001011                    00000                  </a:t>
            </a:r>
            <a:r>
              <a:rPr lang="zh-CN" altLang="en-US" sz="2000" dirty="0"/>
              <a:t>开始</a:t>
            </a:r>
            <a:endParaRPr lang="zh-CN" altLang="en-US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110011                                                 -y</a:t>
            </a:r>
            <a:endParaRPr lang="en-US" altLang="zh-CN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111110                    0000</a:t>
            </a:r>
            <a:r>
              <a:rPr lang="en-US" altLang="zh-CN" sz="2000" u="sng" dirty="0">
                <a:solidFill>
                  <a:srgbClr val="FF3300"/>
                </a:solidFill>
              </a:rPr>
              <a:t>0</a:t>
            </a:r>
            <a:r>
              <a:rPr lang="en-US" altLang="zh-CN" sz="2000" dirty="0"/>
              <a:t>                  </a:t>
            </a:r>
            <a:r>
              <a:rPr lang="zh-CN" altLang="en-US" sz="2000" dirty="0"/>
              <a:t>为负</a:t>
            </a:r>
            <a:r>
              <a:rPr lang="en-US" altLang="zh-CN" sz="2000" dirty="0"/>
              <a:t>,</a:t>
            </a:r>
            <a:r>
              <a:rPr lang="zh-CN" altLang="en-US" sz="2000" dirty="0"/>
              <a:t>商</a:t>
            </a:r>
            <a:r>
              <a:rPr lang="en-US" altLang="zh-CN" sz="2000" dirty="0"/>
              <a:t>0</a:t>
            </a:r>
            <a:endParaRPr lang="en-US" altLang="zh-CN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111100                    000</a:t>
            </a:r>
            <a:r>
              <a:rPr lang="en-US" altLang="zh-CN" sz="2000" u="sng" dirty="0">
                <a:solidFill>
                  <a:srgbClr val="FF3300"/>
                </a:solidFill>
              </a:rPr>
              <a:t>0</a:t>
            </a:r>
            <a:r>
              <a:rPr lang="en-US" altLang="zh-CN" sz="2000" dirty="0"/>
              <a:t>0                  </a:t>
            </a:r>
            <a:r>
              <a:rPr lang="zh-CN" altLang="en-US" sz="2000" dirty="0"/>
              <a:t>左移一位</a:t>
            </a:r>
            <a:endParaRPr lang="zh-CN" altLang="en-US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001101                                                 + y</a:t>
            </a:r>
            <a:endParaRPr lang="en-US" altLang="zh-CN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001001                    000</a:t>
            </a:r>
            <a:r>
              <a:rPr lang="en-US" altLang="zh-CN" sz="2000" u="sng" dirty="0">
                <a:solidFill>
                  <a:srgbClr val="FF3300"/>
                </a:solidFill>
              </a:rPr>
              <a:t>01</a:t>
            </a:r>
            <a:r>
              <a:rPr lang="en-US" altLang="zh-CN" sz="2000" dirty="0"/>
              <a:t>                   </a:t>
            </a:r>
            <a:r>
              <a:rPr lang="zh-CN" altLang="en-US" sz="2000" dirty="0"/>
              <a:t>为正</a:t>
            </a:r>
            <a:r>
              <a:rPr lang="en-US" altLang="zh-CN" sz="2000" dirty="0"/>
              <a:t>,</a:t>
            </a:r>
            <a:r>
              <a:rPr lang="zh-CN" altLang="en-US" sz="2000" dirty="0"/>
              <a:t>商</a:t>
            </a:r>
            <a:r>
              <a:rPr lang="en-US" altLang="zh-CN" sz="2000" dirty="0"/>
              <a:t>1</a:t>
            </a:r>
            <a:endParaRPr lang="en-US" altLang="zh-CN" sz="2000" u="sng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010010                    00</a:t>
            </a:r>
            <a:r>
              <a:rPr lang="en-US" altLang="zh-CN" sz="2000" u="sng" dirty="0">
                <a:solidFill>
                  <a:srgbClr val="FF3300"/>
                </a:solidFill>
              </a:rPr>
              <a:t>01</a:t>
            </a:r>
            <a:r>
              <a:rPr lang="en-US" altLang="zh-CN" sz="2000" dirty="0"/>
              <a:t>0                   </a:t>
            </a:r>
            <a:r>
              <a:rPr lang="zh-CN" altLang="en-US" sz="2000" dirty="0"/>
              <a:t>左移一位</a:t>
            </a:r>
            <a:endParaRPr lang="zh-CN" altLang="en-US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110011                                                 -y</a:t>
            </a:r>
            <a:endParaRPr lang="en-US" altLang="zh-CN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000101                    00</a:t>
            </a:r>
            <a:r>
              <a:rPr lang="en-US" altLang="zh-CN" sz="2000" u="sng" dirty="0">
                <a:solidFill>
                  <a:srgbClr val="FF3300"/>
                </a:solidFill>
              </a:rPr>
              <a:t>011</a:t>
            </a:r>
            <a:r>
              <a:rPr lang="en-US" altLang="zh-CN" sz="2000" dirty="0"/>
              <a:t>                   </a:t>
            </a:r>
            <a:r>
              <a:rPr lang="zh-CN" altLang="en-US" sz="2000" dirty="0"/>
              <a:t>为正</a:t>
            </a:r>
            <a:r>
              <a:rPr lang="en-US" altLang="zh-CN" sz="2000" dirty="0"/>
              <a:t>,</a:t>
            </a:r>
            <a:r>
              <a:rPr lang="zh-CN" altLang="en-US" sz="2000" dirty="0"/>
              <a:t>商</a:t>
            </a:r>
            <a:r>
              <a:rPr lang="en-US" altLang="zh-CN" sz="2000" dirty="0"/>
              <a:t>1</a:t>
            </a:r>
            <a:endParaRPr lang="en-US" altLang="zh-CN" sz="2000" u="sng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001010                    0</a:t>
            </a:r>
            <a:r>
              <a:rPr lang="en-US" altLang="zh-CN" sz="2000" u="sng" dirty="0">
                <a:solidFill>
                  <a:srgbClr val="FF3300"/>
                </a:solidFill>
              </a:rPr>
              <a:t>011</a:t>
            </a:r>
            <a:r>
              <a:rPr lang="en-US" altLang="zh-CN" sz="2000" dirty="0"/>
              <a:t>0                   </a:t>
            </a:r>
            <a:r>
              <a:rPr lang="zh-CN" altLang="en-US" sz="2000" dirty="0"/>
              <a:t>左移一位</a:t>
            </a:r>
            <a:endParaRPr lang="zh-CN" altLang="en-US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110011                                                 -y</a:t>
            </a:r>
            <a:endParaRPr lang="en-US" altLang="zh-CN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111101                    0</a:t>
            </a:r>
            <a:r>
              <a:rPr lang="en-US" altLang="zh-CN" sz="2000" u="sng" dirty="0">
                <a:solidFill>
                  <a:srgbClr val="FF3300"/>
                </a:solidFill>
              </a:rPr>
              <a:t>0110</a:t>
            </a:r>
            <a:r>
              <a:rPr lang="en-US" altLang="zh-CN" sz="2000" dirty="0">
                <a:solidFill>
                  <a:srgbClr val="FF3300"/>
                </a:solidFill>
              </a:rPr>
              <a:t> </a:t>
            </a:r>
            <a:r>
              <a:rPr lang="en-US" altLang="zh-CN" sz="2000" dirty="0"/>
              <a:t>                  </a:t>
            </a:r>
            <a:r>
              <a:rPr lang="zh-CN" altLang="en-US" sz="2000" dirty="0"/>
              <a:t>为负</a:t>
            </a:r>
            <a:r>
              <a:rPr lang="en-US" altLang="zh-CN" sz="2000" dirty="0"/>
              <a:t>,</a:t>
            </a:r>
            <a:r>
              <a:rPr lang="zh-CN" altLang="en-US" sz="2000" dirty="0"/>
              <a:t>商</a:t>
            </a:r>
            <a:r>
              <a:rPr lang="en-US" altLang="zh-CN" sz="2000" dirty="0"/>
              <a:t>0</a:t>
            </a:r>
            <a:endParaRPr lang="en-US" altLang="zh-CN" sz="2000" u="sng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111010                    </a:t>
            </a:r>
            <a:r>
              <a:rPr lang="en-US" altLang="zh-CN" sz="2000" u="sng" dirty="0">
                <a:solidFill>
                  <a:srgbClr val="FF3300"/>
                </a:solidFill>
              </a:rPr>
              <a:t>0110</a:t>
            </a:r>
            <a:r>
              <a:rPr lang="en-US" altLang="zh-CN" sz="2000" dirty="0"/>
              <a:t>0                   </a:t>
            </a:r>
            <a:r>
              <a:rPr lang="zh-CN" altLang="en-US" sz="2000" dirty="0"/>
              <a:t>左移一位</a:t>
            </a:r>
            <a:endParaRPr lang="zh-CN" altLang="en-US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001101                                                 + y</a:t>
            </a:r>
            <a:endParaRPr lang="en-US" altLang="zh-CN" sz="2000" dirty="0"/>
          </a:p>
          <a:p>
            <a:pPr eaLnBrk="1" hangingPunct="1">
              <a:lnSpc>
                <a:spcPct val="75000"/>
              </a:lnSpc>
              <a:buNone/>
            </a:pPr>
            <a:r>
              <a:rPr lang="en-US" altLang="zh-CN" sz="2000" dirty="0"/>
              <a:t>           000111                    </a:t>
            </a:r>
            <a:r>
              <a:rPr lang="en-US" altLang="zh-CN" sz="2000" u="sng" dirty="0">
                <a:solidFill>
                  <a:srgbClr val="FF3300"/>
                </a:solidFill>
              </a:rPr>
              <a:t>01101</a:t>
            </a:r>
            <a:r>
              <a:rPr lang="en-US" altLang="zh-CN" sz="2000" dirty="0"/>
              <a:t>                   </a:t>
            </a:r>
            <a:r>
              <a:rPr lang="zh-CN" altLang="en-US" sz="2000" dirty="0"/>
              <a:t>为正</a:t>
            </a:r>
            <a:r>
              <a:rPr lang="en-US" altLang="zh-CN" sz="2000" dirty="0"/>
              <a:t>,</a:t>
            </a:r>
            <a:r>
              <a:rPr lang="zh-CN" altLang="en-US" sz="2000" dirty="0"/>
              <a:t>商</a:t>
            </a:r>
            <a:r>
              <a:rPr lang="en-US" altLang="zh-CN" sz="2000" dirty="0"/>
              <a:t>1</a:t>
            </a:r>
            <a:endParaRPr lang="en-US" altLang="zh-CN" sz="2000" dirty="0"/>
          </a:p>
        </p:txBody>
      </p:sp>
      <p:sp>
        <p:nvSpPr>
          <p:cNvPr id="211971" name="Rectangle 3"/>
          <p:cNvSpPr/>
          <p:nvPr/>
        </p:nvSpPr>
        <p:spPr>
          <a:xfrm>
            <a:off x="3071813" y="765175"/>
            <a:ext cx="1752600" cy="3048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被除数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11972" name="Rectangle 4"/>
          <p:cNvSpPr/>
          <p:nvPr/>
        </p:nvSpPr>
        <p:spPr>
          <a:xfrm>
            <a:off x="5338763" y="765175"/>
            <a:ext cx="1828800" cy="3048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商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11973" name="Line 5"/>
          <p:cNvSpPr/>
          <p:nvPr/>
        </p:nvSpPr>
        <p:spPr>
          <a:xfrm>
            <a:off x="3359150" y="1773238"/>
            <a:ext cx="3581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1974" name="Line 6"/>
          <p:cNvSpPr/>
          <p:nvPr/>
        </p:nvSpPr>
        <p:spPr>
          <a:xfrm>
            <a:off x="3429000" y="4343400"/>
            <a:ext cx="35052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1975" name="Line 7"/>
          <p:cNvSpPr/>
          <p:nvPr/>
        </p:nvSpPr>
        <p:spPr>
          <a:xfrm>
            <a:off x="3429000" y="2590800"/>
            <a:ext cx="3581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1976" name="Line 8"/>
          <p:cNvSpPr/>
          <p:nvPr/>
        </p:nvSpPr>
        <p:spPr>
          <a:xfrm>
            <a:off x="3352800" y="5181600"/>
            <a:ext cx="35052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1977" name="Rectangle 9"/>
          <p:cNvSpPr/>
          <p:nvPr/>
        </p:nvSpPr>
        <p:spPr>
          <a:xfrm>
            <a:off x="7537450" y="747713"/>
            <a:ext cx="1828800" cy="3048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说明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11978" name="Line 10"/>
          <p:cNvSpPr/>
          <p:nvPr/>
        </p:nvSpPr>
        <p:spPr>
          <a:xfrm>
            <a:off x="3352800" y="3505200"/>
            <a:ext cx="3581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197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2994" name="Text Box 2"/>
          <p:cNvSpPr txBox="1"/>
          <p:nvPr/>
        </p:nvSpPr>
        <p:spPr>
          <a:xfrm>
            <a:off x="2193925" y="552450"/>
            <a:ext cx="63404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原码加减交替除法硬件配置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12995" name="Text Box 3"/>
          <p:cNvSpPr txBox="1"/>
          <p:nvPr/>
        </p:nvSpPr>
        <p:spPr>
          <a:xfrm>
            <a:off x="2574925" y="5486400"/>
            <a:ext cx="5502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Q </a:t>
            </a:r>
            <a:r>
              <a:rPr lang="zh-CN" altLang="en-US" sz="2800" b="1" dirty="0">
                <a:latin typeface="Times New Roman" panose="02020603050405020304" pitchFamily="18" charset="0"/>
              </a:rPr>
              <a:t>均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+1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12996" name="Text Box 4"/>
          <p:cNvSpPr txBox="1"/>
          <p:nvPr/>
        </p:nvSpPr>
        <p:spPr>
          <a:xfrm>
            <a:off x="2574925" y="6096000"/>
            <a:ext cx="7483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用 </a:t>
            </a:r>
            <a:r>
              <a:rPr lang="en-US" altLang="zh-CN" sz="2800" b="1" dirty="0">
                <a:latin typeface="Times New Roman" panose="02020603050405020304" pitchFamily="18" charset="0"/>
              </a:rPr>
              <a:t>Q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控制加减交替      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297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页图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6.29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12997" name="Group 5"/>
          <p:cNvGrpSpPr/>
          <p:nvPr/>
        </p:nvGrpSpPr>
        <p:grpSpPr>
          <a:xfrm>
            <a:off x="2438400" y="1600200"/>
            <a:ext cx="6964363" cy="3505200"/>
            <a:chOff x="576" y="1008"/>
            <a:chExt cx="4387" cy="2208"/>
          </a:xfrm>
        </p:grpSpPr>
        <p:sp>
          <p:nvSpPr>
            <p:cNvPr id="213002" name="AutoShape 6"/>
            <p:cNvSpPr/>
            <p:nvPr/>
          </p:nvSpPr>
          <p:spPr>
            <a:xfrm>
              <a:off x="1364" y="2640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algn="ctr"/>
              <a:r>
                <a:rPr lang="en-US" altLang="zh-CN" sz="1600" dirty="0">
                  <a:latin typeface="Times New Roman" panose="02020603050405020304" pitchFamily="18" charset="0"/>
                </a:rPr>
                <a:t> 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13003" name="Group 7"/>
            <p:cNvGrpSpPr/>
            <p:nvPr/>
          </p:nvGrpSpPr>
          <p:grpSpPr>
            <a:xfrm>
              <a:off x="576" y="1152"/>
              <a:ext cx="1728" cy="336"/>
              <a:chOff x="576" y="1536"/>
              <a:chExt cx="1728" cy="336"/>
            </a:xfrm>
          </p:grpSpPr>
          <p:sp>
            <p:nvSpPr>
              <p:cNvPr id="213038" name="Text Box 8"/>
              <p:cNvSpPr txBox="1"/>
              <p:nvPr/>
            </p:nvSpPr>
            <p:spPr>
              <a:xfrm>
                <a:off x="614" y="1562"/>
                <a:ext cx="1688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0              </a:t>
                </a:r>
                <a:r>
                  <a:rPr lang="en-US" altLang="zh-CN" sz="1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A 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              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n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3039" name="Rectangle 9"/>
              <p:cNvSpPr/>
              <p:nvPr/>
            </p:nvSpPr>
            <p:spPr>
              <a:xfrm>
                <a:off x="576" y="1536"/>
                <a:ext cx="1728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3004" name="Group 10"/>
            <p:cNvGrpSpPr/>
            <p:nvPr/>
          </p:nvGrpSpPr>
          <p:grpSpPr>
            <a:xfrm>
              <a:off x="576" y="1728"/>
              <a:ext cx="1728" cy="336"/>
              <a:chOff x="576" y="2112"/>
              <a:chExt cx="1728" cy="336"/>
            </a:xfrm>
          </p:grpSpPr>
          <p:sp>
            <p:nvSpPr>
              <p:cNvPr id="213036" name="Rectangle 11"/>
              <p:cNvSpPr/>
              <p:nvPr/>
            </p:nvSpPr>
            <p:spPr>
              <a:xfrm>
                <a:off x="576" y="2112"/>
                <a:ext cx="1728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13037" name="Text Box 12"/>
              <p:cNvSpPr txBox="1"/>
              <p:nvPr/>
            </p:nvSpPr>
            <p:spPr>
              <a:xfrm>
                <a:off x="876" y="2160"/>
                <a:ext cx="11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+ 1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位加法器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3005" name="Group 13"/>
            <p:cNvGrpSpPr/>
            <p:nvPr/>
          </p:nvGrpSpPr>
          <p:grpSpPr>
            <a:xfrm>
              <a:off x="576" y="2304"/>
              <a:ext cx="1728" cy="336"/>
              <a:chOff x="576" y="2688"/>
              <a:chExt cx="1728" cy="336"/>
            </a:xfrm>
          </p:grpSpPr>
          <p:sp>
            <p:nvSpPr>
              <p:cNvPr id="213034" name="Rectangle 14"/>
              <p:cNvSpPr/>
              <p:nvPr/>
            </p:nvSpPr>
            <p:spPr>
              <a:xfrm>
                <a:off x="576" y="2688"/>
                <a:ext cx="1728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13035" name="Text Box 15"/>
              <p:cNvSpPr txBox="1"/>
              <p:nvPr/>
            </p:nvSpPr>
            <p:spPr>
              <a:xfrm>
                <a:off x="1046" y="2745"/>
                <a:ext cx="7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控 制 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3006" name="Group 16"/>
            <p:cNvGrpSpPr/>
            <p:nvPr/>
          </p:nvGrpSpPr>
          <p:grpSpPr>
            <a:xfrm>
              <a:off x="576" y="2880"/>
              <a:ext cx="1728" cy="336"/>
              <a:chOff x="576" y="3264"/>
              <a:chExt cx="1728" cy="336"/>
            </a:xfrm>
          </p:grpSpPr>
          <p:sp>
            <p:nvSpPr>
              <p:cNvPr id="213032" name="Rectangle 17"/>
              <p:cNvSpPr/>
              <p:nvPr/>
            </p:nvSpPr>
            <p:spPr>
              <a:xfrm>
                <a:off x="576" y="3264"/>
                <a:ext cx="1728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13033" name="Text Box 18"/>
              <p:cNvSpPr txBox="1"/>
              <p:nvPr/>
            </p:nvSpPr>
            <p:spPr>
              <a:xfrm>
                <a:off x="624" y="3281"/>
                <a:ext cx="164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0              </a:t>
                </a:r>
                <a:r>
                  <a:rPr lang="en-US" altLang="zh-CN" sz="9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               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n</a:t>
                </a:r>
                <a:endParaRPr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3007" name="Text Box 19"/>
            <p:cNvSpPr txBox="1"/>
            <p:nvPr/>
          </p:nvSpPr>
          <p:spPr>
            <a:xfrm>
              <a:off x="3014" y="1178"/>
              <a:ext cx="171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       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                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3008" name="Rectangle 20"/>
            <p:cNvSpPr/>
            <p:nvPr/>
          </p:nvSpPr>
          <p:spPr>
            <a:xfrm>
              <a:off x="2976" y="1152"/>
              <a:ext cx="172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09" name="Line 21"/>
            <p:cNvSpPr/>
            <p:nvPr/>
          </p:nvSpPr>
          <p:spPr>
            <a:xfrm>
              <a:off x="4464" y="1152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3010" name="Rectangle 22"/>
            <p:cNvSpPr/>
            <p:nvPr/>
          </p:nvSpPr>
          <p:spPr>
            <a:xfrm>
              <a:off x="2870" y="2880"/>
              <a:ext cx="751" cy="25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计数器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3011" name="Rectangle 23"/>
            <p:cNvSpPr/>
            <p:nvPr/>
          </p:nvSpPr>
          <p:spPr>
            <a:xfrm>
              <a:off x="3792" y="2880"/>
              <a:ext cx="315" cy="25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D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13012" name="Freeform 24"/>
            <p:cNvSpPr/>
            <p:nvPr/>
          </p:nvSpPr>
          <p:spPr>
            <a:xfrm>
              <a:off x="2304" y="2004"/>
              <a:ext cx="666" cy="2"/>
            </a:xfrm>
            <a:custGeom>
              <a:avLst/>
              <a:gdLst>
                <a:gd name="txL" fmla="*/ 0 w 666"/>
                <a:gd name="txT" fmla="*/ 0 h 2"/>
                <a:gd name="txR" fmla="*/ 666 w 666"/>
                <a:gd name="txB" fmla="*/ 2 h 2"/>
              </a:gdLst>
              <a:ahLst/>
              <a:cxnLst>
                <a:cxn ang="0">
                  <a:pos x="666" y="0"/>
                </a:cxn>
                <a:cxn ang="0">
                  <a:pos x="0" y="2"/>
                </a:cxn>
              </a:cxnLst>
              <a:rect l="txL" t="txT" r="txR" b="txB"/>
              <a:pathLst>
                <a:path w="666" h="2">
                  <a:moveTo>
                    <a:pt x="666" y="0"/>
                  </a:moveTo>
                  <a:lnTo>
                    <a:pt x="0" y="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13" name="Freeform 25"/>
            <p:cNvSpPr/>
            <p:nvPr/>
          </p:nvSpPr>
          <p:spPr>
            <a:xfrm>
              <a:off x="2304" y="1830"/>
              <a:ext cx="666" cy="1"/>
            </a:xfrm>
            <a:custGeom>
              <a:avLst/>
              <a:gdLst>
                <a:gd name="txL" fmla="*/ 0 w 666"/>
                <a:gd name="txT" fmla="*/ 0 h 1"/>
                <a:gd name="txR" fmla="*/ 666 w 666"/>
                <a:gd name="txB" fmla="*/ 1 h 1"/>
              </a:gdLst>
              <a:ahLst/>
              <a:cxnLst>
                <a:cxn ang="0">
                  <a:pos x="666" y="0"/>
                </a:cxn>
                <a:cxn ang="0">
                  <a:pos x="0" y="0"/>
                </a:cxn>
              </a:cxnLst>
              <a:rect l="txL" t="txT" r="txR" b="txB"/>
              <a:pathLst>
                <a:path w="666" h="1">
                  <a:moveTo>
                    <a:pt x="666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14" name="AutoShape 26"/>
            <p:cNvSpPr/>
            <p:nvPr/>
          </p:nvSpPr>
          <p:spPr>
            <a:xfrm>
              <a:off x="1364" y="1488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15" name="AutoShape 27"/>
            <p:cNvSpPr/>
            <p:nvPr/>
          </p:nvSpPr>
          <p:spPr>
            <a:xfrm rot="10800000">
              <a:off x="864" y="1488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16" name="AutoShape 28"/>
            <p:cNvSpPr/>
            <p:nvPr/>
          </p:nvSpPr>
          <p:spPr>
            <a:xfrm>
              <a:off x="1364" y="2064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17" name="Text Box 29"/>
            <p:cNvSpPr txBox="1"/>
            <p:nvPr/>
          </p:nvSpPr>
          <p:spPr>
            <a:xfrm>
              <a:off x="2507" y="1609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加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3018" name="Text Box 30"/>
            <p:cNvSpPr txBox="1"/>
            <p:nvPr/>
          </p:nvSpPr>
          <p:spPr>
            <a:xfrm>
              <a:off x="2507" y="1790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减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3019" name="Rectangle 31"/>
            <p:cNvSpPr/>
            <p:nvPr/>
          </p:nvSpPr>
          <p:spPr>
            <a:xfrm>
              <a:off x="2976" y="1728"/>
              <a:ext cx="172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20" name="Text Box 32"/>
            <p:cNvSpPr txBox="1"/>
            <p:nvPr/>
          </p:nvSpPr>
          <p:spPr>
            <a:xfrm>
              <a:off x="3158" y="1766"/>
              <a:ext cx="13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移位和加控制逻辑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3021" name="Freeform 33"/>
            <p:cNvSpPr/>
            <p:nvPr/>
          </p:nvSpPr>
          <p:spPr>
            <a:xfrm>
              <a:off x="1632" y="1488"/>
              <a:ext cx="2160" cy="240"/>
            </a:xfrm>
            <a:custGeom>
              <a:avLst/>
              <a:gdLst>
                <a:gd name="txL" fmla="*/ 0 w 2160"/>
                <a:gd name="txT" fmla="*/ 0 h 240"/>
                <a:gd name="txR" fmla="*/ 2160 w 2160"/>
                <a:gd name="txB" fmla="*/ 240 h 240"/>
              </a:gdLst>
              <a:ahLst/>
              <a:cxnLst>
                <a:cxn ang="0">
                  <a:pos x="2160" y="240"/>
                </a:cxn>
                <a:cxn ang="0">
                  <a:pos x="2160" y="144"/>
                </a:cxn>
                <a:cxn ang="0">
                  <a:pos x="0" y="144"/>
                </a:cxn>
                <a:cxn ang="0">
                  <a:pos x="336" y="0"/>
                </a:cxn>
              </a:cxnLst>
              <a:rect l="txL" t="txT" r="txR" b="txB"/>
              <a:pathLst>
                <a:path w="2160" h="240">
                  <a:moveTo>
                    <a:pt x="2160" y="240"/>
                  </a:moveTo>
                  <a:lnTo>
                    <a:pt x="2160" y="144"/>
                  </a:lnTo>
                  <a:lnTo>
                    <a:pt x="0" y="144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22" name="Line 34"/>
            <p:cNvSpPr/>
            <p:nvPr/>
          </p:nvSpPr>
          <p:spPr>
            <a:xfrm flipV="1">
              <a:off x="3072" y="1488"/>
              <a:ext cx="336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13023" name="Freeform 35"/>
            <p:cNvSpPr/>
            <p:nvPr/>
          </p:nvSpPr>
          <p:spPr>
            <a:xfrm>
              <a:off x="2304" y="2064"/>
              <a:ext cx="1536" cy="432"/>
            </a:xfrm>
            <a:custGeom>
              <a:avLst/>
              <a:gdLst>
                <a:gd name="txL" fmla="*/ 0 w 1536"/>
                <a:gd name="txT" fmla="*/ 0 h 336"/>
                <a:gd name="txR" fmla="*/ 1536 w 1536"/>
                <a:gd name="txB" fmla="*/ 336 h 336"/>
              </a:gdLst>
              <a:ahLst/>
              <a:cxnLst>
                <a:cxn ang="0">
                  <a:pos x="1536" y="0"/>
                </a:cxn>
                <a:cxn ang="0">
                  <a:pos x="1536" y="336"/>
                </a:cxn>
                <a:cxn ang="0">
                  <a:pos x="0" y="336"/>
                </a:cxn>
              </a:cxnLst>
              <a:rect l="txL" t="txT" r="txR" b="txB"/>
              <a:pathLst>
                <a:path w="1536" h="336">
                  <a:moveTo>
                    <a:pt x="1536" y="0"/>
                  </a:moveTo>
                  <a:lnTo>
                    <a:pt x="1536" y="336"/>
                  </a:lnTo>
                  <a:lnTo>
                    <a:pt x="0" y="3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3024" name="Rectangle 36"/>
            <p:cNvSpPr/>
            <p:nvPr/>
          </p:nvSpPr>
          <p:spPr>
            <a:xfrm>
              <a:off x="4224" y="2880"/>
              <a:ext cx="324" cy="25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S  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13025" name="Rectangle 37"/>
            <p:cNvSpPr/>
            <p:nvPr/>
          </p:nvSpPr>
          <p:spPr>
            <a:xfrm>
              <a:off x="4659" y="2880"/>
              <a:ext cx="304" cy="25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V 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13026" name="Text Box 38"/>
            <p:cNvSpPr txBox="1"/>
            <p:nvPr/>
          </p:nvSpPr>
          <p:spPr>
            <a:xfrm>
              <a:off x="3830" y="148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左移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3027" name="Line 39"/>
            <p:cNvSpPr/>
            <p:nvPr/>
          </p:nvSpPr>
          <p:spPr>
            <a:xfrm flipH="1">
              <a:off x="2304" y="1320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13028" name="Line 40"/>
            <p:cNvSpPr/>
            <p:nvPr/>
          </p:nvSpPr>
          <p:spPr>
            <a:xfrm flipV="1">
              <a:off x="4560" y="1008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3029" name="Line 41"/>
            <p:cNvSpPr/>
            <p:nvPr/>
          </p:nvSpPr>
          <p:spPr>
            <a:xfrm>
              <a:off x="4560" y="1008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3030" name="Line 42"/>
            <p:cNvSpPr/>
            <p:nvPr/>
          </p:nvSpPr>
          <p:spPr>
            <a:xfrm>
              <a:off x="4944" y="1008"/>
              <a:ext cx="0" cy="9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3031" name="Line 43"/>
            <p:cNvSpPr/>
            <p:nvPr/>
          </p:nvSpPr>
          <p:spPr>
            <a:xfrm flipH="1">
              <a:off x="4704" y="192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130092" name="Rectangle 4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2999" name="AutoShape 4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3000" name="Rectangle 46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1300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140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P263</a:t>
            </a:r>
            <a:endParaRPr lang="en-US" altLang="zh-CN" dirty="0"/>
          </a:p>
          <a:p>
            <a:pPr eaLnBrk="1" hangingPunct="1"/>
            <a:r>
              <a:rPr lang="zh-CN" altLang="en-US" dirty="0"/>
              <a:t>图</a:t>
            </a:r>
            <a:r>
              <a:rPr lang="en-US" altLang="zh-CN" dirty="0"/>
              <a:t>6.12</a:t>
            </a:r>
            <a:endParaRPr lang="en-US" altLang="zh-CN" dirty="0"/>
          </a:p>
        </p:txBody>
      </p:sp>
      <p:sp>
        <p:nvSpPr>
          <p:cNvPr id="21402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31074" name="Text Box 2"/>
          <p:cNvSpPr txBox="1"/>
          <p:nvPr/>
        </p:nvSpPr>
        <p:spPr>
          <a:xfrm>
            <a:off x="6477000" y="5791200"/>
            <a:ext cx="18548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825875" y="4756150"/>
            <a:ext cx="2003425" cy="957263"/>
            <a:chOff x="1450" y="2996"/>
            <a:chExt cx="1262" cy="603"/>
          </a:xfrm>
        </p:grpSpPr>
        <p:sp>
          <p:nvSpPr>
            <p:cNvPr id="215081" name="Text Box 4"/>
            <p:cNvSpPr txBox="1"/>
            <p:nvPr/>
          </p:nvSpPr>
          <p:spPr>
            <a:xfrm>
              <a:off x="1450" y="2996"/>
              <a:ext cx="126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1.1101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082" name="Text Box 5"/>
            <p:cNvSpPr txBox="1"/>
            <p:nvPr/>
          </p:nvSpPr>
          <p:spPr>
            <a:xfrm>
              <a:off x="1450" y="3309"/>
              <a:ext cx="126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1.0101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5044" name="Text Box 6"/>
          <p:cNvSpPr txBox="1"/>
          <p:nvPr/>
        </p:nvSpPr>
        <p:spPr>
          <a:xfrm>
            <a:off x="1905000" y="152400"/>
            <a:ext cx="2468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补码除法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31079" name="Text Box 7"/>
          <p:cNvSpPr txBox="1"/>
          <p:nvPr/>
        </p:nvSpPr>
        <p:spPr>
          <a:xfrm>
            <a:off x="1981200" y="863600"/>
            <a:ext cx="3276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商值的确定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8"/>
          <p:cNvGrpSpPr/>
          <p:nvPr/>
        </p:nvGrpSpPr>
        <p:grpSpPr>
          <a:xfrm>
            <a:off x="2133600" y="2768600"/>
            <a:ext cx="1482725" cy="960438"/>
            <a:chOff x="384" y="1312"/>
            <a:chExt cx="934" cy="605"/>
          </a:xfrm>
        </p:grpSpPr>
        <p:sp>
          <p:nvSpPr>
            <p:cNvPr id="215079" name="Text Box 9"/>
            <p:cNvSpPr txBox="1"/>
            <p:nvPr/>
          </p:nvSpPr>
          <p:spPr>
            <a:xfrm>
              <a:off x="384" y="1312"/>
              <a:ext cx="93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0.1011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080" name="Text Box 10"/>
            <p:cNvSpPr txBox="1"/>
            <p:nvPr/>
          </p:nvSpPr>
          <p:spPr>
            <a:xfrm>
              <a:off x="384" y="1627"/>
              <a:ext cx="92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0.0011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3825875" y="2768600"/>
            <a:ext cx="2003425" cy="960438"/>
            <a:chOff x="1450" y="1744"/>
            <a:chExt cx="1262" cy="605"/>
          </a:xfrm>
        </p:grpSpPr>
        <p:sp>
          <p:nvSpPr>
            <p:cNvPr id="215077" name="Text Box 12"/>
            <p:cNvSpPr txBox="1"/>
            <p:nvPr/>
          </p:nvSpPr>
          <p:spPr>
            <a:xfrm>
              <a:off x="1450" y="1744"/>
              <a:ext cx="126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0.1011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078" name="Text Box 13"/>
            <p:cNvSpPr txBox="1"/>
            <p:nvPr/>
          </p:nvSpPr>
          <p:spPr>
            <a:xfrm>
              <a:off x="1450" y="2059"/>
              <a:ext cx="125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0.0011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1086" name="Text Box 14"/>
          <p:cNvSpPr txBox="1"/>
          <p:nvPr/>
        </p:nvSpPr>
        <p:spPr>
          <a:xfrm>
            <a:off x="6473825" y="2768600"/>
            <a:ext cx="1851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87" name="Text Box 15"/>
          <p:cNvSpPr txBox="1"/>
          <p:nvPr/>
        </p:nvSpPr>
        <p:spPr>
          <a:xfrm>
            <a:off x="6321425" y="3268663"/>
            <a:ext cx="1986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1.1101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88" name="Line 16"/>
          <p:cNvSpPr/>
          <p:nvPr/>
        </p:nvSpPr>
        <p:spPr>
          <a:xfrm>
            <a:off x="6111875" y="3762375"/>
            <a:ext cx="2286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1089" name="Text Box 17"/>
          <p:cNvSpPr txBox="1"/>
          <p:nvPr/>
        </p:nvSpPr>
        <p:spPr>
          <a:xfrm>
            <a:off x="6477000" y="3802063"/>
            <a:ext cx="18548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18"/>
          <p:cNvGrpSpPr/>
          <p:nvPr/>
        </p:nvGrpSpPr>
        <p:grpSpPr>
          <a:xfrm>
            <a:off x="2133600" y="4756150"/>
            <a:ext cx="1711325" cy="957263"/>
            <a:chOff x="384" y="2564"/>
            <a:chExt cx="1078" cy="603"/>
          </a:xfrm>
        </p:grpSpPr>
        <p:sp>
          <p:nvSpPr>
            <p:cNvPr id="215075" name="Text Box 19"/>
            <p:cNvSpPr txBox="1"/>
            <p:nvPr/>
          </p:nvSpPr>
          <p:spPr>
            <a:xfrm>
              <a:off x="384" y="2564"/>
              <a:ext cx="10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– 0.0011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076" name="Text Box 20"/>
            <p:cNvSpPr txBox="1"/>
            <p:nvPr/>
          </p:nvSpPr>
          <p:spPr>
            <a:xfrm>
              <a:off x="384" y="2877"/>
              <a:ext cx="106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– 0.1011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1093" name="Text Box 21"/>
          <p:cNvSpPr txBox="1"/>
          <p:nvPr/>
        </p:nvSpPr>
        <p:spPr>
          <a:xfrm>
            <a:off x="6473825" y="4756150"/>
            <a:ext cx="1851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1.1101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94" name="Text Box 22"/>
          <p:cNvSpPr txBox="1"/>
          <p:nvPr/>
        </p:nvSpPr>
        <p:spPr>
          <a:xfrm>
            <a:off x="6321425" y="5253038"/>
            <a:ext cx="1986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1095" name="Line 23"/>
          <p:cNvSpPr/>
          <p:nvPr/>
        </p:nvSpPr>
        <p:spPr>
          <a:xfrm>
            <a:off x="6127750" y="5749925"/>
            <a:ext cx="2286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1096" name="Text Box 24"/>
          <p:cNvSpPr txBox="1"/>
          <p:nvPr/>
        </p:nvSpPr>
        <p:spPr>
          <a:xfrm>
            <a:off x="8610600" y="2706688"/>
            <a:ext cx="10801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r>
              <a:rPr lang="zh-CN" altLang="en-US" sz="2000" b="1" dirty="0">
                <a:latin typeface="Times New Roman" panose="02020603050405020304" pitchFamily="18" charset="0"/>
              </a:rPr>
              <a:t>＞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1097" name="Text Box 25"/>
          <p:cNvSpPr txBox="1"/>
          <p:nvPr/>
        </p:nvSpPr>
        <p:spPr>
          <a:xfrm>
            <a:off x="8610600" y="3317875"/>
            <a:ext cx="1981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与</a:t>
            </a:r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同号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098" name="Text Box 26"/>
          <p:cNvSpPr txBox="1"/>
          <p:nvPr/>
        </p:nvSpPr>
        <p:spPr>
          <a:xfrm>
            <a:off x="8610600" y="3811588"/>
            <a:ext cx="1071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够减”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099" name="Text Box 27"/>
          <p:cNvSpPr txBox="1"/>
          <p:nvPr/>
        </p:nvSpPr>
        <p:spPr>
          <a:xfrm>
            <a:off x="8626475" y="4756150"/>
            <a:ext cx="10801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r>
              <a:rPr lang="zh-CN" altLang="en-US" sz="2000" b="1" dirty="0">
                <a:latin typeface="Times New Roman" panose="02020603050405020304" pitchFamily="18" charset="0"/>
              </a:rPr>
              <a:t>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1100" name="Text Box 28"/>
          <p:cNvSpPr txBox="1"/>
          <p:nvPr/>
        </p:nvSpPr>
        <p:spPr>
          <a:xfrm>
            <a:off x="8626475" y="5302250"/>
            <a:ext cx="35655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与</a:t>
            </a:r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异号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101" name="Text Box 29"/>
          <p:cNvSpPr txBox="1"/>
          <p:nvPr/>
        </p:nvSpPr>
        <p:spPr>
          <a:xfrm>
            <a:off x="8626475" y="5808663"/>
            <a:ext cx="1325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不够减”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102" name="Text Box 30"/>
          <p:cNvSpPr txBox="1"/>
          <p:nvPr/>
        </p:nvSpPr>
        <p:spPr>
          <a:xfrm>
            <a:off x="6089650" y="3267075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1103" name="Text Box 31"/>
          <p:cNvSpPr txBox="1"/>
          <p:nvPr/>
        </p:nvSpPr>
        <p:spPr>
          <a:xfrm>
            <a:off x="6089650" y="5257800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1104" name="Text Box 32"/>
          <p:cNvSpPr txBox="1"/>
          <p:nvPr/>
        </p:nvSpPr>
        <p:spPr>
          <a:xfrm>
            <a:off x="2133600" y="1524000"/>
            <a:ext cx="5257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①  </a:t>
            </a:r>
            <a:r>
              <a:rPr lang="zh-CN" altLang="en-US" sz="2400" b="1" dirty="0">
                <a:latin typeface="Times New Roman" panose="02020603050405020304" pitchFamily="18" charset="0"/>
              </a:rPr>
              <a:t>比较被除数和除数绝对值的大小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31105" name="Text Box 33"/>
          <p:cNvSpPr txBox="1"/>
          <p:nvPr/>
        </p:nvSpPr>
        <p:spPr>
          <a:xfrm>
            <a:off x="2459038" y="2047875"/>
            <a:ext cx="16617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同号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6" name="Group 34"/>
          <p:cNvGrpSpPr/>
          <p:nvPr/>
        </p:nvGrpSpPr>
        <p:grpSpPr>
          <a:xfrm>
            <a:off x="4851400" y="5326063"/>
            <a:ext cx="2806700" cy="846137"/>
            <a:chOff x="2096" y="3355"/>
            <a:chExt cx="1768" cy="533"/>
          </a:xfrm>
        </p:grpSpPr>
        <p:sp>
          <p:nvSpPr>
            <p:cNvPr id="215073" name="AutoShape 35"/>
            <p:cNvSpPr/>
            <p:nvPr/>
          </p:nvSpPr>
          <p:spPr>
            <a:xfrm>
              <a:off x="3672" y="3696"/>
              <a:ext cx="192" cy="192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5074" name="AutoShape 36"/>
            <p:cNvSpPr/>
            <p:nvPr/>
          </p:nvSpPr>
          <p:spPr>
            <a:xfrm>
              <a:off x="2096" y="3355"/>
              <a:ext cx="192" cy="192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37"/>
          <p:cNvGrpSpPr/>
          <p:nvPr/>
        </p:nvGrpSpPr>
        <p:grpSpPr>
          <a:xfrm>
            <a:off x="4833938" y="3343275"/>
            <a:ext cx="2806700" cy="847725"/>
            <a:chOff x="2085" y="2106"/>
            <a:chExt cx="1768" cy="534"/>
          </a:xfrm>
        </p:grpSpPr>
        <p:sp>
          <p:nvSpPr>
            <p:cNvPr id="215071" name="AutoShape 38"/>
            <p:cNvSpPr/>
            <p:nvPr/>
          </p:nvSpPr>
          <p:spPr>
            <a:xfrm>
              <a:off x="3661" y="2448"/>
              <a:ext cx="192" cy="192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5072" name="AutoShape 39"/>
            <p:cNvSpPr/>
            <p:nvPr/>
          </p:nvSpPr>
          <p:spPr>
            <a:xfrm>
              <a:off x="2085" y="2106"/>
              <a:ext cx="192" cy="192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31112" name="Rectangle 4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69" name="AutoShape 4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70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13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3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3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3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0" dur="500"/>
                                        <p:tgtEl>
                                          <p:spTgt spid="13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3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3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/>
      <p:bldP spid="131079" grpId="0"/>
      <p:bldP spid="131086" grpId="0"/>
      <p:bldP spid="131087" grpId="0"/>
      <p:bldP spid="131089" grpId="0"/>
      <p:bldP spid="131093" grpId="0"/>
      <p:bldP spid="131094" grpId="0"/>
      <p:bldP spid="131096" grpId="0"/>
      <p:bldP spid="131097" grpId="0"/>
      <p:bldP spid="131098" grpId="0"/>
      <p:bldP spid="131099" grpId="0"/>
      <p:bldP spid="131100" grpId="0"/>
      <p:bldP spid="131101" grpId="0"/>
      <p:bldP spid="131102" grpId="0"/>
      <p:bldP spid="131103" grpId="0"/>
      <p:bldP spid="131104" grpId="0"/>
      <p:bldP spid="13110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32098" name="Text Box 2"/>
          <p:cNvSpPr txBox="1"/>
          <p:nvPr/>
        </p:nvSpPr>
        <p:spPr>
          <a:xfrm>
            <a:off x="2101850" y="3940175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小结</a:t>
            </a:r>
            <a:endParaRPr lang="zh-CN" altLang="en-US" sz="28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133600" y="1092200"/>
            <a:ext cx="1693863" cy="882650"/>
            <a:chOff x="384" y="2608"/>
            <a:chExt cx="1067" cy="556"/>
          </a:xfrm>
        </p:grpSpPr>
        <p:sp>
          <p:nvSpPr>
            <p:cNvPr id="216121" name="Text Box 4"/>
            <p:cNvSpPr txBox="1"/>
            <p:nvPr/>
          </p:nvSpPr>
          <p:spPr>
            <a:xfrm>
              <a:off x="384" y="2608"/>
              <a:ext cx="93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0.1011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22" name="Text Box 5"/>
            <p:cNvSpPr txBox="1"/>
            <p:nvPr/>
          </p:nvSpPr>
          <p:spPr>
            <a:xfrm>
              <a:off x="384" y="2874"/>
              <a:ext cx="106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– 0.0011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3733800" y="1092200"/>
            <a:ext cx="2003425" cy="882650"/>
            <a:chOff x="1450" y="2608"/>
            <a:chExt cx="1262" cy="556"/>
          </a:xfrm>
        </p:grpSpPr>
        <p:sp>
          <p:nvSpPr>
            <p:cNvPr id="216119" name="Text Box 7"/>
            <p:cNvSpPr txBox="1"/>
            <p:nvPr/>
          </p:nvSpPr>
          <p:spPr>
            <a:xfrm>
              <a:off x="1450" y="2608"/>
              <a:ext cx="126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0.1011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20" name="Text Box 8"/>
            <p:cNvSpPr txBox="1"/>
            <p:nvPr/>
          </p:nvSpPr>
          <p:spPr>
            <a:xfrm>
              <a:off x="1450" y="2874"/>
              <a:ext cx="125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1.1101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2105" name="Text Box 9"/>
          <p:cNvSpPr txBox="1"/>
          <p:nvPr/>
        </p:nvSpPr>
        <p:spPr>
          <a:xfrm>
            <a:off x="6327775" y="1092200"/>
            <a:ext cx="1851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2106" name="Text Box 10"/>
          <p:cNvSpPr txBox="1"/>
          <p:nvPr/>
        </p:nvSpPr>
        <p:spPr>
          <a:xfrm>
            <a:off x="6327775" y="1514475"/>
            <a:ext cx="1833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1.1101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2107" name="Line 11"/>
          <p:cNvSpPr/>
          <p:nvPr/>
        </p:nvSpPr>
        <p:spPr>
          <a:xfrm>
            <a:off x="5981700" y="1981200"/>
            <a:ext cx="2286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2108" name="Text Box 12"/>
          <p:cNvSpPr txBox="1"/>
          <p:nvPr/>
        </p:nvSpPr>
        <p:spPr>
          <a:xfrm>
            <a:off x="6324600" y="1905000"/>
            <a:ext cx="18548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3"/>
          <p:cNvGrpSpPr/>
          <p:nvPr/>
        </p:nvGrpSpPr>
        <p:grpSpPr>
          <a:xfrm>
            <a:off x="2133600" y="2463800"/>
            <a:ext cx="1711325" cy="884238"/>
            <a:chOff x="384" y="3472"/>
            <a:chExt cx="1078" cy="557"/>
          </a:xfrm>
        </p:grpSpPr>
        <p:sp>
          <p:nvSpPr>
            <p:cNvPr id="216117" name="Text Box 14"/>
            <p:cNvSpPr txBox="1"/>
            <p:nvPr/>
          </p:nvSpPr>
          <p:spPr>
            <a:xfrm>
              <a:off x="384" y="3472"/>
              <a:ext cx="10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– 0.0011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18" name="Text Box 15"/>
            <p:cNvSpPr txBox="1"/>
            <p:nvPr/>
          </p:nvSpPr>
          <p:spPr>
            <a:xfrm>
              <a:off x="384" y="3739"/>
              <a:ext cx="92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0.1011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3733800" y="2463800"/>
            <a:ext cx="2003425" cy="884238"/>
            <a:chOff x="1450" y="3472"/>
            <a:chExt cx="1262" cy="557"/>
          </a:xfrm>
        </p:grpSpPr>
        <p:sp>
          <p:nvSpPr>
            <p:cNvPr id="216115" name="Text Box 17"/>
            <p:cNvSpPr txBox="1"/>
            <p:nvPr/>
          </p:nvSpPr>
          <p:spPr>
            <a:xfrm>
              <a:off x="1450" y="3472"/>
              <a:ext cx="126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1.1101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16" name="Text Box 18"/>
            <p:cNvSpPr txBox="1"/>
            <p:nvPr/>
          </p:nvSpPr>
          <p:spPr>
            <a:xfrm>
              <a:off x="1450" y="3739"/>
              <a:ext cx="125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0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0.1011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2115" name="Text Box 19"/>
          <p:cNvSpPr txBox="1"/>
          <p:nvPr/>
        </p:nvSpPr>
        <p:spPr>
          <a:xfrm>
            <a:off x="6327775" y="2463800"/>
            <a:ext cx="1851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1.1101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2116" name="Text Box 20"/>
          <p:cNvSpPr txBox="1"/>
          <p:nvPr/>
        </p:nvSpPr>
        <p:spPr>
          <a:xfrm>
            <a:off x="6327775" y="2887663"/>
            <a:ext cx="1833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2117" name="Line 21"/>
          <p:cNvSpPr/>
          <p:nvPr/>
        </p:nvSpPr>
        <p:spPr>
          <a:xfrm>
            <a:off x="5981700" y="3352800"/>
            <a:ext cx="2286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2118" name="Text Box 22"/>
          <p:cNvSpPr txBox="1"/>
          <p:nvPr/>
        </p:nvSpPr>
        <p:spPr>
          <a:xfrm>
            <a:off x="6324600" y="3276600"/>
            <a:ext cx="18548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400" b="1" dirty="0">
                <a:latin typeface="Times New Roman" panose="02020603050405020304" pitchFamily="18" charset="0"/>
              </a:rPr>
              <a:t>= 0.1000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2119" name="Text Box 23"/>
          <p:cNvSpPr txBox="1"/>
          <p:nvPr/>
        </p:nvSpPr>
        <p:spPr>
          <a:xfrm>
            <a:off x="8610600" y="1009650"/>
            <a:ext cx="11283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r>
              <a:rPr lang="zh-CN" altLang="en-US" sz="2000" b="1" dirty="0">
                <a:latin typeface="Times New Roman" panose="02020603050405020304" pitchFamily="18" charset="0"/>
              </a:rPr>
              <a:t>＞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2120" name="Text Box 24"/>
          <p:cNvSpPr txBox="1"/>
          <p:nvPr/>
        </p:nvSpPr>
        <p:spPr>
          <a:xfrm>
            <a:off x="8610600" y="1525588"/>
            <a:ext cx="2362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与</a:t>
            </a:r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异号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121" name="Text Box 25"/>
          <p:cNvSpPr txBox="1"/>
          <p:nvPr/>
        </p:nvSpPr>
        <p:spPr>
          <a:xfrm>
            <a:off x="8610600" y="1943100"/>
            <a:ext cx="1071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够减”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122" name="Text Box 26"/>
          <p:cNvSpPr txBox="1"/>
          <p:nvPr/>
        </p:nvSpPr>
        <p:spPr>
          <a:xfrm>
            <a:off x="8610600" y="2363788"/>
            <a:ext cx="11283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r>
              <a:rPr lang="zh-CN" altLang="en-US" sz="2000" b="1" dirty="0">
                <a:latin typeface="Times New Roman" panose="02020603050405020304" pitchFamily="18" charset="0"/>
              </a:rPr>
              <a:t>＜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2123" name="Text Box 27"/>
          <p:cNvSpPr txBox="1"/>
          <p:nvPr/>
        </p:nvSpPr>
        <p:spPr>
          <a:xfrm>
            <a:off x="8610600" y="2890838"/>
            <a:ext cx="2057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与</a:t>
            </a:r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同号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124" name="Text Box 28"/>
          <p:cNvSpPr txBox="1"/>
          <p:nvPr/>
        </p:nvSpPr>
        <p:spPr>
          <a:xfrm>
            <a:off x="8610600" y="3319463"/>
            <a:ext cx="1325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不够减”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125" name="Text Box 29"/>
          <p:cNvSpPr txBox="1"/>
          <p:nvPr/>
        </p:nvSpPr>
        <p:spPr>
          <a:xfrm>
            <a:off x="5943600" y="1538288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2126" name="Text Box 30"/>
          <p:cNvSpPr txBox="1"/>
          <p:nvPr/>
        </p:nvSpPr>
        <p:spPr>
          <a:xfrm>
            <a:off x="5943600" y="2909888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16087" name="Text Box 31"/>
          <p:cNvSpPr txBox="1"/>
          <p:nvPr/>
        </p:nvSpPr>
        <p:spPr>
          <a:xfrm>
            <a:off x="2133600" y="406400"/>
            <a:ext cx="1732915" cy="49149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</a:rPr>
              <a:t>与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</a:rPr>
              <a:t>异号</a:t>
            </a:r>
            <a:endParaRPr lang="zh-CN" altLang="en-US" sz="2600" b="1" dirty="0">
              <a:latin typeface="Times New Roman" panose="02020603050405020304" pitchFamily="18" charset="0"/>
            </a:endParaRPr>
          </a:p>
        </p:txBody>
      </p:sp>
      <p:grpSp>
        <p:nvGrpSpPr>
          <p:cNvPr id="6" name="Group 32"/>
          <p:cNvGrpSpPr/>
          <p:nvPr/>
        </p:nvGrpSpPr>
        <p:grpSpPr>
          <a:xfrm>
            <a:off x="4797425" y="2971800"/>
            <a:ext cx="2700338" cy="714375"/>
            <a:chOff x="2062" y="1872"/>
            <a:chExt cx="1701" cy="450"/>
          </a:xfrm>
        </p:grpSpPr>
        <p:sp>
          <p:nvSpPr>
            <p:cNvPr id="216113" name="AutoShape 33"/>
            <p:cNvSpPr/>
            <p:nvPr/>
          </p:nvSpPr>
          <p:spPr>
            <a:xfrm>
              <a:off x="3593" y="2130"/>
              <a:ext cx="170" cy="192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6114" name="AutoShape 34"/>
            <p:cNvSpPr/>
            <p:nvPr/>
          </p:nvSpPr>
          <p:spPr>
            <a:xfrm>
              <a:off x="2062" y="1872"/>
              <a:ext cx="170" cy="192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35"/>
          <p:cNvGrpSpPr/>
          <p:nvPr/>
        </p:nvGrpSpPr>
        <p:grpSpPr>
          <a:xfrm>
            <a:off x="4791075" y="1600200"/>
            <a:ext cx="2706688" cy="719138"/>
            <a:chOff x="2058" y="1008"/>
            <a:chExt cx="1705" cy="453"/>
          </a:xfrm>
        </p:grpSpPr>
        <p:sp>
          <p:nvSpPr>
            <p:cNvPr id="216111" name="AutoShape 36"/>
            <p:cNvSpPr/>
            <p:nvPr/>
          </p:nvSpPr>
          <p:spPr>
            <a:xfrm>
              <a:off x="3593" y="1269"/>
              <a:ext cx="170" cy="192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6112" name="AutoShape 37"/>
            <p:cNvSpPr/>
            <p:nvPr/>
          </p:nvSpPr>
          <p:spPr>
            <a:xfrm>
              <a:off x="2058" y="1008"/>
              <a:ext cx="170" cy="192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32134" name="Rectangle 3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" name="Group 39"/>
          <p:cNvGrpSpPr/>
          <p:nvPr/>
        </p:nvGrpSpPr>
        <p:grpSpPr>
          <a:xfrm>
            <a:off x="2133600" y="4687888"/>
            <a:ext cx="7543800" cy="1468437"/>
            <a:chOff x="384" y="2953"/>
            <a:chExt cx="4752" cy="925"/>
          </a:xfrm>
        </p:grpSpPr>
        <p:grpSp>
          <p:nvGrpSpPr>
            <p:cNvPr id="216094" name="Group 40"/>
            <p:cNvGrpSpPr/>
            <p:nvPr/>
          </p:nvGrpSpPr>
          <p:grpSpPr>
            <a:xfrm>
              <a:off x="384" y="2961"/>
              <a:ext cx="4752" cy="914"/>
              <a:chOff x="384" y="2961"/>
              <a:chExt cx="4752" cy="914"/>
            </a:xfrm>
          </p:grpSpPr>
          <p:sp>
            <p:nvSpPr>
              <p:cNvPr id="216097" name="Text Box 41"/>
              <p:cNvSpPr txBox="1"/>
              <p:nvPr/>
            </p:nvSpPr>
            <p:spPr>
              <a:xfrm>
                <a:off x="598" y="2961"/>
                <a:ext cx="92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和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098" name="Text Box 42"/>
              <p:cNvSpPr txBox="1"/>
              <p:nvPr/>
            </p:nvSpPr>
            <p:spPr>
              <a:xfrm>
                <a:off x="2167" y="2961"/>
                <a:ext cx="70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200" b="1" dirty="0">
                    <a:latin typeface="Times New Roman" panose="02020603050405020304" pitchFamily="18" charset="0"/>
                  </a:rPr>
                  <a:t>求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099" name="Text Box 43"/>
              <p:cNvSpPr txBox="1"/>
              <p:nvPr/>
            </p:nvSpPr>
            <p:spPr>
              <a:xfrm>
                <a:off x="3658" y="2961"/>
                <a:ext cx="104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i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与 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4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100" name="Text Box 44"/>
              <p:cNvSpPr txBox="1"/>
              <p:nvPr/>
            </p:nvSpPr>
            <p:spPr>
              <a:xfrm>
                <a:off x="809" y="33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同号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101" name="Text Box 45"/>
              <p:cNvSpPr txBox="1"/>
              <p:nvPr/>
            </p:nvSpPr>
            <p:spPr>
              <a:xfrm>
                <a:off x="809" y="361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异号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102" name="Text Box 46"/>
              <p:cNvSpPr txBox="1"/>
              <p:nvPr/>
            </p:nvSpPr>
            <p:spPr>
              <a:xfrm>
                <a:off x="2006" y="3275"/>
                <a:ext cx="90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– [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103" name="Text Box 47"/>
              <p:cNvSpPr txBox="1"/>
              <p:nvPr/>
            </p:nvSpPr>
            <p:spPr>
              <a:xfrm>
                <a:off x="2006" y="3585"/>
                <a:ext cx="918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+ [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104" name="Text Box 48"/>
              <p:cNvSpPr txBox="1"/>
              <p:nvPr/>
            </p:nvSpPr>
            <p:spPr>
              <a:xfrm>
                <a:off x="3734" y="3306"/>
                <a:ext cx="1235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同号，“够减”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105" name="Text Box 49"/>
              <p:cNvSpPr txBox="1"/>
              <p:nvPr/>
            </p:nvSpPr>
            <p:spPr>
              <a:xfrm>
                <a:off x="3734" y="3616"/>
                <a:ext cx="1235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异号，“够减”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106" name="Line 50"/>
              <p:cNvSpPr/>
              <p:nvPr/>
            </p:nvSpPr>
            <p:spPr>
              <a:xfrm>
                <a:off x="384" y="3249"/>
                <a:ext cx="47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6107" name="Line 51"/>
              <p:cNvSpPr/>
              <p:nvPr/>
            </p:nvSpPr>
            <p:spPr>
              <a:xfrm>
                <a:off x="1680" y="2961"/>
                <a:ext cx="0" cy="91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6108" name="Line 52"/>
              <p:cNvSpPr/>
              <p:nvPr/>
            </p:nvSpPr>
            <p:spPr>
              <a:xfrm>
                <a:off x="3312" y="2961"/>
                <a:ext cx="0" cy="91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6109" name="Line 53"/>
              <p:cNvSpPr/>
              <p:nvPr/>
            </p:nvSpPr>
            <p:spPr>
              <a:xfrm>
                <a:off x="384" y="2961"/>
                <a:ext cx="47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6110" name="Line 54"/>
              <p:cNvSpPr/>
              <p:nvPr/>
            </p:nvSpPr>
            <p:spPr>
              <a:xfrm>
                <a:off x="384" y="3873"/>
                <a:ext cx="47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216095" name="Line 55"/>
            <p:cNvSpPr/>
            <p:nvPr/>
          </p:nvSpPr>
          <p:spPr>
            <a:xfrm>
              <a:off x="393" y="2961"/>
              <a:ext cx="0" cy="9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6096" name="Line 56"/>
            <p:cNvSpPr/>
            <p:nvPr/>
          </p:nvSpPr>
          <p:spPr>
            <a:xfrm>
              <a:off x="5132" y="2953"/>
              <a:ext cx="0" cy="9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16092" name="AutoShape 5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6093" name="日期占位符 9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2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3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3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32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500"/>
                                        <p:tgtEl>
                                          <p:spTgt spid="13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3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3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3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3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/>
      <p:bldP spid="132105" grpId="0"/>
      <p:bldP spid="132106" grpId="0"/>
      <p:bldP spid="132108" grpId="0"/>
      <p:bldP spid="132115" grpId="0"/>
      <p:bldP spid="132116" grpId="0"/>
      <p:bldP spid="132118" grpId="0"/>
      <p:bldP spid="132119" grpId="0"/>
      <p:bldP spid="132120" grpId="0"/>
      <p:bldP spid="132121" grpId="0"/>
      <p:bldP spid="132122" grpId="0"/>
      <p:bldP spid="132123" grpId="0"/>
      <p:bldP spid="132124" grpId="0"/>
      <p:bldP spid="132125" grpId="0"/>
      <p:bldP spid="13212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17090" name="Text Box 2"/>
          <p:cNvSpPr txBox="1"/>
          <p:nvPr/>
        </p:nvSpPr>
        <p:spPr>
          <a:xfrm>
            <a:off x="1905000" y="152400"/>
            <a:ext cx="3429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商值的确定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33123" name="Text Box 3"/>
          <p:cNvSpPr txBox="1"/>
          <p:nvPr/>
        </p:nvSpPr>
        <p:spPr>
          <a:xfrm>
            <a:off x="1828800" y="1101725"/>
            <a:ext cx="2091055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200" b="1" dirty="0">
                <a:latin typeface="Times New Roman" panose="02020603050405020304" pitchFamily="18" charset="0"/>
              </a:rPr>
              <a:t>[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200" b="1" dirty="0">
                <a:latin typeface="Times New Roman" panose="02020603050405020304" pitchFamily="18" charset="0"/>
              </a:rPr>
              <a:t>与 </a:t>
            </a:r>
            <a:r>
              <a:rPr lang="en-US" altLang="zh-CN" sz="2200" b="1" dirty="0">
                <a:latin typeface="Times New Roman" panose="02020603050405020304" pitchFamily="18" charset="0"/>
              </a:rPr>
              <a:t>[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2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同号</a:t>
            </a:r>
            <a:endParaRPr lang="zh-CN" altLang="en-US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24" name="Text Box 4"/>
          <p:cNvSpPr txBox="1"/>
          <p:nvPr/>
        </p:nvSpPr>
        <p:spPr>
          <a:xfrm>
            <a:off x="2514600" y="1554163"/>
            <a:ext cx="7416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正</a:t>
            </a:r>
            <a:r>
              <a:rPr lang="zh-CN" altLang="en-US" sz="2200" b="1" dirty="0">
                <a:latin typeface="Times New Roman" panose="02020603050405020304" pitchFamily="18" charset="0"/>
              </a:rPr>
              <a:t>商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133125" name="Text Box 5"/>
          <p:cNvSpPr txBox="1"/>
          <p:nvPr/>
        </p:nvSpPr>
        <p:spPr>
          <a:xfrm>
            <a:off x="6723063" y="1104900"/>
            <a:ext cx="15798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按原码上商</a:t>
            </a:r>
            <a:endParaRPr lang="zh-CN" altLang="en-US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8362950" y="1101725"/>
            <a:ext cx="2457450" cy="796925"/>
            <a:chOff x="4452" y="694"/>
            <a:chExt cx="1548" cy="502"/>
          </a:xfrm>
        </p:grpSpPr>
        <p:sp>
          <p:nvSpPr>
            <p:cNvPr id="217167" name="Text Box 7"/>
            <p:cNvSpPr txBox="1"/>
            <p:nvPr/>
          </p:nvSpPr>
          <p:spPr>
            <a:xfrm>
              <a:off x="4609" y="694"/>
              <a:ext cx="134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“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够减”上“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1”</a:t>
              </a:r>
              <a:endParaRPr lang="en-US" altLang="zh-CN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7168" name="Text Box 8"/>
            <p:cNvSpPr txBox="1"/>
            <p:nvPr/>
          </p:nvSpPr>
          <p:spPr>
            <a:xfrm>
              <a:off x="4452" y="925"/>
              <a:ext cx="154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“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不够减”上“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0”</a:t>
              </a:r>
              <a:endParaRPr lang="en-US" altLang="zh-CN" sz="2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3129" name="Text Box 9"/>
          <p:cNvSpPr txBox="1"/>
          <p:nvPr/>
        </p:nvSpPr>
        <p:spPr>
          <a:xfrm>
            <a:off x="1828800" y="2071688"/>
            <a:ext cx="2091055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200" b="1" dirty="0">
                <a:latin typeface="Times New Roman" panose="02020603050405020304" pitchFamily="18" charset="0"/>
              </a:rPr>
              <a:t>[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200" b="1" dirty="0">
                <a:latin typeface="Times New Roman" panose="02020603050405020304" pitchFamily="18" charset="0"/>
              </a:rPr>
              <a:t>与 </a:t>
            </a:r>
            <a:r>
              <a:rPr lang="en-US" altLang="zh-CN" sz="2200" b="1" dirty="0">
                <a:latin typeface="Times New Roman" panose="02020603050405020304" pitchFamily="18" charset="0"/>
              </a:rPr>
              <a:t>[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200" b="1" dirty="0">
                <a:latin typeface="Times New Roman" panose="02020603050405020304" pitchFamily="18" charset="0"/>
              </a:rPr>
              <a:t>]</a:t>
            </a:r>
            <a:r>
              <a:rPr lang="zh-CN" altLang="en-US" sz="22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异号</a:t>
            </a:r>
            <a:endParaRPr lang="zh-CN" altLang="en-US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30" name="Text Box 10"/>
          <p:cNvSpPr txBox="1"/>
          <p:nvPr/>
        </p:nvSpPr>
        <p:spPr>
          <a:xfrm>
            <a:off x="2514600" y="2468563"/>
            <a:ext cx="7416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负</a:t>
            </a:r>
            <a:r>
              <a:rPr lang="zh-CN" altLang="en-US" sz="2200" b="1" dirty="0">
                <a:latin typeface="Times New Roman" panose="02020603050405020304" pitchFamily="18" charset="0"/>
              </a:rPr>
              <a:t>商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133131" name="Text Box 11"/>
          <p:cNvSpPr txBox="1"/>
          <p:nvPr/>
        </p:nvSpPr>
        <p:spPr>
          <a:xfrm>
            <a:off x="6723063" y="2074863"/>
            <a:ext cx="15798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按反码上商</a:t>
            </a:r>
            <a:endParaRPr lang="zh-CN" altLang="en-US" sz="2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12"/>
          <p:cNvGrpSpPr/>
          <p:nvPr/>
        </p:nvGrpSpPr>
        <p:grpSpPr>
          <a:xfrm>
            <a:off x="8362950" y="2071688"/>
            <a:ext cx="2670175" cy="863600"/>
            <a:chOff x="4414" y="1305"/>
            <a:chExt cx="1682" cy="544"/>
          </a:xfrm>
        </p:grpSpPr>
        <p:sp>
          <p:nvSpPr>
            <p:cNvPr id="217165" name="Text Box 13"/>
            <p:cNvSpPr txBox="1"/>
            <p:nvPr/>
          </p:nvSpPr>
          <p:spPr>
            <a:xfrm>
              <a:off x="4609" y="1305"/>
              <a:ext cx="1487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“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够减”上“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0”</a:t>
              </a:r>
              <a:endParaRPr lang="en-US" altLang="zh-CN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7166" name="Text Box 14"/>
            <p:cNvSpPr txBox="1"/>
            <p:nvPr/>
          </p:nvSpPr>
          <p:spPr>
            <a:xfrm>
              <a:off x="4414" y="1578"/>
              <a:ext cx="153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“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不够减”上“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1”</a:t>
              </a:r>
              <a:endParaRPr lang="en-US" altLang="zh-CN" sz="2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4267200" y="1052513"/>
            <a:ext cx="1985963" cy="925512"/>
            <a:chOff x="2160" y="480"/>
            <a:chExt cx="1251" cy="583"/>
          </a:xfrm>
        </p:grpSpPr>
        <p:sp>
          <p:nvSpPr>
            <p:cNvPr id="217160" name="Text Box 16"/>
            <p:cNvSpPr txBox="1"/>
            <p:nvPr/>
          </p:nvSpPr>
          <p:spPr>
            <a:xfrm>
              <a:off x="2212" y="762"/>
              <a:ext cx="19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7161" name="Text Box 17"/>
            <p:cNvSpPr txBox="1"/>
            <p:nvPr/>
          </p:nvSpPr>
          <p:spPr>
            <a:xfrm>
              <a:off x="2602" y="792"/>
              <a:ext cx="467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原码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7162" name="Text Box 18"/>
            <p:cNvSpPr txBox="1"/>
            <p:nvPr/>
          </p:nvSpPr>
          <p:spPr>
            <a:xfrm>
              <a:off x="3216" y="762"/>
              <a:ext cx="19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7163" name="Text Box 19"/>
            <p:cNvSpPr txBox="1"/>
            <p:nvPr/>
          </p:nvSpPr>
          <p:spPr>
            <a:xfrm>
              <a:off x="2160" y="480"/>
              <a:ext cx="101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. ××××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7164" name="AutoShape 20"/>
            <p:cNvSpPr/>
            <p:nvPr/>
          </p:nvSpPr>
          <p:spPr>
            <a:xfrm rot="-5400000">
              <a:off x="2832" y="378"/>
              <a:ext cx="96" cy="768"/>
            </a:xfrm>
            <a:prstGeom prst="leftBrace">
              <a:avLst>
                <a:gd name="adj1" fmla="val 66037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4267200" y="2019300"/>
            <a:ext cx="1954213" cy="942975"/>
            <a:chOff x="1728" y="1272"/>
            <a:chExt cx="1231" cy="594"/>
          </a:xfrm>
        </p:grpSpPr>
        <p:sp>
          <p:nvSpPr>
            <p:cNvPr id="217155" name="Text Box 22"/>
            <p:cNvSpPr txBox="1"/>
            <p:nvPr/>
          </p:nvSpPr>
          <p:spPr>
            <a:xfrm>
              <a:off x="1780" y="1541"/>
              <a:ext cx="19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7156" name="Text Box 23"/>
            <p:cNvSpPr txBox="1"/>
            <p:nvPr/>
          </p:nvSpPr>
          <p:spPr>
            <a:xfrm>
              <a:off x="2170" y="1595"/>
              <a:ext cx="467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反码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7157" name="Text Box 24"/>
            <p:cNvSpPr txBox="1"/>
            <p:nvPr/>
          </p:nvSpPr>
          <p:spPr>
            <a:xfrm>
              <a:off x="2764" y="1541"/>
              <a:ext cx="19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7158" name="Text Box 25"/>
            <p:cNvSpPr txBox="1"/>
            <p:nvPr/>
          </p:nvSpPr>
          <p:spPr>
            <a:xfrm>
              <a:off x="1728" y="1272"/>
              <a:ext cx="101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.××××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7159" name="AutoShape 26"/>
            <p:cNvSpPr/>
            <p:nvPr/>
          </p:nvSpPr>
          <p:spPr>
            <a:xfrm rot="-5400000">
              <a:off x="2400" y="1175"/>
              <a:ext cx="96" cy="768"/>
            </a:xfrm>
            <a:prstGeom prst="leftBrace">
              <a:avLst>
                <a:gd name="adj1" fmla="val 66037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33147" name="Text Box 27"/>
          <p:cNvSpPr txBox="1"/>
          <p:nvPr/>
        </p:nvSpPr>
        <p:spPr>
          <a:xfrm>
            <a:off x="4953000" y="200025"/>
            <a:ext cx="3276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末位恒置“</a:t>
            </a:r>
            <a:r>
              <a:rPr lang="en-US" altLang="zh-CN" sz="2800" b="1" dirty="0">
                <a:latin typeface="Times New Roman" panose="02020603050405020304" pitchFamily="18" charset="0"/>
              </a:rPr>
              <a:t>1”</a:t>
            </a:r>
            <a:r>
              <a:rPr lang="zh-CN" altLang="en-US" sz="2800" b="1" dirty="0">
                <a:latin typeface="Times New Roman" panose="02020603050405020304" pitchFamily="18" charset="0"/>
              </a:rPr>
              <a:t>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3148" name="Text Box 28"/>
          <p:cNvSpPr txBox="1"/>
          <p:nvPr/>
        </p:nvSpPr>
        <p:spPr>
          <a:xfrm>
            <a:off x="2667000" y="2971800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小 结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49" name="Text Box 29"/>
          <p:cNvSpPr txBox="1"/>
          <p:nvPr/>
        </p:nvSpPr>
        <p:spPr>
          <a:xfrm>
            <a:off x="2667000" y="5715000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简 化 为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0" name="Text Box 30"/>
          <p:cNvSpPr txBox="1"/>
          <p:nvPr/>
        </p:nvSpPr>
        <p:spPr>
          <a:xfrm>
            <a:off x="6172200" y="3870325"/>
            <a:ext cx="1363663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（同号）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1" name="Text Box 31"/>
          <p:cNvSpPr txBox="1"/>
          <p:nvPr/>
        </p:nvSpPr>
        <p:spPr>
          <a:xfrm>
            <a:off x="6172200" y="4219575"/>
            <a:ext cx="1363663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（异号）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2" name="Text Box 32"/>
          <p:cNvSpPr txBox="1"/>
          <p:nvPr/>
        </p:nvSpPr>
        <p:spPr>
          <a:xfrm>
            <a:off x="6172200" y="4616450"/>
            <a:ext cx="1295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（异号）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3" name="Text Box 33"/>
          <p:cNvSpPr txBox="1"/>
          <p:nvPr/>
        </p:nvSpPr>
        <p:spPr>
          <a:xfrm>
            <a:off x="6172200" y="5013325"/>
            <a:ext cx="1295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（同号）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4" name="Rectangle 3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5" name="Text Box 35"/>
          <p:cNvSpPr txBox="1"/>
          <p:nvPr/>
        </p:nvSpPr>
        <p:spPr>
          <a:xfrm>
            <a:off x="5219700" y="658813"/>
            <a:ext cx="16211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×.××××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36"/>
          <p:cNvGrpSpPr/>
          <p:nvPr/>
        </p:nvGrpSpPr>
        <p:grpSpPr>
          <a:xfrm>
            <a:off x="2209800" y="3400425"/>
            <a:ext cx="7924800" cy="2011363"/>
            <a:chOff x="432" y="2142"/>
            <a:chExt cx="4992" cy="1267"/>
          </a:xfrm>
        </p:grpSpPr>
        <p:grpSp>
          <p:nvGrpSpPr>
            <p:cNvPr id="217127" name="Group 37"/>
            <p:cNvGrpSpPr/>
            <p:nvPr/>
          </p:nvGrpSpPr>
          <p:grpSpPr>
            <a:xfrm>
              <a:off x="432" y="2142"/>
              <a:ext cx="4992" cy="1267"/>
              <a:chOff x="432" y="2142"/>
              <a:chExt cx="4992" cy="1267"/>
            </a:xfrm>
          </p:grpSpPr>
          <p:sp>
            <p:nvSpPr>
              <p:cNvPr id="217130" name="Text Box 38"/>
              <p:cNvSpPr txBox="1"/>
              <p:nvPr/>
            </p:nvSpPr>
            <p:spPr>
              <a:xfrm>
                <a:off x="672" y="2142"/>
                <a:ext cx="902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2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与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2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31" name="Text Box 39"/>
              <p:cNvSpPr txBox="1"/>
              <p:nvPr/>
            </p:nvSpPr>
            <p:spPr>
              <a:xfrm>
                <a:off x="1872" y="2158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商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32" name="Text Box 40"/>
              <p:cNvSpPr txBox="1"/>
              <p:nvPr/>
            </p:nvSpPr>
            <p:spPr>
              <a:xfrm>
                <a:off x="2582" y="2142"/>
                <a:ext cx="95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i="1" baseline="-25000" dirty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与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2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33" name="Text Box 41"/>
              <p:cNvSpPr txBox="1"/>
              <p:nvPr/>
            </p:nvSpPr>
            <p:spPr>
              <a:xfrm>
                <a:off x="4378" y="2169"/>
                <a:ext cx="5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商   值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34" name="Text Box 42"/>
              <p:cNvSpPr txBox="1"/>
              <p:nvPr/>
            </p:nvSpPr>
            <p:spPr>
              <a:xfrm>
                <a:off x="2448" y="243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够减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35" name="Text Box 43"/>
              <p:cNvSpPr txBox="1"/>
              <p:nvPr/>
            </p:nvSpPr>
            <p:spPr>
              <a:xfrm>
                <a:off x="2448" y="2658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不够减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36" name="Text Box 44"/>
              <p:cNvSpPr txBox="1"/>
              <p:nvPr/>
            </p:nvSpPr>
            <p:spPr>
              <a:xfrm>
                <a:off x="2458" y="29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够减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37" name="Text Box 45"/>
              <p:cNvSpPr txBox="1"/>
              <p:nvPr/>
            </p:nvSpPr>
            <p:spPr>
              <a:xfrm>
                <a:off x="2458" y="3158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不够减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38" name="Line 46"/>
              <p:cNvSpPr/>
              <p:nvPr/>
            </p:nvSpPr>
            <p:spPr>
              <a:xfrm>
                <a:off x="432" y="2160"/>
                <a:ext cx="49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39" name="Line 47"/>
              <p:cNvSpPr/>
              <p:nvPr/>
            </p:nvSpPr>
            <p:spPr>
              <a:xfrm>
                <a:off x="432" y="2448"/>
                <a:ext cx="49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40" name="Line 48"/>
              <p:cNvSpPr/>
              <p:nvPr/>
            </p:nvSpPr>
            <p:spPr>
              <a:xfrm>
                <a:off x="432" y="3408"/>
                <a:ext cx="49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41" name="Line 49"/>
              <p:cNvSpPr/>
              <p:nvPr/>
            </p:nvSpPr>
            <p:spPr>
              <a:xfrm>
                <a:off x="1680" y="2160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42" name="Line 50"/>
              <p:cNvSpPr/>
              <p:nvPr/>
            </p:nvSpPr>
            <p:spPr>
              <a:xfrm>
                <a:off x="2304" y="2160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43" name="Line 51"/>
              <p:cNvSpPr/>
              <p:nvPr/>
            </p:nvSpPr>
            <p:spPr>
              <a:xfrm>
                <a:off x="3792" y="2160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44" name="Text Box 52"/>
              <p:cNvSpPr txBox="1"/>
              <p:nvPr/>
            </p:nvSpPr>
            <p:spPr>
              <a:xfrm>
                <a:off x="758" y="2582"/>
                <a:ext cx="5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同  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45" name="Text Box 53"/>
              <p:cNvSpPr txBox="1"/>
              <p:nvPr/>
            </p:nvSpPr>
            <p:spPr>
              <a:xfrm>
                <a:off x="758" y="3035"/>
                <a:ext cx="5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异  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46" name="Line 54"/>
              <p:cNvSpPr/>
              <p:nvPr/>
            </p:nvSpPr>
            <p:spPr>
              <a:xfrm>
                <a:off x="432" y="2928"/>
                <a:ext cx="49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47" name="Text Box 55"/>
              <p:cNvSpPr txBox="1"/>
              <p:nvPr/>
            </p:nvSpPr>
            <p:spPr>
              <a:xfrm>
                <a:off x="1872" y="2561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正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48" name="Text Box 56"/>
              <p:cNvSpPr txBox="1"/>
              <p:nvPr/>
            </p:nvSpPr>
            <p:spPr>
              <a:xfrm>
                <a:off x="1872" y="3035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负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49" name="Text Box 57"/>
              <p:cNvSpPr txBox="1"/>
              <p:nvPr/>
            </p:nvSpPr>
            <p:spPr>
              <a:xfrm>
                <a:off x="3878" y="2438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50" name="Text Box 58"/>
              <p:cNvSpPr txBox="1"/>
              <p:nvPr/>
            </p:nvSpPr>
            <p:spPr>
              <a:xfrm>
                <a:off x="3878" y="2658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51" name="Text Box 59"/>
              <p:cNvSpPr txBox="1"/>
              <p:nvPr/>
            </p:nvSpPr>
            <p:spPr>
              <a:xfrm>
                <a:off x="3878" y="2908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52" name="Text Box 60"/>
              <p:cNvSpPr txBox="1"/>
              <p:nvPr/>
            </p:nvSpPr>
            <p:spPr>
              <a:xfrm>
                <a:off x="3878" y="3158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53" name="Text Box 61"/>
              <p:cNvSpPr txBox="1"/>
              <p:nvPr/>
            </p:nvSpPr>
            <p:spPr>
              <a:xfrm>
                <a:off x="4358" y="2544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原码上商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54" name="Text Box 62"/>
              <p:cNvSpPr txBox="1"/>
              <p:nvPr/>
            </p:nvSpPr>
            <p:spPr>
              <a:xfrm>
                <a:off x="4358" y="3024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反码上商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7128" name="Line 63"/>
            <p:cNvSpPr/>
            <p:nvPr/>
          </p:nvSpPr>
          <p:spPr>
            <a:xfrm>
              <a:off x="441" y="2160"/>
              <a:ext cx="0" cy="12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7129" name="Line 64"/>
            <p:cNvSpPr/>
            <p:nvPr/>
          </p:nvSpPr>
          <p:spPr>
            <a:xfrm>
              <a:off x="5415" y="2160"/>
              <a:ext cx="0" cy="12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8" name="Group 65"/>
          <p:cNvGrpSpPr/>
          <p:nvPr/>
        </p:nvGrpSpPr>
        <p:grpSpPr>
          <a:xfrm>
            <a:off x="5029200" y="5543550"/>
            <a:ext cx="4267200" cy="1239838"/>
            <a:chOff x="2208" y="3492"/>
            <a:chExt cx="2688" cy="781"/>
          </a:xfrm>
        </p:grpSpPr>
        <p:grpSp>
          <p:nvGrpSpPr>
            <p:cNvPr id="217114" name="Group 66"/>
            <p:cNvGrpSpPr/>
            <p:nvPr/>
          </p:nvGrpSpPr>
          <p:grpSpPr>
            <a:xfrm>
              <a:off x="2208" y="3492"/>
              <a:ext cx="2688" cy="781"/>
              <a:chOff x="2208" y="3492"/>
              <a:chExt cx="2688" cy="781"/>
            </a:xfrm>
          </p:grpSpPr>
          <p:sp>
            <p:nvSpPr>
              <p:cNvPr id="217117" name="Text Box 67"/>
              <p:cNvSpPr txBox="1"/>
              <p:nvPr/>
            </p:nvSpPr>
            <p:spPr>
              <a:xfrm>
                <a:off x="2534" y="3492"/>
                <a:ext cx="90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i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与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补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18" name="Text Box 68"/>
              <p:cNvSpPr txBox="1"/>
              <p:nvPr/>
            </p:nvSpPr>
            <p:spPr>
              <a:xfrm>
                <a:off x="4118" y="3494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商值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19" name="Line 69"/>
              <p:cNvSpPr/>
              <p:nvPr/>
            </p:nvSpPr>
            <p:spPr>
              <a:xfrm>
                <a:off x="2208" y="3744"/>
                <a:ext cx="26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20" name="Line 70"/>
              <p:cNvSpPr/>
              <p:nvPr/>
            </p:nvSpPr>
            <p:spPr>
              <a:xfrm>
                <a:off x="3792" y="3504"/>
                <a:ext cx="0" cy="7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21" name="Text Box 71"/>
              <p:cNvSpPr txBox="1"/>
              <p:nvPr/>
            </p:nvSpPr>
            <p:spPr>
              <a:xfrm>
                <a:off x="2726" y="3755"/>
                <a:ext cx="5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同  号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22" name="Text Box 72"/>
              <p:cNvSpPr txBox="1"/>
              <p:nvPr/>
            </p:nvSpPr>
            <p:spPr>
              <a:xfrm>
                <a:off x="2726" y="4009"/>
                <a:ext cx="5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异  号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23" name="Text Box 73"/>
              <p:cNvSpPr txBox="1"/>
              <p:nvPr/>
            </p:nvSpPr>
            <p:spPr>
              <a:xfrm>
                <a:off x="4214" y="374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24" name="Text Box 74"/>
              <p:cNvSpPr txBox="1"/>
              <p:nvPr/>
            </p:nvSpPr>
            <p:spPr>
              <a:xfrm>
                <a:off x="4214" y="402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25" name="Line 75"/>
              <p:cNvSpPr/>
              <p:nvPr/>
            </p:nvSpPr>
            <p:spPr>
              <a:xfrm>
                <a:off x="2208" y="3504"/>
                <a:ext cx="26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7126" name="Line 76"/>
              <p:cNvSpPr/>
              <p:nvPr/>
            </p:nvSpPr>
            <p:spPr>
              <a:xfrm>
                <a:off x="2208" y="4224"/>
                <a:ext cx="26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217115" name="Line 77"/>
            <p:cNvSpPr/>
            <p:nvPr/>
          </p:nvSpPr>
          <p:spPr>
            <a:xfrm>
              <a:off x="2213" y="3504"/>
              <a:ext cx="0" cy="7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7116" name="Line 78"/>
            <p:cNvSpPr/>
            <p:nvPr/>
          </p:nvSpPr>
          <p:spPr>
            <a:xfrm>
              <a:off x="4892" y="3504"/>
              <a:ext cx="0" cy="7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17112" name="AutoShape 7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7113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3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3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3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3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/>
      <p:bldP spid="133124" grpId="0"/>
      <p:bldP spid="133125" grpId="0"/>
      <p:bldP spid="133129" grpId="0"/>
      <p:bldP spid="133130" grpId="0"/>
      <p:bldP spid="133131" grpId="0"/>
      <p:bldP spid="133147" grpId="0"/>
      <p:bldP spid="133148" grpId="0"/>
      <p:bldP spid="133149" grpId="0"/>
      <p:bldP spid="133150" grpId="0"/>
      <p:bldP spid="133151" grpId="0"/>
      <p:bldP spid="133152" grpId="0"/>
      <p:bldP spid="133153" grpId="0"/>
      <p:bldP spid="13315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18114" name="Text Box 2"/>
          <p:cNvSpPr txBox="1"/>
          <p:nvPr/>
        </p:nvSpPr>
        <p:spPr>
          <a:xfrm>
            <a:off x="2041525" y="273050"/>
            <a:ext cx="44354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商符的形成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34147" name="Text Box 3"/>
          <p:cNvSpPr txBox="1"/>
          <p:nvPr/>
        </p:nvSpPr>
        <p:spPr>
          <a:xfrm>
            <a:off x="2590800" y="958850"/>
            <a:ext cx="411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除法过程中自然形成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4148" name="Text Box 4"/>
          <p:cNvSpPr txBox="1"/>
          <p:nvPr/>
        </p:nvSpPr>
        <p:spPr>
          <a:xfrm>
            <a:off x="2270125" y="1793875"/>
            <a:ext cx="19691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同号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49" name="Text Box 5"/>
          <p:cNvSpPr txBox="1"/>
          <p:nvPr/>
        </p:nvSpPr>
        <p:spPr>
          <a:xfrm>
            <a:off x="5241925" y="1793875"/>
            <a:ext cx="13595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34150" name="Text Box 6"/>
          <p:cNvSpPr txBox="1"/>
          <p:nvPr/>
        </p:nvSpPr>
        <p:spPr>
          <a:xfrm>
            <a:off x="7712075" y="1793875"/>
            <a:ext cx="20415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比较</a:t>
            </a:r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34151" name="Text Box 7"/>
          <p:cNvSpPr txBox="1"/>
          <p:nvPr/>
        </p:nvSpPr>
        <p:spPr>
          <a:xfrm>
            <a:off x="7038975" y="2286000"/>
            <a:ext cx="149479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同号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</a:rPr>
              <a:t>够</a:t>
            </a:r>
            <a:r>
              <a:rPr lang="en-US" altLang="zh-CN" sz="2000" b="1" dirty="0">
                <a:latin typeface="Times New Roman" panose="02020603050405020304" pitchFamily="18" charset="0"/>
              </a:rPr>
              <a:t>)“1”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34152" name="Text Box 8"/>
          <p:cNvSpPr txBox="1"/>
          <p:nvPr/>
        </p:nvSpPr>
        <p:spPr>
          <a:xfrm>
            <a:off x="7038975" y="2727325"/>
            <a:ext cx="174879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异号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</a:rPr>
              <a:t>不够</a:t>
            </a:r>
            <a:r>
              <a:rPr lang="en-US" altLang="zh-CN" sz="2000" b="1" dirty="0">
                <a:latin typeface="Times New Roman" panose="02020603050405020304" pitchFamily="18" charset="0"/>
              </a:rPr>
              <a:t>)“0”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34153" name="Text Box 9"/>
          <p:cNvSpPr txBox="1"/>
          <p:nvPr/>
        </p:nvSpPr>
        <p:spPr>
          <a:xfrm>
            <a:off x="9105900" y="2422525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原码上商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4" name="Text Box 10"/>
          <p:cNvSpPr txBox="1"/>
          <p:nvPr/>
        </p:nvSpPr>
        <p:spPr>
          <a:xfrm>
            <a:off x="7038975" y="3124200"/>
            <a:ext cx="3865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小数除法  第一次“不够”上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0”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5" name="Line 11"/>
          <p:cNvSpPr/>
          <p:nvPr/>
        </p:nvSpPr>
        <p:spPr>
          <a:xfrm>
            <a:off x="3200400" y="2286000"/>
            <a:ext cx="0" cy="1219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134156" name="Text Box 12"/>
          <p:cNvSpPr txBox="1"/>
          <p:nvPr/>
        </p:nvSpPr>
        <p:spPr>
          <a:xfrm>
            <a:off x="2955925" y="36576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正商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7" name="Freeform 13"/>
          <p:cNvSpPr/>
          <p:nvPr/>
        </p:nvSpPr>
        <p:spPr>
          <a:xfrm>
            <a:off x="3886200" y="3581400"/>
            <a:ext cx="6400800" cy="381000"/>
          </a:xfrm>
          <a:custGeom>
            <a:avLst/>
            <a:gdLst>
              <a:gd name="txL" fmla="*/ 0 w 2688"/>
              <a:gd name="txT" fmla="*/ 0 h 240"/>
              <a:gd name="txR" fmla="*/ 2688 w 2688"/>
              <a:gd name="txB" fmla="*/ 240 h 240"/>
            </a:gdLst>
            <a:ahLst/>
            <a:cxnLst>
              <a:cxn ang="0">
                <a:pos x="0" y="240"/>
              </a:cxn>
              <a:cxn ang="0">
                <a:pos x="2688" y="240"/>
              </a:cxn>
              <a:cxn ang="0">
                <a:pos x="2688" y="0"/>
              </a:cxn>
            </a:cxnLst>
            <a:rect l="txL" t="txT" r="txR" b="txB"/>
            <a:pathLst>
              <a:path w="2688" h="240">
                <a:moveTo>
                  <a:pt x="0" y="240"/>
                </a:moveTo>
                <a:lnTo>
                  <a:pt x="2688" y="240"/>
                </a:lnTo>
                <a:lnTo>
                  <a:pt x="2688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4158" name="Text Box 14"/>
          <p:cNvSpPr txBox="1"/>
          <p:nvPr/>
        </p:nvSpPr>
        <p:spPr>
          <a:xfrm>
            <a:off x="2270125" y="4267200"/>
            <a:ext cx="19691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异号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9" name="Text Box 15"/>
          <p:cNvSpPr txBox="1"/>
          <p:nvPr/>
        </p:nvSpPr>
        <p:spPr>
          <a:xfrm>
            <a:off x="5241925" y="4267200"/>
            <a:ext cx="13811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34160" name="Text Box 16"/>
          <p:cNvSpPr txBox="1"/>
          <p:nvPr/>
        </p:nvSpPr>
        <p:spPr>
          <a:xfrm>
            <a:off x="7712075" y="4267200"/>
            <a:ext cx="20415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比较</a:t>
            </a:r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34161" name="Text Box 17"/>
          <p:cNvSpPr txBox="1"/>
          <p:nvPr/>
        </p:nvSpPr>
        <p:spPr>
          <a:xfrm>
            <a:off x="7038975" y="4724400"/>
            <a:ext cx="149479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异号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</a:rPr>
              <a:t>够</a:t>
            </a:r>
            <a:r>
              <a:rPr lang="en-US" altLang="zh-CN" sz="2000" b="1" dirty="0">
                <a:latin typeface="Times New Roman" panose="02020603050405020304" pitchFamily="18" charset="0"/>
              </a:rPr>
              <a:t>)“0”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34162" name="Text Box 18"/>
          <p:cNvSpPr txBox="1"/>
          <p:nvPr/>
        </p:nvSpPr>
        <p:spPr>
          <a:xfrm>
            <a:off x="7038975" y="5181600"/>
            <a:ext cx="174879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同号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</a:rPr>
              <a:t>不够</a:t>
            </a:r>
            <a:r>
              <a:rPr lang="en-US" altLang="zh-CN" sz="2000" b="1" dirty="0">
                <a:latin typeface="Times New Roman" panose="02020603050405020304" pitchFamily="18" charset="0"/>
              </a:rPr>
              <a:t>)“1”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34163" name="Text Box 19"/>
          <p:cNvSpPr txBox="1"/>
          <p:nvPr/>
        </p:nvSpPr>
        <p:spPr>
          <a:xfrm>
            <a:off x="9105900" y="4937125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反码上商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4" name="Text Box 20"/>
          <p:cNvSpPr txBox="1"/>
          <p:nvPr/>
        </p:nvSpPr>
        <p:spPr>
          <a:xfrm>
            <a:off x="7038975" y="5570538"/>
            <a:ext cx="3865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小数除法  第一次“不够”上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1”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5" name="Line 21"/>
          <p:cNvSpPr/>
          <p:nvPr/>
        </p:nvSpPr>
        <p:spPr>
          <a:xfrm>
            <a:off x="3200400" y="4724400"/>
            <a:ext cx="0" cy="1371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134166" name="Text Box 22"/>
          <p:cNvSpPr txBox="1"/>
          <p:nvPr/>
        </p:nvSpPr>
        <p:spPr>
          <a:xfrm>
            <a:off x="2971800" y="60960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负商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7" name="Freeform 23"/>
          <p:cNvSpPr/>
          <p:nvPr/>
        </p:nvSpPr>
        <p:spPr>
          <a:xfrm>
            <a:off x="4054475" y="6019800"/>
            <a:ext cx="6232525" cy="381000"/>
          </a:xfrm>
          <a:custGeom>
            <a:avLst/>
            <a:gdLst>
              <a:gd name="txL" fmla="*/ 0 w 2688"/>
              <a:gd name="txT" fmla="*/ 0 h 240"/>
              <a:gd name="txR" fmla="*/ 2688 w 2688"/>
              <a:gd name="txB" fmla="*/ 240 h 240"/>
            </a:gdLst>
            <a:ahLst/>
            <a:cxnLst>
              <a:cxn ang="0">
                <a:pos x="0" y="240"/>
              </a:cxn>
              <a:cxn ang="0">
                <a:pos x="2688" y="240"/>
              </a:cxn>
              <a:cxn ang="0">
                <a:pos x="2688" y="0"/>
              </a:cxn>
            </a:cxnLst>
            <a:rect l="txL" t="txT" r="txR" b="txB"/>
            <a:pathLst>
              <a:path w="2688" h="240">
                <a:moveTo>
                  <a:pt x="0" y="240"/>
                </a:moveTo>
                <a:lnTo>
                  <a:pt x="2688" y="240"/>
                </a:lnTo>
                <a:lnTo>
                  <a:pt x="2688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4168" name="Line 24"/>
          <p:cNvSpPr/>
          <p:nvPr/>
        </p:nvSpPr>
        <p:spPr>
          <a:xfrm>
            <a:off x="4495800" y="1981200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134169" name="Line 25"/>
          <p:cNvSpPr/>
          <p:nvPr/>
        </p:nvSpPr>
        <p:spPr>
          <a:xfrm>
            <a:off x="6858000" y="1981200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134170" name="Line 26"/>
          <p:cNvSpPr/>
          <p:nvPr/>
        </p:nvSpPr>
        <p:spPr>
          <a:xfrm>
            <a:off x="6934200" y="4495800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134171" name="Line 27"/>
          <p:cNvSpPr/>
          <p:nvPr/>
        </p:nvSpPr>
        <p:spPr>
          <a:xfrm>
            <a:off x="4495800" y="4495800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sp>
      <p:sp>
        <p:nvSpPr>
          <p:cNvPr id="134172" name="Rectangle 2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141" name="AutoShape 2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814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3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13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13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13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2" dur="500"/>
                                        <p:tgtEl>
                                          <p:spTgt spid="13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3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1" dur="500"/>
                                        <p:tgtEl>
                                          <p:spTgt spid="13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/>
      <p:bldP spid="134148" grpId="0"/>
      <p:bldP spid="134149" grpId="0"/>
      <p:bldP spid="134150" grpId="0"/>
      <p:bldP spid="134151" grpId="0"/>
      <p:bldP spid="134152" grpId="0"/>
      <p:bldP spid="134153" grpId="0"/>
      <p:bldP spid="134154" grpId="0"/>
      <p:bldP spid="134156" grpId="0"/>
      <p:bldP spid="134157" grpId="0" bldLvl="0" animBg="1"/>
      <p:bldP spid="134158" grpId="0"/>
      <p:bldP spid="134159" grpId="0"/>
      <p:bldP spid="134160" grpId="0"/>
      <p:bldP spid="134161" grpId="0"/>
      <p:bldP spid="134162" grpId="0"/>
      <p:bldP spid="134163" grpId="0"/>
      <p:bldP spid="134164" grpId="0"/>
      <p:bldP spid="134166" grpId="0"/>
      <p:bldP spid="134167" grpId="0" bldLvl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19138" name="Text Box 2"/>
          <p:cNvSpPr txBox="1"/>
          <p:nvPr/>
        </p:nvSpPr>
        <p:spPr>
          <a:xfrm>
            <a:off x="2117725" y="501650"/>
            <a:ext cx="42830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(3) </a:t>
            </a:r>
            <a:r>
              <a:rPr lang="zh-CN" altLang="en-US" sz="3600" b="1" dirty="0">
                <a:latin typeface="Times New Roman" panose="02020603050405020304" pitchFamily="18" charset="0"/>
              </a:rPr>
              <a:t>新余数的形成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35171" name="Text Box 3"/>
          <p:cNvSpPr txBox="1"/>
          <p:nvPr/>
        </p:nvSpPr>
        <p:spPr>
          <a:xfrm>
            <a:off x="2667000" y="1843088"/>
            <a:ext cx="5638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加减交替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172" name="Rectangle 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286000" y="2468563"/>
            <a:ext cx="7543800" cy="1584325"/>
            <a:chOff x="480" y="1555"/>
            <a:chExt cx="4752" cy="998"/>
          </a:xfrm>
        </p:grpSpPr>
        <p:grpSp>
          <p:nvGrpSpPr>
            <p:cNvPr id="219144" name="Group 6"/>
            <p:cNvGrpSpPr/>
            <p:nvPr/>
          </p:nvGrpSpPr>
          <p:grpSpPr>
            <a:xfrm>
              <a:off x="480" y="1555"/>
              <a:ext cx="4752" cy="998"/>
              <a:chOff x="480" y="1555"/>
              <a:chExt cx="4752" cy="998"/>
            </a:xfrm>
          </p:grpSpPr>
          <p:sp>
            <p:nvSpPr>
              <p:cNvPr id="219147" name="Text Box 7"/>
              <p:cNvSpPr txBox="1"/>
              <p:nvPr/>
            </p:nvSpPr>
            <p:spPr>
              <a:xfrm>
                <a:off x="950" y="1555"/>
                <a:ext cx="104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和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[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48" name="Text Box 8"/>
              <p:cNvSpPr txBox="1"/>
              <p:nvPr/>
            </p:nvSpPr>
            <p:spPr>
              <a:xfrm>
                <a:off x="2773" y="1584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商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49" name="Text Box 9"/>
              <p:cNvSpPr txBox="1"/>
              <p:nvPr/>
            </p:nvSpPr>
            <p:spPr>
              <a:xfrm>
                <a:off x="3878" y="1584"/>
                <a:ext cx="6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新余数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50" name="Line 10"/>
              <p:cNvSpPr/>
              <p:nvPr/>
            </p:nvSpPr>
            <p:spPr>
              <a:xfrm>
                <a:off x="480" y="1872"/>
                <a:ext cx="47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9151" name="Line 11"/>
              <p:cNvSpPr/>
              <p:nvPr/>
            </p:nvSpPr>
            <p:spPr>
              <a:xfrm>
                <a:off x="2352" y="1584"/>
                <a:ext cx="0" cy="96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9152" name="Line 12"/>
              <p:cNvSpPr/>
              <p:nvPr/>
            </p:nvSpPr>
            <p:spPr>
              <a:xfrm>
                <a:off x="3504" y="1584"/>
                <a:ext cx="0" cy="96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9153" name="Text Box 13"/>
              <p:cNvSpPr txBox="1"/>
              <p:nvPr/>
            </p:nvSpPr>
            <p:spPr>
              <a:xfrm>
                <a:off x="1094" y="1927"/>
                <a:ext cx="54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同 号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54" name="Text Box 14"/>
              <p:cNvSpPr txBox="1"/>
              <p:nvPr/>
            </p:nvSpPr>
            <p:spPr>
              <a:xfrm>
                <a:off x="1094" y="2263"/>
                <a:ext cx="54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异 号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55" name="Text Box 15"/>
              <p:cNvSpPr txBox="1"/>
              <p:nvPr/>
            </p:nvSpPr>
            <p:spPr>
              <a:xfrm>
                <a:off x="2814" y="1881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56" name="Text Box 16"/>
              <p:cNvSpPr txBox="1"/>
              <p:nvPr/>
            </p:nvSpPr>
            <p:spPr>
              <a:xfrm>
                <a:off x="2814" y="2217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57" name="Text Box 17"/>
              <p:cNvSpPr txBox="1"/>
              <p:nvPr/>
            </p:nvSpPr>
            <p:spPr>
              <a:xfrm>
                <a:off x="3744" y="1913"/>
                <a:ext cx="118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2[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+ [–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58" name="Text Box 18"/>
              <p:cNvSpPr txBox="1"/>
              <p:nvPr/>
            </p:nvSpPr>
            <p:spPr>
              <a:xfrm>
                <a:off x="3744" y="2249"/>
                <a:ext cx="118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2[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+ [ </a:t>
                </a:r>
                <a:r>
                  <a:rPr lang="en-US" altLang="zh-CN" sz="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1600" b="1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0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9159" name="Line 19"/>
              <p:cNvSpPr/>
              <p:nvPr/>
            </p:nvSpPr>
            <p:spPr>
              <a:xfrm>
                <a:off x="480" y="1584"/>
                <a:ext cx="47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9160" name="Line 20"/>
              <p:cNvSpPr/>
              <p:nvPr/>
            </p:nvSpPr>
            <p:spPr>
              <a:xfrm>
                <a:off x="480" y="2544"/>
                <a:ext cx="475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219145" name="Line 21"/>
            <p:cNvSpPr/>
            <p:nvPr/>
          </p:nvSpPr>
          <p:spPr>
            <a:xfrm>
              <a:off x="489" y="1584"/>
              <a:ext cx="0" cy="9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9146" name="Line 22"/>
            <p:cNvSpPr/>
            <p:nvPr/>
          </p:nvSpPr>
          <p:spPr>
            <a:xfrm>
              <a:off x="5225" y="1584"/>
              <a:ext cx="0" cy="9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19142" name="AutoShape 2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9143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20162" name="Text Box 2"/>
          <p:cNvSpPr txBox="1"/>
          <p:nvPr/>
        </p:nvSpPr>
        <p:spPr>
          <a:xfrm>
            <a:off x="1828800" y="196850"/>
            <a:ext cx="1440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6.26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505200" y="295275"/>
            <a:ext cx="4351338" cy="962025"/>
            <a:chOff x="1382" y="186"/>
            <a:chExt cx="2741" cy="606"/>
          </a:xfrm>
        </p:grpSpPr>
        <p:sp>
          <p:nvSpPr>
            <p:cNvPr id="220258" name="Text Box 4"/>
            <p:cNvSpPr txBox="1"/>
            <p:nvPr/>
          </p:nvSpPr>
          <p:spPr>
            <a:xfrm>
              <a:off x="1382" y="186"/>
              <a:ext cx="2741" cy="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– 0.1011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0.1101 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求          并还原成真值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0259" name="Group 5"/>
            <p:cNvGrpSpPr/>
            <p:nvPr/>
          </p:nvGrpSpPr>
          <p:grpSpPr>
            <a:xfrm>
              <a:off x="1613" y="336"/>
              <a:ext cx="613" cy="456"/>
              <a:chOff x="1085" y="1898"/>
              <a:chExt cx="613" cy="456"/>
            </a:xfrm>
          </p:grpSpPr>
          <p:sp>
            <p:nvSpPr>
              <p:cNvPr id="220260" name="Text Box 6"/>
              <p:cNvSpPr txBox="1"/>
              <p:nvPr/>
            </p:nvSpPr>
            <p:spPr>
              <a:xfrm>
                <a:off x="1085" y="1988"/>
                <a:ext cx="61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补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0261" name="Group 7"/>
              <p:cNvGrpSpPr/>
              <p:nvPr/>
            </p:nvGrpSpPr>
            <p:grpSpPr>
              <a:xfrm>
                <a:off x="1219" y="1898"/>
                <a:ext cx="209" cy="456"/>
                <a:chOff x="1056" y="1728"/>
                <a:chExt cx="209" cy="456"/>
              </a:xfrm>
            </p:grpSpPr>
            <p:sp>
              <p:nvSpPr>
                <p:cNvPr id="220262" name="Text Box 8"/>
                <p:cNvSpPr txBox="1"/>
                <p:nvPr/>
              </p:nvSpPr>
              <p:spPr>
                <a:xfrm>
                  <a:off x="1056" y="1728"/>
                  <a:ext cx="209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0263" name="Text Box 9"/>
                <p:cNvSpPr txBox="1"/>
                <p:nvPr/>
              </p:nvSpPr>
              <p:spPr>
                <a:xfrm>
                  <a:off x="1056" y="1894"/>
                  <a:ext cx="196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0264" name="Line 10"/>
                <p:cNvSpPr/>
                <p:nvPr/>
              </p:nvSpPr>
              <p:spPr>
                <a:xfrm>
                  <a:off x="1070" y="1990"/>
                  <a:ext cx="19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136203" name="Text Box 11"/>
          <p:cNvSpPr txBox="1"/>
          <p:nvPr/>
        </p:nvSpPr>
        <p:spPr>
          <a:xfrm>
            <a:off x="1828800" y="126365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6204" name="Text Box 12"/>
          <p:cNvSpPr txBox="1"/>
          <p:nvPr/>
        </p:nvSpPr>
        <p:spPr>
          <a:xfrm>
            <a:off x="2651125" y="1263650"/>
            <a:ext cx="69932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1.0101    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0.1101    [–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1.0011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6205" name="Text Box 13"/>
          <p:cNvSpPr txBox="1"/>
          <p:nvPr/>
        </p:nvSpPr>
        <p:spPr>
          <a:xfrm>
            <a:off x="2724150" y="187007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06" name="Text Box 14"/>
          <p:cNvSpPr txBox="1"/>
          <p:nvPr/>
        </p:nvSpPr>
        <p:spPr>
          <a:xfrm>
            <a:off x="2724150" y="226377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07" name="Text Box 15"/>
          <p:cNvSpPr txBox="1"/>
          <p:nvPr/>
        </p:nvSpPr>
        <p:spPr>
          <a:xfrm>
            <a:off x="2724150" y="337661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1 . 0 0 1 1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08" name="Text Box 16"/>
          <p:cNvSpPr txBox="1"/>
          <p:nvPr/>
        </p:nvSpPr>
        <p:spPr>
          <a:xfrm>
            <a:off x="2724150" y="4491038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09" name="Text Box 17"/>
          <p:cNvSpPr txBox="1"/>
          <p:nvPr/>
        </p:nvSpPr>
        <p:spPr>
          <a:xfrm>
            <a:off x="2724150" y="560387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0 . 1 1 0 1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10" name="Freeform 18"/>
          <p:cNvSpPr/>
          <p:nvPr/>
        </p:nvSpPr>
        <p:spPr>
          <a:xfrm>
            <a:off x="2511425" y="2655888"/>
            <a:ext cx="5260975" cy="1587"/>
          </a:xfrm>
          <a:custGeom>
            <a:avLst/>
            <a:gdLst>
              <a:gd name="txL" fmla="*/ 0 w 3314"/>
              <a:gd name="txT" fmla="*/ 0 h 1"/>
              <a:gd name="txR" fmla="*/ 3314 w 3314"/>
              <a:gd name="txB" fmla="*/ 1 h 1"/>
            </a:gdLst>
            <a:ahLst/>
            <a:cxnLst>
              <a:cxn ang="0">
                <a:pos x="0" y="0"/>
              </a:cxn>
              <a:cxn ang="0">
                <a:pos x="3314" y="1"/>
              </a:cxn>
            </a:cxnLst>
            <a:rect l="txL" t="txT" r="txR" b="txB"/>
            <a:pathLst>
              <a:path w="3314" h="1">
                <a:moveTo>
                  <a:pt x="0" y="0"/>
                </a:moveTo>
                <a:lnTo>
                  <a:pt x="3314" y="1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6211" name="Freeform 19"/>
          <p:cNvSpPr/>
          <p:nvPr/>
        </p:nvSpPr>
        <p:spPr>
          <a:xfrm>
            <a:off x="2511425" y="3770313"/>
            <a:ext cx="5260975" cy="1587"/>
          </a:xfrm>
          <a:custGeom>
            <a:avLst/>
            <a:gdLst>
              <a:gd name="txL" fmla="*/ 0 w 3314"/>
              <a:gd name="txT" fmla="*/ 0 h 1"/>
              <a:gd name="txR" fmla="*/ 3314 w 3314"/>
              <a:gd name="txB" fmla="*/ 1 h 1"/>
            </a:gdLst>
            <a:ahLst/>
            <a:cxnLst>
              <a:cxn ang="0">
                <a:pos x="0" y="0"/>
              </a:cxn>
              <a:cxn ang="0">
                <a:pos x="3314" y="1"/>
              </a:cxn>
            </a:cxnLst>
            <a:rect l="txL" t="txT" r="txR" b="txB"/>
            <a:pathLst>
              <a:path w="3314" h="1">
                <a:moveTo>
                  <a:pt x="0" y="0"/>
                </a:moveTo>
                <a:lnTo>
                  <a:pt x="3314" y="1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6212" name="Freeform 20"/>
          <p:cNvSpPr/>
          <p:nvPr/>
        </p:nvSpPr>
        <p:spPr>
          <a:xfrm>
            <a:off x="2511425" y="4883150"/>
            <a:ext cx="5260975" cy="3175"/>
          </a:xfrm>
          <a:custGeom>
            <a:avLst/>
            <a:gdLst>
              <a:gd name="txL" fmla="*/ 0 w 3314"/>
              <a:gd name="txT" fmla="*/ 0 h 2"/>
              <a:gd name="txR" fmla="*/ 3314 w 3314"/>
              <a:gd name="txB" fmla="*/ 2 h 2"/>
            </a:gdLst>
            <a:ahLst/>
            <a:cxnLst>
              <a:cxn ang="0">
                <a:pos x="0" y="0"/>
              </a:cxn>
              <a:cxn ang="0">
                <a:pos x="3314" y="2"/>
              </a:cxn>
            </a:cxnLst>
            <a:rect l="txL" t="txT" r="txR" b="txB"/>
            <a:pathLst>
              <a:path w="3314" h="2">
                <a:moveTo>
                  <a:pt x="0" y="0"/>
                </a:moveTo>
                <a:lnTo>
                  <a:pt x="3314" y="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6213" name="Freeform 21"/>
          <p:cNvSpPr/>
          <p:nvPr/>
        </p:nvSpPr>
        <p:spPr>
          <a:xfrm>
            <a:off x="2511425" y="5997575"/>
            <a:ext cx="5260975" cy="3175"/>
          </a:xfrm>
          <a:custGeom>
            <a:avLst/>
            <a:gdLst>
              <a:gd name="txL" fmla="*/ 0 w 3314"/>
              <a:gd name="txT" fmla="*/ 0 h 2"/>
              <a:gd name="txR" fmla="*/ 3314 w 3314"/>
              <a:gd name="txB" fmla="*/ 2 h 2"/>
            </a:gdLst>
            <a:ahLst/>
            <a:cxnLst>
              <a:cxn ang="0">
                <a:pos x="0" y="0"/>
              </a:cxn>
              <a:cxn ang="0">
                <a:pos x="3314" y="2"/>
              </a:cxn>
            </a:cxnLst>
            <a:rect l="txL" t="txT" r="txR" b="txB"/>
            <a:pathLst>
              <a:path w="3314" h="2">
                <a:moveTo>
                  <a:pt x="0" y="0"/>
                </a:moveTo>
                <a:lnTo>
                  <a:pt x="3314" y="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6214" name="Text Box 22"/>
          <p:cNvSpPr txBox="1"/>
          <p:nvPr/>
        </p:nvSpPr>
        <p:spPr>
          <a:xfrm>
            <a:off x="4340225" y="1870075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0 . 0 0 0 0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15" name="Text Box 23"/>
          <p:cNvSpPr txBox="1"/>
          <p:nvPr/>
        </p:nvSpPr>
        <p:spPr>
          <a:xfrm>
            <a:off x="6096000" y="2286000"/>
            <a:ext cx="1600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异号做加法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36216" name="Text Box 24"/>
          <p:cNvSpPr txBox="1"/>
          <p:nvPr/>
        </p:nvSpPr>
        <p:spPr>
          <a:xfrm>
            <a:off x="5407025" y="263207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17" name="Text Box 25"/>
          <p:cNvSpPr txBox="1"/>
          <p:nvPr/>
        </p:nvSpPr>
        <p:spPr>
          <a:xfrm>
            <a:off x="2724150" y="2592388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0 . 0 0 1 0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18" name="Text Box 26"/>
          <p:cNvSpPr txBox="1"/>
          <p:nvPr/>
        </p:nvSpPr>
        <p:spPr>
          <a:xfrm>
            <a:off x="6096000" y="2651125"/>
            <a:ext cx="145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同号上“</a:t>
            </a:r>
            <a:r>
              <a:rPr lang="en-US" altLang="zh-CN" sz="2000" b="1" dirty="0">
                <a:latin typeface="Times New Roman" panose="02020603050405020304" pitchFamily="18" charset="0"/>
              </a:rPr>
              <a:t>1”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27"/>
          <p:cNvGrpSpPr/>
          <p:nvPr/>
        </p:nvGrpSpPr>
        <p:grpSpPr>
          <a:xfrm>
            <a:off x="2724150" y="3705225"/>
            <a:ext cx="2865438" cy="460375"/>
            <a:chOff x="756" y="2334"/>
            <a:chExt cx="1805" cy="290"/>
          </a:xfrm>
        </p:grpSpPr>
        <p:sp>
          <p:nvSpPr>
            <p:cNvPr id="220256" name="Text Box 28"/>
            <p:cNvSpPr txBox="1"/>
            <p:nvPr/>
          </p:nvSpPr>
          <p:spPr>
            <a:xfrm>
              <a:off x="756" y="2334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1 . 0 1 1 1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57" name="Text Box 29"/>
            <p:cNvSpPr txBox="1"/>
            <p:nvPr/>
          </p:nvSpPr>
          <p:spPr>
            <a:xfrm>
              <a:off x="2302" y="2334"/>
              <a:ext cx="2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6222" name="Text Box 30"/>
          <p:cNvSpPr txBox="1"/>
          <p:nvPr/>
        </p:nvSpPr>
        <p:spPr>
          <a:xfrm>
            <a:off x="6096000" y="3771900"/>
            <a:ext cx="145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异号上“</a:t>
            </a:r>
            <a:r>
              <a:rPr lang="en-US" altLang="zh-CN" sz="2000" b="1" dirty="0">
                <a:latin typeface="Times New Roman" panose="02020603050405020304" pitchFamily="18" charset="0"/>
              </a:rPr>
              <a:t>0”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36223" name="Text Box 31"/>
          <p:cNvSpPr txBox="1"/>
          <p:nvPr/>
        </p:nvSpPr>
        <p:spPr>
          <a:xfrm>
            <a:off x="6096000" y="4479925"/>
            <a:ext cx="77470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+[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6" name="Group 32"/>
          <p:cNvGrpSpPr/>
          <p:nvPr/>
        </p:nvGrpSpPr>
        <p:grpSpPr>
          <a:xfrm>
            <a:off x="2724150" y="4819650"/>
            <a:ext cx="2865438" cy="482600"/>
            <a:chOff x="756" y="3036"/>
            <a:chExt cx="1805" cy="304"/>
          </a:xfrm>
        </p:grpSpPr>
        <p:sp>
          <p:nvSpPr>
            <p:cNvPr id="220254" name="Text Box 33"/>
            <p:cNvSpPr txBox="1"/>
            <p:nvPr/>
          </p:nvSpPr>
          <p:spPr>
            <a:xfrm>
              <a:off x="756" y="3036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1 . 1 0 1 1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55" name="Text Box 34"/>
            <p:cNvSpPr txBox="1"/>
            <p:nvPr/>
          </p:nvSpPr>
          <p:spPr>
            <a:xfrm>
              <a:off x="2158" y="3050"/>
              <a:ext cx="4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6227" name="Text Box 35"/>
          <p:cNvSpPr txBox="1"/>
          <p:nvPr/>
        </p:nvSpPr>
        <p:spPr>
          <a:xfrm>
            <a:off x="6096000" y="4876800"/>
            <a:ext cx="145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异号上“</a:t>
            </a:r>
            <a:r>
              <a:rPr lang="en-US" altLang="zh-CN" sz="2000" b="1" dirty="0">
                <a:latin typeface="Times New Roman" panose="02020603050405020304" pitchFamily="18" charset="0"/>
              </a:rPr>
              <a:t>0”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36228" name="Text Box 36"/>
          <p:cNvSpPr txBox="1"/>
          <p:nvPr/>
        </p:nvSpPr>
        <p:spPr>
          <a:xfrm>
            <a:off x="6096000" y="5586413"/>
            <a:ext cx="77470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+[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7" name="Group 37"/>
          <p:cNvGrpSpPr/>
          <p:nvPr/>
        </p:nvGrpSpPr>
        <p:grpSpPr>
          <a:xfrm>
            <a:off x="2724150" y="5932488"/>
            <a:ext cx="2789238" cy="460375"/>
            <a:chOff x="756" y="3737"/>
            <a:chExt cx="1757" cy="290"/>
          </a:xfrm>
        </p:grpSpPr>
        <p:sp>
          <p:nvSpPr>
            <p:cNvPr id="220252" name="Text Box 38"/>
            <p:cNvSpPr txBox="1"/>
            <p:nvPr/>
          </p:nvSpPr>
          <p:spPr>
            <a:xfrm>
              <a:off x="756" y="3737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0 . 0 0 1 1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53" name="Text Box 39"/>
            <p:cNvSpPr txBox="1"/>
            <p:nvPr/>
          </p:nvSpPr>
          <p:spPr>
            <a:xfrm>
              <a:off x="2014" y="3737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6232" name="Text Box 40"/>
          <p:cNvSpPr txBox="1"/>
          <p:nvPr/>
        </p:nvSpPr>
        <p:spPr>
          <a:xfrm>
            <a:off x="6096000" y="6003925"/>
            <a:ext cx="145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同号上“</a:t>
            </a:r>
            <a:r>
              <a:rPr lang="en-US" altLang="zh-CN" sz="2000" b="1" dirty="0">
                <a:latin typeface="Times New Roman" panose="02020603050405020304" pitchFamily="18" charset="0"/>
              </a:rPr>
              <a:t>1”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8" name="Group 41"/>
          <p:cNvGrpSpPr/>
          <p:nvPr/>
        </p:nvGrpSpPr>
        <p:grpSpPr>
          <a:xfrm>
            <a:off x="2724150" y="2984500"/>
            <a:ext cx="4151313" cy="523875"/>
            <a:chOff x="756" y="1880"/>
            <a:chExt cx="2615" cy="330"/>
          </a:xfrm>
        </p:grpSpPr>
        <p:sp>
          <p:nvSpPr>
            <p:cNvPr id="220248" name="Text Box 42"/>
            <p:cNvSpPr txBox="1"/>
            <p:nvPr/>
          </p:nvSpPr>
          <p:spPr>
            <a:xfrm>
              <a:off x="756" y="1880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0 . 0 1 0 0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49" name="Text Box 43"/>
            <p:cNvSpPr txBox="1"/>
            <p:nvPr/>
          </p:nvSpPr>
          <p:spPr>
            <a:xfrm>
              <a:off x="2302" y="189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50" name="Line 44"/>
            <p:cNvSpPr/>
            <p:nvPr/>
          </p:nvSpPr>
          <p:spPr>
            <a:xfrm flipH="1">
              <a:off x="2976" y="2064"/>
              <a:ext cx="23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20251" name="Text Box 45"/>
            <p:cNvSpPr txBox="1"/>
            <p:nvPr/>
          </p:nvSpPr>
          <p:spPr>
            <a:xfrm>
              <a:off x="3160" y="1920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46"/>
          <p:cNvGrpSpPr/>
          <p:nvPr/>
        </p:nvGrpSpPr>
        <p:grpSpPr>
          <a:xfrm>
            <a:off x="2724150" y="4097338"/>
            <a:ext cx="4164013" cy="477837"/>
            <a:chOff x="756" y="2581"/>
            <a:chExt cx="2623" cy="301"/>
          </a:xfrm>
        </p:grpSpPr>
        <p:sp>
          <p:nvSpPr>
            <p:cNvPr id="220244" name="Text Box 47"/>
            <p:cNvSpPr txBox="1"/>
            <p:nvPr/>
          </p:nvSpPr>
          <p:spPr>
            <a:xfrm>
              <a:off x="756" y="2581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0 . 1 1 1 0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45" name="Text Box 48"/>
            <p:cNvSpPr txBox="1"/>
            <p:nvPr/>
          </p:nvSpPr>
          <p:spPr>
            <a:xfrm>
              <a:off x="2168" y="2581"/>
              <a:ext cx="35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46" name="Line 49"/>
            <p:cNvSpPr/>
            <p:nvPr/>
          </p:nvSpPr>
          <p:spPr>
            <a:xfrm flipH="1">
              <a:off x="2976" y="2736"/>
              <a:ext cx="24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20247" name="Text Box 50"/>
            <p:cNvSpPr txBox="1"/>
            <p:nvPr/>
          </p:nvSpPr>
          <p:spPr>
            <a:xfrm>
              <a:off x="3168" y="2592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51"/>
          <p:cNvGrpSpPr/>
          <p:nvPr/>
        </p:nvGrpSpPr>
        <p:grpSpPr>
          <a:xfrm>
            <a:off x="2724150" y="5181600"/>
            <a:ext cx="4164013" cy="490538"/>
            <a:chOff x="756" y="3264"/>
            <a:chExt cx="2623" cy="309"/>
          </a:xfrm>
        </p:grpSpPr>
        <p:sp>
          <p:nvSpPr>
            <p:cNvPr id="220240" name="Text Box 52"/>
            <p:cNvSpPr txBox="1"/>
            <p:nvPr/>
          </p:nvSpPr>
          <p:spPr>
            <a:xfrm>
              <a:off x="756" y="3283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1 . 0 1 1 0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41" name="Text Box 53"/>
            <p:cNvSpPr txBox="1"/>
            <p:nvPr/>
          </p:nvSpPr>
          <p:spPr>
            <a:xfrm>
              <a:off x="2024" y="3283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42" name="Line 54"/>
            <p:cNvSpPr/>
            <p:nvPr/>
          </p:nvSpPr>
          <p:spPr>
            <a:xfrm flipH="1">
              <a:off x="2976" y="3408"/>
              <a:ext cx="23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20243" name="Text Box 55"/>
            <p:cNvSpPr txBox="1"/>
            <p:nvPr/>
          </p:nvSpPr>
          <p:spPr>
            <a:xfrm>
              <a:off x="3168" y="3264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36248" name="Text Box 56"/>
          <p:cNvSpPr txBox="1"/>
          <p:nvPr/>
        </p:nvSpPr>
        <p:spPr>
          <a:xfrm>
            <a:off x="6737350" y="6384925"/>
            <a:ext cx="170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末位恒置“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1”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Group 57"/>
          <p:cNvGrpSpPr/>
          <p:nvPr/>
        </p:nvGrpSpPr>
        <p:grpSpPr>
          <a:xfrm>
            <a:off x="2724150" y="6324600"/>
            <a:ext cx="4087813" cy="468313"/>
            <a:chOff x="756" y="3984"/>
            <a:chExt cx="2575" cy="295"/>
          </a:xfrm>
        </p:grpSpPr>
        <p:sp>
          <p:nvSpPr>
            <p:cNvPr id="220235" name="Text Box 58"/>
            <p:cNvSpPr txBox="1"/>
            <p:nvPr/>
          </p:nvSpPr>
          <p:spPr>
            <a:xfrm>
              <a:off x="756" y="3984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0 . 0 1 1 0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0236" name="Text Box 59"/>
            <p:cNvSpPr txBox="1"/>
            <p:nvPr/>
          </p:nvSpPr>
          <p:spPr>
            <a:xfrm>
              <a:off x="1870" y="3984"/>
              <a:ext cx="110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1 0 0 1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0237" name="Group 60"/>
            <p:cNvGrpSpPr/>
            <p:nvPr/>
          </p:nvGrpSpPr>
          <p:grpSpPr>
            <a:xfrm>
              <a:off x="2928" y="3989"/>
              <a:ext cx="403" cy="290"/>
              <a:chOff x="3542" y="3936"/>
              <a:chExt cx="403" cy="290"/>
            </a:xfrm>
          </p:grpSpPr>
          <p:sp>
            <p:nvSpPr>
              <p:cNvPr id="220238" name="Line 61"/>
              <p:cNvSpPr/>
              <p:nvPr/>
            </p:nvSpPr>
            <p:spPr>
              <a:xfrm flipH="1">
                <a:off x="3542" y="4080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stealth" w="med" len="med"/>
              </a:ln>
            </p:spPr>
          </p:sp>
          <p:sp>
            <p:nvSpPr>
              <p:cNvPr id="220239" name="Text Box 62"/>
              <p:cNvSpPr txBox="1"/>
              <p:nvPr/>
            </p:nvSpPr>
            <p:spPr>
              <a:xfrm>
                <a:off x="3734" y="3936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36255" name="Line 63"/>
          <p:cNvSpPr/>
          <p:nvPr/>
        </p:nvSpPr>
        <p:spPr>
          <a:xfrm>
            <a:off x="4264025" y="1828800"/>
            <a:ext cx="0" cy="4800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6256" name="Line 64"/>
          <p:cNvSpPr/>
          <p:nvPr/>
        </p:nvSpPr>
        <p:spPr>
          <a:xfrm>
            <a:off x="5943600" y="1828800"/>
            <a:ext cx="0" cy="4800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13" name="Group 65"/>
          <p:cNvGrpSpPr/>
          <p:nvPr/>
        </p:nvGrpSpPr>
        <p:grpSpPr>
          <a:xfrm>
            <a:off x="7848600" y="4918075"/>
            <a:ext cx="2466975" cy="723900"/>
            <a:chOff x="3984" y="3098"/>
            <a:chExt cx="1554" cy="456"/>
          </a:xfrm>
        </p:grpSpPr>
        <p:grpSp>
          <p:nvGrpSpPr>
            <p:cNvPr id="220228" name="Group 66"/>
            <p:cNvGrpSpPr/>
            <p:nvPr/>
          </p:nvGrpSpPr>
          <p:grpSpPr>
            <a:xfrm>
              <a:off x="4224" y="3098"/>
              <a:ext cx="1314" cy="456"/>
              <a:chOff x="4368" y="3098"/>
              <a:chExt cx="1314" cy="456"/>
            </a:xfrm>
          </p:grpSpPr>
          <p:sp>
            <p:nvSpPr>
              <p:cNvPr id="220230" name="Text Box 67"/>
              <p:cNvSpPr txBox="1"/>
              <p:nvPr/>
            </p:nvSpPr>
            <p:spPr>
              <a:xfrm>
                <a:off x="4368" y="3188"/>
                <a:ext cx="131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="1" baseline="-25000" dirty="0">
                    <a:latin typeface="Times New Roman" panose="02020603050405020304" pitchFamily="18" charset="0"/>
                  </a:rPr>
                  <a:t>补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=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1.0011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0231" name="Group 68"/>
              <p:cNvGrpSpPr/>
              <p:nvPr/>
            </p:nvGrpSpPr>
            <p:grpSpPr>
              <a:xfrm>
                <a:off x="4502" y="3098"/>
                <a:ext cx="211" cy="456"/>
                <a:chOff x="1056" y="1728"/>
                <a:chExt cx="211" cy="456"/>
              </a:xfrm>
            </p:grpSpPr>
            <p:sp>
              <p:nvSpPr>
                <p:cNvPr id="220232" name="Text Box 69"/>
                <p:cNvSpPr txBox="1"/>
                <p:nvPr/>
              </p:nvSpPr>
              <p:spPr>
                <a:xfrm>
                  <a:off x="1056" y="1728"/>
                  <a:ext cx="211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0233" name="Text Box 70"/>
                <p:cNvSpPr txBox="1"/>
                <p:nvPr/>
              </p:nvSpPr>
              <p:spPr>
                <a:xfrm>
                  <a:off x="1056" y="1894"/>
                  <a:ext cx="199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0234" name="Line 71"/>
                <p:cNvSpPr/>
                <p:nvPr/>
              </p:nvSpPr>
              <p:spPr>
                <a:xfrm>
                  <a:off x="1070" y="1990"/>
                  <a:ext cx="19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20229" name="Text Box 72"/>
            <p:cNvSpPr txBox="1"/>
            <p:nvPr/>
          </p:nvSpPr>
          <p:spPr>
            <a:xfrm>
              <a:off x="3984" y="3216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∴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6265" name="Text Box 73"/>
          <p:cNvSpPr txBox="1"/>
          <p:nvPr/>
        </p:nvSpPr>
        <p:spPr>
          <a:xfrm>
            <a:off x="5407025" y="370522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66" name="Text Box 74"/>
          <p:cNvSpPr txBox="1"/>
          <p:nvPr/>
        </p:nvSpPr>
        <p:spPr>
          <a:xfrm>
            <a:off x="5407025" y="484187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67" name="Text Box 75"/>
          <p:cNvSpPr txBox="1"/>
          <p:nvPr/>
        </p:nvSpPr>
        <p:spPr>
          <a:xfrm>
            <a:off x="5407025" y="5930900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6268" name="Text Box 76"/>
          <p:cNvSpPr txBox="1"/>
          <p:nvPr/>
        </p:nvSpPr>
        <p:spPr>
          <a:xfrm>
            <a:off x="5407025" y="6324600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269" name="Text Box 77"/>
          <p:cNvSpPr txBox="1"/>
          <p:nvPr/>
        </p:nvSpPr>
        <p:spPr>
          <a:xfrm>
            <a:off x="6096000" y="3336925"/>
            <a:ext cx="1219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+[–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16" name="Group 78"/>
          <p:cNvGrpSpPr/>
          <p:nvPr/>
        </p:nvGrpSpPr>
        <p:grpSpPr>
          <a:xfrm>
            <a:off x="8247063" y="5562600"/>
            <a:ext cx="2332037" cy="723900"/>
            <a:chOff x="4235" y="3504"/>
            <a:chExt cx="1469" cy="456"/>
          </a:xfrm>
        </p:grpSpPr>
        <p:grpSp>
          <p:nvGrpSpPr>
            <p:cNvPr id="220221" name="Group 79"/>
            <p:cNvGrpSpPr/>
            <p:nvPr/>
          </p:nvGrpSpPr>
          <p:grpSpPr>
            <a:xfrm>
              <a:off x="4560" y="3504"/>
              <a:ext cx="1144" cy="456"/>
              <a:chOff x="4560" y="3504"/>
              <a:chExt cx="1144" cy="456"/>
            </a:xfrm>
          </p:grpSpPr>
          <p:grpSp>
            <p:nvGrpSpPr>
              <p:cNvPr id="220223" name="Group 80"/>
              <p:cNvGrpSpPr/>
              <p:nvPr/>
            </p:nvGrpSpPr>
            <p:grpSpPr>
              <a:xfrm>
                <a:off x="4560" y="3504"/>
                <a:ext cx="211" cy="456"/>
                <a:chOff x="1056" y="1728"/>
                <a:chExt cx="211" cy="456"/>
              </a:xfrm>
            </p:grpSpPr>
            <p:sp>
              <p:nvSpPr>
                <p:cNvPr id="220225" name="Text Box 81"/>
                <p:cNvSpPr txBox="1"/>
                <p:nvPr/>
              </p:nvSpPr>
              <p:spPr>
                <a:xfrm>
                  <a:off x="1056" y="1728"/>
                  <a:ext cx="211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0226" name="Text Box 82"/>
                <p:cNvSpPr txBox="1"/>
                <p:nvPr/>
              </p:nvSpPr>
              <p:spPr>
                <a:xfrm>
                  <a:off x="1056" y="1894"/>
                  <a:ext cx="199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0227" name="Line 83"/>
                <p:cNvSpPr/>
                <p:nvPr/>
              </p:nvSpPr>
              <p:spPr>
                <a:xfrm>
                  <a:off x="1070" y="1990"/>
                  <a:ext cx="19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20224" name="Text Box 84"/>
              <p:cNvSpPr txBox="1"/>
              <p:nvPr/>
            </p:nvSpPr>
            <p:spPr>
              <a:xfrm>
                <a:off x="4752" y="3568"/>
                <a:ext cx="952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 – 0.1101</a:t>
                </a:r>
                <a:endParaRPr lang="en-US" altLang="zh-CN" sz="2400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220222" name="Text Box 85"/>
            <p:cNvSpPr txBox="1"/>
            <p:nvPr/>
          </p:nvSpPr>
          <p:spPr>
            <a:xfrm>
              <a:off x="4235" y="363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则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6278" name="AutoShape 86"/>
          <p:cNvSpPr/>
          <p:nvPr/>
        </p:nvSpPr>
        <p:spPr>
          <a:xfrm>
            <a:off x="1758950" y="3810000"/>
            <a:ext cx="755650" cy="1395840"/>
          </a:xfrm>
          <a:prstGeom prst="wedgeRoundRectCallout">
            <a:avLst>
              <a:gd name="adj1" fmla="val 85083"/>
              <a:gd name="adj2" fmla="val 2000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逻辑左移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36279" name="Rectangle 8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280" name="AutoShape 88"/>
          <p:cNvSpPr/>
          <p:nvPr/>
        </p:nvSpPr>
        <p:spPr>
          <a:xfrm>
            <a:off x="1758950" y="2708275"/>
            <a:ext cx="757238" cy="1395996"/>
          </a:xfrm>
          <a:prstGeom prst="wedgeRoundRectCallout">
            <a:avLst>
              <a:gd name="adj1" fmla="val 85083"/>
              <a:gd name="adj2" fmla="val 2000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逻辑左移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36281" name="AutoShape 89"/>
          <p:cNvSpPr/>
          <p:nvPr/>
        </p:nvSpPr>
        <p:spPr>
          <a:xfrm>
            <a:off x="1758950" y="4892675"/>
            <a:ext cx="757238" cy="1395996"/>
          </a:xfrm>
          <a:prstGeom prst="wedgeRoundRectCallout">
            <a:avLst>
              <a:gd name="adj1" fmla="val 85083"/>
              <a:gd name="adj2" fmla="val 2000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逻辑左移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36282" name="AutoShape 90"/>
          <p:cNvSpPr/>
          <p:nvPr/>
        </p:nvSpPr>
        <p:spPr>
          <a:xfrm>
            <a:off x="1758950" y="6021388"/>
            <a:ext cx="757238" cy="1395996"/>
          </a:xfrm>
          <a:prstGeom prst="wedgeRoundRectCallout">
            <a:avLst>
              <a:gd name="adj1" fmla="val 85083"/>
              <a:gd name="adj2" fmla="val 2000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逻辑左移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9" name="Group 91"/>
          <p:cNvGrpSpPr/>
          <p:nvPr/>
        </p:nvGrpSpPr>
        <p:grpSpPr>
          <a:xfrm>
            <a:off x="2782888" y="1350963"/>
            <a:ext cx="3556000" cy="1663700"/>
            <a:chOff x="793" y="851"/>
            <a:chExt cx="2240" cy="1048"/>
          </a:xfrm>
        </p:grpSpPr>
        <p:sp>
          <p:nvSpPr>
            <p:cNvPr id="220219" name="Rectangle 92"/>
            <p:cNvSpPr/>
            <p:nvPr/>
          </p:nvSpPr>
          <p:spPr>
            <a:xfrm>
              <a:off x="2889" y="851"/>
              <a:ext cx="144" cy="232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0220" name="Rectangle 93"/>
            <p:cNvSpPr/>
            <p:nvPr/>
          </p:nvSpPr>
          <p:spPr>
            <a:xfrm>
              <a:off x="793" y="1667"/>
              <a:ext cx="144" cy="232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94"/>
          <p:cNvGrpSpPr/>
          <p:nvPr/>
        </p:nvGrpSpPr>
        <p:grpSpPr>
          <a:xfrm>
            <a:off x="2784475" y="1350963"/>
            <a:ext cx="3556000" cy="2800350"/>
            <a:chOff x="794" y="851"/>
            <a:chExt cx="2240" cy="1764"/>
          </a:xfrm>
        </p:grpSpPr>
        <p:sp>
          <p:nvSpPr>
            <p:cNvPr id="220217" name="Rectangle 95"/>
            <p:cNvSpPr/>
            <p:nvPr/>
          </p:nvSpPr>
          <p:spPr>
            <a:xfrm>
              <a:off x="2890" y="851"/>
              <a:ext cx="144" cy="232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0218" name="Rectangle 96"/>
            <p:cNvSpPr/>
            <p:nvPr/>
          </p:nvSpPr>
          <p:spPr>
            <a:xfrm>
              <a:off x="794" y="2383"/>
              <a:ext cx="144" cy="232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36289" name="Rectangle 97"/>
          <p:cNvSpPr/>
          <p:nvPr/>
        </p:nvSpPr>
        <p:spPr>
          <a:xfrm>
            <a:off x="2782888" y="4879976"/>
            <a:ext cx="228600" cy="368300"/>
          </a:xfrm>
          <a:prstGeom prst="rect">
            <a:avLst/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6290" name="Rectangle 98"/>
          <p:cNvSpPr/>
          <p:nvPr/>
        </p:nvSpPr>
        <p:spPr>
          <a:xfrm>
            <a:off x="2782888" y="6003926"/>
            <a:ext cx="228600" cy="368300"/>
          </a:xfrm>
          <a:prstGeom prst="rect">
            <a:avLst/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0211" name="AutoShape 9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6292" name="Text Box 100"/>
          <p:cNvSpPr txBox="1"/>
          <p:nvPr/>
        </p:nvSpPr>
        <p:spPr>
          <a:xfrm>
            <a:off x="2424113" y="2276475"/>
            <a:ext cx="5762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36293" name="Text Box 101"/>
          <p:cNvSpPr txBox="1"/>
          <p:nvPr/>
        </p:nvSpPr>
        <p:spPr>
          <a:xfrm>
            <a:off x="2424113" y="3422650"/>
            <a:ext cx="5762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36294" name="Text Box 102"/>
          <p:cNvSpPr txBox="1"/>
          <p:nvPr/>
        </p:nvSpPr>
        <p:spPr>
          <a:xfrm>
            <a:off x="2424113" y="4508500"/>
            <a:ext cx="5762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36295" name="Text Box 103"/>
          <p:cNvSpPr txBox="1"/>
          <p:nvPr/>
        </p:nvSpPr>
        <p:spPr>
          <a:xfrm>
            <a:off x="2424113" y="5654675"/>
            <a:ext cx="5762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2021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13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3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3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3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3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3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3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3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3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1" dur="500"/>
                                        <p:tgtEl>
                                          <p:spTgt spid="13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3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3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3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3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13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13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9" dur="500"/>
                                        <p:tgtEl>
                                          <p:spTgt spid="13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3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13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13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13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1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3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13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7" dur="500"/>
                                        <p:tgtEl>
                                          <p:spTgt spid="13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7" dur="500"/>
                                        <p:tgtEl>
                                          <p:spTgt spid="13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13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13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7" dur="500"/>
                                        <p:tgtEl>
                                          <p:spTgt spid="13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2" dur="500"/>
                                        <p:tgtEl>
                                          <p:spTgt spid="13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7" dur="500"/>
                                        <p:tgtEl>
                                          <p:spTgt spid="13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03" grpId="0"/>
      <p:bldP spid="136204" grpId="0"/>
      <p:bldP spid="136205" grpId="0"/>
      <p:bldP spid="136206" grpId="0"/>
      <p:bldP spid="136207" grpId="0"/>
      <p:bldP spid="136208" grpId="0"/>
      <p:bldP spid="136209" grpId="0"/>
      <p:bldP spid="136210" grpId="0" bldLvl="0" animBg="1"/>
      <p:bldP spid="136211" grpId="0" bldLvl="0" animBg="1"/>
      <p:bldP spid="136212" grpId="0" bldLvl="0" animBg="1"/>
      <p:bldP spid="136213" grpId="0" bldLvl="0" animBg="1"/>
      <p:bldP spid="136214" grpId="0"/>
      <p:bldP spid="136215" grpId="0"/>
      <p:bldP spid="136216" grpId="0"/>
      <p:bldP spid="136217" grpId="0"/>
      <p:bldP spid="136218" grpId="0"/>
      <p:bldP spid="136222" grpId="0"/>
      <p:bldP spid="136223" grpId="0"/>
      <p:bldP spid="136227" grpId="0"/>
      <p:bldP spid="136228" grpId="0"/>
      <p:bldP spid="136232" grpId="0"/>
      <p:bldP spid="136248" grpId="0"/>
      <p:bldP spid="136265" grpId="0"/>
      <p:bldP spid="136266" grpId="0"/>
      <p:bldP spid="136267" grpId="0"/>
      <p:bldP spid="136268" grpId="0"/>
      <p:bldP spid="136269" grpId="0"/>
      <p:bldP spid="136278" grpId="0" bldLvl="0" animBg="1"/>
      <p:bldP spid="136280" grpId="0" bldLvl="0" animBg="1"/>
      <p:bldP spid="136281" grpId="0" bldLvl="0" animBg="1"/>
      <p:bldP spid="136282" grpId="0" bldLvl="0" animBg="1"/>
      <p:bldP spid="136289" grpId="0" bldLvl="0" animBg="1"/>
      <p:bldP spid="136290" grpId="0" bldLvl="0" animBg="1"/>
      <p:bldP spid="136292" grpId="0"/>
      <p:bldP spid="136293" grpId="0"/>
      <p:bldP spid="136294" grpId="0"/>
      <p:bldP spid="13629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Text Box 2"/>
          <p:cNvSpPr txBox="1"/>
          <p:nvPr/>
        </p:nvSpPr>
        <p:spPr>
          <a:xfrm>
            <a:off x="2041525" y="273050"/>
            <a:ext cx="39020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(4) </a:t>
            </a:r>
            <a:r>
              <a:rPr lang="zh-CN" altLang="en-US" sz="3600" b="1" dirty="0">
                <a:latin typeface="Times New Roman" panose="02020603050405020304" pitchFamily="18" charset="0"/>
              </a:rPr>
              <a:t>小结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37219" name="Text Box 3"/>
          <p:cNvSpPr txBox="1"/>
          <p:nvPr/>
        </p:nvSpPr>
        <p:spPr>
          <a:xfrm>
            <a:off x="2566988" y="1133475"/>
            <a:ext cx="7316787" cy="10814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</a:rPr>
              <a:t>补码除法共上商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+1 </a:t>
            </a:r>
            <a:r>
              <a:rPr lang="zh-CN" altLang="en-US" sz="2800" b="1" dirty="0">
                <a:latin typeface="Times New Roman" panose="02020603050405020304" pitchFamily="18" charset="0"/>
              </a:rPr>
              <a:t>次（末位恒置 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第一次为商符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7220" name="Text Box 4"/>
          <p:cNvSpPr txBox="1"/>
          <p:nvPr/>
        </p:nvSpPr>
        <p:spPr>
          <a:xfrm>
            <a:off x="2566988" y="2422525"/>
            <a:ext cx="6315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</a:rPr>
              <a:t>第一次商可判溢出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7221" name="Text Box 5"/>
          <p:cNvSpPr txBox="1"/>
          <p:nvPr/>
        </p:nvSpPr>
        <p:spPr>
          <a:xfrm>
            <a:off x="2566988" y="3286125"/>
            <a:ext cx="44973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pt-BR" sz="2800" b="1" dirty="0">
                <a:latin typeface="Times New Roman" panose="02020603050405020304" pitchFamily="18" charset="0"/>
              </a:rPr>
              <a:t>加 </a:t>
            </a:r>
            <a:r>
              <a:rPr lang="pt-BR" altLang="zh-CN" sz="2800" b="1" i="1" dirty="0">
                <a:latin typeface="Times New Roman" panose="02020603050405020304" pitchFamily="18" charset="0"/>
              </a:rPr>
              <a:t>n</a:t>
            </a:r>
            <a:r>
              <a:rPr lang="pt-BR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pt-BR" sz="2800" b="1" dirty="0">
                <a:latin typeface="Times New Roman" panose="02020603050405020304" pitchFamily="18" charset="0"/>
              </a:rPr>
              <a:t>次   移 </a:t>
            </a:r>
            <a:r>
              <a:rPr lang="pt-BR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pt-BR" sz="2800" b="1" dirty="0">
                <a:latin typeface="Times New Roman" panose="02020603050405020304" pitchFamily="18" charset="0"/>
              </a:rPr>
              <a:t>次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7222" name="Text Box 6"/>
          <p:cNvSpPr txBox="1"/>
          <p:nvPr/>
        </p:nvSpPr>
        <p:spPr>
          <a:xfrm>
            <a:off x="2566988" y="4149725"/>
            <a:ext cx="57388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</a:rPr>
              <a:t>用移位的次数判断除法是否结束</a:t>
            </a:r>
            <a:endParaRPr lang="zh-CN" altLang="en-US" sz="2800" b="1" i="1" baseline="45000" dirty="0">
              <a:latin typeface="Times New Roman" panose="02020603050405020304" pitchFamily="18" charset="0"/>
            </a:endParaRPr>
          </a:p>
        </p:txBody>
      </p:sp>
      <p:sp>
        <p:nvSpPr>
          <p:cNvPr id="137223" name="Rectangle 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7224" name="Text Box 8"/>
          <p:cNvSpPr txBox="1"/>
          <p:nvPr/>
        </p:nvSpPr>
        <p:spPr>
          <a:xfrm>
            <a:off x="2566988" y="5013325"/>
            <a:ext cx="46497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</a:rPr>
              <a:t>精度误差最大为  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5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baseline="45000" dirty="0">
                <a:latin typeface="Times New Roman" panose="02020603050405020304" pitchFamily="18" charset="0"/>
              </a:rPr>
              <a:t>n</a:t>
            </a:r>
            <a:endParaRPr lang="en-US" altLang="zh-CN" sz="2800" b="1" i="1" baseline="45000" dirty="0">
              <a:latin typeface="Times New Roman" panose="02020603050405020304" pitchFamily="18" charset="0"/>
            </a:endParaRPr>
          </a:p>
        </p:txBody>
      </p:sp>
      <p:sp>
        <p:nvSpPr>
          <p:cNvPr id="221193" name="AutoShape 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1194" name="Rectangle 10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2119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/>
      <p:bldP spid="137220" grpId="0"/>
      <p:bldP spid="137221" grpId="0"/>
      <p:bldP spid="137222" grpId="0"/>
      <p:bldP spid="137224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10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6.4 </a:t>
            </a:r>
            <a:r>
              <a:rPr lang="zh-CN" altLang="en-US" b="1" dirty="0"/>
              <a:t>浮点四则运算</a:t>
            </a:r>
            <a:endParaRPr lang="zh-CN" altLang="en-US" b="1" dirty="0"/>
          </a:p>
        </p:txBody>
      </p:sp>
      <p:sp>
        <p:nvSpPr>
          <p:cNvPr id="222211" name="Text Box 3"/>
          <p:cNvSpPr txBox="1"/>
          <p:nvPr/>
        </p:nvSpPr>
        <p:spPr>
          <a:xfrm>
            <a:off x="1828800" y="1066800"/>
            <a:ext cx="34340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一、浮点加减运算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22212" name="Text Box 4"/>
          <p:cNvSpPr txBox="1"/>
          <p:nvPr/>
        </p:nvSpPr>
        <p:spPr>
          <a:xfrm>
            <a:off x="3429000" y="1766888"/>
            <a:ext cx="16827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 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x</a:t>
            </a:r>
            <a:endParaRPr lang="en-US" altLang="zh-CN" sz="2400" b="1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222213" name="Text Box 5"/>
          <p:cNvSpPr txBox="1"/>
          <p:nvPr/>
        </p:nvSpPr>
        <p:spPr>
          <a:xfrm>
            <a:off x="5791200" y="1766888"/>
            <a:ext cx="16389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 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y</a:t>
            </a:r>
            <a:endParaRPr lang="en-US" altLang="zh-CN" sz="2400" b="1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222214" name="Text Box 6"/>
          <p:cNvSpPr txBox="1"/>
          <p:nvPr/>
        </p:nvSpPr>
        <p:spPr>
          <a:xfrm>
            <a:off x="2286000" y="236220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2215" name="Text Box 7"/>
          <p:cNvSpPr txBox="1"/>
          <p:nvPr/>
        </p:nvSpPr>
        <p:spPr>
          <a:xfrm>
            <a:off x="2574925" y="2971800"/>
            <a:ext cx="2378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</a:rPr>
              <a:t>求阶差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22216" name="Text Box 8"/>
          <p:cNvSpPr txBox="1"/>
          <p:nvPr/>
        </p:nvSpPr>
        <p:spPr>
          <a:xfrm>
            <a:off x="2574925" y="5548313"/>
            <a:ext cx="2759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对阶原则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22217" name="Text Box 9"/>
          <p:cNvSpPr txBox="1"/>
          <p:nvPr/>
        </p:nvSpPr>
        <p:spPr>
          <a:xfrm>
            <a:off x="2667000" y="4059238"/>
            <a:ext cx="20377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– j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= 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222218" name="Text Box 10"/>
          <p:cNvSpPr txBox="1"/>
          <p:nvPr/>
        </p:nvSpPr>
        <p:spPr>
          <a:xfrm>
            <a:off x="5867400" y="3276600"/>
            <a:ext cx="22872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800" b="1" dirty="0">
                <a:latin typeface="Times New Roman" panose="02020603050405020304" pitchFamily="18" charset="0"/>
              </a:rPr>
              <a:t>  </a:t>
            </a:r>
            <a:r>
              <a:rPr lang="zh-CN" altLang="en-US" sz="2000" b="1" dirty="0">
                <a:latin typeface="Times New Roman" panose="02020603050405020304" pitchFamily="18" charset="0"/>
              </a:rPr>
              <a:t>已对齐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22219" name="Text Box 11"/>
          <p:cNvSpPr txBox="1"/>
          <p:nvPr/>
        </p:nvSpPr>
        <p:spPr>
          <a:xfrm>
            <a:off x="5867400" y="4038600"/>
            <a:ext cx="1249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</a:rPr>
              <a:t>＞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2220" name="Text Box 12"/>
          <p:cNvSpPr txBox="1"/>
          <p:nvPr/>
        </p:nvSpPr>
        <p:spPr>
          <a:xfrm>
            <a:off x="5867400" y="4876800"/>
            <a:ext cx="944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</a:rPr>
              <a:t>＜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2221" name="Text Box 13"/>
          <p:cNvSpPr txBox="1"/>
          <p:nvPr/>
        </p:nvSpPr>
        <p:spPr>
          <a:xfrm>
            <a:off x="7010400" y="3821113"/>
            <a:ext cx="1828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向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看齐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22222" name="Text Box 14"/>
          <p:cNvSpPr txBox="1"/>
          <p:nvPr/>
        </p:nvSpPr>
        <p:spPr>
          <a:xfrm>
            <a:off x="7010400" y="4240213"/>
            <a:ext cx="1981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向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看齐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22223" name="Text Box 15"/>
          <p:cNvSpPr txBox="1"/>
          <p:nvPr/>
        </p:nvSpPr>
        <p:spPr>
          <a:xfrm>
            <a:off x="7010400" y="4659313"/>
            <a:ext cx="1828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向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看齐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22224" name="Text Box 16"/>
          <p:cNvSpPr txBox="1"/>
          <p:nvPr/>
        </p:nvSpPr>
        <p:spPr>
          <a:xfrm>
            <a:off x="7010400" y="5078413"/>
            <a:ext cx="190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向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看齐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22225" name="Text Box 17"/>
          <p:cNvSpPr txBox="1"/>
          <p:nvPr/>
        </p:nvSpPr>
        <p:spPr>
          <a:xfrm>
            <a:off x="2895600" y="6096000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小阶向大阶看齐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22226" name="AutoShape 18"/>
          <p:cNvSpPr/>
          <p:nvPr/>
        </p:nvSpPr>
        <p:spPr>
          <a:xfrm>
            <a:off x="6864350" y="4038600"/>
            <a:ext cx="146050" cy="533400"/>
          </a:xfrm>
          <a:prstGeom prst="leftBrace">
            <a:avLst>
              <a:gd name="adj1" fmla="val 30147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27" name="AutoShape 19"/>
          <p:cNvSpPr/>
          <p:nvPr/>
        </p:nvSpPr>
        <p:spPr>
          <a:xfrm>
            <a:off x="6864350" y="4876800"/>
            <a:ext cx="146050" cy="533400"/>
          </a:xfrm>
          <a:prstGeom prst="leftBrace">
            <a:avLst>
              <a:gd name="adj1" fmla="val 30147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22228" name="Group 20"/>
          <p:cNvGrpSpPr/>
          <p:nvPr/>
        </p:nvGrpSpPr>
        <p:grpSpPr>
          <a:xfrm>
            <a:off x="8763000" y="3821113"/>
            <a:ext cx="1066800" cy="460375"/>
            <a:chOff x="4560" y="2407"/>
            <a:chExt cx="672" cy="290"/>
          </a:xfrm>
        </p:grpSpPr>
        <p:sp>
          <p:nvSpPr>
            <p:cNvPr id="222252" name="Text Box 21"/>
            <p:cNvSpPr txBox="1"/>
            <p:nvPr/>
          </p:nvSpPr>
          <p:spPr>
            <a:xfrm>
              <a:off x="4560" y="2407"/>
              <a:ext cx="67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1,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2253" name="Line 22"/>
            <p:cNvSpPr/>
            <p:nvPr/>
          </p:nvSpPr>
          <p:spPr>
            <a:xfrm flipH="1">
              <a:off x="4800" y="2551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grpSp>
        <p:nvGrpSpPr>
          <p:cNvPr id="222229" name="Group 23"/>
          <p:cNvGrpSpPr/>
          <p:nvPr/>
        </p:nvGrpSpPr>
        <p:grpSpPr>
          <a:xfrm>
            <a:off x="8763000" y="4240213"/>
            <a:ext cx="1752600" cy="460375"/>
            <a:chOff x="4560" y="2671"/>
            <a:chExt cx="1104" cy="290"/>
          </a:xfrm>
        </p:grpSpPr>
        <p:sp>
          <p:nvSpPr>
            <p:cNvPr id="222250" name="Line 24"/>
            <p:cNvSpPr/>
            <p:nvPr/>
          </p:nvSpPr>
          <p:spPr>
            <a:xfrm rot="-10800000" flipH="1">
              <a:off x="4800" y="2815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22251" name="Text Box 25"/>
            <p:cNvSpPr txBox="1"/>
            <p:nvPr/>
          </p:nvSpPr>
          <p:spPr>
            <a:xfrm>
              <a:off x="4560" y="2671"/>
              <a:ext cx="110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 1, 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2230" name="Group 26"/>
          <p:cNvGrpSpPr/>
          <p:nvPr/>
        </p:nvGrpSpPr>
        <p:grpSpPr>
          <a:xfrm>
            <a:off x="8763000" y="4648200"/>
            <a:ext cx="1676400" cy="460375"/>
            <a:chOff x="4560" y="2928"/>
            <a:chExt cx="1056" cy="290"/>
          </a:xfrm>
        </p:grpSpPr>
        <p:sp>
          <p:nvSpPr>
            <p:cNvPr id="222248" name="Line 27"/>
            <p:cNvSpPr/>
            <p:nvPr/>
          </p:nvSpPr>
          <p:spPr>
            <a:xfrm rot="-10800000" flipH="1">
              <a:off x="4800" y="3085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22249" name="Text Box 28"/>
            <p:cNvSpPr txBox="1"/>
            <p:nvPr/>
          </p:nvSpPr>
          <p:spPr>
            <a:xfrm>
              <a:off x="4560" y="2928"/>
              <a:ext cx="105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1,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2231" name="Group 29"/>
          <p:cNvGrpSpPr/>
          <p:nvPr/>
        </p:nvGrpSpPr>
        <p:grpSpPr>
          <a:xfrm>
            <a:off x="8763000" y="5078413"/>
            <a:ext cx="1752600" cy="460375"/>
            <a:chOff x="4656" y="3282"/>
            <a:chExt cx="1104" cy="290"/>
          </a:xfrm>
        </p:grpSpPr>
        <p:sp>
          <p:nvSpPr>
            <p:cNvPr id="222246" name="Line 30"/>
            <p:cNvSpPr/>
            <p:nvPr/>
          </p:nvSpPr>
          <p:spPr>
            <a:xfrm flipH="1">
              <a:off x="4896" y="3423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22247" name="Text Box 31"/>
            <p:cNvSpPr txBox="1"/>
            <p:nvPr/>
          </p:nvSpPr>
          <p:spPr>
            <a:xfrm>
              <a:off x="4656" y="3282"/>
              <a:ext cx="110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 1, 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2232" name="Group 32"/>
          <p:cNvGrpSpPr/>
          <p:nvPr/>
        </p:nvGrpSpPr>
        <p:grpSpPr>
          <a:xfrm>
            <a:off x="4876800" y="3303588"/>
            <a:ext cx="1066800" cy="2033587"/>
            <a:chOff x="2112" y="2081"/>
            <a:chExt cx="672" cy="1281"/>
          </a:xfrm>
        </p:grpSpPr>
        <p:sp>
          <p:nvSpPr>
            <p:cNvPr id="222241" name="AutoShape 33"/>
            <p:cNvSpPr/>
            <p:nvPr/>
          </p:nvSpPr>
          <p:spPr>
            <a:xfrm>
              <a:off x="2112" y="2208"/>
              <a:ext cx="144" cy="1056"/>
            </a:xfrm>
            <a:prstGeom prst="leftBrace">
              <a:avLst>
                <a:gd name="adj1" fmla="val 60533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22242" name="Group 34"/>
            <p:cNvGrpSpPr/>
            <p:nvPr/>
          </p:nvGrpSpPr>
          <p:grpSpPr>
            <a:xfrm>
              <a:off x="2256" y="2081"/>
              <a:ext cx="528" cy="1281"/>
              <a:chOff x="2256" y="2081"/>
              <a:chExt cx="528" cy="1281"/>
            </a:xfrm>
          </p:grpSpPr>
          <p:sp>
            <p:nvSpPr>
              <p:cNvPr id="222243" name="Text Box 35"/>
              <p:cNvSpPr txBox="1"/>
              <p:nvPr/>
            </p:nvSpPr>
            <p:spPr>
              <a:xfrm>
                <a:off x="2304" y="2081"/>
                <a:ext cx="4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= 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2244" name="Text Box 36"/>
              <p:cNvSpPr txBox="1"/>
              <p:nvPr/>
            </p:nvSpPr>
            <p:spPr>
              <a:xfrm>
                <a:off x="2256" y="2544"/>
                <a:ext cx="528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＞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2245" name="Text Box 37"/>
              <p:cNvSpPr txBox="1"/>
              <p:nvPr/>
            </p:nvSpPr>
            <p:spPr>
              <a:xfrm>
                <a:off x="2256" y="3072"/>
                <a:ext cx="4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＜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22233" name="Text Box 38"/>
          <p:cNvSpPr txBox="1"/>
          <p:nvPr/>
        </p:nvSpPr>
        <p:spPr>
          <a:xfrm>
            <a:off x="8458200" y="4267200"/>
            <a:ext cx="457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2234" name="Text Box 39"/>
          <p:cNvSpPr txBox="1"/>
          <p:nvPr/>
        </p:nvSpPr>
        <p:spPr>
          <a:xfrm>
            <a:off x="8458200" y="4724400"/>
            <a:ext cx="457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2235" name="Text Box 40"/>
          <p:cNvSpPr txBox="1"/>
          <p:nvPr/>
        </p:nvSpPr>
        <p:spPr>
          <a:xfrm>
            <a:off x="9601200" y="3810000"/>
            <a:ext cx="1066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–1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2236" name="Text Box 41"/>
          <p:cNvSpPr txBox="1"/>
          <p:nvPr/>
        </p:nvSpPr>
        <p:spPr>
          <a:xfrm>
            <a:off x="9601200" y="4240213"/>
            <a:ext cx="1752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+1 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2237" name="Text Box 42"/>
          <p:cNvSpPr txBox="1"/>
          <p:nvPr/>
        </p:nvSpPr>
        <p:spPr>
          <a:xfrm>
            <a:off x="9601200" y="4648200"/>
            <a:ext cx="167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+1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2238" name="Text Box 43"/>
          <p:cNvSpPr txBox="1"/>
          <p:nvPr/>
        </p:nvSpPr>
        <p:spPr>
          <a:xfrm>
            <a:off x="9601200" y="5078413"/>
            <a:ext cx="1066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–1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2239" name="AutoShape 4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4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4" name="Text Box 2"/>
          <p:cNvSpPr txBox="1"/>
          <p:nvPr/>
        </p:nvSpPr>
        <p:spPr>
          <a:xfrm>
            <a:off x="1600200" y="168275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例如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23235" name="Group 3"/>
          <p:cNvGrpSpPr/>
          <p:nvPr/>
        </p:nvGrpSpPr>
        <p:grpSpPr>
          <a:xfrm>
            <a:off x="2012950" y="195263"/>
            <a:ext cx="7005638" cy="1142999"/>
            <a:chOff x="308" y="176"/>
            <a:chExt cx="4413" cy="720"/>
          </a:xfrm>
        </p:grpSpPr>
        <p:sp>
          <p:nvSpPr>
            <p:cNvPr id="223267" name="Text Box 4"/>
            <p:cNvSpPr txBox="1"/>
            <p:nvPr/>
          </p:nvSpPr>
          <p:spPr>
            <a:xfrm>
              <a:off x="696" y="176"/>
              <a:ext cx="402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0.1101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baseline="45000" dirty="0">
                  <a:latin typeface="Times New Roman" panose="02020603050405020304" pitchFamily="18" charset="0"/>
                </a:rPr>
                <a:t>01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(–0.1010)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baseline="45000" dirty="0">
                  <a:latin typeface="Times New Roman" panose="02020603050405020304" pitchFamily="18" charset="0"/>
                </a:rPr>
                <a:t>11</a:t>
              </a:r>
              <a:endParaRPr lang="en-US" altLang="zh-CN" sz="3200" b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223268" name="Text Box 5"/>
            <p:cNvSpPr txBox="1"/>
            <p:nvPr/>
          </p:nvSpPr>
          <p:spPr>
            <a:xfrm>
              <a:off x="308" y="528"/>
              <a:ext cx="124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求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1000" b="1" i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endParaRPr lang="en-US" altLang="zh-CN" sz="3200" b="1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3236" name="Text Box 6"/>
          <p:cNvSpPr txBox="1"/>
          <p:nvPr/>
        </p:nvSpPr>
        <p:spPr>
          <a:xfrm>
            <a:off x="2133600" y="1287463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5895" name="Text Box 7"/>
          <p:cNvSpPr txBox="1"/>
          <p:nvPr/>
        </p:nvSpPr>
        <p:spPr>
          <a:xfrm>
            <a:off x="2895600" y="1309688"/>
            <a:ext cx="71951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00, 01; 00.1101     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00, 11; 11.0110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5896" name="Text Box 8"/>
          <p:cNvSpPr txBox="1"/>
          <p:nvPr/>
        </p:nvSpPr>
        <p:spPr>
          <a:xfrm>
            <a:off x="2133600" y="1897063"/>
            <a:ext cx="2225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5897" name="Text Box 9"/>
          <p:cNvSpPr txBox="1"/>
          <p:nvPr/>
        </p:nvSpPr>
        <p:spPr>
          <a:xfrm>
            <a:off x="4208463" y="2538413"/>
            <a:ext cx="26174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dirty="0">
                <a:latin typeface="Times New Roman" panose="02020603050405020304" pitchFamily="18" charset="0"/>
              </a:rPr>
              <a:t>Δ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– 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5898" name="Text Box 10"/>
          <p:cNvSpPr txBox="1"/>
          <p:nvPr/>
        </p:nvSpPr>
        <p:spPr>
          <a:xfrm>
            <a:off x="7151688" y="2538413"/>
            <a:ext cx="11950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= 00, 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5899" name="Text Box 11"/>
          <p:cNvSpPr txBox="1"/>
          <p:nvPr/>
        </p:nvSpPr>
        <p:spPr>
          <a:xfrm>
            <a:off x="7391400" y="2928938"/>
            <a:ext cx="9277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11, 01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5900" name="Text Box 12"/>
          <p:cNvSpPr txBox="1"/>
          <p:nvPr/>
        </p:nvSpPr>
        <p:spPr>
          <a:xfrm>
            <a:off x="7391400" y="3300413"/>
            <a:ext cx="9277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11, 10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5901" name="Text Box 13"/>
          <p:cNvSpPr txBox="1"/>
          <p:nvPr/>
        </p:nvSpPr>
        <p:spPr>
          <a:xfrm>
            <a:off x="2895600" y="3671888"/>
            <a:ext cx="3276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阶差为负（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4024313" y="5199063"/>
            <a:ext cx="2451100" cy="522287"/>
            <a:chOff x="1424" y="3170"/>
            <a:chExt cx="1544" cy="329"/>
          </a:xfrm>
        </p:grpSpPr>
        <p:sp>
          <p:nvSpPr>
            <p:cNvPr id="223265" name="Text Box 15"/>
            <p:cNvSpPr txBox="1"/>
            <p:nvPr/>
          </p:nvSpPr>
          <p:spPr>
            <a:xfrm>
              <a:off x="1424" y="3202"/>
              <a:ext cx="6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sz="2400" b="1" baseline="-15000" dirty="0">
                  <a:latin typeface="Times New Roman" panose="02020603050405020304" pitchFamily="18" charset="0"/>
                </a:rPr>
                <a:t>'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3266" name="Text Box 16"/>
            <p:cNvSpPr txBox="1"/>
            <p:nvPr/>
          </p:nvSpPr>
          <p:spPr>
            <a:xfrm>
              <a:off x="2064" y="3170"/>
              <a:ext cx="90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=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00.0011</a:t>
              </a:r>
              <a:endPara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3932238" y="5580063"/>
            <a:ext cx="2525713" cy="522287"/>
            <a:chOff x="1366" y="3410"/>
            <a:chExt cx="1591" cy="329"/>
          </a:xfrm>
        </p:grpSpPr>
        <p:sp>
          <p:nvSpPr>
            <p:cNvPr id="223263" name="Text Box 18"/>
            <p:cNvSpPr txBox="1"/>
            <p:nvPr/>
          </p:nvSpPr>
          <p:spPr>
            <a:xfrm>
              <a:off x="1366" y="3416"/>
              <a:ext cx="93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[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endParaRPr lang="zh-CN" altLang="en-US" sz="2400" b="1" baseline="-1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23264" name="Text Box 19"/>
            <p:cNvSpPr txBox="1"/>
            <p:nvPr/>
          </p:nvSpPr>
          <p:spPr>
            <a:xfrm>
              <a:off x="2064" y="3410"/>
              <a:ext cx="89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11.0110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5908" name="Text Box 20"/>
          <p:cNvSpPr txBox="1"/>
          <p:nvPr/>
        </p:nvSpPr>
        <p:spPr>
          <a:xfrm>
            <a:off x="5326063" y="5957888"/>
            <a:ext cx="11563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11.1001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5909" name="Line 21"/>
          <p:cNvSpPr/>
          <p:nvPr/>
        </p:nvSpPr>
        <p:spPr>
          <a:xfrm>
            <a:off x="3532188" y="6034088"/>
            <a:ext cx="3429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5910" name="Line 22"/>
          <p:cNvSpPr/>
          <p:nvPr/>
        </p:nvSpPr>
        <p:spPr>
          <a:xfrm>
            <a:off x="6934200" y="3376613"/>
            <a:ext cx="1524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5" name="Group 23"/>
          <p:cNvGrpSpPr/>
          <p:nvPr/>
        </p:nvGrpSpPr>
        <p:grpSpPr>
          <a:xfrm>
            <a:off x="5921375" y="3681413"/>
            <a:ext cx="2917825" cy="460375"/>
            <a:chOff x="2770" y="2319"/>
            <a:chExt cx="1838" cy="290"/>
          </a:xfrm>
        </p:grpSpPr>
        <p:sp>
          <p:nvSpPr>
            <p:cNvPr id="223261" name="Text Box 24"/>
            <p:cNvSpPr txBox="1"/>
            <p:nvPr/>
          </p:nvSpPr>
          <p:spPr>
            <a:xfrm>
              <a:off x="2770" y="2319"/>
              <a:ext cx="183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∴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  2 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+ 2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3262" name="Line 25"/>
            <p:cNvSpPr/>
            <p:nvPr/>
          </p:nvSpPr>
          <p:spPr>
            <a:xfrm>
              <a:off x="3250" y="2463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65914" name="Text Box 26"/>
          <p:cNvSpPr txBox="1"/>
          <p:nvPr/>
        </p:nvSpPr>
        <p:spPr>
          <a:xfrm>
            <a:off x="3495675" y="6262688"/>
            <a:ext cx="63341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∴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00, 11; 11. 1001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5915" name="Text Box 27"/>
          <p:cNvSpPr txBox="1"/>
          <p:nvPr/>
        </p:nvSpPr>
        <p:spPr>
          <a:xfrm>
            <a:off x="2422525" y="4129088"/>
            <a:ext cx="2530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5916" name="Text Box 28"/>
          <p:cNvSpPr txBox="1"/>
          <p:nvPr/>
        </p:nvSpPr>
        <p:spPr>
          <a:xfrm>
            <a:off x="4311650" y="4129088"/>
            <a:ext cx="30683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sz="2400" b="1" baseline="-15000" dirty="0">
                <a:solidFill>
                  <a:srgbClr val="0000CC"/>
                </a:solidFill>
                <a:latin typeface="Times New Roman" panose="02020603050405020304" pitchFamily="18" charset="0"/>
              </a:rPr>
              <a:t>'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00, 11; 00.0011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917" name="Text Box 29"/>
          <p:cNvSpPr txBox="1"/>
          <p:nvPr/>
        </p:nvSpPr>
        <p:spPr>
          <a:xfrm>
            <a:off x="6934200" y="3005138"/>
            <a:ext cx="3568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5918" name="Text Box 30"/>
          <p:cNvSpPr txBox="1"/>
          <p:nvPr/>
        </p:nvSpPr>
        <p:spPr>
          <a:xfrm>
            <a:off x="3576638" y="5618163"/>
            <a:ext cx="3568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5919" name="Text Box 31"/>
          <p:cNvSpPr txBox="1"/>
          <p:nvPr/>
        </p:nvSpPr>
        <p:spPr>
          <a:xfrm>
            <a:off x="6869113" y="5219700"/>
            <a:ext cx="2286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对阶后的</a:t>
            </a:r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000" b="1" baseline="-15000" dirty="0">
                <a:latin typeface="Times New Roman" panose="02020603050405020304" pitchFamily="18" charset="0"/>
              </a:rPr>
              <a:t>'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5920" name="Rectangle 3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921" name="Text Box 33"/>
          <p:cNvSpPr txBox="1"/>
          <p:nvPr/>
        </p:nvSpPr>
        <p:spPr>
          <a:xfrm>
            <a:off x="2422525" y="2520950"/>
            <a:ext cx="2835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①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求阶差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5922" name="Text Box 34"/>
          <p:cNvSpPr txBox="1"/>
          <p:nvPr/>
        </p:nvSpPr>
        <p:spPr>
          <a:xfrm>
            <a:off x="2057400" y="4738688"/>
            <a:ext cx="3581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</a:rPr>
              <a:t>尾数求和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3259" name="AutoShape 3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3260" name="日期占位符 5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5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5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6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6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6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65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165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6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6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5" grpId="0"/>
      <p:bldP spid="165896" grpId="0"/>
      <p:bldP spid="165897" grpId="0"/>
      <p:bldP spid="165898" grpId="0"/>
      <p:bldP spid="165899" grpId="0"/>
      <p:bldP spid="165900" grpId="0"/>
      <p:bldP spid="165901" grpId="0"/>
      <p:bldP spid="165908" grpId="0"/>
      <p:bldP spid="165914" grpId="0"/>
      <p:bldP spid="165915" grpId="0"/>
      <p:bldP spid="165916" grpId="0"/>
      <p:bldP spid="165917" grpId="0"/>
      <p:bldP spid="165918" grpId="0"/>
      <p:bldP spid="165919" grpId="0"/>
      <p:bldP spid="165921" grpId="0"/>
      <p:bldP spid="165922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8" name="Text Box 2"/>
          <p:cNvSpPr txBox="1"/>
          <p:nvPr/>
        </p:nvSpPr>
        <p:spPr>
          <a:xfrm>
            <a:off x="1828800" y="196850"/>
            <a:ext cx="20116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规格化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24259" name="Text Box 3"/>
          <p:cNvSpPr txBox="1"/>
          <p:nvPr/>
        </p:nvSpPr>
        <p:spPr>
          <a:xfrm>
            <a:off x="2286000" y="904875"/>
            <a:ext cx="3886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规格化数的定义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60" name="Text Box 4"/>
          <p:cNvSpPr txBox="1"/>
          <p:nvPr/>
        </p:nvSpPr>
        <p:spPr>
          <a:xfrm>
            <a:off x="2286000" y="2017713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规格化数的判断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24261" name="Group 5"/>
          <p:cNvGrpSpPr/>
          <p:nvPr/>
        </p:nvGrpSpPr>
        <p:grpSpPr>
          <a:xfrm>
            <a:off x="3717925" y="1360488"/>
            <a:ext cx="3117850" cy="769937"/>
            <a:chOff x="1382" y="857"/>
            <a:chExt cx="1964" cy="485"/>
          </a:xfrm>
        </p:grpSpPr>
        <p:sp>
          <p:nvSpPr>
            <p:cNvPr id="224309" name="Text Box 6"/>
            <p:cNvSpPr txBox="1"/>
            <p:nvPr/>
          </p:nvSpPr>
          <p:spPr>
            <a:xfrm>
              <a:off x="1382" y="954"/>
              <a:ext cx="196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2           ≤ |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|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＜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310" name="Text Box 7"/>
            <p:cNvSpPr txBox="1"/>
            <p:nvPr/>
          </p:nvSpPr>
          <p:spPr>
            <a:xfrm>
              <a:off x="2180" y="857"/>
              <a:ext cx="22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1</a:t>
              </a:r>
              <a:endParaRPr lang="en-US" altLang="zh-CN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311" name="Text Box 8"/>
            <p:cNvSpPr txBox="1"/>
            <p:nvPr/>
          </p:nvSpPr>
          <p:spPr>
            <a:xfrm>
              <a:off x="2208" y="1071"/>
              <a:ext cx="20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2</a:t>
              </a:r>
              <a:endParaRPr lang="en-US" altLang="zh-CN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312" name="Line 9"/>
            <p:cNvSpPr/>
            <p:nvPr/>
          </p:nvSpPr>
          <p:spPr>
            <a:xfrm>
              <a:off x="2208" y="1104"/>
              <a:ext cx="21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24262" name="Text Box 10"/>
          <p:cNvSpPr txBox="1"/>
          <p:nvPr/>
        </p:nvSpPr>
        <p:spPr>
          <a:xfrm>
            <a:off x="2574925" y="2657475"/>
            <a:ext cx="14335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＞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24263" name="Text Box 11"/>
          <p:cNvSpPr txBox="1"/>
          <p:nvPr/>
        </p:nvSpPr>
        <p:spPr>
          <a:xfrm>
            <a:off x="2514600" y="3124200"/>
            <a:ext cx="1565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真值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64" name="Text Box 12"/>
          <p:cNvSpPr txBox="1"/>
          <p:nvPr/>
        </p:nvSpPr>
        <p:spPr>
          <a:xfrm>
            <a:off x="2514600" y="3657600"/>
            <a:ext cx="14938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原码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65" name="Text Box 13"/>
          <p:cNvSpPr txBox="1"/>
          <p:nvPr/>
        </p:nvSpPr>
        <p:spPr>
          <a:xfrm>
            <a:off x="2514600" y="4241800"/>
            <a:ext cx="1565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补码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66" name="Text Box 14"/>
          <p:cNvSpPr txBox="1"/>
          <p:nvPr/>
        </p:nvSpPr>
        <p:spPr>
          <a:xfrm>
            <a:off x="2514600" y="4800600"/>
            <a:ext cx="12049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反码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67" name="Text Box 15"/>
          <p:cNvSpPr txBox="1"/>
          <p:nvPr/>
        </p:nvSpPr>
        <p:spPr>
          <a:xfrm>
            <a:off x="3870325" y="2635250"/>
            <a:ext cx="23701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规格化形式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68" name="Text Box 16"/>
          <p:cNvSpPr txBox="1"/>
          <p:nvPr/>
        </p:nvSpPr>
        <p:spPr>
          <a:xfrm>
            <a:off x="6537325" y="2657475"/>
            <a:ext cx="10026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＜ 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24269" name="Text Box 17"/>
          <p:cNvSpPr txBox="1"/>
          <p:nvPr/>
        </p:nvSpPr>
        <p:spPr>
          <a:xfrm>
            <a:off x="8001000" y="2605088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规格化形式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70" name="Text Box 18"/>
          <p:cNvSpPr txBox="1"/>
          <p:nvPr/>
        </p:nvSpPr>
        <p:spPr>
          <a:xfrm>
            <a:off x="6569075" y="31242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真值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71" name="Text Box 19"/>
          <p:cNvSpPr txBox="1"/>
          <p:nvPr/>
        </p:nvSpPr>
        <p:spPr>
          <a:xfrm>
            <a:off x="6569075" y="36576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原码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72" name="Text Box 20"/>
          <p:cNvSpPr txBox="1"/>
          <p:nvPr/>
        </p:nvSpPr>
        <p:spPr>
          <a:xfrm>
            <a:off x="6569075" y="42418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补码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4273" name="Text Box 21"/>
          <p:cNvSpPr txBox="1"/>
          <p:nvPr/>
        </p:nvSpPr>
        <p:spPr>
          <a:xfrm>
            <a:off x="6569075" y="4800600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反码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24274" name="Group 22"/>
          <p:cNvGrpSpPr/>
          <p:nvPr/>
        </p:nvGrpSpPr>
        <p:grpSpPr>
          <a:xfrm>
            <a:off x="3962400" y="3090863"/>
            <a:ext cx="1703388" cy="546100"/>
            <a:chOff x="1536" y="1947"/>
            <a:chExt cx="1073" cy="344"/>
          </a:xfrm>
        </p:grpSpPr>
        <p:sp>
          <p:nvSpPr>
            <p:cNvPr id="224307" name="Text Box 23"/>
            <p:cNvSpPr txBox="1"/>
            <p:nvPr/>
          </p:nvSpPr>
          <p:spPr>
            <a:xfrm>
              <a:off x="1536" y="1962"/>
              <a:ext cx="107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0.1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     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308" name="Text Box 24"/>
            <p:cNvSpPr txBox="1"/>
            <p:nvPr/>
          </p:nvSpPr>
          <p:spPr>
            <a:xfrm>
              <a:off x="2246" y="1947"/>
              <a:ext cx="2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5400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4275" name="Group 25"/>
          <p:cNvGrpSpPr/>
          <p:nvPr/>
        </p:nvGrpSpPr>
        <p:grpSpPr>
          <a:xfrm>
            <a:off x="3962400" y="3657600"/>
            <a:ext cx="1703388" cy="536575"/>
            <a:chOff x="1536" y="2352"/>
            <a:chExt cx="1073" cy="338"/>
          </a:xfrm>
        </p:grpSpPr>
        <p:sp>
          <p:nvSpPr>
            <p:cNvPr id="224305" name="Text Box 26"/>
            <p:cNvSpPr txBox="1"/>
            <p:nvPr/>
          </p:nvSpPr>
          <p:spPr>
            <a:xfrm>
              <a:off x="1536" y="2361"/>
              <a:ext cx="107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0.1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     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306" name="Text Box 27"/>
            <p:cNvSpPr txBox="1"/>
            <p:nvPr/>
          </p:nvSpPr>
          <p:spPr>
            <a:xfrm>
              <a:off x="2256" y="2352"/>
              <a:ext cx="2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5400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4276" name="Group 28"/>
          <p:cNvGrpSpPr/>
          <p:nvPr/>
        </p:nvGrpSpPr>
        <p:grpSpPr>
          <a:xfrm>
            <a:off x="3962400" y="4241800"/>
            <a:ext cx="1703388" cy="536575"/>
            <a:chOff x="1536" y="2736"/>
            <a:chExt cx="1073" cy="338"/>
          </a:xfrm>
        </p:grpSpPr>
        <p:sp>
          <p:nvSpPr>
            <p:cNvPr id="224303" name="Text Box 29"/>
            <p:cNvSpPr txBox="1"/>
            <p:nvPr/>
          </p:nvSpPr>
          <p:spPr>
            <a:xfrm>
              <a:off x="1536" y="2745"/>
              <a:ext cx="107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0.1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     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304" name="Text Box 30"/>
            <p:cNvSpPr txBox="1"/>
            <p:nvPr/>
          </p:nvSpPr>
          <p:spPr>
            <a:xfrm>
              <a:off x="2256" y="2736"/>
              <a:ext cx="2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5400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4277" name="Group 31"/>
          <p:cNvGrpSpPr/>
          <p:nvPr/>
        </p:nvGrpSpPr>
        <p:grpSpPr>
          <a:xfrm>
            <a:off x="3962400" y="4800600"/>
            <a:ext cx="1703388" cy="536575"/>
            <a:chOff x="1536" y="3072"/>
            <a:chExt cx="1073" cy="338"/>
          </a:xfrm>
        </p:grpSpPr>
        <p:sp>
          <p:nvSpPr>
            <p:cNvPr id="224301" name="Text Box 32"/>
            <p:cNvSpPr txBox="1"/>
            <p:nvPr/>
          </p:nvSpPr>
          <p:spPr>
            <a:xfrm>
              <a:off x="1536" y="3081"/>
              <a:ext cx="107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0.1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     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302" name="Text Box 33"/>
            <p:cNvSpPr txBox="1"/>
            <p:nvPr/>
          </p:nvSpPr>
          <p:spPr>
            <a:xfrm>
              <a:off x="2256" y="3072"/>
              <a:ext cx="2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5400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4278" name="Text Box 34"/>
          <p:cNvSpPr txBox="1"/>
          <p:nvPr/>
        </p:nvSpPr>
        <p:spPr>
          <a:xfrm>
            <a:off x="2955925" y="5553075"/>
            <a:ext cx="68119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原码     不论正数、负数，第一数位为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4279" name="Text Box 35"/>
          <p:cNvSpPr txBox="1"/>
          <p:nvPr/>
        </p:nvSpPr>
        <p:spPr>
          <a:xfrm>
            <a:off x="2955925" y="6162675"/>
            <a:ext cx="52276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补码     符号位和第一数位不同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4280" name="Group 36"/>
          <p:cNvGrpSpPr/>
          <p:nvPr/>
        </p:nvGrpSpPr>
        <p:grpSpPr>
          <a:xfrm>
            <a:off x="7924800" y="3048000"/>
            <a:ext cx="2514600" cy="557213"/>
            <a:chOff x="4032" y="1920"/>
            <a:chExt cx="1584" cy="351"/>
          </a:xfrm>
        </p:grpSpPr>
        <p:sp>
          <p:nvSpPr>
            <p:cNvPr id="224299" name="Text Box 37"/>
            <p:cNvSpPr txBox="1"/>
            <p:nvPr/>
          </p:nvSpPr>
          <p:spPr>
            <a:xfrm>
              <a:off x="4032" y="1942"/>
              <a:ext cx="158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– 0.1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      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300" name="Text Box 38"/>
            <p:cNvSpPr txBox="1"/>
            <p:nvPr/>
          </p:nvSpPr>
          <p:spPr>
            <a:xfrm>
              <a:off x="4982" y="1920"/>
              <a:ext cx="26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800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4281" name="Group 39"/>
          <p:cNvGrpSpPr/>
          <p:nvPr/>
        </p:nvGrpSpPr>
        <p:grpSpPr>
          <a:xfrm>
            <a:off x="8229600" y="3652838"/>
            <a:ext cx="1779588" cy="541337"/>
            <a:chOff x="4224" y="2301"/>
            <a:chExt cx="1121" cy="341"/>
          </a:xfrm>
        </p:grpSpPr>
        <p:sp>
          <p:nvSpPr>
            <p:cNvPr id="224297" name="Text Box 40"/>
            <p:cNvSpPr txBox="1"/>
            <p:nvPr/>
          </p:nvSpPr>
          <p:spPr>
            <a:xfrm>
              <a:off x="4224" y="2313"/>
              <a:ext cx="112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1.1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      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298" name="Text Box 41"/>
            <p:cNvSpPr txBox="1"/>
            <p:nvPr/>
          </p:nvSpPr>
          <p:spPr>
            <a:xfrm>
              <a:off x="4982" y="2301"/>
              <a:ext cx="26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800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4282" name="Group 42"/>
          <p:cNvGrpSpPr/>
          <p:nvPr/>
        </p:nvGrpSpPr>
        <p:grpSpPr>
          <a:xfrm>
            <a:off x="8229600" y="4162425"/>
            <a:ext cx="1779588" cy="565150"/>
            <a:chOff x="4224" y="2622"/>
            <a:chExt cx="1121" cy="356"/>
          </a:xfrm>
        </p:grpSpPr>
        <p:sp>
          <p:nvSpPr>
            <p:cNvPr id="224295" name="Text Box 43"/>
            <p:cNvSpPr txBox="1"/>
            <p:nvPr/>
          </p:nvSpPr>
          <p:spPr>
            <a:xfrm>
              <a:off x="4224" y="2649"/>
              <a:ext cx="112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1.0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      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296" name="Text Box 44"/>
            <p:cNvSpPr txBox="1"/>
            <p:nvPr/>
          </p:nvSpPr>
          <p:spPr>
            <a:xfrm>
              <a:off x="4982" y="2622"/>
              <a:ext cx="26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800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4283" name="Group 45"/>
          <p:cNvGrpSpPr/>
          <p:nvPr/>
        </p:nvGrpSpPr>
        <p:grpSpPr>
          <a:xfrm>
            <a:off x="8229600" y="4781550"/>
            <a:ext cx="1779588" cy="555625"/>
            <a:chOff x="4224" y="3012"/>
            <a:chExt cx="1121" cy="350"/>
          </a:xfrm>
        </p:grpSpPr>
        <p:sp>
          <p:nvSpPr>
            <p:cNvPr id="224293" name="Text Box 46"/>
            <p:cNvSpPr txBox="1"/>
            <p:nvPr/>
          </p:nvSpPr>
          <p:spPr>
            <a:xfrm>
              <a:off x="4224" y="3033"/>
              <a:ext cx="112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1.0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××      ×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4294" name="Text Box 47"/>
            <p:cNvSpPr txBox="1"/>
            <p:nvPr/>
          </p:nvSpPr>
          <p:spPr>
            <a:xfrm>
              <a:off x="4982" y="3012"/>
              <a:ext cx="26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800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4284" name="Group 48"/>
          <p:cNvGrpSpPr/>
          <p:nvPr/>
        </p:nvGrpSpPr>
        <p:grpSpPr>
          <a:xfrm>
            <a:off x="4343400" y="3733800"/>
            <a:ext cx="4419600" cy="457200"/>
            <a:chOff x="1776" y="2352"/>
            <a:chExt cx="2784" cy="288"/>
          </a:xfrm>
        </p:grpSpPr>
        <p:sp>
          <p:nvSpPr>
            <p:cNvPr id="224291" name="AutoShape 49"/>
            <p:cNvSpPr/>
            <p:nvPr/>
          </p:nvSpPr>
          <p:spPr>
            <a:xfrm>
              <a:off x="1776" y="2352"/>
              <a:ext cx="96" cy="288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4292" name="AutoShape 50"/>
            <p:cNvSpPr/>
            <p:nvPr/>
          </p:nvSpPr>
          <p:spPr>
            <a:xfrm>
              <a:off x="4464" y="2352"/>
              <a:ext cx="96" cy="288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24285" name="Group 51"/>
          <p:cNvGrpSpPr/>
          <p:nvPr/>
        </p:nvGrpSpPr>
        <p:grpSpPr>
          <a:xfrm>
            <a:off x="4038600" y="4267200"/>
            <a:ext cx="4765675" cy="457200"/>
            <a:chOff x="1584" y="2688"/>
            <a:chExt cx="3002" cy="288"/>
          </a:xfrm>
        </p:grpSpPr>
        <p:sp>
          <p:nvSpPr>
            <p:cNvPr id="224289" name="AutoShape 52"/>
            <p:cNvSpPr/>
            <p:nvPr/>
          </p:nvSpPr>
          <p:spPr>
            <a:xfrm>
              <a:off x="1584" y="2688"/>
              <a:ext cx="295" cy="288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4290" name="AutoShape 53"/>
            <p:cNvSpPr/>
            <p:nvPr/>
          </p:nvSpPr>
          <p:spPr>
            <a:xfrm>
              <a:off x="4291" y="2688"/>
              <a:ext cx="295" cy="288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66966" name="Rectangle 5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87" name="AutoShape 5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428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82" name="Text Box 2"/>
          <p:cNvSpPr txBox="1"/>
          <p:nvPr/>
        </p:nvSpPr>
        <p:spPr>
          <a:xfrm>
            <a:off x="2041525" y="168275"/>
            <a:ext cx="47402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特例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25283" name="Group 3"/>
          <p:cNvGrpSpPr/>
          <p:nvPr/>
        </p:nvGrpSpPr>
        <p:grpSpPr>
          <a:xfrm>
            <a:off x="3238500" y="738188"/>
            <a:ext cx="3630613" cy="769937"/>
            <a:chOff x="1080" y="465"/>
            <a:chExt cx="2287" cy="485"/>
          </a:xfrm>
        </p:grpSpPr>
        <p:sp>
          <p:nvSpPr>
            <p:cNvPr id="225305" name="Text Box 4"/>
            <p:cNvSpPr txBox="1"/>
            <p:nvPr/>
          </p:nvSpPr>
          <p:spPr>
            <a:xfrm>
              <a:off x="1080" y="522"/>
              <a:ext cx="22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= –      = – 0.100      0</a:t>
              </a:r>
              <a:endPara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25306" name="Group 5"/>
            <p:cNvGrpSpPr/>
            <p:nvPr/>
          </p:nvGrpSpPr>
          <p:grpSpPr>
            <a:xfrm>
              <a:off x="1727" y="465"/>
              <a:ext cx="241" cy="485"/>
              <a:chOff x="1727" y="465"/>
              <a:chExt cx="241" cy="485"/>
            </a:xfrm>
          </p:grpSpPr>
          <p:sp>
            <p:nvSpPr>
              <p:cNvPr id="225308" name="Text Box 6"/>
              <p:cNvSpPr txBox="1"/>
              <p:nvPr/>
            </p:nvSpPr>
            <p:spPr>
              <a:xfrm>
                <a:off x="1727" y="465"/>
                <a:ext cx="22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2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309" name="Text Box 7"/>
              <p:cNvSpPr txBox="1"/>
              <p:nvPr/>
            </p:nvSpPr>
            <p:spPr>
              <a:xfrm>
                <a:off x="1755" y="679"/>
                <a:ext cx="20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310" name="Line 8"/>
              <p:cNvSpPr/>
              <p:nvPr/>
            </p:nvSpPr>
            <p:spPr>
              <a:xfrm>
                <a:off x="1755" y="712"/>
                <a:ext cx="21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225307" name="Text Box 9"/>
            <p:cNvSpPr txBox="1"/>
            <p:nvPr/>
          </p:nvSpPr>
          <p:spPr>
            <a:xfrm>
              <a:off x="2766" y="474"/>
              <a:ext cx="45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284" name="Group 10"/>
          <p:cNvGrpSpPr/>
          <p:nvPr/>
        </p:nvGrpSpPr>
        <p:grpSpPr>
          <a:xfrm>
            <a:off x="2743200" y="2717800"/>
            <a:ext cx="4440238" cy="744538"/>
            <a:chOff x="768" y="1712"/>
            <a:chExt cx="2797" cy="469"/>
          </a:xfrm>
        </p:grpSpPr>
        <p:sp>
          <p:nvSpPr>
            <p:cNvPr id="225301" name="Text Box 11"/>
            <p:cNvSpPr txBox="1"/>
            <p:nvPr/>
          </p:nvSpPr>
          <p:spPr>
            <a:xfrm>
              <a:off x="768" y="1770"/>
              <a:ext cx="279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∴   [–     ]</a:t>
              </a:r>
              <a:r>
                <a:rPr lang="zh-CN" altLang="en-US" sz="24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不是规格化的数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302" name="Text Box 12"/>
            <p:cNvSpPr txBox="1"/>
            <p:nvPr/>
          </p:nvSpPr>
          <p:spPr>
            <a:xfrm>
              <a:off x="1440" y="1712"/>
              <a:ext cx="20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303" name="Text Box 13"/>
            <p:cNvSpPr txBox="1"/>
            <p:nvPr/>
          </p:nvSpPr>
          <p:spPr>
            <a:xfrm>
              <a:off x="1450" y="1910"/>
              <a:ext cx="20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304" name="Line 14"/>
            <p:cNvSpPr/>
            <p:nvPr/>
          </p:nvSpPr>
          <p:spPr>
            <a:xfrm>
              <a:off x="1450" y="1959"/>
              <a:ext cx="213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25285" name="Text Box 15"/>
          <p:cNvSpPr txBox="1"/>
          <p:nvPr/>
        </p:nvSpPr>
        <p:spPr>
          <a:xfrm>
            <a:off x="3390900" y="4105275"/>
            <a:ext cx="12052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 = – 1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5286" name="Text Box 16"/>
          <p:cNvSpPr txBox="1"/>
          <p:nvPr/>
        </p:nvSpPr>
        <p:spPr>
          <a:xfrm>
            <a:off x="2743200" y="5500688"/>
            <a:ext cx="39065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∴   [–1]</a:t>
            </a:r>
            <a:r>
              <a:rPr lang="zh-CN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是规格化的数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5287" name="Group 17"/>
          <p:cNvGrpSpPr/>
          <p:nvPr/>
        </p:nvGrpSpPr>
        <p:grpSpPr>
          <a:xfrm>
            <a:off x="2895600" y="1490663"/>
            <a:ext cx="3151188" cy="650875"/>
            <a:chOff x="710" y="537"/>
            <a:chExt cx="1985" cy="410"/>
          </a:xfrm>
        </p:grpSpPr>
        <p:sp>
          <p:nvSpPr>
            <p:cNvPr id="225299" name="Text Box 18"/>
            <p:cNvSpPr txBox="1"/>
            <p:nvPr/>
          </p:nvSpPr>
          <p:spPr>
            <a:xfrm>
              <a:off x="710" y="618"/>
              <a:ext cx="198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1 . 1 0 0      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5300" name="Text Box 19"/>
            <p:cNvSpPr txBox="1"/>
            <p:nvPr/>
          </p:nvSpPr>
          <p:spPr>
            <a:xfrm>
              <a:off x="2156" y="537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288" name="Group 20"/>
          <p:cNvGrpSpPr/>
          <p:nvPr/>
        </p:nvGrpSpPr>
        <p:grpSpPr>
          <a:xfrm>
            <a:off x="2895600" y="2105025"/>
            <a:ext cx="3151188" cy="598488"/>
            <a:chOff x="720" y="921"/>
            <a:chExt cx="1985" cy="377"/>
          </a:xfrm>
        </p:grpSpPr>
        <p:sp>
          <p:nvSpPr>
            <p:cNvPr id="225297" name="Text Box 21"/>
            <p:cNvSpPr txBox="1"/>
            <p:nvPr/>
          </p:nvSpPr>
          <p:spPr>
            <a:xfrm>
              <a:off x="720" y="969"/>
              <a:ext cx="198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1 . 1 0 0      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5298" name="Text Box 22"/>
            <p:cNvSpPr txBox="1"/>
            <p:nvPr/>
          </p:nvSpPr>
          <p:spPr>
            <a:xfrm>
              <a:off x="2156" y="921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289" name="Group 23"/>
          <p:cNvGrpSpPr/>
          <p:nvPr/>
        </p:nvGrpSpPr>
        <p:grpSpPr>
          <a:xfrm>
            <a:off x="2895600" y="4764088"/>
            <a:ext cx="3151188" cy="598487"/>
            <a:chOff x="720" y="2400"/>
            <a:chExt cx="1985" cy="377"/>
          </a:xfrm>
        </p:grpSpPr>
        <p:sp>
          <p:nvSpPr>
            <p:cNvPr id="225295" name="Text Box 24"/>
            <p:cNvSpPr txBox="1"/>
            <p:nvPr/>
          </p:nvSpPr>
          <p:spPr>
            <a:xfrm>
              <a:off x="720" y="2448"/>
              <a:ext cx="198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补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1 . 0 0 0       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5296" name="Text Box 25"/>
            <p:cNvSpPr txBox="1"/>
            <p:nvPr/>
          </p:nvSpPr>
          <p:spPr>
            <a:xfrm>
              <a:off x="2196" y="2400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5290" name="AutoShape 26"/>
          <p:cNvSpPr/>
          <p:nvPr/>
        </p:nvSpPr>
        <p:spPr>
          <a:xfrm>
            <a:off x="4038600" y="2286000"/>
            <a:ext cx="609600" cy="381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291" name="AutoShape 27"/>
          <p:cNvSpPr/>
          <p:nvPr/>
        </p:nvSpPr>
        <p:spPr>
          <a:xfrm>
            <a:off x="4038600" y="4876800"/>
            <a:ext cx="609600" cy="457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7964" name="Rectangle 2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293" name="AutoShape 2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29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Text Box 2"/>
          <p:cNvSpPr txBox="1"/>
          <p:nvPr/>
        </p:nvSpPr>
        <p:spPr>
          <a:xfrm>
            <a:off x="2117725" y="501650"/>
            <a:ext cx="39782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(3) </a:t>
            </a:r>
            <a:r>
              <a:rPr lang="zh-CN" altLang="en-US" sz="36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左规（多次）</a:t>
            </a:r>
            <a:endParaRPr lang="zh-CN" altLang="en-US" sz="3600" b="1" dirty="0">
              <a:solidFill>
                <a:srgbClr val="CC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307" name="Text Box 3"/>
          <p:cNvSpPr txBox="1"/>
          <p:nvPr/>
        </p:nvSpPr>
        <p:spPr>
          <a:xfrm>
            <a:off x="2117725" y="3657600"/>
            <a:ext cx="3597275" cy="614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400" b="1" dirty="0">
                <a:latin typeface="Times New Roman" panose="02020603050405020304" pitchFamily="18" charset="0"/>
              </a:rPr>
              <a:t>(4) </a:t>
            </a:r>
            <a:r>
              <a:rPr lang="zh-CN" altLang="en-US" sz="3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右规（一次）</a:t>
            </a:r>
            <a:endParaRPr lang="zh-CN" altLang="en-US" sz="3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308" name="Text Box 4"/>
          <p:cNvSpPr txBox="1"/>
          <p:nvPr/>
        </p:nvSpPr>
        <p:spPr>
          <a:xfrm>
            <a:off x="1919288" y="1387475"/>
            <a:ext cx="8437880" cy="49149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尾数左移一位，阶码减 </a:t>
            </a:r>
            <a:r>
              <a:rPr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，直到数符和第一数位不同为止 </a:t>
            </a:r>
            <a:endParaRPr lang="zh-CN" altLang="en-US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309" name="Text Box 5"/>
          <p:cNvSpPr txBox="1"/>
          <p:nvPr/>
        </p:nvSpPr>
        <p:spPr>
          <a:xfrm>
            <a:off x="3032125" y="1971675"/>
            <a:ext cx="6950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上例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00, 11; 11. 1001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26310" name="Text Box 6"/>
          <p:cNvSpPr txBox="1"/>
          <p:nvPr/>
        </p:nvSpPr>
        <p:spPr>
          <a:xfrm>
            <a:off x="2709863" y="2528888"/>
            <a:ext cx="66627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左规后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00, 10; 11. 0010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26311" name="Text Box 7"/>
          <p:cNvSpPr txBox="1"/>
          <p:nvPr/>
        </p:nvSpPr>
        <p:spPr>
          <a:xfrm>
            <a:off x="3948113" y="3190875"/>
            <a:ext cx="4511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(– 0.1110)</a:t>
            </a:r>
            <a:r>
              <a:rPr lang="en-US" altLang="zh-CN" sz="24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400" b="1" baseline="50000" dirty="0">
                <a:latin typeface="Times New Roman" panose="02020603050405020304" pitchFamily="18" charset="0"/>
              </a:rPr>
              <a:t>10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endParaRPr lang="en-US" altLang="zh-CN" sz="2800" b="1" baseline="30000" dirty="0">
              <a:latin typeface="Times New Roman" panose="02020603050405020304" pitchFamily="18" charset="0"/>
            </a:endParaRPr>
          </a:p>
        </p:txBody>
      </p:sp>
      <p:sp>
        <p:nvSpPr>
          <p:cNvPr id="226312" name="Text Box 8"/>
          <p:cNvSpPr txBox="1"/>
          <p:nvPr/>
        </p:nvSpPr>
        <p:spPr>
          <a:xfrm>
            <a:off x="3032125" y="4410075"/>
            <a:ext cx="5730875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600" b="1" dirty="0">
                <a:latin typeface="Times New Roman" panose="02020603050405020304" pitchFamily="18" charset="0"/>
              </a:rPr>
              <a:t>当 </a:t>
            </a:r>
            <a:r>
              <a:rPr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尾数溢出</a:t>
            </a:r>
            <a:r>
              <a:rPr lang="zh-CN" altLang="en-US" sz="2600" b="1" dirty="0">
                <a:latin typeface="Times New Roman" panose="02020603050405020304" pitchFamily="18" charset="0"/>
              </a:rPr>
              <a:t>（ </a:t>
            </a:r>
            <a:r>
              <a:rPr lang="en-US" altLang="zh-CN" sz="2600" b="1" dirty="0">
                <a:latin typeface="Times New Roman" panose="02020603050405020304" pitchFamily="18" charset="0"/>
              </a:rPr>
              <a:t>&gt;1</a:t>
            </a:r>
            <a:r>
              <a:rPr lang="zh-CN" altLang="en-US" sz="2600" b="1" dirty="0">
                <a:latin typeface="Times New Roman" panose="02020603050405020304" pitchFamily="18" charset="0"/>
              </a:rPr>
              <a:t>）时，需 </a:t>
            </a:r>
            <a:r>
              <a:rPr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右规</a:t>
            </a:r>
            <a:endParaRPr lang="zh-CN" altLang="en-US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6313" name="Group 9"/>
          <p:cNvGrpSpPr/>
          <p:nvPr/>
        </p:nvGrpSpPr>
        <p:grpSpPr>
          <a:xfrm>
            <a:off x="3032125" y="4976813"/>
            <a:ext cx="7024688" cy="558800"/>
            <a:chOff x="950" y="3135"/>
            <a:chExt cx="4425" cy="352"/>
          </a:xfrm>
        </p:grpSpPr>
        <p:sp>
          <p:nvSpPr>
            <p:cNvPr id="226318" name="Text Box 10"/>
            <p:cNvSpPr txBox="1"/>
            <p:nvPr/>
          </p:nvSpPr>
          <p:spPr>
            <a:xfrm>
              <a:off x="950" y="3177"/>
              <a:ext cx="4425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即尾数出现 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01. ××      ×</a:t>
              </a:r>
              <a:r>
                <a:rPr lang="zh-CN" altLang="en-US" sz="2600" b="1" dirty="0">
                  <a:latin typeface="Times New Roman" panose="02020603050405020304" pitchFamily="18" charset="0"/>
                </a:rPr>
                <a:t>或 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10. ××      ×</a:t>
              </a:r>
              <a:r>
                <a:rPr lang="zh-CN" altLang="en-US" sz="2600" b="1" dirty="0">
                  <a:latin typeface="Times New Roman" panose="02020603050405020304" pitchFamily="18" charset="0"/>
                </a:rPr>
                <a:t>时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6319" name="Text Box 11"/>
            <p:cNvSpPr txBox="1"/>
            <p:nvPr/>
          </p:nvSpPr>
          <p:spPr>
            <a:xfrm>
              <a:off x="2901" y="3135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6320" name="Text Box 12"/>
            <p:cNvSpPr txBox="1"/>
            <p:nvPr/>
          </p:nvSpPr>
          <p:spPr>
            <a:xfrm>
              <a:off x="4388" y="3135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6314" name="Text Box 13"/>
          <p:cNvSpPr txBox="1"/>
          <p:nvPr/>
        </p:nvSpPr>
        <p:spPr>
          <a:xfrm>
            <a:off x="3032125" y="5705475"/>
            <a:ext cx="5008563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尾数右移一位，阶码加 </a:t>
            </a:r>
            <a:r>
              <a:rPr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endParaRPr lang="en-US" altLang="zh-CN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74" name="Rectangle 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6316" name="AutoShape 15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631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30" name="Text Box 2"/>
          <p:cNvSpPr txBox="1"/>
          <p:nvPr/>
        </p:nvSpPr>
        <p:spPr>
          <a:xfrm>
            <a:off x="1676400" y="273050"/>
            <a:ext cx="2286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6.27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27331" name="Group 3"/>
          <p:cNvGrpSpPr/>
          <p:nvPr/>
        </p:nvGrpSpPr>
        <p:grpSpPr>
          <a:xfrm>
            <a:off x="2667000" y="247650"/>
            <a:ext cx="7827963" cy="1174751"/>
            <a:chOff x="720" y="156"/>
            <a:chExt cx="4931" cy="740"/>
          </a:xfrm>
        </p:grpSpPr>
        <p:sp>
          <p:nvSpPr>
            <p:cNvPr id="227359" name="Text Box 4"/>
            <p:cNvSpPr txBox="1"/>
            <p:nvPr/>
          </p:nvSpPr>
          <p:spPr>
            <a:xfrm>
              <a:off x="1101" y="156"/>
              <a:ext cx="346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0.1101</a:t>
              </a:r>
              <a:r>
                <a:rPr lang="en-US" altLang="zh-CN" sz="30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10</a:t>
              </a:r>
              <a:r>
                <a:rPr lang="en-US" altLang="zh-CN" sz="3200" b="1" baseline="4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= 0.1011</a:t>
              </a:r>
              <a:r>
                <a:rPr lang="en-US" altLang="zh-CN" sz="30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01</a:t>
              </a:r>
              <a:endParaRPr lang="en-US" altLang="zh-CN" sz="2800" b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227360" name="Text Box 5"/>
            <p:cNvSpPr txBox="1"/>
            <p:nvPr/>
          </p:nvSpPr>
          <p:spPr>
            <a:xfrm>
              <a:off x="720" y="528"/>
              <a:ext cx="493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求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1000" b="1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（除阶符、数符外，阶码取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3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位，尾数取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6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位）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7332" name="Text Box 6"/>
          <p:cNvSpPr txBox="1"/>
          <p:nvPr/>
        </p:nvSpPr>
        <p:spPr>
          <a:xfrm>
            <a:off x="2422525" y="1374775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69991" name="Text Box 7"/>
          <p:cNvSpPr txBox="1"/>
          <p:nvPr/>
        </p:nvSpPr>
        <p:spPr>
          <a:xfrm>
            <a:off x="3581400" y="1447800"/>
            <a:ext cx="34766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00, 010; 00. 110100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9992" name="Text Box 8"/>
          <p:cNvSpPr txBox="1"/>
          <p:nvPr/>
        </p:nvSpPr>
        <p:spPr>
          <a:xfrm>
            <a:off x="3581400" y="1828800"/>
            <a:ext cx="3459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00, 001; 00. 101100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9993" name="Text Box 9"/>
          <p:cNvSpPr txBox="1"/>
          <p:nvPr/>
        </p:nvSpPr>
        <p:spPr>
          <a:xfrm>
            <a:off x="2727325" y="2362200"/>
            <a:ext cx="2225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对阶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9994" name="Text Box 10"/>
          <p:cNvSpPr txBox="1"/>
          <p:nvPr/>
        </p:nvSpPr>
        <p:spPr>
          <a:xfrm>
            <a:off x="2727325" y="4800600"/>
            <a:ext cx="29114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</a:rPr>
              <a:t>尾数求和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9995" name="Text Box 11"/>
          <p:cNvSpPr txBox="1"/>
          <p:nvPr/>
        </p:nvSpPr>
        <p:spPr>
          <a:xfrm>
            <a:off x="3394075" y="2768600"/>
            <a:ext cx="3140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dirty="0">
                <a:latin typeface="Times New Roman" panose="02020603050405020304" pitchFamily="18" charset="0"/>
              </a:rPr>
              <a:t>Δ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– 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9996" name="Text Box 12"/>
          <p:cNvSpPr txBox="1"/>
          <p:nvPr/>
        </p:nvSpPr>
        <p:spPr>
          <a:xfrm>
            <a:off x="6019800" y="2768600"/>
            <a:ext cx="3200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=  00, 010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9997" name="Text Box 13"/>
          <p:cNvSpPr txBox="1"/>
          <p:nvPr/>
        </p:nvSpPr>
        <p:spPr>
          <a:xfrm>
            <a:off x="6273800" y="3048000"/>
            <a:ext cx="1571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11, 111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9998" name="Text Box 14"/>
          <p:cNvSpPr txBox="1"/>
          <p:nvPr/>
        </p:nvSpPr>
        <p:spPr>
          <a:xfrm>
            <a:off x="6197600" y="3429000"/>
            <a:ext cx="2133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100, 001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9999" name="AutoShape 15"/>
          <p:cNvSpPr/>
          <p:nvPr/>
        </p:nvSpPr>
        <p:spPr>
          <a:xfrm>
            <a:off x="6197600" y="3495675"/>
            <a:ext cx="228600" cy="339725"/>
          </a:xfrm>
          <a:prstGeom prst="wedgeRoundRectCallout">
            <a:avLst>
              <a:gd name="adj1" fmla="val -162500"/>
              <a:gd name="adj2" fmla="val 5000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70000" name="Line 16"/>
          <p:cNvSpPr/>
          <p:nvPr/>
        </p:nvSpPr>
        <p:spPr>
          <a:xfrm>
            <a:off x="6019800" y="3444875"/>
            <a:ext cx="1447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0001" name="Text Box 17"/>
          <p:cNvSpPr txBox="1"/>
          <p:nvPr/>
        </p:nvSpPr>
        <p:spPr>
          <a:xfrm>
            <a:off x="3413125" y="3810000"/>
            <a:ext cx="2378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阶差为 </a:t>
            </a:r>
            <a:r>
              <a:rPr lang="en-US" altLang="zh-CN" sz="2400" b="1" dirty="0">
                <a:latin typeface="Times New Roman" panose="02020603050405020304" pitchFamily="18" charset="0"/>
              </a:rPr>
              <a:t>+1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8"/>
          <p:cNvGrpSpPr/>
          <p:nvPr/>
        </p:nvGrpSpPr>
        <p:grpSpPr>
          <a:xfrm>
            <a:off x="5410200" y="3810000"/>
            <a:ext cx="3200400" cy="460375"/>
            <a:chOff x="2448" y="2400"/>
            <a:chExt cx="2016" cy="290"/>
          </a:xfrm>
        </p:grpSpPr>
        <p:sp>
          <p:nvSpPr>
            <p:cNvPr id="227357" name="Text Box 19"/>
            <p:cNvSpPr txBox="1"/>
            <p:nvPr/>
          </p:nvSpPr>
          <p:spPr>
            <a:xfrm>
              <a:off x="2448" y="2400"/>
              <a:ext cx="201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∴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  1,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7358" name="Line 20"/>
            <p:cNvSpPr/>
            <p:nvPr/>
          </p:nvSpPr>
          <p:spPr>
            <a:xfrm>
              <a:off x="2890" y="254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170005" name="Text Box 21"/>
          <p:cNvSpPr txBox="1"/>
          <p:nvPr/>
        </p:nvSpPr>
        <p:spPr>
          <a:xfrm>
            <a:off x="3200400" y="4267200"/>
            <a:ext cx="5943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∴ [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sz="2000" b="1" baseline="-15000" dirty="0">
                <a:solidFill>
                  <a:srgbClr val="0000CC"/>
                </a:solidFill>
                <a:latin typeface="Times New Roman" panose="02020603050405020304" pitchFamily="18" charset="0"/>
              </a:rPr>
              <a:t>'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00, 010; 00. 010110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0006" name="Text Box 22"/>
          <p:cNvSpPr txBox="1"/>
          <p:nvPr/>
        </p:nvSpPr>
        <p:spPr>
          <a:xfrm>
            <a:off x="3429000" y="5257800"/>
            <a:ext cx="25323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00. 110100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70007" name="Text Box 23"/>
          <p:cNvSpPr txBox="1"/>
          <p:nvPr/>
        </p:nvSpPr>
        <p:spPr>
          <a:xfrm>
            <a:off x="3429000" y="5680075"/>
            <a:ext cx="3200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sz="8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00. 010110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0008" name="Text Box 24"/>
          <p:cNvSpPr txBox="1"/>
          <p:nvPr/>
        </p:nvSpPr>
        <p:spPr>
          <a:xfrm>
            <a:off x="6384925" y="5729288"/>
            <a:ext cx="367347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对阶后的</a:t>
            </a:r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'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70009" name="Line 25"/>
          <p:cNvSpPr/>
          <p:nvPr/>
        </p:nvSpPr>
        <p:spPr>
          <a:xfrm>
            <a:off x="2895600" y="6172200"/>
            <a:ext cx="3276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0010" name="Text Box 26"/>
          <p:cNvSpPr txBox="1"/>
          <p:nvPr/>
        </p:nvSpPr>
        <p:spPr>
          <a:xfrm>
            <a:off x="4435475" y="6172200"/>
            <a:ext cx="155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01. 001010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70011" name="Text Box 27"/>
          <p:cNvSpPr txBox="1"/>
          <p:nvPr/>
        </p:nvSpPr>
        <p:spPr>
          <a:xfrm>
            <a:off x="3117850" y="5705475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0012" name="Text Box 28"/>
          <p:cNvSpPr txBox="1"/>
          <p:nvPr/>
        </p:nvSpPr>
        <p:spPr>
          <a:xfrm>
            <a:off x="6026150" y="3089275"/>
            <a:ext cx="3568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70013" name="Text Box 29"/>
          <p:cNvSpPr txBox="1"/>
          <p:nvPr/>
        </p:nvSpPr>
        <p:spPr>
          <a:xfrm>
            <a:off x="6324600" y="6172200"/>
            <a:ext cx="3505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尾数溢出需右规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70014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7355" name="AutoShape 3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735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6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7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7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7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7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7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17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7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7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1" grpId="0"/>
      <p:bldP spid="169992" grpId="0"/>
      <p:bldP spid="169993" grpId="0"/>
      <p:bldP spid="169994" grpId="0"/>
      <p:bldP spid="169995" grpId="0"/>
      <p:bldP spid="169996" grpId="0"/>
      <p:bldP spid="169997" grpId="0"/>
      <p:bldP spid="169998" grpId="0"/>
      <p:bldP spid="169999" grpId="0" bldLvl="0" animBg="1"/>
      <p:bldP spid="170001" grpId="0"/>
      <p:bldP spid="170005" grpId="0"/>
      <p:bldP spid="170006" grpId="0"/>
      <p:bldP spid="170007" grpId="0"/>
      <p:bldP spid="170008" grpId="0"/>
      <p:bldP spid="170010" grpId="0"/>
      <p:bldP spid="170011" grpId="0"/>
      <p:bldP spid="170012" grpId="0"/>
      <p:bldP spid="170013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4" name="Text Box 2"/>
          <p:cNvSpPr txBox="1"/>
          <p:nvPr/>
        </p:nvSpPr>
        <p:spPr>
          <a:xfrm>
            <a:off x="2133600" y="279400"/>
            <a:ext cx="2514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3 </a:t>
            </a:r>
            <a:r>
              <a:rPr lang="zh-CN" altLang="en-US" sz="3200" b="1" dirty="0">
                <a:latin typeface="Times New Roman" panose="02020603050405020304" pitchFamily="18" charset="0"/>
              </a:rPr>
              <a:t>右规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28355" name="Text Box 3"/>
          <p:cNvSpPr txBox="1"/>
          <p:nvPr/>
        </p:nvSpPr>
        <p:spPr>
          <a:xfrm>
            <a:off x="2498725" y="990600"/>
            <a:ext cx="6264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9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00, 010; 01. 001010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28356" name="Text Box 4"/>
          <p:cNvSpPr txBox="1"/>
          <p:nvPr/>
        </p:nvSpPr>
        <p:spPr>
          <a:xfrm>
            <a:off x="2514600" y="2300288"/>
            <a:ext cx="5791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9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00, 011; 00. 100101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28357" name="Text Box 5"/>
          <p:cNvSpPr txBox="1"/>
          <p:nvPr/>
        </p:nvSpPr>
        <p:spPr>
          <a:xfrm>
            <a:off x="2270125" y="1644650"/>
            <a:ext cx="4054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右规后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8358" name="Text Box 6"/>
          <p:cNvSpPr txBox="1"/>
          <p:nvPr/>
        </p:nvSpPr>
        <p:spPr>
          <a:xfrm>
            <a:off x="3641725" y="3016250"/>
            <a:ext cx="309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28359" name="Text Box 7"/>
          <p:cNvSpPr txBox="1"/>
          <p:nvPr/>
        </p:nvSpPr>
        <p:spPr>
          <a:xfrm>
            <a:off x="2514600" y="2947988"/>
            <a:ext cx="5867400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9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0. 100101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30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11</a:t>
            </a:r>
            <a:endParaRPr lang="en-US" altLang="zh-CN" sz="2400" b="1" baseline="45000" dirty="0">
              <a:latin typeface="Times New Roman" panose="02020603050405020304" pitchFamily="18" charset="0"/>
            </a:endParaRPr>
          </a:p>
        </p:txBody>
      </p:sp>
      <p:sp>
        <p:nvSpPr>
          <p:cNvPr id="228360" name="Text Box 8"/>
          <p:cNvSpPr txBox="1"/>
          <p:nvPr/>
        </p:nvSpPr>
        <p:spPr>
          <a:xfrm>
            <a:off x="1889125" y="3482975"/>
            <a:ext cx="32162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zh-CN" altLang="en-US" sz="3600" b="1" dirty="0">
                <a:latin typeface="Times New Roman" panose="02020603050405020304" pitchFamily="18" charset="0"/>
              </a:rPr>
              <a:t>舍入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28361" name="Text Box 9"/>
          <p:cNvSpPr txBox="1"/>
          <p:nvPr/>
        </p:nvSpPr>
        <p:spPr>
          <a:xfrm>
            <a:off x="2362200" y="4078288"/>
            <a:ext cx="8305800" cy="1210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对阶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右规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过程中，可能出现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尾数末位丢失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引起误差，需考虑舍入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8362" name="Text Box 10"/>
          <p:cNvSpPr txBox="1"/>
          <p:nvPr/>
        </p:nvSpPr>
        <p:spPr>
          <a:xfrm>
            <a:off x="2270125" y="5400675"/>
            <a:ext cx="3216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 sz="2800" b="1" dirty="0">
                <a:latin typeface="Times New Roman" panose="02020603050405020304" pitchFamily="18" charset="0"/>
              </a:rPr>
              <a:t>舍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入法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8363" name="Text Box 11"/>
          <p:cNvSpPr txBox="1"/>
          <p:nvPr/>
        </p:nvSpPr>
        <p:spPr>
          <a:xfrm>
            <a:off x="2270125" y="6086475"/>
            <a:ext cx="35972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(2)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恒置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1”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1020" name="Rectangle 1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65" name="AutoShape 13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836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78" name="Text Box 2"/>
          <p:cNvSpPr txBox="1"/>
          <p:nvPr/>
        </p:nvSpPr>
        <p:spPr>
          <a:xfrm>
            <a:off x="1676400" y="460375"/>
            <a:ext cx="1554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 </a:t>
            </a:r>
            <a:r>
              <a:rPr lang="en-US" altLang="zh-CN" sz="3600" b="1" dirty="0">
                <a:latin typeface="Times New Roman" panose="02020603050405020304" pitchFamily="18" charset="0"/>
              </a:rPr>
              <a:t>6.28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29379" name="Group 3"/>
          <p:cNvGrpSpPr/>
          <p:nvPr/>
        </p:nvGrpSpPr>
        <p:grpSpPr>
          <a:xfrm>
            <a:off x="2971800" y="457200"/>
            <a:ext cx="7599363" cy="1208088"/>
            <a:chOff x="912" y="288"/>
            <a:chExt cx="4787" cy="761"/>
          </a:xfrm>
        </p:grpSpPr>
        <p:sp>
          <p:nvSpPr>
            <p:cNvPr id="229400" name="Text Box 4"/>
            <p:cNvSpPr txBox="1"/>
            <p:nvPr/>
          </p:nvSpPr>
          <p:spPr>
            <a:xfrm>
              <a:off x="1226" y="352"/>
              <a:ext cx="27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(– </a:t>
              </a:r>
              <a:r>
                <a:rPr lang="en-US" altLang="zh-CN" sz="28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—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-5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(</a:t>
              </a:r>
              <a:r>
                <a:rPr lang="en-US" altLang="zh-CN" sz="28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—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-4 </a:t>
              </a:r>
              <a:endParaRPr lang="en-US" altLang="zh-CN" sz="2800" b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229401" name="Text Box 5"/>
            <p:cNvSpPr txBox="1"/>
            <p:nvPr/>
          </p:nvSpPr>
          <p:spPr>
            <a:xfrm>
              <a:off x="1862" y="28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9402" name="Text Box 6"/>
            <p:cNvSpPr txBox="1"/>
            <p:nvPr/>
          </p:nvSpPr>
          <p:spPr>
            <a:xfrm>
              <a:off x="1862" y="502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9403" name="Text Box 7"/>
            <p:cNvSpPr txBox="1"/>
            <p:nvPr/>
          </p:nvSpPr>
          <p:spPr>
            <a:xfrm>
              <a:off x="3216" y="28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9404" name="Text Box 8"/>
            <p:cNvSpPr txBox="1"/>
            <p:nvPr/>
          </p:nvSpPr>
          <p:spPr>
            <a:xfrm>
              <a:off x="3216" y="502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9405" name="Text Box 9"/>
            <p:cNvSpPr txBox="1"/>
            <p:nvPr/>
          </p:nvSpPr>
          <p:spPr>
            <a:xfrm>
              <a:off x="912" y="720"/>
              <a:ext cx="4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求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900" b="1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（除阶符、数符外，阶码取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3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位，尾数取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6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9380" name="Text Box 10"/>
          <p:cNvSpPr txBox="1"/>
          <p:nvPr/>
        </p:nvSpPr>
        <p:spPr>
          <a:xfrm>
            <a:off x="2041525" y="17668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29381" name="Text Box 11"/>
          <p:cNvSpPr txBox="1"/>
          <p:nvPr/>
        </p:nvSpPr>
        <p:spPr>
          <a:xfrm>
            <a:off x="2819400" y="2438400"/>
            <a:ext cx="342519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11, 011; 11. 011000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9382" name="Text Box 12"/>
          <p:cNvSpPr txBox="1"/>
          <p:nvPr/>
        </p:nvSpPr>
        <p:spPr>
          <a:xfrm>
            <a:off x="6629400" y="2438400"/>
            <a:ext cx="342519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11, 100; 00. 111000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9383" name="Text Box 13"/>
          <p:cNvSpPr txBox="1"/>
          <p:nvPr/>
        </p:nvSpPr>
        <p:spPr>
          <a:xfrm>
            <a:off x="2727325" y="3073400"/>
            <a:ext cx="1173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①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对阶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29384" name="Text Box 14"/>
          <p:cNvSpPr txBox="1"/>
          <p:nvPr/>
        </p:nvSpPr>
        <p:spPr>
          <a:xfrm>
            <a:off x="3336925" y="3632200"/>
            <a:ext cx="259461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dirty="0">
                <a:latin typeface="Times New Roman" panose="02020603050405020304" pitchFamily="18" charset="0"/>
              </a:rPr>
              <a:t>Δ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– [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29385" name="Text Box 15"/>
          <p:cNvSpPr txBox="1"/>
          <p:nvPr/>
        </p:nvSpPr>
        <p:spPr>
          <a:xfrm>
            <a:off x="5959475" y="3667125"/>
            <a:ext cx="18891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=  11, 011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9386" name="Text Box 16"/>
          <p:cNvSpPr txBox="1"/>
          <p:nvPr/>
        </p:nvSpPr>
        <p:spPr>
          <a:xfrm>
            <a:off x="6192838" y="4038600"/>
            <a:ext cx="21891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00, 100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9387" name="Text Box 17"/>
          <p:cNvSpPr txBox="1"/>
          <p:nvPr/>
        </p:nvSpPr>
        <p:spPr>
          <a:xfrm>
            <a:off x="6208713" y="4495800"/>
            <a:ext cx="16398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11, 111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9388" name="Line 18"/>
          <p:cNvSpPr/>
          <p:nvPr/>
        </p:nvSpPr>
        <p:spPr>
          <a:xfrm>
            <a:off x="5943600" y="4495800"/>
            <a:ext cx="1447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9389" name="Text Box 19"/>
          <p:cNvSpPr txBox="1"/>
          <p:nvPr/>
        </p:nvSpPr>
        <p:spPr>
          <a:xfrm>
            <a:off x="3413125" y="5181600"/>
            <a:ext cx="1478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阶差为 </a:t>
            </a:r>
            <a:r>
              <a:rPr lang="en-US" altLang="zh-CN" sz="2400" b="1" dirty="0">
                <a:latin typeface="Times New Roman" panose="02020603050405020304" pitchFamily="18" charset="0"/>
              </a:rPr>
              <a:t>–1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29390" name="Group 20"/>
          <p:cNvGrpSpPr/>
          <p:nvPr/>
        </p:nvGrpSpPr>
        <p:grpSpPr>
          <a:xfrm>
            <a:off x="5470525" y="5181600"/>
            <a:ext cx="2371725" cy="460375"/>
            <a:chOff x="2486" y="3072"/>
            <a:chExt cx="1494" cy="290"/>
          </a:xfrm>
        </p:grpSpPr>
        <p:sp>
          <p:nvSpPr>
            <p:cNvPr id="229398" name="Text Box 21"/>
            <p:cNvSpPr txBox="1"/>
            <p:nvPr/>
          </p:nvSpPr>
          <p:spPr>
            <a:xfrm>
              <a:off x="2486" y="3072"/>
              <a:ext cx="149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∴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  1,  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12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29399" name="Line 22"/>
            <p:cNvSpPr/>
            <p:nvPr/>
          </p:nvSpPr>
          <p:spPr>
            <a:xfrm>
              <a:off x="2928" y="321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</p:grpSp>
      <p:sp>
        <p:nvSpPr>
          <p:cNvPr id="229391" name="Text Box 23"/>
          <p:cNvSpPr txBox="1"/>
          <p:nvPr/>
        </p:nvSpPr>
        <p:spPr>
          <a:xfrm>
            <a:off x="3044825" y="5943600"/>
            <a:ext cx="386905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∴ [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0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sz="20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'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11, 100; 11. 101100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9392" name="Text Box 24"/>
          <p:cNvSpPr txBox="1"/>
          <p:nvPr/>
        </p:nvSpPr>
        <p:spPr>
          <a:xfrm>
            <a:off x="3124200" y="1819275"/>
            <a:ext cx="30194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(</a:t>
            </a:r>
            <a:r>
              <a:rPr lang="en-US" altLang="zh-CN" sz="2400" b="1" dirty="0">
                <a:latin typeface="Times New Roman" panose="02020603050405020304" pitchFamily="18" charset="0"/>
              </a:rPr>
              <a:t>– 0.101000)×2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-101</a:t>
            </a:r>
            <a:endParaRPr lang="en-US" altLang="zh-CN" sz="2000" b="1" baseline="45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9393" name="Text Box 25"/>
          <p:cNvSpPr txBox="1"/>
          <p:nvPr/>
        </p:nvSpPr>
        <p:spPr>
          <a:xfrm>
            <a:off x="6961188" y="1828800"/>
            <a:ext cx="28130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(</a:t>
            </a:r>
            <a:r>
              <a:rPr lang="en-US" altLang="zh-CN" sz="2400" b="1" dirty="0">
                <a:latin typeface="Times New Roman" panose="02020603050405020304" pitchFamily="18" charset="0"/>
              </a:rPr>
              <a:t> 0.111000)×2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-100</a:t>
            </a:r>
            <a:endParaRPr lang="en-US" altLang="zh-CN" sz="2000" b="1" baseline="45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9394" name="Text Box 26"/>
          <p:cNvSpPr txBox="1"/>
          <p:nvPr/>
        </p:nvSpPr>
        <p:spPr>
          <a:xfrm>
            <a:off x="5943600" y="4038600"/>
            <a:ext cx="3568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72059" name="Rectangle 2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9396" name="AutoShape 2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939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2" name="Text Box 2"/>
          <p:cNvSpPr txBox="1"/>
          <p:nvPr/>
        </p:nvSpPr>
        <p:spPr>
          <a:xfrm>
            <a:off x="1981200" y="511175"/>
            <a:ext cx="37544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尾数求和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30403" name="Text Box 3"/>
          <p:cNvSpPr txBox="1"/>
          <p:nvPr/>
        </p:nvSpPr>
        <p:spPr>
          <a:xfrm>
            <a:off x="3505200" y="1143000"/>
            <a:ext cx="29362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´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11. 101100</a:t>
            </a:r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0404" name="Text Box 4"/>
          <p:cNvSpPr txBox="1"/>
          <p:nvPr/>
        </p:nvSpPr>
        <p:spPr>
          <a:xfrm>
            <a:off x="3409950" y="1624013"/>
            <a:ext cx="30562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11. 001000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0405" name="Line 5"/>
          <p:cNvSpPr/>
          <p:nvPr/>
        </p:nvSpPr>
        <p:spPr>
          <a:xfrm>
            <a:off x="3048000" y="2133600"/>
            <a:ext cx="3403600" cy="95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0406" name="Text Box 6"/>
          <p:cNvSpPr txBox="1"/>
          <p:nvPr/>
        </p:nvSpPr>
        <p:spPr>
          <a:xfrm>
            <a:off x="3006725" y="1676400"/>
            <a:ext cx="385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0407" name="Text Box 7"/>
          <p:cNvSpPr txBox="1"/>
          <p:nvPr/>
        </p:nvSpPr>
        <p:spPr>
          <a:xfrm>
            <a:off x="4552950" y="2133600"/>
            <a:ext cx="20955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110. 110100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0408" name="Text Box 8"/>
          <p:cNvSpPr txBox="1"/>
          <p:nvPr/>
        </p:nvSpPr>
        <p:spPr>
          <a:xfrm>
            <a:off x="1981200" y="2590800"/>
            <a:ext cx="28908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③ </a:t>
            </a:r>
            <a:r>
              <a:rPr lang="zh-CN" altLang="en-US" sz="3200" b="1" dirty="0">
                <a:latin typeface="Times New Roman" panose="02020603050405020304" pitchFamily="18" charset="0"/>
              </a:rPr>
              <a:t>右规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30409" name="Text Box 9"/>
          <p:cNvSpPr txBox="1"/>
          <p:nvPr/>
        </p:nvSpPr>
        <p:spPr>
          <a:xfrm>
            <a:off x="3292475" y="3200400"/>
            <a:ext cx="45237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11, 100; 10. 110100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0410" name="Text Box 10"/>
          <p:cNvSpPr txBox="1"/>
          <p:nvPr/>
        </p:nvSpPr>
        <p:spPr>
          <a:xfrm>
            <a:off x="3292475" y="4419600"/>
            <a:ext cx="44659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</a:rPr>
              <a:t>–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11, 101; 11. 011010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30411" name="Text Box 11"/>
          <p:cNvSpPr txBox="1"/>
          <p:nvPr/>
        </p:nvSpPr>
        <p:spPr>
          <a:xfrm>
            <a:off x="2803525" y="381000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右规后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0412" name="Text Box 12"/>
          <p:cNvSpPr txBox="1"/>
          <p:nvPr/>
        </p:nvSpPr>
        <p:spPr>
          <a:xfrm>
            <a:off x="3257550" y="5181600"/>
            <a:ext cx="40836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(–0.100110)</a:t>
            </a:r>
            <a:r>
              <a:rPr lang="en-US" altLang="zh-CN" sz="24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400" b="1" baseline="45000" dirty="0">
                <a:latin typeface="Times New Roman" panose="02020603050405020304" pitchFamily="18" charset="0"/>
              </a:rPr>
              <a:t>-11</a:t>
            </a:r>
            <a:endParaRPr lang="en-US" altLang="zh-CN" sz="2400" b="1" baseline="45000" dirty="0">
              <a:latin typeface="Times New Roman" panose="02020603050405020304" pitchFamily="18" charset="0"/>
            </a:endParaRPr>
          </a:p>
        </p:txBody>
      </p:sp>
      <p:grpSp>
        <p:nvGrpSpPr>
          <p:cNvPr id="230413" name="Group 13"/>
          <p:cNvGrpSpPr/>
          <p:nvPr/>
        </p:nvGrpSpPr>
        <p:grpSpPr>
          <a:xfrm>
            <a:off x="4511675" y="5791200"/>
            <a:ext cx="1935163" cy="765175"/>
            <a:chOff x="1839" y="3648"/>
            <a:chExt cx="1219" cy="482"/>
          </a:xfrm>
        </p:grpSpPr>
        <p:sp>
          <p:nvSpPr>
            <p:cNvPr id="230418" name="Text Box 14"/>
            <p:cNvSpPr txBox="1"/>
            <p:nvPr/>
          </p:nvSpPr>
          <p:spPr>
            <a:xfrm>
              <a:off x="1839" y="3705"/>
              <a:ext cx="121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(– </a:t>
              </a:r>
              <a:r>
                <a:rPr lang="en-US" altLang="zh-CN" sz="28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—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baseline="45000" dirty="0">
                  <a:latin typeface="Times New Roman" panose="02020603050405020304" pitchFamily="18" charset="0"/>
                </a:rPr>
                <a:t>-3</a:t>
              </a:r>
              <a:endParaRPr lang="en-US" altLang="zh-CN" sz="2800" b="1" baseline="4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0419" name="Text Box 15"/>
            <p:cNvSpPr txBox="1"/>
            <p:nvPr/>
          </p:nvSpPr>
          <p:spPr>
            <a:xfrm>
              <a:off x="2288" y="3648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19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0420" name="Text Box 16"/>
            <p:cNvSpPr txBox="1"/>
            <p:nvPr/>
          </p:nvSpPr>
          <p:spPr>
            <a:xfrm>
              <a:off x="2288" y="3840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32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0414" name="AutoShape 17"/>
          <p:cNvSpPr/>
          <p:nvPr/>
        </p:nvSpPr>
        <p:spPr>
          <a:xfrm>
            <a:off x="4635500" y="2230438"/>
            <a:ext cx="228600" cy="339725"/>
          </a:xfrm>
          <a:prstGeom prst="wedgeRoundRectCallout">
            <a:avLst>
              <a:gd name="adj1" fmla="val -162500"/>
              <a:gd name="adj2" fmla="val 50000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73074" name="Rectangle 1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16" name="AutoShape 19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041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26" name="Text Box 2"/>
          <p:cNvSpPr txBox="1"/>
          <p:nvPr/>
        </p:nvSpPr>
        <p:spPr>
          <a:xfrm>
            <a:off x="1981200" y="273050"/>
            <a:ext cx="35385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5. </a:t>
            </a:r>
            <a:r>
              <a:rPr lang="zh-CN" altLang="en-US" sz="3600" b="1" dirty="0">
                <a:latin typeface="Times New Roman" panose="02020603050405020304" pitchFamily="18" charset="0"/>
              </a:rPr>
              <a:t>溢出判断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31427" name="Text Box 3"/>
          <p:cNvSpPr txBox="1"/>
          <p:nvPr/>
        </p:nvSpPr>
        <p:spPr>
          <a:xfrm>
            <a:off x="2362200" y="914400"/>
            <a:ext cx="7759065" cy="15760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15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设机器数为补码，尾数为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规格化形式，</a:t>
            </a:r>
            <a:r>
              <a:rPr lang="zh-CN" altLang="en-US" sz="2800" b="1" dirty="0">
                <a:latin typeface="Times New Roman" panose="02020603050405020304" pitchFamily="18" charset="0"/>
              </a:rPr>
              <a:t>并假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设阶符取 </a:t>
            </a:r>
            <a:r>
              <a:rPr lang="en-US" altLang="zh-CN" sz="2800" b="1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位，阶码的数值部分取 </a:t>
            </a:r>
            <a:r>
              <a:rPr lang="en-US" altLang="zh-CN" sz="2800" b="1" dirty="0">
                <a:latin typeface="Times New Roman" panose="02020603050405020304" pitchFamily="18" charset="0"/>
              </a:rPr>
              <a:t>7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位，数符取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位，尾数取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位，则该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补码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在数轴上的表示为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31428" name="Group 4"/>
          <p:cNvGrpSpPr/>
          <p:nvPr/>
        </p:nvGrpSpPr>
        <p:grpSpPr>
          <a:xfrm>
            <a:off x="2286000" y="2951163"/>
            <a:ext cx="7315200" cy="935037"/>
            <a:chOff x="480" y="1859"/>
            <a:chExt cx="4608" cy="589"/>
          </a:xfrm>
        </p:grpSpPr>
        <p:sp>
          <p:nvSpPr>
            <p:cNvPr id="231467" name="Line 5"/>
            <p:cNvSpPr/>
            <p:nvPr/>
          </p:nvSpPr>
          <p:spPr>
            <a:xfrm>
              <a:off x="480" y="2448"/>
              <a:ext cx="4608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1468" name="Rectangle 6"/>
            <p:cNvSpPr/>
            <p:nvPr/>
          </p:nvSpPr>
          <p:spPr>
            <a:xfrm>
              <a:off x="480" y="2160"/>
              <a:ext cx="732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1469" name="Rectangle 7"/>
            <p:cNvSpPr/>
            <p:nvPr/>
          </p:nvSpPr>
          <p:spPr>
            <a:xfrm>
              <a:off x="2400" y="2160"/>
              <a:ext cx="732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1470" name="Rectangle 8"/>
            <p:cNvSpPr/>
            <p:nvPr/>
          </p:nvSpPr>
          <p:spPr>
            <a:xfrm>
              <a:off x="4320" y="2162"/>
              <a:ext cx="732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1471" name="Text Box 9"/>
            <p:cNvSpPr txBox="1"/>
            <p:nvPr/>
          </p:nvSpPr>
          <p:spPr>
            <a:xfrm>
              <a:off x="566" y="1859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上溢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1472" name="Text Box 10"/>
            <p:cNvSpPr txBox="1"/>
            <p:nvPr/>
          </p:nvSpPr>
          <p:spPr>
            <a:xfrm>
              <a:off x="2506" y="1859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下溢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1473" name="Text Box 11"/>
            <p:cNvSpPr txBox="1"/>
            <p:nvPr/>
          </p:nvSpPr>
          <p:spPr>
            <a:xfrm>
              <a:off x="4426" y="1859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上溢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1474" name="Text Box 12"/>
            <p:cNvSpPr txBox="1"/>
            <p:nvPr/>
          </p:nvSpPr>
          <p:spPr>
            <a:xfrm>
              <a:off x="1392" y="1962"/>
              <a:ext cx="755" cy="4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对应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负浮点数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1475" name="Text Box 13"/>
            <p:cNvSpPr txBox="1"/>
            <p:nvPr/>
          </p:nvSpPr>
          <p:spPr>
            <a:xfrm>
              <a:off x="3320" y="1968"/>
              <a:ext cx="755" cy="4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对应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正浮点数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4"/>
          <p:cNvGrpSpPr/>
          <p:nvPr/>
        </p:nvGrpSpPr>
        <p:grpSpPr>
          <a:xfrm>
            <a:off x="2286000" y="4595813"/>
            <a:ext cx="2451100" cy="465138"/>
            <a:chOff x="480" y="2799"/>
            <a:chExt cx="1544" cy="293"/>
          </a:xfrm>
        </p:grpSpPr>
        <p:sp>
          <p:nvSpPr>
            <p:cNvPr id="231465" name="Text Box 15"/>
            <p:cNvSpPr txBox="1"/>
            <p:nvPr/>
          </p:nvSpPr>
          <p:spPr>
            <a:xfrm>
              <a:off x="480" y="2841"/>
              <a:ext cx="154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00,1111111;11.00      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1466" name="Text Box 16"/>
            <p:cNvSpPr txBox="1"/>
            <p:nvPr/>
          </p:nvSpPr>
          <p:spPr>
            <a:xfrm>
              <a:off x="1700" y="2799"/>
              <a:ext cx="3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 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7554913" y="4595813"/>
            <a:ext cx="2324100" cy="465138"/>
            <a:chOff x="3799" y="2799"/>
            <a:chExt cx="1464" cy="293"/>
          </a:xfrm>
        </p:grpSpPr>
        <p:sp>
          <p:nvSpPr>
            <p:cNvPr id="231463" name="Text Box 18"/>
            <p:cNvSpPr txBox="1"/>
            <p:nvPr/>
          </p:nvSpPr>
          <p:spPr>
            <a:xfrm>
              <a:off x="3799" y="2841"/>
              <a:ext cx="14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00,1111111;00.11    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1464" name="Text Box 19"/>
            <p:cNvSpPr txBox="1"/>
            <p:nvPr/>
          </p:nvSpPr>
          <p:spPr>
            <a:xfrm>
              <a:off x="4956" y="2799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3505200" y="6019800"/>
            <a:ext cx="2509838" cy="444501"/>
            <a:chOff x="1248" y="3705"/>
            <a:chExt cx="1581" cy="280"/>
          </a:xfrm>
        </p:grpSpPr>
        <p:sp>
          <p:nvSpPr>
            <p:cNvPr id="231461" name="Text Box 21"/>
            <p:cNvSpPr txBox="1"/>
            <p:nvPr/>
          </p:nvSpPr>
          <p:spPr>
            <a:xfrm>
              <a:off x="1248" y="3734"/>
              <a:ext cx="158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11,0000000;11.011    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1462" name="Text Box 22"/>
            <p:cNvSpPr txBox="1"/>
            <p:nvPr/>
          </p:nvSpPr>
          <p:spPr>
            <a:xfrm>
              <a:off x="2508" y="370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3"/>
          <p:cNvGrpSpPr/>
          <p:nvPr/>
        </p:nvGrpSpPr>
        <p:grpSpPr>
          <a:xfrm>
            <a:off x="5791200" y="5295900"/>
            <a:ext cx="2665413" cy="473076"/>
            <a:chOff x="2688" y="3255"/>
            <a:chExt cx="1679" cy="298"/>
          </a:xfrm>
        </p:grpSpPr>
        <p:sp>
          <p:nvSpPr>
            <p:cNvPr id="231459" name="Text Box 24"/>
            <p:cNvSpPr txBox="1"/>
            <p:nvPr/>
          </p:nvSpPr>
          <p:spPr>
            <a:xfrm>
              <a:off x="2688" y="3302"/>
              <a:ext cx="167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11,0000000;00.100      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1460" name="Text Box 25"/>
            <p:cNvSpPr txBox="1"/>
            <p:nvPr/>
          </p:nvSpPr>
          <p:spPr>
            <a:xfrm>
              <a:off x="3984" y="325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4106" name="Text Box 26"/>
          <p:cNvSpPr txBox="1"/>
          <p:nvPr/>
        </p:nvSpPr>
        <p:spPr>
          <a:xfrm>
            <a:off x="2803525" y="5029200"/>
            <a:ext cx="11734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127</a:t>
            </a:r>
            <a:r>
              <a:rPr lang="en-US" altLang="zh-CN" sz="2000" b="1" dirty="0">
                <a:latin typeface="Times New Roman" panose="02020603050405020304" pitchFamily="18" charset="0"/>
              </a:rPr>
              <a:t>×(–1)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74107" name="Text Box 27"/>
          <p:cNvSpPr txBox="1"/>
          <p:nvPr/>
        </p:nvSpPr>
        <p:spPr>
          <a:xfrm>
            <a:off x="3868738" y="6461125"/>
            <a:ext cx="191262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– 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-128</a:t>
            </a:r>
            <a:r>
              <a:rPr lang="en-US" altLang="zh-CN" sz="2000" b="1" dirty="0">
                <a:latin typeface="Times New Roman" panose="02020603050405020304" pitchFamily="18" charset="0"/>
              </a:rPr>
              <a:t>×(2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-1</a:t>
            </a:r>
            <a:r>
              <a:rPr lang="en-US" altLang="zh-CN" sz="2000" b="1" dirty="0">
                <a:latin typeface="Times New Roman" panose="02020603050405020304" pitchFamily="18" charset="0"/>
              </a:rPr>
              <a:t>+ 2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-</a:t>
            </a:r>
            <a:r>
              <a:rPr lang="en-US" altLang="zh-CN" sz="2000" b="1" i="1" baseline="45000" dirty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74108" name="Text Box 28"/>
          <p:cNvSpPr txBox="1"/>
          <p:nvPr/>
        </p:nvSpPr>
        <p:spPr>
          <a:xfrm>
            <a:off x="6405563" y="5775325"/>
            <a:ext cx="107061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-128</a:t>
            </a:r>
            <a:r>
              <a:rPr lang="en-US" altLang="zh-CN" sz="2000" b="1" dirty="0">
                <a:latin typeface="Times New Roman" panose="02020603050405020304" pitchFamily="18" charset="0"/>
              </a:rPr>
              <a:t>×2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-1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74109" name="Text Box 29"/>
          <p:cNvSpPr txBox="1"/>
          <p:nvPr/>
        </p:nvSpPr>
        <p:spPr>
          <a:xfrm>
            <a:off x="8085138" y="5029200"/>
            <a:ext cx="144780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latin typeface="Times New Roman" panose="02020603050405020304" pitchFamily="18" charset="0"/>
              </a:rPr>
              <a:t>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127</a:t>
            </a:r>
            <a:r>
              <a:rPr lang="en-US" altLang="zh-CN" sz="2000" b="1" dirty="0">
                <a:latin typeface="Times New Roman" panose="02020603050405020304" pitchFamily="18" charset="0"/>
              </a:rPr>
              <a:t>×(1–2</a:t>
            </a:r>
            <a:r>
              <a:rPr lang="en-US" altLang="zh-CN" sz="2000" b="1" baseline="45000" dirty="0">
                <a:latin typeface="Times New Roman" panose="02020603050405020304" pitchFamily="18" charset="0"/>
              </a:rPr>
              <a:t>-</a:t>
            </a:r>
            <a:r>
              <a:rPr lang="en-US" altLang="zh-CN" sz="2000" b="1" i="1" baseline="45000" dirty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7" name="Group 30"/>
          <p:cNvGrpSpPr/>
          <p:nvPr/>
        </p:nvGrpSpPr>
        <p:grpSpPr>
          <a:xfrm>
            <a:off x="2806700" y="3886200"/>
            <a:ext cx="1841500" cy="841375"/>
            <a:chOff x="808" y="2448"/>
            <a:chExt cx="1160" cy="530"/>
          </a:xfrm>
        </p:grpSpPr>
        <p:sp>
          <p:nvSpPr>
            <p:cNvPr id="231457" name="Line 31"/>
            <p:cNvSpPr/>
            <p:nvPr/>
          </p:nvSpPr>
          <p:spPr>
            <a:xfrm flipV="1">
              <a:off x="1200" y="2448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1458" name="Text Box 32"/>
            <p:cNvSpPr txBox="1"/>
            <p:nvPr/>
          </p:nvSpPr>
          <p:spPr>
            <a:xfrm>
              <a:off x="808" y="2707"/>
              <a:ext cx="116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最小负数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33"/>
          <p:cNvGrpSpPr/>
          <p:nvPr/>
        </p:nvGrpSpPr>
        <p:grpSpPr>
          <a:xfrm>
            <a:off x="4457700" y="3886200"/>
            <a:ext cx="1300163" cy="2259013"/>
            <a:chOff x="1848" y="2448"/>
            <a:chExt cx="819" cy="1423"/>
          </a:xfrm>
        </p:grpSpPr>
        <p:sp>
          <p:nvSpPr>
            <p:cNvPr id="231455" name="Line 34"/>
            <p:cNvSpPr/>
            <p:nvPr/>
          </p:nvSpPr>
          <p:spPr>
            <a:xfrm flipV="1">
              <a:off x="2400" y="2448"/>
              <a:ext cx="0" cy="11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1456" name="Text Box 35"/>
            <p:cNvSpPr txBox="1"/>
            <p:nvPr/>
          </p:nvSpPr>
          <p:spPr>
            <a:xfrm>
              <a:off x="1848" y="3600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最大负数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36"/>
          <p:cNvGrpSpPr/>
          <p:nvPr/>
        </p:nvGrpSpPr>
        <p:grpSpPr>
          <a:xfrm>
            <a:off x="6108700" y="3886200"/>
            <a:ext cx="1300163" cy="1528763"/>
            <a:chOff x="2888" y="2448"/>
            <a:chExt cx="819" cy="963"/>
          </a:xfrm>
        </p:grpSpPr>
        <p:sp>
          <p:nvSpPr>
            <p:cNvPr id="231453" name="Line 37"/>
            <p:cNvSpPr/>
            <p:nvPr/>
          </p:nvSpPr>
          <p:spPr>
            <a:xfrm flipV="1">
              <a:off x="3120" y="2448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1454" name="Text Box 38"/>
            <p:cNvSpPr txBox="1"/>
            <p:nvPr/>
          </p:nvSpPr>
          <p:spPr>
            <a:xfrm>
              <a:off x="2888" y="3140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最小正数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39"/>
          <p:cNvGrpSpPr/>
          <p:nvPr/>
        </p:nvGrpSpPr>
        <p:grpSpPr>
          <a:xfrm>
            <a:off x="7759700" y="3886200"/>
            <a:ext cx="1300163" cy="841375"/>
            <a:chOff x="3928" y="2448"/>
            <a:chExt cx="819" cy="530"/>
          </a:xfrm>
        </p:grpSpPr>
        <p:sp>
          <p:nvSpPr>
            <p:cNvPr id="231451" name="Line 40"/>
            <p:cNvSpPr/>
            <p:nvPr/>
          </p:nvSpPr>
          <p:spPr>
            <a:xfrm flipV="1">
              <a:off x="4320" y="2448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1452" name="Text Box 41"/>
            <p:cNvSpPr txBox="1"/>
            <p:nvPr/>
          </p:nvSpPr>
          <p:spPr>
            <a:xfrm>
              <a:off x="3928" y="2707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最大正数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1441" name="Group 42"/>
          <p:cNvGrpSpPr/>
          <p:nvPr/>
        </p:nvGrpSpPr>
        <p:grpSpPr>
          <a:xfrm>
            <a:off x="5737225" y="3771900"/>
            <a:ext cx="334963" cy="673100"/>
            <a:chOff x="2654" y="2280"/>
            <a:chExt cx="211" cy="424"/>
          </a:xfrm>
        </p:grpSpPr>
        <p:sp>
          <p:nvSpPr>
            <p:cNvPr id="231449" name="Line 43"/>
            <p:cNvSpPr/>
            <p:nvPr/>
          </p:nvSpPr>
          <p:spPr>
            <a:xfrm>
              <a:off x="2748" y="228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1450" name="Text Box 44"/>
            <p:cNvSpPr txBox="1"/>
            <p:nvPr/>
          </p:nvSpPr>
          <p:spPr>
            <a:xfrm>
              <a:off x="2654" y="2414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4125" name="Text Box 45"/>
          <p:cNvSpPr txBox="1"/>
          <p:nvPr/>
        </p:nvSpPr>
        <p:spPr>
          <a:xfrm>
            <a:off x="1562100" y="3581400"/>
            <a:ext cx="1447800" cy="768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阶码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01, ××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···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6" name="Text Box 46"/>
          <p:cNvSpPr txBox="1"/>
          <p:nvPr/>
        </p:nvSpPr>
        <p:spPr>
          <a:xfrm>
            <a:off x="8915400" y="3581400"/>
            <a:ext cx="145288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阶码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01, ××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···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7" name="Text Box 47"/>
          <p:cNvSpPr txBox="1"/>
          <p:nvPr/>
        </p:nvSpPr>
        <p:spPr>
          <a:xfrm>
            <a:off x="4875213" y="2590800"/>
            <a:ext cx="20193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阶码 </a:t>
            </a:r>
            <a:r>
              <a:rPr lang="en-US" altLang="zh-CN" sz="2000" b="1" dirty="0">
                <a:latin typeface="Times New Roman" panose="02020603050405020304" pitchFamily="18" charset="0"/>
              </a:rPr>
              <a:t>10, ××</a:t>
            </a:r>
            <a:r>
              <a:rPr lang="en-US" altLang="zh-CN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···</a:t>
            </a:r>
            <a:r>
              <a:rPr lang="en-US" altLang="zh-CN" sz="2000" b="1" dirty="0">
                <a:latin typeface="Times New Roman" panose="02020603050405020304" pitchFamily="18" charset="0"/>
              </a:rPr>
              <a:t>×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74128" name="Rectangle 48"/>
          <p:cNvSpPr/>
          <p:nvPr/>
        </p:nvSpPr>
        <p:spPr>
          <a:xfrm>
            <a:off x="7121525" y="2590800"/>
            <a:ext cx="170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按机器零处理</a:t>
            </a:r>
            <a:endParaRPr lang="zh-CN" altLang="en-US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9" name="Rectangle 4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1447" name="AutoShape 5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1448" name="日期占位符 10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7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7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7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7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7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7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4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4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6" grpId="0"/>
      <p:bldP spid="174107" grpId="0"/>
      <p:bldP spid="174108" grpId="0"/>
      <p:bldP spid="174109" grpId="0"/>
      <p:bldP spid="174125" grpId="0"/>
      <p:bldP spid="174126" grpId="0"/>
      <p:bldP spid="174127" grpId="0"/>
      <p:bldP spid="174128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24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324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如果</a:t>
            </a:r>
            <a:r>
              <a:rPr lang="zh-CN" altLang="zh-CN" dirty="0"/>
              <a:t>阶</a:t>
            </a:r>
            <a:r>
              <a:rPr lang="zh-CN" altLang="en-US" dirty="0"/>
              <a:t>码是移码，怎么算？</a:t>
            </a:r>
            <a:endParaRPr lang="zh-CN" altLang="en-US" dirty="0"/>
          </a:p>
        </p:txBody>
      </p:sp>
      <p:sp>
        <p:nvSpPr>
          <p:cNvPr id="23245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34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3347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见书</a:t>
            </a:r>
            <a:r>
              <a:rPr lang="en-US" altLang="zh-CN" dirty="0"/>
              <a:t>275</a:t>
            </a:r>
            <a:r>
              <a:rPr lang="zh-CN" altLang="en-US" dirty="0"/>
              <a:t>页　图</a:t>
            </a:r>
            <a:endParaRPr lang="en-US" altLang="zh-CN" dirty="0"/>
          </a:p>
          <a:p>
            <a:pPr eaLnBrk="1" hangingPunct="1"/>
            <a:r>
              <a:rPr lang="zh-CN" altLang="en-US" dirty="0"/>
              <a:t>见</a:t>
            </a:r>
            <a:r>
              <a:rPr lang="en-US" altLang="zh-CN" dirty="0"/>
              <a:t>292</a:t>
            </a:r>
            <a:r>
              <a:rPr lang="zh-CN" altLang="en-US" dirty="0"/>
              <a:t>页 </a:t>
            </a:r>
            <a:r>
              <a:rPr lang="en-US" altLang="zh-CN" dirty="0"/>
              <a:t>6.27(1)</a:t>
            </a:r>
            <a:endParaRPr lang="zh-CN" altLang="en-US" dirty="0"/>
          </a:p>
        </p:txBody>
      </p:sp>
      <p:sp>
        <p:nvSpPr>
          <p:cNvPr id="23347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4498" name="Text Box 2"/>
          <p:cNvSpPr txBox="1"/>
          <p:nvPr/>
        </p:nvSpPr>
        <p:spPr>
          <a:xfrm>
            <a:off x="1905000" y="304800"/>
            <a:ext cx="5486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二、浮点乘除运算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34499" name="Text Box 3"/>
          <p:cNvSpPr txBox="1"/>
          <p:nvPr/>
        </p:nvSpPr>
        <p:spPr>
          <a:xfrm>
            <a:off x="3413125" y="990600"/>
            <a:ext cx="16827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 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x</a:t>
            </a:r>
            <a:endParaRPr lang="en-US" altLang="zh-CN" sz="2400" b="1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234500" name="Text Box 4"/>
          <p:cNvSpPr txBox="1"/>
          <p:nvPr/>
        </p:nvSpPr>
        <p:spPr>
          <a:xfrm>
            <a:off x="5454650" y="1000125"/>
            <a:ext cx="16389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 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y</a:t>
            </a:r>
            <a:endParaRPr lang="en-US" altLang="zh-CN" sz="2400" b="1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234501" name="Text Box 5"/>
          <p:cNvSpPr txBox="1"/>
          <p:nvPr/>
        </p:nvSpPr>
        <p:spPr>
          <a:xfrm>
            <a:off x="2346325" y="151130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乘法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4502" name="Text Box 6"/>
          <p:cNvSpPr txBox="1"/>
          <p:nvPr/>
        </p:nvSpPr>
        <p:spPr>
          <a:xfrm>
            <a:off x="3870325" y="1905000"/>
            <a:ext cx="31616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baseline="60000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baseline="60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y</a:t>
            </a:r>
            <a:endParaRPr lang="en-US" altLang="zh-CN" sz="2400" b="1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234503" name="Text Box 7"/>
          <p:cNvSpPr txBox="1"/>
          <p:nvPr/>
        </p:nvSpPr>
        <p:spPr>
          <a:xfrm>
            <a:off x="2346325" y="2376488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</a:rPr>
              <a:t>除法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34504" name="Group 8"/>
          <p:cNvGrpSpPr/>
          <p:nvPr/>
        </p:nvGrpSpPr>
        <p:grpSpPr>
          <a:xfrm>
            <a:off x="4186238" y="2590800"/>
            <a:ext cx="2382837" cy="908050"/>
            <a:chOff x="1733" y="1686"/>
            <a:chExt cx="1501" cy="572"/>
          </a:xfrm>
        </p:grpSpPr>
        <p:sp>
          <p:nvSpPr>
            <p:cNvPr id="234515" name="Text Box 9"/>
            <p:cNvSpPr txBox="1"/>
            <p:nvPr/>
          </p:nvSpPr>
          <p:spPr>
            <a:xfrm>
              <a:off x="1733" y="1696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34516" name="Text Box 10"/>
            <p:cNvSpPr txBox="1"/>
            <p:nvPr/>
          </p:nvSpPr>
          <p:spPr>
            <a:xfrm>
              <a:off x="1733" y="1894"/>
              <a:ext cx="21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34517" name="Line 11"/>
            <p:cNvSpPr/>
            <p:nvPr/>
          </p:nvSpPr>
          <p:spPr>
            <a:xfrm>
              <a:off x="1743" y="199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4518" name="Text Box 12"/>
            <p:cNvSpPr txBox="1"/>
            <p:nvPr/>
          </p:nvSpPr>
          <p:spPr>
            <a:xfrm>
              <a:off x="1973" y="1792"/>
              <a:ext cx="24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4519" name="Line 13"/>
            <p:cNvSpPr/>
            <p:nvPr/>
          </p:nvSpPr>
          <p:spPr>
            <a:xfrm>
              <a:off x="2256" y="199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4520" name="Text Box 14"/>
            <p:cNvSpPr txBox="1"/>
            <p:nvPr/>
          </p:nvSpPr>
          <p:spPr>
            <a:xfrm>
              <a:off x="2223" y="1686"/>
              <a:ext cx="2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x</a:t>
              </a:r>
              <a:endParaRPr lang="en-US" altLang="zh-CN" sz="24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4521" name="Text Box 15"/>
            <p:cNvSpPr txBox="1"/>
            <p:nvPr/>
          </p:nvSpPr>
          <p:spPr>
            <a:xfrm>
              <a:off x="2223" y="1968"/>
              <a:ext cx="27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y</a:t>
              </a:r>
              <a:endParaRPr lang="en-US" altLang="zh-CN" sz="2400" b="1" i="1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34522" name="Text Box 16"/>
            <p:cNvSpPr txBox="1"/>
            <p:nvPr/>
          </p:nvSpPr>
          <p:spPr>
            <a:xfrm>
              <a:off x="2501" y="1792"/>
              <a:ext cx="73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×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i="1" baseline="60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b="1" i="1" baseline="300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30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baseline="60000" dirty="0">
                  <a:latin typeface="Times New Roman" panose="02020603050405020304" pitchFamily="18" charset="0"/>
                </a:rPr>
                <a:t>–</a:t>
              </a:r>
              <a:r>
                <a:rPr lang="en-US" altLang="zh-CN" sz="2400" b="1" baseline="4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baseline="60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400" b="1" i="1" baseline="30000" dirty="0">
                  <a:latin typeface="Times New Roman" panose="02020603050405020304" pitchFamily="18" charset="0"/>
                </a:rPr>
                <a:t>y</a:t>
              </a:r>
              <a:endParaRPr lang="en-US" altLang="zh-CN" sz="2400" b="1" i="1" baseline="30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4505" name="Text Box 17"/>
          <p:cNvSpPr txBox="1"/>
          <p:nvPr/>
        </p:nvSpPr>
        <p:spPr>
          <a:xfrm>
            <a:off x="2771775" y="3914775"/>
            <a:ext cx="81248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阶码采用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补码定点加</a:t>
            </a:r>
            <a:r>
              <a:rPr lang="zh-CN" altLang="en-US" sz="2800" b="1" dirty="0">
                <a:latin typeface="Times New Roman" panose="02020603050405020304" pitchFamily="18" charset="0"/>
              </a:rPr>
              <a:t>（乘法）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减</a:t>
            </a:r>
            <a:r>
              <a:rPr lang="zh-CN" altLang="en-US" sz="2800" b="1" dirty="0">
                <a:latin typeface="Times New Roman" panose="02020603050405020304" pitchFamily="18" charset="0"/>
              </a:rPr>
              <a:t>（除法）运算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4506" name="Text Box 18"/>
          <p:cNvSpPr txBox="1"/>
          <p:nvPr/>
        </p:nvSpPr>
        <p:spPr>
          <a:xfrm>
            <a:off x="2787650" y="4502150"/>
            <a:ext cx="5213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尾数乘除同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定点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4507" name="Text Box 19"/>
          <p:cNvSpPr txBox="1"/>
          <p:nvPr/>
        </p:nvSpPr>
        <p:spPr>
          <a:xfrm>
            <a:off x="2346325" y="5729288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4. </a:t>
            </a:r>
            <a:r>
              <a:rPr lang="zh-CN" altLang="en-US" sz="2800" b="1" dirty="0">
                <a:latin typeface="Times New Roman" panose="02020603050405020304" pitchFamily="18" charset="0"/>
              </a:rPr>
              <a:t>浮点运算部件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4508" name="Text Box 20"/>
          <p:cNvSpPr txBox="1"/>
          <p:nvPr/>
        </p:nvSpPr>
        <p:spPr>
          <a:xfrm>
            <a:off x="3413125" y="6186488"/>
            <a:ext cx="4805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阶码运算部件，尾数运算部件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4509" name="Text Box 21"/>
          <p:cNvSpPr txBox="1"/>
          <p:nvPr/>
        </p:nvSpPr>
        <p:spPr>
          <a:xfrm>
            <a:off x="2362200" y="3443288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latin typeface="Times New Roman" panose="02020603050405020304" pitchFamily="18" charset="0"/>
              </a:rPr>
              <a:t>步骤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4510" name="Text Box 22"/>
          <p:cNvSpPr txBox="1"/>
          <p:nvPr/>
        </p:nvSpPr>
        <p:spPr>
          <a:xfrm>
            <a:off x="2767013" y="5119688"/>
            <a:ext cx="24907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latin typeface="Times New Roman" panose="02020603050405020304" pitchFamily="18" charset="0"/>
              </a:rPr>
              <a:t>规格化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75127" name="Rectangle 2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4512" name="AutoShape 2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4513" name="Rectangle 25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3451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355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(– 0.101)</a:t>
            </a:r>
            <a:r>
              <a:rPr lang="en-US" altLang="zh-CN" sz="24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5000" dirty="0">
                <a:latin typeface="Times New Roman" panose="02020603050405020304" pitchFamily="18" charset="0"/>
              </a:rPr>
              <a:t>-5   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(0.110) </a:t>
            </a:r>
            <a:r>
              <a:rPr lang="en-US" altLang="zh-CN" sz="24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baseline="45000" dirty="0">
                <a:latin typeface="Times New Roman" panose="02020603050405020304" pitchFamily="18" charset="0"/>
              </a:rPr>
              <a:t>-4</a:t>
            </a:r>
            <a:endParaRPr lang="en-US" altLang="zh-CN" sz="2800" b="1" baseline="45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用原码存储，除阶符、数符外，阶码取 </a:t>
            </a:r>
            <a:r>
              <a:rPr lang="en-US" altLang="zh-CN" sz="2400" b="1" dirty="0">
                <a:latin typeface="Times New Roman" panose="02020603050405020304" pitchFamily="18" charset="0"/>
              </a:rPr>
              <a:t>3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位，尾数取 </a:t>
            </a:r>
            <a:r>
              <a:rPr lang="en-US" altLang="zh-CN" sz="2400" b="1" dirty="0">
                <a:latin typeface="Times New Roman" panose="02020603050405020304" pitchFamily="18" charset="0"/>
              </a:rPr>
              <a:t>6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</a:t>
            </a:r>
            <a:endParaRPr lang="zh-CN" altLang="en-US" sz="2800" b="1" baseline="45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zh-CN" altLang="en-US" sz="2800" b="1" baseline="45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zh-CN" altLang="en-US" sz="2800" b="1" baseline="45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求 </a:t>
            </a:r>
            <a:r>
              <a:rPr lang="en-US" altLang="zh-CN" sz="2800" b="1" dirty="0">
                <a:latin typeface="Times New Roman" panose="02020603050405020304" pitchFamily="18" charset="0"/>
              </a:rPr>
              <a:t>x*y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</p:txBody>
      </p:sp>
      <p:sp>
        <p:nvSpPr>
          <p:cNvPr id="23552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46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6.5 </a:t>
            </a:r>
            <a:r>
              <a:rPr lang="zh-CN" altLang="en-US" b="1" dirty="0"/>
              <a:t>算术逻辑单元</a:t>
            </a:r>
            <a:endParaRPr lang="zh-CN" altLang="en-US" b="1" dirty="0"/>
          </a:p>
        </p:txBody>
      </p:sp>
      <p:sp>
        <p:nvSpPr>
          <p:cNvPr id="236547" name="Text Box 3"/>
          <p:cNvSpPr txBox="1"/>
          <p:nvPr/>
        </p:nvSpPr>
        <p:spPr>
          <a:xfrm>
            <a:off x="1981200" y="1247775"/>
            <a:ext cx="255206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一、</a:t>
            </a:r>
            <a:r>
              <a:rPr lang="en-US" altLang="zh-CN" sz="3200" b="1" dirty="0">
                <a:latin typeface="Times New Roman" panose="02020603050405020304" pitchFamily="18" charset="0"/>
              </a:rPr>
              <a:t>ALU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电路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6548" name="Text Box 4"/>
          <p:cNvSpPr txBox="1"/>
          <p:nvPr/>
        </p:nvSpPr>
        <p:spPr>
          <a:xfrm>
            <a:off x="6842125" y="1860550"/>
            <a:ext cx="2011680" cy="16973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45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组合逻辑电路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45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不同取值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45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不同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36549" name="Text Box 5"/>
          <p:cNvSpPr txBox="1"/>
          <p:nvPr/>
        </p:nvSpPr>
        <p:spPr>
          <a:xfrm>
            <a:off x="2422525" y="4286250"/>
            <a:ext cx="62642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四位 </a:t>
            </a:r>
            <a:r>
              <a:rPr lang="en-US" altLang="zh-CN" sz="3200" b="1" dirty="0">
                <a:latin typeface="Times New Roman" panose="02020603050405020304" pitchFamily="18" charset="0"/>
              </a:rPr>
              <a:t>ALU    74181</a:t>
            </a:r>
            <a:r>
              <a:rPr lang="zh-CN" altLang="en-US" sz="3200" b="1" dirty="0">
                <a:latin typeface="Times New Roman" panose="02020603050405020304" pitchFamily="18" charset="0"/>
              </a:rPr>
              <a:t>　　见书</a:t>
            </a:r>
            <a:r>
              <a:rPr lang="en-US" altLang="zh-CN" sz="3200" b="1" dirty="0">
                <a:latin typeface="Times New Roman" panose="02020603050405020304" pitchFamily="18" charset="0"/>
              </a:rPr>
              <a:t>281</a:t>
            </a:r>
            <a:r>
              <a:rPr lang="zh-CN" altLang="en-US" sz="3200" b="1" dirty="0">
                <a:latin typeface="Times New Roman" panose="02020603050405020304" pitchFamily="18" charset="0"/>
              </a:rPr>
              <a:t>页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36550" name="Text Box 6"/>
          <p:cNvSpPr txBox="1"/>
          <p:nvPr/>
        </p:nvSpPr>
        <p:spPr>
          <a:xfrm>
            <a:off x="3565525" y="4929188"/>
            <a:ext cx="38258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0   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算术运算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6551" name="Text Box 7"/>
          <p:cNvSpPr txBox="1"/>
          <p:nvPr/>
        </p:nvSpPr>
        <p:spPr>
          <a:xfrm>
            <a:off x="3565525" y="5511800"/>
            <a:ext cx="40544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1   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逻辑运算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6552" name="Text Box 8"/>
          <p:cNvSpPr txBox="1"/>
          <p:nvPr/>
        </p:nvSpPr>
        <p:spPr>
          <a:xfrm>
            <a:off x="3565525" y="6096000"/>
            <a:ext cx="6416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</a:rPr>
              <a:t> ~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不同取值，可做不同运算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36553" name="Group 9"/>
          <p:cNvGrpSpPr/>
          <p:nvPr/>
        </p:nvGrpSpPr>
        <p:grpSpPr>
          <a:xfrm>
            <a:off x="3043238" y="1852613"/>
            <a:ext cx="2922587" cy="2411412"/>
            <a:chOff x="957" y="1167"/>
            <a:chExt cx="1841" cy="1519"/>
          </a:xfrm>
        </p:grpSpPr>
        <p:sp>
          <p:nvSpPr>
            <p:cNvPr id="236556" name="Freeform 10"/>
            <p:cNvSpPr/>
            <p:nvPr/>
          </p:nvSpPr>
          <p:spPr>
            <a:xfrm>
              <a:off x="957" y="1677"/>
              <a:ext cx="1443" cy="579"/>
            </a:xfrm>
            <a:custGeom>
              <a:avLst/>
              <a:gdLst>
                <a:gd name="txL" fmla="*/ 0 w 1443"/>
                <a:gd name="txT" fmla="*/ 0 h 579"/>
                <a:gd name="txR" fmla="*/ 1443 w 1443"/>
                <a:gd name="txB" fmla="*/ 579 h 579"/>
              </a:gdLst>
              <a:ahLst/>
              <a:cxnLst>
                <a:cxn ang="0">
                  <a:pos x="0" y="6"/>
                </a:cxn>
                <a:cxn ang="0">
                  <a:pos x="480" y="6"/>
                </a:cxn>
                <a:cxn ang="0">
                  <a:pos x="723" y="243"/>
                </a:cxn>
                <a:cxn ang="0">
                  <a:pos x="963" y="0"/>
                </a:cxn>
                <a:cxn ang="0">
                  <a:pos x="1443" y="3"/>
                </a:cxn>
                <a:cxn ang="0">
                  <a:pos x="1056" y="579"/>
                </a:cxn>
                <a:cxn ang="0">
                  <a:pos x="423" y="579"/>
                </a:cxn>
                <a:cxn ang="0">
                  <a:pos x="0" y="6"/>
                </a:cxn>
              </a:cxnLst>
              <a:rect l="txL" t="txT" r="txR" b="txB"/>
              <a:pathLst>
                <a:path w="1443" h="579">
                  <a:moveTo>
                    <a:pt x="0" y="6"/>
                  </a:moveTo>
                  <a:lnTo>
                    <a:pt x="480" y="6"/>
                  </a:lnTo>
                  <a:lnTo>
                    <a:pt x="723" y="243"/>
                  </a:lnTo>
                  <a:lnTo>
                    <a:pt x="963" y="0"/>
                  </a:lnTo>
                  <a:lnTo>
                    <a:pt x="1443" y="3"/>
                  </a:lnTo>
                  <a:lnTo>
                    <a:pt x="1056" y="579"/>
                  </a:lnTo>
                  <a:lnTo>
                    <a:pt x="423" y="579"/>
                  </a:lnTo>
                  <a:lnTo>
                    <a:pt x="0" y="6"/>
                  </a:lnTo>
                  <a:close/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6557" name="Text Box 11"/>
            <p:cNvSpPr txBox="1"/>
            <p:nvPr/>
          </p:nvSpPr>
          <p:spPr>
            <a:xfrm>
              <a:off x="1481" y="1942"/>
              <a:ext cx="967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0" b="1" dirty="0">
                  <a:latin typeface="Times New Roman" panose="02020603050405020304" pitchFamily="18" charset="0"/>
                </a:rPr>
                <a:t>ALU</a:t>
              </a:r>
              <a:endParaRPr lang="en-US" altLang="zh-CN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6558" name="Line 12"/>
            <p:cNvSpPr/>
            <p:nvPr/>
          </p:nvSpPr>
          <p:spPr>
            <a:xfrm>
              <a:off x="1200" y="1440"/>
              <a:ext cx="0" cy="24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6559" name="Line 13"/>
            <p:cNvSpPr/>
            <p:nvPr/>
          </p:nvSpPr>
          <p:spPr>
            <a:xfrm>
              <a:off x="2160" y="1440"/>
              <a:ext cx="0" cy="24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6560" name="Text Box 14"/>
            <p:cNvSpPr txBox="1"/>
            <p:nvPr/>
          </p:nvSpPr>
          <p:spPr>
            <a:xfrm>
              <a:off x="1056" y="1193"/>
              <a:ext cx="26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2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2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6561" name="Text Box 15"/>
            <p:cNvSpPr txBox="1"/>
            <p:nvPr/>
          </p:nvSpPr>
          <p:spPr>
            <a:xfrm>
              <a:off x="2016" y="1167"/>
              <a:ext cx="26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2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2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6562" name="Line 16"/>
            <p:cNvSpPr/>
            <p:nvPr/>
          </p:nvSpPr>
          <p:spPr>
            <a:xfrm>
              <a:off x="1680" y="2256"/>
              <a:ext cx="0" cy="19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6563" name="Text Box 17"/>
            <p:cNvSpPr txBox="1"/>
            <p:nvPr/>
          </p:nvSpPr>
          <p:spPr>
            <a:xfrm>
              <a:off x="1584" y="2415"/>
              <a:ext cx="26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2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2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6564" name="Line 18"/>
            <p:cNvSpPr/>
            <p:nvPr/>
          </p:nvSpPr>
          <p:spPr>
            <a:xfrm flipH="1">
              <a:off x="2352" y="1824"/>
              <a:ext cx="24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6565" name="Line 19"/>
            <p:cNvSpPr/>
            <p:nvPr/>
          </p:nvSpPr>
          <p:spPr>
            <a:xfrm flipH="1">
              <a:off x="2160" y="2160"/>
              <a:ext cx="24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med" len="med"/>
            </a:ln>
          </p:spPr>
        </p:sp>
        <p:sp>
          <p:nvSpPr>
            <p:cNvPr id="236566" name="Text Box 20"/>
            <p:cNvSpPr txBox="1"/>
            <p:nvPr/>
          </p:nvSpPr>
          <p:spPr>
            <a:xfrm>
              <a:off x="2247" y="1891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567" name="Text Box 21"/>
            <p:cNvSpPr txBox="1"/>
            <p:nvPr/>
          </p:nvSpPr>
          <p:spPr>
            <a:xfrm>
              <a:off x="2534" y="1865"/>
              <a:ext cx="26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200" b="1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sz="22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200" b="1" i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6554" name="AutoShape 2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655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75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37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23757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669925"/>
            <a:ext cx="8915400" cy="5380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757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85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385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pic>
        <p:nvPicPr>
          <p:cNvPr id="23859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938" y="1271588"/>
            <a:ext cx="6335712" cy="4314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859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一位全加器真值表</a:t>
            </a:r>
            <a:endParaRPr lang="zh-CN" altLang="en-US" dirty="0"/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752600" y="1447800"/>
          <a:ext cx="86106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971925" imgH="2524125" progId="Paint.Picture">
                  <p:embed/>
                </p:oleObj>
              </mc:Choice>
              <mc:Fallback>
                <p:oleObj name="" r:id="rId1" imgW="3971925" imgH="2524125" progId="Paint.Picture">
                  <p:embed/>
                  <p:pic>
                    <p:nvPicPr>
                      <p:cNvPr id="0" name="20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1447800"/>
                        <a:ext cx="8610600" cy="510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8" name="Text Box 2"/>
          <p:cNvSpPr txBox="1"/>
          <p:nvPr/>
        </p:nvSpPr>
        <p:spPr>
          <a:xfrm>
            <a:off x="1905000" y="152400"/>
            <a:ext cx="5486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二、快速进位链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39619" name="Text Box 3"/>
          <p:cNvSpPr txBox="1"/>
          <p:nvPr/>
        </p:nvSpPr>
        <p:spPr>
          <a:xfrm>
            <a:off x="2498725" y="838200"/>
            <a:ext cx="2316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</a:rPr>
              <a:t>并行加法器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9620" name="Text Box 4"/>
          <p:cNvSpPr txBox="1"/>
          <p:nvPr/>
        </p:nvSpPr>
        <p:spPr>
          <a:xfrm>
            <a:off x="2971800" y="5181600"/>
            <a:ext cx="264350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B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+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+B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i-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39621" name="Text Box 5"/>
          <p:cNvSpPr txBox="1"/>
          <p:nvPr/>
        </p:nvSpPr>
        <p:spPr>
          <a:xfrm>
            <a:off x="2667000" y="5653088"/>
            <a:ext cx="3200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= A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本地进位</a:t>
            </a:r>
            <a:endParaRPr lang="zh-CN" altLang="en-US" sz="2400" b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9622" name="Text Box 6"/>
          <p:cNvSpPr txBox="1"/>
          <p:nvPr/>
        </p:nvSpPr>
        <p:spPr>
          <a:xfrm>
            <a:off x="6096000" y="5653088"/>
            <a:ext cx="3505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= A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+ B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传送条件</a:t>
            </a:r>
            <a:endParaRPr lang="zh-CN" altLang="en-US" sz="2400" b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9623" name="Text Box 7"/>
          <p:cNvSpPr txBox="1"/>
          <p:nvPr/>
        </p:nvSpPr>
        <p:spPr>
          <a:xfrm>
            <a:off x="2159000" y="6162675"/>
            <a:ext cx="23990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9624" name="Group 8"/>
          <p:cNvGrpSpPr/>
          <p:nvPr/>
        </p:nvGrpSpPr>
        <p:grpSpPr>
          <a:xfrm>
            <a:off x="2651125" y="4038600"/>
            <a:ext cx="5627688" cy="460375"/>
            <a:chOff x="710" y="2544"/>
            <a:chExt cx="3545" cy="290"/>
          </a:xfrm>
        </p:grpSpPr>
        <p:sp>
          <p:nvSpPr>
            <p:cNvPr id="239688" name="Text Box 9"/>
            <p:cNvSpPr txBox="1"/>
            <p:nvPr/>
          </p:nvSpPr>
          <p:spPr>
            <a:xfrm>
              <a:off x="710" y="2544"/>
              <a:ext cx="354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-1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89" name="Line 10"/>
            <p:cNvSpPr/>
            <p:nvPr/>
          </p:nvSpPr>
          <p:spPr>
            <a:xfrm>
              <a:off x="1104" y="2614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90" name="Line 11"/>
            <p:cNvSpPr/>
            <p:nvPr/>
          </p:nvSpPr>
          <p:spPr>
            <a:xfrm>
              <a:off x="1344" y="2614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91" name="Line 12"/>
            <p:cNvSpPr/>
            <p:nvPr/>
          </p:nvSpPr>
          <p:spPr>
            <a:xfrm>
              <a:off x="1942" y="2614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92" name="Line 13"/>
            <p:cNvSpPr/>
            <p:nvPr/>
          </p:nvSpPr>
          <p:spPr>
            <a:xfrm>
              <a:off x="2364" y="2614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93" name="Line 14"/>
            <p:cNvSpPr/>
            <p:nvPr/>
          </p:nvSpPr>
          <p:spPr>
            <a:xfrm>
              <a:off x="2938" y="2614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94" name="Line 15"/>
            <p:cNvSpPr/>
            <p:nvPr/>
          </p:nvSpPr>
          <p:spPr>
            <a:xfrm>
              <a:off x="3168" y="2614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39625" name="Group 16"/>
          <p:cNvGrpSpPr/>
          <p:nvPr/>
        </p:nvGrpSpPr>
        <p:grpSpPr>
          <a:xfrm>
            <a:off x="2598738" y="4648200"/>
            <a:ext cx="5649913" cy="460375"/>
            <a:chOff x="677" y="2928"/>
            <a:chExt cx="3559" cy="290"/>
          </a:xfrm>
        </p:grpSpPr>
        <p:sp>
          <p:nvSpPr>
            <p:cNvPr id="239684" name="Text Box 17"/>
            <p:cNvSpPr txBox="1"/>
            <p:nvPr/>
          </p:nvSpPr>
          <p:spPr>
            <a:xfrm>
              <a:off x="677" y="2928"/>
              <a:ext cx="35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= 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B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i-1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+A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B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i-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+A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B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i-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+A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B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 C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</a:rPr>
                <a:t>i-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85" name="Line 18"/>
            <p:cNvSpPr/>
            <p:nvPr/>
          </p:nvSpPr>
          <p:spPr>
            <a:xfrm>
              <a:off x="3165" y="2987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86" name="Line 19"/>
            <p:cNvSpPr/>
            <p:nvPr/>
          </p:nvSpPr>
          <p:spPr>
            <a:xfrm>
              <a:off x="2140" y="2987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87" name="Line 20"/>
            <p:cNvSpPr/>
            <p:nvPr/>
          </p:nvSpPr>
          <p:spPr>
            <a:xfrm>
              <a:off x="1109" y="2987"/>
              <a:ext cx="14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39626" name="Group 21"/>
          <p:cNvGrpSpPr/>
          <p:nvPr/>
        </p:nvGrpSpPr>
        <p:grpSpPr>
          <a:xfrm>
            <a:off x="2057400" y="1371600"/>
            <a:ext cx="8170863" cy="2608263"/>
            <a:chOff x="336" y="864"/>
            <a:chExt cx="5147" cy="1643"/>
          </a:xfrm>
        </p:grpSpPr>
        <p:sp>
          <p:nvSpPr>
            <p:cNvPr id="239630" name="Text Box 22"/>
            <p:cNvSpPr txBox="1"/>
            <p:nvPr/>
          </p:nvSpPr>
          <p:spPr>
            <a:xfrm>
              <a:off x="758" y="1603"/>
              <a:ext cx="3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FA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31" name="Rectangle 23"/>
            <p:cNvSpPr/>
            <p:nvPr/>
          </p:nvSpPr>
          <p:spPr>
            <a:xfrm>
              <a:off x="672" y="1546"/>
              <a:ext cx="52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32" name="Text Box 24"/>
            <p:cNvSpPr txBox="1"/>
            <p:nvPr/>
          </p:nvSpPr>
          <p:spPr>
            <a:xfrm>
              <a:off x="1536" y="1603"/>
              <a:ext cx="50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FA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33" name="Rectangle 25"/>
            <p:cNvSpPr/>
            <p:nvPr/>
          </p:nvSpPr>
          <p:spPr>
            <a:xfrm>
              <a:off x="1536" y="1546"/>
              <a:ext cx="52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34" name="Text Box 26"/>
            <p:cNvSpPr txBox="1"/>
            <p:nvPr/>
          </p:nvSpPr>
          <p:spPr>
            <a:xfrm>
              <a:off x="3782" y="1603"/>
              <a:ext cx="36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FA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35" name="Rectangle 27"/>
            <p:cNvSpPr/>
            <p:nvPr/>
          </p:nvSpPr>
          <p:spPr>
            <a:xfrm>
              <a:off x="3696" y="1546"/>
              <a:ext cx="52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36" name="Text Box 28"/>
            <p:cNvSpPr txBox="1"/>
            <p:nvPr/>
          </p:nvSpPr>
          <p:spPr>
            <a:xfrm>
              <a:off x="4741" y="1603"/>
              <a:ext cx="36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FA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37" name="Rectangle 29"/>
            <p:cNvSpPr/>
            <p:nvPr/>
          </p:nvSpPr>
          <p:spPr>
            <a:xfrm>
              <a:off x="4655" y="1546"/>
              <a:ext cx="52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38" name="Text Box 30"/>
            <p:cNvSpPr txBox="1"/>
            <p:nvPr/>
          </p:nvSpPr>
          <p:spPr>
            <a:xfrm>
              <a:off x="2400" y="1603"/>
              <a:ext cx="50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FA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39" name="Rectangle 31"/>
            <p:cNvSpPr/>
            <p:nvPr/>
          </p:nvSpPr>
          <p:spPr>
            <a:xfrm>
              <a:off x="2400" y="1546"/>
              <a:ext cx="52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40" name="Freeform 32"/>
            <p:cNvSpPr/>
            <p:nvPr/>
          </p:nvSpPr>
          <p:spPr>
            <a:xfrm>
              <a:off x="336" y="1354"/>
              <a:ext cx="528" cy="192"/>
            </a:xfrm>
            <a:custGeom>
              <a:avLst/>
              <a:gdLst>
                <a:gd name="txL" fmla="*/ 0 w 528"/>
                <a:gd name="txT" fmla="*/ 0 h 144"/>
                <a:gd name="txR" fmla="*/ 528 w 528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528" y="0"/>
                </a:cxn>
                <a:cxn ang="0">
                  <a:pos x="528" y="144"/>
                </a:cxn>
              </a:cxnLst>
              <a:rect l="txL" t="txT" r="txR" b="txB"/>
              <a:pathLst>
                <a:path w="528" h="144">
                  <a:moveTo>
                    <a:pt x="0" y="0"/>
                  </a:moveTo>
                  <a:lnTo>
                    <a:pt x="528" y="0"/>
                  </a:lnTo>
                  <a:lnTo>
                    <a:pt x="528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41" name="Line 33"/>
            <p:cNvSpPr/>
            <p:nvPr/>
          </p:nvSpPr>
          <p:spPr>
            <a:xfrm>
              <a:off x="768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42" name="Line 34"/>
            <p:cNvSpPr/>
            <p:nvPr/>
          </p:nvSpPr>
          <p:spPr>
            <a:xfrm>
              <a:off x="960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43" name="Freeform 35"/>
            <p:cNvSpPr/>
            <p:nvPr/>
          </p:nvSpPr>
          <p:spPr>
            <a:xfrm>
              <a:off x="1104" y="1354"/>
              <a:ext cx="624" cy="672"/>
            </a:xfrm>
            <a:custGeom>
              <a:avLst/>
              <a:gdLst>
                <a:gd name="txL" fmla="*/ 0 w 624"/>
                <a:gd name="txT" fmla="*/ 0 h 672"/>
                <a:gd name="txR" fmla="*/ 624 w 624"/>
                <a:gd name="txB" fmla="*/ 672 h 672"/>
              </a:gdLst>
              <a:ahLst/>
              <a:cxnLst>
                <a:cxn ang="0">
                  <a:pos x="0" y="528"/>
                </a:cxn>
                <a:cxn ang="0">
                  <a:pos x="0" y="672"/>
                </a:cxn>
                <a:cxn ang="0">
                  <a:pos x="240" y="672"/>
                </a:cxn>
                <a:cxn ang="0">
                  <a:pos x="240" y="0"/>
                </a:cxn>
                <a:cxn ang="0">
                  <a:pos x="624" y="0"/>
                </a:cxn>
                <a:cxn ang="0">
                  <a:pos x="624" y="192"/>
                </a:cxn>
              </a:cxnLst>
              <a:rect l="txL" t="txT" r="txR" b="txB"/>
              <a:pathLst>
                <a:path w="624" h="672">
                  <a:moveTo>
                    <a:pt x="0" y="528"/>
                  </a:moveTo>
                  <a:lnTo>
                    <a:pt x="0" y="672"/>
                  </a:lnTo>
                  <a:lnTo>
                    <a:pt x="240" y="672"/>
                  </a:lnTo>
                  <a:lnTo>
                    <a:pt x="240" y="0"/>
                  </a:lnTo>
                  <a:lnTo>
                    <a:pt x="624" y="0"/>
                  </a:lnTo>
                  <a:lnTo>
                    <a:pt x="624" y="19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44" name="Line 36"/>
            <p:cNvSpPr/>
            <p:nvPr/>
          </p:nvSpPr>
          <p:spPr>
            <a:xfrm>
              <a:off x="1056" y="1114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45" name="Line 37"/>
            <p:cNvSpPr/>
            <p:nvPr/>
          </p:nvSpPr>
          <p:spPr>
            <a:xfrm>
              <a:off x="1680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46" name="Line 38"/>
            <p:cNvSpPr/>
            <p:nvPr/>
          </p:nvSpPr>
          <p:spPr>
            <a:xfrm>
              <a:off x="1824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47" name="Freeform 39"/>
            <p:cNvSpPr/>
            <p:nvPr/>
          </p:nvSpPr>
          <p:spPr>
            <a:xfrm>
              <a:off x="1968" y="1354"/>
              <a:ext cx="624" cy="672"/>
            </a:xfrm>
            <a:custGeom>
              <a:avLst/>
              <a:gdLst>
                <a:gd name="txL" fmla="*/ 0 w 624"/>
                <a:gd name="txT" fmla="*/ 0 h 672"/>
                <a:gd name="txR" fmla="*/ 624 w 624"/>
                <a:gd name="txB" fmla="*/ 672 h 672"/>
              </a:gdLst>
              <a:ahLst/>
              <a:cxnLst>
                <a:cxn ang="0">
                  <a:pos x="0" y="528"/>
                </a:cxn>
                <a:cxn ang="0">
                  <a:pos x="0" y="672"/>
                </a:cxn>
                <a:cxn ang="0">
                  <a:pos x="240" y="672"/>
                </a:cxn>
                <a:cxn ang="0">
                  <a:pos x="240" y="0"/>
                </a:cxn>
                <a:cxn ang="0">
                  <a:pos x="624" y="0"/>
                </a:cxn>
                <a:cxn ang="0">
                  <a:pos x="624" y="192"/>
                </a:cxn>
              </a:cxnLst>
              <a:rect l="txL" t="txT" r="txR" b="txB"/>
              <a:pathLst>
                <a:path w="624" h="672">
                  <a:moveTo>
                    <a:pt x="0" y="528"/>
                  </a:moveTo>
                  <a:lnTo>
                    <a:pt x="0" y="672"/>
                  </a:lnTo>
                  <a:lnTo>
                    <a:pt x="240" y="672"/>
                  </a:lnTo>
                  <a:lnTo>
                    <a:pt x="240" y="0"/>
                  </a:lnTo>
                  <a:lnTo>
                    <a:pt x="624" y="0"/>
                  </a:lnTo>
                  <a:lnTo>
                    <a:pt x="624" y="19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48" name="Line 40"/>
            <p:cNvSpPr/>
            <p:nvPr/>
          </p:nvSpPr>
          <p:spPr>
            <a:xfrm>
              <a:off x="1920" y="1114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49" name="Line 41"/>
            <p:cNvSpPr/>
            <p:nvPr/>
          </p:nvSpPr>
          <p:spPr>
            <a:xfrm>
              <a:off x="3840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50" name="Line 42"/>
            <p:cNvSpPr/>
            <p:nvPr/>
          </p:nvSpPr>
          <p:spPr>
            <a:xfrm>
              <a:off x="3984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51" name="Freeform 43"/>
            <p:cNvSpPr/>
            <p:nvPr/>
          </p:nvSpPr>
          <p:spPr>
            <a:xfrm>
              <a:off x="4128" y="1354"/>
              <a:ext cx="624" cy="672"/>
            </a:xfrm>
            <a:custGeom>
              <a:avLst/>
              <a:gdLst>
                <a:gd name="txL" fmla="*/ 0 w 624"/>
                <a:gd name="txT" fmla="*/ 0 h 672"/>
                <a:gd name="txR" fmla="*/ 624 w 624"/>
                <a:gd name="txB" fmla="*/ 672 h 672"/>
              </a:gdLst>
              <a:ahLst/>
              <a:cxnLst>
                <a:cxn ang="0">
                  <a:pos x="0" y="528"/>
                </a:cxn>
                <a:cxn ang="0">
                  <a:pos x="0" y="672"/>
                </a:cxn>
                <a:cxn ang="0">
                  <a:pos x="240" y="672"/>
                </a:cxn>
                <a:cxn ang="0">
                  <a:pos x="240" y="0"/>
                </a:cxn>
                <a:cxn ang="0">
                  <a:pos x="624" y="0"/>
                </a:cxn>
                <a:cxn ang="0">
                  <a:pos x="624" y="192"/>
                </a:cxn>
              </a:cxnLst>
              <a:rect l="txL" t="txT" r="txR" b="txB"/>
              <a:pathLst>
                <a:path w="624" h="672">
                  <a:moveTo>
                    <a:pt x="0" y="528"/>
                  </a:moveTo>
                  <a:lnTo>
                    <a:pt x="0" y="672"/>
                  </a:lnTo>
                  <a:lnTo>
                    <a:pt x="240" y="672"/>
                  </a:lnTo>
                  <a:lnTo>
                    <a:pt x="240" y="0"/>
                  </a:lnTo>
                  <a:lnTo>
                    <a:pt x="624" y="0"/>
                  </a:lnTo>
                  <a:lnTo>
                    <a:pt x="624" y="19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52" name="Line 44"/>
            <p:cNvSpPr/>
            <p:nvPr/>
          </p:nvSpPr>
          <p:spPr>
            <a:xfrm>
              <a:off x="4080" y="1114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53" name="Line 45"/>
            <p:cNvSpPr/>
            <p:nvPr/>
          </p:nvSpPr>
          <p:spPr>
            <a:xfrm>
              <a:off x="4800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54" name="Line 46"/>
            <p:cNvSpPr/>
            <p:nvPr/>
          </p:nvSpPr>
          <p:spPr>
            <a:xfrm>
              <a:off x="4944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55" name="Line 47"/>
            <p:cNvSpPr/>
            <p:nvPr/>
          </p:nvSpPr>
          <p:spPr>
            <a:xfrm>
              <a:off x="5040" y="1114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56" name="Freeform 48"/>
            <p:cNvSpPr/>
            <p:nvPr/>
          </p:nvSpPr>
          <p:spPr>
            <a:xfrm>
              <a:off x="5088" y="1882"/>
              <a:ext cx="288" cy="192"/>
            </a:xfrm>
            <a:custGeom>
              <a:avLst/>
              <a:gdLst>
                <a:gd name="txL" fmla="*/ 0 w 288"/>
                <a:gd name="txT" fmla="*/ 0 h 192"/>
                <a:gd name="txR" fmla="*/ 288 w 288"/>
                <a:gd name="txB" fmla="*/ 192 h 192"/>
              </a:gdLst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288" y="192"/>
                </a:cxn>
              </a:cxnLst>
              <a:rect l="txL" t="txT" r="txR" b="txB"/>
              <a:pathLst>
                <a:path w="288" h="192">
                  <a:moveTo>
                    <a:pt x="0" y="0"/>
                  </a:moveTo>
                  <a:lnTo>
                    <a:pt x="0" y="192"/>
                  </a:lnTo>
                  <a:lnTo>
                    <a:pt x="288" y="19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57" name="Freeform 49"/>
            <p:cNvSpPr/>
            <p:nvPr/>
          </p:nvSpPr>
          <p:spPr>
            <a:xfrm>
              <a:off x="3504" y="1354"/>
              <a:ext cx="336" cy="912"/>
            </a:xfrm>
            <a:custGeom>
              <a:avLst/>
              <a:gdLst>
                <a:gd name="txL" fmla="*/ 0 w 240"/>
                <a:gd name="txT" fmla="*/ 0 h 912"/>
                <a:gd name="txR" fmla="*/ 240 w 240"/>
                <a:gd name="txB" fmla="*/ 912 h 912"/>
              </a:gdLst>
              <a:ahLst/>
              <a:cxnLst>
                <a:cxn ang="0">
                  <a:pos x="240" y="192"/>
                </a:cxn>
                <a:cxn ang="0">
                  <a:pos x="240" y="0"/>
                </a:cxn>
                <a:cxn ang="0">
                  <a:pos x="0" y="0"/>
                </a:cxn>
                <a:cxn ang="0">
                  <a:pos x="0" y="912"/>
                </a:cxn>
              </a:cxnLst>
              <a:rect l="txL" t="txT" r="txR" b="txB"/>
              <a:pathLst>
                <a:path w="240" h="912">
                  <a:moveTo>
                    <a:pt x="240" y="192"/>
                  </a:moveTo>
                  <a:lnTo>
                    <a:pt x="240" y="0"/>
                  </a:lnTo>
                  <a:lnTo>
                    <a:pt x="0" y="0"/>
                  </a:lnTo>
                  <a:lnTo>
                    <a:pt x="0" y="91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58" name="Text Box 50"/>
            <p:cNvSpPr txBox="1"/>
            <p:nvPr/>
          </p:nvSpPr>
          <p:spPr>
            <a:xfrm>
              <a:off x="470" y="1097"/>
              <a:ext cx="28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59" name="Text Box 51"/>
            <p:cNvSpPr txBox="1"/>
            <p:nvPr/>
          </p:nvSpPr>
          <p:spPr>
            <a:xfrm>
              <a:off x="970" y="864"/>
              <a:ext cx="26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60" name="Text Box 52"/>
            <p:cNvSpPr txBox="1"/>
            <p:nvPr/>
          </p:nvSpPr>
          <p:spPr>
            <a:xfrm>
              <a:off x="1344" y="1097"/>
              <a:ext cx="36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61" name="Text Box 53"/>
            <p:cNvSpPr txBox="1"/>
            <p:nvPr/>
          </p:nvSpPr>
          <p:spPr>
            <a:xfrm>
              <a:off x="1776" y="864"/>
              <a:ext cx="34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62" name="Text Box 54"/>
            <p:cNvSpPr txBox="1"/>
            <p:nvPr/>
          </p:nvSpPr>
          <p:spPr>
            <a:xfrm>
              <a:off x="2219" y="1097"/>
              <a:ext cx="36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63" name="Text Box 55"/>
            <p:cNvSpPr txBox="1"/>
            <p:nvPr/>
          </p:nvSpPr>
          <p:spPr>
            <a:xfrm>
              <a:off x="2640" y="864"/>
              <a:ext cx="34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64" name="Line 56"/>
            <p:cNvSpPr/>
            <p:nvPr/>
          </p:nvSpPr>
          <p:spPr>
            <a:xfrm>
              <a:off x="2544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65" name="Line 57"/>
            <p:cNvSpPr/>
            <p:nvPr/>
          </p:nvSpPr>
          <p:spPr>
            <a:xfrm>
              <a:off x="2688" y="1882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66" name="Line 58"/>
            <p:cNvSpPr/>
            <p:nvPr/>
          </p:nvSpPr>
          <p:spPr>
            <a:xfrm>
              <a:off x="2784" y="1114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9667" name="Freeform 59"/>
            <p:cNvSpPr/>
            <p:nvPr/>
          </p:nvSpPr>
          <p:spPr>
            <a:xfrm>
              <a:off x="2832" y="1882"/>
              <a:ext cx="288" cy="192"/>
            </a:xfrm>
            <a:custGeom>
              <a:avLst/>
              <a:gdLst>
                <a:gd name="txL" fmla="*/ 0 w 288"/>
                <a:gd name="txT" fmla="*/ 0 h 192"/>
                <a:gd name="txR" fmla="*/ 288 w 288"/>
                <a:gd name="txB" fmla="*/ 192 h 192"/>
              </a:gdLst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288" y="192"/>
                </a:cxn>
              </a:cxnLst>
              <a:rect l="txL" t="txT" r="txR" b="txB"/>
              <a:pathLst>
                <a:path w="288" h="192">
                  <a:moveTo>
                    <a:pt x="0" y="0"/>
                  </a:moveTo>
                  <a:lnTo>
                    <a:pt x="0" y="192"/>
                  </a:lnTo>
                  <a:lnTo>
                    <a:pt x="288" y="19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9668" name="Text Box 60"/>
            <p:cNvSpPr txBox="1"/>
            <p:nvPr/>
          </p:nvSpPr>
          <p:spPr>
            <a:xfrm>
              <a:off x="2966" y="1572"/>
              <a:ext cx="37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800" b="1" dirty="0">
                  <a:latin typeface="Times New Roman" panose="02020603050405020304" pitchFamily="18" charset="0"/>
                </a:rPr>
                <a:t>　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9669" name="Text Box 61"/>
            <p:cNvSpPr txBox="1"/>
            <p:nvPr/>
          </p:nvSpPr>
          <p:spPr>
            <a:xfrm>
              <a:off x="3419" y="1097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0" name="Text Box 62"/>
            <p:cNvSpPr txBox="1"/>
            <p:nvPr/>
          </p:nvSpPr>
          <p:spPr>
            <a:xfrm>
              <a:off x="3919" y="864"/>
              <a:ext cx="2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1" name="Text Box 63"/>
            <p:cNvSpPr txBox="1"/>
            <p:nvPr/>
          </p:nvSpPr>
          <p:spPr>
            <a:xfrm>
              <a:off x="4331" y="1097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2" name="Text Box 64"/>
            <p:cNvSpPr txBox="1"/>
            <p:nvPr/>
          </p:nvSpPr>
          <p:spPr>
            <a:xfrm>
              <a:off x="4831" y="864"/>
              <a:ext cx="2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3" name="Text Box 65"/>
            <p:cNvSpPr txBox="1"/>
            <p:nvPr/>
          </p:nvSpPr>
          <p:spPr>
            <a:xfrm>
              <a:off x="5174" y="2083"/>
              <a:ext cx="30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4" name="Text Box 66"/>
            <p:cNvSpPr txBox="1"/>
            <p:nvPr/>
          </p:nvSpPr>
          <p:spPr>
            <a:xfrm>
              <a:off x="4673" y="221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5" name="Text Box 67"/>
            <p:cNvSpPr txBox="1"/>
            <p:nvPr/>
          </p:nvSpPr>
          <p:spPr>
            <a:xfrm>
              <a:off x="4896" y="221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6" name="Text Box 68"/>
            <p:cNvSpPr txBox="1"/>
            <p:nvPr/>
          </p:nvSpPr>
          <p:spPr>
            <a:xfrm>
              <a:off x="3678" y="2235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7" name="Text Box 69"/>
            <p:cNvSpPr txBox="1"/>
            <p:nvPr/>
          </p:nvSpPr>
          <p:spPr>
            <a:xfrm>
              <a:off x="3901" y="2235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8" name="Text Box 70"/>
            <p:cNvSpPr txBox="1"/>
            <p:nvPr/>
          </p:nvSpPr>
          <p:spPr>
            <a:xfrm>
              <a:off x="2352" y="2218"/>
              <a:ext cx="36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79" name="Text Box 71"/>
            <p:cNvSpPr txBox="1"/>
            <p:nvPr/>
          </p:nvSpPr>
          <p:spPr>
            <a:xfrm>
              <a:off x="2653" y="2218"/>
              <a:ext cx="36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80" name="Text Box 72"/>
            <p:cNvSpPr txBox="1"/>
            <p:nvPr/>
          </p:nvSpPr>
          <p:spPr>
            <a:xfrm>
              <a:off x="1488" y="2218"/>
              <a:ext cx="36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81" name="Text Box 73"/>
            <p:cNvSpPr txBox="1"/>
            <p:nvPr/>
          </p:nvSpPr>
          <p:spPr>
            <a:xfrm>
              <a:off x="1789" y="2218"/>
              <a:ext cx="36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82" name="Text Box 74"/>
            <p:cNvSpPr txBox="1"/>
            <p:nvPr/>
          </p:nvSpPr>
          <p:spPr>
            <a:xfrm>
              <a:off x="664" y="2256"/>
              <a:ext cx="28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39683" name="Text Box 75"/>
            <p:cNvSpPr txBox="1"/>
            <p:nvPr/>
          </p:nvSpPr>
          <p:spPr>
            <a:xfrm>
              <a:off x="887" y="2256"/>
              <a:ext cx="28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7228" name="Rectangle 7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9628" name="AutoShape 77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962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0642" name="Text Box 2"/>
          <p:cNvSpPr txBox="1"/>
          <p:nvPr/>
        </p:nvSpPr>
        <p:spPr>
          <a:xfrm>
            <a:off x="1752600" y="196850"/>
            <a:ext cx="45593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串行进位链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40643" name="Text Box 3"/>
          <p:cNvSpPr txBox="1"/>
          <p:nvPr/>
        </p:nvSpPr>
        <p:spPr>
          <a:xfrm>
            <a:off x="2651125" y="91440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进位链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44" name="Text Box 4"/>
          <p:cNvSpPr txBox="1"/>
          <p:nvPr/>
        </p:nvSpPr>
        <p:spPr>
          <a:xfrm>
            <a:off x="5087938" y="914400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传送进位的电路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45" name="Text Box 5"/>
          <p:cNvSpPr txBox="1"/>
          <p:nvPr/>
        </p:nvSpPr>
        <p:spPr>
          <a:xfrm>
            <a:off x="2651125" y="144780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串行进位链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46" name="Text Box 6"/>
          <p:cNvSpPr txBox="1"/>
          <p:nvPr/>
        </p:nvSpPr>
        <p:spPr>
          <a:xfrm>
            <a:off x="5087938" y="1447800"/>
            <a:ext cx="2316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进位串行传送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47" name="Text Box 7"/>
          <p:cNvSpPr txBox="1"/>
          <p:nvPr/>
        </p:nvSpPr>
        <p:spPr>
          <a:xfrm>
            <a:off x="2651125" y="2003425"/>
            <a:ext cx="6939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以 </a:t>
            </a:r>
            <a:r>
              <a:rPr lang="en-US" altLang="zh-CN" sz="2800" b="1" dirty="0"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latin typeface="Times New Roman" panose="02020603050405020304" pitchFamily="18" charset="0"/>
              </a:rPr>
              <a:t>位全加器为例，每一位的进位表达式为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40648" name="Text Box 8"/>
          <p:cNvSpPr txBox="1"/>
          <p:nvPr/>
        </p:nvSpPr>
        <p:spPr>
          <a:xfrm>
            <a:off x="2803525" y="2555875"/>
            <a:ext cx="2530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 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0649" name="Text Box 9"/>
          <p:cNvSpPr txBox="1"/>
          <p:nvPr/>
        </p:nvSpPr>
        <p:spPr>
          <a:xfrm>
            <a:off x="2803525" y="2979738"/>
            <a:ext cx="2378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0650" name="Text Box 10"/>
          <p:cNvSpPr txBox="1"/>
          <p:nvPr/>
        </p:nvSpPr>
        <p:spPr>
          <a:xfrm>
            <a:off x="2803525" y="3402013"/>
            <a:ext cx="2301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0651" name="Text Box 11"/>
          <p:cNvSpPr txBox="1"/>
          <p:nvPr/>
        </p:nvSpPr>
        <p:spPr>
          <a:xfrm>
            <a:off x="2803525" y="3824288"/>
            <a:ext cx="2378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40652" name="Group 12"/>
          <p:cNvGrpSpPr/>
          <p:nvPr/>
        </p:nvGrpSpPr>
        <p:grpSpPr>
          <a:xfrm>
            <a:off x="4749800" y="2590800"/>
            <a:ext cx="1692275" cy="522288"/>
            <a:chOff x="2032" y="1632"/>
            <a:chExt cx="1066" cy="329"/>
          </a:xfrm>
        </p:grpSpPr>
        <p:sp>
          <p:nvSpPr>
            <p:cNvPr id="240738" name="Text Box 13"/>
            <p:cNvSpPr txBox="1"/>
            <p:nvPr/>
          </p:nvSpPr>
          <p:spPr>
            <a:xfrm>
              <a:off x="2032" y="1632"/>
              <a:ext cx="101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 </a:t>
              </a:r>
              <a:r>
                <a:rPr lang="en-US" altLang="zh-CN" sz="14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0739" name="Line 14"/>
            <p:cNvSpPr/>
            <p:nvPr/>
          </p:nvSpPr>
          <p:spPr>
            <a:xfrm>
              <a:off x="2234" y="1686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40740" name="Line 15"/>
            <p:cNvSpPr/>
            <p:nvPr/>
          </p:nvSpPr>
          <p:spPr>
            <a:xfrm>
              <a:off x="2592" y="1686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40741" name="Line 16"/>
            <p:cNvSpPr/>
            <p:nvPr/>
          </p:nvSpPr>
          <p:spPr>
            <a:xfrm>
              <a:off x="2234" y="1638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40653" name="Text Box 17"/>
          <p:cNvSpPr txBox="1"/>
          <p:nvPr/>
        </p:nvSpPr>
        <p:spPr>
          <a:xfrm>
            <a:off x="2879725" y="5913438"/>
            <a:ext cx="580707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4</a:t>
            </a:r>
            <a:r>
              <a:rPr lang="en-US" altLang="zh-CN" sz="9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 </a:t>
            </a:r>
            <a:r>
              <a:rPr lang="zh-CN" altLang="en-US" sz="2000" b="1" dirty="0">
                <a:latin typeface="Times New Roman" panose="02020603050405020304" pitchFamily="18" charset="0"/>
              </a:rPr>
              <a:t>全加器产生进位的全部时间为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endParaRPr lang="en-US" altLang="zh-CN" sz="2000" b="1" i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54" name="Text Box 18"/>
          <p:cNvSpPr txBox="1"/>
          <p:nvPr/>
        </p:nvSpPr>
        <p:spPr>
          <a:xfrm>
            <a:off x="2951163" y="6373813"/>
            <a:ext cx="6192837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位全加器产生进位的全部时间为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nt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endParaRPr lang="en-US" altLang="zh-CN" sz="2000" b="1" i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0655" name="Group 19"/>
          <p:cNvGrpSpPr/>
          <p:nvPr/>
        </p:nvGrpSpPr>
        <p:grpSpPr>
          <a:xfrm>
            <a:off x="1905000" y="4267200"/>
            <a:ext cx="8345488" cy="1589088"/>
            <a:chOff x="240" y="2688"/>
            <a:chExt cx="5257" cy="1001"/>
          </a:xfrm>
        </p:grpSpPr>
        <p:grpSp>
          <p:nvGrpSpPr>
            <p:cNvPr id="240660" name="Group 20"/>
            <p:cNvGrpSpPr/>
            <p:nvPr/>
          </p:nvGrpSpPr>
          <p:grpSpPr>
            <a:xfrm>
              <a:off x="537" y="2958"/>
              <a:ext cx="302" cy="432"/>
              <a:chOff x="1152" y="3264"/>
              <a:chExt cx="302" cy="432"/>
            </a:xfrm>
          </p:grpSpPr>
          <p:grpSp>
            <p:nvGrpSpPr>
              <p:cNvPr id="240734" name="Group 21"/>
              <p:cNvGrpSpPr/>
              <p:nvPr/>
            </p:nvGrpSpPr>
            <p:grpSpPr>
              <a:xfrm>
                <a:off x="1190" y="3264"/>
                <a:ext cx="264" cy="432"/>
                <a:chOff x="1190" y="3264"/>
                <a:chExt cx="264" cy="432"/>
              </a:xfrm>
            </p:grpSpPr>
            <p:sp>
              <p:nvSpPr>
                <p:cNvPr id="240736" name="Text Box 22"/>
                <p:cNvSpPr txBox="1"/>
                <p:nvPr/>
              </p:nvSpPr>
              <p:spPr>
                <a:xfrm>
                  <a:off x="1190" y="3338"/>
                  <a:ext cx="26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0737" name="Rectangle 23"/>
                <p:cNvSpPr/>
                <p:nvPr/>
              </p:nvSpPr>
              <p:spPr>
                <a:xfrm>
                  <a:off x="1200" y="3264"/>
                  <a:ext cx="240" cy="43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0735" name="Oval 24"/>
              <p:cNvSpPr/>
              <p:nvPr/>
            </p:nvSpPr>
            <p:spPr>
              <a:xfrm>
                <a:off x="1152" y="345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0661" name="Group 25"/>
            <p:cNvGrpSpPr/>
            <p:nvPr/>
          </p:nvGrpSpPr>
          <p:grpSpPr>
            <a:xfrm>
              <a:off x="1065" y="2836"/>
              <a:ext cx="302" cy="432"/>
              <a:chOff x="1152" y="3264"/>
              <a:chExt cx="302" cy="432"/>
            </a:xfrm>
          </p:grpSpPr>
          <p:grpSp>
            <p:nvGrpSpPr>
              <p:cNvPr id="240730" name="Group 26"/>
              <p:cNvGrpSpPr/>
              <p:nvPr/>
            </p:nvGrpSpPr>
            <p:grpSpPr>
              <a:xfrm>
                <a:off x="1190" y="3264"/>
                <a:ext cx="264" cy="432"/>
                <a:chOff x="1190" y="3264"/>
                <a:chExt cx="264" cy="432"/>
              </a:xfrm>
            </p:grpSpPr>
            <p:sp>
              <p:nvSpPr>
                <p:cNvPr id="240732" name="Text Box 27"/>
                <p:cNvSpPr txBox="1"/>
                <p:nvPr/>
              </p:nvSpPr>
              <p:spPr>
                <a:xfrm>
                  <a:off x="1190" y="3338"/>
                  <a:ext cx="26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0733" name="Rectangle 28"/>
                <p:cNvSpPr/>
                <p:nvPr/>
              </p:nvSpPr>
              <p:spPr>
                <a:xfrm>
                  <a:off x="1200" y="3264"/>
                  <a:ext cx="240" cy="43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0731" name="Oval 29"/>
              <p:cNvSpPr/>
              <p:nvPr/>
            </p:nvSpPr>
            <p:spPr>
              <a:xfrm>
                <a:off x="1152" y="345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0662" name="Freeform 30"/>
            <p:cNvSpPr/>
            <p:nvPr/>
          </p:nvSpPr>
          <p:spPr>
            <a:xfrm>
              <a:off x="288" y="3177"/>
              <a:ext cx="252" cy="3"/>
            </a:xfrm>
            <a:custGeom>
              <a:avLst/>
              <a:gdLst>
                <a:gd name="txL" fmla="*/ 0 w 252"/>
                <a:gd name="txT" fmla="*/ 0 h 3"/>
                <a:gd name="txR" fmla="*/ 252 w 252"/>
                <a:gd name="txB" fmla="*/ 3 h 3"/>
              </a:gdLst>
              <a:ahLst/>
              <a:cxnLst>
                <a:cxn ang="0">
                  <a:pos x="252" y="0"/>
                </a:cxn>
                <a:cxn ang="0">
                  <a:pos x="0" y="3"/>
                </a:cxn>
              </a:cxnLst>
              <a:rect l="txL" t="txT" r="txR" b="txB"/>
              <a:pathLst>
                <a:path w="252" h="3">
                  <a:moveTo>
                    <a:pt x="252" y="0"/>
                  </a:moveTo>
                  <a:lnTo>
                    <a:pt x="0" y="3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0663" name="Line 31"/>
            <p:cNvSpPr/>
            <p:nvPr/>
          </p:nvSpPr>
          <p:spPr>
            <a:xfrm>
              <a:off x="825" y="305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40664" name="Freeform 32"/>
            <p:cNvSpPr/>
            <p:nvPr/>
          </p:nvSpPr>
          <p:spPr>
            <a:xfrm>
              <a:off x="825" y="3294"/>
              <a:ext cx="144" cy="144"/>
            </a:xfrm>
            <a:custGeom>
              <a:avLst/>
              <a:gdLst>
                <a:gd name="txL" fmla="*/ 0 w 144"/>
                <a:gd name="txT" fmla="*/ 0 h 144"/>
                <a:gd name="txR" fmla="*/ 144 w 144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144"/>
                </a:cxn>
              </a:cxnLst>
              <a:rect l="txL" t="txT" r="txR" b="txB"/>
              <a:pathLst>
                <a:path w="144" h="144">
                  <a:moveTo>
                    <a:pt x="0" y="0"/>
                  </a:moveTo>
                  <a:lnTo>
                    <a:pt x="144" y="0"/>
                  </a:lnTo>
                  <a:lnTo>
                    <a:pt x="144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40665" name="Group 33"/>
            <p:cNvGrpSpPr/>
            <p:nvPr/>
          </p:nvGrpSpPr>
          <p:grpSpPr>
            <a:xfrm>
              <a:off x="1807" y="2958"/>
              <a:ext cx="302" cy="432"/>
              <a:chOff x="1152" y="3264"/>
              <a:chExt cx="302" cy="432"/>
            </a:xfrm>
          </p:grpSpPr>
          <p:grpSp>
            <p:nvGrpSpPr>
              <p:cNvPr id="240726" name="Group 34"/>
              <p:cNvGrpSpPr/>
              <p:nvPr/>
            </p:nvGrpSpPr>
            <p:grpSpPr>
              <a:xfrm>
                <a:off x="1190" y="3264"/>
                <a:ext cx="264" cy="432"/>
                <a:chOff x="1190" y="3264"/>
                <a:chExt cx="264" cy="432"/>
              </a:xfrm>
            </p:grpSpPr>
            <p:sp>
              <p:nvSpPr>
                <p:cNvPr id="240728" name="Text Box 35"/>
                <p:cNvSpPr txBox="1"/>
                <p:nvPr/>
              </p:nvSpPr>
              <p:spPr>
                <a:xfrm>
                  <a:off x="1190" y="3338"/>
                  <a:ext cx="26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0729" name="Rectangle 36"/>
                <p:cNvSpPr/>
                <p:nvPr/>
              </p:nvSpPr>
              <p:spPr>
                <a:xfrm>
                  <a:off x="1200" y="3264"/>
                  <a:ext cx="240" cy="43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0727" name="Oval 37"/>
              <p:cNvSpPr/>
              <p:nvPr/>
            </p:nvSpPr>
            <p:spPr>
              <a:xfrm>
                <a:off x="1152" y="345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0666" name="Group 38"/>
            <p:cNvGrpSpPr/>
            <p:nvPr/>
          </p:nvGrpSpPr>
          <p:grpSpPr>
            <a:xfrm>
              <a:off x="2335" y="2836"/>
              <a:ext cx="302" cy="432"/>
              <a:chOff x="1152" y="3264"/>
              <a:chExt cx="302" cy="432"/>
            </a:xfrm>
          </p:grpSpPr>
          <p:grpSp>
            <p:nvGrpSpPr>
              <p:cNvPr id="240722" name="Group 39"/>
              <p:cNvGrpSpPr/>
              <p:nvPr/>
            </p:nvGrpSpPr>
            <p:grpSpPr>
              <a:xfrm>
                <a:off x="1190" y="3264"/>
                <a:ext cx="264" cy="432"/>
                <a:chOff x="1190" y="3264"/>
                <a:chExt cx="264" cy="432"/>
              </a:xfrm>
            </p:grpSpPr>
            <p:sp>
              <p:nvSpPr>
                <p:cNvPr id="240724" name="Text Box 40"/>
                <p:cNvSpPr txBox="1"/>
                <p:nvPr/>
              </p:nvSpPr>
              <p:spPr>
                <a:xfrm>
                  <a:off x="1190" y="3338"/>
                  <a:ext cx="26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0725" name="Rectangle 41"/>
                <p:cNvSpPr/>
                <p:nvPr/>
              </p:nvSpPr>
              <p:spPr>
                <a:xfrm>
                  <a:off x="1200" y="3264"/>
                  <a:ext cx="240" cy="43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0723" name="Oval 42"/>
              <p:cNvSpPr/>
              <p:nvPr/>
            </p:nvSpPr>
            <p:spPr>
              <a:xfrm>
                <a:off x="1152" y="345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0667" name="Line 43"/>
            <p:cNvSpPr/>
            <p:nvPr/>
          </p:nvSpPr>
          <p:spPr>
            <a:xfrm>
              <a:off x="2095" y="305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40668" name="Freeform 44"/>
            <p:cNvSpPr/>
            <p:nvPr/>
          </p:nvSpPr>
          <p:spPr>
            <a:xfrm>
              <a:off x="2095" y="3294"/>
              <a:ext cx="144" cy="144"/>
            </a:xfrm>
            <a:custGeom>
              <a:avLst/>
              <a:gdLst>
                <a:gd name="txL" fmla="*/ 0 w 144"/>
                <a:gd name="txT" fmla="*/ 0 h 144"/>
                <a:gd name="txR" fmla="*/ 144 w 144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144"/>
                </a:cxn>
              </a:cxnLst>
              <a:rect l="txL" t="txT" r="txR" b="txB"/>
              <a:pathLst>
                <a:path w="144" h="144">
                  <a:moveTo>
                    <a:pt x="0" y="0"/>
                  </a:moveTo>
                  <a:lnTo>
                    <a:pt x="144" y="0"/>
                  </a:lnTo>
                  <a:lnTo>
                    <a:pt x="144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0669" name="Freeform 45"/>
            <p:cNvSpPr/>
            <p:nvPr/>
          </p:nvSpPr>
          <p:spPr>
            <a:xfrm>
              <a:off x="1353" y="3150"/>
              <a:ext cx="135" cy="306"/>
            </a:xfrm>
            <a:custGeom>
              <a:avLst/>
              <a:gdLst>
                <a:gd name="txL" fmla="*/ 0 w 144"/>
                <a:gd name="txT" fmla="*/ 0 h 144"/>
                <a:gd name="txR" fmla="*/ 144 w 144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144"/>
                </a:cxn>
              </a:cxnLst>
              <a:rect l="txL" t="txT" r="txR" b="txB"/>
              <a:pathLst>
                <a:path w="144" h="144">
                  <a:moveTo>
                    <a:pt x="0" y="0"/>
                  </a:moveTo>
                  <a:lnTo>
                    <a:pt x="144" y="0"/>
                  </a:lnTo>
                  <a:lnTo>
                    <a:pt x="144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0670" name="Freeform 46"/>
            <p:cNvSpPr/>
            <p:nvPr/>
          </p:nvSpPr>
          <p:spPr>
            <a:xfrm>
              <a:off x="1353" y="2943"/>
              <a:ext cx="459" cy="237"/>
            </a:xfrm>
            <a:custGeom>
              <a:avLst/>
              <a:gdLst>
                <a:gd name="txL" fmla="*/ 0 w 459"/>
                <a:gd name="txT" fmla="*/ 0 h 237"/>
                <a:gd name="txR" fmla="*/ 459 w 459"/>
                <a:gd name="txB" fmla="*/ 237 h 237"/>
              </a:gdLst>
              <a:ahLst/>
              <a:cxnLst>
                <a:cxn ang="0">
                  <a:pos x="0" y="0"/>
                </a:cxn>
                <a:cxn ang="0">
                  <a:pos x="285" y="0"/>
                </a:cxn>
                <a:cxn ang="0">
                  <a:pos x="285" y="237"/>
                </a:cxn>
                <a:cxn ang="0">
                  <a:pos x="459" y="237"/>
                </a:cxn>
              </a:cxnLst>
              <a:rect l="txL" t="txT" r="txR" b="txB"/>
              <a:pathLst>
                <a:path w="459" h="237">
                  <a:moveTo>
                    <a:pt x="0" y="0"/>
                  </a:moveTo>
                  <a:lnTo>
                    <a:pt x="285" y="0"/>
                  </a:lnTo>
                  <a:lnTo>
                    <a:pt x="285" y="237"/>
                  </a:lnTo>
                  <a:lnTo>
                    <a:pt x="459" y="23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0671" name="Freeform 47"/>
            <p:cNvSpPr/>
            <p:nvPr/>
          </p:nvSpPr>
          <p:spPr>
            <a:xfrm>
              <a:off x="2622" y="2943"/>
              <a:ext cx="459" cy="237"/>
            </a:xfrm>
            <a:custGeom>
              <a:avLst/>
              <a:gdLst>
                <a:gd name="txL" fmla="*/ 0 w 459"/>
                <a:gd name="txT" fmla="*/ 0 h 237"/>
                <a:gd name="txR" fmla="*/ 459 w 459"/>
                <a:gd name="txB" fmla="*/ 237 h 237"/>
              </a:gdLst>
              <a:ahLst/>
              <a:cxnLst>
                <a:cxn ang="0">
                  <a:pos x="0" y="0"/>
                </a:cxn>
                <a:cxn ang="0">
                  <a:pos x="285" y="0"/>
                </a:cxn>
                <a:cxn ang="0">
                  <a:pos x="285" y="237"/>
                </a:cxn>
                <a:cxn ang="0">
                  <a:pos x="459" y="237"/>
                </a:cxn>
              </a:cxnLst>
              <a:rect l="txL" t="txT" r="txR" b="txB"/>
              <a:pathLst>
                <a:path w="459" h="237">
                  <a:moveTo>
                    <a:pt x="0" y="0"/>
                  </a:moveTo>
                  <a:lnTo>
                    <a:pt x="285" y="0"/>
                  </a:lnTo>
                  <a:lnTo>
                    <a:pt x="285" y="237"/>
                  </a:lnTo>
                  <a:lnTo>
                    <a:pt x="459" y="23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40672" name="Group 48"/>
            <p:cNvGrpSpPr/>
            <p:nvPr/>
          </p:nvGrpSpPr>
          <p:grpSpPr>
            <a:xfrm>
              <a:off x="3081" y="2958"/>
              <a:ext cx="302" cy="432"/>
              <a:chOff x="1152" y="3264"/>
              <a:chExt cx="302" cy="432"/>
            </a:xfrm>
          </p:grpSpPr>
          <p:grpSp>
            <p:nvGrpSpPr>
              <p:cNvPr id="240718" name="Group 49"/>
              <p:cNvGrpSpPr/>
              <p:nvPr/>
            </p:nvGrpSpPr>
            <p:grpSpPr>
              <a:xfrm>
                <a:off x="1190" y="3264"/>
                <a:ext cx="264" cy="432"/>
                <a:chOff x="1190" y="3264"/>
                <a:chExt cx="264" cy="432"/>
              </a:xfrm>
            </p:grpSpPr>
            <p:sp>
              <p:nvSpPr>
                <p:cNvPr id="240720" name="Text Box 50"/>
                <p:cNvSpPr txBox="1"/>
                <p:nvPr/>
              </p:nvSpPr>
              <p:spPr>
                <a:xfrm>
                  <a:off x="1190" y="3338"/>
                  <a:ext cx="26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0721" name="Rectangle 51"/>
                <p:cNvSpPr/>
                <p:nvPr/>
              </p:nvSpPr>
              <p:spPr>
                <a:xfrm>
                  <a:off x="1200" y="3264"/>
                  <a:ext cx="240" cy="43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0719" name="Oval 52"/>
              <p:cNvSpPr/>
              <p:nvPr/>
            </p:nvSpPr>
            <p:spPr>
              <a:xfrm>
                <a:off x="1152" y="345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0673" name="Group 53"/>
            <p:cNvGrpSpPr/>
            <p:nvPr/>
          </p:nvGrpSpPr>
          <p:grpSpPr>
            <a:xfrm>
              <a:off x="3609" y="2836"/>
              <a:ext cx="302" cy="432"/>
              <a:chOff x="1152" y="3264"/>
              <a:chExt cx="302" cy="432"/>
            </a:xfrm>
          </p:grpSpPr>
          <p:grpSp>
            <p:nvGrpSpPr>
              <p:cNvPr id="240714" name="Group 54"/>
              <p:cNvGrpSpPr/>
              <p:nvPr/>
            </p:nvGrpSpPr>
            <p:grpSpPr>
              <a:xfrm>
                <a:off x="1190" y="3264"/>
                <a:ext cx="264" cy="432"/>
                <a:chOff x="1190" y="3264"/>
                <a:chExt cx="264" cy="432"/>
              </a:xfrm>
            </p:grpSpPr>
            <p:sp>
              <p:nvSpPr>
                <p:cNvPr id="240716" name="Text Box 55"/>
                <p:cNvSpPr txBox="1"/>
                <p:nvPr/>
              </p:nvSpPr>
              <p:spPr>
                <a:xfrm>
                  <a:off x="1190" y="3338"/>
                  <a:ext cx="26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0717" name="Rectangle 56"/>
                <p:cNvSpPr/>
                <p:nvPr/>
              </p:nvSpPr>
              <p:spPr>
                <a:xfrm>
                  <a:off x="1200" y="3264"/>
                  <a:ext cx="240" cy="43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0715" name="Oval 57"/>
              <p:cNvSpPr/>
              <p:nvPr/>
            </p:nvSpPr>
            <p:spPr>
              <a:xfrm>
                <a:off x="1152" y="345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0674" name="Line 58"/>
            <p:cNvSpPr/>
            <p:nvPr/>
          </p:nvSpPr>
          <p:spPr>
            <a:xfrm>
              <a:off x="3369" y="305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40675" name="Freeform 59"/>
            <p:cNvSpPr/>
            <p:nvPr/>
          </p:nvSpPr>
          <p:spPr>
            <a:xfrm>
              <a:off x="3896" y="2943"/>
              <a:ext cx="459" cy="237"/>
            </a:xfrm>
            <a:custGeom>
              <a:avLst/>
              <a:gdLst>
                <a:gd name="txL" fmla="*/ 0 w 459"/>
                <a:gd name="txT" fmla="*/ 0 h 237"/>
                <a:gd name="txR" fmla="*/ 459 w 459"/>
                <a:gd name="txB" fmla="*/ 237 h 237"/>
              </a:gdLst>
              <a:ahLst/>
              <a:cxnLst>
                <a:cxn ang="0">
                  <a:pos x="0" y="0"/>
                </a:cxn>
                <a:cxn ang="0">
                  <a:pos x="285" y="0"/>
                </a:cxn>
                <a:cxn ang="0">
                  <a:pos x="285" y="237"/>
                </a:cxn>
                <a:cxn ang="0">
                  <a:pos x="459" y="237"/>
                </a:cxn>
              </a:cxnLst>
              <a:rect l="txL" t="txT" r="txR" b="txB"/>
              <a:pathLst>
                <a:path w="459" h="237">
                  <a:moveTo>
                    <a:pt x="0" y="0"/>
                  </a:moveTo>
                  <a:lnTo>
                    <a:pt x="285" y="0"/>
                  </a:lnTo>
                  <a:lnTo>
                    <a:pt x="285" y="237"/>
                  </a:lnTo>
                  <a:lnTo>
                    <a:pt x="459" y="23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40676" name="Group 60"/>
            <p:cNvGrpSpPr/>
            <p:nvPr/>
          </p:nvGrpSpPr>
          <p:grpSpPr>
            <a:xfrm>
              <a:off x="4351" y="2958"/>
              <a:ext cx="302" cy="432"/>
              <a:chOff x="1152" y="3264"/>
              <a:chExt cx="302" cy="432"/>
            </a:xfrm>
          </p:grpSpPr>
          <p:grpSp>
            <p:nvGrpSpPr>
              <p:cNvPr id="240710" name="Group 61"/>
              <p:cNvGrpSpPr/>
              <p:nvPr/>
            </p:nvGrpSpPr>
            <p:grpSpPr>
              <a:xfrm>
                <a:off x="1190" y="3264"/>
                <a:ext cx="264" cy="432"/>
                <a:chOff x="1190" y="3264"/>
                <a:chExt cx="264" cy="432"/>
              </a:xfrm>
            </p:grpSpPr>
            <p:sp>
              <p:nvSpPr>
                <p:cNvPr id="240712" name="Text Box 62"/>
                <p:cNvSpPr txBox="1"/>
                <p:nvPr/>
              </p:nvSpPr>
              <p:spPr>
                <a:xfrm>
                  <a:off x="1190" y="3338"/>
                  <a:ext cx="26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0713" name="Rectangle 63"/>
                <p:cNvSpPr/>
                <p:nvPr/>
              </p:nvSpPr>
              <p:spPr>
                <a:xfrm>
                  <a:off x="1200" y="3264"/>
                  <a:ext cx="240" cy="43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0711" name="Oval 64"/>
              <p:cNvSpPr/>
              <p:nvPr/>
            </p:nvSpPr>
            <p:spPr>
              <a:xfrm>
                <a:off x="1152" y="345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0677" name="Group 65"/>
            <p:cNvGrpSpPr/>
            <p:nvPr/>
          </p:nvGrpSpPr>
          <p:grpSpPr>
            <a:xfrm>
              <a:off x="4879" y="2836"/>
              <a:ext cx="302" cy="432"/>
              <a:chOff x="1152" y="3264"/>
              <a:chExt cx="302" cy="432"/>
            </a:xfrm>
          </p:grpSpPr>
          <p:grpSp>
            <p:nvGrpSpPr>
              <p:cNvPr id="240706" name="Group 66"/>
              <p:cNvGrpSpPr/>
              <p:nvPr/>
            </p:nvGrpSpPr>
            <p:grpSpPr>
              <a:xfrm>
                <a:off x="1190" y="3264"/>
                <a:ext cx="264" cy="432"/>
                <a:chOff x="1190" y="3264"/>
                <a:chExt cx="264" cy="432"/>
              </a:xfrm>
            </p:grpSpPr>
            <p:sp>
              <p:nvSpPr>
                <p:cNvPr id="240708" name="Text Box 67"/>
                <p:cNvSpPr txBox="1"/>
                <p:nvPr/>
              </p:nvSpPr>
              <p:spPr>
                <a:xfrm>
                  <a:off x="1190" y="3338"/>
                  <a:ext cx="26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&amp;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0709" name="Rectangle 68"/>
                <p:cNvSpPr/>
                <p:nvPr/>
              </p:nvSpPr>
              <p:spPr>
                <a:xfrm>
                  <a:off x="1200" y="3264"/>
                  <a:ext cx="240" cy="432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0707" name="Oval 69"/>
              <p:cNvSpPr/>
              <p:nvPr/>
            </p:nvSpPr>
            <p:spPr>
              <a:xfrm>
                <a:off x="1152" y="345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800" b="1" i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0678" name="Line 70"/>
            <p:cNvSpPr/>
            <p:nvPr/>
          </p:nvSpPr>
          <p:spPr>
            <a:xfrm>
              <a:off x="4639" y="305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40679" name="Line 71"/>
            <p:cNvSpPr/>
            <p:nvPr/>
          </p:nvSpPr>
          <p:spPr>
            <a:xfrm>
              <a:off x="5175" y="295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40680" name="Text Box 72"/>
            <p:cNvSpPr txBox="1"/>
            <p:nvPr/>
          </p:nvSpPr>
          <p:spPr>
            <a:xfrm>
              <a:off x="240" y="291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0681" name="Text Box 73"/>
            <p:cNvSpPr txBox="1"/>
            <p:nvPr/>
          </p:nvSpPr>
          <p:spPr>
            <a:xfrm>
              <a:off x="1423" y="3438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0682" name="Text Box 74"/>
            <p:cNvSpPr txBox="1"/>
            <p:nvPr/>
          </p:nvSpPr>
          <p:spPr>
            <a:xfrm>
              <a:off x="2688" y="3438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0683" name="Text Box 75"/>
            <p:cNvSpPr txBox="1"/>
            <p:nvPr/>
          </p:nvSpPr>
          <p:spPr>
            <a:xfrm>
              <a:off x="3984" y="3438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0684" name="Text Box 76"/>
            <p:cNvSpPr txBox="1"/>
            <p:nvPr/>
          </p:nvSpPr>
          <p:spPr>
            <a:xfrm>
              <a:off x="5232" y="3438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0685" name="Text Box 77"/>
            <p:cNvSpPr txBox="1"/>
            <p:nvPr/>
          </p:nvSpPr>
          <p:spPr>
            <a:xfrm>
              <a:off x="1392" y="268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i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0686" name="Text Box 78"/>
            <p:cNvSpPr txBox="1"/>
            <p:nvPr/>
          </p:nvSpPr>
          <p:spPr>
            <a:xfrm>
              <a:off x="2644" y="269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0687" name="Text Box 79"/>
            <p:cNvSpPr txBox="1"/>
            <p:nvPr/>
          </p:nvSpPr>
          <p:spPr>
            <a:xfrm>
              <a:off x="3892" y="269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0688" name="Text Box 80"/>
            <p:cNvSpPr txBox="1"/>
            <p:nvPr/>
          </p:nvSpPr>
          <p:spPr>
            <a:xfrm>
              <a:off x="5188" y="2698"/>
              <a:ext cx="30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40689" name="Group 81"/>
            <p:cNvGrpSpPr/>
            <p:nvPr/>
          </p:nvGrpSpPr>
          <p:grpSpPr>
            <a:xfrm>
              <a:off x="912" y="3428"/>
              <a:ext cx="247" cy="251"/>
              <a:chOff x="943" y="3782"/>
              <a:chExt cx="247" cy="251"/>
            </a:xfrm>
          </p:grpSpPr>
          <p:sp>
            <p:nvSpPr>
              <p:cNvPr id="240704" name="Text Box 82"/>
              <p:cNvSpPr txBox="1"/>
              <p:nvPr/>
            </p:nvSpPr>
            <p:spPr>
              <a:xfrm>
                <a:off x="943" y="3782"/>
                <a:ext cx="247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0705" name="Line 83"/>
              <p:cNvSpPr/>
              <p:nvPr/>
            </p:nvSpPr>
            <p:spPr>
              <a:xfrm>
                <a:off x="981" y="3830"/>
                <a:ext cx="1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40690" name="Group 84"/>
            <p:cNvGrpSpPr/>
            <p:nvPr/>
          </p:nvGrpSpPr>
          <p:grpSpPr>
            <a:xfrm>
              <a:off x="2143" y="3438"/>
              <a:ext cx="247" cy="251"/>
              <a:chOff x="943" y="3782"/>
              <a:chExt cx="247" cy="251"/>
            </a:xfrm>
          </p:grpSpPr>
          <p:sp>
            <p:nvSpPr>
              <p:cNvPr id="240702" name="Text Box 85"/>
              <p:cNvSpPr txBox="1"/>
              <p:nvPr/>
            </p:nvSpPr>
            <p:spPr>
              <a:xfrm>
                <a:off x="943" y="3782"/>
                <a:ext cx="247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0703" name="Line 86"/>
              <p:cNvSpPr/>
              <p:nvPr/>
            </p:nvSpPr>
            <p:spPr>
              <a:xfrm>
                <a:off x="981" y="3830"/>
                <a:ext cx="1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40691" name="Group 87"/>
            <p:cNvGrpSpPr/>
            <p:nvPr/>
          </p:nvGrpSpPr>
          <p:grpSpPr>
            <a:xfrm>
              <a:off x="3391" y="3438"/>
              <a:ext cx="247" cy="251"/>
              <a:chOff x="943" y="3782"/>
              <a:chExt cx="247" cy="251"/>
            </a:xfrm>
          </p:grpSpPr>
          <p:sp>
            <p:nvSpPr>
              <p:cNvPr id="240700" name="Text Box 88"/>
              <p:cNvSpPr txBox="1"/>
              <p:nvPr/>
            </p:nvSpPr>
            <p:spPr>
              <a:xfrm>
                <a:off x="943" y="3782"/>
                <a:ext cx="247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0701" name="Line 89"/>
              <p:cNvSpPr/>
              <p:nvPr/>
            </p:nvSpPr>
            <p:spPr>
              <a:xfrm>
                <a:off x="981" y="3830"/>
                <a:ext cx="1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40692" name="Group 90"/>
            <p:cNvGrpSpPr/>
            <p:nvPr/>
          </p:nvGrpSpPr>
          <p:grpSpPr>
            <a:xfrm>
              <a:off x="4656" y="3438"/>
              <a:ext cx="247" cy="251"/>
              <a:chOff x="943" y="3782"/>
              <a:chExt cx="247" cy="251"/>
            </a:xfrm>
          </p:grpSpPr>
          <p:sp>
            <p:nvSpPr>
              <p:cNvPr id="240698" name="Text Box 91"/>
              <p:cNvSpPr txBox="1"/>
              <p:nvPr/>
            </p:nvSpPr>
            <p:spPr>
              <a:xfrm>
                <a:off x="943" y="3782"/>
                <a:ext cx="247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0699" name="Line 92"/>
              <p:cNvSpPr/>
              <p:nvPr/>
            </p:nvSpPr>
            <p:spPr>
              <a:xfrm>
                <a:off x="981" y="3830"/>
                <a:ext cx="1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240693" name="Freeform 93"/>
            <p:cNvSpPr/>
            <p:nvPr/>
          </p:nvSpPr>
          <p:spPr>
            <a:xfrm>
              <a:off x="2631" y="3168"/>
              <a:ext cx="135" cy="306"/>
            </a:xfrm>
            <a:custGeom>
              <a:avLst/>
              <a:gdLst>
                <a:gd name="txL" fmla="*/ 0 w 144"/>
                <a:gd name="txT" fmla="*/ 0 h 144"/>
                <a:gd name="txR" fmla="*/ 144 w 144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144"/>
                </a:cxn>
              </a:cxnLst>
              <a:rect l="txL" t="txT" r="txR" b="txB"/>
              <a:pathLst>
                <a:path w="144" h="144">
                  <a:moveTo>
                    <a:pt x="0" y="0"/>
                  </a:moveTo>
                  <a:lnTo>
                    <a:pt x="144" y="0"/>
                  </a:lnTo>
                  <a:lnTo>
                    <a:pt x="144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0694" name="Freeform 94"/>
            <p:cNvSpPr/>
            <p:nvPr/>
          </p:nvSpPr>
          <p:spPr>
            <a:xfrm>
              <a:off x="3897" y="3168"/>
              <a:ext cx="135" cy="306"/>
            </a:xfrm>
            <a:custGeom>
              <a:avLst/>
              <a:gdLst>
                <a:gd name="txL" fmla="*/ 0 w 144"/>
                <a:gd name="txT" fmla="*/ 0 h 144"/>
                <a:gd name="txR" fmla="*/ 144 w 144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144"/>
                </a:cxn>
              </a:cxnLst>
              <a:rect l="txL" t="txT" r="txR" b="txB"/>
              <a:pathLst>
                <a:path w="144" h="144">
                  <a:moveTo>
                    <a:pt x="0" y="0"/>
                  </a:moveTo>
                  <a:lnTo>
                    <a:pt x="144" y="0"/>
                  </a:lnTo>
                  <a:lnTo>
                    <a:pt x="144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0695" name="Freeform 95"/>
            <p:cNvSpPr/>
            <p:nvPr/>
          </p:nvSpPr>
          <p:spPr>
            <a:xfrm>
              <a:off x="5175" y="3168"/>
              <a:ext cx="135" cy="306"/>
            </a:xfrm>
            <a:custGeom>
              <a:avLst/>
              <a:gdLst>
                <a:gd name="txL" fmla="*/ 0 w 144"/>
                <a:gd name="txT" fmla="*/ 0 h 144"/>
                <a:gd name="txR" fmla="*/ 144 w 144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144"/>
                </a:cxn>
              </a:cxnLst>
              <a:rect l="txL" t="txT" r="txR" b="txB"/>
              <a:pathLst>
                <a:path w="144" h="144">
                  <a:moveTo>
                    <a:pt x="0" y="0"/>
                  </a:moveTo>
                  <a:lnTo>
                    <a:pt x="144" y="0"/>
                  </a:lnTo>
                  <a:lnTo>
                    <a:pt x="144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0696" name="Freeform 96"/>
            <p:cNvSpPr/>
            <p:nvPr/>
          </p:nvSpPr>
          <p:spPr>
            <a:xfrm>
              <a:off x="3373" y="3312"/>
              <a:ext cx="144" cy="144"/>
            </a:xfrm>
            <a:custGeom>
              <a:avLst/>
              <a:gdLst>
                <a:gd name="txL" fmla="*/ 0 w 144"/>
                <a:gd name="txT" fmla="*/ 0 h 144"/>
                <a:gd name="txR" fmla="*/ 144 w 144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144"/>
                </a:cxn>
              </a:cxnLst>
              <a:rect l="txL" t="txT" r="txR" b="txB"/>
              <a:pathLst>
                <a:path w="144" h="144">
                  <a:moveTo>
                    <a:pt x="0" y="0"/>
                  </a:moveTo>
                  <a:lnTo>
                    <a:pt x="144" y="0"/>
                  </a:lnTo>
                  <a:lnTo>
                    <a:pt x="144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0697" name="Freeform 97"/>
            <p:cNvSpPr/>
            <p:nvPr/>
          </p:nvSpPr>
          <p:spPr>
            <a:xfrm>
              <a:off x="4647" y="3312"/>
              <a:ext cx="144" cy="144"/>
            </a:xfrm>
            <a:custGeom>
              <a:avLst/>
              <a:gdLst>
                <a:gd name="txL" fmla="*/ 0 w 144"/>
                <a:gd name="txT" fmla="*/ 0 h 144"/>
                <a:gd name="txR" fmla="*/ 144 w 144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144"/>
                </a:cxn>
              </a:cxnLst>
              <a:rect l="txL" t="txT" r="txR" b="txB"/>
              <a:pathLst>
                <a:path w="144" h="144">
                  <a:moveTo>
                    <a:pt x="0" y="0"/>
                  </a:moveTo>
                  <a:lnTo>
                    <a:pt x="144" y="0"/>
                  </a:lnTo>
                  <a:lnTo>
                    <a:pt x="144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40656" name="Text Box 98"/>
          <p:cNvSpPr txBox="1"/>
          <p:nvPr/>
        </p:nvSpPr>
        <p:spPr>
          <a:xfrm>
            <a:off x="5775325" y="3489325"/>
            <a:ext cx="312039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设与非门的级延迟时间为</a:t>
            </a:r>
            <a:r>
              <a:rPr lang="en-US" altLang="zh-CN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endParaRPr lang="en-US" altLang="zh-CN" sz="2000" b="1" i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275" name="Rectangle 9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0658" name="AutoShape 100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065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1666" name="Text Box 2"/>
          <p:cNvSpPr txBox="1"/>
          <p:nvPr/>
        </p:nvSpPr>
        <p:spPr>
          <a:xfrm>
            <a:off x="1828800" y="152400"/>
            <a:ext cx="3124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3. </a:t>
            </a:r>
            <a:r>
              <a:rPr lang="zh-CN" altLang="en-US" sz="3200" b="1" dirty="0">
                <a:latin typeface="Times New Roman" panose="02020603050405020304" pitchFamily="18" charset="0"/>
              </a:rPr>
              <a:t>并行进位链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41667" name="Text Box 3"/>
          <p:cNvSpPr txBox="1"/>
          <p:nvPr/>
        </p:nvSpPr>
        <p:spPr>
          <a:xfrm>
            <a:off x="2295525" y="838200"/>
            <a:ext cx="37814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位加法器的进位同时产生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1668" name="Text Box 4"/>
          <p:cNvSpPr txBox="1"/>
          <p:nvPr/>
        </p:nvSpPr>
        <p:spPr>
          <a:xfrm>
            <a:off x="6400800" y="838200"/>
            <a:ext cx="2621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以 </a:t>
            </a:r>
            <a:r>
              <a:rPr lang="en-US" altLang="zh-CN" sz="2400" b="1" dirty="0">
                <a:latin typeface="Times New Roman" panose="02020603050405020304" pitchFamily="18" charset="0"/>
              </a:rPr>
              <a:t>4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位加法器为例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41669" name="Text Box 5"/>
          <p:cNvSpPr txBox="1"/>
          <p:nvPr/>
        </p:nvSpPr>
        <p:spPr>
          <a:xfrm>
            <a:off x="2309813" y="1233488"/>
            <a:ext cx="20307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1670" name="Text Box 6"/>
          <p:cNvSpPr txBox="1"/>
          <p:nvPr/>
        </p:nvSpPr>
        <p:spPr>
          <a:xfrm>
            <a:off x="2309813" y="1658938"/>
            <a:ext cx="19380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1671" name="Text Box 7"/>
          <p:cNvSpPr txBox="1"/>
          <p:nvPr/>
        </p:nvSpPr>
        <p:spPr>
          <a:xfrm>
            <a:off x="2309813" y="2084388"/>
            <a:ext cx="18884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1672" name="Text Box 8"/>
          <p:cNvSpPr txBox="1"/>
          <p:nvPr/>
        </p:nvSpPr>
        <p:spPr>
          <a:xfrm>
            <a:off x="2309813" y="2508250"/>
            <a:ext cx="18884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1673" name="Text Box 9"/>
          <p:cNvSpPr txBox="1"/>
          <p:nvPr/>
        </p:nvSpPr>
        <p:spPr>
          <a:xfrm>
            <a:off x="4048125" y="1658938"/>
            <a:ext cx="27647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10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 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1674" name="Text Box 10"/>
          <p:cNvSpPr txBox="1"/>
          <p:nvPr/>
        </p:nvSpPr>
        <p:spPr>
          <a:xfrm>
            <a:off x="4078288" y="2084388"/>
            <a:ext cx="3903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1675" name="Text Box 11"/>
          <p:cNvSpPr txBox="1"/>
          <p:nvPr/>
        </p:nvSpPr>
        <p:spPr>
          <a:xfrm>
            <a:off x="4078288" y="2528888"/>
            <a:ext cx="52997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1676" name="Text Box 12"/>
          <p:cNvSpPr txBox="1"/>
          <p:nvPr/>
        </p:nvSpPr>
        <p:spPr>
          <a:xfrm>
            <a:off x="4267200" y="152400"/>
            <a:ext cx="51419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（先行进位，跳跃进位）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41677" name="Text Box 13"/>
          <p:cNvSpPr txBox="1"/>
          <p:nvPr/>
        </p:nvSpPr>
        <p:spPr>
          <a:xfrm>
            <a:off x="7034213" y="1371600"/>
            <a:ext cx="3288665" cy="768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当 </a:t>
            </a:r>
            <a:r>
              <a:rPr lang="en-US" altLang="zh-CN" sz="22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2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2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2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形成后，只需 </a:t>
            </a: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2.5</a:t>
            </a:r>
            <a:r>
              <a:rPr lang="en-US" altLang="zh-CN" sz="22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2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endParaRPr lang="en-US" altLang="zh-CN" sz="2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r>
              <a:rPr lang="zh-CN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产生全部进位</a:t>
            </a:r>
            <a:endParaRPr lang="zh-CN" altLang="en-US" sz="2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1678" name="Group 14"/>
          <p:cNvGrpSpPr/>
          <p:nvPr/>
        </p:nvGrpSpPr>
        <p:grpSpPr>
          <a:xfrm>
            <a:off x="1905000" y="3048000"/>
            <a:ext cx="8535988" cy="3736975"/>
            <a:chOff x="240" y="1920"/>
            <a:chExt cx="5377" cy="2354"/>
          </a:xfrm>
        </p:grpSpPr>
        <p:sp>
          <p:nvSpPr>
            <p:cNvPr id="241683" name="Text Box 15"/>
            <p:cNvSpPr txBox="1"/>
            <p:nvPr/>
          </p:nvSpPr>
          <p:spPr>
            <a:xfrm>
              <a:off x="672" y="28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684" name="Rectangle 16"/>
            <p:cNvSpPr/>
            <p:nvPr/>
          </p:nvSpPr>
          <p:spPr>
            <a:xfrm>
              <a:off x="250" y="2858"/>
              <a:ext cx="119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685" name="Text Box 17"/>
            <p:cNvSpPr txBox="1"/>
            <p:nvPr/>
          </p:nvSpPr>
          <p:spPr>
            <a:xfrm>
              <a:off x="240" y="3044"/>
              <a:ext cx="2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686" name="Rectangle 18"/>
            <p:cNvSpPr/>
            <p:nvPr/>
          </p:nvSpPr>
          <p:spPr>
            <a:xfrm>
              <a:off x="250" y="3056"/>
              <a:ext cx="24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687" name="Rectangle 19"/>
            <p:cNvSpPr/>
            <p:nvPr/>
          </p:nvSpPr>
          <p:spPr>
            <a:xfrm>
              <a:off x="490" y="3056"/>
              <a:ext cx="24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688" name="Rectangle 20"/>
            <p:cNvSpPr/>
            <p:nvPr/>
          </p:nvSpPr>
          <p:spPr>
            <a:xfrm>
              <a:off x="730" y="3056"/>
              <a:ext cx="326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689" name="Rectangle 21"/>
            <p:cNvSpPr/>
            <p:nvPr/>
          </p:nvSpPr>
          <p:spPr>
            <a:xfrm>
              <a:off x="1056" y="3056"/>
              <a:ext cx="384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690" name="Text Box 22"/>
            <p:cNvSpPr txBox="1"/>
            <p:nvPr/>
          </p:nvSpPr>
          <p:spPr>
            <a:xfrm>
              <a:off x="1699" y="3044"/>
              <a:ext cx="30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691" name="Rectangle 23"/>
            <p:cNvSpPr/>
            <p:nvPr/>
          </p:nvSpPr>
          <p:spPr>
            <a:xfrm>
              <a:off x="1632" y="3064"/>
              <a:ext cx="480" cy="20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692" name="Line 24"/>
            <p:cNvSpPr/>
            <p:nvPr/>
          </p:nvSpPr>
          <p:spPr>
            <a:xfrm>
              <a:off x="384" y="3271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1693" name="Line 25"/>
            <p:cNvSpPr/>
            <p:nvPr/>
          </p:nvSpPr>
          <p:spPr>
            <a:xfrm>
              <a:off x="1680" y="3271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1694" name="Line 26"/>
            <p:cNvSpPr/>
            <p:nvPr/>
          </p:nvSpPr>
          <p:spPr>
            <a:xfrm>
              <a:off x="2448" y="3271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1695" name="Line 27"/>
            <p:cNvSpPr/>
            <p:nvPr/>
          </p:nvSpPr>
          <p:spPr>
            <a:xfrm>
              <a:off x="3840" y="3271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1696" name="Line 28"/>
            <p:cNvSpPr/>
            <p:nvPr/>
          </p:nvSpPr>
          <p:spPr>
            <a:xfrm>
              <a:off x="5088" y="3271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1697" name="Line 29"/>
            <p:cNvSpPr/>
            <p:nvPr/>
          </p:nvSpPr>
          <p:spPr>
            <a:xfrm>
              <a:off x="4848" y="3271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1698" name="Freeform 30"/>
            <p:cNvSpPr/>
            <p:nvPr/>
          </p:nvSpPr>
          <p:spPr>
            <a:xfrm>
              <a:off x="2064" y="3271"/>
              <a:ext cx="3408" cy="82"/>
            </a:xfrm>
            <a:custGeom>
              <a:avLst/>
              <a:gdLst>
                <a:gd name="txL" fmla="*/ 0 w 3264"/>
                <a:gd name="txT" fmla="*/ 0 h 96"/>
                <a:gd name="txR" fmla="*/ 3264 w 3264"/>
                <a:gd name="txB" fmla="*/ 96 h 96"/>
              </a:gdLst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3264" y="96"/>
                </a:cxn>
              </a:cxnLst>
              <a:rect l="txL" t="txT" r="txR" b="txB"/>
              <a:pathLst>
                <a:path w="3264" h="96">
                  <a:moveTo>
                    <a:pt x="0" y="0"/>
                  </a:moveTo>
                  <a:lnTo>
                    <a:pt x="0" y="96"/>
                  </a:lnTo>
                  <a:lnTo>
                    <a:pt x="3264" y="9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699" name="Freeform 31"/>
            <p:cNvSpPr/>
            <p:nvPr/>
          </p:nvSpPr>
          <p:spPr>
            <a:xfrm>
              <a:off x="1968" y="3271"/>
              <a:ext cx="3122" cy="165"/>
            </a:xfrm>
            <a:custGeom>
              <a:avLst/>
              <a:gdLst>
                <a:gd name="txL" fmla="*/ 0 w 3170"/>
                <a:gd name="txT" fmla="*/ 0 h 192"/>
                <a:gd name="txR" fmla="*/ 3170 w 3170"/>
                <a:gd name="txB" fmla="*/ 192 h 192"/>
              </a:gdLst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3170" y="187"/>
                </a:cxn>
              </a:cxnLst>
              <a:rect l="txL" t="txT" r="txR" b="txB"/>
              <a:pathLst>
                <a:path w="3170" h="192">
                  <a:moveTo>
                    <a:pt x="0" y="0"/>
                  </a:moveTo>
                  <a:lnTo>
                    <a:pt x="0" y="192"/>
                  </a:lnTo>
                  <a:lnTo>
                    <a:pt x="3170" y="18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00" name="Text Box 32"/>
            <p:cNvSpPr txBox="1"/>
            <p:nvPr/>
          </p:nvSpPr>
          <p:spPr>
            <a:xfrm>
              <a:off x="2730" y="28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01" name="Rectangle 33"/>
            <p:cNvSpPr/>
            <p:nvPr/>
          </p:nvSpPr>
          <p:spPr>
            <a:xfrm>
              <a:off x="2308" y="2858"/>
              <a:ext cx="119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02" name="Text Box 34"/>
            <p:cNvSpPr txBox="1"/>
            <p:nvPr/>
          </p:nvSpPr>
          <p:spPr>
            <a:xfrm>
              <a:off x="2298" y="3044"/>
              <a:ext cx="2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03" name="Rectangle 35"/>
            <p:cNvSpPr/>
            <p:nvPr/>
          </p:nvSpPr>
          <p:spPr>
            <a:xfrm>
              <a:off x="2308" y="3056"/>
              <a:ext cx="24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04" name="Rectangle 36"/>
            <p:cNvSpPr/>
            <p:nvPr/>
          </p:nvSpPr>
          <p:spPr>
            <a:xfrm>
              <a:off x="2548" y="3056"/>
              <a:ext cx="24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05" name="Rectangle 37"/>
            <p:cNvSpPr/>
            <p:nvPr/>
          </p:nvSpPr>
          <p:spPr>
            <a:xfrm>
              <a:off x="2788" y="3056"/>
              <a:ext cx="326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06" name="Rectangle 38"/>
            <p:cNvSpPr/>
            <p:nvPr/>
          </p:nvSpPr>
          <p:spPr>
            <a:xfrm>
              <a:off x="3114" y="3056"/>
              <a:ext cx="384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07" name="Text Box 39"/>
            <p:cNvSpPr txBox="1"/>
            <p:nvPr/>
          </p:nvSpPr>
          <p:spPr>
            <a:xfrm>
              <a:off x="3951" y="28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08" name="Rectangle 40"/>
            <p:cNvSpPr/>
            <p:nvPr/>
          </p:nvSpPr>
          <p:spPr>
            <a:xfrm>
              <a:off x="3721" y="2858"/>
              <a:ext cx="806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09" name="Text Box 41"/>
            <p:cNvSpPr txBox="1"/>
            <p:nvPr/>
          </p:nvSpPr>
          <p:spPr>
            <a:xfrm>
              <a:off x="3711" y="3044"/>
              <a:ext cx="2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10" name="Rectangle 42"/>
            <p:cNvSpPr/>
            <p:nvPr/>
          </p:nvSpPr>
          <p:spPr>
            <a:xfrm>
              <a:off x="3721" y="3056"/>
              <a:ext cx="24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11" name="Rectangle 43"/>
            <p:cNvSpPr/>
            <p:nvPr/>
          </p:nvSpPr>
          <p:spPr>
            <a:xfrm>
              <a:off x="3961" y="3056"/>
              <a:ext cx="24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12" name="Rectangle 44"/>
            <p:cNvSpPr/>
            <p:nvPr/>
          </p:nvSpPr>
          <p:spPr>
            <a:xfrm>
              <a:off x="4201" y="3056"/>
              <a:ext cx="326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13" name="Text Box 45"/>
            <p:cNvSpPr txBox="1"/>
            <p:nvPr/>
          </p:nvSpPr>
          <p:spPr>
            <a:xfrm>
              <a:off x="4832" y="28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14" name="Rectangle 46"/>
            <p:cNvSpPr/>
            <p:nvPr/>
          </p:nvSpPr>
          <p:spPr>
            <a:xfrm>
              <a:off x="4751" y="2858"/>
              <a:ext cx="481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15" name="Text Box 47"/>
            <p:cNvSpPr txBox="1"/>
            <p:nvPr/>
          </p:nvSpPr>
          <p:spPr>
            <a:xfrm>
              <a:off x="4741" y="3044"/>
              <a:ext cx="2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16" name="Rectangle 48"/>
            <p:cNvSpPr/>
            <p:nvPr/>
          </p:nvSpPr>
          <p:spPr>
            <a:xfrm>
              <a:off x="4751" y="3056"/>
              <a:ext cx="24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17" name="Rectangle 49"/>
            <p:cNvSpPr/>
            <p:nvPr/>
          </p:nvSpPr>
          <p:spPr>
            <a:xfrm>
              <a:off x="4991" y="3056"/>
              <a:ext cx="240" cy="20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18" name="Freeform 50"/>
            <p:cNvSpPr/>
            <p:nvPr/>
          </p:nvSpPr>
          <p:spPr>
            <a:xfrm>
              <a:off x="1392" y="3271"/>
              <a:ext cx="3456" cy="248"/>
            </a:xfrm>
            <a:custGeom>
              <a:avLst/>
              <a:gdLst>
                <a:gd name="txL" fmla="*/ 0 w 3456"/>
                <a:gd name="txT" fmla="*/ 0 h 240"/>
                <a:gd name="txR" fmla="*/ 3456 w 3456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456" y="240"/>
                </a:cxn>
              </a:cxnLst>
              <a:rect l="txL" t="txT" r="txR" b="txB"/>
              <a:pathLst>
                <a:path w="3456" h="240">
                  <a:moveTo>
                    <a:pt x="0" y="0"/>
                  </a:moveTo>
                  <a:lnTo>
                    <a:pt x="0" y="240"/>
                  </a:lnTo>
                  <a:lnTo>
                    <a:pt x="3456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19" name="Line 51"/>
            <p:cNvSpPr/>
            <p:nvPr/>
          </p:nvSpPr>
          <p:spPr>
            <a:xfrm>
              <a:off x="3168" y="3271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1720" name="Line 52"/>
            <p:cNvSpPr/>
            <p:nvPr/>
          </p:nvSpPr>
          <p:spPr>
            <a:xfrm>
              <a:off x="4272" y="3271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1721" name="Freeform 53"/>
            <p:cNvSpPr/>
            <p:nvPr/>
          </p:nvSpPr>
          <p:spPr>
            <a:xfrm>
              <a:off x="1296" y="3271"/>
              <a:ext cx="2977" cy="332"/>
            </a:xfrm>
            <a:custGeom>
              <a:avLst/>
              <a:gdLst>
                <a:gd name="txL" fmla="*/ 0 w 2977"/>
                <a:gd name="txT" fmla="*/ 0 h 386"/>
                <a:gd name="txR" fmla="*/ 2977 w 2977"/>
                <a:gd name="txB" fmla="*/ 386 h 386"/>
              </a:gdLst>
              <a:ahLst/>
              <a:cxnLst>
                <a:cxn ang="0">
                  <a:pos x="0" y="0"/>
                </a:cxn>
                <a:cxn ang="0">
                  <a:pos x="0" y="384"/>
                </a:cxn>
                <a:cxn ang="0">
                  <a:pos x="2977" y="386"/>
                </a:cxn>
              </a:cxnLst>
              <a:rect l="txL" t="txT" r="txR" b="txB"/>
              <a:pathLst>
                <a:path w="2977" h="386">
                  <a:moveTo>
                    <a:pt x="0" y="0"/>
                  </a:moveTo>
                  <a:lnTo>
                    <a:pt x="0" y="384"/>
                  </a:lnTo>
                  <a:lnTo>
                    <a:pt x="2977" y="38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22" name="Freeform 54"/>
            <p:cNvSpPr/>
            <p:nvPr/>
          </p:nvSpPr>
          <p:spPr>
            <a:xfrm>
              <a:off x="1008" y="3271"/>
              <a:ext cx="2832" cy="413"/>
            </a:xfrm>
            <a:custGeom>
              <a:avLst/>
              <a:gdLst>
                <a:gd name="txL" fmla="*/ 0 w 2832"/>
                <a:gd name="txT" fmla="*/ 0 h 480"/>
                <a:gd name="txR" fmla="*/ 2832 w 2832"/>
                <a:gd name="txB" fmla="*/ 480 h 480"/>
              </a:gdLst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832" y="480"/>
                </a:cxn>
              </a:cxnLst>
              <a:rect l="txL" t="txT" r="txR" b="txB"/>
              <a:pathLst>
                <a:path w="2832" h="480">
                  <a:moveTo>
                    <a:pt x="0" y="0"/>
                  </a:moveTo>
                  <a:lnTo>
                    <a:pt x="0" y="480"/>
                  </a:lnTo>
                  <a:lnTo>
                    <a:pt x="2832" y="4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23" name="Freeform 55"/>
            <p:cNvSpPr/>
            <p:nvPr/>
          </p:nvSpPr>
          <p:spPr>
            <a:xfrm>
              <a:off x="912" y="3271"/>
              <a:ext cx="2256" cy="496"/>
            </a:xfrm>
            <a:custGeom>
              <a:avLst/>
              <a:gdLst>
                <a:gd name="txL" fmla="*/ 0 w 2304"/>
                <a:gd name="txT" fmla="*/ 0 h 576"/>
                <a:gd name="txR" fmla="*/ 2304 w 2304"/>
                <a:gd name="txB" fmla="*/ 576 h 576"/>
              </a:gdLst>
              <a:ahLst/>
              <a:cxnLst>
                <a:cxn ang="0">
                  <a:pos x="0" y="0"/>
                </a:cxn>
                <a:cxn ang="0">
                  <a:pos x="0" y="576"/>
                </a:cxn>
                <a:cxn ang="0">
                  <a:pos x="2304" y="576"/>
                </a:cxn>
              </a:cxnLst>
              <a:rect l="txL" t="txT" r="txR" b="txB"/>
              <a:pathLst>
                <a:path w="2304" h="576">
                  <a:moveTo>
                    <a:pt x="0" y="0"/>
                  </a:moveTo>
                  <a:lnTo>
                    <a:pt x="0" y="576"/>
                  </a:lnTo>
                  <a:lnTo>
                    <a:pt x="2304" y="57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24" name="Freeform 56"/>
            <p:cNvSpPr/>
            <p:nvPr/>
          </p:nvSpPr>
          <p:spPr>
            <a:xfrm>
              <a:off x="672" y="3271"/>
              <a:ext cx="1776" cy="578"/>
            </a:xfrm>
            <a:custGeom>
              <a:avLst/>
              <a:gdLst>
                <a:gd name="txL" fmla="*/ 0 w 1776"/>
                <a:gd name="txT" fmla="*/ 0 h 672"/>
                <a:gd name="txR" fmla="*/ 1776 w 1776"/>
                <a:gd name="txB" fmla="*/ 672 h 672"/>
              </a:gdLst>
              <a:ahLst/>
              <a:cxnLst>
                <a:cxn ang="0">
                  <a:pos x="0" y="0"/>
                </a:cxn>
                <a:cxn ang="0">
                  <a:pos x="0" y="672"/>
                </a:cxn>
                <a:cxn ang="0">
                  <a:pos x="1776" y="672"/>
                </a:cxn>
              </a:cxnLst>
              <a:rect l="txL" t="txT" r="txR" b="txB"/>
              <a:pathLst>
                <a:path w="1776" h="672">
                  <a:moveTo>
                    <a:pt x="0" y="0"/>
                  </a:moveTo>
                  <a:lnTo>
                    <a:pt x="0" y="672"/>
                  </a:lnTo>
                  <a:lnTo>
                    <a:pt x="1776" y="6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25" name="Freeform 57"/>
            <p:cNvSpPr/>
            <p:nvPr/>
          </p:nvSpPr>
          <p:spPr>
            <a:xfrm>
              <a:off x="576" y="3271"/>
              <a:ext cx="1104" cy="661"/>
            </a:xfrm>
            <a:custGeom>
              <a:avLst/>
              <a:gdLst>
                <a:gd name="txL" fmla="*/ 0 w 1152"/>
                <a:gd name="txT" fmla="*/ 0 h 768"/>
                <a:gd name="txR" fmla="*/ 1152 w 1152"/>
                <a:gd name="txB" fmla="*/ 768 h 768"/>
              </a:gdLst>
              <a:ahLst/>
              <a:cxnLst>
                <a:cxn ang="0">
                  <a:pos x="0" y="0"/>
                </a:cxn>
                <a:cxn ang="0">
                  <a:pos x="0" y="768"/>
                </a:cxn>
                <a:cxn ang="0">
                  <a:pos x="1152" y="768"/>
                </a:cxn>
              </a:cxnLst>
              <a:rect l="txL" t="txT" r="txR" b="txB"/>
              <a:pathLst>
                <a:path w="1152" h="768">
                  <a:moveTo>
                    <a:pt x="0" y="0"/>
                  </a:moveTo>
                  <a:lnTo>
                    <a:pt x="0" y="768"/>
                  </a:lnTo>
                  <a:lnTo>
                    <a:pt x="1152" y="7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26" name="Line 58"/>
            <p:cNvSpPr/>
            <p:nvPr/>
          </p:nvSpPr>
          <p:spPr>
            <a:xfrm>
              <a:off x="816" y="3271"/>
              <a:ext cx="0" cy="66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27" name="Line 59"/>
            <p:cNvSpPr/>
            <p:nvPr/>
          </p:nvSpPr>
          <p:spPr>
            <a:xfrm>
              <a:off x="1776" y="3271"/>
              <a:ext cx="0" cy="4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28" name="Line 60"/>
            <p:cNvSpPr/>
            <p:nvPr/>
          </p:nvSpPr>
          <p:spPr>
            <a:xfrm>
              <a:off x="1872" y="3271"/>
              <a:ext cx="0" cy="33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29" name="Line 61"/>
            <p:cNvSpPr/>
            <p:nvPr/>
          </p:nvSpPr>
          <p:spPr>
            <a:xfrm>
              <a:off x="2592" y="3271"/>
              <a:ext cx="0" cy="4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0" name="Line 62"/>
            <p:cNvSpPr/>
            <p:nvPr/>
          </p:nvSpPr>
          <p:spPr>
            <a:xfrm>
              <a:off x="2832" y="3271"/>
              <a:ext cx="0" cy="4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1" name="Line 63"/>
            <p:cNvSpPr/>
            <p:nvPr/>
          </p:nvSpPr>
          <p:spPr>
            <a:xfrm>
              <a:off x="2688" y="3271"/>
              <a:ext cx="0" cy="4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2" name="Line 64"/>
            <p:cNvSpPr/>
            <p:nvPr/>
          </p:nvSpPr>
          <p:spPr>
            <a:xfrm>
              <a:off x="2928" y="3271"/>
              <a:ext cx="0" cy="33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3" name="Line 65"/>
            <p:cNvSpPr/>
            <p:nvPr/>
          </p:nvSpPr>
          <p:spPr>
            <a:xfrm>
              <a:off x="3024" y="3271"/>
              <a:ext cx="0" cy="2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4" name="Line 66"/>
            <p:cNvSpPr/>
            <p:nvPr/>
          </p:nvSpPr>
          <p:spPr>
            <a:xfrm>
              <a:off x="3264" y="3271"/>
              <a:ext cx="0" cy="33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5" name="Line 67"/>
            <p:cNvSpPr/>
            <p:nvPr/>
          </p:nvSpPr>
          <p:spPr>
            <a:xfrm>
              <a:off x="3360" y="3271"/>
              <a:ext cx="0" cy="16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6" name="Line 68"/>
            <p:cNvSpPr/>
            <p:nvPr/>
          </p:nvSpPr>
          <p:spPr>
            <a:xfrm>
              <a:off x="3456" y="3271"/>
              <a:ext cx="0" cy="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7" name="Line 69"/>
            <p:cNvSpPr/>
            <p:nvPr/>
          </p:nvSpPr>
          <p:spPr>
            <a:xfrm>
              <a:off x="4032" y="3271"/>
              <a:ext cx="0" cy="33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8" name="Line 70"/>
            <p:cNvSpPr/>
            <p:nvPr/>
          </p:nvSpPr>
          <p:spPr>
            <a:xfrm>
              <a:off x="4128" y="3271"/>
              <a:ext cx="0" cy="2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39" name="Line 71"/>
            <p:cNvSpPr/>
            <p:nvPr/>
          </p:nvSpPr>
          <p:spPr>
            <a:xfrm>
              <a:off x="4368" y="3271"/>
              <a:ext cx="0" cy="16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40" name="Line 72"/>
            <p:cNvSpPr/>
            <p:nvPr/>
          </p:nvSpPr>
          <p:spPr>
            <a:xfrm>
              <a:off x="4464" y="3271"/>
              <a:ext cx="0" cy="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41" name="Line 73"/>
            <p:cNvSpPr/>
            <p:nvPr/>
          </p:nvSpPr>
          <p:spPr>
            <a:xfrm>
              <a:off x="5184" y="3271"/>
              <a:ext cx="0" cy="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42" name="Oval 74"/>
            <p:cNvSpPr/>
            <p:nvPr/>
          </p:nvSpPr>
          <p:spPr>
            <a:xfrm>
              <a:off x="1872" y="3023"/>
              <a:ext cx="48" cy="4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43" name="Freeform 75"/>
            <p:cNvSpPr/>
            <p:nvPr/>
          </p:nvSpPr>
          <p:spPr>
            <a:xfrm>
              <a:off x="1029" y="2604"/>
              <a:ext cx="867" cy="421"/>
            </a:xfrm>
            <a:custGeom>
              <a:avLst/>
              <a:gdLst>
                <a:gd name="txL" fmla="*/ 0 w 867"/>
                <a:gd name="txT" fmla="*/ 0 h 421"/>
                <a:gd name="txR" fmla="*/ 867 w 867"/>
                <a:gd name="txB" fmla="*/ 421 h 421"/>
              </a:gdLst>
              <a:ahLst/>
              <a:cxnLst>
                <a:cxn ang="0">
                  <a:pos x="0" y="0"/>
                </a:cxn>
                <a:cxn ang="0">
                  <a:pos x="0" y="85"/>
                </a:cxn>
                <a:cxn ang="0">
                  <a:pos x="867" y="85"/>
                </a:cxn>
                <a:cxn ang="0">
                  <a:pos x="867" y="421"/>
                </a:cxn>
              </a:cxnLst>
              <a:rect l="txL" t="txT" r="txR" b="txB"/>
              <a:pathLst>
                <a:path w="867" h="421">
                  <a:moveTo>
                    <a:pt x="0" y="0"/>
                  </a:moveTo>
                  <a:lnTo>
                    <a:pt x="0" y="85"/>
                  </a:lnTo>
                  <a:lnTo>
                    <a:pt x="867" y="85"/>
                  </a:lnTo>
                  <a:lnTo>
                    <a:pt x="867" y="42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44" name="Text Box 76"/>
            <p:cNvSpPr txBox="1"/>
            <p:nvPr/>
          </p:nvSpPr>
          <p:spPr>
            <a:xfrm>
              <a:off x="5270" y="3376"/>
              <a:ext cx="34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45" name="Text Box 77"/>
            <p:cNvSpPr txBox="1"/>
            <p:nvPr/>
          </p:nvSpPr>
          <p:spPr>
            <a:xfrm>
              <a:off x="300" y="3984"/>
              <a:ext cx="27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46" name="Text Box 78"/>
            <p:cNvSpPr txBox="1"/>
            <p:nvPr/>
          </p:nvSpPr>
          <p:spPr>
            <a:xfrm>
              <a:off x="1596" y="3984"/>
              <a:ext cx="2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47" name="Text Box 79"/>
            <p:cNvSpPr txBox="1"/>
            <p:nvPr/>
          </p:nvSpPr>
          <p:spPr>
            <a:xfrm>
              <a:off x="2364" y="3984"/>
              <a:ext cx="27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48" name="Text Box 80"/>
            <p:cNvSpPr txBox="1"/>
            <p:nvPr/>
          </p:nvSpPr>
          <p:spPr>
            <a:xfrm>
              <a:off x="3084" y="3984"/>
              <a:ext cx="2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49" name="Text Box 81"/>
            <p:cNvSpPr txBox="1"/>
            <p:nvPr/>
          </p:nvSpPr>
          <p:spPr>
            <a:xfrm>
              <a:off x="3744" y="3984"/>
              <a:ext cx="27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50" name="Text Box 82"/>
            <p:cNvSpPr txBox="1"/>
            <p:nvPr/>
          </p:nvSpPr>
          <p:spPr>
            <a:xfrm>
              <a:off x="4176" y="3984"/>
              <a:ext cx="2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51" name="Text Box 83"/>
            <p:cNvSpPr txBox="1"/>
            <p:nvPr/>
          </p:nvSpPr>
          <p:spPr>
            <a:xfrm>
              <a:off x="4764" y="3984"/>
              <a:ext cx="27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52" name="Text Box 84"/>
            <p:cNvSpPr txBox="1"/>
            <p:nvPr/>
          </p:nvSpPr>
          <p:spPr>
            <a:xfrm>
              <a:off x="5052" y="3984"/>
              <a:ext cx="2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53" name="Line 85"/>
            <p:cNvSpPr/>
            <p:nvPr/>
          </p:nvSpPr>
          <p:spPr>
            <a:xfrm>
              <a:off x="1200" y="3271"/>
              <a:ext cx="0" cy="4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54" name="Line 86"/>
            <p:cNvSpPr/>
            <p:nvPr/>
          </p:nvSpPr>
          <p:spPr>
            <a:xfrm>
              <a:off x="1104" y="3271"/>
              <a:ext cx="0" cy="66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1755" name="Rectangle 87"/>
            <p:cNvSpPr/>
            <p:nvPr/>
          </p:nvSpPr>
          <p:spPr>
            <a:xfrm>
              <a:off x="768" y="2395"/>
              <a:ext cx="384" cy="177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56" name="Oval 88"/>
            <p:cNvSpPr/>
            <p:nvPr/>
          </p:nvSpPr>
          <p:spPr>
            <a:xfrm>
              <a:off x="816" y="2822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57" name="Oval 89"/>
            <p:cNvSpPr/>
            <p:nvPr/>
          </p:nvSpPr>
          <p:spPr>
            <a:xfrm>
              <a:off x="816" y="2573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58" name="Oval 90"/>
            <p:cNvSpPr/>
            <p:nvPr/>
          </p:nvSpPr>
          <p:spPr>
            <a:xfrm>
              <a:off x="1008" y="2573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59" name="Oval 91"/>
            <p:cNvSpPr/>
            <p:nvPr/>
          </p:nvSpPr>
          <p:spPr>
            <a:xfrm>
              <a:off x="2880" y="2822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60" name="Oval 92"/>
            <p:cNvSpPr/>
            <p:nvPr/>
          </p:nvSpPr>
          <p:spPr>
            <a:xfrm>
              <a:off x="4080" y="2822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61" name="Oval 93"/>
            <p:cNvSpPr/>
            <p:nvPr/>
          </p:nvSpPr>
          <p:spPr>
            <a:xfrm>
              <a:off x="4992" y="2822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62" name="Rectangle 94"/>
            <p:cNvSpPr/>
            <p:nvPr/>
          </p:nvSpPr>
          <p:spPr>
            <a:xfrm>
              <a:off x="2713" y="2395"/>
              <a:ext cx="384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63" name="Rectangle 95"/>
            <p:cNvSpPr/>
            <p:nvPr/>
          </p:nvSpPr>
          <p:spPr>
            <a:xfrm>
              <a:off x="3910" y="2395"/>
              <a:ext cx="384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64" name="Text Box 96"/>
            <p:cNvSpPr txBox="1"/>
            <p:nvPr/>
          </p:nvSpPr>
          <p:spPr>
            <a:xfrm>
              <a:off x="4880" y="2352"/>
              <a:ext cx="2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65" name="Text Box 97"/>
            <p:cNvSpPr txBox="1"/>
            <p:nvPr/>
          </p:nvSpPr>
          <p:spPr>
            <a:xfrm>
              <a:off x="806" y="236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1766" name="Text Box 98"/>
            <p:cNvSpPr txBox="1"/>
            <p:nvPr/>
          </p:nvSpPr>
          <p:spPr>
            <a:xfrm>
              <a:off x="2774" y="2352"/>
              <a:ext cx="2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67" name="Text Box 99"/>
            <p:cNvSpPr txBox="1"/>
            <p:nvPr/>
          </p:nvSpPr>
          <p:spPr>
            <a:xfrm>
              <a:off x="3967" y="2352"/>
              <a:ext cx="2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1768" name="Rectangle 100"/>
            <p:cNvSpPr/>
            <p:nvPr/>
          </p:nvSpPr>
          <p:spPr>
            <a:xfrm>
              <a:off x="4821" y="2395"/>
              <a:ext cx="384" cy="17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69" name="Oval 101"/>
            <p:cNvSpPr/>
            <p:nvPr/>
          </p:nvSpPr>
          <p:spPr>
            <a:xfrm>
              <a:off x="4992" y="2360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0" name="Oval 102"/>
            <p:cNvSpPr/>
            <p:nvPr/>
          </p:nvSpPr>
          <p:spPr>
            <a:xfrm>
              <a:off x="4080" y="2360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1" name="Oval 103"/>
            <p:cNvSpPr/>
            <p:nvPr/>
          </p:nvSpPr>
          <p:spPr>
            <a:xfrm>
              <a:off x="2880" y="2360"/>
              <a:ext cx="48" cy="3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2" name="Freeform 104"/>
            <p:cNvSpPr/>
            <p:nvPr/>
          </p:nvSpPr>
          <p:spPr>
            <a:xfrm>
              <a:off x="840" y="2608"/>
              <a:ext cx="3" cy="218"/>
            </a:xfrm>
            <a:custGeom>
              <a:avLst/>
              <a:gdLst>
                <a:gd name="txL" fmla="*/ 0 w 3"/>
                <a:gd name="txT" fmla="*/ 0 h 294"/>
                <a:gd name="txR" fmla="*/ 3 w 3"/>
                <a:gd name="txB" fmla="*/ 294 h 294"/>
              </a:gdLst>
              <a:ahLst/>
              <a:cxnLst>
                <a:cxn ang="0">
                  <a:pos x="3" y="0"/>
                </a:cxn>
                <a:cxn ang="0">
                  <a:pos x="0" y="294"/>
                </a:cxn>
              </a:cxnLst>
              <a:rect l="txL" t="txT" r="txR" b="txB"/>
              <a:pathLst>
                <a:path w="3" h="294">
                  <a:moveTo>
                    <a:pt x="3" y="0"/>
                  </a:moveTo>
                  <a:lnTo>
                    <a:pt x="0" y="29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3" name="Freeform 105"/>
            <p:cNvSpPr/>
            <p:nvPr/>
          </p:nvSpPr>
          <p:spPr>
            <a:xfrm>
              <a:off x="2907" y="2570"/>
              <a:ext cx="1" cy="256"/>
            </a:xfrm>
            <a:custGeom>
              <a:avLst/>
              <a:gdLst>
                <a:gd name="txL" fmla="*/ 0 w 1"/>
                <a:gd name="txT" fmla="*/ 0 h 345"/>
                <a:gd name="txR" fmla="*/ 1 w 1"/>
                <a:gd name="txB" fmla="*/ 345 h 345"/>
              </a:gdLst>
              <a:ahLst/>
              <a:cxnLst>
                <a:cxn ang="0">
                  <a:pos x="0" y="0"/>
                </a:cxn>
                <a:cxn ang="0">
                  <a:pos x="0" y="345"/>
                </a:cxn>
              </a:cxnLst>
              <a:rect l="txL" t="txT" r="txR" b="tx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4" name="Freeform 106"/>
            <p:cNvSpPr/>
            <p:nvPr/>
          </p:nvSpPr>
          <p:spPr>
            <a:xfrm>
              <a:off x="4101" y="2570"/>
              <a:ext cx="1" cy="249"/>
            </a:xfrm>
            <a:custGeom>
              <a:avLst/>
              <a:gdLst>
                <a:gd name="txL" fmla="*/ 0 w 1"/>
                <a:gd name="txT" fmla="*/ 0 h 336"/>
                <a:gd name="txR" fmla="*/ 1 w 1"/>
                <a:gd name="txB" fmla="*/ 336 h 336"/>
              </a:gdLst>
              <a:ahLst/>
              <a:cxnLst>
                <a:cxn ang="0">
                  <a:pos x="0" y="0"/>
                </a:cxn>
                <a:cxn ang="0">
                  <a:pos x="0" y="336"/>
                </a:cxn>
              </a:cxnLst>
              <a:rect l="txL" t="txT" r="txR" b="txB"/>
              <a:pathLst>
                <a:path w="1" h="336">
                  <a:moveTo>
                    <a:pt x="0" y="0"/>
                  </a:moveTo>
                  <a:lnTo>
                    <a:pt x="0" y="3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5" name="Freeform 107"/>
            <p:cNvSpPr/>
            <p:nvPr/>
          </p:nvSpPr>
          <p:spPr>
            <a:xfrm>
              <a:off x="5013" y="2573"/>
              <a:ext cx="1" cy="244"/>
            </a:xfrm>
            <a:custGeom>
              <a:avLst/>
              <a:gdLst>
                <a:gd name="txL" fmla="*/ 0 w 1"/>
                <a:gd name="txT" fmla="*/ 0 h 330"/>
                <a:gd name="txR" fmla="*/ 1 w 1"/>
                <a:gd name="txB" fmla="*/ 330 h 330"/>
              </a:gdLst>
              <a:ahLst/>
              <a:cxnLst>
                <a:cxn ang="0">
                  <a:pos x="0" y="0"/>
                </a:cxn>
                <a:cxn ang="0">
                  <a:pos x="0" y="330"/>
                </a:cxn>
              </a:cxnLst>
              <a:rect l="txL" t="txT" r="txR" b="txB"/>
              <a:pathLst>
                <a:path w="1" h="330">
                  <a:moveTo>
                    <a:pt x="0" y="0"/>
                  </a:moveTo>
                  <a:lnTo>
                    <a:pt x="0" y="33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6" name="Freeform 108"/>
            <p:cNvSpPr/>
            <p:nvPr/>
          </p:nvSpPr>
          <p:spPr>
            <a:xfrm>
              <a:off x="5016" y="2132"/>
              <a:ext cx="1" cy="229"/>
            </a:xfrm>
            <a:custGeom>
              <a:avLst/>
              <a:gdLst>
                <a:gd name="txL" fmla="*/ 0 w 1"/>
                <a:gd name="txT" fmla="*/ 0 h 309"/>
                <a:gd name="txR" fmla="*/ 1 w 1"/>
                <a:gd name="txB" fmla="*/ 309 h 309"/>
              </a:gdLst>
              <a:ahLst/>
              <a:cxnLst>
                <a:cxn ang="0">
                  <a:pos x="0" y="309"/>
                </a:cxn>
                <a:cxn ang="0">
                  <a:pos x="0" y="0"/>
                </a:cxn>
              </a:cxnLst>
              <a:rect l="txL" t="txT" r="txR" b="txB"/>
              <a:pathLst>
                <a:path w="1" h="309">
                  <a:moveTo>
                    <a:pt x="0" y="309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7" name="Freeform 109"/>
            <p:cNvSpPr/>
            <p:nvPr/>
          </p:nvSpPr>
          <p:spPr>
            <a:xfrm>
              <a:off x="4104" y="2144"/>
              <a:ext cx="1" cy="220"/>
            </a:xfrm>
            <a:custGeom>
              <a:avLst/>
              <a:gdLst>
                <a:gd name="txL" fmla="*/ 0 w 1"/>
                <a:gd name="txT" fmla="*/ 0 h 297"/>
                <a:gd name="txR" fmla="*/ 1 w 1"/>
                <a:gd name="txB" fmla="*/ 297 h 297"/>
              </a:gdLst>
              <a:ahLst/>
              <a:cxnLst>
                <a:cxn ang="0">
                  <a:pos x="0" y="297"/>
                </a:cxn>
                <a:cxn ang="0">
                  <a:pos x="0" y="0"/>
                </a:cxn>
              </a:cxnLst>
              <a:rect l="txL" t="txT" r="txR" b="txB"/>
              <a:pathLst>
                <a:path w="1" h="297">
                  <a:moveTo>
                    <a:pt x="0" y="297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8" name="Freeform 110"/>
            <p:cNvSpPr/>
            <p:nvPr/>
          </p:nvSpPr>
          <p:spPr>
            <a:xfrm>
              <a:off x="2907" y="2142"/>
              <a:ext cx="1" cy="218"/>
            </a:xfrm>
            <a:custGeom>
              <a:avLst/>
              <a:gdLst>
                <a:gd name="txL" fmla="*/ 0 w 1"/>
                <a:gd name="txT" fmla="*/ 0 h 218"/>
                <a:gd name="txR" fmla="*/ 1 w 1"/>
                <a:gd name="txB" fmla="*/ 218 h 218"/>
              </a:gdLst>
              <a:ahLst/>
              <a:cxnLst>
                <a:cxn ang="0">
                  <a:pos x="1" y="218"/>
                </a:cxn>
                <a:cxn ang="0">
                  <a:pos x="0" y="0"/>
                </a:cxn>
              </a:cxnLst>
              <a:rect l="txL" t="txT" r="txR" b="txB"/>
              <a:pathLst>
                <a:path w="1" h="218">
                  <a:moveTo>
                    <a:pt x="1" y="218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79" name="Freeform 111"/>
            <p:cNvSpPr/>
            <p:nvPr/>
          </p:nvSpPr>
          <p:spPr>
            <a:xfrm>
              <a:off x="963" y="2177"/>
              <a:ext cx="1" cy="215"/>
            </a:xfrm>
            <a:custGeom>
              <a:avLst/>
              <a:gdLst>
                <a:gd name="txL" fmla="*/ 0 w 1"/>
                <a:gd name="txT" fmla="*/ 0 h 215"/>
                <a:gd name="txR" fmla="*/ 1 w 1"/>
                <a:gd name="txB" fmla="*/ 215 h 215"/>
              </a:gdLst>
              <a:ahLst/>
              <a:cxnLst>
                <a:cxn ang="0">
                  <a:pos x="1" y="215"/>
                </a:cxn>
                <a:cxn ang="0">
                  <a:pos x="0" y="0"/>
                </a:cxn>
              </a:cxnLst>
              <a:rect l="txL" t="txT" r="txR" b="txB"/>
              <a:pathLst>
                <a:path w="1" h="215">
                  <a:moveTo>
                    <a:pt x="1" y="215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1780" name="Text Box 112"/>
            <p:cNvSpPr txBox="1"/>
            <p:nvPr/>
          </p:nvSpPr>
          <p:spPr>
            <a:xfrm>
              <a:off x="4896" y="192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81" name="Text Box 113"/>
            <p:cNvSpPr txBox="1"/>
            <p:nvPr/>
          </p:nvSpPr>
          <p:spPr>
            <a:xfrm>
              <a:off x="3988" y="192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82" name="Text Box 114"/>
            <p:cNvSpPr txBox="1"/>
            <p:nvPr/>
          </p:nvSpPr>
          <p:spPr>
            <a:xfrm>
              <a:off x="2784" y="192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1783" name="Text Box 115"/>
            <p:cNvSpPr txBox="1"/>
            <p:nvPr/>
          </p:nvSpPr>
          <p:spPr>
            <a:xfrm>
              <a:off x="868" y="192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1679" name="Text Box 116"/>
          <p:cNvSpPr txBox="1"/>
          <p:nvPr/>
        </p:nvSpPr>
        <p:spPr>
          <a:xfrm>
            <a:off x="3581400" y="3108325"/>
            <a:ext cx="20574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设与或非门的延迟时间为 </a:t>
            </a: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1.5</a:t>
            </a:r>
            <a:r>
              <a:rPr lang="en-US" altLang="zh-CN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endParaRPr lang="en-US" altLang="zh-CN" sz="2000" b="1" i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9317" name="Rectangle 11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1681" name="AutoShape 11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168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2690" name="Rectangle 2"/>
          <p:cNvSpPr/>
          <p:nvPr/>
        </p:nvSpPr>
        <p:spPr>
          <a:xfrm>
            <a:off x="1828800" y="762000"/>
            <a:ext cx="7772400" cy="914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位全加器分若干小组，小组中的进位同时产生，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小组与小组之间采用串行进位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2691" name="Rectangle 3"/>
          <p:cNvSpPr/>
          <p:nvPr/>
        </p:nvSpPr>
        <p:spPr>
          <a:xfrm>
            <a:off x="2239963" y="5029200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当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</a:rPr>
              <a:t>形成后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80228" name="Rectangle 4"/>
          <p:cNvSpPr/>
          <p:nvPr/>
        </p:nvSpPr>
        <p:spPr>
          <a:xfrm>
            <a:off x="4286250" y="5105400"/>
            <a:ext cx="1295400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经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2.5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15000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229" name="Rectangle 5"/>
          <p:cNvSpPr/>
          <p:nvPr/>
        </p:nvSpPr>
        <p:spPr>
          <a:xfrm>
            <a:off x="4313238" y="5505450"/>
            <a:ext cx="1096962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15000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230" name="Rectangle 6"/>
          <p:cNvSpPr/>
          <p:nvPr/>
        </p:nvSpPr>
        <p:spPr>
          <a:xfrm>
            <a:off x="4313238" y="5867400"/>
            <a:ext cx="1249362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7.5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15000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231" name="Rectangle 7"/>
          <p:cNvSpPr/>
          <p:nvPr/>
        </p:nvSpPr>
        <p:spPr>
          <a:xfrm>
            <a:off x="4313238" y="6248400"/>
            <a:ext cx="1173162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1 0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15000" dirty="0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2696" name="Text Box 8"/>
          <p:cNvSpPr txBox="1"/>
          <p:nvPr/>
        </p:nvSpPr>
        <p:spPr>
          <a:xfrm>
            <a:off x="1600200" y="2286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</a:t>
            </a:r>
            <a:r>
              <a:rPr lang="en-US" altLang="zh-CN" sz="3200" b="1" dirty="0">
                <a:latin typeface="Arial" panose="020B0604020202020204" pitchFamily="34" charset="0"/>
              </a:rPr>
              <a:t> </a:t>
            </a:r>
            <a:r>
              <a:rPr lang="zh-CN" altLang="en-US" sz="3200" b="1" dirty="0">
                <a:latin typeface="Arial" panose="020B0604020202020204" pitchFamily="34" charset="0"/>
              </a:rPr>
              <a:t>单重分组跳跃进位链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1981200" y="2955925"/>
            <a:ext cx="1676400" cy="838200"/>
            <a:chOff x="384" y="1862"/>
            <a:chExt cx="1056" cy="528"/>
          </a:xfrm>
        </p:grpSpPr>
        <p:sp>
          <p:nvSpPr>
            <p:cNvPr id="242830" name="Text Box 10"/>
            <p:cNvSpPr txBox="1"/>
            <p:nvPr/>
          </p:nvSpPr>
          <p:spPr>
            <a:xfrm>
              <a:off x="432" y="2016"/>
              <a:ext cx="7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2831" name="Rectangle 11"/>
            <p:cNvSpPr/>
            <p:nvPr/>
          </p:nvSpPr>
          <p:spPr>
            <a:xfrm>
              <a:off x="384" y="1862"/>
              <a:ext cx="1056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4165600" y="2955925"/>
            <a:ext cx="1676400" cy="838200"/>
            <a:chOff x="1760" y="1862"/>
            <a:chExt cx="1056" cy="528"/>
          </a:xfrm>
        </p:grpSpPr>
        <p:sp>
          <p:nvSpPr>
            <p:cNvPr id="242828" name="Text Box 13"/>
            <p:cNvSpPr txBox="1"/>
            <p:nvPr/>
          </p:nvSpPr>
          <p:spPr>
            <a:xfrm>
              <a:off x="1776" y="2016"/>
              <a:ext cx="7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2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2829" name="Rectangle 14"/>
            <p:cNvSpPr/>
            <p:nvPr/>
          </p:nvSpPr>
          <p:spPr>
            <a:xfrm>
              <a:off x="1760" y="1862"/>
              <a:ext cx="1056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6350000" y="2955925"/>
            <a:ext cx="1676400" cy="838200"/>
            <a:chOff x="3136" y="1862"/>
            <a:chExt cx="1056" cy="528"/>
          </a:xfrm>
        </p:grpSpPr>
        <p:sp>
          <p:nvSpPr>
            <p:cNvPr id="242826" name="Text Box 16"/>
            <p:cNvSpPr txBox="1"/>
            <p:nvPr/>
          </p:nvSpPr>
          <p:spPr>
            <a:xfrm>
              <a:off x="3168" y="2016"/>
              <a:ext cx="7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3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2827" name="Rectangle 17"/>
            <p:cNvSpPr/>
            <p:nvPr/>
          </p:nvSpPr>
          <p:spPr>
            <a:xfrm>
              <a:off x="3136" y="1862"/>
              <a:ext cx="1056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8534400" y="2955925"/>
            <a:ext cx="1676400" cy="838200"/>
            <a:chOff x="4512" y="1862"/>
            <a:chExt cx="1056" cy="528"/>
          </a:xfrm>
        </p:grpSpPr>
        <p:sp>
          <p:nvSpPr>
            <p:cNvPr id="242824" name="Text Box 19"/>
            <p:cNvSpPr txBox="1"/>
            <p:nvPr/>
          </p:nvSpPr>
          <p:spPr>
            <a:xfrm>
              <a:off x="4560" y="2016"/>
              <a:ext cx="7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4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2825" name="Rectangle 20"/>
            <p:cNvSpPr/>
            <p:nvPr/>
          </p:nvSpPr>
          <p:spPr>
            <a:xfrm>
              <a:off x="4512" y="1862"/>
              <a:ext cx="1056" cy="5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1"/>
          <p:cNvGrpSpPr/>
          <p:nvPr/>
        </p:nvGrpSpPr>
        <p:grpSpPr>
          <a:xfrm>
            <a:off x="2286000" y="2238375"/>
            <a:ext cx="1066800" cy="733425"/>
            <a:chOff x="576" y="1410"/>
            <a:chExt cx="672" cy="462"/>
          </a:xfrm>
        </p:grpSpPr>
        <p:sp>
          <p:nvSpPr>
            <p:cNvPr id="242820" name="Line 22"/>
            <p:cNvSpPr/>
            <p:nvPr/>
          </p:nvSpPr>
          <p:spPr>
            <a:xfrm flipV="1">
              <a:off x="576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21" name="Line 23"/>
            <p:cNvSpPr/>
            <p:nvPr/>
          </p:nvSpPr>
          <p:spPr>
            <a:xfrm flipV="1">
              <a:off x="800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22" name="Line 24"/>
            <p:cNvSpPr/>
            <p:nvPr/>
          </p:nvSpPr>
          <p:spPr>
            <a:xfrm flipV="1">
              <a:off x="1024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23" name="Line 25"/>
            <p:cNvSpPr/>
            <p:nvPr/>
          </p:nvSpPr>
          <p:spPr>
            <a:xfrm flipV="1">
              <a:off x="1248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7" name="Group 26"/>
          <p:cNvGrpSpPr/>
          <p:nvPr/>
        </p:nvGrpSpPr>
        <p:grpSpPr>
          <a:xfrm>
            <a:off x="4495800" y="2238375"/>
            <a:ext cx="1066800" cy="733425"/>
            <a:chOff x="1968" y="1410"/>
            <a:chExt cx="672" cy="462"/>
          </a:xfrm>
        </p:grpSpPr>
        <p:sp>
          <p:nvSpPr>
            <p:cNvPr id="242816" name="Line 27"/>
            <p:cNvSpPr/>
            <p:nvPr/>
          </p:nvSpPr>
          <p:spPr>
            <a:xfrm flipV="1">
              <a:off x="1968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17" name="Line 28"/>
            <p:cNvSpPr/>
            <p:nvPr/>
          </p:nvSpPr>
          <p:spPr>
            <a:xfrm flipV="1">
              <a:off x="2192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18" name="Line 29"/>
            <p:cNvSpPr/>
            <p:nvPr/>
          </p:nvSpPr>
          <p:spPr>
            <a:xfrm flipV="1">
              <a:off x="2416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19" name="Line 30"/>
            <p:cNvSpPr/>
            <p:nvPr/>
          </p:nvSpPr>
          <p:spPr>
            <a:xfrm flipV="1">
              <a:off x="2640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8" name="Group 31"/>
          <p:cNvGrpSpPr/>
          <p:nvPr/>
        </p:nvGrpSpPr>
        <p:grpSpPr>
          <a:xfrm>
            <a:off x="6629400" y="2238375"/>
            <a:ext cx="1066800" cy="733425"/>
            <a:chOff x="3312" y="1410"/>
            <a:chExt cx="672" cy="462"/>
          </a:xfrm>
        </p:grpSpPr>
        <p:sp>
          <p:nvSpPr>
            <p:cNvPr id="242812" name="Line 32"/>
            <p:cNvSpPr/>
            <p:nvPr/>
          </p:nvSpPr>
          <p:spPr>
            <a:xfrm flipV="1">
              <a:off x="3312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13" name="Line 33"/>
            <p:cNvSpPr/>
            <p:nvPr/>
          </p:nvSpPr>
          <p:spPr>
            <a:xfrm flipV="1">
              <a:off x="3536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14" name="Line 34"/>
            <p:cNvSpPr/>
            <p:nvPr/>
          </p:nvSpPr>
          <p:spPr>
            <a:xfrm flipV="1">
              <a:off x="3760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15" name="Line 35"/>
            <p:cNvSpPr/>
            <p:nvPr/>
          </p:nvSpPr>
          <p:spPr>
            <a:xfrm flipV="1">
              <a:off x="3984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9" name="Group 36"/>
          <p:cNvGrpSpPr/>
          <p:nvPr/>
        </p:nvGrpSpPr>
        <p:grpSpPr>
          <a:xfrm>
            <a:off x="8839200" y="2238375"/>
            <a:ext cx="1066800" cy="733425"/>
            <a:chOff x="4704" y="1410"/>
            <a:chExt cx="672" cy="462"/>
          </a:xfrm>
        </p:grpSpPr>
        <p:sp>
          <p:nvSpPr>
            <p:cNvPr id="242808" name="Line 37"/>
            <p:cNvSpPr/>
            <p:nvPr/>
          </p:nvSpPr>
          <p:spPr>
            <a:xfrm flipV="1">
              <a:off x="4704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09" name="Line 38"/>
            <p:cNvSpPr/>
            <p:nvPr/>
          </p:nvSpPr>
          <p:spPr>
            <a:xfrm flipV="1">
              <a:off x="4928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10" name="Line 39"/>
            <p:cNvSpPr/>
            <p:nvPr/>
          </p:nvSpPr>
          <p:spPr>
            <a:xfrm flipV="1">
              <a:off x="5152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2811" name="Line 40"/>
            <p:cNvSpPr/>
            <p:nvPr/>
          </p:nvSpPr>
          <p:spPr>
            <a:xfrm flipV="1">
              <a:off x="5376" y="1410"/>
              <a:ext cx="0" cy="4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180265" name="Freeform 41"/>
          <p:cNvSpPr/>
          <p:nvPr/>
        </p:nvSpPr>
        <p:spPr>
          <a:xfrm>
            <a:off x="3657600" y="2667000"/>
            <a:ext cx="838200" cy="669925"/>
          </a:xfrm>
          <a:custGeom>
            <a:avLst/>
            <a:gdLst>
              <a:gd name="txL" fmla="*/ 0 w 528"/>
              <a:gd name="txT" fmla="*/ 0 h 528"/>
              <a:gd name="txR" fmla="*/ 528 w 528"/>
              <a:gd name="txB" fmla="*/ 528 h 528"/>
            </a:gdLst>
            <a:ahLst/>
            <a:cxnLst>
              <a:cxn ang="0">
                <a:pos x="528" y="0"/>
              </a:cxn>
              <a:cxn ang="0">
                <a:pos x="192" y="0"/>
              </a:cxn>
              <a:cxn ang="0">
                <a:pos x="192" y="528"/>
              </a:cxn>
              <a:cxn ang="0">
                <a:pos x="0" y="528"/>
              </a:cxn>
            </a:cxnLst>
            <a:rect l="txL" t="txT" r="txR" b="txB"/>
            <a:pathLst>
              <a:path w="528" h="528">
                <a:moveTo>
                  <a:pt x="528" y="0"/>
                </a:moveTo>
                <a:lnTo>
                  <a:pt x="192" y="0"/>
                </a:lnTo>
                <a:lnTo>
                  <a:pt x="192" y="528"/>
                </a:lnTo>
                <a:lnTo>
                  <a:pt x="0" y="528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oval" w="sm" len="sm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0266" name="Freeform 42"/>
          <p:cNvSpPr/>
          <p:nvPr/>
        </p:nvSpPr>
        <p:spPr>
          <a:xfrm>
            <a:off x="5848350" y="2667000"/>
            <a:ext cx="779463" cy="669925"/>
          </a:xfrm>
          <a:custGeom>
            <a:avLst/>
            <a:gdLst>
              <a:gd name="txL" fmla="*/ 0 w 491"/>
              <a:gd name="txT" fmla="*/ 0 h 422"/>
              <a:gd name="txR" fmla="*/ 491 w 491"/>
              <a:gd name="txB" fmla="*/ 422 h 422"/>
            </a:gdLst>
            <a:ahLst/>
            <a:cxnLst>
              <a:cxn ang="0">
                <a:pos x="491" y="0"/>
              </a:cxn>
              <a:cxn ang="0">
                <a:pos x="155" y="0"/>
              </a:cxn>
              <a:cxn ang="0">
                <a:pos x="155" y="422"/>
              </a:cxn>
              <a:cxn ang="0">
                <a:pos x="0" y="420"/>
              </a:cxn>
            </a:cxnLst>
            <a:rect l="txL" t="txT" r="txR" b="txB"/>
            <a:pathLst>
              <a:path w="491" h="422">
                <a:moveTo>
                  <a:pt x="491" y="0"/>
                </a:moveTo>
                <a:lnTo>
                  <a:pt x="155" y="0"/>
                </a:lnTo>
                <a:lnTo>
                  <a:pt x="155" y="422"/>
                </a:lnTo>
                <a:lnTo>
                  <a:pt x="0" y="42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oval" w="sm" len="sm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0267" name="Freeform 43"/>
          <p:cNvSpPr/>
          <p:nvPr/>
        </p:nvSpPr>
        <p:spPr>
          <a:xfrm>
            <a:off x="8026400" y="2667000"/>
            <a:ext cx="812800" cy="673100"/>
          </a:xfrm>
          <a:custGeom>
            <a:avLst/>
            <a:gdLst>
              <a:gd name="txL" fmla="*/ 0 w 512"/>
              <a:gd name="txT" fmla="*/ 0 h 424"/>
              <a:gd name="txR" fmla="*/ 512 w 512"/>
              <a:gd name="txB" fmla="*/ 424 h 424"/>
            </a:gdLst>
            <a:ahLst/>
            <a:cxnLst>
              <a:cxn ang="0">
                <a:pos x="512" y="0"/>
              </a:cxn>
              <a:cxn ang="0">
                <a:pos x="176" y="0"/>
              </a:cxn>
              <a:cxn ang="0">
                <a:pos x="176" y="422"/>
              </a:cxn>
              <a:cxn ang="0">
                <a:pos x="0" y="424"/>
              </a:cxn>
            </a:cxnLst>
            <a:rect l="txL" t="txT" r="txR" b="txB"/>
            <a:pathLst>
              <a:path w="512" h="424">
                <a:moveTo>
                  <a:pt x="512" y="0"/>
                </a:moveTo>
                <a:lnTo>
                  <a:pt x="176" y="0"/>
                </a:lnTo>
                <a:lnTo>
                  <a:pt x="176" y="422"/>
                </a:lnTo>
                <a:lnTo>
                  <a:pt x="0" y="424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oval" w="sm" len="sm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0" name="Group 44"/>
          <p:cNvGrpSpPr/>
          <p:nvPr/>
        </p:nvGrpSpPr>
        <p:grpSpPr>
          <a:xfrm>
            <a:off x="2041525" y="1798638"/>
            <a:ext cx="1676400" cy="412749"/>
            <a:chOff x="422" y="1133"/>
            <a:chExt cx="1056" cy="260"/>
          </a:xfrm>
        </p:grpSpPr>
        <p:sp>
          <p:nvSpPr>
            <p:cNvPr id="242804" name="Text Box 45"/>
            <p:cNvSpPr txBox="1"/>
            <p:nvPr/>
          </p:nvSpPr>
          <p:spPr>
            <a:xfrm>
              <a:off x="422" y="1142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805" name="Text Box 46"/>
            <p:cNvSpPr txBox="1"/>
            <p:nvPr/>
          </p:nvSpPr>
          <p:spPr>
            <a:xfrm>
              <a:off x="672" y="1133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806" name="Text Box 47"/>
            <p:cNvSpPr txBox="1"/>
            <p:nvPr/>
          </p:nvSpPr>
          <p:spPr>
            <a:xfrm>
              <a:off x="912" y="1133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807" name="Text Box 48"/>
            <p:cNvSpPr txBox="1"/>
            <p:nvPr/>
          </p:nvSpPr>
          <p:spPr>
            <a:xfrm>
              <a:off x="1152" y="1133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49"/>
          <p:cNvGrpSpPr/>
          <p:nvPr/>
        </p:nvGrpSpPr>
        <p:grpSpPr>
          <a:xfrm>
            <a:off x="4267200" y="1798638"/>
            <a:ext cx="1577975" cy="398463"/>
            <a:chOff x="1824" y="1133"/>
            <a:chExt cx="994" cy="251"/>
          </a:xfrm>
        </p:grpSpPr>
        <p:sp>
          <p:nvSpPr>
            <p:cNvPr id="242800" name="Text Box 50"/>
            <p:cNvSpPr txBox="1"/>
            <p:nvPr/>
          </p:nvSpPr>
          <p:spPr>
            <a:xfrm>
              <a:off x="1824" y="1133"/>
              <a:ext cx="31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801" name="Text Box 51"/>
            <p:cNvSpPr txBox="1"/>
            <p:nvPr/>
          </p:nvSpPr>
          <p:spPr>
            <a:xfrm>
              <a:off x="2064" y="1133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802" name="Text Box 52"/>
            <p:cNvSpPr txBox="1"/>
            <p:nvPr/>
          </p:nvSpPr>
          <p:spPr>
            <a:xfrm>
              <a:off x="2304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803" name="Text Box 53"/>
            <p:cNvSpPr txBox="1"/>
            <p:nvPr/>
          </p:nvSpPr>
          <p:spPr>
            <a:xfrm>
              <a:off x="2544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54"/>
          <p:cNvGrpSpPr/>
          <p:nvPr/>
        </p:nvGrpSpPr>
        <p:grpSpPr>
          <a:xfrm>
            <a:off x="6400800" y="1798638"/>
            <a:ext cx="1577975" cy="412749"/>
            <a:chOff x="3168" y="1133"/>
            <a:chExt cx="994" cy="260"/>
          </a:xfrm>
        </p:grpSpPr>
        <p:sp>
          <p:nvSpPr>
            <p:cNvPr id="242796" name="Text Box 55"/>
            <p:cNvSpPr txBox="1"/>
            <p:nvPr/>
          </p:nvSpPr>
          <p:spPr>
            <a:xfrm>
              <a:off x="3168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97" name="Text Box 56"/>
            <p:cNvSpPr txBox="1"/>
            <p:nvPr/>
          </p:nvSpPr>
          <p:spPr>
            <a:xfrm>
              <a:off x="3408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98" name="Text Box 57"/>
            <p:cNvSpPr txBox="1"/>
            <p:nvPr/>
          </p:nvSpPr>
          <p:spPr>
            <a:xfrm>
              <a:off x="3648" y="1142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99" name="Text Box 58"/>
            <p:cNvSpPr txBox="1"/>
            <p:nvPr/>
          </p:nvSpPr>
          <p:spPr>
            <a:xfrm>
              <a:off x="3888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59"/>
          <p:cNvGrpSpPr/>
          <p:nvPr/>
        </p:nvGrpSpPr>
        <p:grpSpPr>
          <a:xfrm>
            <a:off x="8534400" y="1798638"/>
            <a:ext cx="1577975" cy="398463"/>
            <a:chOff x="4416" y="1133"/>
            <a:chExt cx="994" cy="251"/>
          </a:xfrm>
        </p:grpSpPr>
        <p:sp>
          <p:nvSpPr>
            <p:cNvPr id="242792" name="Text Box 60"/>
            <p:cNvSpPr txBox="1"/>
            <p:nvPr/>
          </p:nvSpPr>
          <p:spPr>
            <a:xfrm>
              <a:off x="4416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93" name="Text Box 61"/>
            <p:cNvSpPr txBox="1"/>
            <p:nvPr/>
          </p:nvSpPr>
          <p:spPr>
            <a:xfrm>
              <a:off x="4656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94" name="Text Box 62"/>
            <p:cNvSpPr txBox="1"/>
            <p:nvPr/>
          </p:nvSpPr>
          <p:spPr>
            <a:xfrm>
              <a:off x="4896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95" name="Text Box 63"/>
            <p:cNvSpPr txBox="1"/>
            <p:nvPr/>
          </p:nvSpPr>
          <p:spPr>
            <a:xfrm>
              <a:off x="5136" y="1133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64"/>
          <p:cNvGrpSpPr/>
          <p:nvPr/>
        </p:nvGrpSpPr>
        <p:grpSpPr>
          <a:xfrm>
            <a:off x="1905000" y="3794125"/>
            <a:ext cx="1814513" cy="1084263"/>
            <a:chOff x="336" y="2390"/>
            <a:chExt cx="1143" cy="683"/>
          </a:xfrm>
        </p:grpSpPr>
        <p:sp>
          <p:nvSpPr>
            <p:cNvPr id="242776" name="Line 65"/>
            <p:cNvSpPr/>
            <p:nvPr/>
          </p:nvSpPr>
          <p:spPr>
            <a:xfrm>
              <a:off x="480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77" name="Line 66"/>
            <p:cNvSpPr/>
            <p:nvPr/>
          </p:nvSpPr>
          <p:spPr>
            <a:xfrm>
              <a:off x="726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78" name="Line 67"/>
            <p:cNvSpPr/>
            <p:nvPr/>
          </p:nvSpPr>
          <p:spPr>
            <a:xfrm>
              <a:off x="973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79" name="Line 68"/>
            <p:cNvSpPr/>
            <p:nvPr/>
          </p:nvSpPr>
          <p:spPr>
            <a:xfrm>
              <a:off x="1220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80" name="Line 69"/>
            <p:cNvSpPr/>
            <p:nvPr/>
          </p:nvSpPr>
          <p:spPr>
            <a:xfrm>
              <a:off x="603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81" name="Line 70"/>
            <p:cNvSpPr/>
            <p:nvPr/>
          </p:nvSpPr>
          <p:spPr>
            <a:xfrm>
              <a:off x="850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82" name="Line 71"/>
            <p:cNvSpPr/>
            <p:nvPr/>
          </p:nvSpPr>
          <p:spPr>
            <a:xfrm>
              <a:off x="1097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83" name="Line 72"/>
            <p:cNvSpPr/>
            <p:nvPr/>
          </p:nvSpPr>
          <p:spPr>
            <a:xfrm>
              <a:off x="1344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84" name="Text Box 73"/>
            <p:cNvSpPr txBox="1"/>
            <p:nvPr/>
          </p:nvSpPr>
          <p:spPr>
            <a:xfrm>
              <a:off x="336" y="2822"/>
              <a:ext cx="29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85" name="Text Box 74"/>
            <p:cNvSpPr txBox="1"/>
            <p:nvPr/>
          </p:nvSpPr>
          <p:spPr>
            <a:xfrm>
              <a:off x="480" y="2592"/>
              <a:ext cx="2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86" name="Text Box 75"/>
            <p:cNvSpPr txBox="1"/>
            <p:nvPr/>
          </p:nvSpPr>
          <p:spPr>
            <a:xfrm>
              <a:off x="565" y="2822"/>
              <a:ext cx="29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87" name="Text Box 76"/>
            <p:cNvSpPr txBox="1"/>
            <p:nvPr/>
          </p:nvSpPr>
          <p:spPr>
            <a:xfrm>
              <a:off x="826" y="2822"/>
              <a:ext cx="29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88" name="Text Box 77"/>
            <p:cNvSpPr txBox="1"/>
            <p:nvPr/>
          </p:nvSpPr>
          <p:spPr>
            <a:xfrm>
              <a:off x="1066" y="2822"/>
              <a:ext cx="29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89" name="Text Box 78"/>
            <p:cNvSpPr txBox="1"/>
            <p:nvPr/>
          </p:nvSpPr>
          <p:spPr>
            <a:xfrm>
              <a:off x="720" y="2592"/>
              <a:ext cx="2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90" name="Text Box 79"/>
            <p:cNvSpPr txBox="1"/>
            <p:nvPr/>
          </p:nvSpPr>
          <p:spPr>
            <a:xfrm>
              <a:off x="975" y="2592"/>
              <a:ext cx="2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91" name="Text Box 80"/>
            <p:cNvSpPr txBox="1"/>
            <p:nvPr/>
          </p:nvSpPr>
          <p:spPr>
            <a:xfrm>
              <a:off x="1215" y="2592"/>
              <a:ext cx="2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81"/>
          <p:cNvGrpSpPr/>
          <p:nvPr/>
        </p:nvGrpSpPr>
        <p:grpSpPr>
          <a:xfrm>
            <a:off x="4097338" y="3794125"/>
            <a:ext cx="1749425" cy="1084263"/>
            <a:chOff x="1717" y="2390"/>
            <a:chExt cx="1102" cy="683"/>
          </a:xfrm>
        </p:grpSpPr>
        <p:sp>
          <p:nvSpPr>
            <p:cNvPr id="242760" name="Line 82"/>
            <p:cNvSpPr/>
            <p:nvPr/>
          </p:nvSpPr>
          <p:spPr>
            <a:xfrm>
              <a:off x="1872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61" name="Line 83"/>
            <p:cNvSpPr/>
            <p:nvPr/>
          </p:nvSpPr>
          <p:spPr>
            <a:xfrm>
              <a:off x="2118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62" name="Line 84"/>
            <p:cNvSpPr/>
            <p:nvPr/>
          </p:nvSpPr>
          <p:spPr>
            <a:xfrm>
              <a:off x="2365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63" name="Line 85"/>
            <p:cNvSpPr/>
            <p:nvPr/>
          </p:nvSpPr>
          <p:spPr>
            <a:xfrm>
              <a:off x="2612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64" name="Line 86"/>
            <p:cNvSpPr/>
            <p:nvPr/>
          </p:nvSpPr>
          <p:spPr>
            <a:xfrm>
              <a:off x="1995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65" name="Line 87"/>
            <p:cNvSpPr/>
            <p:nvPr/>
          </p:nvSpPr>
          <p:spPr>
            <a:xfrm>
              <a:off x="2242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66" name="Line 88"/>
            <p:cNvSpPr/>
            <p:nvPr/>
          </p:nvSpPr>
          <p:spPr>
            <a:xfrm>
              <a:off x="2489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67" name="Line 89"/>
            <p:cNvSpPr/>
            <p:nvPr/>
          </p:nvSpPr>
          <p:spPr>
            <a:xfrm>
              <a:off x="2736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68" name="Text Box 90"/>
            <p:cNvSpPr txBox="1"/>
            <p:nvPr/>
          </p:nvSpPr>
          <p:spPr>
            <a:xfrm>
              <a:off x="1717" y="2822"/>
              <a:ext cx="29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69" name="Text Box 91"/>
            <p:cNvSpPr txBox="1"/>
            <p:nvPr/>
          </p:nvSpPr>
          <p:spPr>
            <a:xfrm>
              <a:off x="1957" y="2822"/>
              <a:ext cx="29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70" name="Text Box 92"/>
            <p:cNvSpPr txBox="1"/>
            <p:nvPr/>
          </p:nvSpPr>
          <p:spPr>
            <a:xfrm>
              <a:off x="2218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71" name="Text Box 93"/>
            <p:cNvSpPr txBox="1"/>
            <p:nvPr/>
          </p:nvSpPr>
          <p:spPr>
            <a:xfrm>
              <a:off x="2437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72" name="Text Box 94"/>
            <p:cNvSpPr txBox="1"/>
            <p:nvPr/>
          </p:nvSpPr>
          <p:spPr>
            <a:xfrm>
              <a:off x="1872" y="2592"/>
              <a:ext cx="25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73" name="Text Box 95"/>
            <p:cNvSpPr txBox="1"/>
            <p:nvPr/>
          </p:nvSpPr>
          <p:spPr>
            <a:xfrm>
              <a:off x="2127" y="2592"/>
              <a:ext cx="2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74" name="Text Box 96"/>
            <p:cNvSpPr txBox="1"/>
            <p:nvPr/>
          </p:nvSpPr>
          <p:spPr>
            <a:xfrm>
              <a:off x="2367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75" name="Text Box 97"/>
            <p:cNvSpPr txBox="1"/>
            <p:nvPr/>
          </p:nvSpPr>
          <p:spPr>
            <a:xfrm>
              <a:off x="2607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98"/>
          <p:cNvGrpSpPr/>
          <p:nvPr/>
        </p:nvGrpSpPr>
        <p:grpSpPr>
          <a:xfrm>
            <a:off x="6230938" y="3794125"/>
            <a:ext cx="1749425" cy="1084263"/>
            <a:chOff x="3061" y="2390"/>
            <a:chExt cx="1102" cy="683"/>
          </a:xfrm>
        </p:grpSpPr>
        <p:sp>
          <p:nvSpPr>
            <p:cNvPr id="242744" name="Line 99"/>
            <p:cNvSpPr/>
            <p:nvPr/>
          </p:nvSpPr>
          <p:spPr>
            <a:xfrm>
              <a:off x="3216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45" name="Line 100"/>
            <p:cNvSpPr/>
            <p:nvPr/>
          </p:nvSpPr>
          <p:spPr>
            <a:xfrm>
              <a:off x="3462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46" name="Line 101"/>
            <p:cNvSpPr/>
            <p:nvPr/>
          </p:nvSpPr>
          <p:spPr>
            <a:xfrm>
              <a:off x="3709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47" name="Line 102"/>
            <p:cNvSpPr/>
            <p:nvPr/>
          </p:nvSpPr>
          <p:spPr>
            <a:xfrm>
              <a:off x="3956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48" name="Line 103"/>
            <p:cNvSpPr/>
            <p:nvPr/>
          </p:nvSpPr>
          <p:spPr>
            <a:xfrm>
              <a:off x="3339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49" name="Line 104"/>
            <p:cNvSpPr/>
            <p:nvPr/>
          </p:nvSpPr>
          <p:spPr>
            <a:xfrm>
              <a:off x="3586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50" name="Line 105"/>
            <p:cNvSpPr/>
            <p:nvPr/>
          </p:nvSpPr>
          <p:spPr>
            <a:xfrm>
              <a:off x="3833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51" name="Line 106"/>
            <p:cNvSpPr/>
            <p:nvPr/>
          </p:nvSpPr>
          <p:spPr>
            <a:xfrm>
              <a:off x="4080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52" name="Text Box 107"/>
            <p:cNvSpPr txBox="1"/>
            <p:nvPr/>
          </p:nvSpPr>
          <p:spPr>
            <a:xfrm>
              <a:off x="3061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53" name="Text Box 108"/>
            <p:cNvSpPr txBox="1"/>
            <p:nvPr/>
          </p:nvSpPr>
          <p:spPr>
            <a:xfrm>
              <a:off x="3301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54" name="Text Box 109"/>
            <p:cNvSpPr txBox="1"/>
            <p:nvPr/>
          </p:nvSpPr>
          <p:spPr>
            <a:xfrm>
              <a:off x="3562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55" name="Text Box 110"/>
            <p:cNvSpPr txBox="1"/>
            <p:nvPr/>
          </p:nvSpPr>
          <p:spPr>
            <a:xfrm>
              <a:off x="3802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56" name="Text Box 111"/>
            <p:cNvSpPr txBox="1"/>
            <p:nvPr/>
          </p:nvSpPr>
          <p:spPr>
            <a:xfrm>
              <a:off x="3231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57" name="Text Box 112"/>
            <p:cNvSpPr txBox="1"/>
            <p:nvPr/>
          </p:nvSpPr>
          <p:spPr>
            <a:xfrm>
              <a:off x="3471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58" name="Text Box 113"/>
            <p:cNvSpPr txBox="1"/>
            <p:nvPr/>
          </p:nvSpPr>
          <p:spPr>
            <a:xfrm>
              <a:off x="3711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59" name="Text Box 114"/>
            <p:cNvSpPr txBox="1"/>
            <p:nvPr/>
          </p:nvSpPr>
          <p:spPr>
            <a:xfrm>
              <a:off x="3951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115"/>
          <p:cNvGrpSpPr/>
          <p:nvPr/>
        </p:nvGrpSpPr>
        <p:grpSpPr>
          <a:xfrm>
            <a:off x="8440738" y="3794125"/>
            <a:ext cx="1749425" cy="1084263"/>
            <a:chOff x="4453" y="2390"/>
            <a:chExt cx="1102" cy="683"/>
          </a:xfrm>
        </p:grpSpPr>
        <p:sp>
          <p:nvSpPr>
            <p:cNvPr id="242728" name="Line 116"/>
            <p:cNvSpPr/>
            <p:nvPr/>
          </p:nvSpPr>
          <p:spPr>
            <a:xfrm>
              <a:off x="4608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29" name="Line 117"/>
            <p:cNvSpPr/>
            <p:nvPr/>
          </p:nvSpPr>
          <p:spPr>
            <a:xfrm>
              <a:off x="4854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30" name="Line 118"/>
            <p:cNvSpPr/>
            <p:nvPr/>
          </p:nvSpPr>
          <p:spPr>
            <a:xfrm>
              <a:off x="5101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31" name="Line 119"/>
            <p:cNvSpPr/>
            <p:nvPr/>
          </p:nvSpPr>
          <p:spPr>
            <a:xfrm>
              <a:off x="5348" y="2390"/>
              <a:ext cx="0" cy="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32" name="Line 120"/>
            <p:cNvSpPr/>
            <p:nvPr/>
          </p:nvSpPr>
          <p:spPr>
            <a:xfrm>
              <a:off x="4731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33" name="Line 121"/>
            <p:cNvSpPr/>
            <p:nvPr/>
          </p:nvSpPr>
          <p:spPr>
            <a:xfrm>
              <a:off x="4978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34" name="Line 122"/>
            <p:cNvSpPr/>
            <p:nvPr/>
          </p:nvSpPr>
          <p:spPr>
            <a:xfrm>
              <a:off x="5225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35" name="Line 123"/>
            <p:cNvSpPr/>
            <p:nvPr/>
          </p:nvSpPr>
          <p:spPr>
            <a:xfrm>
              <a:off x="5472" y="2390"/>
              <a:ext cx="0" cy="2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2736" name="Text Box 124"/>
            <p:cNvSpPr txBox="1"/>
            <p:nvPr/>
          </p:nvSpPr>
          <p:spPr>
            <a:xfrm>
              <a:off x="4453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37" name="Text Box 125"/>
            <p:cNvSpPr txBox="1"/>
            <p:nvPr/>
          </p:nvSpPr>
          <p:spPr>
            <a:xfrm>
              <a:off x="4693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38" name="Text Box 126"/>
            <p:cNvSpPr txBox="1"/>
            <p:nvPr/>
          </p:nvSpPr>
          <p:spPr>
            <a:xfrm>
              <a:off x="4954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39" name="Text Box 127"/>
            <p:cNvSpPr txBox="1"/>
            <p:nvPr/>
          </p:nvSpPr>
          <p:spPr>
            <a:xfrm>
              <a:off x="5221" y="2822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40" name="Text Box 128"/>
            <p:cNvSpPr txBox="1"/>
            <p:nvPr/>
          </p:nvSpPr>
          <p:spPr>
            <a:xfrm>
              <a:off x="4608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41" name="Text Box 129"/>
            <p:cNvSpPr txBox="1"/>
            <p:nvPr/>
          </p:nvSpPr>
          <p:spPr>
            <a:xfrm>
              <a:off x="4863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42" name="Text Box 130"/>
            <p:cNvSpPr txBox="1"/>
            <p:nvPr/>
          </p:nvSpPr>
          <p:spPr>
            <a:xfrm>
              <a:off x="5103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2743" name="Text Box 131"/>
            <p:cNvSpPr txBox="1"/>
            <p:nvPr/>
          </p:nvSpPr>
          <p:spPr>
            <a:xfrm>
              <a:off x="5343" y="2592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0356" name="Rectangle 132"/>
          <p:cNvSpPr/>
          <p:nvPr/>
        </p:nvSpPr>
        <p:spPr>
          <a:xfrm>
            <a:off x="5875338" y="5105400"/>
            <a:ext cx="4678362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产生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3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~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357" name="Rectangle 133"/>
          <p:cNvSpPr/>
          <p:nvPr/>
        </p:nvSpPr>
        <p:spPr>
          <a:xfrm>
            <a:off x="5867400" y="54864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产生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7 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~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 b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2718" name="Rectangle 134"/>
          <p:cNvSpPr/>
          <p:nvPr/>
        </p:nvSpPr>
        <p:spPr>
          <a:xfrm>
            <a:off x="5867400" y="5888038"/>
            <a:ext cx="4678363" cy="360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359" name="Rectangle 135"/>
          <p:cNvSpPr/>
          <p:nvPr/>
        </p:nvSpPr>
        <p:spPr>
          <a:xfrm>
            <a:off x="5943600" y="58674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产生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11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~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 b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360" name="Rectangle 136"/>
          <p:cNvSpPr/>
          <p:nvPr/>
        </p:nvSpPr>
        <p:spPr>
          <a:xfrm>
            <a:off x="5875338" y="6269038"/>
            <a:ext cx="4678362" cy="360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产生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15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~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12</a:t>
            </a:r>
            <a:endParaRPr lang="en-US" altLang="zh-CN" sz="2400" b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361" name="Rectangle 13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362" name="Text Box 138"/>
          <p:cNvSpPr txBox="1"/>
          <p:nvPr/>
        </p:nvSpPr>
        <p:spPr>
          <a:xfrm>
            <a:off x="6781800" y="1219200"/>
            <a:ext cx="24050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以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 = 16 </a:t>
            </a:r>
            <a:r>
              <a:rPr lang="zh-CN" altLang="en-US" sz="2400" b="1" dirty="0">
                <a:latin typeface="Times New Roman" panose="02020603050405020304" pitchFamily="18" charset="0"/>
              </a:rPr>
              <a:t>为例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8" name="Group 139"/>
          <p:cNvGrpSpPr/>
          <p:nvPr/>
        </p:nvGrpSpPr>
        <p:grpSpPr>
          <a:xfrm>
            <a:off x="10058400" y="1798638"/>
            <a:ext cx="533400" cy="1554162"/>
            <a:chOff x="5376" y="1133"/>
            <a:chExt cx="336" cy="979"/>
          </a:xfrm>
        </p:grpSpPr>
        <p:sp>
          <p:nvSpPr>
            <p:cNvPr id="242726" name="Freeform 140"/>
            <p:cNvSpPr/>
            <p:nvPr/>
          </p:nvSpPr>
          <p:spPr>
            <a:xfrm>
              <a:off x="5472" y="1440"/>
              <a:ext cx="96" cy="672"/>
            </a:xfrm>
            <a:custGeom>
              <a:avLst/>
              <a:gdLst>
                <a:gd name="txL" fmla="*/ 0 w 144"/>
                <a:gd name="txT" fmla="*/ 0 h 672"/>
                <a:gd name="txR" fmla="*/ 144 w 144"/>
                <a:gd name="txB" fmla="*/ 672 h 672"/>
              </a:gdLst>
              <a:ahLst/>
              <a:cxnLst>
                <a:cxn ang="0">
                  <a:pos x="144" y="0"/>
                </a:cxn>
                <a:cxn ang="0">
                  <a:pos x="144" y="672"/>
                </a:cxn>
                <a:cxn ang="0">
                  <a:pos x="0" y="672"/>
                </a:cxn>
              </a:cxnLst>
              <a:rect l="txL" t="txT" r="txR" b="txB"/>
              <a:pathLst>
                <a:path w="144" h="672">
                  <a:moveTo>
                    <a:pt x="144" y="0"/>
                  </a:moveTo>
                  <a:lnTo>
                    <a:pt x="144" y="672"/>
                  </a:lnTo>
                  <a:lnTo>
                    <a:pt x="0" y="6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2727" name="Text Box 141"/>
            <p:cNvSpPr txBox="1"/>
            <p:nvPr/>
          </p:nvSpPr>
          <p:spPr>
            <a:xfrm>
              <a:off x="5376" y="1133"/>
              <a:ext cx="3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2724" name="AutoShape 14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2725" name="日期占位符 19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18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18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18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8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8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18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8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29" grpId="0"/>
      <p:bldP spid="180230" grpId="0"/>
      <p:bldP spid="180231" grpId="0"/>
      <p:bldP spid="180265" grpId="0" bldLvl="0" animBg="1"/>
      <p:bldP spid="180266" grpId="0" bldLvl="0" animBg="1"/>
      <p:bldP spid="180267" grpId="0" bldLvl="0" animBg="1"/>
      <p:bldP spid="180356" grpId="0"/>
      <p:bldP spid="180357" grpId="0"/>
      <p:bldP spid="180359" grpId="0"/>
      <p:bldP spid="180360" grpId="0"/>
      <p:bldP spid="180362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43714" name="Rectangle 2"/>
          <p:cNvSpPr/>
          <p:nvPr/>
        </p:nvSpPr>
        <p:spPr>
          <a:xfrm>
            <a:off x="1752600" y="228600"/>
            <a:ext cx="72390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双重分组跳跃进位链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43715" name="Rectangle 3"/>
          <p:cNvSpPr/>
          <p:nvPr/>
        </p:nvSpPr>
        <p:spPr>
          <a:xfrm>
            <a:off x="2209800" y="838200"/>
            <a:ext cx="7772400" cy="1752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位全加器分若干大组，大组中又包含若干小组。每个大组中小组的最高位进位同时产生。大组与大组之间采用串行进位。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3716" name="Rectangle 4"/>
          <p:cNvSpPr/>
          <p:nvPr/>
        </p:nvSpPr>
        <p:spPr>
          <a:xfrm>
            <a:off x="2205038" y="2590800"/>
            <a:ext cx="2519362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= 32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为例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43717" name="Group 5"/>
          <p:cNvGrpSpPr/>
          <p:nvPr/>
        </p:nvGrpSpPr>
        <p:grpSpPr>
          <a:xfrm>
            <a:off x="2084388" y="5884863"/>
            <a:ext cx="3962400" cy="466725"/>
            <a:chOff x="353" y="3780"/>
            <a:chExt cx="2496" cy="294"/>
          </a:xfrm>
        </p:grpSpPr>
        <p:sp>
          <p:nvSpPr>
            <p:cNvPr id="243757" name="Text Box 6"/>
            <p:cNvSpPr txBox="1"/>
            <p:nvPr/>
          </p:nvSpPr>
          <p:spPr>
            <a:xfrm>
              <a:off x="487" y="3789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3758" name="Text Box 7"/>
            <p:cNvSpPr txBox="1"/>
            <p:nvPr/>
          </p:nvSpPr>
          <p:spPr>
            <a:xfrm>
              <a:off x="1831" y="379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43759" name="Group 8"/>
            <p:cNvGrpSpPr/>
            <p:nvPr/>
          </p:nvGrpSpPr>
          <p:grpSpPr>
            <a:xfrm>
              <a:off x="353" y="3780"/>
              <a:ext cx="2496" cy="294"/>
              <a:chOff x="353" y="3780"/>
              <a:chExt cx="2496" cy="294"/>
            </a:xfrm>
          </p:grpSpPr>
          <p:sp>
            <p:nvSpPr>
              <p:cNvPr id="243761" name="Rectangle 9"/>
              <p:cNvSpPr/>
              <p:nvPr/>
            </p:nvSpPr>
            <p:spPr>
              <a:xfrm>
                <a:off x="353" y="3780"/>
                <a:ext cx="48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3762" name="Rectangle 10"/>
              <p:cNvSpPr/>
              <p:nvPr/>
            </p:nvSpPr>
            <p:spPr>
              <a:xfrm>
                <a:off x="1025" y="3786"/>
                <a:ext cx="48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3763" name="Text Box 11"/>
              <p:cNvSpPr txBox="1"/>
              <p:nvPr/>
            </p:nvSpPr>
            <p:spPr>
              <a:xfrm>
                <a:off x="1159" y="379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3764" name="Rectangle 12"/>
              <p:cNvSpPr/>
              <p:nvPr/>
            </p:nvSpPr>
            <p:spPr>
              <a:xfrm>
                <a:off x="1697" y="3786"/>
                <a:ext cx="48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3765" name="Rectangle 13"/>
              <p:cNvSpPr/>
              <p:nvPr/>
            </p:nvSpPr>
            <p:spPr>
              <a:xfrm>
                <a:off x="2369" y="3786"/>
                <a:ext cx="48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3760" name="Text Box 14"/>
            <p:cNvSpPr txBox="1"/>
            <p:nvPr/>
          </p:nvSpPr>
          <p:spPr>
            <a:xfrm>
              <a:off x="2503" y="379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3718" name="Group 15"/>
          <p:cNvGrpSpPr/>
          <p:nvPr/>
        </p:nvGrpSpPr>
        <p:grpSpPr>
          <a:xfrm>
            <a:off x="6351588" y="5894388"/>
            <a:ext cx="3962400" cy="466725"/>
            <a:chOff x="3041" y="3786"/>
            <a:chExt cx="2496" cy="294"/>
          </a:xfrm>
        </p:grpSpPr>
        <p:sp>
          <p:nvSpPr>
            <p:cNvPr id="243748" name="Text Box 16"/>
            <p:cNvSpPr txBox="1"/>
            <p:nvPr/>
          </p:nvSpPr>
          <p:spPr>
            <a:xfrm>
              <a:off x="3175" y="379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3749" name="Text Box 17"/>
            <p:cNvSpPr txBox="1"/>
            <p:nvPr/>
          </p:nvSpPr>
          <p:spPr>
            <a:xfrm>
              <a:off x="3847" y="3801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43750" name="Group 18"/>
            <p:cNvGrpSpPr/>
            <p:nvPr/>
          </p:nvGrpSpPr>
          <p:grpSpPr>
            <a:xfrm>
              <a:off x="3041" y="3786"/>
              <a:ext cx="2496" cy="294"/>
              <a:chOff x="3041" y="3786"/>
              <a:chExt cx="2496" cy="294"/>
            </a:xfrm>
          </p:grpSpPr>
          <p:sp>
            <p:nvSpPr>
              <p:cNvPr id="243751" name="Rectangle 19"/>
              <p:cNvSpPr/>
              <p:nvPr/>
            </p:nvSpPr>
            <p:spPr>
              <a:xfrm>
                <a:off x="3041" y="3786"/>
                <a:ext cx="48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3752" name="Rectangle 20"/>
              <p:cNvSpPr/>
              <p:nvPr/>
            </p:nvSpPr>
            <p:spPr>
              <a:xfrm>
                <a:off x="3713" y="3792"/>
                <a:ext cx="48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3753" name="Rectangle 21"/>
              <p:cNvSpPr/>
              <p:nvPr/>
            </p:nvSpPr>
            <p:spPr>
              <a:xfrm>
                <a:off x="4385" y="3792"/>
                <a:ext cx="48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3754" name="Text Box 22"/>
              <p:cNvSpPr txBox="1"/>
              <p:nvPr/>
            </p:nvSpPr>
            <p:spPr>
              <a:xfrm>
                <a:off x="4519" y="380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3755" name="Rectangle 23"/>
              <p:cNvSpPr/>
              <p:nvPr/>
            </p:nvSpPr>
            <p:spPr>
              <a:xfrm>
                <a:off x="5057" y="3792"/>
                <a:ext cx="48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3756" name="Text Box 24"/>
              <p:cNvSpPr txBox="1"/>
              <p:nvPr/>
            </p:nvSpPr>
            <p:spPr>
              <a:xfrm>
                <a:off x="5191" y="380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43719" name="Group 25"/>
          <p:cNvGrpSpPr/>
          <p:nvPr/>
        </p:nvGrpSpPr>
        <p:grpSpPr>
          <a:xfrm>
            <a:off x="2008188" y="4284663"/>
            <a:ext cx="3886200" cy="533400"/>
            <a:chOff x="305" y="2772"/>
            <a:chExt cx="2448" cy="336"/>
          </a:xfrm>
        </p:grpSpPr>
        <p:sp>
          <p:nvSpPr>
            <p:cNvPr id="243746" name="Rectangle 26"/>
            <p:cNvSpPr/>
            <p:nvPr/>
          </p:nvSpPr>
          <p:spPr>
            <a:xfrm>
              <a:off x="305" y="2772"/>
              <a:ext cx="244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3747" name="Text Box 27"/>
            <p:cNvSpPr txBox="1"/>
            <p:nvPr/>
          </p:nvSpPr>
          <p:spPr>
            <a:xfrm>
              <a:off x="809" y="2798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第    一    大    组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8"/>
          <p:cNvGrpSpPr/>
          <p:nvPr/>
        </p:nvGrpSpPr>
        <p:grpSpPr>
          <a:xfrm>
            <a:off x="6275388" y="4284663"/>
            <a:ext cx="3886200" cy="533400"/>
            <a:chOff x="2993" y="2772"/>
            <a:chExt cx="2448" cy="336"/>
          </a:xfrm>
        </p:grpSpPr>
        <p:sp>
          <p:nvSpPr>
            <p:cNvPr id="243744" name="Rectangle 29"/>
            <p:cNvSpPr/>
            <p:nvPr/>
          </p:nvSpPr>
          <p:spPr>
            <a:xfrm>
              <a:off x="2993" y="2772"/>
              <a:ext cx="2448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3745" name="Text Box 30"/>
            <p:cNvSpPr txBox="1"/>
            <p:nvPr/>
          </p:nvSpPr>
          <p:spPr>
            <a:xfrm>
              <a:off x="3497" y="2798"/>
              <a:ext cx="14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第    二    大    组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1279" name="Freeform 31"/>
          <p:cNvSpPr/>
          <p:nvPr/>
        </p:nvSpPr>
        <p:spPr>
          <a:xfrm>
            <a:off x="5894388" y="4513263"/>
            <a:ext cx="252412" cy="1587"/>
          </a:xfrm>
          <a:custGeom>
            <a:avLst/>
            <a:gdLst>
              <a:gd name="txL" fmla="*/ 0 w 159"/>
              <a:gd name="txT" fmla="*/ 0 h 1"/>
              <a:gd name="txR" fmla="*/ 159 w 159"/>
              <a:gd name="txB" fmla="*/ 1 h 1"/>
            </a:gdLst>
            <a:ahLst/>
            <a:cxnLst>
              <a:cxn ang="0">
                <a:pos x="0" y="0"/>
              </a:cxn>
              <a:cxn ang="0">
                <a:pos x="159" y="0"/>
              </a:cxn>
            </a:cxnLst>
            <a:rect l="txL" t="txT" r="txR" b="txB"/>
            <a:pathLst>
              <a:path w="159" h="1">
                <a:moveTo>
                  <a:pt x="0" y="0"/>
                </a:moveTo>
                <a:lnTo>
                  <a:pt x="159" y="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stealth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1280" name="Freeform 32"/>
          <p:cNvSpPr/>
          <p:nvPr/>
        </p:nvSpPr>
        <p:spPr>
          <a:xfrm>
            <a:off x="6042025" y="3979863"/>
            <a:ext cx="385763" cy="2133600"/>
          </a:xfrm>
          <a:custGeom>
            <a:avLst/>
            <a:gdLst>
              <a:gd name="txL" fmla="*/ 0 w 243"/>
              <a:gd name="txT" fmla="*/ 0 h 1344"/>
              <a:gd name="txR" fmla="*/ 243 w 243"/>
              <a:gd name="txB" fmla="*/ 1344 h 1344"/>
            </a:gdLst>
            <a:ahLst/>
            <a:cxnLst>
              <a:cxn ang="0">
                <a:pos x="0" y="1344"/>
              </a:cxn>
              <a:cxn ang="0">
                <a:pos x="70" y="1344"/>
              </a:cxn>
              <a:cxn ang="0">
                <a:pos x="70" y="0"/>
              </a:cxn>
              <a:cxn ang="0">
                <a:pos x="243" y="0"/>
              </a:cxn>
            </a:cxnLst>
            <a:rect l="txL" t="txT" r="txR" b="txB"/>
            <a:pathLst>
              <a:path w="243" h="1344">
                <a:moveTo>
                  <a:pt x="0" y="1344"/>
                </a:moveTo>
                <a:lnTo>
                  <a:pt x="70" y="1344"/>
                </a:lnTo>
                <a:lnTo>
                  <a:pt x="70" y="0"/>
                </a:lnTo>
                <a:lnTo>
                  <a:pt x="243" y="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stealth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8" name="Group 33"/>
          <p:cNvGrpSpPr/>
          <p:nvPr/>
        </p:nvGrpSpPr>
        <p:grpSpPr>
          <a:xfrm>
            <a:off x="1992313" y="3141663"/>
            <a:ext cx="3657600" cy="1143000"/>
            <a:chOff x="295" y="2052"/>
            <a:chExt cx="2304" cy="720"/>
          </a:xfrm>
        </p:grpSpPr>
        <p:sp>
          <p:nvSpPr>
            <p:cNvPr id="243736" name="Line 34"/>
            <p:cNvSpPr/>
            <p:nvPr/>
          </p:nvSpPr>
          <p:spPr>
            <a:xfrm flipV="1">
              <a:off x="401" y="2340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3737" name="Line 35"/>
            <p:cNvSpPr/>
            <p:nvPr/>
          </p:nvSpPr>
          <p:spPr>
            <a:xfrm flipV="1">
              <a:off x="1073" y="2340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3738" name="Line 36"/>
            <p:cNvSpPr/>
            <p:nvPr/>
          </p:nvSpPr>
          <p:spPr>
            <a:xfrm flipV="1">
              <a:off x="1745" y="2340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3739" name="Line 37"/>
            <p:cNvSpPr/>
            <p:nvPr/>
          </p:nvSpPr>
          <p:spPr>
            <a:xfrm flipV="1">
              <a:off x="2417" y="2340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3740" name="Text Box 38"/>
            <p:cNvSpPr txBox="1"/>
            <p:nvPr/>
          </p:nvSpPr>
          <p:spPr>
            <a:xfrm>
              <a:off x="295" y="2061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3741" name="Text Box 39"/>
            <p:cNvSpPr txBox="1"/>
            <p:nvPr/>
          </p:nvSpPr>
          <p:spPr>
            <a:xfrm>
              <a:off x="929" y="2052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3742" name="Text Box 40"/>
            <p:cNvSpPr txBox="1"/>
            <p:nvPr/>
          </p:nvSpPr>
          <p:spPr>
            <a:xfrm>
              <a:off x="1601" y="2052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3743" name="Text Box 41"/>
            <p:cNvSpPr txBox="1"/>
            <p:nvPr/>
          </p:nvSpPr>
          <p:spPr>
            <a:xfrm>
              <a:off x="2273" y="2052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19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42"/>
          <p:cNvGrpSpPr/>
          <p:nvPr/>
        </p:nvGrpSpPr>
        <p:grpSpPr>
          <a:xfrm>
            <a:off x="6199188" y="3141663"/>
            <a:ext cx="3635375" cy="1143000"/>
            <a:chOff x="2945" y="2052"/>
            <a:chExt cx="2290" cy="720"/>
          </a:xfrm>
        </p:grpSpPr>
        <p:sp>
          <p:nvSpPr>
            <p:cNvPr id="243728" name="Line 43"/>
            <p:cNvSpPr/>
            <p:nvPr/>
          </p:nvSpPr>
          <p:spPr>
            <a:xfrm flipV="1">
              <a:off x="3089" y="2340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3729" name="Line 44"/>
            <p:cNvSpPr/>
            <p:nvPr/>
          </p:nvSpPr>
          <p:spPr>
            <a:xfrm flipV="1">
              <a:off x="3761" y="2340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3730" name="Line 45"/>
            <p:cNvSpPr/>
            <p:nvPr/>
          </p:nvSpPr>
          <p:spPr>
            <a:xfrm flipV="1">
              <a:off x="4433" y="2340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3731" name="Line 46"/>
            <p:cNvSpPr/>
            <p:nvPr/>
          </p:nvSpPr>
          <p:spPr>
            <a:xfrm flipV="1">
              <a:off x="5105" y="2340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3732" name="Text Box 47"/>
            <p:cNvSpPr txBox="1"/>
            <p:nvPr/>
          </p:nvSpPr>
          <p:spPr>
            <a:xfrm>
              <a:off x="2945" y="2052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3733" name="Text Box 48"/>
            <p:cNvSpPr txBox="1"/>
            <p:nvPr/>
          </p:nvSpPr>
          <p:spPr>
            <a:xfrm>
              <a:off x="3617" y="2052"/>
              <a:ext cx="31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3734" name="Text Box 49"/>
            <p:cNvSpPr txBox="1"/>
            <p:nvPr/>
          </p:nvSpPr>
          <p:spPr>
            <a:xfrm>
              <a:off x="4289" y="2052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3735" name="Text Box 50"/>
            <p:cNvSpPr txBox="1"/>
            <p:nvPr/>
          </p:nvSpPr>
          <p:spPr>
            <a:xfrm>
              <a:off x="4961" y="2052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1299" name="Rectangle 5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3726" name="AutoShape 52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372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8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" dur="500"/>
                                        <p:tgtEl>
                                          <p:spTgt spid="18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79" grpId="0" bldLvl="0" animBg="1"/>
      <p:bldP spid="181280" grpId="0" bldLvl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44738" name="Rectangle 2"/>
          <p:cNvSpPr/>
          <p:nvPr/>
        </p:nvSpPr>
        <p:spPr>
          <a:xfrm>
            <a:off x="1752600" y="152400"/>
            <a:ext cx="74676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双重分组跳跃进位链 大组进位分析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82275" name="Rectangle 3"/>
          <p:cNvSpPr/>
          <p:nvPr/>
        </p:nvSpPr>
        <p:spPr>
          <a:xfrm>
            <a:off x="2724150" y="1228725"/>
            <a:ext cx="8637588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2276" name="Rectangle 4"/>
          <p:cNvSpPr/>
          <p:nvPr/>
        </p:nvSpPr>
        <p:spPr>
          <a:xfrm>
            <a:off x="1874838" y="858838"/>
            <a:ext cx="4678362" cy="360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以第 </a:t>
            </a:r>
            <a:r>
              <a:rPr lang="en-US" altLang="zh-CN" sz="2400" b="1" dirty="0">
                <a:latin typeface="Times New Roman" panose="02020603050405020304" pitchFamily="18" charset="0"/>
              </a:rPr>
              <a:t>8 </a:t>
            </a:r>
            <a:r>
              <a:rPr lang="zh-CN" altLang="en-US" sz="2400" b="1" dirty="0">
                <a:latin typeface="Times New Roman" panose="02020603050405020304" pitchFamily="18" charset="0"/>
              </a:rPr>
              <a:t>小组为例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82277" name="Rectangle 5"/>
          <p:cNvSpPr/>
          <p:nvPr/>
        </p:nvSpPr>
        <p:spPr>
          <a:xfrm>
            <a:off x="2613025" y="2209800"/>
            <a:ext cx="7197725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小组的本地进位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与外来进位无关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2278" name="Rectangle 6"/>
          <p:cNvSpPr/>
          <p:nvPr/>
        </p:nvSpPr>
        <p:spPr>
          <a:xfrm>
            <a:off x="2613025" y="2678113"/>
            <a:ext cx="8054975" cy="3413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小组的传送条件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与外来进位无关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传递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外来进位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2279" name="Rectangle 7"/>
          <p:cNvSpPr/>
          <p:nvPr/>
        </p:nvSpPr>
        <p:spPr>
          <a:xfrm>
            <a:off x="4343400" y="3163888"/>
            <a:ext cx="4678363" cy="360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2280" name="Rectangle 8"/>
          <p:cNvSpPr/>
          <p:nvPr/>
        </p:nvSpPr>
        <p:spPr>
          <a:xfrm>
            <a:off x="4343400" y="3630613"/>
            <a:ext cx="4678363" cy="360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11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2281" name="Rectangle 9"/>
          <p:cNvSpPr/>
          <p:nvPr/>
        </p:nvSpPr>
        <p:spPr>
          <a:xfrm>
            <a:off x="1874838" y="4562475"/>
            <a:ext cx="4678362" cy="360363"/>
          </a:xfrm>
          <a:prstGeom prst="rect">
            <a:avLst/>
          </a:prstGeom>
          <a:noFill/>
          <a:ln w="9525">
            <a:noFill/>
          </a:ln>
        </p:spPr>
        <p:txBody>
          <a:bodyPr lIns="90000" tIns="90000" rIns="90000" bIns="90000" anchor="ctr" anchorCtr="0"/>
          <a:p>
            <a:r>
              <a:rPr lang="zh-CN" altLang="en-US" sz="2400" b="1" dirty="0">
                <a:latin typeface="Times New Roman" panose="02020603050405020304" pitchFamily="18" charset="0"/>
              </a:rPr>
              <a:t>进一步展开得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82282" name="Rectangle 10"/>
          <p:cNvSpPr/>
          <p:nvPr/>
        </p:nvSpPr>
        <p:spPr>
          <a:xfrm>
            <a:off x="4343400" y="41148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15</a:t>
            </a:r>
            <a:r>
              <a:rPr lang="en-US" altLang="zh-CN" sz="9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2283" name="Rectangle 11"/>
          <p:cNvSpPr/>
          <p:nvPr/>
        </p:nvSpPr>
        <p:spPr>
          <a:xfrm>
            <a:off x="2724150" y="4943475"/>
            <a:ext cx="3598863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 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2284" name="Rectangle 12"/>
          <p:cNvSpPr/>
          <p:nvPr/>
        </p:nvSpPr>
        <p:spPr>
          <a:xfrm>
            <a:off x="2724150" y="5410200"/>
            <a:ext cx="7197725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1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2285" name="Rectangle 13"/>
          <p:cNvSpPr/>
          <p:nvPr/>
        </p:nvSpPr>
        <p:spPr>
          <a:xfrm>
            <a:off x="2724150" y="5876925"/>
            <a:ext cx="8637588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11</a:t>
            </a:r>
            <a:r>
              <a:rPr lang="en-US" altLang="zh-CN" sz="1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2286" name="Rectangle 14"/>
          <p:cNvSpPr/>
          <p:nvPr/>
        </p:nvSpPr>
        <p:spPr>
          <a:xfrm>
            <a:off x="2724150" y="6345238"/>
            <a:ext cx="10077450" cy="360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15</a:t>
            </a:r>
            <a:r>
              <a:rPr lang="en-US" altLang="zh-CN" sz="1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82287" name="Text Box 15"/>
          <p:cNvSpPr txBox="1"/>
          <p:nvPr/>
        </p:nvSpPr>
        <p:spPr>
          <a:xfrm>
            <a:off x="2667000" y="3163888"/>
            <a:ext cx="23161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第 </a:t>
            </a:r>
            <a:r>
              <a:rPr lang="en-US" altLang="zh-CN" sz="2400" b="1" dirty="0">
                <a:latin typeface="Times New Roman" panose="02020603050405020304" pitchFamily="18" charset="0"/>
              </a:rPr>
              <a:t>7 </a:t>
            </a:r>
            <a:r>
              <a:rPr lang="zh-CN" altLang="en-US" sz="2400" b="1" dirty="0">
                <a:latin typeface="Times New Roman" panose="02020603050405020304" pitchFamily="18" charset="0"/>
              </a:rPr>
              <a:t>小组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82288" name="AutoShape 16"/>
          <p:cNvSpPr/>
          <p:nvPr/>
        </p:nvSpPr>
        <p:spPr>
          <a:xfrm rot="-5400000">
            <a:off x="6515100" y="38100"/>
            <a:ext cx="228600" cy="3352800"/>
          </a:xfrm>
          <a:prstGeom prst="leftBrace">
            <a:avLst>
              <a:gd name="adj1" fmla="val 121067"/>
              <a:gd name="adj2" fmla="val 51606"/>
            </a:avLst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2289" name="AutoShape 17"/>
          <p:cNvSpPr/>
          <p:nvPr/>
        </p:nvSpPr>
        <p:spPr>
          <a:xfrm rot="-5400000">
            <a:off x="9067800" y="1371600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2290" name="Text Box 18"/>
          <p:cNvSpPr txBox="1"/>
          <p:nvPr/>
        </p:nvSpPr>
        <p:spPr>
          <a:xfrm>
            <a:off x="2667000" y="3630613"/>
            <a:ext cx="2362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第 </a:t>
            </a:r>
            <a:r>
              <a:rPr lang="en-US" altLang="zh-CN" sz="2400" b="1" dirty="0">
                <a:latin typeface="Times New Roman" panose="02020603050405020304" pitchFamily="18" charset="0"/>
              </a:rPr>
              <a:t>6 </a:t>
            </a:r>
            <a:r>
              <a:rPr lang="zh-CN" altLang="en-US" sz="2400" b="1" dirty="0">
                <a:latin typeface="Times New Roman" panose="02020603050405020304" pitchFamily="18" charset="0"/>
              </a:rPr>
              <a:t>小组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82291" name="Text Box 19"/>
          <p:cNvSpPr txBox="1"/>
          <p:nvPr/>
        </p:nvSpPr>
        <p:spPr>
          <a:xfrm>
            <a:off x="2667000" y="4114800"/>
            <a:ext cx="167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第 </a:t>
            </a:r>
            <a:r>
              <a:rPr lang="en-US" altLang="zh-CN" sz="2400" b="1" dirty="0">
                <a:latin typeface="Times New Roman" panose="02020603050405020304" pitchFamily="18" charset="0"/>
              </a:rPr>
              <a:t>5 </a:t>
            </a:r>
            <a:r>
              <a:rPr lang="zh-CN" altLang="en-US" sz="2400" b="1" dirty="0">
                <a:latin typeface="Times New Roman" panose="02020603050405020304" pitchFamily="18" charset="0"/>
              </a:rPr>
              <a:t>小组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82292" name="Text Box 20"/>
          <p:cNvSpPr txBox="1"/>
          <p:nvPr/>
        </p:nvSpPr>
        <p:spPr>
          <a:xfrm>
            <a:off x="1874838" y="3163888"/>
            <a:ext cx="990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同理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82293" name="Text Box 21"/>
          <p:cNvSpPr txBox="1"/>
          <p:nvPr/>
        </p:nvSpPr>
        <p:spPr>
          <a:xfrm>
            <a:off x="6400800" y="1690688"/>
            <a:ext cx="762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8 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2294" name="Text Box 22"/>
          <p:cNvSpPr txBox="1"/>
          <p:nvPr/>
        </p:nvSpPr>
        <p:spPr>
          <a:xfrm>
            <a:off x="8915400" y="1762125"/>
            <a:ext cx="914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3"/>
          <p:cNvGrpSpPr/>
          <p:nvPr/>
        </p:nvGrpSpPr>
        <p:grpSpPr>
          <a:xfrm>
            <a:off x="4419600" y="1676400"/>
            <a:ext cx="6546850" cy="522288"/>
            <a:chOff x="1824" y="1056"/>
            <a:chExt cx="4124" cy="329"/>
          </a:xfrm>
        </p:grpSpPr>
        <p:sp>
          <p:nvSpPr>
            <p:cNvPr id="244766" name="Rectangle 24"/>
            <p:cNvSpPr/>
            <p:nvPr/>
          </p:nvSpPr>
          <p:spPr>
            <a:xfrm>
              <a:off x="4848" y="1104"/>
              <a:ext cx="1100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/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4767" name="Text Box 25"/>
            <p:cNvSpPr txBox="1"/>
            <p:nvPr/>
          </p:nvSpPr>
          <p:spPr>
            <a:xfrm>
              <a:off x="1824" y="1056"/>
              <a:ext cx="72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4768" name="Text Box 26"/>
            <p:cNvSpPr txBox="1"/>
            <p:nvPr/>
          </p:nvSpPr>
          <p:spPr>
            <a:xfrm>
              <a:off x="4320" y="1056"/>
              <a:ext cx="45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+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2299" name="Rectangle 27"/>
          <p:cNvSpPr/>
          <p:nvPr/>
        </p:nvSpPr>
        <p:spPr>
          <a:xfrm>
            <a:off x="4648200" y="5410200"/>
            <a:ext cx="7197725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2300" name="Rectangle 28"/>
          <p:cNvSpPr/>
          <p:nvPr/>
        </p:nvSpPr>
        <p:spPr>
          <a:xfrm>
            <a:off x="4648200" y="5876925"/>
            <a:ext cx="8637588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2301" name="Rectangle 29"/>
          <p:cNvSpPr/>
          <p:nvPr/>
        </p:nvSpPr>
        <p:spPr>
          <a:xfrm>
            <a:off x="4648200" y="6345238"/>
            <a:ext cx="10077450" cy="360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2302" name="Rectangle 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4764" name="AutoShape 3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4765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2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8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8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8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8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8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8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8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/>
      <p:bldP spid="182276" grpId="0"/>
      <p:bldP spid="182277" grpId="0"/>
      <p:bldP spid="182278" grpId="0"/>
      <p:bldP spid="182279" grpId="0"/>
      <p:bldP spid="182280" grpId="0"/>
      <p:bldP spid="182281" grpId="0"/>
      <p:bldP spid="182282" grpId="0"/>
      <p:bldP spid="182283" grpId="0"/>
      <p:bldP spid="182284" grpId="0"/>
      <p:bldP spid="182285" grpId="0"/>
      <p:bldP spid="182286" grpId="0"/>
      <p:bldP spid="182287" grpId="0"/>
      <p:bldP spid="182288" grpId="0" bldLvl="0" animBg="1"/>
      <p:bldP spid="182289" grpId="0" bldLvl="0" animBg="1"/>
      <p:bldP spid="182290" grpId="0"/>
      <p:bldP spid="182291" grpId="0"/>
      <p:bldP spid="182292" grpId="0"/>
      <p:bldP spid="182293" grpId="0"/>
      <p:bldP spid="182294" grpId="0"/>
      <p:bldP spid="182299" grpId="0"/>
      <p:bldP spid="182300" grpId="0"/>
      <p:bldP spid="18230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45762" name="Rectangle 2"/>
          <p:cNvSpPr/>
          <p:nvPr/>
        </p:nvSpPr>
        <p:spPr>
          <a:xfrm>
            <a:off x="1752600" y="2286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(4) </a:t>
            </a:r>
            <a:r>
              <a:rPr lang="zh-CN" altLang="en-US" sz="3200" b="1" dirty="0">
                <a:latin typeface="Times New Roman" panose="02020603050405020304" pitchFamily="18" charset="0"/>
              </a:rPr>
              <a:t>双重分组跳跃进位链的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大组 </a:t>
            </a:r>
            <a:r>
              <a:rPr lang="zh-CN" altLang="en-US" sz="3200" b="1" dirty="0">
                <a:latin typeface="Times New Roman" panose="02020603050405020304" pitchFamily="18" charset="0"/>
              </a:rPr>
              <a:t>进位线路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83299" name="Rectangle 3"/>
          <p:cNvSpPr/>
          <p:nvPr/>
        </p:nvSpPr>
        <p:spPr>
          <a:xfrm>
            <a:off x="2408238" y="1066800"/>
            <a:ext cx="4678362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以第 </a:t>
            </a:r>
            <a:r>
              <a:rPr lang="en-US" altLang="zh-CN" sz="2800" b="1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大组为例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981200" y="5867400"/>
            <a:ext cx="8382000" cy="533400"/>
            <a:chOff x="288" y="3696"/>
            <a:chExt cx="5280" cy="336"/>
          </a:xfrm>
        </p:grpSpPr>
        <p:sp>
          <p:nvSpPr>
            <p:cNvPr id="245871" name="Text Box 5"/>
            <p:cNvSpPr txBox="1"/>
            <p:nvPr/>
          </p:nvSpPr>
          <p:spPr>
            <a:xfrm>
              <a:off x="374" y="3753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5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小组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72" name="Text Box 6"/>
            <p:cNvSpPr txBox="1"/>
            <p:nvPr/>
          </p:nvSpPr>
          <p:spPr>
            <a:xfrm>
              <a:off x="2486" y="3753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6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小组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73" name="Text Box 7"/>
            <p:cNvSpPr txBox="1"/>
            <p:nvPr/>
          </p:nvSpPr>
          <p:spPr>
            <a:xfrm>
              <a:off x="3734" y="3753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7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小组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74" name="Text Box 8"/>
            <p:cNvSpPr txBox="1"/>
            <p:nvPr/>
          </p:nvSpPr>
          <p:spPr>
            <a:xfrm>
              <a:off x="4742" y="3753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8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小组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45875" name="Group 9"/>
            <p:cNvGrpSpPr/>
            <p:nvPr/>
          </p:nvGrpSpPr>
          <p:grpSpPr>
            <a:xfrm>
              <a:off x="288" y="3696"/>
              <a:ext cx="5280" cy="336"/>
              <a:chOff x="288" y="3696"/>
              <a:chExt cx="5280" cy="336"/>
            </a:xfrm>
          </p:grpSpPr>
          <p:sp>
            <p:nvSpPr>
              <p:cNvPr id="245876" name="Rectangle 10"/>
              <p:cNvSpPr/>
              <p:nvPr/>
            </p:nvSpPr>
            <p:spPr>
              <a:xfrm>
                <a:off x="288" y="3696"/>
                <a:ext cx="91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5877" name="Rectangle 11"/>
              <p:cNvSpPr/>
              <p:nvPr/>
            </p:nvSpPr>
            <p:spPr>
              <a:xfrm>
                <a:off x="2400" y="3696"/>
                <a:ext cx="91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5878" name="Rectangle 12"/>
              <p:cNvSpPr/>
              <p:nvPr/>
            </p:nvSpPr>
            <p:spPr>
              <a:xfrm>
                <a:off x="3648" y="3696"/>
                <a:ext cx="91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5879" name="Rectangle 13"/>
              <p:cNvSpPr/>
              <p:nvPr/>
            </p:nvSpPr>
            <p:spPr>
              <a:xfrm>
                <a:off x="4656" y="3696"/>
                <a:ext cx="91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4" name="Group 14"/>
          <p:cNvGrpSpPr/>
          <p:nvPr/>
        </p:nvGrpSpPr>
        <p:grpSpPr>
          <a:xfrm>
            <a:off x="1905000" y="1524000"/>
            <a:ext cx="8502650" cy="4360863"/>
            <a:chOff x="240" y="960"/>
            <a:chExt cx="5356" cy="2747"/>
          </a:xfrm>
        </p:grpSpPr>
        <p:sp>
          <p:nvSpPr>
            <p:cNvPr id="245769" name="Text Box 15"/>
            <p:cNvSpPr txBox="1"/>
            <p:nvPr/>
          </p:nvSpPr>
          <p:spPr>
            <a:xfrm>
              <a:off x="1069" y="3456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770" name="Text Box 16"/>
            <p:cNvSpPr txBox="1"/>
            <p:nvPr/>
          </p:nvSpPr>
          <p:spPr>
            <a:xfrm>
              <a:off x="3133" y="3456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771" name="Text Box 17"/>
            <p:cNvSpPr txBox="1"/>
            <p:nvPr/>
          </p:nvSpPr>
          <p:spPr>
            <a:xfrm>
              <a:off x="806" y="1545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772" name="Rectangle 18"/>
            <p:cNvSpPr/>
            <p:nvPr/>
          </p:nvSpPr>
          <p:spPr>
            <a:xfrm>
              <a:off x="768" y="1536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73" name="Text Box 19"/>
            <p:cNvSpPr txBox="1"/>
            <p:nvPr/>
          </p:nvSpPr>
          <p:spPr>
            <a:xfrm>
              <a:off x="672" y="21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774" name="Rectangle 20"/>
            <p:cNvSpPr/>
            <p:nvPr/>
          </p:nvSpPr>
          <p:spPr>
            <a:xfrm>
              <a:off x="250" y="2160"/>
              <a:ext cx="119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75" name="Text Box 21"/>
            <p:cNvSpPr txBox="1"/>
            <p:nvPr/>
          </p:nvSpPr>
          <p:spPr>
            <a:xfrm>
              <a:off x="240" y="2390"/>
              <a:ext cx="24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776" name="Rectangle 22"/>
            <p:cNvSpPr/>
            <p:nvPr/>
          </p:nvSpPr>
          <p:spPr>
            <a:xfrm>
              <a:off x="250" y="2390"/>
              <a:ext cx="24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77" name="Rectangle 23"/>
            <p:cNvSpPr/>
            <p:nvPr/>
          </p:nvSpPr>
          <p:spPr>
            <a:xfrm>
              <a:off x="490" y="2390"/>
              <a:ext cx="24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78" name="Rectangle 24"/>
            <p:cNvSpPr/>
            <p:nvPr/>
          </p:nvSpPr>
          <p:spPr>
            <a:xfrm>
              <a:off x="730" y="2390"/>
              <a:ext cx="32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79" name="Rectangle 25"/>
            <p:cNvSpPr/>
            <p:nvPr/>
          </p:nvSpPr>
          <p:spPr>
            <a:xfrm>
              <a:off x="1056" y="2390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0" name="Text Box 26"/>
            <p:cNvSpPr txBox="1"/>
            <p:nvPr/>
          </p:nvSpPr>
          <p:spPr>
            <a:xfrm>
              <a:off x="1699" y="2400"/>
              <a:ext cx="2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781" name="Rectangle 27"/>
            <p:cNvSpPr/>
            <p:nvPr/>
          </p:nvSpPr>
          <p:spPr>
            <a:xfrm>
              <a:off x="1632" y="2400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2" name="Freeform 28"/>
            <p:cNvSpPr/>
            <p:nvPr/>
          </p:nvSpPr>
          <p:spPr>
            <a:xfrm>
              <a:off x="384" y="2640"/>
              <a:ext cx="1" cy="1044"/>
            </a:xfrm>
            <a:custGeom>
              <a:avLst/>
              <a:gdLst>
                <a:gd name="txL" fmla="*/ 0 w 1"/>
                <a:gd name="txT" fmla="*/ 0 h 1044"/>
                <a:gd name="txR" fmla="*/ 1 w 1"/>
                <a:gd name="txB" fmla="*/ 1044 h 1044"/>
              </a:gdLst>
              <a:ahLst/>
              <a:cxnLst>
                <a:cxn ang="0">
                  <a:pos x="0" y="0"/>
                </a:cxn>
                <a:cxn ang="0">
                  <a:pos x="0" y="1044"/>
                </a:cxn>
              </a:cxnLst>
              <a:rect l="txL" t="txT" r="txR" b="txB"/>
              <a:pathLst>
                <a:path w="1" h="1044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3" name="Freeform 29"/>
            <p:cNvSpPr/>
            <p:nvPr/>
          </p:nvSpPr>
          <p:spPr>
            <a:xfrm>
              <a:off x="1676" y="2640"/>
              <a:ext cx="4" cy="773"/>
            </a:xfrm>
            <a:custGeom>
              <a:avLst/>
              <a:gdLst>
                <a:gd name="txL" fmla="*/ 0 w 4"/>
                <a:gd name="txT" fmla="*/ 0 h 773"/>
                <a:gd name="txR" fmla="*/ 4 w 4"/>
                <a:gd name="txB" fmla="*/ 773 h 773"/>
              </a:gdLst>
              <a:ahLst/>
              <a:cxnLst>
                <a:cxn ang="0">
                  <a:pos x="4" y="0"/>
                </a:cxn>
                <a:cxn ang="0">
                  <a:pos x="0" y="773"/>
                </a:cxn>
              </a:cxnLst>
              <a:rect l="txL" t="txT" r="txR" b="txB"/>
              <a:pathLst>
                <a:path w="4" h="773">
                  <a:moveTo>
                    <a:pt x="4" y="0"/>
                  </a:moveTo>
                  <a:lnTo>
                    <a:pt x="0" y="773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4" name="Freeform 30"/>
            <p:cNvSpPr/>
            <p:nvPr/>
          </p:nvSpPr>
          <p:spPr>
            <a:xfrm>
              <a:off x="2448" y="2640"/>
              <a:ext cx="1" cy="1059"/>
            </a:xfrm>
            <a:custGeom>
              <a:avLst/>
              <a:gdLst>
                <a:gd name="txL" fmla="*/ 0 w 1"/>
                <a:gd name="txT" fmla="*/ 0 h 1059"/>
                <a:gd name="txR" fmla="*/ 1 w 1"/>
                <a:gd name="txB" fmla="*/ 1059 h 1059"/>
              </a:gdLst>
              <a:ahLst/>
              <a:cxnLst>
                <a:cxn ang="0">
                  <a:pos x="0" y="0"/>
                </a:cxn>
                <a:cxn ang="0">
                  <a:pos x="0" y="1059"/>
                </a:cxn>
              </a:cxnLst>
              <a:rect l="txL" t="txT" r="txR" b="txB"/>
              <a:pathLst>
                <a:path w="1" h="1059">
                  <a:moveTo>
                    <a:pt x="0" y="0"/>
                  </a:moveTo>
                  <a:lnTo>
                    <a:pt x="0" y="105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5" name="Freeform 31"/>
            <p:cNvSpPr/>
            <p:nvPr/>
          </p:nvSpPr>
          <p:spPr>
            <a:xfrm>
              <a:off x="3840" y="2640"/>
              <a:ext cx="1" cy="1053"/>
            </a:xfrm>
            <a:custGeom>
              <a:avLst/>
              <a:gdLst>
                <a:gd name="txL" fmla="*/ 0 w 1"/>
                <a:gd name="txT" fmla="*/ 0 h 1053"/>
                <a:gd name="txR" fmla="*/ 1 w 1"/>
                <a:gd name="txB" fmla="*/ 1053 h 1053"/>
              </a:gdLst>
              <a:ahLst/>
              <a:cxnLst>
                <a:cxn ang="0">
                  <a:pos x="0" y="0"/>
                </a:cxn>
                <a:cxn ang="0">
                  <a:pos x="0" y="1053"/>
                </a:cxn>
              </a:cxnLst>
              <a:rect l="txL" t="txT" r="txR" b="txB"/>
              <a:pathLst>
                <a:path w="1" h="1053">
                  <a:moveTo>
                    <a:pt x="0" y="0"/>
                  </a:moveTo>
                  <a:lnTo>
                    <a:pt x="0" y="1053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6" name="Freeform 32"/>
            <p:cNvSpPr/>
            <p:nvPr/>
          </p:nvSpPr>
          <p:spPr>
            <a:xfrm>
              <a:off x="5088" y="2640"/>
              <a:ext cx="1" cy="180"/>
            </a:xfrm>
            <a:custGeom>
              <a:avLst/>
              <a:gdLst>
                <a:gd name="txL" fmla="*/ 0 w 1"/>
                <a:gd name="txT" fmla="*/ 0 h 180"/>
                <a:gd name="txR" fmla="*/ 1 w 1"/>
                <a:gd name="txB" fmla="*/ 180 h 180"/>
              </a:gdLst>
              <a:ahLst/>
              <a:cxnLst>
                <a:cxn ang="0">
                  <a:pos x="0" y="0"/>
                </a:cxn>
                <a:cxn ang="0">
                  <a:pos x="0" y="180"/>
                </a:cxn>
              </a:cxnLst>
              <a:rect l="txL" t="txT" r="txR" b="txB"/>
              <a:pathLst>
                <a:path w="1" h="180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7" name="Freeform 33"/>
            <p:cNvSpPr/>
            <p:nvPr/>
          </p:nvSpPr>
          <p:spPr>
            <a:xfrm>
              <a:off x="4848" y="2640"/>
              <a:ext cx="1" cy="1056"/>
            </a:xfrm>
            <a:custGeom>
              <a:avLst/>
              <a:gdLst>
                <a:gd name="txL" fmla="*/ 0 w 1"/>
                <a:gd name="txT" fmla="*/ 0 h 1056"/>
                <a:gd name="txR" fmla="*/ 1 w 1"/>
                <a:gd name="txB" fmla="*/ 1056 h 1056"/>
              </a:gdLst>
              <a:ahLst/>
              <a:cxnLst>
                <a:cxn ang="0">
                  <a:pos x="0" y="0"/>
                </a:cxn>
                <a:cxn ang="0">
                  <a:pos x="0" y="1056"/>
                </a:cxn>
              </a:cxnLst>
              <a:rect l="txL" t="txT" r="txR" b="txB"/>
              <a:pathLst>
                <a:path w="1" h="1056">
                  <a:moveTo>
                    <a:pt x="0" y="0"/>
                  </a:moveTo>
                  <a:lnTo>
                    <a:pt x="0" y="105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8" name="Freeform 34"/>
            <p:cNvSpPr/>
            <p:nvPr/>
          </p:nvSpPr>
          <p:spPr>
            <a:xfrm>
              <a:off x="2064" y="2640"/>
              <a:ext cx="3408" cy="96"/>
            </a:xfrm>
            <a:custGeom>
              <a:avLst/>
              <a:gdLst>
                <a:gd name="txL" fmla="*/ 0 w 3264"/>
                <a:gd name="txT" fmla="*/ 0 h 96"/>
                <a:gd name="txR" fmla="*/ 3264 w 3264"/>
                <a:gd name="txB" fmla="*/ 96 h 96"/>
              </a:gdLst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3264" y="96"/>
                </a:cxn>
              </a:cxnLst>
              <a:rect l="txL" t="txT" r="txR" b="txB"/>
              <a:pathLst>
                <a:path w="3264" h="96">
                  <a:moveTo>
                    <a:pt x="0" y="0"/>
                  </a:moveTo>
                  <a:lnTo>
                    <a:pt x="0" y="96"/>
                  </a:lnTo>
                  <a:lnTo>
                    <a:pt x="3264" y="9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89" name="Freeform 35"/>
            <p:cNvSpPr/>
            <p:nvPr/>
          </p:nvSpPr>
          <p:spPr>
            <a:xfrm>
              <a:off x="1968" y="2640"/>
              <a:ext cx="3267" cy="1056"/>
            </a:xfrm>
            <a:custGeom>
              <a:avLst/>
              <a:gdLst>
                <a:gd name="txL" fmla="*/ 0 w 3267"/>
                <a:gd name="txT" fmla="*/ 0 h 1056"/>
                <a:gd name="txR" fmla="*/ 3267 w 3267"/>
                <a:gd name="txB" fmla="*/ 1056 h 1056"/>
              </a:gdLst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3267" y="189"/>
                </a:cxn>
                <a:cxn ang="0">
                  <a:pos x="3258" y="1056"/>
                </a:cxn>
              </a:cxnLst>
              <a:rect l="txL" t="txT" r="txR" b="txB"/>
              <a:pathLst>
                <a:path w="3267" h="1056">
                  <a:moveTo>
                    <a:pt x="0" y="0"/>
                  </a:moveTo>
                  <a:lnTo>
                    <a:pt x="0" y="192"/>
                  </a:lnTo>
                  <a:lnTo>
                    <a:pt x="3267" y="189"/>
                  </a:lnTo>
                  <a:lnTo>
                    <a:pt x="3258" y="105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90" name="Text Box 36"/>
            <p:cNvSpPr txBox="1"/>
            <p:nvPr/>
          </p:nvSpPr>
          <p:spPr>
            <a:xfrm>
              <a:off x="2730" y="21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791" name="Rectangle 37"/>
            <p:cNvSpPr/>
            <p:nvPr/>
          </p:nvSpPr>
          <p:spPr>
            <a:xfrm>
              <a:off x="2308" y="2160"/>
              <a:ext cx="119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92" name="Text Box 38"/>
            <p:cNvSpPr txBox="1"/>
            <p:nvPr/>
          </p:nvSpPr>
          <p:spPr>
            <a:xfrm>
              <a:off x="2298" y="2390"/>
              <a:ext cx="24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793" name="Rectangle 39"/>
            <p:cNvSpPr/>
            <p:nvPr/>
          </p:nvSpPr>
          <p:spPr>
            <a:xfrm>
              <a:off x="2308" y="2390"/>
              <a:ext cx="24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94" name="Rectangle 40"/>
            <p:cNvSpPr/>
            <p:nvPr/>
          </p:nvSpPr>
          <p:spPr>
            <a:xfrm>
              <a:off x="2548" y="2390"/>
              <a:ext cx="24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95" name="Rectangle 41"/>
            <p:cNvSpPr/>
            <p:nvPr/>
          </p:nvSpPr>
          <p:spPr>
            <a:xfrm>
              <a:off x="2788" y="2390"/>
              <a:ext cx="32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96" name="Rectangle 42"/>
            <p:cNvSpPr/>
            <p:nvPr/>
          </p:nvSpPr>
          <p:spPr>
            <a:xfrm>
              <a:off x="3114" y="2390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97" name="Text Box 43"/>
            <p:cNvSpPr txBox="1"/>
            <p:nvPr/>
          </p:nvSpPr>
          <p:spPr>
            <a:xfrm>
              <a:off x="3951" y="21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798" name="Rectangle 44"/>
            <p:cNvSpPr/>
            <p:nvPr/>
          </p:nvSpPr>
          <p:spPr>
            <a:xfrm>
              <a:off x="3721" y="2160"/>
              <a:ext cx="80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799" name="Text Box 45"/>
            <p:cNvSpPr txBox="1"/>
            <p:nvPr/>
          </p:nvSpPr>
          <p:spPr>
            <a:xfrm>
              <a:off x="3711" y="2390"/>
              <a:ext cx="24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00" name="Rectangle 46"/>
            <p:cNvSpPr/>
            <p:nvPr/>
          </p:nvSpPr>
          <p:spPr>
            <a:xfrm>
              <a:off x="3721" y="2390"/>
              <a:ext cx="24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01" name="Rectangle 47"/>
            <p:cNvSpPr/>
            <p:nvPr/>
          </p:nvSpPr>
          <p:spPr>
            <a:xfrm>
              <a:off x="3961" y="2390"/>
              <a:ext cx="24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02" name="Rectangle 48"/>
            <p:cNvSpPr/>
            <p:nvPr/>
          </p:nvSpPr>
          <p:spPr>
            <a:xfrm>
              <a:off x="4201" y="2390"/>
              <a:ext cx="32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03" name="Text Box 49"/>
            <p:cNvSpPr txBox="1"/>
            <p:nvPr/>
          </p:nvSpPr>
          <p:spPr>
            <a:xfrm>
              <a:off x="4832" y="21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04" name="Rectangle 50"/>
            <p:cNvSpPr/>
            <p:nvPr/>
          </p:nvSpPr>
          <p:spPr>
            <a:xfrm>
              <a:off x="4751" y="2160"/>
              <a:ext cx="481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05" name="Text Box 51"/>
            <p:cNvSpPr txBox="1"/>
            <p:nvPr/>
          </p:nvSpPr>
          <p:spPr>
            <a:xfrm>
              <a:off x="4741" y="2390"/>
              <a:ext cx="24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&amp;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06" name="Rectangle 52"/>
            <p:cNvSpPr/>
            <p:nvPr/>
          </p:nvSpPr>
          <p:spPr>
            <a:xfrm>
              <a:off x="4751" y="2390"/>
              <a:ext cx="24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07" name="Rectangle 53"/>
            <p:cNvSpPr/>
            <p:nvPr/>
          </p:nvSpPr>
          <p:spPr>
            <a:xfrm>
              <a:off x="4991" y="2390"/>
              <a:ext cx="24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08" name="Freeform 54"/>
            <p:cNvSpPr/>
            <p:nvPr/>
          </p:nvSpPr>
          <p:spPr>
            <a:xfrm>
              <a:off x="1392" y="2640"/>
              <a:ext cx="3456" cy="288"/>
            </a:xfrm>
            <a:custGeom>
              <a:avLst/>
              <a:gdLst>
                <a:gd name="txL" fmla="*/ 0 w 3456"/>
                <a:gd name="txT" fmla="*/ 0 h 240"/>
                <a:gd name="txR" fmla="*/ 3456 w 3456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456" y="240"/>
                </a:cxn>
              </a:cxnLst>
              <a:rect l="txL" t="txT" r="txR" b="txB"/>
              <a:pathLst>
                <a:path w="3456" h="240">
                  <a:moveTo>
                    <a:pt x="0" y="0"/>
                  </a:moveTo>
                  <a:lnTo>
                    <a:pt x="0" y="240"/>
                  </a:lnTo>
                  <a:lnTo>
                    <a:pt x="3456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09" name="Freeform 55"/>
            <p:cNvSpPr/>
            <p:nvPr/>
          </p:nvSpPr>
          <p:spPr>
            <a:xfrm>
              <a:off x="3168" y="2640"/>
              <a:ext cx="1" cy="1059"/>
            </a:xfrm>
            <a:custGeom>
              <a:avLst/>
              <a:gdLst>
                <a:gd name="txL" fmla="*/ 0 w 1"/>
                <a:gd name="txT" fmla="*/ 0 h 1059"/>
                <a:gd name="txR" fmla="*/ 1 w 1"/>
                <a:gd name="txB" fmla="*/ 1059 h 1059"/>
              </a:gdLst>
              <a:ahLst/>
              <a:cxnLst>
                <a:cxn ang="0">
                  <a:pos x="0" y="0"/>
                </a:cxn>
                <a:cxn ang="0">
                  <a:pos x="0" y="1059"/>
                </a:cxn>
              </a:cxnLst>
              <a:rect l="txL" t="txT" r="txR" b="txB"/>
              <a:pathLst>
                <a:path w="1" h="1059">
                  <a:moveTo>
                    <a:pt x="0" y="0"/>
                  </a:moveTo>
                  <a:lnTo>
                    <a:pt x="0" y="105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10" name="Freeform 56"/>
            <p:cNvSpPr/>
            <p:nvPr/>
          </p:nvSpPr>
          <p:spPr>
            <a:xfrm>
              <a:off x="4272" y="2640"/>
              <a:ext cx="1" cy="1050"/>
            </a:xfrm>
            <a:custGeom>
              <a:avLst/>
              <a:gdLst>
                <a:gd name="txL" fmla="*/ 0 w 1"/>
                <a:gd name="txT" fmla="*/ 0 h 1050"/>
                <a:gd name="txR" fmla="*/ 1 w 1"/>
                <a:gd name="txB" fmla="*/ 1050 h 1050"/>
              </a:gdLst>
              <a:ahLst/>
              <a:cxnLst>
                <a:cxn ang="0">
                  <a:pos x="0" y="0"/>
                </a:cxn>
                <a:cxn ang="0">
                  <a:pos x="0" y="1050"/>
                </a:cxn>
              </a:cxnLst>
              <a:rect l="txL" t="txT" r="txR" b="txB"/>
              <a:pathLst>
                <a:path w="1" h="1050">
                  <a:moveTo>
                    <a:pt x="0" y="0"/>
                  </a:moveTo>
                  <a:lnTo>
                    <a:pt x="0" y="105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11" name="Freeform 57"/>
            <p:cNvSpPr/>
            <p:nvPr/>
          </p:nvSpPr>
          <p:spPr>
            <a:xfrm>
              <a:off x="1296" y="2640"/>
              <a:ext cx="2977" cy="386"/>
            </a:xfrm>
            <a:custGeom>
              <a:avLst/>
              <a:gdLst>
                <a:gd name="txL" fmla="*/ 0 w 2977"/>
                <a:gd name="txT" fmla="*/ 0 h 386"/>
                <a:gd name="txR" fmla="*/ 2977 w 2977"/>
                <a:gd name="txB" fmla="*/ 386 h 386"/>
              </a:gdLst>
              <a:ahLst/>
              <a:cxnLst>
                <a:cxn ang="0">
                  <a:pos x="0" y="0"/>
                </a:cxn>
                <a:cxn ang="0">
                  <a:pos x="0" y="384"/>
                </a:cxn>
                <a:cxn ang="0">
                  <a:pos x="2977" y="386"/>
                </a:cxn>
              </a:cxnLst>
              <a:rect l="txL" t="txT" r="txR" b="txB"/>
              <a:pathLst>
                <a:path w="2977" h="386">
                  <a:moveTo>
                    <a:pt x="0" y="0"/>
                  </a:moveTo>
                  <a:lnTo>
                    <a:pt x="0" y="384"/>
                  </a:lnTo>
                  <a:lnTo>
                    <a:pt x="2977" y="38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12" name="Freeform 58"/>
            <p:cNvSpPr/>
            <p:nvPr/>
          </p:nvSpPr>
          <p:spPr>
            <a:xfrm>
              <a:off x="1008" y="2640"/>
              <a:ext cx="2832" cy="480"/>
            </a:xfrm>
            <a:custGeom>
              <a:avLst/>
              <a:gdLst>
                <a:gd name="txL" fmla="*/ 0 w 2832"/>
                <a:gd name="txT" fmla="*/ 0 h 480"/>
                <a:gd name="txR" fmla="*/ 2832 w 2832"/>
                <a:gd name="txB" fmla="*/ 480 h 480"/>
              </a:gdLst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832" y="480"/>
                </a:cxn>
              </a:cxnLst>
              <a:rect l="txL" t="txT" r="txR" b="txB"/>
              <a:pathLst>
                <a:path w="2832" h="480">
                  <a:moveTo>
                    <a:pt x="0" y="0"/>
                  </a:moveTo>
                  <a:lnTo>
                    <a:pt x="0" y="480"/>
                  </a:lnTo>
                  <a:lnTo>
                    <a:pt x="2832" y="4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13" name="Freeform 59"/>
            <p:cNvSpPr/>
            <p:nvPr/>
          </p:nvSpPr>
          <p:spPr>
            <a:xfrm>
              <a:off x="912" y="2640"/>
              <a:ext cx="2256" cy="576"/>
            </a:xfrm>
            <a:custGeom>
              <a:avLst/>
              <a:gdLst>
                <a:gd name="txL" fmla="*/ 0 w 2304"/>
                <a:gd name="txT" fmla="*/ 0 h 576"/>
                <a:gd name="txR" fmla="*/ 2304 w 2304"/>
                <a:gd name="txB" fmla="*/ 576 h 576"/>
              </a:gdLst>
              <a:ahLst/>
              <a:cxnLst>
                <a:cxn ang="0">
                  <a:pos x="0" y="0"/>
                </a:cxn>
                <a:cxn ang="0">
                  <a:pos x="0" y="576"/>
                </a:cxn>
                <a:cxn ang="0">
                  <a:pos x="2304" y="576"/>
                </a:cxn>
              </a:cxnLst>
              <a:rect l="txL" t="txT" r="txR" b="txB"/>
              <a:pathLst>
                <a:path w="2304" h="576">
                  <a:moveTo>
                    <a:pt x="0" y="0"/>
                  </a:moveTo>
                  <a:lnTo>
                    <a:pt x="0" y="576"/>
                  </a:lnTo>
                  <a:lnTo>
                    <a:pt x="2304" y="57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14" name="Freeform 60"/>
            <p:cNvSpPr/>
            <p:nvPr/>
          </p:nvSpPr>
          <p:spPr>
            <a:xfrm>
              <a:off x="672" y="2640"/>
              <a:ext cx="1776" cy="672"/>
            </a:xfrm>
            <a:custGeom>
              <a:avLst/>
              <a:gdLst>
                <a:gd name="txL" fmla="*/ 0 w 1776"/>
                <a:gd name="txT" fmla="*/ 0 h 672"/>
                <a:gd name="txR" fmla="*/ 1776 w 1776"/>
                <a:gd name="txB" fmla="*/ 672 h 672"/>
              </a:gdLst>
              <a:ahLst/>
              <a:cxnLst>
                <a:cxn ang="0">
                  <a:pos x="0" y="0"/>
                </a:cxn>
                <a:cxn ang="0">
                  <a:pos x="0" y="672"/>
                </a:cxn>
                <a:cxn ang="0">
                  <a:pos x="1776" y="672"/>
                </a:cxn>
              </a:cxnLst>
              <a:rect l="txL" t="txT" r="txR" b="txB"/>
              <a:pathLst>
                <a:path w="1776" h="672">
                  <a:moveTo>
                    <a:pt x="0" y="0"/>
                  </a:moveTo>
                  <a:lnTo>
                    <a:pt x="0" y="672"/>
                  </a:lnTo>
                  <a:lnTo>
                    <a:pt x="1776" y="6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15" name="Freeform 61"/>
            <p:cNvSpPr/>
            <p:nvPr/>
          </p:nvSpPr>
          <p:spPr>
            <a:xfrm>
              <a:off x="576" y="2640"/>
              <a:ext cx="1104" cy="768"/>
            </a:xfrm>
            <a:custGeom>
              <a:avLst/>
              <a:gdLst>
                <a:gd name="txL" fmla="*/ 0 w 1152"/>
                <a:gd name="txT" fmla="*/ 0 h 768"/>
                <a:gd name="txR" fmla="*/ 1152 w 1152"/>
                <a:gd name="txB" fmla="*/ 768 h 768"/>
              </a:gdLst>
              <a:ahLst/>
              <a:cxnLst>
                <a:cxn ang="0">
                  <a:pos x="0" y="0"/>
                </a:cxn>
                <a:cxn ang="0">
                  <a:pos x="0" y="768"/>
                </a:cxn>
                <a:cxn ang="0">
                  <a:pos x="1152" y="768"/>
                </a:cxn>
              </a:cxnLst>
              <a:rect l="txL" t="txT" r="txR" b="txB"/>
              <a:pathLst>
                <a:path w="1152" h="768">
                  <a:moveTo>
                    <a:pt x="0" y="0"/>
                  </a:moveTo>
                  <a:lnTo>
                    <a:pt x="0" y="768"/>
                  </a:lnTo>
                  <a:lnTo>
                    <a:pt x="1152" y="7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16" name="Freeform 62"/>
            <p:cNvSpPr/>
            <p:nvPr/>
          </p:nvSpPr>
          <p:spPr>
            <a:xfrm>
              <a:off x="816" y="2640"/>
              <a:ext cx="1" cy="762"/>
            </a:xfrm>
            <a:custGeom>
              <a:avLst/>
              <a:gdLst>
                <a:gd name="txL" fmla="*/ 0 w 1"/>
                <a:gd name="txT" fmla="*/ 0 h 762"/>
                <a:gd name="txR" fmla="*/ 1 w 1"/>
                <a:gd name="txB" fmla="*/ 762 h 762"/>
              </a:gdLst>
              <a:ahLst/>
              <a:cxnLst>
                <a:cxn ang="0">
                  <a:pos x="0" y="0"/>
                </a:cxn>
                <a:cxn ang="0">
                  <a:pos x="0" y="762"/>
                </a:cxn>
              </a:cxnLst>
              <a:rect l="txL" t="txT" r="txR" b="txB"/>
              <a:pathLst>
                <a:path w="1" h="762">
                  <a:moveTo>
                    <a:pt x="0" y="0"/>
                  </a:moveTo>
                  <a:lnTo>
                    <a:pt x="0" y="76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17" name="Line 63"/>
            <p:cNvSpPr/>
            <p:nvPr/>
          </p:nvSpPr>
          <p:spPr>
            <a:xfrm>
              <a:off x="1776" y="2640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18" name="Line 64"/>
            <p:cNvSpPr/>
            <p:nvPr/>
          </p:nvSpPr>
          <p:spPr>
            <a:xfrm>
              <a:off x="1872" y="264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19" name="Line 65"/>
            <p:cNvSpPr/>
            <p:nvPr/>
          </p:nvSpPr>
          <p:spPr>
            <a:xfrm>
              <a:off x="2592" y="2640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0" name="Line 66"/>
            <p:cNvSpPr/>
            <p:nvPr/>
          </p:nvSpPr>
          <p:spPr>
            <a:xfrm>
              <a:off x="2832" y="2640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1" name="Line 67"/>
            <p:cNvSpPr/>
            <p:nvPr/>
          </p:nvSpPr>
          <p:spPr>
            <a:xfrm>
              <a:off x="2688" y="2640"/>
              <a:ext cx="0" cy="4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2" name="Line 68"/>
            <p:cNvSpPr/>
            <p:nvPr/>
          </p:nvSpPr>
          <p:spPr>
            <a:xfrm>
              <a:off x="2928" y="264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3" name="Line 69"/>
            <p:cNvSpPr/>
            <p:nvPr/>
          </p:nvSpPr>
          <p:spPr>
            <a:xfrm>
              <a:off x="3024" y="2640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4" name="Line 70"/>
            <p:cNvSpPr/>
            <p:nvPr/>
          </p:nvSpPr>
          <p:spPr>
            <a:xfrm>
              <a:off x="3264" y="264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5" name="Line 71"/>
            <p:cNvSpPr/>
            <p:nvPr/>
          </p:nvSpPr>
          <p:spPr>
            <a:xfrm>
              <a:off x="3360" y="2640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6" name="Line 72"/>
            <p:cNvSpPr/>
            <p:nvPr/>
          </p:nvSpPr>
          <p:spPr>
            <a:xfrm>
              <a:off x="3456" y="264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7" name="Line 73"/>
            <p:cNvSpPr/>
            <p:nvPr/>
          </p:nvSpPr>
          <p:spPr>
            <a:xfrm>
              <a:off x="4032" y="264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8" name="Line 74"/>
            <p:cNvSpPr/>
            <p:nvPr/>
          </p:nvSpPr>
          <p:spPr>
            <a:xfrm>
              <a:off x="4128" y="2640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29" name="Line 75"/>
            <p:cNvSpPr/>
            <p:nvPr/>
          </p:nvSpPr>
          <p:spPr>
            <a:xfrm>
              <a:off x="4368" y="2640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30" name="Line 76"/>
            <p:cNvSpPr/>
            <p:nvPr/>
          </p:nvSpPr>
          <p:spPr>
            <a:xfrm>
              <a:off x="4464" y="264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31" name="Line 77"/>
            <p:cNvSpPr/>
            <p:nvPr/>
          </p:nvSpPr>
          <p:spPr>
            <a:xfrm>
              <a:off x="5184" y="264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32" name="Oval 78"/>
            <p:cNvSpPr/>
            <p:nvPr/>
          </p:nvSpPr>
          <p:spPr>
            <a:xfrm>
              <a:off x="816" y="211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33" name="Oval 79"/>
            <p:cNvSpPr/>
            <p:nvPr/>
          </p:nvSpPr>
          <p:spPr>
            <a:xfrm>
              <a:off x="816" y="177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34" name="Oval 80"/>
            <p:cNvSpPr/>
            <p:nvPr/>
          </p:nvSpPr>
          <p:spPr>
            <a:xfrm>
              <a:off x="1008" y="177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35" name="Oval 81"/>
            <p:cNvSpPr/>
            <p:nvPr/>
          </p:nvSpPr>
          <p:spPr>
            <a:xfrm>
              <a:off x="1872" y="235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36" name="Oval 82"/>
            <p:cNvSpPr/>
            <p:nvPr/>
          </p:nvSpPr>
          <p:spPr>
            <a:xfrm>
              <a:off x="2897" y="211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37" name="Oval 83"/>
            <p:cNvSpPr/>
            <p:nvPr/>
          </p:nvSpPr>
          <p:spPr>
            <a:xfrm>
              <a:off x="4042" y="211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38" name="Oval 84"/>
            <p:cNvSpPr/>
            <p:nvPr/>
          </p:nvSpPr>
          <p:spPr>
            <a:xfrm>
              <a:off x="4978" y="211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39" name="Text Box 85"/>
            <p:cNvSpPr txBox="1"/>
            <p:nvPr/>
          </p:nvSpPr>
          <p:spPr>
            <a:xfrm>
              <a:off x="2788" y="1536"/>
              <a:ext cx="2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40" name="Rectangle 86"/>
            <p:cNvSpPr/>
            <p:nvPr/>
          </p:nvSpPr>
          <p:spPr>
            <a:xfrm>
              <a:off x="2736" y="1536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41" name="Text Box 87"/>
            <p:cNvSpPr txBox="1"/>
            <p:nvPr/>
          </p:nvSpPr>
          <p:spPr>
            <a:xfrm>
              <a:off x="3944" y="1536"/>
              <a:ext cx="2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42" name="Rectangle 88"/>
            <p:cNvSpPr/>
            <p:nvPr/>
          </p:nvSpPr>
          <p:spPr>
            <a:xfrm>
              <a:off x="3888" y="1536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43" name="Text Box 89"/>
            <p:cNvSpPr txBox="1"/>
            <p:nvPr/>
          </p:nvSpPr>
          <p:spPr>
            <a:xfrm>
              <a:off x="4852" y="1536"/>
              <a:ext cx="2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44" name="Rectangle 90"/>
            <p:cNvSpPr/>
            <p:nvPr/>
          </p:nvSpPr>
          <p:spPr>
            <a:xfrm>
              <a:off x="4800" y="1536"/>
              <a:ext cx="38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45" name="Oval 91"/>
            <p:cNvSpPr/>
            <p:nvPr/>
          </p:nvSpPr>
          <p:spPr>
            <a:xfrm>
              <a:off x="4978" y="148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46" name="Oval 92"/>
            <p:cNvSpPr/>
            <p:nvPr/>
          </p:nvSpPr>
          <p:spPr>
            <a:xfrm>
              <a:off x="4042" y="148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47" name="Oval 93"/>
            <p:cNvSpPr/>
            <p:nvPr/>
          </p:nvSpPr>
          <p:spPr>
            <a:xfrm>
              <a:off x="2897" y="148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48" name="Freeform 94"/>
            <p:cNvSpPr/>
            <p:nvPr/>
          </p:nvSpPr>
          <p:spPr>
            <a:xfrm>
              <a:off x="840" y="1824"/>
              <a:ext cx="3" cy="294"/>
            </a:xfrm>
            <a:custGeom>
              <a:avLst/>
              <a:gdLst>
                <a:gd name="txL" fmla="*/ 0 w 3"/>
                <a:gd name="txT" fmla="*/ 0 h 294"/>
                <a:gd name="txR" fmla="*/ 3 w 3"/>
                <a:gd name="txB" fmla="*/ 294 h 294"/>
              </a:gdLst>
              <a:ahLst/>
              <a:cxnLst>
                <a:cxn ang="0">
                  <a:pos x="3" y="0"/>
                </a:cxn>
                <a:cxn ang="0">
                  <a:pos x="0" y="294"/>
                </a:cxn>
              </a:cxnLst>
              <a:rect l="txL" t="txT" r="txR" b="txB"/>
              <a:pathLst>
                <a:path w="3" h="294">
                  <a:moveTo>
                    <a:pt x="3" y="0"/>
                  </a:moveTo>
                  <a:lnTo>
                    <a:pt x="0" y="29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49" name="Freeform 95"/>
            <p:cNvSpPr/>
            <p:nvPr/>
          </p:nvSpPr>
          <p:spPr>
            <a:xfrm>
              <a:off x="1029" y="1824"/>
              <a:ext cx="867" cy="531"/>
            </a:xfrm>
            <a:custGeom>
              <a:avLst/>
              <a:gdLst>
                <a:gd name="txL" fmla="*/ 0 w 867"/>
                <a:gd name="txT" fmla="*/ 0 h 531"/>
                <a:gd name="txR" fmla="*/ 867 w 867"/>
                <a:gd name="txB" fmla="*/ 531 h 531"/>
              </a:gdLst>
              <a:ahLst/>
              <a:cxnLst>
                <a:cxn ang="0">
                  <a:pos x="3" y="0"/>
                </a:cxn>
                <a:cxn ang="0">
                  <a:pos x="0" y="141"/>
                </a:cxn>
                <a:cxn ang="0">
                  <a:pos x="867" y="141"/>
                </a:cxn>
                <a:cxn ang="0">
                  <a:pos x="867" y="531"/>
                </a:cxn>
              </a:cxnLst>
              <a:rect l="txL" t="txT" r="txR" b="txB"/>
              <a:pathLst>
                <a:path w="867" h="531">
                  <a:moveTo>
                    <a:pt x="3" y="0"/>
                  </a:moveTo>
                  <a:lnTo>
                    <a:pt x="0" y="141"/>
                  </a:lnTo>
                  <a:lnTo>
                    <a:pt x="867" y="141"/>
                  </a:lnTo>
                  <a:lnTo>
                    <a:pt x="867" y="53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50" name="Freeform 96"/>
            <p:cNvSpPr/>
            <p:nvPr/>
          </p:nvSpPr>
          <p:spPr>
            <a:xfrm>
              <a:off x="2924" y="1773"/>
              <a:ext cx="1" cy="345"/>
            </a:xfrm>
            <a:custGeom>
              <a:avLst/>
              <a:gdLst>
                <a:gd name="txL" fmla="*/ 0 w 1"/>
                <a:gd name="txT" fmla="*/ 0 h 345"/>
                <a:gd name="txR" fmla="*/ 1 w 1"/>
                <a:gd name="txB" fmla="*/ 345 h 345"/>
              </a:gdLst>
              <a:ahLst/>
              <a:cxnLst>
                <a:cxn ang="0">
                  <a:pos x="0" y="0"/>
                </a:cxn>
                <a:cxn ang="0">
                  <a:pos x="0" y="345"/>
                </a:cxn>
              </a:cxnLst>
              <a:rect l="txL" t="txT" r="txR" b="tx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51" name="Freeform 97"/>
            <p:cNvSpPr/>
            <p:nvPr/>
          </p:nvSpPr>
          <p:spPr>
            <a:xfrm>
              <a:off x="4071" y="1773"/>
              <a:ext cx="1" cy="336"/>
            </a:xfrm>
            <a:custGeom>
              <a:avLst/>
              <a:gdLst>
                <a:gd name="txL" fmla="*/ 0 w 1"/>
                <a:gd name="txT" fmla="*/ 0 h 336"/>
                <a:gd name="txR" fmla="*/ 1 w 1"/>
                <a:gd name="txB" fmla="*/ 336 h 336"/>
              </a:gdLst>
              <a:ahLst/>
              <a:cxnLst>
                <a:cxn ang="0">
                  <a:pos x="0" y="0"/>
                </a:cxn>
                <a:cxn ang="0">
                  <a:pos x="0" y="336"/>
                </a:cxn>
              </a:cxnLst>
              <a:rect l="txL" t="txT" r="txR" b="txB"/>
              <a:pathLst>
                <a:path w="1" h="336">
                  <a:moveTo>
                    <a:pt x="0" y="0"/>
                  </a:moveTo>
                  <a:lnTo>
                    <a:pt x="0" y="3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52" name="Freeform 98"/>
            <p:cNvSpPr/>
            <p:nvPr/>
          </p:nvSpPr>
          <p:spPr>
            <a:xfrm>
              <a:off x="5005" y="1776"/>
              <a:ext cx="1" cy="330"/>
            </a:xfrm>
            <a:custGeom>
              <a:avLst/>
              <a:gdLst>
                <a:gd name="txL" fmla="*/ 0 w 1"/>
                <a:gd name="txT" fmla="*/ 0 h 330"/>
                <a:gd name="txR" fmla="*/ 1 w 1"/>
                <a:gd name="txB" fmla="*/ 330 h 330"/>
              </a:gdLst>
              <a:ahLst/>
              <a:cxnLst>
                <a:cxn ang="0">
                  <a:pos x="0" y="0"/>
                </a:cxn>
                <a:cxn ang="0">
                  <a:pos x="0" y="330"/>
                </a:cxn>
              </a:cxnLst>
              <a:rect l="txL" t="txT" r="txR" b="txB"/>
              <a:pathLst>
                <a:path w="1" h="330">
                  <a:moveTo>
                    <a:pt x="0" y="0"/>
                  </a:moveTo>
                  <a:lnTo>
                    <a:pt x="0" y="33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53" name="Freeform 99"/>
            <p:cNvSpPr/>
            <p:nvPr/>
          </p:nvSpPr>
          <p:spPr>
            <a:xfrm>
              <a:off x="5005" y="1182"/>
              <a:ext cx="1" cy="309"/>
            </a:xfrm>
            <a:custGeom>
              <a:avLst/>
              <a:gdLst>
                <a:gd name="txL" fmla="*/ 0 w 1"/>
                <a:gd name="txT" fmla="*/ 0 h 309"/>
                <a:gd name="txR" fmla="*/ 1 w 1"/>
                <a:gd name="txB" fmla="*/ 309 h 309"/>
              </a:gdLst>
              <a:ahLst/>
              <a:cxnLst>
                <a:cxn ang="0">
                  <a:pos x="0" y="309"/>
                </a:cxn>
                <a:cxn ang="0">
                  <a:pos x="0" y="0"/>
                </a:cxn>
              </a:cxnLst>
              <a:rect l="txL" t="txT" r="txR" b="txB"/>
              <a:pathLst>
                <a:path w="1" h="309">
                  <a:moveTo>
                    <a:pt x="0" y="309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54" name="Freeform 100"/>
            <p:cNvSpPr/>
            <p:nvPr/>
          </p:nvSpPr>
          <p:spPr>
            <a:xfrm>
              <a:off x="4071" y="1197"/>
              <a:ext cx="1" cy="297"/>
            </a:xfrm>
            <a:custGeom>
              <a:avLst/>
              <a:gdLst>
                <a:gd name="txL" fmla="*/ 0 w 1"/>
                <a:gd name="txT" fmla="*/ 0 h 297"/>
                <a:gd name="txR" fmla="*/ 1 w 1"/>
                <a:gd name="txB" fmla="*/ 297 h 297"/>
              </a:gdLst>
              <a:ahLst/>
              <a:cxnLst>
                <a:cxn ang="0">
                  <a:pos x="0" y="297"/>
                </a:cxn>
                <a:cxn ang="0">
                  <a:pos x="0" y="0"/>
                </a:cxn>
              </a:cxnLst>
              <a:rect l="txL" t="txT" r="txR" b="txB"/>
              <a:pathLst>
                <a:path w="1" h="297">
                  <a:moveTo>
                    <a:pt x="0" y="297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55" name="Freeform 101"/>
            <p:cNvSpPr/>
            <p:nvPr/>
          </p:nvSpPr>
          <p:spPr>
            <a:xfrm>
              <a:off x="2924" y="1192"/>
              <a:ext cx="1" cy="296"/>
            </a:xfrm>
            <a:custGeom>
              <a:avLst/>
              <a:gdLst>
                <a:gd name="txL" fmla="*/ 0 w 1"/>
                <a:gd name="txT" fmla="*/ 0 h 296"/>
                <a:gd name="txR" fmla="*/ 1 w 1"/>
                <a:gd name="txB" fmla="*/ 296 h 296"/>
              </a:gdLst>
              <a:ahLst/>
              <a:cxnLst>
                <a:cxn ang="0">
                  <a:pos x="0" y="296"/>
                </a:cxn>
                <a:cxn ang="0">
                  <a:pos x="0" y="0"/>
                </a:cxn>
              </a:cxnLst>
              <a:rect l="txL" t="txT" r="txR" b="txB"/>
              <a:pathLst>
                <a:path w="1" h="296">
                  <a:moveTo>
                    <a:pt x="0" y="296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56" name="Freeform 102"/>
            <p:cNvSpPr/>
            <p:nvPr/>
          </p:nvSpPr>
          <p:spPr>
            <a:xfrm>
              <a:off x="960" y="1236"/>
              <a:ext cx="1" cy="300"/>
            </a:xfrm>
            <a:custGeom>
              <a:avLst/>
              <a:gdLst>
                <a:gd name="txL" fmla="*/ 0 w 1"/>
                <a:gd name="txT" fmla="*/ 0 h 300"/>
                <a:gd name="txR" fmla="*/ 1 w 1"/>
                <a:gd name="txB" fmla="*/ 300 h 300"/>
              </a:gdLst>
              <a:ahLst/>
              <a:cxnLst>
                <a:cxn ang="0">
                  <a:pos x="0" y="300"/>
                </a:cxn>
                <a:cxn ang="0">
                  <a:pos x="0" y="0"/>
                </a:cxn>
              </a:cxnLst>
              <a:rect l="txL" t="txT" r="txR" b="tx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57" name="Text Box 103"/>
            <p:cNvSpPr txBox="1"/>
            <p:nvPr/>
          </p:nvSpPr>
          <p:spPr>
            <a:xfrm>
              <a:off x="5270" y="2479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58" name="Line 104"/>
            <p:cNvSpPr/>
            <p:nvPr/>
          </p:nvSpPr>
          <p:spPr>
            <a:xfrm>
              <a:off x="1200" y="2640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5859" name="Freeform 105"/>
            <p:cNvSpPr/>
            <p:nvPr/>
          </p:nvSpPr>
          <p:spPr>
            <a:xfrm>
              <a:off x="1108" y="2640"/>
              <a:ext cx="1" cy="780"/>
            </a:xfrm>
            <a:custGeom>
              <a:avLst/>
              <a:gdLst>
                <a:gd name="txL" fmla="*/ 0 w 1"/>
                <a:gd name="txT" fmla="*/ 0 h 780"/>
                <a:gd name="txR" fmla="*/ 1 w 1"/>
                <a:gd name="txB" fmla="*/ 780 h 780"/>
              </a:gdLst>
              <a:ahLst/>
              <a:cxnLst>
                <a:cxn ang="0">
                  <a:pos x="0" y="0"/>
                </a:cxn>
                <a:cxn ang="0">
                  <a:pos x="0" y="780"/>
                </a:cxn>
              </a:cxnLst>
              <a:rect l="txL" t="txT" r="txR" b="txB"/>
              <a:pathLst>
                <a:path w="1" h="780">
                  <a:moveTo>
                    <a:pt x="0" y="0"/>
                  </a:moveTo>
                  <a:lnTo>
                    <a:pt x="0" y="7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60" name="Freeform 106"/>
            <p:cNvSpPr/>
            <p:nvPr/>
          </p:nvSpPr>
          <p:spPr>
            <a:xfrm>
              <a:off x="1108" y="3400"/>
              <a:ext cx="1" cy="296"/>
            </a:xfrm>
            <a:custGeom>
              <a:avLst/>
              <a:gdLst>
                <a:gd name="txL" fmla="*/ 0 w 1"/>
                <a:gd name="txT" fmla="*/ 0 h 296"/>
                <a:gd name="txR" fmla="*/ 1 w 1"/>
                <a:gd name="txB" fmla="*/ 296 h 296"/>
              </a:gdLst>
              <a:ahLst/>
              <a:cxnLst>
                <a:cxn ang="0">
                  <a:pos x="0" y="0"/>
                </a:cxn>
                <a:cxn ang="0">
                  <a:pos x="1" y="296"/>
                </a:cxn>
              </a:cxnLst>
              <a:rect l="txL" t="txT" r="txR" b="txB"/>
              <a:pathLst>
                <a:path w="1" h="296">
                  <a:moveTo>
                    <a:pt x="0" y="0"/>
                  </a:moveTo>
                  <a:lnTo>
                    <a:pt x="1" y="29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61" name="Text Box 107"/>
            <p:cNvSpPr txBox="1"/>
            <p:nvPr/>
          </p:nvSpPr>
          <p:spPr>
            <a:xfrm>
              <a:off x="336" y="3456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62" name="Text Box 108"/>
            <p:cNvSpPr txBox="1"/>
            <p:nvPr/>
          </p:nvSpPr>
          <p:spPr>
            <a:xfrm>
              <a:off x="2400" y="3456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63" name="Text Box 109"/>
            <p:cNvSpPr txBox="1"/>
            <p:nvPr/>
          </p:nvSpPr>
          <p:spPr>
            <a:xfrm>
              <a:off x="3792" y="3456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64" name="Text Box 110"/>
            <p:cNvSpPr txBox="1"/>
            <p:nvPr/>
          </p:nvSpPr>
          <p:spPr>
            <a:xfrm>
              <a:off x="4224" y="3456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65" name="Text Box 111"/>
            <p:cNvSpPr txBox="1"/>
            <p:nvPr/>
          </p:nvSpPr>
          <p:spPr>
            <a:xfrm>
              <a:off x="4800" y="3456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66" name="Text Box 112"/>
            <p:cNvSpPr txBox="1"/>
            <p:nvPr/>
          </p:nvSpPr>
          <p:spPr>
            <a:xfrm>
              <a:off x="5184" y="3456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67" name="Text Box 113"/>
            <p:cNvSpPr txBox="1"/>
            <p:nvPr/>
          </p:nvSpPr>
          <p:spPr>
            <a:xfrm>
              <a:off x="816" y="960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68" name="Text Box 114"/>
            <p:cNvSpPr txBox="1"/>
            <p:nvPr/>
          </p:nvSpPr>
          <p:spPr>
            <a:xfrm>
              <a:off x="2784" y="960"/>
              <a:ext cx="31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69" name="Text Box 115"/>
            <p:cNvSpPr txBox="1"/>
            <p:nvPr/>
          </p:nvSpPr>
          <p:spPr>
            <a:xfrm>
              <a:off x="3940" y="960"/>
              <a:ext cx="2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70" name="Text Box 116"/>
            <p:cNvSpPr txBox="1"/>
            <p:nvPr/>
          </p:nvSpPr>
          <p:spPr>
            <a:xfrm>
              <a:off x="4900" y="960"/>
              <a:ext cx="33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3413" name="Rectangle 11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67" name="AutoShape 118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5768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46786" name="Rectangle 2"/>
          <p:cNvSpPr/>
          <p:nvPr/>
        </p:nvSpPr>
        <p:spPr>
          <a:xfrm>
            <a:off x="1752600" y="228600"/>
            <a:ext cx="76962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(5) </a:t>
            </a:r>
            <a:r>
              <a:rPr lang="zh-CN" altLang="en-US" sz="3200" b="1" dirty="0">
                <a:latin typeface="Times New Roman" panose="02020603050405020304" pitchFamily="18" charset="0"/>
              </a:rPr>
              <a:t>双重分组跳跃进位链的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小组 </a:t>
            </a:r>
            <a:r>
              <a:rPr lang="zh-CN" altLang="en-US" sz="3200" b="1" dirty="0">
                <a:latin typeface="Times New Roman" panose="02020603050405020304" pitchFamily="18" charset="0"/>
              </a:rPr>
              <a:t>进位线路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84323" name="Rectangle 3"/>
          <p:cNvSpPr/>
          <p:nvPr/>
        </p:nvSpPr>
        <p:spPr>
          <a:xfrm>
            <a:off x="2209800" y="1066800"/>
            <a:ext cx="4678363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zh-CN" altLang="en-US" sz="2800" b="1" dirty="0">
                <a:latin typeface="Times New Roman" panose="02020603050405020304" pitchFamily="18" charset="0"/>
              </a:rPr>
              <a:t>以第 </a:t>
            </a:r>
            <a:r>
              <a:rPr lang="en-US" altLang="zh-CN" sz="2800" b="1" dirty="0">
                <a:latin typeface="Times New Roman" panose="02020603050405020304" pitchFamily="18" charset="0"/>
              </a:rPr>
              <a:t>8 </a:t>
            </a:r>
            <a:r>
              <a:rPr lang="zh-CN" altLang="en-US" sz="2800" b="1" dirty="0">
                <a:latin typeface="Times New Roman" panose="02020603050405020304" pitchFamily="18" charset="0"/>
              </a:rPr>
              <a:t>小组为例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84324" name="Text Box 4"/>
          <p:cNvSpPr txBox="1"/>
          <p:nvPr/>
        </p:nvSpPr>
        <p:spPr>
          <a:xfrm>
            <a:off x="5105400" y="1066800"/>
            <a:ext cx="5562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只产生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低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的进位和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本小组的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905000" y="1584325"/>
            <a:ext cx="8475663" cy="4665663"/>
            <a:chOff x="240" y="998"/>
            <a:chExt cx="5339" cy="2939"/>
          </a:xfrm>
        </p:grpSpPr>
        <p:sp>
          <p:nvSpPr>
            <p:cNvPr id="246793" name="Oval 6"/>
            <p:cNvSpPr/>
            <p:nvPr/>
          </p:nvSpPr>
          <p:spPr>
            <a:xfrm>
              <a:off x="1843" y="1507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794" name="Text Box 7"/>
            <p:cNvSpPr txBox="1"/>
            <p:nvPr/>
          </p:nvSpPr>
          <p:spPr>
            <a:xfrm>
              <a:off x="2784" y="99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795" name="Text Box 8"/>
            <p:cNvSpPr txBox="1"/>
            <p:nvPr/>
          </p:nvSpPr>
          <p:spPr>
            <a:xfrm>
              <a:off x="3984" y="99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796" name="Text Box 9"/>
            <p:cNvSpPr txBox="1"/>
            <p:nvPr/>
          </p:nvSpPr>
          <p:spPr>
            <a:xfrm>
              <a:off x="4848" y="99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797" name="Text Box 10"/>
            <p:cNvSpPr txBox="1"/>
            <p:nvPr/>
          </p:nvSpPr>
          <p:spPr>
            <a:xfrm>
              <a:off x="672" y="998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798" name="Text Box 11"/>
            <p:cNvSpPr txBox="1"/>
            <p:nvPr/>
          </p:nvSpPr>
          <p:spPr>
            <a:xfrm>
              <a:off x="1728" y="998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46799" name="Group 12"/>
            <p:cNvGrpSpPr/>
            <p:nvPr/>
          </p:nvGrpSpPr>
          <p:grpSpPr>
            <a:xfrm>
              <a:off x="624" y="1555"/>
              <a:ext cx="384" cy="251"/>
              <a:chOff x="624" y="1555"/>
              <a:chExt cx="384" cy="251"/>
            </a:xfrm>
          </p:grpSpPr>
          <p:sp>
            <p:nvSpPr>
              <p:cNvPr id="246905" name="Text Box 13"/>
              <p:cNvSpPr txBox="1"/>
              <p:nvPr/>
            </p:nvSpPr>
            <p:spPr>
              <a:xfrm>
                <a:off x="684" y="1555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906" name="Rectangle 14"/>
              <p:cNvSpPr/>
              <p:nvPr/>
            </p:nvSpPr>
            <p:spPr>
              <a:xfrm>
                <a:off x="624" y="1555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6800" name="Group 15"/>
            <p:cNvGrpSpPr/>
            <p:nvPr/>
          </p:nvGrpSpPr>
          <p:grpSpPr>
            <a:xfrm>
              <a:off x="240" y="2188"/>
              <a:ext cx="1200" cy="491"/>
              <a:chOff x="240" y="1334"/>
              <a:chExt cx="1200" cy="491"/>
            </a:xfrm>
          </p:grpSpPr>
          <p:sp>
            <p:nvSpPr>
              <p:cNvPr id="246898" name="Text Box 16"/>
              <p:cNvSpPr txBox="1"/>
              <p:nvPr/>
            </p:nvSpPr>
            <p:spPr>
              <a:xfrm>
                <a:off x="672" y="1334"/>
                <a:ext cx="27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≥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99" name="Rectangle 17"/>
              <p:cNvSpPr/>
              <p:nvPr/>
            </p:nvSpPr>
            <p:spPr>
              <a:xfrm>
                <a:off x="250" y="1344"/>
                <a:ext cx="119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900" name="Text Box 18"/>
              <p:cNvSpPr txBox="1"/>
              <p:nvPr/>
            </p:nvSpPr>
            <p:spPr>
              <a:xfrm>
                <a:off x="240" y="1574"/>
                <a:ext cx="24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901" name="Rectangle 19"/>
              <p:cNvSpPr/>
              <p:nvPr/>
            </p:nvSpPr>
            <p:spPr>
              <a:xfrm>
                <a:off x="250" y="1574"/>
                <a:ext cx="24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902" name="Rectangle 20"/>
              <p:cNvSpPr/>
              <p:nvPr/>
            </p:nvSpPr>
            <p:spPr>
              <a:xfrm>
                <a:off x="490" y="1574"/>
                <a:ext cx="24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903" name="Rectangle 21"/>
              <p:cNvSpPr/>
              <p:nvPr/>
            </p:nvSpPr>
            <p:spPr>
              <a:xfrm>
                <a:off x="730" y="1574"/>
                <a:ext cx="32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904" name="Rectangle 22"/>
              <p:cNvSpPr/>
              <p:nvPr/>
            </p:nvSpPr>
            <p:spPr>
              <a:xfrm>
                <a:off x="1056" y="1574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6801" name="Group 23"/>
            <p:cNvGrpSpPr/>
            <p:nvPr/>
          </p:nvGrpSpPr>
          <p:grpSpPr>
            <a:xfrm>
              <a:off x="1632" y="2438"/>
              <a:ext cx="480" cy="251"/>
              <a:chOff x="2352" y="1584"/>
              <a:chExt cx="346" cy="251"/>
            </a:xfrm>
          </p:grpSpPr>
          <p:sp>
            <p:nvSpPr>
              <p:cNvPr id="246896" name="Text Box 24"/>
              <p:cNvSpPr txBox="1"/>
              <p:nvPr/>
            </p:nvSpPr>
            <p:spPr>
              <a:xfrm>
                <a:off x="2400" y="1584"/>
                <a:ext cx="20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&amp;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97" name="Rectangle 25"/>
              <p:cNvSpPr/>
              <p:nvPr/>
            </p:nvSpPr>
            <p:spPr>
              <a:xfrm>
                <a:off x="2352" y="1584"/>
                <a:ext cx="34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6802" name="Freeform 26"/>
            <p:cNvSpPr/>
            <p:nvPr/>
          </p:nvSpPr>
          <p:spPr>
            <a:xfrm>
              <a:off x="1727" y="2678"/>
              <a:ext cx="1" cy="1053"/>
            </a:xfrm>
            <a:custGeom>
              <a:avLst/>
              <a:gdLst>
                <a:gd name="txL" fmla="*/ 0 w 1"/>
                <a:gd name="txT" fmla="*/ 0 h 1053"/>
                <a:gd name="txR" fmla="*/ 1 w 1"/>
                <a:gd name="txB" fmla="*/ 1053 h 1053"/>
              </a:gdLst>
              <a:ahLst/>
              <a:cxnLst>
                <a:cxn ang="0">
                  <a:pos x="0" y="0"/>
                </a:cxn>
                <a:cxn ang="0">
                  <a:pos x="0" y="1053"/>
                </a:cxn>
              </a:cxnLst>
              <a:rect l="txL" t="txT" r="txR" b="txB"/>
              <a:pathLst>
                <a:path w="1" h="1053">
                  <a:moveTo>
                    <a:pt x="0" y="0"/>
                  </a:moveTo>
                  <a:lnTo>
                    <a:pt x="0" y="1053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03" name="Freeform 27"/>
            <p:cNvSpPr/>
            <p:nvPr/>
          </p:nvSpPr>
          <p:spPr>
            <a:xfrm>
              <a:off x="2448" y="2678"/>
              <a:ext cx="1" cy="1059"/>
            </a:xfrm>
            <a:custGeom>
              <a:avLst/>
              <a:gdLst>
                <a:gd name="txL" fmla="*/ 0 w 1"/>
                <a:gd name="txT" fmla="*/ 0 h 1059"/>
                <a:gd name="txR" fmla="*/ 1 w 1"/>
                <a:gd name="txB" fmla="*/ 1059 h 1059"/>
              </a:gdLst>
              <a:ahLst/>
              <a:cxnLst>
                <a:cxn ang="0">
                  <a:pos x="0" y="0"/>
                </a:cxn>
                <a:cxn ang="0">
                  <a:pos x="0" y="1059"/>
                </a:cxn>
              </a:cxnLst>
              <a:rect l="txL" t="txT" r="txR" b="txB"/>
              <a:pathLst>
                <a:path w="1" h="1059">
                  <a:moveTo>
                    <a:pt x="0" y="0"/>
                  </a:moveTo>
                  <a:lnTo>
                    <a:pt x="0" y="105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04" name="Freeform 28"/>
            <p:cNvSpPr/>
            <p:nvPr/>
          </p:nvSpPr>
          <p:spPr>
            <a:xfrm>
              <a:off x="3840" y="2678"/>
              <a:ext cx="1" cy="1053"/>
            </a:xfrm>
            <a:custGeom>
              <a:avLst/>
              <a:gdLst>
                <a:gd name="txL" fmla="*/ 0 w 1"/>
                <a:gd name="txT" fmla="*/ 0 h 1053"/>
                <a:gd name="txR" fmla="*/ 1 w 1"/>
                <a:gd name="txB" fmla="*/ 1053 h 1053"/>
              </a:gdLst>
              <a:ahLst/>
              <a:cxnLst>
                <a:cxn ang="0">
                  <a:pos x="0" y="0"/>
                </a:cxn>
                <a:cxn ang="0">
                  <a:pos x="0" y="1053"/>
                </a:cxn>
              </a:cxnLst>
              <a:rect l="txL" t="txT" r="txR" b="txB"/>
              <a:pathLst>
                <a:path w="1" h="1053">
                  <a:moveTo>
                    <a:pt x="0" y="0"/>
                  </a:moveTo>
                  <a:lnTo>
                    <a:pt x="0" y="1053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05" name="Freeform 29"/>
            <p:cNvSpPr/>
            <p:nvPr/>
          </p:nvSpPr>
          <p:spPr>
            <a:xfrm>
              <a:off x="4848" y="2678"/>
              <a:ext cx="1" cy="1056"/>
            </a:xfrm>
            <a:custGeom>
              <a:avLst/>
              <a:gdLst>
                <a:gd name="txL" fmla="*/ 0 w 1"/>
                <a:gd name="txT" fmla="*/ 0 h 1056"/>
                <a:gd name="txR" fmla="*/ 1 w 1"/>
                <a:gd name="txB" fmla="*/ 1056 h 1056"/>
              </a:gdLst>
              <a:ahLst/>
              <a:cxnLst>
                <a:cxn ang="0">
                  <a:pos x="0" y="0"/>
                </a:cxn>
                <a:cxn ang="0">
                  <a:pos x="0" y="1056"/>
                </a:cxn>
              </a:cxnLst>
              <a:rect l="txL" t="txT" r="txR" b="txB"/>
              <a:pathLst>
                <a:path w="1" h="1056">
                  <a:moveTo>
                    <a:pt x="0" y="0"/>
                  </a:moveTo>
                  <a:lnTo>
                    <a:pt x="0" y="105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06" name="Freeform 30"/>
            <p:cNvSpPr/>
            <p:nvPr/>
          </p:nvSpPr>
          <p:spPr>
            <a:xfrm>
              <a:off x="3456" y="2688"/>
              <a:ext cx="2016" cy="86"/>
            </a:xfrm>
            <a:custGeom>
              <a:avLst/>
              <a:gdLst>
                <a:gd name="txL" fmla="*/ 0 w 3264"/>
                <a:gd name="txT" fmla="*/ 0 h 96"/>
                <a:gd name="txR" fmla="*/ 3264 w 3264"/>
                <a:gd name="txB" fmla="*/ 96 h 96"/>
              </a:gdLst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3264" y="96"/>
                </a:cxn>
              </a:cxnLst>
              <a:rect l="txL" t="txT" r="txR" b="txB"/>
              <a:pathLst>
                <a:path w="3264" h="96">
                  <a:moveTo>
                    <a:pt x="0" y="0"/>
                  </a:moveTo>
                  <a:lnTo>
                    <a:pt x="0" y="96"/>
                  </a:lnTo>
                  <a:lnTo>
                    <a:pt x="3264" y="9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07" name="Freeform 31"/>
            <p:cNvSpPr/>
            <p:nvPr/>
          </p:nvSpPr>
          <p:spPr>
            <a:xfrm>
              <a:off x="2016" y="2688"/>
              <a:ext cx="3074" cy="182"/>
            </a:xfrm>
            <a:custGeom>
              <a:avLst/>
              <a:gdLst>
                <a:gd name="txL" fmla="*/ 0 w 3122"/>
                <a:gd name="txT" fmla="*/ 0 h 192"/>
                <a:gd name="txR" fmla="*/ 3122 w 3122"/>
                <a:gd name="txB" fmla="*/ 192 h 192"/>
              </a:gdLst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3122" y="187"/>
                </a:cxn>
                <a:cxn ang="0">
                  <a:pos x="3122" y="176"/>
                </a:cxn>
              </a:cxnLst>
              <a:rect l="txL" t="txT" r="txR" b="txB"/>
              <a:pathLst>
                <a:path w="3122" h="192">
                  <a:moveTo>
                    <a:pt x="0" y="0"/>
                  </a:moveTo>
                  <a:lnTo>
                    <a:pt x="0" y="192"/>
                  </a:lnTo>
                  <a:lnTo>
                    <a:pt x="3122" y="187"/>
                  </a:lnTo>
                  <a:lnTo>
                    <a:pt x="3122" y="17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46808" name="Group 32"/>
            <p:cNvGrpSpPr/>
            <p:nvPr/>
          </p:nvGrpSpPr>
          <p:grpSpPr>
            <a:xfrm>
              <a:off x="2298" y="2188"/>
              <a:ext cx="1200" cy="491"/>
              <a:chOff x="2208" y="1334"/>
              <a:chExt cx="1200" cy="491"/>
            </a:xfrm>
          </p:grpSpPr>
          <p:sp>
            <p:nvSpPr>
              <p:cNvPr id="246889" name="Text Box 33"/>
              <p:cNvSpPr txBox="1"/>
              <p:nvPr/>
            </p:nvSpPr>
            <p:spPr>
              <a:xfrm>
                <a:off x="2640" y="1334"/>
                <a:ext cx="27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≥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90" name="Rectangle 34"/>
              <p:cNvSpPr/>
              <p:nvPr/>
            </p:nvSpPr>
            <p:spPr>
              <a:xfrm>
                <a:off x="2218" y="1344"/>
                <a:ext cx="119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91" name="Text Box 35"/>
              <p:cNvSpPr txBox="1"/>
              <p:nvPr/>
            </p:nvSpPr>
            <p:spPr>
              <a:xfrm>
                <a:off x="2208" y="1574"/>
                <a:ext cx="24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92" name="Rectangle 36"/>
              <p:cNvSpPr/>
              <p:nvPr/>
            </p:nvSpPr>
            <p:spPr>
              <a:xfrm>
                <a:off x="2218" y="1574"/>
                <a:ext cx="24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93" name="Rectangle 37"/>
              <p:cNvSpPr/>
              <p:nvPr/>
            </p:nvSpPr>
            <p:spPr>
              <a:xfrm>
                <a:off x="2458" y="1574"/>
                <a:ext cx="24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94" name="Rectangle 38"/>
              <p:cNvSpPr/>
              <p:nvPr/>
            </p:nvSpPr>
            <p:spPr>
              <a:xfrm>
                <a:off x="2698" y="1574"/>
                <a:ext cx="32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95" name="Rectangle 39"/>
              <p:cNvSpPr/>
              <p:nvPr/>
            </p:nvSpPr>
            <p:spPr>
              <a:xfrm>
                <a:off x="3024" y="1574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6809" name="Group 40"/>
            <p:cNvGrpSpPr/>
            <p:nvPr/>
          </p:nvGrpSpPr>
          <p:grpSpPr>
            <a:xfrm>
              <a:off x="3711" y="2188"/>
              <a:ext cx="816" cy="491"/>
              <a:chOff x="3552" y="1334"/>
              <a:chExt cx="816" cy="491"/>
            </a:xfrm>
          </p:grpSpPr>
          <p:sp>
            <p:nvSpPr>
              <p:cNvPr id="246883" name="Text Box 41"/>
              <p:cNvSpPr txBox="1"/>
              <p:nvPr/>
            </p:nvSpPr>
            <p:spPr>
              <a:xfrm>
                <a:off x="3792" y="1334"/>
                <a:ext cx="27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≥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84" name="Rectangle 42"/>
              <p:cNvSpPr/>
              <p:nvPr/>
            </p:nvSpPr>
            <p:spPr>
              <a:xfrm>
                <a:off x="3562" y="1344"/>
                <a:ext cx="80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85" name="Text Box 43"/>
              <p:cNvSpPr txBox="1"/>
              <p:nvPr/>
            </p:nvSpPr>
            <p:spPr>
              <a:xfrm>
                <a:off x="3552" y="1574"/>
                <a:ext cx="24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86" name="Rectangle 44"/>
              <p:cNvSpPr/>
              <p:nvPr/>
            </p:nvSpPr>
            <p:spPr>
              <a:xfrm>
                <a:off x="3562" y="1574"/>
                <a:ext cx="24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87" name="Rectangle 45"/>
              <p:cNvSpPr/>
              <p:nvPr/>
            </p:nvSpPr>
            <p:spPr>
              <a:xfrm>
                <a:off x="3802" y="1574"/>
                <a:ext cx="24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88" name="Rectangle 46"/>
              <p:cNvSpPr/>
              <p:nvPr/>
            </p:nvSpPr>
            <p:spPr>
              <a:xfrm>
                <a:off x="4042" y="1574"/>
                <a:ext cx="32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6810" name="Group 47"/>
            <p:cNvGrpSpPr/>
            <p:nvPr/>
          </p:nvGrpSpPr>
          <p:grpSpPr>
            <a:xfrm>
              <a:off x="4741" y="2188"/>
              <a:ext cx="491" cy="491"/>
              <a:chOff x="4512" y="1334"/>
              <a:chExt cx="491" cy="491"/>
            </a:xfrm>
          </p:grpSpPr>
          <p:sp>
            <p:nvSpPr>
              <p:cNvPr id="246878" name="Text Box 48"/>
              <p:cNvSpPr txBox="1"/>
              <p:nvPr/>
            </p:nvSpPr>
            <p:spPr>
              <a:xfrm>
                <a:off x="4603" y="1334"/>
                <a:ext cx="27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≥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79" name="Rectangle 49"/>
              <p:cNvSpPr/>
              <p:nvPr/>
            </p:nvSpPr>
            <p:spPr>
              <a:xfrm>
                <a:off x="4522" y="1344"/>
                <a:ext cx="481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80" name="Text Box 50"/>
              <p:cNvSpPr txBox="1"/>
              <p:nvPr/>
            </p:nvSpPr>
            <p:spPr>
              <a:xfrm>
                <a:off x="4512" y="1574"/>
                <a:ext cx="24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&amp;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81" name="Rectangle 51"/>
              <p:cNvSpPr/>
              <p:nvPr/>
            </p:nvSpPr>
            <p:spPr>
              <a:xfrm>
                <a:off x="4522" y="1574"/>
                <a:ext cx="24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882" name="Rectangle 52"/>
              <p:cNvSpPr/>
              <p:nvPr/>
            </p:nvSpPr>
            <p:spPr>
              <a:xfrm>
                <a:off x="4762" y="1574"/>
                <a:ext cx="24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6811" name="Freeform 53"/>
            <p:cNvSpPr/>
            <p:nvPr/>
          </p:nvSpPr>
          <p:spPr>
            <a:xfrm>
              <a:off x="1392" y="2678"/>
              <a:ext cx="3456" cy="288"/>
            </a:xfrm>
            <a:custGeom>
              <a:avLst/>
              <a:gdLst>
                <a:gd name="txL" fmla="*/ 0 w 3456"/>
                <a:gd name="txT" fmla="*/ 0 h 240"/>
                <a:gd name="txR" fmla="*/ 3456 w 3456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456" y="240"/>
                </a:cxn>
              </a:cxnLst>
              <a:rect l="txL" t="txT" r="txR" b="txB"/>
              <a:pathLst>
                <a:path w="3456" h="240">
                  <a:moveTo>
                    <a:pt x="0" y="0"/>
                  </a:moveTo>
                  <a:lnTo>
                    <a:pt x="0" y="240"/>
                  </a:lnTo>
                  <a:lnTo>
                    <a:pt x="3456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12" name="Freeform 54"/>
            <p:cNvSpPr/>
            <p:nvPr/>
          </p:nvSpPr>
          <p:spPr>
            <a:xfrm>
              <a:off x="3168" y="2678"/>
              <a:ext cx="1" cy="1059"/>
            </a:xfrm>
            <a:custGeom>
              <a:avLst/>
              <a:gdLst>
                <a:gd name="txL" fmla="*/ 0 w 1"/>
                <a:gd name="txT" fmla="*/ 0 h 1059"/>
                <a:gd name="txR" fmla="*/ 1 w 1"/>
                <a:gd name="txB" fmla="*/ 1059 h 1059"/>
              </a:gdLst>
              <a:ahLst/>
              <a:cxnLst>
                <a:cxn ang="0">
                  <a:pos x="0" y="0"/>
                </a:cxn>
                <a:cxn ang="0">
                  <a:pos x="0" y="1059"/>
                </a:cxn>
              </a:cxnLst>
              <a:rect l="txL" t="txT" r="txR" b="txB"/>
              <a:pathLst>
                <a:path w="1" h="1059">
                  <a:moveTo>
                    <a:pt x="0" y="0"/>
                  </a:moveTo>
                  <a:lnTo>
                    <a:pt x="0" y="105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13" name="Freeform 55"/>
            <p:cNvSpPr/>
            <p:nvPr/>
          </p:nvSpPr>
          <p:spPr>
            <a:xfrm>
              <a:off x="4272" y="2678"/>
              <a:ext cx="1" cy="1050"/>
            </a:xfrm>
            <a:custGeom>
              <a:avLst/>
              <a:gdLst>
                <a:gd name="txL" fmla="*/ 0 w 1"/>
                <a:gd name="txT" fmla="*/ 0 h 1050"/>
                <a:gd name="txR" fmla="*/ 1 w 1"/>
                <a:gd name="txB" fmla="*/ 1050 h 1050"/>
              </a:gdLst>
              <a:ahLst/>
              <a:cxnLst>
                <a:cxn ang="0">
                  <a:pos x="0" y="0"/>
                </a:cxn>
                <a:cxn ang="0">
                  <a:pos x="0" y="1050"/>
                </a:cxn>
              </a:cxnLst>
              <a:rect l="txL" t="txT" r="txR" b="txB"/>
              <a:pathLst>
                <a:path w="1" h="1050">
                  <a:moveTo>
                    <a:pt x="0" y="0"/>
                  </a:moveTo>
                  <a:lnTo>
                    <a:pt x="0" y="105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14" name="Freeform 56"/>
            <p:cNvSpPr/>
            <p:nvPr/>
          </p:nvSpPr>
          <p:spPr>
            <a:xfrm>
              <a:off x="1296" y="2678"/>
              <a:ext cx="2977" cy="386"/>
            </a:xfrm>
            <a:custGeom>
              <a:avLst/>
              <a:gdLst>
                <a:gd name="txL" fmla="*/ 0 w 2977"/>
                <a:gd name="txT" fmla="*/ 0 h 386"/>
                <a:gd name="txR" fmla="*/ 2977 w 2977"/>
                <a:gd name="txB" fmla="*/ 386 h 386"/>
              </a:gdLst>
              <a:ahLst/>
              <a:cxnLst>
                <a:cxn ang="0">
                  <a:pos x="0" y="0"/>
                </a:cxn>
                <a:cxn ang="0">
                  <a:pos x="0" y="384"/>
                </a:cxn>
                <a:cxn ang="0">
                  <a:pos x="2977" y="386"/>
                </a:cxn>
              </a:cxnLst>
              <a:rect l="txL" t="txT" r="txR" b="txB"/>
              <a:pathLst>
                <a:path w="2977" h="386">
                  <a:moveTo>
                    <a:pt x="0" y="0"/>
                  </a:moveTo>
                  <a:lnTo>
                    <a:pt x="0" y="384"/>
                  </a:lnTo>
                  <a:lnTo>
                    <a:pt x="2977" y="38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15" name="Freeform 57"/>
            <p:cNvSpPr/>
            <p:nvPr/>
          </p:nvSpPr>
          <p:spPr>
            <a:xfrm>
              <a:off x="1008" y="2678"/>
              <a:ext cx="2832" cy="480"/>
            </a:xfrm>
            <a:custGeom>
              <a:avLst/>
              <a:gdLst>
                <a:gd name="txL" fmla="*/ 0 w 2832"/>
                <a:gd name="txT" fmla="*/ 0 h 480"/>
                <a:gd name="txR" fmla="*/ 2832 w 2832"/>
                <a:gd name="txB" fmla="*/ 480 h 480"/>
              </a:gdLst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832" y="480"/>
                </a:cxn>
              </a:cxnLst>
              <a:rect l="txL" t="txT" r="txR" b="txB"/>
              <a:pathLst>
                <a:path w="2832" h="480">
                  <a:moveTo>
                    <a:pt x="0" y="0"/>
                  </a:moveTo>
                  <a:lnTo>
                    <a:pt x="0" y="480"/>
                  </a:lnTo>
                  <a:lnTo>
                    <a:pt x="2832" y="4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16" name="Freeform 58"/>
            <p:cNvSpPr/>
            <p:nvPr/>
          </p:nvSpPr>
          <p:spPr>
            <a:xfrm>
              <a:off x="912" y="2678"/>
              <a:ext cx="2256" cy="576"/>
            </a:xfrm>
            <a:custGeom>
              <a:avLst/>
              <a:gdLst>
                <a:gd name="txL" fmla="*/ 0 w 2304"/>
                <a:gd name="txT" fmla="*/ 0 h 576"/>
                <a:gd name="txR" fmla="*/ 2304 w 2304"/>
                <a:gd name="txB" fmla="*/ 576 h 576"/>
              </a:gdLst>
              <a:ahLst/>
              <a:cxnLst>
                <a:cxn ang="0">
                  <a:pos x="0" y="0"/>
                </a:cxn>
                <a:cxn ang="0">
                  <a:pos x="0" y="576"/>
                </a:cxn>
                <a:cxn ang="0">
                  <a:pos x="2304" y="576"/>
                </a:cxn>
              </a:cxnLst>
              <a:rect l="txL" t="txT" r="txR" b="txB"/>
              <a:pathLst>
                <a:path w="2304" h="576">
                  <a:moveTo>
                    <a:pt x="0" y="0"/>
                  </a:moveTo>
                  <a:lnTo>
                    <a:pt x="0" y="576"/>
                  </a:lnTo>
                  <a:lnTo>
                    <a:pt x="2304" y="57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17" name="Freeform 59"/>
            <p:cNvSpPr/>
            <p:nvPr/>
          </p:nvSpPr>
          <p:spPr>
            <a:xfrm>
              <a:off x="672" y="2678"/>
              <a:ext cx="1776" cy="672"/>
            </a:xfrm>
            <a:custGeom>
              <a:avLst/>
              <a:gdLst>
                <a:gd name="txL" fmla="*/ 0 w 1776"/>
                <a:gd name="txT" fmla="*/ 0 h 672"/>
                <a:gd name="txR" fmla="*/ 1776 w 1776"/>
                <a:gd name="txB" fmla="*/ 672 h 672"/>
              </a:gdLst>
              <a:ahLst/>
              <a:cxnLst>
                <a:cxn ang="0">
                  <a:pos x="0" y="0"/>
                </a:cxn>
                <a:cxn ang="0">
                  <a:pos x="0" y="672"/>
                </a:cxn>
                <a:cxn ang="0">
                  <a:pos x="1776" y="672"/>
                </a:cxn>
              </a:cxnLst>
              <a:rect l="txL" t="txT" r="txR" b="txB"/>
              <a:pathLst>
                <a:path w="1776" h="672">
                  <a:moveTo>
                    <a:pt x="0" y="0"/>
                  </a:moveTo>
                  <a:lnTo>
                    <a:pt x="0" y="672"/>
                  </a:lnTo>
                  <a:lnTo>
                    <a:pt x="1776" y="6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18" name="Freeform 60"/>
            <p:cNvSpPr/>
            <p:nvPr/>
          </p:nvSpPr>
          <p:spPr>
            <a:xfrm>
              <a:off x="576" y="2678"/>
              <a:ext cx="1152" cy="768"/>
            </a:xfrm>
            <a:custGeom>
              <a:avLst/>
              <a:gdLst>
                <a:gd name="txL" fmla="*/ 0 w 1152"/>
                <a:gd name="txT" fmla="*/ 0 h 768"/>
                <a:gd name="txR" fmla="*/ 1152 w 1152"/>
                <a:gd name="txB" fmla="*/ 768 h 768"/>
              </a:gdLst>
              <a:ahLst/>
              <a:cxnLst>
                <a:cxn ang="0">
                  <a:pos x="0" y="0"/>
                </a:cxn>
                <a:cxn ang="0">
                  <a:pos x="0" y="768"/>
                </a:cxn>
                <a:cxn ang="0">
                  <a:pos x="1152" y="768"/>
                </a:cxn>
              </a:cxnLst>
              <a:rect l="txL" t="txT" r="txR" b="txB"/>
              <a:pathLst>
                <a:path w="1152" h="768">
                  <a:moveTo>
                    <a:pt x="0" y="0"/>
                  </a:moveTo>
                  <a:lnTo>
                    <a:pt x="0" y="768"/>
                  </a:lnTo>
                  <a:lnTo>
                    <a:pt x="1152" y="7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19" name="Line 61"/>
            <p:cNvSpPr/>
            <p:nvPr/>
          </p:nvSpPr>
          <p:spPr>
            <a:xfrm>
              <a:off x="1824" y="2678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0" name="Line 62"/>
            <p:cNvSpPr/>
            <p:nvPr/>
          </p:nvSpPr>
          <p:spPr>
            <a:xfrm>
              <a:off x="1920" y="2688"/>
              <a:ext cx="0" cy="37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1" name="Line 63"/>
            <p:cNvSpPr/>
            <p:nvPr/>
          </p:nvSpPr>
          <p:spPr>
            <a:xfrm>
              <a:off x="2592" y="2678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2" name="Line 64"/>
            <p:cNvSpPr/>
            <p:nvPr/>
          </p:nvSpPr>
          <p:spPr>
            <a:xfrm>
              <a:off x="2832" y="2678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3" name="Line 65"/>
            <p:cNvSpPr/>
            <p:nvPr/>
          </p:nvSpPr>
          <p:spPr>
            <a:xfrm>
              <a:off x="2688" y="2678"/>
              <a:ext cx="0" cy="4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4" name="Line 66"/>
            <p:cNvSpPr/>
            <p:nvPr/>
          </p:nvSpPr>
          <p:spPr>
            <a:xfrm>
              <a:off x="2928" y="267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5" name="Line 67"/>
            <p:cNvSpPr/>
            <p:nvPr/>
          </p:nvSpPr>
          <p:spPr>
            <a:xfrm>
              <a:off x="3024" y="2678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6" name="Line 68"/>
            <p:cNvSpPr/>
            <p:nvPr/>
          </p:nvSpPr>
          <p:spPr>
            <a:xfrm>
              <a:off x="3264" y="267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7" name="Line 69"/>
            <p:cNvSpPr/>
            <p:nvPr/>
          </p:nvSpPr>
          <p:spPr>
            <a:xfrm>
              <a:off x="3360" y="267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8" name="Line 70"/>
            <p:cNvSpPr/>
            <p:nvPr/>
          </p:nvSpPr>
          <p:spPr>
            <a:xfrm>
              <a:off x="4032" y="2678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29" name="Line 71"/>
            <p:cNvSpPr/>
            <p:nvPr/>
          </p:nvSpPr>
          <p:spPr>
            <a:xfrm>
              <a:off x="4128" y="2678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30" name="Line 72"/>
            <p:cNvSpPr/>
            <p:nvPr/>
          </p:nvSpPr>
          <p:spPr>
            <a:xfrm>
              <a:off x="4368" y="267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31" name="Line 73"/>
            <p:cNvSpPr/>
            <p:nvPr/>
          </p:nvSpPr>
          <p:spPr>
            <a:xfrm>
              <a:off x="4464" y="2678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32" name="Line 74"/>
            <p:cNvSpPr/>
            <p:nvPr/>
          </p:nvSpPr>
          <p:spPr>
            <a:xfrm>
              <a:off x="5184" y="2678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33" name="Oval 75"/>
            <p:cNvSpPr/>
            <p:nvPr/>
          </p:nvSpPr>
          <p:spPr>
            <a:xfrm>
              <a:off x="791" y="215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34" name="Oval 76"/>
            <p:cNvSpPr/>
            <p:nvPr/>
          </p:nvSpPr>
          <p:spPr>
            <a:xfrm>
              <a:off x="797" y="1507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35" name="Oval 77"/>
            <p:cNvSpPr/>
            <p:nvPr/>
          </p:nvSpPr>
          <p:spPr>
            <a:xfrm>
              <a:off x="1843" y="239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36" name="Oval 78"/>
            <p:cNvSpPr/>
            <p:nvPr/>
          </p:nvSpPr>
          <p:spPr>
            <a:xfrm>
              <a:off x="2901" y="215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37" name="Oval 79"/>
            <p:cNvSpPr/>
            <p:nvPr/>
          </p:nvSpPr>
          <p:spPr>
            <a:xfrm>
              <a:off x="4057" y="215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38" name="Oval 80"/>
            <p:cNvSpPr/>
            <p:nvPr/>
          </p:nvSpPr>
          <p:spPr>
            <a:xfrm>
              <a:off x="4926" y="215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46839" name="Group 81"/>
            <p:cNvGrpSpPr/>
            <p:nvPr/>
          </p:nvGrpSpPr>
          <p:grpSpPr>
            <a:xfrm>
              <a:off x="2736" y="1555"/>
              <a:ext cx="384" cy="251"/>
              <a:chOff x="2736" y="1555"/>
              <a:chExt cx="384" cy="251"/>
            </a:xfrm>
          </p:grpSpPr>
          <p:sp>
            <p:nvSpPr>
              <p:cNvPr id="246876" name="Text Box 82"/>
              <p:cNvSpPr txBox="1"/>
              <p:nvPr/>
            </p:nvSpPr>
            <p:spPr>
              <a:xfrm>
                <a:off x="2788" y="1555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77" name="Rectangle 83"/>
              <p:cNvSpPr/>
              <p:nvPr/>
            </p:nvSpPr>
            <p:spPr>
              <a:xfrm>
                <a:off x="2736" y="1555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6840" name="Group 84"/>
            <p:cNvGrpSpPr/>
            <p:nvPr/>
          </p:nvGrpSpPr>
          <p:grpSpPr>
            <a:xfrm>
              <a:off x="3888" y="1555"/>
              <a:ext cx="384" cy="251"/>
              <a:chOff x="3888" y="1555"/>
              <a:chExt cx="384" cy="251"/>
            </a:xfrm>
          </p:grpSpPr>
          <p:sp>
            <p:nvSpPr>
              <p:cNvPr id="246874" name="Text Box 85"/>
              <p:cNvSpPr txBox="1"/>
              <p:nvPr/>
            </p:nvSpPr>
            <p:spPr>
              <a:xfrm>
                <a:off x="3944" y="1555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75" name="Rectangle 86"/>
              <p:cNvSpPr/>
              <p:nvPr/>
            </p:nvSpPr>
            <p:spPr>
              <a:xfrm>
                <a:off x="3888" y="1555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6841" name="Group 87"/>
            <p:cNvGrpSpPr/>
            <p:nvPr/>
          </p:nvGrpSpPr>
          <p:grpSpPr>
            <a:xfrm>
              <a:off x="4772" y="1555"/>
              <a:ext cx="384" cy="251"/>
              <a:chOff x="4772" y="1555"/>
              <a:chExt cx="384" cy="251"/>
            </a:xfrm>
          </p:grpSpPr>
          <p:sp>
            <p:nvSpPr>
              <p:cNvPr id="246872" name="Text Box 88"/>
              <p:cNvSpPr txBox="1"/>
              <p:nvPr/>
            </p:nvSpPr>
            <p:spPr>
              <a:xfrm>
                <a:off x="4828" y="1555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73" name="Rectangle 89"/>
              <p:cNvSpPr/>
              <p:nvPr/>
            </p:nvSpPr>
            <p:spPr>
              <a:xfrm>
                <a:off x="4772" y="1555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6842" name="Oval 90"/>
            <p:cNvSpPr/>
            <p:nvPr/>
          </p:nvSpPr>
          <p:spPr>
            <a:xfrm>
              <a:off x="4926" y="1507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43" name="Oval 91"/>
            <p:cNvSpPr/>
            <p:nvPr/>
          </p:nvSpPr>
          <p:spPr>
            <a:xfrm>
              <a:off x="4057" y="1507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44" name="Oval 92"/>
            <p:cNvSpPr/>
            <p:nvPr/>
          </p:nvSpPr>
          <p:spPr>
            <a:xfrm>
              <a:off x="2901" y="1507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45" name="Freeform 93"/>
            <p:cNvSpPr/>
            <p:nvPr/>
          </p:nvSpPr>
          <p:spPr>
            <a:xfrm>
              <a:off x="816" y="1794"/>
              <a:ext cx="3" cy="362"/>
            </a:xfrm>
            <a:custGeom>
              <a:avLst/>
              <a:gdLst>
                <a:gd name="txL" fmla="*/ 0 w 3"/>
                <a:gd name="txT" fmla="*/ 0 h 362"/>
                <a:gd name="txR" fmla="*/ 3 w 3"/>
                <a:gd name="txB" fmla="*/ 362 h 362"/>
              </a:gdLst>
              <a:ahLst/>
              <a:cxnLst>
                <a:cxn ang="0">
                  <a:pos x="0" y="0"/>
                </a:cxn>
                <a:cxn ang="0">
                  <a:pos x="3" y="362"/>
                </a:cxn>
              </a:cxnLst>
              <a:rect l="txL" t="txT" r="txR" b="txB"/>
              <a:pathLst>
                <a:path w="3" h="362">
                  <a:moveTo>
                    <a:pt x="0" y="0"/>
                  </a:moveTo>
                  <a:lnTo>
                    <a:pt x="3" y="36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46" name="Freeform 94"/>
            <p:cNvSpPr/>
            <p:nvPr/>
          </p:nvSpPr>
          <p:spPr>
            <a:xfrm>
              <a:off x="2927" y="1798"/>
              <a:ext cx="1" cy="362"/>
            </a:xfrm>
            <a:custGeom>
              <a:avLst/>
              <a:gdLst>
                <a:gd name="txL" fmla="*/ 0 w 1"/>
                <a:gd name="txT" fmla="*/ 0 h 362"/>
                <a:gd name="txR" fmla="*/ 1 w 1"/>
                <a:gd name="txB" fmla="*/ 362 h 362"/>
              </a:gdLst>
              <a:ahLst/>
              <a:cxnLst>
                <a:cxn ang="0">
                  <a:pos x="1" y="0"/>
                </a:cxn>
                <a:cxn ang="0">
                  <a:pos x="0" y="362"/>
                </a:cxn>
              </a:cxnLst>
              <a:rect l="txL" t="txT" r="txR" b="txB"/>
              <a:pathLst>
                <a:path w="1" h="362">
                  <a:moveTo>
                    <a:pt x="1" y="0"/>
                  </a:moveTo>
                  <a:lnTo>
                    <a:pt x="0" y="36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47" name="Freeform 95"/>
            <p:cNvSpPr/>
            <p:nvPr/>
          </p:nvSpPr>
          <p:spPr>
            <a:xfrm>
              <a:off x="4080" y="1801"/>
              <a:ext cx="1" cy="359"/>
            </a:xfrm>
            <a:custGeom>
              <a:avLst/>
              <a:gdLst>
                <a:gd name="txL" fmla="*/ 0 w 1"/>
                <a:gd name="txT" fmla="*/ 0 h 359"/>
                <a:gd name="txR" fmla="*/ 1 w 1"/>
                <a:gd name="txB" fmla="*/ 359 h 359"/>
              </a:gdLst>
              <a:ahLst/>
              <a:cxnLst>
                <a:cxn ang="0">
                  <a:pos x="0" y="0"/>
                </a:cxn>
                <a:cxn ang="0">
                  <a:pos x="0" y="359"/>
                </a:cxn>
              </a:cxnLst>
              <a:rect l="txL" t="txT" r="txR" b="txB"/>
              <a:pathLst>
                <a:path w="1" h="359">
                  <a:moveTo>
                    <a:pt x="0" y="0"/>
                  </a:moveTo>
                  <a:lnTo>
                    <a:pt x="0" y="35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48" name="Freeform 96"/>
            <p:cNvSpPr/>
            <p:nvPr/>
          </p:nvSpPr>
          <p:spPr>
            <a:xfrm>
              <a:off x="4953" y="1788"/>
              <a:ext cx="1" cy="372"/>
            </a:xfrm>
            <a:custGeom>
              <a:avLst/>
              <a:gdLst>
                <a:gd name="txL" fmla="*/ 0 w 1"/>
                <a:gd name="txT" fmla="*/ 0 h 372"/>
                <a:gd name="txR" fmla="*/ 1 w 1"/>
                <a:gd name="txB" fmla="*/ 372 h 372"/>
              </a:gdLst>
              <a:ahLst/>
              <a:cxnLst>
                <a:cxn ang="0">
                  <a:pos x="0" y="0"/>
                </a:cxn>
                <a:cxn ang="0">
                  <a:pos x="0" y="372"/>
                </a:cxn>
              </a:cxnLst>
              <a:rect l="txL" t="txT" r="txR" b="txB"/>
              <a:pathLst>
                <a:path w="1" h="372">
                  <a:moveTo>
                    <a:pt x="0" y="0"/>
                  </a:moveTo>
                  <a:lnTo>
                    <a:pt x="0" y="37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49" name="Freeform 97"/>
            <p:cNvSpPr/>
            <p:nvPr/>
          </p:nvSpPr>
          <p:spPr>
            <a:xfrm>
              <a:off x="4953" y="1199"/>
              <a:ext cx="1" cy="309"/>
            </a:xfrm>
            <a:custGeom>
              <a:avLst/>
              <a:gdLst>
                <a:gd name="txL" fmla="*/ 0 w 1"/>
                <a:gd name="txT" fmla="*/ 0 h 309"/>
                <a:gd name="txR" fmla="*/ 1 w 1"/>
                <a:gd name="txB" fmla="*/ 309 h 309"/>
              </a:gdLst>
              <a:ahLst/>
              <a:cxnLst>
                <a:cxn ang="0">
                  <a:pos x="0" y="309"/>
                </a:cxn>
                <a:cxn ang="0">
                  <a:pos x="0" y="0"/>
                </a:cxn>
              </a:cxnLst>
              <a:rect l="txL" t="txT" r="txR" b="txB"/>
              <a:pathLst>
                <a:path w="1" h="309">
                  <a:moveTo>
                    <a:pt x="0" y="309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50" name="Freeform 98"/>
            <p:cNvSpPr/>
            <p:nvPr/>
          </p:nvSpPr>
          <p:spPr>
            <a:xfrm>
              <a:off x="4080" y="1211"/>
              <a:ext cx="1" cy="297"/>
            </a:xfrm>
            <a:custGeom>
              <a:avLst/>
              <a:gdLst>
                <a:gd name="txL" fmla="*/ 0 w 1"/>
                <a:gd name="txT" fmla="*/ 0 h 297"/>
                <a:gd name="txR" fmla="*/ 1 w 1"/>
                <a:gd name="txB" fmla="*/ 297 h 297"/>
              </a:gdLst>
              <a:ahLst/>
              <a:cxnLst>
                <a:cxn ang="0">
                  <a:pos x="0" y="297"/>
                </a:cxn>
                <a:cxn ang="0">
                  <a:pos x="0" y="0"/>
                </a:cxn>
              </a:cxnLst>
              <a:rect l="txL" t="txT" r="txR" b="txB"/>
              <a:pathLst>
                <a:path w="1" h="297">
                  <a:moveTo>
                    <a:pt x="0" y="297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51" name="Freeform 99"/>
            <p:cNvSpPr/>
            <p:nvPr/>
          </p:nvSpPr>
          <p:spPr>
            <a:xfrm>
              <a:off x="2928" y="1222"/>
              <a:ext cx="1" cy="286"/>
            </a:xfrm>
            <a:custGeom>
              <a:avLst/>
              <a:gdLst>
                <a:gd name="txL" fmla="*/ 0 w 1"/>
                <a:gd name="txT" fmla="*/ 0 h 286"/>
                <a:gd name="txR" fmla="*/ 1 w 1"/>
                <a:gd name="txB" fmla="*/ 286 h 286"/>
              </a:gdLst>
              <a:ahLst/>
              <a:cxnLst>
                <a:cxn ang="0">
                  <a:pos x="0" y="286"/>
                </a:cxn>
                <a:cxn ang="0">
                  <a:pos x="0" y="0"/>
                </a:cxn>
              </a:cxnLst>
              <a:rect l="txL" t="txT" r="txR" b="txB"/>
              <a:pathLst>
                <a:path w="1" h="286">
                  <a:moveTo>
                    <a:pt x="0" y="286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52" name="Freeform 100"/>
            <p:cNvSpPr/>
            <p:nvPr/>
          </p:nvSpPr>
          <p:spPr>
            <a:xfrm>
              <a:off x="820" y="1230"/>
              <a:ext cx="2" cy="278"/>
            </a:xfrm>
            <a:custGeom>
              <a:avLst/>
              <a:gdLst>
                <a:gd name="txL" fmla="*/ 0 w 2"/>
                <a:gd name="txT" fmla="*/ 0 h 278"/>
                <a:gd name="txR" fmla="*/ 2 w 2"/>
                <a:gd name="txB" fmla="*/ 278 h 278"/>
              </a:gdLst>
              <a:ahLst/>
              <a:cxnLst>
                <a:cxn ang="0">
                  <a:pos x="0" y="278"/>
                </a:cxn>
                <a:cxn ang="0">
                  <a:pos x="2" y="0"/>
                </a:cxn>
              </a:cxnLst>
              <a:rect l="txL" t="txT" r="txR" b="txB"/>
              <a:pathLst>
                <a:path w="2" h="278">
                  <a:moveTo>
                    <a:pt x="0" y="278"/>
                  </a:moveTo>
                  <a:lnTo>
                    <a:pt x="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53" name="Text Box 101"/>
            <p:cNvSpPr txBox="1"/>
            <p:nvPr/>
          </p:nvSpPr>
          <p:spPr>
            <a:xfrm>
              <a:off x="5270" y="2527"/>
              <a:ext cx="30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54" name="Line 102"/>
            <p:cNvSpPr/>
            <p:nvPr/>
          </p:nvSpPr>
          <p:spPr>
            <a:xfrm>
              <a:off x="1200" y="2678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46855" name="Freeform 103"/>
            <p:cNvSpPr/>
            <p:nvPr/>
          </p:nvSpPr>
          <p:spPr>
            <a:xfrm>
              <a:off x="1104" y="2672"/>
              <a:ext cx="1" cy="771"/>
            </a:xfrm>
            <a:custGeom>
              <a:avLst/>
              <a:gdLst>
                <a:gd name="txL" fmla="*/ 0 w 1"/>
                <a:gd name="txT" fmla="*/ 0 h 771"/>
                <a:gd name="txR" fmla="*/ 1 w 1"/>
                <a:gd name="txB" fmla="*/ 771 h 771"/>
              </a:gdLst>
              <a:ahLst/>
              <a:cxnLst>
                <a:cxn ang="0">
                  <a:pos x="0" y="0"/>
                </a:cxn>
                <a:cxn ang="0">
                  <a:pos x="0" y="771"/>
                </a:cxn>
              </a:cxnLst>
              <a:rect l="txL" t="txT" r="txR" b="txB"/>
              <a:pathLst>
                <a:path w="1" h="771">
                  <a:moveTo>
                    <a:pt x="0" y="0"/>
                  </a:moveTo>
                  <a:lnTo>
                    <a:pt x="0" y="77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46856" name="Group 104"/>
            <p:cNvGrpSpPr/>
            <p:nvPr/>
          </p:nvGrpSpPr>
          <p:grpSpPr>
            <a:xfrm>
              <a:off x="1680" y="1555"/>
              <a:ext cx="384" cy="251"/>
              <a:chOff x="1680" y="1555"/>
              <a:chExt cx="384" cy="251"/>
            </a:xfrm>
          </p:grpSpPr>
          <p:sp>
            <p:nvSpPr>
              <p:cNvPr id="246870" name="Text Box 105"/>
              <p:cNvSpPr txBox="1"/>
              <p:nvPr/>
            </p:nvSpPr>
            <p:spPr>
              <a:xfrm>
                <a:off x="1741" y="1555"/>
                <a:ext cx="2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71" name="Rectangle 106"/>
              <p:cNvSpPr/>
              <p:nvPr/>
            </p:nvSpPr>
            <p:spPr>
              <a:xfrm>
                <a:off x="1680" y="1555"/>
                <a:ext cx="384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6857" name="Freeform 107"/>
            <p:cNvSpPr/>
            <p:nvPr/>
          </p:nvSpPr>
          <p:spPr>
            <a:xfrm>
              <a:off x="1871" y="1800"/>
              <a:ext cx="1" cy="595"/>
            </a:xfrm>
            <a:custGeom>
              <a:avLst/>
              <a:gdLst>
                <a:gd name="txL" fmla="*/ 0 w 1"/>
                <a:gd name="txT" fmla="*/ 0 h 595"/>
                <a:gd name="txR" fmla="*/ 1 w 1"/>
                <a:gd name="txB" fmla="*/ 595 h 595"/>
              </a:gdLst>
              <a:ahLst/>
              <a:cxnLst>
                <a:cxn ang="0">
                  <a:pos x="1" y="0"/>
                </a:cxn>
                <a:cxn ang="0">
                  <a:pos x="0" y="595"/>
                </a:cxn>
              </a:cxnLst>
              <a:rect l="txL" t="txT" r="txR" b="txB"/>
              <a:pathLst>
                <a:path w="1" h="595">
                  <a:moveTo>
                    <a:pt x="1" y="0"/>
                  </a:moveTo>
                  <a:lnTo>
                    <a:pt x="0" y="595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58" name="Text Box 108"/>
            <p:cNvSpPr txBox="1"/>
            <p:nvPr/>
          </p:nvSpPr>
          <p:spPr>
            <a:xfrm>
              <a:off x="278" y="3686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59" name="Text Box 109"/>
            <p:cNvSpPr txBox="1"/>
            <p:nvPr/>
          </p:nvSpPr>
          <p:spPr>
            <a:xfrm>
              <a:off x="1603" y="3686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60" name="Text Box 110"/>
            <p:cNvSpPr txBox="1"/>
            <p:nvPr/>
          </p:nvSpPr>
          <p:spPr>
            <a:xfrm>
              <a:off x="2335" y="3686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61" name="Text Box 111"/>
            <p:cNvSpPr txBox="1"/>
            <p:nvPr/>
          </p:nvSpPr>
          <p:spPr>
            <a:xfrm>
              <a:off x="3055" y="3686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62" name="Text Box 112"/>
            <p:cNvSpPr txBox="1"/>
            <p:nvPr/>
          </p:nvSpPr>
          <p:spPr>
            <a:xfrm>
              <a:off x="3727" y="3686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63" name="Text Box 113"/>
            <p:cNvSpPr txBox="1"/>
            <p:nvPr/>
          </p:nvSpPr>
          <p:spPr>
            <a:xfrm>
              <a:off x="4159" y="3686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64" name="Text Box 114"/>
            <p:cNvSpPr txBox="1"/>
            <p:nvPr/>
          </p:nvSpPr>
          <p:spPr>
            <a:xfrm>
              <a:off x="4735" y="3686"/>
              <a:ext cx="24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65" name="Text Box 115"/>
            <p:cNvSpPr txBox="1"/>
            <p:nvPr/>
          </p:nvSpPr>
          <p:spPr>
            <a:xfrm>
              <a:off x="4992" y="3686"/>
              <a:ext cx="21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866" name="Freeform 116"/>
            <p:cNvSpPr/>
            <p:nvPr/>
          </p:nvSpPr>
          <p:spPr>
            <a:xfrm>
              <a:off x="1871" y="1248"/>
              <a:ext cx="1" cy="260"/>
            </a:xfrm>
            <a:custGeom>
              <a:avLst/>
              <a:gdLst>
                <a:gd name="txL" fmla="*/ 0 w 1"/>
                <a:gd name="txT" fmla="*/ 0 h 260"/>
                <a:gd name="txR" fmla="*/ 1 w 1"/>
                <a:gd name="txB" fmla="*/ 260 h 260"/>
              </a:gdLst>
              <a:ahLst/>
              <a:cxnLst>
                <a:cxn ang="0">
                  <a:pos x="1" y="260"/>
                </a:cxn>
                <a:cxn ang="0">
                  <a:pos x="0" y="0"/>
                </a:cxn>
              </a:cxnLst>
              <a:rect l="txL" t="txT" r="txR" b="txB"/>
              <a:pathLst>
                <a:path w="1" h="260">
                  <a:moveTo>
                    <a:pt x="1" y="26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67" name="Freeform 117"/>
            <p:cNvSpPr/>
            <p:nvPr/>
          </p:nvSpPr>
          <p:spPr>
            <a:xfrm>
              <a:off x="816" y="2672"/>
              <a:ext cx="3" cy="774"/>
            </a:xfrm>
            <a:custGeom>
              <a:avLst/>
              <a:gdLst>
                <a:gd name="txL" fmla="*/ 0 w 3"/>
                <a:gd name="txT" fmla="*/ 0 h 774"/>
                <a:gd name="txR" fmla="*/ 3 w 3"/>
                <a:gd name="txB" fmla="*/ 774 h 774"/>
              </a:gdLst>
              <a:ahLst/>
              <a:cxnLst>
                <a:cxn ang="0">
                  <a:pos x="0" y="0"/>
                </a:cxn>
                <a:cxn ang="0">
                  <a:pos x="3" y="774"/>
                </a:cxn>
              </a:cxnLst>
              <a:rect l="txL" t="txT" r="txR" b="txB"/>
              <a:pathLst>
                <a:path w="3" h="774">
                  <a:moveTo>
                    <a:pt x="0" y="0"/>
                  </a:moveTo>
                  <a:lnTo>
                    <a:pt x="3" y="77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68" name="Freeform 118"/>
            <p:cNvSpPr/>
            <p:nvPr/>
          </p:nvSpPr>
          <p:spPr>
            <a:xfrm>
              <a:off x="383" y="2682"/>
              <a:ext cx="1" cy="1053"/>
            </a:xfrm>
            <a:custGeom>
              <a:avLst/>
              <a:gdLst>
                <a:gd name="txL" fmla="*/ 0 w 1"/>
                <a:gd name="txT" fmla="*/ 0 h 1053"/>
                <a:gd name="txR" fmla="*/ 1 w 1"/>
                <a:gd name="txB" fmla="*/ 1053 h 1053"/>
              </a:gdLst>
              <a:ahLst/>
              <a:cxnLst>
                <a:cxn ang="0">
                  <a:pos x="0" y="0"/>
                </a:cxn>
                <a:cxn ang="0">
                  <a:pos x="0" y="1053"/>
                </a:cxn>
              </a:cxnLst>
              <a:rect l="txL" t="txT" r="txR" b="txB"/>
              <a:pathLst>
                <a:path w="1" h="1053">
                  <a:moveTo>
                    <a:pt x="0" y="0"/>
                  </a:moveTo>
                  <a:lnTo>
                    <a:pt x="0" y="1053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6869" name="Freeform 119"/>
            <p:cNvSpPr/>
            <p:nvPr/>
          </p:nvSpPr>
          <p:spPr>
            <a:xfrm>
              <a:off x="5087" y="2682"/>
              <a:ext cx="1" cy="1056"/>
            </a:xfrm>
            <a:custGeom>
              <a:avLst/>
              <a:gdLst>
                <a:gd name="txL" fmla="*/ 0 w 1"/>
                <a:gd name="txT" fmla="*/ 0 h 1056"/>
                <a:gd name="txR" fmla="*/ 1 w 1"/>
                <a:gd name="txB" fmla="*/ 1056 h 1056"/>
              </a:gdLst>
              <a:ahLst/>
              <a:cxnLst>
                <a:cxn ang="0">
                  <a:pos x="0" y="0"/>
                </a:cxn>
                <a:cxn ang="0">
                  <a:pos x="0" y="1056"/>
                </a:cxn>
              </a:cxnLst>
              <a:rect l="txL" t="txT" r="txR" b="txB"/>
              <a:pathLst>
                <a:path w="1" h="1056">
                  <a:moveTo>
                    <a:pt x="0" y="0"/>
                  </a:moveTo>
                  <a:lnTo>
                    <a:pt x="0" y="105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84440" name="Rectangle 1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791" name="AutoShape 121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6792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/>
      <p:bldP spid="184324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47810" name="Rectangle 2"/>
          <p:cNvSpPr/>
          <p:nvPr/>
        </p:nvSpPr>
        <p:spPr>
          <a:xfrm>
            <a:off x="1752600" y="76200"/>
            <a:ext cx="72390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(6)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 =16 </a:t>
            </a:r>
            <a:r>
              <a:rPr lang="zh-CN" altLang="en-US" sz="3200" b="1" dirty="0">
                <a:latin typeface="Times New Roman" panose="02020603050405020304" pitchFamily="18" charset="0"/>
              </a:rPr>
              <a:t>双重分组跳跃进位链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889250" y="2200275"/>
            <a:ext cx="152400" cy="1076325"/>
            <a:chOff x="860" y="1674"/>
            <a:chExt cx="96" cy="678"/>
          </a:xfrm>
        </p:grpSpPr>
        <p:sp>
          <p:nvSpPr>
            <p:cNvPr id="247944" name="Line 4"/>
            <p:cNvSpPr/>
            <p:nvPr/>
          </p:nvSpPr>
          <p:spPr>
            <a:xfrm flipV="1">
              <a:off x="860" y="1674"/>
              <a:ext cx="0" cy="6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45" name="Line 5"/>
            <p:cNvSpPr/>
            <p:nvPr/>
          </p:nvSpPr>
          <p:spPr>
            <a:xfrm flipV="1">
              <a:off x="956" y="1674"/>
              <a:ext cx="0" cy="6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3" name="Group 6"/>
          <p:cNvGrpSpPr/>
          <p:nvPr/>
        </p:nvGrpSpPr>
        <p:grpSpPr>
          <a:xfrm>
            <a:off x="3276600" y="2895600"/>
            <a:ext cx="457200" cy="381000"/>
            <a:chOff x="1104" y="2112"/>
            <a:chExt cx="288" cy="240"/>
          </a:xfrm>
        </p:grpSpPr>
        <p:sp>
          <p:nvSpPr>
            <p:cNvPr id="247941" name="Line 7"/>
            <p:cNvSpPr/>
            <p:nvPr/>
          </p:nvSpPr>
          <p:spPr>
            <a:xfrm flipV="1">
              <a:off x="1104" y="211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42" name="Line 8"/>
            <p:cNvSpPr/>
            <p:nvPr/>
          </p:nvSpPr>
          <p:spPr>
            <a:xfrm flipV="1">
              <a:off x="1248" y="211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43" name="Line 9"/>
            <p:cNvSpPr/>
            <p:nvPr/>
          </p:nvSpPr>
          <p:spPr>
            <a:xfrm flipV="1">
              <a:off x="1392" y="211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4" name="Group 10"/>
          <p:cNvGrpSpPr/>
          <p:nvPr/>
        </p:nvGrpSpPr>
        <p:grpSpPr>
          <a:xfrm>
            <a:off x="4567238" y="2209800"/>
            <a:ext cx="152400" cy="1076325"/>
            <a:chOff x="1917" y="1680"/>
            <a:chExt cx="96" cy="678"/>
          </a:xfrm>
        </p:grpSpPr>
        <p:sp>
          <p:nvSpPr>
            <p:cNvPr id="247939" name="Line 11"/>
            <p:cNvSpPr/>
            <p:nvPr/>
          </p:nvSpPr>
          <p:spPr>
            <a:xfrm flipV="1">
              <a:off x="1917" y="1680"/>
              <a:ext cx="0" cy="6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40" name="Line 12"/>
            <p:cNvSpPr/>
            <p:nvPr/>
          </p:nvSpPr>
          <p:spPr>
            <a:xfrm flipV="1">
              <a:off x="2013" y="1680"/>
              <a:ext cx="0" cy="6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" name="Group 13"/>
          <p:cNvGrpSpPr/>
          <p:nvPr/>
        </p:nvGrpSpPr>
        <p:grpSpPr>
          <a:xfrm>
            <a:off x="4953000" y="2905125"/>
            <a:ext cx="457200" cy="381000"/>
            <a:chOff x="2160" y="2118"/>
            <a:chExt cx="288" cy="240"/>
          </a:xfrm>
        </p:grpSpPr>
        <p:sp>
          <p:nvSpPr>
            <p:cNvPr id="247936" name="Line 14"/>
            <p:cNvSpPr/>
            <p:nvPr/>
          </p:nvSpPr>
          <p:spPr>
            <a:xfrm flipV="1">
              <a:off x="2160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37" name="Line 15"/>
            <p:cNvSpPr/>
            <p:nvPr/>
          </p:nvSpPr>
          <p:spPr>
            <a:xfrm flipV="1">
              <a:off x="2304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38" name="Line 16"/>
            <p:cNvSpPr/>
            <p:nvPr/>
          </p:nvSpPr>
          <p:spPr>
            <a:xfrm flipV="1">
              <a:off x="2448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" name="Group 17"/>
          <p:cNvGrpSpPr/>
          <p:nvPr/>
        </p:nvGrpSpPr>
        <p:grpSpPr>
          <a:xfrm>
            <a:off x="6215063" y="2209800"/>
            <a:ext cx="152400" cy="1076325"/>
            <a:chOff x="2955" y="1680"/>
            <a:chExt cx="96" cy="678"/>
          </a:xfrm>
        </p:grpSpPr>
        <p:sp>
          <p:nvSpPr>
            <p:cNvPr id="247934" name="Line 18"/>
            <p:cNvSpPr/>
            <p:nvPr/>
          </p:nvSpPr>
          <p:spPr>
            <a:xfrm flipV="1">
              <a:off x="2955" y="1680"/>
              <a:ext cx="0" cy="6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35" name="Line 19"/>
            <p:cNvSpPr/>
            <p:nvPr/>
          </p:nvSpPr>
          <p:spPr>
            <a:xfrm flipV="1">
              <a:off x="3051" y="1680"/>
              <a:ext cx="0" cy="6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7" name="Group 20"/>
          <p:cNvGrpSpPr/>
          <p:nvPr/>
        </p:nvGrpSpPr>
        <p:grpSpPr>
          <a:xfrm>
            <a:off x="6553200" y="2905125"/>
            <a:ext cx="457200" cy="381000"/>
            <a:chOff x="3168" y="2118"/>
            <a:chExt cx="288" cy="240"/>
          </a:xfrm>
        </p:grpSpPr>
        <p:sp>
          <p:nvSpPr>
            <p:cNvPr id="247931" name="Line 21"/>
            <p:cNvSpPr/>
            <p:nvPr/>
          </p:nvSpPr>
          <p:spPr>
            <a:xfrm flipV="1">
              <a:off x="3168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32" name="Line 22"/>
            <p:cNvSpPr/>
            <p:nvPr/>
          </p:nvSpPr>
          <p:spPr>
            <a:xfrm flipV="1">
              <a:off x="3312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33" name="Line 23"/>
            <p:cNvSpPr/>
            <p:nvPr/>
          </p:nvSpPr>
          <p:spPr>
            <a:xfrm flipV="1">
              <a:off x="3456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8" name="Group 24"/>
          <p:cNvGrpSpPr/>
          <p:nvPr/>
        </p:nvGrpSpPr>
        <p:grpSpPr>
          <a:xfrm>
            <a:off x="7953375" y="2209800"/>
            <a:ext cx="152400" cy="1076325"/>
            <a:chOff x="4050" y="1680"/>
            <a:chExt cx="96" cy="678"/>
          </a:xfrm>
        </p:grpSpPr>
        <p:sp>
          <p:nvSpPr>
            <p:cNvPr id="247929" name="Line 25"/>
            <p:cNvSpPr/>
            <p:nvPr/>
          </p:nvSpPr>
          <p:spPr>
            <a:xfrm flipV="1">
              <a:off x="4050" y="1680"/>
              <a:ext cx="0" cy="6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30" name="Line 26"/>
            <p:cNvSpPr/>
            <p:nvPr/>
          </p:nvSpPr>
          <p:spPr>
            <a:xfrm flipV="1">
              <a:off x="4146" y="1680"/>
              <a:ext cx="0" cy="6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9" name="Group 27"/>
          <p:cNvGrpSpPr/>
          <p:nvPr/>
        </p:nvGrpSpPr>
        <p:grpSpPr>
          <a:xfrm>
            <a:off x="8305800" y="2905125"/>
            <a:ext cx="457200" cy="381000"/>
            <a:chOff x="4272" y="2118"/>
            <a:chExt cx="288" cy="240"/>
          </a:xfrm>
        </p:grpSpPr>
        <p:sp>
          <p:nvSpPr>
            <p:cNvPr id="247926" name="Line 28"/>
            <p:cNvSpPr/>
            <p:nvPr/>
          </p:nvSpPr>
          <p:spPr>
            <a:xfrm flipV="1">
              <a:off x="4272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27" name="Line 29"/>
            <p:cNvSpPr/>
            <p:nvPr/>
          </p:nvSpPr>
          <p:spPr>
            <a:xfrm flipV="1">
              <a:off x="4416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28" name="Line 30"/>
            <p:cNvSpPr/>
            <p:nvPr/>
          </p:nvSpPr>
          <p:spPr>
            <a:xfrm flipV="1">
              <a:off x="4560" y="211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0" name="Group 31"/>
          <p:cNvGrpSpPr/>
          <p:nvPr/>
        </p:nvGrpSpPr>
        <p:grpSpPr>
          <a:xfrm>
            <a:off x="2800350" y="3276600"/>
            <a:ext cx="6289675" cy="466725"/>
            <a:chOff x="804" y="2352"/>
            <a:chExt cx="3962" cy="294"/>
          </a:xfrm>
        </p:grpSpPr>
        <p:grpSp>
          <p:nvGrpSpPr>
            <p:cNvPr id="247914" name="Group 32"/>
            <p:cNvGrpSpPr/>
            <p:nvPr/>
          </p:nvGrpSpPr>
          <p:grpSpPr>
            <a:xfrm>
              <a:off x="804" y="2352"/>
              <a:ext cx="759" cy="288"/>
              <a:chOff x="804" y="2352"/>
              <a:chExt cx="759" cy="288"/>
            </a:xfrm>
          </p:grpSpPr>
          <p:sp>
            <p:nvSpPr>
              <p:cNvPr id="247924" name="Rectangle 33"/>
              <p:cNvSpPr/>
              <p:nvPr/>
            </p:nvSpPr>
            <p:spPr>
              <a:xfrm>
                <a:off x="812" y="2352"/>
                <a:ext cx="751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7925" name="Text Box 34"/>
              <p:cNvSpPr txBox="1"/>
              <p:nvPr/>
            </p:nvSpPr>
            <p:spPr>
              <a:xfrm>
                <a:off x="804" y="2367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第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5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小组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7915" name="Group 35"/>
            <p:cNvGrpSpPr/>
            <p:nvPr/>
          </p:nvGrpSpPr>
          <p:grpSpPr>
            <a:xfrm>
              <a:off x="1860" y="2358"/>
              <a:ext cx="759" cy="288"/>
              <a:chOff x="1860" y="2358"/>
              <a:chExt cx="759" cy="288"/>
            </a:xfrm>
          </p:grpSpPr>
          <p:sp>
            <p:nvSpPr>
              <p:cNvPr id="247922" name="Rectangle 36"/>
              <p:cNvSpPr/>
              <p:nvPr/>
            </p:nvSpPr>
            <p:spPr>
              <a:xfrm>
                <a:off x="1869" y="2358"/>
                <a:ext cx="75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7923" name="Text Box 37"/>
              <p:cNvSpPr txBox="1"/>
              <p:nvPr/>
            </p:nvSpPr>
            <p:spPr>
              <a:xfrm>
                <a:off x="1860" y="2378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第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6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小组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7916" name="Group 38"/>
            <p:cNvGrpSpPr/>
            <p:nvPr/>
          </p:nvGrpSpPr>
          <p:grpSpPr>
            <a:xfrm>
              <a:off x="2921" y="2358"/>
              <a:ext cx="755" cy="288"/>
              <a:chOff x="2921" y="2358"/>
              <a:chExt cx="755" cy="288"/>
            </a:xfrm>
          </p:grpSpPr>
          <p:sp>
            <p:nvSpPr>
              <p:cNvPr id="247920" name="Rectangle 39"/>
              <p:cNvSpPr/>
              <p:nvPr/>
            </p:nvSpPr>
            <p:spPr>
              <a:xfrm>
                <a:off x="2921" y="2358"/>
                <a:ext cx="75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7921" name="Text Box 40"/>
              <p:cNvSpPr txBox="1"/>
              <p:nvPr/>
            </p:nvSpPr>
            <p:spPr>
              <a:xfrm>
                <a:off x="2921" y="2373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第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7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小组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7917" name="Group 41"/>
            <p:cNvGrpSpPr/>
            <p:nvPr/>
          </p:nvGrpSpPr>
          <p:grpSpPr>
            <a:xfrm>
              <a:off x="4002" y="2358"/>
              <a:ext cx="764" cy="288"/>
              <a:chOff x="4002" y="2358"/>
              <a:chExt cx="764" cy="288"/>
            </a:xfrm>
          </p:grpSpPr>
          <p:sp>
            <p:nvSpPr>
              <p:cNvPr id="247918" name="Rectangle 42"/>
              <p:cNvSpPr/>
              <p:nvPr/>
            </p:nvSpPr>
            <p:spPr>
              <a:xfrm>
                <a:off x="4002" y="2358"/>
                <a:ext cx="750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7919" name="Text Box 43"/>
              <p:cNvSpPr txBox="1"/>
              <p:nvPr/>
            </p:nvSpPr>
            <p:spPr>
              <a:xfrm>
                <a:off x="4011" y="2373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第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8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小组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5" name="Group 44"/>
          <p:cNvGrpSpPr/>
          <p:nvPr/>
        </p:nvGrpSpPr>
        <p:grpSpPr>
          <a:xfrm>
            <a:off x="2736850" y="1676400"/>
            <a:ext cx="6297613" cy="533400"/>
            <a:chOff x="305" y="2400"/>
            <a:chExt cx="3967" cy="336"/>
          </a:xfrm>
        </p:grpSpPr>
        <p:sp>
          <p:nvSpPr>
            <p:cNvPr id="247912" name="Rectangle 45"/>
            <p:cNvSpPr/>
            <p:nvPr/>
          </p:nvSpPr>
          <p:spPr>
            <a:xfrm>
              <a:off x="305" y="2400"/>
              <a:ext cx="3967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7913" name="Text Box 46"/>
            <p:cNvSpPr txBox="1"/>
            <p:nvPr/>
          </p:nvSpPr>
          <p:spPr>
            <a:xfrm>
              <a:off x="1174" y="2426"/>
              <a:ext cx="222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第    二    重    进    位    链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47"/>
          <p:cNvGrpSpPr/>
          <p:nvPr/>
        </p:nvGrpSpPr>
        <p:grpSpPr>
          <a:xfrm>
            <a:off x="2889250" y="990600"/>
            <a:ext cx="5002213" cy="685800"/>
            <a:chOff x="860" y="912"/>
            <a:chExt cx="3151" cy="432"/>
          </a:xfrm>
        </p:grpSpPr>
        <p:sp>
          <p:nvSpPr>
            <p:cNvPr id="247908" name="Line 48"/>
            <p:cNvSpPr/>
            <p:nvPr/>
          </p:nvSpPr>
          <p:spPr>
            <a:xfrm flipV="1">
              <a:off x="860" y="912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09" name="Line 49"/>
            <p:cNvSpPr/>
            <p:nvPr/>
          </p:nvSpPr>
          <p:spPr>
            <a:xfrm flipV="1">
              <a:off x="1917" y="912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10" name="Line 50"/>
            <p:cNvSpPr/>
            <p:nvPr/>
          </p:nvSpPr>
          <p:spPr>
            <a:xfrm flipV="1">
              <a:off x="2955" y="912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911" name="Line 51"/>
            <p:cNvSpPr/>
            <p:nvPr/>
          </p:nvSpPr>
          <p:spPr>
            <a:xfrm flipV="1">
              <a:off x="4011" y="912"/>
              <a:ext cx="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7" name="Group 52"/>
          <p:cNvGrpSpPr/>
          <p:nvPr/>
        </p:nvGrpSpPr>
        <p:grpSpPr>
          <a:xfrm>
            <a:off x="2508250" y="2193925"/>
            <a:ext cx="960438" cy="398463"/>
            <a:chOff x="620" y="1670"/>
            <a:chExt cx="605" cy="251"/>
          </a:xfrm>
        </p:grpSpPr>
        <p:sp>
          <p:nvSpPr>
            <p:cNvPr id="247906" name="Text Box 53"/>
            <p:cNvSpPr txBox="1"/>
            <p:nvPr/>
          </p:nvSpPr>
          <p:spPr>
            <a:xfrm>
              <a:off x="620" y="167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907" name="Text Box 54"/>
            <p:cNvSpPr txBox="1"/>
            <p:nvPr/>
          </p:nvSpPr>
          <p:spPr>
            <a:xfrm>
              <a:off x="960" y="1670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55"/>
          <p:cNvGrpSpPr/>
          <p:nvPr/>
        </p:nvGrpSpPr>
        <p:grpSpPr>
          <a:xfrm>
            <a:off x="4186238" y="2193925"/>
            <a:ext cx="960438" cy="404813"/>
            <a:chOff x="1677" y="1382"/>
            <a:chExt cx="605" cy="255"/>
          </a:xfrm>
        </p:grpSpPr>
        <p:sp>
          <p:nvSpPr>
            <p:cNvPr id="247904" name="Text Box 56"/>
            <p:cNvSpPr txBox="1"/>
            <p:nvPr/>
          </p:nvSpPr>
          <p:spPr>
            <a:xfrm>
              <a:off x="1677" y="1386"/>
              <a:ext cx="27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905" name="Text Box 57"/>
            <p:cNvSpPr txBox="1"/>
            <p:nvPr/>
          </p:nvSpPr>
          <p:spPr>
            <a:xfrm>
              <a:off x="2017" y="1382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58"/>
          <p:cNvGrpSpPr/>
          <p:nvPr/>
        </p:nvGrpSpPr>
        <p:grpSpPr>
          <a:xfrm>
            <a:off x="5834063" y="2193925"/>
            <a:ext cx="960438" cy="398463"/>
            <a:chOff x="2715" y="1670"/>
            <a:chExt cx="605" cy="251"/>
          </a:xfrm>
        </p:grpSpPr>
        <p:sp>
          <p:nvSpPr>
            <p:cNvPr id="247902" name="Text Box 59"/>
            <p:cNvSpPr txBox="1"/>
            <p:nvPr/>
          </p:nvSpPr>
          <p:spPr>
            <a:xfrm>
              <a:off x="2715" y="167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903" name="Text Box 60"/>
            <p:cNvSpPr txBox="1"/>
            <p:nvPr/>
          </p:nvSpPr>
          <p:spPr>
            <a:xfrm>
              <a:off x="3055" y="1670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" name="Group 61"/>
          <p:cNvGrpSpPr/>
          <p:nvPr/>
        </p:nvGrpSpPr>
        <p:grpSpPr>
          <a:xfrm>
            <a:off x="7586663" y="2193925"/>
            <a:ext cx="960438" cy="398463"/>
            <a:chOff x="3819" y="1670"/>
            <a:chExt cx="605" cy="251"/>
          </a:xfrm>
        </p:grpSpPr>
        <p:sp>
          <p:nvSpPr>
            <p:cNvPr id="247900" name="Text Box 62"/>
            <p:cNvSpPr txBox="1"/>
            <p:nvPr/>
          </p:nvSpPr>
          <p:spPr>
            <a:xfrm>
              <a:off x="3819" y="167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901" name="Text Box 63"/>
            <p:cNvSpPr txBox="1"/>
            <p:nvPr/>
          </p:nvSpPr>
          <p:spPr>
            <a:xfrm>
              <a:off x="4159" y="1670"/>
              <a:ext cx="26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64"/>
          <p:cNvGrpSpPr/>
          <p:nvPr/>
        </p:nvGrpSpPr>
        <p:grpSpPr>
          <a:xfrm>
            <a:off x="2681288" y="685800"/>
            <a:ext cx="5470525" cy="412751"/>
            <a:chOff x="729" y="432"/>
            <a:chExt cx="3446" cy="260"/>
          </a:xfrm>
        </p:grpSpPr>
        <p:sp>
          <p:nvSpPr>
            <p:cNvPr id="247896" name="Text Box 65"/>
            <p:cNvSpPr txBox="1"/>
            <p:nvPr/>
          </p:nvSpPr>
          <p:spPr>
            <a:xfrm>
              <a:off x="729" y="441"/>
              <a:ext cx="3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97" name="Text Box 66"/>
            <p:cNvSpPr txBox="1"/>
            <p:nvPr/>
          </p:nvSpPr>
          <p:spPr>
            <a:xfrm>
              <a:off x="1785" y="432"/>
              <a:ext cx="31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98" name="Text Box 67"/>
            <p:cNvSpPr txBox="1"/>
            <p:nvPr/>
          </p:nvSpPr>
          <p:spPr>
            <a:xfrm>
              <a:off x="2811" y="432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99" name="Text Box 68"/>
            <p:cNvSpPr txBox="1"/>
            <p:nvPr/>
          </p:nvSpPr>
          <p:spPr>
            <a:xfrm>
              <a:off x="3901" y="432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5413" name="Text Box 69"/>
          <p:cNvSpPr txBox="1"/>
          <p:nvPr/>
        </p:nvSpPr>
        <p:spPr>
          <a:xfrm>
            <a:off x="3101975" y="2498725"/>
            <a:ext cx="76835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14~12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5414" name="Text Box 70"/>
          <p:cNvSpPr txBox="1"/>
          <p:nvPr/>
        </p:nvSpPr>
        <p:spPr>
          <a:xfrm>
            <a:off x="4784725" y="2514600"/>
            <a:ext cx="68580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10~8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5415" name="Text Box 71"/>
          <p:cNvSpPr txBox="1"/>
          <p:nvPr/>
        </p:nvSpPr>
        <p:spPr>
          <a:xfrm>
            <a:off x="6467475" y="2514600"/>
            <a:ext cx="60325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6~4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5416" name="Text Box 72"/>
          <p:cNvSpPr txBox="1"/>
          <p:nvPr/>
        </p:nvSpPr>
        <p:spPr>
          <a:xfrm>
            <a:off x="8220075" y="2514600"/>
            <a:ext cx="60325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2~0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22" name="Group 73"/>
          <p:cNvGrpSpPr/>
          <p:nvPr/>
        </p:nvGrpSpPr>
        <p:grpSpPr>
          <a:xfrm>
            <a:off x="4005263" y="1371600"/>
            <a:ext cx="3886200" cy="2133600"/>
            <a:chOff x="1563" y="1152"/>
            <a:chExt cx="2448" cy="1344"/>
          </a:xfrm>
        </p:grpSpPr>
        <p:sp>
          <p:nvSpPr>
            <p:cNvPr id="247893" name="Freeform 74"/>
            <p:cNvSpPr/>
            <p:nvPr/>
          </p:nvSpPr>
          <p:spPr>
            <a:xfrm>
              <a:off x="1563" y="1152"/>
              <a:ext cx="351" cy="1344"/>
            </a:xfrm>
            <a:custGeom>
              <a:avLst/>
              <a:gdLst>
                <a:gd name="txL" fmla="*/ 0 w 351"/>
                <a:gd name="txT" fmla="*/ 0 h 1344"/>
                <a:gd name="txR" fmla="*/ 351 w 351"/>
                <a:gd name="txB" fmla="*/ 1344 h 1344"/>
              </a:gdLst>
              <a:ahLst/>
              <a:cxnLst>
                <a:cxn ang="0">
                  <a:pos x="0" y="1344"/>
                </a:cxn>
                <a:cxn ang="0">
                  <a:pos x="144" y="1344"/>
                </a:cxn>
                <a:cxn ang="0">
                  <a:pos x="144" y="0"/>
                </a:cxn>
                <a:cxn ang="0">
                  <a:pos x="351" y="0"/>
                </a:cxn>
              </a:cxnLst>
              <a:rect l="txL" t="txT" r="txR" b="txB"/>
              <a:pathLst>
                <a:path w="351" h="1344">
                  <a:moveTo>
                    <a:pt x="0" y="1344"/>
                  </a:moveTo>
                  <a:lnTo>
                    <a:pt x="144" y="1344"/>
                  </a:lnTo>
                  <a:lnTo>
                    <a:pt x="144" y="0"/>
                  </a:lnTo>
                  <a:lnTo>
                    <a:pt x="351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7894" name="Freeform 75"/>
            <p:cNvSpPr/>
            <p:nvPr/>
          </p:nvSpPr>
          <p:spPr>
            <a:xfrm>
              <a:off x="2619" y="1152"/>
              <a:ext cx="336" cy="1344"/>
            </a:xfrm>
            <a:custGeom>
              <a:avLst/>
              <a:gdLst>
                <a:gd name="txL" fmla="*/ 0 w 336"/>
                <a:gd name="txT" fmla="*/ 0 h 1344"/>
                <a:gd name="txR" fmla="*/ 336 w 336"/>
                <a:gd name="txB" fmla="*/ 1344 h 1344"/>
              </a:gdLst>
              <a:ahLst/>
              <a:cxnLst>
                <a:cxn ang="0">
                  <a:pos x="0" y="1344"/>
                </a:cxn>
                <a:cxn ang="0">
                  <a:pos x="144" y="1344"/>
                </a:cxn>
                <a:cxn ang="0">
                  <a:pos x="144" y="0"/>
                </a:cxn>
                <a:cxn ang="0">
                  <a:pos x="336" y="0"/>
                </a:cxn>
              </a:cxnLst>
              <a:rect l="txL" t="txT" r="txR" b="txB"/>
              <a:pathLst>
                <a:path w="336" h="1344">
                  <a:moveTo>
                    <a:pt x="0" y="1344"/>
                  </a:moveTo>
                  <a:lnTo>
                    <a:pt x="144" y="1344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7895" name="Freeform 76"/>
            <p:cNvSpPr/>
            <p:nvPr/>
          </p:nvSpPr>
          <p:spPr>
            <a:xfrm>
              <a:off x="3675" y="1152"/>
              <a:ext cx="336" cy="1344"/>
            </a:xfrm>
            <a:custGeom>
              <a:avLst/>
              <a:gdLst>
                <a:gd name="txL" fmla="*/ 0 w 336"/>
                <a:gd name="txT" fmla="*/ 0 h 1344"/>
                <a:gd name="txR" fmla="*/ 336 w 336"/>
                <a:gd name="txB" fmla="*/ 1344 h 1344"/>
              </a:gdLst>
              <a:ahLst/>
              <a:cxnLst>
                <a:cxn ang="0">
                  <a:pos x="0" y="1344"/>
                </a:cxn>
                <a:cxn ang="0">
                  <a:pos x="144" y="1344"/>
                </a:cxn>
                <a:cxn ang="0">
                  <a:pos x="144" y="0"/>
                </a:cxn>
                <a:cxn ang="0">
                  <a:pos x="336" y="0"/>
                </a:cxn>
              </a:cxnLst>
              <a:rect l="txL" t="txT" r="txR" b="txB"/>
              <a:pathLst>
                <a:path w="336" h="1344">
                  <a:moveTo>
                    <a:pt x="0" y="1344"/>
                  </a:moveTo>
                  <a:lnTo>
                    <a:pt x="144" y="1344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Group 77"/>
          <p:cNvGrpSpPr/>
          <p:nvPr/>
        </p:nvGrpSpPr>
        <p:grpSpPr>
          <a:xfrm>
            <a:off x="2763838" y="3733800"/>
            <a:ext cx="6227762" cy="779463"/>
            <a:chOff x="781" y="2352"/>
            <a:chExt cx="3923" cy="491"/>
          </a:xfrm>
        </p:grpSpPr>
        <p:sp>
          <p:nvSpPr>
            <p:cNvPr id="247853" name="Line 78"/>
            <p:cNvSpPr/>
            <p:nvPr/>
          </p:nvSpPr>
          <p:spPr>
            <a:xfrm flipV="1">
              <a:off x="833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54" name="Line 79"/>
            <p:cNvSpPr/>
            <p:nvPr/>
          </p:nvSpPr>
          <p:spPr>
            <a:xfrm flipV="1">
              <a:off x="1121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55" name="Text Box 80"/>
            <p:cNvSpPr txBox="1"/>
            <p:nvPr/>
          </p:nvSpPr>
          <p:spPr>
            <a:xfrm>
              <a:off x="781" y="2592"/>
              <a:ext cx="45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15~12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56" name="Text Box 81"/>
            <p:cNvSpPr txBox="1"/>
            <p:nvPr/>
          </p:nvSpPr>
          <p:spPr>
            <a:xfrm>
              <a:off x="1211" y="2592"/>
              <a:ext cx="4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15~12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57" name="Text Box 82"/>
            <p:cNvSpPr txBox="1"/>
            <p:nvPr/>
          </p:nvSpPr>
          <p:spPr>
            <a:xfrm>
              <a:off x="1872" y="2592"/>
              <a:ext cx="39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11~8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58" name="Text Box 83"/>
            <p:cNvSpPr txBox="1"/>
            <p:nvPr/>
          </p:nvSpPr>
          <p:spPr>
            <a:xfrm>
              <a:off x="2256" y="2592"/>
              <a:ext cx="36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11~8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59" name="Text Box 84"/>
            <p:cNvSpPr txBox="1"/>
            <p:nvPr/>
          </p:nvSpPr>
          <p:spPr>
            <a:xfrm>
              <a:off x="2891" y="2592"/>
              <a:ext cx="3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9~4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60" name="Text Box 85"/>
            <p:cNvSpPr txBox="1"/>
            <p:nvPr/>
          </p:nvSpPr>
          <p:spPr>
            <a:xfrm>
              <a:off x="3360" y="2592"/>
              <a:ext cx="31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9~4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61" name="Text Box 86"/>
            <p:cNvSpPr txBox="1"/>
            <p:nvPr/>
          </p:nvSpPr>
          <p:spPr>
            <a:xfrm>
              <a:off x="3957" y="2592"/>
              <a:ext cx="3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3~0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62" name="Text Box 87"/>
            <p:cNvSpPr txBox="1"/>
            <p:nvPr/>
          </p:nvSpPr>
          <p:spPr>
            <a:xfrm>
              <a:off x="4377" y="2592"/>
              <a:ext cx="31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3~0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7863" name="Line 88"/>
            <p:cNvSpPr/>
            <p:nvPr/>
          </p:nvSpPr>
          <p:spPr>
            <a:xfrm flipV="1">
              <a:off x="929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64" name="Line 89"/>
            <p:cNvSpPr/>
            <p:nvPr/>
          </p:nvSpPr>
          <p:spPr>
            <a:xfrm flipV="1">
              <a:off x="1025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65" name="Line 90"/>
            <p:cNvSpPr/>
            <p:nvPr/>
          </p:nvSpPr>
          <p:spPr>
            <a:xfrm flipV="1">
              <a:off x="1265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66" name="Line 91"/>
            <p:cNvSpPr/>
            <p:nvPr/>
          </p:nvSpPr>
          <p:spPr>
            <a:xfrm flipV="1">
              <a:off x="1361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67" name="Line 92"/>
            <p:cNvSpPr/>
            <p:nvPr/>
          </p:nvSpPr>
          <p:spPr>
            <a:xfrm flipV="1">
              <a:off x="1457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68" name="Line 93"/>
            <p:cNvSpPr/>
            <p:nvPr/>
          </p:nvSpPr>
          <p:spPr>
            <a:xfrm flipV="1">
              <a:off x="1553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69" name="Line 94"/>
            <p:cNvSpPr/>
            <p:nvPr/>
          </p:nvSpPr>
          <p:spPr>
            <a:xfrm flipV="1">
              <a:off x="1906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0" name="Line 95"/>
            <p:cNvSpPr/>
            <p:nvPr/>
          </p:nvSpPr>
          <p:spPr>
            <a:xfrm flipV="1">
              <a:off x="2194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1" name="Line 96"/>
            <p:cNvSpPr/>
            <p:nvPr/>
          </p:nvSpPr>
          <p:spPr>
            <a:xfrm flipV="1">
              <a:off x="2002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2" name="Line 97"/>
            <p:cNvSpPr/>
            <p:nvPr/>
          </p:nvSpPr>
          <p:spPr>
            <a:xfrm flipV="1">
              <a:off x="2098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3" name="Line 98"/>
            <p:cNvSpPr/>
            <p:nvPr/>
          </p:nvSpPr>
          <p:spPr>
            <a:xfrm flipV="1">
              <a:off x="2321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4" name="Line 99"/>
            <p:cNvSpPr/>
            <p:nvPr/>
          </p:nvSpPr>
          <p:spPr>
            <a:xfrm flipV="1">
              <a:off x="2417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5" name="Line 100"/>
            <p:cNvSpPr/>
            <p:nvPr/>
          </p:nvSpPr>
          <p:spPr>
            <a:xfrm flipV="1">
              <a:off x="2513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6" name="Line 101"/>
            <p:cNvSpPr/>
            <p:nvPr/>
          </p:nvSpPr>
          <p:spPr>
            <a:xfrm flipV="1">
              <a:off x="2609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7" name="Line 102"/>
            <p:cNvSpPr/>
            <p:nvPr/>
          </p:nvSpPr>
          <p:spPr>
            <a:xfrm flipV="1">
              <a:off x="2945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8" name="Line 103"/>
            <p:cNvSpPr/>
            <p:nvPr/>
          </p:nvSpPr>
          <p:spPr>
            <a:xfrm flipV="1">
              <a:off x="3233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79" name="Line 104"/>
            <p:cNvSpPr/>
            <p:nvPr/>
          </p:nvSpPr>
          <p:spPr>
            <a:xfrm flipV="1">
              <a:off x="3041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0" name="Line 105"/>
            <p:cNvSpPr/>
            <p:nvPr/>
          </p:nvSpPr>
          <p:spPr>
            <a:xfrm flipV="1">
              <a:off x="3137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1" name="Line 106"/>
            <p:cNvSpPr/>
            <p:nvPr/>
          </p:nvSpPr>
          <p:spPr>
            <a:xfrm flipV="1">
              <a:off x="3377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2" name="Line 107"/>
            <p:cNvSpPr/>
            <p:nvPr/>
          </p:nvSpPr>
          <p:spPr>
            <a:xfrm flipV="1">
              <a:off x="3473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3" name="Line 108"/>
            <p:cNvSpPr/>
            <p:nvPr/>
          </p:nvSpPr>
          <p:spPr>
            <a:xfrm flipV="1">
              <a:off x="3569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4" name="Line 109"/>
            <p:cNvSpPr/>
            <p:nvPr/>
          </p:nvSpPr>
          <p:spPr>
            <a:xfrm flipV="1">
              <a:off x="3665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5" name="Line 110"/>
            <p:cNvSpPr/>
            <p:nvPr/>
          </p:nvSpPr>
          <p:spPr>
            <a:xfrm flipV="1">
              <a:off x="4001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6" name="Line 111"/>
            <p:cNvSpPr/>
            <p:nvPr/>
          </p:nvSpPr>
          <p:spPr>
            <a:xfrm flipV="1">
              <a:off x="4289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7" name="Line 112"/>
            <p:cNvSpPr/>
            <p:nvPr/>
          </p:nvSpPr>
          <p:spPr>
            <a:xfrm flipV="1">
              <a:off x="4097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8" name="Line 113"/>
            <p:cNvSpPr/>
            <p:nvPr/>
          </p:nvSpPr>
          <p:spPr>
            <a:xfrm flipV="1">
              <a:off x="4193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89" name="Line 114"/>
            <p:cNvSpPr/>
            <p:nvPr/>
          </p:nvSpPr>
          <p:spPr>
            <a:xfrm flipV="1">
              <a:off x="4416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90" name="Line 115"/>
            <p:cNvSpPr/>
            <p:nvPr/>
          </p:nvSpPr>
          <p:spPr>
            <a:xfrm flipV="1">
              <a:off x="4512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91" name="Line 116"/>
            <p:cNvSpPr/>
            <p:nvPr/>
          </p:nvSpPr>
          <p:spPr>
            <a:xfrm flipV="1">
              <a:off x="4608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92" name="Line 117"/>
            <p:cNvSpPr/>
            <p:nvPr/>
          </p:nvSpPr>
          <p:spPr>
            <a:xfrm flipV="1">
              <a:off x="4704" y="235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185462" name="Text Box 118"/>
          <p:cNvSpPr txBox="1"/>
          <p:nvPr/>
        </p:nvSpPr>
        <p:spPr>
          <a:xfrm>
            <a:off x="9323388" y="3489325"/>
            <a:ext cx="49022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-1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24" name="Group 119"/>
          <p:cNvGrpSpPr/>
          <p:nvPr/>
        </p:nvGrpSpPr>
        <p:grpSpPr>
          <a:xfrm>
            <a:off x="9034463" y="1981200"/>
            <a:ext cx="779462" cy="1524000"/>
            <a:chOff x="4731" y="1248"/>
            <a:chExt cx="491" cy="960"/>
          </a:xfrm>
        </p:grpSpPr>
        <p:sp>
          <p:nvSpPr>
            <p:cNvPr id="247851" name="Line 120"/>
            <p:cNvSpPr/>
            <p:nvPr/>
          </p:nvSpPr>
          <p:spPr>
            <a:xfrm flipH="1">
              <a:off x="4742" y="2208"/>
              <a:ext cx="4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7852" name="Freeform 121"/>
            <p:cNvSpPr/>
            <p:nvPr/>
          </p:nvSpPr>
          <p:spPr>
            <a:xfrm>
              <a:off x="4731" y="1248"/>
              <a:ext cx="288" cy="960"/>
            </a:xfrm>
            <a:custGeom>
              <a:avLst/>
              <a:gdLst>
                <a:gd name="txL" fmla="*/ 0 w 288"/>
                <a:gd name="txT" fmla="*/ 0 h 960"/>
                <a:gd name="txR" fmla="*/ 288 w 288"/>
                <a:gd name="txB" fmla="*/ 960 h 960"/>
              </a:gdLst>
              <a:ahLst/>
              <a:cxnLst>
                <a:cxn ang="0">
                  <a:pos x="288" y="960"/>
                </a:cxn>
                <a:cxn ang="0">
                  <a:pos x="288" y="0"/>
                </a:cxn>
                <a:cxn ang="0">
                  <a:pos x="0" y="0"/>
                </a:cxn>
              </a:cxnLst>
              <a:rect l="txL" t="txT" r="txR" b="txB"/>
              <a:pathLst>
                <a:path w="288" h="960">
                  <a:moveTo>
                    <a:pt x="288" y="960"/>
                  </a:moveTo>
                  <a:lnTo>
                    <a:pt x="288" y="0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oval" w="sm" len="sm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85466" name="Rectangle 122"/>
          <p:cNvSpPr/>
          <p:nvPr/>
        </p:nvSpPr>
        <p:spPr>
          <a:xfrm>
            <a:off x="4365625" y="5049838"/>
            <a:ext cx="8637588" cy="36036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p>
            <a:r>
              <a:rPr lang="zh-CN" altLang="en-US" sz="2000" b="1" dirty="0">
                <a:latin typeface="Times New Roman" panose="02020603050405020304" pitchFamily="18" charset="0"/>
              </a:rPr>
              <a:t>经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5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t</a:t>
            </a:r>
            <a:r>
              <a:rPr lang="en-US" altLang="zh-CN" sz="2000" b="1" i="1" baseline="-20000" dirty="0">
                <a:latin typeface="Times New Roman" panose="02020603050405020304" pitchFamily="18" charset="0"/>
              </a:rPr>
              <a:t>y</a:t>
            </a:r>
            <a:endParaRPr lang="en-US" altLang="zh-CN" sz="2000" b="1" i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5467" name="Rectangle 123"/>
          <p:cNvSpPr/>
          <p:nvPr/>
        </p:nvSpPr>
        <p:spPr>
          <a:xfrm>
            <a:off x="4365625" y="5410200"/>
            <a:ext cx="8997950" cy="3810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p>
            <a:r>
              <a:rPr lang="zh-CN" altLang="en-US" sz="2000" b="1" dirty="0">
                <a:latin typeface="Times New Roman" panose="02020603050405020304" pitchFamily="18" charset="0"/>
              </a:rPr>
              <a:t>经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7.5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endParaRPr lang="en-US" altLang="zh-CN" sz="2000" b="1" i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5468" name="Rectangle 124"/>
          <p:cNvSpPr/>
          <p:nvPr/>
        </p:nvSpPr>
        <p:spPr>
          <a:xfrm>
            <a:off x="4365625" y="5895975"/>
            <a:ext cx="8713788" cy="4286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p>
            <a:r>
              <a:rPr lang="zh-CN" altLang="en-US" sz="2000" b="1" dirty="0">
                <a:latin typeface="Times New Roman" panose="02020603050405020304" pitchFamily="18" charset="0"/>
              </a:rPr>
              <a:t>经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3 2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185469" name="Rectangle 125"/>
          <p:cNvSpPr/>
          <p:nvPr/>
        </p:nvSpPr>
        <p:spPr>
          <a:xfrm>
            <a:off x="4365625" y="6278563"/>
            <a:ext cx="9144000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p>
            <a:r>
              <a:rPr lang="zh-CN" altLang="en-US" sz="2000" b="1" dirty="0">
                <a:latin typeface="Times New Roman" panose="02020603050405020304" pitchFamily="18" charset="0"/>
              </a:rPr>
              <a:t>经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1 0 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185470" name="Rectangle 126"/>
          <p:cNvSpPr/>
          <p:nvPr/>
        </p:nvSpPr>
        <p:spPr>
          <a:xfrm>
            <a:off x="5524500" y="4678363"/>
            <a:ext cx="50736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产生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5 </a:t>
            </a:r>
            <a:r>
              <a:rPr lang="en-US" altLang="zh-CN" sz="2000" b="1" dirty="0">
                <a:latin typeface="Times New Roman" panose="02020603050405020304" pitchFamily="18" charset="0"/>
              </a:rPr>
              <a:t>~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8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b="1" dirty="0">
                <a:latin typeface="Times New Roman" panose="02020603050405020304" pitchFamily="18" charset="0"/>
              </a:rPr>
              <a:t> ~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8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5471" name="Rectangle 127"/>
          <p:cNvSpPr/>
          <p:nvPr/>
        </p:nvSpPr>
        <p:spPr>
          <a:xfrm>
            <a:off x="5524500" y="5051425"/>
            <a:ext cx="40767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产生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15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11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7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5472" name="Rectangle 128"/>
          <p:cNvSpPr/>
          <p:nvPr/>
        </p:nvSpPr>
        <p:spPr>
          <a:xfrm>
            <a:off x="5524500" y="5448300"/>
            <a:ext cx="46101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产生 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14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12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8 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85473" name="Rectangle 129"/>
          <p:cNvSpPr/>
          <p:nvPr/>
        </p:nvSpPr>
        <p:spPr>
          <a:xfrm>
            <a:off x="5524500" y="5895975"/>
            <a:ext cx="40767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产生   全部进位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5474" name="Rectangle 130"/>
          <p:cNvSpPr/>
          <p:nvPr/>
        </p:nvSpPr>
        <p:spPr>
          <a:xfrm>
            <a:off x="5524500" y="6327775"/>
            <a:ext cx="27051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产生   全部进位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5475" name="Rectangle 13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476" name="Rectangle 132"/>
          <p:cNvSpPr/>
          <p:nvPr/>
        </p:nvSpPr>
        <p:spPr>
          <a:xfrm>
            <a:off x="4365625" y="4678363"/>
            <a:ext cx="584517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Times New Roman" panose="02020603050405020304" pitchFamily="18" charset="0"/>
              </a:rPr>
              <a:t>经 </a:t>
            </a:r>
            <a:r>
              <a:rPr lang="en-US" altLang="zh-CN" sz="2000" b="1" dirty="0">
                <a:latin typeface="Times New Roman" panose="02020603050405020304" pitchFamily="18" charset="0"/>
              </a:rPr>
              <a:t>2.5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0000" dirty="0">
                <a:latin typeface="Times New Roman" panose="02020603050405020304" pitchFamily="18" charset="0"/>
              </a:rPr>
              <a:t>y</a:t>
            </a:r>
            <a:endParaRPr lang="en-US" altLang="zh-CN" sz="2000" b="1" i="1" baseline="-20000" dirty="0">
              <a:latin typeface="Times New Roman" panose="02020603050405020304" pitchFamily="18" charset="0"/>
            </a:endParaRPr>
          </a:p>
        </p:txBody>
      </p:sp>
      <p:sp>
        <p:nvSpPr>
          <p:cNvPr id="185477" name="Rectangle 133"/>
          <p:cNvSpPr/>
          <p:nvPr/>
        </p:nvSpPr>
        <p:spPr>
          <a:xfrm>
            <a:off x="2133600" y="4678363"/>
            <a:ext cx="50736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当 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形成后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478" name="Text Box 134"/>
          <p:cNvSpPr txBox="1"/>
          <p:nvPr/>
        </p:nvSpPr>
        <p:spPr>
          <a:xfrm>
            <a:off x="2895600" y="5895975"/>
            <a:ext cx="2209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串行进位链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479" name="Text Box 135"/>
          <p:cNvSpPr txBox="1"/>
          <p:nvPr/>
        </p:nvSpPr>
        <p:spPr>
          <a:xfrm>
            <a:off x="1857375" y="6327775"/>
            <a:ext cx="28956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单重分组跳跃进位链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7849" name="AutoShape 136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7850" name="日期占位符 1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8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8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8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8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8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8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18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185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18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18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18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18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18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8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18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500"/>
                                        <p:tgtEl>
                                          <p:spTgt spid="18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413" grpId="0"/>
      <p:bldP spid="185414" grpId="0"/>
      <p:bldP spid="185415" grpId="0"/>
      <p:bldP spid="185416" grpId="0"/>
      <p:bldP spid="185462" grpId="0"/>
      <p:bldP spid="185466" grpId="0"/>
      <p:bldP spid="185467" grpId="0"/>
      <p:bldP spid="185468" grpId="0"/>
      <p:bldP spid="185469" grpId="0"/>
      <p:bldP spid="185470" grpId="0"/>
      <p:bldP spid="185471" grpId="0"/>
      <p:bldP spid="185472" grpId="0"/>
      <p:bldP spid="185473" grpId="0"/>
      <p:bldP spid="185474" grpId="0"/>
      <p:bldP spid="185476" grpId="0"/>
      <p:bldP spid="185477" grpId="0"/>
      <p:bldP spid="185478" grpId="0"/>
      <p:bldP spid="185479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48834" name="Rectangle 2"/>
          <p:cNvSpPr/>
          <p:nvPr/>
        </p:nvSpPr>
        <p:spPr>
          <a:xfrm>
            <a:off x="1752600" y="76200"/>
            <a:ext cx="72390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3200" b="1" dirty="0">
                <a:latin typeface="Times New Roman" panose="02020603050405020304" pitchFamily="18" charset="0"/>
              </a:rPr>
              <a:t>(7) 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 =32 </a:t>
            </a:r>
            <a:r>
              <a:rPr lang="zh-CN" altLang="en-US" sz="3200" b="1" dirty="0">
                <a:latin typeface="Times New Roman" panose="02020603050405020304" pitchFamily="18" charset="0"/>
              </a:rPr>
              <a:t>双重分组跳跃进位链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779588" y="685800"/>
            <a:ext cx="8872538" cy="3917951"/>
            <a:chOff x="161" y="432"/>
            <a:chExt cx="5589" cy="2468"/>
          </a:xfrm>
        </p:grpSpPr>
        <p:sp>
          <p:nvSpPr>
            <p:cNvPr id="248849" name="Text Box 4"/>
            <p:cNvSpPr txBox="1"/>
            <p:nvPr/>
          </p:nvSpPr>
          <p:spPr>
            <a:xfrm>
              <a:off x="353" y="2640"/>
              <a:ext cx="2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0" name="Text Box 5"/>
            <p:cNvSpPr txBox="1"/>
            <p:nvPr/>
          </p:nvSpPr>
          <p:spPr>
            <a:xfrm>
              <a:off x="641" y="2640"/>
              <a:ext cx="1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1" name="Text Box 6"/>
            <p:cNvSpPr txBox="1"/>
            <p:nvPr/>
          </p:nvSpPr>
          <p:spPr>
            <a:xfrm>
              <a:off x="1025" y="2640"/>
              <a:ext cx="2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2" name="Text Box 7"/>
            <p:cNvSpPr txBox="1"/>
            <p:nvPr/>
          </p:nvSpPr>
          <p:spPr>
            <a:xfrm>
              <a:off x="1313" y="2640"/>
              <a:ext cx="1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3" name="Text Box 8"/>
            <p:cNvSpPr txBox="1"/>
            <p:nvPr/>
          </p:nvSpPr>
          <p:spPr>
            <a:xfrm>
              <a:off x="1691" y="2640"/>
              <a:ext cx="2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4" name="Text Box 9"/>
            <p:cNvSpPr txBox="1"/>
            <p:nvPr/>
          </p:nvSpPr>
          <p:spPr>
            <a:xfrm>
              <a:off x="1979" y="2640"/>
              <a:ext cx="1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5" name="Text Box 10"/>
            <p:cNvSpPr txBox="1"/>
            <p:nvPr/>
          </p:nvSpPr>
          <p:spPr>
            <a:xfrm>
              <a:off x="2363" y="2640"/>
              <a:ext cx="2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6" name="Text Box 11"/>
            <p:cNvSpPr txBox="1"/>
            <p:nvPr/>
          </p:nvSpPr>
          <p:spPr>
            <a:xfrm>
              <a:off x="2651" y="2640"/>
              <a:ext cx="1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7" name="Text Box 12"/>
            <p:cNvSpPr txBox="1"/>
            <p:nvPr/>
          </p:nvSpPr>
          <p:spPr>
            <a:xfrm>
              <a:off x="3035" y="2640"/>
              <a:ext cx="2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8" name="Text Box 13"/>
            <p:cNvSpPr txBox="1"/>
            <p:nvPr/>
          </p:nvSpPr>
          <p:spPr>
            <a:xfrm>
              <a:off x="3323" y="2640"/>
              <a:ext cx="1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59" name="Text Box 14"/>
            <p:cNvSpPr txBox="1"/>
            <p:nvPr/>
          </p:nvSpPr>
          <p:spPr>
            <a:xfrm>
              <a:off x="3707" y="2640"/>
              <a:ext cx="2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60" name="Text Box 15"/>
            <p:cNvSpPr txBox="1"/>
            <p:nvPr/>
          </p:nvSpPr>
          <p:spPr>
            <a:xfrm>
              <a:off x="3995" y="2640"/>
              <a:ext cx="1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61" name="Text Box 16"/>
            <p:cNvSpPr txBox="1"/>
            <p:nvPr/>
          </p:nvSpPr>
          <p:spPr>
            <a:xfrm>
              <a:off x="4379" y="2640"/>
              <a:ext cx="2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62" name="Text Box 17"/>
            <p:cNvSpPr txBox="1"/>
            <p:nvPr/>
          </p:nvSpPr>
          <p:spPr>
            <a:xfrm>
              <a:off x="4667" y="2640"/>
              <a:ext cx="1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63" name="Text Box 18"/>
            <p:cNvSpPr txBox="1"/>
            <p:nvPr/>
          </p:nvSpPr>
          <p:spPr>
            <a:xfrm>
              <a:off x="5051" y="2640"/>
              <a:ext cx="2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8864" name="Text Box 19"/>
            <p:cNvSpPr txBox="1"/>
            <p:nvPr/>
          </p:nvSpPr>
          <p:spPr>
            <a:xfrm>
              <a:off x="5339" y="2640"/>
              <a:ext cx="19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48865" name="Group 20"/>
            <p:cNvGrpSpPr/>
            <p:nvPr/>
          </p:nvGrpSpPr>
          <p:grpSpPr>
            <a:xfrm>
              <a:off x="161" y="432"/>
              <a:ext cx="5496" cy="2266"/>
              <a:chOff x="161" y="432"/>
              <a:chExt cx="5496" cy="2266"/>
            </a:xfrm>
          </p:grpSpPr>
          <p:sp>
            <p:nvSpPr>
              <p:cNvPr id="248867" name="Line 21"/>
              <p:cNvSpPr/>
              <p:nvPr/>
            </p:nvSpPr>
            <p:spPr>
              <a:xfrm flipV="1">
                <a:off x="401" y="1434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68" name="Line 22"/>
              <p:cNvSpPr/>
              <p:nvPr/>
            </p:nvSpPr>
            <p:spPr>
              <a:xfrm flipV="1">
                <a:off x="497" y="1434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69" name="Line 23"/>
              <p:cNvSpPr/>
              <p:nvPr/>
            </p:nvSpPr>
            <p:spPr>
              <a:xfrm flipV="1">
                <a:off x="593" y="187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70" name="Line 24"/>
              <p:cNvSpPr/>
              <p:nvPr/>
            </p:nvSpPr>
            <p:spPr>
              <a:xfrm flipV="1">
                <a:off x="689" y="187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71" name="Line 25"/>
              <p:cNvSpPr/>
              <p:nvPr/>
            </p:nvSpPr>
            <p:spPr>
              <a:xfrm flipV="1">
                <a:off x="785" y="187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48872" name="Group 26"/>
              <p:cNvGrpSpPr/>
              <p:nvPr/>
            </p:nvGrpSpPr>
            <p:grpSpPr>
              <a:xfrm>
                <a:off x="353" y="2112"/>
                <a:ext cx="480" cy="288"/>
                <a:chOff x="353" y="2208"/>
                <a:chExt cx="480" cy="288"/>
              </a:xfrm>
            </p:grpSpPr>
            <p:sp>
              <p:nvSpPr>
                <p:cNvPr id="249007" name="Rectangle 27"/>
                <p:cNvSpPr/>
                <p:nvPr/>
              </p:nvSpPr>
              <p:spPr>
                <a:xfrm>
                  <a:off x="353" y="2208"/>
                  <a:ext cx="480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9008" name="Text Box 28"/>
                <p:cNvSpPr txBox="1"/>
                <p:nvPr/>
              </p:nvSpPr>
              <p:spPr>
                <a:xfrm>
                  <a:off x="487" y="2217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873" name="Line 29"/>
              <p:cNvSpPr/>
              <p:nvPr/>
            </p:nvSpPr>
            <p:spPr>
              <a:xfrm flipV="1">
                <a:off x="1073" y="1440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74" name="Line 30"/>
              <p:cNvSpPr/>
              <p:nvPr/>
            </p:nvSpPr>
            <p:spPr>
              <a:xfrm flipV="1">
                <a:off x="1169" y="1440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75" name="Line 31"/>
              <p:cNvSpPr/>
              <p:nvPr/>
            </p:nvSpPr>
            <p:spPr>
              <a:xfrm flipV="1">
                <a:off x="1265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76" name="Line 32"/>
              <p:cNvSpPr/>
              <p:nvPr/>
            </p:nvSpPr>
            <p:spPr>
              <a:xfrm flipV="1">
                <a:off x="1361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77" name="Line 33"/>
              <p:cNvSpPr/>
              <p:nvPr/>
            </p:nvSpPr>
            <p:spPr>
              <a:xfrm flipV="1">
                <a:off x="1457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48878" name="Group 34"/>
              <p:cNvGrpSpPr/>
              <p:nvPr/>
            </p:nvGrpSpPr>
            <p:grpSpPr>
              <a:xfrm>
                <a:off x="1025" y="2118"/>
                <a:ext cx="480" cy="288"/>
                <a:chOff x="1025" y="2214"/>
                <a:chExt cx="480" cy="288"/>
              </a:xfrm>
            </p:grpSpPr>
            <p:sp>
              <p:nvSpPr>
                <p:cNvPr id="249005" name="Rectangle 35"/>
                <p:cNvSpPr/>
                <p:nvPr/>
              </p:nvSpPr>
              <p:spPr>
                <a:xfrm>
                  <a:off x="1025" y="2214"/>
                  <a:ext cx="480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9006" name="Text Box 36"/>
                <p:cNvSpPr txBox="1"/>
                <p:nvPr/>
              </p:nvSpPr>
              <p:spPr>
                <a:xfrm>
                  <a:off x="1159" y="2223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879" name="Line 37"/>
              <p:cNvSpPr/>
              <p:nvPr/>
            </p:nvSpPr>
            <p:spPr>
              <a:xfrm flipV="1">
                <a:off x="1745" y="1440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80" name="Line 38"/>
              <p:cNvSpPr/>
              <p:nvPr/>
            </p:nvSpPr>
            <p:spPr>
              <a:xfrm flipV="1">
                <a:off x="1841" y="1440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81" name="Line 39"/>
              <p:cNvSpPr/>
              <p:nvPr/>
            </p:nvSpPr>
            <p:spPr>
              <a:xfrm flipV="1">
                <a:off x="1937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82" name="Line 40"/>
              <p:cNvSpPr/>
              <p:nvPr/>
            </p:nvSpPr>
            <p:spPr>
              <a:xfrm flipV="1">
                <a:off x="2033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83" name="Line 41"/>
              <p:cNvSpPr/>
              <p:nvPr/>
            </p:nvSpPr>
            <p:spPr>
              <a:xfrm flipV="1">
                <a:off x="2129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48884" name="Group 42"/>
              <p:cNvGrpSpPr/>
              <p:nvPr/>
            </p:nvGrpSpPr>
            <p:grpSpPr>
              <a:xfrm>
                <a:off x="1697" y="2118"/>
                <a:ext cx="480" cy="288"/>
                <a:chOff x="1697" y="2214"/>
                <a:chExt cx="480" cy="288"/>
              </a:xfrm>
            </p:grpSpPr>
            <p:sp>
              <p:nvSpPr>
                <p:cNvPr id="249003" name="Rectangle 43"/>
                <p:cNvSpPr/>
                <p:nvPr/>
              </p:nvSpPr>
              <p:spPr>
                <a:xfrm>
                  <a:off x="1697" y="2214"/>
                  <a:ext cx="480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9004" name="Text Box 44"/>
                <p:cNvSpPr txBox="1"/>
                <p:nvPr/>
              </p:nvSpPr>
              <p:spPr>
                <a:xfrm>
                  <a:off x="1831" y="2223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885" name="Line 45"/>
              <p:cNvSpPr/>
              <p:nvPr/>
            </p:nvSpPr>
            <p:spPr>
              <a:xfrm flipV="1">
                <a:off x="2417" y="1440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86" name="Line 46"/>
              <p:cNvSpPr/>
              <p:nvPr/>
            </p:nvSpPr>
            <p:spPr>
              <a:xfrm flipV="1">
                <a:off x="2513" y="1440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87" name="Line 47"/>
              <p:cNvSpPr/>
              <p:nvPr/>
            </p:nvSpPr>
            <p:spPr>
              <a:xfrm flipV="1">
                <a:off x="2609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88" name="Line 48"/>
              <p:cNvSpPr/>
              <p:nvPr/>
            </p:nvSpPr>
            <p:spPr>
              <a:xfrm flipV="1">
                <a:off x="2705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89" name="Line 49"/>
              <p:cNvSpPr/>
              <p:nvPr/>
            </p:nvSpPr>
            <p:spPr>
              <a:xfrm flipV="1">
                <a:off x="2801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48890" name="Group 50"/>
              <p:cNvGrpSpPr/>
              <p:nvPr/>
            </p:nvGrpSpPr>
            <p:grpSpPr>
              <a:xfrm>
                <a:off x="2369" y="2118"/>
                <a:ext cx="480" cy="288"/>
                <a:chOff x="2369" y="2214"/>
                <a:chExt cx="480" cy="288"/>
              </a:xfrm>
            </p:grpSpPr>
            <p:sp>
              <p:nvSpPr>
                <p:cNvPr id="249001" name="Rectangle 51"/>
                <p:cNvSpPr/>
                <p:nvPr/>
              </p:nvSpPr>
              <p:spPr>
                <a:xfrm>
                  <a:off x="2369" y="2214"/>
                  <a:ext cx="480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9002" name="Text Box 52"/>
                <p:cNvSpPr txBox="1"/>
                <p:nvPr/>
              </p:nvSpPr>
              <p:spPr>
                <a:xfrm>
                  <a:off x="2503" y="2223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891" name="Line 53"/>
              <p:cNvSpPr/>
              <p:nvPr/>
            </p:nvSpPr>
            <p:spPr>
              <a:xfrm flipV="1">
                <a:off x="3089" y="1440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92" name="Line 54"/>
              <p:cNvSpPr/>
              <p:nvPr/>
            </p:nvSpPr>
            <p:spPr>
              <a:xfrm flipV="1">
                <a:off x="3185" y="1440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93" name="Line 55"/>
              <p:cNvSpPr/>
              <p:nvPr/>
            </p:nvSpPr>
            <p:spPr>
              <a:xfrm flipV="1">
                <a:off x="3281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94" name="Line 56"/>
              <p:cNvSpPr/>
              <p:nvPr/>
            </p:nvSpPr>
            <p:spPr>
              <a:xfrm flipV="1">
                <a:off x="3377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95" name="Line 57"/>
              <p:cNvSpPr/>
              <p:nvPr/>
            </p:nvSpPr>
            <p:spPr>
              <a:xfrm flipV="1">
                <a:off x="3473" y="187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48896" name="Group 58"/>
              <p:cNvGrpSpPr/>
              <p:nvPr/>
            </p:nvGrpSpPr>
            <p:grpSpPr>
              <a:xfrm>
                <a:off x="3041" y="2118"/>
                <a:ext cx="480" cy="288"/>
                <a:chOff x="3041" y="2214"/>
                <a:chExt cx="480" cy="288"/>
              </a:xfrm>
            </p:grpSpPr>
            <p:sp>
              <p:nvSpPr>
                <p:cNvPr id="248999" name="Rectangle 59"/>
                <p:cNvSpPr/>
                <p:nvPr/>
              </p:nvSpPr>
              <p:spPr>
                <a:xfrm>
                  <a:off x="3041" y="2214"/>
                  <a:ext cx="480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9000" name="Text Box 60"/>
                <p:cNvSpPr txBox="1"/>
                <p:nvPr/>
              </p:nvSpPr>
              <p:spPr>
                <a:xfrm>
                  <a:off x="3175" y="2223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897" name="Line 61"/>
              <p:cNvSpPr/>
              <p:nvPr/>
            </p:nvSpPr>
            <p:spPr>
              <a:xfrm flipV="1">
                <a:off x="3761" y="1446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98" name="Line 62"/>
              <p:cNvSpPr/>
              <p:nvPr/>
            </p:nvSpPr>
            <p:spPr>
              <a:xfrm flipV="1">
                <a:off x="3857" y="1446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899" name="Line 63"/>
              <p:cNvSpPr/>
              <p:nvPr/>
            </p:nvSpPr>
            <p:spPr>
              <a:xfrm flipV="1">
                <a:off x="3953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00" name="Line 64"/>
              <p:cNvSpPr/>
              <p:nvPr/>
            </p:nvSpPr>
            <p:spPr>
              <a:xfrm flipV="1">
                <a:off x="4049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01" name="Line 65"/>
              <p:cNvSpPr/>
              <p:nvPr/>
            </p:nvSpPr>
            <p:spPr>
              <a:xfrm flipV="1">
                <a:off x="4145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48902" name="Group 66"/>
              <p:cNvGrpSpPr/>
              <p:nvPr/>
            </p:nvGrpSpPr>
            <p:grpSpPr>
              <a:xfrm>
                <a:off x="3713" y="2124"/>
                <a:ext cx="480" cy="288"/>
                <a:chOff x="3713" y="2220"/>
                <a:chExt cx="480" cy="288"/>
              </a:xfrm>
            </p:grpSpPr>
            <p:sp>
              <p:nvSpPr>
                <p:cNvPr id="248997" name="Rectangle 67"/>
                <p:cNvSpPr/>
                <p:nvPr/>
              </p:nvSpPr>
              <p:spPr>
                <a:xfrm>
                  <a:off x="3713" y="2220"/>
                  <a:ext cx="480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8998" name="Text Box 68"/>
                <p:cNvSpPr txBox="1"/>
                <p:nvPr/>
              </p:nvSpPr>
              <p:spPr>
                <a:xfrm>
                  <a:off x="3847" y="2229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6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903" name="Line 69"/>
              <p:cNvSpPr/>
              <p:nvPr/>
            </p:nvSpPr>
            <p:spPr>
              <a:xfrm flipV="1">
                <a:off x="4433" y="1446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04" name="Line 70"/>
              <p:cNvSpPr/>
              <p:nvPr/>
            </p:nvSpPr>
            <p:spPr>
              <a:xfrm flipV="1">
                <a:off x="4529" y="1446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05" name="Line 71"/>
              <p:cNvSpPr/>
              <p:nvPr/>
            </p:nvSpPr>
            <p:spPr>
              <a:xfrm flipV="1">
                <a:off x="4625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06" name="Line 72"/>
              <p:cNvSpPr/>
              <p:nvPr/>
            </p:nvSpPr>
            <p:spPr>
              <a:xfrm flipV="1">
                <a:off x="4721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07" name="Line 73"/>
              <p:cNvSpPr/>
              <p:nvPr/>
            </p:nvSpPr>
            <p:spPr>
              <a:xfrm flipV="1">
                <a:off x="4817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48908" name="Group 74"/>
              <p:cNvGrpSpPr/>
              <p:nvPr/>
            </p:nvGrpSpPr>
            <p:grpSpPr>
              <a:xfrm>
                <a:off x="4385" y="2124"/>
                <a:ext cx="480" cy="288"/>
                <a:chOff x="4385" y="2220"/>
                <a:chExt cx="480" cy="288"/>
              </a:xfrm>
            </p:grpSpPr>
            <p:sp>
              <p:nvSpPr>
                <p:cNvPr id="248995" name="Rectangle 75"/>
                <p:cNvSpPr/>
                <p:nvPr/>
              </p:nvSpPr>
              <p:spPr>
                <a:xfrm>
                  <a:off x="4385" y="2220"/>
                  <a:ext cx="480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8996" name="Text Box 76"/>
                <p:cNvSpPr txBox="1"/>
                <p:nvPr/>
              </p:nvSpPr>
              <p:spPr>
                <a:xfrm>
                  <a:off x="4519" y="2229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909" name="Line 77"/>
              <p:cNvSpPr/>
              <p:nvPr/>
            </p:nvSpPr>
            <p:spPr>
              <a:xfrm flipV="1">
                <a:off x="5105" y="1446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10" name="Line 78"/>
              <p:cNvSpPr/>
              <p:nvPr/>
            </p:nvSpPr>
            <p:spPr>
              <a:xfrm flipV="1">
                <a:off x="5201" y="1446"/>
                <a:ext cx="0" cy="6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11" name="Line 79"/>
              <p:cNvSpPr/>
              <p:nvPr/>
            </p:nvSpPr>
            <p:spPr>
              <a:xfrm flipV="1">
                <a:off x="5297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12" name="Line 80"/>
              <p:cNvSpPr/>
              <p:nvPr/>
            </p:nvSpPr>
            <p:spPr>
              <a:xfrm flipV="1">
                <a:off x="5393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13" name="Line 81"/>
              <p:cNvSpPr/>
              <p:nvPr/>
            </p:nvSpPr>
            <p:spPr>
              <a:xfrm flipV="1">
                <a:off x="5489" y="1884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48914" name="Group 82"/>
              <p:cNvGrpSpPr/>
              <p:nvPr/>
            </p:nvGrpSpPr>
            <p:grpSpPr>
              <a:xfrm>
                <a:off x="5057" y="2124"/>
                <a:ext cx="480" cy="288"/>
                <a:chOff x="5057" y="2220"/>
                <a:chExt cx="480" cy="288"/>
              </a:xfrm>
            </p:grpSpPr>
            <p:sp>
              <p:nvSpPr>
                <p:cNvPr id="248993" name="Rectangle 83"/>
                <p:cNvSpPr/>
                <p:nvPr/>
              </p:nvSpPr>
              <p:spPr>
                <a:xfrm>
                  <a:off x="5057" y="2220"/>
                  <a:ext cx="480" cy="288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8994" name="Text Box 84"/>
                <p:cNvSpPr txBox="1"/>
                <p:nvPr/>
              </p:nvSpPr>
              <p:spPr>
                <a:xfrm>
                  <a:off x="5184" y="2229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8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8915" name="Rectangle 85"/>
              <p:cNvSpPr/>
              <p:nvPr/>
            </p:nvSpPr>
            <p:spPr>
              <a:xfrm>
                <a:off x="305" y="1104"/>
                <a:ext cx="2448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16" name="Text Box 86"/>
              <p:cNvSpPr txBox="1"/>
              <p:nvPr/>
            </p:nvSpPr>
            <p:spPr>
              <a:xfrm>
                <a:off x="840" y="1130"/>
                <a:ext cx="1459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第    一    大    组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17" name="Rectangle 87"/>
              <p:cNvSpPr/>
              <p:nvPr/>
            </p:nvSpPr>
            <p:spPr>
              <a:xfrm>
                <a:off x="3024" y="1104"/>
                <a:ext cx="2448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18" name="Text Box 88"/>
              <p:cNvSpPr txBox="1"/>
              <p:nvPr/>
            </p:nvSpPr>
            <p:spPr>
              <a:xfrm>
                <a:off x="3528" y="1130"/>
                <a:ext cx="1459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第    二    大    组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19" name="Line 89"/>
              <p:cNvSpPr/>
              <p:nvPr/>
            </p:nvSpPr>
            <p:spPr>
              <a:xfrm flipV="1">
                <a:off x="401" y="67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0" name="Line 90"/>
              <p:cNvSpPr/>
              <p:nvPr/>
            </p:nvSpPr>
            <p:spPr>
              <a:xfrm flipV="1">
                <a:off x="1073" y="67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1" name="Line 91"/>
              <p:cNvSpPr/>
              <p:nvPr/>
            </p:nvSpPr>
            <p:spPr>
              <a:xfrm flipV="1">
                <a:off x="1745" y="67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2" name="Line 92"/>
              <p:cNvSpPr/>
              <p:nvPr/>
            </p:nvSpPr>
            <p:spPr>
              <a:xfrm flipV="1">
                <a:off x="2417" y="67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3" name="Line 93"/>
              <p:cNvSpPr/>
              <p:nvPr/>
            </p:nvSpPr>
            <p:spPr>
              <a:xfrm flipV="1">
                <a:off x="3089" y="67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4" name="Line 94"/>
              <p:cNvSpPr/>
              <p:nvPr/>
            </p:nvSpPr>
            <p:spPr>
              <a:xfrm flipV="1">
                <a:off x="3761" y="67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5" name="Line 95"/>
              <p:cNvSpPr/>
              <p:nvPr/>
            </p:nvSpPr>
            <p:spPr>
              <a:xfrm flipV="1">
                <a:off x="4433" y="67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6" name="Line 96"/>
              <p:cNvSpPr/>
              <p:nvPr/>
            </p:nvSpPr>
            <p:spPr>
              <a:xfrm flipV="1">
                <a:off x="5105" y="672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7" name="Line 97"/>
              <p:cNvSpPr/>
              <p:nvPr/>
            </p:nvSpPr>
            <p:spPr>
              <a:xfrm flipV="1">
                <a:off x="449" y="240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8" name="Line 98"/>
              <p:cNvSpPr/>
              <p:nvPr/>
            </p:nvSpPr>
            <p:spPr>
              <a:xfrm flipV="1">
                <a:off x="737" y="240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29" name="Text Box 99"/>
              <p:cNvSpPr txBox="1"/>
              <p:nvPr/>
            </p:nvSpPr>
            <p:spPr>
              <a:xfrm>
                <a:off x="461" y="239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30" name="Line 100"/>
              <p:cNvSpPr/>
              <p:nvPr/>
            </p:nvSpPr>
            <p:spPr>
              <a:xfrm flipV="1">
                <a:off x="1121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31" name="Line 101"/>
              <p:cNvSpPr/>
              <p:nvPr/>
            </p:nvSpPr>
            <p:spPr>
              <a:xfrm flipV="1">
                <a:off x="1409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32" name="Text Box 102"/>
              <p:cNvSpPr txBox="1"/>
              <p:nvPr/>
            </p:nvSpPr>
            <p:spPr>
              <a:xfrm>
                <a:off x="1133" y="240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33" name="Line 103"/>
              <p:cNvSpPr/>
              <p:nvPr/>
            </p:nvSpPr>
            <p:spPr>
              <a:xfrm flipV="1">
                <a:off x="1793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34" name="Line 104"/>
              <p:cNvSpPr/>
              <p:nvPr/>
            </p:nvSpPr>
            <p:spPr>
              <a:xfrm flipV="1">
                <a:off x="2081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35" name="Text Box 105"/>
              <p:cNvSpPr txBox="1"/>
              <p:nvPr/>
            </p:nvSpPr>
            <p:spPr>
              <a:xfrm>
                <a:off x="1805" y="240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36" name="Line 106"/>
              <p:cNvSpPr/>
              <p:nvPr/>
            </p:nvSpPr>
            <p:spPr>
              <a:xfrm flipV="1">
                <a:off x="2465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37" name="Line 107"/>
              <p:cNvSpPr/>
              <p:nvPr/>
            </p:nvSpPr>
            <p:spPr>
              <a:xfrm flipV="1">
                <a:off x="2753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38" name="Text Box 108"/>
              <p:cNvSpPr txBox="1"/>
              <p:nvPr/>
            </p:nvSpPr>
            <p:spPr>
              <a:xfrm>
                <a:off x="2477" y="240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39" name="Line 109"/>
              <p:cNvSpPr/>
              <p:nvPr/>
            </p:nvSpPr>
            <p:spPr>
              <a:xfrm flipV="1">
                <a:off x="3137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40" name="Line 110"/>
              <p:cNvSpPr/>
              <p:nvPr/>
            </p:nvSpPr>
            <p:spPr>
              <a:xfrm flipV="1">
                <a:off x="3425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41" name="Text Box 111"/>
              <p:cNvSpPr txBox="1"/>
              <p:nvPr/>
            </p:nvSpPr>
            <p:spPr>
              <a:xfrm>
                <a:off x="3149" y="240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42" name="Line 112"/>
              <p:cNvSpPr/>
              <p:nvPr/>
            </p:nvSpPr>
            <p:spPr>
              <a:xfrm flipV="1">
                <a:off x="3809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43" name="Line 113"/>
              <p:cNvSpPr/>
              <p:nvPr/>
            </p:nvSpPr>
            <p:spPr>
              <a:xfrm flipV="1">
                <a:off x="4097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44" name="Text Box 114"/>
              <p:cNvSpPr txBox="1"/>
              <p:nvPr/>
            </p:nvSpPr>
            <p:spPr>
              <a:xfrm>
                <a:off x="3821" y="240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45" name="Line 115"/>
              <p:cNvSpPr/>
              <p:nvPr/>
            </p:nvSpPr>
            <p:spPr>
              <a:xfrm flipV="1">
                <a:off x="4481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46" name="Line 116"/>
              <p:cNvSpPr/>
              <p:nvPr/>
            </p:nvSpPr>
            <p:spPr>
              <a:xfrm flipV="1">
                <a:off x="4769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47" name="Text Box 117"/>
              <p:cNvSpPr txBox="1"/>
              <p:nvPr/>
            </p:nvSpPr>
            <p:spPr>
              <a:xfrm>
                <a:off x="4493" y="240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48" name="Line 118"/>
              <p:cNvSpPr/>
              <p:nvPr/>
            </p:nvSpPr>
            <p:spPr>
              <a:xfrm flipV="1">
                <a:off x="5153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49" name="Line 119"/>
              <p:cNvSpPr/>
              <p:nvPr/>
            </p:nvSpPr>
            <p:spPr>
              <a:xfrm flipV="1">
                <a:off x="5441" y="241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48950" name="Text Box 120"/>
              <p:cNvSpPr txBox="1"/>
              <p:nvPr/>
            </p:nvSpPr>
            <p:spPr>
              <a:xfrm>
                <a:off x="5165" y="240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51" name="Freeform 121"/>
              <p:cNvSpPr/>
              <p:nvPr/>
            </p:nvSpPr>
            <p:spPr>
              <a:xfrm>
                <a:off x="830" y="912"/>
                <a:ext cx="243" cy="1344"/>
              </a:xfrm>
              <a:custGeom>
                <a:avLst/>
                <a:gdLst>
                  <a:gd name="txL" fmla="*/ 0 w 243"/>
                  <a:gd name="txT" fmla="*/ 0 h 1344"/>
                  <a:gd name="txR" fmla="*/ 243 w 243"/>
                  <a:gd name="txB" fmla="*/ 1344 h 1344"/>
                </a:gdLst>
                <a:ahLst/>
                <a:cxnLst>
                  <a:cxn ang="0">
                    <a:pos x="0" y="1344"/>
                  </a:cxn>
                  <a:cxn ang="0">
                    <a:pos x="70" y="1344"/>
                  </a:cxn>
                  <a:cxn ang="0">
                    <a:pos x="70" y="0"/>
                  </a:cxn>
                  <a:cxn ang="0">
                    <a:pos x="243" y="0"/>
                  </a:cxn>
                </a:cxnLst>
                <a:rect l="txL" t="txT" r="txR" b="txB"/>
                <a:pathLst>
                  <a:path w="243" h="1344">
                    <a:moveTo>
                      <a:pt x="0" y="1344"/>
                    </a:moveTo>
                    <a:lnTo>
                      <a:pt x="70" y="1344"/>
                    </a:lnTo>
                    <a:lnTo>
                      <a:pt x="70" y="0"/>
                    </a:lnTo>
                    <a:lnTo>
                      <a:pt x="24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52" name="Freeform 122"/>
              <p:cNvSpPr/>
              <p:nvPr/>
            </p:nvSpPr>
            <p:spPr>
              <a:xfrm>
                <a:off x="2753" y="1248"/>
                <a:ext cx="157" cy="1"/>
              </a:xfrm>
              <a:custGeom>
                <a:avLst/>
                <a:gdLst>
                  <a:gd name="txL" fmla="*/ 0 w 157"/>
                  <a:gd name="txT" fmla="*/ 0 h 1"/>
                  <a:gd name="txR" fmla="*/ 157 w 15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57" y="0"/>
                  </a:cxn>
                </a:cxnLst>
                <a:rect l="txL" t="txT" r="txR" b="txB"/>
                <a:pathLst>
                  <a:path w="157" h="1">
                    <a:moveTo>
                      <a:pt x="0" y="0"/>
                    </a:moveTo>
                    <a:lnTo>
                      <a:pt x="157" y="0"/>
                    </a:lnTo>
                  </a:path>
                </a:pathLst>
              </a:custGeom>
              <a:noFill/>
              <a:ln w="28575" cap="flat" cmpd="sng">
                <a:solidFill>
                  <a:schemeClr val="folHlink"/>
                </a:solidFill>
                <a:prstDash val="solid"/>
                <a:round/>
                <a:headEnd type="stealth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53" name="Text Box 123"/>
              <p:cNvSpPr txBox="1"/>
              <p:nvPr/>
            </p:nvSpPr>
            <p:spPr>
              <a:xfrm>
                <a:off x="161" y="1445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54" name="Text Box 124"/>
              <p:cNvSpPr txBox="1"/>
              <p:nvPr/>
            </p:nvSpPr>
            <p:spPr>
              <a:xfrm>
                <a:off x="501" y="1445"/>
                <a:ext cx="2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55" name="Text Box 125"/>
              <p:cNvSpPr txBox="1"/>
              <p:nvPr/>
            </p:nvSpPr>
            <p:spPr>
              <a:xfrm>
                <a:off x="847" y="1449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56" name="Text Box 126"/>
              <p:cNvSpPr txBox="1"/>
              <p:nvPr/>
            </p:nvSpPr>
            <p:spPr>
              <a:xfrm>
                <a:off x="1173" y="1445"/>
                <a:ext cx="2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57" name="Text Box 127"/>
              <p:cNvSpPr txBox="1"/>
              <p:nvPr/>
            </p:nvSpPr>
            <p:spPr>
              <a:xfrm>
                <a:off x="1518" y="1445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58" name="Text Box 128"/>
              <p:cNvSpPr txBox="1"/>
              <p:nvPr/>
            </p:nvSpPr>
            <p:spPr>
              <a:xfrm>
                <a:off x="1845" y="1445"/>
                <a:ext cx="2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59" name="Text Box 129"/>
              <p:cNvSpPr txBox="1"/>
              <p:nvPr/>
            </p:nvSpPr>
            <p:spPr>
              <a:xfrm>
                <a:off x="2186" y="1445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0" name="Text Box 130"/>
              <p:cNvSpPr txBox="1"/>
              <p:nvPr/>
            </p:nvSpPr>
            <p:spPr>
              <a:xfrm>
                <a:off x="2526" y="1445"/>
                <a:ext cx="2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1" name="Text Box 131"/>
              <p:cNvSpPr txBox="1"/>
              <p:nvPr/>
            </p:nvSpPr>
            <p:spPr>
              <a:xfrm>
                <a:off x="2858" y="1445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2" name="Text Box 132"/>
              <p:cNvSpPr txBox="1"/>
              <p:nvPr/>
            </p:nvSpPr>
            <p:spPr>
              <a:xfrm>
                <a:off x="3198" y="1445"/>
                <a:ext cx="2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3" name="Text Box 133"/>
              <p:cNvSpPr txBox="1"/>
              <p:nvPr/>
            </p:nvSpPr>
            <p:spPr>
              <a:xfrm>
                <a:off x="3531" y="1445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4" name="Text Box 134"/>
              <p:cNvSpPr txBox="1"/>
              <p:nvPr/>
            </p:nvSpPr>
            <p:spPr>
              <a:xfrm>
                <a:off x="3861" y="1445"/>
                <a:ext cx="2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5" name="Text Box 135"/>
              <p:cNvSpPr txBox="1"/>
              <p:nvPr/>
            </p:nvSpPr>
            <p:spPr>
              <a:xfrm>
                <a:off x="4207" y="1445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6" name="Text Box 136"/>
              <p:cNvSpPr txBox="1"/>
              <p:nvPr/>
            </p:nvSpPr>
            <p:spPr>
              <a:xfrm>
                <a:off x="4533" y="1445"/>
                <a:ext cx="2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7" name="Text Box 137"/>
              <p:cNvSpPr txBox="1"/>
              <p:nvPr/>
            </p:nvSpPr>
            <p:spPr>
              <a:xfrm>
                <a:off x="4874" y="1445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8" name="Text Box 138"/>
              <p:cNvSpPr txBox="1"/>
              <p:nvPr/>
            </p:nvSpPr>
            <p:spPr>
              <a:xfrm>
                <a:off x="5205" y="1445"/>
                <a:ext cx="2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69" name="Freeform 139"/>
              <p:cNvSpPr/>
              <p:nvPr/>
            </p:nvSpPr>
            <p:spPr>
              <a:xfrm>
                <a:off x="1505" y="912"/>
                <a:ext cx="243" cy="1344"/>
              </a:xfrm>
              <a:custGeom>
                <a:avLst/>
                <a:gdLst>
                  <a:gd name="txL" fmla="*/ 0 w 243"/>
                  <a:gd name="txT" fmla="*/ 0 h 1344"/>
                  <a:gd name="txR" fmla="*/ 243 w 243"/>
                  <a:gd name="txB" fmla="*/ 1344 h 1344"/>
                </a:gdLst>
                <a:ahLst/>
                <a:cxnLst>
                  <a:cxn ang="0">
                    <a:pos x="0" y="1344"/>
                  </a:cxn>
                  <a:cxn ang="0">
                    <a:pos x="70" y="1344"/>
                  </a:cxn>
                  <a:cxn ang="0">
                    <a:pos x="70" y="0"/>
                  </a:cxn>
                  <a:cxn ang="0">
                    <a:pos x="243" y="0"/>
                  </a:cxn>
                </a:cxnLst>
                <a:rect l="txL" t="txT" r="txR" b="txB"/>
                <a:pathLst>
                  <a:path w="243" h="1344">
                    <a:moveTo>
                      <a:pt x="0" y="1344"/>
                    </a:moveTo>
                    <a:lnTo>
                      <a:pt x="70" y="1344"/>
                    </a:lnTo>
                    <a:lnTo>
                      <a:pt x="70" y="0"/>
                    </a:lnTo>
                    <a:lnTo>
                      <a:pt x="24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70" name="Freeform 140"/>
              <p:cNvSpPr/>
              <p:nvPr/>
            </p:nvSpPr>
            <p:spPr>
              <a:xfrm>
                <a:off x="2174" y="912"/>
                <a:ext cx="243" cy="1344"/>
              </a:xfrm>
              <a:custGeom>
                <a:avLst/>
                <a:gdLst>
                  <a:gd name="txL" fmla="*/ 0 w 243"/>
                  <a:gd name="txT" fmla="*/ 0 h 1344"/>
                  <a:gd name="txR" fmla="*/ 243 w 243"/>
                  <a:gd name="txB" fmla="*/ 1344 h 1344"/>
                </a:gdLst>
                <a:ahLst/>
                <a:cxnLst>
                  <a:cxn ang="0">
                    <a:pos x="0" y="1344"/>
                  </a:cxn>
                  <a:cxn ang="0">
                    <a:pos x="70" y="1344"/>
                  </a:cxn>
                  <a:cxn ang="0">
                    <a:pos x="70" y="0"/>
                  </a:cxn>
                  <a:cxn ang="0">
                    <a:pos x="243" y="0"/>
                  </a:cxn>
                </a:cxnLst>
                <a:rect l="txL" t="txT" r="txR" b="txB"/>
                <a:pathLst>
                  <a:path w="243" h="1344">
                    <a:moveTo>
                      <a:pt x="0" y="1344"/>
                    </a:moveTo>
                    <a:lnTo>
                      <a:pt x="70" y="1344"/>
                    </a:lnTo>
                    <a:lnTo>
                      <a:pt x="70" y="0"/>
                    </a:lnTo>
                    <a:lnTo>
                      <a:pt x="24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71" name="Freeform 141"/>
              <p:cNvSpPr/>
              <p:nvPr/>
            </p:nvSpPr>
            <p:spPr>
              <a:xfrm>
                <a:off x="2846" y="912"/>
                <a:ext cx="243" cy="1344"/>
              </a:xfrm>
              <a:custGeom>
                <a:avLst/>
                <a:gdLst>
                  <a:gd name="txL" fmla="*/ 0 w 243"/>
                  <a:gd name="txT" fmla="*/ 0 h 1344"/>
                  <a:gd name="txR" fmla="*/ 243 w 243"/>
                  <a:gd name="txB" fmla="*/ 1344 h 1344"/>
                </a:gdLst>
                <a:ahLst/>
                <a:cxnLst>
                  <a:cxn ang="0">
                    <a:pos x="0" y="1344"/>
                  </a:cxn>
                  <a:cxn ang="0">
                    <a:pos x="70" y="1344"/>
                  </a:cxn>
                  <a:cxn ang="0">
                    <a:pos x="70" y="0"/>
                  </a:cxn>
                  <a:cxn ang="0">
                    <a:pos x="243" y="0"/>
                  </a:cxn>
                </a:cxnLst>
                <a:rect l="txL" t="txT" r="txR" b="txB"/>
                <a:pathLst>
                  <a:path w="243" h="1344">
                    <a:moveTo>
                      <a:pt x="0" y="1344"/>
                    </a:moveTo>
                    <a:lnTo>
                      <a:pt x="70" y="1344"/>
                    </a:lnTo>
                    <a:lnTo>
                      <a:pt x="70" y="0"/>
                    </a:lnTo>
                    <a:lnTo>
                      <a:pt x="243" y="0"/>
                    </a:lnTo>
                  </a:path>
                </a:pathLst>
              </a:custGeom>
              <a:noFill/>
              <a:ln w="28575" cap="flat" cmpd="sng">
                <a:solidFill>
                  <a:schemeClr val="folHlink"/>
                </a:solidFill>
                <a:prstDash val="solid"/>
                <a:round/>
                <a:headEnd type="stealth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72" name="Freeform 142"/>
              <p:cNvSpPr/>
              <p:nvPr/>
            </p:nvSpPr>
            <p:spPr>
              <a:xfrm>
                <a:off x="3518" y="912"/>
                <a:ext cx="243" cy="1344"/>
              </a:xfrm>
              <a:custGeom>
                <a:avLst/>
                <a:gdLst>
                  <a:gd name="txL" fmla="*/ 0 w 243"/>
                  <a:gd name="txT" fmla="*/ 0 h 1344"/>
                  <a:gd name="txR" fmla="*/ 243 w 243"/>
                  <a:gd name="txB" fmla="*/ 1344 h 1344"/>
                </a:gdLst>
                <a:ahLst/>
                <a:cxnLst>
                  <a:cxn ang="0">
                    <a:pos x="0" y="1344"/>
                  </a:cxn>
                  <a:cxn ang="0">
                    <a:pos x="70" y="1344"/>
                  </a:cxn>
                  <a:cxn ang="0">
                    <a:pos x="70" y="0"/>
                  </a:cxn>
                  <a:cxn ang="0">
                    <a:pos x="243" y="0"/>
                  </a:cxn>
                </a:cxnLst>
                <a:rect l="txL" t="txT" r="txR" b="txB"/>
                <a:pathLst>
                  <a:path w="243" h="1344">
                    <a:moveTo>
                      <a:pt x="0" y="1344"/>
                    </a:moveTo>
                    <a:lnTo>
                      <a:pt x="70" y="1344"/>
                    </a:lnTo>
                    <a:lnTo>
                      <a:pt x="70" y="0"/>
                    </a:lnTo>
                    <a:lnTo>
                      <a:pt x="24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73" name="Freeform 143"/>
              <p:cNvSpPr/>
              <p:nvPr/>
            </p:nvSpPr>
            <p:spPr>
              <a:xfrm>
                <a:off x="4190" y="912"/>
                <a:ext cx="243" cy="1344"/>
              </a:xfrm>
              <a:custGeom>
                <a:avLst/>
                <a:gdLst>
                  <a:gd name="txL" fmla="*/ 0 w 243"/>
                  <a:gd name="txT" fmla="*/ 0 h 1344"/>
                  <a:gd name="txR" fmla="*/ 243 w 243"/>
                  <a:gd name="txB" fmla="*/ 1344 h 1344"/>
                </a:gdLst>
                <a:ahLst/>
                <a:cxnLst>
                  <a:cxn ang="0">
                    <a:pos x="0" y="1344"/>
                  </a:cxn>
                  <a:cxn ang="0">
                    <a:pos x="70" y="1344"/>
                  </a:cxn>
                  <a:cxn ang="0">
                    <a:pos x="70" y="0"/>
                  </a:cxn>
                  <a:cxn ang="0">
                    <a:pos x="243" y="0"/>
                  </a:cxn>
                </a:cxnLst>
                <a:rect l="txL" t="txT" r="txR" b="txB"/>
                <a:pathLst>
                  <a:path w="243" h="1344">
                    <a:moveTo>
                      <a:pt x="0" y="1344"/>
                    </a:moveTo>
                    <a:lnTo>
                      <a:pt x="70" y="1344"/>
                    </a:lnTo>
                    <a:lnTo>
                      <a:pt x="70" y="0"/>
                    </a:lnTo>
                    <a:lnTo>
                      <a:pt x="24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74" name="Freeform 144"/>
              <p:cNvSpPr/>
              <p:nvPr/>
            </p:nvSpPr>
            <p:spPr>
              <a:xfrm>
                <a:off x="4865" y="912"/>
                <a:ext cx="243" cy="1344"/>
              </a:xfrm>
              <a:custGeom>
                <a:avLst/>
                <a:gdLst>
                  <a:gd name="txL" fmla="*/ 0 w 243"/>
                  <a:gd name="txT" fmla="*/ 0 h 1344"/>
                  <a:gd name="txR" fmla="*/ 243 w 243"/>
                  <a:gd name="txB" fmla="*/ 1344 h 1344"/>
                </a:gdLst>
                <a:ahLst/>
                <a:cxnLst>
                  <a:cxn ang="0">
                    <a:pos x="0" y="1344"/>
                  </a:cxn>
                  <a:cxn ang="0">
                    <a:pos x="70" y="1344"/>
                  </a:cxn>
                  <a:cxn ang="0">
                    <a:pos x="70" y="0"/>
                  </a:cxn>
                  <a:cxn ang="0">
                    <a:pos x="243" y="0"/>
                  </a:cxn>
                </a:cxnLst>
                <a:rect l="txL" t="txT" r="txR" b="txB"/>
                <a:pathLst>
                  <a:path w="243" h="1344">
                    <a:moveTo>
                      <a:pt x="0" y="1344"/>
                    </a:moveTo>
                    <a:lnTo>
                      <a:pt x="70" y="1344"/>
                    </a:lnTo>
                    <a:lnTo>
                      <a:pt x="70" y="0"/>
                    </a:lnTo>
                    <a:lnTo>
                      <a:pt x="24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75" name="Text Box 145"/>
              <p:cNvSpPr txBox="1"/>
              <p:nvPr/>
            </p:nvSpPr>
            <p:spPr>
              <a:xfrm>
                <a:off x="295" y="441"/>
                <a:ext cx="32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76" name="Text Box 146"/>
              <p:cNvSpPr txBox="1"/>
              <p:nvPr/>
            </p:nvSpPr>
            <p:spPr>
              <a:xfrm>
                <a:off x="929" y="432"/>
                <a:ext cx="32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77" name="Text Box 147"/>
              <p:cNvSpPr txBox="1"/>
              <p:nvPr/>
            </p:nvSpPr>
            <p:spPr>
              <a:xfrm>
                <a:off x="1601" y="432"/>
                <a:ext cx="32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23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78" name="Text Box 148"/>
              <p:cNvSpPr txBox="1"/>
              <p:nvPr/>
            </p:nvSpPr>
            <p:spPr>
              <a:xfrm>
                <a:off x="2273" y="432"/>
                <a:ext cx="32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79" name="Text Box 149"/>
              <p:cNvSpPr txBox="1"/>
              <p:nvPr/>
            </p:nvSpPr>
            <p:spPr>
              <a:xfrm>
                <a:off x="2945" y="432"/>
                <a:ext cx="32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0" name="Text Box 150"/>
              <p:cNvSpPr txBox="1"/>
              <p:nvPr/>
            </p:nvSpPr>
            <p:spPr>
              <a:xfrm>
                <a:off x="3617" y="432"/>
                <a:ext cx="317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1" name="Text Box 151"/>
              <p:cNvSpPr txBox="1"/>
              <p:nvPr/>
            </p:nvSpPr>
            <p:spPr>
              <a:xfrm>
                <a:off x="4289" y="432"/>
                <a:ext cx="27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2" name="Text Box 152"/>
              <p:cNvSpPr txBox="1"/>
              <p:nvPr/>
            </p:nvSpPr>
            <p:spPr>
              <a:xfrm>
                <a:off x="4961" y="432"/>
                <a:ext cx="27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3" name="Text Box 153"/>
              <p:cNvSpPr txBox="1"/>
              <p:nvPr/>
            </p:nvSpPr>
            <p:spPr>
              <a:xfrm>
                <a:off x="449" y="1637"/>
                <a:ext cx="47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30~28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4" name="Text Box 154"/>
              <p:cNvSpPr txBox="1"/>
              <p:nvPr/>
            </p:nvSpPr>
            <p:spPr>
              <a:xfrm>
                <a:off x="1121" y="1647"/>
                <a:ext cx="47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26~24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5" name="Text Box 155"/>
              <p:cNvSpPr txBox="1"/>
              <p:nvPr/>
            </p:nvSpPr>
            <p:spPr>
              <a:xfrm>
                <a:off x="1793" y="1647"/>
                <a:ext cx="47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22~20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6" name="Text Box 156"/>
              <p:cNvSpPr txBox="1"/>
              <p:nvPr/>
            </p:nvSpPr>
            <p:spPr>
              <a:xfrm>
                <a:off x="2465" y="1647"/>
                <a:ext cx="47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18~16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7" name="Text Box 157"/>
              <p:cNvSpPr txBox="1"/>
              <p:nvPr/>
            </p:nvSpPr>
            <p:spPr>
              <a:xfrm>
                <a:off x="3137" y="1647"/>
                <a:ext cx="47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14~12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8" name="Text Box 158"/>
              <p:cNvSpPr txBox="1"/>
              <p:nvPr/>
            </p:nvSpPr>
            <p:spPr>
              <a:xfrm>
                <a:off x="3809" y="1647"/>
                <a:ext cx="42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10~8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89" name="Text Box 159"/>
              <p:cNvSpPr txBox="1"/>
              <p:nvPr/>
            </p:nvSpPr>
            <p:spPr>
              <a:xfrm>
                <a:off x="4481" y="1647"/>
                <a:ext cx="36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6~4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90" name="Text Box 160"/>
              <p:cNvSpPr txBox="1"/>
              <p:nvPr/>
            </p:nvSpPr>
            <p:spPr>
              <a:xfrm>
                <a:off x="5153" y="1647"/>
                <a:ext cx="36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2~0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8991" name="Freeform 161"/>
              <p:cNvSpPr/>
              <p:nvPr/>
            </p:nvSpPr>
            <p:spPr>
              <a:xfrm>
                <a:off x="5465" y="1296"/>
                <a:ext cx="192" cy="1392"/>
              </a:xfrm>
              <a:custGeom>
                <a:avLst/>
                <a:gdLst>
                  <a:gd name="txL" fmla="*/ 0 w 192"/>
                  <a:gd name="txT" fmla="*/ 0 h 1392"/>
                  <a:gd name="txR" fmla="*/ 192 w 192"/>
                  <a:gd name="txB" fmla="*/ 1392 h 1392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2" y="1392"/>
                  </a:cxn>
                </a:cxnLst>
                <a:rect l="txL" t="txT" r="txR" b="txB"/>
                <a:pathLst>
                  <a:path w="192" h="1392">
                    <a:moveTo>
                      <a:pt x="0" y="0"/>
                    </a:moveTo>
                    <a:lnTo>
                      <a:pt x="192" y="0"/>
                    </a:lnTo>
                    <a:lnTo>
                      <a:pt x="192" y="1392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8992" name="Freeform 162"/>
              <p:cNvSpPr/>
              <p:nvPr/>
            </p:nvSpPr>
            <p:spPr>
              <a:xfrm>
                <a:off x="5537" y="2256"/>
                <a:ext cx="115" cy="1"/>
              </a:xfrm>
              <a:custGeom>
                <a:avLst/>
                <a:gdLst>
                  <a:gd name="txL" fmla="*/ 0 w 115"/>
                  <a:gd name="txT" fmla="*/ 0 h 1"/>
                  <a:gd name="txR" fmla="*/ 115 w 115"/>
                  <a:gd name="txB" fmla="*/ 1 h 1"/>
                </a:gdLst>
                <a:ahLst/>
                <a:cxnLst>
                  <a:cxn ang="0">
                    <a:pos x="115" y="0"/>
                  </a:cxn>
                  <a:cxn ang="0">
                    <a:pos x="0" y="1"/>
                  </a:cxn>
                </a:cxnLst>
                <a:rect l="txL" t="txT" r="txR" b="txB"/>
                <a:pathLst>
                  <a:path w="115" h="1">
                    <a:moveTo>
                      <a:pt x="115" y="0"/>
                    </a:moveTo>
                    <a:lnTo>
                      <a:pt x="0" y="1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8866" name="Text Box 163"/>
            <p:cNvSpPr txBox="1"/>
            <p:nvPr/>
          </p:nvSpPr>
          <p:spPr>
            <a:xfrm>
              <a:off x="5441" y="2649"/>
              <a:ext cx="30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-1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6532" name="Rectangle 164"/>
          <p:cNvSpPr/>
          <p:nvPr/>
        </p:nvSpPr>
        <p:spPr>
          <a:xfrm>
            <a:off x="1974850" y="4800600"/>
            <a:ext cx="1911350" cy="3810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p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当 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形成后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533" name="Rectangle 165"/>
          <p:cNvSpPr/>
          <p:nvPr/>
        </p:nvSpPr>
        <p:spPr>
          <a:xfrm>
            <a:off x="4953000" y="4800600"/>
            <a:ext cx="7494588" cy="3810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p>
            <a:r>
              <a:rPr lang="zh-CN" altLang="en-US" sz="2000" b="1" dirty="0">
                <a:latin typeface="Times New Roman" panose="02020603050405020304" pitchFamily="18" charset="0"/>
              </a:rPr>
              <a:t>产生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000" b="1" dirty="0">
                <a:latin typeface="Times New Roman" panose="02020603050405020304" pitchFamily="18" charset="0"/>
              </a:rPr>
              <a:t>~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8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 ~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86534" name="Rectangle 166"/>
          <p:cNvSpPr/>
          <p:nvPr/>
        </p:nvSpPr>
        <p:spPr>
          <a:xfrm>
            <a:off x="4926013" y="5202238"/>
            <a:ext cx="8637587" cy="360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000" b="1" baseline="-20000" dirty="0">
                <a:latin typeface="Times New Roman" panose="02020603050405020304" pitchFamily="18" charset="0"/>
              </a:rPr>
              <a:t>   </a:t>
            </a:r>
            <a:r>
              <a:rPr lang="zh-CN" altLang="en-US" sz="2000" b="1" dirty="0">
                <a:latin typeface="Times New Roman" panose="02020603050405020304" pitchFamily="18" charset="0"/>
              </a:rPr>
              <a:t>产生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15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11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7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zh-CN" altLang="en-US" sz="2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6535" name="Rectangle 167"/>
          <p:cNvSpPr/>
          <p:nvPr/>
        </p:nvSpPr>
        <p:spPr>
          <a:xfrm>
            <a:off x="4933950" y="5581650"/>
            <a:ext cx="8997950" cy="7191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en-US" altLang="zh-CN" sz="2000" b="1" dirty="0">
                <a:latin typeface="Times New Roman" panose="02020603050405020304" pitchFamily="18" charset="0"/>
              </a:rPr>
              <a:t>  </a:t>
            </a:r>
            <a:r>
              <a:rPr lang="zh-CN" altLang="en-US" sz="2000" b="1" dirty="0">
                <a:latin typeface="Times New Roman" panose="02020603050405020304" pitchFamily="18" charset="0"/>
              </a:rPr>
              <a:t>产生 </a:t>
            </a:r>
            <a:r>
              <a:rPr lang="zh-CN" altLang="en-US" sz="12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18 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16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14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12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8 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</a:rPr>
              <a:t>          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31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27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23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19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86536" name="Rectangle 168"/>
          <p:cNvSpPr/>
          <p:nvPr/>
        </p:nvSpPr>
        <p:spPr>
          <a:xfrm>
            <a:off x="5029200" y="6343650"/>
            <a:ext cx="8637588" cy="360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r>
              <a:rPr lang="zh-CN" altLang="en-US" sz="2000" b="1" dirty="0">
                <a:latin typeface="Times New Roman" panose="02020603050405020304" pitchFamily="18" charset="0"/>
              </a:rPr>
              <a:t>产生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30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28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26 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24</a:t>
            </a:r>
            <a:r>
              <a:rPr lang="zh-CN" altLang="en-US" sz="2000" b="1" dirty="0">
                <a:latin typeface="Times New Roman" panose="02020603050405020304" pitchFamily="18" charset="0"/>
              </a:rPr>
              <a:t>、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22 </a:t>
            </a:r>
            <a:r>
              <a:rPr lang="en-US" altLang="zh-CN" sz="2000" b="1" dirty="0">
                <a:latin typeface="Times New Roman" panose="02020603050405020304" pitchFamily="18" charset="0"/>
              </a:rPr>
              <a:t>~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20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86537" name="Text Box 169"/>
          <p:cNvSpPr txBox="1"/>
          <p:nvPr/>
        </p:nvSpPr>
        <p:spPr>
          <a:xfrm>
            <a:off x="3810000" y="4800600"/>
            <a:ext cx="1676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经 </a:t>
            </a:r>
            <a:r>
              <a:rPr lang="en-US" altLang="zh-CN" sz="2000" b="1" dirty="0">
                <a:latin typeface="Times New Roman" panose="02020603050405020304" pitchFamily="18" charset="0"/>
              </a:rPr>
              <a:t>2.5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0000" dirty="0">
                <a:latin typeface="Times New Roman" panose="02020603050405020304" pitchFamily="18" charset="0"/>
              </a:rPr>
              <a:t>y</a:t>
            </a:r>
            <a:endParaRPr lang="en-US" altLang="zh-CN" sz="2000" b="1" i="1" baseline="-20000" dirty="0">
              <a:latin typeface="Times New Roman" panose="02020603050405020304" pitchFamily="18" charset="0"/>
            </a:endParaRPr>
          </a:p>
        </p:txBody>
      </p:sp>
      <p:sp>
        <p:nvSpPr>
          <p:cNvPr id="186538" name="Text Box 170"/>
          <p:cNvSpPr txBox="1"/>
          <p:nvPr/>
        </p:nvSpPr>
        <p:spPr>
          <a:xfrm>
            <a:off x="4305300" y="5200650"/>
            <a:ext cx="6096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5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0000" dirty="0">
                <a:latin typeface="Times New Roman" panose="02020603050405020304" pitchFamily="18" charset="0"/>
              </a:rPr>
              <a:t>y</a:t>
            </a:r>
            <a:endParaRPr lang="en-US" altLang="zh-CN" sz="2000" b="1" i="1" baseline="-20000" dirty="0">
              <a:latin typeface="Times New Roman" panose="02020603050405020304" pitchFamily="18" charset="0"/>
            </a:endParaRPr>
          </a:p>
        </p:txBody>
      </p:sp>
      <p:sp>
        <p:nvSpPr>
          <p:cNvPr id="186539" name="Text Box 171"/>
          <p:cNvSpPr txBox="1"/>
          <p:nvPr/>
        </p:nvSpPr>
        <p:spPr>
          <a:xfrm>
            <a:off x="4133850" y="5619750"/>
            <a:ext cx="762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7.5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0000" dirty="0">
                <a:latin typeface="Times New Roman" panose="02020603050405020304" pitchFamily="18" charset="0"/>
              </a:rPr>
              <a:t>y</a:t>
            </a:r>
            <a:endParaRPr lang="en-US" altLang="zh-CN" sz="2000" b="1" i="1" baseline="-20000" dirty="0">
              <a:latin typeface="Times New Roman" panose="02020603050405020304" pitchFamily="18" charset="0"/>
            </a:endParaRPr>
          </a:p>
        </p:txBody>
      </p:sp>
      <p:sp>
        <p:nvSpPr>
          <p:cNvPr id="186540" name="Text Box 172"/>
          <p:cNvSpPr txBox="1"/>
          <p:nvPr/>
        </p:nvSpPr>
        <p:spPr>
          <a:xfrm>
            <a:off x="4152900" y="6308725"/>
            <a:ext cx="1676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1 0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endParaRPr lang="en-US" altLang="zh-CN" sz="2000" b="1" i="1" baseline="-20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541" name="Rectangle 173"/>
          <p:cNvSpPr>
            <a:spLocks noChangeArrowheads="1"/>
          </p:cNvSpPr>
          <p:nvPr/>
        </p:nvSpPr>
        <p:spPr bwMode="auto">
          <a:xfrm>
            <a:off x="9525000" y="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46" name="AutoShape 174">
            <a:hlinkClick r:id="" action="ppaction://noaction"/>
          </p:cNvPr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8847" name="Rectangle 175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48848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532" grpId="0"/>
      <p:bldP spid="186533" grpId="0"/>
      <p:bldP spid="186534" grpId="0"/>
      <p:bldP spid="186535" grpId="0"/>
      <p:bldP spid="186536" grpId="0"/>
      <p:bldP spid="186537" grpId="0"/>
      <p:bldP spid="186538" grpId="0"/>
      <p:bldP spid="186539" grpId="0"/>
      <p:bldP spid="186540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98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2498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grpSp>
        <p:nvGrpSpPr>
          <p:cNvPr id="249860" name="Group 4"/>
          <p:cNvGrpSpPr/>
          <p:nvPr/>
        </p:nvGrpSpPr>
        <p:grpSpPr>
          <a:xfrm>
            <a:off x="3581400" y="1220788"/>
            <a:ext cx="5867400" cy="5334000"/>
            <a:chOff x="510" y="1716"/>
            <a:chExt cx="4320" cy="5484"/>
          </a:xfrm>
        </p:grpSpPr>
        <p:sp>
          <p:nvSpPr>
            <p:cNvPr id="249862" name="AutoShape 5"/>
            <p:cNvSpPr/>
            <p:nvPr/>
          </p:nvSpPr>
          <p:spPr>
            <a:xfrm rot="5400000" flipH="1">
              <a:off x="2358" y="768"/>
              <a:ext cx="624" cy="2520"/>
            </a:xfrm>
            <a:prstGeom prst="flowChartDelay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9863" name="Line 6"/>
            <p:cNvSpPr/>
            <p:nvPr/>
          </p:nvSpPr>
          <p:spPr>
            <a:xfrm flipH="1">
              <a:off x="1590" y="3588"/>
              <a:ext cx="360" cy="53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64" name="Line 7"/>
            <p:cNvSpPr/>
            <p:nvPr/>
          </p:nvSpPr>
          <p:spPr>
            <a:xfrm>
              <a:off x="3750" y="2340"/>
              <a:ext cx="540" cy="7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65" name="Text Box 8"/>
            <p:cNvSpPr txBox="1"/>
            <p:nvPr/>
          </p:nvSpPr>
          <p:spPr>
            <a:xfrm>
              <a:off x="510" y="4992"/>
              <a:ext cx="1278" cy="35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小数点表示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66" name="Text Box 9"/>
            <p:cNvSpPr txBox="1"/>
            <p:nvPr/>
          </p:nvSpPr>
          <p:spPr>
            <a:xfrm>
              <a:off x="1800" y="5951"/>
              <a:ext cx="412" cy="124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原 码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67" name="Text Box 10"/>
            <p:cNvSpPr txBox="1"/>
            <p:nvPr/>
          </p:nvSpPr>
          <p:spPr>
            <a:xfrm>
              <a:off x="2294" y="4992"/>
              <a:ext cx="1276" cy="36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加减号表示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68" name="Line 11"/>
            <p:cNvSpPr/>
            <p:nvPr/>
          </p:nvSpPr>
          <p:spPr>
            <a:xfrm>
              <a:off x="1050" y="4368"/>
              <a:ext cx="0" cy="5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69" name="Line 12"/>
            <p:cNvSpPr/>
            <p:nvPr/>
          </p:nvSpPr>
          <p:spPr>
            <a:xfrm>
              <a:off x="1590" y="4368"/>
              <a:ext cx="1096" cy="44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70" name="Line 13"/>
            <p:cNvSpPr/>
            <p:nvPr/>
          </p:nvSpPr>
          <p:spPr>
            <a:xfrm>
              <a:off x="1284" y="5359"/>
              <a:ext cx="0" cy="55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71" name="Line 14"/>
            <p:cNvSpPr/>
            <p:nvPr/>
          </p:nvSpPr>
          <p:spPr>
            <a:xfrm flipH="1">
              <a:off x="1998" y="5391"/>
              <a:ext cx="450" cy="5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72" name="Line 15"/>
            <p:cNvSpPr/>
            <p:nvPr/>
          </p:nvSpPr>
          <p:spPr>
            <a:xfrm flipH="1">
              <a:off x="2498" y="5391"/>
              <a:ext cx="150" cy="5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73" name="Line 16"/>
            <p:cNvSpPr/>
            <p:nvPr/>
          </p:nvSpPr>
          <p:spPr>
            <a:xfrm>
              <a:off x="2850" y="5391"/>
              <a:ext cx="150" cy="55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74" name="Text Box 17"/>
            <p:cNvSpPr txBox="1"/>
            <p:nvPr/>
          </p:nvSpPr>
          <p:spPr>
            <a:xfrm>
              <a:off x="2340" y="5951"/>
              <a:ext cx="412" cy="124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反 码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75" name="Text Box 18"/>
            <p:cNvSpPr txBox="1"/>
            <p:nvPr/>
          </p:nvSpPr>
          <p:spPr>
            <a:xfrm>
              <a:off x="2850" y="5951"/>
              <a:ext cx="412" cy="124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补 码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76" name="Text Box 19"/>
            <p:cNvSpPr txBox="1"/>
            <p:nvPr/>
          </p:nvSpPr>
          <p:spPr>
            <a:xfrm>
              <a:off x="3374" y="5951"/>
              <a:ext cx="412" cy="124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移 码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77" name="Text Box 20"/>
            <p:cNvSpPr txBox="1"/>
            <p:nvPr/>
          </p:nvSpPr>
          <p:spPr>
            <a:xfrm>
              <a:off x="510" y="5930"/>
              <a:ext cx="412" cy="124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定 点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78" name="Text Box 21"/>
            <p:cNvSpPr txBox="1"/>
            <p:nvPr/>
          </p:nvSpPr>
          <p:spPr>
            <a:xfrm>
              <a:off x="1154" y="5930"/>
              <a:ext cx="412" cy="124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浮 点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79" name="Line 22"/>
            <p:cNvSpPr/>
            <p:nvPr/>
          </p:nvSpPr>
          <p:spPr>
            <a:xfrm>
              <a:off x="3016" y="5359"/>
              <a:ext cx="524" cy="5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80" name="Line 23"/>
            <p:cNvSpPr/>
            <p:nvPr/>
          </p:nvSpPr>
          <p:spPr>
            <a:xfrm>
              <a:off x="804" y="5369"/>
              <a:ext cx="0" cy="5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81" name="Text Box 24"/>
            <p:cNvSpPr txBox="1"/>
            <p:nvPr/>
          </p:nvSpPr>
          <p:spPr>
            <a:xfrm>
              <a:off x="510" y="3900"/>
              <a:ext cx="1027" cy="44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二进制数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82" name="Text Box 25"/>
            <p:cNvSpPr txBox="1"/>
            <p:nvPr/>
          </p:nvSpPr>
          <p:spPr>
            <a:xfrm>
              <a:off x="1410" y="3120"/>
              <a:ext cx="1260" cy="37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十进制数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83" name="Text Box 26"/>
            <p:cNvSpPr txBox="1"/>
            <p:nvPr/>
          </p:nvSpPr>
          <p:spPr>
            <a:xfrm>
              <a:off x="3570" y="3120"/>
              <a:ext cx="1260" cy="38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文字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9884" name="Line 27"/>
            <p:cNvSpPr/>
            <p:nvPr/>
          </p:nvSpPr>
          <p:spPr>
            <a:xfrm flipH="1">
              <a:off x="1590" y="2184"/>
              <a:ext cx="720" cy="936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249885" name="Line 28"/>
            <p:cNvSpPr/>
            <p:nvPr/>
          </p:nvSpPr>
          <p:spPr>
            <a:xfrm flipH="1">
              <a:off x="1590" y="2340"/>
              <a:ext cx="540" cy="7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9886" name="Text Box 29"/>
            <p:cNvSpPr txBox="1"/>
            <p:nvPr/>
          </p:nvSpPr>
          <p:spPr>
            <a:xfrm>
              <a:off x="1950" y="1872"/>
              <a:ext cx="180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现实世界的信息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986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08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508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grpSp>
        <p:nvGrpSpPr>
          <p:cNvPr id="250884" name="Group 4"/>
          <p:cNvGrpSpPr/>
          <p:nvPr/>
        </p:nvGrpSpPr>
        <p:grpSpPr>
          <a:xfrm>
            <a:off x="1752600" y="533400"/>
            <a:ext cx="6915150" cy="5349875"/>
            <a:chOff x="3046" y="1473"/>
            <a:chExt cx="6318" cy="7092"/>
          </a:xfrm>
        </p:grpSpPr>
        <p:sp>
          <p:nvSpPr>
            <p:cNvPr id="250886" name="Text Box 5"/>
            <p:cNvSpPr txBox="1"/>
            <p:nvPr/>
          </p:nvSpPr>
          <p:spPr>
            <a:xfrm>
              <a:off x="3046" y="7698"/>
              <a:ext cx="412" cy="86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+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887" name="AutoShape 6"/>
            <p:cNvSpPr/>
            <p:nvPr/>
          </p:nvSpPr>
          <p:spPr>
            <a:xfrm rot="5400000" flipH="1">
              <a:off x="6309" y="427"/>
              <a:ext cx="548" cy="2605"/>
            </a:xfrm>
            <a:prstGeom prst="flowChartDelay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0888" name="Line 7"/>
            <p:cNvSpPr/>
            <p:nvPr/>
          </p:nvSpPr>
          <p:spPr>
            <a:xfrm flipH="1">
              <a:off x="5044" y="2106"/>
              <a:ext cx="1282" cy="4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889" name="Line 8"/>
            <p:cNvSpPr/>
            <p:nvPr/>
          </p:nvSpPr>
          <p:spPr>
            <a:xfrm>
              <a:off x="6784" y="2106"/>
              <a:ext cx="1210" cy="4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890" name="Text Box 9"/>
            <p:cNvSpPr txBox="1"/>
            <p:nvPr/>
          </p:nvSpPr>
          <p:spPr>
            <a:xfrm>
              <a:off x="5172" y="7683"/>
              <a:ext cx="412" cy="85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+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 </a:t>
              </a:r>
              <a:endParaRPr lang="en-US" altLang="zh-CN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50891" name="Text Box 10"/>
            <p:cNvSpPr txBox="1"/>
            <p:nvPr/>
          </p:nvSpPr>
          <p:spPr>
            <a:xfrm>
              <a:off x="5846" y="1599"/>
              <a:ext cx="1620" cy="32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 bIns="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数据的运算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892" name="Line 11"/>
            <p:cNvSpPr/>
            <p:nvPr/>
          </p:nvSpPr>
          <p:spPr>
            <a:xfrm flipH="1">
              <a:off x="4062" y="4245"/>
              <a:ext cx="870" cy="7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893" name="Line 12"/>
            <p:cNvSpPr/>
            <p:nvPr/>
          </p:nvSpPr>
          <p:spPr>
            <a:xfrm>
              <a:off x="5170" y="4251"/>
              <a:ext cx="854" cy="7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894" name="Line 13"/>
            <p:cNvSpPr/>
            <p:nvPr/>
          </p:nvSpPr>
          <p:spPr>
            <a:xfrm flipH="1">
              <a:off x="5370" y="6876"/>
              <a:ext cx="586" cy="80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895" name="Line 14"/>
            <p:cNvSpPr/>
            <p:nvPr/>
          </p:nvSpPr>
          <p:spPr>
            <a:xfrm flipH="1">
              <a:off x="5870" y="6891"/>
              <a:ext cx="150" cy="7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896" name="Line 15"/>
            <p:cNvSpPr/>
            <p:nvPr/>
          </p:nvSpPr>
          <p:spPr>
            <a:xfrm>
              <a:off x="6162" y="6891"/>
              <a:ext cx="210" cy="7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897" name="Text Box 16"/>
            <p:cNvSpPr txBox="1"/>
            <p:nvPr/>
          </p:nvSpPr>
          <p:spPr>
            <a:xfrm>
              <a:off x="5712" y="7683"/>
              <a:ext cx="412" cy="83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一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50898" name="Text Box 17"/>
            <p:cNvSpPr txBox="1"/>
            <p:nvPr/>
          </p:nvSpPr>
          <p:spPr>
            <a:xfrm>
              <a:off x="6222" y="7683"/>
              <a:ext cx="412" cy="79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×</a:t>
              </a:r>
              <a:endParaRPr lang="en-US" altLang="zh-CN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50899" name="Text Box 18"/>
            <p:cNvSpPr txBox="1"/>
            <p:nvPr/>
          </p:nvSpPr>
          <p:spPr>
            <a:xfrm>
              <a:off x="6746" y="7683"/>
              <a:ext cx="412" cy="82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÷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 </a:t>
              </a:r>
              <a:endParaRPr lang="en-US" altLang="zh-CN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00" name="Line 19"/>
            <p:cNvSpPr/>
            <p:nvPr/>
          </p:nvSpPr>
          <p:spPr>
            <a:xfrm>
              <a:off x="6268" y="6876"/>
              <a:ext cx="644" cy="80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01" name="Line 20"/>
            <p:cNvSpPr/>
            <p:nvPr/>
          </p:nvSpPr>
          <p:spPr>
            <a:xfrm flipH="1">
              <a:off x="3238" y="6876"/>
              <a:ext cx="584" cy="82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02" name="Line 21"/>
            <p:cNvSpPr/>
            <p:nvPr/>
          </p:nvSpPr>
          <p:spPr>
            <a:xfrm flipH="1">
              <a:off x="3738" y="6906"/>
              <a:ext cx="196" cy="7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03" name="Line 22"/>
            <p:cNvSpPr/>
            <p:nvPr/>
          </p:nvSpPr>
          <p:spPr>
            <a:xfrm>
              <a:off x="4074" y="6906"/>
              <a:ext cx="166" cy="7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04" name="Text Box 23"/>
            <p:cNvSpPr txBox="1"/>
            <p:nvPr/>
          </p:nvSpPr>
          <p:spPr>
            <a:xfrm>
              <a:off x="4090" y="7698"/>
              <a:ext cx="412" cy="85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</a:rPr>
                <a:t>×</a:t>
              </a:r>
              <a:endParaRPr lang="en-US" altLang="zh-CN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05" name="Text Box 24"/>
            <p:cNvSpPr txBox="1"/>
            <p:nvPr/>
          </p:nvSpPr>
          <p:spPr>
            <a:xfrm>
              <a:off x="4614" y="7698"/>
              <a:ext cx="412" cy="82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</a:rPr>
                <a:t>÷ </a:t>
              </a:r>
              <a:endParaRPr lang="en-US" altLang="zh-CN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06" name="Line 25"/>
            <p:cNvSpPr/>
            <p:nvPr/>
          </p:nvSpPr>
          <p:spPr>
            <a:xfrm>
              <a:off x="4166" y="6876"/>
              <a:ext cx="614" cy="8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07" name="Text Box 26"/>
            <p:cNvSpPr txBox="1"/>
            <p:nvPr/>
          </p:nvSpPr>
          <p:spPr>
            <a:xfrm>
              <a:off x="7378" y="5058"/>
              <a:ext cx="412" cy="17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非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08" name="Line 27"/>
            <p:cNvSpPr/>
            <p:nvPr/>
          </p:nvSpPr>
          <p:spPr>
            <a:xfrm flipH="1">
              <a:off x="7576" y="4251"/>
              <a:ext cx="586" cy="80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09" name="Line 28"/>
            <p:cNvSpPr/>
            <p:nvPr/>
          </p:nvSpPr>
          <p:spPr>
            <a:xfrm flipH="1">
              <a:off x="8076" y="4266"/>
              <a:ext cx="150" cy="7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10" name="Line 29"/>
            <p:cNvSpPr/>
            <p:nvPr/>
          </p:nvSpPr>
          <p:spPr>
            <a:xfrm>
              <a:off x="8368" y="4266"/>
              <a:ext cx="210" cy="79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11" name="Text Box 30"/>
            <p:cNvSpPr txBox="1"/>
            <p:nvPr/>
          </p:nvSpPr>
          <p:spPr>
            <a:xfrm>
              <a:off x="7918" y="5058"/>
              <a:ext cx="412" cy="17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与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12" name="Text Box 31"/>
            <p:cNvSpPr txBox="1"/>
            <p:nvPr/>
          </p:nvSpPr>
          <p:spPr>
            <a:xfrm>
              <a:off x="8428" y="5058"/>
              <a:ext cx="412" cy="17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或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13" name="Text Box 32"/>
            <p:cNvSpPr txBox="1"/>
            <p:nvPr/>
          </p:nvSpPr>
          <p:spPr>
            <a:xfrm>
              <a:off x="8952" y="5058"/>
              <a:ext cx="412" cy="17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异或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14" name="Line 33"/>
            <p:cNvSpPr/>
            <p:nvPr/>
          </p:nvSpPr>
          <p:spPr>
            <a:xfrm>
              <a:off x="8474" y="4251"/>
              <a:ext cx="644" cy="80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0915" name="Text Box 34"/>
            <p:cNvSpPr txBox="1"/>
            <p:nvPr/>
          </p:nvSpPr>
          <p:spPr>
            <a:xfrm>
              <a:off x="8066" y="2643"/>
              <a:ext cx="442" cy="155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逻辑运算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16" name="Text Box 35"/>
            <p:cNvSpPr txBox="1"/>
            <p:nvPr/>
          </p:nvSpPr>
          <p:spPr>
            <a:xfrm>
              <a:off x="4840" y="2658"/>
              <a:ext cx="442" cy="155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算术运算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17" name="Text Box 36"/>
            <p:cNvSpPr txBox="1"/>
            <p:nvPr/>
          </p:nvSpPr>
          <p:spPr>
            <a:xfrm>
              <a:off x="3838" y="5058"/>
              <a:ext cx="412" cy="17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定点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18" name="Text Box 37"/>
            <p:cNvSpPr txBox="1"/>
            <p:nvPr/>
          </p:nvSpPr>
          <p:spPr>
            <a:xfrm>
              <a:off x="5908" y="5043"/>
              <a:ext cx="412" cy="17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</a:rPr>
                <a:t>浮点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0919" name="Text Box 38"/>
            <p:cNvSpPr txBox="1"/>
            <p:nvPr/>
          </p:nvSpPr>
          <p:spPr>
            <a:xfrm>
              <a:off x="3610" y="7698"/>
              <a:ext cx="412" cy="85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10800" rIns="0" bIns="10800"/>
            <a:p>
              <a:pPr algn="just" eaLnBrk="0" hangingPunct="0">
                <a:lnSpc>
                  <a:spcPct val="144000"/>
                </a:lnSpc>
              </a:pPr>
              <a:r>
                <a:rPr lang="zh-CN" altLang="en-US" sz="1400" dirty="0">
                  <a:latin typeface="Times New Roman" panose="02020603050405020304" pitchFamily="18" charset="0"/>
                </a:rPr>
                <a:t>　一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algn="just" eaLnBrk="0" hangingPunct="0">
                <a:lnSpc>
                  <a:spcPct val="144000"/>
                </a:lnSpc>
              </a:pPr>
              <a:r>
                <a:rPr lang="zh-CN" altLang="en-US" sz="1400" dirty="0">
                  <a:latin typeface="Times New Roman" panose="02020603050405020304" pitchFamily="18" charset="0"/>
                </a:rPr>
                <a:t>　　　</a:t>
              </a:r>
              <a:endParaRPr lang="zh-CN" altLang="en-US" sz="1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088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1906" name="Rectangle 2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563563"/>
          </a:xfrm>
        </p:spPr>
        <p:txBody>
          <a:bodyPr vert="horz" wrap="square" lIns="91440" tIns="45720" rIns="91440" bIns="45720" anchor="ctr" anchorCtr="0">
            <a:normAutofit fontScale="90000"/>
          </a:bodyPr>
          <a:p>
            <a:pPr eaLnBrk="1" hangingPunct="1"/>
            <a:r>
              <a:rPr lang="zh-CN" altLang="en-US" sz="4000" dirty="0"/>
              <a:t>重点难点</a:t>
            </a:r>
            <a:endParaRPr lang="zh-CN" altLang="en-US" sz="4000" dirty="0"/>
          </a:p>
        </p:txBody>
      </p:sp>
      <p:sp>
        <p:nvSpPr>
          <p:cNvPr id="251907" name="Rectangle 3"/>
          <p:cNvSpPr>
            <a:spLocks noGrp="1"/>
          </p:cNvSpPr>
          <p:nvPr>
            <p:ph idx="1"/>
          </p:nvPr>
        </p:nvSpPr>
        <p:spPr>
          <a:xfrm>
            <a:off x="1981200" y="609600"/>
            <a:ext cx="8534400" cy="6286500"/>
          </a:xfrm>
        </p:spPr>
        <p:txBody>
          <a:bodyPr vert="horz" wrap="square" lIns="91440" tIns="45720" rIns="91440" bIns="45720" anchor="t" anchorCtr="0">
            <a:normAutofit lnSpcReduction="10000"/>
          </a:bodyPr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原码　反码　补码　移码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0的原码反码补码移码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－１的补码=1000000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同一个数的补码和移码相差一个符号位    </a:t>
            </a:r>
            <a:r>
              <a:rPr lang="en-US" altLang="zh-CN" sz="2400" dirty="0"/>
              <a:t>227</a:t>
            </a:r>
            <a:r>
              <a:rPr lang="zh-CN" altLang="en-US" sz="2400" dirty="0"/>
              <a:t>页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移位运算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算术移位（有符号数）　    负数 补码 右移 填</a:t>
            </a:r>
            <a:r>
              <a:rPr lang="en-US" altLang="zh-CN" sz="2400" b="1" dirty="0"/>
              <a:t>1   235</a:t>
            </a:r>
            <a:r>
              <a:rPr lang="zh-CN" altLang="en-US" sz="2400" b="1" dirty="0"/>
              <a:t>页</a:t>
            </a:r>
            <a:endParaRPr lang="en-US" altLang="zh-CN" sz="2400" b="1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/>
              <a:t>左移相当于乘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，有溢出可能。</a:t>
            </a:r>
            <a:endParaRPr lang="en-US" altLang="zh-CN" sz="2000" b="1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/>
              <a:t>右移相当于除</a:t>
            </a:r>
            <a:r>
              <a:rPr lang="en-US" altLang="zh-CN" sz="2000" b="1" dirty="0"/>
              <a:t>2</a:t>
            </a:r>
            <a:endParaRPr lang="en-US" altLang="zh-CN" sz="2000" b="1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双符号位移位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逻辑移位</a:t>
            </a:r>
            <a:r>
              <a:rPr lang="zh-CN" altLang="en-US" sz="2400" b="1" dirty="0">
                <a:solidFill>
                  <a:srgbClr val="FF0000"/>
                </a:solidFill>
              </a:rPr>
              <a:t>（无符号数）</a:t>
            </a:r>
            <a:r>
              <a:rPr lang="zh-CN" altLang="en-US" sz="2400" dirty="0"/>
              <a:t> 　　</a:t>
            </a:r>
            <a:r>
              <a:rPr lang="zh-CN" altLang="en-US" dirty="0"/>
              <a:t>定点运算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加减</a:t>
            </a:r>
            <a:r>
              <a:rPr lang="zh-CN" altLang="en-US" sz="2400" dirty="0"/>
              <a:t>乘除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浮点运算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规格化数　　</a:t>
            </a:r>
            <a:r>
              <a:rPr lang="en-US" altLang="zh-CN" sz="2400" dirty="0"/>
              <a:t>229</a:t>
            </a:r>
            <a:r>
              <a:rPr lang="zh-CN" altLang="en-US" sz="2400" dirty="0"/>
              <a:t>页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左规　右规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浮点数的溢出　阶码的溢出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25190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29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25293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P272  10.110001  </a:t>
            </a:r>
            <a:r>
              <a:rPr lang="zh-CN" altLang="en-US" dirty="0"/>
              <a:t>右规  </a:t>
            </a:r>
            <a:r>
              <a:rPr lang="en-US" altLang="zh-CN" dirty="0"/>
              <a:t>11.011000  1</a:t>
            </a:r>
            <a:endParaRPr lang="zh-CN" altLang="en-US" dirty="0"/>
          </a:p>
        </p:txBody>
      </p:sp>
      <p:sp>
        <p:nvSpPr>
          <p:cNvPr id="252932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3954" name="Rectangle 2"/>
          <p:cNvSpPr>
            <a:spLocks noGrp="1"/>
          </p:cNvSpPr>
          <p:nvPr>
            <p:ph type="title"/>
          </p:nvPr>
        </p:nvSpPr>
        <p:spPr>
          <a:xfrm>
            <a:off x="2133600" y="6096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第</a:t>
            </a:r>
            <a:r>
              <a:rPr lang="zh-CN" altLang="en-US" b="1" dirty="0">
                <a:latin typeface="Times New Roman" panose="02020603050405020304" pitchFamily="18" charset="0"/>
              </a:rPr>
              <a:t>４</a:t>
            </a:r>
            <a:r>
              <a:rPr lang="zh-CN" altLang="en-US" b="1" dirty="0"/>
              <a:t>章  存 储 器</a:t>
            </a:r>
            <a:endParaRPr lang="zh-CN" altLang="en-US" b="1" dirty="0"/>
          </a:p>
        </p:txBody>
      </p:sp>
      <p:sp>
        <p:nvSpPr>
          <p:cNvPr id="253955" name="Text Box 3"/>
          <p:cNvSpPr txBox="1"/>
          <p:nvPr/>
        </p:nvSpPr>
        <p:spPr>
          <a:xfrm>
            <a:off x="4425950" y="2022475"/>
            <a:ext cx="25733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hlinkClick r:id="" action="ppaction://noaction"/>
              </a:rPr>
              <a:t>4.1  </a:t>
            </a:r>
            <a:r>
              <a:rPr lang="zh-CN" altLang="en-US" sz="3200" b="1" dirty="0">
                <a:latin typeface="Times New Roman" panose="02020603050405020304" pitchFamily="18" charset="0"/>
                <a:hlinkClick r:id="" action="ppaction://noaction"/>
              </a:rPr>
              <a:t>概述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3956" name="Text Box 4"/>
          <p:cNvSpPr txBox="1"/>
          <p:nvPr/>
        </p:nvSpPr>
        <p:spPr>
          <a:xfrm>
            <a:off x="4425950" y="3201988"/>
            <a:ext cx="38036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3200" b="1" dirty="0">
                <a:latin typeface="Times New Roman" panose="02020603050405020304" pitchFamily="18" charset="0"/>
                <a:hlinkClick r:id="" action="ppaction://noaction"/>
              </a:rPr>
              <a:t>4.2  </a:t>
            </a:r>
            <a:r>
              <a:rPr lang="zh-CN" altLang="en-US" sz="3200" b="1" dirty="0">
                <a:latin typeface="Times New Roman" panose="02020603050405020304" pitchFamily="18" charset="0"/>
                <a:hlinkClick r:id="" action="ppaction://noaction"/>
              </a:rPr>
              <a:t>主存储器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3957" name="Text Box 5"/>
          <p:cNvSpPr txBox="1"/>
          <p:nvPr/>
        </p:nvSpPr>
        <p:spPr>
          <a:xfrm>
            <a:off x="4425950" y="4381500"/>
            <a:ext cx="56483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hlinkClick r:id="" action="ppaction://noaction"/>
              </a:rPr>
              <a:t>4.3  </a:t>
            </a:r>
            <a:r>
              <a:rPr lang="zh-CN" altLang="en-US" sz="3200" b="1" dirty="0">
                <a:latin typeface="Times New Roman" panose="02020603050405020304" pitchFamily="18" charset="0"/>
                <a:hlinkClick r:id="" action="ppaction://noaction"/>
              </a:rPr>
              <a:t>高速缓冲存储器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3958" name="Text Box 6"/>
          <p:cNvSpPr txBox="1"/>
          <p:nvPr/>
        </p:nvSpPr>
        <p:spPr>
          <a:xfrm>
            <a:off x="4425950" y="5561013"/>
            <a:ext cx="44180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hlinkClick r:id="" action="ppaction://noaction"/>
              </a:rPr>
              <a:t>4.4  </a:t>
            </a:r>
            <a:r>
              <a:rPr lang="zh-CN" altLang="en-US" sz="3200" b="1" dirty="0">
                <a:latin typeface="Times New Roman" panose="02020603050405020304" pitchFamily="18" charset="0"/>
                <a:hlinkClick r:id="" action="ppaction://noaction"/>
              </a:rPr>
              <a:t>辅助存储器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3959" name="AutoShape 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396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29013</Words>
  <Application>WPS 演示</Application>
  <PresentationFormat>宽屏</PresentationFormat>
  <Paragraphs>6126</Paragraphs>
  <Slides>149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149</vt:i4>
      </vt:variant>
    </vt:vector>
  </HeadingPairs>
  <TitlesOfParts>
    <vt:vector size="16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Tahoma</vt:lpstr>
      <vt:lpstr>Office 主题​​</vt:lpstr>
      <vt:lpstr>Paint.Picture</vt:lpstr>
      <vt:lpstr>Paint.Picture</vt:lpstr>
      <vt:lpstr>Paint.Picture</vt:lpstr>
      <vt:lpstr>Paint.Picture</vt:lpstr>
      <vt:lpstr>Paint.Picture</vt:lpstr>
      <vt:lpstr>6.1  无符号数和有符号数</vt:lpstr>
      <vt:lpstr>PowerPoint 演示文稿</vt:lpstr>
      <vt:lpstr>PowerPoint 演示文稿</vt:lpstr>
      <vt:lpstr>PowerPoint 演示文稿</vt:lpstr>
      <vt:lpstr>原码规律：</vt:lpstr>
      <vt:lpstr>PowerPoint 演示文稿</vt:lpstr>
      <vt:lpstr>PowerPoint 演示文稿</vt:lpstr>
      <vt:lpstr>原码的特点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反码规律</vt:lpstr>
      <vt:lpstr>PowerPoint 演示文稿</vt:lpstr>
      <vt:lpstr>补码</vt:lpstr>
      <vt:lpstr>PowerPoint 演示文稿</vt:lpstr>
      <vt:lpstr>PowerPoint 演示文稿</vt:lpstr>
      <vt:lpstr>补码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定点数的区间</vt:lpstr>
      <vt:lpstr>6.2   数的定点表示和浮点表示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  符号位           阶码        尾数      总位数</vt:lpstr>
      <vt:lpstr>PowerPoint 演示文稿</vt:lpstr>
      <vt:lpstr>[例1] 若浮点数ｘ的754标准存储格式为(41360000)16，求其浮点数的十进制数值。</vt:lpstr>
      <vt:lpstr>PowerPoint 演示文稿</vt:lpstr>
      <vt:lpstr>PowerPoint 演示文稿</vt:lpstr>
      <vt:lpstr>PowerPoint 演示文稿</vt:lpstr>
      <vt:lpstr>选择计算机数的表示格式</vt:lpstr>
      <vt:lpstr>6.3   定 点 运 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一位全加器真值表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PowerPoint 演示文稿</vt:lpstr>
      <vt:lpstr>不带符号位的阵列乘法器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6.4 浮点四则运算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6.5 算术逻辑单元</vt:lpstr>
      <vt:lpstr>PowerPoint 演示文稿</vt:lpstr>
      <vt:lpstr>PowerPoint 演示文稿</vt:lpstr>
      <vt:lpstr>一位全加器真值表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PowerPoint 演示文稿</vt:lpstr>
      <vt:lpstr>重点难点</vt:lpstr>
      <vt:lpstr>PowerPoint 演示文稿</vt:lpstr>
      <vt:lpstr>第４章  存 储 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fish</cp:lastModifiedBy>
  <cp:revision>172</cp:revision>
  <dcterms:created xsi:type="dcterms:W3CDTF">2019-06-19T02:08:00Z</dcterms:created>
  <dcterms:modified xsi:type="dcterms:W3CDTF">2022-03-06T16:48:04Z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0F954DEA27CA4B6C8F07B9EF0456C24B</vt:lpwstr>
  </property>
</Properties>
</file>